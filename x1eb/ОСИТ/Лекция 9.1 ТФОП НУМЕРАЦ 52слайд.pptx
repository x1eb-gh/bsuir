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94" r:id="rId3"/>
    <p:sldId id="295" r:id="rId4"/>
    <p:sldId id="296" r:id="rId5"/>
    <p:sldId id="258" r:id="rId6"/>
    <p:sldId id="292" r:id="rId7"/>
    <p:sldId id="260" r:id="rId8"/>
    <p:sldId id="298" r:id="rId9"/>
    <p:sldId id="303" r:id="rId10"/>
    <p:sldId id="261" r:id="rId11"/>
    <p:sldId id="304" r:id="rId12"/>
    <p:sldId id="262" r:id="rId13"/>
    <p:sldId id="297" r:id="rId14"/>
    <p:sldId id="302" r:id="rId15"/>
    <p:sldId id="317" r:id="rId16"/>
    <p:sldId id="321" r:id="rId17"/>
    <p:sldId id="322" r:id="rId18"/>
    <p:sldId id="318" r:id="rId19"/>
    <p:sldId id="323" r:id="rId20"/>
    <p:sldId id="305" r:id="rId21"/>
    <p:sldId id="315" r:id="rId22"/>
    <p:sldId id="308" r:id="rId23"/>
    <p:sldId id="307" r:id="rId24"/>
    <p:sldId id="316" r:id="rId25"/>
    <p:sldId id="313" r:id="rId26"/>
    <p:sldId id="309" r:id="rId27"/>
    <p:sldId id="335" r:id="rId28"/>
    <p:sldId id="320" r:id="rId29"/>
    <p:sldId id="310" r:id="rId30"/>
    <p:sldId id="311" r:id="rId31"/>
    <p:sldId id="276" r:id="rId32"/>
    <p:sldId id="330" r:id="rId33"/>
    <p:sldId id="319" r:id="rId34"/>
    <p:sldId id="329" r:id="rId35"/>
    <p:sldId id="334" r:id="rId36"/>
    <p:sldId id="336" r:id="rId37"/>
    <p:sldId id="331" r:id="rId38"/>
    <p:sldId id="332" r:id="rId39"/>
    <p:sldId id="333" r:id="rId40"/>
    <p:sldId id="277" r:id="rId41"/>
    <p:sldId id="328" r:id="rId42"/>
    <p:sldId id="263" r:id="rId43"/>
    <p:sldId id="279" r:id="rId44"/>
    <p:sldId id="278" r:id="rId45"/>
    <p:sldId id="281" r:id="rId46"/>
    <p:sldId id="280" r:id="rId47"/>
    <p:sldId id="300" r:id="rId48"/>
    <p:sldId id="282" r:id="rId49"/>
    <p:sldId id="283" r:id="rId50"/>
    <p:sldId id="286" r:id="rId51"/>
    <p:sldId id="284" r:id="rId52"/>
    <p:sldId id="285" r:id="rId53"/>
    <p:sldId id="301" r:id="rId5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0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39E9-F4E2-416D-92D2-1BB41EFBDB3B}" type="datetimeFigureOut">
              <a:rPr lang="ru-RU" smtClean="0"/>
              <a:pPr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F426-C01D-4FD2-A2BA-97C2809E1A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39E9-F4E2-416D-92D2-1BB41EFBDB3B}" type="datetimeFigureOut">
              <a:rPr lang="ru-RU" smtClean="0"/>
              <a:pPr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F426-C01D-4FD2-A2BA-97C2809E1A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39E9-F4E2-416D-92D2-1BB41EFBDB3B}" type="datetimeFigureOut">
              <a:rPr lang="ru-RU" smtClean="0"/>
              <a:pPr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F426-C01D-4FD2-A2BA-97C2809E1A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39E9-F4E2-416D-92D2-1BB41EFBDB3B}" type="datetimeFigureOut">
              <a:rPr lang="ru-RU" smtClean="0"/>
              <a:pPr/>
              <a:t>30.11.2025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F426-C01D-4FD2-A2BA-97C2809E1A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39E9-F4E2-416D-92D2-1BB41EFBDB3B}" type="datetimeFigureOut">
              <a:rPr lang="ru-RU" smtClean="0"/>
              <a:pPr/>
              <a:t>30.11.2025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F426-C01D-4FD2-A2BA-97C2809E1A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39E9-F4E2-416D-92D2-1BB41EFBDB3B}" type="datetimeFigureOut">
              <a:rPr lang="ru-RU" smtClean="0"/>
              <a:pPr/>
              <a:t>30.11.2025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F426-C01D-4FD2-A2BA-97C2809E1A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39E9-F4E2-416D-92D2-1BB41EFBDB3B}" type="datetimeFigureOut">
              <a:rPr lang="ru-RU" smtClean="0"/>
              <a:pPr/>
              <a:t>30.11.2025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F426-C01D-4FD2-A2BA-97C2809E1A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39E9-F4E2-416D-92D2-1BB41EFBDB3B}" type="datetimeFigureOut">
              <a:rPr lang="ru-RU" smtClean="0"/>
              <a:pPr/>
              <a:t>30.11.2025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F426-C01D-4FD2-A2BA-97C2809E1A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39E9-F4E2-416D-92D2-1BB41EFBDB3B}" type="datetimeFigureOut">
              <a:rPr lang="ru-RU" smtClean="0"/>
              <a:pPr/>
              <a:t>30.11.2025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F426-C01D-4FD2-A2BA-97C2809E1A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39E9-F4E2-416D-92D2-1BB41EFBDB3B}" type="datetimeFigureOut">
              <a:rPr lang="ru-RU" smtClean="0"/>
              <a:pPr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F426-C01D-4FD2-A2BA-97C2809E1A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39E9-F4E2-416D-92D2-1BB41EFBDB3B}" type="datetimeFigureOut">
              <a:rPr lang="ru-RU" smtClean="0"/>
              <a:pPr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F426-C01D-4FD2-A2BA-97C2809E1A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590550"/>
            <a:ext cx="7772400" cy="11620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787775" cy="41338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5006975" y="1981200"/>
            <a:ext cx="3789363" cy="19907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5006975" y="4124325"/>
            <a:ext cx="3789363" cy="19907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C08E3C-DEA8-4C7A-8F79-08346C30FA4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E39E9-F4E2-416D-92D2-1BB41EFBDB3B}" type="datetimeFigureOut">
              <a:rPr lang="ru-RU" smtClean="0"/>
              <a:pPr/>
              <a:t>30.11.2025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9F426-C01D-4FD2-A2BA-97C2809E1AA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1916832"/>
            <a:ext cx="7772400" cy="158417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rgbClr val="002060"/>
                </a:solidFill>
              </a:rPr>
              <a:t> лекция 7.2</a:t>
            </a:r>
            <a:br>
              <a:rPr lang="ru-RU" dirty="0" smtClean="0">
                <a:solidFill>
                  <a:srgbClr val="002060"/>
                </a:solidFill>
              </a:rPr>
            </a:br>
            <a:r>
              <a:rPr lang="ru-RU" dirty="0" smtClean="0">
                <a:solidFill>
                  <a:srgbClr val="002060"/>
                </a:solidFill>
              </a:rPr>
              <a:t/>
            </a:r>
            <a:br>
              <a:rPr lang="ru-RU" dirty="0" smtClean="0">
                <a:solidFill>
                  <a:srgbClr val="002060"/>
                </a:solidFill>
              </a:rPr>
            </a:b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 rot="10800000" flipV="1">
            <a:off x="611556" y="3140968"/>
            <a:ext cx="8144919" cy="1584176"/>
          </a:xfrm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rgbClr val="002060"/>
                </a:solidFill>
              </a:rPr>
              <a:t>Принципы построения ТФОП.</a:t>
            </a:r>
            <a:br>
              <a:rPr lang="ru-RU" sz="4000" dirty="0" smtClean="0">
                <a:solidFill>
                  <a:srgbClr val="002060"/>
                </a:solidFill>
              </a:rPr>
            </a:br>
            <a:r>
              <a:rPr lang="ru-RU" sz="4000" dirty="0" smtClean="0">
                <a:solidFill>
                  <a:srgbClr val="002060"/>
                </a:solidFill>
              </a:rPr>
              <a:t>       ГТС . МТС. Нумерация</a:t>
            </a:r>
            <a:endParaRPr lang="ru-RU" sz="4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490066"/>
          </a:xfrm>
        </p:spPr>
        <p:txBody>
          <a:bodyPr>
            <a:noAutofit/>
          </a:bodyPr>
          <a:lstStyle/>
          <a:p>
            <a:r>
              <a:rPr lang="ru-RU" sz="4000" b="1" dirty="0" err="1" smtClean="0"/>
              <a:t>Тфоп</a:t>
            </a:r>
            <a:r>
              <a:rPr lang="ru-RU" sz="4000" b="1" dirty="0" smtClean="0"/>
              <a:t> с автоматической коммутацией</a:t>
            </a:r>
            <a:endParaRPr lang="ru-RU" sz="40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52736"/>
            <a:ext cx="8892480" cy="5472608"/>
          </a:xfrm>
        </p:spPr>
        <p:txBody>
          <a:bodyPr/>
          <a:lstStyle/>
          <a:p>
            <a:r>
              <a:rPr lang="ru-RU" dirty="0" smtClean="0"/>
              <a:t>Телефон был изобретен в 1876 году Беллом.</a:t>
            </a:r>
          </a:p>
          <a:p>
            <a:r>
              <a:rPr lang="ru-RU" dirty="0" smtClean="0"/>
              <a:t> Правда, задолго до изобретения телефона твердую уверенность в возможности общения людей, невзирая на большие расстояния, выразил </a:t>
            </a:r>
            <a:r>
              <a:rPr lang="ru-RU" b="1" dirty="0" smtClean="0"/>
              <a:t>Леонардо да Винчи: </a:t>
            </a:r>
          </a:p>
          <a:p>
            <a:pPr>
              <a:buNone/>
            </a:pPr>
            <a:r>
              <a:rPr lang="ru-RU" dirty="0" smtClean="0"/>
              <a:t>   "Люди будут разговаривать друг с другом из самых отдаленных стран и друг другу отвечать". Пророчество гения в полной мере сбылось в XX веке.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Формула сети связи(Три С)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2679" t="22511" b="13158"/>
          <a:stretch>
            <a:fillRect/>
          </a:stretch>
        </p:blipFill>
        <p:spPr bwMode="auto">
          <a:xfrm>
            <a:off x="251520" y="764704"/>
            <a:ext cx="8892480" cy="5904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3" y="0"/>
            <a:ext cx="8964488" cy="763587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ru-RU" sz="3600" b="1" dirty="0" err="1" smtClean="0">
                <a:solidFill>
                  <a:srgbClr val="002060"/>
                </a:solidFill>
              </a:rPr>
              <a:t>ОсновыТФОП</a:t>
            </a:r>
            <a:endParaRPr lang="ru-RU" sz="3600" b="1" dirty="0" smtClean="0">
              <a:solidFill>
                <a:srgbClr val="002060"/>
              </a:solidFill>
            </a:endParaRPr>
          </a:p>
        </p:txBody>
      </p:sp>
      <p:sp>
        <p:nvSpPr>
          <p:cNvPr id="5123" name="Rectangle 237"/>
          <p:cNvSpPr>
            <a:spLocks noChangeArrowheads="1"/>
          </p:cNvSpPr>
          <p:nvPr/>
        </p:nvSpPr>
        <p:spPr bwMode="auto">
          <a:xfrm>
            <a:off x="2503488" y="3738563"/>
            <a:ext cx="2698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ru-RU" sz="1200">
                <a:ea typeface="Times New Roman" pitchFamily="18" charset="0"/>
                <a:cs typeface="Mangal" pitchFamily="18" charset="0"/>
              </a:rPr>
              <a:t>. </a:t>
            </a:r>
            <a:endParaRPr lang="ru-RU">
              <a:ea typeface="Times New Roman" pitchFamily="18" charset="0"/>
              <a:cs typeface="Mangal" pitchFamily="18" charset="0"/>
            </a:endParaRPr>
          </a:p>
        </p:txBody>
      </p:sp>
      <p:sp>
        <p:nvSpPr>
          <p:cNvPr id="5125" name="Text Box 240"/>
          <p:cNvSpPr txBox="1">
            <a:spLocks noChangeArrowheads="1"/>
          </p:cNvSpPr>
          <p:nvPr/>
        </p:nvSpPr>
        <p:spPr bwMode="auto">
          <a:xfrm>
            <a:off x="0" y="620688"/>
            <a:ext cx="9144000" cy="693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u="sng" dirty="0" smtClean="0"/>
              <a:t>     </a:t>
            </a:r>
            <a:r>
              <a:rPr lang="ru-RU" sz="2400" b="1" u="sng" dirty="0" smtClean="0"/>
              <a:t>Сеть электросвязи(телекоммуникационная)состоит из:</a:t>
            </a:r>
          </a:p>
          <a:p>
            <a:r>
              <a:rPr lang="ru-RU" sz="2400" dirty="0" smtClean="0"/>
              <a:t>       -  Сетевых узлов</a:t>
            </a:r>
          </a:p>
          <a:p>
            <a:r>
              <a:rPr lang="ru-RU" sz="2400" i="1" dirty="0" smtClean="0"/>
              <a:t>   </a:t>
            </a:r>
            <a:r>
              <a:rPr lang="ru-RU" sz="2400" dirty="0" smtClean="0"/>
              <a:t>    - Систем коммутации (СК)</a:t>
            </a:r>
          </a:p>
          <a:p>
            <a:r>
              <a:rPr lang="ru-RU" sz="2400" dirty="0" smtClean="0"/>
              <a:t>       - Линий связи (ЛС) </a:t>
            </a:r>
          </a:p>
          <a:p>
            <a:r>
              <a:rPr lang="ru-RU" sz="2400" dirty="0" smtClean="0"/>
              <a:t>       - Терминалов</a:t>
            </a:r>
          </a:p>
          <a:p>
            <a:pPr>
              <a:lnSpc>
                <a:spcPct val="90000"/>
              </a:lnSpc>
              <a:buClr>
                <a:srgbClr val="0969CD"/>
              </a:buClr>
              <a:buSzPct val="70000"/>
            </a:pPr>
            <a:r>
              <a:rPr lang="ru-RU" sz="2400" dirty="0" smtClean="0"/>
              <a:t>      </a:t>
            </a:r>
            <a:r>
              <a:rPr lang="ru-RU" sz="2400" b="1" u="sng" dirty="0" smtClean="0"/>
              <a:t>Основой телефонии является:</a:t>
            </a:r>
          </a:p>
          <a:p>
            <a:pPr>
              <a:lnSpc>
                <a:spcPct val="90000"/>
              </a:lnSpc>
              <a:buClr>
                <a:srgbClr val="0969CD"/>
              </a:buClr>
              <a:buSzPct val="70000"/>
            </a:pPr>
            <a:r>
              <a:rPr lang="ru-RU" sz="2400" dirty="0" smtClean="0">
                <a:cs typeface="Times New Roman" pitchFamily="18" charset="0"/>
              </a:rPr>
              <a:t>          - 3</a:t>
            </a:r>
            <a:r>
              <a:rPr lang="ru-RU" sz="2400" dirty="0" smtClean="0"/>
              <a:t> вызова в ЧНН</a:t>
            </a:r>
            <a:r>
              <a:rPr lang="ru-RU" sz="2400" dirty="0" smtClean="0">
                <a:cs typeface="Times New Roman" pitchFamily="18" charset="0"/>
              </a:rPr>
              <a:t> (час наибольшей нагрузки)</a:t>
            </a:r>
            <a:endParaRPr lang="ru-RU" sz="2400" dirty="0" smtClean="0"/>
          </a:p>
          <a:p>
            <a:pPr>
              <a:lnSpc>
                <a:spcPct val="90000"/>
              </a:lnSpc>
              <a:buClr>
                <a:srgbClr val="0969CD"/>
              </a:buClr>
              <a:buSzPct val="70000"/>
            </a:pPr>
            <a:r>
              <a:rPr lang="ru-RU" sz="2400" dirty="0" smtClean="0">
                <a:cs typeface="Times New Roman" pitchFamily="18" charset="0"/>
              </a:rPr>
              <a:t>          - 3</a:t>
            </a:r>
            <a:r>
              <a:rPr lang="ru-RU" sz="2400" dirty="0" smtClean="0"/>
              <a:t> минуты разговора</a:t>
            </a:r>
          </a:p>
          <a:p>
            <a:pPr>
              <a:lnSpc>
                <a:spcPct val="90000"/>
              </a:lnSpc>
              <a:buClr>
                <a:srgbClr val="0969CD"/>
              </a:buClr>
              <a:buSzPct val="70000"/>
            </a:pPr>
            <a:r>
              <a:rPr lang="ru-RU" sz="2400" dirty="0" smtClean="0">
                <a:cs typeface="Times New Roman" pitchFamily="18" charset="0"/>
              </a:rPr>
              <a:t>          - 3</a:t>
            </a:r>
            <a:r>
              <a:rPr lang="en-US" sz="2400" dirty="0" smtClean="0"/>
              <a:t> </a:t>
            </a:r>
            <a:r>
              <a:rPr lang="ru-RU" sz="2400" dirty="0" smtClean="0"/>
              <a:t>кГц полоса частот разговорного спектра.</a:t>
            </a:r>
          </a:p>
          <a:p>
            <a:pPr>
              <a:lnSpc>
                <a:spcPct val="90000"/>
              </a:lnSpc>
              <a:buClr>
                <a:srgbClr val="0969CD"/>
              </a:buClr>
              <a:buSzPct val="70000"/>
            </a:pPr>
            <a:r>
              <a:rPr lang="ru-RU" sz="2400" b="1" dirty="0" smtClean="0"/>
              <a:t>      Структура</a:t>
            </a:r>
            <a:r>
              <a:rPr lang="ru-RU" sz="2400" dirty="0" smtClean="0"/>
              <a:t>, отображающая взаимосвязь  узлов , связанных</a:t>
            </a:r>
          </a:p>
          <a:p>
            <a:pPr>
              <a:lnSpc>
                <a:spcPct val="90000"/>
              </a:lnSpc>
              <a:buClr>
                <a:srgbClr val="0969CD"/>
              </a:buClr>
              <a:buSzPct val="70000"/>
            </a:pPr>
            <a:r>
              <a:rPr lang="ru-RU" sz="2400" dirty="0" smtClean="0"/>
              <a:t>       линиями связи </a:t>
            </a:r>
            <a:r>
              <a:rPr lang="ru-RU" sz="2400" u="sng" dirty="0" smtClean="0"/>
              <a:t>называется </a:t>
            </a:r>
            <a:r>
              <a:rPr lang="ru-RU" sz="2400" b="1" u="sng" dirty="0" smtClean="0"/>
              <a:t>топологией сети</a:t>
            </a:r>
            <a:r>
              <a:rPr lang="ru-RU" sz="2400" dirty="0" smtClean="0"/>
              <a:t>.</a:t>
            </a:r>
          </a:p>
          <a:p>
            <a:pPr>
              <a:lnSpc>
                <a:spcPct val="90000"/>
              </a:lnSpc>
              <a:buClr>
                <a:srgbClr val="0969CD"/>
              </a:buClr>
              <a:buSzPct val="70000"/>
            </a:pPr>
            <a:r>
              <a:rPr lang="ru-RU" sz="2400" dirty="0" smtClean="0"/>
              <a:t>      Различают </a:t>
            </a:r>
            <a:r>
              <a:rPr lang="ru-RU" sz="2400" b="1" dirty="0" smtClean="0"/>
              <a:t>физическую и логическую топологии.</a:t>
            </a:r>
          </a:p>
          <a:p>
            <a:pPr>
              <a:lnSpc>
                <a:spcPct val="90000"/>
              </a:lnSpc>
              <a:buClr>
                <a:srgbClr val="0969CD"/>
              </a:buClr>
              <a:buSzPct val="70000"/>
            </a:pPr>
            <a:r>
              <a:rPr lang="ru-RU" sz="2400" b="1" dirty="0" smtClean="0"/>
              <a:t>     </a:t>
            </a:r>
            <a:r>
              <a:rPr lang="ru-RU" sz="2400" b="1" u="sng" dirty="0" smtClean="0"/>
              <a:t>Физическая топология</a:t>
            </a:r>
            <a:r>
              <a:rPr lang="ru-RU" sz="2400" u="sng" dirty="0" smtClean="0"/>
              <a:t> </a:t>
            </a:r>
            <a:r>
              <a:rPr lang="ru-RU" sz="2400" dirty="0" smtClean="0"/>
              <a:t>показывает размещение сетевых узлов и</a:t>
            </a:r>
          </a:p>
          <a:p>
            <a:pPr>
              <a:lnSpc>
                <a:spcPct val="90000"/>
              </a:lnSpc>
              <a:buClr>
                <a:srgbClr val="0969CD"/>
              </a:buClr>
              <a:buSzPct val="70000"/>
            </a:pPr>
            <a:r>
              <a:rPr lang="ru-RU" sz="2400" dirty="0" smtClean="0"/>
              <a:t>       конфигурацию линий связи.</a:t>
            </a:r>
          </a:p>
          <a:p>
            <a:pPr>
              <a:lnSpc>
                <a:spcPct val="90000"/>
              </a:lnSpc>
              <a:buClr>
                <a:srgbClr val="0969CD"/>
              </a:buClr>
              <a:buSzPct val="70000"/>
            </a:pPr>
            <a:r>
              <a:rPr lang="ru-RU" sz="2400" b="1" u="sng" dirty="0" smtClean="0"/>
              <a:t>    Логическая топология </a:t>
            </a:r>
            <a:r>
              <a:rPr lang="ru-RU" sz="2400" dirty="0" smtClean="0"/>
              <a:t>дает представление о пути</a:t>
            </a:r>
            <a:r>
              <a:rPr lang="ru-RU" sz="2400" b="1" dirty="0" smtClean="0"/>
              <a:t> </a:t>
            </a:r>
            <a:r>
              <a:rPr lang="ru-RU" sz="2400" dirty="0" smtClean="0"/>
              <a:t>, по которому передаются потоки информации между узлам (маршрут).</a:t>
            </a:r>
            <a:endParaRPr lang="en-US" sz="2400" dirty="0" smtClean="0"/>
          </a:p>
          <a:p>
            <a:endParaRPr lang="ru-RU" sz="2400" dirty="0" smtClean="0"/>
          </a:p>
          <a:p>
            <a:endParaRPr lang="ru-RU" sz="2400" dirty="0" smtClean="0"/>
          </a:p>
          <a:p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1" y="5402117"/>
            <a:ext cx="9144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u-RU" sz="2000" b="1" dirty="0"/>
              <a:t>Сети связи общего пользования (ССОП) </a:t>
            </a:r>
            <a:r>
              <a:rPr lang="ru-RU" sz="2000" b="1" dirty="0" smtClean="0"/>
              <a:t>развиваются </a:t>
            </a:r>
            <a:r>
              <a:rPr lang="ru-RU" sz="2000" b="1" dirty="0"/>
              <a:t>уже более 100 лет.</a:t>
            </a:r>
            <a:endParaRPr lang="ru-RU" sz="2000" dirty="0"/>
          </a:p>
          <a:p>
            <a:r>
              <a:rPr lang="ru-RU" sz="2000" b="1" dirty="0"/>
              <a:t>Общая закономерность – цикличность в </a:t>
            </a:r>
            <a:r>
              <a:rPr lang="ru-RU" sz="2000" b="1" dirty="0" smtClean="0"/>
              <a:t>развитии технологий </a:t>
            </a:r>
            <a:r>
              <a:rPr lang="ru-RU" sz="2000" b="1" dirty="0"/>
              <a:t>и услуг:   </a:t>
            </a:r>
            <a:endParaRPr lang="ru-RU" sz="2000" b="1" dirty="0" smtClean="0"/>
          </a:p>
          <a:p>
            <a:r>
              <a:rPr lang="ru-RU" sz="2000" b="1" dirty="0" smtClean="0"/>
              <a:t>        </a:t>
            </a:r>
            <a:r>
              <a:rPr lang="ru-RU" sz="2000" b="1" i="1" dirty="0" smtClean="0"/>
              <a:t>рождение</a:t>
            </a:r>
            <a:r>
              <a:rPr lang="ru-RU" sz="2000" b="1" i="1" dirty="0"/>
              <a:t>, развитие, угасание.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50825" y="276225"/>
            <a:ext cx="85693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600" b="1" dirty="0">
                <a:solidFill>
                  <a:schemeClr val="tx2"/>
                </a:solidFill>
              </a:rPr>
              <a:t>Процесс эволюции от ТфОП к </a:t>
            </a:r>
            <a:r>
              <a:rPr lang="en-US" sz="3600" b="1" dirty="0">
                <a:solidFill>
                  <a:schemeClr val="tx2"/>
                </a:solidFill>
              </a:rPr>
              <a:t>NGN</a:t>
            </a:r>
            <a:endParaRPr lang="ru-RU" sz="3600" b="1" dirty="0">
              <a:solidFill>
                <a:schemeClr val="tx2"/>
              </a:solidFill>
            </a:endParaRPr>
          </a:p>
        </p:txBody>
      </p:sp>
      <p:pic>
        <p:nvPicPr>
          <p:cNvPr id="13316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980729"/>
            <a:ext cx="8964488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96752"/>
            <a:ext cx="8964488" cy="468052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002060"/>
                </a:solidFill>
              </a:rPr>
              <a:t>1.Уровни базовой сети </a:t>
            </a:r>
            <a:br>
              <a:rPr lang="ru-RU" dirty="0" smtClean="0">
                <a:solidFill>
                  <a:srgbClr val="002060"/>
                </a:solidFill>
              </a:rPr>
            </a:br>
            <a:r>
              <a:rPr lang="ru-RU" dirty="0" smtClean="0">
                <a:solidFill>
                  <a:srgbClr val="002060"/>
                </a:solidFill>
              </a:rPr>
              <a:t>2.Принципы построения ГТС.</a:t>
            </a:r>
            <a:r>
              <a:rPr lang="en-US" dirty="0" smtClean="0">
                <a:solidFill>
                  <a:srgbClr val="002060"/>
                </a:solidFill>
              </a:rPr>
              <a:t/>
            </a:r>
            <a:br>
              <a:rPr lang="en-US" dirty="0" smtClean="0">
                <a:solidFill>
                  <a:srgbClr val="002060"/>
                </a:solidFill>
              </a:rPr>
            </a:br>
            <a:r>
              <a:rPr lang="ru-RU" dirty="0" smtClean="0">
                <a:solidFill>
                  <a:srgbClr val="002060"/>
                </a:solidFill>
              </a:rPr>
              <a:t>    Местная сеть. Нумерация.</a:t>
            </a:r>
            <a:br>
              <a:rPr lang="ru-RU" dirty="0" smtClean="0">
                <a:solidFill>
                  <a:srgbClr val="002060"/>
                </a:solidFill>
              </a:rPr>
            </a:br>
            <a:r>
              <a:rPr lang="ru-RU" dirty="0" smtClean="0">
                <a:solidFill>
                  <a:srgbClr val="002060"/>
                </a:solidFill>
              </a:rPr>
              <a:t>3.Построение междугородной </a:t>
            </a:r>
            <a:br>
              <a:rPr lang="ru-RU" dirty="0" smtClean="0">
                <a:solidFill>
                  <a:srgbClr val="002060"/>
                </a:solidFill>
              </a:rPr>
            </a:br>
            <a:r>
              <a:rPr lang="ru-RU" dirty="0" smtClean="0">
                <a:solidFill>
                  <a:srgbClr val="002060"/>
                </a:solidFill>
              </a:rPr>
              <a:t>    сети. Нумерация.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сети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ru-RU" b="1" dirty="0" smtClean="0"/>
              <a:t>Те м а № 1 - 2 - 3</a:t>
            </a:r>
          </a:p>
          <a:p>
            <a:r>
              <a:rPr lang="ru-RU" b="1" dirty="0" smtClean="0"/>
              <a:t>В </a:t>
            </a:r>
            <a:r>
              <a:rPr lang="ru-RU" b="1" dirty="0" err="1" smtClean="0"/>
              <a:t>в</a:t>
            </a:r>
            <a:r>
              <a:rPr lang="ru-RU" b="1" dirty="0" smtClean="0"/>
              <a:t> е </a:t>
            </a:r>
            <a:r>
              <a:rPr lang="ru-RU" b="1" dirty="0" err="1" smtClean="0"/>
              <a:t>д</a:t>
            </a:r>
            <a:r>
              <a:rPr lang="ru-RU" b="1" dirty="0" smtClean="0"/>
              <a:t> </a:t>
            </a:r>
            <a:r>
              <a:rPr lang="ru-RU" b="1" dirty="0" err="1" smtClean="0"/>
              <a:t>е</a:t>
            </a:r>
            <a:r>
              <a:rPr lang="ru-RU" b="1" dirty="0" smtClean="0"/>
              <a:t> </a:t>
            </a:r>
            <a:r>
              <a:rPr lang="ru-RU" b="1" dirty="0" err="1" smtClean="0"/>
              <a:t>н</a:t>
            </a:r>
            <a:r>
              <a:rPr lang="ru-RU" b="1" dirty="0" smtClean="0"/>
              <a:t> и е</a:t>
            </a:r>
          </a:p>
          <a:p>
            <a:r>
              <a:rPr lang="ru-RU" b="1" dirty="0" smtClean="0"/>
              <a:t>Основы построения</a:t>
            </a:r>
          </a:p>
          <a:p>
            <a:r>
              <a:rPr lang="ru-RU" b="1" dirty="0" smtClean="0"/>
              <a:t>инфокоммуникационных</a:t>
            </a:r>
          </a:p>
          <a:p>
            <a:r>
              <a:rPr lang="ru-RU" b="1" dirty="0" smtClean="0"/>
              <a:t>систем и сетей</a:t>
            </a:r>
          </a:p>
          <a:p>
            <a:r>
              <a:rPr lang="ru-RU" dirty="0" smtClean="0"/>
              <a:t>1</a:t>
            </a:r>
          </a:p>
          <a:p>
            <a:r>
              <a:rPr lang="ru-RU" dirty="0" err="1" smtClean="0"/>
              <a:t>Инфокоммуникационная</a:t>
            </a:r>
            <a:r>
              <a:rPr lang="ru-RU" dirty="0" smtClean="0"/>
              <a:t> система - это симбиоз телекоммуникационных сетей и</a:t>
            </a:r>
          </a:p>
          <a:p>
            <a:r>
              <a:rPr lang="ru-RU" dirty="0" smtClean="0"/>
              <a:t>аппаратно-программных средств получения передачи и обработки информации</a:t>
            </a:r>
          </a:p>
          <a:p>
            <a:r>
              <a:rPr lang="ru-RU" dirty="0" smtClean="0"/>
              <a:t>Формальная модель сети ―</a:t>
            </a:r>
          </a:p>
          <a:p>
            <a:r>
              <a:rPr lang="ru-RU" dirty="0" smtClean="0"/>
              <a:t>базовая сеть</a:t>
            </a:r>
          </a:p>
          <a:p>
            <a:r>
              <a:rPr lang="ru-RU" dirty="0" smtClean="0"/>
              <a:t>сеть доступа,</a:t>
            </a:r>
          </a:p>
          <a:p>
            <a:r>
              <a:rPr lang="ru-RU" dirty="0" smtClean="0"/>
              <a:t>сеть в помещении пользователя,</a:t>
            </a:r>
          </a:p>
          <a:p>
            <a:r>
              <a:rPr lang="ru-RU" dirty="0" smtClean="0"/>
              <a:t>и средства поддержки услуг.</a:t>
            </a:r>
          </a:p>
          <a:p>
            <a:r>
              <a:rPr lang="ru-RU" dirty="0" smtClean="0"/>
              <a:t>Для каждого уровня сети определим основные объекты, протоколы взаимодействия этих</a:t>
            </a:r>
          </a:p>
          <a:p>
            <a:r>
              <a:rPr lang="ru-RU" dirty="0" smtClean="0"/>
              <a:t>объектов и принципы организации сети.</a:t>
            </a:r>
          </a:p>
          <a:p>
            <a:r>
              <a:rPr lang="ru-RU" dirty="0" smtClean="0"/>
              <a:t>2</a:t>
            </a:r>
          </a:p>
          <a:p>
            <a:r>
              <a:rPr lang="ru-RU" dirty="0" err="1" smtClean="0"/>
              <a:t>Инфокоммуникационная</a:t>
            </a:r>
            <a:r>
              <a:rPr lang="ru-RU" dirty="0" smtClean="0"/>
              <a:t> сеть</a:t>
            </a:r>
          </a:p>
          <a:p>
            <a:r>
              <a:rPr lang="ru-RU" dirty="0" smtClean="0"/>
              <a:t>Фиксированная телефонная сеть</a:t>
            </a:r>
          </a:p>
          <a:p>
            <a:r>
              <a:rPr lang="en-US" dirty="0" smtClean="0"/>
              <a:t>TA, NT, TE, Cordless,</a:t>
            </a:r>
          </a:p>
          <a:p>
            <a:r>
              <a:rPr lang="en-US" dirty="0" smtClean="0"/>
              <a:t>DECT, DTMF</a:t>
            </a:r>
          </a:p>
          <a:p>
            <a:r>
              <a:rPr lang="ru-RU" dirty="0" smtClean="0"/>
              <a:t>ДВО, </a:t>
            </a:r>
            <a:r>
              <a:rPr lang="en-US" dirty="0" smtClean="0"/>
              <a:t>IDSN,</a:t>
            </a:r>
          </a:p>
          <a:p>
            <a:r>
              <a:rPr lang="en-US" dirty="0" smtClean="0"/>
              <a:t>IN, INAP</a:t>
            </a:r>
          </a:p>
          <a:p>
            <a:r>
              <a:rPr lang="ru-RU" dirty="0" smtClean="0"/>
              <a:t>МУС, ЗТУ, </a:t>
            </a:r>
            <a:r>
              <a:rPr lang="ru-RU" dirty="0" err="1" smtClean="0"/>
              <a:t>ТМг</a:t>
            </a:r>
            <a:r>
              <a:rPr lang="ru-RU" dirty="0" smtClean="0"/>
              <a:t>/</a:t>
            </a:r>
            <a:r>
              <a:rPr lang="ru-RU" dirty="0" err="1" smtClean="0"/>
              <a:t>Мн</a:t>
            </a:r>
            <a:r>
              <a:rPr lang="ru-RU" dirty="0" smtClean="0"/>
              <a:t> УС,</a:t>
            </a:r>
          </a:p>
          <a:p>
            <a:r>
              <a:rPr lang="en-US" dirty="0" smtClean="0"/>
              <a:t>R1.5, ISUP</a:t>
            </a:r>
          </a:p>
          <a:p>
            <a:r>
              <a:rPr lang="ru-RU" dirty="0" smtClean="0"/>
              <a:t>АЛ, </a:t>
            </a:r>
            <a:r>
              <a:rPr lang="en-US" dirty="0" smtClean="0"/>
              <a:t>BRI, PRI, DSS1,</a:t>
            </a:r>
          </a:p>
          <a:p>
            <a:r>
              <a:rPr lang="en-US" dirty="0" err="1" smtClean="0"/>
              <a:t>xDSL</a:t>
            </a:r>
            <a:r>
              <a:rPr lang="en-US" dirty="0" smtClean="0"/>
              <a:t>, FTTX, PON</a:t>
            </a:r>
          </a:p>
          <a:p>
            <a:r>
              <a:rPr lang="ru-RU" dirty="0" smtClean="0"/>
              <a:t>Сеть передачи данных</a:t>
            </a:r>
          </a:p>
          <a:p>
            <a:r>
              <a:rPr lang="en-US" dirty="0" smtClean="0"/>
              <a:t>Bluetooth, </a:t>
            </a:r>
            <a:r>
              <a:rPr lang="en-US" dirty="0" err="1" smtClean="0"/>
              <a:t>ZigBee</a:t>
            </a:r>
            <a:r>
              <a:rPr lang="en-US" dirty="0" smtClean="0"/>
              <a:t>,</a:t>
            </a:r>
          </a:p>
          <a:p>
            <a:r>
              <a:rPr lang="en-US" dirty="0" smtClean="0"/>
              <a:t>RFID, (PAN)</a:t>
            </a:r>
          </a:p>
          <a:p>
            <a:r>
              <a:rPr lang="en-US" dirty="0" smtClean="0"/>
              <a:t>Http, FTP, VoIP,</a:t>
            </a:r>
          </a:p>
          <a:p>
            <a:r>
              <a:rPr lang="en-US" dirty="0" smtClean="0"/>
              <a:t>SIP</a:t>
            </a:r>
          </a:p>
          <a:p>
            <a:r>
              <a:rPr lang="en-US" dirty="0" smtClean="0"/>
              <a:t>TCP/IP, Router,</a:t>
            </a:r>
          </a:p>
          <a:p>
            <a:r>
              <a:rPr lang="en-US" dirty="0" smtClean="0"/>
              <a:t>Ethernet</a:t>
            </a:r>
          </a:p>
          <a:p>
            <a:r>
              <a:rPr lang="en-US" dirty="0" smtClean="0"/>
              <a:t>(MAN, WAN, GAN)</a:t>
            </a:r>
          </a:p>
          <a:p>
            <a:r>
              <a:rPr lang="en-US" dirty="0" smtClean="0"/>
              <a:t>SW, FW,</a:t>
            </a:r>
          </a:p>
          <a:p>
            <a:r>
              <a:rPr lang="ru-RU" dirty="0" smtClean="0"/>
              <a:t>802.11, 802.16</a:t>
            </a:r>
          </a:p>
          <a:p>
            <a:r>
              <a:rPr lang="en-US" dirty="0" smtClean="0"/>
              <a:t>(LAN)</a:t>
            </a:r>
          </a:p>
          <a:p>
            <a:r>
              <a:rPr lang="ru-RU" dirty="0" smtClean="0"/>
              <a:t>Мобильная сеть </a:t>
            </a:r>
            <a:r>
              <a:rPr lang="en-US" dirty="0" smtClean="0"/>
              <a:t>GSM/UMTC</a:t>
            </a:r>
          </a:p>
          <a:p>
            <a:r>
              <a:rPr lang="en-US" dirty="0" smtClean="0"/>
              <a:t>SL</a:t>
            </a:r>
          </a:p>
          <a:p>
            <a:r>
              <a:rPr lang="en-US" dirty="0" smtClean="0"/>
              <a:t>N</a:t>
            </a:r>
          </a:p>
          <a:p>
            <a:endParaRPr lang="ru-RU" dirty="0" smtClean="0"/>
          </a:p>
          <a:p>
            <a:pPr>
              <a:buNone/>
            </a:pP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2069" b="5454"/>
          <a:stretch>
            <a:fillRect/>
          </a:stretch>
        </p:blipFill>
        <p:spPr bwMode="auto">
          <a:xfrm>
            <a:off x="0" y="260648"/>
            <a:ext cx="9144000" cy="659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3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260350"/>
            <a:ext cx="9144000" cy="11620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altLang="ru-RU" sz="3200" b="1" dirty="0" smtClean="0">
                <a:solidFill>
                  <a:srgbClr val="002060"/>
                </a:solidFill>
              </a:rPr>
              <a:t>Традиционное построение сети связи</a:t>
            </a:r>
          </a:p>
        </p:txBody>
      </p:sp>
      <p:grpSp>
        <p:nvGrpSpPr>
          <p:cNvPr id="2" name="Group 219"/>
          <p:cNvGrpSpPr>
            <a:grpSpLocks/>
          </p:cNvGrpSpPr>
          <p:nvPr/>
        </p:nvGrpSpPr>
        <p:grpSpPr bwMode="auto">
          <a:xfrm>
            <a:off x="836613" y="1700213"/>
            <a:ext cx="8307387" cy="4968875"/>
            <a:chOff x="527" y="1071"/>
            <a:chExt cx="5233" cy="3130"/>
          </a:xfrm>
        </p:grpSpPr>
        <p:sp>
          <p:nvSpPr>
            <p:cNvPr id="13318" name="Cloud"/>
            <p:cNvSpPr>
              <a:spLocks noChangeAspect="1" noEditPoints="1" noChangeArrowheads="1"/>
            </p:cNvSpPr>
            <p:nvPr/>
          </p:nvSpPr>
          <p:spPr bwMode="auto">
            <a:xfrm>
              <a:off x="3078" y="2773"/>
              <a:ext cx="1967" cy="1428"/>
            </a:xfrm>
            <a:custGeom>
              <a:avLst/>
              <a:gdLst>
                <a:gd name="T0" fmla="*/ 6 w 21600"/>
                <a:gd name="T1" fmla="*/ 714 h 21600"/>
                <a:gd name="T2" fmla="*/ 984 w 21600"/>
                <a:gd name="T3" fmla="*/ 1426 h 21600"/>
                <a:gd name="T4" fmla="*/ 1965 w 21600"/>
                <a:gd name="T5" fmla="*/ 714 h 21600"/>
                <a:gd name="T6" fmla="*/ 984 w 21600"/>
                <a:gd name="T7" fmla="*/ 82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6 w 21600"/>
                <a:gd name="T13" fmla="*/ 3267 h 21600"/>
                <a:gd name="T14" fmla="*/ 17087 w 21600"/>
                <a:gd name="T15" fmla="*/ 173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gradFill rotWithShape="1">
              <a:gsLst>
                <a:gs pos="0">
                  <a:srgbClr val="FFF3FC"/>
                </a:gs>
                <a:gs pos="100000">
                  <a:srgbClr val="00CCFF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367" name="Line 112"/>
            <p:cNvSpPr>
              <a:spLocks noChangeShapeType="1"/>
            </p:cNvSpPr>
            <p:nvPr/>
          </p:nvSpPr>
          <p:spPr bwMode="auto">
            <a:xfrm flipV="1">
              <a:off x="3486" y="3112"/>
              <a:ext cx="170" cy="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68" name="Line 113"/>
            <p:cNvSpPr>
              <a:spLocks noChangeShapeType="1"/>
            </p:cNvSpPr>
            <p:nvPr/>
          </p:nvSpPr>
          <p:spPr bwMode="auto">
            <a:xfrm flipV="1">
              <a:off x="3486" y="3112"/>
              <a:ext cx="567" cy="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69" name="Line 114"/>
            <p:cNvSpPr>
              <a:spLocks noChangeShapeType="1"/>
            </p:cNvSpPr>
            <p:nvPr/>
          </p:nvSpPr>
          <p:spPr bwMode="auto">
            <a:xfrm flipH="1" flipV="1">
              <a:off x="3684" y="3112"/>
              <a:ext cx="85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70" name="Line 115"/>
            <p:cNvSpPr>
              <a:spLocks noChangeShapeType="1"/>
            </p:cNvSpPr>
            <p:nvPr/>
          </p:nvSpPr>
          <p:spPr bwMode="auto">
            <a:xfrm flipV="1">
              <a:off x="3769" y="3140"/>
              <a:ext cx="284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71" name="Line 116"/>
            <p:cNvSpPr>
              <a:spLocks noChangeShapeType="1"/>
            </p:cNvSpPr>
            <p:nvPr/>
          </p:nvSpPr>
          <p:spPr bwMode="auto">
            <a:xfrm flipV="1">
              <a:off x="4110" y="3112"/>
              <a:ext cx="0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72" name="Line 117"/>
            <p:cNvSpPr>
              <a:spLocks noChangeShapeType="1"/>
            </p:cNvSpPr>
            <p:nvPr/>
          </p:nvSpPr>
          <p:spPr bwMode="auto">
            <a:xfrm flipV="1">
              <a:off x="4110" y="3112"/>
              <a:ext cx="340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73" name="Line 118"/>
            <p:cNvSpPr>
              <a:spLocks noChangeShapeType="1"/>
            </p:cNvSpPr>
            <p:nvPr/>
          </p:nvSpPr>
          <p:spPr bwMode="auto">
            <a:xfrm flipH="1" flipV="1">
              <a:off x="4110" y="3083"/>
              <a:ext cx="312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74" name="Line 119"/>
            <p:cNvSpPr>
              <a:spLocks noChangeShapeType="1"/>
            </p:cNvSpPr>
            <p:nvPr/>
          </p:nvSpPr>
          <p:spPr bwMode="auto">
            <a:xfrm flipV="1">
              <a:off x="4393" y="3083"/>
              <a:ext cx="142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75" name="Line 120"/>
            <p:cNvSpPr>
              <a:spLocks noChangeShapeType="1"/>
            </p:cNvSpPr>
            <p:nvPr/>
          </p:nvSpPr>
          <p:spPr bwMode="auto">
            <a:xfrm flipV="1">
              <a:off x="3571" y="3112"/>
              <a:ext cx="85" cy="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76" name="Line 121"/>
            <p:cNvSpPr>
              <a:spLocks noChangeShapeType="1"/>
            </p:cNvSpPr>
            <p:nvPr/>
          </p:nvSpPr>
          <p:spPr bwMode="auto">
            <a:xfrm flipV="1">
              <a:off x="3599" y="3168"/>
              <a:ext cx="511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77" name="Line 122"/>
            <p:cNvSpPr>
              <a:spLocks noChangeShapeType="1"/>
            </p:cNvSpPr>
            <p:nvPr/>
          </p:nvSpPr>
          <p:spPr bwMode="auto">
            <a:xfrm flipH="1" flipV="1">
              <a:off x="3656" y="3140"/>
              <a:ext cx="170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78" name="Line 123"/>
            <p:cNvSpPr>
              <a:spLocks noChangeShapeType="1"/>
            </p:cNvSpPr>
            <p:nvPr/>
          </p:nvSpPr>
          <p:spPr bwMode="auto">
            <a:xfrm flipV="1">
              <a:off x="3855" y="3112"/>
              <a:ext cx="255" cy="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79" name="Line 124"/>
            <p:cNvSpPr>
              <a:spLocks noChangeShapeType="1"/>
            </p:cNvSpPr>
            <p:nvPr/>
          </p:nvSpPr>
          <p:spPr bwMode="auto">
            <a:xfrm flipH="1" flipV="1">
              <a:off x="3684" y="3112"/>
              <a:ext cx="511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80" name="Line 125"/>
            <p:cNvSpPr>
              <a:spLocks noChangeShapeType="1"/>
            </p:cNvSpPr>
            <p:nvPr/>
          </p:nvSpPr>
          <p:spPr bwMode="auto">
            <a:xfrm flipH="1" flipV="1">
              <a:off x="4138" y="3112"/>
              <a:ext cx="85" cy="6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81" name="Line 126"/>
            <p:cNvSpPr>
              <a:spLocks noChangeShapeType="1"/>
            </p:cNvSpPr>
            <p:nvPr/>
          </p:nvSpPr>
          <p:spPr bwMode="auto">
            <a:xfrm flipH="1" flipV="1">
              <a:off x="3656" y="3112"/>
              <a:ext cx="936" cy="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82" name="Line 127"/>
            <p:cNvSpPr>
              <a:spLocks noChangeShapeType="1"/>
            </p:cNvSpPr>
            <p:nvPr/>
          </p:nvSpPr>
          <p:spPr bwMode="auto">
            <a:xfrm flipH="1" flipV="1">
              <a:off x="4535" y="3112"/>
              <a:ext cx="57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3335" name="AutoShape 128"/>
            <p:cNvSpPr>
              <a:spLocks noChangeArrowheads="1"/>
            </p:cNvSpPr>
            <p:nvPr/>
          </p:nvSpPr>
          <p:spPr bwMode="auto">
            <a:xfrm>
              <a:off x="3656" y="3367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36" name="AutoShape 129"/>
            <p:cNvSpPr>
              <a:spLocks noChangeArrowheads="1"/>
            </p:cNvSpPr>
            <p:nvPr/>
          </p:nvSpPr>
          <p:spPr bwMode="auto">
            <a:xfrm>
              <a:off x="4303" y="3310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37" name="AutoShape 130"/>
            <p:cNvSpPr>
              <a:spLocks noChangeArrowheads="1"/>
            </p:cNvSpPr>
            <p:nvPr/>
          </p:nvSpPr>
          <p:spPr bwMode="auto">
            <a:xfrm>
              <a:off x="4110" y="3565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38" name="AutoShape 131"/>
            <p:cNvSpPr>
              <a:spLocks noChangeArrowheads="1"/>
            </p:cNvSpPr>
            <p:nvPr/>
          </p:nvSpPr>
          <p:spPr bwMode="auto">
            <a:xfrm>
              <a:off x="3968" y="3339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39" name="AutoShape 132"/>
            <p:cNvSpPr>
              <a:spLocks noChangeArrowheads="1"/>
            </p:cNvSpPr>
            <p:nvPr/>
          </p:nvSpPr>
          <p:spPr bwMode="auto">
            <a:xfrm>
              <a:off x="3373" y="3310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40" name="AutoShape 133"/>
            <p:cNvSpPr>
              <a:spLocks noChangeArrowheads="1"/>
            </p:cNvSpPr>
            <p:nvPr/>
          </p:nvSpPr>
          <p:spPr bwMode="auto">
            <a:xfrm>
              <a:off x="4485" y="3582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41" name="AutoShape 134"/>
            <p:cNvSpPr>
              <a:spLocks noChangeArrowheads="1"/>
            </p:cNvSpPr>
            <p:nvPr/>
          </p:nvSpPr>
          <p:spPr bwMode="auto">
            <a:xfrm>
              <a:off x="3458" y="3622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42" name="AutoShape 135"/>
            <p:cNvSpPr>
              <a:spLocks noChangeArrowheads="1"/>
            </p:cNvSpPr>
            <p:nvPr/>
          </p:nvSpPr>
          <p:spPr bwMode="auto">
            <a:xfrm>
              <a:off x="3741" y="3594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5391" name="Line 136"/>
            <p:cNvSpPr>
              <a:spLocks noChangeShapeType="1"/>
            </p:cNvSpPr>
            <p:nvPr/>
          </p:nvSpPr>
          <p:spPr bwMode="auto">
            <a:xfrm>
              <a:off x="3684" y="3083"/>
              <a:ext cx="3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92" name="Line 137"/>
            <p:cNvSpPr>
              <a:spLocks noChangeShapeType="1"/>
            </p:cNvSpPr>
            <p:nvPr/>
          </p:nvSpPr>
          <p:spPr bwMode="auto">
            <a:xfrm>
              <a:off x="4138" y="3083"/>
              <a:ext cx="3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93" name="Line 138"/>
            <p:cNvSpPr>
              <a:spLocks noChangeShapeType="1"/>
            </p:cNvSpPr>
            <p:nvPr/>
          </p:nvSpPr>
          <p:spPr bwMode="auto">
            <a:xfrm flipV="1">
              <a:off x="3684" y="2998"/>
              <a:ext cx="851" cy="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94" name="Line 139"/>
            <p:cNvSpPr>
              <a:spLocks noChangeShapeType="1"/>
            </p:cNvSpPr>
            <p:nvPr/>
          </p:nvSpPr>
          <p:spPr bwMode="auto">
            <a:xfrm flipV="1">
              <a:off x="3684" y="2176"/>
              <a:ext cx="284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95" name="Line 140"/>
            <p:cNvSpPr>
              <a:spLocks noChangeShapeType="1"/>
            </p:cNvSpPr>
            <p:nvPr/>
          </p:nvSpPr>
          <p:spPr bwMode="auto">
            <a:xfrm flipH="1" flipV="1">
              <a:off x="3968" y="2176"/>
              <a:ext cx="17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396" name="Line 141"/>
            <p:cNvSpPr>
              <a:spLocks noChangeShapeType="1"/>
            </p:cNvSpPr>
            <p:nvPr/>
          </p:nvSpPr>
          <p:spPr bwMode="auto">
            <a:xfrm flipH="1" flipV="1">
              <a:off x="3968" y="2176"/>
              <a:ext cx="595" cy="8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3349" name="AutoShape 142"/>
            <p:cNvSpPr>
              <a:spLocks noChangeArrowheads="1"/>
            </p:cNvSpPr>
            <p:nvPr/>
          </p:nvSpPr>
          <p:spPr bwMode="auto">
            <a:xfrm>
              <a:off x="3996" y="2998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50" name="AutoShape 143"/>
            <p:cNvSpPr>
              <a:spLocks noChangeArrowheads="1"/>
            </p:cNvSpPr>
            <p:nvPr/>
          </p:nvSpPr>
          <p:spPr bwMode="auto">
            <a:xfrm>
              <a:off x="4422" y="2970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51" name="AutoShape 144"/>
            <p:cNvSpPr>
              <a:spLocks noChangeArrowheads="1"/>
            </p:cNvSpPr>
            <p:nvPr/>
          </p:nvSpPr>
          <p:spPr bwMode="auto">
            <a:xfrm>
              <a:off x="3571" y="2998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5400" name="Line 145"/>
            <p:cNvSpPr>
              <a:spLocks noChangeShapeType="1"/>
            </p:cNvSpPr>
            <p:nvPr/>
          </p:nvSpPr>
          <p:spPr bwMode="auto">
            <a:xfrm flipV="1">
              <a:off x="1065" y="1241"/>
              <a:ext cx="397" cy="7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01" name="Line 146"/>
            <p:cNvSpPr>
              <a:spLocks noChangeShapeType="1"/>
            </p:cNvSpPr>
            <p:nvPr/>
          </p:nvSpPr>
          <p:spPr bwMode="auto">
            <a:xfrm flipV="1">
              <a:off x="1434" y="1269"/>
              <a:ext cx="28" cy="7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02" name="Line 147"/>
            <p:cNvSpPr>
              <a:spLocks noChangeShapeType="1"/>
            </p:cNvSpPr>
            <p:nvPr/>
          </p:nvSpPr>
          <p:spPr bwMode="auto">
            <a:xfrm>
              <a:off x="1462" y="1269"/>
              <a:ext cx="369" cy="7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03" name="Line 148"/>
            <p:cNvSpPr>
              <a:spLocks noChangeShapeType="1"/>
            </p:cNvSpPr>
            <p:nvPr/>
          </p:nvSpPr>
          <p:spPr bwMode="auto">
            <a:xfrm>
              <a:off x="1462" y="1269"/>
              <a:ext cx="737" cy="7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04" name="Line 149"/>
            <p:cNvSpPr>
              <a:spLocks noChangeShapeType="1"/>
            </p:cNvSpPr>
            <p:nvPr/>
          </p:nvSpPr>
          <p:spPr bwMode="auto">
            <a:xfrm>
              <a:off x="1462" y="1269"/>
              <a:ext cx="1078" cy="7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05" name="Line 150"/>
            <p:cNvSpPr>
              <a:spLocks noChangeShapeType="1"/>
            </p:cNvSpPr>
            <p:nvPr/>
          </p:nvSpPr>
          <p:spPr bwMode="auto">
            <a:xfrm>
              <a:off x="1462" y="1241"/>
              <a:ext cx="1815" cy="7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06" name="Line 151"/>
            <p:cNvSpPr>
              <a:spLocks noChangeShapeType="1"/>
            </p:cNvSpPr>
            <p:nvPr/>
          </p:nvSpPr>
          <p:spPr bwMode="auto">
            <a:xfrm>
              <a:off x="1462" y="1241"/>
              <a:ext cx="2523" cy="7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07" name="Line 152"/>
            <p:cNvSpPr>
              <a:spLocks noChangeShapeType="1"/>
            </p:cNvSpPr>
            <p:nvPr/>
          </p:nvSpPr>
          <p:spPr bwMode="auto">
            <a:xfrm flipH="1">
              <a:off x="1094" y="1269"/>
              <a:ext cx="1672" cy="7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08" name="Line 153"/>
            <p:cNvSpPr>
              <a:spLocks noChangeShapeType="1"/>
            </p:cNvSpPr>
            <p:nvPr/>
          </p:nvSpPr>
          <p:spPr bwMode="auto">
            <a:xfrm flipH="1">
              <a:off x="1462" y="1269"/>
              <a:ext cx="1304" cy="7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09" name="Line 154"/>
            <p:cNvSpPr>
              <a:spLocks noChangeShapeType="1"/>
            </p:cNvSpPr>
            <p:nvPr/>
          </p:nvSpPr>
          <p:spPr bwMode="auto">
            <a:xfrm flipH="1">
              <a:off x="1803" y="1297"/>
              <a:ext cx="963" cy="7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10" name="Line 155"/>
            <p:cNvSpPr>
              <a:spLocks noChangeShapeType="1"/>
            </p:cNvSpPr>
            <p:nvPr/>
          </p:nvSpPr>
          <p:spPr bwMode="auto">
            <a:xfrm flipH="1">
              <a:off x="2199" y="1297"/>
              <a:ext cx="596" cy="7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11" name="Line 156"/>
            <p:cNvSpPr>
              <a:spLocks noChangeShapeType="1"/>
            </p:cNvSpPr>
            <p:nvPr/>
          </p:nvSpPr>
          <p:spPr bwMode="auto">
            <a:xfrm>
              <a:off x="2795" y="1269"/>
              <a:ext cx="1559" cy="7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12" name="Line 157"/>
            <p:cNvSpPr>
              <a:spLocks noChangeShapeType="1"/>
            </p:cNvSpPr>
            <p:nvPr/>
          </p:nvSpPr>
          <p:spPr bwMode="auto">
            <a:xfrm>
              <a:off x="2795" y="1269"/>
              <a:ext cx="85" cy="7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13" name="Line 158"/>
            <p:cNvSpPr>
              <a:spLocks noChangeShapeType="1"/>
            </p:cNvSpPr>
            <p:nvPr/>
          </p:nvSpPr>
          <p:spPr bwMode="auto">
            <a:xfrm>
              <a:off x="2795" y="1269"/>
              <a:ext cx="822" cy="7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14" name="Line 159"/>
            <p:cNvSpPr>
              <a:spLocks noChangeShapeType="1"/>
            </p:cNvSpPr>
            <p:nvPr/>
          </p:nvSpPr>
          <p:spPr bwMode="auto">
            <a:xfrm>
              <a:off x="4156" y="1269"/>
              <a:ext cx="198" cy="7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15" name="Line 160"/>
            <p:cNvSpPr>
              <a:spLocks noChangeShapeType="1"/>
            </p:cNvSpPr>
            <p:nvPr/>
          </p:nvSpPr>
          <p:spPr bwMode="auto">
            <a:xfrm flipH="1">
              <a:off x="3957" y="1269"/>
              <a:ext cx="227" cy="7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16" name="Line 161"/>
            <p:cNvSpPr>
              <a:spLocks noChangeShapeType="1"/>
            </p:cNvSpPr>
            <p:nvPr/>
          </p:nvSpPr>
          <p:spPr bwMode="auto">
            <a:xfrm flipH="1">
              <a:off x="3589" y="1269"/>
              <a:ext cx="567" cy="7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17" name="Line 162"/>
            <p:cNvSpPr>
              <a:spLocks noChangeShapeType="1"/>
            </p:cNvSpPr>
            <p:nvPr/>
          </p:nvSpPr>
          <p:spPr bwMode="auto">
            <a:xfrm flipH="1">
              <a:off x="3248" y="1297"/>
              <a:ext cx="908" cy="7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18" name="Line 163"/>
            <p:cNvSpPr>
              <a:spLocks noChangeShapeType="1"/>
            </p:cNvSpPr>
            <p:nvPr/>
          </p:nvSpPr>
          <p:spPr bwMode="auto">
            <a:xfrm flipH="1">
              <a:off x="2880" y="1297"/>
              <a:ext cx="1276" cy="7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19" name="Line 164"/>
            <p:cNvSpPr>
              <a:spLocks noChangeShapeType="1"/>
            </p:cNvSpPr>
            <p:nvPr/>
          </p:nvSpPr>
          <p:spPr bwMode="auto">
            <a:xfrm flipH="1">
              <a:off x="2540" y="1297"/>
              <a:ext cx="1616" cy="7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3372" name="AutoShape 165"/>
            <p:cNvSpPr>
              <a:spLocks noChangeArrowheads="1"/>
            </p:cNvSpPr>
            <p:nvPr/>
          </p:nvSpPr>
          <p:spPr bwMode="auto">
            <a:xfrm>
              <a:off x="1309" y="1071"/>
              <a:ext cx="272" cy="235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73" name="AutoShape 166"/>
            <p:cNvSpPr>
              <a:spLocks noChangeArrowheads="1"/>
            </p:cNvSpPr>
            <p:nvPr/>
          </p:nvSpPr>
          <p:spPr bwMode="auto">
            <a:xfrm>
              <a:off x="3985" y="1071"/>
              <a:ext cx="272" cy="235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74" name="AutoShape 167"/>
            <p:cNvSpPr>
              <a:spLocks noChangeArrowheads="1"/>
            </p:cNvSpPr>
            <p:nvPr/>
          </p:nvSpPr>
          <p:spPr bwMode="auto">
            <a:xfrm>
              <a:off x="2625" y="1071"/>
              <a:ext cx="272" cy="235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75" name="AutoShape 168"/>
            <p:cNvSpPr>
              <a:spLocks noChangeArrowheads="1"/>
            </p:cNvSpPr>
            <p:nvPr/>
          </p:nvSpPr>
          <p:spPr bwMode="auto">
            <a:xfrm>
              <a:off x="2364" y="1949"/>
              <a:ext cx="272" cy="235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76" name="AutoShape 169"/>
            <p:cNvSpPr>
              <a:spLocks noChangeArrowheads="1"/>
            </p:cNvSpPr>
            <p:nvPr/>
          </p:nvSpPr>
          <p:spPr bwMode="auto">
            <a:xfrm>
              <a:off x="911" y="1949"/>
              <a:ext cx="272" cy="235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77" name="AutoShape 170"/>
            <p:cNvSpPr>
              <a:spLocks noChangeArrowheads="1"/>
            </p:cNvSpPr>
            <p:nvPr/>
          </p:nvSpPr>
          <p:spPr bwMode="auto">
            <a:xfrm>
              <a:off x="3089" y="1949"/>
              <a:ext cx="272" cy="235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78" name="AutoShape 171"/>
            <p:cNvSpPr>
              <a:spLocks noChangeArrowheads="1"/>
            </p:cNvSpPr>
            <p:nvPr/>
          </p:nvSpPr>
          <p:spPr bwMode="auto">
            <a:xfrm>
              <a:off x="2001" y="1949"/>
              <a:ext cx="272" cy="235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79" name="AutoShape 172"/>
            <p:cNvSpPr>
              <a:spLocks noChangeArrowheads="1"/>
            </p:cNvSpPr>
            <p:nvPr/>
          </p:nvSpPr>
          <p:spPr bwMode="auto">
            <a:xfrm>
              <a:off x="2727" y="1949"/>
              <a:ext cx="272" cy="235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80" name="AutoShape 173"/>
            <p:cNvSpPr>
              <a:spLocks noChangeArrowheads="1"/>
            </p:cNvSpPr>
            <p:nvPr/>
          </p:nvSpPr>
          <p:spPr bwMode="auto">
            <a:xfrm>
              <a:off x="4178" y="1949"/>
              <a:ext cx="272" cy="235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81" name="AutoShape 174"/>
            <p:cNvSpPr>
              <a:spLocks noChangeArrowheads="1"/>
            </p:cNvSpPr>
            <p:nvPr/>
          </p:nvSpPr>
          <p:spPr bwMode="auto">
            <a:xfrm>
              <a:off x="1637" y="1949"/>
              <a:ext cx="272" cy="235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82" name="AutoShape 175"/>
            <p:cNvSpPr>
              <a:spLocks noChangeArrowheads="1"/>
            </p:cNvSpPr>
            <p:nvPr/>
          </p:nvSpPr>
          <p:spPr bwMode="auto">
            <a:xfrm>
              <a:off x="3452" y="1949"/>
              <a:ext cx="272" cy="235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383" name="Cloud"/>
            <p:cNvSpPr>
              <a:spLocks noChangeAspect="1" noEditPoints="1" noChangeArrowheads="1"/>
            </p:cNvSpPr>
            <p:nvPr/>
          </p:nvSpPr>
          <p:spPr bwMode="auto">
            <a:xfrm>
              <a:off x="527" y="2773"/>
              <a:ext cx="1967" cy="1428"/>
            </a:xfrm>
            <a:custGeom>
              <a:avLst/>
              <a:gdLst>
                <a:gd name="T0" fmla="*/ 6 w 21600"/>
                <a:gd name="T1" fmla="*/ 714 h 21600"/>
                <a:gd name="T2" fmla="*/ 984 w 21600"/>
                <a:gd name="T3" fmla="*/ 1426 h 21600"/>
                <a:gd name="T4" fmla="*/ 1965 w 21600"/>
                <a:gd name="T5" fmla="*/ 714 h 21600"/>
                <a:gd name="T6" fmla="*/ 984 w 21600"/>
                <a:gd name="T7" fmla="*/ 82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6 w 21600"/>
                <a:gd name="T13" fmla="*/ 3267 h 21600"/>
                <a:gd name="T14" fmla="*/ 17087 w 21600"/>
                <a:gd name="T15" fmla="*/ 173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0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1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300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7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7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0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0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50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2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10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gradFill rotWithShape="1">
              <a:gsLst>
                <a:gs pos="0">
                  <a:srgbClr val="FFF3FC"/>
                </a:gs>
                <a:gs pos="100000">
                  <a:srgbClr val="00CCFF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432" name="Line 177"/>
            <p:cNvSpPr>
              <a:spLocks noChangeShapeType="1"/>
            </p:cNvSpPr>
            <p:nvPr/>
          </p:nvSpPr>
          <p:spPr bwMode="auto">
            <a:xfrm flipV="1">
              <a:off x="935" y="3112"/>
              <a:ext cx="170" cy="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33" name="Line 178"/>
            <p:cNvSpPr>
              <a:spLocks noChangeShapeType="1"/>
            </p:cNvSpPr>
            <p:nvPr/>
          </p:nvSpPr>
          <p:spPr bwMode="auto">
            <a:xfrm flipV="1">
              <a:off x="935" y="3112"/>
              <a:ext cx="567" cy="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34" name="Line 179"/>
            <p:cNvSpPr>
              <a:spLocks noChangeShapeType="1"/>
            </p:cNvSpPr>
            <p:nvPr/>
          </p:nvSpPr>
          <p:spPr bwMode="auto">
            <a:xfrm flipH="1" flipV="1">
              <a:off x="1133" y="3112"/>
              <a:ext cx="85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35" name="Line 180"/>
            <p:cNvSpPr>
              <a:spLocks noChangeShapeType="1"/>
            </p:cNvSpPr>
            <p:nvPr/>
          </p:nvSpPr>
          <p:spPr bwMode="auto">
            <a:xfrm flipV="1">
              <a:off x="1218" y="3140"/>
              <a:ext cx="284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36" name="Line 181"/>
            <p:cNvSpPr>
              <a:spLocks noChangeShapeType="1"/>
            </p:cNvSpPr>
            <p:nvPr/>
          </p:nvSpPr>
          <p:spPr bwMode="auto">
            <a:xfrm flipV="1">
              <a:off x="1559" y="3112"/>
              <a:ext cx="0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37" name="Line 182"/>
            <p:cNvSpPr>
              <a:spLocks noChangeShapeType="1"/>
            </p:cNvSpPr>
            <p:nvPr/>
          </p:nvSpPr>
          <p:spPr bwMode="auto">
            <a:xfrm flipV="1">
              <a:off x="1559" y="3112"/>
              <a:ext cx="340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38" name="Line 183"/>
            <p:cNvSpPr>
              <a:spLocks noChangeShapeType="1"/>
            </p:cNvSpPr>
            <p:nvPr/>
          </p:nvSpPr>
          <p:spPr bwMode="auto">
            <a:xfrm flipH="1" flipV="1">
              <a:off x="1559" y="3083"/>
              <a:ext cx="312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39" name="Line 184"/>
            <p:cNvSpPr>
              <a:spLocks noChangeShapeType="1"/>
            </p:cNvSpPr>
            <p:nvPr/>
          </p:nvSpPr>
          <p:spPr bwMode="auto">
            <a:xfrm flipV="1">
              <a:off x="1842" y="3083"/>
              <a:ext cx="142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40" name="Line 185"/>
            <p:cNvSpPr>
              <a:spLocks noChangeShapeType="1"/>
            </p:cNvSpPr>
            <p:nvPr/>
          </p:nvSpPr>
          <p:spPr bwMode="auto">
            <a:xfrm flipV="1">
              <a:off x="1020" y="3112"/>
              <a:ext cx="85" cy="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41" name="Line 186"/>
            <p:cNvSpPr>
              <a:spLocks noChangeShapeType="1"/>
            </p:cNvSpPr>
            <p:nvPr/>
          </p:nvSpPr>
          <p:spPr bwMode="auto">
            <a:xfrm flipV="1">
              <a:off x="1048" y="3168"/>
              <a:ext cx="511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42" name="Line 187"/>
            <p:cNvSpPr>
              <a:spLocks noChangeShapeType="1"/>
            </p:cNvSpPr>
            <p:nvPr/>
          </p:nvSpPr>
          <p:spPr bwMode="auto">
            <a:xfrm flipH="1" flipV="1">
              <a:off x="1105" y="3140"/>
              <a:ext cx="170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43" name="Line 188"/>
            <p:cNvSpPr>
              <a:spLocks noChangeShapeType="1"/>
            </p:cNvSpPr>
            <p:nvPr/>
          </p:nvSpPr>
          <p:spPr bwMode="auto">
            <a:xfrm flipV="1">
              <a:off x="1304" y="3112"/>
              <a:ext cx="255" cy="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44" name="Line 189"/>
            <p:cNvSpPr>
              <a:spLocks noChangeShapeType="1"/>
            </p:cNvSpPr>
            <p:nvPr/>
          </p:nvSpPr>
          <p:spPr bwMode="auto">
            <a:xfrm flipH="1" flipV="1">
              <a:off x="1133" y="3112"/>
              <a:ext cx="511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45" name="Line 190"/>
            <p:cNvSpPr>
              <a:spLocks noChangeShapeType="1"/>
            </p:cNvSpPr>
            <p:nvPr/>
          </p:nvSpPr>
          <p:spPr bwMode="auto">
            <a:xfrm flipH="1" flipV="1">
              <a:off x="1587" y="3112"/>
              <a:ext cx="85" cy="6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46" name="Line 191"/>
            <p:cNvSpPr>
              <a:spLocks noChangeShapeType="1"/>
            </p:cNvSpPr>
            <p:nvPr/>
          </p:nvSpPr>
          <p:spPr bwMode="auto">
            <a:xfrm flipH="1" flipV="1">
              <a:off x="1105" y="3112"/>
              <a:ext cx="936" cy="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47" name="Line 192"/>
            <p:cNvSpPr>
              <a:spLocks noChangeShapeType="1"/>
            </p:cNvSpPr>
            <p:nvPr/>
          </p:nvSpPr>
          <p:spPr bwMode="auto">
            <a:xfrm flipH="1" flipV="1">
              <a:off x="1984" y="3112"/>
              <a:ext cx="57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3400" name="AutoShape 193"/>
            <p:cNvSpPr>
              <a:spLocks noChangeArrowheads="1"/>
            </p:cNvSpPr>
            <p:nvPr/>
          </p:nvSpPr>
          <p:spPr bwMode="auto">
            <a:xfrm>
              <a:off x="1105" y="3367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401" name="AutoShape 194"/>
            <p:cNvSpPr>
              <a:spLocks noChangeArrowheads="1"/>
            </p:cNvSpPr>
            <p:nvPr/>
          </p:nvSpPr>
          <p:spPr bwMode="auto">
            <a:xfrm>
              <a:off x="1752" y="3310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402" name="AutoShape 195"/>
            <p:cNvSpPr>
              <a:spLocks noChangeArrowheads="1"/>
            </p:cNvSpPr>
            <p:nvPr/>
          </p:nvSpPr>
          <p:spPr bwMode="auto">
            <a:xfrm>
              <a:off x="1559" y="3565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403" name="AutoShape 196"/>
            <p:cNvSpPr>
              <a:spLocks noChangeArrowheads="1"/>
            </p:cNvSpPr>
            <p:nvPr/>
          </p:nvSpPr>
          <p:spPr bwMode="auto">
            <a:xfrm>
              <a:off x="1417" y="3339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404" name="AutoShape 197"/>
            <p:cNvSpPr>
              <a:spLocks noChangeArrowheads="1"/>
            </p:cNvSpPr>
            <p:nvPr/>
          </p:nvSpPr>
          <p:spPr bwMode="auto">
            <a:xfrm>
              <a:off x="822" y="3310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405" name="AutoShape 198"/>
            <p:cNvSpPr>
              <a:spLocks noChangeArrowheads="1"/>
            </p:cNvSpPr>
            <p:nvPr/>
          </p:nvSpPr>
          <p:spPr bwMode="auto">
            <a:xfrm>
              <a:off x="1934" y="3582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406" name="AutoShape 199"/>
            <p:cNvSpPr>
              <a:spLocks noChangeArrowheads="1"/>
            </p:cNvSpPr>
            <p:nvPr/>
          </p:nvSpPr>
          <p:spPr bwMode="auto">
            <a:xfrm>
              <a:off x="907" y="3622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407" name="AutoShape 200"/>
            <p:cNvSpPr>
              <a:spLocks noChangeArrowheads="1"/>
            </p:cNvSpPr>
            <p:nvPr/>
          </p:nvSpPr>
          <p:spPr bwMode="auto">
            <a:xfrm>
              <a:off x="1190" y="3594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5456" name="Line 201"/>
            <p:cNvSpPr>
              <a:spLocks noChangeShapeType="1"/>
            </p:cNvSpPr>
            <p:nvPr/>
          </p:nvSpPr>
          <p:spPr bwMode="auto">
            <a:xfrm>
              <a:off x="1133" y="3083"/>
              <a:ext cx="3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57" name="Line 202"/>
            <p:cNvSpPr>
              <a:spLocks noChangeShapeType="1"/>
            </p:cNvSpPr>
            <p:nvPr/>
          </p:nvSpPr>
          <p:spPr bwMode="auto">
            <a:xfrm>
              <a:off x="1587" y="3083"/>
              <a:ext cx="3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58" name="Line 203"/>
            <p:cNvSpPr>
              <a:spLocks noChangeShapeType="1"/>
            </p:cNvSpPr>
            <p:nvPr/>
          </p:nvSpPr>
          <p:spPr bwMode="auto">
            <a:xfrm flipV="1">
              <a:off x="1133" y="2998"/>
              <a:ext cx="851" cy="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59" name="Line 204"/>
            <p:cNvSpPr>
              <a:spLocks noChangeShapeType="1"/>
            </p:cNvSpPr>
            <p:nvPr/>
          </p:nvSpPr>
          <p:spPr bwMode="auto">
            <a:xfrm flipV="1">
              <a:off x="1133" y="2176"/>
              <a:ext cx="284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60" name="Line 205"/>
            <p:cNvSpPr>
              <a:spLocks noChangeShapeType="1"/>
            </p:cNvSpPr>
            <p:nvPr/>
          </p:nvSpPr>
          <p:spPr bwMode="auto">
            <a:xfrm flipH="1" flipV="1">
              <a:off x="1417" y="2176"/>
              <a:ext cx="17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61" name="Line 206"/>
            <p:cNvSpPr>
              <a:spLocks noChangeShapeType="1"/>
            </p:cNvSpPr>
            <p:nvPr/>
          </p:nvSpPr>
          <p:spPr bwMode="auto">
            <a:xfrm flipH="1" flipV="1">
              <a:off x="1417" y="2176"/>
              <a:ext cx="595" cy="8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3414" name="AutoShape 207"/>
            <p:cNvSpPr>
              <a:spLocks noChangeArrowheads="1"/>
            </p:cNvSpPr>
            <p:nvPr/>
          </p:nvSpPr>
          <p:spPr bwMode="auto">
            <a:xfrm>
              <a:off x="1445" y="2998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415" name="AutoShape 208"/>
            <p:cNvSpPr>
              <a:spLocks noChangeArrowheads="1"/>
            </p:cNvSpPr>
            <p:nvPr/>
          </p:nvSpPr>
          <p:spPr bwMode="auto">
            <a:xfrm>
              <a:off x="1871" y="2970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416" name="AutoShape 209"/>
            <p:cNvSpPr>
              <a:spLocks noChangeArrowheads="1"/>
            </p:cNvSpPr>
            <p:nvPr/>
          </p:nvSpPr>
          <p:spPr bwMode="auto">
            <a:xfrm>
              <a:off x="1020" y="2998"/>
              <a:ext cx="182" cy="157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45791" dir="2021404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417" name="AutoShape 210"/>
            <p:cNvSpPr>
              <a:spLocks noChangeArrowheads="1"/>
            </p:cNvSpPr>
            <p:nvPr/>
          </p:nvSpPr>
          <p:spPr bwMode="auto">
            <a:xfrm>
              <a:off x="1274" y="1949"/>
              <a:ext cx="272" cy="235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3418" name="AutoShape 211"/>
            <p:cNvSpPr>
              <a:spLocks noChangeArrowheads="1"/>
            </p:cNvSpPr>
            <p:nvPr/>
          </p:nvSpPr>
          <p:spPr bwMode="auto">
            <a:xfrm>
              <a:off x="3815" y="1949"/>
              <a:ext cx="272" cy="235"/>
            </a:xfrm>
            <a:prstGeom prst="triangle">
              <a:avLst>
                <a:gd name="adj" fmla="val 69852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15467" name="Line 212"/>
            <p:cNvSpPr>
              <a:spLocks noChangeShapeType="1"/>
            </p:cNvSpPr>
            <p:nvPr/>
          </p:nvSpPr>
          <p:spPr bwMode="auto">
            <a:xfrm>
              <a:off x="2596" y="3424"/>
              <a:ext cx="4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15468" name="Text Box 213"/>
            <p:cNvSpPr txBox="1">
              <a:spLocks noChangeArrowheads="1"/>
            </p:cNvSpPr>
            <p:nvPr/>
          </p:nvSpPr>
          <p:spPr bwMode="auto">
            <a:xfrm>
              <a:off x="5212" y="3282"/>
              <a:ext cx="33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ru-RU" altLang="ru-RU" sz="1400">
                  <a:latin typeface="Times New Roman" pitchFamily="18" charset="0"/>
                </a:rPr>
                <a:t>АТС</a:t>
              </a:r>
            </a:p>
          </p:txBody>
        </p:sp>
        <p:sp>
          <p:nvSpPr>
            <p:cNvPr id="15469" name="Text Box 214"/>
            <p:cNvSpPr txBox="1">
              <a:spLocks noChangeArrowheads="1"/>
            </p:cNvSpPr>
            <p:nvPr/>
          </p:nvSpPr>
          <p:spPr bwMode="auto">
            <a:xfrm>
              <a:off x="5212" y="1978"/>
              <a:ext cx="43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ru-RU" altLang="ru-RU" sz="1400">
                  <a:latin typeface="Times New Roman" pitchFamily="18" charset="0"/>
                </a:rPr>
                <a:t>АМТС</a:t>
              </a:r>
            </a:p>
          </p:txBody>
        </p:sp>
        <p:sp>
          <p:nvSpPr>
            <p:cNvPr id="15470" name="Text Box 215"/>
            <p:cNvSpPr txBox="1">
              <a:spLocks noChangeArrowheads="1"/>
            </p:cNvSpPr>
            <p:nvPr/>
          </p:nvSpPr>
          <p:spPr bwMode="auto">
            <a:xfrm>
              <a:off x="5212" y="1127"/>
              <a:ext cx="54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ru-RU" altLang="ru-RU" sz="1400">
                  <a:latin typeface="Times New Roman" pitchFamily="18" charset="0"/>
                </a:rPr>
                <a:t>МЦК/ТУ</a:t>
              </a:r>
            </a:p>
          </p:txBody>
        </p:sp>
        <p:sp>
          <p:nvSpPr>
            <p:cNvPr id="15471" name="Text Box 216"/>
            <p:cNvSpPr txBox="1">
              <a:spLocks noChangeArrowheads="1"/>
            </p:cNvSpPr>
            <p:nvPr/>
          </p:nvSpPr>
          <p:spPr bwMode="auto">
            <a:xfrm>
              <a:off x="1066" y="3793"/>
              <a:ext cx="84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ru-RU" altLang="ru-RU" sz="1600">
                  <a:latin typeface="Times New Roman" pitchFamily="18" charset="0"/>
                </a:rPr>
                <a:t>Сети доступа</a:t>
              </a:r>
            </a:p>
          </p:txBody>
        </p:sp>
        <p:sp>
          <p:nvSpPr>
            <p:cNvPr id="15472" name="Text Box 217"/>
            <p:cNvSpPr txBox="1">
              <a:spLocks noChangeArrowheads="1"/>
            </p:cNvSpPr>
            <p:nvPr/>
          </p:nvSpPr>
          <p:spPr bwMode="auto">
            <a:xfrm>
              <a:off x="3651" y="3793"/>
              <a:ext cx="84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ru-RU" altLang="ru-RU" sz="1600">
                  <a:latin typeface="Times New Roman" pitchFamily="18" charset="0"/>
                </a:rPr>
                <a:t>Сети доступа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964488" cy="620688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Телефонные </a:t>
            </a:r>
            <a:r>
              <a:rPr lang="en-US" sz="3600" b="1" dirty="0" err="1" smtClean="0">
                <a:solidFill>
                  <a:srgbClr val="002060"/>
                </a:solidFill>
              </a:rPr>
              <a:t>сет</a:t>
            </a:r>
            <a:r>
              <a:rPr lang="ru-RU" sz="3600" b="1" dirty="0" smtClean="0">
                <a:solidFill>
                  <a:srgbClr val="002060"/>
                </a:solidFill>
              </a:rPr>
              <a:t>и</a:t>
            </a:r>
            <a:r>
              <a:rPr lang="en-US" sz="3600" b="1" dirty="0" smtClean="0">
                <a:solidFill>
                  <a:srgbClr val="002060"/>
                </a:solidFill>
              </a:rPr>
              <a:t> </a:t>
            </a:r>
            <a:r>
              <a:rPr lang="en-US" sz="3600" b="1" dirty="0" err="1" smtClean="0">
                <a:solidFill>
                  <a:srgbClr val="002060"/>
                </a:solidFill>
              </a:rPr>
              <a:t>связи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 smtClean="0"/>
              <a:t>Совокупность устройств и сооружений, с помощью которых осуществляется телефонная связь, называют телефонной сетью.</a:t>
            </a:r>
          </a:p>
          <a:p>
            <a:r>
              <a:rPr lang="ru-RU" b="1" dirty="0" smtClean="0"/>
              <a:t> В состав сети входят: </a:t>
            </a:r>
          </a:p>
          <a:p>
            <a:pPr>
              <a:buNone/>
            </a:pPr>
            <a:r>
              <a:rPr lang="ru-RU" dirty="0" smtClean="0"/>
              <a:t>     1. </a:t>
            </a:r>
            <a:r>
              <a:rPr lang="ru-RU" b="1" dirty="0" smtClean="0"/>
              <a:t>Коммутационные устройства </a:t>
            </a:r>
            <a:r>
              <a:rPr lang="ru-RU" dirty="0" smtClean="0"/>
              <a:t>– это автоматическая телефонная станция (АТС), узлы входящих сообщений (УВС), узлы транзитной связи (УТС), абонентские выносы – концентраторы и др.</a:t>
            </a:r>
          </a:p>
          <a:p>
            <a:pPr>
              <a:buNone/>
            </a:pPr>
            <a:r>
              <a:rPr lang="ru-RU" dirty="0" smtClean="0"/>
              <a:t>    2. </a:t>
            </a:r>
            <a:r>
              <a:rPr lang="ru-RU" b="1" dirty="0" smtClean="0"/>
              <a:t>Линейные сооружения </a:t>
            </a:r>
            <a:r>
              <a:rPr lang="ru-RU" dirty="0" smtClean="0"/>
              <a:t>(АЛ – абонентские линии, СЛ – соединительные линии, каналы междугородной связи).</a:t>
            </a:r>
          </a:p>
          <a:p>
            <a:pPr>
              <a:buNone/>
            </a:pPr>
            <a:r>
              <a:rPr lang="ru-RU" dirty="0" smtClean="0"/>
              <a:t>    3. </a:t>
            </a:r>
            <a:r>
              <a:rPr lang="ru-RU" b="1" dirty="0" smtClean="0"/>
              <a:t>Абонентские оконечные устройства </a:t>
            </a:r>
            <a:r>
              <a:rPr lang="ru-RU" dirty="0" smtClean="0"/>
              <a:t>(ОАУ). </a:t>
            </a:r>
          </a:p>
          <a:p>
            <a:pPr>
              <a:buNone/>
            </a:pPr>
            <a:r>
              <a:rPr lang="ru-RU" b="1" dirty="0" smtClean="0"/>
              <a:t>  По назначению различают следующие виды телефонных сетей:</a:t>
            </a:r>
            <a:r>
              <a:rPr lang="ru-RU" dirty="0" smtClean="0"/>
              <a:t> </a:t>
            </a:r>
          </a:p>
          <a:p>
            <a:pPr>
              <a:buNone/>
            </a:pPr>
            <a:r>
              <a:rPr lang="ru-RU" dirty="0" smtClean="0"/>
              <a:t>       - местные</a:t>
            </a:r>
          </a:p>
          <a:p>
            <a:pPr>
              <a:buNone/>
            </a:pPr>
            <a:r>
              <a:rPr lang="ru-RU" dirty="0" smtClean="0"/>
              <a:t>       -  </a:t>
            </a:r>
            <a:r>
              <a:rPr lang="ru-RU" dirty="0" err="1" smtClean="0"/>
              <a:t>зоновые</a:t>
            </a:r>
            <a:r>
              <a:rPr lang="ru-RU" dirty="0" smtClean="0"/>
              <a:t>,</a:t>
            </a:r>
          </a:p>
          <a:p>
            <a:pPr>
              <a:buNone/>
            </a:pPr>
            <a:r>
              <a:rPr lang="ru-RU" dirty="0" smtClean="0"/>
              <a:t>       -  междугородные. </a:t>
            </a:r>
          </a:p>
          <a:p>
            <a:pPr>
              <a:buNone/>
            </a:pPr>
            <a:r>
              <a:rPr lang="ru-RU" dirty="0" smtClean="0"/>
              <a:t>       - международные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418058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Уровни базовой сети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Autofit/>
          </a:bodyPr>
          <a:lstStyle/>
          <a:p>
            <a:r>
              <a:rPr lang="en-US" sz="2400" dirty="0" smtClean="0"/>
              <a:t>  </a:t>
            </a:r>
            <a:r>
              <a:rPr lang="ru-RU" sz="2000" b="1" dirty="0" smtClean="0"/>
              <a:t>Местные телефонные сети подразделяются </a:t>
            </a:r>
            <a:r>
              <a:rPr lang="ru-RU" sz="2000" dirty="0" smtClean="0"/>
              <a:t>на:</a:t>
            </a:r>
          </a:p>
          <a:p>
            <a:pPr>
              <a:buNone/>
            </a:pPr>
            <a:r>
              <a:rPr lang="ru-RU" sz="2000" dirty="0" smtClean="0"/>
              <a:t> -  </a:t>
            </a:r>
            <a:r>
              <a:rPr lang="ru-RU" sz="2000" b="1" dirty="0" smtClean="0"/>
              <a:t>городские</a:t>
            </a:r>
            <a:r>
              <a:rPr lang="en-US" sz="2000" b="1" dirty="0" smtClean="0"/>
              <a:t> </a:t>
            </a:r>
            <a:r>
              <a:rPr lang="ru-RU" sz="2000" b="1" dirty="0" smtClean="0"/>
              <a:t>телефонные сети (ГТС</a:t>
            </a:r>
            <a:r>
              <a:rPr lang="ru-RU" sz="2000" dirty="0" smtClean="0"/>
              <a:t>), которые создаются в пределах  города; </a:t>
            </a:r>
          </a:p>
          <a:p>
            <a:pPr>
              <a:buNone/>
            </a:pPr>
            <a:r>
              <a:rPr lang="ru-RU" sz="2000" dirty="0" smtClean="0"/>
              <a:t> -  </a:t>
            </a:r>
            <a:r>
              <a:rPr lang="ru-RU" sz="2000" b="1" dirty="0" smtClean="0"/>
              <a:t>сельские (СТС), </a:t>
            </a:r>
            <a:r>
              <a:rPr lang="ru-RU" sz="2000" dirty="0" smtClean="0"/>
              <a:t>создающиеся в пределах сельского  административного района.</a:t>
            </a:r>
          </a:p>
          <a:p>
            <a:r>
              <a:rPr lang="ru-RU" sz="2000" b="1" u="sng" dirty="0" err="1" smtClean="0"/>
              <a:t>Зоновая</a:t>
            </a:r>
            <a:r>
              <a:rPr lang="ru-RU" sz="2000" b="1" u="sng" dirty="0" smtClean="0"/>
              <a:t> телефонная сеть </a:t>
            </a:r>
            <a:r>
              <a:rPr lang="ru-RU" sz="2000" dirty="0" smtClean="0"/>
              <a:t>предназначена для организации взаимодействия местных телефонных сетей в пределах одной телефонной зоны и обеспечивает доступ этих сетей к вышестоящим сетям.  </a:t>
            </a:r>
          </a:p>
          <a:p>
            <a:r>
              <a:rPr lang="ru-RU" sz="2000" dirty="0" smtClean="0"/>
              <a:t> </a:t>
            </a:r>
            <a:r>
              <a:rPr lang="ru-RU" sz="2000" u="sng" dirty="0" smtClean="0"/>
              <a:t>За каждой зоной закреплен уникальный код ABC, </a:t>
            </a:r>
            <a:r>
              <a:rPr lang="ru-RU" sz="2000" dirty="0" smtClean="0"/>
              <a:t>который служит для ее идентификации, при установлении междугородного  вызова.</a:t>
            </a:r>
          </a:p>
          <a:p>
            <a:r>
              <a:rPr lang="ru-RU" sz="2000" dirty="0" smtClean="0"/>
              <a:t> </a:t>
            </a:r>
            <a:r>
              <a:rPr lang="ru-RU" sz="2000" b="1" dirty="0" err="1" smtClean="0"/>
              <a:t>Зоновые</a:t>
            </a:r>
            <a:r>
              <a:rPr lang="ru-RU" sz="2000" b="1" dirty="0" smtClean="0"/>
              <a:t> телефонные сети (ЗТС) – это совокупность местных сетей зоны и устройств</a:t>
            </a:r>
            <a:r>
              <a:rPr lang="ru-RU" sz="2000" dirty="0" smtClean="0"/>
              <a:t>, предназначенных для установления соединений между абонентами разных местных телефонных сетей, находящихся на территории одной телефонной зоны (внутризоновая сеть). </a:t>
            </a:r>
          </a:p>
          <a:p>
            <a:r>
              <a:rPr lang="ru-RU" sz="2000" b="1" dirty="0" smtClean="0"/>
              <a:t>Признаком зоны является наличие 6-значной нумерации абонентских линий местных сетей данной зоны</a:t>
            </a:r>
            <a:r>
              <a:rPr lang="ru-RU" sz="2000" dirty="0" smtClean="0"/>
              <a:t>.</a:t>
            </a:r>
          </a:p>
          <a:p>
            <a:r>
              <a:rPr lang="ru-RU" sz="2000" dirty="0" smtClean="0"/>
              <a:t> </a:t>
            </a:r>
            <a:r>
              <a:rPr lang="ru-RU" sz="2000" b="1" dirty="0" smtClean="0"/>
              <a:t>Как правило, территория зоны совпадает с территорией области.</a:t>
            </a:r>
          </a:p>
          <a:p>
            <a:pPr>
              <a:buNone/>
            </a:pPr>
            <a:endParaRPr lang="ru-RU" sz="2400" dirty="0" smtClean="0"/>
          </a:p>
          <a:p>
            <a:pPr>
              <a:buNone/>
            </a:pPr>
            <a:endParaRPr lang="ru-RU" sz="2400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892480" cy="648072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Уровни базовой сети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/>
              <a:t>Международная телефонная сеть (МТС) – это комплекс устройств и сооружений, предназначенных для установления соединений между абонентами местных сетей, расположенных на территориях различных зон телефонной нумерации (областей). </a:t>
            </a:r>
          </a:p>
          <a:p>
            <a:r>
              <a:rPr lang="ru-RU" b="1" dirty="0" smtClean="0"/>
              <a:t>Междугородная телефонная сеть обеспечивает связь между  </a:t>
            </a:r>
            <a:r>
              <a:rPr lang="ru-RU" b="1" dirty="0" err="1" smtClean="0"/>
              <a:t>зоновыми</a:t>
            </a:r>
            <a:r>
              <a:rPr lang="ru-RU" b="1" dirty="0" smtClean="0"/>
              <a:t> сетями и предоставляет доступ :</a:t>
            </a:r>
          </a:p>
          <a:p>
            <a:pPr>
              <a:buNone/>
            </a:pPr>
            <a:r>
              <a:rPr lang="ru-RU" dirty="0" smtClean="0"/>
              <a:t>          - к международной сети,</a:t>
            </a:r>
          </a:p>
          <a:p>
            <a:pPr>
              <a:buNone/>
            </a:pPr>
            <a:r>
              <a:rPr lang="ru-RU" dirty="0" smtClean="0"/>
              <a:t>          -  к сети сотовой связи,</a:t>
            </a:r>
          </a:p>
          <a:p>
            <a:pPr>
              <a:buNone/>
            </a:pPr>
            <a:r>
              <a:rPr lang="ru-RU" dirty="0" smtClean="0"/>
              <a:t>          -  к услугам интеллектуальной сети,</a:t>
            </a:r>
          </a:p>
          <a:p>
            <a:pPr>
              <a:buNone/>
            </a:pPr>
            <a:r>
              <a:rPr lang="ru-RU" dirty="0" smtClean="0"/>
              <a:t>          -  обеспечивает связь между сетями сотовой связи.</a:t>
            </a:r>
          </a:p>
          <a:p>
            <a:r>
              <a:rPr lang="ru-RU" b="1" dirty="0" smtClean="0"/>
              <a:t>В состав МТС входят автоматические международные телефонные станции (АМТС</a:t>
            </a:r>
            <a:r>
              <a:rPr lang="ru-RU" dirty="0" smtClean="0"/>
              <a:t>) и узлы автоматической коммутации УАК (на территории РБ их нет).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Оконечными станциями МТС являются АМТС</a:t>
            </a:r>
            <a:r>
              <a:rPr lang="ru-RU" dirty="0" smtClean="0"/>
              <a:t>, а УАК осуществляет транзитные соединения между ними.</a:t>
            </a:r>
          </a:p>
          <a:p>
            <a:r>
              <a:rPr lang="ru-RU" b="1" dirty="0" smtClean="0"/>
              <a:t>Ключевым видом узлов телефонной сети являются автоматические телефонные станции (АТС), к которым подключены абоненты.</a:t>
            </a:r>
          </a:p>
          <a:p>
            <a:r>
              <a:rPr lang="ru-RU" dirty="0" smtClean="0"/>
              <a:t> Связь между станциями организована по волоконно-оптическим линиям связи с использованием технологии SDH. </a:t>
            </a:r>
          </a:p>
          <a:p>
            <a:r>
              <a:rPr lang="ru-RU" dirty="0" smtClean="0"/>
              <a:t>Удаленные коммутационные ступени обеспечивают доступ к операционным системам опорных станций и их сетям.</a:t>
            </a:r>
          </a:p>
          <a:p>
            <a:r>
              <a:rPr lang="ru-RU" b="1" dirty="0" smtClean="0"/>
              <a:t>Международная телефонная сеть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Местные сети. Построение ГТС,СТС.</a:t>
            </a:r>
            <a:endParaRPr lang="ru-RU" sz="32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892480" cy="5688632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До появления ЦСК, ВОЛС и SDH местные сети строились с</a:t>
            </a:r>
          </a:p>
          <a:p>
            <a:pPr>
              <a:buNone/>
            </a:pPr>
            <a:r>
              <a:rPr lang="ru-RU" dirty="0" smtClean="0"/>
              <a:t>      </a:t>
            </a:r>
            <a:r>
              <a:rPr lang="ru-RU" dirty="0" err="1" smtClean="0"/>
              <a:t>узлообразованием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Для СТС </a:t>
            </a:r>
            <a:r>
              <a:rPr lang="ru-RU" dirty="0" smtClean="0"/>
              <a:t>наиболее распространенный </a:t>
            </a:r>
            <a:r>
              <a:rPr lang="ru-RU" u="sng" dirty="0" smtClean="0"/>
              <a:t>радиально-узловой принцип </a:t>
            </a:r>
            <a:r>
              <a:rPr lang="ru-RU" dirty="0" smtClean="0"/>
              <a:t>построения, который предполагает  установку:</a:t>
            </a:r>
          </a:p>
          <a:p>
            <a:pPr>
              <a:buNone/>
            </a:pPr>
            <a:r>
              <a:rPr lang="ru-RU" dirty="0" smtClean="0"/>
              <a:t>        -  в районном центре центральной станции (</a:t>
            </a:r>
            <a:r>
              <a:rPr lang="ru-RU" b="1" dirty="0" smtClean="0"/>
              <a:t>ЦС</a:t>
            </a:r>
            <a:r>
              <a:rPr lang="ru-RU" dirty="0" smtClean="0"/>
              <a:t>),</a:t>
            </a:r>
          </a:p>
          <a:p>
            <a:pPr>
              <a:buNone/>
            </a:pPr>
            <a:r>
              <a:rPr lang="ru-RU" dirty="0" smtClean="0"/>
              <a:t>        -  нескольких узловых станций (</a:t>
            </a:r>
            <a:r>
              <a:rPr lang="ru-RU" b="1" dirty="0" smtClean="0"/>
              <a:t>УС</a:t>
            </a:r>
            <a:r>
              <a:rPr lang="ru-RU" dirty="0" smtClean="0"/>
              <a:t>) в крупных населенных пунктах</a:t>
            </a:r>
          </a:p>
          <a:p>
            <a:pPr>
              <a:buNone/>
            </a:pPr>
            <a:r>
              <a:rPr lang="ru-RU" dirty="0" smtClean="0"/>
              <a:t>        - оконечных станций(</a:t>
            </a:r>
            <a:r>
              <a:rPr lang="ru-RU" b="1" dirty="0" smtClean="0"/>
              <a:t>ОС</a:t>
            </a:r>
            <a:r>
              <a:rPr lang="ru-RU" dirty="0" smtClean="0"/>
              <a:t>), небольшой емкости, подключаемых как к</a:t>
            </a:r>
          </a:p>
          <a:p>
            <a:pPr>
              <a:buNone/>
            </a:pPr>
            <a:r>
              <a:rPr lang="ru-RU" dirty="0" smtClean="0"/>
              <a:t>            УС, так и напрямую к ЦС.</a:t>
            </a:r>
          </a:p>
          <a:p>
            <a:pPr>
              <a:buNone/>
            </a:pPr>
            <a:r>
              <a:rPr lang="ru-RU" dirty="0" smtClean="0"/>
              <a:t>      При радиальном способе построения отсутствовали УС.</a:t>
            </a:r>
          </a:p>
          <a:p>
            <a:r>
              <a:rPr lang="ru-RU" b="1" dirty="0" smtClean="0"/>
              <a:t> ГТС в зависимости от емкости подразделялись на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     - нерайонированные </a:t>
            </a:r>
            <a:r>
              <a:rPr lang="ru-RU" dirty="0" err="1" smtClean="0"/>
              <a:t>c</a:t>
            </a:r>
            <a:r>
              <a:rPr lang="ru-RU" dirty="0" smtClean="0"/>
              <a:t> одной автоматической телефонной станцией(АТС), </a:t>
            </a:r>
          </a:p>
          <a:p>
            <a:pPr>
              <a:buNone/>
            </a:pPr>
            <a:r>
              <a:rPr lang="ru-RU" dirty="0" smtClean="0"/>
              <a:t>     - </a:t>
            </a:r>
            <a:r>
              <a:rPr lang="ru-RU" b="1" dirty="0" smtClean="0"/>
              <a:t>районированные с районными АТС </a:t>
            </a:r>
            <a:r>
              <a:rPr lang="ru-RU" dirty="0" smtClean="0"/>
              <a:t>(</a:t>
            </a:r>
            <a:r>
              <a:rPr lang="ru-RU" b="1" dirty="0" smtClean="0"/>
              <a:t>РАТС</a:t>
            </a:r>
            <a:r>
              <a:rPr lang="ru-RU" dirty="0" smtClean="0"/>
              <a:t>) устанавливаемыми в</a:t>
            </a:r>
          </a:p>
          <a:p>
            <a:pPr>
              <a:buNone/>
            </a:pPr>
            <a:r>
              <a:rPr lang="ru-RU" dirty="0" smtClean="0"/>
              <a:t>    каждом районе города ;</a:t>
            </a:r>
          </a:p>
          <a:p>
            <a:pPr>
              <a:buNone/>
            </a:pPr>
            <a:r>
              <a:rPr lang="ru-RU" dirty="0" smtClean="0"/>
              <a:t>     </a:t>
            </a:r>
            <a:r>
              <a:rPr lang="ru-RU" b="1" dirty="0" smtClean="0"/>
              <a:t>-  районированные с </a:t>
            </a:r>
            <a:r>
              <a:rPr lang="ru-RU" b="1" dirty="0" err="1" smtClean="0"/>
              <a:t>узлообразованием</a:t>
            </a:r>
            <a:r>
              <a:rPr lang="ru-RU" b="1" dirty="0" smtClean="0"/>
              <a:t> 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            с узлами исходящей(</a:t>
            </a:r>
            <a:r>
              <a:rPr lang="ru-RU" b="1" dirty="0" smtClean="0"/>
              <a:t>УИС</a:t>
            </a:r>
            <a:r>
              <a:rPr lang="ru-RU" dirty="0" smtClean="0"/>
              <a:t>), входящей связи (У</a:t>
            </a:r>
            <a:r>
              <a:rPr lang="ru-RU" b="1" dirty="0" smtClean="0"/>
              <a:t>В</a:t>
            </a:r>
            <a:r>
              <a:rPr lang="ru-RU" dirty="0" smtClean="0"/>
              <a:t>С) или </a:t>
            </a:r>
          </a:p>
          <a:p>
            <a:pPr>
              <a:buNone/>
            </a:pPr>
            <a:r>
              <a:rPr lang="ru-RU" dirty="0" smtClean="0"/>
              <a:t>            узлами транзитной связи </a:t>
            </a:r>
            <a:r>
              <a:rPr lang="ru-RU" b="1" dirty="0" smtClean="0"/>
              <a:t>(УТС</a:t>
            </a:r>
            <a:r>
              <a:rPr lang="ru-RU" dirty="0" smtClean="0"/>
              <a:t>) - входящей и исходящей связи.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Структура цифровой станции(РАТСЭ)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15262" t="11746" r="14855" b="6076"/>
          <a:stretch>
            <a:fillRect/>
          </a:stretch>
        </p:blipFill>
        <p:spPr bwMode="auto">
          <a:xfrm>
            <a:off x="179512" y="1124744"/>
            <a:ext cx="8964488" cy="57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Структура цифровой станции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ru-RU" b="1" dirty="0" smtClean="0">
                <a:solidFill>
                  <a:srgbClr val="002060"/>
                </a:solidFill>
              </a:rPr>
              <a:t>сети </a:t>
            </a:r>
            <a:r>
              <a:rPr lang="en-US" b="1" dirty="0" smtClean="0">
                <a:solidFill>
                  <a:srgbClr val="002060"/>
                </a:solidFill>
              </a:rPr>
              <a:t>ISDN</a:t>
            </a:r>
            <a:endParaRPr lang="ru-RU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1667" t="18070" r="833" b="4187"/>
          <a:stretch>
            <a:fillRect/>
          </a:stretch>
        </p:blipFill>
        <p:spPr bwMode="auto">
          <a:xfrm>
            <a:off x="0" y="1196752"/>
            <a:ext cx="9144000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Autofit/>
          </a:bodyPr>
          <a:lstStyle/>
          <a:p>
            <a:r>
              <a:rPr lang="ru-RU" sz="2800" b="1" dirty="0" smtClean="0">
                <a:solidFill>
                  <a:srgbClr val="002060"/>
                </a:solidFill>
              </a:rPr>
              <a:t>Местные сети.</a:t>
            </a:r>
            <a:br>
              <a:rPr lang="ru-RU" sz="2800" b="1" dirty="0" smtClean="0">
                <a:solidFill>
                  <a:srgbClr val="002060"/>
                </a:solidFill>
              </a:rPr>
            </a:br>
            <a:r>
              <a:rPr lang="ru-RU" sz="2800" b="1" dirty="0" smtClean="0">
                <a:solidFill>
                  <a:srgbClr val="002060"/>
                </a:solidFill>
              </a:rPr>
              <a:t>1. Построения ГТС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908720"/>
            <a:ext cx="8820472" cy="594928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/>
              <a:t>ГТС – это совокупность станционных и линейных сооружений, а также оконечных абонентских устройств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К основным станционным сооружениям ГТС относятся:</a:t>
            </a:r>
          </a:p>
          <a:p>
            <a:pPr>
              <a:buNone/>
            </a:pPr>
            <a:r>
              <a:rPr lang="ru-RU" dirty="0" smtClean="0"/>
              <a:t>     - коммутационное оборудование автоматических телефонных </a:t>
            </a:r>
          </a:p>
          <a:p>
            <a:pPr>
              <a:buNone/>
            </a:pPr>
            <a:r>
              <a:rPr lang="ru-RU" dirty="0" smtClean="0"/>
              <a:t>        станций (РАТС), подстанций (ПС),  </a:t>
            </a:r>
          </a:p>
          <a:p>
            <a:pPr>
              <a:buNone/>
            </a:pPr>
            <a:r>
              <a:rPr lang="ru-RU" dirty="0" smtClean="0"/>
              <a:t>    -   </a:t>
            </a:r>
            <a:r>
              <a:rPr lang="ru-RU" dirty="0" err="1" smtClean="0"/>
              <a:t>учрежденческо</a:t>
            </a:r>
            <a:r>
              <a:rPr lang="ru-RU" dirty="0" smtClean="0"/>
              <a:t> - производственных АТС (УПАТС) и</a:t>
            </a:r>
          </a:p>
          <a:p>
            <a:pPr>
              <a:buNone/>
            </a:pPr>
            <a:r>
              <a:rPr lang="ru-RU" dirty="0" smtClean="0"/>
              <a:t>    -   различных узлов автоматической коммутации, а также</a:t>
            </a:r>
          </a:p>
          <a:p>
            <a:pPr>
              <a:buNone/>
            </a:pPr>
            <a:r>
              <a:rPr lang="ru-RU" dirty="0" smtClean="0"/>
              <a:t>    - оборудование электропитания, устанавливаемое на этих станциях и </a:t>
            </a:r>
          </a:p>
          <a:p>
            <a:pPr>
              <a:buNone/>
            </a:pPr>
            <a:r>
              <a:rPr lang="ru-RU" dirty="0" smtClean="0"/>
              <a:t>    - аппаратура системы передачи.</a:t>
            </a:r>
          </a:p>
          <a:p>
            <a:pPr>
              <a:buNone/>
            </a:pPr>
            <a:r>
              <a:rPr lang="ru-RU" b="1" dirty="0" smtClean="0"/>
              <a:t> В состав линейных сооружений ГТС  входят:</a:t>
            </a:r>
          </a:p>
          <a:p>
            <a:pPr>
              <a:buNone/>
            </a:pPr>
            <a:r>
              <a:rPr lang="ru-RU" b="1" dirty="0" smtClean="0"/>
              <a:t>   -  </a:t>
            </a:r>
            <a:r>
              <a:rPr lang="ru-RU" dirty="0" smtClean="0"/>
              <a:t>кабели, </a:t>
            </a:r>
          </a:p>
          <a:p>
            <a:pPr>
              <a:buNone/>
            </a:pPr>
            <a:r>
              <a:rPr lang="ru-RU" dirty="0" smtClean="0"/>
              <a:t>   - телефонная канализация,</a:t>
            </a:r>
          </a:p>
          <a:p>
            <a:pPr>
              <a:buNone/>
            </a:pPr>
            <a:r>
              <a:rPr lang="ru-RU" dirty="0" smtClean="0"/>
              <a:t>  -  распределительные шкафы </a:t>
            </a:r>
            <a:r>
              <a:rPr lang="ru-RU" b="1" dirty="0" smtClean="0"/>
              <a:t>(ШР</a:t>
            </a:r>
            <a:r>
              <a:rPr lang="ru-RU" dirty="0" smtClean="0"/>
              <a:t>) и </a:t>
            </a:r>
          </a:p>
          <a:p>
            <a:pPr>
              <a:buNone/>
            </a:pPr>
            <a:r>
              <a:rPr lang="ru-RU" dirty="0" smtClean="0"/>
              <a:t>  - коробки проводки </a:t>
            </a:r>
            <a:r>
              <a:rPr lang="ru-RU" b="1" dirty="0" smtClean="0"/>
              <a:t>(РК) </a:t>
            </a:r>
            <a:r>
              <a:rPr lang="ru-RU" dirty="0" smtClean="0"/>
              <a:t>в абонентских пунктах (см.рис.далее).</a:t>
            </a:r>
          </a:p>
          <a:p>
            <a:pPr>
              <a:buNone/>
            </a:pPr>
            <a:r>
              <a:rPr lang="ru-RU" b="1" dirty="0" smtClean="0"/>
              <a:t>На ГТС имеются абонентские линии (АЛ), </a:t>
            </a:r>
            <a:r>
              <a:rPr lang="ru-RU" dirty="0" smtClean="0"/>
              <a:t>с помощью которых телефонные аппараты подключаются к АТС, ПС или УПАТС, и </a:t>
            </a:r>
            <a:r>
              <a:rPr lang="ru-RU" b="1" dirty="0" smtClean="0"/>
              <a:t>соединительные линии (СЛ)</a:t>
            </a:r>
            <a:r>
              <a:rPr lang="ru-RU" dirty="0" smtClean="0"/>
              <a:t>, которые связывают между собой станции или узлы ГТС.</a:t>
            </a: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Схема подключения абонентов ТфОП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1228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412776"/>
            <a:ext cx="7704855" cy="5445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Основные объекты доступа АТС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2750" t="12195" r="2564" b="7317"/>
          <a:stretch>
            <a:fillRect/>
          </a:stretch>
        </p:blipFill>
        <p:spPr bwMode="auto">
          <a:xfrm>
            <a:off x="0" y="1268760"/>
            <a:ext cx="9144000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Варианты абонентского доступа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2609" t="11688" r="2609" b="7793"/>
          <a:stretch>
            <a:fillRect/>
          </a:stretch>
        </p:blipFill>
        <p:spPr bwMode="auto">
          <a:xfrm>
            <a:off x="0" y="908720"/>
            <a:ext cx="9144000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Участки абонентского доступа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2655" t="11769" r="3540" b="7090"/>
          <a:stretch>
            <a:fillRect/>
          </a:stretch>
        </p:blipFill>
        <p:spPr bwMode="auto">
          <a:xfrm>
            <a:off x="179512" y="836712"/>
            <a:ext cx="8712968" cy="602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Принципы построения ГТС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По принципу построения ГТС делятся на нерайонированные и районированные. </a:t>
            </a:r>
          </a:p>
          <a:p>
            <a:r>
              <a:rPr lang="ru-RU" b="1" dirty="0" smtClean="0"/>
              <a:t>Районированные телефонные сети, в свою очередь, подразделяются:</a:t>
            </a:r>
          </a:p>
          <a:p>
            <a:pPr>
              <a:buNone/>
            </a:pPr>
            <a:r>
              <a:rPr lang="ru-RU" b="1" dirty="0" smtClean="0"/>
              <a:t>      - </a:t>
            </a:r>
            <a:r>
              <a:rPr lang="ru-RU" dirty="0" smtClean="0"/>
              <a:t>на ГТС без узлов, </a:t>
            </a:r>
          </a:p>
          <a:p>
            <a:pPr>
              <a:buNone/>
            </a:pPr>
            <a:r>
              <a:rPr lang="ru-RU" dirty="0" smtClean="0"/>
              <a:t>      - ГТС с </a:t>
            </a:r>
            <a:r>
              <a:rPr lang="ru-RU" b="1" dirty="0" smtClean="0"/>
              <a:t>узлами входящего сообщения (УВС</a:t>
            </a:r>
            <a:r>
              <a:rPr lang="ru-RU" dirty="0" smtClean="0"/>
              <a:t>), а также</a:t>
            </a:r>
          </a:p>
          <a:p>
            <a:pPr>
              <a:buNone/>
            </a:pPr>
            <a:r>
              <a:rPr lang="ru-RU" dirty="0" smtClean="0"/>
              <a:t>      -  с узлами исходящего (УИС) и входящего сообщений(УВС)- </a:t>
            </a:r>
            <a:r>
              <a:rPr lang="ru-RU" b="1" dirty="0" smtClean="0"/>
              <a:t>узлы  </a:t>
            </a:r>
          </a:p>
          <a:p>
            <a:pPr>
              <a:buNone/>
            </a:pPr>
            <a:r>
              <a:rPr lang="ru-RU" b="1" dirty="0" smtClean="0"/>
              <a:t>           транзитной связи(УТС).</a:t>
            </a:r>
          </a:p>
          <a:p>
            <a:r>
              <a:rPr lang="ru-RU" b="1" dirty="0" smtClean="0"/>
              <a:t>К городской автоматической телефонной станции (РАТС) подключаются:</a:t>
            </a:r>
          </a:p>
          <a:p>
            <a:pPr>
              <a:buNone/>
            </a:pPr>
            <a:r>
              <a:rPr lang="ru-RU" b="1" dirty="0" smtClean="0"/>
              <a:t>         - </a:t>
            </a:r>
            <a:r>
              <a:rPr lang="ru-RU" dirty="0" smtClean="0"/>
              <a:t>индивидуальные абонентские линии,</a:t>
            </a:r>
          </a:p>
          <a:p>
            <a:pPr>
              <a:buNone/>
            </a:pPr>
            <a:r>
              <a:rPr lang="ru-RU" dirty="0" smtClean="0"/>
              <a:t>         -  линии таксофонов.</a:t>
            </a:r>
          </a:p>
          <a:p>
            <a:pPr>
              <a:buNone/>
            </a:pPr>
            <a:r>
              <a:rPr lang="ru-RU" dirty="0" smtClean="0"/>
              <a:t>  </a:t>
            </a:r>
            <a:r>
              <a:rPr lang="ru-RU" b="1" dirty="0" smtClean="0"/>
              <a:t>Одновременно РАТС связана односторонними соединительными линиями с АМТС и УПАТС. </a:t>
            </a:r>
          </a:p>
          <a:p>
            <a:pPr>
              <a:buNone/>
            </a:pPr>
            <a:r>
              <a:rPr lang="ru-RU" dirty="0" smtClean="0"/>
              <a:t>    </a:t>
            </a:r>
            <a:r>
              <a:rPr lang="ru-RU" b="1" dirty="0" smtClean="0"/>
              <a:t>К АМТС подключаются междугородные каналы и переговорные пункты. </a:t>
            </a:r>
          </a:p>
          <a:p>
            <a:pPr>
              <a:buNone/>
            </a:pPr>
            <a:r>
              <a:rPr lang="ru-RU" dirty="0" smtClean="0"/>
              <a:t>    Кроме того, РАТС выполняет роль связующего звена между УПАТС (ведомственная станция) и АМТС, которые не имеют непосредственной связи между собой.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Принципы построения ГТС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5904656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/>
              <a:t>Каждому абоненту городской телефонной сети присваивается определенный номер.</a:t>
            </a:r>
          </a:p>
          <a:p>
            <a:r>
              <a:rPr lang="ru-RU" b="1" dirty="0" smtClean="0"/>
              <a:t> </a:t>
            </a:r>
            <a:r>
              <a:rPr lang="ru-RU" dirty="0" smtClean="0"/>
              <a:t>Нумерация может быть закрытой и открытой.</a:t>
            </a:r>
          </a:p>
          <a:p>
            <a:r>
              <a:rPr lang="ru-RU" dirty="0" smtClean="0"/>
              <a:t> Нумерация называется закрытой (единой), если абонент вызывается набором одного и того же номера независимо от места нахождения вызывающего пункта</a:t>
            </a:r>
            <a:r>
              <a:rPr lang="ru-RU" b="1" dirty="0" smtClean="0"/>
              <a:t>. </a:t>
            </a:r>
          </a:p>
          <a:p>
            <a:r>
              <a:rPr lang="ru-RU" b="1" dirty="0" smtClean="0"/>
              <a:t>Нумерация называется открытой, если зависит от вида связи: </a:t>
            </a:r>
          </a:p>
          <a:p>
            <a:pPr>
              <a:buNone/>
            </a:pPr>
            <a:r>
              <a:rPr lang="ru-RU" b="1" dirty="0" smtClean="0"/>
              <a:t>      местной, </a:t>
            </a:r>
            <a:r>
              <a:rPr lang="ru-RU" b="1" dirty="0" err="1" smtClean="0"/>
              <a:t>зоновой</a:t>
            </a:r>
            <a:r>
              <a:rPr lang="ru-RU" b="1" dirty="0" smtClean="0"/>
              <a:t> или междугородной.</a:t>
            </a:r>
          </a:p>
          <a:p>
            <a:r>
              <a:rPr lang="ru-RU" b="1" dirty="0" smtClean="0"/>
              <a:t>В Республике Беларусь принята открытая система нумерации</a:t>
            </a:r>
            <a:r>
              <a:rPr lang="ru-RU" dirty="0" smtClean="0"/>
              <a:t>. </a:t>
            </a:r>
          </a:p>
          <a:p>
            <a:r>
              <a:rPr lang="ru-RU" b="1" u="sng" dirty="0" smtClean="0"/>
              <a:t>Междугородный номер абонента на сети страны содержит десять цифр и имеет структуру:</a:t>
            </a:r>
          </a:p>
          <a:p>
            <a:pPr>
              <a:buNone/>
            </a:pPr>
            <a:r>
              <a:rPr lang="ru-RU" b="1" dirty="0" smtClean="0"/>
              <a:t>                </a:t>
            </a:r>
            <a:r>
              <a:rPr lang="ru-RU" b="1" dirty="0" err="1" smtClean="0"/>
              <a:t>АВСаb</a:t>
            </a:r>
            <a:r>
              <a:rPr lang="en-US" b="1" dirty="0" smtClean="0"/>
              <a:t>X</a:t>
            </a:r>
            <a:r>
              <a:rPr lang="ru-RU" b="1" dirty="0" err="1" smtClean="0"/>
              <a:t>хххх</a:t>
            </a:r>
            <a:r>
              <a:rPr lang="ru-RU" b="1" dirty="0" smtClean="0"/>
              <a:t>,</a:t>
            </a:r>
            <a:r>
              <a:rPr lang="ru-RU" dirty="0" smtClean="0"/>
              <a:t> где </a:t>
            </a:r>
          </a:p>
          <a:p>
            <a:pPr>
              <a:buNone/>
            </a:pPr>
            <a:r>
              <a:rPr lang="ru-RU" dirty="0" smtClean="0"/>
              <a:t>                - АВС – код зоны или области,</a:t>
            </a:r>
          </a:p>
          <a:p>
            <a:pPr>
              <a:buNone/>
            </a:pPr>
            <a:r>
              <a:rPr lang="ru-RU" dirty="0" smtClean="0"/>
              <a:t>                - </a:t>
            </a:r>
            <a:r>
              <a:rPr lang="ru-RU" dirty="0" err="1" smtClean="0"/>
              <a:t>аb</a:t>
            </a:r>
            <a:r>
              <a:rPr lang="en-US" dirty="0" smtClean="0"/>
              <a:t>X</a:t>
            </a:r>
            <a:r>
              <a:rPr lang="ru-RU" dirty="0" smtClean="0"/>
              <a:t> – код станции на городской сети в областном центре,</a:t>
            </a:r>
          </a:p>
          <a:p>
            <a:pPr>
              <a:buNone/>
            </a:pPr>
            <a:r>
              <a:rPr lang="ru-RU" dirty="0" smtClean="0"/>
              <a:t>                - </a:t>
            </a:r>
            <a:r>
              <a:rPr lang="ru-RU" dirty="0" err="1" smtClean="0"/>
              <a:t>хххх</a:t>
            </a:r>
            <a:r>
              <a:rPr lang="ru-RU" dirty="0" smtClean="0"/>
              <a:t> - последние четыре цифры – это внутристанционный номер  </a:t>
            </a:r>
          </a:p>
          <a:p>
            <a:pPr>
              <a:buNone/>
            </a:pPr>
            <a:r>
              <a:rPr lang="ru-RU" dirty="0" smtClean="0"/>
              <a:t>                            абонента.</a:t>
            </a:r>
          </a:p>
          <a:p>
            <a:r>
              <a:rPr lang="ru-RU" b="1" dirty="0" smtClean="0"/>
              <a:t>В системе нумерации выделены трехзначные коды для выхода на экстренные, справочно-информационные службы</a:t>
            </a:r>
            <a:r>
              <a:rPr lang="ru-RU" dirty="0" smtClean="0"/>
              <a:t>, например 101, 102, 103…109, 135, 153, 164 и так далее.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388" y="217488"/>
            <a:ext cx="8785225" cy="763587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ru-RU" sz="3600" b="1" dirty="0">
                <a:solidFill>
                  <a:srgbClr val="002060"/>
                </a:solidFill>
              </a:rPr>
              <a:t>Нерайонированная ГТС (1)</a:t>
            </a:r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0" y="2619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24193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1692275" y="1287463"/>
          <a:ext cx="6840538" cy="4949825"/>
        </p:xfrm>
        <a:graphic>
          <a:graphicData uri="http://schemas.openxmlformats.org/presentationml/2006/ole">
            <p:oleObj spid="_x0000_s57346" name="Visio" r:id="rId3" imgW="4048105" imgH="2926801" progId="">
              <p:embed/>
            </p:oleObj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388" y="217488"/>
            <a:ext cx="8785225" cy="763587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ru-RU" sz="3600" b="1" dirty="0">
                <a:solidFill>
                  <a:srgbClr val="002060"/>
                </a:solidFill>
              </a:rPr>
              <a:t>Нерайонированная ГТС (2)</a:t>
            </a:r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2619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0" y="24193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21193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0" y="1484313"/>
          <a:ext cx="9144000" cy="4779962"/>
        </p:xfrm>
        <a:graphic>
          <a:graphicData uri="http://schemas.openxmlformats.org/presentationml/2006/ole">
            <p:oleObj spid="_x0000_s56322" name="Visio" r:id="rId3" imgW="7606724" imgH="3970748" progId="">
              <p:embed/>
            </p:oleObj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06090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solidFill>
                  <a:srgbClr val="002060"/>
                </a:solidFill>
              </a:rPr>
              <a:t>Районированная ГТС без узлов (5-ти </a:t>
            </a:r>
            <a:r>
              <a:rPr lang="ru-RU" sz="2800" b="1" dirty="0" err="1" smtClean="0">
                <a:solidFill>
                  <a:srgbClr val="002060"/>
                </a:solidFill>
              </a:rPr>
              <a:t>значная</a:t>
            </a:r>
            <a:r>
              <a:rPr lang="ru-RU" sz="2800" b="1" dirty="0" smtClean="0">
                <a:solidFill>
                  <a:srgbClr val="002060"/>
                </a:solidFill>
              </a:rPr>
              <a:t> нумерация)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 smtClean="0"/>
              <a:t>Система нумерации характеризуется емкостью. </a:t>
            </a:r>
            <a:r>
              <a:rPr lang="ru-RU" dirty="0" smtClean="0"/>
              <a:t>Емкостью системы называется предельная номерная емкость телефонной сети для принятой на этой сети системы нумерации.</a:t>
            </a:r>
          </a:p>
          <a:p>
            <a:r>
              <a:rPr lang="ru-RU" b="1" dirty="0" smtClean="0"/>
              <a:t>При емкости ГТС от 10 000 до 50 000 номеров территория города делится на районы, обслуживаемые районными АТС (РАТС).</a:t>
            </a:r>
          </a:p>
          <a:p>
            <a:r>
              <a:rPr lang="ru-RU" b="1" dirty="0" smtClean="0"/>
              <a:t> </a:t>
            </a:r>
            <a:r>
              <a:rPr lang="ru-RU" dirty="0" smtClean="0"/>
              <a:t>Районные АТС соединяют между собой линиями (СЛ) по принципу «каждая с каждой», при этом достигается более высокое использование пучков соединительных линий.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964488" cy="908720"/>
          </a:xfrm>
        </p:spPr>
        <p:txBody>
          <a:bodyPr>
            <a:normAutofit fontScale="90000"/>
          </a:bodyPr>
          <a:lstStyle/>
          <a:p>
            <a:r>
              <a:rPr lang="ru-RU" sz="2800" b="1" dirty="0" smtClean="0">
                <a:solidFill>
                  <a:srgbClr val="002060"/>
                </a:solidFill>
              </a:rPr>
              <a:t>Районированная ГТС без узлов</a:t>
            </a:r>
            <a:br>
              <a:rPr lang="ru-RU" sz="2800" b="1" dirty="0" smtClean="0">
                <a:solidFill>
                  <a:srgbClr val="002060"/>
                </a:solidFill>
              </a:rPr>
            </a:br>
            <a:r>
              <a:rPr lang="ru-RU" sz="2800" b="1" dirty="0" smtClean="0">
                <a:solidFill>
                  <a:srgbClr val="002060"/>
                </a:solidFill>
              </a:rPr>
              <a:t> (5-ти </a:t>
            </a:r>
            <a:r>
              <a:rPr lang="ru-RU" sz="2800" b="1" dirty="0" err="1" smtClean="0">
                <a:solidFill>
                  <a:srgbClr val="002060"/>
                </a:solidFill>
              </a:rPr>
              <a:t>значная</a:t>
            </a:r>
            <a:r>
              <a:rPr lang="ru-RU" sz="2800" b="1" dirty="0" smtClean="0">
                <a:solidFill>
                  <a:srgbClr val="002060"/>
                </a:solidFill>
              </a:rPr>
              <a:t> нумерация)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0" y="1052736"/>
            <a:ext cx="4860032" cy="547260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Районированная ГТС без узлов строится по принципу «каждая с каждой», т.е.</a:t>
            </a:r>
          </a:p>
          <a:p>
            <a:pPr>
              <a:buNone/>
            </a:pPr>
            <a:r>
              <a:rPr lang="ru-RU" sz="2400" dirty="0" smtClean="0"/>
              <a:t>  все станции (РАТС) соединены</a:t>
            </a:r>
          </a:p>
          <a:p>
            <a:pPr>
              <a:buNone/>
            </a:pPr>
            <a:r>
              <a:rPr lang="ru-RU" sz="2400" dirty="0" smtClean="0"/>
              <a:t>между собой соединительными линиями(СЛ).</a:t>
            </a:r>
          </a:p>
          <a:p>
            <a:r>
              <a:rPr lang="ru-RU" sz="2400" dirty="0" smtClean="0"/>
              <a:t>Каждая станция РАТС имеет выходы на:</a:t>
            </a:r>
          </a:p>
          <a:p>
            <a:pPr>
              <a:buNone/>
            </a:pPr>
            <a:r>
              <a:rPr lang="ru-RU" sz="2400" dirty="0" smtClean="0"/>
              <a:t>  -  на АМТС;</a:t>
            </a:r>
          </a:p>
          <a:p>
            <a:pPr>
              <a:buNone/>
            </a:pPr>
            <a:r>
              <a:rPr lang="ru-RU" sz="2400" dirty="0" smtClean="0"/>
              <a:t>  - УСС – узел экстренных и информационно - справочных служб;</a:t>
            </a:r>
          </a:p>
          <a:p>
            <a:pPr>
              <a:buNone/>
            </a:pPr>
            <a:r>
              <a:rPr lang="ru-RU" sz="2400" dirty="0" smtClean="0"/>
              <a:t>  - УСП – узел </a:t>
            </a:r>
            <a:r>
              <a:rPr lang="ru-RU" sz="2400" dirty="0" err="1" smtClean="0"/>
              <a:t>сельско-пригородный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graphicFrame>
        <p:nvGraphicFramePr>
          <p:cNvPr id="60418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4877593" y="1268760"/>
          <a:ext cx="4014887" cy="4752527"/>
        </p:xfrm>
        <a:graphic>
          <a:graphicData uri="http://schemas.openxmlformats.org/presentationml/2006/ole">
            <p:oleObj spid="_x0000_s60418" name="Visio" r:id="rId3" imgW="3579932" imgH="2854730" progId="">
              <p:embed/>
            </p:oleObj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Нумерация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124744"/>
            <a:ext cx="8964488" cy="55446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dirty="0" smtClean="0"/>
              <a:t>Данная районированная сеть ГТС имеет </a:t>
            </a:r>
            <a:r>
              <a:rPr lang="ru-RU" sz="2400" b="1" dirty="0" smtClean="0"/>
              <a:t>5-ти </a:t>
            </a:r>
            <a:r>
              <a:rPr lang="ru-RU" sz="2400" b="1" dirty="0" err="1" smtClean="0"/>
              <a:t>значную</a:t>
            </a:r>
            <a:r>
              <a:rPr lang="ru-RU" sz="2400" b="1" dirty="0" smtClean="0"/>
              <a:t> нумерацию</a:t>
            </a:r>
            <a:r>
              <a:rPr lang="ru-RU" sz="2400" dirty="0" smtClean="0"/>
              <a:t>: </a:t>
            </a:r>
            <a:r>
              <a:rPr lang="ru-RU" sz="2400" b="1" dirty="0" smtClean="0">
                <a:solidFill>
                  <a:srgbClr val="002060"/>
                </a:solidFill>
              </a:rPr>
              <a:t>а </a:t>
            </a:r>
            <a:r>
              <a:rPr lang="ru-RU" sz="2400" b="1" dirty="0" err="1" smtClean="0">
                <a:solidFill>
                  <a:srgbClr val="002060"/>
                </a:solidFill>
              </a:rPr>
              <a:t>хххх</a:t>
            </a:r>
            <a:r>
              <a:rPr lang="ru-RU" sz="2400" b="1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, </a:t>
            </a:r>
            <a:r>
              <a:rPr lang="ru-RU" sz="2400" dirty="0" smtClean="0"/>
              <a:t>где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 а</a:t>
            </a:r>
            <a:r>
              <a:rPr lang="ru-RU" sz="2400" dirty="0" smtClean="0"/>
              <a:t>- номер станции ( на рисунке а = 1,2,3,4,5)</a:t>
            </a:r>
          </a:p>
          <a:p>
            <a:pPr>
              <a:buNone/>
            </a:pPr>
            <a:r>
              <a:rPr lang="ru-RU" sz="2400" dirty="0" smtClean="0"/>
              <a:t>     </a:t>
            </a:r>
            <a:r>
              <a:rPr lang="ru-RU" sz="2400" b="1" dirty="0" err="1" smtClean="0">
                <a:solidFill>
                  <a:srgbClr val="002060"/>
                </a:solidFill>
              </a:rPr>
              <a:t>хххх</a:t>
            </a:r>
            <a:r>
              <a:rPr lang="ru-RU" sz="2400" dirty="0" smtClean="0"/>
              <a:t> – внутристанционный номер абонента</a:t>
            </a:r>
          </a:p>
          <a:p>
            <a:pPr>
              <a:buNone/>
            </a:pPr>
            <a:r>
              <a:rPr lang="ru-RU" sz="2400" dirty="0" smtClean="0"/>
              <a:t> Максимальная емкость станции – 10000 абонентов.</a:t>
            </a:r>
          </a:p>
          <a:p>
            <a:pPr>
              <a:buNone/>
            </a:pPr>
            <a:r>
              <a:rPr lang="ru-RU" sz="2400" dirty="0" smtClean="0"/>
              <a:t>   Номер станции не может быть – 0,1,8,9.</a:t>
            </a:r>
          </a:p>
          <a:p>
            <a:pPr>
              <a:buNone/>
            </a:pPr>
            <a:r>
              <a:rPr lang="ru-RU" sz="2400" dirty="0" smtClean="0"/>
              <a:t>    - 0, 1 –  это индекс выхода на УСС </a:t>
            </a:r>
          </a:p>
          <a:p>
            <a:pPr>
              <a:buNone/>
            </a:pPr>
            <a:r>
              <a:rPr lang="ru-RU" sz="2400" dirty="0" smtClean="0"/>
              <a:t>                  ( справочные – информационные службы);</a:t>
            </a:r>
          </a:p>
          <a:p>
            <a:pPr>
              <a:buNone/>
            </a:pPr>
            <a:r>
              <a:rPr lang="ru-RU" sz="2400" dirty="0" smtClean="0"/>
              <a:t>     - 8  -это индекс выхода на межгород (АМТС);</a:t>
            </a:r>
          </a:p>
          <a:p>
            <a:pPr>
              <a:buNone/>
            </a:pPr>
            <a:r>
              <a:rPr lang="ru-RU" sz="2400" dirty="0" smtClean="0"/>
              <a:t>     - 9- это индекс выхода на УСП.</a:t>
            </a:r>
          </a:p>
          <a:p>
            <a:pPr>
              <a:buNone/>
            </a:pPr>
            <a:r>
              <a:rPr lang="ru-RU" sz="2400" dirty="0" smtClean="0"/>
              <a:t>Т.о. максимальная емкость сети 60000 номеров .</a:t>
            </a:r>
          </a:p>
          <a:p>
            <a:pPr>
              <a:buNone/>
            </a:pPr>
            <a:r>
              <a:rPr lang="ru-RU" sz="2400" dirty="0" smtClean="0"/>
              <a:t>Дальнейшее развитие сети – переход на 6-ти </a:t>
            </a:r>
            <a:r>
              <a:rPr lang="ru-RU" sz="2400" dirty="0" err="1" smtClean="0"/>
              <a:t>значную</a:t>
            </a:r>
            <a:r>
              <a:rPr lang="ru-RU" sz="2400" dirty="0" smtClean="0"/>
              <a:t> нумерацию.</a:t>
            </a:r>
            <a:endParaRPr lang="ru-RU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32656"/>
            <a:ext cx="91440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Районированная ГТС с узлами входящей связи УВС (6-ти </a:t>
            </a:r>
            <a:r>
              <a:rPr lang="ru-RU" sz="3200" b="1" dirty="0" err="1" smtClean="0">
                <a:solidFill>
                  <a:srgbClr val="002060"/>
                </a:solidFill>
              </a:rPr>
              <a:t>значная</a:t>
            </a:r>
            <a:r>
              <a:rPr lang="ru-RU" sz="3200" b="1" dirty="0" smtClean="0">
                <a:solidFill>
                  <a:srgbClr val="002060"/>
                </a:solidFill>
              </a:rPr>
              <a:t> нумерация)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 smtClean="0"/>
              <a:t>При емкости ГТС от 50 000 до 500 000 номеров сеть наиболее экономично строить с Узлами Входящей связи - УВС.</a:t>
            </a:r>
          </a:p>
          <a:p>
            <a:r>
              <a:rPr lang="ru-RU" dirty="0" smtClean="0"/>
              <a:t> При таком построении ГТС делится на узловые районы, в каждом из которых может быть установлено несколько РАТС, соединяющихся между собой по принципу «каждая с каждой».</a:t>
            </a:r>
          </a:p>
          <a:p>
            <a:r>
              <a:rPr lang="ru-RU" dirty="0" smtClean="0"/>
              <a:t> Связь между РАТС одного узлового района может осуществляться и через УВС.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Для соединения между собой абонентов разных узловых районов в каждом из них устанавливается УВС</a:t>
            </a:r>
            <a:endParaRPr lang="ru-RU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Районированная ГТС с узлами входящей связи УВС (6-ти </a:t>
            </a:r>
            <a:r>
              <a:rPr lang="ru-RU" sz="3200" b="1" dirty="0" err="1" smtClean="0">
                <a:solidFill>
                  <a:srgbClr val="002060"/>
                </a:solidFill>
              </a:rPr>
              <a:t>значная</a:t>
            </a:r>
            <a:r>
              <a:rPr lang="ru-RU" sz="3200" b="1" dirty="0" smtClean="0">
                <a:solidFill>
                  <a:srgbClr val="002060"/>
                </a:solidFill>
              </a:rPr>
              <a:t> нумерация)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rmAutofit fontScale="70000" lnSpcReduction="20000"/>
          </a:bodyPr>
          <a:lstStyle/>
          <a:p>
            <a:r>
              <a:rPr lang="ru-RU" sz="3400" dirty="0" smtClean="0"/>
              <a:t>При использовании на ГТС электронных цифровых станций и первичных сетей на базе волоконно-оптических линий связи (ВОЛС) и систем передачи SDH, применяются цифровые  узлы коммутации, выполняющие функции опорно-транзитных станций (УВС) с использованием межстанционных двухсторонних соединительных линии.</a:t>
            </a:r>
          </a:p>
          <a:p>
            <a:r>
              <a:rPr lang="ru-RU" sz="3400" b="1" dirty="0" smtClean="0"/>
              <a:t>В каждом узловом районе (УР) устанавливается узел опорно-транзитной связи – (УВС)</a:t>
            </a:r>
            <a:r>
              <a:rPr lang="ru-RU" sz="3400" dirty="0" smtClean="0"/>
              <a:t>.</a:t>
            </a:r>
          </a:p>
          <a:p>
            <a:r>
              <a:rPr lang="ru-RU" sz="3400" dirty="0" smtClean="0"/>
              <a:t> В УР располагается до 10 районных АТС (РАТС), которые соединяются между собой  по принципу “каждая с каждой”, а входящие линии с  других УР идут через УВС.</a:t>
            </a:r>
          </a:p>
          <a:p>
            <a:r>
              <a:rPr lang="ru-RU" sz="3400" b="1" dirty="0" smtClean="0"/>
              <a:t>Связь с АМТС выполняется через УВС</a:t>
            </a:r>
            <a:r>
              <a:rPr lang="ru-RU" sz="3400" dirty="0" smtClean="0"/>
              <a:t>. </a:t>
            </a:r>
          </a:p>
          <a:p>
            <a:r>
              <a:rPr lang="ru-RU" sz="3400" b="1" dirty="0" smtClean="0"/>
              <a:t>Близлежащие сельские населенные пункты включаются в</a:t>
            </a:r>
          </a:p>
          <a:p>
            <a:pPr>
              <a:buNone/>
            </a:pPr>
            <a:r>
              <a:rPr lang="ru-RU" sz="3400" b="1" dirty="0" smtClean="0"/>
              <a:t>     узел </a:t>
            </a:r>
            <a:r>
              <a:rPr lang="ru-RU" sz="3400" b="1" dirty="0" err="1" smtClean="0"/>
              <a:t>сельско-пригородной</a:t>
            </a:r>
            <a:r>
              <a:rPr lang="ru-RU" sz="3400" b="1" dirty="0" smtClean="0"/>
              <a:t> (УСП), входящий в состав </a:t>
            </a:r>
          </a:p>
          <a:p>
            <a:pPr>
              <a:buNone/>
            </a:pPr>
            <a:r>
              <a:rPr lang="ru-RU" sz="3400" b="1" smtClean="0"/>
              <a:t>       нумерации </a:t>
            </a:r>
            <a:r>
              <a:rPr lang="ru-RU" sz="3400" b="1" dirty="0" smtClean="0"/>
              <a:t>ГТС. </a:t>
            </a:r>
          </a:p>
          <a:p>
            <a:pPr>
              <a:buNone/>
            </a:pPr>
            <a:r>
              <a:rPr lang="ru-RU" sz="3400" dirty="0" smtClean="0"/>
              <a:t>  Схема включения телефонных станций города изображена на рисунке.</a:t>
            </a:r>
          </a:p>
          <a:p>
            <a:endParaRPr lang="ru-RU" sz="3400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388" y="217488"/>
            <a:ext cx="8785225" cy="763587"/>
          </a:xfrm>
          <a:noFill/>
        </p:spPr>
        <p:txBody>
          <a:bodyPr/>
          <a:lstStyle/>
          <a:p>
            <a:pPr eaLnBrk="1" hangingPunct="1"/>
            <a:r>
              <a:rPr lang="ru-RU" sz="4000" b="1" dirty="0">
                <a:solidFill>
                  <a:srgbClr val="002060"/>
                </a:solidFill>
              </a:rPr>
              <a:t>ГТС с </a:t>
            </a:r>
            <a:r>
              <a:rPr lang="ru-RU" sz="4000" b="1" dirty="0" smtClean="0">
                <a:solidFill>
                  <a:srgbClr val="002060"/>
                </a:solidFill>
              </a:rPr>
              <a:t>УВС (6-ти </a:t>
            </a:r>
            <a:r>
              <a:rPr lang="ru-RU" sz="4000" b="1" dirty="0" err="1" smtClean="0">
                <a:solidFill>
                  <a:srgbClr val="002060"/>
                </a:solidFill>
              </a:rPr>
              <a:t>значная</a:t>
            </a:r>
            <a:r>
              <a:rPr lang="ru-RU" sz="4000" b="1" dirty="0" smtClean="0">
                <a:solidFill>
                  <a:srgbClr val="002060"/>
                </a:solidFill>
              </a:rPr>
              <a:t> нумерация)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0" y="2619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0" y="24193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0" y="21193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0" y="2400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0" y="23383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8680" name="Object 8"/>
          <p:cNvGraphicFramePr>
            <a:graphicFrameLocks noChangeAspect="1"/>
          </p:cNvGraphicFramePr>
          <p:nvPr/>
        </p:nvGraphicFramePr>
        <p:xfrm>
          <a:off x="0" y="1484784"/>
          <a:ext cx="9144000" cy="4896544"/>
        </p:xfrm>
        <a:graphic>
          <a:graphicData uri="http://schemas.openxmlformats.org/presentationml/2006/ole">
            <p:oleObj spid="_x0000_s58370" name="Visio" r:id="rId3" imgW="8586058" imgH="3729671" progId="">
              <p:embed/>
            </p:oleObj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002060"/>
                </a:solidFill>
              </a:rPr>
              <a:t>Нумерация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590465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400" dirty="0" smtClean="0"/>
              <a:t>Данная районированная сеть ГТС имеет </a:t>
            </a:r>
            <a:r>
              <a:rPr lang="ru-RU" sz="2400" b="1" dirty="0" smtClean="0"/>
              <a:t>6-ти </a:t>
            </a:r>
            <a:r>
              <a:rPr lang="ru-RU" sz="2400" b="1" dirty="0" err="1" smtClean="0"/>
              <a:t>значную</a:t>
            </a:r>
            <a:r>
              <a:rPr lang="ru-RU" sz="2400" b="1" dirty="0" smtClean="0"/>
              <a:t> нумерацию</a:t>
            </a:r>
            <a:r>
              <a:rPr lang="ru-RU" sz="2400" dirty="0" smtClean="0"/>
              <a:t>: </a:t>
            </a:r>
            <a:r>
              <a:rPr lang="ru-RU" sz="2400" b="1" dirty="0" err="1" smtClean="0">
                <a:solidFill>
                  <a:srgbClr val="002060"/>
                </a:solidFill>
              </a:rPr>
              <a:t>ва</a:t>
            </a:r>
            <a:r>
              <a:rPr lang="ru-RU" sz="2400" b="1" dirty="0" smtClean="0">
                <a:solidFill>
                  <a:srgbClr val="002060"/>
                </a:solidFill>
              </a:rPr>
              <a:t> </a:t>
            </a:r>
            <a:r>
              <a:rPr lang="ru-RU" sz="2400" b="1" dirty="0" err="1" smtClean="0">
                <a:solidFill>
                  <a:srgbClr val="002060"/>
                </a:solidFill>
              </a:rPr>
              <a:t>хххх</a:t>
            </a:r>
            <a:r>
              <a:rPr lang="ru-RU" sz="2400" b="1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, </a:t>
            </a:r>
            <a:r>
              <a:rPr lang="ru-RU" sz="2400" dirty="0" smtClean="0"/>
              <a:t>где</a:t>
            </a:r>
          </a:p>
          <a:p>
            <a:pPr>
              <a:buNone/>
            </a:pPr>
            <a:r>
              <a:rPr lang="ru-RU" sz="2400" b="1" dirty="0" smtClean="0">
                <a:solidFill>
                  <a:srgbClr val="002060"/>
                </a:solidFill>
              </a:rPr>
              <a:t>      в</a:t>
            </a:r>
            <a:r>
              <a:rPr lang="ru-RU" sz="2400" dirty="0" smtClean="0"/>
              <a:t>- номер узлового района УР ( на рисунке  в =1,2)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 а</a:t>
            </a:r>
            <a:r>
              <a:rPr lang="ru-RU" sz="2400" dirty="0" smtClean="0"/>
              <a:t>- номер станции в УР ( на рисунке а =7,5,3,9)</a:t>
            </a:r>
          </a:p>
          <a:p>
            <a:pPr>
              <a:buNone/>
            </a:pPr>
            <a:r>
              <a:rPr lang="ru-RU" sz="2400" dirty="0" smtClean="0"/>
              <a:t>     </a:t>
            </a:r>
            <a:r>
              <a:rPr lang="ru-RU" sz="2400" b="1" dirty="0" err="1" smtClean="0">
                <a:solidFill>
                  <a:srgbClr val="002060"/>
                </a:solidFill>
              </a:rPr>
              <a:t>хххх</a:t>
            </a:r>
            <a:r>
              <a:rPr lang="ru-RU" sz="2400" dirty="0" smtClean="0"/>
              <a:t> –внутристанционный номер абонента</a:t>
            </a:r>
          </a:p>
          <a:p>
            <a:pPr>
              <a:buNone/>
            </a:pPr>
            <a:r>
              <a:rPr lang="ru-RU" sz="2400" dirty="0" smtClean="0"/>
              <a:t>     </a:t>
            </a:r>
            <a:r>
              <a:rPr lang="ru-RU" sz="2400" dirty="0" err="1" smtClean="0"/>
              <a:t>ав</a:t>
            </a:r>
            <a:r>
              <a:rPr lang="ru-RU" sz="2400" dirty="0" smtClean="0"/>
              <a:t> -  полный номер  станции ( на рисунке РАТС 15, 17 и 23, 29 )</a:t>
            </a:r>
          </a:p>
          <a:p>
            <a:pPr>
              <a:buNone/>
            </a:pPr>
            <a:r>
              <a:rPr lang="ru-RU" sz="2400" dirty="0" smtClean="0"/>
              <a:t> Максимальная емкость станции – 10000 абонентов.</a:t>
            </a:r>
          </a:p>
          <a:p>
            <a:pPr>
              <a:buNone/>
            </a:pPr>
            <a:r>
              <a:rPr lang="ru-RU" sz="2400" dirty="0" smtClean="0"/>
              <a:t>   Номер УР не может быть – 0,1,8,9.</a:t>
            </a:r>
          </a:p>
          <a:p>
            <a:pPr>
              <a:buNone/>
            </a:pPr>
            <a:r>
              <a:rPr lang="ru-RU" sz="2400" dirty="0" smtClean="0"/>
              <a:t>    - 0, 1 –  это индекс выхода на УСС </a:t>
            </a:r>
          </a:p>
          <a:p>
            <a:pPr>
              <a:buNone/>
            </a:pPr>
            <a:r>
              <a:rPr lang="ru-RU" sz="2400" dirty="0" smtClean="0"/>
              <a:t>                  ( справочные – информационные службы);</a:t>
            </a:r>
          </a:p>
          <a:p>
            <a:pPr>
              <a:buNone/>
            </a:pPr>
            <a:r>
              <a:rPr lang="ru-RU" sz="2400" dirty="0" smtClean="0"/>
              <a:t>     - 8  -это индекс выхода на межгород (АМТС);</a:t>
            </a:r>
          </a:p>
          <a:p>
            <a:pPr>
              <a:buNone/>
            </a:pPr>
            <a:r>
              <a:rPr lang="ru-RU" sz="2400" dirty="0" smtClean="0"/>
              <a:t>     - 9 - это индекс выхода на УСП.</a:t>
            </a:r>
          </a:p>
          <a:p>
            <a:pPr>
              <a:buNone/>
            </a:pPr>
            <a:r>
              <a:rPr lang="ru-RU" sz="2400" dirty="0" smtClean="0"/>
              <a:t> Т.о. максимальная емкость сети : 6х10х 10000 =600000 номеров.</a:t>
            </a:r>
          </a:p>
          <a:p>
            <a:pPr>
              <a:buNone/>
            </a:pPr>
            <a:r>
              <a:rPr lang="ru-RU" sz="2400" dirty="0" smtClean="0"/>
              <a:t>   Вводится УВС (узел входящей связи). </a:t>
            </a:r>
          </a:p>
          <a:p>
            <a:pPr>
              <a:buNone/>
            </a:pPr>
            <a:endParaRPr lang="ru-RU" sz="2400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388" y="217488"/>
            <a:ext cx="8785225" cy="763587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ru-RU" sz="3600" b="1" dirty="0">
                <a:solidFill>
                  <a:srgbClr val="002060"/>
                </a:solidFill>
              </a:rPr>
              <a:t>ГТС с УИС и </a:t>
            </a:r>
            <a:r>
              <a:rPr lang="ru-RU" sz="3600" b="1" dirty="0" smtClean="0">
                <a:solidFill>
                  <a:srgbClr val="002060"/>
                </a:solidFill>
              </a:rPr>
              <a:t>УВС (7-ми </a:t>
            </a:r>
            <a:r>
              <a:rPr lang="ru-RU" sz="3600" b="1" dirty="0" err="1" smtClean="0">
                <a:solidFill>
                  <a:srgbClr val="002060"/>
                </a:solidFill>
              </a:rPr>
              <a:t>значная</a:t>
            </a:r>
            <a:r>
              <a:rPr lang="ru-RU" sz="3600" b="1" dirty="0" smtClean="0">
                <a:solidFill>
                  <a:srgbClr val="002060"/>
                </a:solidFill>
              </a:rPr>
              <a:t> нумерация)</a:t>
            </a:r>
            <a:r>
              <a:rPr lang="ru-RU" sz="3600" dirty="0" smtClean="0">
                <a:solidFill>
                  <a:srgbClr val="002060"/>
                </a:solidFill>
              </a:rPr>
              <a:t> </a:t>
            </a:r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0" y="2619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24241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0" y="1196752"/>
          <a:ext cx="9144000" cy="5256584"/>
        </p:xfrm>
        <a:graphic>
          <a:graphicData uri="http://schemas.openxmlformats.org/presentationml/2006/ole">
            <p:oleObj spid="_x0000_s6146" name="Visio" r:id="rId3" imgW="9234130" imgH="3729671" progId="">
              <p:embed/>
            </p:oleObj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>
            <a:normAutofit fontScale="90000"/>
          </a:bodyPr>
          <a:lstStyle/>
          <a:p>
            <a:r>
              <a:rPr lang="ru-RU" sz="2800" b="1" dirty="0" smtClean="0">
                <a:solidFill>
                  <a:srgbClr val="002060"/>
                </a:solidFill>
              </a:rPr>
              <a:t>ГТС с узлами транзитной связи УТС </a:t>
            </a:r>
            <a:r>
              <a:rPr lang="ru-RU" sz="2800" dirty="0" smtClean="0">
                <a:solidFill>
                  <a:srgbClr val="002060"/>
                </a:solidFill>
              </a:rPr>
              <a:t>(УВС и УИС)</a:t>
            </a:r>
            <a:r>
              <a:rPr lang="ru-RU" sz="2800" b="1" dirty="0" smtClean="0">
                <a:solidFill>
                  <a:srgbClr val="002060"/>
                </a:solidFill>
              </a:rPr>
              <a:t/>
            </a:r>
            <a:br>
              <a:rPr lang="ru-RU" sz="2800" b="1" dirty="0" smtClean="0">
                <a:solidFill>
                  <a:srgbClr val="002060"/>
                </a:solidFill>
              </a:rPr>
            </a:br>
            <a:r>
              <a:rPr lang="ru-RU" sz="2800" b="1" dirty="0" smtClean="0">
                <a:solidFill>
                  <a:srgbClr val="002060"/>
                </a:solidFill>
              </a:rPr>
              <a:t>    (7-ти </a:t>
            </a:r>
            <a:r>
              <a:rPr lang="ru-RU" sz="2800" b="1" dirty="0" err="1" smtClean="0">
                <a:solidFill>
                  <a:srgbClr val="002060"/>
                </a:solidFill>
              </a:rPr>
              <a:t>значная</a:t>
            </a:r>
            <a:r>
              <a:rPr lang="ru-RU" sz="2800" b="1" dirty="0" smtClean="0">
                <a:solidFill>
                  <a:srgbClr val="002060"/>
                </a:solidFill>
              </a:rPr>
              <a:t> нумерация)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506916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Технологическое развитие цифровых АТС поставило вопрос о пересмотре архитектуры сети.</a:t>
            </a:r>
          </a:p>
          <a:p>
            <a:r>
              <a:rPr lang="ru-RU" sz="2400" dirty="0" smtClean="0"/>
              <a:t> </a:t>
            </a:r>
            <a:r>
              <a:rPr lang="ru-RU" sz="2400" b="1" dirty="0" smtClean="0"/>
              <a:t>Однако структура с </a:t>
            </a:r>
            <a:r>
              <a:rPr lang="ru-RU" sz="2400" b="1" dirty="0" err="1" smtClean="0"/>
              <a:t>узлообразованием</a:t>
            </a:r>
            <a:r>
              <a:rPr lang="ru-RU" sz="2400" b="1" dirty="0" smtClean="0"/>
              <a:t> принципиальных изменений не претерпела.</a:t>
            </a:r>
          </a:p>
          <a:p>
            <a:r>
              <a:rPr lang="ru-RU" sz="2400" b="1" dirty="0" smtClean="0"/>
              <a:t> В крупных городах вместо АТС стало целесообразным использовать концентраторы и/или элементы сети доступа с учетом возможности перемещения на одной территории этих сетевых элементов от различных узлов.</a:t>
            </a:r>
          </a:p>
          <a:p>
            <a:r>
              <a:rPr lang="ru-RU" sz="2400" dirty="0" smtClean="0"/>
              <a:t>Топологические изменения архитектуры ГТС при внедрении цифровых АТС связаны, прежде всего, с использованием кольцевой структуры для связи транзитных станций и сетей доступа. </a:t>
            </a:r>
            <a:endParaRPr lang="ru-RU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8964488" cy="994122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solidFill>
                  <a:srgbClr val="002060"/>
                </a:solidFill>
              </a:rPr>
              <a:t>ГТС с узлами транзитной связи УТС </a:t>
            </a:r>
            <a:r>
              <a:rPr lang="ru-RU" sz="2800" dirty="0" smtClean="0">
                <a:solidFill>
                  <a:srgbClr val="002060"/>
                </a:solidFill>
              </a:rPr>
              <a:t>(УВС и УИС)</a:t>
            </a:r>
            <a:r>
              <a:rPr lang="ru-RU" sz="2800" b="1" dirty="0" smtClean="0">
                <a:solidFill>
                  <a:srgbClr val="002060"/>
                </a:solidFill>
              </a:rPr>
              <a:t/>
            </a:r>
            <a:br>
              <a:rPr lang="ru-RU" sz="2800" b="1" dirty="0" smtClean="0">
                <a:solidFill>
                  <a:srgbClr val="002060"/>
                </a:solidFill>
              </a:rPr>
            </a:br>
            <a:r>
              <a:rPr lang="ru-RU" sz="2800" b="1" dirty="0" smtClean="0">
                <a:solidFill>
                  <a:srgbClr val="002060"/>
                </a:solidFill>
              </a:rPr>
              <a:t>    (7-ти </a:t>
            </a:r>
            <a:r>
              <a:rPr lang="ru-RU" sz="2800" b="1" dirty="0" err="1" smtClean="0">
                <a:solidFill>
                  <a:srgbClr val="002060"/>
                </a:solidFill>
              </a:rPr>
              <a:t>значная</a:t>
            </a:r>
            <a:r>
              <a:rPr lang="ru-RU" sz="2800" b="1" dirty="0" smtClean="0">
                <a:solidFill>
                  <a:srgbClr val="002060"/>
                </a:solidFill>
              </a:rPr>
              <a:t> нумерация)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340768"/>
            <a:ext cx="8712968" cy="5517232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/>
              <a:t>В г. Минске используется семизначная нумерация и построение сети является районированным с </a:t>
            </a:r>
            <a:r>
              <a:rPr lang="ru-RU" b="1" dirty="0" err="1" smtClean="0"/>
              <a:t>узлообразованием</a:t>
            </a:r>
            <a:r>
              <a:rPr lang="ru-RU" dirty="0" smtClean="0"/>
              <a:t>, что позволяет значительно уменьшить общую протяженность абонентской линии. </a:t>
            </a:r>
          </a:p>
          <a:p>
            <a:r>
              <a:rPr lang="ru-RU" dirty="0" smtClean="0"/>
              <a:t>Обычно предполагается, что емкость одной РАТС не превосходит 10000 номеров.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Каждой РАТС присваивается определенный номер. </a:t>
            </a:r>
          </a:p>
          <a:p>
            <a:r>
              <a:rPr lang="ru-RU" b="1" dirty="0" smtClean="0"/>
              <a:t>Для г. Минска значимость номера – три цифры.</a:t>
            </a:r>
          </a:p>
          <a:p>
            <a:pPr>
              <a:buNone/>
            </a:pPr>
            <a:r>
              <a:rPr lang="ru-RU" dirty="0" smtClean="0"/>
              <a:t>      -  Первая цифра – номер миллионной зоны,</a:t>
            </a:r>
          </a:p>
          <a:p>
            <a:pPr>
              <a:buNone/>
            </a:pPr>
            <a:r>
              <a:rPr lang="ru-RU" dirty="0" smtClean="0"/>
              <a:t>       - вторая – номер узла, </a:t>
            </a:r>
          </a:p>
          <a:p>
            <a:pPr>
              <a:buNone/>
            </a:pPr>
            <a:r>
              <a:rPr lang="ru-RU" dirty="0" smtClean="0"/>
              <a:t>      - третья – номер станции этого узла.</a:t>
            </a:r>
          </a:p>
          <a:p>
            <a:r>
              <a:rPr lang="ru-RU" dirty="0" smtClean="0"/>
              <a:t>На Минской ГТС существуют две двухмиллионные зоны. </a:t>
            </a:r>
          </a:p>
          <a:p>
            <a:pPr>
              <a:buNone/>
            </a:pPr>
            <a:r>
              <a:rPr lang="ru-RU" dirty="0" smtClean="0"/>
              <a:t>   </a:t>
            </a:r>
            <a:r>
              <a:rPr lang="ru-RU" b="1" dirty="0" smtClean="0"/>
              <a:t>Узлы транзитного сообщения (УТС) объединяют входящую и исходящую нагрузку к станциям этого узла и распределяют ее по направлениям к другим РАТС.</a:t>
            </a:r>
          </a:p>
          <a:p>
            <a:r>
              <a:rPr lang="ru-RU" dirty="0" smtClean="0"/>
              <a:t> Станции одного такого узла внутри связаны по принципу «каждая с каждой». </a:t>
            </a:r>
          </a:p>
          <a:p>
            <a:r>
              <a:rPr lang="ru-RU" b="1" dirty="0" smtClean="0"/>
              <a:t>Территория, обслуживаемая коммутационным узлом, называется узловым районом (УР).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388" y="73025"/>
            <a:ext cx="8785225" cy="908050"/>
          </a:xfrm>
          <a:noFill/>
        </p:spPr>
        <p:txBody>
          <a:bodyPr>
            <a:normAutofit/>
          </a:bodyPr>
          <a:lstStyle/>
          <a:p>
            <a:pPr algn="l" eaLnBrk="1" hangingPunct="1"/>
            <a:r>
              <a:rPr lang="ru-RU" sz="3600" b="1" dirty="0">
                <a:solidFill>
                  <a:srgbClr val="002060"/>
                </a:solidFill>
              </a:rPr>
              <a:t>Модель телефонной сети. Построение ГТС 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0" y="18526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0" y="1268413"/>
          <a:ext cx="9144000" cy="5165725"/>
        </p:xfrm>
        <a:graphic>
          <a:graphicData uri="http://schemas.openxmlformats.org/presentationml/2006/ole">
            <p:oleObj spid="_x0000_s62466" name="Visio" r:id="rId3" imgW="9593930" imgH="5403518" progId="">
              <p:embed/>
            </p:oleObj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Минская ГТС в2015 году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5="http://schemas.microsoft.com/office/word/2012/wordml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mc="http://schemas.openxmlformats.org/markup-compatibility/2006" xmlns:wpc="http://schemas.microsoft.com/office/word/2010/wordprocessingCanvas" xmlns="" val="0"/>
              </a:ext>
            </a:extLst>
          </a:blip>
          <a:srcRect l="2497" r="9"/>
          <a:stretch/>
        </p:blipFill>
        <p:spPr bwMode="auto">
          <a:xfrm>
            <a:off x="251520" y="1196752"/>
            <a:ext cx="8892480" cy="56612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5="http://schemas.microsoft.com/office/word/2012/wordml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mc="http://schemas.openxmlformats.org/markup-compatibility/2006" xmlns:wpc="http://schemas.microsoft.com/office/word/2010/wordprocessingCanvas" xmlns=""/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Минская ГТС в2015 году</a:t>
            </a:r>
            <a:endParaRPr lang="ru-RU" dirty="0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="" xmlns:wpc="http://schemas.microsoft.com/office/word/2010/wordprocessingCanvas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949691" y="1600200"/>
            <a:ext cx="7244617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9959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История создания телефонной связи в Минске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8964488" cy="594928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/>
              <a:t>Предыстория создания телефонной сети в столице началась 25 июля 1890 года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 Тогда Минская городская дума дала указание немедленно приступить к устройству телефона, соединив управление полицейских частей с городским полицейским управлением и господина полицмейстера.</a:t>
            </a:r>
          </a:p>
          <a:p>
            <a:r>
              <a:rPr lang="ru-RU" dirty="0" smtClean="0"/>
              <a:t> Так в Минске началось внедрение телефонной связи. </a:t>
            </a:r>
          </a:p>
          <a:p>
            <a:r>
              <a:rPr lang="ru-RU" dirty="0" smtClean="0"/>
              <a:t>В августе этого же года построена телефонная станция и установлены телефоны для полиции.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6 февраля 1891 года появился домашний телефон у губернатора. </a:t>
            </a:r>
            <a:r>
              <a:rPr lang="ru-RU" dirty="0" smtClean="0"/>
              <a:t>Через три года в городе уже было установлено 27 аппаратов, не считая отдельно действующих 18 абонентов железнодорожной телефонной сети.</a:t>
            </a:r>
          </a:p>
          <a:p>
            <a:r>
              <a:rPr lang="ru-RU" dirty="0" smtClean="0"/>
              <a:t> Однако такого количества было недостаточно. </a:t>
            </a:r>
          </a:p>
          <a:p>
            <a:r>
              <a:rPr lang="ru-RU" b="1" dirty="0" smtClean="0"/>
              <a:t>14 ноября 1896 года в строй была введена телефонная станция системы «</a:t>
            </a:r>
            <a:r>
              <a:rPr lang="ru-RU" b="1" dirty="0" err="1" smtClean="0"/>
              <a:t>Эриксон</a:t>
            </a:r>
            <a:r>
              <a:rPr lang="ru-RU" b="1" dirty="0" smtClean="0"/>
              <a:t>» на 100 номеров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Она была смонтирована в здании почтово-телеграфной конторы на ул. Губернаторской, ныне ул. Ленина</a:t>
            </a:r>
            <a:r>
              <a:rPr lang="ru-RU" dirty="0" smtClean="0"/>
              <a:t>. Станция представлена на рисунке .</a:t>
            </a:r>
            <a:endParaRPr lang="ru-R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066130"/>
          </a:xfrm>
        </p:spPr>
        <p:txBody>
          <a:bodyPr>
            <a:noAutofit/>
          </a:bodyPr>
          <a:lstStyle/>
          <a:p>
            <a:r>
              <a:rPr lang="ru-RU" sz="2800" dirty="0" smtClean="0"/>
              <a:t>Телефонная станция системы «</a:t>
            </a:r>
            <a:r>
              <a:rPr lang="ru-RU" sz="2800" dirty="0" err="1" smtClean="0"/>
              <a:t>Эриксон</a:t>
            </a:r>
            <a:r>
              <a:rPr lang="ru-RU" sz="2800" dirty="0" smtClean="0"/>
              <a:t>» на 100 номеров</a:t>
            </a:r>
            <a:br>
              <a:rPr lang="ru-RU" sz="2800" dirty="0" smtClean="0"/>
            </a:b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/>
          <p:nvPr/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179512" y="1340768"/>
            <a:ext cx="8712968" cy="525658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52736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История создания телефонной связи в Минске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124744"/>
            <a:ext cx="8784976" cy="5001419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Своего рода «крышечки», которые видны на фото, это бленкеры.</a:t>
            </a:r>
          </a:p>
          <a:p>
            <a:r>
              <a:rPr lang="ru-RU" dirty="0" smtClean="0"/>
              <a:t> Если бленкер падал, то телефонистка понимала, что ей поступает звонок.</a:t>
            </a:r>
          </a:p>
          <a:p>
            <a:r>
              <a:rPr lang="ru-RU" dirty="0" smtClean="0"/>
              <a:t> В то время телефонной связью пользовались только 68 абонентов высокопоставленные лица или просто богатые люди.</a:t>
            </a:r>
          </a:p>
          <a:p>
            <a:r>
              <a:rPr lang="ru-RU" dirty="0" smtClean="0"/>
              <a:t> Этот день и считается днем рождения Минской городской телефонной сети.</a:t>
            </a:r>
            <a:endParaRPr lang="ru-RU" smtClean="0"/>
          </a:p>
          <a:p>
            <a:r>
              <a:rPr lang="ru-RU" smtClean="0"/>
              <a:t> </a:t>
            </a:r>
            <a:r>
              <a:rPr lang="ru-RU" dirty="0" smtClean="0"/>
              <a:t>Уже через полвека МГТС уже насчитывала 36000 номеров.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002060"/>
                </a:solidFill>
              </a:rPr>
              <a:t>Нумерация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sz="2800" dirty="0" smtClean="0"/>
              <a:t>Данная районированная сеть ГТС имеет </a:t>
            </a:r>
            <a:r>
              <a:rPr lang="ru-RU" sz="2800" b="1" dirty="0" smtClean="0"/>
              <a:t>7-ти </a:t>
            </a:r>
            <a:r>
              <a:rPr lang="ru-RU" sz="2800" b="1" dirty="0" err="1" smtClean="0"/>
              <a:t>значную</a:t>
            </a:r>
            <a:r>
              <a:rPr lang="ru-RU" sz="2800" b="1" dirty="0" smtClean="0"/>
              <a:t> нумерацию</a:t>
            </a:r>
            <a:r>
              <a:rPr lang="ru-RU" sz="2800" dirty="0" smtClean="0"/>
              <a:t>: </a:t>
            </a:r>
            <a:r>
              <a:rPr lang="ru-RU" sz="2800" b="1" dirty="0" err="1" smtClean="0">
                <a:solidFill>
                  <a:srgbClr val="002060"/>
                </a:solidFill>
              </a:rPr>
              <a:t>сва</a:t>
            </a:r>
            <a:r>
              <a:rPr lang="ru-RU" sz="2800" b="1" dirty="0" smtClean="0">
                <a:solidFill>
                  <a:srgbClr val="002060"/>
                </a:solidFill>
              </a:rPr>
              <a:t> </a:t>
            </a:r>
            <a:r>
              <a:rPr lang="ru-RU" sz="2800" b="1" dirty="0" err="1" smtClean="0">
                <a:solidFill>
                  <a:srgbClr val="002060"/>
                </a:solidFill>
              </a:rPr>
              <a:t>хххх</a:t>
            </a:r>
            <a:r>
              <a:rPr lang="ru-RU" sz="2800" b="1" dirty="0" smtClean="0">
                <a:solidFill>
                  <a:srgbClr val="002060"/>
                </a:solidFill>
              </a:rPr>
              <a:t> </a:t>
            </a:r>
            <a:r>
              <a:rPr lang="ru-RU" sz="2800" dirty="0" smtClean="0">
                <a:solidFill>
                  <a:srgbClr val="002060"/>
                </a:solidFill>
              </a:rPr>
              <a:t>, </a:t>
            </a:r>
            <a:r>
              <a:rPr lang="ru-RU" sz="2800" dirty="0" smtClean="0"/>
              <a:t>где</a:t>
            </a:r>
          </a:p>
          <a:p>
            <a:pPr>
              <a:buNone/>
            </a:pPr>
            <a:r>
              <a:rPr lang="ru-RU" sz="2800" b="1" dirty="0" smtClean="0">
                <a:solidFill>
                  <a:srgbClr val="002060"/>
                </a:solidFill>
              </a:rPr>
              <a:t>      с</a:t>
            </a:r>
            <a:r>
              <a:rPr lang="ru-RU" sz="2800" dirty="0" smtClean="0"/>
              <a:t>- номер миллионной зоны</a:t>
            </a:r>
          </a:p>
          <a:p>
            <a:pPr>
              <a:buNone/>
            </a:pPr>
            <a:r>
              <a:rPr lang="ru-RU" sz="2800" b="1" dirty="0" smtClean="0">
                <a:solidFill>
                  <a:srgbClr val="002060"/>
                </a:solidFill>
              </a:rPr>
              <a:t>      в</a:t>
            </a:r>
            <a:r>
              <a:rPr lang="ru-RU" sz="2800" dirty="0" smtClean="0"/>
              <a:t>- номер узлового района УР ( на рисунке  в =1,2)</a:t>
            </a:r>
          </a:p>
          <a:p>
            <a:pPr>
              <a:buNone/>
            </a:pPr>
            <a:r>
              <a:rPr lang="ru-RU" sz="2800" dirty="0" smtClean="0">
                <a:solidFill>
                  <a:srgbClr val="002060"/>
                </a:solidFill>
              </a:rPr>
              <a:t>      </a:t>
            </a:r>
            <a:r>
              <a:rPr lang="ru-RU" sz="2800" b="1" dirty="0" smtClean="0">
                <a:solidFill>
                  <a:srgbClr val="002060"/>
                </a:solidFill>
              </a:rPr>
              <a:t>а</a:t>
            </a:r>
            <a:r>
              <a:rPr lang="ru-RU" sz="2800" dirty="0" smtClean="0"/>
              <a:t>- номер станции в УР ( на рисунке а =7,5,3,9)</a:t>
            </a:r>
          </a:p>
          <a:p>
            <a:pPr>
              <a:buNone/>
            </a:pPr>
            <a:r>
              <a:rPr lang="ru-RU" sz="2800" dirty="0" smtClean="0"/>
              <a:t>     </a:t>
            </a:r>
            <a:r>
              <a:rPr lang="ru-RU" sz="2800" b="1" dirty="0" err="1" smtClean="0">
                <a:solidFill>
                  <a:srgbClr val="002060"/>
                </a:solidFill>
              </a:rPr>
              <a:t>хххх</a:t>
            </a:r>
            <a:r>
              <a:rPr lang="ru-RU" sz="2800" dirty="0" smtClean="0"/>
              <a:t> –внутристанционный номер абонента</a:t>
            </a:r>
          </a:p>
          <a:p>
            <a:pPr>
              <a:buNone/>
            </a:pPr>
            <a:r>
              <a:rPr lang="ru-RU" sz="2800" b="1" dirty="0" smtClean="0">
                <a:solidFill>
                  <a:srgbClr val="002060"/>
                </a:solidFill>
              </a:rPr>
              <a:t>    </a:t>
            </a:r>
            <a:r>
              <a:rPr lang="ru-RU" sz="2800" b="1" dirty="0" err="1" smtClean="0">
                <a:solidFill>
                  <a:srgbClr val="002060"/>
                </a:solidFill>
              </a:rPr>
              <a:t>сав</a:t>
            </a:r>
            <a:r>
              <a:rPr lang="ru-RU" sz="2800" b="1" dirty="0" smtClean="0">
                <a:solidFill>
                  <a:srgbClr val="002060"/>
                </a:solidFill>
              </a:rPr>
              <a:t> </a:t>
            </a:r>
            <a:r>
              <a:rPr lang="ru-RU" sz="2800" dirty="0" smtClean="0"/>
              <a:t>-  полный номер  станции ( на рисунке нет)</a:t>
            </a:r>
          </a:p>
          <a:p>
            <a:pPr>
              <a:buNone/>
            </a:pPr>
            <a:r>
              <a:rPr lang="ru-RU" sz="2800" dirty="0" smtClean="0"/>
              <a:t> Максимальная емкость станции – 10000 абонентов.</a:t>
            </a:r>
          </a:p>
          <a:p>
            <a:pPr>
              <a:buNone/>
            </a:pPr>
            <a:r>
              <a:rPr lang="ru-RU" sz="2800" dirty="0" smtClean="0"/>
              <a:t>   Номер зоны (</a:t>
            </a:r>
            <a:r>
              <a:rPr lang="ru-RU" sz="2800" b="1" dirty="0" smtClean="0">
                <a:solidFill>
                  <a:srgbClr val="002060"/>
                </a:solidFill>
              </a:rPr>
              <a:t>с</a:t>
            </a:r>
            <a:r>
              <a:rPr lang="ru-RU" sz="2800" dirty="0" smtClean="0"/>
              <a:t>) не может быть – 0,1,8,9.</a:t>
            </a:r>
          </a:p>
          <a:p>
            <a:pPr>
              <a:buNone/>
            </a:pPr>
            <a:r>
              <a:rPr lang="ru-RU" sz="2800" dirty="0" smtClean="0"/>
              <a:t>    - 0, 1 –  это индекс выхода на УСС </a:t>
            </a:r>
          </a:p>
          <a:p>
            <a:pPr>
              <a:buNone/>
            </a:pPr>
            <a:r>
              <a:rPr lang="ru-RU" sz="2800" dirty="0" smtClean="0"/>
              <a:t>                  ( справочные – информационные службы);</a:t>
            </a:r>
          </a:p>
          <a:p>
            <a:pPr>
              <a:buNone/>
            </a:pPr>
            <a:r>
              <a:rPr lang="ru-RU" sz="2800" dirty="0" smtClean="0"/>
              <a:t>     - 8  - это индекс выхода на межгород (АМТС);</a:t>
            </a:r>
          </a:p>
          <a:p>
            <a:pPr>
              <a:buNone/>
            </a:pPr>
            <a:r>
              <a:rPr lang="ru-RU" sz="2800" dirty="0" smtClean="0"/>
              <a:t>     - 9 - это индекс выхода на УСП.</a:t>
            </a:r>
          </a:p>
          <a:p>
            <a:pPr>
              <a:buNone/>
            </a:pPr>
            <a:r>
              <a:rPr lang="ru-RU" sz="2800" dirty="0" smtClean="0"/>
              <a:t> Т.о. максимальная емкость сети : 6х10х10х 10000 =6000000 номеров.</a:t>
            </a:r>
          </a:p>
          <a:p>
            <a:pPr>
              <a:buNone/>
            </a:pPr>
            <a:r>
              <a:rPr lang="ru-RU" sz="2800" dirty="0" smtClean="0"/>
              <a:t>Вводится УТС (узел транзитной связи) – это УИС (узел исходящей связи) и УВС (узел входящей связи). На Рис не показано.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Autofit/>
          </a:bodyPr>
          <a:lstStyle/>
          <a:p>
            <a:r>
              <a:rPr lang="ru-RU" sz="2800" b="1" dirty="0" smtClean="0">
                <a:solidFill>
                  <a:srgbClr val="002060"/>
                </a:solidFill>
              </a:rPr>
              <a:t>Местные сети.</a:t>
            </a:r>
            <a:br>
              <a:rPr lang="ru-RU" sz="2800" b="1" dirty="0" smtClean="0">
                <a:solidFill>
                  <a:srgbClr val="002060"/>
                </a:solidFill>
              </a:rPr>
            </a:br>
            <a:r>
              <a:rPr lang="ru-RU" sz="2800" b="1" dirty="0" smtClean="0">
                <a:solidFill>
                  <a:srgbClr val="002060"/>
                </a:solidFill>
              </a:rPr>
              <a:t>2. Сельская телефонная сеть</a:t>
            </a:r>
            <a:r>
              <a:rPr lang="ru-RU" sz="2800" dirty="0" smtClean="0">
                <a:solidFill>
                  <a:srgbClr val="002060"/>
                </a:solidFill>
              </a:rPr>
              <a:t> 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805264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 smtClean="0"/>
              <a:t>Сельская телефонная сеть (СТС) </a:t>
            </a:r>
            <a:r>
              <a:rPr lang="ru-RU" dirty="0" smtClean="0"/>
              <a:t>представляет собой совокупность:</a:t>
            </a:r>
          </a:p>
          <a:p>
            <a:pPr>
              <a:buNone/>
            </a:pPr>
            <a:r>
              <a:rPr lang="ru-RU" dirty="0" smtClean="0"/>
              <a:t>        - оконечных, узловых и центральной телефонных станций,</a:t>
            </a:r>
          </a:p>
          <a:p>
            <a:pPr>
              <a:buNone/>
            </a:pPr>
            <a:r>
              <a:rPr lang="ru-RU" dirty="0" smtClean="0"/>
              <a:t>       -  каналов и линии телефонной сети, </a:t>
            </a:r>
          </a:p>
          <a:p>
            <a:pPr>
              <a:buNone/>
            </a:pPr>
            <a:r>
              <a:rPr lang="ru-RU" dirty="0" smtClean="0"/>
              <a:t>       - оконечных абонентских устройств</a:t>
            </a:r>
          </a:p>
          <a:p>
            <a:pPr>
              <a:buNone/>
            </a:pPr>
            <a:r>
              <a:rPr lang="ru-RU" dirty="0" smtClean="0"/>
              <a:t>  и предназначена для обеспечения телефонной связью абонентов сельского района.</a:t>
            </a:r>
          </a:p>
          <a:p>
            <a:r>
              <a:rPr lang="ru-RU" dirty="0" smtClean="0"/>
              <a:t>Сельская телефонная сеть обеспечивает абонентов сельской местности телефонной связью как внутри района, так и с любыми абонентами общегосударственной автоматически коммутируемой телефонной сети.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Сельская телефонная сеть имеет ряд особенностей</a:t>
            </a:r>
            <a:r>
              <a:rPr lang="ru-RU" dirty="0" smtClean="0"/>
              <a:t>, во многом определяющих принципы ее построения.</a:t>
            </a:r>
          </a:p>
          <a:p>
            <a:r>
              <a:rPr lang="ru-RU" dirty="0" smtClean="0"/>
              <a:t> Как правило, </a:t>
            </a:r>
            <a:r>
              <a:rPr lang="ru-RU" b="1" dirty="0" smtClean="0"/>
              <a:t>СТС охватывает большую территорию с малой телефонной плотностью</a:t>
            </a:r>
            <a:r>
              <a:rPr lang="ru-RU" dirty="0" smtClean="0"/>
              <a:t>, а также неравномерным распределением абонентов по территории.</a:t>
            </a:r>
          </a:p>
          <a:p>
            <a:r>
              <a:rPr lang="ru-RU" dirty="0" smtClean="0"/>
              <a:t> В связи с этим средняя емкость сельских АТС много меньше средней емкости городских, а среднее расстояние между АТС в СТС значительно превышает среднее расстояние между районами АТС в ГТС. </a:t>
            </a:r>
          </a:p>
          <a:p>
            <a:r>
              <a:rPr lang="ru-RU" dirty="0" smtClean="0"/>
              <a:t>Среднее число соединительных линий между станциями СТС меньше, чем между станциями ГТС. </a:t>
            </a:r>
          </a:p>
          <a:p>
            <a:r>
              <a:rPr lang="ru-RU" b="1" dirty="0" smtClean="0"/>
              <a:t>В СТС различаются следующие виды станций:</a:t>
            </a:r>
          </a:p>
          <a:p>
            <a:pPr>
              <a:buNone/>
            </a:pPr>
            <a:r>
              <a:rPr lang="ru-RU" dirty="0" smtClean="0"/>
              <a:t>         – ЦС – центральная, расположенная в райцентре;</a:t>
            </a:r>
          </a:p>
          <a:p>
            <a:pPr>
              <a:buNone/>
            </a:pPr>
            <a:r>
              <a:rPr lang="ru-RU" dirty="0" smtClean="0"/>
              <a:t>        – УС – узловые, расположенные в любом из населенных пунктов сельского района с включением соединительных линий;</a:t>
            </a:r>
          </a:p>
          <a:p>
            <a:pPr>
              <a:buNone/>
            </a:pPr>
            <a:r>
              <a:rPr lang="ru-RU" dirty="0" smtClean="0"/>
              <a:t>        – ОС – оконечных станций, отнесенных к одному узловому району.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388" y="217488"/>
            <a:ext cx="8785225" cy="763587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ru-RU" sz="3600" b="1" dirty="0">
                <a:solidFill>
                  <a:srgbClr val="002060"/>
                </a:solidFill>
              </a:rPr>
              <a:t>Сельская телефонная сеть</a:t>
            </a:r>
            <a:r>
              <a:rPr lang="ru-RU" sz="3600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0" y="2619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27765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358775" y="1268760"/>
          <a:ext cx="8316913" cy="5040560"/>
        </p:xfrm>
        <a:graphic>
          <a:graphicData uri="http://schemas.openxmlformats.org/presentationml/2006/ole">
            <p:oleObj spid="_x0000_s1026" name="Visio" r:id="rId3" imgW="5824705" imgH="2439962" progId="">
              <p:embed/>
            </p:oleObj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600" b="1" dirty="0" err="1" smtClean="0">
                <a:solidFill>
                  <a:srgbClr val="002060"/>
                </a:solidFill>
              </a:rPr>
              <a:t>Зоновая</a:t>
            </a:r>
            <a:r>
              <a:rPr lang="ru-RU" sz="3600" b="1" dirty="0" smtClean="0">
                <a:solidFill>
                  <a:srgbClr val="002060"/>
                </a:solidFill>
              </a:rPr>
              <a:t> телефонная сеть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lnSpcReduction="10000"/>
          </a:bodyPr>
          <a:lstStyle/>
          <a:p>
            <a:r>
              <a:rPr lang="ru-RU" b="1" dirty="0" err="1" smtClean="0"/>
              <a:t>Зоновая</a:t>
            </a:r>
            <a:r>
              <a:rPr lang="ru-RU" b="1" dirty="0" smtClean="0"/>
              <a:t> телефонная сеть </a:t>
            </a:r>
            <a:r>
              <a:rPr lang="ru-RU" dirty="0" smtClean="0"/>
              <a:t>состоит:</a:t>
            </a:r>
          </a:p>
          <a:p>
            <a:pPr>
              <a:buNone/>
            </a:pPr>
            <a:r>
              <a:rPr lang="ru-RU" dirty="0" smtClean="0"/>
              <a:t>        -  из </a:t>
            </a:r>
            <a:r>
              <a:rPr lang="ru-RU" dirty="0" err="1" smtClean="0"/>
              <a:t>зоновых</a:t>
            </a:r>
            <a:r>
              <a:rPr lang="ru-RU" dirty="0" smtClean="0"/>
              <a:t> транзитных узлов </a:t>
            </a:r>
            <a:r>
              <a:rPr lang="ru-RU" b="1" dirty="0" smtClean="0"/>
              <a:t>(ЗТУ), </a:t>
            </a:r>
            <a:r>
              <a:rPr lang="ru-RU" dirty="0" smtClean="0"/>
              <a:t>которые обеспечивают подключение местных телефонных сетей ;</a:t>
            </a:r>
          </a:p>
          <a:p>
            <a:pPr>
              <a:buNone/>
            </a:pPr>
            <a:r>
              <a:rPr lang="ru-RU" dirty="0" smtClean="0"/>
              <a:t>      -  сетей сотовой подвижной связи в пределах одной телефонной зоны. </a:t>
            </a:r>
          </a:p>
          <a:p>
            <a:r>
              <a:rPr lang="ru-RU" b="1" dirty="0" smtClean="0"/>
              <a:t>Местные узлы связи </a:t>
            </a:r>
            <a:r>
              <a:rPr lang="ru-RU" dirty="0" smtClean="0"/>
              <a:t>подключаются к </a:t>
            </a:r>
            <a:r>
              <a:rPr lang="ru-RU" dirty="0" err="1" smtClean="0"/>
              <a:t>зоновым</a:t>
            </a:r>
            <a:r>
              <a:rPr lang="ru-RU" dirty="0" smtClean="0"/>
              <a:t> узлам с помощью:</a:t>
            </a:r>
          </a:p>
          <a:p>
            <a:pPr>
              <a:buNone/>
            </a:pPr>
            <a:r>
              <a:rPr lang="ru-RU" dirty="0" smtClean="0"/>
              <a:t>      -заказно-соединительных линий (ЗСЛ) и</a:t>
            </a:r>
          </a:p>
          <a:p>
            <a:pPr>
              <a:buNone/>
            </a:pPr>
            <a:r>
              <a:rPr lang="ru-RU" dirty="0" smtClean="0"/>
              <a:t>      - соединительных линий (СЛ).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388" y="217489"/>
            <a:ext cx="8785225" cy="619224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ru-RU" sz="4000" b="1" dirty="0" err="1" smtClean="0">
                <a:solidFill>
                  <a:srgbClr val="002060"/>
                </a:solidFill>
              </a:rPr>
              <a:t>Зоновая</a:t>
            </a:r>
            <a:r>
              <a:rPr lang="ru-RU" sz="4000" b="1" dirty="0" smtClean="0">
                <a:solidFill>
                  <a:srgbClr val="002060"/>
                </a:solidFill>
              </a:rPr>
              <a:t> телефонная  сеть</a:t>
            </a:r>
            <a:endParaRPr lang="ru-RU" sz="4000" dirty="0">
              <a:solidFill>
                <a:srgbClr val="002060"/>
              </a:solidFill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0" y="2619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2809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2773" name="Object 5"/>
          <p:cNvGraphicFramePr>
            <a:graphicFrameLocks noChangeAspect="1"/>
          </p:cNvGraphicFramePr>
          <p:nvPr/>
        </p:nvGraphicFramePr>
        <p:xfrm>
          <a:off x="0" y="1844824"/>
          <a:ext cx="9144000" cy="4248472"/>
        </p:xfrm>
        <a:graphic>
          <a:graphicData uri="http://schemas.openxmlformats.org/presentationml/2006/ole">
            <p:oleObj spid="_x0000_s7170" name="Visio" r:id="rId3" imgW="9258334" imgH="2281405" progId="">
              <p:embed/>
            </p:oleObj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Междугородная и международная сеть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2736"/>
            <a:ext cx="8507288" cy="5544616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В столице РБ располагается международная телефонная станция (</a:t>
            </a:r>
            <a:r>
              <a:rPr lang="ru-RU" dirty="0" err="1" smtClean="0"/>
              <a:t>МнТС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В каждом областном городе  РБ размещается междугородная телефонная станция(АМТС),</a:t>
            </a:r>
          </a:p>
          <a:p>
            <a:pPr>
              <a:buNone/>
            </a:pPr>
            <a:r>
              <a:rPr lang="ru-RU" dirty="0" smtClean="0"/>
              <a:t>     т.о. их шесть.</a:t>
            </a:r>
          </a:p>
          <a:p>
            <a:r>
              <a:rPr lang="ru-RU" dirty="0" smtClean="0"/>
              <a:t>Каждая АМТС связана с </a:t>
            </a:r>
            <a:r>
              <a:rPr lang="ru-RU" dirty="0" err="1" smtClean="0"/>
              <a:t>МнТС</a:t>
            </a:r>
            <a:r>
              <a:rPr lang="ru-RU" dirty="0" smtClean="0"/>
              <a:t>.</a:t>
            </a:r>
          </a:p>
          <a:p>
            <a:r>
              <a:rPr lang="ru-RU" dirty="0" smtClean="0"/>
              <a:t>АМТС обеспечивает:</a:t>
            </a:r>
          </a:p>
          <a:p>
            <a:pPr>
              <a:buNone/>
            </a:pPr>
            <a:r>
              <a:rPr lang="ru-RU" dirty="0" smtClean="0"/>
              <a:t>     - связь между городами страны ;</a:t>
            </a:r>
          </a:p>
          <a:p>
            <a:pPr>
              <a:buNone/>
            </a:pPr>
            <a:r>
              <a:rPr lang="ru-RU" dirty="0" smtClean="0"/>
              <a:t>      - выход на интеллектуальную платформу;</a:t>
            </a:r>
          </a:p>
          <a:p>
            <a:pPr>
              <a:buNone/>
            </a:pPr>
            <a:r>
              <a:rPr lang="ru-RU" dirty="0" smtClean="0"/>
              <a:t>      -связь между операторами сотовой связи;</a:t>
            </a:r>
          </a:p>
          <a:p>
            <a:pPr>
              <a:buNone/>
            </a:pPr>
            <a:r>
              <a:rPr lang="ru-RU" dirty="0" smtClean="0"/>
              <a:t>      - выход на международную станцию.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ru-RU" dirty="0" smtClean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388" y="217488"/>
            <a:ext cx="8785225" cy="763587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ru-RU" sz="3600" b="1" dirty="0">
                <a:solidFill>
                  <a:srgbClr val="002060"/>
                </a:solidFill>
              </a:rPr>
              <a:t>Междугородная связь (1)</a:t>
            </a:r>
            <a:r>
              <a:rPr lang="ru-RU" sz="3600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0" y="2619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19526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576263" y="1196975"/>
          <a:ext cx="7812087" cy="5197475"/>
        </p:xfrm>
        <a:graphic>
          <a:graphicData uri="http://schemas.openxmlformats.org/presentationml/2006/ole">
            <p:oleObj spid="_x0000_s8194" name="Visio" r:id="rId3" imgW="6581151" imgH="4362454" progId="">
              <p:embed/>
            </p:oleObj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2"/>
          <p:cNvSpPr>
            <a:spLocks noChangeShapeType="1"/>
          </p:cNvSpPr>
          <p:nvPr/>
        </p:nvSpPr>
        <p:spPr bwMode="auto">
          <a:xfrm flipV="1">
            <a:off x="6084888" y="2997200"/>
            <a:ext cx="142875" cy="17272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23" name="Line 3"/>
          <p:cNvSpPr>
            <a:spLocks noChangeShapeType="1"/>
          </p:cNvSpPr>
          <p:nvPr/>
        </p:nvSpPr>
        <p:spPr bwMode="auto">
          <a:xfrm flipH="1" flipV="1">
            <a:off x="2916238" y="2995613"/>
            <a:ext cx="142875" cy="17287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24" name="Oval 4"/>
          <p:cNvSpPr>
            <a:spLocks noChangeArrowheads="1"/>
          </p:cNvSpPr>
          <p:nvPr/>
        </p:nvSpPr>
        <p:spPr bwMode="auto">
          <a:xfrm>
            <a:off x="2914650" y="2492375"/>
            <a:ext cx="3313113" cy="1152525"/>
          </a:xfrm>
          <a:prstGeom prst="ellips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ru-RU"/>
          </a:p>
        </p:txBody>
      </p:sp>
      <p:pic>
        <p:nvPicPr>
          <p:cNvPr id="30725" name="Picture 5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771775" y="4364038"/>
            <a:ext cx="3600450" cy="1152525"/>
          </a:xfrm>
          <a:noFill/>
        </p:spPr>
      </p:pic>
      <p:sp>
        <p:nvSpPr>
          <p:cNvPr id="570374" name="Rectangle 6"/>
          <p:cNvSpPr>
            <a:spLocks noGrp="1" noChangeArrowheads="1"/>
          </p:cNvSpPr>
          <p:nvPr>
            <p:ph type="title"/>
          </p:nvPr>
        </p:nvSpPr>
        <p:spPr>
          <a:xfrm>
            <a:off x="1403350" y="188913"/>
            <a:ext cx="7705725" cy="5762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u-RU" altLang="ko-KR" sz="4000" b="1" dirty="0" smtClean="0">
                <a:solidFill>
                  <a:srgbClr val="002060"/>
                </a:solidFill>
              </a:rPr>
              <a:t>Междугородная связь(2)</a:t>
            </a:r>
            <a:endParaRPr lang="ru-RU" altLang="ru-RU" sz="4000" b="1" dirty="0" smtClean="0">
              <a:solidFill>
                <a:srgbClr val="002060"/>
              </a:solidFill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319588" y="2205038"/>
            <a:ext cx="504825" cy="454025"/>
            <a:chOff x="910" y="531"/>
            <a:chExt cx="379" cy="341"/>
          </a:xfrm>
        </p:grpSpPr>
        <p:sp>
          <p:nvSpPr>
            <p:cNvPr id="30839" name="Freeform 10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solidFill>
              <a:srgbClr val="74B8B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40" name="Oval 11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solidFill>
              <a:srgbClr val="74B8B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sp>
        <p:nvSpPr>
          <p:cNvPr id="30730" name="Text Box 12"/>
          <p:cNvSpPr txBox="1">
            <a:spLocks noChangeArrowheads="1"/>
          </p:cNvSpPr>
          <p:nvPr/>
        </p:nvSpPr>
        <p:spPr bwMode="auto">
          <a:xfrm>
            <a:off x="4287838" y="1844675"/>
            <a:ext cx="5667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ru-RU" altLang="ru-RU" sz="1400">
                <a:solidFill>
                  <a:srgbClr val="000000"/>
                </a:solidFill>
                <a:cs typeface="Arial" charset="0"/>
              </a:rPr>
              <a:t>МЦК</a:t>
            </a:r>
            <a:endParaRPr lang="en-US" altLang="ru-RU" sz="14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30731" name="Line 13"/>
          <p:cNvSpPr>
            <a:spLocks noChangeShapeType="1"/>
          </p:cNvSpPr>
          <p:nvPr/>
        </p:nvSpPr>
        <p:spPr bwMode="auto">
          <a:xfrm flipH="1" flipV="1">
            <a:off x="1835150" y="2132013"/>
            <a:ext cx="1223963" cy="25923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32" name="Line 14"/>
          <p:cNvSpPr>
            <a:spLocks noChangeShapeType="1"/>
          </p:cNvSpPr>
          <p:nvPr/>
        </p:nvSpPr>
        <p:spPr bwMode="auto">
          <a:xfrm flipH="1" flipV="1">
            <a:off x="1547813" y="2924175"/>
            <a:ext cx="1511300" cy="180022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33" name="Line 15"/>
          <p:cNvSpPr>
            <a:spLocks noChangeShapeType="1"/>
          </p:cNvSpPr>
          <p:nvPr/>
        </p:nvSpPr>
        <p:spPr bwMode="auto">
          <a:xfrm flipH="1" flipV="1">
            <a:off x="1619250" y="4005263"/>
            <a:ext cx="1439863" cy="71913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34" name="Line 16"/>
          <p:cNvSpPr>
            <a:spLocks noChangeShapeType="1"/>
          </p:cNvSpPr>
          <p:nvPr/>
        </p:nvSpPr>
        <p:spPr bwMode="auto">
          <a:xfrm flipH="1">
            <a:off x="1835150" y="4724400"/>
            <a:ext cx="1223963" cy="14605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35" name="Line 17"/>
          <p:cNvSpPr>
            <a:spLocks noChangeShapeType="1"/>
          </p:cNvSpPr>
          <p:nvPr/>
        </p:nvSpPr>
        <p:spPr bwMode="auto">
          <a:xfrm flipH="1" flipV="1">
            <a:off x="1835150" y="2132013"/>
            <a:ext cx="1081088" cy="8651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36" name="Line 18"/>
          <p:cNvSpPr>
            <a:spLocks noChangeShapeType="1"/>
          </p:cNvSpPr>
          <p:nvPr/>
        </p:nvSpPr>
        <p:spPr bwMode="auto">
          <a:xfrm flipH="1" flipV="1">
            <a:off x="1619250" y="2997200"/>
            <a:ext cx="1296988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37" name="Line 19"/>
          <p:cNvSpPr>
            <a:spLocks noChangeShapeType="1"/>
          </p:cNvSpPr>
          <p:nvPr/>
        </p:nvSpPr>
        <p:spPr bwMode="auto">
          <a:xfrm flipH="1">
            <a:off x="1619250" y="2997200"/>
            <a:ext cx="1296988" cy="1008063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38" name="Line 20"/>
          <p:cNvSpPr>
            <a:spLocks noChangeShapeType="1"/>
          </p:cNvSpPr>
          <p:nvPr/>
        </p:nvSpPr>
        <p:spPr bwMode="auto">
          <a:xfrm flipH="1">
            <a:off x="1835150" y="2997200"/>
            <a:ext cx="1081088" cy="1871663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1619250" y="1844675"/>
            <a:ext cx="504825" cy="454025"/>
            <a:chOff x="910" y="531"/>
            <a:chExt cx="379" cy="341"/>
          </a:xfrm>
        </p:grpSpPr>
        <p:sp>
          <p:nvSpPr>
            <p:cNvPr id="30837" name="Freeform 22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solidFill>
              <a:srgbClr val="74B8B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38" name="Oval 23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solidFill>
              <a:srgbClr val="74B8B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2700338" y="2708275"/>
            <a:ext cx="504825" cy="454025"/>
            <a:chOff x="910" y="531"/>
            <a:chExt cx="379" cy="341"/>
          </a:xfrm>
        </p:grpSpPr>
        <p:sp>
          <p:nvSpPr>
            <p:cNvPr id="30835" name="Freeform 25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solidFill>
              <a:srgbClr val="74B8B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36" name="Oval 26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solidFill>
              <a:srgbClr val="74B8B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1331913" y="2636838"/>
            <a:ext cx="504825" cy="454025"/>
            <a:chOff x="910" y="531"/>
            <a:chExt cx="379" cy="341"/>
          </a:xfrm>
        </p:grpSpPr>
        <p:sp>
          <p:nvSpPr>
            <p:cNvPr id="30833" name="Freeform 28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solidFill>
              <a:srgbClr val="74B8B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34" name="Oval 29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solidFill>
              <a:srgbClr val="74B8B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1403350" y="3716338"/>
            <a:ext cx="504825" cy="454025"/>
            <a:chOff x="910" y="531"/>
            <a:chExt cx="379" cy="341"/>
          </a:xfrm>
        </p:grpSpPr>
        <p:sp>
          <p:nvSpPr>
            <p:cNvPr id="30831" name="Freeform 31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solidFill>
              <a:srgbClr val="74B8B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32" name="Oval 32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solidFill>
              <a:srgbClr val="74B8B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1619250" y="4581525"/>
            <a:ext cx="504825" cy="454025"/>
            <a:chOff x="910" y="531"/>
            <a:chExt cx="379" cy="341"/>
          </a:xfrm>
        </p:grpSpPr>
        <p:sp>
          <p:nvSpPr>
            <p:cNvPr id="30829" name="Freeform 34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solidFill>
              <a:srgbClr val="74B8B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30" name="Oval 35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solidFill>
              <a:srgbClr val="74B8B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grpSp>
        <p:nvGrpSpPr>
          <p:cNvPr id="8" name="Group 36"/>
          <p:cNvGrpSpPr>
            <a:grpSpLocks/>
          </p:cNvGrpSpPr>
          <p:nvPr/>
        </p:nvGrpSpPr>
        <p:grpSpPr bwMode="auto">
          <a:xfrm>
            <a:off x="2843213" y="4508500"/>
            <a:ext cx="381000" cy="385763"/>
            <a:chOff x="3321" y="2659"/>
            <a:chExt cx="155" cy="157"/>
          </a:xfrm>
        </p:grpSpPr>
        <p:sp>
          <p:nvSpPr>
            <p:cNvPr id="30808" name="Freeform 37"/>
            <p:cNvSpPr>
              <a:spLocks/>
            </p:cNvSpPr>
            <p:nvPr/>
          </p:nvSpPr>
          <p:spPr bwMode="auto">
            <a:xfrm>
              <a:off x="3322" y="2766"/>
              <a:ext cx="153" cy="50"/>
            </a:xfrm>
            <a:custGeom>
              <a:avLst/>
              <a:gdLst>
                <a:gd name="T0" fmla="*/ 152 w 153"/>
                <a:gd name="T1" fmla="*/ 27 h 50"/>
                <a:gd name="T2" fmla="*/ 150 w 153"/>
                <a:gd name="T3" fmla="*/ 31 h 50"/>
                <a:gd name="T4" fmla="*/ 147 w 153"/>
                <a:gd name="T5" fmla="*/ 34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5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49 h 50"/>
                <a:gd name="T20" fmla="*/ 76 w 153"/>
                <a:gd name="T21" fmla="*/ 50 h 50"/>
                <a:gd name="T22" fmla="*/ 64 w 153"/>
                <a:gd name="T23" fmla="*/ 49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5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4 h 50"/>
                <a:gd name="T38" fmla="*/ 2 w 153"/>
                <a:gd name="T39" fmla="*/ 31 h 50"/>
                <a:gd name="T40" fmla="*/ 0 w 153"/>
                <a:gd name="T41" fmla="*/ 27 h 50"/>
                <a:gd name="T42" fmla="*/ 0 w 153"/>
                <a:gd name="T43" fmla="*/ 23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1 h 50"/>
                <a:gd name="T60" fmla="*/ 61 w 153"/>
                <a:gd name="T61" fmla="*/ 0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3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7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7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3"/>
                  </a:lnTo>
                  <a:lnTo>
                    <a:pt x="147" y="34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2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5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49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49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5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2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4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3"/>
                  </a:lnTo>
                  <a:lnTo>
                    <a:pt x="40" y="3"/>
                  </a:lnTo>
                  <a:lnTo>
                    <a:pt x="43" y="2"/>
                  </a:lnTo>
                  <a:lnTo>
                    <a:pt x="46" y="2"/>
                  </a:lnTo>
                  <a:lnTo>
                    <a:pt x="50" y="1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1"/>
                  </a:lnTo>
                  <a:lnTo>
                    <a:pt x="106" y="2"/>
                  </a:lnTo>
                  <a:lnTo>
                    <a:pt x="109" y="2"/>
                  </a:lnTo>
                  <a:lnTo>
                    <a:pt x="113" y="3"/>
                  </a:lnTo>
                  <a:lnTo>
                    <a:pt x="116" y="3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6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7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3"/>
                  </a:lnTo>
                  <a:lnTo>
                    <a:pt x="153" y="25"/>
                  </a:lnTo>
                  <a:close/>
                </a:path>
              </a:pathLst>
            </a:custGeom>
            <a:solidFill>
              <a:srgbClr val="0078A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09" name="Freeform 38"/>
            <p:cNvSpPr>
              <a:spLocks/>
            </p:cNvSpPr>
            <p:nvPr/>
          </p:nvSpPr>
          <p:spPr bwMode="auto">
            <a:xfrm>
              <a:off x="3322" y="2766"/>
              <a:ext cx="153" cy="50"/>
            </a:xfrm>
            <a:custGeom>
              <a:avLst/>
              <a:gdLst>
                <a:gd name="T0" fmla="*/ 152 w 153"/>
                <a:gd name="T1" fmla="*/ 27 h 50"/>
                <a:gd name="T2" fmla="*/ 150 w 153"/>
                <a:gd name="T3" fmla="*/ 31 h 50"/>
                <a:gd name="T4" fmla="*/ 147 w 153"/>
                <a:gd name="T5" fmla="*/ 34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5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49 h 50"/>
                <a:gd name="T20" fmla="*/ 76 w 153"/>
                <a:gd name="T21" fmla="*/ 50 h 50"/>
                <a:gd name="T22" fmla="*/ 64 w 153"/>
                <a:gd name="T23" fmla="*/ 49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5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4 h 50"/>
                <a:gd name="T38" fmla="*/ 2 w 153"/>
                <a:gd name="T39" fmla="*/ 31 h 50"/>
                <a:gd name="T40" fmla="*/ 0 w 153"/>
                <a:gd name="T41" fmla="*/ 27 h 50"/>
                <a:gd name="T42" fmla="*/ 0 w 153"/>
                <a:gd name="T43" fmla="*/ 23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1 h 50"/>
                <a:gd name="T60" fmla="*/ 61 w 153"/>
                <a:gd name="T61" fmla="*/ 0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3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7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7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3"/>
                  </a:lnTo>
                  <a:lnTo>
                    <a:pt x="147" y="34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2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5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49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49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5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2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4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3"/>
                  </a:lnTo>
                  <a:lnTo>
                    <a:pt x="40" y="3"/>
                  </a:lnTo>
                  <a:lnTo>
                    <a:pt x="43" y="2"/>
                  </a:lnTo>
                  <a:lnTo>
                    <a:pt x="46" y="2"/>
                  </a:lnTo>
                  <a:lnTo>
                    <a:pt x="50" y="1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1"/>
                  </a:lnTo>
                  <a:lnTo>
                    <a:pt x="106" y="2"/>
                  </a:lnTo>
                  <a:lnTo>
                    <a:pt x="109" y="2"/>
                  </a:lnTo>
                  <a:lnTo>
                    <a:pt x="113" y="3"/>
                  </a:lnTo>
                  <a:lnTo>
                    <a:pt x="116" y="3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6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7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3"/>
                  </a:lnTo>
                  <a:lnTo>
                    <a:pt x="153" y="25"/>
                  </a:lnTo>
                </a:path>
              </a:pathLst>
            </a:custGeom>
            <a:noFill/>
            <a:ln w="0">
              <a:solidFill>
                <a:srgbClr val="ADD7E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10" name="Rectangle 39"/>
            <p:cNvSpPr>
              <a:spLocks noChangeArrowheads="1"/>
            </p:cNvSpPr>
            <p:nvPr/>
          </p:nvSpPr>
          <p:spPr bwMode="auto">
            <a:xfrm>
              <a:off x="3321" y="2685"/>
              <a:ext cx="154" cy="106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30811" name="Freeform 40"/>
            <p:cNvSpPr>
              <a:spLocks/>
            </p:cNvSpPr>
            <p:nvPr/>
          </p:nvSpPr>
          <p:spPr bwMode="auto">
            <a:xfrm>
              <a:off x="3322" y="2659"/>
              <a:ext cx="153" cy="50"/>
            </a:xfrm>
            <a:custGeom>
              <a:avLst/>
              <a:gdLst>
                <a:gd name="T0" fmla="*/ 152 w 153"/>
                <a:gd name="T1" fmla="*/ 28 h 50"/>
                <a:gd name="T2" fmla="*/ 150 w 153"/>
                <a:gd name="T3" fmla="*/ 31 h 50"/>
                <a:gd name="T4" fmla="*/ 147 w 153"/>
                <a:gd name="T5" fmla="*/ 35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6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50 h 50"/>
                <a:gd name="T20" fmla="*/ 76 w 153"/>
                <a:gd name="T21" fmla="*/ 50 h 50"/>
                <a:gd name="T22" fmla="*/ 64 w 153"/>
                <a:gd name="T23" fmla="*/ 50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6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5 h 50"/>
                <a:gd name="T38" fmla="*/ 2 w 153"/>
                <a:gd name="T39" fmla="*/ 31 h 50"/>
                <a:gd name="T40" fmla="*/ 0 w 153"/>
                <a:gd name="T41" fmla="*/ 28 h 50"/>
                <a:gd name="T42" fmla="*/ 0 w 153"/>
                <a:gd name="T43" fmla="*/ 24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2 h 50"/>
                <a:gd name="T60" fmla="*/ 61 w 153"/>
                <a:gd name="T61" fmla="*/ 1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4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8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8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4"/>
                  </a:lnTo>
                  <a:lnTo>
                    <a:pt x="147" y="35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3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6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50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50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6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3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8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7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4"/>
                  </a:lnTo>
                  <a:lnTo>
                    <a:pt x="40" y="3"/>
                  </a:lnTo>
                  <a:lnTo>
                    <a:pt x="43" y="3"/>
                  </a:lnTo>
                  <a:lnTo>
                    <a:pt x="46" y="2"/>
                  </a:lnTo>
                  <a:lnTo>
                    <a:pt x="50" y="2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1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1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2"/>
                  </a:lnTo>
                  <a:lnTo>
                    <a:pt x="106" y="2"/>
                  </a:lnTo>
                  <a:lnTo>
                    <a:pt x="109" y="3"/>
                  </a:lnTo>
                  <a:lnTo>
                    <a:pt x="113" y="3"/>
                  </a:lnTo>
                  <a:lnTo>
                    <a:pt x="116" y="4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7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8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4"/>
                  </a:lnTo>
                  <a:lnTo>
                    <a:pt x="153" y="25"/>
                  </a:lnTo>
                  <a:close/>
                </a:path>
              </a:pathLst>
            </a:custGeom>
            <a:solidFill>
              <a:srgbClr val="3CAF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12" name="Freeform 41"/>
            <p:cNvSpPr>
              <a:spLocks/>
            </p:cNvSpPr>
            <p:nvPr/>
          </p:nvSpPr>
          <p:spPr bwMode="auto">
            <a:xfrm>
              <a:off x="3322" y="2659"/>
              <a:ext cx="153" cy="50"/>
            </a:xfrm>
            <a:custGeom>
              <a:avLst/>
              <a:gdLst>
                <a:gd name="T0" fmla="*/ 152 w 153"/>
                <a:gd name="T1" fmla="*/ 28 h 50"/>
                <a:gd name="T2" fmla="*/ 150 w 153"/>
                <a:gd name="T3" fmla="*/ 31 h 50"/>
                <a:gd name="T4" fmla="*/ 147 w 153"/>
                <a:gd name="T5" fmla="*/ 35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6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50 h 50"/>
                <a:gd name="T20" fmla="*/ 76 w 153"/>
                <a:gd name="T21" fmla="*/ 50 h 50"/>
                <a:gd name="T22" fmla="*/ 64 w 153"/>
                <a:gd name="T23" fmla="*/ 50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6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5 h 50"/>
                <a:gd name="T38" fmla="*/ 2 w 153"/>
                <a:gd name="T39" fmla="*/ 31 h 50"/>
                <a:gd name="T40" fmla="*/ 0 w 153"/>
                <a:gd name="T41" fmla="*/ 28 h 50"/>
                <a:gd name="T42" fmla="*/ 0 w 153"/>
                <a:gd name="T43" fmla="*/ 24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2 h 50"/>
                <a:gd name="T60" fmla="*/ 61 w 153"/>
                <a:gd name="T61" fmla="*/ 1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4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8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8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4"/>
                  </a:lnTo>
                  <a:lnTo>
                    <a:pt x="147" y="35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3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6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50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50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6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3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8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7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4"/>
                  </a:lnTo>
                  <a:lnTo>
                    <a:pt x="40" y="3"/>
                  </a:lnTo>
                  <a:lnTo>
                    <a:pt x="43" y="3"/>
                  </a:lnTo>
                  <a:lnTo>
                    <a:pt x="46" y="2"/>
                  </a:lnTo>
                  <a:lnTo>
                    <a:pt x="50" y="2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1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1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2"/>
                  </a:lnTo>
                  <a:lnTo>
                    <a:pt x="106" y="2"/>
                  </a:lnTo>
                  <a:lnTo>
                    <a:pt x="109" y="3"/>
                  </a:lnTo>
                  <a:lnTo>
                    <a:pt x="113" y="3"/>
                  </a:lnTo>
                  <a:lnTo>
                    <a:pt x="116" y="4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7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8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4"/>
                  </a:lnTo>
                  <a:lnTo>
                    <a:pt x="153" y="25"/>
                  </a:lnTo>
                </a:path>
              </a:pathLst>
            </a:custGeom>
            <a:noFill/>
            <a:ln w="0">
              <a:solidFill>
                <a:srgbClr val="ADD7E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13" name="Freeform 42"/>
            <p:cNvSpPr>
              <a:spLocks/>
            </p:cNvSpPr>
            <p:nvPr/>
          </p:nvSpPr>
          <p:spPr bwMode="auto">
            <a:xfrm>
              <a:off x="3400" y="2666"/>
              <a:ext cx="50" cy="16"/>
            </a:xfrm>
            <a:custGeom>
              <a:avLst/>
              <a:gdLst>
                <a:gd name="T0" fmla="*/ 0 w 50"/>
                <a:gd name="T1" fmla="*/ 12 h 16"/>
                <a:gd name="T2" fmla="*/ 11 w 50"/>
                <a:gd name="T3" fmla="*/ 16 h 16"/>
                <a:gd name="T4" fmla="*/ 38 w 50"/>
                <a:gd name="T5" fmla="*/ 6 h 16"/>
                <a:gd name="T6" fmla="*/ 50 w 50"/>
                <a:gd name="T7" fmla="*/ 9 h 16"/>
                <a:gd name="T8" fmla="*/ 44 w 50"/>
                <a:gd name="T9" fmla="*/ 0 h 16"/>
                <a:gd name="T10" fmla="*/ 12 w 50"/>
                <a:gd name="T11" fmla="*/ 0 h 16"/>
                <a:gd name="T12" fmla="*/ 25 w 50"/>
                <a:gd name="T13" fmla="*/ 3 h 16"/>
                <a:gd name="T14" fmla="*/ 0 w 50"/>
                <a:gd name="T15" fmla="*/ 12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12"/>
                  </a:moveTo>
                  <a:lnTo>
                    <a:pt x="11" y="16"/>
                  </a:lnTo>
                  <a:lnTo>
                    <a:pt x="38" y="6"/>
                  </a:lnTo>
                  <a:lnTo>
                    <a:pt x="50" y="9"/>
                  </a:lnTo>
                  <a:lnTo>
                    <a:pt x="44" y="0"/>
                  </a:lnTo>
                  <a:lnTo>
                    <a:pt x="12" y="0"/>
                  </a:lnTo>
                  <a:lnTo>
                    <a:pt x="25" y="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14" name="Freeform 43"/>
            <p:cNvSpPr>
              <a:spLocks/>
            </p:cNvSpPr>
            <p:nvPr/>
          </p:nvSpPr>
          <p:spPr bwMode="auto">
            <a:xfrm>
              <a:off x="3345" y="2685"/>
              <a:ext cx="50" cy="16"/>
            </a:xfrm>
            <a:custGeom>
              <a:avLst/>
              <a:gdLst>
                <a:gd name="T0" fmla="*/ 50 w 50"/>
                <a:gd name="T1" fmla="*/ 4 h 16"/>
                <a:gd name="T2" fmla="*/ 39 w 50"/>
                <a:gd name="T3" fmla="*/ 0 h 16"/>
                <a:gd name="T4" fmla="*/ 12 w 50"/>
                <a:gd name="T5" fmla="*/ 10 h 16"/>
                <a:gd name="T6" fmla="*/ 0 w 50"/>
                <a:gd name="T7" fmla="*/ 7 h 16"/>
                <a:gd name="T8" fmla="*/ 7 w 50"/>
                <a:gd name="T9" fmla="*/ 16 h 16"/>
                <a:gd name="T10" fmla="*/ 39 w 50"/>
                <a:gd name="T11" fmla="*/ 16 h 16"/>
                <a:gd name="T12" fmla="*/ 25 w 50"/>
                <a:gd name="T13" fmla="*/ 13 h 16"/>
                <a:gd name="T14" fmla="*/ 5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50" y="4"/>
                  </a:moveTo>
                  <a:lnTo>
                    <a:pt x="39" y="0"/>
                  </a:lnTo>
                  <a:lnTo>
                    <a:pt x="12" y="10"/>
                  </a:lnTo>
                  <a:lnTo>
                    <a:pt x="0" y="7"/>
                  </a:lnTo>
                  <a:lnTo>
                    <a:pt x="7" y="16"/>
                  </a:lnTo>
                  <a:lnTo>
                    <a:pt x="39" y="16"/>
                  </a:lnTo>
                  <a:lnTo>
                    <a:pt x="25" y="13"/>
                  </a:lnTo>
                  <a:lnTo>
                    <a:pt x="50" y="4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15" name="Freeform 44"/>
            <p:cNvSpPr>
              <a:spLocks/>
            </p:cNvSpPr>
            <p:nvPr/>
          </p:nvSpPr>
          <p:spPr bwMode="auto">
            <a:xfrm>
              <a:off x="3348" y="2665"/>
              <a:ext cx="50" cy="17"/>
            </a:xfrm>
            <a:custGeom>
              <a:avLst/>
              <a:gdLst>
                <a:gd name="T0" fmla="*/ 0 w 50"/>
                <a:gd name="T1" fmla="*/ 4 h 17"/>
                <a:gd name="T2" fmla="*/ 11 w 50"/>
                <a:gd name="T3" fmla="*/ 0 h 17"/>
                <a:gd name="T4" fmla="*/ 38 w 50"/>
                <a:gd name="T5" fmla="*/ 10 h 17"/>
                <a:gd name="T6" fmla="*/ 50 w 50"/>
                <a:gd name="T7" fmla="*/ 8 h 17"/>
                <a:gd name="T8" fmla="*/ 44 w 50"/>
                <a:gd name="T9" fmla="*/ 17 h 17"/>
                <a:gd name="T10" fmla="*/ 11 w 50"/>
                <a:gd name="T11" fmla="*/ 17 h 17"/>
                <a:gd name="T12" fmla="*/ 25 w 50"/>
                <a:gd name="T13" fmla="*/ 13 h 17"/>
                <a:gd name="T14" fmla="*/ 0 w 50"/>
                <a:gd name="T15" fmla="*/ 4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7"/>
                <a:gd name="T26" fmla="*/ 50 w 50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7">
                  <a:moveTo>
                    <a:pt x="0" y="4"/>
                  </a:moveTo>
                  <a:lnTo>
                    <a:pt x="11" y="0"/>
                  </a:lnTo>
                  <a:lnTo>
                    <a:pt x="38" y="10"/>
                  </a:lnTo>
                  <a:lnTo>
                    <a:pt x="50" y="8"/>
                  </a:lnTo>
                  <a:lnTo>
                    <a:pt x="44" y="17"/>
                  </a:lnTo>
                  <a:lnTo>
                    <a:pt x="11" y="17"/>
                  </a:lnTo>
                  <a:lnTo>
                    <a:pt x="25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16" name="Freeform 45"/>
            <p:cNvSpPr>
              <a:spLocks/>
            </p:cNvSpPr>
            <p:nvPr/>
          </p:nvSpPr>
          <p:spPr bwMode="auto">
            <a:xfrm>
              <a:off x="3398" y="2686"/>
              <a:ext cx="51" cy="16"/>
            </a:xfrm>
            <a:custGeom>
              <a:avLst/>
              <a:gdLst>
                <a:gd name="T0" fmla="*/ 51 w 51"/>
                <a:gd name="T1" fmla="*/ 13 h 16"/>
                <a:gd name="T2" fmla="*/ 40 w 51"/>
                <a:gd name="T3" fmla="*/ 16 h 16"/>
                <a:gd name="T4" fmla="*/ 13 w 51"/>
                <a:gd name="T5" fmla="*/ 6 h 16"/>
                <a:gd name="T6" fmla="*/ 0 w 51"/>
                <a:gd name="T7" fmla="*/ 9 h 16"/>
                <a:gd name="T8" fmla="*/ 7 w 51"/>
                <a:gd name="T9" fmla="*/ 0 h 16"/>
                <a:gd name="T10" fmla="*/ 39 w 51"/>
                <a:gd name="T11" fmla="*/ 0 h 16"/>
                <a:gd name="T12" fmla="*/ 26 w 51"/>
                <a:gd name="T13" fmla="*/ 3 h 16"/>
                <a:gd name="T14" fmla="*/ 51 w 51"/>
                <a:gd name="T15" fmla="*/ 13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1"/>
                <a:gd name="T25" fmla="*/ 0 h 16"/>
                <a:gd name="T26" fmla="*/ 51 w 51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1" h="16">
                  <a:moveTo>
                    <a:pt x="51" y="13"/>
                  </a:moveTo>
                  <a:lnTo>
                    <a:pt x="40" y="16"/>
                  </a:lnTo>
                  <a:lnTo>
                    <a:pt x="13" y="6"/>
                  </a:lnTo>
                  <a:lnTo>
                    <a:pt x="0" y="9"/>
                  </a:lnTo>
                  <a:lnTo>
                    <a:pt x="7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51" y="13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17" name="Freeform 46"/>
            <p:cNvSpPr>
              <a:spLocks/>
            </p:cNvSpPr>
            <p:nvPr/>
          </p:nvSpPr>
          <p:spPr bwMode="auto">
            <a:xfrm>
              <a:off x="3401" y="2667"/>
              <a:ext cx="50" cy="16"/>
            </a:xfrm>
            <a:custGeom>
              <a:avLst/>
              <a:gdLst>
                <a:gd name="T0" fmla="*/ 0 w 50"/>
                <a:gd name="T1" fmla="*/ 12 h 16"/>
                <a:gd name="T2" fmla="*/ 11 w 50"/>
                <a:gd name="T3" fmla="*/ 16 h 16"/>
                <a:gd name="T4" fmla="*/ 38 w 50"/>
                <a:gd name="T5" fmla="*/ 6 h 16"/>
                <a:gd name="T6" fmla="*/ 50 w 50"/>
                <a:gd name="T7" fmla="*/ 9 h 16"/>
                <a:gd name="T8" fmla="*/ 44 w 50"/>
                <a:gd name="T9" fmla="*/ 0 h 16"/>
                <a:gd name="T10" fmla="*/ 12 w 50"/>
                <a:gd name="T11" fmla="*/ 0 h 16"/>
                <a:gd name="T12" fmla="*/ 25 w 50"/>
                <a:gd name="T13" fmla="*/ 3 h 16"/>
                <a:gd name="T14" fmla="*/ 0 w 50"/>
                <a:gd name="T15" fmla="*/ 12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12"/>
                  </a:moveTo>
                  <a:lnTo>
                    <a:pt x="11" y="16"/>
                  </a:lnTo>
                  <a:lnTo>
                    <a:pt x="38" y="6"/>
                  </a:lnTo>
                  <a:lnTo>
                    <a:pt x="50" y="9"/>
                  </a:lnTo>
                  <a:lnTo>
                    <a:pt x="44" y="0"/>
                  </a:lnTo>
                  <a:lnTo>
                    <a:pt x="12" y="0"/>
                  </a:lnTo>
                  <a:lnTo>
                    <a:pt x="25" y="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18" name="Freeform 47"/>
            <p:cNvSpPr>
              <a:spLocks/>
            </p:cNvSpPr>
            <p:nvPr/>
          </p:nvSpPr>
          <p:spPr bwMode="auto">
            <a:xfrm>
              <a:off x="3346" y="2686"/>
              <a:ext cx="50" cy="16"/>
            </a:xfrm>
            <a:custGeom>
              <a:avLst/>
              <a:gdLst>
                <a:gd name="T0" fmla="*/ 50 w 50"/>
                <a:gd name="T1" fmla="*/ 4 h 16"/>
                <a:gd name="T2" fmla="*/ 39 w 50"/>
                <a:gd name="T3" fmla="*/ 0 h 16"/>
                <a:gd name="T4" fmla="*/ 12 w 50"/>
                <a:gd name="T5" fmla="*/ 10 h 16"/>
                <a:gd name="T6" fmla="*/ 0 w 50"/>
                <a:gd name="T7" fmla="*/ 7 h 16"/>
                <a:gd name="T8" fmla="*/ 7 w 50"/>
                <a:gd name="T9" fmla="*/ 16 h 16"/>
                <a:gd name="T10" fmla="*/ 39 w 50"/>
                <a:gd name="T11" fmla="*/ 16 h 16"/>
                <a:gd name="T12" fmla="*/ 25 w 50"/>
                <a:gd name="T13" fmla="*/ 13 h 16"/>
                <a:gd name="T14" fmla="*/ 5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50" y="4"/>
                  </a:moveTo>
                  <a:lnTo>
                    <a:pt x="39" y="0"/>
                  </a:lnTo>
                  <a:lnTo>
                    <a:pt x="12" y="10"/>
                  </a:lnTo>
                  <a:lnTo>
                    <a:pt x="0" y="7"/>
                  </a:lnTo>
                  <a:lnTo>
                    <a:pt x="7" y="16"/>
                  </a:lnTo>
                  <a:lnTo>
                    <a:pt x="39" y="16"/>
                  </a:lnTo>
                  <a:lnTo>
                    <a:pt x="25" y="13"/>
                  </a:lnTo>
                  <a:lnTo>
                    <a:pt x="5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19" name="Freeform 48"/>
            <p:cNvSpPr>
              <a:spLocks/>
            </p:cNvSpPr>
            <p:nvPr/>
          </p:nvSpPr>
          <p:spPr bwMode="auto">
            <a:xfrm>
              <a:off x="3349" y="2666"/>
              <a:ext cx="50" cy="16"/>
            </a:xfrm>
            <a:custGeom>
              <a:avLst/>
              <a:gdLst>
                <a:gd name="T0" fmla="*/ 0 w 50"/>
                <a:gd name="T1" fmla="*/ 4 h 16"/>
                <a:gd name="T2" fmla="*/ 11 w 50"/>
                <a:gd name="T3" fmla="*/ 0 h 16"/>
                <a:gd name="T4" fmla="*/ 38 w 50"/>
                <a:gd name="T5" fmla="*/ 10 h 16"/>
                <a:gd name="T6" fmla="*/ 50 w 50"/>
                <a:gd name="T7" fmla="*/ 7 h 16"/>
                <a:gd name="T8" fmla="*/ 44 w 50"/>
                <a:gd name="T9" fmla="*/ 16 h 16"/>
                <a:gd name="T10" fmla="*/ 11 w 50"/>
                <a:gd name="T11" fmla="*/ 16 h 16"/>
                <a:gd name="T12" fmla="*/ 25 w 50"/>
                <a:gd name="T13" fmla="*/ 13 h 16"/>
                <a:gd name="T14" fmla="*/ 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4"/>
                  </a:moveTo>
                  <a:lnTo>
                    <a:pt x="11" y="0"/>
                  </a:lnTo>
                  <a:lnTo>
                    <a:pt x="38" y="10"/>
                  </a:lnTo>
                  <a:lnTo>
                    <a:pt x="50" y="7"/>
                  </a:lnTo>
                  <a:lnTo>
                    <a:pt x="44" y="16"/>
                  </a:lnTo>
                  <a:lnTo>
                    <a:pt x="11" y="16"/>
                  </a:lnTo>
                  <a:lnTo>
                    <a:pt x="25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20" name="Freeform 49"/>
            <p:cNvSpPr>
              <a:spLocks/>
            </p:cNvSpPr>
            <p:nvPr/>
          </p:nvSpPr>
          <p:spPr bwMode="auto">
            <a:xfrm>
              <a:off x="3399" y="2687"/>
              <a:ext cx="51" cy="16"/>
            </a:xfrm>
            <a:custGeom>
              <a:avLst/>
              <a:gdLst>
                <a:gd name="T0" fmla="*/ 51 w 51"/>
                <a:gd name="T1" fmla="*/ 13 h 16"/>
                <a:gd name="T2" fmla="*/ 39 w 51"/>
                <a:gd name="T3" fmla="*/ 16 h 16"/>
                <a:gd name="T4" fmla="*/ 13 w 51"/>
                <a:gd name="T5" fmla="*/ 6 h 16"/>
                <a:gd name="T6" fmla="*/ 0 w 51"/>
                <a:gd name="T7" fmla="*/ 9 h 16"/>
                <a:gd name="T8" fmla="*/ 7 w 51"/>
                <a:gd name="T9" fmla="*/ 0 h 16"/>
                <a:gd name="T10" fmla="*/ 39 w 51"/>
                <a:gd name="T11" fmla="*/ 0 h 16"/>
                <a:gd name="T12" fmla="*/ 26 w 51"/>
                <a:gd name="T13" fmla="*/ 3 h 16"/>
                <a:gd name="T14" fmla="*/ 51 w 51"/>
                <a:gd name="T15" fmla="*/ 13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1"/>
                <a:gd name="T25" fmla="*/ 0 h 16"/>
                <a:gd name="T26" fmla="*/ 51 w 51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1" h="16">
                  <a:moveTo>
                    <a:pt x="51" y="13"/>
                  </a:moveTo>
                  <a:lnTo>
                    <a:pt x="39" y="16"/>
                  </a:lnTo>
                  <a:lnTo>
                    <a:pt x="13" y="6"/>
                  </a:lnTo>
                  <a:lnTo>
                    <a:pt x="0" y="9"/>
                  </a:lnTo>
                  <a:lnTo>
                    <a:pt x="7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51" y="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21" name="Line 50"/>
            <p:cNvSpPr>
              <a:spLocks noChangeShapeType="1"/>
            </p:cNvSpPr>
            <p:nvPr/>
          </p:nvSpPr>
          <p:spPr bwMode="auto">
            <a:xfrm>
              <a:off x="3322" y="2684"/>
              <a:ext cx="1" cy="107"/>
            </a:xfrm>
            <a:prstGeom prst="line">
              <a:avLst/>
            </a:prstGeom>
            <a:noFill/>
            <a:ln w="0">
              <a:solidFill>
                <a:srgbClr val="ADD7E7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22" name="Line 51"/>
            <p:cNvSpPr>
              <a:spLocks noChangeShapeType="1"/>
            </p:cNvSpPr>
            <p:nvPr/>
          </p:nvSpPr>
          <p:spPr bwMode="auto">
            <a:xfrm>
              <a:off x="3475" y="2684"/>
              <a:ext cx="1" cy="107"/>
            </a:xfrm>
            <a:prstGeom prst="line">
              <a:avLst/>
            </a:prstGeom>
            <a:noFill/>
            <a:ln w="0">
              <a:solidFill>
                <a:srgbClr val="ADD7E7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23" name="Freeform 52"/>
            <p:cNvSpPr>
              <a:spLocks/>
            </p:cNvSpPr>
            <p:nvPr/>
          </p:nvSpPr>
          <p:spPr bwMode="auto">
            <a:xfrm>
              <a:off x="3339" y="2713"/>
              <a:ext cx="117" cy="90"/>
            </a:xfrm>
            <a:custGeom>
              <a:avLst/>
              <a:gdLst>
                <a:gd name="T0" fmla="*/ 17 w 117"/>
                <a:gd name="T1" fmla="*/ 0 h 90"/>
                <a:gd name="T2" fmla="*/ 17 w 117"/>
                <a:gd name="T3" fmla="*/ 11 h 90"/>
                <a:gd name="T4" fmla="*/ 44 w 117"/>
                <a:gd name="T5" fmla="*/ 11 h 90"/>
                <a:gd name="T6" fmla="*/ 58 w 117"/>
                <a:gd name="T7" fmla="*/ 35 h 90"/>
                <a:gd name="T8" fmla="*/ 73 w 117"/>
                <a:gd name="T9" fmla="*/ 11 h 90"/>
                <a:gd name="T10" fmla="*/ 100 w 117"/>
                <a:gd name="T11" fmla="*/ 11 h 90"/>
                <a:gd name="T12" fmla="*/ 100 w 117"/>
                <a:gd name="T13" fmla="*/ 0 h 90"/>
                <a:gd name="T14" fmla="*/ 117 w 117"/>
                <a:gd name="T15" fmla="*/ 14 h 90"/>
                <a:gd name="T16" fmla="*/ 100 w 117"/>
                <a:gd name="T17" fmla="*/ 28 h 90"/>
                <a:gd name="T18" fmla="*/ 100 w 117"/>
                <a:gd name="T19" fmla="*/ 18 h 90"/>
                <a:gd name="T20" fmla="*/ 81 w 117"/>
                <a:gd name="T21" fmla="*/ 18 h 90"/>
                <a:gd name="T22" fmla="*/ 64 w 117"/>
                <a:gd name="T23" fmla="*/ 45 h 90"/>
                <a:gd name="T24" fmla="*/ 81 w 117"/>
                <a:gd name="T25" fmla="*/ 72 h 90"/>
                <a:gd name="T26" fmla="*/ 100 w 117"/>
                <a:gd name="T27" fmla="*/ 72 h 90"/>
                <a:gd name="T28" fmla="*/ 100 w 117"/>
                <a:gd name="T29" fmla="*/ 62 h 90"/>
                <a:gd name="T30" fmla="*/ 117 w 117"/>
                <a:gd name="T31" fmla="*/ 76 h 90"/>
                <a:gd name="T32" fmla="*/ 100 w 117"/>
                <a:gd name="T33" fmla="*/ 90 h 90"/>
                <a:gd name="T34" fmla="*/ 100 w 117"/>
                <a:gd name="T35" fmla="*/ 80 h 90"/>
                <a:gd name="T36" fmla="*/ 73 w 117"/>
                <a:gd name="T37" fmla="*/ 80 h 90"/>
                <a:gd name="T38" fmla="*/ 58 w 117"/>
                <a:gd name="T39" fmla="*/ 55 h 90"/>
                <a:gd name="T40" fmla="*/ 44 w 117"/>
                <a:gd name="T41" fmla="*/ 80 h 90"/>
                <a:gd name="T42" fmla="*/ 17 w 117"/>
                <a:gd name="T43" fmla="*/ 80 h 90"/>
                <a:gd name="T44" fmla="*/ 17 w 117"/>
                <a:gd name="T45" fmla="*/ 90 h 90"/>
                <a:gd name="T46" fmla="*/ 0 w 117"/>
                <a:gd name="T47" fmla="*/ 76 h 90"/>
                <a:gd name="T48" fmla="*/ 17 w 117"/>
                <a:gd name="T49" fmla="*/ 62 h 90"/>
                <a:gd name="T50" fmla="*/ 17 w 117"/>
                <a:gd name="T51" fmla="*/ 72 h 90"/>
                <a:gd name="T52" fmla="*/ 36 w 117"/>
                <a:gd name="T53" fmla="*/ 72 h 90"/>
                <a:gd name="T54" fmla="*/ 52 w 117"/>
                <a:gd name="T55" fmla="*/ 45 h 90"/>
                <a:gd name="T56" fmla="*/ 36 w 117"/>
                <a:gd name="T57" fmla="*/ 18 h 90"/>
                <a:gd name="T58" fmla="*/ 17 w 117"/>
                <a:gd name="T59" fmla="*/ 18 h 90"/>
                <a:gd name="T60" fmla="*/ 17 w 117"/>
                <a:gd name="T61" fmla="*/ 27 h 90"/>
                <a:gd name="T62" fmla="*/ 0 w 117"/>
                <a:gd name="T63" fmla="*/ 14 h 90"/>
                <a:gd name="T64" fmla="*/ 17 w 117"/>
                <a:gd name="T65" fmla="*/ 0 h 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"/>
                <a:gd name="T100" fmla="*/ 0 h 90"/>
                <a:gd name="T101" fmla="*/ 117 w 117"/>
                <a:gd name="T102" fmla="*/ 90 h 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" h="90">
                  <a:moveTo>
                    <a:pt x="17" y="0"/>
                  </a:moveTo>
                  <a:lnTo>
                    <a:pt x="17" y="11"/>
                  </a:lnTo>
                  <a:lnTo>
                    <a:pt x="44" y="11"/>
                  </a:lnTo>
                  <a:lnTo>
                    <a:pt x="58" y="35"/>
                  </a:lnTo>
                  <a:lnTo>
                    <a:pt x="73" y="11"/>
                  </a:lnTo>
                  <a:lnTo>
                    <a:pt x="100" y="11"/>
                  </a:lnTo>
                  <a:lnTo>
                    <a:pt x="100" y="0"/>
                  </a:lnTo>
                  <a:lnTo>
                    <a:pt x="117" y="14"/>
                  </a:lnTo>
                  <a:lnTo>
                    <a:pt x="100" y="28"/>
                  </a:lnTo>
                  <a:lnTo>
                    <a:pt x="100" y="18"/>
                  </a:lnTo>
                  <a:lnTo>
                    <a:pt x="81" y="18"/>
                  </a:lnTo>
                  <a:lnTo>
                    <a:pt x="64" y="45"/>
                  </a:lnTo>
                  <a:lnTo>
                    <a:pt x="81" y="72"/>
                  </a:lnTo>
                  <a:lnTo>
                    <a:pt x="100" y="72"/>
                  </a:lnTo>
                  <a:lnTo>
                    <a:pt x="100" y="62"/>
                  </a:lnTo>
                  <a:lnTo>
                    <a:pt x="117" y="76"/>
                  </a:lnTo>
                  <a:lnTo>
                    <a:pt x="100" y="90"/>
                  </a:lnTo>
                  <a:lnTo>
                    <a:pt x="100" y="80"/>
                  </a:lnTo>
                  <a:lnTo>
                    <a:pt x="73" y="80"/>
                  </a:lnTo>
                  <a:lnTo>
                    <a:pt x="58" y="55"/>
                  </a:lnTo>
                  <a:lnTo>
                    <a:pt x="44" y="80"/>
                  </a:lnTo>
                  <a:lnTo>
                    <a:pt x="17" y="80"/>
                  </a:lnTo>
                  <a:lnTo>
                    <a:pt x="17" y="90"/>
                  </a:lnTo>
                  <a:lnTo>
                    <a:pt x="0" y="76"/>
                  </a:lnTo>
                  <a:lnTo>
                    <a:pt x="17" y="62"/>
                  </a:lnTo>
                  <a:lnTo>
                    <a:pt x="17" y="72"/>
                  </a:lnTo>
                  <a:lnTo>
                    <a:pt x="36" y="72"/>
                  </a:lnTo>
                  <a:lnTo>
                    <a:pt x="52" y="45"/>
                  </a:lnTo>
                  <a:lnTo>
                    <a:pt x="36" y="18"/>
                  </a:lnTo>
                  <a:lnTo>
                    <a:pt x="17" y="18"/>
                  </a:lnTo>
                  <a:lnTo>
                    <a:pt x="17" y="27"/>
                  </a:lnTo>
                  <a:lnTo>
                    <a:pt x="0" y="14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24" name="Freeform 53"/>
            <p:cNvSpPr>
              <a:spLocks/>
            </p:cNvSpPr>
            <p:nvPr/>
          </p:nvSpPr>
          <p:spPr bwMode="auto">
            <a:xfrm>
              <a:off x="3340" y="2714"/>
              <a:ext cx="117" cy="90"/>
            </a:xfrm>
            <a:custGeom>
              <a:avLst/>
              <a:gdLst>
                <a:gd name="T0" fmla="*/ 17 w 117"/>
                <a:gd name="T1" fmla="*/ 0 h 90"/>
                <a:gd name="T2" fmla="*/ 17 w 117"/>
                <a:gd name="T3" fmla="*/ 10 h 90"/>
                <a:gd name="T4" fmla="*/ 44 w 117"/>
                <a:gd name="T5" fmla="*/ 10 h 90"/>
                <a:gd name="T6" fmla="*/ 58 w 117"/>
                <a:gd name="T7" fmla="*/ 35 h 90"/>
                <a:gd name="T8" fmla="*/ 73 w 117"/>
                <a:gd name="T9" fmla="*/ 11 h 90"/>
                <a:gd name="T10" fmla="*/ 100 w 117"/>
                <a:gd name="T11" fmla="*/ 11 h 90"/>
                <a:gd name="T12" fmla="*/ 100 w 117"/>
                <a:gd name="T13" fmla="*/ 0 h 90"/>
                <a:gd name="T14" fmla="*/ 117 w 117"/>
                <a:gd name="T15" fmla="*/ 14 h 90"/>
                <a:gd name="T16" fmla="*/ 100 w 117"/>
                <a:gd name="T17" fmla="*/ 27 h 90"/>
                <a:gd name="T18" fmla="*/ 100 w 117"/>
                <a:gd name="T19" fmla="*/ 18 h 90"/>
                <a:gd name="T20" fmla="*/ 81 w 117"/>
                <a:gd name="T21" fmla="*/ 18 h 90"/>
                <a:gd name="T22" fmla="*/ 64 w 117"/>
                <a:gd name="T23" fmla="*/ 45 h 90"/>
                <a:gd name="T24" fmla="*/ 81 w 117"/>
                <a:gd name="T25" fmla="*/ 72 h 90"/>
                <a:gd name="T26" fmla="*/ 100 w 117"/>
                <a:gd name="T27" fmla="*/ 72 h 90"/>
                <a:gd name="T28" fmla="*/ 100 w 117"/>
                <a:gd name="T29" fmla="*/ 62 h 90"/>
                <a:gd name="T30" fmla="*/ 117 w 117"/>
                <a:gd name="T31" fmla="*/ 76 h 90"/>
                <a:gd name="T32" fmla="*/ 100 w 117"/>
                <a:gd name="T33" fmla="*/ 90 h 90"/>
                <a:gd name="T34" fmla="*/ 100 w 117"/>
                <a:gd name="T35" fmla="*/ 80 h 90"/>
                <a:gd name="T36" fmla="*/ 73 w 117"/>
                <a:gd name="T37" fmla="*/ 80 h 90"/>
                <a:gd name="T38" fmla="*/ 58 w 117"/>
                <a:gd name="T39" fmla="*/ 55 h 90"/>
                <a:gd name="T40" fmla="*/ 44 w 117"/>
                <a:gd name="T41" fmla="*/ 80 h 90"/>
                <a:gd name="T42" fmla="*/ 17 w 117"/>
                <a:gd name="T43" fmla="*/ 80 h 90"/>
                <a:gd name="T44" fmla="*/ 17 w 117"/>
                <a:gd name="T45" fmla="*/ 90 h 90"/>
                <a:gd name="T46" fmla="*/ 0 w 117"/>
                <a:gd name="T47" fmla="*/ 76 h 90"/>
                <a:gd name="T48" fmla="*/ 17 w 117"/>
                <a:gd name="T49" fmla="*/ 62 h 90"/>
                <a:gd name="T50" fmla="*/ 17 w 117"/>
                <a:gd name="T51" fmla="*/ 72 h 90"/>
                <a:gd name="T52" fmla="*/ 36 w 117"/>
                <a:gd name="T53" fmla="*/ 72 h 90"/>
                <a:gd name="T54" fmla="*/ 52 w 117"/>
                <a:gd name="T55" fmla="*/ 45 h 90"/>
                <a:gd name="T56" fmla="*/ 36 w 117"/>
                <a:gd name="T57" fmla="*/ 18 h 90"/>
                <a:gd name="T58" fmla="*/ 17 w 117"/>
                <a:gd name="T59" fmla="*/ 18 h 90"/>
                <a:gd name="T60" fmla="*/ 17 w 117"/>
                <a:gd name="T61" fmla="*/ 27 h 90"/>
                <a:gd name="T62" fmla="*/ 0 w 117"/>
                <a:gd name="T63" fmla="*/ 13 h 90"/>
                <a:gd name="T64" fmla="*/ 17 w 117"/>
                <a:gd name="T65" fmla="*/ 0 h 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"/>
                <a:gd name="T100" fmla="*/ 0 h 90"/>
                <a:gd name="T101" fmla="*/ 117 w 117"/>
                <a:gd name="T102" fmla="*/ 90 h 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" h="90">
                  <a:moveTo>
                    <a:pt x="17" y="0"/>
                  </a:moveTo>
                  <a:lnTo>
                    <a:pt x="17" y="10"/>
                  </a:lnTo>
                  <a:lnTo>
                    <a:pt x="44" y="10"/>
                  </a:lnTo>
                  <a:lnTo>
                    <a:pt x="58" y="35"/>
                  </a:lnTo>
                  <a:lnTo>
                    <a:pt x="73" y="11"/>
                  </a:lnTo>
                  <a:lnTo>
                    <a:pt x="100" y="11"/>
                  </a:lnTo>
                  <a:lnTo>
                    <a:pt x="100" y="0"/>
                  </a:lnTo>
                  <a:lnTo>
                    <a:pt x="117" y="14"/>
                  </a:lnTo>
                  <a:lnTo>
                    <a:pt x="100" y="27"/>
                  </a:lnTo>
                  <a:lnTo>
                    <a:pt x="100" y="18"/>
                  </a:lnTo>
                  <a:lnTo>
                    <a:pt x="81" y="18"/>
                  </a:lnTo>
                  <a:lnTo>
                    <a:pt x="64" y="45"/>
                  </a:lnTo>
                  <a:lnTo>
                    <a:pt x="81" y="72"/>
                  </a:lnTo>
                  <a:lnTo>
                    <a:pt x="100" y="72"/>
                  </a:lnTo>
                  <a:lnTo>
                    <a:pt x="100" y="62"/>
                  </a:lnTo>
                  <a:lnTo>
                    <a:pt x="117" y="76"/>
                  </a:lnTo>
                  <a:lnTo>
                    <a:pt x="100" y="90"/>
                  </a:lnTo>
                  <a:lnTo>
                    <a:pt x="100" y="80"/>
                  </a:lnTo>
                  <a:lnTo>
                    <a:pt x="73" y="80"/>
                  </a:lnTo>
                  <a:lnTo>
                    <a:pt x="58" y="55"/>
                  </a:lnTo>
                  <a:lnTo>
                    <a:pt x="44" y="80"/>
                  </a:lnTo>
                  <a:lnTo>
                    <a:pt x="17" y="80"/>
                  </a:lnTo>
                  <a:lnTo>
                    <a:pt x="17" y="90"/>
                  </a:lnTo>
                  <a:lnTo>
                    <a:pt x="0" y="76"/>
                  </a:lnTo>
                  <a:lnTo>
                    <a:pt x="17" y="62"/>
                  </a:lnTo>
                  <a:lnTo>
                    <a:pt x="17" y="72"/>
                  </a:lnTo>
                  <a:lnTo>
                    <a:pt x="36" y="72"/>
                  </a:lnTo>
                  <a:lnTo>
                    <a:pt x="52" y="45"/>
                  </a:lnTo>
                  <a:lnTo>
                    <a:pt x="36" y="18"/>
                  </a:lnTo>
                  <a:lnTo>
                    <a:pt x="17" y="18"/>
                  </a:lnTo>
                  <a:lnTo>
                    <a:pt x="17" y="27"/>
                  </a:lnTo>
                  <a:lnTo>
                    <a:pt x="0" y="1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25" name="Rectangle 54"/>
            <p:cNvSpPr>
              <a:spLocks noChangeArrowheads="1"/>
            </p:cNvSpPr>
            <p:nvPr/>
          </p:nvSpPr>
          <p:spPr bwMode="auto">
            <a:xfrm>
              <a:off x="3433" y="2740"/>
              <a:ext cx="38" cy="35"/>
            </a:xfrm>
            <a:prstGeom prst="rect">
              <a:avLst/>
            </a:prstGeom>
            <a:solidFill>
              <a:srgbClr val="07608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30826" name="Rectangle 55"/>
            <p:cNvSpPr>
              <a:spLocks noChangeArrowheads="1"/>
            </p:cNvSpPr>
            <p:nvPr/>
          </p:nvSpPr>
          <p:spPr bwMode="auto">
            <a:xfrm>
              <a:off x="3433" y="2740"/>
              <a:ext cx="38" cy="35"/>
            </a:xfrm>
            <a:prstGeom prst="rect">
              <a:avLst/>
            </a:prstGeom>
            <a:noFill/>
            <a:ln w="0">
              <a:solidFill>
                <a:srgbClr val="ADD7E7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30827" name="Freeform 56"/>
            <p:cNvSpPr>
              <a:spLocks/>
            </p:cNvSpPr>
            <p:nvPr/>
          </p:nvSpPr>
          <p:spPr bwMode="auto">
            <a:xfrm>
              <a:off x="3441" y="2748"/>
              <a:ext cx="23" cy="21"/>
            </a:xfrm>
            <a:custGeom>
              <a:avLst/>
              <a:gdLst>
                <a:gd name="T0" fmla="*/ 0 w 23"/>
                <a:gd name="T1" fmla="*/ 0 h 21"/>
                <a:gd name="T2" fmla="*/ 5 w 23"/>
                <a:gd name="T3" fmla="*/ 0 h 21"/>
                <a:gd name="T4" fmla="*/ 11 w 23"/>
                <a:gd name="T5" fmla="*/ 13 h 21"/>
                <a:gd name="T6" fmla="*/ 17 w 23"/>
                <a:gd name="T7" fmla="*/ 0 h 21"/>
                <a:gd name="T8" fmla="*/ 23 w 23"/>
                <a:gd name="T9" fmla="*/ 0 h 21"/>
                <a:gd name="T10" fmla="*/ 14 w 23"/>
                <a:gd name="T11" fmla="*/ 21 h 21"/>
                <a:gd name="T12" fmla="*/ 9 w 23"/>
                <a:gd name="T13" fmla="*/ 21 h 21"/>
                <a:gd name="T14" fmla="*/ 0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21"/>
                <a:gd name="T26" fmla="*/ 23 w 23"/>
                <a:gd name="T27" fmla="*/ 21 h 2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21">
                  <a:moveTo>
                    <a:pt x="0" y="0"/>
                  </a:moveTo>
                  <a:lnTo>
                    <a:pt x="5" y="0"/>
                  </a:lnTo>
                  <a:lnTo>
                    <a:pt x="11" y="13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14" y="21"/>
                  </a:lnTo>
                  <a:lnTo>
                    <a:pt x="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28" name="Freeform 57"/>
            <p:cNvSpPr>
              <a:spLocks/>
            </p:cNvSpPr>
            <p:nvPr/>
          </p:nvSpPr>
          <p:spPr bwMode="auto">
            <a:xfrm>
              <a:off x="3440" y="2747"/>
              <a:ext cx="23" cy="21"/>
            </a:xfrm>
            <a:custGeom>
              <a:avLst/>
              <a:gdLst>
                <a:gd name="T0" fmla="*/ 0 w 23"/>
                <a:gd name="T1" fmla="*/ 0 h 21"/>
                <a:gd name="T2" fmla="*/ 5 w 23"/>
                <a:gd name="T3" fmla="*/ 0 h 21"/>
                <a:gd name="T4" fmla="*/ 11 w 23"/>
                <a:gd name="T5" fmla="*/ 13 h 21"/>
                <a:gd name="T6" fmla="*/ 17 w 23"/>
                <a:gd name="T7" fmla="*/ 0 h 21"/>
                <a:gd name="T8" fmla="*/ 23 w 23"/>
                <a:gd name="T9" fmla="*/ 0 h 21"/>
                <a:gd name="T10" fmla="*/ 14 w 23"/>
                <a:gd name="T11" fmla="*/ 21 h 21"/>
                <a:gd name="T12" fmla="*/ 9 w 23"/>
                <a:gd name="T13" fmla="*/ 21 h 21"/>
                <a:gd name="T14" fmla="*/ 0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21"/>
                <a:gd name="T26" fmla="*/ 23 w 23"/>
                <a:gd name="T27" fmla="*/ 21 h 2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21">
                  <a:moveTo>
                    <a:pt x="0" y="0"/>
                  </a:moveTo>
                  <a:lnTo>
                    <a:pt x="5" y="0"/>
                  </a:lnTo>
                  <a:lnTo>
                    <a:pt x="11" y="13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14" y="21"/>
                  </a:lnTo>
                  <a:lnTo>
                    <a:pt x="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0745" name="Text Box 58"/>
          <p:cNvSpPr txBox="1">
            <a:spLocks noChangeArrowheads="1"/>
          </p:cNvSpPr>
          <p:nvPr/>
        </p:nvSpPr>
        <p:spPr bwMode="auto">
          <a:xfrm>
            <a:off x="3132138" y="2852738"/>
            <a:ext cx="687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ru-RU" altLang="ru-RU" sz="1400">
                <a:solidFill>
                  <a:srgbClr val="000000"/>
                </a:solidFill>
                <a:cs typeface="Arial" charset="0"/>
              </a:rPr>
              <a:t>АМТС</a:t>
            </a:r>
            <a:endParaRPr lang="en-US" altLang="ru-RU" sz="14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30746" name="Text Box 59"/>
          <p:cNvSpPr txBox="1">
            <a:spLocks noChangeArrowheads="1"/>
          </p:cNvSpPr>
          <p:nvPr/>
        </p:nvSpPr>
        <p:spPr bwMode="auto">
          <a:xfrm>
            <a:off x="1116013" y="1773238"/>
            <a:ext cx="6969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ru-RU" altLang="ru-RU" sz="1400">
                <a:solidFill>
                  <a:srgbClr val="000000"/>
                </a:solidFill>
                <a:cs typeface="Arial" charset="0"/>
              </a:rPr>
              <a:t>АТС-</a:t>
            </a:r>
            <a:r>
              <a:rPr lang="en-US" altLang="ru-RU" sz="1400">
                <a:solidFill>
                  <a:srgbClr val="000000"/>
                </a:solidFill>
                <a:cs typeface="Arial" charset="0"/>
              </a:rPr>
              <a:t>1</a:t>
            </a:r>
          </a:p>
        </p:txBody>
      </p:sp>
      <p:sp>
        <p:nvSpPr>
          <p:cNvPr id="30747" name="Text Box 60"/>
          <p:cNvSpPr txBox="1">
            <a:spLocks noChangeArrowheads="1"/>
          </p:cNvSpPr>
          <p:nvPr/>
        </p:nvSpPr>
        <p:spPr bwMode="auto">
          <a:xfrm>
            <a:off x="827088" y="2563813"/>
            <a:ext cx="6969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ru-RU" altLang="ru-RU" sz="1400">
                <a:solidFill>
                  <a:srgbClr val="000000"/>
                </a:solidFill>
                <a:cs typeface="Arial" charset="0"/>
              </a:rPr>
              <a:t>АТС-</a:t>
            </a:r>
            <a:r>
              <a:rPr lang="en-US" altLang="ru-RU" sz="1400">
                <a:solidFill>
                  <a:srgbClr val="000000"/>
                </a:solidFill>
                <a:cs typeface="Arial" charset="0"/>
              </a:rPr>
              <a:t>2</a:t>
            </a:r>
          </a:p>
        </p:txBody>
      </p:sp>
      <p:sp>
        <p:nvSpPr>
          <p:cNvPr id="30748" name="Text Box 61"/>
          <p:cNvSpPr txBox="1">
            <a:spLocks noChangeArrowheads="1"/>
          </p:cNvSpPr>
          <p:nvPr/>
        </p:nvSpPr>
        <p:spPr bwMode="auto">
          <a:xfrm>
            <a:off x="827088" y="3716338"/>
            <a:ext cx="6969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ru-RU" altLang="ru-RU" sz="1400">
                <a:solidFill>
                  <a:srgbClr val="000000"/>
                </a:solidFill>
                <a:cs typeface="Arial" charset="0"/>
              </a:rPr>
              <a:t>АТС-</a:t>
            </a:r>
            <a:r>
              <a:rPr lang="en-US" altLang="ru-RU" sz="1400">
                <a:solidFill>
                  <a:srgbClr val="000000"/>
                </a:solidFill>
                <a:cs typeface="Arial" charset="0"/>
              </a:rPr>
              <a:t>3</a:t>
            </a:r>
          </a:p>
        </p:txBody>
      </p:sp>
      <p:sp>
        <p:nvSpPr>
          <p:cNvPr id="30749" name="Text Box 62"/>
          <p:cNvSpPr txBox="1">
            <a:spLocks noChangeArrowheads="1"/>
          </p:cNvSpPr>
          <p:nvPr/>
        </p:nvSpPr>
        <p:spPr bwMode="auto">
          <a:xfrm>
            <a:off x="1042988" y="4581525"/>
            <a:ext cx="6969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ru-RU" altLang="ru-RU" sz="1400">
                <a:solidFill>
                  <a:srgbClr val="000000"/>
                </a:solidFill>
                <a:cs typeface="Arial" charset="0"/>
              </a:rPr>
              <a:t>АТС-</a:t>
            </a:r>
            <a:r>
              <a:rPr lang="en-US" altLang="ru-RU" sz="1400">
                <a:solidFill>
                  <a:srgbClr val="000000"/>
                </a:solidFill>
                <a:cs typeface="Arial" charset="0"/>
              </a:rPr>
              <a:t>4</a:t>
            </a:r>
          </a:p>
        </p:txBody>
      </p:sp>
      <p:sp>
        <p:nvSpPr>
          <p:cNvPr id="30750" name="Line 63"/>
          <p:cNvSpPr>
            <a:spLocks noChangeShapeType="1"/>
          </p:cNvSpPr>
          <p:nvPr/>
        </p:nvSpPr>
        <p:spPr bwMode="auto">
          <a:xfrm flipV="1">
            <a:off x="6105525" y="2155825"/>
            <a:ext cx="1225550" cy="25923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51" name="Line 64"/>
          <p:cNvSpPr>
            <a:spLocks noChangeShapeType="1"/>
          </p:cNvSpPr>
          <p:nvPr/>
        </p:nvSpPr>
        <p:spPr bwMode="auto">
          <a:xfrm flipV="1">
            <a:off x="6105525" y="2947988"/>
            <a:ext cx="1514475" cy="180022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52" name="Line 65"/>
          <p:cNvSpPr>
            <a:spLocks noChangeShapeType="1"/>
          </p:cNvSpPr>
          <p:nvPr/>
        </p:nvSpPr>
        <p:spPr bwMode="auto">
          <a:xfrm flipV="1">
            <a:off x="6105525" y="4029075"/>
            <a:ext cx="1443038" cy="71913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53" name="Line 66"/>
          <p:cNvSpPr>
            <a:spLocks noChangeShapeType="1"/>
          </p:cNvSpPr>
          <p:nvPr/>
        </p:nvSpPr>
        <p:spPr bwMode="auto">
          <a:xfrm>
            <a:off x="6105525" y="4748213"/>
            <a:ext cx="1225550" cy="14605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54" name="Line 67"/>
          <p:cNvSpPr>
            <a:spLocks noChangeShapeType="1"/>
          </p:cNvSpPr>
          <p:nvPr/>
        </p:nvSpPr>
        <p:spPr bwMode="auto">
          <a:xfrm flipV="1">
            <a:off x="6248400" y="2155825"/>
            <a:ext cx="1082675" cy="8651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55" name="Line 68"/>
          <p:cNvSpPr>
            <a:spLocks noChangeShapeType="1"/>
          </p:cNvSpPr>
          <p:nvPr/>
        </p:nvSpPr>
        <p:spPr bwMode="auto">
          <a:xfrm flipV="1">
            <a:off x="6248400" y="3021013"/>
            <a:ext cx="1300163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56" name="Line 69"/>
          <p:cNvSpPr>
            <a:spLocks noChangeShapeType="1"/>
          </p:cNvSpPr>
          <p:nvPr/>
        </p:nvSpPr>
        <p:spPr bwMode="auto">
          <a:xfrm>
            <a:off x="6248400" y="3021013"/>
            <a:ext cx="1300163" cy="1008062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57" name="Line 70"/>
          <p:cNvSpPr>
            <a:spLocks noChangeShapeType="1"/>
          </p:cNvSpPr>
          <p:nvPr/>
        </p:nvSpPr>
        <p:spPr bwMode="auto">
          <a:xfrm>
            <a:off x="6248400" y="3021013"/>
            <a:ext cx="1082675" cy="1871662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9" name="Group 71"/>
          <p:cNvGrpSpPr>
            <a:grpSpLocks/>
          </p:cNvGrpSpPr>
          <p:nvPr/>
        </p:nvGrpSpPr>
        <p:grpSpPr bwMode="auto">
          <a:xfrm flipH="1">
            <a:off x="7042150" y="1868488"/>
            <a:ext cx="506413" cy="454025"/>
            <a:chOff x="910" y="531"/>
            <a:chExt cx="379" cy="341"/>
          </a:xfrm>
        </p:grpSpPr>
        <p:sp>
          <p:nvSpPr>
            <p:cNvPr id="30806" name="Freeform 72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solidFill>
              <a:srgbClr val="74B8B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07" name="Oval 73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solidFill>
              <a:srgbClr val="74B8B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grpSp>
        <p:nvGrpSpPr>
          <p:cNvPr id="10" name="Group 74"/>
          <p:cNvGrpSpPr>
            <a:grpSpLocks/>
          </p:cNvGrpSpPr>
          <p:nvPr/>
        </p:nvGrpSpPr>
        <p:grpSpPr bwMode="auto">
          <a:xfrm flipH="1">
            <a:off x="5959475" y="2732088"/>
            <a:ext cx="506413" cy="454025"/>
            <a:chOff x="910" y="531"/>
            <a:chExt cx="379" cy="341"/>
          </a:xfrm>
        </p:grpSpPr>
        <p:sp>
          <p:nvSpPr>
            <p:cNvPr id="30804" name="Freeform 75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solidFill>
              <a:srgbClr val="74B8B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05" name="Oval 76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solidFill>
              <a:srgbClr val="74B8B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grpSp>
        <p:nvGrpSpPr>
          <p:cNvPr id="11" name="Group 77"/>
          <p:cNvGrpSpPr>
            <a:grpSpLocks/>
          </p:cNvGrpSpPr>
          <p:nvPr/>
        </p:nvGrpSpPr>
        <p:grpSpPr bwMode="auto">
          <a:xfrm flipH="1">
            <a:off x="7329488" y="2660650"/>
            <a:ext cx="506412" cy="454025"/>
            <a:chOff x="910" y="531"/>
            <a:chExt cx="379" cy="341"/>
          </a:xfrm>
        </p:grpSpPr>
        <p:sp>
          <p:nvSpPr>
            <p:cNvPr id="30802" name="Freeform 78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solidFill>
              <a:srgbClr val="74B8B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03" name="Oval 79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solidFill>
              <a:srgbClr val="74B8B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grpSp>
        <p:nvGrpSpPr>
          <p:cNvPr id="12" name="Group 80"/>
          <p:cNvGrpSpPr>
            <a:grpSpLocks/>
          </p:cNvGrpSpPr>
          <p:nvPr/>
        </p:nvGrpSpPr>
        <p:grpSpPr bwMode="auto">
          <a:xfrm flipH="1">
            <a:off x="7258050" y="3740150"/>
            <a:ext cx="506413" cy="454025"/>
            <a:chOff x="910" y="531"/>
            <a:chExt cx="379" cy="341"/>
          </a:xfrm>
        </p:grpSpPr>
        <p:sp>
          <p:nvSpPr>
            <p:cNvPr id="30800" name="Freeform 81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solidFill>
              <a:srgbClr val="74B8B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801" name="Oval 82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solidFill>
              <a:srgbClr val="74B8B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grpSp>
        <p:nvGrpSpPr>
          <p:cNvPr id="13" name="Group 83"/>
          <p:cNvGrpSpPr>
            <a:grpSpLocks/>
          </p:cNvGrpSpPr>
          <p:nvPr/>
        </p:nvGrpSpPr>
        <p:grpSpPr bwMode="auto">
          <a:xfrm flipH="1">
            <a:off x="7042150" y="4605338"/>
            <a:ext cx="506413" cy="454025"/>
            <a:chOff x="910" y="531"/>
            <a:chExt cx="379" cy="341"/>
          </a:xfrm>
        </p:grpSpPr>
        <p:sp>
          <p:nvSpPr>
            <p:cNvPr id="30798" name="Freeform 84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solidFill>
              <a:srgbClr val="74B8BF"/>
            </a:solidFill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99" name="Oval 85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solidFill>
              <a:srgbClr val="74B8B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grpSp>
        <p:nvGrpSpPr>
          <p:cNvPr id="14" name="Group 86"/>
          <p:cNvGrpSpPr>
            <a:grpSpLocks/>
          </p:cNvGrpSpPr>
          <p:nvPr/>
        </p:nvGrpSpPr>
        <p:grpSpPr bwMode="auto">
          <a:xfrm flipH="1">
            <a:off x="5940425" y="4532313"/>
            <a:ext cx="381000" cy="385762"/>
            <a:chOff x="3321" y="2659"/>
            <a:chExt cx="155" cy="157"/>
          </a:xfrm>
        </p:grpSpPr>
        <p:sp>
          <p:nvSpPr>
            <p:cNvPr id="30777" name="Freeform 87"/>
            <p:cNvSpPr>
              <a:spLocks/>
            </p:cNvSpPr>
            <p:nvPr/>
          </p:nvSpPr>
          <p:spPr bwMode="auto">
            <a:xfrm>
              <a:off x="3322" y="2766"/>
              <a:ext cx="153" cy="50"/>
            </a:xfrm>
            <a:custGeom>
              <a:avLst/>
              <a:gdLst>
                <a:gd name="T0" fmla="*/ 152 w 153"/>
                <a:gd name="T1" fmla="*/ 27 h 50"/>
                <a:gd name="T2" fmla="*/ 150 w 153"/>
                <a:gd name="T3" fmla="*/ 31 h 50"/>
                <a:gd name="T4" fmla="*/ 147 w 153"/>
                <a:gd name="T5" fmla="*/ 34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5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49 h 50"/>
                <a:gd name="T20" fmla="*/ 76 w 153"/>
                <a:gd name="T21" fmla="*/ 50 h 50"/>
                <a:gd name="T22" fmla="*/ 64 w 153"/>
                <a:gd name="T23" fmla="*/ 49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5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4 h 50"/>
                <a:gd name="T38" fmla="*/ 2 w 153"/>
                <a:gd name="T39" fmla="*/ 31 h 50"/>
                <a:gd name="T40" fmla="*/ 0 w 153"/>
                <a:gd name="T41" fmla="*/ 27 h 50"/>
                <a:gd name="T42" fmla="*/ 0 w 153"/>
                <a:gd name="T43" fmla="*/ 23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1 h 50"/>
                <a:gd name="T60" fmla="*/ 61 w 153"/>
                <a:gd name="T61" fmla="*/ 0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3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7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7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3"/>
                  </a:lnTo>
                  <a:lnTo>
                    <a:pt x="147" y="34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2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5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49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49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5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2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4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3"/>
                  </a:lnTo>
                  <a:lnTo>
                    <a:pt x="40" y="3"/>
                  </a:lnTo>
                  <a:lnTo>
                    <a:pt x="43" y="2"/>
                  </a:lnTo>
                  <a:lnTo>
                    <a:pt x="46" y="2"/>
                  </a:lnTo>
                  <a:lnTo>
                    <a:pt x="50" y="1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1"/>
                  </a:lnTo>
                  <a:lnTo>
                    <a:pt x="106" y="2"/>
                  </a:lnTo>
                  <a:lnTo>
                    <a:pt x="109" y="2"/>
                  </a:lnTo>
                  <a:lnTo>
                    <a:pt x="113" y="3"/>
                  </a:lnTo>
                  <a:lnTo>
                    <a:pt x="116" y="3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6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7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3"/>
                  </a:lnTo>
                  <a:lnTo>
                    <a:pt x="153" y="25"/>
                  </a:lnTo>
                  <a:close/>
                </a:path>
              </a:pathLst>
            </a:custGeom>
            <a:solidFill>
              <a:srgbClr val="0078A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78" name="Freeform 88"/>
            <p:cNvSpPr>
              <a:spLocks/>
            </p:cNvSpPr>
            <p:nvPr/>
          </p:nvSpPr>
          <p:spPr bwMode="auto">
            <a:xfrm>
              <a:off x="3322" y="2766"/>
              <a:ext cx="153" cy="50"/>
            </a:xfrm>
            <a:custGeom>
              <a:avLst/>
              <a:gdLst>
                <a:gd name="T0" fmla="*/ 152 w 153"/>
                <a:gd name="T1" fmla="*/ 27 h 50"/>
                <a:gd name="T2" fmla="*/ 150 w 153"/>
                <a:gd name="T3" fmla="*/ 31 h 50"/>
                <a:gd name="T4" fmla="*/ 147 w 153"/>
                <a:gd name="T5" fmla="*/ 34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5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49 h 50"/>
                <a:gd name="T20" fmla="*/ 76 w 153"/>
                <a:gd name="T21" fmla="*/ 50 h 50"/>
                <a:gd name="T22" fmla="*/ 64 w 153"/>
                <a:gd name="T23" fmla="*/ 49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5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4 h 50"/>
                <a:gd name="T38" fmla="*/ 2 w 153"/>
                <a:gd name="T39" fmla="*/ 31 h 50"/>
                <a:gd name="T40" fmla="*/ 0 w 153"/>
                <a:gd name="T41" fmla="*/ 27 h 50"/>
                <a:gd name="T42" fmla="*/ 0 w 153"/>
                <a:gd name="T43" fmla="*/ 23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1 h 50"/>
                <a:gd name="T60" fmla="*/ 61 w 153"/>
                <a:gd name="T61" fmla="*/ 0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3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7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7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3"/>
                  </a:lnTo>
                  <a:lnTo>
                    <a:pt x="147" y="34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2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5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49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49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5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2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4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3"/>
                  </a:lnTo>
                  <a:lnTo>
                    <a:pt x="40" y="3"/>
                  </a:lnTo>
                  <a:lnTo>
                    <a:pt x="43" y="2"/>
                  </a:lnTo>
                  <a:lnTo>
                    <a:pt x="46" y="2"/>
                  </a:lnTo>
                  <a:lnTo>
                    <a:pt x="50" y="1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1"/>
                  </a:lnTo>
                  <a:lnTo>
                    <a:pt x="106" y="2"/>
                  </a:lnTo>
                  <a:lnTo>
                    <a:pt x="109" y="2"/>
                  </a:lnTo>
                  <a:lnTo>
                    <a:pt x="113" y="3"/>
                  </a:lnTo>
                  <a:lnTo>
                    <a:pt x="116" y="3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6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7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3"/>
                  </a:lnTo>
                  <a:lnTo>
                    <a:pt x="153" y="25"/>
                  </a:lnTo>
                </a:path>
              </a:pathLst>
            </a:custGeom>
            <a:noFill/>
            <a:ln w="0">
              <a:solidFill>
                <a:srgbClr val="ADD7E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79" name="Rectangle 89"/>
            <p:cNvSpPr>
              <a:spLocks noChangeArrowheads="1"/>
            </p:cNvSpPr>
            <p:nvPr/>
          </p:nvSpPr>
          <p:spPr bwMode="auto">
            <a:xfrm>
              <a:off x="3321" y="2685"/>
              <a:ext cx="154" cy="106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30780" name="Freeform 90"/>
            <p:cNvSpPr>
              <a:spLocks/>
            </p:cNvSpPr>
            <p:nvPr/>
          </p:nvSpPr>
          <p:spPr bwMode="auto">
            <a:xfrm>
              <a:off x="3322" y="2659"/>
              <a:ext cx="153" cy="50"/>
            </a:xfrm>
            <a:custGeom>
              <a:avLst/>
              <a:gdLst>
                <a:gd name="T0" fmla="*/ 152 w 153"/>
                <a:gd name="T1" fmla="*/ 28 h 50"/>
                <a:gd name="T2" fmla="*/ 150 w 153"/>
                <a:gd name="T3" fmla="*/ 31 h 50"/>
                <a:gd name="T4" fmla="*/ 147 w 153"/>
                <a:gd name="T5" fmla="*/ 35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6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50 h 50"/>
                <a:gd name="T20" fmla="*/ 76 w 153"/>
                <a:gd name="T21" fmla="*/ 50 h 50"/>
                <a:gd name="T22" fmla="*/ 64 w 153"/>
                <a:gd name="T23" fmla="*/ 50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6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5 h 50"/>
                <a:gd name="T38" fmla="*/ 2 w 153"/>
                <a:gd name="T39" fmla="*/ 31 h 50"/>
                <a:gd name="T40" fmla="*/ 0 w 153"/>
                <a:gd name="T41" fmla="*/ 28 h 50"/>
                <a:gd name="T42" fmla="*/ 0 w 153"/>
                <a:gd name="T43" fmla="*/ 24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2 h 50"/>
                <a:gd name="T60" fmla="*/ 61 w 153"/>
                <a:gd name="T61" fmla="*/ 1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4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8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8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4"/>
                  </a:lnTo>
                  <a:lnTo>
                    <a:pt x="147" y="35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3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6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50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50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6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3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8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7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4"/>
                  </a:lnTo>
                  <a:lnTo>
                    <a:pt x="40" y="3"/>
                  </a:lnTo>
                  <a:lnTo>
                    <a:pt x="43" y="3"/>
                  </a:lnTo>
                  <a:lnTo>
                    <a:pt x="46" y="2"/>
                  </a:lnTo>
                  <a:lnTo>
                    <a:pt x="50" y="2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1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1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2"/>
                  </a:lnTo>
                  <a:lnTo>
                    <a:pt x="106" y="2"/>
                  </a:lnTo>
                  <a:lnTo>
                    <a:pt x="109" y="3"/>
                  </a:lnTo>
                  <a:lnTo>
                    <a:pt x="113" y="3"/>
                  </a:lnTo>
                  <a:lnTo>
                    <a:pt x="116" y="4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7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8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4"/>
                  </a:lnTo>
                  <a:lnTo>
                    <a:pt x="153" y="25"/>
                  </a:lnTo>
                  <a:close/>
                </a:path>
              </a:pathLst>
            </a:custGeom>
            <a:solidFill>
              <a:srgbClr val="3CAF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81" name="Freeform 91"/>
            <p:cNvSpPr>
              <a:spLocks/>
            </p:cNvSpPr>
            <p:nvPr/>
          </p:nvSpPr>
          <p:spPr bwMode="auto">
            <a:xfrm>
              <a:off x="3322" y="2659"/>
              <a:ext cx="153" cy="50"/>
            </a:xfrm>
            <a:custGeom>
              <a:avLst/>
              <a:gdLst>
                <a:gd name="T0" fmla="*/ 152 w 153"/>
                <a:gd name="T1" fmla="*/ 28 h 50"/>
                <a:gd name="T2" fmla="*/ 150 w 153"/>
                <a:gd name="T3" fmla="*/ 31 h 50"/>
                <a:gd name="T4" fmla="*/ 147 w 153"/>
                <a:gd name="T5" fmla="*/ 35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6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50 h 50"/>
                <a:gd name="T20" fmla="*/ 76 w 153"/>
                <a:gd name="T21" fmla="*/ 50 h 50"/>
                <a:gd name="T22" fmla="*/ 64 w 153"/>
                <a:gd name="T23" fmla="*/ 50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6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5 h 50"/>
                <a:gd name="T38" fmla="*/ 2 w 153"/>
                <a:gd name="T39" fmla="*/ 31 h 50"/>
                <a:gd name="T40" fmla="*/ 0 w 153"/>
                <a:gd name="T41" fmla="*/ 28 h 50"/>
                <a:gd name="T42" fmla="*/ 0 w 153"/>
                <a:gd name="T43" fmla="*/ 24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2 h 50"/>
                <a:gd name="T60" fmla="*/ 61 w 153"/>
                <a:gd name="T61" fmla="*/ 1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4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8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8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4"/>
                  </a:lnTo>
                  <a:lnTo>
                    <a:pt x="147" y="35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3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6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50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50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6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3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8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7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4"/>
                  </a:lnTo>
                  <a:lnTo>
                    <a:pt x="40" y="3"/>
                  </a:lnTo>
                  <a:lnTo>
                    <a:pt x="43" y="3"/>
                  </a:lnTo>
                  <a:lnTo>
                    <a:pt x="46" y="2"/>
                  </a:lnTo>
                  <a:lnTo>
                    <a:pt x="50" y="2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1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1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2"/>
                  </a:lnTo>
                  <a:lnTo>
                    <a:pt x="106" y="2"/>
                  </a:lnTo>
                  <a:lnTo>
                    <a:pt x="109" y="3"/>
                  </a:lnTo>
                  <a:lnTo>
                    <a:pt x="113" y="3"/>
                  </a:lnTo>
                  <a:lnTo>
                    <a:pt x="116" y="4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7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8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4"/>
                  </a:lnTo>
                  <a:lnTo>
                    <a:pt x="153" y="25"/>
                  </a:lnTo>
                </a:path>
              </a:pathLst>
            </a:custGeom>
            <a:noFill/>
            <a:ln w="0">
              <a:solidFill>
                <a:srgbClr val="ADD7E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82" name="Freeform 92"/>
            <p:cNvSpPr>
              <a:spLocks/>
            </p:cNvSpPr>
            <p:nvPr/>
          </p:nvSpPr>
          <p:spPr bwMode="auto">
            <a:xfrm>
              <a:off x="3400" y="2666"/>
              <a:ext cx="50" cy="16"/>
            </a:xfrm>
            <a:custGeom>
              <a:avLst/>
              <a:gdLst>
                <a:gd name="T0" fmla="*/ 0 w 50"/>
                <a:gd name="T1" fmla="*/ 12 h 16"/>
                <a:gd name="T2" fmla="*/ 11 w 50"/>
                <a:gd name="T3" fmla="*/ 16 h 16"/>
                <a:gd name="T4" fmla="*/ 38 w 50"/>
                <a:gd name="T5" fmla="*/ 6 h 16"/>
                <a:gd name="T6" fmla="*/ 50 w 50"/>
                <a:gd name="T7" fmla="*/ 9 h 16"/>
                <a:gd name="T8" fmla="*/ 44 w 50"/>
                <a:gd name="T9" fmla="*/ 0 h 16"/>
                <a:gd name="T10" fmla="*/ 12 w 50"/>
                <a:gd name="T11" fmla="*/ 0 h 16"/>
                <a:gd name="T12" fmla="*/ 25 w 50"/>
                <a:gd name="T13" fmla="*/ 3 h 16"/>
                <a:gd name="T14" fmla="*/ 0 w 50"/>
                <a:gd name="T15" fmla="*/ 12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12"/>
                  </a:moveTo>
                  <a:lnTo>
                    <a:pt x="11" y="16"/>
                  </a:lnTo>
                  <a:lnTo>
                    <a:pt x="38" y="6"/>
                  </a:lnTo>
                  <a:lnTo>
                    <a:pt x="50" y="9"/>
                  </a:lnTo>
                  <a:lnTo>
                    <a:pt x="44" y="0"/>
                  </a:lnTo>
                  <a:lnTo>
                    <a:pt x="12" y="0"/>
                  </a:lnTo>
                  <a:lnTo>
                    <a:pt x="25" y="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83" name="Freeform 93"/>
            <p:cNvSpPr>
              <a:spLocks/>
            </p:cNvSpPr>
            <p:nvPr/>
          </p:nvSpPr>
          <p:spPr bwMode="auto">
            <a:xfrm>
              <a:off x="3345" y="2685"/>
              <a:ext cx="50" cy="16"/>
            </a:xfrm>
            <a:custGeom>
              <a:avLst/>
              <a:gdLst>
                <a:gd name="T0" fmla="*/ 50 w 50"/>
                <a:gd name="T1" fmla="*/ 4 h 16"/>
                <a:gd name="T2" fmla="*/ 39 w 50"/>
                <a:gd name="T3" fmla="*/ 0 h 16"/>
                <a:gd name="T4" fmla="*/ 12 w 50"/>
                <a:gd name="T5" fmla="*/ 10 h 16"/>
                <a:gd name="T6" fmla="*/ 0 w 50"/>
                <a:gd name="T7" fmla="*/ 7 h 16"/>
                <a:gd name="T8" fmla="*/ 7 w 50"/>
                <a:gd name="T9" fmla="*/ 16 h 16"/>
                <a:gd name="T10" fmla="*/ 39 w 50"/>
                <a:gd name="T11" fmla="*/ 16 h 16"/>
                <a:gd name="T12" fmla="*/ 25 w 50"/>
                <a:gd name="T13" fmla="*/ 13 h 16"/>
                <a:gd name="T14" fmla="*/ 5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50" y="4"/>
                  </a:moveTo>
                  <a:lnTo>
                    <a:pt x="39" y="0"/>
                  </a:lnTo>
                  <a:lnTo>
                    <a:pt x="12" y="10"/>
                  </a:lnTo>
                  <a:lnTo>
                    <a:pt x="0" y="7"/>
                  </a:lnTo>
                  <a:lnTo>
                    <a:pt x="7" y="16"/>
                  </a:lnTo>
                  <a:lnTo>
                    <a:pt x="39" y="16"/>
                  </a:lnTo>
                  <a:lnTo>
                    <a:pt x="25" y="13"/>
                  </a:lnTo>
                  <a:lnTo>
                    <a:pt x="50" y="4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84" name="Freeform 94"/>
            <p:cNvSpPr>
              <a:spLocks/>
            </p:cNvSpPr>
            <p:nvPr/>
          </p:nvSpPr>
          <p:spPr bwMode="auto">
            <a:xfrm>
              <a:off x="3348" y="2665"/>
              <a:ext cx="50" cy="17"/>
            </a:xfrm>
            <a:custGeom>
              <a:avLst/>
              <a:gdLst>
                <a:gd name="T0" fmla="*/ 0 w 50"/>
                <a:gd name="T1" fmla="*/ 4 h 17"/>
                <a:gd name="T2" fmla="*/ 11 w 50"/>
                <a:gd name="T3" fmla="*/ 0 h 17"/>
                <a:gd name="T4" fmla="*/ 38 w 50"/>
                <a:gd name="T5" fmla="*/ 10 h 17"/>
                <a:gd name="T6" fmla="*/ 50 w 50"/>
                <a:gd name="T7" fmla="*/ 8 h 17"/>
                <a:gd name="T8" fmla="*/ 44 w 50"/>
                <a:gd name="T9" fmla="*/ 17 h 17"/>
                <a:gd name="T10" fmla="*/ 11 w 50"/>
                <a:gd name="T11" fmla="*/ 17 h 17"/>
                <a:gd name="T12" fmla="*/ 25 w 50"/>
                <a:gd name="T13" fmla="*/ 13 h 17"/>
                <a:gd name="T14" fmla="*/ 0 w 50"/>
                <a:gd name="T15" fmla="*/ 4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7"/>
                <a:gd name="T26" fmla="*/ 50 w 50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7">
                  <a:moveTo>
                    <a:pt x="0" y="4"/>
                  </a:moveTo>
                  <a:lnTo>
                    <a:pt x="11" y="0"/>
                  </a:lnTo>
                  <a:lnTo>
                    <a:pt x="38" y="10"/>
                  </a:lnTo>
                  <a:lnTo>
                    <a:pt x="50" y="8"/>
                  </a:lnTo>
                  <a:lnTo>
                    <a:pt x="44" y="17"/>
                  </a:lnTo>
                  <a:lnTo>
                    <a:pt x="11" y="17"/>
                  </a:lnTo>
                  <a:lnTo>
                    <a:pt x="25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85" name="Freeform 95"/>
            <p:cNvSpPr>
              <a:spLocks/>
            </p:cNvSpPr>
            <p:nvPr/>
          </p:nvSpPr>
          <p:spPr bwMode="auto">
            <a:xfrm>
              <a:off x="3398" y="2686"/>
              <a:ext cx="51" cy="16"/>
            </a:xfrm>
            <a:custGeom>
              <a:avLst/>
              <a:gdLst>
                <a:gd name="T0" fmla="*/ 51 w 51"/>
                <a:gd name="T1" fmla="*/ 13 h 16"/>
                <a:gd name="T2" fmla="*/ 40 w 51"/>
                <a:gd name="T3" fmla="*/ 16 h 16"/>
                <a:gd name="T4" fmla="*/ 13 w 51"/>
                <a:gd name="T5" fmla="*/ 6 h 16"/>
                <a:gd name="T6" fmla="*/ 0 w 51"/>
                <a:gd name="T7" fmla="*/ 9 h 16"/>
                <a:gd name="T8" fmla="*/ 7 w 51"/>
                <a:gd name="T9" fmla="*/ 0 h 16"/>
                <a:gd name="T10" fmla="*/ 39 w 51"/>
                <a:gd name="T11" fmla="*/ 0 h 16"/>
                <a:gd name="T12" fmla="*/ 26 w 51"/>
                <a:gd name="T13" fmla="*/ 3 h 16"/>
                <a:gd name="T14" fmla="*/ 51 w 51"/>
                <a:gd name="T15" fmla="*/ 13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1"/>
                <a:gd name="T25" fmla="*/ 0 h 16"/>
                <a:gd name="T26" fmla="*/ 51 w 51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1" h="16">
                  <a:moveTo>
                    <a:pt x="51" y="13"/>
                  </a:moveTo>
                  <a:lnTo>
                    <a:pt x="40" y="16"/>
                  </a:lnTo>
                  <a:lnTo>
                    <a:pt x="13" y="6"/>
                  </a:lnTo>
                  <a:lnTo>
                    <a:pt x="0" y="9"/>
                  </a:lnTo>
                  <a:lnTo>
                    <a:pt x="7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51" y="13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86" name="Freeform 96"/>
            <p:cNvSpPr>
              <a:spLocks/>
            </p:cNvSpPr>
            <p:nvPr/>
          </p:nvSpPr>
          <p:spPr bwMode="auto">
            <a:xfrm>
              <a:off x="3401" y="2667"/>
              <a:ext cx="50" cy="16"/>
            </a:xfrm>
            <a:custGeom>
              <a:avLst/>
              <a:gdLst>
                <a:gd name="T0" fmla="*/ 0 w 50"/>
                <a:gd name="T1" fmla="*/ 12 h 16"/>
                <a:gd name="T2" fmla="*/ 11 w 50"/>
                <a:gd name="T3" fmla="*/ 16 h 16"/>
                <a:gd name="T4" fmla="*/ 38 w 50"/>
                <a:gd name="T5" fmla="*/ 6 h 16"/>
                <a:gd name="T6" fmla="*/ 50 w 50"/>
                <a:gd name="T7" fmla="*/ 9 h 16"/>
                <a:gd name="T8" fmla="*/ 44 w 50"/>
                <a:gd name="T9" fmla="*/ 0 h 16"/>
                <a:gd name="T10" fmla="*/ 12 w 50"/>
                <a:gd name="T11" fmla="*/ 0 h 16"/>
                <a:gd name="T12" fmla="*/ 25 w 50"/>
                <a:gd name="T13" fmla="*/ 3 h 16"/>
                <a:gd name="T14" fmla="*/ 0 w 50"/>
                <a:gd name="T15" fmla="*/ 12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12"/>
                  </a:moveTo>
                  <a:lnTo>
                    <a:pt x="11" y="16"/>
                  </a:lnTo>
                  <a:lnTo>
                    <a:pt x="38" y="6"/>
                  </a:lnTo>
                  <a:lnTo>
                    <a:pt x="50" y="9"/>
                  </a:lnTo>
                  <a:lnTo>
                    <a:pt x="44" y="0"/>
                  </a:lnTo>
                  <a:lnTo>
                    <a:pt x="12" y="0"/>
                  </a:lnTo>
                  <a:lnTo>
                    <a:pt x="25" y="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87" name="Freeform 97"/>
            <p:cNvSpPr>
              <a:spLocks/>
            </p:cNvSpPr>
            <p:nvPr/>
          </p:nvSpPr>
          <p:spPr bwMode="auto">
            <a:xfrm>
              <a:off x="3346" y="2686"/>
              <a:ext cx="50" cy="16"/>
            </a:xfrm>
            <a:custGeom>
              <a:avLst/>
              <a:gdLst>
                <a:gd name="T0" fmla="*/ 50 w 50"/>
                <a:gd name="T1" fmla="*/ 4 h 16"/>
                <a:gd name="T2" fmla="*/ 39 w 50"/>
                <a:gd name="T3" fmla="*/ 0 h 16"/>
                <a:gd name="T4" fmla="*/ 12 w 50"/>
                <a:gd name="T5" fmla="*/ 10 h 16"/>
                <a:gd name="T6" fmla="*/ 0 w 50"/>
                <a:gd name="T7" fmla="*/ 7 h 16"/>
                <a:gd name="T8" fmla="*/ 7 w 50"/>
                <a:gd name="T9" fmla="*/ 16 h 16"/>
                <a:gd name="T10" fmla="*/ 39 w 50"/>
                <a:gd name="T11" fmla="*/ 16 h 16"/>
                <a:gd name="T12" fmla="*/ 25 w 50"/>
                <a:gd name="T13" fmla="*/ 13 h 16"/>
                <a:gd name="T14" fmla="*/ 5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50" y="4"/>
                  </a:moveTo>
                  <a:lnTo>
                    <a:pt x="39" y="0"/>
                  </a:lnTo>
                  <a:lnTo>
                    <a:pt x="12" y="10"/>
                  </a:lnTo>
                  <a:lnTo>
                    <a:pt x="0" y="7"/>
                  </a:lnTo>
                  <a:lnTo>
                    <a:pt x="7" y="16"/>
                  </a:lnTo>
                  <a:lnTo>
                    <a:pt x="39" y="16"/>
                  </a:lnTo>
                  <a:lnTo>
                    <a:pt x="25" y="13"/>
                  </a:lnTo>
                  <a:lnTo>
                    <a:pt x="5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88" name="Freeform 98"/>
            <p:cNvSpPr>
              <a:spLocks/>
            </p:cNvSpPr>
            <p:nvPr/>
          </p:nvSpPr>
          <p:spPr bwMode="auto">
            <a:xfrm>
              <a:off x="3349" y="2666"/>
              <a:ext cx="50" cy="16"/>
            </a:xfrm>
            <a:custGeom>
              <a:avLst/>
              <a:gdLst>
                <a:gd name="T0" fmla="*/ 0 w 50"/>
                <a:gd name="T1" fmla="*/ 4 h 16"/>
                <a:gd name="T2" fmla="*/ 11 w 50"/>
                <a:gd name="T3" fmla="*/ 0 h 16"/>
                <a:gd name="T4" fmla="*/ 38 w 50"/>
                <a:gd name="T5" fmla="*/ 10 h 16"/>
                <a:gd name="T6" fmla="*/ 50 w 50"/>
                <a:gd name="T7" fmla="*/ 7 h 16"/>
                <a:gd name="T8" fmla="*/ 44 w 50"/>
                <a:gd name="T9" fmla="*/ 16 h 16"/>
                <a:gd name="T10" fmla="*/ 11 w 50"/>
                <a:gd name="T11" fmla="*/ 16 h 16"/>
                <a:gd name="T12" fmla="*/ 25 w 50"/>
                <a:gd name="T13" fmla="*/ 13 h 16"/>
                <a:gd name="T14" fmla="*/ 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4"/>
                  </a:moveTo>
                  <a:lnTo>
                    <a:pt x="11" y="0"/>
                  </a:lnTo>
                  <a:lnTo>
                    <a:pt x="38" y="10"/>
                  </a:lnTo>
                  <a:lnTo>
                    <a:pt x="50" y="7"/>
                  </a:lnTo>
                  <a:lnTo>
                    <a:pt x="44" y="16"/>
                  </a:lnTo>
                  <a:lnTo>
                    <a:pt x="11" y="16"/>
                  </a:lnTo>
                  <a:lnTo>
                    <a:pt x="25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89" name="Freeform 99"/>
            <p:cNvSpPr>
              <a:spLocks/>
            </p:cNvSpPr>
            <p:nvPr/>
          </p:nvSpPr>
          <p:spPr bwMode="auto">
            <a:xfrm>
              <a:off x="3399" y="2687"/>
              <a:ext cx="51" cy="16"/>
            </a:xfrm>
            <a:custGeom>
              <a:avLst/>
              <a:gdLst>
                <a:gd name="T0" fmla="*/ 51 w 51"/>
                <a:gd name="T1" fmla="*/ 13 h 16"/>
                <a:gd name="T2" fmla="*/ 39 w 51"/>
                <a:gd name="T3" fmla="*/ 16 h 16"/>
                <a:gd name="T4" fmla="*/ 13 w 51"/>
                <a:gd name="T5" fmla="*/ 6 h 16"/>
                <a:gd name="T6" fmla="*/ 0 w 51"/>
                <a:gd name="T7" fmla="*/ 9 h 16"/>
                <a:gd name="T8" fmla="*/ 7 w 51"/>
                <a:gd name="T9" fmla="*/ 0 h 16"/>
                <a:gd name="T10" fmla="*/ 39 w 51"/>
                <a:gd name="T11" fmla="*/ 0 h 16"/>
                <a:gd name="T12" fmla="*/ 26 w 51"/>
                <a:gd name="T13" fmla="*/ 3 h 16"/>
                <a:gd name="T14" fmla="*/ 51 w 51"/>
                <a:gd name="T15" fmla="*/ 13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1"/>
                <a:gd name="T25" fmla="*/ 0 h 16"/>
                <a:gd name="T26" fmla="*/ 51 w 51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1" h="16">
                  <a:moveTo>
                    <a:pt x="51" y="13"/>
                  </a:moveTo>
                  <a:lnTo>
                    <a:pt x="39" y="16"/>
                  </a:lnTo>
                  <a:lnTo>
                    <a:pt x="13" y="6"/>
                  </a:lnTo>
                  <a:lnTo>
                    <a:pt x="0" y="9"/>
                  </a:lnTo>
                  <a:lnTo>
                    <a:pt x="7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51" y="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90" name="Line 100"/>
            <p:cNvSpPr>
              <a:spLocks noChangeShapeType="1"/>
            </p:cNvSpPr>
            <p:nvPr/>
          </p:nvSpPr>
          <p:spPr bwMode="auto">
            <a:xfrm>
              <a:off x="3322" y="2684"/>
              <a:ext cx="1" cy="107"/>
            </a:xfrm>
            <a:prstGeom prst="line">
              <a:avLst/>
            </a:prstGeom>
            <a:noFill/>
            <a:ln w="0">
              <a:solidFill>
                <a:srgbClr val="ADD7E7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91" name="Line 101"/>
            <p:cNvSpPr>
              <a:spLocks noChangeShapeType="1"/>
            </p:cNvSpPr>
            <p:nvPr/>
          </p:nvSpPr>
          <p:spPr bwMode="auto">
            <a:xfrm>
              <a:off x="3475" y="2684"/>
              <a:ext cx="1" cy="107"/>
            </a:xfrm>
            <a:prstGeom prst="line">
              <a:avLst/>
            </a:prstGeom>
            <a:noFill/>
            <a:ln w="0">
              <a:solidFill>
                <a:srgbClr val="ADD7E7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92" name="Freeform 102"/>
            <p:cNvSpPr>
              <a:spLocks/>
            </p:cNvSpPr>
            <p:nvPr/>
          </p:nvSpPr>
          <p:spPr bwMode="auto">
            <a:xfrm>
              <a:off x="3339" y="2713"/>
              <a:ext cx="117" cy="90"/>
            </a:xfrm>
            <a:custGeom>
              <a:avLst/>
              <a:gdLst>
                <a:gd name="T0" fmla="*/ 17 w 117"/>
                <a:gd name="T1" fmla="*/ 0 h 90"/>
                <a:gd name="T2" fmla="*/ 17 w 117"/>
                <a:gd name="T3" fmla="*/ 11 h 90"/>
                <a:gd name="T4" fmla="*/ 44 w 117"/>
                <a:gd name="T5" fmla="*/ 11 h 90"/>
                <a:gd name="T6" fmla="*/ 58 w 117"/>
                <a:gd name="T7" fmla="*/ 35 h 90"/>
                <a:gd name="T8" fmla="*/ 73 w 117"/>
                <a:gd name="T9" fmla="*/ 11 h 90"/>
                <a:gd name="T10" fmla="*/ 100 w 117"/>
                <a:gd name="T11" fmla="*/ 11 h 90"/>
                <a:gd name="T12" fmla="*/ 100 w 117"/>
                <a:gd name="T13" fmla="*/ 0 h 90"/>
                <a:gd name="T14" fmla="*/ 117 w 117"/>
                <a:gd name="T15" fmla="*/ 14 h 90"/>
                <a:gd name="T16" fmla="*/ 100 w 117"/>
                <a:gd name="T17" fmla="*/ 28 h 90"/>
                <a:gd name="T18" fmla="*/ 100 w 117"/>
                <a:gd name="T19" fmla="*/ 18 h 90"/>
                <a:gd name="T20" fmla="*/ 81 w 117"/>
                <a:gd name="T21" fmla="*/ 18 h 90"/>
                <a:gd name="T22" fmla="*/ 64 w 117"/>
                <a:gd name="T23" fmla="*/ 45 h 90"/>
                <a:gd name="T24" fmla="*/ 81 w 117"/>
                <a:gd name="T25" fmla="*/ 72 h 90"/>
                <a:gd name="T26" fmla="*/ 100 w 117"/>
                <a:gd name="T27" fmla="*/ 72 h 90"/>
                <a:gd name="T28" fmla="*/ 100 w 117"/>
                <a:gd name="T29" fmla="*/ 62 h 90"/>
                <a:gd name="T30" fmla="*/ 117 w 117"/>
                <a:gd name="T31" fmla="*/ 76 h 90"/>
                <a:gd name="T32" fmla="*/ 100 w 117"/>
                <a:gd name="T33" fmla="*/ 90 h 90"/>
                <a:gd name="T34" fmla="*/ 100 w 117"/>
                <a:gd name="T35" fmla="*/ 80 h 90"/>
                <a:gd name="T36" fmla="*/ 73 w 117"/>
                <a:gd name="T37" fmla="*/ 80 h 90"/>
                <a:gd name="T38" fmla="*/ 58 w 117"/>
                <a:gd name="T39" fmla="*/ 55 h 90"/>
                <a:gd name="T40" fmla="*/ 44 w 117"/>
                <a:gd name="T41" fmla="*/ 80 h 90"/>
                <a:gd name="T42" fmla="*/ 17 w 117"/>
                <a:gd name="T43" fmla="*/ 80 h 90"/>
                <a:gd name="T44" fmla="*/ 17 w 117"/>
                <a:gd name="T45" fmla="*/ 90 h 90"/>
                <a:gd name="T46" fmla="*/ 0 w 117"/>
                <a:gd name="T47" fmla="*/ 76 h 90"/>
                <a:gd name="T48" fmla="*/ 17 w 117"/>
                <a:gd name="T49" fmla="*/ 62 h 90"/>
                <a:gd name="T50" fmla="*/ 17 w 117"/>
                <a:gd name="T51" fmla="*/ 72 h 90"/>
                <a:gd name="T52" fmla="*/ 36 w 117"/>
                <a:gd name="T53" fmla="*/ 72 h 90"/>
                <a:gd name="T54" fmla="*/ 52 w 117"/>
                <a:gd name="T55" fmla="*/ 45 h 90"/>
                <a:gd name="T56" fmla="*/ 36 w 117"/>
                <a:gd name="T57" fmla="*/ 18 h 90"/>
                <a:gd name="T58" fmla="*/ 17 w 117"/>
                <a:gd name="T59" fmla="*/ 18 h 90"/>
                <a:gd name="T60" fmla="*/ 17 w 117"/>
                <a:gd name="T61" fmla="*/ 27 h 90"/>
                <a:gd name="T62" fmla="*/ 0 w 117"/>
                <a:gd name="T63" fmla="*/ 14 h 90"/>
                <a:gd name="T64" fmla="*/ 17 w 117"/>
                <a:gd name="T65" fmla="*/ 0 h 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"/>
                <a:gd name="T100" fmla="*/ 0 h 90"/>
                <a:gd name="T101" fmla="*/ 117 w 117"/>
                <a:gd name="T102" fmla="*/ 90 h 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" h="90">
                  <a:moveTo>
                    <a:pt x="17" y="0"/>
                  </a:moveTo>
                  <a:lnTo>
                    <a:pt x="17" y="11"/>
                  </a:lnTo>
                  <a:lnTo>
                    <a:pt x="44" y="11"/>
                  </a:lnTo>
                  <a:lnTo>
                    <a:pt x="58" y="35"/>
                  </a:lnTo>
                  <a:lnTo>
                    <a:pt x="73" y="11"/>
                  </a:lnTo>
                  <a:lnTo>
                    <a:pt x="100" y="11"/>
                  </a:lnTo>
                  <a:lnTo>
                    <a:pt x="100" y="0"/>
                  </a:lnTo>
                  <a:lnTo>
                    <a:pt x="117" y="14"/>
                  </a:lnTo>
                  <a:lnTo>
                    <a:pt x="100" y="28"/>
                  </a:lnTo>
                  <a:lnTo>
                    <a:pt x="100" y="18"/>
                  </a:lnTo>
                  <a:lnTo>
                    <a:pt x="81" y="18"/>
                  </a:lnTo>
                  <a:lnTo>
                    <a:pt x="64" y="45"/>
                  </a:lnTo>
                  <a:lnTo>
                    <a:pt x="81" y="72"/>
                  </a:lnTo>
                  <a:lnTo>
                    <a:pt x="100" y="72"/>
                  </a:lnTo>
                  <a:lnTo>
                    <a:pt x="100" y="62"/>
                  </a:lnTo>
                  <a:lnTo>
                    <a:pt x="117" y="76"/>
                  </a:lnTo>
                  <a:lnTo>
                    <a:pt x="100" y="90"/>
                  </a:lnTo>
                  <a:lnTo>
                    <a:pt x="100" y="80"/>
                  </a:lnTo>
                  <a:lnTo>
                    <a:pt x="73" y="80"/>
                  </a:lnTo>
                  <a:lnTo>
                    <a:pt x="58" y="55"/>
                  </a:lnTo>
                  <a:lnTo>
                    <a:pt x="44" y="80"/>
                  </a:lnTo>
                  <a:lnTo>
                    <a:pt x="17" y="80"/>
                  </a:lnTo>
                  <a:lnTo>
                    <a:pt x="17" y="90"/>
                  </a:lnTo>
                  <a:lnTo>
                    <a:pt x="0" y="76"/>
                  </a:lnTo>
                  <a:lnTo>
                    <a:pt x="17" y="62"/>
                  </a:lnTo>
                  <a:lnTo>
                    <a:pt x="17" y="72"/>
                  </a:lnTo>
                  <a:lnTo>
                    <a:pt x="36" y="72"/>
                  </a:lnTo>
                  <a:lnTo>
                    <a:pt x="52" y="45"/>
                  </a:lnTo>
                  <a:lnTo>
                    <a:pt x="36" y="18"/>
                  </a:lnTo>
                  <a:lnTo>
                    <a:pt x="17" y="18"/>
                  </a:lnTo>
                  <a:lnTo>
                    <a:pt x="17" y="27"/>
                  </a:lnTo>
                  <a:lnTo>
                    <a:pt x="0" y="14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93" name="Freeform 103"/>
            <p:cNvSpPr>
              <a:spLocks/>
            </p:cNvSpPr>
            <p:nvPr/>
          </p:nvSpPr>
          <p:spPr bwMode="auto">
            <a:xfrm>
              <a:off x="3340" y="2714"/>
              <a:ext cx="117" cy="90"/>
            </a:xfrm>
            <a:custGeom>
              <a:avLst/>
              <a:gdLst>
                <a:gd name="T0" fmla="*/ 17 w 117"/>
                <a:gd name="T1" fmla="*/ 0 h 90"/>
                <a:gd name="T2" fmla="*/ 17 w 117"/>
                <a:gd name="T3" fmla="*/ 10 h 90"/>
                <a:gd name="T4" fmla="*/ 44 w 117"/>
                <a:gd name="T5" fmla="*/ 10 h 90"/>
                <a:gd name="T6" fmla="*/ 58 w 117"/>
                <a:gd name="T7" fmla="*/ 35 h 90"/>
                <a:gd name="T8" fmla="*/ 73 w 117"/>
                <a:gd name="T9" fmla="*/ 11 h 90"/>
                <a:gd name="T10" fmla="*/ 100 w 117"/>
                <a:gd name="T11" fmla="*/ 11 h 90"/>
                <a:gd name="T12" fmla="*/ 100 w 117"/>
                <a:gd name="T13" fmla="*/ 0 h 90"/>
                <a:gd name="T14" fmla="*/ 117 w 117"/>
                <a:gd name="T15" fmla="*/ 14 h 90"/>
                <a:gd name="T16" fmla="*/ 100 w 117"/>
                <a:gd name="T17" fmla="*/ 27 h 90"/>
                <a:gd name="T18" fmla="*/ 100 w 117"/>
                <a:gd name="T19" fmla="*/ 18 h 90"/>
                <a:gd name="T20" fmla="*/ 81 w 117"/>
                <a:gd name="T21" fmla="*/ 18 h 90"/>
                <a:gd name="T22" fmla="*/ 64 w 117"/>
                <a:gd name="T23" fmla="*/ 45 h 90"/>
                <a:gd name="T24" fmla="*/ 81 w 117"/>
                <a:gd name="T25" fmla="*/ 72 h 90"/>
                <a:gd name="T26" fmla="*/ 100 w 117"/>
                <a:gd name="T27" fmla="*/ 72 h 90"/>
                <a:gd name="T28" fmla="*/ 100 w 117"/>
                <a:gd name="T29" fmla="*/ 62 h 90"/>
                <a:gd name="T30" fmla="*/ 117 w 117"/>
                <a:gd name="T31" fmla="*/ 76 h 90"/>
                <a:gd name="T32" fmla="*/ 100 w 117"/>
                <a:gd name="T33" fmla="*/ 90 h 90"/>
                <a:gd name="T34" fmla="*/ 100 w 117"/>
                <a:gd name="T35" fmla="*/ 80 h 90"/>
                <a:gd name="T36" fmla="*/ 73 w 117"/>
                <a:gd name="T37" fmla="*/ 80 h 90"/>
                <a:gd name="T38" fmla="*/ 58 w 117"/>
                <a:gd name="T39" fmla="*/ 55 h 90"/>
                <a:gd name="T40" fmla="*/ 44 w 117"/>
                <a:gd name="T41" fmla="*/ 80 h 90"/>
                <a:gd name="T42" fmla="*/ 17 w 117"/>
                <a:gd name="T43" fmla="*/ 80 h 90"/>
                <a:gd name="T44" fmla="*/ 17 w 117"/>
                <a:gd name="T45" fmla="*/ 90 h 90"/>
                <a:gd name="T46" fmla="*/ 0 w 117"/>
                <a:gd name="T47" fmla="*/ 76 h 90"/>
                <a:gd name="T48" fmla="*/ 17 w 117"/>
                <a:gd name="T49" fmla="*/ 62 h 90"/>
                <a:gd name="T50" fmla="*/ 17 w 117"/>
                <a:gd name="T51" fmla="*/ 72 h 90"/>
                <a:gd name="T52" fmla="*/ 36 w 117"/>
                <a:gd name="T53" fmla="*/ 72 h 90"/>
                <a:gd name="T54" fmla="*/ 52 w 117"/>
                <a:gd name="T55" fmla="*/ 45 h 90"/>
                <a:gd name="T56" fmla="*/ 36 w 117"/>
                <a:gd name="T57" fmla="*/ 18 h 90"/>
                <a:gd name="T58" fmla="*/ 17 w 117"/>
                <a:gd name="T59" fmla="*/ 18 h 90"/>
                <a:gd name="T60" fmla="*/ 17 w 117"/>
                <a:gd name="T61" fmla="*/ 27 h 90"/>
                <a:gd name="T62" fmla="*/ 0 w 117"/>
                <a:gd name="T63" fmla="*/ 13 h 90"/>
                <a:gd name="T64" fmla="*/ 17 w 117"/>
                <a:gd name="T65" fmla="*/ 0 h 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"/>
                <a:gd name="T100" fmla="*/ 0 h 90"/>
                <a:gd name="T101" fmla="*/ 117 w 117"/>
                <a:gd name="T102" fmla="*/ 90 h 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" h="90">
                  <a:moveTo>
                    <a:pt x="17" y="0"/>
                  </a:moveTo>
                  <a:lnTo>
                    <a:pt x="17" y="10"/>
                  </a:lnTo>
                  <a:lnTo>
                    <a:pt x="44" y="10"/>
                  </a:lnTo>
                  <a:lnTo>
                    <a:pt x="58" y="35"/>
                  </a:lnTo>
                  <a:lnTo>
                    <a:pt x="73" y="11"/>
                  </a:lnTo>
                  <a:lnTo>
                    <a:pt x="100" y="11"/>
                  </a:lnTo>
                  <a:lnTo>
                    <a:pt x="100" y="0"/>
                  </a:lnTo>
                  <a:lnTo>
                    <a:pt x="117" y="14"/>
                  </a:lnTo>
                  <a:lnTo>
                    <a:pt x="100" y="27"/>
                  </a:lnTo>
                  <a:lnTo>
                    <a:pt x="100" y="18"/>
                  </a:lnTo>
                  <a:lnTo>
                    <a:pt x="81" y="18"/>
                  </a:lnTo>
                  <a:lnTo>
                    <a:pt x="64" y="45"/>
                  </a:lnTo>
                  <a:lnTo>
                    <a:pt x="81" y="72"/>
                  </a:lnTo>
                  <a:lnTo>
                    <a:pt x="100" y="72"/>
                  </a:lnTo>
                  <a:lnTo>
                    <a:pt x="100" y="62"/>
                  </a:lnTo>
                  <a:lnTo>
                    <a:pt x="117" y="76"/>
                  </a:lnTo>
                  <a:lnTo>
                    <a:pt x="100" y="90"/>
                  </a:lnTo>
                  <a:lnTo>
                    <a:pt x="100" y="80"/>
                  </a:lnTo>
                  <a:lnTo>
                    <a:pt x="73" y="80"/>
                  </a:lnTo>
                  <a:lnTo>
                    <a:pt x="58" y="55"/>
                  </a:lnTo>
                  <a:lnTo>
                    <a:pt x="44" y="80"/>
                  </a:lnTo>
                  <a:lnTo>
                    <a:pt x="17" y="80"/>
                  </a:lnTo>
                  <a:lnTo>
                    <a:pt x="17" y="90"/>
                  </a:lnTo>
                  <a:lnTo>
                    <a:pt x="0" y="76"/>
                  </a:lnTo>
                  <a:lnTo>
                    <a:pt x="17" y="62"/>
                  </a:lnTo>
                  <a:lnTo>
                    <a:pt x="17" y="72"/>
                  </a:lnTo>
                  <a:lnTo>
                    <a:pt x="36" y="72"/>
                  </a:lnTo>
                  <a:lnTo>
                    <a:pt x="52" y="45"/>
                  </a:lnTo>
                  <a:lnTo>
                    <a:pt x="36" y="18"/>
                  </a:lnTo>
                  <a:lnTo>
                    <a:pt x="17" y="18"/>
                  </a:lnTo>
                  <a:lnTo>
                    <a:pt x="17" y="27"/>
                  </a:lnTo>
                  <a:lnTo>
                    <a:pt x="0" y="1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94" name="Rectangle 104"/>
            <p:cNvSpPr>
              <a:spLocks noChangeArrowheads="1"/>
            </p:cNvSpPr>
            <p:nvPr/>
          </p:nvSpPr>
          <p:spPr bwMode="auto">
            <a:xfrm>
              <a:off x="3433" y="2740"/>
              <a:ext cx="38" cy="35"/>
            </a:xfrm>
            <a:prstGeom prst="rect">
              <a:avLst/>
            </a:prstGeom>
            <a:solidFill>
              <a:srgbClr val="07608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30795" name="Rectangle 105"/>
            <p:cNvSpPr>
              <a:spLocks noChangeArrowheads="1"/>
            </p:cNvSpPr>
            <p:nvPr/>
          </p:nvSpPr>
          <p:spPr bwMode="auto">
            <a:xfrm>
              <a:off x="3433" y="2740"/>
              <a:ext cx="38" cy="35"/>
            </a:xfrm>
            <a:prstGeom prst="rect">
              <a:avLst/>
            </a:prstGeom>
            <a:noFill/>
            <a:ln w="0">
              <a:solidFill>
                <a:srgbClr val="ADD7E7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30796" name="Freeform 106"/>
            <p:cNvSpPr>
              <a:spLocks/>
            </p:cNvSpPr>
            <p:nvPr/>
          </p:nvSpPr>
          <p:spPr bwMode="auto">
            <a:xfrm>
              <a:off x="3441" y="2748"/>
              <a:ext cx="23" cy="21"/>
            </a:xfrm>
            <a:custGeom>
              <a:avLst/>
              <a:gdLst>
                <a:gd name="T0" fmla="*/ 0 w 23"/>
                <a:gd name="T1" fmla="*/ 0 h 21"/>
                <a:gd name="T2" fmla="*/ 5 w 23"/>
                <a:gd name="T3" fmla="*/ 0 h 21"/>
                <a:gd name="T4" fmla="*/ 11 w 23"/>
                <a:gd name="T5" fmla="*/ 13 h 21"/>
                <a:gd name="T6" fmla="*/ 17 w 23"/>
                <a:gd name="T7" fmla="*/ 0 h 21"/>
                <a:gd name="T8" fmla="*/ 23 w 23"/>
                <a:gd name="T9" fmla="*/ 0 h 21"/>
                <a:gd name="T10" fmla="*/ 14 w 23"/>
                <a:gd name="T11" fmla="*/ 21 h 21"/>
                <a:gd name="T12" fmla="*/ 9 w 23"/>
                <a:gd name="T13" fmla="*/ 21 h 21"/>
                <a:gd name="T14" fmla="*/ 0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21"/>
                <a:gd name="T26" fmla="*/ 23 w 23"/>
                <a:gd name="T27" fmla="*/ 21 h 2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21">
                  <a:moveTo>
                    <a:pt x="0" y="0"/>
                  </a:moveTo>
                  <a:lnTo>
                    <a:pt x="5" y="0"/>
                  </a:lnTo>
                  <a:lnTo>
                    <a:pt x="11" y="13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14" y="21"/>
                  </a:lnTo>
                  <a:lnTo>
                    <a:pt x="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797" name="Freeform 107"/>
            <p:cNvSpPr>
              <a:spLocks/>
            </p:cNvSpPr>
            <p:nvPr/>
          </p:nvSpPr>
          <p:spPr bwMode="auto">
            <a:xfrm>
              <a:off x="3440" y="2747"/>
              <a:ext cx="23" cy="21"/>
            </a:xfrm>
            <a:custGeom>
              <a:avLst/>
              <a:gdLst>
                <a:gd name="T0" fmla="*/ 0 w 23"/>
                <a:gd name="T1" fmla="*/ 0 h 21"/>
                <a:gd name="T2" fmla="*/ 5 w 23"/>
                <a:gd name="T3" fmla="*/ 0 h 21"/>
                <a:gd name="T4" fmla="*/ 11 w 23"/>
                <a:gd name="T5" fmla="*/ 13 h 21"/>
                <a:gd name="T6" fmla="*/ 17 w 23"/>
                <a:gd name="T7" fmla="*/ 0 h 21"/>
                <a:gd name="T8" fmla="*/ 23 w 23"/>
                <a:gd name="T9" fmla="*/ 0 h 21"/>
                <a:gd name="T10" fmla="*/ 14 w 23"/>
                <a:gd name="T11" fmla="*/ 21 h 21"/>
                <a:gd name="T12" fmla="*/ 9 w 23"/>
                <a:gd name="T13" fmla="*/ 21 h 21"/>
                <a:gd name="T14" fmla="*/ 0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21"/>
                <a:gd name="T26" fmla="*/ 23 w 23"/>
                <a:gd name="T27" fmla="*/ 21 h 2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21">
                  <a:moveTo>
                    <a:pt x="0" y="0"/>
                  </a:moveTo>
                  <a:lnTo>
                    <a:pt x="5" y="0"/>
                  </a:lnTo>
                  <a:lnTo>
                    <a:pt x="11" y="13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14" y="21"/>
                  </a:lnTo>
                  <a:lnTo>
                    <a:pt x="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0764" name="Text Box 108"/>
          <p:cNvSpPr txBox="1">
            <a:spLocks noChangeArrowheads="1"/>
          </p:cNvSpPr>
          <p:nvPr/>
        </p:nvSpPr>
        <p:spPr bwMode="auto">
          <a:xfrm>
            <a:off x="4292600" y="2924175"/>
            <a:ext cx="5603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ru-RU" sz="1400">
                <a:solidFill>
                  <a:srgbClr val="000000"/>
                </a:solidFill>
                <a:cs typeface="Arial" charset="0"/>
              </a:rPr>
              <a:t>SDH</a:t>
            </a:r>
          </a:p>
        </p:txBody>
      </p:sp>
      <p:sp>
        <p:nvSpPr>
          <p:cNvPr id="30765" name="Text Box 109"/>
          <p:cNvSpPr txBox="1">
            <a:spLocks noChangeArrowheads="1"/>
          </p:cNvSpPr>
          <p:nvPr/>
        </p:nvSpPr>
        <p:spPr bwMode="auto">
          <a:xfrm>
            <a:off x="4395788" y="4724400"/>
            <a:ext cx="352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ru-RU" sz="1400">
                <a:solidFill>
                  <a:srgbClr val="000000"/>
                </a:solidFill>
                <a:cs typeface="Arial" charset="0"/>
              </a:rPr>
              <a:t>IP</a:t>
            </a:r>
          </a:p>
        </p:txBody>
      </p:sp>
      <p:sp>
        <p:nvSpPr>
          <p:cNvPr id="570478" name="Freeform 110"/>
          <p:cNvSpPr>
            <a:spLocks/>
          </p:cNvSpPr>
          <p:nvPr/>
        </p:nvSpPr>
        <p:spPr bwMode="auto">
          <a:xfrm>
            <a:off x="2009775" y="2343150"/>
            <a:ext cx="5076825" cy="2771775"/>
          </a:xfrm>
          <a:custGeom>
            <a:avLst/>
            <a:gdLst>
              <a:gd name="T0" fmla="*/ 0 w 3198"/>
              <a:gd name="T1" fmla="*/ 0 h 1746"/>
              <a:gd name="T2" fmla="*/ 1239916893 w 3198"/>
              <a:gd name="T3" fmla="*/ 1255037858 h 1746"/>
              <a:gd name="T4" fmla="*/ 2147483647 w 3198"/>
              <a:gd name="T5" fmla="*/ 2147483647 h 1746"/>
              <a:gd name="T6" fmla="*/ 2147483647 w 3198"/>
              <a:gd name="T7" fmla="*/ 2147483647 h 1746"/>
              <a:gd name="T8" fmla="*/ 2147483647 w 3198"/>
              <a:gd name="T9" fmla="*/ 2147483647 h 17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98"/>
              <a:gd name="T16" fmla="*/ 0 h 1746"/>
              <a:gd name="T17" fmla="*/ 3198 w 3198"/>
              <a:gd name="T18" fmla="*/ 1746 h 17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98" h="1746">
                <a:moveTo>
                  <a:pt x="0" y="0"/>
                </a:moveTo>
                <a:cubicBezTo>
                  <a:pt x="162" y="156"/>
                  <a:pt x="368" y="243"/>
                  <a:pt x="492" y="498"/>
                </a:cubicBezTo>
                <a:cubicBezTo>
                  <a:pt x="642" y="761"/>
                  <a:pt x="577" y="1395"/>
                  <a:pt x="900" y="1578"/>
                </a:cubicBezTo>
                <a:cubicBezTo>
                  <a:pt x="1368" y="1746"/>
                  <a:pt x="2047" y="1586"/>
                  <a:pt x="2430" y="1596"/>
                </a:cubicBezTo>
                <a:cubicBezTo>
                  <a:pt x="2813" y="1606"/>
                  <a:pt x="3038" y="1629"/>
                  <a:pt x="3198" y="163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570479" name="Freeform 111"/>
          <p:cNvSpPr>
            <a:spLocks/>
          </p:cNvSpPr>
          <p:nvPr/>
        </p:nvSpPr>
        <p:spPr bwMode="auto">
          <a:xfrm>
            <a:off x="2152650" y="2400300"/>
            <a:ext cx="4981575" cy="2552700"/>
          </a:xfrm>
          <a:custGeom>
            <a:avLst/>
            <a:gdLst>
              <a:gd name="T0" fmla="*/ 2147483647 w 3138"/>
              <a:gd name="T1" fmla="*/ 0 h 1608"/>
              <a:gd name="T2" fmla="*/ 2147483647 w 3138"/>
              <a:gd name="T3" fmla="*/ 1179433164 h 1608"/>
              <a:gd name="T4" fmla="*/ 2147483647 w 3138"/>
              <a:gd name="T5" fmla="*/ 2147483647 h 1608"/>
              <a:gd name="T6" fmla="*/ 1512093676 w 3138"/>
              <a:gd name="T7" fmla="*/ 2147483647 h 1608"/>
              <a:gd name="T8" fmla="*/ 0 w 3138"/>
              <a:gd name="T9" fmla="*/ 2147483647 h 16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38"/>
              <a:gd name="T16" fmla="*/ 0 h 1608"/>
              <a:gd name="T17" fmla="*/ 3138 w 3138"/>
              <a:gd name="T18" fmla="*/ 1608 h 16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38" h="1608">
                <a:moveTo>
                  <a:pt x="3138" y="0"/>
                </a:moveTo>
                <a:cubicBezTo>
                  <a:pt x="2952" y="150"/>
                  <a:pt x="2803" y="211"/>
                  <a:pt x="2676" y="468"/>
                </a:cubicBezTo>
                <a:cubicBezTo>
                  <a:pt x="2549" y="705"/>
                  <a:pt x="2580" y="1338"/>
                  <a:pt x="2376" y="1422"/>
                </a:cubicBezTo>
                <a:cubicBezTo>
                  <a:pt x="2172" y="1506"/>
                  <a:pt x="996" y="1475"/>
                  <a:pt x="600" y="1506"/>
                </a:cubicBezTo>
                <a:cubicBezTo>
                  <a:pt x="204" y="1537"/>
                  <a:pt x="246" y="1560"/>
                  <a:pt x="0" y="1608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570480" name="Freeform 112"/>
          <p:cNvSpPr>
            <a:spLocks/>
          </p:cNvSpPr>
          <p:nvPr/>
        </p:nvSpPr>
        <p:spPr bwMode="auto">
          <a:xfrm>
            <a:off x="2133600" y="2219325"/>
            <a:ext cx="4895850" cy="690563"/>
          </a:xfrm>
          <a:custGeom>
            <a:avLst/>
            <a:gdLst>
              <a:gd name="T0" fmla="*/ 0 w 3084"/>
              <a:gd name="T1" fmla="*/ 0 h 435"/>
              <a:gd name="T2" fmla="*/ 1345763408 w 3084"/>
              <a:gd name="T3" fmla="*/ 922377993 h 435"/>
              <a:gd name="T4" fmla="*/ 2147483647 w 3084"/>
              <a:gd name="T5" fmla="*/ 604837967 h 435"/>
              <a:gd name="T6" fmla="*/ 2147483647 w 3084"/>
              <a:gd name="T7" fmla="*/ 997982714 h 435"/>
              <a:gd name="T8" fmla="*/ 2147483647 w 3084"/>
              <a:gd name="T9" fmla="*/ 15120950 h 4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4"/>
              <a:gd name="T16" fmla="*/ 0 h 435"/>
              <a:gd name="T17" fmla="*/ 3084 w 3084"/>
              <a:gd name="T18" fmla="*/ 435 h 4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4" h="435">
                <a:moveTo>
                  <a:pt x="0" y="0"/>
                </a:moveTo>
                <a:cubicBezTo>
                  <a:pt x="234" y="180"/>
                  <a:pt x="324" y="354"/>
                  <a:pt x="534" y="366"/>
                </a:cubicBezTo>
                <a:cubicBezTo>
                  <a:pt x="744" y="378"/>
                  <a:pt x="1110" y="264"/>
                  <a:pt x="1530" y="240"/>
                </a:cubicBezTo>
                <a:cubicBezTo>
                  <a:pt x="1950" y="216"/>
                  <a:pt x="2285" y="435"/>
                  <a:pt x="2544" y="396"/>
                </a:cubicBezTo>
                <a:cubicBezTo>
                  <a:pt x="2803" y="357"/>
                  <a:pt x="2874" y="114"/>
                  <a:pt x="3084" y="6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0769" name="Text Box 113"/>
          <p:cNvSpPr txBox="1">
            <a:spLocks noChangeArrowheads="1"/>
          </p:cNvSpPr>
          <p:nvPr/>
        </p:nvSpPr>
        <p:spPr bwMode="auto">
          <a:xfrm>
            <a:off x="7380288" y="1773238"/>
            <a:ext cx="6969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ru-RU" altLang="ru-RU" sz="1400">
                <a:solidFill>
                  <a:srgbClr val="000000"/>
                </a:solidFill>
                <a:cs typeface="Arial" charset="0"/>
              </a:rPr>
              <a:t>АТС-</a:t>
            </a:r>
            <a:r>
              <a:rPr lang="en-US" altLang="ru-RU" sz="1400">
                <a:solidFill>
                  <a:srgbClr val="000000"/>
                </a:solidFill>
                <a:cs typeface="Arial" charset="0"/>
              </a:rPr>
              <a:t>1</a:t>
            </a:r>
          </a:p>
        </p:txBody>
      </p:sp>
      <p:sp>
        <p:nvSpPr>
          <p:cNvPr id="30770" name="Text Box 114"/>
          <p:cNvSpPr txBox="1">
            <a:spLocks noChangeArrowheads="1"/>
          </p:cNvSpPr>
          <p:nvPr/>
        </p:nvSpPr>
        <p:spPr bwMode="auto">
          <a:xfrm>
            <a:off x="7596188" y="2563813"/>
            <a:ext cx="6969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ru-RU" altLang="ru-RU" sz="1400">
                <a:solidFill>
                  <a:srgbClr val="000000"/>
                </a:solidFill>
                <a:cs typeface="Arial" charset="0"/>
              </a:rPr>
              <a:t>АТС-</a:t>
            </a:r>
            <a:r>
              <a:rPr lang="en-US" altLang="ru-RU" sz="1400">
                <a:solidFill>
                  <a:srgbClr val="000000"/>
                </a:solidFill>
                <a:cs typeface="Arial" charset="0"/>
              </a:rPr>
              <a:t>2</a:t>
            </a:r>
          </a:p>
        </p:txBody>
      </p:sp>
      <p:sp>
        <p:nvSpPr>
          <p:cNvPr id="30771" name="Text Box 115"/>
          <p:cNvSpPr txBox="1">
            <a:spLocks noChangeArrowheads="1"/>
          </p:cNvSpPr>
          <p:nvPr/>
        </p:nvSpPr>
        <p:spPr bwMode="auto">
          <a:xfrm>
            <a:off x="7596188" y="3716338"/>
            <a:ext cx="6969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ru-RU" altLang="ru-RU" sz="1400">
                <a:solidFill>
                  <a:srgbClr val="000000"/>
                </a:solidFill>
                <a:cs typeface="Arial" charset="0"/>
              </a:rPr>
              <a:t>АТС-</a:t>
            </a:r>
            <a:r>
              <a:rPr lang="en-US" altLang="ru-RU" sz="1400">
                <a:solidFill>
                  <a:srgbClr val="000000"/>
                </a:solidFill>
                <a:cs typeface="Arial" charset="0"/>
              </a:rPr>
              <a:t>3</a:t>
            </a:r>
          </a:p>
        </p:txBody>
      </p:sp>
      <p:sp>
        <p:nvSpPr>
          <p:cNvPr id="30772" name="Text Box 116"/>
          <p:cNvSpPr txBox="1">
            <a:spLocks noChangeArrowheads="1"/>
          </p:cNvSpPr>
          <p:nvPr/>
        </p:nvSpPr>
        <p:spPr bwMode="auto">
          <a:xfrm>
            <a:off x="7380288" y="4581525"/>
            <a:ext cx="6969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ru-RU" altLang="ru-RU" sz="1400">
                <a:solidFill>
                  <a:srgbClr val="000000"/>
                </a:solidFill>
                <a:cs typeface="Arial" charset="0"/>
              </a:rPr>
              <a:t>АТС-</a:t>
            </a:r>
            <a:r>
              <a:rPr lang="en-US" altLang="ru-RU" sz="1400">
                <a:solidFill>
                  <a:srgbClr val="000000"/>
                </a:solidFill>
                <a:cs typeface="Arial" charset="0"/>
              </a:rPr>
              <a:t>4</a:t>
            </a:r>
          </a:p>
        </p:txBody>
      </p:sp>
      <p:sp>
        <p:nvSpPr>
          <p:cNvPr id="30774" name="Text Box 118"/>
          <p:cNvSpPr txBox="1">
            <a:spLocks noChangeArrowheads="1"/>
          </p:cNvSpPr>
          <p:nvPr/>
        </p:nvSpPr>
        <p:spPr bwMode="auto">
          <a:xfrm>
            <a:off x="5292725" y="2852738"/>
            <a:ext cx="6873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ru-RU" altLang="ru-RU" sz="1400">
                <a:solidFill>
                  <a:srgbClr val="000000"/>
                </a:solidFill>
                <a:cs typeface="Arial" charset="0"/>
              </a:rPr>
              <a:t>АМТС</a:t>
            </a:r>
            <a:endParaRPr lang="en-US" altLang="ru-RU" sz="14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30775" name="Freeform 119"/>
          <p:cNvSpPr>
            <a:spLocks/>
          </p:cNvSpPr>
          <p:nvPr/>
        </p:nvSpPr>
        <p:spPr bwMode="auto">
          <a:xfrm>
            <a:off x="1979613" y="1196975"/>
            <a:ext cx="1946275" cy="5256213"/>
          </a:xfrm>
          <a:custGeom>
            <a:avLst/>
            <a:gdLst>
              <a:gd name="T0" fmla="*/ 0 w 1226"/>
              <a:gd name="T1" fmla="*/ 0 h 3311"/>
              <a:gd name="T2" fmla="*/ 1144150879 w 1226"/>
              <a:gd name="T3" fmla="*/ 456149182 h 3311"/>
              <a:gd name="T4" fmla="*/ 1829633503 w 1226"/>
              <a:gd name="T5" fmla="*/ 1257558908 h 3311"/>
              <a:gd name="T6" fmla="*/ 2147483647 w 1226"/>
              <a:gd name="T7" fmla="*/ 2147483647 h 3311"/>
              <a:gd name="T8" fmla="*/ 2147483647 w 1226"/>
              <a:gd name="T9" fmla="*/ 2147483647 h 3311"/>
              <a:gd name="T10" fmla="*/ 2147483647 w 1226"/>
              <a:gd name="T11" fmla="*/ 2147483647 h 3311"/>
              <a:gd name="T12" fmla="*/ 2147483647 w 1226"/>
              <a:gd name="T13" fmla="*/ 2147483647 h 3311"/>
              <a:gd name="T14" fmla="*/ 1938000972 w 1226"/>
              <a:gd name="T15" fmla="*/ 2147483647 h 3311"/>
              <a:gd name="T16" fmla="*/ 1333163316 w 1226"/>
              <a:gd name="T17" fmla="*/ 2147483647 h 3311"/>
              <a:gd name="T18" fmla="*/ 801409567 w 1226"/>
              <a:gd name="T19" fmla="*/ 2147483647 h 331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26"/>
              <a:gd name="T31" fmla="*/ 0 h 3311"/>
              <a:gd name="T32" fmla="*/ 1226 w 1226"/>
              <a:gd name="T33" fmla="*/ 3311 h 331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26" h="3311">
                <a:moveTo>
                  <a:pt x="0" y="0"/>
                </a:moveTo>
                <a:cubicBezTo>
                  <a:pt x="166" y="49"/>
                  <a:pt x="333" y="98"/>
                  <a:pt x="454" y="181"/>
                </a:cubicBezTo>
                <a:cubicBezTo>
                  <a:pt x="575" y="264"/>
                  <a:pt x="620" y="363"/>
                  <a:pt x="726" y="499"/>
                </a:cubicBezTo>
                <a:cubicBezTo>
                  <a:pt x="832" y="635"/>
                  <a:pt x="1006" y="809"/>
                  <a:pt x="1089" y="998"/>
                </a:cubicBezTo>
                <a:cubicBezTo>
                  <a:pt x="1172" y="1187"/>
                  <a:pt x="1226" y="1412"/>
                  <a:pt x="1225" y="1633"/>
                </a:cubicBezTo>
                <a:cubicBezTo>
                  <a:pt x="1224" y="1854"/>
                  <a:pt x="1133" y="2137"/>
                  <a:pt x="1081" y="2326"/>
                </a:cubicBezTo>
                <a:cubicBezTo>
                  <a:pt x="1029" y="2515"/>
                  <a:pt x="965" y="2649"/>
                  <a:pt x="913" y="2766"/>
                </a:cubicBezTo>
                <a:cubicBezTo>
                  <a:pt x="861" y="2883"/>
                  <a:pt x="833" y="2959"/>
                  <a:pt x="769" y="3030"/>
                </a:cubicBezTo>
                <a:cubicBezTo>
                  <a:pt x="705" y="3101"/>
                  <a:pt x="604" y="3143"/>
                  <a:pt x="529" y="3190"/>
                </a:cubicBezTo>
                <a:cubicBezTo>
                  <a:pt x="454" y="3237"/>
                  <a:pt x="362" y="3286"/>
                  <a:pt x="318" y="33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776" name="Freeform 120"/>
          <p:cNvSpPr>
            <a:spLocks/>
          </p:cNvSpPr>
          <p:nvPr/>
        </p:nvSpPr>
        <p:spPr bwMode="auto">
          <a:xfrm flipH="1">
            <a:off x="5219700" y="1125538"/>
            <a:ext cx="1728788" cy="5256212"/>
          </a:xfrm>
          <a:custGeom>
            <a:avLst/>
            <a:gdLst>
              <a:gd name="T0" fmla="*/ 0 w 1226"/>
              <a:gd name="T1" fmla="*/ 0 h 3311"/>
              <a:gd name="T2" fmla="*/ 902730501 w 1226"/>
              <a:gd name="T3" fmla="*/ 456147508 h 3311"/>
              <a:gd name="T4" fmla="*/ 1443574420 w 1226"/>
              <a:gd name="T5" fmla="*/ 1257557081 h 3311"/>
              <a:gd name="T6" fmla="*/ 2147483647 w 1226"/>
              <a:gd name="T7" fmla="*/ 2147483647 h 3311"/>
              <a:gd name="T8" fmla="*/ 2147483647 w 1226"/>
              <a:gd name="T9" fmla="*/ 2147483647 h 3311"/>
              <a:gd name="T10" fmla="*/ 2147483647 w 1226"/>
              <a:gd name="T11" fmla="*/ 2147483647 h 3311"/>
              <a:gd name="T12" fmla="*/ 1815403645 w 1226"/>
              <a:gd name="T13" fmla="*/ 2147483647 h 3311"/>
              <a:gd name="T14" fmla="*/ 1529075009 w 1226"/>
              <a:gd name="T15" fmla="*/ 2147483647 h 3311"/>
              <a:gd name="T16" fmla="*/ 1051860264 w 1226"/>
              <a:gd name="T17" fmla="*/ 2147483647 h 3311"/>
              <a:gd name="T18" fmla="*/ 632309071 w 1226"/>
              <a:gd name="T19" fmla="*/ 2147483647 h 331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26"/>
              <a:gd name="T31" fmla="*/ 0 h 3311"/>
              <a:gd name="T32" fmla="*/ 1226 w 1226"/>
              <a:gd name="T33" fmla="*/ 3311 h 331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26" h="3311">
                <a:moveTo>
                  <a:pt x="0" y="0"/>
                </a:moveTo>
                <a:cubicBezTo>
                  <a:pt x="166" y="49"/>
                  <a:pt x="333" y="98"/>
                  <a:pt x="454" y="181"/>
                </a:cubicBezTo>
                <a:cubicBezTo>
                  <a:pt x="575" y="264"/>
                  <a:pt x="620" y="363"/>
                  <a:pt x="726" y="499"/>
                </a:cubicBezTo>
                <a:cubicBezTo>
                  <a:pt x="832" y="635"/>
                  <a:pt x="1006" y="809"/>
                  <a:pt x="1089" y="998"/>
                </a:cubicBezTo>
                <a:cubicBezTo>
                  <a:pt x="1172" y="1187"/>
                  <a:pt x="1226" y="1412"/>
                  <a:pt x="1225" y="1633"/>
                </a:cubicBezTo>
                <a:cubicBezTo>
                  <a:pt x="1224" y="1854"/>
                  <a:pt x="1133" y="2137"/>
                  <a:pt x="1081" y="2326"/>
                </a:cubicBezTo>
                <a:cubicBezTo>
                  <a:pt x="1029" y="2515"/>
                  <a:pt x="965" y="2649"/>
                  <a:pt x="913" y="2766"/>
                </a:cubicBezTo>
                <a:cubicBezTo>
                  <a:pt x="861" y="2883"/>
                  <a:pt x="833" y="2959"/>
                  <a:pt x="769" y="3030"/>
                </a:cubicBezTo>
                <a:cubicBezTo>
                  <a:pt x="705" y="3101"/>
                  <a:pt x="604" y="3143"/>
                  <a:pt x="529" y="3190"/>
                </a:cubicBezTo>
                <a:cubicBezTo>
                  <a:pt x="454" y="3237"/>
                  <a:pt x="362" y="3286"/>
                  <a:pt x="318" y="331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70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7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2000"/>
                                        <p:tgtEl>
                                          <p:spTgt spid="57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478" grpId="0" animBg="1"/>
      <p:bldP spid="570479" grpId="0" animBg="1"/>
      <p:bldP spid="57048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Нумерация. Национальный номер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80728"/>
            <a:ext cx="8964488" cy="5688632"/>
          </a:xfrm>
        </p:spPr>
        <p:txBody>
          <a:bodyPr>
            <a:normAutofit fontScale="77500" lnSpcReduction="20000"/>
          </a:bodyPr>
          <a:lstStyle/>
          <a:p>
            <a:endParaRPr lang="ru-RU" dirty="0" smtClean="0"/>
          </a:p>
          <a:p>
            <a:r>
              <a:rPr lang="ru-RU" dirty="0" smtClean="0"/>
              <a:t>ТфОП РБ делится на телефонные зоны, каждой из которых</a:t>
            </a:r>
          </a:p>
          <a:p>
            <a:pPr>
              <a:buNone/>
            </a:pPr>
            <a:r>
              <a:rPr lang="ru-RU" dirty="0" smtClean="0"/>
              <a:t>     выделяется уникальный </a:t>
            </a:r>
            <a:r>
              <a:rPr lang="ru-RU" b="1" dirty="0" smtClean="0"/>
              <a:t>код ABC</a:t>
            </a:r>
            <a:r>
              <a:rPr lang="ru-RU" dirty="0" smtClean="0"/>
              <a:t>, где A=0.</a:t>
            </a:r>
          </a:p>
          <a:p>
            <a:r>
              <a:rPr lang="ru-RU" dirty="0" smtClean="0"/>
              <a:t>Национальный номер абонента состоит из </a:t>
            </a:r>
            <a:r>
              <a:rPr lang="ru-RU" b="1" dirty="0" smtClean="0"/>
              <a:t>десяти цифр:</a:t>
            </a:r>
          </a:p>
          <a:p>
            <a:pPr>
              <a:buNone/>
            </a:pPr>
            <a:r>
              <a:rPr lang="ru-RU" dirty="0" smtClean="0"/>
              <a:t>       - </a:t>
            </a:r>
            <a:r>
              <a:rPr lang="ru-RU" b="1" dirty="0" smtClean="0"/>
              <a:t>ABC</a:t>
            </a:r>
            <a:r>
              <a:rPr lang="ru-RU" dirty="0" smtClean="0"/>
              <a:t> код географически определяемой зоны нумерации;</a:t>
            </a:r>
          </a:p>
          <a:p>
            <a:pPr>
              <a:buNone/>
            </a:pPr>
            <a:r>
              <a:rPr lang="ru-RU" dirty="0" smtClean="0"/>
              <a:t>       - </a:t>
            </a:r>
            <a:r>
              <a:rPr lang="ru-RU" b="1" dirty="0" err="1" smtClean="0"/>
              <a:t>ab</a:t>
            </a:r>
            <a:r>
              <a:rPr lang="ru-RU" b="1" dirty="0" smtClean="0"/>
              <a:t> x1 x2 x3 x4 x5</a:t>
            </a:r>
            <a:r>
              <a:rPr lang="ru-RU" dirty="0" smtClean="0"/>
              <a:t> – </a:t>
            </a:r>
            <a:r>
              <a:rPr lang="ru-RU" dirty="0" err="1" smtClean="0"/>
              <a:t>зоновый</a:t>
            </a:r>
            <a:r>
              <a:rPr lang="ru-RU" dirty="0" smtClean="0"/>
              <a:t> телефонный номер.</a:t>
            </a:r>
          </a:p>
          <a:p>
            <a:pPr>
              <a:buNone/>
            </a:pPr>
            <a:r>
              <a:rPr lang="ru-RU" dirty="0" smtClean="0"/>
              <a:t>  </a:t>
            </a:r>
            <a:r>
              <a:rPr lang="ru-RU" b="1" dirty="0" err="1" smtClean="0"/>
              <a:t>Зоновый</a:t>
            </a:r>
            <a:r>
              <a:rPr lang="ru-RU" b="1" dirty="0" smtClean="0"/>
              <a:t> номер при междугородной и международной связи</a:t>
            </a:r>
          </a:p>
          <a:p>
            <a:pPr>
              <a:buNone/>
            </a:pPr>
            <a:r>
              <a:rPr lang="ru-RU" b="1" dirty="0" smtClean="0"/>
              <a:t>   всегда состоит из семи цифр.</a:t>
            </a:r>
          </a:p>
          <a:p>
            <a:pPr>
              <a:buNone/>
            </a:pPr>
            <a:r>
              <a:rPr lang="ru-RU" dirty="0" smtClean="0"/>
              <a:t> При местной связи может использоваться пяти, шести или семизначный план нумерации. </a:t>
            </a:r>
          </a:p>
          <a:p>
            <a:pPr>
              <a:buNone/>
            </a:pPr>
            <a:r>
              <a:rPr lang="ru-RU" b="1" dirty="0" smtClean="0"/>
              <a:t>При семизначной нумерации местный номер соответствует </a:t>
            </a:r>
            <a:r>
              <a:rPr lang="ru-RU" b="1" dirty="0" err="1" smtClean="0"/>
              <a:t>зоновому</a:t>
            </a:r>
            <a:r>
              <a:rPr lang="ru-RU" b="1" dirty="0" smtClean="0"/>
              <a:t>. </a:t>
            </a:r>
          </a:p>
          <a:p>
            <a:pPr>
              <a:buNone/>
            </a:pPr>
            <a:r>
              <a:rPr lang="ru-RU" dirty="0" smtClean="0"/>
              <a:t>В остальных случаях местный номер получают добавлением двоек вместо отсутствующих цифр.</a:t>
            </a:r>
            <a:endParaRPr lang="ru-RU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Нумерация междугородной связи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6093296"/>
          </a:xfrm>
        </p:spPr>
        <p:txBody>
          <a:bodyPr>
            <a:noAutofit/>
          </a:bodyPr>
          <a:lstStyle/>
          <a:p>
            <a:r>
              <a:rPr lang="ru-RU" sz="2000" b="1" u="sng" dirty="0" smtClean="0">
                <a:solidFill>
                  <a:srgbClr val="C00000"/>
                </a:solidFill>
              </a:rPr>
              <a:t>Внутренние междугородние АВС коды РБ</a:t>
            </a:r>
            <a:r>
              <a:rPr lang="ru-RU" sz="2000" b="1" dirty="0" smtClean="0"/>
              <a:t>:</a:t>
            </a:r>
          </a:p>
          <a:p>
            <a:pPr>
              <a:buNone/>
            </a:pPr>
            <a:r>
              <a:rPr lang="ru-RU" sz="2000" dirty="0" smtClean="0"/>
              <a:t>    015 – Г</a:t>
            </a:r>
            <a:r>
              <a:rPr lang="ru-RU" sz="1800" dirty="0" smtClean="0"/>
              <a:t>родно</a:t>
            </a:r>
            <a:r>
              <a:rPr lang="ru-RU" sz="2000" dirty="0" smtClean="0"/>
              <a:t> и обл.</a:t>
            </a:r>
          </a:p>
          <a:p>
            <a:pPr>
              <a:buNone/>
            </a:pPr>
            <a:r>
              <a:rPr lang="ru-RU" sz="2000" dirty="0" smtClean="0"/>
              <a:t>    016 – Брест и обл.</a:t>
            </a:r>
          </a:p>
          <a:p>
            <a:pPr>
              <a:buNone/>
            </a:pPr>
            <a:r>
              <a:rPr lang="ru-RU" sz="2000" dirty="0" smtClean="0"/>
              <a:t>    017 –Минск и обл.</a:t>
            </a:r>
          </a:p>
          <a:p>
            <a:pPr>
              <a:buNone/>
            </a:pPr>
            <a:r>
              <a:rPr lang="ru-RU" sz="2000" dirty="0" smtClean="0"/>
              <a:t>    021 – Витебск и обл.</a:t>
            </a:r>
          </a:p>
          <a:p>
            <a:pPr>
              <a:buNone/>
            </a:pPr>
            <a:r>
              <a:rPr lang="ru-RU" sz="2000" dirty="0" smtClean="0"/>
              <a:t>    022 – Могилев и обл.</a:t>
            </a:r>
          </a:p>
          <a:p>
            <a:pPr>
              <a:buNone/>
            </a:pPr>
            <a:r>
              <a:rPr lang="ru-RU" sz="2000" dirty="0" smtClean="0"/>
              <a:t>    023 – Гомель и обл.</a:t>
            </a:r>
          </a:p>
          <a:p>
            <a:pPr>
              <a:buNone/>
            </a:pPr>
            <a:r>
              <a:rPr lang="ru-RU" sz="2000" b="1" dirty="0" smtClean="0"/>
              <a:t>Нумерация </a:t>
            </a:r>
            <a:r>
              <a:rPr lang="en-US" sz="2000" b="1" dirty="0" smtClean="0"/>
              <a:t>DEF</a:t>
            </a:r>
            <a:r>
              <a:rPr lang="ru-RU" sz="2000" b="1" dirty="0" smtClean="0"/>
              <a:t> </a:t>
            </a:r>
            <a:r>
              <a:rPr lang="ru-RU" sz="2000" dirty="0" smtClean="0"/>
              <a:t>– негеографический телефонный код</a:t>
            </a:r>
          </a:p>
          <a:p>
            <a:r>
              <a:rPr lang="ru-RU" sz="2000" b="1" u="sng" dirty="0" smtClean="0">
                <a:solidFill>
                  <a:srgbClr val="C00000"/>
                </a:solidFill>
              </a:rPr>
              <a:t>Код </a:t>
            </a:r>
            <a:r>
              <a:rPr lang="en-US" sz="2000" b="1" u="sng" dirty="0" smtClean="0">
                <a:solidFill>
                  <a:srgbClr val="C00000"/>
                </a:solidFill>
              </a:rPr>
              <a:t>DEF</a:t>
            </a:r>
            <a:r>
              <a:rPr lang="ru-RU" sz="2000" b="1" u="sng" dirty="0" smtClean="0">
                <a:solidFill>
                  <a:srgbClr val="C00000"/>
                </a:solidFill>
              </a:rPr>
              <a:t> в РБ:</a:t>
            </a:r>
          </a:p>
          <a:p>
            <a:pPr>
              <a:buNone/>
            </a:pPr>
            <a:r>
              <a:rPr lang="ru-RU" sz="2000" dirty="0" smtClean="0"/>
              <a:t>     </a:t>
            </a:r>
            <a:r>
              <a:rPr lang="ru-RU" sz="2000" b="1" dirty="0" smtClean="0"/>
              <a:t>25</a:t>
            </a:r>
            <a:r>
              <a:rPr lang="ru-RU" sz="2000" dirty="0" smtClean="0"/>
              <a:t> – мобильный оператор </a:t>
            </a:r>
            <a:r>
              <a:rPr lang="en-US" sz="2000" dirty="0" smtClean="0"/>
              <a:t>LIFE</a:t>
            </a:r>
          </a:p>
          <a:p>
            <a:pPr>
              <a:buNone/>
            </a:pPr>
            <a:r>
              <a:rPr lang="ru-RU" sz="2000" dirty="0" smtClean="0"/>
              <a:t>     </a:t>
            </a:r>
            <a:r>
              <a:rPr lang="en-US" sz="2000" b="1" dirty="0" smtClean="0"/>
              <a:t>29</a:t>
            </a:r>
            <a:r>
              <a:rPr lang="en-US" sz="2000" dirty="0" smtClean="0"/>
              <a:t> (291</a:t>
            </a:r>
            <a:r>
              <a:rPr lang="ru-RU" sz="2000" dirty="0" smtClean="0"/>
              <a:t>, </a:t>
            </a:r>
            <a:r>
              <a:rPr lang="en-US" sz="2000" dirty="0" smtClean="0"/>
              <a:t>293</a:t>
            </a:r>
            <a:r>
              <a:rPr lang="ru-RU" sz="2000" dirty="0" smtClean="0"/>
              <a:t>, 296, 299,</a:t>
            </a:r>
            <a:r>
              <a:rPr lang="ru-RU" sz="2000" b="1" dirty="0" smtClean="0"/>
              <a:t>44</a:t>
            </a:r>
            <a:r>
              <a:rPr lang="ru-RU" sz="2000" dirty="0" smtClean="0"/>
              <a:t> )- оператор А1</a:t>
            </a:r>
          </a:p>
          <a:p>
            <a:pPr>
              <a:buNone/>
            </a:pPr>
            <a:r>
              <a:rPr lang="ru-RU" sz="2000" dirty="0" smtClean="0"/>
              <a:t>     </a:t>
            </a:r>
            <a:r>
              <a:rPr lang="ru-RU" sz="2000" b="1" dirty="0" smtClean="0"/>
              <a:t>29</a:t>
            </a:r>
            <a:r>
              <a:rPr lang="ru-RU" sz="2000" dirty="0" smtClean="0"/>
              <a:t> (292,295,297,298, </a:t>
            </a:r>
            <a:r>
              <a:rPr lang="ru-RU" sz="2000" b="1" dirty="0" smtClean="0"/>
              <a:t>33</a:t>
            </a:r>
            <a:r>
              <a:rPr lang="ru-RU" sz="2000" dirty="0" smtClean="0"/>
              <a:t>) – оператор МТС</a:t>
            </a:r>
          </a:p>
          <a:p>
            <a:pPr>
              <a:buNone/>
            </a:pPr>
            <a:r>
              <a:rPr lang="ru-RU" sz="2000" dirty="0" smtClean="0"/>
              <a:t>    Службы экстренные и справочные – информационные:</a:t>
            </a:r>
          </a:p>
          <a:p>
            <a:pPr>
              <a:buNone/>
            </a:pPr>
            <a:r>
              <a:rPr lang="ru-RU" sz="2000" dirty="0" smtClean="0"/>
              <a:t>     </a:t>
            </a:r>
            <a:r>
              <a:rPr lang="ru-RU" sz="2000" b="1" dirty="0" smtClean="0"/>
              <a:t>101 </a:t>
            </a:r>
            <a:r>
              <a:rPr lang="ru-RU" sz="2000" dirty="0" smtClean="0"/>
              <a:t>-  МЧС,</a:t>
            </a:r>
            <a:r>
              <a:rPr lang="ru-RU" sz="2000" b="1" dirty="0" smtClean="0"/>
              <a:t>     102 </a:t>
            </a:r>
            <a:r>
              <a:rPr lang="ru-RU" sz="2000" dirty="0" smtClean="0"/>
              <a:t>– МВД,   </a:t>
            </a:r>
            <a:r>
              <a:rPr lang="ru-RU" sz="2000" b="1" dirty="0" smtClean="0"/>
              <a:t>103</a:t>
            </a:r>
            <a:r>
              <a:rPr lang="ru-RU" sz="2000" dirty="0" smtClean="0"/>
              <a:t> – Скорая медпомощь,</a:t>
            </a:r>
          </a:p>
          <a:p>
            <a:pPr>
              <a:buNone/>
            </a:pPr>
            <a:r>
              <a:rPr lang="ru-RU" sz="2000" dirty="0" smtClean="0"/>
              <a:t>     </a:t>
            </a:r>
            <a:r>
              <a:rPr lang="ru-RU" sz="2000" b="1" dirty="0" smtClean="0"/>
              <a:t>104</a:t>
            </a:r>
            <a:r>
              <a:rPr lang="ru-RU" sz="2000" dirty="0" smtClean="0"/>
              <a:t> – Газовая аварийная служба,  </a:t>
            </a:r>
            <a:r>
              <a:rPr lang="ru-RU" sz="2000" b="1" dirty="0" smtClean="0"/>
              <a:t>109</a:t>
            </a:r>
            <a:r>
              <a:rPr lang="ru-RU" sz="2000" dirty="0" smtClean="0"/>
              <a:t> –справочная служба и т.д.</a:t>
            </a:r>
          </a:p>
          <a:p>
            <a:pPr>
              <a:buNone/>
            </a:pPr>
            <a:r>
              <a:rPr lang="ru-RU" sz="2000" dirty="0" smtClean="0"/>
              <a:t> </a:t>
            </a:r>
            <a:endParaRPr lang="en-US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     </a:t>
            </a:r>
            <a:endParaRPr lang="en-US" sz="2000" dirty="0" smtClean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l"/>
            <a:r>
              <a:rPr lang="ru-RU" sz="2800" b="1" dirty="0" smtClean="0">
                <a:solidFill>
                  <a:srgbClr val="002060"/>
                </a:solidFill>
              </a:rPr>
              <a:t>Нумерация. Междугородный/международный вызов</a:t>
            </a:r>
            <a:endParaRPr lang="ru-RU" sz="28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 smtClean="0"/>
              <a:t>1</a:t>
            </a:r>
            <a:r>
              <a:rPr lang="ru-RU" u="sng" dirty="0" smtClean="0"/>
              <a:t>. Предварительный выбор оператора (</a:t>
            </a:r>
            <a:r>
              <a:rPr lang="ru-RU" u="sng" dirty="0" err="1" smtClean="0"/>
              <a:t>Pre-select</a:t>
            </a:r>
            <a:r>
              <a:rPr lang="ru-RU" dirty="0" smtClean="0"/>
              <a:t>)</a:t>
            </a:r>
          </a:p>
          <a:p>
            <a:r>
              <a:rPr lang="ru-RU" dirty="0" smtClean="0"/>
              <a:t>Междугородный формат: </a:t>
            </a:r>
            <a:r>
              <a:rPr lang="ru-RU" dirty="0" err="1" smtClean="0"/>
              <a:t>Пн</a:t>
            </a:r>
            <a:r>
              <a:rPr lang="ru-RU" dirty="0" smtClean="0"/>
              <a:t> </a:t>
            </a:r>
            <a:r>
              <a:rPr lang="ru-RU" dirty="0" err="1" smtClean="0"/>
              <a:t>Nнац</a:t>
            </a:r>
            <a:r>
              <a:rPr lang="ru-RU" dirty="0" smtClean="0"/>
              <a:t>,</a:t>
            </a:r>
          </a:p>
          <a:p>
            <a:r>
              <a:rPr lang="ru-RU" dirty="0" smtClean="0"/>
              <a:t>Международный формат: </a:t>
            </a:r>
            <a:r>
              <a:rPr lang="ru-RU" dirty="0" err="1" smtClean="0"/>
              <a:t>Пн</a:t>
            </a:r>
            <a:r>
              <a:rPr lang="ru-RU" dirty="0" smtClean="0"/>
              <a:t> Кд Кс </a:t>
            </a:r>
            <a:r>
              <a:rPr lang="ru-RU" dirty="0" err="1" smtClean="0"/>
              <a:t>Nнац</a:t>
            </a:r>
            <a:r>
              <a:rPr lang="ru-RU" dirty="0" smtClean="0"/>
              <a:t>,</a:t>
            </a:r>
          </a:p>
          <a:p>
            <a:pPr>
              <a:buNone/>
            </a:pPr>
            <a:r>
              <a:rPr lang="ru-RU" dirty="0" smtClean="0"/>
              <a:t>       где </a:t>
            </a:r>
            <a:r>
              <a:rPr lang="ru-RU" dirty="0" err="1" smtClean="0"/>
              <a:t>Пн</a:t>
            </a:r>
            <a:r>
              <a:rPr lang="ru-RU" dirty="0" smtClean="0"/>
              <a:t> - национальный префикс (</a:t>
            </a:r>
            <a:r>
              <a:rPr lang="ru-RU" dirty="0" err="1" smtClean="0"/>
              <a:t>Пн</a:t>
            </a:r>
            <a:r>
              <a:rPr lang="ru-RU" dirty="0" smtClean="0"/>
              <a:t> = 8); </a:t>
            </a:r>
          </a:p>
          <a:p>
            <a:pPr>
              <a:buNone/>
            </a:pPr>
            <a:r>
              <a:rPr lang="ru-RU" dirty="0" smtClean="0"/>
              <a:t>            Кд=10 – код доступа на международную сеть; </a:t>
            </a:r>
          </a:p>
          <a:p>
            <a:pPr>
              <a:buNone/>
            </a:pPr>
            <a:r>
              <a:rPr lang="ru-RU" dirty="0" smtClean="0"/>
              <a:t>            Кс - код страны или группы стран в сводном</a:t>
            </a:r>
          </a:p>
          <a:p>
            <a:pPr>
              <a:buNone/>
            </a:pPr>
            <a:r>
              <a:rPr lang="ru-RU" dirty="0" smtClean="0"/>
              <a:t>                   плане нумерации; </a:t>
            </a:r>
          </a:p>
          <a:p>
            <a:pPr>
              <a:buNone/>
            </a:pPr>
            <a:r>
              <a:rPr lang="ru-RU" dirty="0" smtClean="0"/>
              <a:t>           </a:t>
            </a:r>
            <a:r>
              <a:rPr lang="ru-RU" dirty="0" err="1" smtClean="0"/>
              <a:t>Nнац</a:t>
            </a:r>
            <a:r>
              <a:rPr lang="ru-RU" dirty="0" smtClean="0"/>
              <a:t> - национальный (значащий) номер абонента.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u="sng" dirty="0" smtClean="0"/>
              <a:t>2. Выбор оператора при каждом вызове (</a:t>
            </a:r>
            <a:r>
              <a:rPr lang="ru-RU" u="sng" dirty="0" err="1" smtClean="0"/>
              <a:t>Hot-choice</a:t>
            </a:r>
            <a:r>
              <a:rPr lang="ru-RU" dirty="0" smtClean="0"/>
              <a:t>)</a:t>
            </a:r>
          </a:p>
          <a:p>
            <a:r>
              <a:rPr lang="ru-RU" dirty="0" smtClean="0"/>
              <a:t>Междугородный формат: </a:t>
            </a:r>
            <a:r>
              <a:rPr lang="ru-RU" dirty="0" err="1" smtClean="0"/>
              <a:t>Пн</a:t>
            </a:r>
            <a:r>
              <a:rPr lang="ru-RU" dirty="0" smtClean="0"/>
              <a:t>- ХУ</a:t>
            </a:r>
            <a:r>
              <a:rPr lang="en-US" dirty="0" smtClean="0"/>
              <a:t>Z</a:t>
            </a:r>
            <a:r>
              <a:rPr lang="ru-RU" dirty="0" smtClean="0"/>
              <a:t>- </a:t>
            </a:r>
            <a:r>
              <a:rPr lang="ru-RU" dirty="0" err="1" smtClean="0"/>
              <a:t>Nнац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             </a:t>
            </a:r>
            <a:r>
              <a:rPr lang="en-US" dirty="0" smtClean="0"/>
              <a:t>(8-029-</a:t>
            </a:r>
            <a:r>
              <a:rPr lang="ru-RU" dirty="0" err="1" smtClean="0"/>
              <a:t>ххххххх</a:t>
            </a:r>
            <a:r>
              <a:rPr lang="ru-RU" dirty="0" smtClean="0"/>
              <a:t>),(8-017- </a:t>
            </a:r>
            <a:r>
              <a:rPr lang="ru-RU" dirty="0" err="1" smtClean="0"/>
              <a:t>ххххххх</a:t>
            </a:r>
            <a:r>
              <a:rPr lang="ru-RU" dirty="0" smtClean="0"/>
              <a:t>)</a:t>
            </a:r>
          </a:p>
          <a:p>
            <a:r>
              <a:rPr lang="ru-RU" dirty="0" smtClean="0"/>
              <a:t>Международный формат: </a:t>
            </a:r>
            <a:r>
              <a:rPr lang="ru-RU" dirty="0" err="1" smtClean="0"/>
              <a:t>Пн</a:t>
            </a:r>
            <a:r>
              <a:rPr lang="ru-RU" dirty="0" smtClean="0"/>
              <a:t>-</a:t>
            </a:r>
            <a:r>
              <a:rPr lang="en-US" dirty="0" smtClean="0"/>
              <a:t> </a:t>
            </a:r>
            <a:r>
              <a:rPr lang="ru-RU" dirty="0" smtClean="0"/>
              <a:t>Кд- Кс- ХУ- </a:t>
            </a:r>
            <a:r>
              <a:rPr lang="ru-RU" dirty="0" err="1" smtClean="0"/>
              <a:t>Nнац</a:t>
            </a:r>
            <a:r>
              <a:rPr lang="ru-RU" dirty="0" smtClean="0"/>
              <a:t>,</a:t>
            </a:r>
          </a:p>
          <a:p>
            <a:pPr>
              <a:buNone/>
            </a:pPr>
            <a:r>
              <a:rPr lang="ru-RU" dirty="0" smtClean="0"/>
              <a:t>            (8-10- 375 - 29-ххххххх), (8-10- 375 - 17-ххххххх)</a:t>
            </a:r>
          </a:p>
          <a:p>
            <a:pPr>
              <a:buNone/>
            </a:pPr>
            <a:r>
              <a:rPr lang="ru-RU" dirty="0" smtClean="0"/>
              <a:t>      ХУ</a:t>
            </a:r>
            <a:r>
              <a:rPr lang="en-US" dirty="0" smtClean="0"/>
              <a:t> </a:t>
            </a:r>
            <a:r>
              <a:rPr lang="ru-RU" dirty="0" smtClean="0"/>
              <a:t>- код выбора оператора </a:t>
            </a:r>
            <a:r>
              <a:rPr lang="ru-RU" dirty="0" err="1" smtClean="0"/>
              <a:t>моб</a:t>
            </a:r>
            <a:r>
              <a:rPr lang="ru-RU" dirty="0" smtClean="0"/>
              <a:t>. св., либо код города страны.</a:t>
            </a:r>
            <a:endParaRPr lang="ru-RU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388" y="217488"/>
            <a:ext cx="8785225" cy="763587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ru-RU" sz="3600" b="1" dirty="0">
                <a:solidFill>
                  <a:srgbClr val="002060"/>
                </a:solidFill>
              </a:rPr>
              <a:t>Международная связь</a:t>
            </a:r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0" y="2619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19526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2076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0" y="24907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6872" name="Object 8"/>
          <p:cNvGraphicFramePr>
            <a:graphicFrameLocks noChangeAspect="1"/>
          </p:cNvGraphicFramePr>
          <p:nvPr/>
        </p:nvGraphicFramePr>
        <p:xfrm>
          <a:off x="0" y="1196752"/>
          <a:ext cx="9144000" cy="4824535"/>
        </p:xfrm>
        <a:graphic>
          <a:graphicData uri="http://schemas.openxmlformats.org/presentationml/2006/ole">
            <p:oleObj spid="_x0000_s9218" name="Visio" r:id="rId3" imgW="8635548" imgH="3070222" progId="">
              <p:embed/>
            </p:oleObj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Нумерация международной связи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836712"/>
            <a:ext cx="8712968" cy="58326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 smtClean="0"/>
              <a:t>Нумерация АВС </a:t>
            </a:r>
            <a:r>
              <a:rPr lang="ru-RU" sz="2400" dirty="0" smtClean="0"/>
              <a:t>– географическое распределение по зонам.</a:t>
            </a:r>
          </a:p>
          <a:p>
            <a:pPr>
              <a:buNone/>
            </a:pPr>
            <a:r>
              <a:rPr lang="ru-RU" sz="2400" dirty="0" smtClean="0"/>
              <a:t>Первая цифра в </a:t>
            </a:r>
            <a:r>
              <a:rPr lang="ru-RU" sz="2400" b="1" dirty="0" smtClean="0"/>
              <a:t>международном  коде </a:t>
            </a:r>
            <a:r>
              <a:rPr lang="ru-RU" sz="2400" b="1" u="sng" dirty="0" smtClean="0">
                <a:solidFill>
                  <a:srgbClr val="002060"/>
                </a:solidFill>
              </a:rPr>
              <a:t>АВС</a:t>
            </a:r>
            <a:r>
              <a:rPr lang="ru-RU" sz="2400" u="sng" dirty="0" smtClean="0"/>
              <a:t> </a:t>
            </a:r>
            <a:r>
              <a:rPr lang="ru-RU" sz="2400" dirty="0" smtClean="0"/>
              <a:t>распределена по  странам </a:t>
            </a:r>
            <a:r>
              <a:rPr lang="ru-RU" sz="2400" u="sng" dirty="0" smtClean="0"/>
              <a:t>(</a:t>
            </a:r>
            <a:r>
              <a:rPr lang="ru-RU" sz="2400" b="1" u="sng" dirty="0" smtClean="0">
                <a:solidFill>
                  <a:srgbClr val="002060"/>
                </a:solidFill>
              </a:rPr>
              <a:t>А</a:t>
            </a:r>
            <a:r>
              <a:rPr lang="ru-RU" sz="2400" dirty="0" smtClean="0">
                <a:solidFill>
                  <a:srgbClr val="002060"/>
                </a:solidFill>
              </a:rPr>
              <a:t>) (сводный план нумерации)</a:t>
            </a:r>
            <a:r>
              <a:rPr lang="ru-RU" sz="2400" dirty="0" smtClean="0"/>
              <a:t>:</a:t>
            </a:r>
          </a:p>
          <a:p>
            <a:r>
              <a:rPr lang="ru-RU" sz="2400" dirty="0" smtClean="0"/>
              <a:t>1-  страны Северной Америки</a:t>
            </a:r>
          </a:p>
          <a:p>
            <a:r>
              <a:rPr lang="ru-RU" sz="2400" dirty="0" smtClean="0"/>
              <a:t>2- страны Африки</a:t>
            </a:r>
          </a:p>
          <a:p>
            <a:r>
              <a:rPr lang="ru-RU" sz="2400" dirty="0" smtClean="0"/>
              <a:t>3, 4 – страны Европы</a:t>
            </a:r>
          </a:p>
          <a:p>
            <a:r>
              <a:rPr lang="ru-RU" sz="2400" dirty="0" smtClean="0"/>
              <a:t>5 – страны Южной Америки</a:t>
            </a:r>
          </a:p>
          <a:p>
            <a:r>
              <a:rPr lang="ru-RU" sz="2400" dirty="0" smtClean="0"/>
              <a:t>6 – Австралия, страны Океании, Малайский Архипелаг</a:t>
            </a:r>
          </a:p>
          <a:p>
            <a:r>
              <a:rPr lang="ru-RU" sz="2400" dirty="0" smtClean="0"/>
              <a:t>7 – Россия, Абхазия, Казахстан,  Южная Осетия</a:t>
            </a:r>
          </a:p>
          <a:p>
            <a:r>
              <a:rPr lang="ru-RU" sz="2400" dirty="0" smtClean="0"/>
              <a:t>8 – Восточная Азия</a:t>
            </a:r>
          </a:p>
          <a:p>
            <a:r>
              <a:rPr lang="ru-RU" sz="2400" dirty="0" smtClean="0"/>
              <a:t>9 – западная и Южная Азия, Ближний Восток</a:t>
            </a:r>
          </a:p>
          <a:p>
            <a:r>
              <a:rPr lang="ru-RU" sz="2400" dirty="0" smtClean="0"/>
              <a:t>0 – не исп. резерв </a:t>
            </a:r>
          </a:p>
          <a:p>
            <a:endParaRPr lang="ru-RU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7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260350"/>
            <a:ext cx="9150350" cy="11620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altLang="ko-KR" sz="3200" b="1" dirty="0" smtClean="0">
                <a:solidFill>
                  <a:srgbClr val="002060"/>
                </a:solidFill>
              </a:rPr>
              <a:t>Сравнение эффективности передачи речи по сетям телефонным(</a:t>
            </a:r>
            <a:r>
              <a:rPr lang="en-US" altLang="ko-KR" sz="3200" b="1" dirty="0" smtClean="0">
                <a:solidFill>
                  <a:srgbClr val="002060"/>
                </a:solidFill>
                <a:ea typeface="굴림" panose="020B0600000101010101" pitchFamily="34" charset="-127"/>
              </a:rPr>
              <a:t>TDM</a:t>
            </a:r>
            <a:r>
              <a:rPr lang="ru-RU" altLang="ko-KR" sz="3200" b="1" dirty="0" smtClean="0">
                <a:solidFill>
                  <a:srgbClr val="002060"/>
                </a:solidFill>
                <a:ea typeface="굴림" panose="020B0600000101010101" pitchFamily="34" charset="-127"/>
              </a:rPr>
              <a:t>)</a:t>
            </a:r>
            <a:r>
              <a:rPr lang="en-US" altLang="ko-KR" sz="3200" b="1" dirty="0" smtClean="0">
                <a:solidFill>
                  <a:srgbClr val="002060"/>
                </a:solidFill>
                <a:ea typeface="굴림" panose="020B0600000101010101" pitchFamily="34" charset="-127"/>
              </a:rPr>
              <a:t> </a:t>
            </a:r>
            <a:r>
              <a:rPr lang="ru-RU" altLang="ko-KR" sz="3200" b="1" dirty="0" smtClean="0">
                <a:solidFill>
                  <a:srgbClr val="002060"/>
                </a:solidFill>
              </a:rPr>
              <a:t>и</a:t>
            </a:r>
            <a:r>
              <a:rPr lang="en-US" altLang="ko-KR" sz="3200" b="1" dirty="0" smtClean="0">
                <a:solidFill>
                  <a:srgbClr val="002060"/>
                </a:solidFill>
              </a:rPr>
              <a:t> NGN</a:t>
            </a:r>
            <a:r>
              <a:rPr lang="ru-RU" altLang="ko-KR" sz="3200" b="1" dirty="0" smtClean="0">
                <a:solidFill>
                  <a:srgbClr val="002060"/>
                </a:solidFill>
              </a:rPr>
              <a:t> (</a:t>
            </a:r>
            <a:r>
              <a:rPr lang="en-US" altLang="ko-KR" sz="3200" b="1" dirty="0" smtClean="0">
                <a:solidFill>
                  <a:srgbClr val="002060"/>
                </a:solidFill>
                <a:ea typeface="굴림" panose="020B0600000101010101" pitchFamily="34" charset="-127"/>
              </a:rPr>
              <a:t>IP</a:t>
            </a:r>
            <a:r>
              <a:rPr lang="ru-RU" altLang="ko-KR" sz="3200" b="1" dirty="0" smtClean="0">
                <a:solidFill>
                  <a:srgbClr val="002060"/>
                </a:solidFill>
                <a:ea typeface="굴림" panose="020B0600000101010101" pitchFamily="34" charset="-127"/>
              </a:rPr>
              <a:t>).</a:t>
            </a:r>
            <a:endParaRPr lang="ru-RU" altLang="ru-RU" sz="3200" b="1" dirty="0" smtClean="0">
              <a:solidFill>
                <a:srgbClr val="002060"/>
              </a:solidFill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46350" y="4733925"/>
            <a:ext cx="601663" cy="541338"/>
            <a:chOff x="910" y="531"/>
            <a:chExt cx="379" cy="341"/>
          </a:xfrm>
        </p:grpSpPr>
        <p:sp>
          <p:nvSpPr>
            <p:cNvPr id="20600" name="Freeform 5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601" name="Oval 6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402013" y="2889250"/>
            <a:ext cx="601662" cy="541338"/>
            <a:chOff x="1479" y="531"/>
            <a:chExt cx="379" cy="341"/>
          </a:xfrm>
        </p:grpSpPr>
        <p:sp>
          <p:nvSpPr>
            <p:cNvPr id="20597" name="Freeform 8"/>
            <p:cNvSpPr>
              <a:spLocks/>
            </p:cNvSpPr>
            <p:nvPr/>
          </p:nvSpPr>
          <p:spPr bwMode="auto">
            <a:xfrm>
              <a:off x="1479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98" name="Oval 9"/>
            <p:cNvSpPr>
              <a:spLocks noChangeArrowheads="1"/>
            </p:cNvSpPr>
            <p:nvPr/>
          </p:nvSpPr>
          <p:spPr bwMode="auto">
            <a:xfrm>
              <a:off x="1581" y="625"/>
              <a:ext cx="172" cy="17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  <p:sp>
          <p:nvSpPr>
            <p:cNvPr id="20599" name="Line 10"/>
            <p:cNvSpPr>
              <a:spLocks noChangeShapeType="1"/>
            </p:cNvSpPr>
            <p:nvPr/>
          </p:nvSpPr>
          <p:spPr bwMode="auto">
            <a:xfrm>
              <a:off x="1522" y="796"/>
              <a:ext cx="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4256088" y="2889250"/>
            <a:ext cx="601662" cy="541338"/>
            <a:chOff x="1479" y="531"/>
            <a:chExt cx="379" cy="341"/>
          </a:xfrm>
        </p:grpSpPr>
        <p:sp>
          <p:nvSpPr>
            <p:cNvPr id="20594" name="Freeform 12"/>
            <p:cNvSpPr>
              <a:spLocks/>
            </p:cNvSpPr>
            <p:nvPr/>
          </p:nvSpPr>
          <p:spPr bwMode="auto">
            <a:xfrm>
              <a:off x="1479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95" name="Oval 13"/>
            <p:cNvSpPr>
              <a:spLocks noChangeArrowheads="1"/>
            </p:cNvSpPr>
            <p:nvPr/>
          </p:nvSpPr>
          <p:spPr bwMode="auto">
            <a:xfrm>
              <a:off x="1581" y="625"/>
              <a:ext cx="172" cy="17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  <p:sp>
          <p:nvSpPr>
            <p:cNvPr id="20596" name="Line 14"/>
            <p:cNvSpPr>
              <a:spLocks noChangeShapeType="1"/>
            </p:cNvSpPr>
            <p:nvPr/>
          </p:nvSpPr>
          <p:spPr bwMode="auto">
            <a:xfrm>
              <a:off x="1522" y="796"/>
              <a:ext cx="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5111750" y="2889250"/>
            <a:ext cx="601663" cy="541338"/>
            <a:chOff x="1479" y="531"/>
            <a:chExt cx="379" cy="341"/>
          </a:xfrm>
        </p:grpSpPr>
        <p:sp>
          <p:nvSpPr>
            <p:cNvPr id="20591" name="Freeform 16"/>
            <p:cNvSpPr>
              <a:spLocks/>
            </p:cNvSpPr>
            <p:nvPr/>
          </p:nvSpPr>
          <p:spPr bwMode="auto">
            <a:xfrm>
              <a:off x="1479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92" name="Oval 17"/>
            <p:cNvSpPr>
              <a:spLocks noChangeArrowheads="1"/>
            </p:cNvSpPr>
            <p:nvPr/>
          </p:nvSpPr>
          <p:spPr bwMode="auto">
            <a:xfrm>
              <a:off x="1581" y="625"/>
              <a:ext cx="172" cy="17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  <p:sp>
          <p:nvSpPr>
            <p:cNvPr id="20593" name="Line 18"/>
            <p:cNvSpPr>
              <a:spLocks noChangeShapeType="1"/>
            </p:cNvSpPr>
            <p:nvPr/>
          </p:nvSpPr>
          <p:spPr bwMode="auto">
            <a:xfrm>
              <a:off x="1522" y="796"/>
              <a:ext cx="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5965825" y="2889250"/>
            <a:ext cx="601663" cy="541338"/>
            <a:chOff x="1479" y="531"/>
            <a:chExt cx="379" cy="341"/>
          </a:xfrm>
        </p:grpSpPr>
        <p:sp>
          <p:nvSpPr>
            <p:cNvPr id="20588" name="Freeform 20"/>
            <p:cNvSpPr>
              <a:spLocks/>
            </p:cNvSpPr>
            <p:nvPr/>
          </p:nvSpPr>
          <p:spPr bwMode="auto">
            <a:xfrm>
              <a:off x="1479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89" name="Oval 21"/>
            <p:cNvSpPr>
              <a:spLocks noChangeArrowheads="1"/>
            </p:cNvSpPr>
            <p:nvPr/>
          </p:nvSpPr>
          <p:spPr bwMode="auto">
            <a:xfrm>
              <a:off x="1581" y="625"/>
              <a:ext cx="172" cy="17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  <p:sp>
          <p:nvSpPr>
            <p:cNvPr id="20590" name="Line 22"/>
            <p:cNvSpPr>
              <a:spLocks noChangeShapeType="1"/>
            </p:cNvSpPr>
            <p:nvPr/>
          </p:nvSpPr>
          <p:spPr bwMode="auto">
            <a:xfrm>
              <a:off x="1522" y="796"/>
              <a:ext cx="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6821488" y="2889250"/>
            <a:ext cx="601662" cy="541338"/>
            <a:chOff x="910" y="531"/>
            <a:chExt cx="379" cy="341"/>
          </a:xfrm>
        </p:grpSpPr>
        <p:sp>
          <p:nvSpPr>
            <p:cNvPr id="20586" name="Freeform 24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87" name="Oval 25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sp>
        <p:nvSpPr>
          <p:cNvPr id="20489" name="Line 26"/>
          <p:cNvSpPr>
            <a:spLocks noChangeShapeType="1"/>
          </p:cNvSpPr>
          <p:nvPr/>
        </p:nvSpPr>
        <p:spPr bwMode="auto">
          <a:xfrm flipH="1" flipV="1">
            <a:off x="3851275" y="3159125"/>
            <a:ext cx="566738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oval" w="med" len="med"/>
            <a:tailEnd type="oval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0490" name="Line 27"/>
          <p:cNvSpPr>
            <a:spLocks noChangeShapeType="1"/>
          </p:cNvSpPr>
          <p:nvPr/>
        </p:nvSpPr>
        <p:spPr bwMode="auto">
          <a:xfrm flipH="1" flipV="1">
            <a:off x="4706938" y="3159125"/>
            <a:ext cx="566737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oval" w="med" len="med"/>
            <a:tailEnd type="oval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0491" name="Line 28"/>
          <p:cNvSpPr>
            <a:spLocks noChangeShapeType="1"/>
          </p:cNvSpPr>
          <p:nvPr/>
        </p:nvSpPr>
        <p:spPr bwMode="auto">
          <a:xfrm flipH="1" flipV="1">
            <a:off x="5561013" y="3159125"/>
            <a:ext cx="566737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oval" w="med" len="med"/>
            <a:tailEnd type="oval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0492" name="Line 29"/>
          <p:cNvSpPr>
            <a:spLocks noChangeShapeType="1"/>
          </p:cNvSpPr>
          <p:nvPr/>
        </p:nvSpPr>
        <p:spPr bwMode="auto">
          <a:xfrm flipH="1" flipV="1">
            <a:off x="6416675" y="3159125"/>
            <a:ext cx="566738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oval" w="med" len="med"/>
            <a:tailEnd type="oval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grpSp>
        <p:nvGrpSpPr>
          <p:cNvPr id="8" name="Group 30"/>
          <p:cNvGrpSpPr>
            <a:grpSpLocks/>
          </p:cNvGrpSpPr>
          <p:nvPr/>
        </p:nvGrpSpPr>
        <p:grpSpPr bwMode="auto">
          <a:xfrm rot="10800000">
            <a:off x="7721600" y="3068638"/>
            <a:ext cx="406400" cy="273050"/>
            <a:chOff x="442" y="657"/>
            <a:chExt cx="256" cy="172"/>
          </a:xfrm>
        </p:grpSpPr>
        <p:sp>
          <p:nvSpPr>
            <p:cNvPr id="20582" name="Line 31"/>
            <p:cNvSpPr>
              <a:spLocks noChangeShapeType="1"/>
            </p:cNvSpPr>
            <p:nvPr/>
          </p:nvSpPr>
          <p:spPr bwMode="auto">
            <a:xfrm flipH="1">
              <a:off x="442" y="714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83" name="Line 32"/>
            <p:cNvSpPr>
              <a:spLocks noChangeShapeType="1"/>
            </p:cNvSpPr>
            <p:nvPr/>
          </p:nvSpPr>
          <p:spPr bwMode="auto">
            <a:xfrm flipH="1">
              <a:off x="442" y="771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84" name="Line 33"/>
            <p:cNvSpPr>
              <a:spLocks noChangeShapeType="1"/>
            </p:cNvSpPr>
            <p:nvPr/>
          </p:nvSpPr>
          <p:spPr bwMode="auto">
            <a:xfrm flipH="1">
              <a:off x="442" y="828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85" name="AutoShape 34"/>
            <p:cNvSpPr>
              <a:spLocks noChangeArrowheads="1"/>
            </p:cNvSpPr>
            <p:nvPr/>
          </p:nvSpPr>
          <p:spPr bwMode="auto">
            <a:xfrm rot="-1783952">
              <a:off x="499" y="657"/>
              <a:ext cx="199" cy="17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1825625" y="2979738"/>
            <a:ext cx="406400" cy="273050"/>
            <a:chOff x="442" y="657"/>
            <a:chExt cx="256" cy="172"/>
          </a:xfrm>
        </p:grpSpPr>
        <p:sp>
          <p:nvSpPr>
            <p:cNvPr id="20578" name="Line 36"/>
            <p:cNvSpPr>
              <a:spLocks noChangeShapeType="1"/>
            </p:cNvSpPr>
            <p:nvPr/>
          </p:nvSpPr>
          <p:spPr bwMode="auto">
            <a:xfrm flipH="1">
              <a:off x="442" y="714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79" name="Line 37"/>
            <p:cNvSpPr>
              <a:spLocks noChangeShapeType="1"/>
            </p:cNvSpPr>
            <p:nvPr/>
          </p:nvSpPr>
          <p:spPr bwMode="auto">
            <a:xfrm flipH="1">
              <a:off x="442" y="771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80" name="Line 38"/>
            <p:cNvSpPr>
              <a:spLocks noChangeShapeType="1"/>
            </p:cNvSpPr>
            <p:nvPr/>
          </p:nvSpPr>
          <p:spPr bwMode="auto">
            <a:xfrm flipH="1">
              <a:off x="442" y="828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81" name="AutoShape 39"/>
            <p:cNvSpPr>
              <a:spLocks noChangeArrowheads="1"/>
            </p:cNvSpPr>
            <p:nvPr/>
          </p:nvSpPr>
          <p:spPr bwMode="auto">
            <a:xfrm rot="-1783952">
              <a:off x="499" y="657"/>
              <a:ext cx="199" cy="17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sp>
        <p:nvSpPr>
          <p:cNvPr id="20495" name="Line 40"/>
          <p:cNvSpPr>
            <a:spLocks noChangeShapeType="1"/>
          </p:cNvSpPr>
          <p:nvPr/>
        </p:nvSpPr>
        <p:spPr bwMode="auto">
          <a:xfrm flipH="1" flipV="1">
            <a:off x="2276475" y="5003800"/>
            <a:ext cx="4318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0496" name="Line 41"/>
          <p:cNvSpPr>
            <a:spLocks noChangeShapeType="1"/>
          </p:cNvSpPr>
          <p:nvPr/>
        </p:nvSpPr>
        <p:spPr bwMode="auto">
          <a:xfrm flipH="1" flipV="1">
            <a:off x="7272338" y="3159125"/>
            <a:ext cx="4318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0497" name="Text Box 42"/>
          <p:cNvSpPr txBox="1">
            <a:spLocks noChangeArrowheads="1"/>
          </p:cNvSpPr>
          <p:nvPr/>
        </p:nvSpPr>
        <p:spPr bwMode="auto">
          <a:xfrm flipH="1">
            <a:off x="1781175" y="3429000"/>
            <a:ext cx="6286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ru-RU" altLang="ru-RU" sz="1200">
                <a:latin typeface="Times New Roman" pitchFamily="18" charset="0"/>
                <a:cs typeface="Arial" charset="0"/>
              </a:rPr>
              <a:t>Узел доступа</a:t>
            </a:r>
          </a:p>
        </p:txBody>
      </p:sp>
      <p:sp>
        <p:nvSpPr>
          <p:cNvPr id="20498" name="Text Box 43"/>
          <p:cNvSpPr txBox="1">
            <a:spLocks noChangeArrowheads="1"/>
          </p:cNvSpPr>
          <p:nvPr/>
        </p:nvSpPr>
        <p:spPr bwMode="auto">
          <a:xfrm flipH="1">
            <a:off x="2592388" y="5273675"/>
            <a:ext cx="449262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ru-RU" altLang="ru-RU" sz="1200">
                <a:latin typeface="Times New Roman" pitchFamily="18" charset="0"/>
                <a:cs typeface="Arial" charset="0"/>
              </a:rPr>
              <a:t>АТС</a:t>
            </a:r>
          </a:p>
        </p:txBody>
      </p:sp>
      <p:sp>
        <p:nvSpPr>
          <p:cNvPr id="20499" name="Text Box 44"/>
          <p:cNvSpPr txBox="1">
            <a:spLocks noChangeArrowheads="1"/>
          </p:cNvSpPr>
          <p:nvPr/>
        </p:nvSpPr>
        <p:spPr bwMode="auto">
          <a:xfrm flipH="1">
            <a:off x="3446463" y="3429000"/>
            <a:ext cx="539750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ru-RU" altLang="ru-RU" sz="1200">
                <a:latin typeface="Times New Roman" pitchFamily="18" charset="0"/>
                <a:cs typeface="Arial" charset="0"/>
              </a:rPr>
              <a:t>АМТС</a:t>
            </a:r>
          </a:p>
        </p:txBody>
      </p:sp>
      <p:sp>
        <p:nvSpPr>
          <p:cNvPr id="20500" name="Text Box 45"/>
          <p:cNvSpPr txBox="1">
            <a:spLocks noChangeArrowheads="1"/>
          </p:cNvSpPr>
          <p:nvPr/>
        </p:nvSpPr>
        <p:spPr bwMode="auto">
          <a:xfrm flipH="1">
            <a:off x="4213225" y="3429000"/>
            <a:ext cx="717550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ru-RU" altLang="ru-RU" sz="1200">
                <a:latin typeface="Times New Roman" pitchFamily="18" charset="0"/>
                <a:cs typeface="Arial" charset="0"/>
              </a:rPr>
              <a:t>МЦК/ТУ</a:t>
            </a:r>
          </a:p>
        </p:txBody>
      </p:sp>
      <p:sp>
        <p:nvSpPr>
          <p:cNvPr id="20501" name="Text Box 46"/>
          <p:cNvSpPr txBox="1">
            <a:spLocks noChangeArrowheads="1"/>
          </p:cNvSpPr>
          <p:nvPr/>
        </p:nvSpPr>
        <p:spPr bwMode="auto">
          <a:xfrm flipH="1">
            <a:off x="5065713" y="3429000"/>
            <a:ext cx="717550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ru-RU" altLang="ru-RU" sz="1200">
                <a:latin typeface="Times New Roman" pitchFamily="18" charset="0"/>
                <a:cs typeface="Arial" charset="0"/>
              </a:rPr>
              <a:t>МЦК/ТУ</a:t>
            </a:r>
          </a:p>
        </p:txBody>
      </p:sp>
      <p:sp>
        <p:nvSpPr>
          <p:cNvPr id="20502" name="Text Box 47"/>
          <p:cNvSpPr txBox="1">
            <a:spLocks noChangeArrowheads="1"/>
          </p:cNvSpPr>
          <p:nvPr/>
        </p:nvSpPr>
        <p:spPr bwMode="auto">
          <a:xfrm flipH="1">
            <a:off x="6011863" y="3429000"/>
            <a:ext cx="539750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ru-RU" altLang="ru-RU" sz="1200">
                <a:latin typeface="Times New Roman" pitchFamily="18" charset="0"/>
                <a:cs typeface="Arial" charset="0"/>
              </a:rPr>
              <a:t>АМТС</a:t>
            </a:r>
          </a:p>
        </p:txBody>
      </p:sp>
      <p:sp>
        <p:nvSpPr>
          <p:cNvPr id="20503" name="Text Box 48"/>
          <p:cNvSpPr txBox="1">
            <a:spLocks noChangeArrowheads="1"/>
          </p:cNvSpPr>
          <p:nvPr/>
        </p:nvSpPr>
        <p:spPr bwMode="auto">
          <a:xfrm flipH="1">
            <a:off x="6911975" y="3429000"/>
            <a:ext cx="449263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ru-RU" altLang="ru-RU" sz="1200">
                <a:latin typeface="Times New Roman" pitchFamily="18" charset="0"/>
                <a:cs typeface="Arial" charset="0"/>
              </a:rPr>
              <a:t>АТС</a:t>
            </a:r>
          </a:p>
        </p:txBody>
      </p:sp>
      <p:sp>
        <p:nvSpPr>
          <p:cNvPr id="20504" name="Text Box 49"/>
          <p:cNvSpPr txBox="1">
            <a:spLocks noChangeArrowheads="1"/>
          </p:cNvSpPr>
          <p:nvPr/>
        </p:nvSpPr>
        <p:spPr bwMode="auto">
          <a:xfrm flipH="1">
            <a:off x="7586663" y="3429000"/>
            <a:ext cx="6286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ru-RU" altLang="ru-RU" sz="1200">
                <a:latin typeface="Times New Roman" pitchFamily="18" charset="0"/>
                <a:cs typeface="Arial" charset="0"/>
              </a:rPr>
              <a:t>Узел доступа</a:t>
            </a:r>
          </a:p>
        </p:txBody>
      </p:sp>
      <p:grpSp>
        <p:nvGrpSpPr>
          <p:cNvPr id="10" name="Group 50"/>
          <p:cNvGrpSpPr>
            <a:grpSpLocks/>
          </p:cNvGrpSpPr>
          <p:nvPr/>
        </p:nvGrpSpPr>
        <p:grpSpPr bwMode="auto">
          <a:xfrm>
            <a:off x="1871663" y="4826000"/>
            <a:ext cx="406400" cy="273050"/>
            <a:chOff x="442" y="657"/>
            <a:chExt cx="256" cy="172"/>
          </a:xfrm>
        </p:grpSpPr>
        <p:sp>
          <p:nvSpPr>
            <p:cNvPr id="20574" name="Line 51"/>
            <p:cNvSpPr>
              <a:spLocks noChangeShapeType="1"/>
            </p:cNvSpPr>
            <p:nvPr/>
          </p:nvSpPr>
          <p:spPr bwMode="auto">
            <a:xfrm flipH="1">
              <a:off x="442" y="714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75" name="Line 52"/>
            <p:cNvSpPr>
              <a:spLocks noChangeShapeType="1"/>
            </p:cNvSpPr>
            <p:nvPr/>
          </p:nvSpPr>
          <p:spPr bwMode="auto">
            <a:xfrm flipH="1">
              <a:off x="442" y="771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76" name="Line 53"/>
            <p:cNvSpPr>
              <a:spLocks noChangeShapeType="1"/>
            </p:cNvSpPr>
            <p:nvPr/>
          </p:nvSpPr>
          <p:spPr bwMode="auto">
            <a:xfrm flipH="1">
              <a:off x="442" y="828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77" name="AutoShape 54"/>
            <p:cNvSpPr>
              <a:spLocks noChangeArrowheads="1"/>
            </p:cNvSpPr>
            <p:nvPr/>
          </p:nvSpPr>
          <p:spPr bwMode="auto">
            <a:xfrm rot="-1783952">
              <a:off x="499" y="657"/>
              <a:ext cx="199" cy="17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sp>
        <p:nvSpPr>
          <p:cNvPr id="20506" name="Text Box 55"/>
          <p:cNvSpPr txBox="1">
            <a:spLocks noChangeArrowheads="1"/>
          </p:cNvSpPr>
          <p:nvPr/>
        </p:nvSpPr>
        <p:spPr bwMode="auto">
          <a:xfrm flipH="1">
            <a:off x="1827213" y="5275263"/>
            <a:ext cx="6286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ru-RU" altLang="ru-RU" sz="1200">
                <a:latin typeface="Times New Roman" pitchFamily="18" charset="0"/>
                <a:cs typeface="Arial" charset="0"/>
              </a:rPr>
              <a:t>Узел доступа</a:t>
            </a:r>
          </a:p>
        </p:txBody>
      </p:sp>
      <p:grpSp>
        <p:nvGrpSpPr>
          <p:cNvPr id="11" name="Group 56"/>
          <p:cNvGrpSpPr>
            <a:grpSpLocks/>
          </p:cNvGrpSpPr>
          <p:nvPr/>
        </p:nvGrpSpPr>
        <p:grpSpPr bwMode="auto">
          <a:xfrm rot="10800000">
            <a:off x="7767638" y="4914900"/>
            <a:ext cx="406400" cy="273050"/>
            <a:chOff x="442" y="657"/>
            <a:chExt cx="256" cy="172"/>
          </a:xfrm>
        </p:grpSpPr>
        <p:sp>
          <p:nvSpPr>
            <p:cNvPr id="20570" name="Line 57"/>
            <p:cNvSpPr>
              <a:spLocks noChangeShapeType="1"/>
            </p:cNvSpPr>
            <p:nvPr/>
          </p:nvSpPr>
          <p:spPr bwMode="auto">
            <a:xfrm flipH="1">
              <a:off x="442" y="714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71" name="Line 58"/>
            <p:cNvSpPr>
              <a:spLocks noChangeShapeType="1"/>
            </p:cNvSpPr>
            <p:nvPr/>
          </p:nvSpPr>
          <p:spPr bwMode="auto">
            <a:xfrm flipH="1">
              <a:off x="442" y="771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72" name="Line 59"/>
            <p:cNvSpPr>
              <a:spLocks noChangeShapeType="1"/>
            </p:cNvSpPr>
            <p:nvPr/>
          </p:nvSpPr>
          <p:spPr bwMode="auto">
            <a:xfrm flipH="1">
              <a:off x="442" y="828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73" name="AutoShape 60"/>
            <p:cNvSpPr>
              <a:spLocks noChangeArrowheads="1"/>
            </p:cNvSpPr>
            <p:nvPr/>
          </p:nvSpPr>
          <p:spPr bwMode="auto">
            <a:xfrm rot="-1783952">
              <a:off x="499" y="657"/>
              <a:ext cx="199" cy="17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sp>
        <p:nvSpPr>
          <p:cNvPr id="20508" name="Text Box 61"/>
          <p:cNvSpPr txBox="1">
            <a:spLocks noChangeArrowheads="1"/>
          </p:cNvSpPr>
          <p:nvPr/>
        </p:nvSpPr>
        <p:spPr bwMode="auto">
          <a:xfrm flipH="1">
            <a:off x="7632700" y="5275263"/>
            <a:ext cx="6286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ru-RU" altLang="ru-RU" sz="1200">
                <a:latin typeface="Times New Roman" pitchFamily="18" charset="0"/>
                <a:cs typeface="Arial" charset="0"/>
              </a:rPr>
              <a:t>Узел доступа</a:t>
            </a:r>
          </a:p>
        </p:txBody>
      </p:sp>
      <p:sp>
        <p:nvSpPr>
          <p:cNvPr id="20509" name="Freeform 62"/>
          <p:cNvSpPr>
            <a:spLocks/>
          </p:cNvSpPr>
          <p:nvPr/>
        </p:nvSpPr>
        <p:spPr bwMode="auto">
          <a:xfrm>
            <a:off x="3848100" y="4464050"/>
            <a:ext cx="2298700" cy="1125538"/>
          </a:xfrm>
          <a:custGeom>
            <a:avLst/>
            <a:gdLst>
              <a:gd name="T0" fmla="*/ 59996623 w 7941"/>
              <a:gd name="T1" fmla="*/ 111654571 h 3775"/>
              <a:gd name="T2" fmla="*/ 0 w 7941"/>
              <a:gd name="T3" fmla="*/ 157614114 h 3775"/>
              <a:gd name="T4" fmla="*/ 33182507 w 7941"/>
              <a:gd name="T5" fmla="*/ 197439961 h 3775"/>
              <a:gd name="T6" fmla="*/ 32847298 w 7941"/>
              <a:gd name="T7" fmla="*/ 196906561 h 3775"/>
              <a:gd name="T8" fmla="*/ 14580145 w 7941"/>
              <a:gd name="T9" fmla="*/ 228375999 h 3775"/>
              <a:gd name="T10" fmla="*/ 81783194 w 7941"/>
              <a:gd name="T11" fmla="*/ 274246953 h 3775"/>
              <a:gd name="T12" fmla="*/ 89659735 w 7941"/>
              <a:gd name="T13" fmla="*/ 274068954 h 3775"/>
              <a:gd name="T14" fmla="*/ 89324816 w 7941"/>
              <a:gd name="T15" fmla="*/ 274246953 h 3775"/>
              <a:gd name="T16" fmla="*/ 192559064 w 7941"/>
              <a:gd name="T17" fmla="*/ 315495077 h 3775"/>
              <a:gd name="T18" fmla="*/ 253728901 w 7941"/>
              <a:gd name="T19" fmla="*/ 303760490 h 3775"/>
              <a:gd name="T20" fmla="*/ 253561296 w 7941"/>
              <a:gd name="T21" fmla="*/ 303760490 h 3775"/>
              <a:gd name="T22" fmla="*/ 340120819 w 7941"/>
              <a:gd name="T23" fmla="*/ 335585702 h 3775"/>
              <a:gd name="T24" fmla="*/ 439668313 w 7941"/>
              <a:gd name="T25" fmla="*/ 284736666 h 3775"/>
              <a:gd name="T26" fmla="*/ 439668313 w 7941"/>
              <a:gd name="T27" fmla="*/ 285270067 h 3775"/>
              <a:gd name="T28" fmla="*/ 486928427 w 7941"/>
              <a:gd name="T29" fmla="*/ 294515278 h 3775"/>
              <a:gd name="T30" fmla="*/ 576085312 w 7941"/>
              <a:gd name="T31" fmla="*/ 233887705 h 3775"/>
              <a:gd name="T32" fmla="*/ 575917997 w 7941"/>
              <a:gd name="T33" fmla="*/ 233709706 h 3775"/>
              <a:gd name="T34" fmla="*/ 665410237 w 7941"/>
              <a:gd name="T35" fmla="*/ 162770120 h 3775"/>
              <a:gd name="T36" fmla="*/ 643958603 w 7941"/>
              <a:gd name="T37" fmla="*/ 119121880 h 3775"/>
              <a:gd name="T38" fmla="*/ 643623394 w 7941"/>
              <a:gd name="T39" fmla="*/ 119121880 h 3775"/>
              <a:gd name="T40" fmla="*/ 650326994 w 7941"/>
              <a:gd name="T41" fmla="*/ 96719654 h 3775"/>
              <a:gd name="T42" fmla="*/ 589827720 w 7941"/>
              <a:gd name="T43" fmla="*/ 42314870 h 3775"/>
              <a:gd name="T44" fmla="*/ 589995324 w 7941"/>
              <a:gd name="T45" fmla="*/ 42137169 h 3775"/>
              <a:gd name="T46" fmla="*/ 516423916 w 7941"/>
              <a:gd name="T47" fmla="*/ 0 h 3775"/>
              <a:gd name="T48" fmla="*/ 459276297 w 7941"/>
              <a:gd name="T49" fmla="*/ 18135026 h 3775"/>
              <a:gd name="T50" fmla="*/ 459443902 w 7941"/>
              <a:gd name="T51" fmla="*/ 18135026 h 3775"/>
              <a:gd name="T52" fmla="*/ 405983291 w 7941"/>
              <a:gd name="T53" fmla="*/ 0 h 3775"/>
              <a:gd name="T54" fmla="*/ 345818792 w 7941"/>
              <a:gd name="T55" fmla="*/ 25602340 h 3775"/>
              <a:gd name="T56" fmla="*/ 345986396 w 7941"/>
              <a:gd name="T57" fmla="*/ 26313441 h 3775"/>
              <a:gd name="T58" fmla="*/ 288335892 w 7941"/>
              <a:gd name="T59" fmla="*/ 10134316 h 3775"/>
              <a:gd name="T60" fmla="*/ 215854057 w 7941"/>
              <a:gd name="T61" fmla="*/ 40003567 h 3775"/>
              <a:gd name="T62" fmla="*/ 215518848 w 7941"/>
              <a:gd name="T63" fmla="*/ 40536967 h 3775"/>
              <a:gd name="T64" fmla="*/ 162895971 w 7941"/>
              <a:gd name="T65" fmla="*/ 30580645 h 3775"/>
              <a:gd name="T66" fmla="*/ 58991286 w 7941"/>
              <a:gd name="T67" fmla="*/ 102053659 h 3775"/>
              <a:gd name="T68" fmla="*/ 59829019 w 7941"/>
              <a:gd name="T69" fmla="*/ 111654571 h 3775"/>
              <a:gd name="T70" fmla="*/ 59996623 w 7941"/>
              <a:gd name="T71" fmla="*/ 111654571 h 377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941"/>
              <a:gd name="T109" fmla="*/ 0 h 3775"/>
              <a:gd name="T110" fmla="*/ 7941 w 7941"/>
              <a:gd name="T111" fmla="*/ 3775 h 3775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7941" h="3775">
                <a:moveTo>
                  <a:pt x="716" y="1256"/>
                </a:moveTo>
                <a:cubicBezTo>
                  <a:pt x="310" y="1282"/>
                  <a:pt x="0" y="1507"/>
                  <a:pt x="0" y="1773"/>
                </a:cubicBezTo>
                <a:cubicBezTo>
                  <a:pt x="0" y="1957"/>
                  <a:pt x="150" y="2129"/>
                  <a:pt x="396" y="2221"/>
                </a:cubicBezTo>
                <a:lnTo>
                  <a:pt x="392" y="2215"/>
                </a:lnTo>
                <a:cubicBezTo>
                  <a:pt x="252" y="2311"/>
                  <a:pt x="174" y="2437"/>
                  <a:pt x="174" y="2569"/>
                </a:cubicBezTo>
                <a:cubicBezTo>
                  <a:pt x="174" y="2855"/>
                  <a:pt x="534" y="3085"/>
                  <a:pt x="976" y="3085"/>
                </a:cubicBezTo>
                <a:cubicBezTo>
                  <a:pt x="1008" y="3085"/>
                  <a:pt x="1038" y="3085"/>
                  <a:pt x="1070" y="3083"/>
                </a:cubicBezTo>
                <a:lnTo>
                  <a:pt x="1066" y="3085"/>
                </a:lnTo>
                <a:cubicBezTo>
                  <a:pt x="1318" y="3373"/>
                  <a:pt x="1788" y="3549"/>
                  <a:pt x="2298" y="3549"/>
                </a:cubicBezTo>
                <a:cubicBezTo>
                  <a:pt x="2554" y="3549"/>
                  <a:pt x="2808" y="3503"/>
                  <a:pt x="3028" y="3417"/>
                </a:cubicBezTo>
                <a:lnTo>
                  <a:pt x="3026" y="3417"/>
                </a:lnTo>
                <a:cubicBezTo>
                  <a:pt x="3256" y="3641"/>
                  <a:pt x="3645" y="3775"/>
                  <a:pt x="4059" y="3775"/>
                </a:cubicBezTo>
                <a:cubicBezTo>
                  <a:pt x="4605" y="3775"/>
                  <a:pt x="5089" y="3543"/>
                  <a:pt x="5247" y="3203"/>
                </a:cubicBezTo>
                <a:lnTo>
                  <a:pt x="5247" y="3209"/>
                </a:lnTo>
                <a:cubicBezTo>
                  <a:pt x="5417" y="3277"/>
                  <a:pt x="5611" y="3313"/>
                  <a:pt x="5811" y="3313"/>
                </a:cubicBezTo>
                <a:cubicBezTo>
                  <a:pt x="6395" y="3313"/>
                  <a:pt x="6871" y="3009"/>
                  <a:pt x="6875" y="2631"/>
                </a:cubicBezTo>
                <a:lnTo>
                  <a:pt x="6873" y="2629"/>
                </a:lnTo>
                <a:cubicBezTo>
                  <a:pt x="7485" y="2573"/>
                  <a:pt x="7941" y="2233"/>
                  <a:pt x="7941" y="1831"/>
                </a:cubicBezTo>
                <a:cubicBezTo>
                  <a:pt x="7941" y="1653"/>
                  <a:pt x="7851" y="1481"/>
                  <a:pt x="7685" y="1340"/>
                </a:cubicBezTo>
                <a:lnTo>
                  <a:pt x="7681" y="1340"/>
                </a:lnTo>
                <a:cubicBezTo>
                  <a:pt x="7733" y="1260"/>
                  <a:pt x="7761" y="1174"/>
                  <a:pt x="7761" y="1088"/>
                </a:cubicBezTo>
                <a:cubicBezTo>
                  <a:pt x="7761" y="802"/>
                  <a:pt x="7465" y="550"/>
                  <a:pt x="7039" y="476"/>
                </a:cubicBezTo>
                <a:lnTo>
                  <a:pt x="7041" y="474"/>
                </a:lnTo>
                <a:cubicBezTo>
                  <a:pt x="6965" y="200"/>
                  <a:pt x="6595" y="0"/>
                  <a:pt x="6163" y="0"/>
                </a:cubicBezTo>
                <a:cubicBezTo>
                  <a:pt x="5901" y="0"/>
                  <a:pt x="5651" y="74"/>
                  <a:pt x="5481" y="204"/>
                </a:cubicBezTo>
                <a:lnTo>
                  <a:pt x="5483" y="204"/>
                </a:lnTo>
                <a:cubicBezTo>
                  <a:pt x="5331" y="76"/>
                  <a:pt x="5095" y="0"/>
                  <a:pt x="4845" y="0"/>
                </a:cubicBezTo>
                <a:cubicBezTo>
                  <a:pt x="4541" y="0"/>
                  <a:pt x="4263" y="112"/>
                  <a:pt x="4127" y="288"/>
                </a:cubicBezTo>
                <a:lnTo>
                  <a:pt x="4129" y="296"/>
                </a:lnTo>
                <a:cubicBezTo>
                  <a:pt x="3947" y="180"/>
                  <a:pt x="3699" y="114"/>
                  <a:pt x="3441" y="114"/>
                </a:cubicBezTo>
                <a:cubicBezTo>
                  <a:pt x="3078" y="114"/>
                  <a:pt x="2746" y="244"/>
                  <a:pt x="2576" y="450"/>
                </a:cubicBezTo>
                <a:lnTo>
                  <a:pt x="2572" y="456"/>
                </a:lnTo>
                <a:cubicBezTo>
                  <a:pt x="2382" y="382"/>
                  <a:pt x="2166" y="344"/>
                  <a:pt x="1944" y="344"/>
                </a:cubicBezTo>
                <a:cubicBezTo>
                  <a:pt x="1258" y="344"/>
                  <a:pt x="704" y="704"/>
                  <a:pt x="704" y="1148"/>
                </a:cubicBezTo>
                <a:cubicBezTo>
                  <a:pt x="702" y="1184"/>
                  <a:pt x="706" y="1220"/>
                  <a:pt x="714" y="1256"/>
                </a:cubicBezTo>
                <a:lnTo>
                  <a:pt x="716" y="1256"/>
                </a:lnTo>
                <a:close/>
              </a:path>
            </a:pathLst>
          </a:custGeom>
          <a:gradFill rotWithShape="1">
            <a:gsLst>
              <a:gs pos="0">
                <a:srgbClr val="CCFFFF"/>
              </a:gs>
              <a:gs pos="100000">
                <a:srgbClr val="66FFFF"/>
              </a:gs>
            </a:gsLst>
            <a:path path="rect">
              <a:fillToRect l="50000" t="50000" r="50000" b="50000"/>
            </a:path>
          </a:gra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0510" name="Text Box 63"/>
          <p:cNvSpPr txBox="1">
            <a:spLocks noChangeArrowheads="1"/>
          </p:cNvSpPr>
          <p:nvPr/>
        </p:nvSpPr>
        <p:spPr bwMode="auto">
          <a:xfrm>
            <a:off x="4706938" y="4868863"/>
            <a:ext cx="7556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ru-RU" sz="1200">
                <a:latin typeface="Times New Roman" pitchFamily="18" charset="0"/>
                <a:cs typeface="Arial" charset="0"/>
              </a:rPr>
              <a:t>IP </a:t>
            </a:r>
            <a:r>
              <a:rPr lang="ru-RU" altLang="ru-RU" sz="1200">
                <a:latin typeface="Times New Roman" pitchFamily="18" charset="0"/>
                <a:cs typeface="Arial" charset="0"/>
              </a:rPr>
              <a:t>- сеть</a:t>
            </a:r>
            <a:endParaRPr lang="en-US" altLang="ru-RU" sz="1200">
              <a:latin typeface="Times New Roman" pitchFamily="18" charset="0"/>
              <a:cs typeface="Arial" charset="0"/>
            </a:endParaRPr>
          </a:p>
        </p:txBody>
      </p:sp>
      <p:grpSp>
        <p:nvGrpSpPr>
          <p:cNvPr id="12" name="Group 67"/>
          <p:cNvGrpSpPr>
            <a:grpSpLocks/>
          </p:cNvGrpSpPr>
          <p:nvPr/>
        </p:nvGrpSpPr>
        <p:grpSpPr bwMode="auto">
          <a:xfrm>
            <a:off x="6821488" y="4733925"/>
            <a:ext cx="601662" cy="541338"/>
            <a:chOff x="910" y="531"/>
            <a:chExt cx="379" cy="341"/>
          </a:xfrm>
        </p:grpSpPr>
        <p:sp>
          <p:nvSpPr>
            <p:cNvPr id="20568" name="Freeform 68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69" name="Oval 69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sp>
        <p:nvSpPr>
          <p:cNvPr id="20512" name="Line 71"/>
          <p:cNvSpPr>
            <a:spLocks noChangeShapeType="1"/>
          </p:cNvSpPr>
          <p:nvPr/>
        </p:nvSpPr>
        <p:spPr bwMode="auto">
          <a:xfrm flipH="1" flipV="1">
            <a:off x="7272338" y="5003800"/>
            <a:ext cx="4318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0513" name="Text Box 72"/>
          <p:cNvSpPr txBox="1">
            <a:spLocks noChangeArrowheads="1"/>
          </p:cNvSpPr>
          <p:nvPr/>
        </p:nvSpPr>
        <p:spPr bwMode="auto">
          <a:xfrm flipH="1">
            <a:off x="6911975" y="5273675"/>
            <a:ext cx="449263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ru-RU" altLang="ru-RU" sz="1200">
                <a:latin typeface="Times New Roman" pitchFamily="18" charset="0"/>
                <a:cs typeface="Arial" charset="0"/>
              </a:rPr>
              <a:t>АТС</a:t>
            </a:r>
          </a:p>
        </p:txBody>
      </p:sp>
      <p:grpSp>
        <p:nvGrpSpPr>
          <p:cNvPr id="13" name="Group 73"/>
          <p:cNvGrpSpPr>
            <a:grpSpLocks/>
          </p:cNvGrpSpPr>
          <p:nvPr/>
        </p:nvGrpSpPr>
        <p:grpSpPr bwMode="auto">
          <a:xfrm>
            <a:off x="2546350" y="2889250"/>
            <a:ext cx="601663" cy="541338"/>
            <a:chOff x="910" y="531"/>
            <a:chExt cx="379" cy="341"/>
          </a:xfrm>
        </p:grpSpPr>
        <p:sp>
          <p:nvSpPr>
            <p:cNvPr id="20566" name="Freeform 74"/>
            <p:cNvSpPr>
              <a:spLocks/>
            </p:cNvSpPr>
            <p:nvPr/>
          </p:nvSpPr>
          <p:spPr bwMode="auto">
            <a:xfrm>
              <a:off x="910" y="531"/>
              <a:ext cx="379" cy="341"/>
            </a:xfrm>
            <a:custGeom>
              <a:avLst/>
              <a:gdLst>
                <a:gd name="T0" fmla="*/ 0 w 375"/>
                <a:gd name="T1" fmla="*/ 359 h 324"/>
                <a:gd name="T2" fmla="*/ 383 w 375"/>
                <a:gd name="T3" fmla="*/ 359 h 324"/>
                <a:gd name="T4" fmla="*/ 192 w 375"/>
                <a:gd name="T5" fmla="*/ 0 h 324"/>
                <a:gd name="T6" fmla="*/ 0 w 375"/>
                <a:gd name="T7" fmla="*/ 359 h 324"/>
                <a:gd name="T8" fmla="*/ 0 w 375"/>
                <a:gd name="T9" fmla="*/ 359 h 3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5"/>
                <a:gd name="T16" fmla="*/ 0 h 324"/>
                <a:gd name="T17" fmla="*/ 375 w 375"/>
                <a:gd name="T18" fmla="*/ 324 h 3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5" h="324">
                  <a:moveTo>
                    <a:pt x="0" y="324"/>
                  </a:moveTo>
                  <a:lnTo>
                    <a:pt x="375" y="324"/>
                  </a:lnTo>
                  <a:lnTo>
                    <a:pt x="188" y="0"/>
                  </a:lnTo>
                  <a:lnTo>
                    <a:pt x="0" y="32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67" name="Oval 75"/>
            <p:cNvSpPr>
              <a:spLocks noChangeArrowheads="1"/>
            </p:cNvSpPr>
            <p:nvPr/>
          </p:nvSpPr>
          <p:spPr bwMode="auto">
            <a:xfrm>
              <a:off x="986" y="645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ru-RU"/>
            </a:p>
          </p:txBody>
        </p:sp>
      </p:grpSp>
      <p:sp>
        <p:nvSpPr>
          <p:cNvPr id="20515" name="Line 76"/>
          <p:cNvSpPr>
            <a:spLocks noChangeShapeType="1"/>
          </p:cNvSpPr>
          <p:nvPr/>
        </p:nvSpPr>
        <p:spPr bwMode="auto">
          <a:xfrm flipH="1" flipV="1">
            <a:off x="2276475" y="3159125"/>
            <a:ext cx="4318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0516" name="Text Box 77"/>
          <p:cNvSpPr txBox="1">
            <a:spLocks noChangeArrowheads="1"/>
          </p:cNvSpPr>
          <p:nvPr/>
        </p:nvSpPr>
        <p:spPr bwMode="auto">
          <a:xfrm flipH="1">
            <a:off x="2592388" y="3429000"/>
            <a:ext cx="449262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ru-RU" altLang="ru-RU" sz="1200">
                <a:latin typeface="Times New Roman" pitchFamily="18" charset="0"/>
                <a:cs typeface="Arial" charset="0"/>
              </a:rPr>
              <a:t>АТС</a:t>
            </a:r>
          </a:p>
        </p:txBody>
      </p:sp>
      <p:sp>
        <p:nvSpPr>
          <p:cNvPr id="20517" name="Line 78"/>
          <p:cNvSpPr>
            <a:spLocks noChangeShapeType="1"/>
          </p:cNvSpPr>
          <p:nvPr/>
        </p:nvSpPr>
        <p:spPr bwMode="auto">
          <a:xfrm flipH="1" flipV="1">
            <a:off x="2995613" y="3159125"/>
            <a:ext cx="566737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oval" w="med" len="med"/>
            <a:tailEnd type="oval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grpSp>
        <p:nvGrpSpPr>
          <p:cNvPr id="14" name="Group 79"/>
          <p:cNvGrpSpPr>
            <a:grpSpLocks/>
          </p:cNvGrpSpPr>
          <p:nvPr/>
        </p:nvGrpSpPr>
        <p:grpSpPr bwMode="auto">
          <a:xfrm>
            <a:off x="3563938" y="4724400"/>
            <a:ext cx="452437" cy="458788"/>
            <a:chOff x="3321" y="2659"/>
            <a:chExt cx="155" cy="157"/>
          </a:xfrm>
        </p:grpSpPr>
        <p:sp>
          <p:nvSpPr>
            <p:cNvPr id="20545" name="Freeform 80"/>
            <p:cNvSpPr>
              <a:spLocks/>
            </p:cNvSpPr>
            <p:nvPr/>
          </p:nvSpPr>
          <p:spPr bwMode="auto">
            <a:xfrm>
              <a:off x="3322" y="2766"/>
              <a:ext cx="153" cy="50"/>
            </a:xfrm>
            <a:custGeom>
              <a:avLst/>
              <a:gdLst>
                <a:gd name="T0" fmla="*/ 152 w 153"/>
                <a:gd name="T1" fmla="*/ 27 h 50"/>
                <a:gd name="T2" fmla="*/ 150 w 153"/>
                <a:gd name="T3" fmla="*/ 31 h 50"/>
                <a:gd name="T4" fmla="*/ 147 w 153"/>
                <a:gd name="T5" fmla="*/ 34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5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49 h 50"/>
                <a:gd name="T20" fmla="*/ 76 w 153"/>
                <a:gd name="T21" fmla="*/ 50 h 50"/>
                <a:gd name="T22" fmla="*/ 64 w 153"/>
                <a:gd name="T23" fmla="*/ 49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5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4 h 50"/>
                <a:gd name="T38" fmla="*/ 2 w 153"/>
                <a:gd name="T39" fmla="*/ 31 h 50"/>
                <a:gd name="T40" fmla="*/ 0 w 153"/>
                <a:gd name="T41" fmla="*/ 27 h 50"/>
                <a:gd name="T42" fmla="*/ 0 w 153"/>
                <a:gd name="T43" fmla="*/ 23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1 h 50"/>
                <a:gd name="T60" fmla="*/ 61 w 153"/>
                <a:gd name="T61" fmla="*/ 0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3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7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7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3"/>
                  </a:lnTo>
                  <a:lnTo>
                    <a:pt x="147" y="34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2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5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49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49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5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2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4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3"/>
                  </a:lnTo>
                  <a:lnTo>
                    <a:pt x="40" y="3"/>
                  </a:lnTo>
                  <a:lnTo>
                    <a:pt x="43" y="2"/>
                  </a:lnTo>
                  <a:lnTo>
                    <a:pt x="46" y="2"/>
                  </a:lnTo>
                  <a:lnTo>
                    <a:pt x="50" y="1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1"/>
                  </a:lnTo>
                  <a:lnTo>
                    <a:pt x="106" y="2"/>
                  </a:lnTo>
                  <a:lnTo>
                    <a:pt x="109" y="2"/>
                  </a:lnTo>
                  <a:lnTo>
                    <a:pt x="113" y="3"/>
                  </a:lnTo>
                  <a:lnTo>
                    <a:pt x="116" y="3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6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7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3"/>
                  </a:lnTo>
                  <a:lnTo>
                    <a:pt x="153" y="25"/>
                  </a:lnTo>
                  <a:close/>
                </a:path>
              </a:pathLst>
            </a:custGeom>
            <a:solidFill>
              <a:srgbClr val="0078A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46" name="Freeform 81"/>
            <p:cNvSpPr>
              <a:spLocks/>
            </p:cNvSpPr>
            <p:nvPr/>
          </p:nvSpPr>
          <p:spPr bwMode="auto">
            <a:xfrm>
              <a:off x="3322" y="2766"/>
              <a:ext cx="153" cy="50"/>
            </a:xfrm>
            <a:custGeom>
              <a:avLst/>
              <a:gdLst>
                <a:gd name="T0" fmla="*/ 152 w 153"/>
                <a:gd name="T1" fmla="*/ 27 h 50"/>
                <a:gd name="T2" fmla="*/ 150 w 153"/>
                <a:gd name="T3" fmla="*/ 31 h 50"/>
                <a:gd name="T4" fmla="*/ 147 w 153"/>
                <a:gd name="T5" fmla="*/ 34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5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49 h 50"/>
                <a:gd name="T20" fmla="*/ 76 w 153"/>
                <a:gd name="T21" fmla="*/ 50 h 50"/>
                <a:gd name="T22" fmla="*/ 64 w 153"/>
                <a:gd name="T23" fmla="*/ 49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5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4 h 50"/>
                <a:gd name="T38" fmla="*/ 2 w 153"/>
                <a:gd name="T39" fmla="*/ 31 h 50"/>
                <a:gd name="T40" fmla="*/ 0 w 153"/>
                <a:gd name="T41" fmla="*/ 27 h 50"/>
                <a:gd name="T42" fmla="*/ 0 w 153"/>
                <a:gd name="T43" fmla="*/ 23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1 h 50"/>
                <a:gd name="T60" fmla="*/ 61 w 153"/>
                <a:gd name="T61" fmla="*/ 0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3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7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7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3"/>
                  </a:lnTo>
                  <a:lnTo>
                    <a:pt x="147" y="34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2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5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49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49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5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2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4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3"/>
                  </a:lnTo>
                  <a:lnTo>
                    <a:pt x="40" y="3"/>
                  </a:lnTo>
                  <a:lnTo>
                    <a:pt x="43" y="2"/>
                  </a:lnTo>
                  <a:lnTo>
                    <a:pt x="46" y="2"/>
                  </a:lnTo>
                  <a:lnTo>
                    <a:pt x="50" y="1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1"/>
                  </a:lnTo>
                  <a:lnTo>
                    <a:pt x="106" y="2"/>
                  </a:lnTo>
                  <a:lnTo>
                    <a:pt x="109" y="2"/>
                  </a:lnTo>
                  <a:lnTo>
                    <a:pt x="113" y="3"/>
                  </a:lnTo>
                  <a:lnTo>
                    <a:pt x="116" y="3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6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7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3"/>
                  </a:lnTo>
                  <a:lnTo>
                    <a:pt x="153" y="25"/>
                  </a:lnTo>
                </a:path>
              </a:pathLst>
            </a:custGeom>
            <a:noFill/>
            <a:ln w="0">
              <a:solidFill>
                <a:srgbClr val="ADD7E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47" name="Rectangle 82"/>
            <p:cNvSpPr>
              <a:spLocks noChangeArrowheads="1"/>
            </p:cNvSpPr>
            <p:nvPr/>
          </p:nvSpPr>
          <p:spPr bwMode="auto">
            <a:xfrm>
              <a:off x="3321" y="2685"/>
              <a:ext cx="154" cy="106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0548" name="Freeform 83"/>
            <p:cNvSpPr>
              <a:spLocks/>
            </p:cNvSpPr>
            <p:nvPr/>
          </p:nvSpPr>
          <p:spPr bwMode="auto">
            <a:xfrm>
              <a:off x="3322" y="2659"/>
              <a:ext cx="153" cy="50"/>
            </a:xfrm>
            <a:custGeom>
              <a:avLst/>
              <a:gdLst>
                <a:gd name="T0" fmla="*/ 152 w 153"/>
                <a:gd name="T1" fmla="*/ 28 h 50"/>
                <a:gd name="T2" fmla="*/ 150 w 153"/>
                <a:gd name="T3" fmla="*/ 31 h 50"/>
                <a:gd name="T4" fmla="*/ 147 w 153"/>
                <a:gd name="T5" fmla="*/ 35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6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50 h 50"/>
                <a:gd name="T20" fmla="*/ 76 w 153"/>
                <a:gd name="T21" fmla="*/ 50 h 50"/>
                <a:gd name="T22" fmla="*/ 64 w 153"/>
                <a:gd name="T23" fmla="*/ 50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6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5 h 50"/>
                <a:gd name="T38" fmla="*/ 2 w 153"/>
                <a:gd name="T39" fmla="*/ 31 h 50"/>
                <a:gd name="T40" fmla="*/ 0 w 153"/>
                <a:gd name="T41" fmla="*/ 28 h 50"/>
                <a:gd name="T42" fmla="*/ 0 w 153"/>
                <a:gd name="T43" fmla="*/ 24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2 h 50"/>
                <a:gd name="T60" fmla="*/ 61 w 153"/>
                <a:gd name="T61" fmla="*/ 1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4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8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8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4"/>
                  </a:lnTo>
                  <a:lnTo>
                    <a:pt x="147" y="35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3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6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50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50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6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3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8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7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4"/>
                  </a:lnTo>
                  <a:lnTo>
                    <a:pt x="40" y="3"/>
                  </a:lnTo>
                  <a:lnTo>
                    <a:pt x="43" y="3"/>
                  </a:lnTo>
                  <a:lnTo>
                    <a:pt x="46" y="2"/>
                  </a:lnTo>
                  <a:lnTo>
                    <a:pt x="50" y="2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1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1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2"/>
                  </a:lnTo>
                  <a:lnTo>
                    <a:pt x="106" y="2"/>
                  </a:lnTo>
                  <a:lnTo>
                    <a:pt x="109" y="3"/>
                  </a:lnTo>
                  <a:lnTo>
                    <a:pt x="113" y="3"/>
                  </a:lnTo>
                  <a:lnTo>
                    <a:pt x="116" y="4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7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8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4"/>
                  </a:lnTo>
                  <a:lnTo>
                    <a:pt x="153" y="25"/>
                  </a:lnTo>
                  <a:close/>
                </a:path>
              </a:pathLst>
            </a:custGeom>
            <a:solidFill>
              <a:srgbClr val="3CAF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49" name="Freeform 84"/>
            <p:cNvSpPr>
              <a:spLocks/>
            </p:cNvSpPr>
            <p:nvPr/>
          </p:nvSpPr>
          <p:spPr bwMode="auto">
            <a:xfrm>
              <a:off x="3322" y="2659"/>
              <a:ext cx="153" cy="50"/>
            </a:xfrm>
            <a:custGeom>
              <a:avLst/>
              <a:gdLst>
                <a:gd name="T0" fmla="*/ 152 w 153"/>
                <a:gd name="T1" fmla="*/ 28 h 50"/>
                <a:gd name="T2" fmla="*/ 150 w 153"/>
                <a:gd name="T3" fmla="*/ 31 h 50"/>
                <a:gd name="T4" fmla="*/ 147 w 153"/>
                <a:gd name="T5" fmla="*/ 35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6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50 h 50"/>
                <a:gd name="T20" fmla="*/ 76 w 153"/>
                <a:gd name="T21" fmla="*/ 50 h 50"/>
                <a:gd name="T22" fmla="*/ 64 w 153"/>
                <a:gd name="T23" fmla="*/ 50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6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5 h 50"/>
                <a:gd name="T38" fmla="*/ 2 w 153"/>
                <a:gd name="T39" fmla="*/ 31 h 50"/>
                <a:gd name="T40" fmla="*/ 0 w 153"/>
                <a:gd name="T41" fmla="*/ 28 h 50"/>
                <a:gd name="T42" fmla="*/ 0 w 153"/>
                <a:gd name="T43" fmla="*/ 24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2 h 50"/>
                <a:gd name="T60" fmla="*/ 61 w 153"/>
                <a:gd name="T61" fmla="*/ 1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4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8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8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4"/>
                  </a:lnTo>
                  <a:lnTo>
                    <a:pt x="147" y="35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3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6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50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50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6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3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8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7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4"/>
                  </a:lnTo>
                  <a:lnTo>
                    <a:pt x="40" y="3"/>
                  </a:lnTo>
                  <a:lnTo>
                    <a:pt x="43" y="3"/>
                  </a:lnTo>
                  <a:lnTo>
                    <a:pt x="46" y="2"/>
                  </a:lnTo>
                  <a:lnTo>
                    <a:pt x="50" y="2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1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1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2"/>
                  </a:lnTo>
                  <a:lnTo>
                    <a:pt x="106" y="2"/>
                  </a:lnTo>
                  <a:lnTo>
                    <a:pt x="109" y="3"/>
                  </a:lnTo>
                  <a:lnTo>
                    <a:pt x="113" y="3"/>
                  </a:lnTo>
                  <a:lnTo>
                    <a:pt x="116" y="4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7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8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4"/>
                  </a:lnTo>
                  <a:lnTo>
                    <a:pt x="153" y="25"/>
                  </a:lnTo>
                </a:path>
              </a:pathLst>
            </a:custGeom>
            <a:noFill/>
            <a:ln w="0">
              <a:solidFill>
                <a:srgbClr val="ADD7E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50" name="Freeform 85"/>
            <p:cNvSpPr>
              <a:spLocks/>
            </p:cNvSpPr>
            <p:nvPr/>
          </p:nvSpPr>
          <p:spPr bwMode="auto">
            <a:xfrm>
              <a:off x="3400" y="2666"/>
              <a:ext cx="50" cy="16"/>
            </a:xfrm>
            <a:custGeom>
              <a:avLst/>
              <a:gdLst>
                <a:gd name="T0" fmla="*/ 0 w 50"/>
                <a:gd name="T1" fmla="*/ 12 h 16"/>
                <a:gd name="T2" fmla="*/ 11 w 50"/>
                <a:gd name="T3" fmla="*/ 16 h 16"/>
                <a:gd name="T4" fmla="*/ 38 w 50"/>
                <a:gd name="T5" fmla="*/ 6 h 16"/>
                <a:gd name="T6" fmla="*/ 50 w 50"/>
                <a:gd name="T7" fmla="*/ 9 h 16"/>
                <a:gd name="T8" fmla="*/ 44 w 50"/>
                <a:gd name="T9" fmla="*/ 0 h 16"/>
                <a:gd name="T10" fmla="*/ 12 w 50"/>
                <a:gd name="T11" fmla="*/ 0 h 16"/>
                <a:gd name="T12" fmla="*/ 25 w 50"/>
                <a:gd name="T13" fmla="*/ 3 h 16"/>
                <a:gd name="T14" fmla="*/ 0 w 50"/>
                <a:gd name="T15" fmla="*/ 12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12"/>
                  </a:moveTo>
                  <a:lnTo>
                    <a:pt x="11" y="16"/>
                  </a:lnTo>
                  <a:lnTo>
                    <a:pt x="38" y="6"/>
                  </a:lnTo>
                  <a:lnTo>
                    <a:pt x="50" y="9"/>
                  </a:lnTo>
                  <a:lnTo>
                    <a:pt x="44" y="0"/>
                  </a:lnTo>
                  <a:lnTo>
                    <a:pt x="12" y="0"/>
                  </a:lnTo>
                  <a:lnTo>
                    <a:pt x="25" y="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51" name="Freeform 86"/>
            <p:cNvSpPr>
              <a:spLocks/>
            </p:cNvSpPr>
            <p:nvPr/>
          </p:nvSpPr>
          <p:spPr bwMode="auto">
            <a:xfrm>
              <a:off x="3345" y="2685"/>
              <a:ext cx="50" cy="16"/>
            </a:xfrm>
            <a:custGeom>
              <a:avLst/>
              <a:gdLst>
                <a:gd name="T0" fmla="*/ 50 w 50"/>
                <a:gd name="T1" fmla="*/ 4 h 16"/>
                <a:gd name="T2" fmla="*/ 39 w 50"/>
                <a:gd name="T3" fmla="*/ 0 h 16"/>
                <a:gd name="T4" fmla="*/ 12 w 50"/>
                <a:gd name="T5" fmla="*/ 10 h 16"/>
                <a:gd name="T6" fmla="*/ 0 w 50"/>
                <a:gd name="T7" fmla="*/ 7 h 16"/>
                <a:gd name="T8" fmla="*/ 7 w 50"/>
                <a:gd name="T9" fmla="*/ 16 h 16"/>
                <a:gd name="T10" fmla="*/ 39 w 50"/>
                <a:gd name="T11" fmla="*/ 16 h 16"/>
                <a:gd name="T12" fmla="*/ 25 w 50"/>
                <a:gd name="T13" fmla="*/ 13 h 16"/>
                <a:gd name="T14" fmla="*/ 5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50" y="4"/>
                  </a:moveTo>
                  <a:lnTo>
                    <a:pt x="39" y="0"/>
                  </a:lnTo>
                  <a:lnTo>
                    <a:pt x="12" y="10"/>
                  </a:lnTo>
                  <a:lnTo>
                    <a:pt x="0" y="7"/>
                  </a:lnTo>
                  <a:lnTo>
                    <a:pt x="7" y="16"/>
                  </a:lnTo>
                  <a:lnTo>
                    <a:pt x="39" y="16"/>
                  </a:lnTo>
                  <a:lnTo>
                    <a:pt x="25" y="13"/>
                  </a:lnTo>
                  <a:lnTo>
                    <a:pt x="50" y="4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52" name="Freeform 87"/>
            <p:cNvSpPr>
              <a:spLocks/>
            </p:cNvSpPr>
            <p:nvPr/>
          </p:nvSpPr>
          <p:spPr bwMode="auto">
            <a:xfrm>
              <a:off x="3348" y="2665"/>
              <a:ext cx="50" cy="17"/>
            </a:xfrm>
            <a:custGeom>
              <a:avLst/>
              <a:gdLst>
                <a:gd name="T0" fmla="*/ 0 w 50"/>
                <a:gd name="T1" fmla="*/ 4 h 17"/>
                <a:gd name="T2" fmla="*/ 11 w 50"/>
                <a:gd name="T3" fmla="*/ 0 h 17"/>
                <a:gd name="T4" fmla="*/ 38 w 50"/>
                <a:gd name="T5" fmla="*/ 10 h 17"/>
                <a:gd name="T6" fmla="*/ 50 w 50"/>
                <a:gd name="T7" fmla="*/ 8 h 17"/>
                <a:gd name="T8" fmla="*/ 44 w 50"/>
                <a:gd name="T9" fmla="*/ 17 h 17"/>
                <a:gd name="T10" fmla="*/ 11 w 50"/>
                <a:gd name="T11" fmla="*/ 17 h 17"/>
                <a:gd name="T12" fmla="*/ 25 w 50"/>
                <a:gd name="T13" fmla="*/ 13 h 17"/>
                <a:gd name="T14" fmla="*/ 0 w 50"/>
                <a:gd name="T15" fmla="*/ 4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7"/>
                <a:gd name="T26" fmla="*/ 50 w 50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7">
                  <a:moveTo>
                    <a:pt x="0" y="4"/>
                  </a:moveTo>
                  <a:lnTo>
                    <a:pt x="11" y="0"/>
                  </a:lnTo>
                  <a:lnTo>
                    <a:pt x="38" y="10"/>
                  </a:lnTo>
                  <a:lnTo>
                    <a:pt x="50" y="8"/>
                  </a:lnTo>
                  <a:lnTo>
                    <a:pt x="44" y="17"/>
                  </a:lnTo>
                  <a:lnTo>
                    <a:pt x="11" y="17"/>
                  </a:lnTo>
                  <a:lnTo>
                    <a:pt x="25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53" name="Freeform 88"/>
            <p:cNvSpPr>
              <a:spLocks/>
            </p:cNvSpPr>
            <p:nvPr/>
          </p:nvSpPr>
          <p:spPr bwMode="auto">
            <a:xfrm>
              <a:off x="3398" y="2686"/>
              <a:ext cx="51" cy="16"/>
            </a:xfrm>
            <a:custGeom>
              <a:avLst/>
              <a:gdLst>
                <a:gd name="T0" fmla="*/ 51 w 51"/>
                <a:gd name="T1" fmla="*/ 13 h 16"/>
                <a:gd name="T2" fmla="*/ 40 w 51"/>
                <a:gd name="T3" fmla="*/ 16 h 16"/>
                <a:gd name="T4" fmla="*/ 13 w 51"/>
                <a:gd name="T5" fmla="*/ 6 h 16"/>
                <a:gd name="T6" fmla="*/ 0 w 51"/>
                <a:gd name="T7" fmla="*/ 9 h 16"/>
                <a:gd name="T8" fmla="*/ 7 w 51"/>
                <a:gd name="T9" fmla="*/ 0 h 16"/>
                <a:gd name="T10" fmla="*/ 39 w 51"/>
                <a:gd name="T11" fmla="*/ 0 h 16"/>
                <a:gd name="T12" fmla="*/ 26 w 51"/>
                <a:gd name="T13" fmla="*/ 3 h 16"/>
                <a:gd name="T14" fmla="*/ 51 w 51"/>
                <a:gd name="T15" fmla="*/ 13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1"/>
                <a:gd name="T25" fmla="*/ 0 h 16"/>
                <a:gd name="T26" fmla="*/ 51 w 51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1" h="16">
                  <a:moveTo>
                    <a:pt x="51" y="13"/>
                  </a:moveTo>
                  <a:lnTo>
                    <a:pt x="40" y="16"/>
                  </a:lnTo>
                  <a:lnTo>
                    <a:pt x="13" y="6"/>
                  </a:lnTo>
                  <a:lnTo>
                    <a:pt x="0" y="9"/>
                  </a:lnTo>
                  <a:lnTo>
                    <a:pt x="7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51" y="13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54" name="Freeform 89"/>
            <p:cNvSpPr>
              <a:spLocks/>
            </p:cNvSpPr>
            <p:nvPr/>
          </p:nvSpPr>
          <p:spPr bwMode="auto">
            <a:xfrm>
              <a:off x="3401" y="2667"/>
              <a:ext cx="50" cy="16"/>
            </a:xfrm>
            <a:custGeom>
              <a:avLst/>
              <a:gdLst>
                <a:gd name="T0" fmla="*/ 0 w 50"/>
                <a:gd name="T1" fmla="*/ 12 h 16"/>
                <a:gd name="T2" fmla="*/ 11 w 50"/>
                <a:gd name="T3" fmla="*/ 16 h 16"/>
                <a:gd name="T4" fmla="*/ 38 w 50"/>
                <a:gd name="T5" fmla="*/ 6 h 16"/>
                <a:gd name="T6" fmla="*/ 50 w 50"/>
                <a:gd name="T7" fmla="*/ 9 h 16"/>
                <a:gd name="T8" fmla="*/ 44 w 50"/>
                <a:gd name="T9" fmla="*/ 0 h 16"/>
                <a:gd name="T10" fmla="*/ 12 w 50"/>
                <a:gd name="T11" fmla="*/ 0 h 16"/>
                <a:gd name="T12" fmla="*/ 25 w 50"/>
                <a:gd name="T13" fmla="*/ 3 h 16"/>
                <a:gd name="T14" fmla="*/ 0 w 50"/>
                <a:gd name="T15" fmla="*/ 12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12"/>
                  </a:moveTo>
                  <a:lnTo>
                    <a:pt x="11" y="16"/>
                  </a:lnTo>
                  <a:lnTo>
                    <a:pt x="38" y="6"/>
                  </a:lnTo>
                  <a:lnTo>
                    <a:pt x="50" y="9"/>
                  </a:lnTo>
                  <a:lnTo>
                    <a:pt x="44" y="0"/>
                  </a:lnTo>
                  <a:lnTo>
                    <a:pt x="12" y="0"/>
                  </a:lnTo>
                  <a:lnTo>
                    <a:pt x="25" y="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55" name="Freeform 90"/>
            <p:cNvSpPr>
              <a:spLocks/>
            </p:cNvSpPr>
            <p:nvPr/>
          </p:nvSpPr>
          <p:spPr bwMode="auto">
            <a:xfrm>
              <a:off x="3346" y="2686"/>
              <a:ext cx="50" cy="16"/>
            </a:xfrm>
            <a:custGeom>
              <a:avLst/>
              <a:gdLst>
                <a:gd name="T0" fmla="*/ 50 w 50"/>
                <a:gd name="T1" fmla="*/ 4 h 16"/>
                <a:gd name="T2" fmla="*/ 39 w 50"/>
                <a:gd name="T3" fmla="*/ 0 h 16"/>
                <a:gd name="T4" fmla="*/ 12 w 50"/>
                <a:gd name="T5" fmla="*/ 10 h 16"/>
                <a:gd name="T6" fmla="*/ 0 w 50"/>
                <a:gd name="T7" fmla="*/ 7 h 16"/>
                <a:gd name="T8" fmla="*/ 7 w 50"/>
                <a:gd name="T9" fmla="*/ 16 h 16"/>
                <a:gd name="T10" fmla="*/ 39 w 50"/>
                <a:gd name="T11" fmla="*/ 16 h 16"/>
                <a:gd name="T12" fmla="*/ 25 w 50"/>
                <a:gd name="T13" fmla="*/ 13 h 16"/>
                <a:gd name="T14" fmla="*/ 5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50" y="4"/>
                  </a:moveTo>
                  <a:lnTo>
                    <a:pt x="39" y="0"/>
                  </a:lnTo>
                  <a:lnTo>
                    <a:pt x="12" y="10"/>
                  </a:lnTo>
                  <a:lnTo>
                    <a:pt x="0" y="7"/>
                  </a:lnTo>
                  <a:lnTo>
                    <a:pt x="7" y="16"/>
                  </a:lnTo>
                  <a:lnTo>
                    <a:pt x="39" y="16"/>
                  </a:lnTo>
                  <a:lnTo>
                    <a:pt x="25" y="13"/>
                  </a:lnTo>
                  <a:lnTo>
                    <a:pt x="5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56" name="Freeform 91"/>
            <p:cNvSpPr>
              <a:spLocks/>
            </p:cNvSpPr>
            <p:nvPr/>
          </p:nvSpPr>
          <p:spPr bwMode="auto">
            <a:xfrm>
              <a:off x="3349" y="2666"/>
              <a:ext cx="50" cy="16"/>
            </a:xfrm>
            <a:custGeom>
              <a:avLst/>
              <a:gdLst>
                <a:gd name="T0" fmla="*/ 0 w 50"/>
                <a:gd name="T1" fmla="*/ 4 h 16"/>
                <a:gd name="T2" fmla="*/ 11 w 50"/>
                <a:gd name="T3" fmla="*/ 0 h 16"/>
                <a:gd name="T4" fmla="*/ 38 w 50"/>
                <a:gd name="T5" fmla="*/ 10 h 16"/>
                <a:gd name="T6" fmla="*/ 50 w 50"/>
                <a:gd name="T7" fmla="*/ 7 h 16"/>
                <a:gd name="T8" fmla="*/ 44 w 50"/>
                <a:gd name="T9" fmla="*/ 16 h 16"/>
                <a:gd name="T10" fmla="*/ 11 w 50"/>
                <a:gd name="T11" fmla="*/ 16 h 16"/>
                <a:gd name="T12" fmla="*/ 25 w 50"/>
                <a:gd name="T13" fmla="*/ 13 h 16"/>
                <a:gd name="T14" fmla="*/ 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4"/>
                  </a:moveTo>
                  <a:lnTo>
                    <a:pt x="11" y="0"/>
                  </a:lnTo>
                  <a:lnTo>
                    <a:pt x="38" y="10"/>
                  </a:lnTo>
                  <a:lnTo>
                    <a:pt x="50" y="7"/>
                  </a:lnTo>
                  <a:lnTo>
                    <a:pt x="44" y="16"/>
                  </a:lnTo>
                  <a:lnTo>
                    <a:pt x="11" y="16"/>
                  </a:lnTo>
                  <a:lnTo>
                    <a:pt x="25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57" name="Freeform 92"/>
            <p:cNvSpPr>
              <a:spLocks/>
            </p:cNvSpPr>
            <p:nvPr/>
          </p:nvSpPr>
          <p:spPr bwMode="auto">
            <a:xfrm>
              <a:off x="3399" y="2687"/>
              <a:ext cx="51" cy="16"/>
            </a:xfrm>
            <a:custGeom>
              <a:avLst/>
              <a:gdLst>
                <a:gd name="T0" fmla="*/ 51 w 51"/>
                <a:gd name="T1" fmla="*/ 13 h 16"/>
                <a:gd name="T2" fmla="*/ 39 w 51"/>
                <a:gd name="T3" fmla="*/ 16 h 16"/>
                <a:gd name="T4" fmla="*/ 13 w 51"/>
                <a:gd name="T5" fmla="*/ 6 h 16"/>
                <a:gd name="T6" fmla="*/ 0 w 51"/>
                <a:gd name="T7" fmla="*/ 9 h 16"/>
                <a:gd name="T8" fmla="*/ 7 w 51"/>
                <a:gd name="T9" fmla="*/ 0 h 16"/>
                <a:gd name="T10" fmla="*/ 39 w 51"/>
                <a:gd name="T11" fmla="*/ 0 h 16"/>
                <a:gd name="T12" fmla="*/ 26 w 51"/>
                <a:gd name="T13" fmla="*/ 3 h 16"/>
                <a:gd name="T14" fmla="*/ 51 w 51"/>
                <a:gd name="T15" fmla="*/ 13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1"/>
                <a:gd name="T25" fmla="*/ 0 h 16"/>
                <a:gd name="T26" fmla="*/ 51 w 51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1" h="16">
                  <a:moveTo>
                    <a:pt x="51" y="13"/>
                  </a:moveTo>
                  <a:lnTo>
                    <a:pt x="39" y="16"/>
                  </a:lnTo>
                  <a:lnTo>
                    <a:pt x="13" y="6"/>
                  </a:lnTo>
                  <a:lnTo>
                    <a:pt x="0" y="9"/>
                  </a:lnTo>
                  <a:lnTo>
                    <a:pt x="7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51" y="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58" name="Line 93"/>
            <p:cNvSpPr>
              <a:spLocks noChangeShapeType="1"/>
            </p:cNvSpPr>
            <p:nvPr/>
          </p:nvSpPr>
          <p:spPr bwMode="auto">
            <a:xfrm>
              <a:off x="3322" y="2684"/>
              <a:ext cx="1" cy="107"/>
            </a:xfrm>
            <a:prstGeom prst="line">
              <a:avLst/>
            </a:prstGeom>
            <a:noFill/>
            <a:ln w="0">
              <a:solidFill>
                <a:srgbClr val="ADD7E7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59" name="Line 94"/>
            <p:cNvSpPr>
              <a:spLocks noChangeShapeType="1"/>
            </p:cNvSpPr>
            <p:nvPr/>
          </p:nvSpPr>
          <p:spPr bwMode="auto">
            <a:xfrm>
              <a:off x="3475" y="2684"/>
              <a:ext cx="1" cy="107"/>
            </a:xfrm>
            <a:prstGeom prst="line">
              <a:avLst/>
            </a:prstGeom>
            <a:noFill/>
            <a:ln w="0">
              <a:solidFill>
                <a:srgbClr val="ADD7E7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60" name="Freeform 95"/>
            <p:cNvSpPr>
              <a:spLocks/>
            </p:cNvSpPr>
            <p:nvPr/>
          </p:nvSpPr>
          <p:spPr bwMode="auto">
            <a:xfrm>
              <a:off x="3339" y="2713"/>
              <a:ext cx="117" cy="90"/>
            </a:xfrm>
            <a:custGeom>
              <a:avLst/>
              <a:gdLst>
                <a:gd name="T0" fmla="*/ 17 w 117"/>
                <a:gd name="T1" fmla="*/ 0 h 90"/>
                <a:gd name="T2" fmla="*/ 17 w 117"/>
                <a:gd name="T3" fmla="*/ 11 h 90"/>
                <a:gd name="T4" fmla="*/ 44 w 117"/>
                <a:gd name="T5" fmla="*/ 11 h 90"/>
                <a:gd name="T6" fmla="*/ 58 w 117"/>
                <a:gd name="T7" fmla="*/ 35 h 90"/>
                <a:gd name="T8" fmla="*/ 73 w 117"/>
                <a:gd name="T9" fmla="*/ 11 h 90"/>
                <a:gd name="T10" fmla="*/ 100 w 117"/>
                <a:gd name="T11" fmla="*/ 11 h 90"/>
                <a:gd name="T12" fmla="*/ 100 w 117"/>
                <a:gd name="T13" fmla="*/ 0 h 90"/>
                <a:gd name="T14" fmla="*/ 117 w 117"/>
                <a:gd name="T15" fmla="*/ 14 h 90"/>
                <a:gd name="T16" fmla="*/ 100 w 117"/>
                <a:gd name="T17" fmla="*/ 28 h 90"/>
                <a:gd name="T18" fmla="*/ 100 w 117"/>
                <a:gd name="T19" fmla="*/ 18 h 90"/>
                <a:gd name="T20" fmla="*/ 81 w 117"/>
                <a:gd name="T21" fmla="*/ 18 h 90"/>
                <a:gd name="T22" fmla="*/ 64 w 117"/>
                <a:gd name="T23" fmla="*/ 45 h 90"/>
                <a:gd name="T24" fmla="*/ 81 w 117"/>
                <a:gd name="T25" fmla="*/ 72 h 90"/>
                <a:gd name="T26" fmla="*/ 100 w 117"/>
                <a:gd name="T27" fmla="*/ 72 h 90"/>
                <a:gd name="T28" fmla="*/ 100 w 117"/>
                <a:gd name="T29" fmla="*/ 62 h 90"/>
                <a:gd name="T30" fmla="*/ 117 w 117"/>
                <a:gd name="T31" fmla="*/ 76 h 90"/>
                <a:gd name="T32" fmla="*/ 100 w 117"/>
                <a:gd name="T33" fmla="*/ 90 h 90"/>
                <a:gd name="T34" fmla="*/ 100 w 117"/>
                <a:gd name="T35" fmla="*/ 80 h 90"/>
                <a:gd name="T36" fmla="*/ 73 w 117"/>
                <a:gd name="T37" fmla="*/ 80 h 90"/>
                <a:gd name="T38" fmla="*/ 58 w 117"/>
                <a:gd name="T39" fmla="*/ 55 h 90"/>
                <a:gd name="T40" fmla="*/ 44 w 117"/>
                <a:gd name="T41" fmla="*/ 80 h 90"/>
                <a:gd name="T42" fmla="*/ 17 w 117"/>
                <a:gd name="T43" fmla="*/ 80 h 90"/>
                <a:gd name="T44" fmla="*/ 17 w 117"/>
                <a:gd name="T45" fmla="*/ 90 h 90"/>
                <a:gd name="T46" fmla="*/ 0 w 117"/>
                <a:gd name="T47" fmla="*/ 76 h 90"/>
                <a:gd name="T48" fmla="*/ 17 w 117"/>
                <a:gd name="T49" fmla="*/ 62 h 90"/>
                <a:gd name="T50" fmla="*/ 17 w 117"/>
                <a:gd name="T51" fmla="*/ 72 h 90"/>
                <a:gd name="T52" fmla="*/ 36 w 117"/>
                <a:gd name="T53" fmla="*/ 72 h 90"/>
                <a:gd name="T54" fmla="*/ 52 w 117"/>
                <a:gd name="T55" fmla="*/ 45 h 90"/>
                <a:gd name="T56" fmla="*/ 36 w 117"/>
                <a:gd name="T57" fmla="*/ 18 h 90"/>
                <a:gd name="T58" fmla="*/ 17 w 117"/>
                <a:gd name="T59" fmla="*/ 18 h 90"/>
                <a:gd name="T60" fmla="*/ 17 w 117"/>
                <a:gd name="T61" fmla="*/ 27 h 90"/>
                <a:gd name="T62" fmla="*/ 0 w 117"/>
                <a:gd name="T63" fmla="*/ 14 h 90"/>
                <a:gd name="T64" fmla="*/ 17 w 117"/>
                <a:gd name="T65" fmla="*/ 0 h 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"/>
                <a:gd name="T100" fmla="*/ 0 h 90"/>
                <a:gd name="T101" fmla="*/ 117 w 117"/>
                <a:gd name="T102" fmla="*/ 90 h 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" h="90">
                  <a:moveTo>
                    <a:pt x="17" y="0"/>
                  </a:moveTo>
                  <a:lnTo>
                    <a:pt x="17" y="11"/>
                  </a:lnTo>
                  <a:lnTo>
                    <a:pt x="44" y="11"/>
                  </a:lnTo>
                  <a:lnTo>
                    <a:pt x="58" y="35"/>
                  </a:lnTo>
                  <a:lnTo>
                    <a:pt x="73" y="11"/>
                  </a:lnTo>
                  <a:lnTo>
                    <a:pt x="100" y="11"/>
                  </a:lnTo>
                  <a:lnTo>
                    <a:pt x="100" y="0"/>
                  </a:lnTo>
                  <a:lnTo>
                    <a:pt x="117" y="14"/>
                  </a:lnTo>
                  <a:lnTo>
                    <a:pt x="100" y="28"/>
                  </a:lnTo>
                  <a:lnTo>
                    <a:pt x="100" y="18"/>
                  </a:lnTo>
                  <a:lnTo>
                    <a:pt x="81" y="18"/>
                  </a:lnTo>
                  <a:lnTo>
                    <a:pt x="64" y="45"/>
                  </a:lnTo>
                  <a:lnTo>
                    <a:pt x="81" y="72"/>
                  </a:lnTo>
                  <a:lnTo>
                    <a:pt x="100" y="72"/>
                  </a:lnTo>
                  <a:lnTo>
                    <a:pt x="100" y="62"/>
                  </a:lnTo>
                  <a:lnTo>
                    <a:pt x="117" y="76"/>
                  </a:lnTo>
                  <a:lnTo>
                    <a:pt x="100" y="90"/>
                  </a:lnTo>
                  <a:lnTo>
                    <a:pt x="100" y="80"/>
                  </a:lnTo>
                  <a:lnTo>
                    <a:pt x="73" y="80"/>
                  </a:lnTo>
                  <a:lnTo>
                    <a:pt x="58" y="55"/>
                  </a:lnTo>
                  <a:lnTo>
                    <a:pt x="44" y="80"/>
                  </a:lnTo>
                  <a:lnTo>
                    <a:pt x="17" y="80"/>
                  </a:lnTo>
                  <a:lnTo>
                    <a:pt x="17" y="90"/>
                  </a:lnTo>
                  <a:lnTo>
                    <a:pt x="0" y="76"/>
                  </a:lnTo>
                  <a:lnTo>
                    <a:pt x="17" y="62"/>
                  </a:lnTo>
                  <a:lnTo>
                    <a:pt x="17" y="72"/>
                  </a:lnTo>
                  <a:lnTo>
                    <a:pt x="36" y="72"/>
                  </a:lnTo>
                  <a:lnTo>
                    <a:pt x="52" y="45"/>
                  </a:lnTo>
                  <a:lnTo>
                    <a:pt x="36" y="18"/>
                  </a:lnTo>
                  <a:lnTo>
                    <a:pt x="17" y="18"/>
                  </a:lnTo>
                  <a:lnTo>
                    <a:pt x="17" y="27"/>
                  </a:lnTo>
                  <a:lnTo>
                    <a:pt x="0" y="14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61" name="Freeform 96"/>
            <p:cNvSpPr>
              <a:spLocks/>
            </p:cNvSpPr>
            <p:nvPr/>
          </p:nvSpPr>
          <p:spPr bwMode="auto">
            <a:xfrm>
              <a:off x="3340" y="2714"/>
              <a:ext cx="117" cy="90"/>
            </a:xfrm>
            <a:custGeom>
              <a:avLst/>
              <a:gdLst>
                <a:gd name="T0" fmla="*/ 17 w 117"/>
                <a:gd name="T1" fmla="*/ 0 h 90"/>
                <a:gd name="T2" fmla="*/ 17 w 117"/>
                <a:gd name="T3" fmla="*/ 10 h 90"/>
                <a:gd name="T4" fmla="*/ 44 w 117"/>
                <a:gd name="T5" fmla="*/ 10 h 90"/>
                <a:gd name="T6" fmla="*/ 58 w 117"/>
                <a:gd name="T7" fmla="*/ 35 h 90"/>
                <a:gd name="T8" fmla="*/ 73 w 117"/>
                <a:gd name="T9" fmla="*/ 11 h 90"/>
                <a:gd name="T10" fmla="*/ 100 w 117"/>
                <a:gd name="T11" fmla="*/ 11 h 90"/>
                <a:gd name="T12" fmla="*/ 100 w 117"/>
                <a:gd name="T13" fmla="*/ 0 h 90"/>
                <a:gd name="T14" fmla="*/ 117 w 117"/>
                <a:gd name="T15" fmla="*/ 14 h 90"/>
                <a:gd name="T16" fmla="*/ 100 w 117"/>
                <a:gd name="T17" fmla="*/ 27 h 90"/>
                <a:gd name="T18" fmla="*/ 100 w 117"/>
                <a:gd name="T19" fmla="*/ 18 h 90"/>
                <a:gd name="T20" fmla="*/ 81 w 117"/>
                <a:gd name="T21" fmla="*/ 18 h 90"/>
                <a:gd name="T22" fmla="*/ 64 w 117"/>
                <a:gd name="T23" fmla="*/ 45 h 90"/>
                <a:gd name="T24" fmla="*/ 81 w 117"/>
                <a:gd name="T25" fmla="*/ 72 h 90"/>
                <a:gd name="T26" fmla="*/ 100 w 117"/>
                <a:gd name="T27" fmla="*/ 72 h 90"/>
                <a:gd name="T28" fmla="*/ 100 w 117"/>
                <a:gd name="T29" fmla="*/ 62 h 90"/>
                <a:gd name="T30" fmla="*/ 117 w 117"/>
                <a:gd name="T31" fmla="*/ 76 h 90"/>
                <a:gd name="T32" fmla="*/ 100 w 117"/>
                <a:gd name="T33" fmla="*/ 90 h 90"/>
                <a:gd name="T34" fmla="*/ 100 w 117"/>
                <a:gd name="T35" fmla="*/ 80 h 90"/>
                <a:gd name="T36" fmla="*/ 73 w 117"/>
                <a:gd name="T37" fmla="*/ 80 h 90"/>
                <a:gd name="T38" fmla="*/ 58 w 117"/>
                <a:gd name="T39" fmla="*/ 55 h 90"/>
                <a:gd name="T40" fmla="*/ 44 w 117"/>
                <a:gd name="T41" fmla="*/ 80 h 90"/>
                <a:gd name="T42" fmla="*/ 17 w 117"/>
                <a:gd name="T43" fmla="*/ 80 h 90"/>
                <a:gd name="T44" fmla="*/ 17 w 117"/>
                <a:gd name="T45" fmla="*/ 90 h 90"/>
                <a:gd name="T46" fmla="*/ 0 w 117"/>
                <a:gd name="T47" fmla="*/ 76 h 90"/>
                <a:gd name="T48" fmla="*/ 17 w 117"/>
                <a:gd name="T49" fmla="*/ 62 h 90"/>
                <a:gd name="T50" fmla="*/ 17 w 117"/>
                <a:gd name="T51" fmla="*/ 72 h 90"/>
                <a:gd name="T52" fmla="*/ 36 w 117"/>
                <a:gd name="T53" fmla="*/ 72 h 90"/>
                <a:gd name="T54" fmla="*/ 52 w 117"/>
                <a:gd name="T55" fmla="*/ 45 h 90"/>
                <a:gd name="T56" fmla="*/ 36 w 117"/>
                <a:gd name="T57" fmla="*/ 18 h 90"/>
                <a:gd name="T58" fmla="*/ 17 w 117"/>
                <a:gd name="T59" fmla="*/ 18 h 90"/>
                <a:gd name="T60" fmla="*/ 17 w 117"/>
                <a:gd name="T61" fmla="*/ 27 h 90"/>
                <a:gd name="T62" fmla="*/ 0 w 117"/>
                <a:gd name="T63" fmla="*/ 13 h 90"/>
                <a:gd name="T64" fmla="*/ 17 w 117"/>
                <a:gd name="T65" fmla="*/ 0 h 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"/>
                <a:gd name="T100" fmla="*/ 0 h 90"/>
                <a:gd name="T101" fmla="*/ 117 w 117"/>
                <a:gd name="T102" fmla="*/ 90 h 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" h="90">
                  <a:moveTo>
                    <a:pt x="17" y="0"/>
                  </a:moveTo>
                  <a:lnTo>
                    <a:pt x="17" y="10"/>
                  </a:lnTo>
                  <a:lnTo>
                    <a:pt x="44" y="10"/>
                  </a:lnTo>
                  <a:lnTo>
                    <a:pt x="58" y="35"/>
                  </a:lnTo>
                  <a:lnTo>
                    <a:pt x="73" y="11"/>
                  </a:lnTo>
                  <a:lnTo>
                    <a:pt x="100" y="11"/>
                  </a:lnTo>
                  <a:lnTo>
                    <a:pt x="100" y="0"/>
                  </a:lnTo>
                  <a:lnTo>
                    <a:pt x="117" y="14"/>
                  </a:lnTo>
                  <a:lnTo>
                    <a:pt x="100" y="27"/>
                  </a:lnTo>
                  <a:lnTo>
                    <a:pt x="100" y="18"/>
                  </a:lnTo>
                  <a:lnTo>
                    <a:pt x="81" y="18"/>
                  </a:lnTo>
                  <a:lnTo>
                    <a:pt x="64" y="45"/>
                  </a:lnTo>
                  <a:lnTo>
                    <a:pt x="81" y="72"/>
                  </a:lnTo>
                  <a:lnTo>
                    <a:pt x="100" y="72"/>
                  </a:lnTo>
                  <a:lnTo>
                    <a:pt x="100" y="62"/>
                  </a:lnTo>
                  <a:lnTo>
                    <a:pt x="117" y="76"/>
                  </a:lnTo>
                  <a:lnTo>
                    <a:pt x="100" y="90"/>
                  </a:lnTo>
                  <a:lnTo>
                    <a:pt x="100" y="80"/>
                  </a:lnTo>
                  <a:lnTo>
                    <a:pt x="73" y="80"/>
                  </a:lnTo>
                  <a:lnTo>
                    <a:pt x="58" y="55"/>
                  </a:lnTo>
                  <a:lnTo>
                    <a:pt x="44" y="80"/>
                  </a:lnTo>
                  <a:lnTo>
                    <a:pt x="17" y="80"/>
                  </a:lnTo>
                  <a:lnTo>
                    <a:pt x="17" y="90"/>
                  </a:lnTo>
                  <a:lnTo>
                    <a:pt x="0" y="76"/>
                  </a:lnTo>
                  <a:lnTo>
                    <a:pt x="17" y="62"/>
                  </a:lnTo>
                  <a:lnTo>
                    <a:pt x="17" y="72"/>
                  </a:lnTo>
                  <a:lnTo>
                    <a:pt x="36" y="72"/>
                  </a:lnTo>
                  <a:lnTo>
                    <a:pt x="52" y="45"/>
                  </a:lnTo>
                  <a:lnTo>
                    <a:pt x="36" y="18"/>
                  </a:lnTo>
                  <a:lnTo>
                    <a:pt x="17" y="18"/>
                  </a:lnTo>
                  <a:lnTo>
                    <a:pt x="17" y="27"/>
                  </a:lnTo>
                  <a:lnTo>
                    <a:pt x="0" y="1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62" name="Rectangle 97"/>
            <p:cNvSpPr>
              <a:spLocks noChangeArrowheads="1"/>
            </p:cNvSpPr>
            <p:nvPr/>
          </p:nvSpPr>
          <p:spPr bwMode="auto">
            <a:xfrm>
              <a:off x="3433" y="2740"/>
              <a:ext cx="38" cy="35"/>
            </a:xfrm>
            <a:prstGeom prst="rect">
              <a:avLst/>
            </a:prstGeom>
            <a:solidFill>
              <a:srgbClr val="07608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0563" name="Rectangle 98"/>
            <p:cNvSpPr>
              <a:spLocks noChangeArrowheads="1"/>
            </p:cNvSpPr>
            <p:nvPr/>
          </p:nvSpPr>
          <p:spPr bwMode="auto">
            <a:xfrm>
              <a:off x="3433" y="2740"/>
              <a:ext cx="38" cy="35"/>
            </a:xfrm>
            <a:prstGeom prst="rect">
              <a:avLst/>
            </a:prstGeom>
            <a:noFill/>
            <a:ln w="0">
              <a:solidFill>
                <a:srgbClr val="ADD7E7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0564" name="Freeform 99"/>
            <p:cNvSpPr>
              <a:spLocks/>
            </p:cNvSpPr>
            <p:nvPr/>
          </p:nvSpPr>
          <p:spPr bwMode="auto">
            <a:xfrm>
              <a:off x="3441" y="2748"/>
              <a:ext cx="23" cy="21"/>
            </a:xfrm>
            <a:custGeom>
              <a:avLst/>
              <a:gdLst>
                <a:gd name="T0" fmla="*/ 0 w 23"/>
                <a:gd name="T1" fmla="*/ 0 h 21"/>
                <a:gd name="T2" fmla="*/ 5 w 23"/>
                <a:gd name="T3" fmla="*/ 0 h 21"/>
                <a:gd name="T4" fmla="*/ 11 w 23"/>
                <a:gd name="T5" fmla="*/ 13 h 21"/>
                <a:gd name="T6" fmla="*/ 17 w 23"/>
                <a:gd name="T7" fmla="*/ 0 h 21"/>
                <a:gd name="T8" fmla="*/ 23 w 23"/>
                <a:gd name="T9" fmla="*/ 0 h 21"/>
                <a:gd name="T10" fmla="*/ 14 w 23"/>
                <a:gd name="T11" fmla="*/ 21 h 21"/>
                <a:gd name="T12" fmla="*/ 9 w 23"/>
                <a:gd name="T13" fmla="*/ 21 h 21"/>
                <a:gd name="T14" fmla="*/ 0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21"/>
                <a:gd name="T26" fmla="*/ 23 w 23"/>
                <a:gd name="T27" fmla="*/ 21 h 2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21">
                  <a:moveTo>
                    <a:pt x="0" y="0"/>
                  </a:moveTo>
                  <a:lnTo>
                    <a:pt x="5" y="0"/>
                  </a:lnTo>
                  <a:lnTo>
                    <a:pt x="11" y="13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14" y="21"/>
                  </a:lnTo>
                  <a:lnTo>
                    <a:pt x="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65" name="Freeform 100"/>
            <p:cNvSpPr>
              <a:spLocks/>
            </p:cNvSpPr>
            <p:nvPr/>
          </p:nvSpPr>
          <p:spPr bwMode="auto">
            <a:xfrm>
              <a:off x="3440" y="2747"/>
              <a:ext cx="23" cy="21"/>
            </a:xfrm>
            <a:custGeom>
              <a:avLst/>
              <a:gdLst>
                <a:gd name="T0" fmla="*/ 0 w 23"/>
                <a:gd name="T1" fmla="*/ 0 h 21"/>
                <a:gd name="T2" fmla="*/ 5 w 23"/>
                <a:gd name="T3" fmla="*/ 0 h 21"/>
                <a:gd name="T4" fmla="*/ 11 w 23"/>
                <a:gd name="T5" fmla="*/ 13 h 21"/>
                <a:gd name="T6" fmla="*/ 17 w 23"/>
                <a:gd name="T7" fmla="*/ 0 h 21"/>
                <a:gd name="T8" fmla="*/ 23 w 23"/>
                <a:gd name="T9" fmla="*/ 0 h 21"/>
                <a:gd name="T10" fmla="*/ 14 w 23"/>
                <a:gd name="T11" fmla="*/ 21 h 21"/>
                <a:gd name="T12" fmla="*/ 9 w 23"/>
                <a:gd name="T13" fmla="*/ 21 h 21"/>
                <a:gd name="T14" fmla="*/ 0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21"/>
                <a:gd name="T26" fmla="*/ 23 w 23"/>
                <a:gd name="T27" fmla="*/ 21 h 2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21">
                  <a:moveTo>
                    <a:pt x="0" y="0"/>
                  </a:moveTo>
                  <a:lnTo>
                    <a:pt x="5" y="0"/>
                  </a:lnTo>
                  <a:lnTo>
                    <a:pt x="11" y="13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14" y="21"/>
                  </a:lnTo>
                  <a:lnTo>
                    <a:pt x="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5" name="Group 123"/>
          <p:cNvGrpSpPr>
            <a:grpSpLocks/>
          </p:cNvGrpSpPr>
          <p:nvPr/>
        </p:nvGrpSpPr>
        <p:grpSpPr bwMode="auto">
          <a:xfrm>
            <a:off x="5940425" y="4724400"/>
            <a:ext cx="452438" cy="458788"/>
            <a:chOff x="3321" y="2659"/>
            <a:chExt cx="155" cy="157"/>
          </a:xfrm>
        </p:grpSpPr>
        <p:sp>
          <p:nvSpPr>
            <p:cNvPr id="20524" name="Freeform 124"/>
            <p:cNvSpPr>
              <a:spLocks/>
            </p:cNvSpPr>
            <p:nvPr/>
          </p:nvSpPr>
          <p:spPr bwMode="auto">
            <a:xfrm>
              <a:off x="3322" y="2766"/>
              <a:ext cx="153" cy="50"/>
            </a:xfrm>
            <a:custGeom>
              <a:avLst/>
              <a:gdLst>
                <a:gd name="T0" fmla="*/ 152 w 153"/>
                <a:gd name="T1" fmla="*/ 27 h 50"/>
                <a:gd name="T2" fmla="*/ 150 w 153"/>
                <a:gd name="T3" fmla="*/ 31 h 50"/>
                <a:gd name="T4" fmla="*/ 147 w 153"/>
                <a:gd name="T5" fmla="*/ 34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5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49 h 50"/>
                <a:gd name="T20" fmla="*/ 76 w 153"/>
                <a:gd name="T21" fmla="*/ 50 h 50"/>
                <a:gd name="T22" fmla="*/ 64 w 153"/>
                <a:gd name="T23" fmla="*/ 49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5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4 h 50"/>
                <a:gd name="T38" fmla="*/ 2 w 153"/>
                <a:gd name="T39" fmla="*/ 31 h 50"/>
                <a:gd name="T40" fmla="*/ 0 w 153"/>
                <a:gd name="T41" fmla="*/ 27 h 50"/>
                <a:gd name="T42" fmla="*/ 0 w 153"/>
                <a:gd name="T43" fmla="*/ 23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1 h 50"/>
                <a:gd name="T60" fmla="*/ 61 w 153"/>
                <a:gd name="T61" fmla="*/ 0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3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7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7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3"/>
                  </a:lnTo>
                  <a:lnTo>
                    <a:pt x="147" y="34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2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5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49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49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5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2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4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3"/>
                  </a:lnTo>
                  <a:lnTo>
                    <a:pt x="40" y="3"/>
                  </a:lnTo>
                  <a:lnTo>
                    <a:pt x="43" y="2"/>
                  </a:lnTo>
                  <a:lnTo>
                    <a:pt x="46" y="2"/>
                  </a:lnTo>
                  <a:lnTo>
                    <a:pt x="50" y="1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1"/>
                  </a:lnTo>
                  <a:lnTo>
                    <a:pt x="106" y="2"/>
                  </a:lnTo>
                  <a:lnTo>
                    <a:pt x="109" y="2"/>
                  </a:lnTo>
                  <a:lnTo>
                    <a:pt x="113" y="3"/>
                  </a:lnTo>
                  <a:lnTo>
                    <a:pt x="116" y="3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6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7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3"/>
                  </a:lnTo>
                  <a:lnTo>
                    <a:pt x="153" y="25"/>
                  </a:lnTo>
                  <a:close/>
                </a:path>
              </a:pathLst>
            </a:custGeom>
            <a:solidFill>
              <a:srgbClr val="0078A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25" name="Freeform 125"/>
            <p:cNvSpPr>
              <a:spLocks/>
            </p:cNvSpPr>
            <p:nvPr/>
          </p:nvSpPr>
          <p:spPr bwMode="auto">
            <a:xfrm>
              <a:off x="3322" y="2766"/>
              <a:ext cx="153" cy="50"/>
            </a:xfrm>
            <a:custGeom>
              <a:avLst/>
              <a:gdLst>
                <a:gd name="T0" fmla="*/ 152 w 153"/>
                <a:gd name="T1" fmla="*/ 27 h 50"/>
                <a:gd name="T2" fmla="*/ 150 w 153"/>
                <a:gd name="T3" fmla="*/ 31 h 50"/>
                <a:gd name="T4" fmla="*/ 147 w 153"/>
                <a:gd name="T5" fmla="*/ 34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5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49 h 50"/>
                <a:gd name="T20" fmla="*/ 76 w 153"/>
                <a:gd name="T21" fmla="*/ 50 h 50"/>
                <a:gd name="T22" fmla="*/ 64 w 153"/>
                <a:gd name="T23" fmla="*/ 49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5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4 h 50"/>
                <a:gd name="T38" fmla="*/ 2 w 153"/>
                <a:gd name="T39" fmla="*/ 31 h 50"/>
                <a:gd name="T40" fmla="*/ 0 w 153"/>
                <a:gd name="T41" fmla="*/ 27 h 50"/>
                <a:gd name="T42" fmla="*/ 0 w 153"/>
                <a:gd name="T43" fmla="*/ 23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1 h 50"/>
                <a:gd name="T60" fmla="*/ 61 w 153"/>
                <a:gd name="T61" fmla="*/ 0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3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7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7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3"/>
                  </a:lnTo>
                  <a:lnTo>
                    <a:pt x="147" y="34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2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5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49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49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5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2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4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3"/>
                  </a:lnTo>
                  <a:lnTo>
                    <a:pt x="40" y="3"/>
                  </a:lnTo>
                  <a:lnTo>
                    <a:pt x="43" y="2"/>
                  </a:lnTo>
                  <a:lnTo>
                    <a:pt x="46" y="2"/>
                  </a:lnTo>
                  <a:lnTo>
                    <a:pt x="50" y="1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1"/>
                  </a:lnTo>
                  <a:lnTo>
                    <a:pt x="106" y="2"/>
                  </a:lnTo>
                  <a:lnTo>
                    <a:pt x="109" y="2"/>
                  </a:lnTo>
                  <a:lnTo>
                    <a:pt x="113" y="3"/>
                  </a:lnTo>
                  <a:lnTo>
                    <a:pt x="116" y="3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6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7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3"/>
                  </a:lnTo>
                  <a:lnTo>
                    <a:pt x="153" y="25"/>
                  </a:lnTo>
                </a:path>
              </a:pathLst>
            </a:custGeom>
            <a:noFill/>
            <a:ln w="0">
              <a:solidFill>
                <a:srgbClr val="ADD7E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26" name="Rectangle 126"/>
            <p:cNvSpPr>
              <a:spLocks noChangeArrowheads="1"/>
            </p:cNvSpPr>
            <p:nvPr/>
          </p:nvSpPr>
          <p:spPr bwMode="auto">
            <a:xfrm>
              <a:off x="3321" y="2685"/>
              <a:ext cx="154" cy="106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0527" name="Freeform 127"/>
            <p:cNvSpPr>
              <a:spLocks/>
            </p:cNvSpPr>
            <p:nvPr/>
          </p:nvSpPr>
          <p:spPr bwMode="auto">
            <a:xfrm>
              <a:off x="3322" y="2659"/>
              <a:ext cx="153" cy="50"/>
            </a:xfrm>
            <a:custGeom>
              <a:avLst/>
              <a:gdLst>
                <a:gd name="T0" fmla="*/ 152 w 153"/>
                <a:gd name="T1" fmla="*/ 28 h 50"/>
                <a:gd name="T2" fmla="*/ 150 w 153"/>
                <a:gd name="T3" fmla="*/ 31 h 50"/>
                <a:gd name="T4" fmla="*/ 147 w 153"/>
                <a:gd name="T5" fmla="*/ 35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6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50 h 50"/>
                <a:gd name="T20" fmla="*/ 76 w 153"/>
                <a:gd name="T21" fmla="*/ 50 h 50"/>
                <a:gd name="T22" fmla="*/ 64 w 153"/>
                <a:gd name="T23" fmla="*/ 50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6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5 h 50"/>
                <a:gd name="T38" fmla="*/ 2 w 153"/>
                <a:gd name="T39" fmla="*/ 31 h 50"/>
                <a:gd name="T40" fmla="*/ 0 w 153"/>
                <a:gd name="T41" fmla="*/ 28 h 50"/>
                <a:gd name="T42" fmla="*/ 0 w 153"/>
                <a:gd name="T43" fmla="*/ 24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2 h 50"/>
                <a:gd name="T60" fmla="*/ 61 w 153"/>
                <a:gd name="T61" fmla="*/ 1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4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8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8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4"/>
                  </a:lnTo>
                  <a:lnTo>
                    <a:pt x="147" y="35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3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6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50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50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6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3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8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7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4"/>
                  </a:lnTo>
                  <a:lnTo>
                    <a:pt x="40" y="3"/>
                  </a:lnTo>
                  <a:lnTo>
                    <a:pt x="43" y="3"/>
                  </a:lnTo>
                  <a:lnTo>
                    <a:pt x="46" y="2"/>
                  </a:lnTo>
                  <a:lnTo>
                    <a:pt x="50" y="2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1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1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2"/>
                  </a:lnTo>
                  <a:lnTo>
                    <a:pt x="106" y="2"/>
                  </a:lnTo>
                  <a:lnTo>
                    <a:pt x="109" y="3"/>
                  </a:lnTo>
                  <a:lnTo>
                    <a:pt x="113" y="3"/>
                  </a:lnTo>
                  <a:lnTo>
                    <a:pt x="116" y="4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7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8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4"/>
                  </a:lnTo>
                  <a:lnTo>
                    <a:pt x="153" y="25"/>
                  </a:lnTo>
                  <a:close/>
                </a:path>
              </a:pathLst>
            </a:custGeom>
            <a:solidFill>
              <a:srgbClr val="3CAF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28" name="Freeform 128"/>
            <p:cNvSpPr>
              <a:spLocks/>
            </p:cNvSpPr>
            <p:nvPr/>
          </p:nvSpPr>
          <p:spPr bwMode="auto">
            <a:xfrm>
              <a:off x="3322" y="2659"/>
              <a:ext cx="153" cy="50"/>
            </a:xfrm>
            <a:custGeom>
              <a:avLst/>
              <a:gdLst>
                <a:gd name="T0" fmla="*/ 152 w 153"/>
                <a:gd name="T1" fmla="*/ 28 h 50"/>
                <a:gd name="T2" fmla="*/ 150 w 153"/>
                <a:gd name="T3" fmla="*/ 31 h 50"/>
                <a:gd name="T4" fmla="*/ 147 w 153"/>
                <a:gd name="T5" fmla="*/ 35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6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50 h 50"/>
                <a:gd name="T20" fmla="*/ 76 w 153"/>
                <a:gd name="T21" fmla="*/ 50 h 50"/>
                <a:gd name="T22" fmla="*/ 64 w 153"/>
                <a:gd name="T23" fmla="*/ 50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6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5 h 50"/>
                <a:gd name="T38" fmla="*/ 2 w 153"/>
                <a:gd name="T39" fmla="*/ 31 h 50"/>
                <a:gd name="T40" fmla="*/ 0 w 153"/>
                <a:gd name="T41" fmla="*/ 28 h 50"/>
                <a:gd name="T42" fmla="*/ 0 w 153"/>
                <a:gd name="T43" fmla="*/ 24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2 h 50"/>
                <a:gd name="T60" fmla="*/ 61 w 153"/>
                <a:gd name="T61" fmla="*/ 1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4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8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8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4"/>
                  </a:lnTo>
                  <a:lnTo>
                    <a:pt x="147" y="35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3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6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50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50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6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3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8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7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4"/>
                  </a:lnTo>
                  <a:lnTo>
                    <a:pt x="40" y="3"/>
                  </a:lnTo>
                  <a:lnTo>
                    <a:pt x="43" y="3"/>
                  </a:lnTo>
                  <a:lnTo>
                    <a:pt x="46" y="2"/>
                  </a:lnTo>
                  <a:lnTo>
                    <a:pt x="50" y="2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1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1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2"/>
                  </a:lnTo>
                  <a:lnTo>
                    <a:pt x="106" y="2"/>
                  </a:lnTo>
                  <a:lnTo>
                    <a:pt x="109" y="3"/>
                  </a:lnTo>
                  <a:lnTo>
                    <a:pt x="113" y="3"/>
                  </a:lnTo>
                  <a:lnTo>
                    <a:pt x="116" y="4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7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8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4"/>
                  </a:lnTo>
                  <a:lnTo>
                    <a:pt x="153" y="25"/>
                  </a:lnTo>
                </a:path>
              </a:pathLst>
            </a:custGeom>
            <a:noFill/>
            <a:ln w="0">
              <a:solidFill>
                <a:srgbClr val="ADD7E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29" name="Freeform 129"/>
            <p:cNvSpPr>
              <a:spLocks/>
            </p:cNvSpPr>
            <p:nvPr/>
          </p:nvSpPr>
          <p:spPr bwMode="auto">
            <a:xfrm>
              <a:off x="3400" y="2666"/>
              <a:ext cx="50" cy="16"/>
            </a:xfrm>
            <a:custGeom>
              <a:avLst/>
              <a:gdLst>
                <a:gd name="T0" fmla="*/ 0 w 50"/>
                <a:gd name="T1" fmla="*/ 12 h 16"/>
                <a:gd name="T2" fmla="*/ 11 w 50"/>
                <a:gd name="T3" fmla="*/ 16 h 16"/>
                <a:gd name="T4" fmla="*/ 38 w 50"/>
                <a:gd name="T5" fmla="*/ 6 h 16"/>
                <a:gd name="T6" fmla="*/ 50 w 50"/>
                <a:gd name="T7" fmla="*/ 9 h 16"/>
                <a:gd name="T8" fmla="*/ 44 w 50"/>
                <a:gd name="T9" fmla="*/ 0 h 16"/>
                <a:gd name="T10" fmla="*/ 12 w 50"/>
                <a:gd name="T11" fmla="*/ 0 h 16"/>
                <a:gd name="T12" fmla="*/ 25 w 50"/>
                <a:gd name="T13" fmla="*/ 3 h 16"/>
                <a:gd name="T14" fmla="*/ 0 w 50"/>
                <a:gd name="T15" fmla="*/ 12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12"/>
                  </a:moveTo>
                  <a:lnTo>
                    <a:pt x="11" y="16"/>
                  </a:lnTo>
                  <a:lnTo>
                    <a:pt x="38" y="6"/>
                  </a:lnTo>
                  <a:lnTo>
                    <a:pt x="50" y="9"/>
                  </a:lnTo>
                  <a:lnTo>
                    <a:pt x="44" y="0"/>
                  </a:lnTo>
                  <a:lnTo>
                    <a:pt x="12" y="0"/>
                  </a:lnTo>
                  <a:lnTo>
                    <a:pt x="25" y="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30" name="Freeform 130"/>
            <p:cNvSpPr>
              <a:spLocks/>
            </p:cNvSpPr>
            <p:nvPr/>
          </p:nvSpPr>
          <p:spPr bwMode="auto">
            <a:xfrm>
              <a:off x="3345" y="2685"/>
              <a:ext cx="50" cy="16"/>
            </a:xfrm>
            <a:custGeom>
              <a:avLst/>
              <a:gdLst>
                <a:gd name="T0" fmla="*/ 50 w 50"/>
                <a:gd name="T1" fmla="*/ 4 h 16"/>
                <a:gd name="T2" fmla="*/ 39 w 50"/>
                <a:gd name="T3" fmla="*/ 0 h 16"/>
                <a:gd name="T4" fmla="*/ 12 w 50"/>
                <a:gd name="T5" fmla="*/ 10 h 16"/>
                <a:gd name="T6" fmla="*/ 0 w 50"/>
                <a:gd name="T7" fmla="*/ 7 h 16"/>
                <a:gd name="T8" fmla="*/ 7 w 50"/>
                <a:gd name="T9" fmla="*/ 16 h 16"/>
                <a:gd name="T10" fmla="*/ 39 w 50"/>
                <a:gd name="T11" fmla="*/ 16 h 16"/>
                <a:gd name="T12" fmla="*/ 25 w 50"/>
                <a:gd name="T13" fmla="*/ 13 h 16"/>
                <a:gd name="T14" fmla="*/ 5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50" y="4"/>
                  </a:moveTo>
                  <a:lnTo>
                    <a:pt x="39" y="0"/>
                  </a:lnTo>
                  <a:lnTo>
                    <a:pt x="12" y="10"/>
                  </a:lnTo>
                  <a:lnTo>
                    <a:pt x="0" y="7"/>
                  </a:lnTo>
                  <a:lnTo>
                    <a:pt x="7" y="16"/>
                  </a:lnTo>
                  <a:lnTo>
                    <a:pt x="39" y="16"/>
                  </a:lnTo>
                  <a:lnTo>
                    <a:pt x="25" y="13"/>
                  </a:lnTo>
                  <a:lnTo>
                    <a:pt x="50" y="4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31" name="Freeform 131"/>
            <p:cNvSpPr>
              <a:spLocks/>
            </p:cNvSpPr>
            <p:nvPr/>
          </p:nvSpPr>
          <p:spPr bwMode="auto">
            <a:xfrm>
              <a:off x="3348" y="2665"/>
              <a:ext cx="50" cy="17"/>
            </a:xfrm>
            <a:custGeom>
              <a:avLst/>
              <a:gdLst>
                <a:gd name="T0" fmla="*/ 0 w 50"/>
                <a:gd name="T1" fmla="*/ 4 h 17"/>
                <a:gd name="T2" fmla="*/ 11 w 50"/>
                <a:gd name="T3" fmla="*/ 0 h 17"/>
                <a:gd name="T4" fmla="*/ 38 w 50"/>
                <a:gd name="T5" fmla="*/ 10 h 17"/>
                <a:gd name="T6" fmla="*/ 50 w 50"/>
                <a:gd name="T7" fmla="*/ 8 h 17"/>
                <a:gd name="T8" fmla="*/ 44 w 50"/>
                <a:gd name="T9" fmla="*/ 17 h 17"/>
                <a:gd name="T10" fmla="*/ 11 w 50"/>
                <a:gd name="T11" fmla="*/ 17 h 17"/>
                <a:gd name="T12" fmla="*/ 25 w 50"/>
                <a:gd name="T13" fmla="*/ 13 h 17"/>
                <a:gd name="T14" fmla="*/ 0 w 50"/>
                <a:gd name="T15" fmla="*/ 4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7"/>
                <a:gd name="T26" fmla="*/ 50 w 50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7">
                  <a:moveTo>
                    <a:pt x="0" y="4"/>
                  </a:moveTo>
                  <a:lnTo>
                    <a:pt x="11" y="0"/>
                  </a:lnTo>
                  <a:lnTo>
                    <a:pt x="38" y="10"/>
                  </a:lnTo>
                  <a:lnTo>
                    <a:pt x="50" y="8"/>
                  </a:lnTo>
                  <a:lnTo>
                    <a:pt x="44" y="17"/>
                  </a:lnTo>
                  <a:lnTo>
                    <a:pt x="11" y="17"/>
                  </a:lnTo>
                  <a:lnTo>
                    <a:pt x="25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32" name="Freeform 132"/>
            <p:cNvSpPr>
              <a:spLocks/>
            </p:cNvSpPr>
            <p:nvPr/>
          </p:nvSpPr>
          <p:spPr bwMode="auto">
            <a:xfrm>
              <a:off x="3398" y="2686"/>
              <a:ext cx="51" cy="16"/>
            </a:xfrm>
            <a:custGeom>
              <a:avLst/>
              <a:gdLst>
                <a:gd name="T0" fmla="*/ 51 w 51"/>
                <a:gd name="T1" fmla="*/ 13 h 16"/>
                <a:gd name="T2" fmla="*/ 40 w 51"/>
                <a:gd name="T3" fmla="*/ 16 h 16"/>
                <a:gd name="T4" fmla="*/ 13 w 51"/>
                <a:gd name="T5" fmla="*/ 6 h 16"/>
                <a:gd name="T6" fmla="*/ 0 w 51"/>
                <a:gd name="T7" fmla="*/ 9 h 16"/>
                <a:gd name="T8" fmla="*/ 7 w 51"/>
                <a:gd name="T9" fmla="*/ 0 h 16"/>
                <a:gd name="T10" fmla="*/ 39 w 51"/>
                <a:gd name="T11" fmla="*/ 0 h 16"/>
                <a:gd name="T12" fmla="*/ 26 w 51"/>
                <a:gd name="T13" fmla="*/ 3 h 16"/>
                <a:gd name="T14" fmla="*/ 51 w 51"/>
                <a:gd name="T15" fmla="*/ 13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1"/>
                <a:gd name="T25" fmla="*/ 0 h 16"/>
                <a:gd name="T26" fmla="*/ 51 w 51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1" h="16">
                  <a:moveTo>
                    <a:pt x="51" y="13"/>
                  </a:moveTo>
                  <a:lnTo>
                    <a:pt x="40" y="16"/>
                  </a:lnTo>
                  <a:lnTo>
                    <a:pt x="13" y="6"/>
                  </a:lnTo>
                  <a:lnTo>
                    <a:pt x="0" y="9"/>
                  </a:lnTo>
                  <a:lnTo>
                    <a:pt x="7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51" y="13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33" name="Freeform 133"/>
            <p:cNvSpPr>
              <a:spLocks/>
            </p:cNvSpPr>
            <p:nvPr/>
          </p:nvSpPr>
          <p:spPr bwMode="auto">
            <a:xfrm>
              <a:off x="3401" y="2667"/>
              <a:ext cx="50" cy="16"/>
            </a:xfrm>
            <a:custGeom>
              <a:avLst/>
              <a:gdLst>
                <a:gd name="T0" fmla="*/ 0 w 50"/>
                <a:gd name="T1" fmla="*/ 12 h 16"/>
                <a:gd name="T2" fmla="*/ 11 w 50"/>
                <a:gd name="T3" fmla="*/ 16 h 16"/>
                <a:gd name="T4" fmla="*/ 38 w 50"/>
                <a:gd name="T5" fmla="*/ 6 h 16"/>
                <a:gd name="T6" fmla="*/ 50 w 50"/>
                <a:gd name="T7" fmla="*/ 9 h 16"/>
                <a:gd name="T8" fmla="*/ 44 w 50"/>
                <a:gd name="T9" fmla="*/ 0 h 16"/>
                <a:gd name="T10" fmla="*/ 12 w 50"/>
                <a:gd name="T11" fmla="*/ 0 h 16"/>
                <a:gd name="T12" fmla="*/ 25 w 50"/>
                <a:gd name="T13" fmla="*/ 3 h 16"/>
                <a:gd name="T14" fmla="*/ 0 w 50"/>
                <a:gd name="T15" fmla="*/ 12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12"/>
                  </a:moveTo>
                  <a:lnTo>
                    <a:pt x="11" y="16"/>
                  </a:lnTo>
                  <a:lnTo>
                    <a:pt x="38" y="6"/>
                  </a:lnTo>
                  <a:lnTo>
                    <a:pt x="50" y="9"/>
                  </a:lnTo>
                  <a:lnTo>
                    <a:pt x="44" y="0"/>
                  </a:lnTo>
                  <a:lnTo>
                    <a:pt x="12" y="0"/>
                  </a:lnTo>
                  <a:lnTo>
                    <a:pt x="25" y="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34" name="Freeform 134"/>
            <p:cNvSpPr>
              <a:spLocks/>
            </p:cNvSpPr>
            <p:nvPr/>
          </p:nvSpPr>
          <p:spPr bwMode="auto">
            <a:xfrm>
              <a:off x="3346" y="2686"/>
              <a:ext cx="50" cy="16"/>
            </a:xfrm>
            <a:custGeom>
              <a:avLst/>
              <a:gdLst>
                <a:gd name="T0" fmla="*/ 50 w 50"/>
                <a:gd name="T1" fmla="*/ 4 h 16"/>
                <a:gd name="T2" fmla="*/ 39 w 50"/>
                <a:gd name="T3" fmla="*/ 0 h 16"/>
                <a:gd name="T4" fmla="*/ 12 w 50"/>
                <a:gd name="T5" fmla="*/ 10 h 16"/>
                <a:gd name="T6" fmla="*/ 0 w 50"/>
                <a:gd name="T7" fmla="*/ 7 h 16"/>
                <a:gd name="T8" fmla="*/ 7 w 50"/>
                <a:gd name="T9" fmla="*/ 16 h 16"/>
                <a:gd name="T10" fmla="*/ 39 w 50"/>
                <a:gd name="T11" fmla="*/ 16 h 16"/>
                <a:gd name="T12" fmla="*/ 25 w 50"/>
                <a:gd name="T13" fmla="*/ 13 h 16"/>
                <a:gd name="T14" fmla="*/ 5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50" y="4"/>
                  </a:moveTo>
                  <a:lnTo>
                    <a:pt x="39" y="0"/>
                  </a:lnTo>
                  <a:lnTo>
                    <a:pt x="12" y="10"/>
                  </a:lnTo>
                  <a:lnTo>
                    <a:pt x="0" y="7"/>
                  </a:lnTo>
                  <a:lnTo>
                    <a:pt x="7" y="16"/>
                  </a:lnTo>
                  <a:lnTo>
                    <a:pt x="39" y="16"/>
                  </a:lnTo>
                  <a:lnTo>
                    <a:pt x="25" y="13"/>
                  </a:lnTo>
                  <a:lnTo>
                    <a:pt x="5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35" name="Freeform 135"/>
            <p:cNvSpPr>
              <a:spLocks/>
            </p:cNvSpPr>
            <p:nvPr/>
          </p:nvSpPr>
          <p:spPr bwMode="auto">
            <a:xfrm>
              <a:off x="3349" y="2666"/>
              <a:ext cx="50" cy="16"/>
            </a:xfrm>
            <a:custGeom>
              <a:avLst/>
              <a:gdLst>
                <a:gd name="T0" fmla="*/ 0 w 50"/>
                <a:gd name="T1" fmla="*/ 4 h 16"/>
                <a:gd name="T2" fmla="*/ 11 w 50"/>
                <a:gd name="T3" fmla="*/ 0 h 16"/>
                <a:gd name="T4" fmla="*/ 38 w 50"/>
                <a:gd name="T5" fmla="*/ 10 h 16"/>
                <a:gd name="T6" fmla="*/ 50 w 50"/>
                <a:gd name="T7" fmla="*/ 7 h 16"/>
                <a:gd name="T8" fmla="*/ 44 w 50"/>
                <a:gd name="T9" fmla="*/ 16 h 16"/>
                <a:gd name="T10" fmla="*/ 11 w 50"/>
                <a:gd name="T11" fmla="*/ 16 h 16"/>
                <a:gd name="T12" fmla="*/ 25 w 50"/>
                <a:gd name="T13" fmla="*/ 13 h 16"/>
                <a:gd name="T14" fmla="*/ 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4"/>
                  </a:moveTo>
                  <a:lnTo>
                    <a:pt x="11" y="0"/>
                  </a:lnTo>
                  <a:lnTo>
                    <a:pt x="38" y="10"/>
                  </a:lnTo>
                  <a:lnTo>
                    <a:pt x="50" y="7"/>
                  </a:lnTo>
                  <a:lnTo>
                    <a:pt x="44" y="16"/>
                  </a:lnTo>
                  <a:lnTo>
                    <a:pt x="11" y="16"/>
                  </a:lnTo>
                  <a:lnTo>
                    <a:pt x="25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36" name="Freeform 136"/>
            <p:cNvSpPr>
              <a:spLocks/>
            </p:cNvSpPr>
            <p:nvPr/>
          </p:nvSpPr>
          <p:spPr bwMode="auto">
            <a:xfrm>
              <a:off x="3399" y="2687"/>
              <a:ext cx="51" cy="16"/>
            </a:xfrm>
            <a:custGeom>
              <a:avLst/>
              <a:gdLst>
                <a:gd name="T0" fmla="*/ 51 w 51"/>
                <a:gd name="T1" fmla="*/ 13 h 16"/>
                <a:gd name="T2" fmla="*/ 39 w 51"/>
                <a:gd name="T3" fmla="*/ 16 h 16"/>
                <a:gd name="T4" fmla="*/ 13 w 51"/>
                <a:gd name="T5" fmla="*/ 6 h 16"/>
                <a:gd name="T6" fmla="*/ 0 w 51"/>
                <a:gd name="T7" fmla="*/ 9 h 16"/>
                <a:gd name="T8" fmla="*/ 7 w 51"/>
                <a:gd name="T9" fmla="*/ 0 h 16"/>
                <a:gd name="T10" fmla="*/ 39 w 51"/>
                <a:gd name="T11" fmla="*/ 0 h 16"/>
                <a:gd name="T12" fmla="*/ 26 w 51"/>
                <a:gd name="T13" fmla="*/ 3 h 16"/>
                <a:gd name="T14" fmla="*/ 51 w 51"/>
                <a:gd name="T15" fmla="*/ 13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1"/>
                <a:gd name="T25" fmla="*/ 0 h 16"/>
                <a:gd name="T26" fmla="*/ 51 w 51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1" h="16">
                  <a:moveTo>
                    <a:pt x="51" y="13"/>
                  </a:moveTo>
                  <a:lnTo>
                    <a:pt x="39" y="16"/>
                  </a:lnTo>
                  <a:lnTo>
                    <a:pt x="13" y="6"/>
                  </a:lnTo>
                  <a:lnTo>
                    <a:pt x="0" y="9"/>
                  </a:lnTo>
                  <a:lnTo>
                    <a:pt x="7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51" y="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37" name="Line 137"/>
            <p:cNvSpPr>
              <a:spLocks noChangeShapeType="1"/>
            </p:cNvSpPr>
            <p:nvPr/>
          </p:nvSpPr>
          <p:spPr bwMode="auto">
            <a:xfrm>
              <a:off x="3322" y="2684"/>
              <a:ext cx="1" cy="107"/>
            </a:xfrm>
            <a:prstGeom prst="line">
              <a:avLst/>
            </a:prstGeom>
            <a:noFill/>
            <a:ln w="0">
              <a:solidFill>
                <a:srgbClr val="ADD7E7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38" name="Line 138"/>
            <p:cNvSpPr>
              <a:spLocks noChangeShapeType="1"/>
            </p:cNvSpPr>
            <p:nvPr/>
          </p:nvSpPr>
          <p:spPr bwMode="auto">
            <a:xfrm>
              <a:off x="3475" y="2684"/>
              <a:ext cx="1" cy="107"/>
            </a:xfrm>
            <a:prstGeom prst="line">
              <a:avLst/>
            </a:prstGeom>
            <a:noFill/>
            <a:ln w="0">
              <a:solidFill>
                <a:srgbClr val="ADD7E7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39" name="Freeform 139"/>
            <p:cNvSpPr>
              <a:spLocks/>
            </p:cNvSpPr>
            <p:nvPr/>
          </p:nvSpPr>
          <p:spPr bwMode="auto">
            <a:xfrm>
              <a:off x="3339" y="2713"/>
              <a:ext cx="117" cy="90"/>
            </a:xfrm>
            <a:custGeom>
              <a:avLst/>
              <a:gdLst>
                <a:gd name="T0" fmla="*/ 17 w 117"/>
                <a:gd name="T1" fmla="*/ 0 h 90"/>
                <a:gd name="T2" fmla="*/ 17 w 117"/>
                <a:gd name="T3" fmla="*/ 11 h 90"/>
                <a:gd name="T4" fmla="*/ 44 w 117"/>
                <a:gd name="T5" fmla="*/ 11 h 90"/>
                <a:gd name="T6" fmla="*/ 58 w 117"/>
                <a:gd name="T7" fmla="*/ 35 h 90"/>
                <a:gd name="T8" fmla="*/ 73 w 117"/>
                <a:gd name="T9" fmla="*/ 11 h 90"/>
                <a:gd name="T10" fmla="*/ 100 w 117"/>
                <a:gd name="T11" fmla="*/ 11 h 90"/>
                <a:gd name="T12" fmla="*/ 100 w 117"/>
                <a:gd name="T13" fmla="*/ 0 h 90"/>
                <a:gd name="T14" fmla="*/ 117 w 117"/>
                <a:gd name="T15" fmla="*/ 14 h 90"/>
                <a:gd name="T16" fmla="*/ 100 w 117"/>
                <a:gd name="T17" fmla="*/ 28 h 90"/>
                <a:gd name="T18" fmla="*/ 100 w 117"/>
                <a:gd name="T19" fmla="*/ 18 h 90"/>
                <a:gd name="T20" fmla="*/ 81 w 117"/>
                <a:gd name="T21" fmla="*/ 18 h 90"/>
                <a:gd name="T22" fmla="*/ 64 w 117"/>
                <a:gd name="T23" fmla="*/ 45 h 90"/>
                <a:gd name="T24" fmla="*/ 81 w 117"/>
                <a:gd name="T25" fmla="*/ 72 h 90"/>
                <a:gd name="T26" fmla="*/ 100 w 117"/>
                <a:gd name="T27" fmla="*/ 72 h 90"/>
                <a:gd name="T28" fmla="*/ 100 w 117"/>
                <a:gd name="T29" fmla="*/ 62 h 90"/>
                <a:gd name="T30" fmla="*/ 117 w 117"/>
                <a:gd name="T31" fmla="*/ 76 h 90"/>
                <a:gd name="T32" fmla="*/ 100 w 117"/>
                <a:gd name="T33" fmla="*/ 90 h 90"/>
                <a:gd name="T34" fmla="*/ 100 w 117"/>
                <a:gd name="T35" fmla="*/ 80 h 90"/>
                <a:gd name="T36" fmla="*/ 73 w 117"/>
                <a:gd name="T37" fmla="*/ 80 h 90"/>
                <a:gd name="T38" fmla="*/ 58 w 117"/>
                <a:gd name="T39" fmla="*/ 55 h 90"/>
                <a:gd name="T40" fmla="*/ 44 w 117"/>
                <a:gd name="T41" fmla="*/ 80 h 90"/>
                <a:gd name="T42" fmla="*/ 17 w 117"/>
                <a:gd name="T43" fmla="*/ 80 h 90"/>
                <a:gd name="T44" fmla="*/ 17 w 117"/>
                <a:gd name="T45" fmla="*/ 90 h 90"/>
                <a:gd name="T46" fmla="*/ 0 w 117"/>
                <a:gd name="T47" fmla="*/ 76 h 90"/>
                <a:gd name="T48" fmla="*/ 17 w 117"/>
                <a:gd name="T49" fmla="*/ 62 h 90"/>
                <a:gd name="T50" fmla="*/ 17 w 117"/>
                <a:gd name="T51" fmla="*/ 72 h 90"/>
                <a:gd name="T52" fmla="*/ 36 w 117"/>
                <a:gd name="T53" fmla="*/ 72 h 90"/>
                <a:gd name="T54" fmla="*/ 52 w 117"/>
                <a:gd name="T55" fmla="*/ 45 h 90"/>
                <a:gd name="T56" fmla="*/ 36 w 117"/>
                <a:gd name="T57" fmla="*/ 18 h 90"/>
                <a:gd name="T58" fmla="*/ 17 w 117"/>
                <a:gd name="T59" fmla="*/ 18 h 90"/>
                <a:gd name="T60" fmla="*/ 17 w 117"/>
                <a:gd name="T61" fmla="*/ 27 h 90"/>
                <a:gd name="T62" fmla="*/ 0 w 117"/>
                <a:gd name="T63" fmla="*/ 14 h 90"/>
                <a:gd name="T64" fmla="*/ 17 w 117"/>
                <a:gd name="T65" fmla="*/ 0 h 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"/>
                <a:gd name="T100" fmla="*/ 0 h 90"/>
                <a:gd name="T101" fmla="*/ 117 w 117"/>
                <a:gd name="T102" fmla="*/ 90 h 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" h="90">
                  <a:moveTo>
                    <a:pt x="17" y="0"/>
                  </a:moveTo>
                  <a:lnTo>
                    <a:pt x="17" y="11"/>
                  </a:lnTo>
                  <a:lnTo>
                    <a:pt x="44" y="11"/>
                  </a:lnTo>
                  <a:lnTo>
                    <a:pt x="58" y="35"/>
                  </a:lnTo>
                  <a:lnTo>
                    <a:pt x="73" y="11"/>
                  </a:lnTo>
                  <a:lnTo>
                    <a:pt x="100" y="11"/>
                  </a:lnTo>
                  <a:lnTo>
                    <a:pt x="100" y="0"/>
                  </a:lnTo>
                  <a:lnTo>
                    <a:pt x="117" y="14"/>
                  </a:lnTo>
                  <a:lnTo>
                    <a:pt x="100" y="28"/>
                  </a:lnTo>
                  <a:lnTo>
                    <a:pt x="100" y="18"/>
                  </a:lnTo>
                  <a:lnTo>
                    <a:pt x="81" y="18"/>
                  </a:lnTo>
                  <a:lnTo>
                    <a:pt x="64" y="45"/>
                  </a:lnTo>
                  <a:lnTo>
                    <a:pt x="81" y="72"/>
                  </a:lnTo>
                  <a:lnTo>
                    <a:pt x="100" y="72"/>
                  </a:lnTo>
                  <a:lnTo>
                    <a:pt x="100" y="62"/>
                  </a:lnTo>
                  <a:lnTo>
                    <a:pt x="117" y="76"/>
                  </a:lnTo>
                  <a:lnTo>
                    <a:pt x="100" y="90"/>
                  </a:lnTo>
                  <a:lnTo>
                    <a:pt x="100" y="80"/>
                  </a:lnTo>
                  <a:lnTo>
                    <a:pt x="73" y="80"/>
                  </a:lnTo>
                  <a:lnTo>
                    <a:pt x="58" y="55"/>
                  </a:lnTo>
                  <a:lnTo>
                    <a:pt x="44" y="80"/>
                  </a:lnTo>
                  <a:lnTo>
                    <a:pt x="17" y="80"/>
                  </a:lnTo>
                  <a:lnTo>
                    <a:pt x="17" y="90"/>
                  </a:lnTo>
                  <a:lnTo>
                    <a:pt x="0" y="76"/>
                  </a:lnTo>
                  <a:lnTo>
                    <a:pt x="17" y="62"/>
                  </a:lnTo>
                  <a:lnTo>
                    <a:pt x="17" y="72"/>
                  </a:lnTo>
                  <a:lnTo>
                    <a:pt x="36" y="72"/>
                  </a:lnTo>
                  <a:lnTo>
                    <a:pt x="52" y="45"/>
                  </a:lnTo>
                  <a:lnTo>
                    <a:pt x="36" y="18"/>
                  </a:lnTo>
                  <a:lnTo>
                    <a:pt x="17" y="18"/>
                  </a:lnTo>
                  <a:lnTo>
                    <a:pt x="17" y="27"/>
                  </a:lnTo>
                  <a:lnTo>
                    <a:pt x="0" y="14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40" name="Freeform 140"/>
            <p:cNvSpPr>
              <a:spLocks/>
            </p:cNvSpPr>
            <p:nvPr/>
          </p:nvSpPr>
          <p:spPr bwMode="auto">
            <a:xfrm>
              <a:off x="3340" y="2714"/>
              <a:ext cx="117" cy="90"/>
            </a:xfrm>
            <a:custGeom>
              <a:avLst/>
              <a:gdLst>
                <a:gd name="T0" fmla="*/ 17 w 117"/>
                <a:gd name="T1" fmla="*/ 0 h 90"/>
                <a:gd name="T2" fmla="*/ 17 w 117"/>
                <a:gd name="T3" fmla="*/ 10 h 90"/>
                <a:gd name="T4" fmla="*/ 44 w 117"/>
                <a:gd name="T5" fmla="*/ 10 h 90"/>
                <a:gd name="T6" fmla="*/ 58 w 117"/>
                <a:gd name="T7" fmla="*/ 35 h 90"/>
                <a:gd name="T8" fmla="*/ 73 w 117"/>
                <a:gd name="T9" fmla="*/ 11 h 90"/>
                <a:gd name="T10" fmla="*/ 100 w 117"/>
                <a:gd name="T11" fmla="*/ 11 h 90"/>
                <a:gd name="T12" fmla="*/ 100 w 117"/>
                <a:gd name="T13" fmla="*/ 0 h 90"/>
                <a:gd name="T14" fmla="*/ 117 w 117"/>
                <a:gd name="T15" fmla="*/ 14 h 90"/>
                <a:gd name="T16" fmla="*/ 100 w 117"/>
                <a:gd name="T17" fmla="*/ 27 h 90"/>
                <a:gd name="T18" fmla="*/ 100 w 117"/>
                <a:gd name="T19" fmla="*/ 18 h 90"/>
                <a:gd name="T20" fmla="*/ 81 w 117"/>
                <a:gd name="T21" fmla="*/ 18 h 90"/>
                <a:gd name="T22" fmla="*/ 64 w 117"/>
                <a:gd name="T23" fmla="*/ 45 h 90"/>
                <a:gd name="T24" fmla="*/ 81 w 117"/>
                <a:gd name="T25" fmla="*/ 72 h 90"/>
                <a:gd name="T26" fmla="*/ 100 w 117"/>
                <a:gd name="T27" fmla="*/ 72 h 90"/>
                <a:gd name="T28" fmla="*/ 100 w 117"/>
                <a:gd name="T29" fmla="*/ 62 h 90"/>
                <a:gd name="T30" fmla="*/ 117 w 117"/>
                <a:gd name="T31" fmla="*/ 76 h 90"/>
                <a:gd name="T32" fmla="*/ 100 w 117"/>
                <a:gd name="T33" fmla="*/ 90 h 90"/>
                <a:gd name="T34" fmla="*/ 100 w 117"/>
                <a:gd name="T35" fmla="*/ 80 h 90"/>
                <a:gd name="T36" fmla="*/ 73 w 117"/>
                <a:gd name="T37" fmla="*/ 80 h 90"/>
                <a:gd name="T38" fmla="*/ 58 w 117"/>
                <a:gd name="T39" fmla="*/ 55 h 90"/>
                <a:gd name="T40" fmla="*/ 44 w 117"/>
                <a:gd name="T41" fmla="*/ 80 h 90"/>
                <a:gd name="T42" fmla="*/ 17 w 117"/>
                <a:gd name="T43" fmla="*/ 80 h 90"/>
                <a:gd name="T44" fmla="*/ 17 w 117"/>
                <a:gd name="T45" fmla="*/ 90 h 90"/>
                <a:gd name="T46" fmla="*/ 0 w 117"/>
                <a:gd name="T47" fmla="*/ 76 h 90"/>
                <a:gd name="T48" fmla="*/ 17 w 117"/>
                <a:gd name="T49" fmla="*/ 62 h 90"/>
                <a:gd name="T50" fmla="*/ 17 w 117"/>
                <a:gd name="T51" fmla="*/ 72 h 90"/>
                <a:gd name="T52" fmla="*/ 36 w 117"/>
                <a:gd name="T53" fmla="*/ 72 h 90"/>
                <a:gd name="T54" fmla="*/ 52 w 117"/>
                <a:gd name="T55" fmla="*/ 45 h 90"/>
                <a:gd name="T56" fmla="*/ 36 w 117"/>
                <a:gd name="T57" fmla="*/ 18 h 90"/>
                <a:gd name="T58" fmla="*/ 17 w 117"/>
                <a:gd name="T59" fmla="*/ 18 h 90"/>
                <a:gd name="T60" fmla="*/ 17 w 117"/>
                <a:gd name="T61" fmla="*/ 27 h 90"/>
                <a:gd name="T62" fmla="*/ 0 w 117"/>
                <a:gd name="T63" fmla="*/ 13 h 90"/>
                <a:gd name="T64" fmla="*/ 17 w 117"/>
                <a:gd name="T65" fmla="*/ 0 h 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"/>
                <a:gd name="T100" fmla="*/ 0 h 90"/>
                <a:gd name="T101" fmla="*/ 117 w 117"/>
                <a:gd name="T102" fmla="*/ 90 h 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" h="90">
                  <a:moveTo>
                    <a:pt x="17" y="0"/>
                  </a:moveTo>
                  <a:lnTo>
                    <a:pt x="17" y="10"/>
                  </a:lnTo>
                  <a:lnTo>
                    <a:pt x="44" y="10"/>
                  </a:lnTo>
                  <a:lnTo>
                    <a:pt x="58" y="35"/>
                  </a:lnTo>
                  <a:lnTo>
                    <a:pt x="73" y="11"/>
                  </a:lnTo>
                  <a:lnTo>
                    <a:pt x="100" y="11"/>
                  </a:lnTo>
                  <a:lnTo>
                    <a:pt x="100" y="0"/>
                  </a:lnTo>
                  <a:lnTo>
                    <a:pt x="117" y="14"/>
                  </a:lnTo>
                  <a:lnTo>
                    <a:pt x="100" y="27"/>
                  </a:lnTo>
                  <a:lnTo>
                    <a:pt x="100" y="18"/>
                  </a:lnTo>
                  <a:lnTo>
                    <a:pt x="81" y="18"/>
                  </a:lnTo>
                  <a:lnTo>
                    <a:pt x="64" y="45"/>
                  </a:lnTo>
                  <a:lnTo>
                    <a:pt x="81" y="72"/>
                  </a:lnTo>
                  <a:lnTo>
                    <a:pt x="100" y="72"/>
                  </a:lnTo>
                  <a:lnTo>
                    <a:pt x="100" y="62"/>
                  </a:lnTo>
                  <a:lnTo>
                    <a:pt x="117" y="76"/>
                  </a:lnTo>
                  <a:lnTo>
                    <a:pt x="100" y="90"/>
                  </a:lnTo>
                  <a:lnTo>
                    <a:pt x="100" y="80"/>
                  </a:lnTo>
                  <a:lnTo>
                    <a:pt x="73" y="80"/>
                  </a:lnTo>
                  <a:lnTo>
                    <a:pt x="58" y="55"/>
                  </a:lnTo>
                  <a:lnTo>
                    <a:pt x="44" y="80"/>
                  </a:lnTo>
                  <a:lnTo>
                    <a:pt x="17" y="80"/>
                  </a:lnTo>
                  <a:lnTo>
                    <a:pt x="17" y="90"/>
                  </a:lnTo>
                  <a:lnTo>
                    <a:pt x="0" y="76"/>
                  </a:lnTo>
                  <a:lnTo>
                    <a:pt x="17" y="62"/>
                  </a:lnTo>
                  <a:lnTo>
                    <a:pt x="17" y="72"/>
                  </a:lnTo>
                  <a:lnTo>
                    <a:pt x="36" y="72"/>
                  </a:lnTo>
                  <a:lnTo>
                    <a:pt x="52" y="45"/>
                  </a:lnTo>
                  <a:lnTo>
                    <a:pt x="36" y="18"/>
                  </a:lnTo>
                  <a:lnTo>
                    <a:pt x="17" y="18"/>
                  </a:lnTo>
                  <a:lnTo>
                    <a:pt x="17" y="27"/>
                  </a:lnTo>
                  <a:lnTo>
                    <a:pt x="0" y="1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41" name="Rectangle 141"/>
            <p:cNvSpPr>
              <a:spLocks noChangeArrowheads="1"/>
            </p:cNvSpPr>
            <p:nvPr/>
          </p:nvSpPr>
          <p:spPr bwMode="auto">
            <a:xfrm>
              <a:off x="3433" y="2740"/>
              <a:ext cx="38" cy="35"/>
            </a:xfrm>
            <a:prstGeom prst="rect">
              <a:avLst/>
            </a:prstGeom>
            <a:solidFill>
              <a:srgbClr val="07608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0542" name="Rectangle 142"/>
            <p:cNvSpPr>
              <a:spLocks noChangeArrowheads="1"/>
            </p:cNvSpPr>
            <p:nvPr/>
          </p:nvSpPr>
          <p:spPr bwMode="auto">
            <a:xfrm>
              <a:off x="3433" y="2740"/>
              <a:ext cx="38" cy="35"/>
            </a:xfrm>
            <a:prstGeom prst="rect">
              <a:avLst/>
            </a:prstGeom>
            <a:noFill/>
            <a:ln w="0">
              <a:solidFill>
                <a:srgbClr val="ADD7E7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0543" name="Freeform 143"/>
            <p:cNvSpPr>
              <a:spLocks/>
            </p:cNvSpPr>
            <p:nvPr/>
          </p:nvSpPr>
          <p:spPr bwMode="auto">
            <a:xfrm>
              <a:off x="3441" y="2748"/>
              <a:ext cx="23" cy="21"/>
            </a:xfrm>
            <a:custGeom>
              <a:avLst/>
              <a:gdLst>
                <a:gd name="T0" fmla="*/ 0 w 23"/>
                <a:gd name="T1" fmla="*/ 0 h 21"/>
                <a:gd name="T2" fmla="*/ 5 w 23"/>
                <a:gd name="T3" fmla="*/ 0 h 21"/>
                <a:gd name="T4" fmla="*/ 11 w 23"/>
                <a:gd name="T5" fmla="*/ 13 h 21"/>
                <a:gd name="T6" fmla="*/ 17 w 23"/>
                <a:gd name="T7" fmla="*/ 0 h 21"/>
                <a:gd name="T8" fmla="*/ 23 w 23"/>
                <a:gd name="T9" fmla="*/ 0 h 21"/>
                <a:gd name="T10" fmla="*/ 14 w 23"/>
                <a:gd name="T11" fmla="*/ 21 h 21"/>
                <a:gd name="T12" fmla="*/ 9 w 23"/>
                <a:gd name="T13" fmla="*/ 21 h 21"/>
                <a:gd name="T14" fmla="*/ 0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21"/>
                <a:gd name="T26" fmla="*/ 23 w 23"/>
                <a:gd name="T27" fmla="*/ 21 h 2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21">
                  <a:moveTo>
                    <a:pt x="0" y="0"/>
                  </a:moveTo>
                  <a:lnTo>
                    <a:pt x="5" y="0"/>
                  </a:lnTo>
                  <a:lnTo>
                    <a:pt x="11" y="13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14" y="21"/>
                  </a:lnTo>
                  <a:lnTo>
                    <a:pt x="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544" name="Freeform 144"/>
            <p:cNvSpPr>
              <a:spLocks/>
            </p:cNvSpPr>
            <p:nvPr/>
          </p:nvSpPr>
          <p:spPr bwMode="auto">
            <a:xfrm>
              <a:off x="3440" y="2747"/>
              <a:ext cx="23" cy="21"/>
            </a:xfrm>
            <a:custGeom>
              <a:avLst/>
              <a:gdLst>
                <a:gd name="T0" fmla="*/ 0 w 23"/>
                <a:gd name="T1" fmla="*/ 0 h 21"/>
                <a:gd name="T2" fmla="*/ 5 w 23"/>
                <a:gd name="T3" fmla="*/ 0 h 21"/>
                <a:gd name="T4" fmla="*/ 11 w 23"/>
                <a:gd name="T5" fmla="*/ 13 h 21"/>
                <a:gd name="T6" fmla="*/ 17 w 23"/>
                <a:gd name="T7" fmla="*/ 0 h 21"/>
                <a:gd name="T8" fmla="*/ 23 w 23"/>
                <a:gd name="T9" fmla="*/ 0 h 21"/>
                <a:gd name="T10" fmla="*/ 14 w 23"/>
                <a:gd name="T11" fmla="*/ 21 h 21"/>
                <a:gd name="T12" fmla="*/ 9 w 23"/>
                <a:gd name="T13" fmla="*/ 21 h 21"/>
                <a:gd name="T14" fmla="*/ 0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21"/>
                <a:gd name="T26" fmla="*/ 23 w 23"/>
                <a:gd name="T27" fmla="*/ 21 h 2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21">
                  <a:moveTo>
                    <a:pt x="0" y="0"/>
                  </a:moveTo>
                  <a:lnTo>
                    <a:pt x="5" y="0"/>
                  </a:lnTo>
                  <a:lnTo>
                    <a:pt x="11" y="13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14" y="21"/>
                  </a:lnTo>
                  <a:lnTo>
                    <a:pt x="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0520" name="Line 66"/>
          <p:cNvSpPr>
            <a:spLocks noChangeShapeType="1"/>
          </p:cNvSpPr>
          <p:nvPr/>
        </p:nvSpPr>
        <p:spPr bwMode="auto">
          <a:xfrm flipH="1" flipV="1">
            <a:off x="2995613" y="5003800"/>
            <a:ext cx="566737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oval" w="med" len="med"/>
            <a:tailEnd type="oval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0521" name="Line 70"/>
          <p:cNvSpPr>
            <a:spLocks noChangeShapeType="1"/>
          </p:cNvSpPr>
          <p:nvPr/>
        </p:nvSpPr>
        <p:spPr bwMode="auto">
          <a:xfrm flipH="1" flipV="1">
            <a:off x="6416675" y="5003800"/>
            <a:ext cx="566738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oval" w="med" len="med"/>
            <a:tailEnd type="oval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3432</Words>
  <Application>Microsoft Office PowerPoint</Application>
  <PresentationFormat>Экран (4:3)</PresentationFormat>
  <Paragraphs>408</Paragraphs>
  <Slides>53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53</vt:i4>
      </vt:variant>
    </vt:vector>
  </HeadingPairs>
  <TitlesOfParts>
    <vt:vector size="55" baseType="lpstr">
      <vt:lpstr>Тема Office</vt:lpstr>
      <vt:lpstr>Visio</vt:lpstr>
      <vt:lpstr> лекция 7.2  </vt:lpstr>
      <vt:lpstr>Тфоп с автоматической коммутацией</vt:lpstr>
      <vt:lpstr>Формула сети связи(Три С)</vt:lpstr>
      <vt:lpstr>ОсновыТФОП</vt:lpstr>
      <vt:lpstr>Слайд 5</vt:lpstr>
      <vt:lpstr>1.Уровни базовой сети  2.Принципы построения ГТС.     Местная сеть. Нумерация. 3.Построение междугородной      сети. Нумерация.</vt:lpstr>
      <vt:lpstr>сети</vt:lpstr>
      <vt:lpstr>Традиционное построение сети связи</vt:lpstr>
      <vt:lpstr>Телефонные сети связи</vt:lpstr>
      <vt:lpstr>Уровни базовой сети</vt:lpstr>
      <vt:lpstr>Уровни базовой сети</vt:lpstr>
      <vt:lpstr>Местные сети. Построение ГТС,СТС.</vt:lpstr>
      <vt:lpstr>Структура цифровой станции(РАТСЭ)</vt:lpstr>
      <vt:lpstr>Структура цифровой станции сети ISDN</vt:lpstr>
      <vt:lpstr>Местные сети. 1. Построения ГТС</vt:lpstr>
      <vt:lpstr>Схема подключения абонентов ТфОП</vt:lpstr>
      <vt:lpstr>Основные объекты доступа АТС</vt:lpstr>
      <vt:lpstr>Варианты абонентского доступа</vt:lpstr>
      <vt:lpstr>Участки абонентского доступа</vt:lpstr>
      <vt:lpstr>Принципы построения ГТС</vt:lpstr>
      <vt:lpstr>Принципы построения ГТС</vt:lpstr>
      <vt:lpstr>Нерайонированная ГТС (1)</vt:lpstr>
      <vt:lpstr>Нерайонированная ГТС (2)</vt:lpstr>
      <vt:lpstr>Районированная ГТС без узлов (5-ти значная нумерация)</vt:lpstr>
      <vt:lpstr>Районированная ГТС без узлов  (5-ти значная нумерация)</vt:lpstr>
      <vt:lpstr>Нумерация</vt:lpstr>
      <vt:lpstr>Районированная ГТС с узлами входящей связи УВС (6-ти значная нумерация)</vt:lpstr>
      <vt:lpstr>Районированная ГТС с узлами входящей связи УВС (6-ти значная нумерация)</vt:lpstr>
      <vt:lpstr>ГТС с УВС (6-ти значная нумерация)</vt:lpstr>
      <vt:lpstr>Нумерация</vt:lpstr>
      <vt:lpstr>ГТС с УИС и УВС (7-ми значная нумерация) </vt:lpstr>
      <vt:lpstr>ГТС с узлами транзитной связи УТС (УВС и УИС)     (7-ти значная нумерация)</vt:lpstr>
      <vt:lpstr>ГТС с узлами транзитной связи УТС (УВС и УИС)     (7-ти значная нумерация)</vt:lpstr>
      <vt:lpstr>Модель телефонной сети. Построение ГТС </vt:lpstr>
      <vt:lpstr>Минская ГТС в2015 году</vt:lpstr>
      <vt:lpstr>Минская ГТС в2015 году</vt:lpstr>
      <vt:lpstr>История создания телефонной связи в Минске</vt:lpstr>
      <vt:lpstr>Телефонная станция системы «Эриксон» на 100 номеров </vt:lpstr>
      <vt:lpstr>История создания телефонной связи в Минске</vt:lpstr>
      <vt:lpstr>Нумерация</vt:lpstr>
      <vt:lpstr>Местные сети. 2. Сельская телефонная сеть </vt:lpstr>
      <vt:lpstr>Сельская телефонная сеть </vt:lpstr>
      <vt:lpstr>Зоновая телефонная сеть</vt:lpstr>
      <vt:lpstr>Зоновая телефонная  сеть</vt:lpstr>
      <vt:lpstr>Междугородная и международная сеть</vt:lpstr>
      <vt:lpstr>Междугородная связь (1) </vt:lpstr>
      <vt:lpstr>Междугородная связь(2)</vt:lpstr>
      <vt:lpstr>Нумерация. Национальный номер</vt:lpstr>
      <vt:lpstr>Нумерация междугородной связи</vt:lpstr>
      <vt:lpstr>Нумерация. Междугородный/международный вызов</vt:lpstr>
      <vt:lpstr>Международная связь</vt:lpstr>
      <vt:lpstr>Нумерация международной связи</vt:lpstr>
      <vt:lpstr>Сравнение эффективности передачи речи по сетям телефонным(TDM) и NGN (IP).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7 ТФОП. Процесс развития IDN.ISDN.IN.NGN.IMS.</dc:title>
  <dc:creator>Анастасия</dc:creator>
  <cp:lastModifiedBy>Анастасия</cp:lastModifiedBy>
  <cp:revision>49</cp:revision>
  <dcterms:created xsi:type="dcterms:W3CDTF">2025-10-21T21:07:39Z</dcterms:created>
  <dcterms:modified xsi:type="dcterms:W3CDTF">2025-11-30T18:50:59Z</dcterms:modified>
</cp:coreProperties>
</file>