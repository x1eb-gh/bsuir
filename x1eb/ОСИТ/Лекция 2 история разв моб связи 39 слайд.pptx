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92" r:id="rId15"/>
    <p:sldId id="268" r:id="rId16"/>
    <p:sldId id="270" r:id="rId17"/>
    <p:sldId id="271" r:id="rId18"/>
    <p:sldId id="272" r:id="rId19"/>
    <p:sldId id="295" r:id="rId20"/>
    <p:sldId id="273" r:id="rId21"/>
    <p:sldId id="275" r:id="rId22"/>
    <p:sldId id="276" r:id="rId23"/>
    <p:sldId id="277" r:id="rId24"/>
    <p:sldId id="293" r:id="rId25"/>
    <p:sldId id="278" r:id="rId26"/>
    <p:sldId id="279" r:id="rId27"/>
    <p:sldId id="280" r:id="rId28"/>
    <p:sldId id="281" r:id="rId29"/>
    <p:sldId id="282" r:id="rId30"/>
    <p:sldId id="294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11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FCE43-2666-40F0-8976-565B83DA269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59E0ED-8A57-4130-B2A4-E47AC9A2C96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8F896F-5709-4F19-97E1-F9FB787C6DB4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E04E3-761A-481C-9D31-7FF3EE691B0E}" type="datetimeFigureOut">
              <a:rPr lang="ru-RU" smtClean="0"/>
              <a:pPr/>
              <a:t>02.11.2025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B3694-2CD1-463D-9DFA-7E8B782A8E0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980729"/>
            <a:ext cx="7772400" cy="1728191"/>
          </a:xfrm>
        </p:spPr>
        <p:txBody>
          <a:bodyPr/>
          <a:lstStyle/>
          <a:p>
            <a:r>
              <a:rPr lang="ru-RU" dirty="0"/>
              <a:t>Лекция 2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51520" y="3886200"/>
            <a:ext cx="8280920" cy="1752600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ru-RU" sz="4000" b="1" dirty="0">
                <a:solidFill>
                  <a:schemeClr val="tx2"/>
                </a:solidFill>
              </a:rPr>
              <a:t>История мобильной связи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7.1. История мобильной сотовой связи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92500" lnSpcReduction="20000"/>
          </a:bodyPr>
          <a:lstStyle/>
          <a:p>
            <a:r>
              <a:rPr lang="ru-RU" sz="3800" dirty="0"/>
              <a:t>Пейджинговая связь - это радиотелефонная связь</a:t>
            </a:r>
            <a:r>
              <a:rPr lang="ru-RU" dirty="0"/>
              <a:t>, когда пересылка по телефону продиктованных абонентом-отправителем сообщений и прием их по радиоканалу абонентом-получателем обеспечивается с помощью пейджера - радиоприемника с жидкокристаллическим дисплеем</a:t>
            </a:r>
          </a:p>
          <a:p>
            <a:r>
              <a:rPr lang="ru-RU" dirty="0"/>
              <a:t> На пейджере высвечиваются принятые буквенно-цифровые текст.</a:t>
            </a:r>
          </a:p>
          <a:p>
            <a:pPr>
              <a:buNone/>
            </a:pPr>
            <a:r>
              <a:rPr lang="ru-RU" dirty="0"/>
              <a:t> </a:t>
            </a:r>
            <a:r>
              <a:rPr lang="ru-RU" sz="3400" u="sng" dirty="0"/>
              <a:t>Суть пейджинговой связи заключалась </a:t>
            </a:r>
            <a:r>
              <a:rPr lang="ru-RU" u="sng" dirty="0"/>
              <a:t>в том, что абонент (корреспондент) по одному каналу связи посылает сообщение на коммутатор, где производится его запись, которая затем по другому каналу связи передается другому абоненту (получателю).</a:t>
            </a:r>
          </a:p>
          <a:p>
            <a:pPr>
              <a:buNone/>
            </a:pPr>
            <a:endParaRPr lang="ru-RU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64488" cy="83671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7.2. История мобильной сотовой связи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764704"/>
            <a:ext cx="8964488" cy="590465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Сети, существовавшие в то время, носили местный характер и служили  нуждам конкретных служб.</a:t>
            </a:r>
          </a:p>
          <a:p>
            <a:pPr>
              <a:buNone/>
            </a:pPr>
            <a:r>
              <a:rPr lang="ru-RU" dirty="0"/>
              <a:t>       </a:t>
            </a:r>
            <a:r>
              <a:rPr lang="ru-RU" u="sng" dirty="0"/>
              <a:t>Пользователями первой сети в Англии стали врачи, служащие аэропортов. </a:t>
            </a:r>
          </a:p>
          <a:p>
            <a:pPr>
              <a:buNone/>
            </a:pPr>
            <a:r>
              <a:rPr lang="ru-RU" dirty="0"/>
              <a:t>     Некоторые подобные сети существуют и сегодня.</a:t>
            </a:r>
          </a:p>
          <a:p>
            <a:r>
              <a:rPr lang="ru-RU" dirty="0"/>
              <a:t>К концу 2000 года число владельцев пейджеров в европейских странах превысило 20 миллионов.</a:t>
            </a:r>
          </a:p>
          <a:p>
            <a:r>
              <a:rPr lang="ru-RU" dirty="0"/>
              <a:t>История пейджинговой связи в СССР началась в конце 1960-х годов.</a:t>
            </a:r>
          </a:p>
          <a:p>
            <a:r>
              <a:rPr lang="ru-RU" dirty="0"/>
              <a:t>Системы персонального радиовызова широко использовались отдельными государственными структурами.</a:t>
            </a:r>
          </a:p>
          <a:p>
            <a:r>
              <a:rPr lang="ru-RU" dirty="0"/>
              <a:t>В 1980 году во время московской Олимпиады очень широко использовался пейджер.</a:t>
            </a:r>
          </a:p>
          <a:p>
            <a:endParaRPr lang="ru-RU" dirty="0"/>
          </a:p>
          <a:p>
            <a:r>
              <a:rPr lang="ru-RU" dirty="0"/>
              <a:t> В 1990-х годах пейджер начал бурно развиваться, но только до тех пор, пока не появились сотовые телефоны - средство двухсторонней связи.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 3.История мобильной сотовой связи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       </a:t>
            </a:r>
            <a:r>
              <a:rPr lang="ru-RU" sz="3600" dirty="0"/>
              <a:t>Связь называют мобильной, если источник информации либо ее получатель (или оба) перемещаются в пространстве.</a:t>
            </a:r>
          </a:p>
          <a:p>
            <a:endParaRPr lang="ru-RU" sz="3600" dirty="0"/>
          </a:p>
          <a:p>
            <a:r>
              <a:rPr lang="ru-RU" b="1" i="1" dirty="0"/>
              <a:t>       Радиосвязь с момента возникновения была мобильной</a:t>
            </a:r>
            <a:r>
              <a:rPr lang="ru-RU" i="1" dirty="0"/>
              <a:t>. </a:t>
            </a:r>
          </a:p>
          <a:p>
            <a:r>
              <a:rPr lang="ru-RU" b="1" i="1" dirty="0"/>
              <a:t>       </a:t>
            </a:r>
            <a:r>
              <a:rPr lang="ru-RU" b="1" i="1" u="sng" dirty="0"/>
              <a:t>Первые радиостанции предназначались для связи с подвижными объектами-кораблями</a:t>
            </a:r>
            <a:r>
              <a:rPr lang="ru-RU" b="1" dirty="0"/>
              <a:t>.</a:t>
            </a:r>
          </a:p>
          <a:p>
            <a:r>
              <a:rPr lang="ru-RU" dirty="0"/>
              <a:t>Один из первых приборов радиосвязи А.С. Попова был установлен на броненосце «Адмирал Апраксин».</a:t>
            </a:r>
          </a:p>
          <a:p>
            <a:r>
              <a:rPr lang="ru-RU" dirty="0"/>
              <a:t> И именно благодаря радиосвязи с ним удалось зимой 1899-1900 годов спасти этот корабль, затертый во льдах  Балтийского моря. </a:t>
            </a:r>
          </a:p>
          <a:p>
            <a:r>
              <a:rPr lang="ru-RU" b="1" dirty="0"/>
              <a:t>Однако в те годы эта «мобильная связь» требовала громоздких приемопередающих устройств радиосвязи, что не способствовало развитию столь необходимой индивидуальной радиосвязи даже в Вооруженных силах, не говоря уже о частных клиентах.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 4.1. История мобильной сотовой связи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712968" cy="5688632"/>
          </a:xfrm>
        </p:spPr>
        <p:txBody>
          <a:bodyPr>
            <a:normAutofit fontScale="77500" lnSpcReduction="20000"/>
          </a:bodyPr>
          <a:lstStyle/>
          <a:p>
            <a:r>
              <a:rPr lang="ru-RU" sz="3600" u="sng" dirty="0"/>
              <a:t>17 июня 1946 года в </a:t>
            </a:r>
            <a:r>
              <a:rPr lang="ru-RU" sz="3600" u="sng" dirty="0" err="1"/>
              <a:t>Сент</a:t>
            </a:r>
            <a:r>
              <a:rPr lang="ru-RU" sz="3600" u="sng" dirty="0"/>
              <a:t> Луисе, США</a:t>
            </a:r>
            <a:r>
              <a:rPr lang="ru-RU" sz="3600" dirty="0"/>
              <a:t>, лидер телефонного бизнеса компания AT&amp;T и </a:t>
            </a:r>
            <a:r>
              <a:rPr lang="ru-RU" sz="3600" dirty="0" err="1"/>
              <a:t>Southwestern</a:t>
            </a:r>
            <a:r>
              <a:rPr lang="ru-RU" sz="3600" dirty="0"/>
              <a:t> </a:t>
            </a:r>
            <a:r>
              <a:rPr lang="ru-RU" sz="3600" u="sng" dirty="0" err="1"/>
              <a:t>Bell</a:t>
            </a:r>
            <a:r>
              <a:rPr lang="ru-RU" sz="3600" u="sng" dirty="0"/>
              <a:t> запускают первую радиотелефонную сеть для частных клиентов</a:t>
            </a:r>
            <a:r>
              <a:rPr lang="ru-RU" sz="3600" dirty="0">
                <a:solidFill>
                  <a:schemeClr val="accent2"/>
                </a:solidFill>
              </a:rPr>
              <a:t>.</a:t>
            </a:r>
          </a:p>
          <a:p>
            <a:endParaRPr lang="ru-RU" sz="3600" dirty="0">
              <a:solidFill>
                <a:schemeClr val="accent2"/>
              </a:solidFill>
            </a:endParaRPr>
          </a:p>
          <a:p>
            <a:r>
              <a:rPr lang="ru-RU" sz="3600" dirty="0">
                <a:solidFill>
                  <a:schemeClr val="accent2"/>
                </a:solidFill>
              </a:rPr>
              <a:t> </a:t>
            </a:r>
            <a:r>
              <a:rPr lang="ru-RU" b="1" dirty="0"/>
              <a:t>Элементной базой аппаратуры являлись ламповые электронные приборы, поэтому аппаратура была очень громоздкой и предназначалась только для установки в автомобилях. </a:t>
            </a:r>
          </a:p>
          <a:p>
            <a:r>
              <a:rPr lang="ru-RU" b="1" dirty="0"/>
              <a:t>Вес оборудования без источников электропитания составлял 40 кг.</a:t>
            </a:r>
          </a:p>
          <a:p>
            <a:endParaRPr lang="ru-RU" dirty="0"/>
          </a:p>
          <a:p>
            <a:r>
              <a:rPr lang="ru-RU" dirty="0"/>
              <a:t> Несмотря на это, популярность мобильной связи стала стремительно расти. </a:t>
            </a:r>
          </a:p>
          <a:p>
            <a:r>
              <a:rPr lang="ru-RU" dirty="0"/>
              <a:t>Это создало новую, более серьезную, чем массогабаритные показатели проблему.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7.4.2.  История мобильной сотовой связи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8964488" cy="583264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Для массового внедрения требовалось изменить не только   массогабаритные показатели, но и сам принцип организации связи.</a:t>
            </a:r>
          </a:p>
          <a:p>
            <a:r>
              <a:rPr lang="ru-RU" b="1" u="sng" dirty="0"/>
              <a:t>В 1947 году изобретается транзистор</a:t>
            </a:r>
            <a:r>
              <a:rPr lang="ru-RU" b="1" dirty="0"/>
              <a:t>, </a:t>
            </a:r>
            <a:r>
              <a:rPr lang="ru-RU" dirty="0"/>
              <a:t>выполняющий   функции электронных ламп, но обладающий значительно меньшими    размерами. </a:t>
            </a:r>
          </a:p>
          <a:p>
            <a:r>
              <a:rPr lang="ru-RU" dirty="0"/>
              <a:t>Замена электронных ламп на транзисторы создала предпосылки широкого  внедрения мобильного телефона</a:t>
            </a:r>
            <a:r>
              <a:rPr lang="ru-RU" u="sng" dirty="0"/>
              <a:t>.</a:t>
            </a:r>
          </a:p>
          <a:p>
            <a:r>
              <a:rPr lang="ru-RU" b="1" i="1" u="sng" dirty="0"/>
              <a:t>Основным сдерживающим фактором являлся принцип организации связи</a:t>
            </a:r>
            <a:r>
              <a:rPr lang="ru-RU" dirty="0"/>
              <a:t>,     который позволил бы устранить или хотя бы снизить влияние взаимных помех.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7.5.1. История мобильной сотовой связи</a:t>
            </a:r>
            <a:endParaRPr lang="ru-RU" sz="3200" b="1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lnSpcReduction="10000"/>
          </a:bodyPr>
          <a:lstStyle/>
          <a:p>
            <a:r>
              <a:rPr lang="ru-RU" u="sng" dirty="0"/>
              <a:t>1947 сотрудник американской компании </a:t>
            </a:r>
            <a:r>
              <a:rPr lang="ru-RU" u="sng" dirty="0" err="1"/>
              <a:t>Bell</a:t>
            </a:r>
            <a:r>
              <a:rPr lang="ru-RU" u="sng" dirty="0"/>
              <a:t> </a:t>
            </a:r>
            <a:r>
              <a:rPr lang="ru-RU" dirty="0" err="1"/>
              <a:t>Laboratories</a:t>
            </a:r>
            <a:r>
              <a:rPr lang="ru-RU" dirty="0"/>
              <a:t> </a:t>
            </a:r>
            <a:r>
              <a:rPr lang="ru-RU" b="1" u="sng" dirty="0"/>
              <a:t>Д. Ринг </a:t>
            </a:r>
            <a:r>
              <a:rPr lang="ru-RU" u="sng" dirty="0"/>
              <a:t>предложил </a:t>
            </a:r>
            <a:r>
              <a:rPr lang="ru-RU" b="1" u="sng" dirty="0"/>
              <a:t>новую идею организации связи </a:t>
            </a:r>
            <a:r>
              <a:rPr lang="ru-RU" u="sng" dirty="0"/>
              <a:t>.</a:t>
            </a:r>
          </a:p>
          <a:p>
            <a:r>
              <a:rPr lang="ru-RU" dirty="0"/>
              <a:t>Она заключалась:</a:t>
            </a:r>
          </a:p>
          <a:p>
            <a:pPr>
              <a:buNone/>
            </a:pPr>
            <a:r>
              <a:rPr lang="ru-RU" dirty="0"/>
              <a:t>     - </a:t>
            </a:r>
            <a:r>
              <a:rPr lang="ru-RU" b="1" u="sng" dirty="0"/>
              <a:t>в разделении пространства </a:t>
            </a:r>
            <a:r>
              <a:rPr lang="ru-RU" b="1" dirty="0"/>
              <a:t>(территории) на небольшие участки - соты </a:t>
            </a:r>
            <a:r>
              <a:rPr lang="ru-RU" dirty="0"/>
              <a:t>(или ячейки) радиусом 1-5 километров; </a:t>
            </a:r>
          </a:p>
          <a:p>
            <a:pPr>
              <a:buNone/>
            </a:pPr>
            <a:r>
              <a:rPr lang="ru-RU" dirty="0"/>
              <a:t>      - </a:t>
            </a:r>
            <a:r>
              <a:rPr lang="ru-RU" u="sng" dirty="0"/>
              <a:t>в </a:t>
            </a:r>
            <a:r>
              <a:rPr lang="ru-RU" b="1" u="sng" dirty="0"/>
              <a:t>разделении  радиосвязи в пределах одной ячейки </a:t>
            </a:r>
            <a:r>
              <a:rPr lang="ru-RU" dirty="0"/>
              <a:t>от связи между ячейками;</a:t>
            </a:r>
          </a:p>
          <a:p>
            <a:pPr>
              <a:buNone/>
            </a:pPr>
            <a:r>
              <a:rPr lang="ru-RU" dirty="0"/>
              <a:t>     </a:t>
            </a:r>
            <a:r>
              <a:rPr lang="ru-RU" b="1" dirty="0"/>
              <a:t>- </a:t>
            </a:r>
            <a:r>
              <a:rPr lang="ru-RU" b="1" u="sng" dirty="0"/>
              <a:t>повторение частот в разных несмежных ячейках </a:t>
            </a:r>
            <a:r>
              <a:rPr lang="ru-RU" dirty="0"/>
              <a:t>(через 2 -3 соты) значительно снизило проблемы использования частотного ресурса.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3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ru-RU"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6522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49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endParaRPr lang="ru-RU" sz="360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50532" name="Picture 5" descr="Image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708920"/>
            <a:ext cx="792088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0533" name="Rectangle 6"/>
          <p:cNvSpPr>
            <a:spLocks noChangeArrowheads="1"/>
          </p:cNvSpPr>
          <p:nvPr/>
        </p:nvSpPr>
        <p:spPr bwMode="auto">
          <a:xfrm>
            <a:off x="179388" y="102973"/>
            <a:ext cx="8785225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452438" algn="just"/>
            <a:r>
              <a:rPr lang="ru-RU" sz="2400" dirty="0">
                <a:solidFill>
                  <a:srgbClr val="000000"/>
                </a:solidFill>
                <a:latin typeface="Times New Roman" pitchFamily="18" charset="0"/>
              </a:rPr>
              <a:t>Кластер – группа сот с различными наборами частот.</a:t>
            </a:r>
          </a:p>
          <a:p>
            <a:pPr indent="452438" algn="just"/>
            <a:r>
              <a:rPr lang="ru-RU" sz="2400" dirty="0">
                <a:solidFill>
                  <a:srgbClr val="000000"/>
                </a:solidFill>
                <a:latin typeface="Times New Roman" pitchFamily="18" charset="0"/>
              </a:rPr>
              <a:t>Частотные группы внутри кластера не повторяются.</a:t>
            </a:r>
          </a:p>
          <a:p>
            <a:pPr indent="452438" algn="just"/>
            <a:r>
              <a:rPr lang="ru-RU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ru-RU" sz="2400" b="1" u="sng" dirty="0">
                <a:latin typeface="Times New Roman" pitchFamily="18" charset="0"/>
              </a:rPr>
              <a:t>Число таких сот в кластере называется его размерностью</a:t>
            </a:r>
            <a:r>
              <a:rPr lang="ru-RU" sz="2400" u="sng" dirty="0">
                <a:latin typeface="Times New Roman" pitchFamily="18" charset="0"/>
              </a:rPr>
              <a:t>. </a:t>
            </a:r>
          </a:p>
          <a:p>
            <a:pPr indent="452438" algn="just"/>
            <a:r>
              <a:rPr lang="ru-RU" sz="2400" dirty="0">
                <a:latin typeface="Times New Roman" pitchFamily="18" charset="0"/>
              </a:rPr>
              <a:t>Все частотн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</a:rPr>
              <a:t>ые каналы системы делятся между БС, входящими в один кластер.</a:t>
            </a:r>
          </a:p>
          <a:p>
            <a:pPr indent="452438" algn="just"/>
            <a:r>
              <a:rPr lang="ru-RU" sz="2400" dirty="0">
                <a:solidFill>
                  <a:srgbClr val="000000"/>
                </a:solidFill>
                <a:latin typeface="Times New Roman" pitchFamily="18" charset="0"/>
              </a:rPr>
              <a:t>БС – базовая станция.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7.5.2. История мобильной сотовой связи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949280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Это позволяло использовать в разных сотах распределенных в пространстве одни и те же частоты. </a:t>
            </a:r>
          </a:p>
          <a:p>
            <a:r>
              <a:rPr lang="ru-RU" u="sng" dirty="0"/>
              <a:t>В центре каждой ячейки предлагалось расположить базовую приемно-передающую радиостанцию,</a:t>
            </a:r>
            <a:r>
              <a:rPr lang="ru-RU" dirty="0"/>
              <a:t> которая обеспечивала радиосвязь в пределах ячейки со всеми абонентами.</a:t>
            </a:r>
          </a:p>
          <a:p>
            <a:endParaRPr lang="ru-RU" dirty="0"/>
          </a:p>
          <a:p>
            <a:r>
              <a:rPr lang="ru-RU" dirty="0"/>
              <a:t>Размеры соты определялись максимальной дальностью связи радиотелефонного аппарата с базовой станцией.</a:t>
            </a:r>
          </a:p>
          <a:p>
            <a:r>
              <a:rPr lang="ru-RU" dirty="0"/>
              <a:t> Эта максимальная дальность получила название радиуса соты.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 noChangeArrowheads="1"/>
          </p:cNvPicPr>
          <p:nvPr/>
        </p:nvPicPr>
        <p:blipFill>
          <a:blip r:embed="rId2" cstate="print"/>
          <a:srcRect l="13840" t="3465" r="1526" b="9492"/>
          <a:stretch>
            <a:fillRect/>
          </a:stretch>
        </p:blipFill>
        <p:spPr bwMode="auto">
          <a:xfrm>
            <a:off x="179512" y="620688"/>
            <a:ext cx="8568951" cy="577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7.6. История мобильной сотовой связи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976664"/>
          </a:xfrm>
        </p:spPr>
        <p:txBody>
          <a:bodyPr>
            <a:normAutofit fontScale="92500" lnSpcReduction="10000"/>
          </a:bodyPr>
          <a:lstStyle/>
          <a:p>
            <a:r>
              <a:rPr lang="ru-RU" b="1" u="sng" dirty="0"/>
              <a:t> Во время разговора сотовый радиотелефон соединяется с базовой станцией радиоканалом, по которому передается телефонный разговор</a:t>
            </a:r>
          </a:p>
          <a:p>
            <a:endParaRPr lang="ru-RU" dirty="0"/>
          </a:p>
          <a:p>
            <a:r>
              <a:rPr lang="ru-RU" b="1" dirty="0"/>
              <a:t>У каждого абонента должна быть своя </a:t>
            </a:r>
            <a:r>
              <a:rPr lang="ru-RU" b="1" dirty="0" err="1"/>
              <a:t>микрорадиостанция</a:t>
            </a:r>
            <a:r>
              <a:rPr lang="ru-RU" b="1" dirty="0"/>
              <a:t> - «мобильный телефон» - </a:t>
            </a:r>
            <a:r>
              <a:rPr lang="ru-RU" dirty="0"/>
              <a:t>комбинация телефона, приемопередатчика и мини-компьютера. </a:t>
            </a:r>
          </a:p>
          <a:p>
            <a:endParaRPr lang="ru-RU" dirty="0"/>
          </a:p>
          <a:p>
            <a:r>
              <a:rPr lang="ru-RU" dirty="0"/>
              <a:t>Абоненты связываются между собой через базовые станции, которые соединены друг с другом через ЦКПС и с городской телефонной сетью общего пользования.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274638"/>
            <a:ext cx="8712968" cy="70609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7.7. История сотовой связи</a:t>
            </a:r>
          </a:p>
        </p:txBody>
      </p:sp>
      <p:pic>
        <p:nvPicPr>
          <p:cNvPr id="1026" name="Picture 2" descr="C:\Users\Юра\Downloads\основные состав сот связи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8"/>
            <a:ext cx="8712968" cy="58772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985176" cy="69269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7.8. История мобильной сотовой связи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rmAutofit fontScale="77500" lnSpcReduction="20000"/>
          </a:bodyPr>
          <a:lstStyle/>
          <a:p>
            <a:endParaRPr lang="ru-RU" dirty="0">
              <a:solidFill>
                <a:schemeClr val="accent2"/>
              </a:solidFill>
            </a:endParaRPr>
          </a:p>
          <a:p>
            <a:r>
              <a:rPr lang="ru-RU" dirty="0"/>
              <a:t>Первый сотовый телефонный аппарат прототип современного аппарата сконструировал </a:t>
            </a:r>
            <a:r>
              <a:rPr lang="ru-RU" u="sng" dirty="0"/>
              <a:t>Мартин Купер </a:t>
            </a:r>
            <a:r>
              <a:rPr lang="ru-RU" dirty="0"/>
              <a:t>(фирма </a:t>
            </a:r>
            <a:r>
              <a:rPr lang="ru-RU" dirty="0" err="1"/>
              <a:t>Motorola</a:t>
            </a:r>
            <a:r>
              <a:rPr lang="ru-RU" dirty="0"/>
              <a:t>, США).</a:t>
            </a:r>
          </a:p>
          <a:p>
            <a:endParaRPr lang="ru-RU" dirty="0"/>
          </a:p>
          <a:p>
            <a:r>
              <a:rPr lang="ru-RU" sz="3600" u="sng" dirty="0"/>
              <a:t>В 1973 году в Нью-Йорке</a:t>
            </a:r>
            <a:r>
              <a:rPr lang="ru-RU" sz="3600" dirty="0"/>
              <a:t>, на вершине 50 этажного здания компанией </a:t>
            </a:r>
            <a:r>
              <a:rPr lang="ru-RU" sz="3600" dirty="0" err="1"/>
              <a:t>Motorola</a:t>
            </a:r>
            <a:r>
              <a:rPr lang="ru-RU" sz="3600" dirty="0"/>
              <a:t>, под его руководством </a:t>
            </a:r>
            <a:r>
              <a:rPr lang="ru-RU" sz="3600" u="sng" dirty="0"/>
              <a:t>была смонтирована первая в мире базовая станция сотовой связи.</a:t>
            </a:r>
          </a:p>
          <a:p>
            <a:r>
              <a:rPr lang="ru-RU" sz="3600" dirty="0"/>
              <a:t> </a:t>
            </a:r>
            <a:r>
              <a:rPr lang="ru-RU" sz="3600" u="sng" dirty="0"/>
              <a:t>Она могла обслуживать не более 30 абонентов и соединять их с</a:t>
            </a:r>
            <a:r>
              <a:rPr lang="ru-RU" sz="3600" b="1" i="1" u="sng" dirty="0"/>
              <a:t> </a:t>
            </a:r>
            <a:r>
              <a:rPr lang="ru-RU" sz="3600" u="sng" dirty="0"/>
              <a:t>наземными линиями связи.</a:t>
            </a:r>
          </a:p>
          <a:p>
            <a:r>
              <a:rPr lang="ru-RU" sz="3600" dirty="0"/>
              <a:t> 3апреля 1973 года Мартин Купер набрал номер  своего начальника и произнес следующие слова: </a:t>
            </a:r>
          </a:p>
          <a:p>
            <a:pPr marL="0" indent="0">
              <a:buNone/>
            </a:pPr>
            <a:r>
              <a:rPr lang="ru-RU" sz="3600" dirty="0"/>
              <a:t>«Представь себе, Джоэл, что я звоню тебе с первого в мире сотового телефона. Он у меня в руках, а я иду по Нью-Йоркской улице».</a:t>
            </a:r>
          </a:p>
          <a:p>
            <a:endParaRPr lang="ru-RU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7.8. История мобильной сотовой связи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980728"/>
            <a:ext cx="8964488" cy="547260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Телефон, с которого звонил Мартин, назывался </a:t>
            </a:r>
            <a:r>
              <a:rPr lang="ru-RU" dirty="0" err="1"/>
              <a:t>Dyna-Tac</a:t>
            </a:r>
            <a:r>
              <a:rPr lang="ru-RU" dirty="0"/>
              <a:t>. </a:t>
            </a:r>
          </a:p>
          <a:p>
            <a:r>
              <a:rPr lang="ru-RU" dirty="0"/>
              <a:t>Его размеры были 225x125x375 мм, а вес составлял немного ни мало 1,15 кг.</a:t>
            </a:r>
          </a:p>
          <a:p>
            <a:r>
              <a:rPr lang="ru-RU" dirty="0"/>
              <a:t>С помощью аппарата можно было звонить и принимать сигнал, вести переговоры с абонентом. </a:t>
            </a:r>
          </a:p>
          <a:p>
            <a:r>
              <a:rPr lang="ru-RU" u="sng" dirty="0"/>
              <a:t>На этом телефоне размещалось 12 клавиш, из которых 10 были цифровые для набора номера абонента, а две другие обеспечивали начало разговора и прерывали звонок.</a:t>
            </a:r>
          </a:p>
          <a:p>
            <a:r>
              <a:rPr lang="ru-RU" dirty="0"/>
              <a:t>Аккумуляторы </a:t>
            </a:r>
            <a:r>
              <a:rPr lang="ru-RU" dirty="0" err="1"/>
              <a:t>Dyna-Tac</a:t>
            </a:r>
            <a:r>
              <a:rPr lang="ru-RU" dirty="0"/>
              <a:t> позволяли работать в режиме разговора около получаса, а для их зарядки требовалось 10 часов.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 9. История мобильной связи</a:t>
            </a:r>
          </a:p>
        </p:txBody>
      </p:sp>
      <p:pic>
        <p:nvPicPr>
          <p:cNvPr id="4098" name="Picture 2" descr="C:\Users\Юра\Downloads\историч моб тел купер.jpe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4000" cy="583386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7.10.1. История мобильной сотовой связи</a:t>
            </a:r>
            <a:r>
              <a:rPr lang="en-US" sz="3200" b="1" dirty="0">
                <a:solidFill>
                  <a:schemeClr val="tx2"/>
                </a:solidFill>
              </a:rPr>
              <a:t>(1G)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548680"/>
            <a:ext cx="8964488" cy="6309320"/>
          </a:xfrm>
        </p:spPr>
        <p:txBody>
          <a:bodyPr>
            <a:normAutofit fontScale="70000" lnSpcReduction="20000"/>
          </a:bodyPr>
          <a:lstStyle/>
          <a:p>
            <a:endParaRPr lang="ru-RU" b="1" dirty="0">
              <a:solidFill>
                <a:schemeClr val="accent2"/>
              </a:solidFill>
            </a:endParaRPr>
          </a:p>
          <a:p>
            <a:r>
              <a:rPr lang="ru-RU" sz="3400" b="1" dirty="0"/>
              <a:t>Несмотря на то, что основные разработки велись в США, первая коммерческая сеть сотовой связи была запущена в мае 1978 года в Бахрейне</a:t>
            </a:r>
            <a:r>
              <a:rPr lang="ru-RU" b="1" dirty="0"/>
              <a:t>.</a:t>
            </a:r>
          </a:p>
          <a:p>
            <a:r>
              <a:rPr lang="ru-RU" dirty="0"/>
              <a:t>Две соты с 20 каналами в диапазоне 400 МГц обслуживали 250 абонентов.</a:t>
            </a:r>
          </a:p>
          <a:p>
            <a:endParaRPr lang="ru-RU" dirty="0"/>
          </a:p>
          <a:p>
            <a:r>
              <a:rPr lang="ru-RU" i="1" dirty="0"/>
              <a:t>Сотовая связь получила широкое распространение, </a:t>
            </a:r>
            <a:r>
              <a:rPr lang="ru-RU" i="1" u="sng" dirty="0"/>
              <a:t>но отсутствие единого международного стандарта использования диапазона частот со временем привело к тому, что владелец сотового телефона, переезжая из одного государства в другое, не мог пользоваться мобильным телефоном.</a:t>
            </a:r>
          </a:p>
          <a:p>
            <a:endParaRPr lang="ru-RU" dirty="0"/>
          </a:p>
          <a:p>
            <a:r>
              <a:rPr lang="ru-RU" dirty="0"/>
              <a:t>В целях устранения этого основного недостатка с конца 70-х годов Швеция, Финляндия, Исландия, Дания и Норвегия начали совместные исследования по разработке единого стандарта.</a:t>
            </a:r>
          </a:p>
          <a:p>
            <a:endParaRPr lang="ru-RU" dirty="0"/>
          </a:p>
          <a:p>
            <a:r>
              <a:rPr lang="ru-RU" b="1" dirty="0"/>
              <a:t>Результатом исследований стал стандарт связи NMT-450 (</a:t>
            </a:r>
            <a:r>
              <a:rPr lang="ru-RU" b="1" dirty="0" err="1"/>
              <a:t>Nordic</a:t>
            </a:r>
            <a:r>
              <a:rPr lang="ru-RU" b="1" dirty="0"/>
              <a:t> </a:t>
            </a:r>
            <a:r>
              <a:rPr lang="ru-RU" b="1" dirty="0" err="1"/>
              <a:t>Mobile</a:t>
            </a:r>
            <a:r>
              <a:rPr lang="ru-RU" b="1" dirty="0"/>
              <a:t> </a:t>
            </a:r>
            <a:r>
              <a:rPr lang="ru-RU" b="1" dirty="0" err="1"/>
              <a:t>Telephone</a:t>
            </a:r>
            <a:r>
              <a:rPr lang="ru-RU" b="1" dirty="0"/>
              <a:t>), который предназначался для работы в диапазоне 450 МГц  </a:t>
            </a:r>
            <a:r>
              <a:rPr lang="ru-RU" u="sng" dirty="0"/>
              <a:t>(</a:t>
            </a:r>
            <a:r>
              <a:rPr lang="ru-RU" b="1" u="sng" dirty="0"/>
              <a:t>1</a:t>
            </a:r>
            <a:r>
              <a:rPr lang="en-US" b="1" u="sng" dirty="0"/>
              <a:t>G)</a:t>
            </a:r>
            <a:r>
              <a:rPr lang="ru-RU" b="1" u="sng" dirty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0609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7.10.2. История мобильной сотовой связи</a:t>
            </a:r>
            <a:r>
              <a:rPr lang="en-US" sz="3200" b="1" dirty="0">
                <a:solidFill>
                  <a:schemeClr val="tx2"/>
                </a:solidFill>
              </a:rPr>
              <a:t>(1G)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9144000" cy="547260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Стандарт</a:t>
            </a:r>
            <a:r>
              <a:rPr lang="en-US" b="1" dirty="0"/>
              <a:t>(1G) </a:t>
            </a:r>
            <a:r>
              <a:rPr lang="ru-RU" b="1" dirty="0"/>
              <a:t> </a:t>
            </a:r>
            <a:r>
              <a:rPr lang="ru-RU" dirty="0"/>
              <a:t>впервые </a:t>
            </a:r>
            <a:r>
              <a:rPr lang="ru-RU" b="1" dirty="0"/>
              <a:t>начал использоваться в 1981 году </a:t>
            </a:r>
            <a:r>
              <a:rPr lang="ru-RU" dirty="0"/>
              <a:t>в Саудовской Аравии, и лишь месяцем позже - в Европе.</a:t>
            </a:r>
          </a:p>
          <a:p>
            <a:r>
              <a:rPr lang="ru-RU" dirty="0"/>
              <a:t>Технология NMT-450 наиболее экономична </a:t>
            </a:r>
            <a:r>
              <a:rPr lang="en-US" dirty="0"/>
              <a:t> </a:t>
            </a:r>
            <a:r>
              <a:rPr lang="ru-RU" dirty="0"/>
              <a:t>для организации связи на больших территориях и малой плотности населения.</a:t>
            </a:r>
            <a:endParaRPr lang="en-US" dirty="0"/>
          </a:p>
          <a:p>
            <a:r>
              <a:rPr lang="ru-RU" b="1" dirty="0"/>
              <a:t>Система аналоговая, есть вероятность прослушивания разговоров, 8 каналов на </a:t>
            </a:r>
            <a:r>
              <a:rPr lang="ru-RU" b="1" dirty="0" err="1"/>
              <a:t>соту</a:t>
            </a:r>
            <a:r>
              <a:rPr lang="ru-RU" b="1" dirty="0"/>
              <a:t>.</a:t>
            </a:r>
          </a:p>
          <a:p>
            <a:endParaRPr lang="ru-RU" dirty="0"/>
          </a:p>
          <a:p>
            <a:r>
              <a:rPr lang="ru-RU" dirty="0"/>
              <a:t>Различные варианты NMT-450 были взяты на вооружение в Австрии, Швейцарии, Голландии, Бельгии, странах Юго-Восточной Азии и Ближнего Востока 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</a:t>
            </a:r>
            <a:r>
              <a:rPr lang="en-US" sz="3200" b="1" dirty="0">
                <a:solidFill>
                  <a:schemeClr val="tx2"/>
                </a:solidFill>
              </a:rPr>
              <a:t>11</a:t>
            </a:r>
            <a:r>
              <a:rPr lang="ru-RU" sz="3200" b="1" dirty="0">
                <a:solidFill>
                  <a:schemeClr val="tx2"/>
                </a:solidFill>
              </a:rPr>
              <a:t>. История мобильной связи </a:t>
            </a:r>
            <a:endParaRPr lang="ru-RU" sz="3200" dirty="0"/>
          </a:p>
        </p:txBody>
      </p:sp>
      <p:pic>
        <p:nvPicPr>
          <p:cNvPr id="4" name="Picture 2" descr="C:\Users\Юра\Downloads\сот св этапы поясн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980728"/>
            <a:ext cx="8964488" cy="5616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640960" cy="908720"/>
          </a:xfrm>
        </p:spPr>
        <p:txBody>
          <a:bodyPr>
            <a:normAutofit fontScale="90000"/>
          </a:bodyPr>
          <a:lstStyle/>
          <a:p>
            <a:pPr algn="l"/>
            <a:r>
              <a:rPr lang="ru-RU" sz="3600" b="1" dirty="0" smtClean="0">
                <a:solidFill>
                  <a:srgbClr val="002060"/>
                </a:solidFill>
              </a:rPr>
              <a:t>Эволюция развития сетей связи и технологий</a:t>
            </a:r>
            <a:endParaRPr lang="ru-RU" sz="3600" b="1" dirty="0">
              <a:solidFill>
                <a:srgbClr val="002060"/>
              </a:solidFill>
            </a:endParaRPr>
          </a:p>
        </p:txBody>
      </p:sp>
      <p:pic>
        <p:nvPicPr>
          <p:cNvPr id="4" name="Содержимое 3"/>
          <p:cNvPicPr>
            <a:picLocks noGrp="1"/>
          </p:cNvPicPr>
          <p:nvPr>
            <p:ph idx="1"/>
          </p:nvPr>
        </p:nvPicPr>
        <p:blipFill>
          <a:blip r:embed="rId2" cstate="print"/>
          <a:srcRect l="1639" t="20333" b="11406"/>
          <a:stretch>
            <a:fillRect/>
          </a:stretch>
        </p:blipFill>
        <p:spPr bwMode="auto">
          <a:xfrm>
            <a:off x="0" y="1124744"/>
            <a:ext cx="9144000" cy="57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2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3600" dirty="0">
                <a:solidFill>
                  <a:schemeClr val="tx2"/>
                </a:solidFill>
                <a:latin typeface="Arial" charset="0"/>
              </a:rPr>
              <a:t>7.11.1Поколения сетей сотовой связи</a:t>
            </a:r>
          </a:p>
        </p:txBody>
      </p:sp>
      <p:sp>
        <p:nvSpPr>
          <p:cNvPr id="154628" name="Rectangle 5"/>
          <p:cNvSpPr>
            <a:spLocks noChangeArrowheads="1"/>
          </p:cNvSpPr>
          <p:nvPr/>
        </p:nvSpPr>
        <p:spPr bwMode="auto">
          <a:xfrm>
            <a:off x="323850" y="1697607"/>
            <a:ext cx="85693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indent="452438" algn="just"/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I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 поколение – аналоговые стандарты </a:t>
            </a:r>
            <a:r>
              <a:rPr lang="en-US" sz="2800" b="1" u="sng" dirty="0">
                <a:solidFill>
                  <a:srgbClr val="000000"/>
                </a:solidFill>
                <a:latin typeface="Times New Roman" pitchFamily="18" charset="0"/>
              </a:rPr>
              <a:t>NMT-450,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 NMT-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900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, AMPS, TACS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.</a:t>
            </a:r>
          </a:p>
          <a:p>
            <a:pPr indent="452438" algn="just"/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II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 поколение – цифровые стандарты </a:t>
            </a:r>
            <a:r>
              <a:rPr lang="en-US" sz="2800" b="1" u="sng" dirty="0">
                <a:solidFill>
                  <a:srgbClr val="000000"/>
                </a:solidFill>
                <a:latin typeface="Times New Roman" pitchFamily="18" charset="0"/>
              </a:rPr>
              <a:t>GSM-900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, DAMPS, CDMA.</a:t>
            </a:r>
          </a:p>
          <a:p>
            <a:pPr indent="452438" algn="just"/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III 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поколение – цифровые стандарты 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UWC-136, WCDMA, </a:t>
            </a:r>
            <a:r>
              <a:rPr lang="en-US" sz="2800" b="1" u="sng" dirty="0">
                <a:solidFill>
                  <a:srgbClr val="000000"/>
                </a:solidFill>
                <a:latin typeface="Times New Roman" pitchFamily="18" charset="0"/>
              </a:rPr>
              <a:t>UMTS</a:t>
            </a:r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, cdma2000.</a:t>
            </a:r>
          </a:p>
          <a:p>
            <a:pPr indent="452438" algn="just"/>
            <a:r>
              <a:rPr lang="en-US" sz="2800" dirty="0">
                <a:solidFill>
                  <a:srgbClr val="000000"/>
                </a:solidFill>
                <a:latin typeface="Times New Roman" pitchFamily="18" charset="0"/>
              </a:rPr>
              <a:t>IV </a:t>
            </a:r>
            <a:r>
              <a:rPr lang="ru-RU" sz="2800" dirty="0">
                <a:solidFill>
                  <a:srgbClr val="000000"/>
                </a:solidFill>
                <a:latin typeface="Times New Roman" pitchFamily="18" charset="0"/>
              </a:rPr>
              <a:t>поколение - </a:t>
            </a:r>
            <a:r>
              <a:rPr lang="en-US" sz="2800" b="1" u="sng" dirty="0">
                <a:solidFill>
                  <a:srgbClr val="000000"/>
                </a:solidFill>
                <a:latin typeface="Times New Roman" pitchFamily="18" charset="0"/>
              </a:rPr>
              <a:t>LTE</a:t>
            </a:r>
            <a:endParaRPr lang="ru-RU" sz="2800" b="1" u="sng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48680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7.12. История мобильной сотовой связи(1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476672"/>
            <a:ext cx="9144000" cy="6381328"/>
          </a:xfrm>
        </p:spPr>
        <p:txBody>
          <a:bodyPr>
            <a:noAutofit/>
          </a:bodyPr>
          <a:lstStyle/>
          <a:p>
            <a:r>
              <a:rPr lang="ru-RU" sz="2400" b="1" u="sng" dirty="0"/>
              <a:t>В 1983 году в Чикаго </a:t>
            </a:r>
            <a:r>
              <a:rPr lang="ru-RU" sz="2400" dirty="0"/>
              <a:t>была запущена в работу </a:t>
            </a:r>
            <a:r>
              <a:rPr lang="ru-RU" sz="2400" b="1" u="sng" dirty="0"/>
              <a:t>сеть стандарта AMPS</a:t>
            </a:r>
          </a:p>
          <a:p>
            <a:pPr>
              <a:buNone/>
            </a:pPr>
            <a:r>
              <a:rPr lang="ru-RU" sz="2400" dirty="0"/>
              <a:t>     </a:t>
            </a:r>
            <a:r>
              <a:rPr lang="en-US" sz="2400" dirty="0"/>
              <a:t>(Advanced Mobile Phone Service), </a:t>
            </a:r>
            <a:r>
              <a:rPr lang="ru-RU" sz="2400" dirty="0"/>
              <a:t>который был разработан фирмой </a:t>
            </a:r>
            <a:r>
              <a:rPr lang="en-US" sz="2400" dirty="0"/>
              <a:t>Bell</a:t>
            </a:r>
            <a:r>
              <a:rPr lang="ru-RU" sz="2400" dirty="0"/>
              <a:t> </a:t>
            </a:r>
            <a:r>
              <a:rPr lang="ru-RU" sz="2400" dirty="0" err="1"/>
              <a:t>Laboratories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/>
              <a:t> </a:t>
            </a:r>
            <a:r>
              <a:rPr lang="ru-RU" sz="2400" b="1" u="sng" dirty="0"/>
              <a:t>В 1985 г., в Англии</a:t>
            </a:r>
            <a:r>
              <a:rPr lang="ru-RU" sz="2400" dirty="0"/>
              <a:t>, был принят </a:t>
            </a:r>
            <a:r>
              <a:rPr lang="ru-RU" sz="2400" b="1" u="sng" dirty="0"/>
              <a:t>стандарт TACS </a:t>
            </a:r>
            <a:r>
              <a:rPr lang="ru-RU" sz="2400" dirty="0"/>
              <a:t>(</a:t>
            </a:r>
            <a:r>
              <a:rPr lang="ru-RU" sz="2400" dirty="0" err="1"/>
              <a:t>Total</a:t>
            </a:r>
            <a:r>
              <a:rPr lang="ru-RU" sz="2400" dirty="0"/>
              <a:t> </a:t>
            </a:r>
            <a:r>
              <a:rPr lang="ru-RU" sz="2400" dirty="0" err="1"/>
              <a:t>Acces</a:t>
            </a:r>
            <a:r>
              <a:rPr lang="ru-RU" sz="2400" dirty="0"/>
              <a:t> </a:t>
            </a:r>
            <a:r>
              <a:rPr lang="ru-RU" sz="2400" dirty="0" err="1"/>
              <a:t>Communications</a:t>
            </a:r>
            <a:r>
              <a:rPr lang="ru-RU" sz="2400" dirty="0"/>
              <a:t> </a:t>
            </a:r>
            <a:r>
              <a:rPr lang="ru-RU" sz="2400" dirty="0" err="1"/>
              <a:t>System</a:t>
            </a:r>
            <a:r>
              <a:rPr lang="ru-RU" sz="2400" dirty="0"/>
              <a:t>), являвшийся разновидностью американского AMPS.</a:t>
            </a:r>
          </a:p>
          <a:p>
            <a:r>
              <a:rPr lang="ru-RU" sz="2400" b="1" u="sng" dirty="0"/>
              <a:t>В 1987 </a:t>
            </a:r>
            <a:r>
              <a:rPr lang="ru-RU" sz="2400" dirty="0"/>
              <a:t>г., из-за резко возросшего числа абонентов, </a:t>
            </a:r>
            <a:r>
              <a:rPr lang="ru-RU" sz="2400" b="1" u="sng" dirty="0"/>
              <a:t>был принят стандарт HTACS </a:t>
            </a:r>
            <a:r>
              <a:rPr lang="ru-RU" sz="2400" dirty="0"/>
              <a:t>(</a:t>
            </a:r>
            <a:r>
              <a:rPr lang="ru-RU" sz="2400" dirty="0" err="1"/>
              <a:t>Enhanced</a:t>
            </a:r>
            <a:r>
              <a:rPr lang="ru-RU" sz="2400" dirty="0"/>
              <a:t> TACS), добавивший новые частоты и частично исправивший недостатки предшественника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b="1" u="sng" dirty="0"/>
              <a:t>Франция</a:t>
            </a:r>
            <a:r>
              <a:rPr lang="ru-RU" sz="2400" dirty="0"/>
              <a:t> же стояла отдельно от всех и начала использовать собственный </a:t>
            </a:r>
            <a:r>
              <a:rPr lang="ru-RU" sz="2400" b="1" u="sng" dirty="0"/>
              <a:t>стандарт Radiocom-2000 с 1985 год</a:t>
            </a:r>
            <a:r>
              <a:rPr lang="ru-RU" sz="2400" dirty="0"/>
              <a:t>а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b="1" dirty="0"/>
              <a:t>Следующим стал стандарт 1</a:t>
            </a:r>
            <a:r>
              <a:rPr lang="en-US" sz="2400" b="1" dirty="0"/>
              <a:t>G</a:t>
            </a:r>
            <a:r>
              <a:rPr lang="ru-RU" sz="2400" b="1" dirty="0"/>
              <a:t>  -  </a:t>
            </a:r>
            <a:r>
              <a:rPr lang="ru-RU" sz="2400" b="1" u="sng" dirty="0"/>
              <a:t>NMT-900</a:t>
            </a:r>
            <a:r>
              <a:rPr lang="ru-RU" sz="2400" dirty="0"/>
              <a:t>, использующий частоты </a:t>
            </a:r>
            <a:r>
              <a:rPr lang="en-US" sz="2400" dirty="0" smtClean="0"/>
              <a:t> </a:t>
            </a:r>
            <a:r>
              <a:rPr lang="ru-RU" sz="2400" dirty="0"/>
              <a:t>900 МГц диапазона ,</a:t>
            </a:r>
            <a:r>
              <a:rPr lang="ru-RU" sz="2400" b="1" u="sng" dirty="0"/>
              <a:t>стала применяться в 1986 году.</a:t>
            </a:r>
          </a:p>
          <a:p>
            <a:pPr>
              <a:buNone/>
            </a:pPr>
            <a:r>
              <a:rPr lang="ru-RU" sz="2400" dirty="0"/>
              <a:t>    Она позволила увеличить число абонентов и улучшить стабильность системы.</a:t>
            </a:r>
          </a:p>
          <a:p>
            <a:endParaRPr lang="ru-RU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</a:t>
            </a:r>
            <a:r>
              <a:rPr lang="en-US" sz="3200" b="1" dirty="0">
                <a:solidFill>
                  <a:schemeClr val="tx2"/>
                </a:solidFill>
              </a:rPr>
              <a:t>1</a:t>
            </a:r>
            <a:r>
              <a:rPr lang="ru-RU" sz="3200" b="1" dirty="0">
                <a:solidFill>
                  <a:schemeClr val="tx2"/>
                </a:solidFill>
              </a:rPr>
              <a:t>3. История мобильной сотовой связи</a:t>
            </a:r>
            <a:r>
              <a:rPr lang="en-US" sz="3200" b="1" dirty="0">
                <a:solidFill>
                  <a:schemeClr val="tx2"/>
                </a:solidFill>
              </a:rPr>
              <a:t> (1G)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6165304"/>
          </a:xfrm>
        </p:spPr>
        <p:txBody>
          <a:bodyPr>
            <a:noAutofit/>
          </a:bodyPr>
          <a:lstStyle/>
          <a:p>
            <a:r>
              <a:rPr lang="ru-RU" sz="2000" b="1" dirty="0"/>
              <a:t>Однако все эти стандарты являются аналоговыми и относятся к </a:t>
            </a:r>
            <a:r>
              <a:rPr lang="ru-RU" sz="2000" b="1" dirty="0" smtClean="0"/>
              <a:t>первому  </a:t>
            </a:r>
            <a:r>
              <a:rPr lang="ru-RU" sz="2000" b="1" dirty="0"/>
              <a:t>поколению систем сотовой связи (1</a:t>
            </a:r>
            <a:r>
              <a:rPr lang="en-US" sz="2000" b="1" dirty="0"/>
              <a:t>G)</a:t>
            </a:r>
            <a:r>
              <a:rPr lang="ru-RU" sz="2000" b="1" dirty="0"/>
              <a:t>. </a:t>
            </a:r>
            <a:endParaRPr lang="ru-RU" sz="2000" dirty="0"/>
          </a:p>
          <a:p>
            <a:r>
              <a:rPr lang="ru-RU" sz="2000" dirty="0"/>
              <a:t>В них используется аналоговый способ передачи информации с помощью частотной (ЧМ) или фазовой (ФМ) модуляции - как в обычных радиостанциях. </a:t>
            </a:r>
          </a:p>
          <a:p>
            <a:r>
              <a:rPr lang="ru-RU" sz="2000" b="1" u="sng" dirty="0"/>
              <a:t>Этот способ имеет ряд существенных недостатков:</a:t>
            </a:r>
          </a:p>
          <a:p>
            <a:pPr>
              <a:buNone/>
            </a:pPr>
            <a:r>
              <a:rPr lang="ru-RU" sz="2000" dirty="0"/>
              <a:t>    </a:t>
            </a:r>
            <a:r>
              <a:rPr lang="ru-RU" sz="2000" dirty="0" smtClean="0"/>
              <a:t>  </a:t>
            </a:r>
            <a:r>
              <a:rPr lang="ru-RU" sz="2000" dirty="0"/>
              <a:t>- возможность прослушивания разговоров другими абонентами </a:t>
            </a:r>
            <a:r>
              <a:rPr lang="ru-RU" sz="2000" dirty="0" smtClean="0"/>
              <a:t>; </a:t>
            </a:r>
          </a:p>
          <a:p>
            <a:pPr>
              <a:buNone/>
            </a:pPr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ru-RU" sz="2000" dirty="0" smtClean="0"/>
              <a:t>  </a:t>
            </a:r>
            <a:r>
              <a:rPr lang="ru-RU" sz="2000" dirty="0"/>
              <a:t>- невозможность борьбы с замиранием сигналов при передвижении </a:t>
            </a:r>
            <a:r>
              <a:rPr lang="ru-RU" sz="2000" dirty="0" smtClean="0"/>
              <a:t>абонента,</a:t>
            </a:r>
          </a:p>
          <a:p>
            <a:pPr>
              <a:buNone/>
            </a:pPr>
            <a:r>
              <a:rPr lang="ru-RU" sz="2000" dirty="0" smtClean="0"/>
              <a:t> </a:t>
            </a:r>
            <a:r>
              <a:rPr lang="ru-RU" sz="2000" dirty="0" smtClean="0"/>
              <a:t>   </a:t>
            </a:r>
            <a:r>
              <a:rPr lang="ru-RU" sz="2000" dirty="0" smtClean="0"/>
              <a:t>    а </a:t>
            </a:r>
            <a:r>
              <a:rPr lang="ru-RU" sz="2000" dirty="0"/>
              <a:t>также под влиянием ландшафта местности и зданий;</a:t>
            </a:r>
          </a:p>
          <a:p>
            <a:pPr>
              <a:buNone/>
            </a:pPr>
            <a:r>
              <a:rPr lang="ru-RU" sz="2000" dirty="0" smtClean="0"/>
              <a:t>     </a:t>
            </a:r>
            <a:r>
              <a:rPr lang="ru-RU" sz="2000" dirty="0"/>
              <a:t>- перегруженность частотных диапазонов вызывала помехи при разговорах</a:t>
            </a:r>
            <a:r>
              <a:rPr lang="ru-RU" sz="2000" dirty="0" smtClean="0"/>
              <a:t>.</a:t>
            </a:r>
            <a:endParaRPr lang="ru-RU" sz="2000" dirty="0"/>
          </a:p>
          <a:p>
            <a:r>
              <a:rPr lang="ru-RU" sz="2000" b="1" dirty="0"/>
              <a:t>Поэтому к концу 1980-х годов началось создание второго поколения систем сотовой связи</a:t>
            </a:r>
            <a:r>
              <a:rPr lang="en-US" sz="2000" b="1" dirty="0"/>
              <a:t> (2G) </a:t>
            </a:r>
            <a:r>
              <a:rPr lang="ru-RU" sz="2000" b="1" dirty="0"/>
              <a:t>, основанных на базе цифровых методов обработки сигналов</a:t>
            </a:r>
            <a:r>
              <a:rPr lang="ru-RU" sz="2000" b="1" dirty="0" smtClean="0"/>
              <a:t>.</a:t>
            </a:r>
            <a:endParaRPr lang="ru-RU" sz="2000" dirty="0"/>
          </a:p>
          <a:p>
            <a:r>
              <a:rPr lang="ru-RU" sz="2000" dirty="0"/>
              <a:t>Предварительно, </a:t>
            </a:r>
            <a:r>
              <a:rPr lang="ru-RU" sz="2000" b="1" u="sng" dirty="0"/>
              <a:t>в 1982 </a:t>
            </a:r>
            <a:r>
              <a:rPr lang="ru-RU" sz="2000" dirty="0"/>
              <a:t>году Европейская Конференция Администраций</a:t>
            </a:r>
          </a:p>
          <a:p>
            <a:pPr>
              <a:buNone/>
            </a:pPr>
            <a:r>
              <a:rPr lang="ru-RU" sz="2000" dirty="0"/>
              <a:t>      Почт и Электросвязи (СЕРТ) объединяющая 26 стран, приняла решение о</a:t>
            </a:r>
          </a:p>
          <a:p>
            <a:pPr>
              <a:buNone/>
            </a:pPr>
            <a:r>
              <a:rPr lang="ru-RU" sz="2000" dirty="0"/>
              <a:t>      создании специальной </a:t>
            </a:r>
            <a:r>
              <a:rPr lang="ru-RU" sz="2000" b="1" dirty="0"/>
              <a:t>группы </a:t>
            </a:r>
            <a:r>
              <a:rPr lang="ru-RU" sz="2000" b="1" dirty="0" err="1"/>
              <a:t>Groupe</a:t>
            </a:r>
            <a:r>
              <a:rPr lang="ru-RU" sz="2000" b="1" dirty="0"/>
              <a:t> </a:t>
            </a:r>
            <a:r>
              <a:rPr lang="ru-RU" sz="2000" b="1" dirty="0" err="1"/>
              <a:t>Special</a:t>
            </a:r>
            <a:r>
              <a:rPr lang="ru-RU" sz="2000" b="1" dirty="0"/>
              <a:t> </a:t>
            </a:r>
            <a:r>
              <a:rPr lang="ru-RU" sz="2000" b="1" dirty="0" err="1"/>
              <a:t>Mobile</a:t>
            </a:r>
            <a:r>
              <a:rPr lang="ru-RU" sz="2000" b="1" dirty="0"/>
              <a:t>. </a:t>
            </a:r>
            <a:r>
              <a:rPr lang="ru-RU" sz="2000" b="1" u="sng" dirty="0"/>
              <a:t>ее целью была разработка единого европейского стандарта цифровой сотовой связи.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548680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</a:t>
            </a:r>
            <a:r>
              <a:rPr lang="en-US" sz="3200" b="1" dirty="0">
                <a:solidFill>
                  <a:schemeClr val="tx2"/>
                </a:solidFill>
              </a:rPr>
              <a:t>14</a:t>
            </a:r>
            <a:r>
              <a:rPr lang="ru-RU" sz="3200" b="1" dirty="0">
                <a:solidFill>
                  <a:schemeClr val="tx2"/>
                </a:solidFill>
              </a:rPr>
              <a:t>. История мобильной сотовой связи</a:t>
            </a:r>
            <a:r>
              <a:rPr lang="en-US" sz="3200" b="1" dirty="0">
                <a:solidFill>
                  <a:schemeClr val="tx2"/>
                </a:solidFill>
              </a:rPr>
              <a:t>(2G)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048672"/>
          </a:xfrm>
        </p:spPr>
        <p:txBody>
          <a:bodyPr>
            <a:normAutofit fontScale="77500" lnSpcReduction="20000"/>
          </a:bodyPr>
          <a:lstStyle/>
          <a:p>
            <a:r>
              <a:rPr lang="ru-RU" b="1" u="sng" dirty="0"/>
              <a:t>Новый стандарт связи </a:t>
            </a:r>
            <a:r>
              <a:rPr lang="ru-RU" dirty="0"/>
              <a:t>разрабатывался в течение восьми лет, и впервые о нём было заявлено </a:t>
            </a:r>
            <a:r>
              <a:rPr lang="ru-RU" b="1" u="sng" dirty="0"/>
              <a:t>лишь в 1990 году </a:t>
            </a:r>
            <a:r>
              <a:rPr lang="ru-RU" dirty="0"/>
              <a:t>- тогда были предложены спецификации стандарта.</a:t>
            </a:r>
          </a:p>
          <a:p>
            <a:r>
              <a:rPr lang="ru-RU" b="1" dirty="0"/>
              <a:t>Специальной группой было принято решение использовать в качестве </a:t>
            </a:r>
            <a:r>
              <a:rPr lang="ru-RU" b="1" u="sng" dirty="0"/>
              <a:t>единого стандарта диапазон 1800 МГц.</a:t>
            </a:r>
          </a:p>
          <a:p>
            <a:r>
              <a:rPr lang="ru-RU" b="1" u="sng" dirty="0"/>
              <a:t>Новый стандарт получил название GSM - </a:t>
            </a:r>
            <a:r>
              <a:rPr lang="ru-RU" b="1" u="sng" dirty="0" err="1"/>
              <a:t>Global</a:t>
            </a:r>
            <a:r>
              <a:rPr lang="ru-RU" b="1" u="sng" dirty="0"/>
              <a:t> </a:t>
            </a:r>
            <a:r>
              <a:rPr lang="ru-RU" b="1" u="sng" dirty="0" err="1"/>
              <a:t>System</a:t>
            </a:r>
            <a:r>
              <a:rPr lang="ru-RU" b="1" u="sng" dirty="0"/>
              <a:t> </a:t>
            </a:r>
            <a:r>
              <a:rPr lang="ru-RU" b="1" u="sng" dirty="0" err="1"/>
              <a:t>for</a:t>
            </a:r>
            <a:r>
              <a:rPr lang="ru-RU" b="1" u="sng" dirty="0"/>
              <a:t> </a:t>
            </a:r>
            <a:r>
              <a:rPr lang="ru-RU" b="1" u="sng" dirty="0" err="1"/>
              <a:t>Mobile</a:t>
            </a:r>
            <a:r>
              <a:rPr lang="ru-RU" b="1" u="sng" dirty="0"/>
              <a:t> </a:t>
            </a:r>
            <a:r>
              <a:rPr lang="en-US" b="1" u="sng" dirty="0"/>
              <a:t>Communications</a:t>
            </a:r>
            <a:r>
              <a:rPr lang="ru-RU" b="1" u="sng" dirty="0"/>
              <a:t>. </a:t>
            </a:r>
            <a:r>
              <a:rPr lang="en-US" b="1" u="sng" dirty="0"/>
              <a:t>(2 G)</a:t>
            </a:r>
            <a:endParaRPr lang="ru-RU" b="1" u="sng" dirty="0"/>
          </a:p>
          <a:p>
            <a:endParaRPr lang="ru-RU" dirty="0"/>
          </a:p>
          <a:p>
            <a:r>
              <a:rPr lang="ru-RU" b="1" u="sng" dirty="0"/>
              <a:t>Стандарт G SM является цифровым стандартом сотовой связи.</a:t>
            </a:r>
          </a:p>
          <a:p>
            <a:r>
              <a:rPr lang="ru-RU" b="1" u="sng" dirty="0"/>
              <a:t> В нём реализовано:</a:t>
            </a:r>
          </a:p>
          <a:p>
            <a:pPr>
              <a:buNone/>
            </a:pPr>
            <a:r>
              <a:rPr lang="ru-RU" dirty="0"/>
              <a:t>       - временное разделение каналов</a:t>
            </a:r>
          </a:p>
          <a:p>
            <a:pPr>
              <a:buNone/>
            </a:pPr>
            <a:r>
              <a:rPr lang="ru-RU" dirty="0"/>
              <a:t> (TDMA - множественный доступ с разделением по времени</a:t>
            </a:r>
            <a:r>
              <a:rPr lang="en-US" dirty="0"/>
              <a:t>)</a:t>
            </a:r>
            <a:r>
              <a:rPr lang="ru-RU" dirty="0"/>
              <a:t>;</a:t>
            </a:r>
          </a:p>
          <a:p>
            <a:pPr>
              <a:buNone/>
            </a:pPr>
            <a:r>
              <a:rPr lang="ru-RU" dirty="0"/>
              <a:t>       -  шифрование сообщений; </a:t>
            </a:r>
          </a:p>
          <a:p>
            <a:pPr>
              <a:buNone/>
            </a:pPr>
            <a:r>
              <a:rPr lang="ru-RU" dirty="0"/>
              <a:t>       -  блочное кодирование;</a:t>
            </a:r>
          </a:p>
          <a:p>
            <a:pPr>
              <a:buNone/>
            </a:pPr>
            <a:r>
              <a:rPr lang="ru-RU" dirty="0"/>
              <a:t>       - модуляция GMSK (</a:t>
            </a:r>
            <a:r>
              <a:rPr lang="ru-RU" dirty="0" err="1"/>
              <a:t>Gaussian</a:t>
            </a:r>
            <a:r>
              <a:rPr lang="ru-RU" dirty="0"/>
              <a:t> </a:t>
            </a:r>
            <a:r>
              <a:rPr lang="ru-RU" dirty="0" err="1"/>
              <a:t>Minimum</a:t>
            </a:r>
            <a:r>
              <a:rPr lang="ru-RU" dirty="0"/>
              <a:t> </a:t>
            </a:r>
            <a:r>
              <a:rPr lang="ru-RU" dirty="0" err="1"/>
              <a:t>Shift</a:t>
            </a:r>
            <a:r>
              <a:rPr lang="ru-RU" dirty="0"/>
              <a:t> </a:t>
            </a:r>
            <a:r>
              <a:rPr lang="en-US" dirty="0"/>
              <a:t>Keying).</a:t>
            </a:r>
            <a:endParaRPr lang="ru-RU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9412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</a:t>
            </a:r>
            <a:r>
              <a:rPr lang="en-US" sz="3200" b="1" dirty="0">
                <a:solidFill>
                  <a:schemeClr val="tx2"/>
                </a:solidFill>
              </a:rPr>
              <a:t>14</a:t>
            </a:r>
            <a:r>
              <a:rPr lang="ru-RU" sz="3200" b="1" dirty="0">
                <a:solidFill>
                  <a:schemeClr val="tx2"/>
                </a:solidFill>
              </a:rPr>
              <a:t>. История мобильной сотовой связи</a:t>
            </a:r>
            <a:r>
              <a:rPr lang="en-US" sz="3200" b="1" dirty="0">
                <a:solidFill>
                  <a:schemeClr val="tx2"/>
                </a:solidFill>
              </a:rPr>
              <a:t>(2G)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u="sng" dirty="0"/>
              <a:t>Первым государством, запустившим сеть GSM, является Финляндия, запустившая в 1992 году </a:t>
            </a:r>
            <a:r>
              <a:rPr lang="ru-RU" dirty="0"/>
              <a:t>это стандарт в коммерческую эксплуатацию.</a:t>
            </a:r>
          </a:p>
          <a:p>
            <a:endParaRPr lang="ru-RU" dirty="0"/>
          </a:p>
          <a:p>
            <a:r>
              <a:rPr lang="ru-RU" b="1" u="sng" dirty="0"/>
              <a:t>В 1993 году в Великобритании заработала первая сеть DCS-180 Опе-2-Опе. </a:t>
            </a:r>
          </a:p>
          <a:p>
            <a:endParaRPr lang="ru-RU" dirty="0"/>
          </a:p>
          <a:p>
            <a:r>
              <a:rPr lang="ru-RU" dirty="0"/>
              <a:t>С 1993 года начинается глобальное распространение стандарта </a:t>
            </a:r>
            <a:r>
              <a:rPr lang="ru-RU" b="1" u="sng" dirty="0"/>
              <a:t>G S M</a:t>
            </a:r>
            <a:r>
              <a:rPr lang="en-US" b="1" u="sng" dirty="0"/>
              <a:t> (2G)</a:t>
            </a:r>
            <a:endParaRPr lang="ru-RU" b="1" u="sng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ru-RU"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74436" name="Rectangle 4"/>
          <p:cNvSpPr>
            <a:spLocks noChangeArrowheads="1"/>
          </p:cNvSpPr>
          <p:nvPr/>
        </p:nvSpPr>
        <p:spPr bwMode="auto">
          <a:xfrm>
            <a:off x="468313" y="404813"/>
            <a:ext cx="8229600" cy="92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3600" dirty="0">
                <a:solidFill>
                  <a:schemeClr val="tx2"/>
                </a:solidFill>
                <a:latin typeface="Arial" charset="0"/>
              </a:rPr>
              <a:t>Архитектура сети </a:t>
            </a:r>
            <a:r>
              <a:rPr lang="en-US" sz="3600" dirty="0">
                <a:solidFill>
                  <a:schemeClr val="tx2"/>
                </a:solidFill>
                <a:latin typeface="Arial" charset="0"/>
              </a:rPr>
              <a:t>GSM</a:t>
            </a:r>
            <a:endParaRPr lang="ru-RU" sz="3600" dirty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156676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268761"/>
            <a:ext cx="7992888" cy="5589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706090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7</a:t>
            </a:r>
            <a:r>
              <a:rPr lang="ru-RU" sz="3200" b="1" dirty="0">
                <a:solidFill>
                  <a:schemeClr val="tx2"/>
                </a:solidFill>
              </a:rPr>
              <a:t>.</a:t>
            </a:r>
            <a:r>
              <a:rPr lang="en-US" sz="3200" b="1" dirty="0">
                <a:solidFill>
                  <a:schemeClr val="tx2"/>
                </a:solidFill>
              </a:rPr>
              <a:t>15</a:t>
            </a:r>
            <a:r>
              <a:rPr lang="ru-RU" sz="3200" b="1" dirty="0">
                <a:solidFill>
                  <a:schemeClr val="tx2"/>
                </a:solidFill>
              </a:rPr>
              <a:t>.</a:t>
            </a:r>
            <a:r>
              <a:rPr lang="en-US" sz="3200" b="1" dirty="0">
                <a:solidFill>
                  <a:schemeClr val="tx2"/>
                </a:solidFill>
              </a:rPr>
              <a:t> </a:t>
            </a:r>
            <a:r>
              <a:rPr lang="ru-RU" sz="3200" b="1" dirty="0">
                <a:solidFill>
                  <a:schemeClr val="tx2"/>
                </a:solidFill>
              </a:rPr>
              <a:t>История развития мобильной связи</a:t>
            </a:r>
          </a:p>
        </p:txBody>
      </p:sp>
      <p:pic>
        <p:nvPicPr>
          <p:cNvPr id="2050" name="Picture 2" descr="C:\Users\Юра\Downloads\этапы разв сот связи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9144000" cy="5184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7.16.1. История мобильной сотовой связи(1-2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4006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ru-RU" b="1" i="1" dirty="0"/>
              <a:t>   Если сети первого поколения(1</a:t>
            </a:r>
            <a:r>
              <a:rPr lang="en-US" b="1" i="1" dirty="0"/>
              <a:t>G) </a:t>
            </a:r>
            <a:r>
              <a:rPr lang="ru-RU" b="1" i="1" dirty="0"/>
              <a:t> позволяли передавать только голос</a:t>
            </a:r>
            <a:r>
              <a:rPr lang="ru-RU" b="1" dirty="0"/>
              <a:t>.</a:t>
            </a:r>
          </a:p>
          <a:p>
            <a:pPr>
              <a:buNone/>
            </a:pPr>
            <a:r>
              <a:rPr lang="ru-RU" b="1" dirty="0"/>
              <a:t> </a:t>
            </a:r>
            <a:endParaRPr lang="en-US" b="1" dirty="0"/>
          </a:p>
          <a:p>
            <a:pPr>
              <a:buNone/>
            </a:pPr>
            <a:r>
              <a:rPr lang="ru-RU" b="1" dirty="0"/>
              <a:t>   Второе поколение  GSM</a:t>
            </a:r>
            <a:r>
              <a:rPr lang="en-US" b="1" dirty="0"/>
              <a:t> (2G)</a:t>
            </a:r>
            <a:r>
              <a:rPr lang="ru-RU" b="1" dirty="0"/>
              <a:t>  позволяет предоставлять  не только  голосовые услуги , но и  передачу SMS – сообщений.</a:t>
            </a:r>
          </a:p>
          <a:p>
            <a:pPr>
              <a:buNone/>
            </a:pPr>
            <a:endParaRPr lang="ru-RU" b="1" dirty="0"/>
          </a:p>
          <a:p>
            <a:pPr>
              <a:buNone/>
            </a:pPr>
            <a:r>
              <a:rPr lang="ru-RU" b="1" dirty="0"/>
              <a:t>      </a:t>
            </a:r>
            <a:r>
              <a:rPr lang="ru-RU" b="1" u="sng" dirty="0"/>
              <a:t>Но речь и данные передавались по одному каналу</a:t>
            </a:r>
            <a:r>
              <a:rPr lang="ru-RU" b="1" dirty="0"/>
              <a:t>.</a:t>
            </a:r>
          </a:p>
          <a:p>
            <a:pPr>
              <a:buNone/>
            </a:pPr>
            <a:endParaRPr lang="ru-RU" b="1" dirty="0"/>
          </a:p>
          <a:p>
            <a:pPr>
              <a:buNone/>
            </a:pPr>
            <a:r>
              <a:rPr lang="ru-RU" b="1" dirty="0"/>
              <a:t>    Использовалась сеть с КК.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634082"/>
          </a:xfrm>
        </p:spPr>
        <p:txBody>
          <a:bodyPr>
            <a:normAutofit fontScale="90000"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7.16. 2. История мобильной сотовой связи(2,5</a:t>
            </a:r>
            <a:r>
              <a:rPr lang="en-US" sz="3200" b="1" dirty="0">
                <a:solidFill>
                  <a:schemeClr val="tx2"/>
                </a:solidFill>
              </a:rPr>
              <a:t>G</a:t>
            </a:r>
            <a:r>
              <a:rPr lang="ru-RU" sz="3200" b="1" dirty="0">
                <a:solidFill>
                  <a:schemeClr val="tx2"/>
                </a:solidFill>
              </a:rPr>
              <a:t>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836712"/>
            <a:ext cx="8964488" cy="5760640"/>
          </a:xfrm>
        </p:spPr>
        <p:txBody>
          <a:bodyPr>
            <a:normAutofit fontScale="47500" lnSpcReduction="20000"/>
          </a:bodyPr>
          <a:lstStyle/>
          <a:p>
            <a:r>
              <a:rPr lang="ru-RU" sz="5100" b="1" dirty="0"/>
              <a:t>Промежуточные стандарты 2,5G. </a:t>
            </a:r>
          </a:p>
          <a:p>
            <a:endParaRPr lang="ru-RU" dirty="0"/>
          </a:p>
          <a:p>
            <a:r>
              <a:rPr lang="ru-RU" sz="5100" b="1" u="sng" dirty="0"/>
              <a:t>Пакетная радиосвязь общего пользования GPRS </a:t>
            </a:r>
          </a:p>
          <a:p>
            <a:pPr marL="0" indent="0">
              <a:buNone/>
            </a:pPr>
            <a:r>
              <a:rPr lang="ru-RU" sz="5100" b="1" dirty="0"/>
              <a:t>        (</a:t>
            </a:r>
            <a:r>
              <a:rPr lang="ru-RU" sz="5100" dirty="0"/>
              <a:t>англ. </a:t>
            </a:r>
            <a:r>
              <a:rPr lang="ru-RU" sz="5100" dirty="0" err="1"/>
              <a:t>General</a:t>
            </a:r>
            <a:r>
              <a:rPr lang="ru-RU" sz="5100" dirty="0"/>
              <a:t> </a:t>
            </a:r>
            <a:r>
              <a:rPr lang="ru-RU" sz="5100" dirty="0" err="1"/>
              <a:t>Packet</a:t>
            </a:r>
            <a:r>
              <a:rPr lang="ru-RU" sz="5100" dirty="0"/>
              <a:t> </a:t>
            </a:r>
            <a:r>
              <a:rPr lang="ru-RU" sz="5100" dirty="0" err="1"/>
              <a:t>Radio</a:t>
            </a:r>
            <a:r>
              <a:rPr lang="ru-RU" sz="5100" dirty="0"/>
              <a:t> Service) – </a:t>
            </a:r>
          </a:p>
          <a:p>
            <a:pPr marL="0" indent="0">
              <a:buNone/>
            </a:pPr>
            <a:r>
              <a:rPr lang="ru-RU" sz="5100" dirty="0"/>
              <a:t>     это надстройка над технологией мобильной связи GSM,</a:t>
            </a:r>
          </a:p>
          <a:p>
            <a:pPr marL="0" indent="0">
              <a:buNone/>
            </a:pPr>
            <a:r>
              <a:rPr lang="ru-RU" sz="5100" dirty="0"/>
              <a:t>     осуществляющая пакетную передачу данных.</a:t>
            </a:r>
          </a:p>
          <a:p>
            <a:r>
              <a:rPr lang="ru-RU" sz="5100" b="1" dirty="0"/>
              <a:t> Режим GPRS позволяет пользователю мобильного телефона производить</a:t>
            </a:r>
            <a:r>
              <a:rPr lang="ru-RU" sz="5100" dirty="0"/>
              <a:t>:</a:t>
            </a:r>
          </a:p>
          <a:p>
            <a:pPr>
              <a:buNone/>
            </a:pPr>
            <a:r>
              <a:rPr lang="ru-RU" sz="5100" dirty="0"/>
              <a:t>          - обмен данными с другими устройствами в сети GSM ;</a:t>
            </a:r>
          </a:p>
          <a:p>
            <a:pPr>
              <a:buNone/>
            </a:pPr>
            <a:r>
              <a:rPr lang="ru-RU" sz="5100" dirty="0"/>
              <a:t>          -  и с внешними сетями, в том числе Интернет.</a:t>
            </a:r>
          </a:p>
          <a:p>
            <a:r>
              <a:rPr lang="ru-RU" sz="5100" b="1" dirty="0"/>
              <a:t> GPRS предполагает тарификацию по объему переданной/полученной информации, а не времени</a:t>
            </a:r>
            <a:r>
              <a:rPr lang="ru-RU" sz="5100" dirty="0"/>
              <a:t>. </a:t>
            </a:r>
          </a:p>
          <a:p>
            <a:r>
              <a:rPr lang="ru-RU" sz="5100" dirty="0"/>
              <a:t>Технология </a:t>
            </a:r>
            <a:r>
              <a:rPr lang="en-US" sz="5100" dirty="0"/>
              <a:t>EDGE (</a:t>
            </a:r>
            <a:r>
              <a:rPr lang="ru-RU" sz="5100" dirty="0"/>
              <a:t>англ. </a:t>
            </a:r>
            <a:r>
              <a:rPr lang="en-US" sz="5100" dirty="0"/>
              <a:t>Enhanced Data rates for GSM Evolution</a:t>
            </a:r>
            <a:r>
              <a:rPr lang="ru-RU" sz="5100" dirty="0"/>
              <a:t> – это дальнейшее развитие GPRS, отличающееся только способом кодирования данных, что позволяет за один </a:t>
            </a:r>
            <a:r>
              <a:rPr lang="ru-RU" sz="5100" dirty="0" err="1"/>
              <a:t>таймслот</a:t>
            </a:r>
            <a:r>
              <a:rPr lang="ru-RU" sz="5100" dirty="0"/>
              <a:t> передавать больший объем данных.</a:t>
            </a:r>
          </a:p>
          <a:p>
            <a:r>
              <a:rPr lang="ru-RU" sz="5100" dirty="0"/>
              <a:t> </a:t>
            </a:r>
            <a:r>
              <a:rPr lang="ru-RU" sz="5100" b="1" dirty="0"/>
              <a:t>EDGE иногда называют 2,75G.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9269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7.17. История мобильной сотовой связи(3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9144000" cy="6237312"/>
          </a:xfrm>
        </p:spPr>
        <p:txBody>
          <a:bodyPr>
            <a:normAutofit fontScale="32500" lnSpcReduction="20000"/>
          </a:bodyPr>
          <a:lstStyle/>
          <a:p>
            <a:endParaRPr lang="ru-RU" sz="3600" dirty="0">
              <a:solidFill>
                <a:schemeClr val="accent2"/>
              </a:solidFill>
            </a:endParaRPr>
          </a:p>
          <a:p>
            <a:r>
              <a:rPr lang="ru-RU" sz="9600" dirty="0"/>
              <a:t>Следующей ступенью после GSM (2</a:t>
            </a:r>
            <a:r>
              <a:rPr lang="en-US" sz="9600" dirty="0"/>
              <a:t>G) </a:t>
            </a:r>
            <a:r>
              <a:rPr lang="ru-RU" sz="9600" dirty="0"/>
              <a:t>, является</a:t>
            </a:r>
          </a:p>
          <a:p>
            <a:pPr>
              <a:buNone/>
            </a:pPr>
            <a:r>
              <a:rPr lang="ru-RU" sz="9600" b="1" dirty="0"/>
              <a:t>     </a:t>
            </a:r>
            <a:r>
              <a:rPr lang="ru-RU" sz="9600" dirty="0"/>
              <a:t>стандарт CDM</a:t>
            </a:r>
            <a:r>
              <a:rPr lang="en-US" sz="9600" dirty="0"/>
              <a:t>A (3G) (</a:t>
            </a:r>
            <a:r>
              <a:rPr lang="ru-RU" sz="9600" dirty="0"/>
              <a:t>множественный доступ с кодовым разделением каналов)</a:t>
            </a:r>
            <a:r>
              <a:rPr lang="en-US" sz="9600" dirty="0"/>
              <a:t> </a:t>
            </a:r>
            <a:r>
              <a:rPr lang="ru-RU" sz="9600" dirty="0"/>
              <a:t>, который предоставляет более быструю и надёжную связь за счет использования кодового разделения каналов. Этот стандарт начал зарождаться в США в 1990 году. </a:t>
            </a:r>
          </a:p>
          <a:p>
            <a:r>
              <a:rPr lang="ru-RU" sz="9600" dirty="0"/>
              <a:t>В 1993 году в США стал применяться CDMA</a:t>
            </a:r>
          </a:p>
          <a:p>
            <a:pPr>
              <a:buNone/>
            </a:pPr>
            <a:r>
              <a:rPr lang="ru-RU" sz="9600" dirty="0"/>
              <a:t>   в диапазоне  частот 1900 МГц.</a:t>
            </a:r>
          </a:p>
          <a:p>
            <a:r>
              <a:rPr lang="ru-RU" sz="9600" b="1" u="sng" dirty="0"/>
              <a:t>С 1995 года в Европе стандарт 3</a:t>
            </a:r>
            <a:r>
              <a:rPr lang="en-US" sz="9600" b="1" u="sng" dirty="0"/>
              <a:t>G</a:t>
            </a:r>
            <a:r>
              <a:rPr lang="ru-RU" sz="9600" b="1" i="1" u="sng" dirty="0"/>
              <a:t> получил название </a:t>
            </a:r>
            <a:r>
              <a:rPr lang="en-US" sz="9600" b="1" i="1" u="sng" dirty="0"/>
              <a:t>UMTS </a:t>
            </a:r>
            <a:r>
              <a:rPr lang="ru-RU" sz="9600" i="1" dirty="0"/>
              <a:t>(универсальная  система связи с подвижными объектами)</a:t>
            </a:r>
            <a:r>
              <a:rPr lang="en-US" sz="9600" dirty="0"/>
              <a:t> </a:t>
            </a:r>
            <a:endParaRPr lang="ru-RU" sz="9600" dirty="0"/>
          </a:p>
          <a:p>
            <a:pPr>
              <a:buNone/>
            </a:pPr>
            <a:r>
              <a:rPr lang="ru-RU" sz="9600" dirty="0"/>
              <a:t>   применяется в диапазоне </a:t>
            </a:r>
            <a:r>
              <a:rPr lang="ru-RU" sz="9600" b="1" u="sng" dirty="0"/>
              <a:t>частот 2100 МГц.</a:t>
            </a:r>
            <a:endParaRPr lang="ru-RU" sz="9600" b="1" i="1" u="sng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778098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chemeClr val="tx2"/>
                </a:solidFill>
              </a:rPr>
              <a:t>7.17. История мобильной сотовой связи(3</a:t>
            </a:r>
            <a:r>
              <a:rPr lang="en-US" sz="3600" b="1" dirty="0">
                <a:solidFill>
                  <a:schemeClr val="tx2"/>
                </a:solidFill>
              </a:rPr>
              <a:t>G)</a:t>
            </a:r>
            <a:endParaRPr lang="ru-RU" sz="36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124744"/>
            <a:ext cx="8892480" cy="5001419"/>
          </a:xfrm>
        </p:spPr>
        <p:txBody>
          <a:bodyPr>
            <a:normAutofit fontScale="25000" lnSpcReduction="20000"/>
          </a:bodyPr>
          <a:lstStyle/>
          <a:p>
            <a:endParaRPr lang="ru-RU" b="1" u="sng" dirty="0">
              <a:solidFill>
                <a:srgbClr val="C00000"/>
              </a:solidFill>
            </a:endParaRPr>
          </a:p>
          <a:p>
            <a:r>
              <a:rPr lang="ru-RU" sz="11200" b="1" u="sng" dirty="0"/>
              <a:t>Стандарт (3</a:t>
            </a:r>
            <a:r>
              <a:rPr lang="en-US" sz="11200" b="1" u="sng" dirty="0"/>
              <a:t>G) </a:t>
            </a:r>
            <a:r>
              <a:rPr lang="ru-RU" sz="11200" b="1" u="sng" dirty="0"/>
              <a:t> обладает характеристиками:</a:t>
            </a:r>
          </a:p>
          <a:p>
            <a:endParaRPr lang="ru-RU" sz="11200" b="1" u="sng" dirty="0"/>
          </a:p>
          <a:p>
            <a:pPr>
              <a:buNone/>
            </a:pPr>
            <a:r>
              <a:rPr lang="en-US" sz="11200" dirty="0"/>
              <a:t>        </a:t>
            </a:r>
            <a:r>
              <a:rPr lang="ru-RU" sz="11200" dirty="0"/>
              <a:t> - максимальная скорость передачи данных составляла  42 Мбит/с, средняя 10 Мбит/с.</a:t>
            </a:r>
          </a:p>
          <a:p>
            <a:pPr>
              <a:buNone/>
            </a:pPr>
            <a:endParaRPr lang="ru-RU" sz="11200" dirty="0"/>
          </a:p>
          <a:p>
            <a:pPr>
              <a:buNone/>
            </a:pPr>
            <a:r>
              <a:rPr lang="ru-RU" sz="11200" dirty="0"/>
              <a:t> </a:t>
            </a:r>
            <a:r>
              <a:rPr lang="en-US" sz="11200" dirty="0"/>
              <a:t>      </a:t>
            </a:r>
            <a:r>
              <a:rPr lang="ru-RU" sz="11200" dirty="0"/>
              <a:t> </a:t>
            </a:r>
            <a:r>
              <a:rPr lang="en-US" sz="11200" dirty="0"/>
              <a:t> -</a:t>
            </a:r>
            <a:r>
              <a:rPr lang="ru-RU" sz="11200" dirty="0"/>
              <a:t> </a:t>
            </a:r>
            <a:r>
              <a:rPr lang="en-US" sz="11200" dirty="0"/>
              <a:t> </a:t>
            </a:r>
            <a:r>
              <a:rPr lang="ru-RU" sz="11200" dirty="0"/>
              <a:t>использование интернета;</a:t>
            </a:r>
          </a:p>
          <a:p>
            <a:pPr>
              <a:buNone/>
            </a:pPr>
            <a:endParaRPr lang="ru-RU" sz="11200" dirty="0"/>
          </a:p>
          <a:p>
            <a:pPr>
              <a:buNone/>
            </a:pPr>
            <a:r>
              <a:rPr lang="ru-RU" sz="11200" dirty="0"/>
              <a:t>         - использование  мобильных приложений ;</a:t>
            </a:r>
          </a:p>
          <a:p>
            <a:pPr>
              <a:buNone/>
            </a:pPr>
            <a:endParaRPr lang="ru-RU" sz="11200" dirty="0"/>
          </a:p>
          <a:p>
            <a:pPr>
              <a:buNone/>
            </a:pPr>
            <a:r>
              <a:rPr lang="ru-RU" sz="11200" dirty="0"/>
              <a:t>         - передача мультимедийной информации и др.</a:t>
            </a:r>
          </a:p>
          <a:p>
            <a:pPr>
              <a:buNone/>
            </a:pPr>
            <a:endParaRPr lang="en-US" sz="11200" dirty="0"/>
          </a:p>
          <a:p>
            <a:pPr>
              <a:buNone/>
            </a:pPr>
            <a:r>
              <a:rPr lang="en-US" sz="11200" dirty="0"/>
              <a:t>         - </a:t>
            </a:r>
            <a:r>
              <a:rPr lang="ru-RU" sz="11200" dirty="0"/>
              <a:t>использование протокола </a:t>
            </a:r>
            <a:r>
              <a:rPr lang="en-US" sz="11200" dirty="0"/>
              <a:t>GPRS</a:t>
            </a:r>
            <a:r>
              <a:rPr lang="ru-RU" sz="11200" dirty="0"/>
              <a:t>.</a:t>
            </a:r>
          </a:p>
          <a:p>
            <a:pPr>
              <a:buNone/>
            </a:pPr>
            <a:endParaRPr lang="ru-RU" sz="11200" dirty="0"/>
          </a:p>
          <a:p>
            <a:endParaRPr lang="ru-RU" sz="11200" dirty="0"/>
          </a:p>
          <a:p>
            <a:endParaRPr lang="ru-RU" sz="11200" b="1" dirty="0">
              <a:solidFill>
                <a:schemeClr val="accent2"/>
              </a:solidFill>
            </a:endParaRPr>
          </a:p>
          <a:p>
            <a:pPr>
              <a:buNone/>
            </a:pPr>
            <a:endParaRPr lang="en-US" sz="11200" b="1" dirty="0">
              <a:solidFill>
                <a:schemeClr val="accent2"/>
              </a:solidFill>
            </a:endParaRPr>
          </a:p>
          <a:p>
            <a:pPr>
              <a:buNone/>
            </a:pPr>
            <a:r>
              <a:rPr lang="en-US" sz="11200" dirty="0">
                <a:solidFill>
                  <a:schemeClr val="accent2"/>
                </a:solidFill>
              </a:rPr>
              <a:t>      </a:t>
            </a:r>
            <a:r>
              <a:rPr lang="ru-RU" sz="11200" dirty="0">
                <a:solidFill>
                  <a:schemeClr val="accent2"/>
                </a:solidFill>
              </a:rPr>
              <a:t> </a:t>
            </a:r>
            <a:endParaRPr lang="ru-RU" sz="1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964488" cy="620688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7.18. История мобильной сотовой связи (3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620688"/>
            <a:ext cx="8892480" cy="623731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ru-RU" dirty="0"/>
              <a:t> </a:t>
            </a:r>
          </a:p>
          <a:p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Технология </a:t>
            </a:r>
            <a:r>
              <a:rPr lang="ru-RU" i="1" dirty="0"/>
              <a:t>GPRS (</a:t>
            </a:r>
            <a:r>
              <a:rPr lang="ru-RU" i="1" dirty="0" err="1"/>
              <a:t>General</a:t>
            </a:r>
            <a:r>
              <a:rPr lang="ru-RU" i="1" dirty="0"/>
              <a:t> </a:t>
            </a:r>
            <a:r>
              <a:rPr lang="ru-RU" i="1" dirty="0" err="1"/>
              <a:t>Packed</a:t>
            </a:r>
            <a:r>
              <a:rPr lang="ru-RU" i="1" dirty="0"/>
              <a:t> </a:t>
            </a:r>
            <a:r>
              <a:rPr lang="ru-RU" i="1" dirty="0" err="1"/>
              <a:t>Radio</a:t>
            </a:r>
            <a:r>
              <a:rPr lang="ru-RU" i="1" dirty="0"/>
              <a:t> </a:t>
            </a:r>
            <a:r>
              <a:rPr lang="ru-RU" i="1" dirty="0" err="1"/>
              <a:t>Services</a:t>
            </a:r>
            <a:r>
              <a:rPr lang="ru-RU" i="1" dirty="0"/>
              <a:t>) - система пакетной радиопередачи данных.</a:t>
            </a:r>
          </a:p>
          <a:p>
            <a:endParaRPr lang="ru-RU" i="1" dirty="0"/>
          </a:p>
          <a:p>
            <a:r>
              <a:rPr lang="ru-RU" b="1" u="sng" dirty="0"/>
              <a:t>В технологии </a:t>
            </a:r>
            <a:r>
              <a:rPr lang="ru-RU" b="1" i="1" u="sng" dirty="0"/>
              <a:t>GPRS</a:t>
            </a:r>
            <a:r>
              <a:rPr lang="ru-RU" b="1" u="sng" dirty="0"/>
              <a:t> используется принцип разделения каналов для передачи голоса и данных.</a:t>
            </a:r>
          </a:p>
          <a:p>
            <a:endParaRPr lang="ru-RU" u="sng" dirty="0"/>
          </a:p>
          <a:p>
            <a:r>
              <a:rPr lang="ru-RU" dirty="0"/>
              <a:t> В результате абонент оплачивает не длительность соединения, а лишь объем переданных и полученных данных.</a:t>
            </a:r>
          </a:p>
          <a:p>
            <a:r>
              <a:rPr lang="ru-RU" i="1" dirty="0"/>
              <a:t>У GPRS есть еще одно преимущество </a:t>
            </a:r>
            <a:r>
              <a:rPr lang="ru-RU" dirty="0"/>
              <a:t>- </a:t>
            </a:r>
            <a:r>
              <a:rPr lang="ru-RU" i="1" dirty="0"/>
              <a:t>во время GPRS-соединения       телефон все также способен принимать звонки и SMS-сообщения</a:t>
            </a:r>
            <a:r>
              <a:rPr lang="ru-RU" dirty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ru-RU" sz="14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6179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64704"/>
            <a:ext cx="9144000" cy="6093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4917" name="Rectangle 5"/>
          <p:cNvSpPr>
            <a:spLocks noChangeArrowheads="1"/>
          </p:cNvSpPr>
          <p:nvPr/>
        </p:nvSpPr>
        <p:spPr bwMode="auto">
          <a:xfrm>
            <a:off x="0" y="115888"/>
            <a:ext cx="9144000" cy="720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US" sz="2400" b="1" dirty="0">
                <a:solidFill>
                  <a:schemeClr val="tx2"/>
                </a:solidFill>
                <a:latin typeface="Arial" charset="0"/>
              </a:rPr>
              <a:t>UMTS (Universal Mobile Telecommunications System)</a:t>
            </a:r>
            <a:endParaRPr lang="ru-RU" sz="2400" b="1" dirty="0">
              <a:solidFill>
                <a:schemeClr val="tx2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692696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7.19. История мобильной сотовой связи (3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620688"/>
            <a:ext cx="8964488" cy="6237312"/>
          </a:xfrm>
        </p:spPr>
        <p:txBody>
          <a:bodyPr>
            <a:noAutofit/>
          </a:bodyPr>
          <a:lstStyle/>
          <a:p>
            <a:r>
              <a:rPr lang="ru-RU" sz="2400" b="1" i="1" u="sng" dirty="0"/>
              <a:t>Происходит слияние сотового телефона, компьютера и сети Интернет. </a:t>
            </a:r>
          </a:p>
          <a:p>
            <a:r>
              <a:rPr lang="ru-RU" sz="2400" dirty="0"/>
              <a:t>Разработчики и операторы предлагают нам все больше и больше различных дополнительных услуг.</a:t>
            </a:r>
          </a:p>
          <a:p>
            <a:r>
              <a:rPr lang="ru-RU" sz="2400" i="1" u="sng" dirty="0"/>
              <a:t>Так, используя возможности GPRS, был создан </a:t>
            </a:r>
            <a:r>
              <a:rPr lang="ru-RU" sz="2400" b="1" u="sng" dirty="0"/>
              <a:t>новый формат передачи сообщений,</a:t>
            </a:r>
            <a:r>
              <a:rPr lang="ru-RU" sz="2400" i="1" u="sng" dirty="0"/>
              <a:t> который был </a:t>
            </a:r>
            <a:r>
              <a:rPr lang="ru-RU" sz="2400" b="1" u="sng" dirty="0"/>
              <a:t>назван </a:t>
            </a:r>
            <a:r>
              <a:rPr lang="en-US" sz="2400" b="1" u="sng" dirty="0"/>
              <a:t>MMS </a:t>
            </a:r>
            <a:r>
              <a:rPr lang="en-US" sz="2400" u="sng" dirty="0"/>
              <a:t>(</a:t>
            </a:r>
            <a:r>
              <a:rPr lang="en-US" sz="2400" dirty="0"/>
              <a:t>Multimedia Messaging Service - </a:t>
            </a:r>
            <a:r>
              <a:rPr lang="ru-RU" sz="2400" dirty="0"/>
              <a:t>Сервис Мультимедийных Сообщений), который в отличие от SMS, </a:t>
            </a:r>
            <a:r>
              <a:rPr lang="ru-RU" sz="2400" b="1" u="sng" dirty="0"/>
              <a:t>позволяет </a:t>
            </a:r>
            <a:r>
              <a:rPr lang="ru-RU" sz="2400" b="1" i="1" u="sng" dirty="0"/>
              <a:t>отправлять с сотового телефона не только текст, но и различную мультимедиа информацию,</a:t>
            </a:r>
            <a:r>
              <a:rPr lang="ru-RU" sz="2400" i="1" u="sng" dirty="0"/>
              <a:t> например, звукозаписи, фотографии и видеоклипы.</a:t>
            </a:r>
            <a:endParaRPr lang="ru-RU" sz="2400" i="1" dirty="0"/>
          </a:p>
          <a:p>
            <a:r>
              <a:rPr lang="ru-RU" sz="2400" dirty="0"/>
              <a:t> Причем MMS- сообщение может быть передано как на другой телефон, поддерживающий этот формат, так и на ящик электронной почты.</a:t>
            </a:r>
          </a:p>
          <a:p>
            <a:r>
              <a:rPr lang="ru-RU" sz="2400" dirty="0"/>
              <a:t>Увеличение мощности процессоров телефонов позволяет теперь загружать и запускать на нем различные программы.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8892480" cy="764704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</a:t>
            </a:r>
            <a:r>
              <a:rPr lang="en-US" sz="3200" b="1" dirty="0">
                <a:solidFill>
                  <a:schemeClr val="tx2"/>
                </a:solidFill>
              </a:rPr>
              <a:t>20</a:t>
            </a:r>
            <a:r>
              <a:rPr lang="ru-RU" sz="3200" b="1" dirty="0">
                <a:solidFill>
                  <a:schemeClr val="tx2"/>
                </a:solidFill>
              </a:rPr>
              <a:t>. История мобильной сотовой связи (3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6093296"/>
          </a:xfrm>
        </p:spPr>
        <p:txBody>
          <a:bodyPr>
            <a:noAutofit/>
          </a:bodyPr>
          <a:lstStyle/>
          <a:p>
            <a:r>
              <a:rPr lang="ru-RU" sz="2000" b="1" i="1" dirty="0"/>
              <a:t>  </a:t>
            </a:r>
            <a:r>
              <a:rPr lang="ru-RU" sz="2400" b="1" i="1" dirty="0"/>
              <a:t>В сетях третьего поколения 3G передача данных доминирует над голосовыми услугами.</a:t>
            </a:r>
            <a:endParaRPr lang="ru-RU" sz="2400" dirty="0"/>
          </a:p>
          <a:p>
            <a:r>
              <a:rPr lang="ru-RU" sz="2400" b="1" u="sng" dirty="0"/>
              <a:t> Отличие технологий 3-го поколения от предыдущих:</a:t>
            </a:r>
          </a:p>
          <a:p>
            <a:pPr>
              <a:buNone/>
            </a:pPr>
            <a:r>
              <a:rPr lang="ru-RU" sz="2400" dirty="0"/>
              <a:t>        - совместимость с существующими сетями;</a:t>
            </a:r>
          </a:p>
          <a:p>
            <a:pPr>
              <a:buNone/>
            </a:pPr>
            <a:r>
              <a:rPr lang="ru-RU" sz="2400" dirty="0"/>
              <a:t>       - возможность обеспечить весь спектр услуг;</a:t>
            </a:r>
          </a:p>
          <a:p>
            <a:pPr>
              <a:buNone/>
            </a:pPr>
            <a:r>
              <a:rPr lang="ru-RU" sz="2400" dirty="0"/>
              <a:t>      - взаимодействие с Интернетом;</a:t>
            </a:r>
          </a:p>
          <a:p>
            <a:pPr>
              <a:buNone/>
            </a:pPr>
            <a:r>
              <a:rPr lang="ru-RU" sz="2400" dirty="0"/>
              <a:t>      - </a:t>
            </a:r>
            <a:r>
              <a:rPr lang="ru-RU" sz="2400" b="1" dirty="0"/>
              <a:t>работа в режиме коммутации каналов и коммутации пакетов.</a:t>
            </a:r>
          </a:p>
          <a:p>
            <a:pPr>
              <a:buNone/>
            </a:pPr>
            <a:r>
              <a:rPr lang="ru-RU" sz="2400" b="1" dirty="0"/>
              <a:t>      - использование </a:t>
            </a:r>
            <a:r>
              <a:rPr lang="en-US" sz="2400" b="1" dirty="0"/>
              <a:t>ISDN</a:t>
            </a:r>
            <a:r>
              <a:rPr lang="ru-RU" sz="2400" b="1" dirty="0"/>
              <a:t> (ЦСИС) как </a:t>
            </a:r>
            <a:r>
              <a:rPr lang="en-US" sz="2400" b="1" dirty="0"/>
              <a:t>N-ISDN</a:t>
            </a:r>
            <a:r>
              <a:rPr lang="ru-RU" sz="2400" b="1" dirty="0"/>
              <a:t> так и</a:t>
            </a:r>
            <a:r>
              <a:rPr lang="en-US" sz="2400" b="1" dirty="0"/>
              <a:t> B-ISDN</a:t>
            </a:r>
            <a:r>
              <a:rPr lang="ru-RU" sz="2400" b="1" dirty="0"/>
              <a:t>.</a:t>
            </a:r>
            <a:endParaRPr lang="ru-RU" sz="2400" dirty="0"/>
          </a:p>
          <a:p>
            <a:r>
              <a:rPr lang="ru-RU" sz="2400" b="1" dirty="0"/>
              <a:t>Они имеют архитектуру единой сети и предоставляют связь абонентам в различных условиях, включая движущийся транспорт , жилые помещения, офисы и др.</a:t>
            </a:r>
            <a:endParaRPr lang="ru-RU" sz="2400" dirty="0"/>
          </a:p>
          <a:p>
            <a:r>
              <a:rPr lang="ru-RU" sz="2400" dirty="0"/>
              <a:t> </a:t>
            </a:r>
            <a:r>
              <a:rPr lang="ru-RU" sz="2400" b="1" u="sng" dirty="0"/>
              <a:t>Новое качество данных систем </a:t>
            </a:r>
            <a:r>
              <a:rPr lang="ru-RU" sz="2400" dirty="0"/>
              <a:t>– </a:t>
            </a:r>
            <a:r>
              <a:rPr lang="ru-RU" sz="2400" b="1" u="sng" dirty="0"/>
              <a:t>это возможность разрабатывать </a:t>
            </a:r>
            <a:r>
              <a:rPr lang="ru-RU" sz="2400" dirty="0"/>
              <a:t> компаниям – </a:t>
            </a:r>
            <a:r>
              <a:rPr lang="ru-RU" sz="2400" u="sng" dirty="0"/>
              <a:t>операторам </a:t>
            </a:r>
            <a:r>
              <a:rPr lang="ru-RU" sz="2400" b="1" u="sng" dirty="0"/>
              <a:t>приложения, функции, услуги, ориентируясь на требования конкретного региона и корректировать рост спроса на определенные услуги.</a:t>
            </a:r>
          </a:p>
          <a:p>
            <a:endParaRPr lang="ru-RU" sz="2000" dirty="0"/>
          </a:p>
          <a:p>
            <a:endParaRPr lang="ru-RU" sz="1800" b="1" i="1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72008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 </a:t>
            </a:r>
            <a:r>
              <a:rPr lang="en-US" sz="3200" b="1" dirty="0">
                <a:solidFill>
                  <a:schemeClr val="tx2"/>
                </a:solidFill>
              </a:rPr>
              <a:t>21</a:t>
            </a:r>
            <a:r>
              <a:rPr lang="ru-RU" sz="3200" b="1" dirty="0">
                <a:solidFill>
                  <a:schemeClr val="tx2"/>
                </a:solidFill>
              </a:rPr>
              <a:t>. История мобильной сотовой </a:t>
            </a:r>
            <a:r>
              <a:rPr lang="ru-RU" sz="3200" b="1" dirty="0" smtClean="0">
                <a:solidFill>
                  <a:schemeClr val="tx2"/>
                </a:solidFill>
              </a:rPr>
              <a:t>связи(4</a:t>
            </a:r>
            <a:r>
              <a:rPr lang="en-US" sz="3200" b="1" dirty="0" smtClean="0">
                <a:solidFill>
                  <a:schemeClr val="tx2"/>
                </a:solidFill>
              </a:rPr>
              <a:t>G</a:t>
            </a:r>
            <a:r>
              <a:rPr lang="en-US" sz="3200" b="1" dirty="0">
                <a:solidFill>
                  <a:schemeClr val="tx2"/>
                </a:solidFill>
              </a:rPr>
              <a:t>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908720"/>
            <a:ext cx="8892480" cy="5949280"/>
          </a:xfrm>
        </p:spPr>
        <p:txBody>
          <a:bodyPr>
            <a:normAutofit fontScale="92500" lnSpcReduction="20000"/>
          </a:bodyPr>
          <a:lstStyle/>
          <a:p>
            <a:r>
              <a:rPr lang="ru-RU" sz="2600" b="1" dirty="0"/>
              <a:t>Огромные скорости передачи данных позволяют </a:t>
            </a:r>
            <a:r>
              <a:rPr lang="ru-RU" sz="2600" dirty="0"/>
              <a:t>передавать прямо на телефон высококачественное видеоизображение, осуществлять постоянное соединение с Интернет и локальными сетями.</a:t>
            </a:r>
          </a:p>
          <a:p>
            <a:r>
              <a:rPr lang="ru-RU" sz="2600" b="1" dirty="0"/>
              <a:t>Применение новых, усовершенствованных, систем защиты позволяет </a:t>
            </a:r>
            <a:r>
              <a:rPr lang="ru-RU" sz="2600" dirty="0"/>
              <a:t>использовать телефон для проведения различных финансовых операций - </a:t>
            </a:r>
            <a:r>
              <a:rPr lang="ru-RU" sz="2600" b="1" dirty="0"/>
              <a:t>мобильный телефон способен заменить кредитную карту.</a:t>
            </a:r>
            <a:endParaRPr lang="ru-RU" sz="2600" dirty="0"/>
          </a:p>
          <a:p>
            <a:r>
              <a:rPr lang="ru-RU" sz="2600" dirty="0"/>
              <a:t>На мировом уровне сейчас используется более 2 миллиардов единиц мобильных телефонов.</a:t>
            </a:r>
          </a:p>
          <a:p>
            <a:r>
              <a:rPr lang="ru-RU" sz="2600" dirty="0"/>
              <a:t>Сейчас в развитых странах сложилась ситуация «пресыщения», когда спрос перестаёт расти.</a:t>
            </a:r>
          </a:p>
          <a:p>
            <a:endParaRPr lang="en-US" sz="2600" b="1" dirty="0">
              <a:solidFill>
                <a:schemeClr val="accent2"/>
              </a:solidFill>
            </a:endParaRPr>
          </a:p>
          <a:p>
            <a:r>
              <a:rPr lang="ru-RU" sz="2600" b="1" dirty="0"/>
              <a:t>Интеграция различных видов связи (сотовой, спутниковой, телевизионной и  т. д.), появление гибридных устройств, включающих в себя сотовый телефон, ПК, видеокамеру, безусловно, привела к появлению </a:t>
            </a:r>
            <a:r>
              <a:rPr lang="ru-RU" sz="2600" b="1" u="sng" dirty="0"/>
              <a:t>сетей 4G, </a:t>
            </a:r>
            <a:r>
              <a:rPr lang="ru-RU" sz="2600" b="1" dirty="0"/>
              <a:t>5G.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712968" cy="576064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7.2</a:t>
            </a:r>
            <a:r>
              <a:rPr lang="en-US" sz="3200" b="1" dirty="0">
                <a:solidFill>
                  <a:schemeClr val="tx2"/>
                </a:solidFill>
              </a:rPr>
              <a:t>2</a:t>
            </a:r>
            <a:r>
              <a:rPr lang="ru-RU" sz="3200" b="1" dirty="0">
                <a:solidFill>
                  <a:schemeClr val="tx2"/>
                </a:solidFill>
              </a:rPr>
              <a:t>. История развития сотовой связи (4</a:t>
            </a:r>
            <a:r>
              <a:rPr lang="en-US" sz="3200" b="1" dirty="0">
                <a:solidFill>
                  <a:schemeClr val="tx2"/>
                </a:solidFill>
              </a:rPr>
              <a:t>G)</a:t>
            </a:r>
            <a:endParaRPr lang="ru-RU" sz="3200" b="1" dirty="0">
              <a:solidFill>
                <a:schemeClr val="tx2"/>
              </a:solidFill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904656"/>
          </a:xfrm>
        </p:spPr>
        <p:txBody>
          <a:bodyPr>
            <a:normAutofit fontScale="92500" lnSpcReduction="20000"/>
          </a:bodyPr>
          <a:lstStyle/>
          <a:p>
            <a:endParaRPr lang="ru-RU" b="1" dirty="0"/>
          </a:p>
          <a:p>
            <a:r>
              <a:rPr lang="en-US" b="1" dirty="0"/>
              <a:t>LTE (Long Term Evolution)</a:t>
            </a:r>
            <a:r>
              <a:rPr lang="ru-RU" b="1" dirty="0"/>
              <a:t> – 4</a:t>
            </a:r>
            <a:r>
              <a:rPr lang="en-US" b="1" dirty="0"/>
              <a:t>G </a:t>
            </a:r>
            <a:r>
              <a:rPr lang="ru-RU" b="1" dirty="0"/>
              <a:t> полный переход на пакетную передачу информации (</a:t>
            </a:r>
            <a:r>
              <a:rPr lang="en-US" b="1" dirty="0"/>
              <a:t>IMS)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r>
              <a:rPr lang="ru-RU" dirty="0"/>
              <a:t>Работает на частоте 2,2 -6,5 МГц.</a:t>
            </a:r>
          </a:p>
          <a:p>
            <a:endParaRPr lang="ru-RU" dirty="0"/>
          </a:p>
          <a:p>
            <a:r>
              <a:rPr lang="ru-RU" dirty="0"/>
              <a:t>Данные , голос, видео передаются по сети в</a:t>
            </a:r>
          </a:p>
          <a:p>
            <a:pPr>
              <a:buNone/>
            </a:pPr>
            <a:r>
              <a:rPr lang="ru-RU" dirty="0"/>
              <a:t>     </a:t>
            </a:r>
            <a:r>
              <a:rPr lang="en-US" dirty="0"/>
              <a:t>IP-</a:t>
            </a:r>
            <a:r>
              <a:rPr lang="ru-RU" dirty="0"/>
              <a:t>пакете.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r>
              <a:rPr lang="ru-RU" dirty="0"/>
              <a:t>     </a:t>
            </a:r>
            <a:r>
              <a:rPr lang="ru-RU" b="1" dirty="0"/>
              <a:t>Высокая скорость – 100 Мбит/с.</a:t>
            </a:r>
          </a:p>
          <a:p>
            <a:pPr>
              <a:buNone/>
            </a:pPr>
            <a:endParaRPr lang="ru-RU" dirty="0"/>
          </a:p>
          <a:p>
            <a:r>
              <a:rPr lang="ru-RU" dirty="0"/>
              <a:t> </a:t>
            </a:r>
            <a:r>
              <a:rPr lang="en-US" dirty="0"/>
              <a:t>B</a:t>
            </a:r>
            <a:r>
              <a:rPr lang="ru-RU" dirty="0" err="1"/>
              <a:t>озможно</a:t>
            </a:r>
            <a:r>
              <a:rPr lang="ru-RU" dirty="0"/>
              <a:t>  использования </a:t>
            </a:r>
            <a:r>
              <a:rPr lang="en-US" dirty="0"/>
              <a:t>WI-FI ,</a:t>
            </a:r>
            <a:r>
              <a:rPr lang="ru-RU" dirty="0"/>
              <a:t> </a:t>
            </a:r>
            <a:r>
              <a:rPr lang="en-US" dirty="0"/>
              <a:t>WIMAX</a:t>
            </a:r>
            <a:r>
              <a:rPr lang="ru-RU" dirty="0"/>
              <a:t>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 txBox="1">
            <a:spLocks noGrp="1"/>
          </p:cNvSpPr>
          <p:nvPr/>
        </p:nvSpPr>
        <p:spPr bwMode="auto">
          <a:xfrm flipH="1">
            <a:off x="8686800" y="6245225"/>
            <a:ext cx="61664" cy="4762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>
              <a:defRPr/>
            </a:pPr>
            <a:endParaRPr lang="ru-RU" sz="14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295938" name="Rectangle 2"/>
          <p:cNvSpPr>
            <a:spLocks noChangeArrowheads="1"/>
          </p:cNvSpPr>
          <p:nvPr/>
        </p:nvSpPr>
        <p:spPr bwMode="auto">
          <a:xfrm>
            <a:off x="179388" y="115888"/>
            <a:ext cx="8677275" cy="92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3200">
                <a:solidFill>
                  <a:srgbClr val="000000"/>
                </a:solidFill>
                <a:latin typeface="Arial" charset="0"/>
              </a:rPr>
              <a:t>Архитектура </a:t>
            </a:r>
            <a:r>
              <a:rPr lang="en-US" sz="3200">
                <a:solidFill>
                  <a:srgbClr val="000000"/>
                </a:solidFill>
                <a:latin typeface="Arial" charset="0"/>
              </a:rPr>
              <a:t>IMS</a:t>
            </a:r>
            <a:endParaRPr lang="ru-RU" sz="320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163844" name="Picture 3"/>
          <p:cNvPicPr>
            <a:picLocks noChangeAspect="1" noChangeArrowheads="1"/>
          </p:cNvPicPr>
          <p:nvPr/>
        </p:nvPicPr>
        <p:blipFill>
          <a:blip r:embed="rId2" cstate="print">
            <a:lum contrast="12000"/>
          </a:blip>
          <a:srcRect/>
          <a:stretch>
            <a:fillRect/>
          </a:stretch>
        </p:blipFill>
        <p:spPr bwMode="auto">
          <a:xfrm>
            <a:off x="179512" y="1052513"/>
            <a:ext cx="8496944" cy="561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3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4082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7.2</a:t>
            </a:r>
            <a:r>
              <a:rPr lang="en-US" sz="3200" b="1" dirty="0">
                <a:solidFill>
                  <a:schemeClr val="tx2"/>
                </a:solidFill>
              </a:rPr>
              <a:t>3</a:t>
            </a:r>
            <a:r>
              <a:rPr lang="ru-RU" sz="3200" b="1" dirty="0">
                <a:solidFill>
                  <a:schemeClr val="tx2"/>
                </a:solidFill>
              </a:rPr>
              <a:t>. История развития сотовой связи (</a:t>
            </a:r>
            <a:r>
              <a:rPr lang="en-US" sz="3200" b="1" dirty="0">
                <a:solidFill>
                  <a:schemeClr val="tx2"/>
                </a:solidFill>
              </a:rPr>
              <a:t>5G)</a:t>
            </a:r>
            <a:endParaRPr lang="ru-RU" sz="3200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179512" y="980728"/>
            <a:ext cx="8784976" cy="5688632"/>
          </a:xfrm>
        </p:spPr>
        <p:txBody>
          <a:bodyPr>
            <a:normAutofit fontScale="92500" lnSpcReduction="20000"/>
          </a:bodyPr>
          <a:lstStyle/>
          <a:p>
            <a:r>
              <a:rPr lang="ru-RU" sz="2400" b="1" dirty="0"/>
              <a:t>Технология 5</a:t>
            </a:r>
            <a:r>
              <a:rPr lang="en-US" sz="2400" b="1" dirty="0"/>
              <a:t>G</a:t>
            </a:r>
            <a:r>
              <a:rPr lang="ru-RU" sz="2400" b="1" dirty="0"/>
              <a:t> появилась в 2020 году</a:t>
            </a:r>
            <a:r>
              <a:rPr lang="ru-RU" sz="2400" dirty="0"/>
              <a:t>,  имеет 3 режима работа для своих задач:</a:t>
            </a:r>
          </a:p>
          <a:p>
            <a:pPr>
              <a:buNone/>
            </a:pPr>
            <a:r>
              <a:rPr lang="ru-RU" sz="2400" dirty="0"/>
              <a:t>       - </a:t>
            </a:r>
            <a:r>
              <a:rPr lang="en-US" sz="2400" dirty="0" err="1"/>
              <a:t>eMBB</a:t>
            </a:r>
            <a:r>
              <a:rPr lang="en-US" sz="2400" dirty="0"/>
              <a:t> (Enhanced Mobile </a:t>
            </a:r>
            <a:r>
              <a:rPr lang="en-US" sz="2400" dirty="0" err="1"/>
              <a:t>Brandband</a:t>
            </a:r>
            <a:r>
              <a:rPr lang="en-US" sz="2400" dirty="0"/>
              <a:t>)</a:t>
            </a:r>
            <a:r>
              <a:rPr lang="ru-RU" sz="2400" dirty="0"/>
              <a:t> – </a:t>
            </a:r>
            <a:r>
              <a:rPr lang="ru-RU" sz="2400" b="1" dirty="0"/>
              <a:t>скорость до 1- 2 Гбит/с.</a:t>
            </a:r>
          </a:p>
          <a:p>
            <a:endParaRPr lang="ru-RU" sz="2400" dirty="0"/>
          </a:p>
          <a:p>
            <a:pPr>
              <a:buNone/>
            </a:pPr>
            <a:r>
              <a:rPr lang="ru-RU" sz="2400" dirty="0"/>
              <a:t>       - </a:t>
            </a:r>
            <a:r>
              <a:rPr lang="en-US" sz="2400" dirty="0"/>
              <a:t>URLLC</a:t>
            </a:r>
            <a:r>
              <a:rPr lang="ru-RU" sz="2400" dirty="0"/>
              <a:t>(</a:t>
            </a:r>
            <a:r>
              <a:rPr lang="en-US" sz="2400" dirty="0"/>
              <a:t>Ultra Reliable Low Latency Communication) –</a:t>
            </a:r>
            <a:endParaRPr lang="ru-RU" sz="2400" dirty="0"/>
          </a:p>
          <a:p>
            <a:pPr>
              <a:buNone/>
            </a:pPr>
            <a:r>
              <a:rPr lang="ru-RU" sz="2400" dirty="0"/>
              <a:t>     </a:t>
            </a:r>
            <a:r>
              <a:rPr lang="en-US" sz="2400" dirty="0"/>
              <a:t> </a:t>
            </a:r>
            <a:r>
              <a:rPr lang="ru-RU" sz="2400" b="1" dirty="0"/>
              <a:t>применяется для </a:t>
            </a:r>
            <a:r>
              <a:rPr lang="ru-RU" sz="2400" b="1" dirty="0" err="1"/>
              <a:t>телехирургии</a:t>
            </a:r>
            <a:r>
              <a:rPr lang="ru-RU" sz="2400" b="1" dirty="0"/>
              <a:t> , заводских роботов, беспилотных автомобилей</a:t>
            </a:r>
            <a:r>
              <a:rPr lang="ru-RU" sz="2400" dirty="0"/>
              <a:t>.</a:t>
            </a:r>
          </a:p>
          <a:p>
            <a:pPr>
              <a:buNone/>
            </a:pPr>
            <a:r>
              <a:rPr lang="en-US" sz="2400" dirty="0"/>
              <a:t>        </a:t>
            </a:r>
            <a:r>
              <a:rPr lang="ru-RU" sz="2400" dirty="0"/>
              <a:t>   Задержка – до 1 мс. Надежность  - 99.999 % 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r>
              <a:rPr lang="ru-RU" sz="2400" dirty="0"/>
              <a:t>      - </a:t>
            </a:r>
            <a:r>
              <a:rPr lang="en-US" sz="2400" dirty="0" err="1"/>
              <a:t>mMTC</a:t>
            </a:r>
            <a:r>
              <a:rPr lang="en-US" sz="2400" dirty="0"/>
              <a:t> ( Massive Machine Type Communication)</a:t>
            </a:r>
          </a:p>
          <a:p>
            <a:pPr>
              <a:buNone/>
            </a:pPr>
            <a:r>
              <a:rPr lang="ru-RU" sz="2400" b="1" dirty="0"/>
              <a:t>          Миллион датчиков на один кв.км.</a:t>
            </a:r>
          </a:p>
          <a:p>
            <a:pPr>
              <a:buNone/>
            </a:pPr>
            <a:r>
              <a:rPr lang="ru-RU" sz="2400" dirty="0"/>
              <a:t>         </a:t>
            </a:r>
            <a:r>
              <a:rPr lang="ru-RU" sz="2400" b="1" dirty="0"/>
              <a:t>Основа «умного города» и промышленного интернета              вещей (</a:t>
            </a:r>
            <a:r>
              <a:rPr lang="en-US" sz="2400" b="1" dirty="0" err="1"/>
              <a:t>IoT</a:t>
            </a:r>
            <a:r>
              <a:rPr lang="en-US" sz="2400" b="1" dirty="0"/>
              <a:t>)</a:t>
            </a:r>
            <a:r>
              <a:rPr lang="ru-RU" sz="2400" b="1" dirty="0"/>
              <a:t> </a:t>
            </a:r>
            <a:r>
              <a:rPr lang="ru-RU" sz="2400" dirty="0"/>
              <a:t>.</a:t>
            </a:r>
          </a:p>
          <a:p>
            <a:pPr>
              <a:buNone/>
            </a:pPr>
            <a:r>
              <a:rPr lang="ru-RU" sz="2400" dirty="0"/>
              <a:t>         Вышки работают на миллиметровых волнах (24 -40 ГГц)</a:t>
            </a:r>
          </a:p>
          <a:p>
            <a:pPr>
              <a:buNone/>
            </a:pPr>
            <a:r>
              <a:rPr lang="ru-RU" sz="2400" dirty="0"/>
              <a:t>        Низкие задержки.</a:t>
            </a:r>
          </a:p>
          <a:p>
            <a:pPr>
              <a:buNone/>
            </a:pPr>
            <a:r>
              <a:rPr lang="ru-RU" sz="2400" dirty="0"/>
              <a:t>       Скорость передачи  - максимальная до 100 Гбит/с. </a:t>
            </a:r>
          </a:p>
          <a:p>
            <a:pPr>
              <a:buNone/>
            </a:pPr>
            <a:r>
              <a:rPr lang="ru-RU" sz="2400" dirty="0"/>
              <a:t>                                             - средняя 100 Мбит/с – 1Гбит/с.</a:t>
            </a:r>
          </a:p>
          <a:p>
            <a:pPr>
              <a:buNone/>
            </a:pPr>
            <a:endParaRPr lang="ru-RU" sz="2400" dirty="0"/>
          </a:p>
          <a:p>
            <a:pPr>
              <a:buNone/>
            </a:pPr>
            <a:endParaRPr lang="ru-RU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60" name="Rectangle 4"/>
          <p:cNvSpPr>
            <a:spLocks noChangeArrowheads="1"/>
          </p:cNvSpPr>
          <p:nvPr/>
        </p:nvSpPr>
        <p:spPr bwMode="auto">
          <a:xfrm>
            <a:off x="457200" y="274638"/>
            <a:ext cx="822960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ru-RU" sz="3200" dirty="0">
                <a:solidFill>
                  <a:schemeClr val="tx2"/>
                </a:solidFill>
                <a:latin typeface="Arial" charset="0"/>
              </a:rPr>
              <a:t>Эволюция сотовых сетей</a:t>
            </a:r>
          </a:p>
        </p:txBody>
      </p:sp>
      <p:pic>
        <p:nvPicPr>
          <p:cNvPr id="15565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1052736"/>
            <a:ext cx="8712968" cy="5544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260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2702</Words>
  <Application>Microsoft Office PowerPoint</Application>
  <PresentationFormat>Экран (4:3)</PresentationFormat>
  <Paragraphs>252</Paragraphs>
  <Slides>39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0" baseType="lpstr">
      <vt:lpstr>Тема Office</vt:lpstr>
      <vt:lpstr>Лекция 2</vt:lpstr>
      <vt:lpstr>7.1. История мобильной сотовой связи</vt:lpstr>
      <vt:lpstr>7.2. История мобильной сотовой связи</vt:lpstr>
      <vt:lpstr>7. 3.История мобильной сотовой связи</vt:lpstr>
      <vt:lpstr>7. 4.1. История мобильной сотовой связи</vt:lpstr>
      <vt:lpstr>7.4.2.  История мобильной сотовой связи</vt:lpstr>
      <vt:lpstr>7.5.1. История мобильной сотовой связи</vt:lpstr>
      <vt:lpstr>Слайд 8</vt:lpstr>
      <vt:lpstr>7.5.2. История мобильной сотовой связи</vt:lpstr>
      <vt:lpstr>Слайд 10</vt:lpstr>
      <vt:lpstr>7.6. История мобильной сотовой связи</vt:lpstr>
      <vt:lpstr>7.7. История сотовой связи</vt:lpstr>
      <vt:lpstr>7.8. История мобильной сотовой связи</vt:lpstr>
      <vt:lpstr>7.8. История мобильной сотовой связи</vt:lpstr>
      <vt:lpstr>7. 9. История мобильной связи</vt:lpstr>
      <vt:lpstr>7.10.1. История мобильной сотовой связи(1G)</vt:lpstr>
      <vt:lpstr>7.10.2. История мобильной сотовой связи(1G)</vt:lpstr>
      <vt:lpstr>7.11. История мобильной связи </vt:lpstr>
      <vt:lpstr>Эволюция развития сетей связи и технологий</vt:lpstr>
      <vt:lpstr>Слайд 20</vt:lpstr>
      <vt:lpstr>7.12. История мобильной сотовой связи(1G)</vt:lpstr>
      <vt:lpstr>7.13. История мобильной сотовой связи (1G)</vt:lpstr>
      <vt:lpstr>7.14. История мобильной сотовой связи(2G)</vt:lpstr>
      <vt:lpstr>7.14. История мобильной сотовой связи(2G)</vt:lpstr>
      <vt:lpstr>Слайд 25</vt:lpstr>
      <vt:lpstr>7.15. История развития мобильной связи</vt:lpstr>
      <vt:lpstr>7.16.1. История мобильной сотовой связи(1-2G)</vt:lpstr>
      <vt:lpstr>7.16. 2. История мобильной сотовой связи(2,5G)</vt:lpstr>
      <vt:lpstr>7.17. История мобильной сотовой связи(3G)</vt:lpstr>
      <vt:lpstr>7.17. История мобильной сотовой связи(3G)</vt:lpstr>
      <vt:lpstr>7.18. История мобильной сотовой связи (3G)</vt:lpstr>
      <vt:lpstr>Слайд 32</vt:lpstr>
      <vt:lpstr>7.19. История мобильной сотовой связи (3G)</vt:lpstr>
      <vt:lpstr>7.20. История мобильной сотовой связи (3G)</vt:lpstr>
      <vt:lpstr>7. 21. История мобильной сотовой связи(4G)</vt:lpstr>
      <vt:lpstr>7.22. История развития сотовой связи (4G)</vt:lpstr>
      <vt:lpstr>Слайд 37</vt:lpstr>
      <vt:lpstr>7.23. История развития сотовой связи (5G)</vt:lpstr>
      <vt:lpstr>Слайд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</dc:title>
  <dc:creator>Анастасия</dc:creator>
  <cp:lastModifiedBy>Анастасия</cp:lastModifiedBy>
  <cp:revision>47</cp:revision>
  <dcterms:created xsi:type="dcterms:W3CDTF">2025-09-08T18:22:52Z</dcterms:created>
  <dcterms:modified xsi:type="dcterms:W3CDTF">2025-11-02T16:32:15Z</dcterms:modified>
</cp:coreProperties>
</file>