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74" r:id="rId3"/>
    <p:sldId id="275" r:id="rId4"/>
    <p:sldId id="276" r:id="rId5"/>
    <p:sldId id="277" r:id="rId6"/>
    <p:sldId id="353" r:id="rId7"/>
    <p:sldId id="347" r:id="rId8"/>
    <p:sldId id="354" r:id="rId9"/>
    <p:sldId id="340" r:id="rId10"/>
    <p:sldId id="278" r:id="rId11"/>
    <p:sldId id="339" r:id="rId12"/>
    <p:sldId id="346" r:id="rId13"/>
    <p:sldId id="279" r:id="rId14"/>
    <p:sldId id="280" r:id="rId15"/>
    <p:sldId id="307" r:id="rId16"/>
    <p:sldId id="281" r:id="rId17"/>
    <p:sldId id="282" r:id="rId18"/>
    <p:sldId id="283" r:id="rId19"/>
    <p:sldId id="284" r:id="rId20"/>
    <p:sldId id="285" r:id="rId21"/>
    <p:sldId id="286" r:id="rId22"/>
    <p:sldId id="287" r:id="rId23"/>
    <p:sldId id="288" r:id="rId24"/>
    <p:sldId id="289" r:id="rId25"/>
    <p:sldId id="290" r:id="rId26"/>
    <p:sldId id="348" r:id="rId27"/>
    <p:sldId id="349" r:id="rId28"/>
    <p:sldId id="350" r:id="rId29"/>
    <p:sldId id="351" r:id="rId30"/>
    <p:sldId id="352" r:id="rId31"/>
    <p:sldId id="330" r:id="rId32"/>
    <p:sldId id="331" r:id="rId33"/>
    <p:sldId id="332" r:id="rId34"/>
    <p:sldId id="314" r:id="rId35"/>
    <p:sldId id="300" r:id="rId36"/>
    <p:sldId id="329" r:id="rId37"/>
    <p:sldId id="316" r:id="rId38"/>
    <p:sldId id="315" r:id="rId39"/>
    <p:sldId id="355" r:id="rId40"/>
    <p:sldId id="356" r:id="rId41"/>
    <p:sldId id="363" r:id="rId42"/>
    <p:sldId id="317" r:id="rId43"/>
    <p:sldId id="359" r:id="rId44"/>
    <p:sldId id="319" r:id="rId45"/>
    <p:sldId id="333" r:id="rId46"/>
    <p:sldId id="299" r:id="rId47"/>
    <p:sldId id="311" r:id="rId48"/>
    <p:sldId id="303" r:id="rId49"/>
    <p:sldId id="362" r:id="rId50"/>
    <p:sldId id="302" r:id="rId51"/>
    <p:sldId id="344" r:id="rId52"/>
    <p:sldId id="301" r:id="rId53"/>
    <p:sldId id="334" r:id="rId54"/>
    <p:sldId id="364" r:id="rId55"/>
    <p:sldId id="365" r:id="rId56"/>
    <p:sldId id="335" r:id="rId57"/>
    <p:sldId id="321" r:id="rId58"/>
    <p:sldId id="306" r:id="rId59"/>
    <p:sldId id="336" r:id="rId60"/>
    <p:sldId id="337" r:id="rId61"/>
    <p:sldId id="312" r:id="rId62"/>
    <p:sldId id="341" r:id="rId63"/>
    <p:sldId id="313" r:id="rId64"/>
    <p:sldId id="322" r:id="rId65"/>
    <p:sldId id="342" r:id="rId66"/>
    <p:sldId id="323" r:id="rId67"/>
    <p:sldId id="326" r:id="rId68"/>
    <p:sldId id="324" r:id="rId69"/>
    <p:sldId id="325" r:id="rId70"/>
    <p:sldId id="328" r:id="rId71"/>
    <p:sldId id="343" r:id="rId72"/>
    <p:sldId id="358" r:id="rId73"/>
    <p:sldId id="366" r:id="rId7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5" d="100"/>
          <a:sy n="75" d="100"/>
        </p:scale>
        <p:origin x="-300"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0A4D5364-BAB3-4913-A139-CA7E98CCE6ED}" type="datetimeFigureOut">
              <a:rPr lang="ru-RU" smtClean="0"/>
              <a:pPr/>
              <a:t>27.11.2025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C177502-6BAE-4FE3-BD63-9E6DA1B831E6}"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A4D5364-BAB3-4913-A139-CA7E98CCE6ED}" type="datetimeFigureOut">
              <a:rPr lang="ru-RU" smtClean="0"/>
              <a:pPr/>
              <a:t>27.11.2025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C177502-6BAE-4FE3-BD63-9E6DA1B831E6}"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0A4D5364-BAB3-4913-A139-CA7E98CCE6ED}" type="datetimeFigureOut">
              <a:rPr lang="ru-RU" smtClean="0"/>
              <a:pPr/>
              <a:t>27.11.2025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C177502-6BAE-4FE3-BD63-9E6DA1B831E6}"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0A4D5364-BAB3-4913-A139-CA7E98CCE6ED}" type="datetimeFigureOut">
              <a:rPr lang="ru-RU" smtClean="0"/>
              <a:pPr/>
              <a:t>27.11.2025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C177502-6BAE-4FE3-BD63-9E6DA1B831E6}"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0A4D5364-BAB3-4913-A139-CA7E98CCE6ED}" type="datetimeFigureOut">
              <a:rPr lang="ru-RU" smtClean="0"/>
              <a:pPr/>
              <a:t>27.11.2025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BC177502-6BAE-4FE3-BD63-9E6DA1B831E6}"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0A4D5364-BAB3-4913-A139-CA7E98CCE6ED}" type="datetimeFigureOut">
              <a:rPr lang="ru-RU" smtClean="0"/>
              <a:pPr/>
              <a:t>27.11.2025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BC177502-6BAE-4FE3-BD63-9E6DA1B831E6}"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A4D5364-BAB3-4913-A139-CA7E98CCE6ED}" type="datetimeFigureOut">
              <a:rPr lang="ru-RU" smtClean="0"/>
              <a:pPr/>
              <a:t>27.11.2025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BC177502-6BAE-4FE3-BD63-9E6DA1B831E6}"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A4D5364-BAB3-4913-A139-CA7E98CCE6ED}" type="datetimeFigureOut">
              <a:rPr lang="ru-RU" smtClean="0"/>
              <a:pPr/>
              <a:t>27.11.2025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C177502-6BAE-4FE3-BD63-9E6DA1B831E6}"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A4D5364-BAB3-4913-A139-CA7E98CCE6ED}" type="datetimeFigureOut">
              <a:rPr lang="ru-RU" smtClean="0"/>
              <a:pPr/>
              <a:t>27.11.2025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BC177502-6BAE-4FE3-BD63-9E6DA1B831E6}"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A4D5364-BAB3-4913-A139-CA7E98CCE6ED}" type="datetimeFigureOut">
              <a:rPr lang="ru-RU" smtClean="0"/>
              <a:pPr/>
              <a:t>27.11.2025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C177502-6BAE-4FE3-BD63-9E6DA1B831E6}"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A4D5364-BAB3-4913-A139-CA7E98CCE6ED}" type="datetimeFigureOut">
              <a:rPr lang="ru-RU" smtClean="0"/>
              <a:pPr/>
              <a:t>27.11.2025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BC177502-6BAE-4FE3-BD63-9E6DA1B831E6}"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4D5364-BAB3-4913-A139-CA7E98CCE6ED}" type="datetimeFigureOut">
              <a:rPr lang="ru-RU" smtClean="0"/>
              <a:pPr/>
              <a:t>27.11.2025</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177502-6BAE-4FE3-BD63-9E6DA1B831E6}"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512" y="274638"/>
            <a:ext cx="8964488" cy="4018458"/>
          </a:xfrm>
        </p:spPr>
        <p:txBody>
          <a:bodyPr>
            <a:normAutofit/>
          </a:bodyPr>
          <a:lstStyle/>
          <a:p>
            <a:r>
              <a:rPr lang="ru-RU" b="1" dirty="0" smtClean="0">
                <a:solidFill>
                  <a:srgbClr val="002060"/>
                </a:solidFill>
                <a:effectLst>
                  <a:outerShdw blurRad="38100" dist="38100" dir="2700000" algn="tl">
                    <a:srgbClr val="000000">
                      <a:alpha val="43137"/>
                    </a:srgbClr>
                  </a:outerShdw>
                </a:effectLst>
              </a:rPr>
              <a:t>Технологии передачи данных в транспортных цифровых сетях связи (ЦСС)</a:t>
            </a: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1143000"/>
          </a:xfrm>
        </p:spPr>
        <p:txBody>
          <a:bodyPr>
            <a:normAutofit/>
          </a:bodyPr>
          <a:lstStyle/>
          <a:p>
            <a:r>
              <a:rPr lang="ru-RU" sz="3600" b="1" dirty="0" smtClean="0">
                <a:solidFill>
                  <a:srgbClr val="002060"/>
                </a:solidFill>
              </a:rPr>
              <a:t>Развитие транспортных сетей</a:t>
            </a:r>
            <a:endParaRPr lang="ru-RU" sz="3600" b="1" dirty="0">
              <a:solidFill>
                <a:srgbClr val="002060"/>
              </a:solidFill>
            </a:endParaRPr>
          </a:p>
        </p:txBody>
      </p:sp>
      <p:pic>
        <p:nvPicPr>
          <p:cNvPr id="4" name="Содержимое 3"/>
          <p:cNvPicPr>
            <a:picLocks noGrp="1"/>
          </p:cNvPicPr>
          <p:nvPr>
            <p:ph idx="1"/>
          </p:nvPr>
        </p:nvPicPr>
        <p:blipFill>
          <a:blip r:embed="rId2" cstate="print"/>
          <a:srcRect l="13911" t="44548" r="9375" b="23250"/>
          <a:stretch>
            <a:fillRect/>
          </a:stretch>
        </p:blipFill>
        <p:spPr bwMode="auto">
          <a:xfrm>
            <a:off x="0" y="1268760"/>
            <a:ext cx="9144000" cy="540060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512" y="72895"/>
            <a:ext cx="8841940" cy="907493"/>
          </a:xfrm>
        </p:spPr>
        <p:txBody>
          <a:bodyPr>
            <a:normAutofit/>
          </a:bodyPr>
          <a:lstStyle/>
          <a:p>
            <a:pPr algn="ctr"/>
            <a:r>
              <a:rPr lang="ru-RU" sz="2400" b="1" dirty="0" smtClean="0">
                <a:solidFill>
                  <a:srgbClr val="002060"/>
                </a:solidFill>
                <a:effectLst>
                  <a:outerShdw blurRad="38100" dist="38100" dir="2700000" algn="tl">
                    <a:srgbClr val="000000">
                      <a:alpha val="43137"/>
                    </a:srgbClr>
                  </a:outerShdw>
                </a:effectLst>
              </a:rPr>
              <a:t>Технологии передачи данных в транспортных цифровых сетях связи (ЦСС)</a:t>
            </a:r>
            <a:endParaRPr lang="ru-RU" sz="2400" b="1" dirty="0">
              <a:solidFill>
                <a:srgbClr val="002060"/>
              </a:solidFill>
              <a:effectLst>
                <a:outerShdw blurRad="38100" dist="38100" dir="2700000" algn="tl">
                  <a:srgbClr val="000000">
                    <a:alpha val="43137"/>
                  </a:srgbClr>
                </a:outerShdw>
              </a:effectLst>
            </a:endParaRPr>
          </a:p>
        </p:txBody>
      </p:sp>
      <p:sp>
        <p:nvSpPr>
          <p:cNvPr id="3" name="TextBox 2"/>
          <p:cNvSpPr txBox="1"/>
          <p:nvPr/>
        </p:nvSpPr>
        <p:spPr>
          <a:xfrm>
            <a:off x="0" y="980388"/>
            <a:ext cx="9144000" cy="5478423"/>
          </a:xfrm>
          <a:prstGeom prst="rect">
            <a:avLst/>
          </a:prstGeom>
          <a:noFill/>
        </p:spPr>
        <p:txBody>
          <a:bodyPr wrap="square" rtlCol="0">
            <a:spAutoFit/>
          </a:bodyPr>
          <a:lstStyle/>
          <a:p>
            <a:pPr>
              <a:spcAft>
                <a:spcPts val="600"/>
              </a:spcAft>
            </a:pPr>
            <a:r>
              <a:rPr lang="ru-RU" sz="2000" dirty="0" smtClean="0"/>
              <a:t>Развития </a:t>
            </a:r>
            <a:r>
              <a:rPr lang="ru-RU" sz="2000" dirty="0"/>
              <a:t>сетевых технологий глобальных сетей позволяет при планировании архитектуры </a:t>
            </a:r>
            <a:r>
              <a:rPr lang="ru-RU" sz="2000" dirty="0" smtClean="0"/>
              <a:t> цифровых </a:t>
            </a:r>
            <a:r>
              <a:rPr lang="ru-RU" sz="2000" dirty="0"/>
              <a:t>транспортных магистральных, ведомственных и корпоративных сетей использовать следующие базовые технологии:</a:t>
            </a:r>
          </a:p>
          <a:p>
            <a:pPr marL="457200" indent="-457200">
              <a:spcAft>
                <a:spcPts val="600"/>
              </a:spcAft>
              <a:buFont typeface="Wingdings" panose="05000000000000000000" pitchFamily="2" charset="2"/>
              <a:buChar char="q"/>
            </a:pPr>
            <a:r>
              <a:rPr lang="ru-RU" sz="2000" b="1" dirty="0" smtClean="0"/>
              <a:t>TCP/IP</a:t>
            </a:r>
            <a:r>
              <a:rPr lang="ru-RU" sz="2000" dirty="0" smtClean="0"/>
              <a:t> </a:t>
            </a:r>
            <a:r>
              <a:rPr lang="ru-RU" sz="2000" dirty="0"/>
              <a:t>– технология сети Интернет, основой которой является стек протоколов TCP/IP или протокол управления передачей/протокол сети Интернет;</a:t>
            </a:r>
          </a:p>
          <a:p>
            <a:pPr marL="457200" indent="-457200">
              <a:spcAft>
                <a:spcPts val="600"/>
              </a:spcAft>
              <a:buFont typeface="Wingdings" panose="05000000000000000000" pitchFamily="2" charset="2"/>
              <a:buChar char="q"/>
            </a:pPr>
            <a:r>
              <a:rPr lang="ru-RU" sz="2000" dirty="0" smtClean="0"/>
              <a:t>АТМ </a:t>
            </a:r>
            <a:r>
              <a:rPr lang="ru-RU" sz="2000" dirty="0"/>
              <a:t>– технология асинхронного режима передачи (переноса);</a:t>
            </a:r>
          </a:p>
          <a:p>
            <a:pPr marL="457200" indent="-457200">
              <a:spcAft>
                <a:spcPts val="600"/>
              </a:spcAft>
              <a:buFont typeface="Wingdings" panose="05000000000000000000" pitchFamily="2" charset="2"/>
              <a:buChar char="q"/>
            </a:pPr>
            <a:r>
              <a:rPr lang="ru-RU" sz="2000" dirty="0" smtClean="0"/>
              <a:t>SDH </a:t>
            </a:r>
            <a:r>
              <a:rPr lang="ru-RU" sz="2000" dirty="0"/>
              <a:t>– технология СЦИ;</a:t>
            </a:r>
          </a:p>
          <a:p>
            <a:pPr marL="457200" indent="-457200">
              <a:spcAft>
                <a:spcPts val="600"/>
              </a:spcAft>
              <a:buFont typeface="Wingdings" panose="05000000000000000000" pitchFamily="2" charset="2"/>
              <a:buChar char="q"/>
            </a:pPr>
            <a:r>
              <a:rPr lang="ru-RU" sz="2000" dirty="0" smtClean="0"/>
              <a:t>WDM </a:t>
            </a:r>
            <a:r>
              <a:rPr lang="ru-RU" sz="2000" dirty="0"/>
              <a:t>– технология волнового мультиплексирования (ВМП);</a:t>
            </a:r>
          </a:p>
          <a:p>
            <a:pPr marL="457200" indent="-457200">
              <a:spcAft>
                <a:spcPts val="600"/>
              </a:spcAft>
              <a:buFont typeface="Wingdings" panose="05000000000000000000" pitchFamily="2" charset="2"/>
              <a:buChar char="q"/>
            </a:pPr>
            <a:r>
              <a:rPr lang="ru-RU" sz="2000" dirty="0" smtClean="0"/>
              <a:t>DWDM </a:t>
            </a:r>
            <a:r>
              <a:rPr lang="ru-RU" sz="2000" dirty="0"/>
              <a:t>– технология плотного волнового мультиплексирования (ПВМП</a:t>
            </a:r>
            <a:r>
              <a:rPr lang="ru-RU" sz="2000" dirty="0" smtClean="0"/>
              <a:t>).</a:t>
            </a:r>
          </a:p>
          <a:p>
            <a:pPr marL="457200" indent="-457200">
              <a:spcAft>
                <a:spcPts val="600"/>
              </a:spcAft>
              <a:buFont typeface="Wingdings" panose="05000000000000000000" pitchFamily="2" charset="2"/>
              <a:buChar char="q"/>
            </a:pPr>
            <a:r>
              <a:rPr lang="ru-RU" sz="2000" b="1" dirty="0" smtClean="0"/>
              <a:t>ОПТИЧЕСКИЕ ТРАНСПОРТНЫЕ СЕТИ (OTN)</a:t>
            </a:r>
          </a:p>
          <a:p>
            <a:pPr marL="457200" indent="-457200">
              <a:spcAft>
                <a:spcPts val="600"/>
              </a:spcAft>
              <a:buFont typeface="Wingdings" panose="05000000000000000000" pitchFamily="2" charset="2"/>
              <a:buChar char="q"/>
            </a:pPr>
            <a:endParaRPr lang="ru-RU" sz="2000" dirty="0" smtClean="0"/>
          </a:p>
          <a:p>
            <a:pPr>
              <a:spcAft>
                <a:spcPts val="600"/>
              </a:spcAft>
            </a:pPr>
            <a:r>
              <a:rPr lang="ru-RU" sz="2000" b="1" dirty="0" smtClean="0"/>
              <a:t>Для </a:t>
            </a:r>
            <a:r>
              <a:rPr lang="ru-RU" sz="2000" b="1" dirty="0"/>
              <a:t>цифровых </a:t>
            </a:r>
            <a:r>
              <a:rPr lang="ru-RU" sz="2000" b="1" dirty="0" err="1"/>
              <a:t>мультисервисных</a:t>
            </a:r>
            <a:r>
              <a:rPr lang="ru-RU" sz="2000" b="1" dirty="0"/>
              <a:t> сетей </a:t>
            </a:r>
            <a:r>
              <a:rPr lang="ru-RU" sz="2000" b="1" dirty="0" smtClean="0"/>
              <a:t>определяющей </a:t>
            </a:r>
            <a:r>
              <a:rPr lang="ru-RU" sz="2000" b="1" dirty="0"/>
              <a:t>будет многослойная архитектура транспортной сети вида IP/ATM/SDH/WDM (DWDM</a:t>
            </a:r>
            <a:r>
              <a:rPr lang="ru-RU" sz="2000" b="1" dirty="0" smtClean="0"/>
              <a:t>).</a:t>
            </a:r>
          </a:p>
          <a:p>
            <a:pPr>
              <a:spcAft>
                <a:spcPts val="600"/>
              </a:spcAft>
            </a:pPr>
            <a:r>
              <a:rPr lang="ru-RU" sz="2000" dirty="0" smtClean="0"/>
              <a:t> </a:t>
            </a:r>
            <a:r>
              <a:rPr lang="ru-RU" sz="2000" dirty="0"/>
              <a:t>Она позволит интегрировать на сетевом уровне базовые сетевые </a:t>
            </a:r>
            <a:r>
              <a:rPr lang="ru-RU" sz="2000" dirty="0" smtClean="0"/>
              <a:t>технологии</a:t>
            </a:r>
          </a:p>
          <a:p>
            <a:pPr>
              <a:spcAft>
                <a:spcPts val="600"/>
              </a:spcAft>
            </a:pPr>
            <a:r>
              <a:rPr lang="ru-RU" sz="2000" dirty="0" smtClean="0"/>
              <a:t> </a:t>
            </a:r>
            <a:r>
              <a:rPr lang="ru-RU" sz="2000" dirty="0"/>
              <a:t>в единую </a:t>
            </a:r>
            <a:r>
              <a:rPr lang="ru-RU" sz="2000" dirty="0" err="1"/>
              <a:t>мультисервисную</a:t>
            </a:r>
            <a:r>
              <a:rPr lang="ru-RU" sz="2000" dirty="0"/>
              <a:t> инфокоммуникационную сеть различного масштаба</a:t>
            </a:r>
            <a:r>
              <a:rPr lang="ru-RU" sz="2000" dirty="0" smtClean="0"/>
              <a:t>.</a:t>
            </a:r>
          </a:p>
        </p:txBody>
      </p:sp>
    </p:spTree>
    <p:extLst>
      <p:ext uri="{BB962C8B-B14F-4D97-AF65-F5344CB8AC3E}">
        <p14:creationId xmlns:p14="http://schemas.microsoft.com/office/powerpoint/2010/main" xmlns="" val="1081377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188640"/>
            <a:ext cx="9144000" cy="6408712"/>
          </a:xfrm>
        </p:spPr>
        <p:txBody>
          <a:bodyPr>
            <a:normAutofit fontScale="90000"/>
          </a:bodyPr>
          <a:lstStyle/>
          <a:p>
            <a:pPr algn="l"/>
            <a:r>
              <a:rPr lang="ru-RU" b="1" dirty="0" smtClean="0">
                <a:solidFill>
                  <a:srgbClr val="002060"/>
                </a:solidFill>
              </a:rPr>
              <a:t/>
            </a:r>
            <a:br>
              <a:rPr lang="ru-RU" b="1" dirty="0" smtClean="0">
                <a:solidFill>
                  <a:srgbClr val="002060"/>
                </a:solidFill>
              </a:rPr>
            </a:br>
            <a:r>
              <a:rPr lang="ru-RU" b="1" dirty="0" smtClean="0">
                <a:solidFill>
                  <a:srgbClr val="002060"/>
                </a:solidFill>
              </a:rPr>
              <a:t/>
            </a:r>
            <a:br>
              <a:rPr lang="ru-RU" b="1" dirty="0" smtClean="0">
                <a:solidFill>
                  <a:srgbClr val="002060"/>
                </a:solidFill>
              </a:rPr>
            </a:br>
            <a:r>
              <a:rPr lang="ru-RU" b="1" dirty="0" smtClean="0">
                <a:solidFill>
                  <a:srgbClr val="002060"/>
                </a:solidFill>
              </a:rPr>
              <a:t/>
            </a:r>
            <a:br>
              <a:rPr lang="ru-RU" b="1" dirty="0" smtClean="0">
                <a:solidFill>
                  <a:srgbClr val="002060"/>
                </a:solidFill>
              </a:rPr>
            </a:br>
            <a:r>
              <a:rPr lang="ru-RU" b="1" dirty="0" smtClean="0">
                <a:solidFill>
                  <a:srgbClr val="002060"/>
                </a:solidFill>
              </a:rPr>
              <a:t/>
            </a:r>
            <a:br>
              <a:rPr lang="ru-RU" b="1" dirty="0" smtClean="0">
                <a:solidFill>
                  <a:srgbClr val="002060"/>
                </a:solidFill>
              </a:rPr>
            </a:br>
            <a:r>
              <a:rPr lang="ru-RU" b="1" dirty="0" smtClean="0">
                <a:solidFill>
                  <a:srgbClr val="002060"/>
                </a:solidFill>
              </a:rPr>
              <a:t/>
            </a:r>
            <a:br>
              <a:rPr lang="ru-RU" b="1" dirty="0" smtClean="0">
                <a:solidFill>
                  <a:srgbClr val="002060"/>
                </a:solidFill>
              </a:rPr>
            </a:br>
            <a:r>
              <a:rPr lang="ru-RU" b="1" dirty="0" smtClean="0">
                <a:solidFill>
                  <a:srgbClr val="002060"/>
                </a:solidFill>
              </a:rPr>
              <a:t/>
            </a:r>
            <a:br>
              <a:rPr lang="ru-RU" b="1" dirty="0" smtClean="0">
                <a:solidFill>
                  <a:srgbClr val="002060"/>
                </a:solidFill>
              </a:rPr>
            </a:br>
            <a:r>
              <a:rPr lang="ru-RU" b="1" dirty="0" smtClean="0">
                <a:solidFill>
                  <a:srgbClr val="002060"/>
                </a:solidFill>
              </a:rPr>
              <a:t/>
            </a:r>
            <a:br>
              <a:rPr lang="ru-RU" b="1" dirty="0" smtClean="0">
                <a:solidFill>
                  <a:srgbClr val="002060"/>
                </a:solidFill>
              </a:rPr>
            </a:br>
            <a:r>
              <a:rPr lang="ru-RU" b="1" dirty="0" smtClean="0">
                <a:solidFill>
                  <a:srgbClr val="002060"/>
                </a:solidFill>
              </a:rPr>
              <a:t>лекция 6.4</a:t>
            </a:r>
            <a:br>
              <a:rPr lang="ru-RU" b="1" dirty="0" smtClean="0">
                <a:solidFill>
                  <a:srgbClr val="002060"/>
                </a:solidFill>
              </a:rPr>
            </a:br>
            <a:r>
              <a:rPr lang="ru-RU" b="1" dirty="0" smtClean="0">
                <a:solidFill>
                  <a:srgbClr val="002060"/>
                </a:solidFill>
              </a:rPr>
              <a:t/>
            </a:r>
            <a:br>
              <a:rPr lang="ru-RU" b="1" dirty="0" smtClean="0">
                <a:solidFill>
                  <a:srgbClr val="002060"/>
                </a:solidFill>
              </a:rPr>
            </a:br>
            <a:r>
              <a:rPr lang="ru-RU" sz="4000" b="1" dirty="0" smtClean="0">
                <a:solidFill>
                  <a:srgbClr val="002060"/>
                </a:solidFill>
              </a:rPr>
              <a:t>4.ОПТИЧЕСКИЕ ТРАНСПОРТНЫЕ СЕТИ (OTN)</a:t>
            </a:r>
            <a:br>
              <a:rPr lang="ru-RU" sz="4000" b="1" dirty="0" smtClean="0">
                <a:solidFill>
                  <a:srgbClr val="002060"/>
                </a:solidFill>
              </a:rPr>
            </a:br>
            <a:r>
              <a:rPr lang="ru-RU" sz="4000" b="1" dirty="0" smtClean="0">
                <a:solidFill>
                  <a:srgbClr val="002060"/>
                </a:solidFill>
              </a:rPr>
              <a:t>    </a:t>
            </a:r>
            <a:r>
              <a:rPr lang="ru-RU" sz="2700" b="1" dirty="0" smtClean="0"/>
              <a:t>4.1 </a:t>
            </a:r>
            <a:r>
              <a:rPr lang="ru-RU" sz="2700" b="1" dirty="0" err="1" smtClean="0"/>
              <a:t>Optical</a:t>
            </a:r>
            <a:r>
              <a:rPr lang="ru-RU" sz="2700" b="1" dirty="0" smtClean="0"/>
              <a:t> </a:t>
            </a:r>
            <a:r>
              <a:rPr lang="ru-RU" sz="2700" b="1" dirty="0" err="1" smtClean="0"/>
              <a:t>Transport</a:t>
            </a:r>
            <a:r>
              <a:rPr lang="ru-RU" sz="2700" b="1" dirty="0" smtClean="0"/>
              <a:t> </a:t>
            </a:r>
            <a:r>
              <a:rPr lang="ru-RU" sz="2700" b="1" dirty="0" err="1" smtClean="0"/>
              <a:t>Network</a:t>
            </a:r>
            <a:r>
              <a:rPr lang="ru-RU" sz="2700" b="1" dirty="0" smtClean="0"/>
              <a:t> (OTN)</a:t>
            </a:r>
            <a:br>
              <a:rPr lang="ru-RU" sz="2700" b="1" dirty="0" smtClean="0"/>
            </a:br>
            <a:r>
              <a:rPr lang="ru-RU" sz="2700" b="1" dirty="0" smtClean="0"/>
              <a:t>      4.1 Значение сетей OTN</a:t>
            </a:r>
            <a:br>
              <a:rPr lang="ru-RU" sz="2700" b="1" dirty="0" smtClean="0"/>
            </a:br>
            <a:r>
              <a:rPr lang="ru-RU" sz="2700" b="1" dirty="0" smtClean="0"/>
              <a:t>      4.2 Основные преимущества сети </a:t>
            </a:r>
            <a:r>
              <a:rPr lang="en-US" sz="2700" b="1" dirty="0" smtClean="0"/>
              <a:t>OTN.</a:t>
            </a:r>
            <a:r>
              <a:rPr lang="ru-RU" sz="2700" b="1" dirty="0" smtClean="0"/>
              <a:t/>
            </a:r>
            <a:br>
              <a:rPr lang="ru-RU" sz="2700" b="1" dirty="0" smtClean="0"/>
            </a:br>
            <a:r>
              <a:rPr lang="ru-RU" sz="2700" b="1" dirty="0" smtClean="0"/>
              <a:t>      4.3 Структура сети OTN.</a:t>
            </a:r>
            <a:r>
              <a:rPr lang="ru-RU" sz="2700" b="1" dirty="0" smtClean="0">
                <a:latin typeface="Calibri" pitchFamily="34" charset="0"/>
              </a:rPr>
              <a:t> Оптический транспортный модуль OTM</a:t>
            </a:r>
            <a:br>
              <a:rPr lang="ru-RU" sz="2700" b="1" dirty="0" smtClean="0">
                <a:latin typeface="Calibri" pitchFamily="34" charset="0"/>
              </a:rPr>
            </a:br>
            <a:r>
              <a:rPr lang="ru-RU" sz="2700" b="1" dirty="0" smtClean="0">
                <a:latin typeface="Calibri" pitchFamily="34" charset="0"/>
              </a:rPr>
              <a:t>      </a:t>
            </a:r>
            <a:r>
              <a:rPr lang="ru-RU" sz="2800" b="1" dirty="0" smtClean="0"/>
              <a:t>4.4. Архитектура </a:t>
            </a:r>
            <a:r>
              <a:rPr lang="en-US" sz="2800" b="1" dirty="0" smtClean="0"/>
              <a:t>OTN</a:t>
            </a:r>
            <a:r>
              <a:rPr lang="ru-RU" sz="2800" b="1" dirty="0" smtClean="0"/>
              <a:t/>
            </a:r>
            <a:br>
              <a:rPr lang="ru-RU" sz="2800" b="1" dirty="0" smtClean="0"/>
            </a:br>
            <a:r>
              <a:rPr lang="ru-RU" sz="2800" b="1" smtClean="0"/>
              <a:t>      </a:t>
            </a:r>
            <a:r>
              <a:rPr lang="ru-RU" sz="2800" b="1" dirty="0" smtClean="0"/>
              <a:t>4.5 Иерархия уплотнения </a:t>
            </a:r>
            <a:r>
              <a:rPr lang="en-US" sz="2800" b="1" dirty="0" smtClean="0"/>
              <a:t>OTN </a:t>
            </a:r>
            <a:r>
              <a:rPr lang="ru-RU" sz="2800" b="1" dirty="0" smtClean="0"/>
              <a:t/>
            </a:r>
            <a:br>
              <a:rPr lang="ru-RU" sz="2800" b="1" dirty="0" smtClean="0"/>
            </a:br>
            <a:r>
              <a:rPr lang="ru-RU" sz="2800" b="1" dirty="0" smtClean="0"/>
              <a:t>     4.6 Основные возможности </a:t>
            </a:r>
            <a:r>
              <a:rPr lang="en-US" sz="2800" b="1" dirty="0" smtClean="0"/>
              <a:t>OTN</a:t>
            </a:r>
            <a:r>
              <a:rPr lang="ru-RU" sz="2800" b="1" dirty="0" smtClean="0"/>
              <a:t/>
            </a:r>
            <a:br>
              <a:rPr lang="ru-RU" sz="2800" b="1" dirty="0" smtClean="0"/>
            </a:br>
            <a:r>
              <a:rPr lang="ru-RU" sz="2800" b="1" dirty="0" smtClean="0"/>
              <a:t>    </a:t>
            </a:r>
            <a:r>
              <a:rPr lang="en-US" sz="2800" b="1" dirty="0" smtClean="0"/>
              <a:t> </a:t>
            </a:r>
            <a:r>
              <a:rPr lang="ru-RU" sz="2800" b="1" dirty="0" smtClean="0"/>
              <a:t>4.7 Основные возможности плоскости управления </a:t>
            </a:r>
            <a:r>
              <a:rPr lang="en-US" sz="2800" b="1" dirty="0" smtClean="0"/>
              <a:t>OTN</a:t>
            </a:r>
            <a:r>
              <a:rPr lang="ru-RU" sz="2800" b="1" dirty="0" smtClean="0"/>
              <a:t> </a:t>
            </a:r>
            <a:r>
              <a:rPr lang="ru-RU" sz="2800" b="1" dirty="0" smtClean="0">
                <a:solidFill>
                  <a:srgbClr val="002060"/>
                </a:solidFill>
              </a:rPr>
              <a:t/>
            </a:r>
            <a:br>
              <a:rPr lang="ru-RU" sz="2800" b="1" dirty="0" smtClean="0">
                <a:solidFill>
                  <a:srgbClr val="002060"/>
                </a:solidFill>
              </a:rPr>
            </a:br>
            <a:r>
              <a:rPr lang="ru-RU" sz="2800" b="1" dirty="0" smtClean="0">
                <a:solidFill>
                  <a:srgbClr val="002060"/>
                </a:solidFill>
              </a:rPr>
              <a:t/>
            </a:r>
            <a:br>
              <a:rPr lang="ru-RU" sz="2800" b="1" dirty="0" smtClean="0">
                <a:solidFill>
                  <a:srgbClr val="002060"/>
                </a:solidFill>
              </a:rPr>
            </a:br>
            <a:r>
              <a:rPr lang="en-US" sz="2800" b="1" dirty="0" smtClean="0">
                <a:solidFill>
                  <a:srgbClr val="002060"/>
                </a:solidFill>
              </a:rPr>
              <a:t> </a:t>
            </a:r>
            <a:r>
              <a:rPr lang="ru-RU" sz="2700" b="1" dirty="0" smtClean="0"/>
              <a:t/>
            </a:r>
            <a:br>
              <a:rPr lang="ru-RU" sz="2700" b="1" dirty="0" smtClean="0"/>
            </a:br>
            <a:r>
              <a:rPr lang="ru-RU" sz="2700" b="1" dirty="0" smtClean="0"/>
              <a:t> </a:t>
            </a:r>
            <a:r>
              <a:rPr lang="ru-RU" sz="4000" b="1" dirty="0" smtClean="0"/>
              <a:t/>
            </a:r>
            <a:br>
              <a:rPr lang="ru-RU" sz="4000" b="1" dirty="0" smtClean="0"/>
            </a:br>
            <a:r>
              <a:rPr lang="ru-RU" sz="4000" b="1" dirty="0" smtClean="0"/>
              <a:t> </a:t>
            </a:r>
            <a:br>
              <a:rPr lang="ru-RU" sz="4000" b="1" dirty="0" smtClean="0"/>
            </a:br>
            <a:r>
              <a:rPr lang="ru-RU" sz="2000" b="1" dirty="0" smtClean="0"/>
              <a:t/>
            </a:r>
            <a:br>
              <a:rPr lang="ru-RU" sz="2000" b="1" dirty="0" smtClean="0"/>
            </a:br>
            <a:r>
              <a:rPr lang="ru-RU" sz="2000" b="1" dirty="0" smtClean="0"/>
              <a:t/>
            </a:r>
            <a:br>
              <a:rPr lang="ru-RU" sz="2000" b="1" dirty="0" smtClean="0"/>
            </a:br>
            <a:r>
              <a:rPr lang="ru-RU" b="1" dirty="0" smtClean="0"/>
              <a:t/>
            </a:r>
            <a:br>
              <a:rPr lang="ru-RU" b="1" dirty="0" smtClean="0"/>
            </a:br>
            <a:r>
              <a:rPr lang="en-US" b="1" dirty="0" smtClean="0">
                <a:solidFill>
                  <a:srgbClr val="002060"/>
                </a:solidFill>
              </a:rPr>
              <a:t/>
            </a:r>
            <a:br>
              <a:rPr lang="en-US" b="1" dirty="0" smtClean="0">
                <a:solidFill>
                  <a:srgbClr val="002060"/>
                </a:solidFill>
              </a:rPr>
            </a:br>
            <a:r>
              <a:rPr lang="ru-RU" b="1" dirty="0" smtClean="0">
                <a:solidFill>
                  <a:srgbClr val="002060"/>
                </a:solidFill>
              </a:rPr>
              <a:t>   </a:t>
            </a:r>
            <a:br>
              <a:rPr lang="ru-RU" b="1" dirty="0" smtClean="0">
                <a:solidFill>
                  <a:srgbClr val="002060"/>
                </a:solidFill>
              </a:rPr>
            </a:br>
            <a:r>
              <a:rPr lang="ru-RU" b="1" dirty="0" smtClean="0">
                <a:solidFill>
                  <a:srgbClr val="002060"/>
                </a:solidFill>
              </a:rPr>
              <a:t/>
            </a:r>
            <a:br>
              <a:rPr lang="ru-RU" b="1" dirty="0" smtClean="0">
                <a:solidFill>
                  <a:srgbClr val="002060"/>
                </a:solidFill>
              </a:rPr>
            </a:br>
            <a:r>
              <a:rPr lang="ru-RU" b="1" dirty="0" smtClean="0">
                <a:solidFill>
                  <a:srgbClr val="002060"/>
                </a:solidFill>
              </a:rPr>
              <a:t/>
            </a:r>
            <a:br>
              <a:rPr lang="ru-RU" b="1" dirty="0" smtClean="0">
                <a:solidFill>
                  <a:srgbClr val="002060"/>
                </a:solidFill>
              </a:rPr>
            </a:br>
            <a:r>
              <a:rPr lang="ru-RU" b="1" dirty="0" smtClean="0">
                <a:solidFill>
                  <a:srgbClr val="002060"/>
                </a:solidFill>
              </a:rPr>
              <a:t>  </a:t>
            </a:r>
            <a:endParaRPr lang="ru-RU" dirty="0">
              <a:solidFill>
                <a:srgbClr val="00206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88640"/>
            <a:ext cx="8229600" cy="576064"/>
          </a:xfrm>
        </p:spPr>
        <p:txBody>
          <a:bodyPr>
            <a:normAutofit fontScale="90000"/>
          </a:bodyPr>
          <a:lstStyle/>
          <a:p>
            <a:r>
              <a:rPr lang="ru-RU" sz="3600" b="1" dirty="0" smtClean="0">
                <a:solidFill>
                  <a:srgbClr val="002060"/>
                </a:solidFill>
              </a:rPr>
              <a:t>4.1 </a:t>
            </a:r>
            <a:r>
              <a:rPr lang="ru-RU" sz="3600" b="1" dirty="0" err="1" smtClean="0">
                <a:solidFill>
                  <a:srgbClr val="002060"/>
                </a:solidFill>
              </a:rPr>
              <a:t>Optical</a:t>
            </a:r>
            <a:r>
              <a:rPr lang="ru-RU" sz="3600" b="1" dirty="0" smtClean="0">
                <a:solidFill>
                  <a:srgbClr val="002060"/>
                </a:solidFill>
              </a:rPr>
              <a:t> </a:t>
            </a:r>
            <a:r>
              <a:rPr lang="ru-RU" sz="3600" b="1" dirty="0" err="1" smtClean="0">
                <a:solidFill>
                  <a:srgbClr val="002060"/>
                </a:solidFill>
              </a:rPr>
              <a:t>Transport</a:t>
            </a:r>
            <a:r>
              <a:rPr lang="ru-RU" sz="3600" b="1" dirty="0" smtClean="0">
                <a:solidFill>
                  <a:srgbClr val="002060"/>
                </a:solidFill>
              </a:rPr>
              <a:t> </a:t>
            </a:r>
            <a:r>
              <a:rPr lang="ru-RU" sz="3600" b="1" dirty="0" err="1" smtClean="0">
                <a:solidFill>
                  <a:srgbClr val="002060"/>
                </a:solidFill>
              </a:rPr>
              <a:t>Network</a:t>
            </a:r>
            <a:r>
              <a:rPr lang="ru-RU" sz="3600" b="1" dirty="0" smtClean="0">
                <a:solidFill>
                  <a:srgbClr val="002060"/>
                </a:solidFill>
              </a:rPr>
              <a:t> (OTN)</a:t>
            </a:r>
          </a:p>
        </p:txBody>
      </p:sp>
      <p:sp>
        <p:nvSpPr>
          <p:cNvPr id="3" name="Содержимое 2"/>
          <p:cNvSpPr>
            <a:spLocks noGrp="1"/>
          </p:cNvSpPr>
          <p:nvPr>
            <p:ph idx="1"/>
          </p:nvPr>
        </p:nvSpPr>
        <p:spPr>
          <a:xfrm>
            <a:off x="0" y="764704"/>
            <a:ext cx="9144000" cy="6093296"/>
          </a:xfrm>
        </p:spPr>
        <p:txBody>
          <a:bodyPr>
            <a:noAutofit/>
          </a:bodyPr>
          <a:lstStyle/>
          <a:p>
            <a:r>
              <a:rPr lang="ru-RU" sz="2400" b="1" dirty="0" smtClean="0"/>
              <a:t>Недостатки систем SDH:</a:t>
            </a:r>
          </a:p>
          <a:p>
            <a:pPr>
              <a:buNone/>
            </a:pPr>
            <a:r>
              <a:rPr lang="ru-RU" sz="2400" dirty="0" smtClean="0"/>
              <a:t>       - </a:t>
            </a:r>
            <a:r>
              <a:rPr lang="ru-RU" sz="2400" b="1" dirty="0" smtClean="0"/>
              <a:t>Слишком «мелкие» единицы </a:t>
            </a:r>
            <a:r>
              <a:rPr lang="ru-RU" sz="2400" dirty="0" smtClean="0"/>
              <a:t>коммутации </a:t>
            </a:r>
            <a:r>
              <a:rPr lang="ru-RU" sz="2400" b="1" dirty="0" smtClean="0"/>
              <a:t>для магистральных сетей, </a:t>
            </a:r>
            <a:r>
              <a:rPr lang="ru-RU" sz="2400" dirty="0" smtClean="0"/>
              <a:t>работающих на </a:t>
            </a:r>
            <a:r>
              <a:rPr lang="ru-RU" sz="2400" b="1" dirty="0" smtClean="0"/>
              <a:t>скоростях 10 и 40 Гбит/с </a:t>
            </a:r>
            <a:r>
              <a:rPr lang="ru-RU" sz="2400" dirty="0" smtClean="0"/>
              <a:t>.</a:t>
            </a:r>
          </a:p>
          <a:p>
            <a:pPr>
              <a:buNone/>
            </a:pPr>
            <a:r>
              <a:rPr lang="ru-RU" sz="2400" dirty="0" smtClean="0"/>
              <a:t>      Даже контейнеры максимального размера VC-4 (140 Мбит/с) являются недостаточно крупной единицей для мультиплексоров STM-256, которые должны коммутировать до 256 контейнеров для каждого своего порта.</a:t>
            </a:r>
          </a:p>
          <a:p>
            <a:pPr>
              <a:buNone/>
            </a:pPr>
            <a:r>
              <a:rPr lang="ru-RU" sz="2400" dirty="0" smtClean="0"/>
              <a:t>     - </a:t>
            </a:r>
            <a:r>
              <a:rPr lang="ru-RU" sz="2400" b="1" dirty="0" smtClean="0"/>
              <a:t>Не учтены особенности трафика различного типа (ПД).</a:t>
            </a:r>
          </a:p>
          <a:p>
            <a:pPr>
              <a:buNone/>
            </a:pPr>
            <a:r>
              <a:rPr lang="ru-RU" sz="2400" dirty="0" smtClean="0"/>
              <a:t>     - Разработчиками </a:t>
            </a:r>
            <a:r>
              <a:rPr lang="ru-RU" sz="2400" b="1" dirty="0" smtClean="0"/>
              <a:t>технологии SDH принимался во внимание только голосовой трафик.</a:t>
            </a:r>
          </a:p>
          <a:p>
            <a:r>
              <a:rPr lang="ru-RU" sz="2400" u="sng" dirty="0" smtClean="0"/>
              <a:t>На преодоление этих недостатков нацелена новая технология </a:t>
            </a:r>
            <a:r>
              <a:rPr lang="ru-RU" sz="2400" b="1" u="sng" dirty="0" smtClean="0"/>
              <a:t>оптических транспортных сетей (</a:t>
            </a:r>
            <a:r>
              <a:rPr lang="ru-RU" sz="2400" b="1" u="sng" dirty="0" err="1" smtClean="0"/>
              <a:t>Optical</a:t>
            </a:r>
            <a:r>
              <a:rPr lang="ru-RU" sz="2400" b="1" u="sng" dirty="0" smtClean="0"/>
              <a:t> </a:t>
            </a:r>
            <a:r>
              <a:rPr lang="ru-RU" sz="2400" b="1" u="sng" dirty="0" err="1" smtClean="0"/>
              <a:t>Transport</a:t>
            </a:r>
            <a:r>
              <a:rPr lang="ru-RU" sz="2400" b="1" u="sng" dirty="0" smtClean="0"/>
              <a:t> </a:t>
            </a:r>
            <a:r>
              <a:rPr lang="ru-RU" sz="2400" b="1" u="sng" dirty="0" err="1" smtClean="0"/>
              <a:t>Network</a:t>
            </a:r>
            <a:r>
              <a:rPr lang="ru-RU" sz="2400" b="1" u="sng" dirty="0" smtClean="0"/>
              <a:t>, OTN).</a:t>
            </a:r>
          </a:p>
          <a:p>
            <a:endParaRPr lang="ru-RU"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634082"/>
          </a:xfrm>
        </p:spPr>
        <p:txBody>
          <a:bodyPr>
            <a:noAutofit/>
          </a:bodyPr>
          <a:lstStyle/>
          <a:p>
            <a:r>
              <a:rPr lang="ru-RU" sz="3600" b="1" dirty="0" smtClean="0">
                <a:solidFill>
                  <a:srgbClr val="002060"/>
                </a:solidFill>
              </a:rPr>
              <a:t>4.1 </a:t>
            </a:r>
            <a:r>
              <a:rPr lang="ru-RU" sz="3600" b="1" dirty="0" err="1" smtClean="0">
                <a:solidFill>
                  <a:srgbClr val="002060"/>
                </a:solidFill>
              </a:rPr>
              <a:t>Optical</a:t>
            </a:r>
            <a:r>
              <a:rPr lang="ru-RU" sz="3600" b="1" dirty="0" smtClean="0">
                <a:solidFill>
                  <a:srgbClr val="002060"/>
                </a:solidFill>
              </a:rPr>
              <a:t> </a:t>
            </a:r>
            <a:r>
              <a:rPr lang="ru-RU" sz="3600" b="1" dirty="0" err="1" smtClean="0">
                <a:solidFill>
                  <a:srgbClr val="002060"/>
                </a:solidFill>
              </a:rPr>
              <a:t>Transport</a:t>
            </a:r>
            <a:r>
              <a:rPr lang="ru-RU" sz="3600" b="1" dirty="0" smtClean="0">
                <a:solidFill>
                  <a:srgbClr val="002060"/>
                </a:solidFill>
              </a:rPr>
              <a:t> </a:t>
            </a:r>
            <a:r>
              <a:rPr lang="ru-RU" sz="3600" b="1" dirty="0" err="1" smtClean="0">
                <a:solidFill>
                  <a:srgbClr val="002060"/>
                </a:solidFill>
              </a:rPr>
              <a:t>Network</a:t>
            </a:r>
            <a:r>
              <a:rPr lang="ru-RU" sz="3600" b="1" dirty="0" smtClean="0">
                <a:solidFill>
                  <a:srgbClr val="002060"/>
                </a:solidFill>
              </a:rPr>
              <a:t> (OTN)</a:t>
            </a:r>
            <a:endParaRPr lang="ru-RU" sz="3600" dirty="0"/>
          </a:p>
        </p:txBody>
      </p:sp>
      <p:sp>
        <p:nvSpPr>
          <p:cNvPr id="3" name="Содержимое 2"/>
          <p:cNvSpPr>
            <a:spLocks noGrp="1"/>
          </p:cNvSpPr>
          <p:nvPr>
            <p:ph idx="1"/>
          </p:nvPr>
        </p:nvSpPr>
        <p:spPr>
          <a:xfrm>
            <a:off x="0" y="836712"/>
            <a:ext cx="9144000" cy="6021288"/>
          </a:xfrm>
        </p:spPr>
        <p:txBody>
          <a:bodyPr>
            <a:noAutofit/>
          </a:bodyPr>
          <a:lstStyle/>
          <a:p>
            <a:r>
              <a:rPr lang="ru-RU" sz="2000" b="1" dirty="0" smtClean="0"/>
              <a:t>Изначально OTN служила:</a:t>
            </a:r>
          </a:p>
          <a:p>
            <a:pPr>
              <a:buNone/>
            </a:pPr>
            <a:r>
              <a:rPr lang="ru-RU" sz="2000" b="1" dirty="0" smtClean="0"/>
              <a:t>   1.В качестве оптической магистральной сети для полезных нагрузок SDH:</a:t>
            </a:r>
          </a:p>
          <a:p>
            <a:pPr>
              <a:buNone/>
            </a:pPr>
            <a:r>
              <a:rPr lang="ru-RU" sz="2000" dirty="0" smtClean="0"/>
              <a:t>   -  расширенных функций эксплуатации, администрирования, </a:t>
            </a:r>
          </a:p>
          <a:p>
            <a:pPr>
              <a:buNone/>
            </a:pPr>
            <a:r>
              <a:rPr lang="ru-RU" sz="2000" dirty="0" smtClean="0"/>
              <a:t>      технического обслуживания (OAM),</a:t>
            </a:r>
          </a:p>
          <a:p>
            <a:pPr>
              <a:buNone/>
            </a:pPr>
            <a:r>
              <a:rPr lang="ru-RU" sz="2000" dirty="0" smtClean="0"/>
              <a:t>    - функций управления отказами, конфигурацией, производительностью,</a:t>
            </a:r>
          </a:p>
          <a:p>
            <a:pPr>
              <a:buNone/>
            </a:pPr>
            <a:r>
              <a:rPr lang="ru-RU" sz="2000" dirty="0" smtClean="0"/>
              <a:t>    -  безопасностью и функций учета для таких полезных нагрузок, </a:t>
            </a:r>
          </a:p>
          <a:p>
            <a:pPr>
              <a:buNone/>
            </a:pPr>
            <a:r>
              <a:rPr lang="ru-RU" sz="2000" dirty="0" smtClean="0"/>
              <a:t>        как </a:t>
            </a:r>
            <a:r>
              <a:rPr lang="ru-RU" sz="2000" dirty="0" err="1" smtClean="0"/>
              <a:t>Ethernet</a:t>
            </a:r>
            <a:r>
              <a:rPr lang="ru-RU" sz="2000" dirty="0" smtClean="0"/>
              <a:t>, цифровое видео.</a:t>
            </a:r>
            <a:endParaRPr lang="en-US" sz="2000" dirty="0" smtClean="0"/>
          </a:p>
          <a:p>
            <a:pPr>
              <a:buNone/>
            </a:pPr>
            <a:r>
              <a:rPr lang="ru-RU" sz="2000" b="1" dirty="0" smtClean="0"/>
              <a:t>   2. В сетях WDM технология OTN обеспечивает надежные функции:</a:t>
            </a:r>
          </a:p>
          <a:p>
            <a:pPr>
              <a:buNone/>
            </a:pPr>
            <a:r>
              <a:rPr lang="ru-RU" sz="2000" b="1" dirty="0" smtClean="0"/>
              <a:t>      - </a:t>
            </a:r>
            <a:r>
              <a:rPr lang="ru-RU" sz="2000" dirty="0" smtClean="0"/>
              <a:t>эксплуатации, администрирования и технического обслуживания,  </a:t>
            </a:r>
          </a:p>
          <a:p>
            <a:pPr>
              <a:buNone/>
            </a:pPr>
            <a:r>
              <a:rPr lang="ru-RU" sz="2000" dirty="0" smtClean="0"/>
              <a:t>      - обнаружение сбоев,  прямое исправление ошибок (FEC),</a:t>
            </a:r>
          </a:p>
          <a:p>
            <a:pPr>
              <a:buNone/>
            </a:pPr>
            <a:r>
              <a:rPr lang="ru-RU" sz="2000" dirty="0" smtClean="0"/>
              <a:t>     -  встроенные каналы связи, измерение времени задержки,</a:t>
            </a:r>
          </a:p>
          <a:p>
            <a:pPr>
              <a:buNone/>
            </a:pPr>
            <a:r>
              <a:rPr lang="ru-RU" sz="2000" dirty="0" smtClean="0"/>
              <a:t>    -  а также стандартную структуру согласования для объединения небольших потоков данных в высокоскоростную полезную нагрузку. </a:t>
            </a:r>
          </a:p>
          <a:p>
            <a:pPr>
              <a:buNone/>
            </a:pPr>
            <a:endParaRPr lang="ru-RU" sz="2000"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692696"/>
          </a:xfrm>
        </p:spPr>
        <p:txBody>
          <a:bodyPr>
            <a:normAutofit/>
          </a:bodyPr>
          <a:lstStyle/>
          <a:p>
            <a:r>
              <a:rPr lang="ru-RU" sz="3600" b="1" dirty="0" smtClean="0">
                <a:solidFill>
                  <a:srgbClr val="002060"/>
                </a:solidFill>
              </a:rPr>
              <a:t>4.1 Предпосылки возникновения OTN </a:t>
            </a:r>
            <a:endParaRPr lang="ru-RU" sz="3600" b="1" dirty="0">
              <a:solidFill>
                <a:srgbClr val="002060"/>
              </a:solidFill>
            </a:endParaRPr>
          </a:p>
        </p:txBody>
      </p:sp>
      <p:sp>
        <p:nvSpPr>
          <p:cNvPr id="3" name="Содержимое 2"/>
          <p:cNvSpPr>
            <a:spLocks noGrp="1"/>
          </p:cNvSpPr>
          <p:nvPr>
            <p:ph idx="1"/>
          </p:nvPr>
        </p:nvSpPr>
        <p:spPr>
          <a:xfrm>
            <a:off x="0" y="692696"/>
            <a:ext cx="9144000" cy="6165304"/>
          </a:xfrm>
        </p:spPr>
        <p:txBody>
          <a:bodyPr>
            <a:normAutofit fontScale="47500" lnSpcReduction="20000"/>
          </a:bodyPr>
          <a:lstStyle/>
          <a:p>
            <a:r>
              <a:rPr lang="ru-RU" sz="5500" dirty="0" smtClean="0"/>
              <a:t>Исторически сложилось так, что технология SONET\SDH наиболее полно отвечала запросам операторов. </a:t>
            </a:r>
            <a:r>
              <a:rPr lang="ru-RU" sz="5500" b="1" dirty="0" smtClean="0"/>
              <a:t>На лидирующие позиции данную технологию выводили факторы высокой надежности и управляемости, возможность передачи разнородного трафика,</a:t>
            </a:r>
            <a:r>
              <a:rPr lang="ru-RU" sz="5500" dirty="0" smtClean="0"/>
              <a:t> включая, такие технологии как: </a:t>
            </a:r>
            <a:r>
              <a:rPr lang="ru-RU" sz="5500" b="1" dirty="0" err="1" smtClean="0"/>
              <a:t>Ethernet</a:t>
            </a:r>
            <a:r>
              <a:rPr lang="ru-RU" sz="5500" b="1" dirty="0" smtClean="0"/>
              <a:t>, IP и GFP.</a:t>
            </a:r>
          </a:p>
          <a:p>
            <a:r>
              <a:rPr lang="ru-RU" sz="5500" b="1" dirty="0" smtClean="0"/>
              <a:t>Появление «уплотняющей» технологии DWDM в оптоволоконной сети позволила увеличить один из ключевых параметров существующих волокон - полосу пропускания</a:t>
            </a:r>
            <a:r>
              <a:rPr lang="ru-RU" sz="5500" dirty="0" smtClean="0"/>
              <a:t>. </a:t>
            </a:r>
          </a:p>
          <a:p>
            <a:r>
              <a:rPr lang="ru-RU" sz="6200" i="1" u="sng" dirty="0" smtClean="0"/>
              <a:t>Однако появилась другая проблема </a:t>
            </a:r>
            <a:r>
              <a:rPr lang="ru-RU" sz="6200" u="sng" dirty="0" smtClean="0"/>
              <a:t>– управляемость трафика</a:t>
            </a:r>
            <a:r>
              <a:rPr lang="ru-RU" sz="5500" dirty="0" smtClean="0"/>
              <a:t>.</a:t>
            </a:r>
          </a:p>
          <a:p>
            <a:pPr>
              <a:buNone/>
            </a:pPr>
            <a:r>
              <a:rPr lang="ru-RU" sz="5500" dirty="0" smtClean="0"/>
              <a:t>    </a:t>
            </a:r>
            <a:r>
              <a:rPr lang="ru-RU" sz="5500" b="1" dirty="0" smtClean="0"/>
              <a:t>Существующие стандартные системы DWDM имеют ограниченные возможности управления интегральным многоканальным сигналом</a:t>
            </a:r>
            <a:r>
              <a:rPr lang="ru-RU" sz="5500" dirty="0" smtClean="0"/>
              <a:t>, требуют значительных дополнительных усилий и средств для детального контроля передаваемого потока.</a:t>
            </a:r>
          </a:p>
          <a:p>
            <a:endParaRPr lang="ru-R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9144000" cy="490066"/>
          </a:xfrm>
        </p:spPr>
        <p:txBody>
          <a:bodyPr>
            <a:normAutofit fontScale="90000"/>
          </a:bodyPr>
          <a:lstStyle/>
          <a:p>
            <a:r>
              <a:rPr lang="ru-RU" b="1" dirty="0" smtClean="0">
                <a:solidFill>
                  <a:srgbClr val="002060"/>
                </a:solidFill>
              </a:rPr>
              <a:t>4.1 Предпосылки возникновения OTN </a:t>
            </a:r>
            <a:endParaRPr lang="ru-RU" dirty="0"/>
          </a:p>
        </p:txBody>
      </p:sp>
      <p:sp>
        <p:nvSpPr>
          <p:cNvPr id="3" name="Содержимое 2"/>
          <p:cNvSpPr>
            <a:spLocks noGrp="1"/>
          </p:cNvSpPr>
          <p:nvPr>
            <p:ph idx="1"/>
          </p:nvPr>
        </p:nvSpPr>
        <p:spPr>
          <a:xfrm>
            <a:off x="251520" y="836712"/>
            <a:ext cx="8712968" cy="5832648"/>
          </a:xfrm>
        </p:spPr>
        <p:txBody>
          <a:bodyPr>
            <a:normAutofit fontScale="92500" lnSpcReduction="10000"/>
          </a:bodyPr>
          <a:lstStyle/>
          <a:p>
            <a:r>
              <a:rPr lang="ru-RU" b="1" dirty="0" smtClean="0"/>
              <a:t>Появление Оптической Транспортной Сети (OTN) позволило успешно совместить:</a:t>
            </a:r>
          </a:p>
          <a:p>
            <a:pPr>
              <a:buNone/>
            </a:pPr>
            <a:r>
              <a:rPr lang="ru-RU" b="1" dirty="0" smtClean="0"/>
              <a:t>       - </a:t>
            </a:r>
            <a:r>
              <a:rPr lang="ru-RU" dirty="0" smtClean="0"/>
              <a:t>гибкость и надежность технологии SONET\SDH </a:t>
            </a:r>
          </a:p>
          <a:p>
            <a:pPr>
              <a:buNone/>
            </a:pPr>
            <a:r>
              <a:rPr lang="ru-RU" dirty="0" smtClean="0"/>
              <a:t>       - с широкой пропускной способностью,   </a:t>
            </a:r>
          </a:p>
          <a:p>
            <a:pPr>
              <a:buNone/>
            </a:pPr>
            <a:r>
              <a:rPr lang="ru-RU" dirty="0" smtClean="0"/>
              <a:t>         гарантируемой системами DWDM.</a:t>
            </a:r>
          </a:p>
          <a:p>
            <a:pPr>
              <a:buNone/>
            </a:pPr>
            <a:r>
              <a:rPr lang="ru-RU" dirty="0" smtClean="0"/>
              <a:t>       -  сеть OTN позволяет применить лучшие черты технологии SONET/SDH –это   управляемость, возможность администрирования, расширяемость и надежность (OAM&amp;P)  к DWDM сетям. </a:t>
            </a:r>
          </a:p>
          <a:p>
            <a:r>
              <a:rPr lang="ru-RU" dirty="0" smtClean="0"/>
              <a:t> Подобная структура сети описана в рекомендации: ITU-T G.709 (OTN).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764704"/>
          </a:xfrm>
        </p:spPr>
        <p:txBody>
          <a:bodyPr>
            <a:noAutofit/>
          </a:bodyPr>
          <a:lstStyle/>
          <a:p>
            <a:pPr algn="l"/>
            <a:r>
              <a:rPr lang="ru-RU" sz="2400" b="1" dirty="0" smtClean="0">
                <a:solidFill>
                  <a:srgbClr val="002060"/>
                </a:solidFill>
              </a:rPr>
              <a:t/>
            </a:r>
            <a:br>
              <a:rPr lang="ru-RU" sz="2400" b="1" dirty="0" smtClean="0">
                <a:solidFill>
                  <a:srgbClr val="002060"/>
                </a:solidFill>
              </a:rPr>
            </a:br>
            <a:r>
              <a:rPr lang="ru-RU" sz="2400" b="1" dirty="0" smtClean="0">
                <a:solidFill>
                  <a:srgbClr val="002060"/>
                </a:solidFill>
              </a:rPr>
              <a:t>4.1 ОПТИЧЕСКИЕ ТРАНСПОРТНЫЕ СЕТИ (OTN). </a:t>
            </a:r>
            <a:r>
              <a:rPr lang="ru-RU" sz="2800" b="1" dirty="0" smtClean="0">
                <a:solidFill>
                  <a:srgbClr val="002060"/>
                </a:solidFill>
              </a:rPr>
              <a:t>Применение</a:t>
            </a:r>
            <a:endParaRPr lang="ru-RU" sz="2800" dirty="0"/>
          </a:p>
        </p:txBody>
      </p:sp>
      <p:sp>
        <p:nvSpPr>
          <p:cNvPr id="3" name="Содержимое 2"/>
          <p:cNvSpPr>
            <a:spLocks noGrp="1"/>
          </p:cNvSpPr>
          <p:nvPr>
            <p:ph idx="1"/>
          </p:nvPr>
        </p:nvSpPr>
        <p:spPr>
          <a:xfrm>
            <a:off x="0" y="836712"/>
            <a:ext cx="9144000" cy="6021288"/>
          </a:xfrm>
        </p:spPr>
        <p:txBody>
          <a:bodyPr>
            <a:normAutofit fontScale="25000" lnSpcReduction="20000"/>
          </a:bodyPr>
          <a:lstStyle/>
          <a:p>
            <a:r>
              <a:rPr lang="ru-RU" sz="7200" b="1" dirty="0" smtClean="0"/>
              <a:t>      </a:t>
            </a:r>
            <a:r>
              <a:rPr lang="ru-RU" sz="8000" b="1" dirty="0" smtClean="0"/>
              <a:t>Используемые в OTN:</a:t>
            </a:r>
          </a:p>
          <a:p>
            <a:pPr>
              <a:buNone/>
            </a:pPr>
            <a:r>
              <a:rPr lang="ru-RU" sz="8000" b="1" dirty="0" smtClean="0"/>
              <a:t>             - технологии и принципы построения, </a:t>
            </a:r>
          </a:p>
          <a:p>
            <a:pPr>
              <a:buNone/>
            </a:pPr>
            <a:r>
              <a:rPr lang="ru-RU" sz="8000" b="1" dirty="0" smtClean="0"/>
              <a:t>             - высокое качество производства, тщательное  тестирование </a:t>
            </a:r>
          </a:p>
          <a:p>
            <a:pPr>
              <a:buNone/>
            </a:pPr>
            <a:r>
              <a:rPr lang="ru-RU" sz="8000" b="1" dirty="0" smtClean="0"/>
              <a:t>делают возможным </a:t>
            </a:r>
            <a:r>
              <a:rPr lang="ru-RU" sz="8000" b="1" u="sng" dirty="0" smtClean="0"/>
              <a:t>применение OTN на </a:t>
            </a:r>
            <a:r>
              <a:rPr lang="ru-RU" sz="8000" b="1" dirty="0" smtClean="0"/>
              <a:t>таких критичных к сбоям объектах, как </a:t>
            </a:r>
          </a:p>
          <a:p>
            <a:pPr>
              <a:buNone/>
            </a:pPr>
            <a:r>
              <a:rPr lang="ru-RU" sz="8000" b="1" dirty="0" smtClean="0"/>
              <a:t>            -  аэропорты,  железные дороги, метро, </a:t>
            </a:r>
          </a:p>
          <a:p>
            <a:pPr>
              <a:buNone/>
            </a:pPr>
            <a:r>
              <a:rPr lang="ru-RU" sz="8000" b="1" dirty="0" smtClean="0"/>
              <a:t>            -   </a:t>
            </a:r>
            <a:r>
              <a:rPr lang="ru-RU" sz="8000" b="1" dirty="0" err="1" smtClean="0"/>
              <a:t>нефте</a:t>
            </a:r>
            <a:r>
              <a:rPr lang="ru-RU" sz="8000" b="1" dirty="0" smtClean="0"/>
              <a:t>- и газопроводы, автомагистрали и туннели,</a:t>
            </a:r>
          </a:p>
          <a:p>
            <a:pPr>
              <a:buNone/>
            </a:pPr>
            <a:r>
              <a:rPr lang="ru-RU" sz="8000" b="1" dirty="0" smtClean="0"/>
              <a:t>            -  крупные промышленные предприятия</a:t>
            </a:r>
            <a:r>
              <a:rPr lang="ru-RU" sz="8000" dirty="0" smtClean="0"/>
              <a:t>. </a:t>
            </a:r>
          </a:p>
          <a:p>
            <a:r>
              <a:rPr lang="ru-RU" sz="8000" dirty="0" smtClean="0"/>
              <a:t>      </a:t>
            </a:r>
            <a:r>
              <a:rPr lang="ru-RU" sz="8000" b="1" dirty="0" smtClean="0">
                <a:effectLst>
                  <a:outerShdw blurRad="38100" dist="38100" dir="2700000" algn="tl">
                    <a:srgbClr val="000000">
                      <a:alpha val="43137"/>
                    </a:srgbClr>
                  </a:outerShdw>
                </a:effectLst>
              </a:rPr>
              <a:t>Изначально OTN разрабатывалась для применения в военных целях</a:t>
            </a:r>
            <a:r>
              <a:rPr lang="ru-RU" sz="8000" dirty="0" smtClean="0"/>
              <a:t>. </a:t>
            </a:r>
          </a:p>
          <a:p>
            <a:pPr>
              <a:buNone/>
            </a:pPr>
            <a:r>
              <a:rPr lang="ru-RU" sz="8000" dirty="0" smtClean="0"/>
              <a:t>      Именно поэтому в ней заложены </a:t>
            </a:r>
            <a:r>
              <a:rPr lang="ru-RU" sz="8000" b="1" dirty="0" smtClean="0"/>
              <a:t>многие </a:t>
            </a:r>
            <a:r>
              <a:rPr lang="ru-RU" sz="8000" b="1" i="1" dirty="0" smtClean="0"/>
              <a:t>специфичные функции</a:t>
            </a:r>
            <a:r>
              <a:rPr lang="ru-RU" sz="8000" b="1" dirty="0" smtClean="0"/>
              <a:t>: </a:t>
            </a:r>
          </a:p>
          <a:p>
            <a:pPr>
              <a:buNone/>
            </a:pPr>
            <a:r>
              <a:rPr lang="ru-RU" sz="8000" dirty="0" smtClean="0"/>
              <a:t>        -  модульность построения,</a:t>
            </a:r>
          </a:p>
          <a:p>
            <a:pPr>
              <a:buNone/>
            </a:pPr>
            <a:r>
              <a:rPr lang="ru-RU" sz="8000" dirty="0" smtClean="0"/>
              <a:t>        - независимость от программного обеспечения,</a:t>
            </a:r>
          </a:p>
          <a:p>
            <a:pPr>
              <a:buNone/>
            </a:pPr>
            <a:r>
              <a:rPr lang="ru-RU" sz="8000" dirty="0" smtClean="0"/>
              <a:t>       - возможность конфигурирования системы в режиме </a:t>
            </a:r>
            <a:r>
              <a:rPr lang="ru-RU" sz="8000" dirty="0" err="1" smtClean="0"/>
              <a:t>офлайн</a:t>
            </a:r>
            <a:r>
              <a:rPr lang="ru-RU" sz="8000" dirty="0" smtClean="0"/>
              <a:t>, </a:t>
            </a:r>
          </a:p>
          <a:p>
            <a:pPr>
              <a:buNone/>
            </a:pPr>
            <a:r>
              <a:rPr lang="ru-RU" sz="8000" dirty="0" smtClean="0"/>
              <a:t>       - пониженные требования к условиям окружающей среды,</a:t>
            </a:r>
          </a:p>
          <a:p>
            <a:pPr>
              <a:buNone/>
            </a:pPr>
            <a:r>
              <a:rPr lang="ru-RU" sz="8000" dirty="0" smtClean="0"/>
              <a:t>       - отсутствие центральных узлов,</a:t>
            </a:r>
          </a:p>
          <a:p>
            <a:pPr>
              <a:buNone/>
            </a:pPr>
            <a:r>
              <a:rPr lang="ru-RU" sz="8000" dirty="0" smtClean="0"/>
              <a:t>      -  конфигурирование и администрирование с любого узла сети,</a:t>
            </a:r>
          </a:p>
          <a:p>
            <a:pPr>
              <a:buNone/>
            </a:pPr>
            <a:r>
              <a:rPr lang="ru-RU" sz="8000" dirty="0" smtClean="0"/>
              <a:t>      -  замена интерфейсных модулей без выключения узла,</a:t>
            </a:r>
          </a:p>
          <a:p>
            <a:pPr>
              <a:buNone/>
            </a:pPr>
            <a:r>
              <a:rPr lang="ru-RU" sz="8000" dirty="0" smtClean="0"/>
              <a:t>      -  включение/выключение интерфейсных модулей при помощи тумблера</a:t>
            </a:r>
          </a:p>
          <a:p>
            <a:pPr>
              <a:buNone/>
            </a:pPr>
            <a:r>
              <a:rPr lang="ru-RU" sz="8000" dirty="0" smtClean="0"/>
              <a:t>             (не программно), </a:t>
            </a:r>
          </a:p>
          <a:p>
            <a:pPr>
              <a:buNone/>
            </a:pPr>
            <a:r>
              <a:rPr lang="ru-RU" sz="8000" dirty="0" smtClean="0"/>
              <a:t>      - самовосстановление системы после включения электропитания и многое другое. </a:t>
            </a:r>
          </a:p>
          <a:p>
            <a:pPr>
              <a:buNone/>
            </a:pPr>
            <a:endParaRPr lang="ru-RU" sz="7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764704"/>
          </a:xfrm>
        </p:spPr>
        <p:txBody>
          <a:bodyPr>
            <a:normAutofit/>
          </a:bodyPr>
          <a:lstStyle/>
          <a:p>
            <a:r>
              <a:rPr lang="ru-RU" sz="3600" b="1" dirty="0" smtClean="0">
                <a:solidFill>
                  <a:srgbClr val="002060"/>
                </a:solidFill>
              </a:rPr>
              <a:t>4.1 ОПТИЧЕСКИЕ ТРАНСПОРТНЫЕ СЕТИ (OTN) </a:t>
            </a:r>
            <a:endParaRPr lang="ru-RU" sz="3600" dirty="0">
              <a:solidFill>
                <a:srgbClr val="002060"/>
              </a:solidFill>
            </a:endParaRPr>
          </a:p>
        </p:txBody>
      </p:sp>
      <p:sp>
        <p:nvSpPr>
          <p:cNvPr id="3" name="Содержимое 2"/>
          <p:cNvSpPr>
            <a:spLocks noGrp="1"/>
          </p:cNvSpPr>
          <p:nvPr>
            <p:ph idx="1"/>
          </p:nvPr>
        </p:nvSpPr>
        <p:spPr>
          <a:xfrm>
            <a:off x="0" y="620688"/>
            <a:ext cx="9144000" cy="6237312"/>
          </a:xfrm>
        </p:spPr>
        <p:txBody>
          <a:bodyPr>
            <a:noAutofit/>
          </a:bodyPr>
          <a:lstStyle/>
          <a:p>
            <a:r>
              <a:rPr lang="ru-RU" sz="2400" b="1" dirty="0" smtClean="0"/>
              <a:t>          </a:t>
            </a:r>
            <a:r>
              <a:rPr lang="ru-RU" sz="2400" dirty="0" smtClean="0"/>
              <a:t>В настоящее время происходит </a:t>
            </a:r>
            <a:r>
              <a:rPr lang="ru-RU" sz="2400" b="1" dirty="0" smtClean="0"/>
              <a:t>быстрое развитие отрасли </a:t>
            </a:r>
            <a:r>
              <a:rPr lang="ru-RU" sz="2400" b="1" dirty="0" err="1" smtClean="0"/>
              <a:t>инфокоммуникаций</a:t>
            </a:r>
            <a:r>
              <a:rPr lang="ru-RU" sz="2400" b="1" dirty="0" smtClean="0"/>
              <a:t> и сетей операторов связи,</a:t>
            </a:r>
            <a:r>
              <a:rPr lang="ru-RU" sz="2400" dirty="0" smtClean="0"/>
              <a:t> которым приходится  </a:t>
            </a:r>
            <a:r>
              <a:rPr lang="ru-RU" sz="2400" b="1" dirty="0" smtClean="0"/>
              <a:t>решать проблему резкого увеличения цифрового трафика,  с</a:t>
            </a:r>
            <a:r>
              <a:rPr lang="ru-RU" sz="2400" dirty="0" smtClean="0"/>
              <a:t>вязанного с развитием мультимедийных, мобильных и облачных приложений, социальных сетей,  IP-телефонии и прочих приложений, </a:t>
            </a:r>
            <a:r>
              <a:rPr lang="ru-RU" sz="2400" b="1" dirty="0" smtClean="0"/>
              <a:t>требующих высокой скорости передачи</a:t>
            </a:r>
            <a:r>
              <a:rPr lang="ru-RU" sz="2400" dirty="0" smtClean="0"/>
              <a:t>. </a:t>
            </a:r>
          </a:p>
          <a:p>
            <a:r>
              <a:rPr lang="ru-RU" sz="2400" dirty="0" smtClean="0"/>
              <a:t>      Сетевые технологии предыдущих поколений, например SDH не были предназначены для передачи трафика на основе </a:t>
            </a:r>
          </a:p>
          <a:p>
            <a:pPr>
              <a:buNone/>
            </a:pPr>
            <a:r>
              <a:rPr lang="ru-RU" sz="2400" dirty="0" smtClean="0"/>
              <a:t>     пакетов со скоростью 40 Гбит/с  и выше.</a:t>
            </a:r>
          </a:p>
          <a:p>
            <a:r>
              <a:rPr lang="ru-RU" sz="2400" dirty="0" smtClean="0"/>
              <a:t>      Разработали </a:t>
            </a:r>
            <a:r>
              <a:rPr lang="ru-RU" sz="2400" dirty="0" smtClean="0">
                <a:effectLst>
                  <a:outerShdw blurRad="38100" dist="38100" dir="2700000" algn="tl">
                    <a:srgbClr val="000000">
                      <a:alpha val="43137"/>
                    </a:srgbClr>
                  </a:outerShdw>
                </a:effectLst>
              </a:rPr>
              <a:t>оптическую транспортную сеть (OTN),</a:t>
            </a:r>
            <a:r>
              <a:rPr lang="ru-RU" sz="2400" dirty="0" smtClean="0"/>
              <a:t> которая описана в стандарте G.709 Международного союза электросвязи (ITU).</a:t>
            </a:r>
          </a:p>
          <a:p>
            <a:r>
              <a:rPr lang="ru-RU" sz="2400" dirty="0" smtClean="0"/>
              <a:t>      </a:t>
            </a:r>
            <a:r>
              <a:rPr lang="ru-RU" sz="2400" dirty="0" smtClean="0">
                <a:effectLst>
                  <a:outerShdw blurRad="38100" dist="38100" dir="2700000" algn="tl">
                    <a:srgbClr val="000000">
                      <a:alpha val="43137"/>
                    </a:srgbClr>
                  </a:outerShdw>
                </a:effectLst>
              </a:rPr>
              <a:t>Сеть OTN, которую часто называют «цифровая упаковка», </a:t>
            </a:r>
            <a:r>
              <a:rPr lang="ru-RU" sz="2400" dirty="0" smtClean="0"/>
              <a:t>позволяет прозрачно передавать по одной длине волны сигнал одного или нескольких сервисов.</a:t>
            </a:r>
          </a:p>
          <a:p>
            <a:pPr>
              <a:buNone/>
            </a:pPr>
            <a:r>
              <a:rPr lang="ru-RU" sz="2400" dirty="0" smtClean="0"/>
              <a:t>          </a:t>
            </a:r>
            <a:endParaRPr lang="ru-RU"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9144000" cy="706090"/>
          </a:xfrm>
        </p:spPr>
        <p:txBody>
          <a:bodyPr>
            <a:normAutofit fontScale="90000"/>
          </a:bodyPr>
          <a:lstStyle/>
          <a:p>
            <a:r>
              <a:rPr lang="ru-RU" b="1" dirty="0" smtClean="0">
                <a:solidFill>
                  <a:srgbClr val="002060"/>
                </a:solidFill>
              </a:rPr>
              <a:t>4.1 </a:t>
            </a:r>
            <a:r>
              <a:rPr lang="ru-RU" b="1" dirty="0" err="1" smtClean="0">
                <a:solidFill>
                  <a:srgbClr val="002060"/>
                </a:solidFill>
              </a:rPr>
              <a:t>Optical</a:t>
            </a:r>
            <a:r>
              <a:rPr lang="ru-RU" b="1" dirty="0" smtClean="0">
                <a:solidFill>
                  <a:srgbClr val="002060"/>
                </a:solidFill>
              </a:rPr>
              <a:t> </a:t>
            </a:r>
            <a:r>
              <a:rPr lang="ru-RU" b="1" dirty="0" err="1" smtClean="0">
                <a:solidFill>
                  <a:srgbClr val="002060"/>
                </a:solidFill>
              </a:rPr>
              <a:t>Transport</a:t>
            </a:r>
            <a:r>
              <a:rPr lang="ru-RU" b="1" dirty="0" smtClean="0">
                <a:solidFill>
                  <a:srgbClr val="002060"/>
                </a:solidFill>
              </a:rPr>
              <a:t> </a:t>
            </a:r>
            <a:r>
              <a:rPr lang="ru-RU" b="1" dirty="0" err="1" smtClean="0">
                <a:solidFill>
                  <a:srgbClr val="002060"/>
                </a:solidFill>
              </a:rPr>
              <a:t>Network</a:t>
            </a:r>
            <a:r>
              <a:rPr lang="ru-RU" b="1" dirty="0" smtClean="0">
                <a:solidFill>
                  <a:srgbClr val="002060"/>
                </a:solidFill>
              </a:rPr>
              <a:t> (OTN)</a:t>
            </a:r>
            <a:endParaRPr lang="ru-RU" dirty="0"/>
          </a:p>
        </p:txBody>
      </p:sp>
      <p:sp>
        <p:nvSpPr>
          <p:cNvPr id="3" name="Содержимое 2"/>
          <p:cNvSpPr>
            <a:spLocks noGrp="1"/>
          </p:cNvSpPr>
          <p:nvPr>
            <p:ph idx="1"/>
          </p:nvPr>
        </p:nvSpPr>
        <p:spPr/>
        <p:txBody>
          <a:bodyPr>
            <a:normAutofit fontScale="92500" lnSpcReduction="20000"/>
          </a:bodyPr>
          <a:lstStyle/>
          <a:p>
            <a:r>
              <a:rPr lang="ru-RU" dirty="0" smtClean="0"/>
              <a:t>В 2009 г. стандарт G.709 был обновлен для более тесного согласования со скоростями передачи данных и форматами пакетов </a:t>
            </a:r>
            <a:r>
              <a:rPr lang="ru-RU" dirty="0" err="1" smtClean="0"/>
              <a:t>Ethernet</a:t>
            </a:r>
            <a:r>
              <a:rPr lang="ru-RU" dirty="0" smtClean="0"/>
              <a:t>. </a:t>
            </a:r>
            <a:endParaRPr lang="en-US" dirty="0" smtClean="0"/>
          </a:p>
          <a:p>
            <a:r>
              <a:rPr lang="ru-RU" b="1" dirty="0" smtClean="0"/>
              <a:t>В результате в большинстве сетей технологии OTN и </a:t>
            </a:r>
            <a:r>
              <a:rPr lang="ru-RU" b="1" dirty="0" err="1" smtClean="0"/>
              <a:t>Ethernet</a:t>
            </a:r>
            <a:r>
              <a:rPr lang="ru-RU" b="1" dirty="0" smtClean="0"/>
              <a:t> неразрывно связаны между собой</a:t>
            </a:r>
            <a:r>
              <a:rPr lang="ru-RU" dirty="0" smtClean="0"/>
              <a:t>.</a:t>
            </a:r>
            <a:endParaRPr lang="en-US" dirty="0" smtClean="0"/>
          </a:p>
          <a:p>
            <a:r>
              <a:rPr lang="ru-RU" dirty="0" smtClean="0"/>
              <a:t> </a:t>
            </a:r>
            <a:r>
              <a:rPr lang="ru-RU" b="1" dirty="0" smtClean="0"/>
              <a:t>Благодаря этому симбиозу технология OTN стала идеальным протоколом для передачи трафика </a:t>
            </a:r>
            <a:r>
              <a:rPr lang="ru-RU" b="1" dirty="0" err="1" smtClean="0"/>
              <a:t>Ethernet</a:t>
            </a:r>
            <a:r>
              <a:rPr lang="ru-RU" b="1" dirty="0" smtClean="0"/>
              <a:t> в системах спектрального уплотнения каналов (DWDM</a:t>
            </a:r>
            <a:r>
              <a:rPr lang="en-US" dirty="0" smtClean="0"/>
              <a:t>)</a:t>
            </a:r>
            <a:r>
              <a:rPr lang="ru-RU" dirty="0" smtClean="0"/>
              <a:t>. </a:t>
            </a:r>
          </a:p>
          <a:p>
            <a:endParaRPr lang="ru-RU"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9144000" cy="562074"/>
          </a:xfrm>
        </p:spPr>
        <p:txBody>
          <a:bodyPr>
            <a:noAutofit/>
          </a:bodyPr>
          <a:lstStyle/>
          <a:p>
            <a:pPr algn="l"/>
            <a:r>
              <a:rPr lang="ru-RU" sz="3600" b="1" dirty="0" smtClean="0">
                <a:solidFill>
                  <a:srgbClr val="002060"/>
                </a:solidFill>
              </a:rPr>
              <a:t>4.1 ОПТИЧЕСКИЕ ТРАНСПОРТНЫЕ СЕТИ (OTN)</a:t>
            </a:r>
            <a:endParaRPr lang="ru-RU" sz="3600" dirty="0"/>
          </a:p>
        </p:txBody>
      </p:sp>
      <p:sp>
        <p:nvSpPr>
          <p:cNvPr id="3" name="Содержимое 2"/>
          <p:cNvSpPr>
            <a:spLocks noGrp="1"/>
          </p:cNvSpPr>
          <p:nvPr>
            <p:ph idx="1"/>
          </p:nvPr>
        </p:nvSpPr>
        <p:spPr>
          <a:xfrm>
            <a:off x="0" y="980728"/>
            <a:ext cx="9144000" cy="5877272"/>
          </a:xfrm>
        </p:spPr>
        <p:txBody>
          <a:bodyPr>
            <a:normAutofit fontScale="70000" lnSpcReduction="20000"/>
          </a:bodyPr>
          <a:lstStyle/>
          <a:p>
            <a:pPr algn="ctr">
              <a:buNone/>
            </a:pPr>
            <a:r>
              <a:rPr lang="ru-RU" sz="3100" b="1" dirty="0" smtClean="0"/>
              <a:t>4.1.1 ОСНОВНЫЕ СВОЙСТВА OTN</a:t>
            </a:r>
          </a:p>
          <a:p>
            <a:r>
              <a:rPr lang="ru-RU" sz="3100" b="1" dirty="0" smtClean="0"/>
              <a:t>Основная задача</a:t>
            </a:r>
            <a:r>
              <a:rPr lang="ru-RU" sz="3100" dirty="0" smtClean="0"/>
              <a:t>, поставленная перед OTN – это </a:t>
            </a:r>
            <a:r>
              <a:rPr lang="ru-RU" sz="3100" b="1" u="sng" dirty="0" smtClean="0"/>
              <a:t>совместить</a:t>
            </a:r>
            <a:r>
              <a:rPr lang="ru-RU" sz="3100" b="1" dirty="0" smtClean="0"/>
              <a:t> </a:t>
            </a:r>
          </a:p>
          <a:p>
            <a:pPr>
              <a:buNone/>
            </a:pPr>
            <a:r>
              <a:rPr lang="ru-RU" sz="3100" b="1" dirty="0" smtClean="0"/>
              <a:t>      -   </a:t>
            </a:r>
            <a:r>
              <a:rPr lang="ru-RU" sz="3100" b="1" dirty="0" err="1" smtClean="0"/>
              <a:t>мультисервисную</a:t>
            </a:r>
            <a:r>
              <a:rPr lang="ru-RU" sz="3100" b="1" dirty="0" smtClean="0"/>
              <a:t> передачу  </a:t>
            </a:r>
            <a:r>
              <a:rPr lang="ru-RU" sz="3100" b="1" dirty="0" err="1" smtClean="0"/>
              <a:t>пакетизированных</a:t>
            </a:r>
            <a:r>
              <a:rPr lang="ru-RU" sz="3100" b="1" dirty="0" smtClean="0"/>
              <a:t> данных</a:t>
            </a:r>
          </a:p>
          <a:p>
            <a:pPr>
              <a:buNone/>
            </a:pPr>
            <a:r>
              <a:rPr lang="ru-RU" sz="3100" b="1" dirty="0" smtClean="0"/>
              <a:t>      </a:t>
            </a:r>
            <a:r>
              <a:rPr lang="ru-RU" sz="3100" b="1" dirty="0" smtClean="0"/>
              <a:t> </a:t>
            </a:r>
            <a:r>
              <a:rPr lang="ru-RU" sz="3100" b="1" dirty="0" smtClean="0"/>
              <a:t>              </a:t>
            </a:r>
            <a:r>
              <a:rPr lang="ru-RU" sz="3100" dirty="0" smtClean="0"/>
              <a:t>и </a:t>
            </a:r>
            <a:r>
              <a:rPr lang="ru-RU" sz="3100" b="1" dirty="0" smtClean="0"/>
              <a:t>системного трафика</a:t>
            </a:r>
          </a:p>
          <a:p>
            <a:pPr>
              <a:buNone/>
            </a:pPr>
            <a:r>
              <a:rPr lang="ru-RU" sz="3100" b="1" dirty="0" smtClean="0"/>
              <a:t>      -  </a:t>
            </a:r>
            <a:r>
              <a:rPr lang="ru-RU" sz="3100" dirty="0" smtClean="0"/>
              <a:t>с </a:t>
            </a:r>
            <a:r>
              <a:rPr lang="ru-RU" sz="3100" b="1" u="sng" dirty="0" smtClean="0"/>
              <a:t>управлением и мониторингом </a:t>
            </a:r>
            <a:r>
              <a:rPr lang="ru-RU" sz="3100" dirty="0" smtClean="0"/>
              <a:t>любого из существующих оптических каналов. </a:t>
            </a:r>
          </a:p>
          <a:p>
            <a:r>
              <a:rPr lang="ru-RU" sz="3100" b="1" dirty="0" smtClean="0"/>
              <a:t>Разработанная специально для OTN функция добавления заголовков к транспортным структурам</a:t>
            </a:r>
            <a:r>
              <a:rPr lang="ru-RU" sz="3100" dirty="0" smtClean="0"/>
              <a:t>, называемая «</a:t>
            </a:r>
            <a:r>
              <a:rPr lang="ru-RU" sz="3100" dirty="0" err="1" smtClean="0"/>
              <a:t>Wraped</a:t>
            </a:r>
            <a:r>
              <a:rPr lang="ru-RU" sz="3100" dirty="0" smtClean="0"/>
              <a:t> </a:t>
            </a:r>
            <a:r>
              <a:rPr lang="ru-RU" sz="3100" dirty="0" err="1" smtClean="0"/>
              <a:t>Overhead</a:t>
            </a:r>
            <a:r>
              <a:rPr lang="ru-RU" sz="3100" dirty="0" smtClean="0"/>
              <a:t>» (WOH), являющаяся по сути адаптированной к DWDM версией строительства транспортных модулей STM, </a:t>
            </a:r>
            <a:r>
              <a:rPr lang="ru-RU" sz="3100" b="1" dirty="0" smtClean="0"/>
              <a:t>сделала реальной возможность контроля и управления клиентской сигнальной информацией</a:t>
            </a:r>
            <a:r>
              <a:rPr lang="ru-RU" sz="2800" b="1" dirty="0" smtClean="0"/>
              <a:t>.</a:t>
            </a:r>
            <a:r>
              <a:rPr lang="ru-RU" sz="2800" dirty="0" smtClean="0"/>
              <a:t>  </a:t>
            </a:r>
          </a:p>
          <a:p>
            <a:pPr>
              <a:buNone/>
            </a:pPr>
            <a:r>
              <a:rPr lang="ru-RU" sz="2800" b="1" dirty="0" smtClean="0"/>
              <a:t>                  4.1.2.Основные характеристики, изначально заложенные</a:t>
            </a:r>
          </a:p>
          <a:p>
            <a:pPr>
              <a:buNone/>
            </a:pPr>
            <a:r>
              <a:rPr lang="ru-RU" sz="2800" b="1" dirty="0" smtClean="0"/>
              <a:t>                          в технологию OTN:</a:t>
            </a:r>
          </a:p>
          <a:p>
            <a:pPr lvl="0">
              <a:buNone/>
            </a:pPr>
            <a:r>
              <a:rPr lang="ru-RU" sz="2800" dirty="0" smtClean="0"/>
              <a:t>      - </a:t>
            </a:r>
            <a:r>
              <a:rPr lang="ru-RU" sz="3100" dirty="0" smtClean="0"/>
              <a:t>Прозрачность для протоколов</a:t>
            </a:r>
          </a:p>
          <a:p>
            <a:pPr lvl="0">
              <a:buNone/>
            </a:pPr>
            <a:r>
              <a:rPr lang="ru-RU" sz="3100" dirty="0" smtClean="0"/>
              <a:t>     - Обратная совместимость со всеми существующими      протоколами</a:t>
            </a:r>
          </a:p>
          <a:p>
            <a:pPr lvl="0">
              <a:buNone/>
            </a:pPr>
            <a:r>
              <a:rPr lang="ru-RU" sz="3100" dirty="0" smtClean="0"/>
              <a:t>     - Возможность использования FEC</a:t>
            </a:r>
          </a:p>
          <a:p>
            <a:pPr lvl="0">
              <a:buNone/>
            </a:pPr>
            <a:r>
              <a:rPr lang="ru-RU" sz="3100" dirty="0" smtClean="0"/>
              <a:t>     - Уменьшение затрат на регенерацию сигнала</a:t>
            </a:r>
          </a:p>
          <a:p>
            <a:endParaRPr lang="ru-RU" sz="2600" dirty="0" smtClean="0"/>
          </a:p>
          <a:p>
            <a:endParaRPr lang="ru-RU"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908720"/>
          </a:xfrm>
        </p:spPr>
        <p:txBody>
          <a:bodyPr>
            <a:normAutofit/>
          </a:bodyPr>
          <a:lstStyle/>
          <a:p>
            <a:r>
              <a:rPr lang="ru-RU" sz="3600" b="1" dirty="0" smtClean="0">
                <a:solidFill>
                  <a:srgbClr val="002060"/>
                </a:solidFill>
              </a:rPr>
              <a:t>4.1 ОПТИЧЕСКИЕ ТРАНСПОРТНЫЕ СЕТИ (OTN)</a:t>
            </a:r>
            <a:endParaRPr lang="ru-RU" sz="3600" dirty="0"/>
          </a:p>
        </p:txBody>
      </p:sp>
      <p:sp>
        <p:nvSpPr>
          <p:cNvPr id="3" name="Содержимое 2"/>
          <p:cNvSpPr>
            <a:spLocks noGrp="1"/>
          </p:cNvSpPr>
          <p:nvPr>
            <p:ph idx="1"/>
          </p:nvPr>
        </p:nvSpPr>
        <p:spPr>
          <a:xfrm>
            <a:off x="179512" y="764704"/>
            <a:ext cx="8964488" cy="6093296"/>
          </a:xfrm>
        </p:spPr>
        <p:txBody>
          <a:bodyPr>
            <a:normAutofit fontScale="85000" lnSpcReduction="20000"/>
          </a:bodyPr>
          <a:lstStyle/>
          <a:p>
            <a:pPr algn="ctr">
              <a:buNone/>
            </a:pPr>
            <a:r>
              <a:rPr lang="ru-RU" b="1" dirty="0" smtClean="0"/>
              <a:t>4.1.2 Значение сетей OTN</a:t>
            </a:r>
          </a:p>
          <a:p>
            <a:r>
              <a:rPr lang="ru-RU" dirty="0" smtClean="0"/>
              <a:t>OTN позволяет:</a:t>
            </a:r>
          </a:p>
          <a:p>
            <a:pPr>
              <a:buNone/>
            </a:pPr>
            <a:r>
              <a:rPr lang="ru-RU" dirty="0" smtClean="0"/>
              <a:t>         - создать сетевую инфраструктуру, способную передавать разнообразный трафик,</a:t>
            </a:r>
          </a:p>
          <a:p>
            <a:pPr>
              <a:buNone/>
            </a:pPr>
            <a:r>
              <a:rPr lang="ru-RU" dirty="0" smtClean="0"/>
              <a:t>         -  обеспечивает высокую скорость передачи,</a:t>
            </a:r>
          </a:p>
          <a:p>
            <a:pPr>
              <a:buNone/>
            </a:pPr>
            <a:r>
              <a:rPr lang="ru-RU" dirty="0" smtClean="0"/>
              <a:t>          - большую емкость каналов и </a:t>
            </a:r>
          </a:p>
          <a:p>
            <a:pPr>
              <a:buNone/>
            </a:pPr>
            <a:r>
              <a:rPr lang="ru-RU" dirty="0" smtClean="0"/>
              <a:t>          - интеллектуальные функции, которые помогают оптимизировать работу операторов и их заказчиков.</a:t>
            </a:r>
          </a:p>
          <a:p>
            <a:r>
              <a:rPr lang="ru-RU" dirty="0" smtClean="0"/>
              <a:t>    OTN считается единственной оптической технологией, предназначенной для инкапсуляции </a:t>
            </a:r>
            <a:r>
              <a:rPr lang="ru-RU" dirty="0" err="1" smtClean="0"/>
              <a:t>высокоемкой</a:t>
            </a:r>
            <a:r>
              <a:rPr lang="ru-RU" dirty="0" smtClean="0"/>
              <a:t> полезной нагрузки, которая необходима для работы элементов сетей с пакетной коммутацией.</a:t>
            </a:r>
          </a:p>
          <a:p>
            <a:pPr>
              <a:buNone/>
            </a:pPr>
            <a:r>
              <a:rPr lang="ru-RU" dirty="0" smtClean="0"/>
              <a:t>Например, коммутаторов и маршрутизаторов </a:t>
            </a:r>
            <a:r>
              <a:rPr lang="ru-RU" dirty="0" err="1" smtClean="0"/>
              <a:t>Ethernet</a:t>
            </a:r>
            <a:r>
              <a:rPr lang="ru-RU" dirty="0" smtClean="0"/>
              <a:t>.</a:t>
            </a:r>
          </a:p>
          <a:p>
            <a:r>
              <a:rPr lang="ru-RU" dirty="0" smtClean="0"/>
              <a:t> </a:t>
            </a:r>
            <a:r>
              <a:rPr lang="ru-RU" b="1" dirty="0" smtClean="0"/>
              <a:t>На сегодняшний день OTN – это единственный протокол оптических транспортных сетей, способный поддерживать скорость свыше 40 Гбит/с. </a:t>
            </a:r>
          </a:p>
          <a:p>
            <a:endParaRPr lang="ru-RU"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9144000" cy="562074"/>
          </a:xfrm>
        </p:spPr>
        <p:txBody>
          <a:bodyPr>
            <a:noAutofit/>
          </a:bodyPr>
          <a:lstStyle/>
          <a:p>
            <a:r>
              <a:rPr lang="ru-RU" sz="3600" b="1" dirty="0" smtClean="0">
                <a:solidFill>
                  <a:srgbClr val="002060"/>
                </a:solidFill>
              </a:rPr>
              <a:t>4.1 ОПТИЧЕСКИЕ ТРАНСПОРТНЫЕ СЕТИ (OTN)</a:t>
            </a:r>
            <a:endParaRPr lang="ru-RU" sz="3600" dirty="0"/>
          </a:p>
        </p:txBody>
      </p:sp>
      <p:sp>
        <p:nvSpPr>
          <p:cNvPr id="3" name="Содержимое 2"/>
          <p:cNvSpPr>
            <a:spLocks noGrp="1"/>
          </p:cNvSpPr>
          <p:nvPr>
            <p:ph idx="1"/>
          </p:nvPr>
        </p:nvSpPr>
        <p:spPr>
          <a:xfrm>
            <a:off x="0" y="980728"/>
            <a:ext cx="9144000" cy="5877272"/>
          </a:xfrm>
        </p:spPr>
        <p:txBody>
          <a:bodyPr>
            <a:normAutofit fontScale="92500" lnSpcReduction="20000"/>
          </a:bodyPr>
          <a:lstStyle/>
          <a:p>
            <a:r>
              <a:rPr lang="ru-RU" dirty="0" smtClean="0"/>
              <a:t>OTN предлагает ряд преимуществ для магистральных и базовых городских сетей благодаря взаимодополняющим характеристикам</a:t>
            </a:r>
          </a:p>
          <a:p>
            <a:pPr>
              <a:buNone/>
            </a:pPr>
            <a:r>
              <a:rPr lang="ru-RU" dirty="0" smtClean="0"/>
              <a:t>     протоколов IP и OTN. </a:t>
            </a:r>
          </a:p>
          <a:p>
            <a:r>
              <a:rPr lang="ru-RU" dirty="0" smtClean="0"/>
              <a:t>      </a:t>
            </a:r>
            <a:r>
              <a:rPr lang="ru-RU" dirty="0" smtClean="0">
                <a:effectLst>
                  <a:outerShdw blurRad="38100" dist="38100" dir="2700000" algn="tl">
                    <a:srgbClr val="000000">
                      <a:alpha val="43137"/>
                    </a:srgbClr>
                  </a:outerShdw>
                </a:effectLst>
              </a:rPr>
              <a:t>IP-магистрали и базовые городские сети на основе OTN обеспечивают </a:t>
            </a:r>
            <a:r>
              <a:rPr lang="ru-RU" dirty="0" smtClean="0"/>
              <a:t>значительные п</a:t>
            </a:r>
            <a:r>
              <a:rPr lang="ru-RU" dirty="0" smtClean="0">
                <a:effectLst>
                  <a:outerShdw blurRad="38100" dist="38100" dir="2700000" algn="tl">
                    <a:srgbClr val="000000">
                      <a:alpha val="43137"/>
                    </a:srgbClr>
                  </a:outerShdw>
                </a:effectLst>
              </a:rPr>
              <a:t>реимущества</a:t>
            </a:r>
            <a:r>
              <a:rPr lang="ru-RU" dirty="0" smtClean="0"/>
              <a:t> по сравнению с традиционными сетями на основе WDM, в том числе:</a:t>
            </a:r>
          </a:p>
          <a:p>
            <a:pPr>
              <a:buNone/>
            </a:pPr>
            <a:r>
              <a:rPr lang="ru-RU" dirty="0" smtClean="0"/>
              <a:t>        - повышение эффективности, </a:t>
            </a:r>
          </a:p>
          <a:p>
            <a:pPr>
              <a:buNone/>
            </a:pPr>
            <a:r>
              <a:rPr lang="ru-RU" dirty="0" smtClean="0"/>
              <a:t>        - надежность на уровне 99,999 процентов и </a:t>
            </a:r>
          </a:p>
          <a:p>
            <a:pPr>
              <a:buNone/>
            </a:pPr>
            <a:r>
              <a:rPr lang="ru-RU" dirty="0" smtClean="0"/>
              <a:t>        - возможность предоставления частных услуг на</a:t>
            </a:r>
          </a:p>
          <a:p>
            <a:pPr>
              <a:buNone/>
            </a:pPr>
            <a:r>
              <a:rPr lang="ru-RU" dirty="0" smtClean="0"/>
              <a:t>          базе спектральных каналов. </a:t>
            </a:r>
          </a:p>
          <a:p>
            <a:pPr>
              <a:buNone/>
            </a:pPr>
            <a:r>
              <a:rPr lang="ru-RU" dirty="0" smtClean="0"/>
              <a:t>    </a:t>
            </a:r>
            <a:endParaRPr lang="ru-RU"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512" y="274638"/>
            <a:ext cx="8964488" cy="706090"/>
          </a:xfrm>
        </p:spPr>
        <p:txBody>
          <a:bodyPr>
            <a:normAutofit fontScale="90000"/>
          </a:bodyPr>
          <a:lstStyle/>
          <a:p>
            <a:r>
              <a:rPr lang="ru-RU" sz="3600" b="1" dirty="0" smtClean="0">
                <a:solidFill>
                  <a:srgbClr val="002060"/>
                </a:solidFill>
              </a:rPr>
              <a:t>4.1 ОПТИЧЕСКИЕ ТРАНСПОРТНЫЕ СЕТИ (OTN)</a:t>
            </a:r>
            <a:endParaRPr lang="ru-RU" sz="3600" dirty="0"/>
          </a:p>
        </p:txBody>
      </p:sp>
      <p:sp>
        <p:nvSpPr>
          <p:cNvPr id="3" name="Содержимое 2"/>
          <p:cNvSpPr>
            <a:spLocks noGrp="1"/>
          </p:cNvSpPr>
          <p:nvPr>
            <p:ph idx="1"/>
          </p:nvPr>
        </p:nvSpPr>
        <p:spPr>
          <a:xfrm>
            <a:off x="179512" y="1052736"/>
            <a:ext cx="8964488" cy="5472608"/>
          </a:xfrm>
        </p:spPr>
        <p:txBody>
          <a:bodyPr>
            <a:normAutofit/>
          </a:bodyPr>
          <a:lstStyle/>
          <a:p>
            <a:r>
              <a:rPr lang="ru-RU" dirty="0" smtClean="0">
                <a:effectLst>
                  <a:outerShdw blurRad="38100" dist="38100" dir="2700000" algn="tl">
                    <a:srgbClr val="000000">
                      <a:alpha val="43137"/>
                    </a:srgbClr>
                  </a:outerShdw>
                </a:effectLst>
              </a:rPr>
              <a:t>Комбинация протоколов IP и OTN </a:t>
            </a:r>
            <a:r>
              <a:rPr lang="ru-RU" dirty="0" smtClean="0"/>
              <a:t>также </a:t>
            </a:r>
            <a:r>
              <a:rPr lang="ru-RU" dirty="0" smtClean="0">
                <a:effectLst>
                  <a:outerShdw blurRad="38100" dist="38100" dir="2700000" algn="tl">
                    <a:srgbClr val="000000">
                      <a:alpha val="43137"/>
                    </a:srgbClr>
                  </a:outerShdw>
                </a:effectLst>
              </a:rPr>
              <a:t>упрощает:</a:t>
            </a:r>
          </a:p>
          <a:p>
            <a:pPr>
              <a:buNone/>
            </a:pPr>
            <a:r>
              <a:rPr lang="ru-RU" dirty="0" smtClean="0">
                <a:effectLst>
                  <a:outerShdw blurRad="38100" dist="38100" dir="2700000" algn="tl">
                    <a:srgbClr val="000000">
                      <a:alpha val="43137"/>
                    </a:srgbClr>
                  </a:outerShdw>
                </a:effectLst>
              </a:rPr>
              <a:t>            -</a:t>
            </a:r>
            <a:r>
              <a:rPr lang="ru-RU" dirty="0" smtClean="0"/>
              <a:t> процессы управления и мониторинга,</a:t>
            </a:r>
          </a:p>
          <a:p>
            <a:pPr>
              <a:buNone/>
            </a:pPr>
            <a:r>
              <a:rPr lang="ru-RU" dirty="0" smtClean="0"/>
              <a:t>            -  сокращает число переходов, </a:t>
            </a:r>
          </a:p>
          <a:p>
            <a:pPr>
              <a:buNone/>
            </a:pPr>
            <a:r>
              <a:rPr lang="ru-RU" dirty="0" smtClean="0"/>
              <a:t>             - повышает безопасность услуг и</a:t>
            </a:r>
          </a:p>
          <a:p>
            <a:pPr>
              <a:buNone/>
            </a:pPr>
            <a:r>
              <a:rPr lang="ru-RU" dirty="0" smtClean="0"/>
              <a:t>             - снижает расходы на оборудование. </a:t>
            </a:r>
          </a:p>
          <a:p>
            <a:r>
              <a:rPr lang="ru-RU" dirty="0" smtClean="0"/>
              <a:t>Помимо </a:t>
            </a:r>
            <a:r>
              <a:rPr lang="ru-RU" b="1" dirty="0" smtClean="0"/>
              <a:t>наращивания скорости до 100G и выше, OTN </a:t>
            </a:r>
            <a:r>
              <a:rPr lang="ru-RU" dirty="0" smtClean="0"/>
              <a:t>играет </a:t>
            </a:r>
            <a:r>
              <a:rPr lang="ru-RU" b="1" dirty="0" smtClean="0"/>
              <a:t>ключевую роль в превращении сети в открытую и программируемую платформу</a:t>
            </a:r>
            <a:r>
              <a:rPr lang="ru-RU" dirty="0" smtClean="0"/>
              <a:t>.</a:t>
            </a:r>
          </a:p>
          <a:p>
            <a:endParaRPr lang="ru-RU"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1124744"/>
          </a:xfrm>
        </p:spPr>
        <p:txBody>
          <a:bodyPr>
            <a:normAutofit/>
          </a:bodyPr>
          <a:lstStyle/>
          <a:p>
            <a:r>
              <a:rPr lang="ru-RU" sz="3200" b="1" dirty="0" smtClean="0">
                <a:solidFill>
                  <a:srgbClr val="002060"/>
                </a:solidFill>
              </a:rPr>
              <a:t>4.2 ОПТИЧЕСКИЕ ТРАНСПОРТНЫЕ СЕТИ (OTN)</a:t>
            </a:r>
            <a:br>
              <a:rPr lang="ru-RU" sz="3200" b="1" dirty="0" smtClean="0">
                <a:solidFill>
                  <a:srgbClr val="002060"/>
                </a:solidFill>
              </a:rPr>
            </a:br>
            <a:r>
              <a:rPr lang="ru-RU" sz="3200" b="1" dirty="0" smtClean="0">
                <a:solidFill>
                  <a:srgbClr val="002060"/>
                </a:solidFill>
              </a:rPr>
              <a:t>Основные преимущества сети.</a:t>
            </a:r>
            <a:endParaRPr lang="ru-RU" sz="3200" dirty="0"/>
          </a:p>
        </p:txBody>
      </p:sp>
      <p:sp>
        <p:nvSpPr>
          <p:cNvPr id="3" name="Содержимое 2"/>
          <p:cNvSpPr>
            <a:spLocks noGrp="1"/>
          </p:cNvSpPr>
          <p:nvPr>
            <p:ph idx="1"/>
          </p:nvPr>
        </p:nvSpPr>
        <p:spPr>
          <a:xfrm>
            <a:off x="0" y="1052736"/>
            <a:ext cx="9144000" cy="5805264"/>
          </a:xfrm>
        </p:spPr>
        <p:txBody>
          <a:bodyPr>
            <a:normAutofit fontScale="25000" lnSpcReduction="20000"/>
          </a:bodyPr>
          <a:lstStyle/>
          <a:p>
            <a:pPr algn="ctr">
              <a:buNone/>
            </a:pPr>
            <a:endParaRPr lang="ru-RU" sz="11200" b="1" dirty="0" smtClean="0"/>
          </a:p>
          <a:p>
            <a:pPr algn="ctr">
              <a:buNone/>
            </a:pPr>
            <a:r>
              <a:rPr lang="ru-RU" sz="11200" b="1" dirty="0" smtClean="0"/>
              <a:t>Основные преимущества сети </a:t>
            </a:r>
            <a:r>
              <a:rPr lang="en-US" sz="11200" b="1" dirty="0" smtClean="0"/>
              <a:t>OTN</a:t>
            </a:r>
            <a:r>
              <a:rPr lang="en-US" sz="5100" b="1" dirty="0" smtClean="0"/>
              <a:t>.</a:t>
            </a:r>
            <a:endParaRPr lang="ru-RU" sz="5100" b="1" dirty="0" smtClean="0"/>
          </a:p>
          <a:p>
            <a:pPr algn="ctr">
              <a:buNone/>
            </a:pPr>
            <a:r>
              <a:rPr lang="ru-RU" sz="4900" b="1" dirty="0" smtClean="0"/>
              <a:t> </a:t>
            </a:r>
            <a:r>
              <a:rPr lang="ru-RU" sz="9600" b="1" dirty="0" smtClean="0"/>
              <a:t>1.   На базе одной сети передаются данные, голос и видео. </a:t>
            </a:r>
          </a:p>
          <a:p>
            <a:pPr>
              <a:buNone/>
            </a:pPr>
            <a:r>
              <a:rPr lang="ru-RU" sz="9600" dirty="0" smtClean="0"/>
              <a:t>       - Сети SDH используют ту же технологию TDM, что и OTN, поэтому видеоизображение в них, как и в OTN, передается гладко, без задержек, с гарантированным качеством.</a:t>
            </a:r>
          </a:p>
          <a:p>
            <a:pPr>
              <a:buNone/>
            </a:pPr>
            <a:r>
              <a:rPr lang="ru-RU" sz="9600" dirty="0" smtClean="0"/>
              <a:t>       -  Но для подключения, например, видеокамеры к оборудованию SDH требуются специальные конверторы, которые преобразуют видеосигнал в </a:t>
            </a:r>
            <a:r>
              <a:rPr lang="ru-RU" sz="9600" dirty="0" err="1" smtClean="0"/>
              <a:t>трибутивные</a:t>
            </a:r>
            <a:r>
              <a:rPr lang="ru-RU" sz="9600" dirty="0" smtClean="0"/>
              <a:t> потоки Е1.</a:t>
            </a:r>
          </a:p>
          <a:p>
            <a:pPr>
              <a:buNone/>
            </a:pPr>
            <a:r>
              <a:rPr lang="ru-RU" sz="9600" dirty="0" smtClean="0"/>
              <a:t>        -  То же самое и для телефонии – подключить телефонные линии к узлу SDH без использования промежуточной аппаратуры уплотнения не возможно. </a:t>
            </a:r>
          </a:p>
          <a:p>
            <a:pPr>
              <a:buNone/>
            </a:pPr>
            <a:r>
              <a:rPr lang="ru-RU" sz="9600" dirty="0" smtClean="0"/>
              <a:t>         - </a:t>
            </a:r>
            <a:r>
              <a:rPr lang="ru-RU" sz="9600" b="1" dirty="0" smtClean="0"/>
              <a:t>Сеть OTN позволяет передавать сигналы видео, голоса,  </a:t>
            </a:r>
          </a:p>
          <a:p>
            <a:pPr>
              <a:buNone/>
            </a:pPr>
            <a:r>
              <a:rPr lang="ru-RU" sz="9600" b="1" dirty="0" smtClean="0"/>
              <a:t>            данных с гарантированным качеством.   </a:t>
            </a:r>
          </a:p>
          <a:p>
            <a:pPr>
              <a:buNone/>
            </a:pPr>
            <a:r>
              <a:rPr lang="ru-RU" sz="9600" b="1" dirty="0" smtClean="0"/>
              <a:t>           Причем все эти сервисы подключаются напрямую, без промежуточных устройств. </a:t>
            </a:r>
          </a:p>
          <a:p>
            <a:pPr>
              <a:buNone/>
            </a:pPr>
            <a:r>
              <a:rPr lang="en-US" sz="6400" b="1" dirty="0" smtClean="0"/>
              <a:t/>
            </a:r>
            <a:br>
              <a:rPr lang="en-US" sz="6400" b="1" dirty="0" smtClean="0"/>
            </a:br>
            <a:endParaRPr lang="ru-RU" sz="6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692696"/>
          </a:xfrm>
        </p:spPr>
        <p:txBody>
          <a:bodyPr>
            <a:normAutofit/>
          </a:bodyPr>
          <a:lstStyle/>
          <a:p>
            <a:r>
              <a:rPr lang="ru-RU" sz="3600" b="1" dirty="0" smtClean="0">
                <a:solidFill>
                  <a:srgbClr val="002060"/>
                </a:solidFill>
              </a:rPr>
              <a:t>4.2 ОПТИЧЕСКИЕ ТРАНСПОРТНЫЕ СЕТИ (OTN)</a:t>
            </a:r>
            <a:endParaRPr lang="ru-RU" sz="3600" dirty="0"/>
          </a:p>
        </p:txBody>
      </p:sp>
      <p:sp>
        <p:nvSpPr>
          <p:cNvPr id="3" name="Содержимое 2"/>
          <p:cNvSpPr>
            <a:spLocks noGrp="1"/>
          </p:cNvSpPr>
          <p:nvPr>
            <p:ph idx="1"/>
          </p:nvPr>
        </p:nvSpPr>
        <p:spPr>
          <a:xfrm>
            <a:off x="179512" y="692696"/>
            <a:ext cx="8712968" cy="6165304"/>
          </a:xfrm>
        </p:spPr>
        <p:txBody>
          <a:bodyPr>
            <a:normAutofit fontScale="62500" lnSpcReduction="20000"/>
          </a:bodyPr>
          <a:lstStyle/>
          <a:p>
            <a:pPr algn="ctr">
              <a:buNone/>
            </a:pPr>
            <a:r>
              <a:rPr lang="ru-RU" sz="4200" b="1" dirty="0" smtClean="0"/>
              <a:t>Основные преимущества сети </a:t>
            </a:r>
            <a:r>
              <a:rPr lang="en-US" sz="4200" b="1" dirty="0" smtClean="0"/>
              <a:t>OTN</a:t>
            </a:r>
            <a:r>
              <a:rPr lang="en-US" sz="1400" b="1" dirty="0" smtClean="0"/>
              <a:t>.</a:t>
            </a:r>
            <a:endParaRPr lang="ru-RU" b="1" u="sng" dirty="0" smtClean="0"/>
          </a:p>
          <a:p>
            <a:pPr algn="ctr">
              <a:buNone/>
            </a:pPr>
            <a:r>
              <a:rPr lang="ru-RU" b="1" dirty="0" smtClean="0"/>
              <a:t>2. Кольцевая топология сети. </a:t>
            </a:r>
            <a:endParaRPr lang="ru-RU" dirty="0" smtClean="0"/>
          </a:p>
          <a:p>
            <a:r>
              <a:rPr lang="ru-RU" dirty="0" smtClean="0">
                <a:effectLst>
                  <a:outerShdw blurRad="38100" dist="38100" dir="2700000" algn="tl">
                    <a:srgbClr val="000000">
                      <a:alpha val="43137"/>
                    </a:srgbClr>
                  </a:outerShdw>
                </a:effectLst>
              </a:rPr>
              <a:t>     В сети OTN используются два оптических кольца</a:t>
            </a:r>
            <a:r>
              <a:rPr lang="ru-RU" dirty="0" smtClean="0"/>
              <a:t>. </a:t>
            </a:r>
          </a:p>
          <a:p>
            <a:pPr>
              <a:buNone/>
            </a:pPr>
            <a:r>
              <a:rPr lang="ru-RU" dirty="0" smtClean="0"/>
              <a:t>         Одно из них – активное, в нем по кругу от узла к узлу передаются данные.</a:t>
            </a:r>
          </a:p>
          <a:p>
            <a:pPr>
              <a:buNone/>
            </a:pPr>
            <a:r>
              <a:rPr lang="ru-RU" dirty="0" smtClean="0"/>
              <a:t>         Другое – пассивное, в нем данные не передаются.   Оно предназначено только для резервирования первого кольца и находится с ним в постоянной синхронизации.  В случае обрыва активного кольца переход на резервное кольцо занимает 50–120 мс, что практически не влияет на работу приложении. </a:t>
            </a:r>
          </a:p>
          <a:p>
            <a:r>
              <a:rPr lang="ru-RU" dirty="0" smtClean="0"/>
              <a:t>    </a:t>
            </a:r>
            <a:r>
              <a:rPr lang="ru-RU" dirty="0" smtClean="0">
                <a:effectLst>
                  <a:outerShdw blurRad="38100" dist="38100" dir="2700000" algn="tl">
                    <a:srgbClr val="000000">
                      <a:alpha val="43137"/>
                    </a:srgbClr>
                  </a:outerShdw>
                </a:effectLst>
              </a:rPr>
              <a:t> Сети </a:t>
            </a:r>
            <a:r>
              <a:rPr lang="ru-RU" dirty="0" err="1" smtClean="0">
                <a:effectLst>
                  <a:outerShdw blurRad="38100" dist="38100" dir="2700000" algn="tl">
                    <a:srgbClr val="000000">
                      <a:alpha val="43137"/>
                    </a:srgbClr>
                  </a:outerShdw>
                </a:effectLst>
              </a:rPr>
              <a:t>Ethernet</a:t>
            </a:r>
            <a:r>
              <a:rPr lang="ru-RU" dirty="0" smtClean="0">
                <a:effectLst>
                  <a:outerShdw blurRad="38100" dist="38100" dir="2700000" algn="tl">
                    <a:srgbClr val="000000">
                      <a:alpha val="43137"/>
                    </a:srgbClr>
                  </a:outerShdw>
                </a:effectLst>
              </a:rPr>
              <a:t> тоже могут строиться по кольцевой схеме</a:t>
            </a:r>
            <a:r>
              <a:rPr lang="ru-RU" dirty="0" smtClean="0"/>
              <a:t>.</a:t>
            </a:r>
          </a:p>
          <a:p>
            <a:pPr>
              <a:buNone/>
            </a:pPr>
            <a:r>
              <a:rPr lang="ru-RU" dirty="0" smtClean="0"/>
              <a:t>         Но для этой топологии должны применяться соответствующее оборудование и соответствующие сетевые протоколы, обеспечивающие решение таких задач, как защита от петель, когда пакеты передаются по кругу непрерывно.</a:t>
            </a:r>
          </a:p>
          <a:p>
            <a:pPr>
              <a:buNone/>
            </a:pPr>
            <a:r>
              <a:rPr lang="ru-RU" dirty="0" smtClean="0"/>
              <a:t>          В случае обрыва кабеля, сеть </a:t>
            </a:r>
            <a:r>
              <a:rPr lang="ru-RU" dirty="0" err="1" smtClean="0"/>
              <a:t>Ethernet</a:t>
            </a:r>
            <a:r>
              <a:rPr lang="ru-RU" dirty="0" smtClean="0"/>
              <a:t> обеспечит переключение передачи пакетов на резервный маршрут, но это займет время от нескольких секунд до нескольких минут. </a:t>
            </a:r>
          </a:p>
          <a:p>
            <a:pPr>
              <a:buNone/>
            </a:pPr>
            <a:r>
              <a:rPr lang="ru-RU" dirty="0" smtClean="0"/>
              <a:t>         Все сервисы в сети в это время будут не доступны.</a:t>
            </a:r>
          </a:p>
          <a:p>
            <a:r>
              <a:rPr lang="ru-RU" dirty="0" smtClean="0">
                <a:effectLst>
                  <a:outerShdw blurRad="38100" dist="38100" dir="2700000" algn="tl">
                    <a:srgbClr val="000000">
                      <a:alpha val="43137"/>
                    </a:srgbClr>
                  </a:outerShdw>
                </a:effectLst>
              </a:rPr>
              <a:t>              Сети SDH в этом плане идентичны сетям OTN, </a:t>
            </a:r>
            <a:r>
              <a:rPr lang="ru-RU" dirty="0" smtClean="0"/>
              <a:t>время переключение в них с рабочего кольца на резервное также составляет 50–120 мс. </a:t>
            </a:r>
          </a:p>
          <a:p>
            <a:endParaRPr lang="ru-RU"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764704"/>
          </a:xfrm>
        </p:spPr>
        <p:txBody>
          <a:bodyPr>
            <a:normAutofit/>
          </a:bodyPr>
          <a:lstStyle/>
          <a:p>
            <a:pPr algn="l"/>
            <a:r>
              <a:rPr lang="ru-RU" sz="3600" b="1" dirty="0" smtClean="0">
                <a:solidFill>
                  <a:srgbClr val="002060"/>
                </a:solidFill>
              </a:rPr>
              <a:t>4.2 ОПТИЧЕСКИЕ ТРАНСПОРТНЫЕ СЕТИ (OTN)</a:t>
            </a:r>
            <a:endParaRPr lang="ru-RU" sz="3600" dirty="0"/>
          </a:p>
        </p:txBody>
      </p:sp>
      <p:sp>
        <p:nvSpPr>
          <p:cNvPr id="3" name="Содержимое 2"/>
          <p:cNvSpPr>
            <a:spLocks noGrp="1"/>
          </p:cNvSpPr>
          <p:nvPr>
            <p:ph idx="1"/>
          </p:nvPr>
        </p:nvSpPr>
        <p:spPr>
          <a:xfrm>
            <a:off x="0" y="548680"/>
            <a:ext cx="9144000" cy="6309320"/>
          </a:xfrm>
        </p:spPr>
        <p:txBody>
          <a:bodyPr>
            <a:normAutofit fontScale="32500" lnSpcReduction="20000"/>
          </a:bodyPr>
          <a:lstStyle/>
          <a:p>
            <a:pPr algn="ctr">
              <a:buNone/>
            </a:pPr>
            <a:endParaRPr lang="ru-RU" sz="3800" b="1" dirty="0" smtClean="0"/>
          </a:p>
          <a:p>
            <a:pPr algn="ctr">
              <a:buNone/>
            </a:pPr>
            <a:r>
              <a:rPr lang="ru-RU" sz="7000" b="1" dirty="0" smtClean="0"/>
              <a:t>Основные преимущества сети </a:t>
            </a:r>
            <a:r>
              <a:rPr lang="en-US" sz="7000" b="1" dirty="0" smtClean="0"/>
              <a:t>OTN.</a:t>
            </a:r>
            <a:endParaRPr lang="ru-RU" sz="7000" b="1" dirty="0" smtClean="0"/>
          </a:p>
          <a:p>
            <a:pPr algn="ctr">
              <a:buNone/>
            </a:pPr>
            <a:endParaRPr lang="ru-RU" sz="3800" dirty="0" smtClean="0"/>
          </a:p>
          <a:p>
            <a:pPr>
              <a:buNone/>
            </a:pPr>
            <a:r>
              <a:rPr lang="ru-RU" sz="7400" dirty="0" smtClean="0"/>
              <a:t> 3</a:t>
            </a:r>
            <a:r>
              <a:rPr lang="ru-RU" sz="7400" dirty="0" smtClean="0">
                <a:effectLst>
                  <a:outerShdw blurRad="38100" dist="38100" dir="2700000" algn="tl">
                    <a:srgbClr val="000000">
                      <a:alpha val="43137"/>
                    </a:srgbClr>
                  </a:outerShdw>
                </a:effectLst>
              </a:rPr>
              <a:t>. Гарантированная полоса пропускания для каждого приложения. </a:t>
            </a:r>
          </a:p>
          <a:p>
            <a:pPr>
              <a:buNone/>
            </a:pPr>
            <a:endParaRPr lang="ru-RU" sz="4200" dirty="0" smtClean="0">
              <a:effectLst>
                <a:outerShdw blurRad="38100" dist="38100" dir="2700000" algn="tl">
                  <a:srgbClr val="000000">
                    <a:alpha val="43137"/>
                  </a:srgbClr>
                </a:outerShdw>
              </a:effectLst>
            </a:endParaRPr>
          </a:p>
          <a:p>
            <a:pPr>
              <a:buNone/>
            </a:pPr>
            <a:r>
              <a:rPr lang="ru-RU" sz="4200" b="1" dirty="0" smtClean="0"/>
              <a:t>  </a:t>
            </a:r>
            <a:r>
              <a:rPr lang="ru-RU" sz="6200" b="1" dirty="0" smtClean="0"/>
              <a:t>     В сети OTN для каждого приложения в магистрали выделяется своя полоса пропускания – сегмент</a:t>
            </a:r>
            <a:r>
              <a:rPr lang="ru-RU" sz="6200" dirty="0" smtClean="0"/>
              <a:t>.  </a:t>
            </a:r>
            <a:r>
              <a:rPr lang="ru-RU" sz="6200" b="1" dirty="0" smtClean="0"/>
              <a:t>Это обеспечивает</a:t>
            </a:r>
            <a:r>
              <a:rPr lang="ru-RU" sz="6200" dirty="0" smtClean="0"/>
              <a:t>:</a:t>
            </a:r>
          </a:p>
          <a:p>
            <a:pPr>
              <a:buNone/>
            </a:pPr>
            <a:r>
              <a:rPr lang="ru-RU" sz="6200" b="1" dirty="0" smtClean="0"/>
              <a:t>                    Во-первых</a:t>
            </a:r>
            <a:r>
              <a:rPr lang="ru-RU" sz="6200" dirty="0" smtClean="0"/>
              <a:t>, </a:t>
            </a:r>
            <a:r>
              <a:rPr lang="ru-RU" sz="6200" b="1" dirty="0" smtClean="0"/>
              <a:t>работоспособность сети в критических ситуациях</a:t>
            </a:r>
            <a:r>
              <a:rPr lang="ru-RU" sz="6200" dirty="0" smtClean="0"/>
              <a:t>, когда, например, множество пользователей одновременно обращаются к своим приложениям, информационным системам, архивам и т.д. </a:t>
            </a:r>
          </a:p>
          <a:p>
            <a:pPr>
              <a:buNone/>
            </a:pPr>
            <a:r>
              <a:rPr lang="ru-RU" sz="6200" dirty="0" smtClean="0"/>
              <a:t>      В сети </a:t>
            </a:r>
            <a:r>
              <a:rPr lang="ru-RU" sz="6200" dirty="0" err="1" smtClean="0"/>
              <a:t>Ethernet</a:t>
            </a:r>
            <a:r>
              <a:rPr lang="ru-RU" sz="6200" dirty="0" smtClean="0"/>
              <a:t> это часто вызывает затор, в течение которого все сервисы становятся недоступными. </a:t>
            </a:r>
          </a:p>
          <a:p>
            <a:pPr>
              <a:buNone/>
            </a:pPr>
            <a:r>
              <a:rPr lang="ru-RU" sz="6200" dirty="0" smtClean="0"/>
              <a:t>                  </a:t>
            </a:r>
            <a:r>
              <a:rPr lang="ru-RU" sz="6200" b="1" dirty="0" smtClean="0"/>
              <a:t>Во-вторых</a:t>
            </a:r>
            <a:r>
              <a:rPr lang="ru-RU" sz="6200" dirty="0" smtClean="0"/>
              <a:t>, это</a:t>
            </a:r>
            <a:r>
              <a:rPr lang="ru-RU" sz="6200" b="1" dirty="0" smtClean="0"/>
              <a:t> обеспечивает информационную безопасность внутри сети – </a:t>
            </a:r>
            <a:r>
              <a:rPr lang="ru-RU" sz="6200" dirty="0" smtClean="0"/>
              <a:t>передать данные из одного сегмента в другой физически невозможно. Это полезно, например, если нужно жестко разделить несколько LAN, подключенных к сети OTN. </a:t>
            </a:r>
          </a:p>
          <a:p>
            <a:pPr>
              <a:buNone/>
            </a:pPr>
            <a:r>
              <a:rPr lang="ru-RU" sz="6200" dirty="0" smtClean="0"/>
              <a:t>         В сети </a:t>
            </a:r>
            <a:r>
              <a:rPr lang="ru-RU" sz="6200" dirty="0" err="1" smtClean="0"/>
              <a:t>Ethernet</a:t>
            </a:r>
            <a:r>
              <a:rPr lang="ru-RU" sz="6200" dirty="0" smtClean="0"/>
              <a:t> используются технологии </a:t>
            </a:r>
            <a:r>
              <a:rPr lang="ru-RU" sz="6200" dirty="0" err="1" smtClean="0"/>
              <a:t>приоритизации</a:t>
            </a:r>
            <a:r>
              <a:rPr lang="ru-RU" sz="6200" dirty="0" smtClean="0"/>
              <a:t>, «подкрашивания» пакетов.  Но, все равно, все эти пакеты передаются внутри одного канала, и, все равно, пакету с самым высоким приоритетом приходится ждать, пока коммутатор не закончит текущую обработку пакета с низким приоритетом, а отсюда невозможность гарантирования скорости доставки пакета и скорости передачи данных в целом. </a:t>
            </a:r>
          </a:p>
          <a:p>
            <a:pPr>
              <a:buNone/>
            </a:pPr>
            <a:r>
              <a:rPr lang="ru-RU" sz="5000" dirty="0" smtClean="0"/>
              <a:t>   </a:t>
            </a:r>
            <a:endParaRPr lang="ru-RU" sz="5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692696"/>
          </a:xfrm>
        </p:spPr>
        <p:txBody>
          <a:bodyPr>
            <a:normAutofit/>
          </a:bodyPr>
          <a:lstStyle/>
          <a:p>
            <a:r>
              <a:rPr lang="ru-RU" sz="3200" b="1" dirty="0" smtClean="0">
                <a:solidFill>
                  <a:srgbClr val="002060"/>
                </a:solidFill>
              </a:rPr>
              <a:t>4.2 ОПТИЧЕСКИЕ ТРАНСПОРТНЫЕ СЕТИ (OTN)</a:t>
            </a:r>
            <a:endParaRPr lang="ru-RU" sz="3200" dirty="0"/>
          </a:p>
        </p:txBody>
      </p:sp>
      <p:sp>
        <p:nvSpPr>
          <p:cNvPr id="3" name="Содержимое 2"/>
          <p:cNvSpPr>
            <a:spLocks noGrp="1"/>
          </p:cNvSpPr>
          <p:nvPr>
            <p:ph idx="1"/>
          </p:nvPr>
        </p:nvSpPr>
        <p:spPr>
          <a:xfrm>
            <a:off x="0" y="620688"/>
            <a:ext cx="8964488" cy="6237312"/>
          </a:xfrm>
        </p:spPr>
        <p:txBody>
          <a:bodyPr>
            <a:normAutofit fontScale="55000" lnSpcReduction="20000"/>
          </a:bodyPr>
          <a:lstStyle/>
          <a:p>
            <a:pPr>
              <a:buNone/>
            </a:pPr>
            <a:endParaRPr lang="ru-RU" u="sng" dirty="0" smtClean="0"/>
          </a:p>
          <a:p>
            <a:pPr algn="ctr">
              <a:buNone/>
            </a:pPr>
            <a:r>
              <a:rPr lang="ru-RU" sz="4500" b="1" dirty="0" smtClean="0"/>
              <a:t>Основные преимущества сети </a:t>
            </a:r>
            <a:r>
              <a:rPr lang="en-US" sz="4500" b="1" dirty="0" smtClean="0"/>
              <a:t>OTN.</a:t>
            </a:r>
            <a:endParaRPr lang="ru-RU" sz="4500" b="1" dirty="0" smtClean="0"/>
          </a:p>
          <a:p>
            <a:pPr algn="ctr">
              <a:buNone/>
            </a:pPr>
            <a:endParaRPr lang="ru-RU" u="sng" dirty="0" smtClean="0"/>
          </a:p>
          <a:p>
            <a:pPr>
              <a:buNone/>
            </a:pPr>
            <a:r>
              <a:rPr lang="ru-RU" sz="4400" dirty="0" smtClean="0"/>
              <a:t>4</a:t>
            </a:r>
            <a:r>
              <a:rPr lang="ru-RU" sz="4400" dirty="0" smtClean="0">
                <a:effectLst>
                  <a:outerShdw blurRad="38100" dist="38100" dir="2700000" algn="tl">
                    <a:srgbClr val="000000">
                      <a:alpha val="43137"/>
                    </a:srgbClr>
                  </a:outerShdw>
                </a:effectLst>
              </a:rPr>
              <a:t>. Простота понимания, инсталляции и эксплуатации</a:t>
            </a:r>
            <a:r>
              <a:rPr lang="ru-RU" sz="3600" dirty="0" smtClean="0">
                <a:effectLst>
                  <a:outerShdw blurRad="38100" dist="38100" dir="2700000" algn="tl">
                    <a:srgbClr val="000000">
                      <a:alpha val="43137"/>
                    </a:srgbClr>
                  </a:outerShdw>
                </a:effectLst>
              </a:rPr>
              <a:t>. </a:t>
            </a:r>
            <a:endParaRPr lang="ru-RU" sz="3600" dirty="0" smtClean="0"/>
          </a:p>
          <a:p>
            <a:pPr>
              <a:buNone/>
            </a:pPr>
            <a:r>
              <a:rPr lang="ru-RU" sz="3600" dirty="0" smtClean="0"/>
              <a:t>      </a:t>
            </a:r>
            <a:r>
              <a:rPr lang="ru-RU" sz="3600" b="1" dirty="0" smtClean="0"/>
              <a:t>Для использования сети OTN не требуется высокой квалификации персонала.</a:t>
            </a:r>
          </a:p>
          <a:p>
            <a:pPr>
              <a:buNone/>
            </a:pPr>
            <a:r>
              <a:rPr lang="ru-RU" sz="3600" b="1" dirty="0" smtClean="0"/>
              <a:t>       Конфигурирование сети осуществляется очень просто</a:t>
            </a:r>
            <a:r>
              <a:rPr lang="ru-RU" sz="3600" dirty="0" smtClean="0"/>
              <a:t>:</a:t>
            </a:r>
          </a:p>
          <a:p>
            <a:pPr>
              <a:buNone/>
            </a:pPr>
            <a:r>
              <a:rPr lang="ru-RU" sz="3600" dirty="0" smtClean="0"/>
              <a:t>             - выбираются узлы сети, выбираются интерфейсы и назначается требуемая полоса пропускания между ними.</a:t>
            </a:r>
          </a:p>
          <a:p>
            <a:pPr>
              <a:buNone/>
            </a:pPr>
            <a:r>
              <a:rPr lang="ru-RU" sz="3600" dirty="0" smtClean="0"/>
              <a:t>         Система управления сети имеет интуитивно понятный графический интерфейс.</a:t>
            </a:r>
          </a:p>
          <a:p>
            <a:pPr>
              <a:buNone/>
            </a:pPr>
            <a:r>
              <a:rPr lang="ru-RU" sz="3600" dirty="0" smtClean="0"/>
              <a:t>        </a:t>
            </a:r>
            <a:r>
              <a:rPr lang="ru-RU" sz="3600" b="1" dirty="0" smtClean="0"/>
              <a:t>Никаких специальных знании по построению IP-сетей, IP-коммутации, маршрутизации, безопасности и т.д. не требуется.</a:t>
            </a:r>
          </a:p>
          <a:p>
            <a:pPr>
              <a:buNone/>
            </a:pPr>
            <a:r>
              <a:rPr lang="ru-RU" sz="3600" b="1" dirty="0" smtClean="0"/>
              <a:t>         Соответственно, не требуется затрат на обучение персонала </a:t>
            </a:r>
            <a:r>
              <a:rPr lang="ru-RU" sz="3600" dirty="0" smtClean="0"/>
              <a:t>(бесконечное, как, например, у </a:t>
            </a:r>
            <a:r>
              <a:rPr lang="ru-RU" sz="3600" dirty="0" err="1" smtClean="0"/>
              <a:t>Cisco</a:t>
            </a:r>
            <a:r>
              <a:rPr lang="ru-RU" sz="3600" dirty="0" smtClean="0"/>
              <a:t>) и на высокую зарплату, чтобы обученный персонал не «сбежал» в другую компанию.</a:t>
            </a:r>
          </a:p>
          <a:p>
            <a:pPr>
              <a:buNone/>
            </a:pPr>
            <a:r>
              <a:rPr lang="ru-RU" sz="3600" dirty="0" smtClean="0"/>
              <a:t>        </a:t>
            </a:r>
            <a:r>
              <a:rPr lang="ru-RU" sz="3600" b="1" dirty="0" smtClean="0"/>
              <a:t>Конфигурирование и администрирование сети может осуществляться из любого узла</a:t>
            </a:r>
            <a:r>
              <a:rPr lang="ru-RU" sz="3600" dirty="0" smtClean="0"/>
              <a:t>.</a:t>
            </a:r>
          </a:p>
          <a:p>
            <a:pPr>
              <a:buNone/>
            </a:pPr>
            <a:r>
              <a:rPr lang="ru-RU" sz="3600" dirty="0" smtClean="0"/>
              <a:t>       При включении дополнительных сервисов не нужно объезжать все узлы и заново их конфигурировать, как это требуется для сетей SDH и </a:t>
            </a:r>
            <a:r>
              <a:rPr lang="ru-RU" sz="3600" dirty="0" err="1" smtClean="0"/>
              <a:t>Ethernet</a:t>
            </a:r>
            <a:r>
              <a:rPr lang="ru-RU" sz="3600" dirty="0" smtClean="0"/>
              <a:t>. </a:t>
            </a:r>
          </a:p>
          <a:p>
            <a:endParaRPr lang="ru-RU" dirty="0" smtClean="0"/>
          </a:p>
          <a:p>
            <a:endParaRPr lang="ru-RU"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548680"/>
          </a:xfrm>
        </p:spPr>
        <p:txBody>
          <a:bodyPr>
            <a:normAutofit fontScale="90000"/>
          </a:bodyPr>
          <a:lstStyle/>
          <a:p>
            <a:r>
              <a:rPr lang="ru-RU" sz="3600" b="1" dirty="0" smtClean="0">
                <a:solidFill>
                  <a:srgbClr val="002060"/>
                </a:solidFill>
              </a:rPr>
              <a:t>4.2 ОПТИЧЕСКИЕ ТРАНСПОРТНЫЕ СЕТИ (OTN)</a:t>
            </a:r>
            <a:endParaRPr lang="ru-RU" sz="3600" dirty="0"/>
          </a:p>
        </p:txBody>
      </p:sp>
      <p:sp>
        <p:nvSpPr>
          <p:cNvPr id="3" name="Содержимое 2"/>
          <p:cNvSpPr>
            <a:spLocks noGrp="1"/>
          </p:cNvSpPr>
          <p:nvPr>
            <p:ph idx="1"/>
          </p:nvPr>
        </p:nvSpPr>
        <p:spPr>
          <a:xfrm>
            <a:off x="0" y="548680"/>
            <a:ext cx="9144000" cy="6309320"/>
          </a:xfrm>
        </p:spPr>
        <p:txBody>
          <a:bodyPr>
            <a:normAutofit fontScale="32500" lnSpcReduction="20000"/>
          </a:bodyPr>
          <a:lstStyle/>
          <a:p>
            <a:pPr algn="ctr">
              <a:buNone/>
            </a:pPr>
            <a:r>
              <a:rPr lang="ru-RU" sz="7400" b="1" dirty="0" smtClean="0"/>
              <a:t>Основные преимущества сети </a:t>
            </a:r>
            <a:r>
              <a:rPr lang="en-US" sz="7400" b="1" dirty="0" smtClean="0"/>
              <a:t>OTN</a:t>
            </a:r>
            <a:endParaRPr lang="ru-RU" sz="7400" b="1" dirty="0" smtClean="0"/>
          </a:p>
          <a:p>
            <a:pPr algn="ctr">
              <a:buNone/>
            </a:pPr>
            <a:endParaRPr lang="ru-RU" sz="7400" b="1" dirty="0" smtClean="0"/>
          </a:p>
          <a:p>
            <a:pPr>
              <a:buNone/>
            </a:pPr>
            <a:r>
              <a:rPr lang="ru-RU" sz="6400" b="1" dirty="0" smtClean="0">
                <a:effectLst>
                  <a:outerShdw blurRad="38100" dist="38100" dir="2700000" algn="tl">
                    <a:srgbClr val="000000">
                      <a:alpha val="43137"/>
                    </a:srgbClr>
                  </a:outerShdw>
                </a:effectLst>
              </a:rPr>
              <a:t>     </a:t>
            </a:r>
            <a:r>
              <a:rPr lang="ru-RU" sz="7400" b="1" dirty="0" smtClean="0"/>
              <a:t>5. Уникальность сети OTN – широкий набор поддерживаемых интерфейсов</a:t>
            </a:r>
            <a:r>
              <a:rPr lang="ru-RU" sz="7400" dirty="0" smtClean="0"/>
              <a:t>. </a:t>
            </a:r>
          </a:p>
          <a:p>
            <a:pPr>
              <a:buNone/>
            </a:pPr>
            <a:r>
              <a:rPr lang="ru-RU" sz="6400" dirty="0" smtClean="0"/>
              <a:t>       Ни одно оборудование SDH или </a:t>
            </a:r>
            <a:r>
              <a:rPr lang="ru-RU" sz="6400" dirty="0" err="1" smtClean="0"/>
              <a:t>Ethernet</a:t>
            </a:r>
            <a:r>
              <a:rPr lang="ru-RU" sz="6400" dirty="0" smtClean="0"/>
              <a:t> не похвастается таким изобилием поддерживаемых интерфейсов, как OTN.</a:t>
            </a:r>
          </a:p>
          <a:p>
            <a:pPr>
              <a:buNone/>
            </a:pPr>
            <a:r>
              <a:rPr lang="ru-RU" sz="6400" dirty="0" smtClean="0"/>
              <a:t>        </a:t>
            </a:r>
            <a:r>
              <a:rPr lang="ru-RU" sz="6400" b="1" dirty="0" smtClean="0"/>
              <a:t>Подключение всех сервисов обеспечивается напрямую, без использования промежуточных преобразователей</a:t>
            </a:r>
            <a:r>
              <a:rPr lang="ru-RU" sz="6400" dirty="0" smtClean="0"/>
              <a:t>.</a:t>
            </a:r>
          </a:p>
          <a:p>
            <a:pPr>
              <a:buNone/>
            </a:pPr>
            <a:r>
              <a:rPr lang="ru-RU" sz="6400" dirty="0" smtClean="0"/>
              <a:t>        Это не только упрощает и удешевляет стоимость всей коммуникационной системы (опять же, обучение персонала по каждому дополнительному оборудованию), но и позволяет использовать единую систему управления для мониторинга сети, вплоть до каждого интерфейсного порта.</a:t>
            </a:r>
          </a:p>
          <a:p>
            <a:pPr>
              <a:buNone/>
            </a:pPr>
            <a:r>
              <a:rPr lang="ru-RU" sz="6400" dirty="0" smtClean="0">
                <a:effectLst>
                  <a:outerShdw blurRad="38100" dist="38100" dir="2700000" algn="tl">
                    <a:srgbClr val="000000">
                      <a:alpha val="43137"/>
                    </a:srgbClr>
                  </a:outerShdw>
                </a:effectLst>
              </a:rPr>
              <a:t>       </a:t>
            </a:r>
            <a:r>
              <a:rPr lang="ru-RU" sz="6400" b="1" dirty="0" smtClean="0">
                <a:effectLst>
                  <a:outerShdw blurRad="38100" dist="38100" dir="2700000" algn="tl">
                    <a:srgbClr val="000000">
                      <a:alpha val="43137"/>
                    </a:srgbClr>
                  </a:outerShdw>
                </a:effectLst>
              </a:rPr>
              <a:t>В OTN имеется ряд интерфейсных модулей, предназначенных для специфичных приложений.</a:t>
            </a:r>
          </a:p>
          <a:p>
            <a:pPr>
              <a:buNone/>
            </a:pPr>
            <a:r>
              <a:rPr lang="ru-RU" sz="6400" dirty="0" smtClean="0"/>
              <a:t>         Например, модуль для передачи качественного звука. Он полезен для систем оповещения, где существует требование к полосе пропускания не менее 7 кГц, или для систем радиовещания. Или модуль с интерфейсами DVB-ASI, который    используется в сетях кабельного телевидения для передачи качественного видеоизображения с полосой 270 Мбит/с. Возможна также разработка любых других интерфейсных модулей по требованию заказчика. </a:t>
            </a:r>
          </a:p>
          <a:p>
            <a:endParaRPr lang="ru-RU"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8964488" cy="620688"/>
          </a:xfrm>
        </p:spPr>
        <p:txBody>
          <a:bodyPr>
            <a:normAutofit/>
          </a:bodyPr>
          <a:lstStyle/>
          <a:p>
            <a:r>
              <a:rPr lang="ru-RU" sz="3200" b="1" dirty="0" smtClean="0">
                <a:solidFill>
                  <a:srgbClr val="002060"/>
                </a:solidFill>
              </a:rPr>
              <a:t>4.2 ОПТИЧЕСКИЕ ТРАНСПОРТНЫЕ СЕТИ (OTN)</a:t>
            </a:r>
            <a:endParaRPr lang="ru-RU" sz="3200" dirty="0"/>
          </a:p>
        </p:txBody>
      </p:sp>
      <p:sp>
        <p:nvSpPr>
          <p:cNvPr id="3" name="Содержимое 2"/>
          <p:cNvSpPr>
            <a:spLocks noGrp="1"/>
          </p:cNvSpPr>
          <p:nvPr>
            <p:ph idx="1"/>
          </p:nvPr>
        </p:nvSpPr>
        <p:spPr>
          <a:xfrm>
            <a:off x="0" y="620688"/>
            <a:ext cx="9144000" cy="6237312"/>
          </a:xfrm>
        </p:spPr>
        <p:txBody>
          <a:bodyPr>
            <a:normAutofit fontScale="92500"/>
          </a:bodyPr>
          <a:lstStyle/>
          <a:p>
            <a:pPr algn="ctr">
              <a:buNone/>
            </a:pPr>
            <a:r>
              <a:rPr lang="ru-RU" sz="3000" b="1" dirty="0" smtClean="0"/>
              <a:t>Основные преимущества сети</a:t>
            </a:r>
          </a:p>
          <a:p>
            <a:pPr algn="ctr">
              <a:buNone/>
            </a:pPr>
            <a:r>
              <a:rPr lang="ru-RU" sz="2600" b="1" dirty="0" smtClean="0"/>
              <a:t> </a:t>
            </a:r>
            <a:r>
              <a:rPr lang="ru-RU" sz="2400" b="1" dirty="0" smtClean="0"/>
              <a:t>     </a:t>
            </a:r>
            <a:r>
              <a:rPr lang="ru-RU" sz="2600" b="1" dirty="0" smtClean="0"/>
              <a:t>6.  Узел OTN – это одношаговый мультиплексор</a:t>
            </a:r>
            <a:r>
              <a:rPr lang="ru-RU" sz="2400" dirty="0" smtClean="0">
                <a:effectLst>
                  <a:outerShdw blurRad="38100" dist="38100" dir="2700000" algn="tl">
                    <a:srgbClr val="000000">
                      <a:alpha val="43137"/>
                    </a:srgbClr>
                  </a:outerShdw>
                </a:effectLst>
              </a:rPr>
              <a:t>.</a:t>
            </a:r>
            <a:endParaRPr lang="ru-RU" sz="2400" dirty="0" smtClean="0"/>
          </a:p>
          <a:p>
            <a:pPr>
              <a:buNone/>
            </a:pPr>
            <a:r>
              <a:rPr lang="ru-RU" sz="2400" dirty="0" smtClean="0"/>
              <a:t>        - Сети SDH имеют строгую иерархическую структуру</a:t>
            </a:r>
          </a:p>
          <a:p>
            <a:pPr>
              <a:buNone/>
            </a:pPr>
            <a:r>
              <a:rPr lang="ru-RU" sz="2400" dirty="0" smtClean="0"/>
              <a:t>     В ее состав входят оборудование передачи, оборудование ввода-вывода, оборудование доступа, внешние конверторы и кодеки. </a:t>
            </a:r>
          </a:p>
          <a:p>
            <a:pPr>
              <a:buNone/>
            </a:pPr>
            <a:r>
              <a:rPr lang="ru-RU" sz="2400" dirty="0" smtClean="0"/>
              <a:t>        - Крупные сети </a:t>
            </a:r>
            <a:r>
              <a:rPr lang="ru-RU" sz="2400" dirty="0" err="1" smtClean="0"/>
              <a:t>Ethernet</a:t>
            </a:r>
            <a:r>
              <a:rPr lang="ru-RU" sz="2400" dirty="0" smtClean="0"/>
              <a:t> также имеют свою иерархическую структуры:      ядро, распределение, доступ.  Нужно быть хорошим специалистом, чтобы проектировать такие сети.</a:t>
            </a:r>
          </a:p>
          <a:p>
            <a:pPr>
              <a:buNone/>
            </a:pPr>
            <a:r>
              <a:rPr lang="ru-RU" sz="2400" dirty="0" smtClean="0"/>
              <a:t>       </a:t>
            </a:r>
            <a:r>
              <a:rPr lang="ru-RU" sz="2400" b="1" dirty="0" smtClean="0"/>
              <a:t>-   В сети OTN все узлы равнозначны по отношению друг к другу и представляют собой одношаговый мультиплексор</a:t>
            </a:r>
            <a:r>
              <a:rPr lang="ru-RU" sz="2400" dirty="0" smtClean="0"/>
              <a:t>:</a:t>
            </a:r>
          </a:p>
          <a:p>
            <a:pPr>
              <a:buFont typeface="Wingdings" pitchFamily="2" charset="2"/>
              <a:buChar char="ü"/>
            </a:pPr>
            <a:r>
              <a:rPr lang="ru-RU" sz="2400" dirty="0" smtClean="0"/>
              <a:t> в нем данные от всех интерфейсов одного узла размещаются непосредственно во фреймы, которые передаются по магистрали.</a:t>
            </a:r>
          </a:p>
          <a:p>
            <a:pPr>
              <a:buFont typeface="Wingdings" pitchFamily="2" charset="2"/>
              <a:buChar char="ü"/>
            </a:pPr>
            <a:r>
              <a:rPr lang="ru-RU" sz="2400" dirty="0" smtClean="0"/>
              <a:t>никаких промежуточных агрегации , инкапсуляции , тегов и т.п. не      происходит.</a:t>
            </a:r>
          </a:p>
          <a:p>
            <a:pPr>
              <a:buNone/>
            </a:pPr>
            <a:r>
              <a:rPr lang="ru-RU" sz="2400" dirty="0" smtClean="0"/>
              <a:t>       </a:t>
            </a:r>
            <a:r>
              <a:rPr lang="ru-RU" sz="2400" b="1" dirty="0" smtClean="0"/>
              <a:t>Проектирование сети OTN не составляет особого труда, нужно только знать требуемое количество узлов и интерфейсов. </a:t>
            </a:r>
          </a:p>
          <a:p>
            <a:endParaRPr lang="ru-RU"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692696"/>
          </a:xfrm>
        </p:spPr>
        <p:txBody>
          <a:bodyPr>
            <a:normAutofit/>
          </a:bodyPr>
          <a:lstStyle/>
          <a:p>
            <a:r>
              <a:rPr lang="ru-RU" sz="3200" b="1" dirty="0" smtClean="0">
                <a:solidFill>
                  <a:srgbClr val="002060"/>
                </a:solidFill>
              </a:rPr>
              <a:t>4.2 ОПТИЧЕСКИЕ ТРАНСПОРТНЫЕ СЕТИ (OTN)</a:t>
            </a:r>
            <a:endParaRPr lang="ru-RU" sz="3200" dirty="0"/>
          </a:p>
        </p:txBody>
      </p:sp>
      <p:sp>
        <p:nvSpPr>
          <p:cNvPr id="3" name="Содержимое 2"/>
          <p:cNvSpPr>
            <a:spLocks noGrp="1"/>
          </p:cNvSpPr>
          <p:nvPr>
            <p:ph idx="1"/>
          </p:nvPr>
        </p:nvSpPr>
        <p:spPr>
          <a:xfrm>
            <a:off x="0" y="548680"/>
            <a:ext cx="9144000" cy="6309320"/>
          </a:xfrm>
        </p:spPr>
        <p:txBody>
          <a:bodyPr>
            <a:normAutofit fontScale="25000" lnSpcReduction="20000"/>
          </a:bodyPr>
          <a:lstStyle/>
          <a:p>
            <a:pPr algn="ctr">
              <a:buNone/>
            </a:pPr>
            <a:endParaRPr lang="ru-RU" sz="9600" b="1" dirty="0" smtClean="0"/>
          </a:p>
          <a:p>
            <a:pPr algn="ctr">
              <a:buNone/>
            </a:pPr>
            <a:r>
              <a:rPr lang="ru-RU" sz="11200" b="1" dirty="0" smtClean="0"/>
              <a:t>Основные преимущества сети </a:t>
            </a:r>
            <a:r>
              <a:rPr lang="en-US" sz="11200" b="1" dirty="0" smtClean="0"/>
              <a:t>OTN</a:t>
            </a:r>
            <a:r>
              <a:rPr lang="ru-RU" sz="11200" u="sng" dirty="0" smtClean="0"/>
              <a:t> </a:t>
            </a:r>
            <a:r>
              <a:rPr lang="ru-RU" sz="9600" u="sng" dirty="0" smtClean="0"/>
              <a:t> </a:t>
            </a:r>
          </a:p>
          <a:p>
            <a:pPr algn="ctr">
              <a:buNone/>
            </a:pPr>
            <a:r>
              <a:rPr lang="ru-RU" sz="9600" b="1" dirty="0" smtClean="0">
                <a:effectLst>
                  <a:outerShdw blurRad="38100" dist="38100" dir="2700000" algn="tl">
                    <a:srgbClr val="000000">
                      <a:alpha val="43137"/>
                    </a:srgbClr>
                  </a:outerShdw>
                </a:effectLst>
              </a:rPr>
              <a:t>      7. Масштабирование без ограничений. </a:t>
            </a:r>
          </a:p>
          <a:p>
            <a:pPr algn="ctr">
              <a:buNone/>
            </a:pPr>
            <a:endParaRPr lang="ru-RU" sz="9600" b="1" dirty="0" smtClean="0">
              <a:effectLst>
                <a:outerShdw blurRad="38100" dist="38100" dir="2700000" algn="tl">
                  <a:srgbClr val="000000">
                    <a:alpha val="43137"/>
                  </a:srgbClr>
                </a:outerShdw>
              </a:effectLst>
            </a:endParaRPr>
          </a:p>
          <a:p>
            <a:pPr>
              <a:buNone/>
            </a:pPr>
            <a:r>
              <a:rPr lang="ru-RU" sz="8000" dirty="0" smtClean="0"/>
              <a:t>    - В любой момент в сеть может быть добавлено любое количество узлов и интерфейсных модулей.</a:t>
            </a:r>
          </a:p>
          <a:p>
            <a:pPr>
              <a:buNone/>
            </a:pPr>
            <a:r>
              <a:rPr lang="ru-RU" sz="8000" dirty="0" smtClean="0"/>
              <a:t>    - При этом сам процесс добавления устройств не влияет на работу всей сети, все приложения продолжают работать в обычном режиме.</a:t>
            </a:r>
          </a:p>
          <a:p>
            <a:pPr>
              <a:buNone/>
            </a:pPr>
            <a:r>
              <a:rPr lang="ru-RU" sz="8000" dirty="0" smtClean="0"/>
              <a:t>     -  При разрыве кольца, чтобы добавить узел, сеть автоматически «завернется» на ближайших узлах и продолжит работу без перерыва связи.</a:t>
            </a:r>
          </a:p>
          <a:p>
            <a:pPr>
              <a:buNone/>
            </a:pPr>
            <a:r>
              <a:rPr lang="ru-RU" sz="8000" dirty="0" smtClean="0"/>
              <a:t>     -  При установке новой интерфейсной платы OTN автоматически распознает доступные на ней интерфейсы. Остается только при помощи программы управления назначить им требуемые сервисы. </a:t>
            </a:r>
          </a:p>
          <a:p>
            <a:pPr>
              <a:buNone/>
            </a:pPr>
            <a:r>
              <a:rPr lang="ru-RU" sz="8000" dirty="0" smtClean="0"/>
              <a:t>    -   Более того, если требуется изменить скорость магистрали, нужно заменить только процессорные модули, все остальное «железо»,  включая шасси, блоки питания, интерфейсные модули и даже оптические трансиверы на процессорной плате, остается прежнее.</a:t>
            </a:r>
          </a:p>
          <a:p>
            <a:pPr>
              <a:buNone/>
            </a:pPr>
            <a:r>
              <a:rPr lang="ru-RU" sz="8000" dirty="0" smtClean="0"/>
              <a:t>     - Процедура замены процессорных модулей занимает несколько секунд.</a:t>
            </a:r>
          </a:p>
          <a:p>
            <a:pPr>
              <a:buNone/>
            </a:pPr>
            <a:r>
              <a:rPr lang="ru-RU" sz="8000" dirty="0" smtClean="0"/>
              <a:t>     Все это выгодно отличает OTN от сетей SDH и </a:t>
            </a:r>
            <a:r>
              <a:rPr lang="ru-RU" sz="8000" dirty="0" err="1" smtClean="0"/>
              <a:t>Ethernet</a:t>
            </a:r>
            <a:r>
              <a:rPr lang="ru-RU" sz="8000" dirty="0" smtClean="0"/>
              <a:t>.</a:t>
            </a:r>
          </a:p>
          <a:p>
            <a:pPr>
              <a:buNone/>
            </a:pPr>
            <a:r>
              <a:rPr lang="ru-RU" sz="8000" b="1" dirty="0" smtClean="0"/>
              <a:t>      Это реальная защита вложенных в транспортную сеть инвестиции</a:t>
            </a:r>
            <a:r>
              <a:rPr lang="ru-RU" sz="8000" dirty="0" smtClean="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836712"/>
          </a:xfrm>
        </p:spPr>
        <p:txBody>
          <a:bodyPr>
            <a:normAutofit/>
          </a:bodyPr>
          <a:lstStyle/>
          <a:p>
            <a:r>
              <a:rPr lang="ru-RU" sz="3200" b="1" dirty="0" smtClean="0">
                <a:solidFill>
                  <a:srgbClr val="002060"/>
                </a:solidFill>
              </a:rPr>
              <a:t>4.2 ОПТИЧЕСКИЕ ТРАНСПОРТНЫЕ СЕТИ (OTN)</a:t>
            </a:r>
            <a:endParaRPr lang="ru-RU" sz="3200" dirty="0"/>
          </a:p>
        </p:txBody>
      </p:sp>
      <p:sp>
        <p:nvSpPr>
          <p:cNvPr id="3" name="Содержимое 2"/>
          <p:cNvSpPr>
            <a:spLocks noGrp="1"/>
          </p:cNvSpPr>
          <p:nvPr>
            <p:ph idx="1"/>
          </p:nvPr>
        </p:nvSpPr>
        <p:spPr>
          <a:xfrm>
            <a:off x="179512" y="692696"/>
            <a:ext cx="8964488" cy="5904656"/>
          </a:xfrm>
        </p:spPr>
        <p:txBody>
          <a:bodyPr>
            <a:normAutofit fontScale="92500"/>
          </a:bodyPr>
          <a:lstStyle/>
          <a:p>
            <a:pPr algn="ctr">
              <a:buNone/>
            </a:pPr>
            <a:r>
              <a:rPr lang="ru-RU" b="1" dirty="0" smtClean="0"/>
              <a:t>Основные преимущества сети </a:t>
            </a:r>
            <a:r>
              <a:rPr lang="en-US" b="1" dirty="0" smtClean="0"/>
              <a:t>OTN</a:t>
            </a:r>
            <a:endParaRPr lang="ru-RU" dirty="0" smtClean="0"/>
          </a:p>
          <a:p>
            <a:pPr algn="ctr">
              <a:buNone/>
            </a:pPr>
            <a:r>
              <a:rPr lang="ru-RU" dirty="0" smtClean="0"/>
              <a:t> </a:t>
            </a:r>
            <a:r>
              <a:rPr lang="ru-RU" b="1" dirty="0" smtClean="0"/>
              <a:t>8. Любые расстояния.</a:t>
            </a:r>
          </a:p>
          <a:p>
            <a:pPr>
              <a:buNone/>
            </a:pPr>
            <a:r>
              <a:rPr lang="ru-RU" dirty="0" smtClean="0"/>
              <a:t>     -   Сеть OTN практически не имеет ограничении по количеству узлов в одном кольце, что сильно отличает ее от сети </a:t>
            </a:r>
            <a:r>
              <a:rPr lang="ru-RU" dirty="0" err="1" smtClean="0"/>
              <a:t>Ethernet</a:t>
            </a:r>
            <a:r>
              <a:rPr lang="ru-RU" dirty="0" smtClean="0"/>
              <a:t>, где в кольцевой схеме может быть установлено не более 15 узлов.</a:t>
            </a:r>
          </a:p>
          <a:p>
            <a:pPr>
              <a:buNone/>
            </a:pPr>
            <a:r>
              <a:rPr lang="ru-RU" dirty="0" smtClean="0"/>
              <a:t>    - А </a:t>
            </a:r>
            <a:r>
              <a:rPr lang="ru-RU" b="1" dirty="0" smtClean="0"/>
              <a:t>длина одного пролета оптического кабеля между соседними узлами OTN без применения промежуточных оптических репитеров может составлять более 80 км </a:t>
            </a:r>
            <a:r>
              <a:rPr lang="ru-RU" dirty="0" smtClean="0"/>
              <a:t>с сохранением требуемого оптического бюджета оптических трансиверов</a:t>
            </a:r>
            <a:r>
              <a:rPr lang="ru-RU" sz="2400" dirty="0" smtClean="0"/>
              <a:t>. </a:t>
            </a:r>
          </a:p>
          <a:p>
            <a:pPr>
              <a:buNone/>
            </a:pPr>
            <a:r>
              <a:rPr lang="ru-RU" sz="1800" dirty="0" smtClean="0"/>
              <a:t>      </a:t>
            </a:r>
            <a:endParaRPr lang="ru-RU"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764704"/>
          </a:xfrm>
        </p:spPr>
        <p:txBody>
          <a:bodyPr>
            <a:normAutofit/>
          </a:bodyPr>
          <a:lstStyle/>
          <a:p>
            <a:r>
              <a:rPr lang="ru-RU" sz="3200" b="1" dirty="0" smtClean="0">
                <a:solidFill>
                  <a:srgbClr val="002060"/>
                </a:solidFill>
              </a:rPr>
              <a:t>4.2ОПТИЧЕСКИЕ ТРАНСПОРТНЫЕ СЕТИ (OTN)</a:t>
            </a:r>
            <a:endParaRPr lang="ru-RU" sz="3200" dirty="0"/>
          </a:p>
        </p:txBody>
      </p:sp>
      <p:sp>
        <p:nvSpPr>
          <p:cNvPr id="3" name="Содержимое 2"/>
          <p:cNvSpPr>
            <a:spLocks noGrp="1"/>
          </p:cNvSpPr>
          <p:nvPr>
            <p:ph idx="1"/>
          </p:nvPr>
        </p:nvSpPr>
        <p:spPr>
          <a:xfrm>
            <a:off x="0" y="620688"/>
            <a:ext cx="9144000" cy="6237312"/>
          </a:xfrm>
        </p:spPr>
        <p:txBody>
          <a:bodyPr>
            <a:normAutofit fontScale="32500" lnSpcReduction="20000"/>
          </a:bodyPr>
          <a:lstStyle/>
          <a:p>
            <a:pPr algn="ctr">
              <a:buNone/>
            </a:pPr>
            <a:r>
              <a:rPr lang="ru-RU" sz="8600" b="1" dirty="0" smtClean="0"/>
              <a:t>Основные преимущества сети </a:t>
            </a:r>
            <a:r>
              <a:rPr lang="en-US" sz="8600" b="1" dirty="0" smtClean="0"/>
              <a:t>OTN</a:t>
            </a:r>
            <a:endParaRPr lang="ru-RU" sz="8600" b="1" dirty="0" smtClean="0"/>
          </a:p>
          <a:p>
            <a:pPr algn="ctr">
              <a:buNone/>
            </a:pPr>
            <a:r>
              <a:rPr lang="ru-RU" sz="7400" dirty="0" smtClean="0">
                <a:effectLst>
                  <a:outerShdw blurRad="38100" dist="38100" dir="2700000" algn="tl">
                    <a:srgbClr val="000000">
                      <a:alpha val="43137"/>
                    </a:srgbClr>
                  </a:outerShdw>
                </a:effectLst>
              </a:rPr>
              <a:t>   </a:t>
            </a:r>
            <a:r>
              <a:rPr lang="ru-RU" sz="7400" b="1" dirty="0" smtClean="0"/>
              <a:t>9. Приспособленность к видео решениям.</a:t>
            </a:r>
          </a:p>
          <a:p>
            <a:pPr>
              <a:buNone/>
            </a:pPr>
            <a:r>
              <a:rPr lang="ru-RU" sz="6200" dirty="0" smtClean="0"/>
              <a:t>    Всего в сети OTN имеется три решения для передачи видеоизображении: </a:t>
            </a:r>
          </a:p>
          <a:p>
            <a:pPr>
              <a:buNone/>
            </a:pPr>
            <a:r>
              <a:rPr lang="ru-RU" sz="6200" dirty="0" smtClean="0"/>
              <a:t>    1.</a:t>
            </a:r>
            <a:r>
              <a:rPr lang="ru-RU" sz="6200" i="1" dirty="0" smtClean="0"/>
              <a:t> </a:t>
            </a:r>
            <a:r>
              <a:rPr lang="ru-RU" sz="6200" b="1" dirty="0" smtClean="0"/>
              <a:t>аналоговое</a:t>
            </a:r>
            <a:r>
              <a:rPr lang="ru-RU" sz="6200" dirty="0" smtClean="0"/>
              <a:t>, когда OTN соединяет аналоговые PAL/NTSC видеовходы и видеовыходы, имеющие стандартные разъемы BNC; </a:t>
            </a:r>
          </a:p>
          <a:p>
            <a:pPr>
              <a:buNone/>
            </a:pPr>
            <a:r>
              <a:rPr lang="ru-RU" sz="6200" dirty="0" smtClean="0"/>
              <a:t>   2</a:t>
            </a:r>
            <a:r>
              <a:rPr lang="ru-RU" sz="6200" b="1" i="1" dirty="0" smtClean="0"/>
              <a:t>.  IP-решение</a:t>
            </a:r>
            <a:r>
              <a:rPr lang="ru-RU" sz="6200" dirty="0" smtClean="0"/>
              <a:t>, когда OTN служит прозрачной транспортной средой для передачи  IP-трафика, который уже включает в себя видео; </a:t>
            </a:r>
          </a:p>
          <a:p>
            <a:pPr>
              <a:buNone/>
            </a:pPr>
            <a:r>
              <a:rPr lang="ru-RU" sz="6200" dirty="0" smtClean="0"/>
              <a:t>   3.  </a:t>
            </a:r>
            <a:r>
              <a:rPr lang="ru-RU" sz="6200" b="1" dirty="0" smtClean="0"/>
              <a:t>уникальное решение OTN </a:t>
            </a:r>
            <a:r>
              <a:rPr lang="ru-RU" sz="6200" dirty="0" smtClean="0"/>
              <a:t>– преобразование аналогового видео в IP-поток, когда видеосигналы вводятся в сеть OTN через аналоговые порты, а выводятся виде IP-потока напрямую в соответствующие приложения,</a:t>
            </a:r>
          </a:p>
          <a:p>
            <a:pPr>
              <a:buNone/>
            </a:pPr>
            <a:r>
              <a:rPr lang="ru-RU" sz="6200" dirty="0" smtClean="0"/>
              <a:t>       например, на </a:t>
            </a:r>
            <a:r>
              <a:rPr lang="ru-RU" sz="6200" dirty="0" err="1" smtClean="0"/>
              <a:t>видеостену</a:t>
            </a:r>
            <a:r>
              <a:rPr lang="ru-RU" sz="6200" dirty="0" smtClean="0"/>
              <a:t> или в сетевой </a:t>
            </a:r>
            <a:r>
              <a:rPr lang="ru-RU" sz="6200" dirty="0" err="1" smtClean="0"/>
              <a:t>видеорегистратор</a:t>
            </a:r>
            <a:r>
              <a:rPr lang="ru-RU" sz="6200" dirty="0" smtClean="0"/>
              <a:t>.</a:t>
            </a:r>
          </a:p>
          <a:p>
            <a:pPr>
              <a:buNone/>
            </a:pPr>
            <a:r>
              <a:rPr lang="ru-RU" sz="6200" dirty="0" smtClean="0"/>
              <a:t>     </a:t>
            </a:r>
            <a:r>
              <a:rPr lang="ru-RU" sz="6200" dirty="0" smtClean="0">
                <a:effectLst>
                  <a:outerShdw blurRad="38100" dist="38100" dir="2700000" algn="tl">
                    <a:srgbClr val="000000">
                      <a:alpha val="43137"/>
                    </a:srgbClr>
                  </a:outerShdw>
                </a:effectLst>
              </a:rPr>
              <a:t>Отличительной особенностью от других сетей является то, что сеть OTN </a:t>
            </a:r>
            <a:r>
              <a:rPr lang="ru-RU" sz="6200" dirty="0" smtClean="0"/>
              <a:t>может </a:t>
            </a:r>
            <a:r>
              <a:rPr lang="ru-RU" sz="6200" dirty="0" smtClean="0">
                <a:effectLst>
                  <a:outerShdw blurRad="38100" dist="38100" dir="2700000" algn="tl">
                    <a:srgbClr val="000000">
                      <a:alpha val="43137"/>
                    </a:srgbClr>
                  </a:outerShdw>
                </a:effectLst>
              </a:rPr>
              <a:t>динамически коммутировать видеоканалы</a:t>
            </a:r>
            <a:r>
              <a:rPr lang="ru-RU" sz="6200" dirty="0" smtClean="0"/>
              <a:t>, т.е. по команде оператора выводить на монитор изображение той или иной видеокамеры.</a:t>
            </a:r>
          </a:p>
          <a:p>
            <a:pPr>
              <a:buNone/>
            </a:pPr>
            <a:r>
              <a:rPr lang="ru-RU" sz="6200" dirty="0" smtClean="0"/>
              <a:t>   Для этого используется специальное программно-аппаратное средство – </a:t>
            </a:r>
          </a:p>
          <a:p>
            <a:pPr>
              <a:buNone/>
            </a:pPr>
            <a:r>
              <a:rPr lang="ru-RU" sz="6200" dirty="0" smtClean="0"/>
              <a:t>   OVS (OTN </a:t>
            </a:r>
            <a:r>
              <a:rPr lang="ru-RU" sz="6200" dirty="0" err="1" smtClean="0"/>
              <a:t>Video</a:t>
            </a:r>
            <a:r>
              <a:rPr lang="ru-RU" sz="6200" dirty="0" smtClean="0"/>
              <a:t> </a:t>
            </a:r>
            <a:r>
              <a:rPr lang="ru-RU" sz="6200" dirty="0" err="1" smtClean="0"/>
              <a:t>Solution</a:t>
            </a:r>
            <a:r>
              <a:rPr lang="ru-RU" sz="6200" dirty="0" smtClean="0"/>
              <a:t>),которое позволяет не только производить коммутацию видеоканалов, он также имеет специальные интерфейсы для подключения блоков управления видеокамер, что позволяет не только выбирать для просмотра требуемые видеокамеры, но и управлять ими.</a:t>
            </a:r>
          </a:p>
          <a:p>
            <a:pPr>
              <a:buNone/>
            </a:pPr>
            <a:r>
              <a:rPr lang="ru-RU" sz="6200" dirty="0" smtClean="0"/>
              <a:t>   Поддерживаются все стандартные протоколы телеметрии видеокамер – </a:t>
            </a:r>
          </a:p>
          <a:p>
            <a:pPr>
              <a:buNone/>
            </a:pPr>
            <a:r>
              <a:rPr lang="ru-RU" sz="6200" dirty="0" smtClean="0"/>
              <a:t>     </a:t>
            </a:r>
            <a:r>
              <a:rPr lang="ru-RU" sz="6200" dirty="0" err="1" smtClean="0"/>
              <a:t>Pelco</a:t>
            </a:r>
            <a:r>
              <a:rPr lang="ru-RU" sz="6200" dirty="0" smtClean="0"/>
              <a:t>, </a:t>
            </a:r>
            <a:r>
              <a:rPr lang="ru-RU" sz="6200" dirty="0" err="1" smtClean="0"/>
              <a:t>Philips</a:t>
            </a:r>
            <a:r>
              <a:rPr lang="ru-RU" sz="6200" dirty="0" smtClean="0"/>
              <a:t> и др. </a:t>
            </a:r>
          </a:p>
          <a:p>
            <a:pPr>
              <a:buNone/>
            </a:pPr>
            <a:r>
              <a:rPr lang="ru-RU" sz="2900" dirty="0" smtClean="0"/>
              <a:t> </a:t>
            </a:r>
            <a:endParaRPr lang="ru-RU" sz="2900" b="1" dirty="0" smtClean="0"/>
          </a:p>
          <a:p>
            <a:pPr algn="ctr"/>
            <a:endParaRPr lang="ru-RU" sz="2000" dirty="0" smtClean="0"/>
          </a:p>
          <a:p>
            <a:endParaRPr lang="ru-RU"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692696"/>
          </a:xfrm>
        </p:spPr>
        <p:txBody>
          <a:bodyPr>
            <a:normAutofit/>
          </a:bodyPr>
          <a:lstStyle/>
          <a:p>
            <a:r>
              <a:rPr lang="ru-RU" sz="3200" b="1" dirty="0" smtClean="0">
                <a:solidFill>
                  <a:srgbClr val="002060"/>
                </a:solidFill>
              </a:rPr>
              <a:t>4.2 ОПТИЧЕСКИЕ ТРАНСПОРТНЫЕ СЕТИ (OTN)</a:t>
            </a:r>
            <a:endParaRPr lang="ru-RU" sz="3200" dirty="0"/>
          </a:p>
        </p:txBody>
      </p:sp>
      <p:sp>
        <p:nvSpPr>
          <p:cNvPr id="3" name="Содержимое 2"/>
          <p:cNvSpPr>
            <a:spLocks noGrp="1"/>
          </p:cNvSpPr>
          <p:nvPr>
            <p:ph idx="1"/>
          </p:nvPr>
        </p:nvSpPr>
        <p:spPr>
          <a:xfrm>
            <a:off x="0" y="620688"/>
            <a:ext cx="9144000" cy="6237312"/>
          </a:xfrm>
        </p:spPr>
        <p:txBody>
          <a:bodyPr>
            <a:normAutofit fontScale="92500" lnSpcReduction="10000"/>
          </a:bodyPr>
          <a:lstStyle/>
          <a:p>
            <a:pPr algn="ctr">
              <a:buNone/>
            </a:pPr>
            <a:r>
              <a:rPr lang="ru-RU" sz="3300" b="1" dirty="0" smtClean="0"/>
              <a:t>Основные преимущества сети </a:t>
            </a:r>
            <a:r>
              <a:rPr lang="en-US" sz="3300" b="1" dirty="0" smtClean="0"/>
              <a:t>OTN</a:t>
            </a:r>
            <a:endParaRPr lang="ru-RU" sz="3300" b="1" dirty="0" smtClean="0"/>
          </a:p>
          <a:p>
            <a:pPr algn="ctr">
              <a:buNone/>
            </a:pPr>
            <a:r>
              <a:rPr lang="ru-RU" sz="2800" b="1" dirty="0" smtClean="0"/>
              <a:t>10. Совместимость с другими транспортными сетями</a:t>
            </a:r>
            <a:r>
              <a:rPr lang="ru-RU" sz="3400" b="1" dirty="0" smtClean="0"/>
              <a:t>. </a:t>
            </a:r>
          </a:p>
          <a:p>
            <a:pPr>
              <a:buNone/>
            </a:pPr>
            <a:r>
              <a:rPr lang="ru-RU" sz="2900" dirty="0" smtClean="0"/>
              <a:t>    - Сеть OTN имеет стандартные интерфейсы не только для подключения сервисных служб пользователей, </a:t>
            </a:r>
          </a:p>
          <a:p>
            <a:pPr>
              <a:buNone/>
            </a:pPr>
            <a:r>
              <a:rPr lang="ru-RU" sz="2900" dirty="0" smtClean="0"/>
              <a:t>     но и </a:t>
            </a:r>
            <a:r>
              <a:rPr lang="ru-RU" sz="2900" b="1" dirty="0" smtClean="0"/>
              <a:t>стандартные магистральные интерфейсы</a:t>
            </a:r>
          </a:p>
          <a:p>
            <a:pPr>
              <a:buNone/>
            </a:pPr>
            <a:r>
              <a:rPr lang="ru-RU" sz="2900" b="1" dirty="0" smtClean="0"/>
              <a:t>      для сопряжения с другими транспортными сетями</a:t>
            </a:r>
            <a:r>
              <a:rPr lang="ru-RU" sz="2900" dirty="0" smtClean="0"/>
              <a:t>.</a:t>
            </a:r>
          </a:p>
          <a:p>
            <a:pPr>
              <a:buNone/>
            </a:pPr>
            <a:r>
              <a:rPr lang="ru-RU" sz="2900" dirty="0" smtClean="0"/>
              <a:t>       Это полезно, когда у заказчика на каком-то участке имеется возможность использовать существующую сеть, например SDH.</a:t>
            </a:r>
          </a:p>
          <a:p>
            <a:pPr>
              <a:buNone/>
            </a:pPr>
            <a:r>
              <a:rPr lang="ru-RU" sz="2900" dirty="0" smtClean="0"/>
              <a:t>    -  С помощью этой сети можно, например, соединить два кольца OTN, или соединить два    смежных узла OTN на одном кольце. </a:t>
            </a:r>
          </a:p>
          <a:p>
            <a:pPr>
              <a:buNone/>
            </a:pPr>
            <a:r>
              <a:rPr lang="ru-RU" sz="2900" dirty="0" smtClean="0"/>
              <a:t>     </a:t>
            </a:r>
            <a:r>
              <a:rPr lang="ru-RU" sz="2900" dirty="0" smtClean="0">
                <a:effectLst>
                  <a:outerShdw blurRad="38100" dist="38100" dir="2700000" algn="tl">
                    <a:srgbClr val="000000">
                      <a:alpha val="43137"/>
                    </a:srgbClr>
                  </a:outerShdw>
                </a:effectLst>
              </a:rPr>
              <a:t>Поддерживаются оптические интерфейсы STM-4, STM-16,</a:t>
            </a:r>
          </a:p>
          <a:p>
            <a:pPr>
              <a:buNone/>
            </a:pPr>
            <a:r>
              <a:rPr lang="ru-RU" sz="2900" dirty="0" smtClean="0">
                <a:effectLst>
                  <a:outerShdw blurRad="38100" dist="38100" dir="2700000" algn="tl">
                    <a:srgbClr val="000000">
                      <a:alpha val="43137"/>
                    </a:srgbClr>
                  </a:outerShdw>
                </a:effectLst>
              </a:rPr>
              <a:t>    STM-64,  сопряжения с сетями технологии WDM. </a:t>
            </a:r>
          </a:p>
          <a:p>
            <a:pPr algn="ctr">
              <a:buNone/>
            </a:pPr>
            <a:endParaRPr lang="ru-RU" sz="2000" b="1" dirty="0" smtClean="0"/>
          </a:p>
          <a:p>
            <a:endParaRPr lang="ru-RU"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778098"/>
          </a:xfrm>
        </p:spPr>
        <p:txBody>
          <a:bodyPr>
            <a:normAutofit fontScale="90000"/>
          </a:bodyPr>
          <a:lstStyle/>
          <a:p>
            <a:r>
              <a:rPr lang="ru-RU" sz="3600" b="1" dirty="0" smtClean="0">
                <a:solidFill>
                  <a:srgbClr val="002060"/>
                </a:solidFill>
              </a:rPr>
              <a:t>4.3 Структура сети </a:t>
            </a:r>
            <a:r>
              <a:rPr lang="en-US" sz="3600" b="1" dirty="0" smtClean="0">
                <a:solidFill>
                  <a:srgbClr val="002060"/>
                </a:solidFill>
              </a:rPr>
              <a:t>OTN</a:t>
            </a:r>
            <a:r>
              <a:rPr lang="ru-RU" sz="3600" b="1" dirty="0" smtClean="0">
                <a:solidFill>
                  <a:srgbClr val="002060"/>
                </a:solidFill>
              </a:rPr>
              <a:t>. Модель сети OTN</a:t>
            </a:r>
            <a:endParaRPr lang="ru-RU" sz="3600" b="1" dirty="0">
              <a:solidFill>
                <a:srgbClr val="002060"/>
              </a:solidFill>
            </a:endParaRPr>
          </a:p>
        </p:txBody>
      </p:sp>
      <p:sp>
        <p:nvSpPr>
          <p:cNvPr id="3" name="Содержимое 2"/>
          <p:cNvSpPr>
            <a:spLocks noGrp="1"/>
          </p:cNvSpPr>
          <p:nvPr>
            <p:ph idx="1"/>
          </p:nvPr>
        </p:nvSpPr>
        <p:spPr>
          <a:xfrm>
            <a:off x="0" y="1124744"/>
            <a:ext cx="9144000" cy="5544616"/>
          </a:xfrm>
        </p:spPr>
        <p:txBody>
          <a:bodyPr/>
          <a:lstStyle/>
          <a:p>
            <a:r>
              <a:rPr lang="ru-RU" sz="2400" dirty="0" smtClean="0"/>
              <a:t>Модель сети OTN сходна с моделью SONET/SDH .</a:t>
            </a:r>
          </a:p>
          <a:p>
            <a:r>
              <a:rPr lang="ru-RU" sz="2400" dirty="0" smtClean="0"/>
              <a:t>Здесь формируются:</a:t>
            </a:r>
          </a:p>
          <a:p>
            <a:pPr>
              <a:buNone/>
            </a:pPr>
            <a:r>
              <a:rPr lang="ru-RU" sz="2400" dirty="0" smtClean="0"/>
              <a:t>      - </a:t>
            </a:r>
            <a:r>
              <a:rPr lang="ru-RU" sz="2400" b="1" dirty="0" smtClean="0"/>
              <a:t>оптические каналы (</a:t>
            </a:r>
            <a:r>
              <a:rPr lang="ru-RU" sz="2400" b="1" dirty="0" err="1" smtClean="0"/>
              <a:t>OCh</a:t>
            </a:r>
            <a:r>
              <a:rPr lang="ru-RU" sz="2400" b="1" dirty="0" smtClean="0"/>
              <a:t>)</a:t>
            </a:r>
          </a:p>
          <a:p>
            <a:pPr>
              <a:buNone/>
            </a:pPr>
            <a:r>
              <a:rPr lang="ru-RU" sz="2400" b="1" dirty="0" smtClean="0"/>
              <a:t>      - секция мультиплексирования (OMS) </a:t>
            </a:r>
          </a:p>
          <a:p>
            <a:pPr>
              <a:buNone/>
            </a:pPr>
            <a:r>
              <a:rPr lang="ru-RU" sz="2400" b="1" dirty="0" smtClean="0"/>
              <a:t>      - транспортная секция (OTS). </a:t>
            </a:r>
          </a:p>
          <a:p>
            <a:endParaRPr lang="ru-RU" sz="2400" dirty="0" smtClean="0"/>
          </a:p>
          <a:p>
            <a:endParaRPr lang="ru-RU" dirty="0"/>
          </a:p>
        </p:txBody>
      </p:sp>
      <p:pic>
        <p:nvPicPr>
          <p:cNvPr id="4" name="Image 2"/>
          <p:cNvPicPr/>
          <p:nvPr/>
        </p:nvPicPr>
        <p:blipFill>
          <a:blip r:embed="rId2" cstate="print"/>
          <a:stretch>
            <a:fillRect/>
          </a:stretch>
        </p:blipFill>
        <p:spPr>
          <a:xfrm>
            <a:off x="251520" y="3356992"/>
            <a:ext cx="8892480" cy="316835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9144000" cy="778098"/>
          </a:xfrm>
        </p:spPr>
        <p:txBody>
          <a:bodyPr>
            <a:noAutofit/>
          </a:bodyPr>
          <a:lstStyle/>
          <a:p>
            <a:r>
              <a:rPr lang="ru-RU" sz="3600" b="1" dirty="0" smtClean="0">
                <a:solidFill>
                  <a:srgbClr val="002060"/>
                </a:solidFill>
              </a:rPr>
              <a:t/>
            </a:r>
            <a:br>
              <a:rPr lang="ru-RU" sz="3600" b="1" dirty="0" smtClean="0">
                <a:solidFill>
                  <a:srgbClr val="002060"/>
                </a:solidFill>
              </a:rPr>
            </a:br>
            <a:r>
              <a:rPr lang="ru-RU" sz="3200" b="1" dirty="0" smtClean="0">
                <a:solidFill>
                  <a:srgbClr val="002060"/>
                </a:solidFill>
              </a:rPr>
              <a:t>Формирование структуры транспортного потока OTN (1)</a:t>
            </a:r>
            <a:r>
              <a:rPr lang="ru-RU" sz="3600" b="1" dirty="0" smtClean="0">
                <a:solidFill>
                  <a:srgbClr val="002060"/>
                </a:solidFill>
              </a:rPr>
              <a:t/>
            </a:r>
            <a:br>
              <a:rPr lang="ru-RU" sz="3600" b="1" dirty="0" smtClean="0">
                <a:solidFill>
                  <a:srgbClr val="002060"/>
                </a:solidFill>
              </a:rPr>
            </a:br>
            <a:endParaRPr lang="ru-RU" sz="3600" b="1" dirty="0">
              <a:solidFill>
                <a:srgbClr val="002060"/>
              </a:solidFill>
            </a:endParaRPr>
          </a:p>
        </p:txBody>
      </p:sp>
      <p:sp>
        <p:nvSpPr>
          <p:cNvPr id="3" name="Содержимое 2"/>
          <p:cNvSpPr>
            <a:spLocks noGrp="1"/>
          </p:cNvSpPr>
          <p:nvPr>
            <p:ph idx="1"/>
          </p:nvPr>
        </p:nvSpPr>
        <p:spPr>
          <a:xfrm>
            <a:off x="0" y="1340768"/>
            <a:ext cx="9144000" cy="5688632"/>
          </a:xfrm>
        </p:spPr>
        <p:txBody>
          <a:bodyPr>
            <a:normAutofit/>
          </a:bodyPr>
          <a:lstStyle/>
          <a:p>
            <a:r>
              <a:rPr lang="ru-RU" sz="2400" dirty="0" smtClean="0"/>
              <a:t>Передача полезной нагрузки или клиентского сигнала организована следующим образом (далее пояснение)</a:t>
            </a:r>
            <a:endParaRPr lang="ru-RU" sz="2400" dirty="0"/>
          </a:p>
        </p:txBody>
      </p:sp>
      <p:pic>
        <p:nvPicPr>
          <p:cNvPr id="4" name="Image 3"/>
          <p:cNvPicPr/>
          <p:nvPr/>
        </p:nvPicPr>
        <p:blipFill>
          <a:blip r:embed="rId2" cstate="print"/>
          <a:srcRect l="2609" t="1340" r="5217"/>
          <a:stretch>
            <a:fillRect/>
          </a:stretch>
        </p:blipFill>
        <p:spPr>
          <a:xfrm>
            <a:off x="0" y="2204864"/>
            <a:ext cx="9144000" cy="465313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9144000" cy="1143000"/>
          </a:xfrm>
        </p:spPr>
        <p:txBody>
          <a:bodyPr>
            <a:normAutofit/>
          </a:bodyPr>
          <a:lstStyle/>
          <a:p>
            <a:r>
              <a:rPr lang="ru-RU" sz="3200" b="1" dirty="0" smtClean="0">
                <a:solidFill>
                  <a:srgbClr val="002060"/>
                </a:solidFill>
              </a:rPr>
              <a:t>Формирование структуры транспортного потока OTN (2)</a:t>
            </a:r>
            <a:endParaRPr lang="ru-RU" sz="3200" dirty="0"/>
          </a:p>
        </p:txBody>
      </p:sp>
      <p:sp>
        <p:nvSpPr>
          <p:cNvPr id="3" name="Содержимое 2"/>
          <p:cNvSpPr>
            <a:spLocks noGrp="1"/>
          </p:cNvSpPr>
          <p:nvPr>
            <p:ph idx="1"/>
          </p:nvPr>
        </p:nvSpPr>
        <p:spPr>
          <a:xfrm>
            <a:off x="0" y="1484784"/>
            <a:ext cx="9144000" cy="5373216"/>
          </a:xfrm>
        </p:spPr>
        <p:txBody>
          <a:bodyPr>
            <a:normAutofit fontScale="77500" lnSpcReduction="20000"/>
          </a:bodyPr>
          <a:lstStyle/>
          <a:p>
            <a:pPr marL="514350" lvl="0" indent="-514350">
              <a:buNone/>
            </a:pPr>
            <a:r>
              <a:rPr lang="ru-RU" dirty="0" smtClean="0"/>
              <a:t> 1.  К данным (</a:t>
            </a:r>
            <a:r>
              <a:rPr lang="ru-RU" dirty="0" err="1" smtClean="0"/>
              <a:t>Client</a:t>
            </a:r>
            <a:r>
              <a:rPr lang="ru-RU" dirty="0" smtClean="0"/>
              <a:t>) добавляется заголовок (OH), образуя таким образом </a:t>
            </a:r>
            <a:r>
              <a:rPr lang="ru-RU" b="1" u="sng" dirty="0" smtClean="0"/>
              <a:t>Единицу нагрузки OPU</a:t>
            </a:r>
            <a:r>
              <a:rPr lang="ru-RU" u="sng" dirty="0" smtClean="0"/>
              <a:t>  </a:t>
            </a:r>
            <a:r>
              <a:rPr lang="ru-RU" dirty="0" smtClean="0"/>
              <a:t>(</a:t>
            </a:r>
            <a:r>
              <a:rPr lang="ru-RU" dirty="0" err="1" smtClean="0"/>
              <a:t>Optical</a:t>
            </a:r>
            <a:r>
              <a:rPr lang="ru-RU" dirty="0" smtClean="0"/>
              <a:t> </a:t>
            </a:r>
            <a:r>
              <a:rPr lang="ru-RU" dirty="0" err="1" smtClean="0"/>
              <a:t>channel</a:t>
            </a:r>
            <a:r>
              <a:rPr lang="ru-RU" dirty="0" smtClean="0"/>
              <a:t> </a:t>
            </a:r>
            <a:r>
              <a:rPr lang="ru-RU" dirty="0" err="1" smtClean="0"/>
              <a:t>Payload</a:t>
            </a:r>
            <a:r>
              <a:rPr lang="ru-RU" dirty="0" smtClean="0"/>
              <a:t> </a:t>
            </a:r>
            <a:r>
              <a:rPr lang="ru-RU" dirty="0" err="1" smtClean="0"/>
              <a:t>Unit</a:t>
            </a:r>
            <a:r>
              <a:rPr lang="ru-RU" dirty="0" smtClean="0"/>
              <a:t>)</a:t>
            </a:r>
          </a:p>
          <a:p>
            <a:pPr marL="514350" lvl="0" indent="-514350">
              <a:buNone/>
            </a:pPr>
            <a:r>
              <a:rPr lang="ru-RU" dirty="0" smtClean="0"/>
              <a:t> 2. Еще один OH добавляется к OPU, что составляет</a:t>
            </a:r>
          </a:p>
          <a:p>
            <a:pPr marL="514350" lvl="0" indent="-514350">
              <a:buNone/>
            </a:pPr>
            <a:r>
              <a:rPr lang="ru-RU" dirty="0" smtClean="0"/>
              <a:t>                       </a:t>
            </a:r>
            <a:r>
              <a:rPr lang="ru-RU" b="1" dirty="0" smtClean="0"/>
              <a:t>Единицу данных ODU </a:t>
            </a:r>
            <a:r>
              <a:rPr lang="ru-RU" dirty="0" smtClean="0"/>
              <a:t>– (</a:t>
            </a:r>
            <a:r>
              <a:rPr lang="ru-RU" dirty="0" err="1" smtClean="0"/>
              <a:t>Optical</a:t>
            </a:r>
            <a:r>
              <a:rPr lang="ru-RU" dirty="0" smtClean="0"/>
              <a:t> </a:t>
            </a:r>
            <a:r>
              <a:rPr lang="ru-RU" dirty="0" err="1" smtClean="0"/>
              <a:t>channel</a:t>
            </a:r>
            <a:r>
              <a:rPr lang="ru-RU" dirty="0" smtClean="0"/>
              <a:t> </a:t>
            </a:r>
            <a:r>
              <a:rPr lang="ru-RU" dirty="0" err="1" smtClean="0"/>
              <a:t>Data</a:t>
            </a:r>
            <a:r>
              <a:rPr lang="ru-RU" dirty="0" smtClean="0"/>
              <a:t> </a:t>
            </a:r>
            <a:r>
              <a:rPr lang="ru-RU" dirty="0" err="1" smtClean="0"/>
              <a:t>Unit</a:t>
            </a:r>
            <a:r>
              <a:rPr lang="ru-RU" dirty="0" smtClean="0"/>
              <a:t>).</a:t>
            </a:r>
          </a:p>
          <a:p>
            <a:pPr marL="514350" lvl="0" indent="-514350">
              <a:buNone/>
            </a:pPr>
            <a:r>
              <a:rPr lang="ru-RU" dirty="0" smtClean="0"/>
              <a:t> 3. Еще один OH и данные для FEC добавляются к ODU получается </a:t>
            </a:r>
            <a:r>
              <a:rPr lang="ru-RU" b="1" u="sng" dirty="0" smtClean="0"/>
              <a:t>Транспортная единица  оптического канала OTU </a:t>
            </a:r>
            <a:r>
              <a:rPr lang="ru-RU" dirty="0" smtClean="0"/>
              <a:t>– </a:t>
            </a:r>
          </a:p>
          <a:p>
            <a:pPr marL="514350" lvl="0" indent="-514350">
              <a:buNone/>
            </a:pPr>
            <a:r>
              <a:rPr lang="ru-RU" dirty="0" smtClean="0"/>
              <a:t>                    (</a:t>
            </a:r>
            <a:r>
              <a:rPr lang="ru-RU" dirty="0" err="1" smtClean="0"/>
              <a:t>Optical</a:t>
            </a:r>
            <a:r>
              <a:rPr lang="ru-RU" dirty="0" smtClean="0"/>
              <a:t> </a:t>
            </a:r>
            <a:r>
              <a:rPr lang="ru-RU" dirty="0" err="1" smtClean="0"/>
              <a:t>channel</a:t>
            </a:r>
            <a:r>
              <a:rPr lang="ru-RU" dirty="0" smtClean="0"/>
              <a:t> </a:t>
            </a:r>
            <a:r>
              <a:rPr lang="ru-RU" dirty="0" err="1" smtClean="0"/>
              <a:t>Transport</a:t>
            </a:r>
            <a:r>
              <a:rPr lang="ru-RU" dirty="0" smtClean="0"/>
              <a:t> </a:t>
            </a:r>
            <a:r>
              <a:rPr lang="ru-RU" dirty="0" err="1" smtClean="0"/>
              <a:t>Unit</a:t>
            </a:r>
            <a:r>
              <a:rPr lang="ru-RU" dirty="0" smtClean="0"/>
              <a:t>).</a:t>
            </a:r>
          </a:p>
          <a:p>
            <a:pPr marL="514350" lvl="0" indent="-514350">
              <a:buNone/>
            </a:pPr>
            <a:r>
              <a:rPr lang="ru-RU" dirty="0" smtClean="0"/>
              <a:t> 4. Последующее добавление заголовка создает «маркированный» </a:t>
            </a:r>
            <a:r>
              <a:rPr lang="ru-RU" b="1" u="sng" dirty="0" smtClean="0"/>
              <a:t>оптический канал (</a:t>
            </a:r>
            <a:r>
              <a:rPr lang="ru-RU" b="1" u="sng" dirty="0" err="1" smtClean="0"/>
              <a:t>OCh</a:t>
            </a:r>
            <a:r>
              <a:rPr lang="ru-RU" b="1" u="sng" dirty="0" smtClean="0"/>
              <a:t>), </a:t>
            </a:r>
            <a:r>
              <a:rPr lang="ru-RU" dirty="0" smtClean="0"/>
              <a:t>передаваемый на несущей определенного «цвета».</a:t>
            </a:r>
          </a:p>
          <a:p>
            <a:pPr marL="514350" lvl="0" indent="-514350">
              <a:buNone/>
            </a:pPr>
            <a:r>
              <a:rPr lang="ru-RU" dirty="0" smtClean="0"/>
              <a:t> 5. </a:t>
            </a:r>
            <a:r>
              <a:rPr lang="ru-RU" b="1" dirty="0" smtClean="0"/>
              <a:t>Дополнительные OH могут быть добавлены к различным оптическим каналам </a:t>
            </a:r>
            <a:r>
              <a:rPr lang="ru-RU" dirty="0" smtClean="0"/>
              <a:t>для реализации управления маркированными каналами внутри транспортной сети. </a:t>
            </a:r>
          </a:p>
          <a:p>
            <a:pPr marL="514350" lvl="0" indent="-514350">
              <a:buNone/>
            </a:pPr>
            <a:r>
              <a:rPr lang="ru-RU" dirty="0" smtClean="0"/>
              <a:t> 6. </a:t>
            </a:r>
            <a:r>
              <a:rPr lang="ru-RU" b="1" dirty="0" smtClean="0"/>
              <a:t>После этого формируются секции мультиплексирования (OMS) и передачи (OTS).</a:t>
            </a:r>
          </a:p>
          <a:p>
            <a:endParaRPr lang="ru-RU"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1417638"/>
          </a:xfrm>
        </p:spPr>
        <p:txBody>
          <a:bodyPr>
            <a:normAutofit fontScale="90000"/>
          </a:bodyPr>
          <a:lstStyle/>
          <a:p>
            <a:r>
              <a:rPr lang="ru-RU" sz="2200" dirty="0" smtClean="0"/>
              <a:t/>
            </a:r>
            <a:br>
              <a:rPr lang="ru-RU" sz="2200" dirty="0" smtClean="0"/>
            </a:br>
            <a:r>
              <a:rPr lang="ru-RU" sz="2200" b="1" dirty="0" smtClean="0"/>
              <a:t>Результатом процесса формирования становится оптический канал </a:t>
            </a:r>
            <a:r>
              <a:rPr lang="ru-RU" sz="2200" b="1" dirty="0" err="1" smtClean="0"/>
              <a:t>OCh</a:t>
            </a:r>
            <a:r>
              <a:rPr lang="ru-RU" sz="2200" b="1" dirty="0" smtClean="0"/>
              <a:t>, </a:t>
            </a:r>
            <a:r>
              <a:rPr lang="ru-RU" sz="2200" dirty="0" smtClean="0"/>
              <a:t>приведенный на рисунке и содержащий </a:t>
            </a:r>
            <a:r>
              <a:rPr lang="ru-RU" sz="2200" b="1" dirty="0" smtClean="0"/>
              <a:t>полезную нагрузку (клиентский сигнал</a:t>
            </a:r>
            <a:r>
              <a:rPr lang="ru-RU" sz="2200" dirty="0" smtClean="0"/>
              <a:t>), </a:t>
            </a:r>
            <a:r>
              <a:rPr lang="ru-RU" sz="2200" b="1" dirty="0" smtClean="0"/>
              <a:t>заголовки различных уровней (структуры OH</a:t>
            </a:r>
            <a:r>
              <a:rPr lang="ru-RU" sz="2200" dirty="0" smtClean="0"/>
              <a:t>) и </a:t>
            </a:r>
            <a:r>
              <a:rPr lang="ru-RU" sz="2200" b="1" dirty="0" smtClean="0"/>
              <a:t>корректирующую информацию (FEC). </a:t>
            </a:r>
            <a:r>
              <a:rPr lang="ru-RU" sz="2800" b="1" dirty="0" smtClean="0"/>
              <a:t/>
            </a:r>
            <a:br>
              <a:rPr lang="ru-RU" sz="2800" b="1" dirty="0" smtClean="0"/>
            </a:br>
            <a:endParaRPr lang="ru-RU" sz="2800" b="1" dirty="0"/>
          </a:p>
        </p:txBody>
      </p:sp>
      <p:sp>
        <p:nvSpPr>
          <p:cNvPr id="3" name="Содержимое 2"/>
          <p:cNvSpPr>
            <a:spLocks noGrp="1"/>
          </p:cNvSpPr>
          <p:nvPr>
            <p:ph idx="1"/>
          </p:nvPr>
        </p:nvSpPr>
        <p:spPr>
          <a:xfrm>
            <a:off x="0" y="1600200"/>
            <a:ext cx="9144000" cy="5069160"/>
          </a:xfrm>
        </p:spPr>
        <p:txBody>
          <a:bodyPr/>
          <a:lstStyle/>
          <a:p>
            <a:endParaRPr lang="ru-RU" dirty="0"/>
          </a:p>
        </p:txBody>
      </p:sp>
      <p:pic>
        <p:nvPicPr>
          <p:cNvPr id="4" name="Image 4"/>
          <p:cNvPicPr/>
          <p:nvPr/>
        </p:nvPicPr>
        <p:blipFill>
          <a:blip r:embed="rId2" cstate="print"/>
          <a:stretch>
            <a:fillRect/>
          </a:stretch>
        </p:blipFill>
        <p:spPr>
          <a:xfrm>
            <a:off x="0" y="1700808"/>
            <a:ext cx="8892479" cy="515719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1417638"/>
          </a:xfrm>
        </p:spPr>
        <p:txBody>
          <a:bodyPr>
            <a:noAutofit/>
          </a:bodyPr>
          <a:lstStyle/>
          <a:p>
            <a:pPr algn="l"/>
            <a:r>
              <a:rPr lang="ru-RU" sz="2400" b="1" dirty="0" smtClean="0">
                <a:solidFill>
                  <a:srgbClr val="002060"/>
                </a:solidFill>
              </a:rPr>
              <a:t>Результатом процесса формирования становится оптический канал </a:t>
            </a:r>
            <a:r>
              <a:rPr lang="ru-RU" sz="2400" b="1" dirty="0" err="1" smtClean="0">
                <a:solidFill>
                  <a:srgbClr val="002060"/>
                </a:solidFill>
              </a:rPr>
              <a:t>OCh</a:t>
            </a:r>
            <a:r>
              <a:rPr lang="ru-RU" sz="2400" b="1" dirty="0" smtClean="0">
                <a:solidFill>
                  <a:srgbClr val="002060"/>
                </a:solidFill>
              </a:rPr>
              <a:t>, </a:t>
            </a:r>
            <a:r>
              <a:rPr lang="ru-RU" sz="2400" dirty="0" smtClean="0"/>
              <a:t>содержащий </a:t>
            </a:r>
            <a:r>
              <a:rPr lang="ru-RU" sz="2400" b="1" dirty="0" smtClean="0"/>
              <a:t>полезную нагрузку (клиентский сигнал</a:t>
            </a:r>
            <a:r>
              <a:rPr lang="ru-RU" sz="2400" dirty="0" smtClean="0"/>
              <a:t>), </a:t>
            </a:r>
            <a:br>
              <a:rPr lang="ru-RU" sz="2400" dirty="0" smtClean="0"/>
            </a:br>
            <a:r>
              <a:rPr lang="ru-RU" sz="2400" b="1" dirty="0" smtClean="0"/>
              <a:t>заголовки различных уровней (структуры OH</a:t>
            </a:r>
            <a:r>
              <a:rPr lang="ru-RU" sz="2400" dirty="0" smtClean="0"/>
              <a:t>) </a:t>
            </a:r>
            <a:r>
              <a:rPr lang="ru-RU" sz="2400" b="1" dirty="0" smtClean="0"/>
              <a:t>и корректирующую информацию (FEC)</a:t>
            </a:r>
            <a:endParaRPr lang="ru-RU" sz="2400" b="1" dirty="0"/>
          </a:p>
        </p:txBody>
      </p:sp>
      <p:sp>
        <p:nvSpPr>
          <p:cNvPr id="4" name="Содержимое 3"/>
          <p:cNvSpPr>
            <a:spLocks noGrp="1"/>
          </p:cNvSpPr>
          <p:nvPr>
            <p:ph sz="half" idx="2"/>
          </p:nvPr>
        </p:nvSpPr>
        <p:spPr>
          <a:xfrm>
            <a:off x="4648200" y="1484784"/>
            <a:ext cx="4495800" cy="5184576"/>
          </a:xfrm>
        </p:spPr>
        <p:txBody>
          <a:bodyPr>
            <a:normAutofit fontScale="70000" lnSpcReduction="20000"/>
          </a:bodyPr>
          <a:lstStyle/>
          <a:p>
            <a:r>
              <a:rPr lang="ru-RU" b="1" dirty="0" smtClean="0"/>
              <a:t>Заголовок, обеспечивающий управление и контроль за OTN, состоит</a:t>
            </a:r>
            <a:r>
              <a:rPr lang="ru-RU" dirty="0" smtClean="0"/>
              <a:t> из четырех подструктур:</a:t>
            </a:r>
          </a:p>
          <a:p>
            <a:pPr>
              <a:buNone/>
            </a:pPr>
            <a:r>
              <a:rPr lang="ru-RU" dirty="0" smtClean="0">
                <a:solidFill>
                  <a:srgbClr val="002060"/>
                </a:solidFill>
              </a:rPr>
              <a:t>      - Единицы нагрузки (OPU</a:t>
            </a:r>
            <a:r>
              <a:rPr lang="ru-RU" dirty="0" smtClean="0"/>
              <a:t>),</a:t>
            </a:r>
          </a:p>
          <a:p>
            <a:pPr>
              <a:buNone/>
            </a:pPr>
            <a:r>
              <a:rPr lang="ru-RU" dirty="0" smtClean="0"/>
              <a:t>      - </a:t>
            </a:r>
            <a:r>
              <a:rPr lang="ru-RU" dirty="0" smtClean="0">
                <a:solidFill>
                  <a:srgbClr val="002060"/>
                </a:solidFill>
              </a:rPr>
              <a:t>Единицы данных (ODU),</a:t>
            </a:r>
          </a:p>
          <a:p>
            <a:pPr>
              <a:buNone/>
            </a:pPr>
            <a:r>
              <a:rPr lang="ru-RU" dirty="0" smtClean="0">
                <a:solidFill>
                  <a:srgbClr val="002060"/>
                </a:solidFill>
              </a:rPr>
              <a:t>     - Транспортной единицы (OTU),</a:t>
            </a:r>
          </a:p>
          <a:p>
            <a:pPr>
              <a:buNone/>
            </a:pPr>
            <a:r>
              <a:rPr lang="ru-RU" dirty="0" smtClean="0">
                <a:solidFill>
                  <a:srgbClr val="002060"/>
                </a:solidFill>
              </a:rPr>
              <a:t>     - Маркера принадлежности кадра </a:t>
            </a:r>
            <a:r>
              <a:rPr lang="ru-RU" dirty="0" smtClean="0"/>
              <a:t>(FAS – </a:t>
            </a:r>
            <a:r>
              <a:rPr lang="ru-RU" dirty="0" err="1" smtClean="0"/>
              <a:t>Frame</a:t>
            </a:r>
            <a:r>
              <a:rPr lang="ru-RU" dirty="0" smtClean="0"/>
              <a:t> </a:t>
            </a:r>
            <a:r>
              <a:rPr lang="ru-RU" dirty="0" err="1" smtClean="0"/>
              <a:t>Alignment</a:t>
            </a:r>
            <a:r>
              <a:rPr lang="ru-RU" dirty="0" smtClean="0"/>
              <a:t> </a:t>
            </a:r>
            <a:r>
              <a:rPr lang="ru-RU" dirty="0" err="1" smtClean="0"/>
              <a:t>signal</a:t>
            </a:r>
            <a:r>
              <a:rPr lang="ru-RU" dirty="0" smtClean="0"/>
              <a:t>).</a:t>
            </a:r>
          </a:p>
          <a:p>
            <a:pPr>
              <a:buNone/>
            </a:pPr>
            <a:r>
              <a:rPr lang="ru-RU" dirty="0" smtClean="0"/>
              <a:t> Данные (</a:t>
            </a:r>
            <a:r>
              <a:rPr lang="ru-RU" dirty="0" err="1" smtClean="0"/>
              <a:t>Client</a:t>
            </a:r>
            <a:r>
              <a:rPr lang="ru-RU" dirty="0" smtClean="0"/>
              <a:t>) или полезная нагрузка,</a:t>
            </a:r>
          </a:p>
          <a:p>
            <a:pPr>
              <a:buNone/>
            </a:pPr>
            <a:r>
              <a:rPr lang="ru-RU" dirty="0" smtClean="0"/>
              <a:t>могут быть выражены в форме любого</a:t>
            </a:r>
          </a:p>
          <a:p>
            <a:pPr>
              <a:buNone/>
            </a:pPr>
            <a:r>
              <a:rPr lang="ru-RU" dirty="0" smtClean="0"/>
              <a:t> из существующих протоколов:</a:t>
            </a:r>
          </a:p>
          <a:p>
            <a:pPr>
              <a:buNone/>
            </a:pPr>
            <a:r>
              <a:rPr lang="ru-RU" dirty="0" smtClean="0"/>
              <a:t> SONET, SDH, </a:t>
            </a:r>
            <a:r>
              <a:rPr lang="ru-RU" dirty="0" err="1" smtClean="0"/>
              <a:t>Ethernet</a:t>
            </a:r>
            <a:r>
              <a:rPr lang="ru-RU" dirty="0" smtClean="0"/>
              <a:t>, IP и </a:t>
            </a:r>
            <a:r>
              <a:rPr lang="ru-RU" dirty="0" err="1" smtClean="0"/>
              <a:t>тп</a:t>
            </a:r>
            <a:r>
              <a:rPr lang="ru-RU" dirty="0" smtClean="0"/>
              <a:t>.</a:t>
            </a:r>
          </a:p>
          <a:p>
            <a:pPr>
              <a:buNone/>
            </a:pPr>
            <a:r>
              <a:rPr lang="ru-RU" dirty="0" smtClean="0"/>
              <a:t> </a:t>
            </a:r>
            <a:r>
              <a:rPr lang="ru-RU" b="1" dirty="0" smtClean="0"/>
              <a:t>Тип передаваемых данных</a:t>
            </a:r>
          </a:p>
          <a:p>
            <a:pPr>
              <a:buNone/>
            </a:pPr>
            <a:r>
              <a:rPr lang="ru-RU" b="1" dirty="0" smtClean="0"/>
              <a:t> определяется с помощью OPU,</a:t>
            </a:r>
          </a:p>
          <a:p>
            <a:pPr>
              <a:buNone/>
            </a:pPr>
            <a:r>
              <a:rPr lang="ru-RU" b="1" dirty="0" smtClean="0"/>
              <a:t> содержащей маркеры различных </a:t>
            </a:r>
          </a:p>
          <a:p>
            <a:pPr>
              <a:buNone/>
            </a:pPr>
            <a:r>
              <a:rPr lang="ru-RU" b="1" dirty="0" smtClean="0"/>
              <a:t>сигналов.</a:t>
            </a:r>
            <a:endParaRPr lang="ru-RU" b="1" dirty="0"/>
          </a:p>
        </p:txBody>
      </p:sp>
      <p:pic>
        <p:nvPicPr>
          <p:cNvPr id="5" name="Image 4"/>
          <p:cNvPicPr>
            <a:picLocks noGrp="1"/>
          </p:cNvPicPr>
          <p:nvPr>
            <p:ph sz="half" idx="1"/>
          </p:nvPr>
        </p:nvPicPr>
        <p:blipFill>
          <a:blip r:embed="rId2" cstate="print"/>
          <a:stretch>
            <a:fillRect/>
          </a:stretch>
        </p:blipFill>
        <p:spPr>
          <a:xfrm>
            <a:off x="179512" y="1628800"/>
            <a:ext cx="4316288" cy="482453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8964488" cy="1124744"/>
          </a:xfrm>
        </p:spPr>
        <p:txBody>
          <a:bodyPr>
            <a:normAutofit fontScale="90000"/>
          </a:bodyPr>
          <a:lstStyle/>
          <a:p>
            <a:r>
              <a:rPr lang="ru-RU" b="1" dirty="0" smtClean="0">
                <a:solidFill>
                  <a:srgbClr val="002060"/>
                </a:solidFill>
              </a:rPr>
              <a:t/>
            </a:r>
            <a:br>
              <a:rPr lang="ru-RU" b="1" dirty="0" smtClean="0">
                <a:solidFill>
                  <a:srgbClr val="002060"/>
                </a:solidFill>
              </a:rPr>
            </a:br>
            <a:r>
              <a:rPr lang="ru-RU" b="1" dirty="0" smtClean="0">
                <a:solidFill>
                  <a:srgbClr val="002060"/>
                </a:solidFill>
              </a:rPr>
              <a:t/>
            </a:r>
            <a:br>
              <a:rPr lang="ru-RU" b="1" dirty="0" smtClean="0">
                <a:solidFill>
                  <a:srgbClr val="002060"/>
                </a:solidFill>
              </a:rPr>
            </a:br>
            <a:r>
              <a:rPr lang="ru-RU" b="1" dirty="0" smtClean="0">
                <a:solidFill>
                  <a:srgbClr val="002060"/>
                </a:solidFill>
              </a:rPr>
              <a:t>4.3 С</a:t>
            </a:r>
            <a:r>
              <a:rPr lang="ru-RU" sz="4000" b="1" dirty="0" smtClean="0">
                <a:solidFill>
                  <a:srgbClr val="002060"/>
                </a:solidFill>
              </a:rPr>
              <a:t>труктура сети OTN.(2 вар)</a:t>
            </a:r>
            <a:br>
              <a:rPr lang="ru-RU" sz="4000" b="1" dirty="0" smtClean="0">
                <a:solidFill>
                  <a:srgbClr val="002060"/>
                </a:solidFill>
              </a:rPr>
            </a:br>
            <a:r>
              <a:rPr lang="ru-RU" sz="4000" b="1" dirty="0" smtClean="0">
                <a:latin typeface="Calibri" pitchFamily="34" charset="0"/>
              </a:rPr>
              <a:t> </a:t>
            </a:r>
            <a:r>
              <a:rPr lang="ru-RU" sz="4000" b="1" dirty="0" smtClean="0">
                <a:solidFill>
                  <a:srgbClr val="002060"/>
                </a:solidFill>
                <a:latin typeface="Calibri" pitchFamily="34" charset="0"/>
              </a:rPr>
              <a:t>Оптический транспортный модуль OTM.</a:t>
            </a:r>
            <a:r>
              <a:rPr lang="ru-RU" b="1" dirty="0" smtClean="0">
                <a:solidFill>
                  <a:srgbClr val="002060"/>
                </a:solidFill>
                <a:latin typeface="Calibri" pitchFamily="34" charset="0"/>
              </a:rPr>
              <a:t> </a:t>
            </a:r>
            <a:r>
              <a:rPr lang="ru-RU" b="1" dirty="0" smtClean="0">
                <a:solidFill>
                  <a:srgbClr val="002060"/>
                </a:solidFill>
              </a:rPr>
              <a:t/>
            </a:r>
            <a:br>
              <a:rPr lang="ru-RU" b="1" dirty="0" smtClean="0">
                <a:solidFill>
                  <a:srgbClr val="002060"/>
                </a:solidFill>
              </a:rPr>
            </a:br>
            <a:r>
              <a:rPr lang="ru-RU" b="1" dirty="0" smtClean="0">
                <a:solidFill>
                  <a:srgbClr val="002060"/>
                </a:solidFill>
              </a:rPr>
              <a:t> </a:t>
            </a:r>
            <a:r>
              <a:rPr lang="en-US" dirty="0" smtClean="0"/>
              <a:t/>
            </a:r>
            <a:br>
              <a:rPr lang="en-US" dirty="0" smtClean="0"/>
            </a:br>
            <a:endParaRPr lang="ru-RU" dirty="0"/>
          </a:p>
        </p:txBody>
      </p:sp>
      <p:sp>
        <p:nvSpPr>
          <p:cNvPr id="3" name="Содержимое 2"/>
          <p:cNvSpPr>
            <a:spLocks noGrp="1"/>
          </p:cNvSpPr>
          <p:nvPr>
            <p:ph idx="1"/>
          </p:nvPr>
        </p:nvSpPr>
        <p:spPr>
          <a:xfrm>
            <a:off x="0" y="1268760"/>
            <a:ext cx="9144000" cy="5589240"/>
          </a:xfrm>
        </p:spPr>
        <p:txBody>
          <a:bodyPr>
            <a:normAutofit fontScale="85000" lnSpcReduction="10000"/>
          </a:bodyPr>
          <a:lstStyle/>
          <a:p>
            <a:r>
              <a:rPr lang="ru-RU" b="1" dirty="0" smtClean="0">
                <a:latin typeface="Calibri" pitchFamily="34" charset="0"/>
              </a:rPr>
              <a:t>Упаковщик OTN </a:t>
            </a:r>
            <a:r>
              <a:rPr lang="ru-RU" dirty="0" smtClean="0">
                <a:latin typeface="Calibri" pitchFamily="34" charset="0"/>
              </a:rPr>
              <a:t>состоит из нескольких компонентов, которые образуют иерархию (рис. 1) для служебной связи между узлами сети – это блоки ОТМ, </a:t>
            </a:r>
            <a:r>
              <a:rPr lang="en-US" dirty="0" smtClean="0">
                <a:latin typeface="Calibri" pitchFamily="34" charset="0"/>
              </a:rPr>
              <a:t>OMS</a:t>
            </a:r>
            <a:r>
              <a:rPr lang="ru-RU" dirty="0" smtClean="0">
                <a:latin typeface="Calibri" pitchFamily="34" charset="0"/>
              </a:rPr>
              <a:t>,</a:t>
            </a:r>
            <a:r>
              <a:rPr lang="en-US" dirty="0" smtClean="0">
                <a:latin typeface="Calibri" pitchFamily="34" charset="0"/>
              </a:rPr>
              <a:t> OTS</a:t>
            </a:r>
            <a:r>
              <a:rPr lang="ru-RU" dirty="0" smtClean="0">
                <a:latin typeface="Calibri" pitchFamily="34" charset="0"/>
              </a:rPr>
              <a:t>.</a:t>
            </a:r>
          </a:p>
          <a:p>
            <a:pPr>
              <a:buNone/>
            </a:pPr>
            <a:r>
              <a:rPr lang="ru-RU" dirty="0" smtClean="0">
                <a:latin typeface="Calibri" pitchFamily="34" charset="0"/>
              </a:rPr>
              <a:t>    </a:t>
            </a:r>
            <a:r>
              <a:rPr lang="ru-RU" b="1" dirty="0" smtClean="0">
                <a:latin typeface="Calibri" pitchFamily="34" charset="0"/>
              </a:rPr>
              <a:t>Оптический транспортный модуль (OTM), </a:t>
            </a:r>
            <a:r>
              <a:rPr lang="ru-RU" dirty="0" smtClean="0"/>
              <a:t>состоит из четырех частей:</a:t>
            </a:r>
          </a:p>
          <a:p>
            <a:pPr lvl="0">
              <a:buNone/>
            </a:pPr>
            <a:r>
              <a:rPr lang="ru-RU" dirty="0" smtClean="0"/>
              <a:t>      </a:t>
            </a:r>
            <a:r>
              <a:rPr lang="ru-RU" b="1" dirty="0" smtClean="0"/>
              <a:t>- </a:t>
            </a:r>
            <a:r>
              <a:rPr lang="ru-RU" sz="2800" b="1" dirty="0" smtClean="0"/>
              <a:t>Блок OPU </a:t>
            </a:r>
            <a:r>
              <a:rPr lang="ru-RU" sz="2800" dirty="0" smtClean="0"/>
              <a:t>(</a:t>
            </a:r>
            <a:r>
              <a:rPr lang="ru-RU" sz="2800" dirty="0" err="1" smtClean="0"/>
              <a:t>Optical</a:t>
            </a:r>
            <a:r>
              <a:rPr lang="ru-RU" sz="2800" dirty="0" smtClean="0"/>
              <a:t> </a:t>
            </a:r>
            <a:r>
              <a:rPr lang="ru-RU" sz="2800" dirty="0" err="1" smtClean="0"/>
              <a:t>Channel</a:t>
            </a:r>
            <a:r>
              <a:rPr lang="ru-RU" sz="2800" dirty="0" smtClean="0"/>
              <a:t> </a:t>
            </a:r>
            <a:r>
              <a:rPr lang="ru-RU" sz="2800" dirty="0" err="1" smtClean="0"/>
              <a:t>Payload</a:t>
            </a:r>
            <a:r>
              <a:rPr lang="ru-RU" sz="2800" dirty="0" smtClean="0"/>
              <a:t> </a:t>
            </a:r>
            <a:r>
              <a:rPr lang="ru-RU" sz="2800" dirty="0" err="1" smtClean="0"/>
              <a:t>Unit</a:t>
            </a:r>
            <a:r>
              <a:rPr lang="ru-RU" sz="2800" dirty="0" smtClean="0"/>
              <a:t> )—</a:t>
            </a:r>
          </a:p>
          <a:p>
            <a:pPr lvl="0">
              <a:buNone/>
            </a:pPr>
            <a:r>
              <a:rPr lang="ru-RU" sz="2800" dirty="0" smtClean="0"/>
              <a:t>       блок пользовательских данных оптического канала;</a:t>
            </a:r>
          </a:p>
          <a:p>
            <a:pPr lvl="0">
              <a:buNone/>
            </a:pPr>
            <a:r>
              <a:rPr lang="ru-RU" sz="2800" dirty="0" smtClean="0"/>
              <a:t>      - </a:t>
            </a:r>
            <a:r>
              <a:rPr lang="ru-RU" sz="2800" b="1" dirty="0" smtClean="0"/>
              <a:t>Блок ODU </a:t>
            </a:r>
            <a:r>
              <a:rPr lang="ru-RU" sz="2800" dirty="0" smtClean="0"/>
              <a:t>(</a:t>
            </a:r>
            <a:r>
              <a:rPr lang="ru-RU" sz="2800" dirty="0" err="1" smtClean="0"/>
              <a:t>Optical</a:t>
            </a:r>
            <a:r>
              <a:rPr lang="ru-RU" sz="2800" dirty="0" smtClean="0"/>
              <a:t> </a:t>
            </a:r>
            <a:r>
              <a:rPr lang="ru-RU" sz="2800" dirty="0" err="1" smtClean="0"/>
              <a:t>Channel</a:t>
            </a:r>
            <a:r>
              <a:rPr lang="ru-RU" sz="2800" dirty="0" smtClean="0"/>
              <a:t> </a:t>
            </a:r>
            <a:r>
              <a:rPr lang="ru-RU" sz="2800" dirty="0" err="1" smtClean="0"/>
              <a:t>Data</a:t>
            </a:r>
            <a:r>
              <a:rPr lang="ru-RU" sz="2800" dirty="0" smtClean="0"/>
              <a:t> </a:t>
            </a:r>
            <a:r>
              <a:rPr lang="ru-RU" sz="2800" dirty="0" err="1" smtClean="0"/>
              <a:t>Unit</a:t>
            </a:r>
            <a:r>
              <a:rPr lang="ru-RU" sz="2800" dirty="0" smtClean="0"/>
              <a:t>) — </a:t>
            </a:r>
          </a:p>
          <a:p>
            <a:pPr lvl="0">
              <a:buNone/>
            </a:pPr>
            <a:r>
              <a:rPr lang="ru-RU" sz="2800" dirty="0" smtClean="0"/>
              <a:t>       блок данных оптического канала);</a:t>
            </a:r>
          </a:p>
          <a:p>
            <a:pPr lvl="0">
              <a:buNone/>
            </a:pPr>
            <a:r>
              <a:rPr lang="ru-RU" sz="2800" dirty="0" smtClean="0"/>
              <a:t>     </a:t>
            </a:r>
            <a:r>
              <a:rPr lang="ru-RU" sz="2800" b="1" dirty="0" smtClean="0"/>
              <a:t>- Блок OTU </a:t>
            </a:r>
            <a:r>
              <a:rPr lang="ru-RU" sz="2800" dirty="0" smtClean="0"/>
              <a:t>(</a:t>
            </a:r>
            <a:r>
              <a:rPr lang="ru-RU" sz="2800" dirty="0" err="1" smtClean="0"/>
              <a:t>Optical</a:t>
            </a:r>
            <a:r>
              <a:rPr lang="ru-RU" sz="2800" dirty="0" smtClean="0"/>
              <a:t> </a:t>
            </a:r>
            <a:r>
              <a:rPr lang="ru-RU" sz="2800" dirty="0" err="1" smtClean="0"/>
              <a:t>Channel</a:t>
            </a:r>
            <a:r>
              <a:rPr lang="ru-RU" sz="2800" dirty="0" smtClean="0"/>
              <a:t> </a:t>
            </a:r>
            <a:r>
              <a:rPr lang="ru-RU" sz="2800" dirty="0" err="1" smtClean="0"/>
              <a:t>Transport</a:t>
            </a:r>
            <a:r>
              <a:rPr lang="ru-RU" sz="2800" dirty="0" smtClean="0"/>
              <a:t> </a:t>
            </a:r>
            <a:r>
              <a:rPr lang="ru-RU" sz="2800" dirty="0" err="1" smtClean="0"/>
              <a:t>Unit</a:t>
            </a:r>
            <a:r>
              <a:rPr lang="ru-RU" sz="2800" dirty="0" smtClean="0"/>
              <a:t>) — </a:t>
            </a:r>
          </a:p>
          <a:p>
            <a:pPr lvl="0">
              <a:buNone/>
            </a:pPr>
            <a:r>
              <a:rPr lang="ru-RU" sz="2800" dirty="0" smtClean="0"/>
              <a:t>         транспортный блок оптического канала;</a:t>
            </a:r>
          </a:p>
          <a:p>
            <a:pPr>
              <a:buNone/>
            </a:pPr>
            <a:r>
              <a:rPr lang="ru-RU" sz="2800" b="1" dirty="0" smtClean="0"/>
              <a:t>    - Оптический канал</a:t>
            </a:r>
            <a:r>
              <a:rPr lang="en-US" sz="2800" b="1" dirty="0" smtClean="0"/>
              <a:t> </a:t>
            </a:r>
            <a:r>
              <a:rPr lang="en-US" sz="2800" dirty="0" smtClean="0"/>
              <a:t>(Optical Channel, </a:t>
            </a:r>
            <a:r>
              <a:rPr lang="en-US" sz="2800" dirty="0" err="1" smtClean="0"/>
              <a:t>Och</a:t>
            </a:r>
            <a:r>
              <a:rPr lang="en-US" sz="2800" dirty="0" smtClean="0"/>
              <a:t>)</a:t>
            </a:r>
            <a:r>
              <a:rPr lang="ru-RU" sz="2800" dirty="0" smtClean="0"/>
              <a:t>  -</a:t>
            </a:r>
          </a:p>
          <a:p>
            <a:pPr>
              <a:buNone/>
            </a:pPr>
            <a:r>
              <a:rPr lang="ru-RU" sz="2800" dirty="0" smtClean="0"/>
              <a:t>            это спектральный канал DWDM.</a:t>
            </a:r>
          </a:p>
          <a:p>
            <a:pPr>
              <a:buNone/>
            </a:pPr>
            <a:endParaRPr lang="ru-RU" sz="2800" dirty="0" smtClean="0"/>
          </a:p>
          <a:p>
            <a:pPr>
              <a:buNone/>
            </a:pPr>
            <a:endParaRPr lang="ru-RU" sz="2800" dirty="0" smtClean="0"/>
          </a:p>
          <a:p>
            <a:pPr>
              <a:buNone/>
            </a:pPr>
            <a:endParaRPr lang="ru-RU" sz="2800" dirty="0" smtClean="0"/>
          </a:p>
          <a:p>
            <a:pPr>
              <a:buNone/>
            </a:pPr>
            <a:endParaRPr lang="ru-RU" sz="2800" dirty="0" smtClean="0"/>
          </a:p>
          <a:p>
            <a:pPr lvl="0">
              <a:buNone/>
            </a:pPr>
            <a:endParaRPr lang="ru-RU" sz="2800" dirty="0" smtClean="0"/>
          </a:p>
          <a:p>
            <a:pPr lvl="0">
              <a:buNone/>
            </a:pPr>
            <a:endParaRPr lang="ru-RU" sz="2800" dirty="0" smtClean="0"/>
          </a:p>
          <a:p>
            <a:endParaRPr lang="ru-RU"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8964488" cy="836712"/>
          </a:xfrm>
        </p:spPr>
        <p:txBody>
          <a:bodyPr>
            <a:normAutofit fontScale="90000"/>
          </a:bodyPr>
          <a:lstStyle/>
          <a:p>
            <a:r>
              <a:rPr lang="ru-RU" sz="3600" b="1" dirty="0" smtClean="0">
                <a:solidFill>
                  <a:srgbClr val="002060"/>
                </a:solidFill>
              </a:rPr>
              <a:t/>
            </a:r>
            <a:br>
              <a:rPr lang="ru-RU" sz="3600" b="1" dirty="0" smtClean="0">
                <a:solidFill>
                  <a:srgbClr val="002060"/>
                </a:solidFill>
              </a:rPr>
            </a:br>
            <a:r>
              <a:rPr lang="ru-RU" sz="3600" b="1" dirty="0" smtClean="0">
                <a:solidFill>
                  <a:srgbClr val="002060"/>
                </a:solidFill>
              </a:rPr>
              <a:t>4.3 Структура сети OTN.</a:t>
            </a:r>
            <a:br>
              <a:rPr lang="ru-RU" sz="3600" b="1" dirty="0" smtClean="0">
                <a:solidFill>
                  <a:srgbClr val="002060"/>
                </a:solidFill>
              </a:rPr>
            </a:br>
            <a:r>
              <a:rPr lang="ru-RU" sz="3600" b="1" dirty="0" smtClean="0">
                <a:solidFill>
                  <a:srgbClr val="002060"/>
                </a:solidFill>
                <a:latin typeface="Calibri" pitchFamily="34" charset="0"/>
              </a:rPr>
              <a:t> Оптический транспортный модуль OTM. </a:t>
            </a:r>
            <a:r>
              <a:rPr lang="ru-RU" sz="3600" b="1" dirty="0" smtClean="0">
                <a:solidFill>
                  <a:srgbClr val="002060"/>
                </a:solidFill>
              </a:rPr>
              <a:t/>
            </a:r>
            <a:br>
              <a:rPr lang="ru-RU" sz="3600" b="1" dirty="0" smtClean="0">
                <a:solidFill>
                  <a:srgbClr val="002060"/>
                </a:solidFill>
              </a:rPr>
            </a:br>
            <a:r>
              <a:rPr lang="ru-RU" sz="3600" b="1" dirty="0" smtClean="0">
                <a:solidFill>
                  <a:srgbClr val="002060"/>
                </a:solidFill>
              </a:rPr>
              <a:t> </a:t>
            </a:r>
            <a:endParaRPr lang="ru-RU" sz="3600" dirty="0"/>
          </a:p>
        </p:txBody>
      </p:sp>
      <p:pic>
        <p:nvPicPr>
          <p:cNvPr id="4" name="Содержимое 3" descr="https://evileg.com/media/uploads/2016/10/09/network-52.png"/>
          <p:cNvPicPr>
            <a:picLocks noGrp="1"/>
          </p:cNvPicPr>
          <p:nvPr>
            <p:ph idx="1"/>
          </p:nvPr>
        </p:nvPicPr>
        <p:blipFill>
          <a:blip r:embed="rId2" cstate="print"/>
          <a:srcRect/>
          <a:stretch>
            <a:fillRect/>
          </a:stretch>
        </p:blipFill>
        <p:spPr bwMode="auto">
          <a:xfrm>
            <a:off x="179513" y="980728"/>
            <a:ext cx="8784976" cy="5616624"/>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512" y="0"/>
            <a:ext cx="8964488" cy="1038746"/>
          </a:xfrm>
        </p:spPr>
        <p:txBody>
          <a:bodyPr>
            <a:normAutofit fontScale="90000"/>
          </a:bodyPr>
          <a:lstStyle/>
          <a:p>
            <a:r>
              <a:rPr lang="ru-RU" b="1" dirty="0" smtClean="0">
                <a:solidFill>
                  <a:srgbClr val="002060"/>
                </a:solidFill>
              </a:rPr>
              <a:t/>
            </a:r>
            <a:br>
              <a:rPr lang="ru-RU" b="1" dirty="0" smtClean="0">
                <a:solidFill>
                  <a:srgbClr val="002060"/>
                </a:solidFill>
              </a:rPr>
            </a:br>
            <a:r>
              <a:rPr lang="ru-RU" sz="3600" b="1" dirty="0" smtClean="0">
                <a:solidFill>
                  <a:srgbClr val="002060"/>
                </a:solidFill>
              </a:rPr>
              <a:t>4.3 Структура сети OTN.(2 вар)</a:t>
            </a:r>
            <a:br>
              <a:rPr lang="ru-RU" sz="3600" b="1" dirty="0" smtClean="0">
                <a:solidFill>
                  <a:srgbClr val="002060"/>
                </a:solidFill>
              </a:rPr>
            </a:br>
            <a:r>
              <a:rPr lang="ru-RU" sz="3600" b="1" dirty="0" smtClean="0">
                <a:latin typeface="Calibri" pitchFamily="34" charset="0"/>
              </a:rPr>
              <a:t> </a:t>
            </a:r>
            <a:r>
              <a:rPr lang="ru-RU" sz="3600" b="1" dirty="0" smtClean="0">
                <a:solidFill>
                  <a:srgbClr val="002060"/>
                </a:solidFill>
                <a:latin typeface="Calibri" pitchFamily="34" charset="0"/>
              </a:rPr>
              <a:t>Оптический транспортный модуль OTM. </a:t>
            </a:r>
            <a:r>
              <a:rPr lang="ru-RU" b="1" dirty="0" smtClean="0">
                <a:solidFill>
                  <a:srgbClr val="002060"/>
                </a:solidFill>
              </a:rPr>
              <a:t/>
            </a:r>
            <a:br>
              <a:rPr lang="ru-RU" b="1" dirty="0" smtClean="0">
                <a:solidFill>
                  <a:srgbClr val="002060"/>
                </a:solidFill>
              </a:rPr>
            </a:br>
            <a:endParaRPr lang="ru-RU" dirty="0"/>
          </a:p>
        </p:txBody>
      </p:sp>
      <p:sp>
        <p:nvSpPr>
          <p:cNvPr id="3" name="Содержимое 2"/>
          <p:cNvSpPr>
            <a:spLocks noGrp="1"/>
          </p:cNvSpPr>
          <p:nvPr>
            <p:ph idx="1"/>
          </p:nvPr>
        </p:nvSpPr>
        <p:spPr>
          <a:xfrm>
            <a:off x="0" y="1196752"/>
            <a:ext cx="9144000" cy="5400600"/>
          </a:xfrm>
        </p:spPr>
        <p:txBody>
          <a:bodyPr>
            <a:noAutofit/>
          </a:bodyPr>
          <a:lstStyle/>
          <a:p>
            <a:r>
              <a:rPr lang="ru-RU" sz="2000" b="1" dirty="0" smtClean="0"/>
              <a:t>OPU - блок пользовательских данных оптического канала</a:t>
            </a:r>
            <a:r>
              <a:rPr lang="ru-RU" sz="2000" dirty="0" smtClean="0"/>
              <a:t>.</a:t>
            </a:r>
            <a:r>
              <a:rPr lang="ru-RU" sz="2000" b="1" dirty="0" smtClean="0"/>
              <a:t> </a:t>
            </a:r>
          </a:p>
          <a:p>
            <a:pPr>
              <a:buNone/>
            </a:pPr>
            <a:r>
              <a:rPr lang="ru-RU" sz="2000" b="1" dirty="0" smtClean="0"/>
              <a:t>    </a:t>
            </a:r>
            <a:r>
              <a:rPr lang="ru-RU" sz="2000" dirty="0" smtClean="0"/>
              <a:t>Ответственен за доставку данных между пользователями сети:</a:t>
            </a:r>
          </a:p>
          <a:p>
            <a:pPr>
              <a:buNone/>
            </a:pPr>
            <a:r>
              <a:rPr lang="ru-RU" sz="2000" dirty="0" smtClean="0"/>
              <a:t>     - Занимается инкапсуляцией пользовательских данных, таких как кадры SDH или </a:t>
            </a:r>
            <a:r>
              <a:rPr lang="ru-RU" sz="2000" dirty="0" err="1" smtClean="0"/>
              <a:t>Ethernet</a:t>
            </a:r>
            <a:r>
              <a:rPr lang="ru-RU" sz="2000" dirty="0" smtClean="0"/>
              <a:t>, в блоки OPU.</a:t>
            </a:r>
          </a:p>
          <a:p>
            <a:pPr>
              <a:buNone/>
            </a:pPr>
            <a:r>
              <a:rPr lang="ru-RU" sz="2000" dirty="0" smtClean="0"/>
              <a:t>     -  Выравниванием скоростей передачи пользовательских данных и блоков OPU.</a:t>
            </a:r>
          </a:p>
          <a:p>
            <a:pPr>
              <a:buNone/>
            </a:pPr>
            <a:r>
              <a:rPr lang="ru-RU" sz="2000" dirty="0" smtClean="0"/>
              <a:t>     - На приемной стороне извлекает пользовательские данные и </a:t>
            </a:r>
          </a:p>
          <a:p>
            <a:pPr>
              <a:buNone/>
            </a:pPr>
            <a:r>
              <a:rPr lang="ru-RU" sz="2000" dirty="0" smtClean="0"/>
              <a:t>        передает их пользователю.</a:t>
            </a:r>
          </a:p>
          <a:p>
            <a:r>
              <a:rPr lang="ru-RU" sz="2000" b="1" dirty="0" smtClean="0"/>
              <a:t>ODU  - блок данных оптического канала. </a:t>
            </a:r>
            <a:r>
              <a:rPr lang="ru-RU" sz="2000" dirty="0" smtClean="0"/>
              <a:t> </a:t>
            </a:r>
          </a:p>
          <a:p>
            <a:pPr>
              <a:buNone/>
            </a:pPr>
            <a:r>
              <a:rPr lang="ru-RU" sz="2000" dirty="0" smtClean="0"/>
              <a:t> Так же, как и протокол OPU, работает между конечными узлами сети OTN. </a:t>
            </a:r>
          </a:p>
          <a:p>
            <a:pPr>
              <a:buNone/>
            </a:pPr>
            <a:r>
              <a:rPr lang="ru-RU" sz="2000" dirty="0" smtClean="0"/>
              <a:t>В его функции входит мультиплексирование и демультиплексирование блоков OPU.</a:t>
            </a:r>
          </a:p>
          <a:p>
            <a:r>
              <a:rPr lang="ru-RU" sz="2000" b="1" dirty="0" smtClean="0"/>
              <a:t>OTU  - транспортный блок оптического канала</a:t>
            </a:r>
          </a:p>
          <a:p>
            <a:pPr>
              <a:buNone/>
            </a:pPr>
            <a:r>
              <a:rPr lang="ru-RU" sz="2000" dirty="0" smtClean="0"/>
              <a:t> Работает между двумя соседними узлами сети OTN, которые поддерживают функции электрической регенерации оптического сигнала.</a:t>
            </a:r>
            <a:endParaRPr lang="ru-RU"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16632"/>
            <a:ext cx="8229600" cy="648072"/>
          </a:xfrm>
        </p:spPr>
        <p:txBody>
          <a:bodyPr>
            <a:normAutofit/>
          </a:bodyPr>
          <a:lstStyle/>
          <a:p>
            <a:r>
              <a:rPr lang="ru-RU" sz="3600" b="1" dirty="0" smtClean="0">
                <a:solidFill>
                  <a:srgbClr val="002060"/>
                </a:solidFill>
              </a:rPr>
              <a:t>4.4. Архитектура </a:t>
            </a:r>
            <a:r>
              <a:rPr lang="en-US" sz="3600" b="1" dirty="0" smtClean="0">
                <a:solidFill>
                  <a:srgbClr val="002060"/>
                </a:solidFill>
              </a:rPr>
              <a:t>OTN</a:t>
            </a:r>
            <a:r>
              <a:rPr lang="ru-RU" sz="3600" b="1" dirty="0" smtClean="0">
                <a:solidFill>
                  <a:srgbClr val="002060"/>
                </a:solidFill>
              </a:rPr>
              <a:t> (2вар)</a:t>
            </a:r>
            <a:endParaRPr lang="ru-RU" sz="3600" dirty="0">
              <a:solidFill>
                <a:srgbClr val="002060"/>
              </a:solidFill>
            </a:endParaRPr>
          </a:p>
        </p:txBody>
      </p:sp>
      <p:sp>
        <p:nvSpPr>
          <p:cNvPr id="3" name="Содержимое 2"/>
          <p:cNvSpPr>
            <a:spLocks noGrp="1"/>
          </p:cNvSpPr>
          <p:nvPr>
            <p:ph idx="1"/>
          </p:nvPr>
        </p:nvSpPr>
        <p:spPr>
          <a:xfrm>
            <a:off x="0" y="836712"/>
            <a:ext cx="9144000" cy="5760640"/>
          </a:xfrm>
        </p:spPr>
        <p:txBody>
          <a:bodyPr>
            <a:normAutofit fontScale="77500" lnSpcReduction="20000"/>
          </a:bodyPr>
          <a:lstStyle/>
          <a:p>
            <a:pPr>
              <a:buNone/>
            </a:pPr>
            <a:r>
              <a:rPr lang="ru-RU" sz="3400" dirty="0" smtClean="0">
                <a:latin typeface="Calibri" pitchFamily="34" charset="0"/>
              </a:rPr>
              <a:t>   </a:t>
            </a:r>
            <a:r>
              <a:rPr lang="ru-RU" sz="3400" b="1" dirty="0" smtClean="0">
                <a:latin typeface="Calibri" pitchFamily="34" charset="0"/>
              </a:rPr>
              <a:t>Оптический транспортный модуль (OTM) </a:t>
            </a:r>
            <a:r>
              <a:rPr lang="ru-RU" sz="3400" dirty="0" smtClean="0">
                <a:latin typeface="Calibri" pitchFamily="34" charset="0"/>
              </a:rPr>
              <a:t>– это структура, передаваемая по оптическому линейному интерфейсу.</a:t>
            </a:r>
          </a:p>
          <a:p>
            <a:pPr>
              <a:buNone/>
            </a:pPr>
            <a:r>
              <a:rPr lang="ru-RU" sz="3400" dirty="0" smtClean="0">
                <a:latin typeface="Calibri" pitchFamily="34" charset="0"/>
              </a:rPr>
              <a:t>     Он состоит из двух частей: цифрового и аналогового разделов. </a:t>
            </a:r>
          </a:p>
          <a:p>
            <a:pPr>
              <a:buNone/>
            </a:pPr>
            <a:r>
              <a:rPr lang="ru-RU" sz="3400" dirty="0" smtClean="0">
                <a:latin typeface="Calibri" pitchFamily="34" charset="0"/>
              </a:rPr>
              <a:t>  </a:t>
            </a:r>
            <a:r>
              <a:rPr lang="ru-RU" sz="3400" b="1" dirty="0" smtClean="0">
                <a:latin typeface="Calibri" pitchFamily="34" charset="0"/>
              </a:rPr>
              <a:t>Рассмотрим цифровую часть : блоки OPU,</a:t>
            </a:r>
            <a:r>
              <a:rPr lang="ru-RU" sz="3400" b="1" dirty="0" smtClean="0"/>
              <a:t> ODU, ODU.</a:t>
            </a:r>
            <a:endParaRPr lang="ru-RU" sz="3400" b="1" dirty="0" smtClean="0">
              <a:latin typeface="Calibri" pitchFamily="34" charset="0"/>
            </a:endParaRPr>
          </a:p>
          <a:p>
            <a:pPr>
              <a:buNone/>
            </a:pPr>
            <a:r>
              <a:rPr lang="ru-RU" sz="3400" dirty="0" smtClean="0">
                <a:latin typeface="Calibri" pitchFamily="34" charset="0"/>
              </a:rPr>
              <a:t>       </a:t>
            </a:r>
            <a:r>
              <a:rPr lang="ru-RU" sz="3400" b="1" i="1" u="sng" dirty="0" smtClean="0">
                <a:latin typeface="Calibri" pitchFamily="34" charset="0"/>
              </a:rPr>
              <a:t>1.Блок полезной нагрузки оптического канала OPU</a:t>
            </a:r>
          </a:p>
          <a:p>
            <a:pPr>
              <a:buNone/>
            </a:pPr>
            <a:r>
              <a:rPr lang="ru-RU" sz="3400" b="1" dirty="0" smtClean="0">
                <a:latin typeface="Calibri" pitchFamily="34" charset="0"/>
              </a:rPr>
              <a:t>       </a:t>
            </a:r>
            <a:r>
              <a:rPr lang="ru-RU" sz="3400" dirty="0" smtClean="0">
                <a:latin typeface="Calibri" pitchFamily="34" charset="0"/>
              </a:rPr>
              <a:t>(</a:t>
            </a:r>
            <a:r>
              <a:rPr lang="ru-RU" sz="3400" dirty="0" err="1" smtClean="0">
                <a:latin typeface="Calibri" pitchFamily="34" charset="0"/>
              </a:rPr>
              <a:t>Optical</a:t>
            </a:r>
            <a:r>
              <a:rPr lang="ru-RU" sz="3400" dirty="0" smtClean="0">
                <a:latin typeface="Calibri" pitchFamily="34" charset="0"/>
              </a:rPr>
              <a:t> </a:t>
            </a:r>
            <a:r>
              <a:rPr lang="ru-RU" sz="3400" dirty="0" err="1" smtClean="0">
                <a:latin typeface="Calibri" pitchFamily="34" charset="0"/>
              </a:rPr>
              <a:t>payload</a:t>
            </a:r>
            <a:r>
              <a:rPr lang="ru-RU" sz="3400" dirty="0" smtClean="0">
                <a:latin typeface="Calibri" pitchFamily="34" charset="0"/>
              </a:rPr>
              <a:t> </a:t>
            </a:r>
            <a:r>
              <a:rPr lang="ru-RU" sz="3400" dirty="0" err="1" smtClean="0">
                <a:latin typeface="Calibri" pitchFamily="34" charset="0"/>
              </a:rPr>
              <a:t>unit</a:t>
            </a:r>
            <a:r>
              <a:rPr lang="ru-RU" sz="3400" dirty="0" smtClean="0">
                <a:latin typeface="Calibri" pitchFamily="34" charset="0"/>
              </a:rPr>
              <a:t>) содержит кадры полезной нагрузки. </a:t>
            </a:r>
          </a:p>
          <a:p>
            <a:pPr>
              <a:buNone/>
            </a:pPr>
            <a:r>
              <a:rPr lang="ru-RU" sz="3400" dirty="0" smtClean="0">
                <a:latin typeface="Calibri" pitchFamily="34" charset="0"/>
              </a:rPr>
              <a:t>      OPU передается из конца в конец всего тракта передачи сигнала,</a:t>
            </a:r>
          </a:p>
          <a:p>
            <a:pPr>
              <a:buNone/>
            </a:pPr>
            <a:r>
              <a:rPr lang="ru-RU" sz="3400" dirty="0" smtClean="0">
                <a:latin typeface="Calibri" pitchFamily="34" charset="0"/>
              </a:rPr>
              <a:t>        т.е. между терминальными мультиплексорами.</a:t>
            </a:r>
            <a:r>
              <a:rPr lang="ru-RU" sz="3400" dirty="0" smtClean="0"/>
              <a:t> </a:t>
            </a:r>
          </a:p>
          <a:p>
            <a:pPr>
              <a:buNone/>
            </a:pPr>
            <a:r>
              <a:rPr lang="ru-RU" sz="3400" dirty="0" smtClean="0"/>
              <a:t>      </a:t>
            </a:r>
            <a:r>
              <a:rPr lang="ru-RU" sz="3400" b="1" dirty="0" smtClean="0"/>
              <a:t>Таким образом, уровень OPU решает задачи:</a:t>
            </a:r>
          </a:p>
          <a:p>
            <a:pPr>
              <a:buNone/>
            </a:pPr>
            <a:r>
              <a:rPr lang="ru-RU" sz="3400" b="1" dirty="0" smtClean="0"/>
              <a:t>        - </a:t>
            </a:r>
            <a:r>
              <a:rPr lang="ru-RU" sz="3400" b="1" dirty="0" err="1" smtClean="0"/>
              <a:t>инкапсулирования</a:t>
            </a:r>
            <a:r>
              <a:rPr lang="ru-RU" sz="3400" b="1" dirty="0" smtClean="0"/>
              <a:t> полезного сигнала в сигнал OTN</a:t>
            </a:r>
          </a:p>
          <a:p>
            <a:pPr>
              <a:buNone/>
            </a:pPr>
            <a:r>
              <a:rPr lang="ru-RU" sz="3400" b="1" dirty="0" smtClean="0"/>
              <a:t>        -  мультиплексирования сигналов.</a:t>
            </a:r>
            <a:endParaRPr lang="ru-RU" sz="3400" b="1" dirty="0" smtClean="0">
              <a:latin typeface="Calibri" pitchFamily="34" charset="0"/>
            </a:endParaRPr>
          </a:p>
          <a:p>
            <a:pPr>
              <a:buNone/>
            </a:pPr>
            <a:endParaRPr lang="ru-RU" sz="3400" dirty="0" smtClean="0">
              <a:latin typeface="Calibri" pitchFamily="34" charset="0"/>
            </a:endParaRPr>
          </a:p>
          <a:p>
            <a:pPr>
              <a:buNone/>
            </a:pPr>
            <a:r>
              <a:rPr lang="ru-RU" sz="3400" dirty="0" smtClean="0">
                <a:latin typeface="Calibri" pitchFamily="34" charset="0"/>
              </a:rPr>
              <a:t>     </a:t>
            </a:r>
            <a:endParaRPr lang="ru-RU" sz="3400" dirty="0" smtClean="0"/>
          </a:p>
          <a:p>
            <a:endParaRPr lang="ru-RU"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634082"/>
          </a:xfrm>
        </p:spPr>
        <p:txBody>
          <a:bodyPr>
            <a:normAutofit fontScale="90000"/>
          </a:bodyPr>
          <a:lstStyle/>
          <a:p>
            <a:r>
              <a:rPr lang="ru-RU" sz="3600" b="1" dirty="0" smtClean="0">
                <a:solidFill>
                  <a:srgbClr val="002060"/>
                </a:solidFill>
              </a:rPr>
              <a:t>4.4 Оптический транспортный модуль (</a:t>
            </a:r>
            <a:r>
              <a:rPr lang="en-US" sz="3600" b="1" dirty="0" smtClean="0">
                <a:solidFill>
                  <a:srgbClr val="002060"/>
                </a:solidFill>
              </a:rPr>
              <a:t>OTM</a:t>
            </a:r>
            <a:r>
              <a:rPr lang="en-US" sz="3600" dirty="0" smtClean="0"/>
              <a:t>) </a:t>
            </a:r>
            <a:endParaRPr lang="ru-RU" sz="3600" dirty="0"/>
          </a:p>
        </p:txBody>
      </p:sp>
      <p:pic>
        <p:nvPicPr>
          <p:cNvPr id="169986" name="Picture 2"/>
          <p:cNvPicPr>
            <a:picLocks noGrp="1" noChangeAspect="1" noChangeArrowheads="1"/>
          </p:cNvPicPr>
          <p:nvPr>
            <p:ph idx="1"/>
          </p:nvPr>
        </p:nvPicPr>
        <p:blipFill>
          <a:blip r:embed="rId2" cstate="print"/>
          <a:srcRect/>
          <a:stretch>
            <a:fillRect/>
          </a:stretch>
        </p:blipFill>
        <p:spPr bwMode="auto">
          <a:xfrm>
            <a:off x="0" y="836712"/>
            <a:ext cx="8964488" cy="576064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706090"/>
          </a:xfrm>
        </p:spPr>
        <p:txBody>
          <a:bodyPr>
            <a:normAutofit fontScale="90000"/>
          </a:bodyPr>
          <a:lstStyle/>
          <a:p>
            <a:r>
              <a:rPr lang="ru-RU" b="1" dirty="0" smtClean="0">
                <a:solidFill>
                  <a:srgbClr val="002060"/>
                </a:solidFill>
              </a:rPr>
              <a:t>4.4 Архитектура </a:t>
            </a:r>
            <a:r>
              <a:rPr lang="en-US" b="1" dirty="0" smtClean="0">
                <a:solidFill>
                  <a:srgbClr val="002060"/>
                </a:solidFill>
              </a:rPr>
              <a:t>OTN</a:t>
            </a:r>
            <a:endParaRPr lang="ru-RU" dirty="0">
              <a:solidFill>
                <a:srgbClr val="002060"/>
              </a:solidFill>
            </a:endParaRPr>
          </a:p>
        </p:txBody>
      </p:sp>
      <p:sp>
        <p:nvSpPr>
          <p:cNvPr id="3" name="Содержимое 2"/>
          <p:cNvSpPr>
            <a:spLocks noGrp="1"/>
          </p:cNvSpPr>
          <p:nvPr>
            <p:ph idx="1"/>
          </p:nvPr>
        </p:nvSpPr>
        <p:spPr>
          <a:xfrm>
            <a:off x="179512" y="980728"/>
            <a:ext cx="8964488" cy="5877272"/>
          </a:xfrm>
        </p:spPr>
        <p:txBody>
          <a:bodyPr>
            <a:normAutofit fontScale="70000" lnSpcReduction="20000"/>
          </a:bodyPr>
          <a:lstStyle/>
          <a:p>
            <a:pPr>
              <a:buNone/>
            </a:pPr>
            <a:r>
              <a:rPr lang="ru-RU" b="1" dirty="0" smtClean="0"/>
              <a:t> </a:t>
            </a:r>
            <a:r>
              <a:rPr lang="ru-RU" sz="3400" b="1" u="sng" dirty="0" smtClean="0"/>
              <a:t>2. </a:t>
            </a:r>
            <a:r>
              <a:rPr lang="ru-RU" sz="3400" b="1" i="1" u="sng" dirty="0" smtClean="0"/>
              <a:t>Блок данных оптического канала ODU </a:t>
            </a:r>
            <a:r>
              <a:rPr lang="ru-RU" sz="3400" b="1" u="sng" dirty="0" smtClean="0"/>
              <a:t>(</a:t>
            </a:r>
            <a:r>
              <a:rPr lang="ru-RU" sz="3400" b="1" u="sng" dirty="0" err="1" smtClean="0"/>
              <a:t>Optical</a:t>
            </a:r>
            <a:r>
              <a:rPr lang="ru-RU" sz="3400" b="1" u="sng" dirty="0" smtClean="0"/>
              <a:t> </a:t>
            </a:r>
            <a:r>
              <a:rPr lang="ru-RU" sz="3400" b="1" u="sng" dirty="0" err="1" smtClean="0"/>
              <a:t>Data</a:t>
            </a:r>
            <a:r>
              <a:rPr lang="ru-RU" sz="3400" b="1" u="sng" dirty="0" smtClean="0"/>
              <a:t> </a:t>
            </a:r>
            <a:r>
              <a:rPr lang="ru-RU" sz="3400" b="1" u="sng" dirty="0" err="1" smtClean="0"/>
              <a:t>Unit</a:t>
            </a:r>
            <a:r>
              <a:rPr lang="ru-RU" sz="3400" b="1" u="sng" dirty="0" smtClean="0"/>
              <a:t>)</a:t>
            </a:r>
            <a:r>
              <a:rPr lang="ru-RU" sz="3400" u="sng" dirty="0" smtClean="0"/>
              <a:t>,</a:t>
            </a:r>
          </a:p>
          <a:p>
            <a:pPr>
              <a:buNone/>
            </a:pPr>
            <a:r>
              <a:rPr lang="ru-RU" dirty="0" smtClean="0"/>
              <a:t> также передается из конца в конец тракта, </a:t>
            </a:r>
            <a:r>
              <a:rPr lang="ru-RU" b="1" dirty="0" smtClean="0"/>
              <a:t>однако ее функции связаны </a:t>
            </a:r>
            <a:r>
              <a:rPr lang="ru-RU" dirty="0" smtClean="0"/>
              <a:t>не с самим сигналом, как таковым, а </a:t>
            </a:r>
            <a:r>
              <a:rPr lang="ru-RU" b="1" dirty="0" smtClean="0"/>
              <a:t>с реализацией задач управления и мониторинга всего тракта передачи сигнала между конечными узлами. </a:t>
            </a:r>
          </a:p>
          <a:p>
            <a:pPr>
              <a:buNone/>
            </a:pPr>
            <a:r>
              <a:rPr lang="ru-RU" dirty="0" smtClean="0"/>
              <a:t>      </a:t>
            </a:r>
            <a:r>
              <a:rPr lang="ru-RU" b="1" dirty="0" smtClean="0"/>
              <a:t>ODU выполняет следующие функции: </a:t>
            </a:r>
          </a:p>
          <a:p>
            <a:pPr>
              <a:buNone/>
            </a:pPr>
            <a:r>
              <a:rPr lang="ru-RU" dirty="0" smtClean="0"/>
              <a:t>       - передача в обратном направлении аварийных сообщений (PM); </a:t>
            </a:r>
          </a:p>
          <a:p>
            <a:pPr>
              <a:buNone/>
            </a:pPr>
            <a:r>
              <a:rPr lang="ru-RU" dirty="0" smtClean="0"/>
              <a:t>       - передача служебной информации при прохождении тракта </a:t>
            </a:r>
          </a:p>
          <a:p>
            <a:pPr>
              <a:buNone/>
            </a:pPr>
            <a:r>
              <a:rPr lang="ru-RU" dirty="0" smtClean="0"/>
              <a:t>        по сетям различных операторов;</a:t>
            </a:r>
          </a:p>
          <a:p>
            <a:pPr>
              <a:buNone/>
            </a:pPr>
            <a:r>
              <a:rPr lang="ru-RU" dirty="0" smtClean="0"/>
              <a:t>      - передача информации об обнаруженных ошибках и </a:t>
            </a:r>
          </a:p>
          <a:p>
            <a:pPr>
              <a:buNone/>
            </a:pPr>
            <a:r>
              <a:rPr lang="ru-RU" dirty="0" smtClean="0"/>
              <a:t>        предполагаемом месте их расположении; </a:t>
            </a:r>
          </a:p>
          <a:p>
            <a:pPr>
              <a:buNone/>
            </a:pPr>
            <a:r>
              <a:rPr lang="ru-RU" dirty="0" smtClean="0"/>
              <a:t>      - передача служебной информации из конца в конец тракта; </a:t>
            </a:r>
          </a:p>
          <a:p>
            <a:pPr>
              <a:buNone/>
            </a:pPr>
            <a:r>
              <a:rPr lang="ru-RU" dirty="0" smtClean="0"/>
              <a:t>      - передача информации о переключении основного и служебного </a:t>
            </a:r>
          </a:p>
          <a:p>
            <a:pPr>
              <a:buNone/>
            </a:pPr>
            <a:r>
              <a:rPr lang="ru-RU" dirty="0" smtClean="0"/>
              <a:t>       каналов на резервный путь .</a:t>
            </a:r>
          </a:p>
          <a:p>
            <a:pPr>
              <a:buNone/>
            </a:pPr>
            <a:r>
              <a:rPr lang="ru-RU" dirty="0" smtClean="0"/>
              <a:t> Таким образом, </a:t>
            </a:r>
            <a:r>
              <a:rPr lang="ru-RU" b="1" u="sng" dirty="0" smtClean="0"/>
              <a:t>уровень ODU решает задачи мониторинга и</a:t>
            </a:r>
          </a:p>
          <a:p>
            <a:pPr>
              <a:buNone/>
            </a:pPr>
            <a:r>
              <a:rPr lang="ru-RU" b="1" u="sng" dirty="0" smtClean="0"/>
              <a:t> управления тракта передачи в целом, из конца в конец</a:t>
            </a:r>
            <a:r>
              <a:rPr lang="ru-RU" b="1" dirty="0" smtClean="0"/>
              <a:t>. </a:t>
            </a:r>
          </a:p>
          <a:p>
            <a:pPr>
              <a:buNone/>
            </a:pPr>
            <a:endParaRPr lang="ru-RU" dirty="0" smtClean="0"/>
          </a:p>
          <a:p>
            <a:pPr>
              <a:buNone/>
            </a:pPr>
            <a:endParaRPr lang="ru-RU" dirty="0" smtClean="0"/>
          </a:p>
          <a:p>
            <a:endParaRPr lang="ru-RU"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smtClean="0">
                <a:solidFill>
                  <a:srgbClr val="002060"/>
                </a:solidFill>
              </a:rPr>
              <a:t>4.4 Оптический транспортный модуль (OTM) Рис. 1. </a:t>
            </a:r>
            <a:endParaRPr lang="ru-RU" b="1" dirty="0">
              <a:solidFill>
                <a:srgbClr val="002060"/>
              </a:solidFill>
            </a:endParaRPr>
          </a:p>
        </p:txBody>
      </p:sp>
      <p:pic>
        <p:nvPicPr>
          <p:cNvPr id="2050" name="Picture 2"/>
          <p:cNvPicPr>
            <a:picLocks noGrp="1" noChangeAspect="1" noChangeArrowheads="1"/>
          </p:cNvPicPr>
          <p:nvPr>
            <p:ph idx="1"/>
          </p:nvPr>
        </p:nvPicPr>
        <p:blipFill>
          <a:blip r:embed="rId2" cstate="print"/>
          <a:srcRect/>
          <a:stretch>
            <a:fillRect/>
          </a:stretch>
        </p:blipFill>
        <p:spPr bwMode="auto">
          <a:xfrm>
            <a:off x="695325" y="1620044"/>
            <a:ext cx="7753350" cy="4486275"/>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490066"/>
          </a:xfrm>
        </p:spPr>
        <p:txBody>
          <a:bodyPr>
            <a:normAutofit fontScale="90000"/>
          </a:bodyPr>
          <a:lstStyle/>
          <a:p>
            <a:r>
              <a:rPr lang="ru-RU" b="1" dirty="0" smtClean="0"/>
              <a:t>4.4 Архитектура </a:t>
            </a:r>
            <a:r>
              <a:rPr lang="en-US" b="1" dirty="0" smtClean="0"/>
              <a:t>OTN</a:t>
            </a:r>
            <a:endParaRPr lang="ru-RU" dirty="0"/>
          </a:p>
        </p:txBody>
      </p:sp>
      <p:sp>
        <p:nvSpPr>
          <p:cNvPr id="3" name="Содержимое 2"/>
          <p:cNvSpPr>
            <a:spLocks noGrp="1"/>
          </p:cNvSpPr>
          <p:nvPr>
            <p:ph idx="1"/>
          </p:nvPr>
        </p:nvSpPr>
        <p:spPr>
          <a:xfrm>
            <a:off x="179512" y="908720"/>
            <a:ext cx="8784976" cy="5949280"/>
          </a:xfrm>
        </p:spPr>
        <p:txBody>
          <a:bodyPr>
            <a:normAutofit fontScale="70000" lnSpcReduction="20000"/>
          </a:bodyPr>
          <a:lstStyle/>
          <a:p>
            <a:pPr>
              <a:buNone/>
            </a:pPr>
            <a:r>
              <a:rPr lang="ru-RU" b="1" dirty="0" smtClean="0"/>
              <a:t> </a:t>
            </a:r>
          </a:p>
          <a:p>
            <a:pPr>
              <a:buNone/>
            </a:pPr>
            <a:r>
              <a:rPr lang="ru-RU" b="1" dirty="0" smtClean="0"/>
              <a:t>  </a:t>
            </a:r>
            <a:r>
              <a:rPr lang="ru-RU" sz="3400" b="1" dirty="0" smtClean="0"/>
              <a:t>3. </a:t>
            </a:r>
            <a:r>
              <a:rPr lang="ru-RU" sz="3400" b="1" u="sng" dirty="0" smtClean="0"/>
              <a:t>Верхним уровнем иерархии является OTU </a:t>
            </a:r>
            <a:r>
              <a:rPr lang="ru-RU" sz="3400" b="1" dirty="0" smtClean="0"/>
              <a:t> (</a:t>
            </a:r>
            <a:r>
              <a:rPr lang="ru-RU" sz="3400" dirty="0" err="1" smtClean="0"/>
              <a:t>Optical</a:t>
            </a:r>
            <a:r>
              <a:rPr lang="ru-RU" sz="3400" dirty="0" smtClean="0"/>
              <a:t> </a:t>
            </a:r>
            <a:r>
              <a:rPr lang="ru-RU" sz="3400" dirty="0" err="1" smtClean="0"/>
              <a:t>Transpot</a:t>
            </a:r>
            <a:r>
              <a:rPr lang="ru-RU" sz="3400" dirty="0" smtClean="0"/>
              <a:t>  </a:t>
            </a:r>
            <a:r>
              <a:rPr lang="ru-RU" sz="3400" dirty="0" err="1" smtClean="0"/>
              <a:t>Unit</a:t>
            </a:r>
            <a:r>
              <a:rPr lang="ru-RU" sz="3400" dirty="0" smtClean="0"/>
              <a:t> ) – транспортный блок оптического канала.</a:t>
            </a:r>
          </a:p>
          <a:p>
            <a:pPr>
              <a:buNone/>
            </a:pPr>
            <a:r>
              <a:rPr lang="ru-RU" sz="3400" dirty="0" smtClean="0"/>
              <a:t> В отличие от двух предыдущих уровней, </a:t>
            </a:r>
            <a:r>
              <a:rPr lang="ru-RU" sz="3400" b="1" dirty="0" smtClean="0"/>
              <a:t>информация на уровне OTU передается только в рамках секции мультиплексирования</a:t>
            </a:r>
            <a:r>
              <a:rPr lang="ru-RU" sz="3400" dirty="0" smtClean="0"/>
              <a:t>. </a:t>
            </a:r>
            <a:r>
              <a:rPr lang="ru-RU" sz="3400" b="1" dirty="0" smtClean="0"/>
              <a:t>Уровень OTU выполняет следующие функции</a:t>
            </a:r>
            <a:r>
              <a:rPr lang="ru-RU" sz="3400" dirty="0" smtClean="0"/>
              <a:t>: </a:t>
            </a:r>
          </a:p>
          <a:p>
            <a:pPr>
              <a:buNone/>
            </a:pPr>
            <a:r>
              <a:rPr lang="ru-RU" sz="3400" dirty="0" smtClean="0"/>
              <a:t>           - разбивка сигнала на кадры и мульти кадры; </a:t>
            </a:r>
          </a:p>
          <a:p>
            <a:pPr>
              <a:buNone/>
            </a:pPr>
            <a:r>
              <a:rPr lang="ru-RU" sz="3400" dirty="0" smtClean="0"/>
              <a:t>          - передачу обратного сигнала об обнаруженных в пределах</a:t>
            </a:r>
          </a:p>
          <a:p>
            <a:pPr>
              <a:buNone/>
            </a:pPr>
            <a:r>
              <a:rPr lang="ru-RU" sz="3400" dirty="0" smtClean="0"/>
              <a:t>             секции мультиплексирования ошибках ; </a:t>
            </a:r>
          </a:p>
          <a:p>
            <a:pPr>
              <a:buNone/>
            </a:pPr>
            <a:r>
              <a:rPr lang="ru-RU" sz="3400" dirty="0" smtClean="0"/>
              <a:t>         - передача служебной информации в пределах секции</a:t>
            </a:r>
          </a:p>
          <a:p>
            <a:pPr>
              <a:buNone/>
            </a:pPr>
            <a:r>
              <a:rPr lang="ru-RU" sz="3400" dirty="0" smtClean="0"/>
              <a:t>            мультиплексирования;</a:t>
            </a:r>
          </a:p>
          <a:p>
            <a:pPr>
              <a:buNone/>
            </a:pPr>
            <a:r>
              <a:rPr lang="ru-RU" sz="3400" dirty="0" smtClean="0"/>
              <a:t>        - передача информации, необходимой для коррекции ошибок.</a:t>
            </a:r>
          </a:p>
          <a:p>
            <a:r>
              <a:rPr lang="ru-RU" sz="3400" b="1" dirty="0" smtClean="0"/>
              <a:t>На рис. 1 показана иерархия OTM для служебной связи между  узлами сети.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620688"/>
          </a:xfrm>
        </p:spPr>
        <p:txBody>
          <a:bodyPr>
            <a:normAutofit fontScale="90000"/>
          </a:bodyPr>
          <a:lstStyle/>
          <a:p>
            <a:r>
              <a:rPr lang="ru-RU" sz="4000" b="1" dirty="0" smtClean="0">
                <a:solidFill>
                  <a:srgbClr val="002060"/>
                </a:solidFill>
              </a:rPr>
              <a:t/>
            </a:r>
            <a:br>
              <a:rPr lang="ru-RU" sz="4000" b="1" dirty="0" smtClean="0">
                <a:solidFill>
                  <a:srgbClr val="002060"/>
                </a:solidFill>
              </a:rPr>
            </a:br>
            <a:r>
              <a:rPr lang="ru-RU" sz="4000" b="1" dirty="0" smtClean="0">
                <a:solidFill>
                  <a:srgbClr val="002060"/>
                </a:solidFill>
              </a:rPr>
              <a:t>4.4 ФОРМИРОВАНИЕ СТРУКТУРЫ OTN.</a:t>
            </a:r>
            <a:r>
              <a:rPr lang="ru-RU" b="1" dirty="0" smtClean="0"/>
              <a:t/>
            </a:r>
            <a:br>
              <a:rPr lang="ru-RU" b="1" dirty="0" smtClean="0"/>
            </a:br>
            <a:endParaRPr lang="ru-RU" dirty="0"/>
          </a:p>
        </p:txBody>
      </p:sp>
      <p:sp>
        <p:nvSpPr>
          <p:cNvPr id="3" name="Содержимое 2"/>
          <p:cNvSpPr>
            <a:spLocks noGrp="1"/>
          </p:cNvSpPr>
          <p:nvPr>
            <p:ph idx="1"/>
          </p:nvPr>
        </p:nvSpPr>
        <p:spPr>
          <a:xfrm>
            <a:off x="0" y="692696"/>
            <a:ext cx="9144000" cy="6165304"/>
          </a:xfrm>
        </p:spPr>
        <p:txBody>
          <a:bodyPr>
            <a:noAutofit/>
          </a:bodyPr>
          <a:lstStyle/>
          <a:p>
            <a:r>
              <a:rPr lang="ru-RU" sz="2000" dirty="0" smtClean="0"/>
              <a:t>Как только </a:t>
            </a:r>
            <a:r>
              <a:rPr lang="ru-RU" sz="2000" b="1" dirty="0" smtClean="0"/>
              <a:t>оптический канал с индивидуальной длинной волны </a:t>
            </a:r>
            <a:r>
              <a:rPr lang="ru-RU" sz="2000" b="1" dirty="0" err="1" smtClean="0"/>
              <a:t>OCh</a:t>
            </a:r>
            <a:r>
              <a:rPr lang="ru-RU" sz="2000" b="1" dirty="0" smtClean="0"/>
              <a:t> сформирован</a:t>
            </a:r>
            <a:r>
              <a:rPr lang="ru-RU" sz="2000" dirty="0" smtClean="0"/>
              <a:t>, </a:t>
            </a:r>
            <a:r>
              <a:rPr lang="ru-RU" sz="2000" b="1" dirty="0" smtClean="0"/>
              <a:t>к нему добавляется дополнительный </a:t>
            </a:r>
            <a:r>
              <a:rPr lang="ru-RU" sz="2000" dirty="0" smtClean="0"/>
              <a:t>несвязанный </a:t>
            </a:r>
            <a:r>
              <a:rPr lang="ru-RU" sz="2000" b="1" dirty="0" smtClean="0"/>
              <a:t>заголовок (OH</a:t>
            </a:r>
            <a:r>
              <a:rPr lang="ru-RU" sz="2000" dirty="0" smtClean="0"/>
              <a:t>), </a:t>
            </a:r>
            <a:r>
              <a:rPr lang="ru-RU" sz="2000" b="1" dirty="0" smtClean="0"/>
              <a:t>формируя</a:t>
            </a:r>
            <a:r>
              <a:rPr lang="ru-RU" sz="2000" dirty="0" smtClean="0"/>
              <a:t> затем:</a:t>
            </a:r>
          </a:p>
          <a:p>
            <a:pPr>
              <a:buNone/>
            </a:pPr>
            <a:r>
              <a:rPr lang="ru-RU" sz="2000" b="1" dirty="0" smtClean="0"/>
              <a:t>        - оптическую </a:t>
            </a:r>
            <a:r>
              <a:rPr lang="ru-RU" sz="2000" b="1" dirty="0" err="1" smtClean="0"/>
              <a:t>мультиплексорную</a:t>
            </a:r>
            <a:r>
              <a:rPr lang="ru-RU" sz="2000" b="1" dirty="0" smtClean="0"/>
              <a:t> секцию </a:t>
            </a:r>
            <a:r>
              <a:rPr lang="ru-RU" sz="2000" b="1" dirty="0" smtClean="0"/>
              <a:t>(OMS) и </a:t>
            </a:r>
          </a:p>
          <a:p>
            <a:pPr>
              <a:buNone/>
            </a:pPr>
            <a:r>
              <a:rPr lang="ru-RU" sz="2000" b="1" dirty="0" smtClean="0"/>
              <a:t>        - оптическую секцию передачи (OTS), как показано на рисунке.</a:t>
            </a:r>
            <a:endParaRPr lang="ru-RU" sz="2000" dirty="0" smtClean="0"/>
          </a:p>
          <a:p>
            <a:r>
              <a:rPr lang="ru-RU" sz="2000" b="1" u="sng" dirty="0" smtClean="0"/>
              <a:t>Уровень OMS</a:t>
            </a:r>
            <a:r>
              <a:rPr lang="ru-RU" sz="2000" u="sng" dirty="0" smtClean="0">
                <a:solidFill>
                  <a:srgbClr val="002060"/>
                </a:solidFill>
              </a:rPr>
              <a:t>. </a:t>
            </a:r>
            <a:r>
              <a:rPr lang="ru-RU" sz="2000" dirty="0" smtClean="0">
                <a:solidFill>
                  <a:srgbClr val="002060"/>
                </a:solidFill>
              </a:rPr>
              <a:t>И полезная нагрузка </a:t>
            </a:r>
            <a:r>
              <a:rPr lang="ru-RU" sz="2000" dirty="0" err="1" smtClean="0">
                <a:solidFill>
                  <a:srgbClr val="002060"/>
                </a:solidFill>
              </a:rPr>
              <a:t>мультиплексорной</a:t>
            </a:r>
            <a:r>
              <a:rPr lang="ru-RU" sz="2000" dirty="0" smtClean="0">
                <a:solidFill>
                  <a:srgbClr val="002060"/>
                </a:solidFill>
              </a:rPr>
              <a:t> секции (OMS), и несвязанный заголовок (OMS- OH) передаются на уровне оптической </a:t>
            </a:r>
            <a:r>
              <a:rPr lang="ru-RU" sz="2000" dirty="0" err="1" smtClean="0">
                <a:solidFill>
                  <a:srgbClr val="002060"/>
                </a:solidFill>
              </a:rPr>
              <a:t>мультиплексорной</a:t>
            </a:r>
            <a:r>
              <a:rPr lang="ru-RU" sz="2000" dirty="0" smtClean="0">
                <a:solidFill>
                  <a:srgbClr val="002060"/>
                </a:solidFill>
              </a:rPr>
              <a:t> секции (</a:t>
            </a:r>
            <a:r>
              <a:rPr lang="en-US" sz="2000" dirty="0" smtClean="0">
                <a:solidFill>
                  <a:srgbClr val="002060"/>
                </a:solidFill>
              </a:rPr>
              <a:t>OMS)</a:t>
            </a:r>
            <a:r>
              <a:rPr lang="ru-RU" sz="2000" dirty="0" smtClean="0"/>
              <a:t>.</a:t>
            </a:r>
          </a:p>
          <a:p>
            <a:pPr>
              <a:buNone/>
            </a:pPr>
            <a:r>
              <a:rPr lang="ru-RU" sz="2000" dirty="0" smtClean="0"/>
              <a:t>         </a:t>
            </a:r>
            <a:r>
              <a:rPr lang="ru-RU" sz="2000" b="1" dirty="0" smtClean="0"/>
              <a:t>Полезная нагрузка OMS состоит:</a:t>
            </a:r>
          </a:p>
          <a:p>
            <a:pPr>
              <a:buNone/>
            </a:pPr>
            <a:r>
              <a:rPr lang="ru-RU" sz="2000" b="1" dirty="0" smtClean="0"/>
              <a:t>         - </a:t>
            </a:r>
            <a:r>
              <a:rPr lang="ru-RU" sz="2000" dirty="0" smtClean="0"/>
              <a:t>из мультиплексированных оптических каналов (</a:t>
            </a:r>
            <a:r>
              <a:rPr lang="ru-RU" sz="2000" dirty="0" err="1" smtClean="0"/>
              <a:t>OCh</a:t>
            </a:r>
            <a:r>
              <a:rPr lang="ru-RU" sz="2000" dirty="0" smtClean="0"/>
              <a:t>).</a:t>
            </a:r>
          </a:p>
          <a:p>
            <a:pPr>
              <a:buNone/>
            </a:pPr>
            <a:r>
              <a:rPr lang="ru-RU" sz="2000" b="1" dirty="0" smtClean="0"/>
              <a:t>          OMS-OH необходим для мониторинга оптического соединения и помощи сервисной службе в определении и изоляции проблем в OTN.</a:t>
            </a:r>
          </a:p>
          <a:p>
            <a:r>
              <a:rPr lang="ru-RU" sz="2000" dirty="0" smtClean="0"/>
              <a:t> </a:t>
            </a:r>
            <a:r>
              <a:rPr lang="ru-RU" sz="2000" dirty="0" smtClean="0">
                <a:solidFill>
                  <a:srgbClr val="002060"/>
                </a:solidFill>
              </a:rPr>
              <a:t>На уровне оптической секции передачи (OTS) также передается полезная нагрузка и заголовок секции (OTS-OH). </a:t>
            </a:r>
          </a:p>
          <a:p>
            <a:r>
              <a:rPr lang="ru-RU" sz="2000" b="1" u="sng" dirty="0" smtClean="0"/>
              <a:t>Уровень OTS </a:t>
            </a:r>
            <a:r>
              <a:rPr lang="ru-RU" sz="2000" b="1" dirty="0" smtClean="0"/>
              <a:t>позволяет сетевому оператору выполнять задачи контроля и обслуживания сети между сетевыми элементами, которые включают</a:t>
            </a:r>
            <a:r>
              <a:rPr lang="ru-RU" sz="2000" dirty="0" smtClean="0"/>
              <a:t>: мультиплексоры, </a:t>
            </a:r>
            <a:r>
              <a:rPr lang="ru-RU" sz="2000" dirty="0" err="1" smtClean="0"/>
              <a:t>демультиплексоры</a:t>
            </a:r>
            <a:r>
              <a:rPr lang="ru-RU" sz="2000" dirty="0" smtClean="0"/>
              <a:t>, оптические коммутаторы и пр.</a:t>
            </a:r>
          </a:p>
          <a:p>
            <a:pPr>
              <a:buNone/>
            </a:pPr>
            <a:r>
              <a:rPr lang="ru-RU" sz="2000" dirty="0" smtClean="0"/>
              <a:t> </a:t>
            </a:r>
          </a:p>
          <a:p>
            <a:pPr>
              <a:buNone/>
            </a:pPr>
            <a:r>
              <a:rPr lang="ru-RU" sz="2000" dirty="0" smtClean="0"/>
              <a:t/>
            </a:r>
            <a:br>
              <a:rPr lang="ru-RU" sz="2000" dirty="0" smtClean="0"/>
            </a:br>
            <a:endParaRPr lang="ru-RU" sz="2000" dirty="0" smtClean="0"/>
          </a:p>
          <a:p>
            <a:endParaRPr lang="ru-RU"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smtClean="0">
                <a:solidFill>
                  <a:srgbClr val="002060"/>
                </a:solidFill>
              </a:rPr>
              <a:t>4.4 Формирование структуры OTN</a:t>
            </a:r>
            <a:endParaRPr lang="ru-RU" b="1" dirty="0">
              <a:solidFill>
                <a:srgbClr val="002060"/>
              </a:solidFill>
            </a:endParaRPr>
          </a:p>
        </p:txBody>
      </p:sp>
      <p:pic>
        <p:nvPicPr>
          <p:cNvPr id="4" name="Image 14"/>
          <p:cNvPicPr>
            <a:picLocks noGrp="1"/>
          </p:cNvPicPr>
          <p:nvPr>
            <p:ph idx="1"/>
          </p:nvPr>
        </p:nvPicPr>
        <p:blipFill>
          <a:blip r:embed="rId2" cstate="print"/>
          <a:stretch>
            <a:fillRect/>
          </a:stretch>
        </p:blipFill>
        <p:spPr>
          <a:xfrm>
            <a:off x="676275" y="1958181"/>
            <a:ext cx="7791450" cy="3810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4" name="Содержимое 3"/>
          <p:cNvPicPr>
            <a:picLocks noGrp="1"/>
          </p:cNvPicPr>
          <p:nvPr>
            <p:ph idx="1"/>
          </p:nvPr>
        </p:nvPicPr>
        <p:blipFill>
          <a:blip r:embed="rId2" cstate="print"/>
          <a:srcRect l="3638" t="3866" r="8907" b="9613"/>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188640"/>
            <a:ext cx="8640960" cy="864096"/>
          </a:xfrm>
        </p:spPr>
        <p:txBody>
          <a:bodyPr>
            <a:noAutofit/>
          </a:bodyPr>
          <a:lstStyle/>
          <a:p>
            <a:r>
              <a:rPr lang="ru-RU" sz="3200" b="1" dirty="0" smtClean="0">
                <a:solidFill>
                  <a:srgbClr val="002060"/>
                </a:solidFill>
              </a:rPr>
              <a:t>4.4 Архитектура </a:t>
            </a:r>
            <a:r>
              <a:rPr lang="en-US" sz="3200" b="1" dirty="0" smtClean="0">
                <a:solidFill>
                  <a:srgbClr val="002060"/>
                </a:solidFill>
              </a:rPr>
              <a:t>OTN</a:t>
            </a:r>
            <a:r>
              <a:rPr lang="ru-RU" sz="3200" b="1" dirty="0" smtClean="0">
                <a:solidFill>
                  <a:srgbClr val="002060"/>
                </a:solidFill>
              </a:rPr>
              <a:t/>
            </a:r>
            <a:br>
              <a:rPr lang="ru-RU" sz="3200" b="1" dirty="0" smtClean="0">
                <a:solidFill>
                  <a:srgbClr val="002060"/>
                </a:solidFill>
              </a:rPr>
            </a:br>
            <a:r>
              <a:rPr lang="ru-RU" sz="3200" b="1" dirty="0" smtClean="0">
                <a:solidFill>
                  <a:srgbClr val="002060"/>
                </a:solidFill>
              </a:rPr>
              <a:t> Линейная часть </a:t>
            </a:r>
            <a:r>
              <a:rPr lang="en-US" sz="3200" b="1" dirty="0" smtClean="0">
                <a:solidFill>
                  <a:srgbClr val="002060"/>
                </a:solidFill>
              </a:rPr>
              <a:t>OTM</a:t>
            </a:r>
            <a:endParaRPr lang="ru-RU" sz="3200" dirty="0">
              <a:solidFill>
                <a:srgbClr val="002060"/>
              </a:solidFill>
            </a:endParaRPr>
          </a:p>
        </p:txBody>
      </p:sp>
      <p:sp>
        <p:nvSpPr>
          <p:cNvPr id="3" name="Содержимое 2"/>
          <p:cNvSpPr>
            <a:spLocks noGrp="1"/>
          </p:cNvSpPr>
          <p:nvPr>
            <p:ph idx="1"/>
          </p:nvPr>
        </p:nvSpPr>
        <p:spPr>
          <a:xfrm>
            <a:off x="0" y="1268760"/>
            <a:ext cx="9144000" cy="5589240"/>
          </a:xfrm>
        </p:spPr>
        <p:txBody>
          <a:bodyPr>
            <a:normAutofit fontScale="70000" lnSpcReduction="20000"/>
          </a:bodyPr>
          <a:lstStyle/>
          <a:p>
            <a:r>
              <a:rPr lang="ru-RU" sz="3400" b="1" dirty="0" smtClean="0"/>
              <a:t>Линейная часть </a:t>
            </a:r>
            <a:r>
              <a:rPr lang="en-US" sz="3400" b="1" dirty="0" smtClean="0"/>
              <a:t>OTM</a:t>
            </a:r>
            <a:r>
              <a:rPr lang="ru-RU" sz="3400" b="1" dirty="0" smtClean="0"/>
              <a:t>:</a:t>
            </a:r>
          </a:p>
          <a:p>
            <a:pPr>
              <a:buNone/>
            </a:pPr>
            <a:r>
              <a:rPr lang="ru-RU" b="1" dirty="0" smtClean="0"/>
              <a:t>        1.Секция оптического уплотнения (OMS</a:t>
            </a:r>
            <a:r>
              <a:rPr lang="ru-RU" dirty="0" smtClean="0"/>
              <a:t>) располагается между двумя</a:t>
            </a:r>
          </a:p>
          <a:p>
            <a:pPr>
              <a:buNone/>
            </a:pPr>
            <a:r>
              <a:rPr lang="ru-RU" dirty="0" smtClean="0"/>
              <a:t> устройствами и может уплотнять длины волн на волокне,</a:t>
            </a:r>
          </a:p>
          <a:p>
            <a:pPr>
              <a:buNone/>
            </a:pPr>
            <a:r>
              <a:rPr lang="ru-RU" dirty="0" smtClean="0"/>
              <a:t> как показано на </a:t>
            </a:r>
            <a:r>
              <a:rPr lang="ru-RU" b="1" dirty="0" smtClean="0"/>
              <a:t>рис. 2</a:t>
            </a:r>
            <a:r>
              <a:rPr lang="ru-RU" dirty="0" smtClean="0"/>
              <a:t>.</a:t>
            </a:r>
          </a:p>
          <a:p>
            <a:pPr>
              <a:buNone/>
            </a:pPr>
            <a:r>
              <a:rPr lang="ru-RU" b="1" dirty="0" smtClean="0"/>
              <a:t>        2.  Секция оптической передачи (OTS</a:t>
            </a:r>
            <a:r>
              <a:rPr lang="ru-RU" dirty="0" smtClean="0"/>
              <a:t>) состоит из волокна между элементами, выполняющими оптическую обработку сигнала.</a:t>
            </a:r>
          </a:p>
          <a:p>
            <a:pPr>
              <a:buNone/>
            </a:pPr>
            <a:r>
              <a:rPr lang="ru-RU" dirty="0" smtClean="0"/>
              <a:t>    Оптоволоконный усилитель выполняет функцию усиления линии. </a:t>
            </a:r>
          </a:p>
          <a:p>
            <a:r>
              <a:rPr lang="ru-RU" b="1" dirty="0" smtClean="0"/>
              <a:t>OTN предлагает шесть уровней мониторинга транзитных соединений, которые позволяют оператору отслеживать прохождение сигналов по сетям других операторов. </a:t>
            </a:r>
          </a:p>
          <a:p>
            <a:r>
              <a:rPr lang="ru-RU" dirty="0" smtClean="0"/>
              <a:t>Эта новая функция помогает управлять ошибками, поскольку заголовок OTN тесно согласован с этими пунктами. </a:t>
            </a:r>
          </a:p>
          <a:p>
            <a:r>
              <a:rPr lang="ru-RU" b="1" dirty="0" smtClean="0"/>
              <a:t>На рис. </a:t>
            </a:r>
            <a:r>
              <a:rPr lang="ru-RU" dirty="0" smtClean="0"/>
              <a:t>3 показана схема согласования услуг с общими длинами волн</a:t>
            </a:r>
          </a:p>
          <a:p>
            <a:pPr>
              <a:buNone/>
            </a:pPr>
            <a:r>
              <a:rPr lang="ru-RU" dirty="0" smtClean="0"/>
              <a:t>      </a:t>
            </a:r>
            <a:r>
              <a:rPr lang="ru-RU" b="1" dirty="0" smtClean="0"/>
              <a:t>(канал </a:t>
            </a:r>
            <a:r>
              <a:rPr lang="ru-RU" b="1" dirty="0" err="1" smtClean="0"/>
              <a:t>OCh</a:t>
            </a:r>
            <a:r>
              <a:rPr lang="ru-RU" b="1" dirty="0" smtClean="0"/>
              <a:t> всегда содержит один блок OTU</a:t>
            </a:r>
            <a:r>
              <a:rPr lang="ru-RU" dirty="0" smtClean="0"/>
              <a:t>), которая обеспечивает эффективность управления полосами пропускания </a:t>
            </a:r>
            <a:r>
              <a:rPr lang="ru-RU" dirty="0" err="1" smtClean="0"/>
              <a:t>субволн</a:t>
            </a:r>
            <a:r>
              <a:rPr lang="ru-RU" dirty="0" smtClean="0"/>
              <a:t> и отделение скорости передачи сервисов от пропускной способности канала. </a:t>
            </a:r>
          </a:p>
          <a:p>
            <a:endParaRPr lang="ru-RU"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3600" b="1" dirty="0" smtClean="0">
                <a:solidFill>
                  <a:srgbClr val="002060"/>
                </a:solidFill>
              </a:rPr>
              <a:t>4.4. Схема линейной структуры OTN</a:t>
            </a:r>
            <a:br>
              <a:rPr lang="ru-RU" sz="3600" b="1" dirty="0" smtClean="0">
                <a:solidFill>
                  <a:srgbClr val="002060"/>
                </a:solidFill>
              </a:rPr>
            </a:br>
            <a:r>
              <a:rPr lang="ru-RU" sz="3600" b="1" dirty="0" smtClean="0">
                <a:solidFill>
                  <a:srgbClr val="002060"/>
                </a:solidFill>
              </a:rPr>
              <a:t> Рисунок 2</a:t>
            </a:r>
            <a:endParaRPr lang="ru-RU" sz="3600" b="1" dirty="0">
              <a:solidFill>
                <a:srgbClr val="002060"/>
              </a:solidFill>
            </a:endParaRPr>
          </a:p>
        </p:txBody>
      </p:sp>
      <p:pic>
        <p:nvPicPr>
          <p:cNvPr id="3074" name="Picture 2"/>
          <p:cNvPicPr>
            <a:picLocks noGrp="1" noChangeAspect="1" noChangeArrowheads="1"/>
          </p:cNvPicPr>
          <p:nvPr>
            <p:ph idx="1"/>
          </p:nvPr>
        </p:nvPicPr>
        <p:blipFill>
          <a:blip r:embed="rId2" cstate="print"/>
          <a:srcRect/>
          <a:stretch>
            <a:fillRect/>
          </a:stretch>
        </p:blipFill>
        <p:spPr bwMode="auto">
          <a:xfrm>
            <a:off x="467544" y="1916832"/>
            <a:ext cx="7992888" cy="4248471"/>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smtClean="0">
                <a:solidFill>
                  <a:srgbClr val="002060"/>
                </a:solidFill>
              </a:rPr>
              <a:t>4.4 OTN поддерживает разные типы услуг на одной длине волны. Рис. 3. </a:t>
            </a:r>
            <a:endParaRPr lang="ru-RU" sz="3200" b="1" dirty="0">
              <a:solidFill>
                <a:srgbClr val="002060"/>
              </a:solidFill>
            </a:endParaRPr>
          </a:p>
        </p:txBody>
      </p:sp>
      <p:pic>
        <p:nvPicPr>
          <p:cNvPr id="4098" name="Picture 2"/>
          <p:cNvPicPr>
            <a:picLocks noGrp="1" noChangeAspect="1" noChangeArrowheads="1"/>
          </p:cNvPicPr>
          <p:nvPr>
            <p:ph idx="1"/>
          </p:nvPr>
        </p:nvPicPr>
        <p:blipFill>
          <a:blip r:embed="rId2" cstate="print"/>
          <a:srcRect/>
          <a:stretch>
            <a:fillRect/>
          </a:stretch>
        </p:blipFill>
        <p:spPr bwMode="auto">
          <a:xfrm>
            <a:off x="395536" y="1484784"/>
            <a:ext cx="8208912" cy="4896544"/>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274638"/>
            <a:ext cx="8892480" cy="706090"/>
          </a:xfrm>
        </p:spPr>
        <p:txBody>
          <a:bodyPr>
            <a:normAutofit/>
          </a:bodyPr>
          <a:lstStyle/>
          <a:p>
            <a:r>
              <a:rPr lang="ru-RU" sz="3600" b="1" dirty="0" smtClean="0">
                <a:solidFill>
                  <a:srgbClr val="002060"/>
                </a:solidFill>
              </a:rPr>
              <a:t>4.5 Структура кадра OTN(см слайд 29,30)</a:t>
            </a:r>
            <a:endParaRPr lang="ru-RU" sz="3600" b="1" dirty="0">
              <a:solidFill>
                <a:srgbClr val="002060"/>
              </a:solidFill>
            </a:endParaRPr>
          </a:p>
        </p:txBody>
      </p:sp>
      <p:pic>
        <p:nvPicPr>
          <p:cNvPr id="4" name="Содержимое 3" descr="https://evileg.com/media/uploads/2016/10/09/network-53.png"/>
          <p:cNvPicPr>
            <a:picLocks noGrp="1"/>
          </p:cNvPicPr>
          <p:nvPr>
            <p:ph idx="1"/>
          </p:nvPr>
        </p:nvPicPr>
        <p:blipFill>
          <a:blip r:embed="rId2" cstate="print"/>
          <a:srcRect/>
          <a:stretch>
            <a:fillRect/>
          </a:stretch>
        </p:blipFill>
        <p:spPr bwMode="auto">
          <a:xfrm>
            <a:off x="539553" y="1628800"/>
            <a:ext cx="8280920" cy="4176464"/>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8964488" cy="3356992"/>
          </a:xfrm>
        </p:spPr>
        <p:txBody>
          <a:bodyPr>
            <a:normAutofit/>
          </a:bodyPr>
          <a:lstStyle/>
          <a:p>
            <a:r>
              <a:rPr lang="ru-RU" sz="3600" b="1" dirty="0" smtClean="0">
                <a:solidFill>
                  <a:srgbClr val="002060"/>
                </a:solidFill>
              </a:rPr>
              <a:t>4.5 Мультиплексирование блоков</a:t>
            </a:r>
            <a:r>
              <a:rPr lang="ru-RU" sz="3200" b="1" dirty="0" smtClean="0">
                <a:solidFill>
                  <a:srgbClr val="002060"/>
                </a:solidFill>
              </a:rPr>
              <a:t/>
            </a:r>
            <a:br>
              <a:rPr lang="ru-RU" sz="3200" b="1" dirty="0" smtClean="0">
                <a:solidFill>
                  <a:srgbClr val="002060"/>
                </a:solidFill>
              </a:rPr>
            </a:br>
            <a:r>
              <a:rPr lang="ru-RU" sz="2200" dirty="0" smtClean="0"/>
              <a:t> </a:t>
            </a:r>
            <a:r>
              <a:rPr lang="ru-RU" sz="2800" dirty="0" smtClean="0"/>
              <a:t>При мультиплексировании блоков ODU,</a:t>
            </a:r>
            <a:br>
              <a:rPr lang="ru-RU" sz="2800" dirty="0" smtClean="0"/>
            </a:br>
            <a:r>
              <a:rPr lang="ru-RU" sz="2800" dirty="0" smtClean="0"/>
              <a:t> поле пользовательских данных блока </a:t>
            </a:r>
            <a:r>
              <a:rPr lang="ru-RU" sz="2800" dirty="0" err="1" smtClean="0"/>
              <a:t>OPUk</a:t>
            </a:r>
            <a:r>
              <a:rPr lang="ru-RU" sz="2800" dirty="0" smtClean="0"/>
              <a:t/>
            </a:r>
            <a:br>
              <a:rPr lang="ru-RU" sz="2800" dirty="0" smtClean="0"/>
            </a:br>
            <a:r>
              <a:rPr lang="ru-RU" sz="2800" dirty="0" smtClean="0"/>
              <a:t> разбивается на так называемые </a:t>
            </a:r>
            <a:br>
              <a:rPr lang="ru-RU" sz="2800" dirty="0" smtClean="0"/>
            </a:br>
            <a:r>
              <a:rPr lang="ru-RU" sz="2800" dirty="0" err="1" smtClean="0"/>
              <a:t>трибутарные</a:t>
            </a:r>
            <a:r>
              <a:rPr lang="ru-RU" sz="2800" dirty="0" smtClean="0"/>
              <a:t> слоты (</a:t>
            </a:r>
            <a:r>
              <a:rPr lang="ru-RU" sz="2800" dirty="0" err="1" smtClean="0"/>
              <a:t>Tributary</a:t>
            </a:r>
            <a:r>
              <a:rPr lang="ru-RU" sz="2800" dirty="0" smtClean="0"/>
              <a:t> </a:t>
            </a:r>
            <a:r>
              <a:rPr lang="ru-RU" sz="2800" dirty="0" err="1" smtClean="0"/>
              <a:t>Slot</a:t>
            </a:r>
            <a:r>
              <a:rPr lang="ru-RU" sz="2800" dirty="0" smtClean="0"/>
              <a:t>, TS),</a:t>
            </a:r>
            <a:br>
              <a:rPr lang="ru-RU" sz="2800" dirty="0" smtClean="0"/>
            </a:br>
            <a:r>
              <a:rPr lang="ru-RU" sz="2800" dirty="0" smtClean="0"/>
              <a:t> в которые помещаются данные блока OPUk-1</a:t>
            </a:r>
            <a:r>
              <a:rPr lang="ru-RU" dirty="0" smtClean="0"/>
              <a:t>.</a:t>
            </a:r>
            <a:endParaRPr lang="ru-RU" dirty="0"/>
          </a:p>
        </p:txBody>
      </p:sp>
      <p:pic>
        <p:nvPicPr>
          <p:cNvPr id="4" name="Содержимое 3" descr="https://evileg.com/media/uploads/2016/10/09/network-54.png"/>
          <p:cNvPicPr>
            <a:picLocks noGrp="1"/>
          </p:cNvPicPr>
          <p:nvPr>
            <p:ph idx="1"/>
          </p:nvPr>
        </p:nvPicPr>
        <p:blipFill>
          <a:blip r:embed="rId2" cstate="print"/>
          <a:srcRect/>
          <a:stretch>
            <a:fillRect/>
          </a:stretch>
        </p:blipFill>
        <p:spPr bwMode="auto">
          <a:xfrm>
            <a:off x="0" y="3429000"/>
            <a:ext cx="8964487" cy="288032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778098"/>
          </a:xfrm>
        </p:spPr>
        <p:txBody>
          <a:bodyPr>
            <a:normAutofit/>
          </a:bodyPr>
          <a:lstStyle/>
          <a:p>
            <a:r>
              <a:rPr lang="ru-RU" sz="3600" b="1" dirty="0" smtClean="0">
                <a:solidFill>
                  <a:srgbClr val="002060"/>
                </a:solidFill>
              </a:rPr>
              <a:t>4.5 Иерархия уплотнения </a:t>
            </a:r>
            <a:r>
              <a:rPr lang="en-US" sz="3600" b="1" dirty="0" smtClean="0">
                <a:solidFill>
                  <a:srgbClr val="002060"/>
                </a:solidFill>
              </a:rPr>
              <a:t>OTN </a:t>
            </a:r>
            <a:endParaRPr lang="ru-RU" sz="3600" dirty="0">
              <a:solidFill>
                <a:srgbClr val="002060"/>
              </a:solidFill>
            </a:endParaRPr>
          </a:p>
        </p:txBody>
      </p:sp>
      <p:sp>
        <p:nvSpPr>
          <p:cNvPr id="3" name="Содержимое 2"/>
          <p:cNvSpPr>
            <a:spLocks noGrp="1"/>
          </p:cNvSpPr>
          <p:nvPr>
            <p:ph idx="1"/>
          </p:nvPr>
        </p:nvSpPr>
        <p:spPr>
          <a:xfrm>
            <a:off x="0" y="1052736"/>
            <a:ext cx="9144000" cy="5805264"/>
          </a:xfrm>
        </p:spPr>
        <p:txBody>
          <a:bodyPr>
            <a:normAutofit fontScale="70000" lnSpcReduction="20000"/>
          </a:bodyPr>
          <a:lstStyle/>
          <a:p>
            <a:r>
              <a:rPr lang="ru-RU" sz="4000" b="1" dirty="0" smtClean="0"/>
              <a:t>OTN поддерживает одношаговое и многошаговое уплотнение в контейнеры ODU</a:t>
            </a:r>
            <a:r>
              <a:rPr lang="ru-RU" sz="4000" dirty="0" smtClean="0"/>
              <a:t>.</a:t>
            </a:r>
          </a:p>
          <a:p>
            <a:r>
              <a:rPr lang="ru-RU" sz="4000" dirty="0" smtClean="0"/>
              <a:t> На рис. 4 представлен иерархический вид.</a:t>
            </a:r>
          </a:p>
          <a:p>
            <a:r>
              <a:rPr lang="ru-RU" sz="4000" dirty="0" smtClean="0"/>
              <a:t> Например, четыре блока ODU1 могут быть уплотнены в один блок OPU2.</a:t>
            </a:r>
          </a:p>
          <a:p>
            <a:r>
              <a:rPr lang="ru-RU" sz="4000" dirty="0" smtClean="0"/>
              <a:t> Блок OPU3 может содержать:</a:t>
            </a:r>
          </a:p>
          <a:p>
            <a:pPr>
              <a:buNone/>
            </a:pPr>
            <a:r>
              <a:rPr lang="ru-RU" sz="4000" dirty="0" smtClean="0"/>
              <a:t>     - четыре блока ODU2, </a:t>
            </a:r>
          </a:p>
          <a:p>
            <a:pPr>
              <a:buNone/>
            </a:pPr>
            <a:r>
              <a:rPr lang="ru-RU" sz="4000" dirty="0" smtClean="0"/>
              <a:t>    - 16 блоков ODU1 или</a:t>
            </a:r>
          </a:p>
          <a:p>
            <a:pPr>
              <a:buNone/>
            </a:pPr>
            <a:r>
              <a:rPr lang="ru-RU" sz="4000" dirty="0" smtClean="0"/>
              <a:t>    - комбинацию из блоков ODU1 и ODU2.</a:t>
            </a:r>
          </a:p>
          <a:p>
            <a:pPr>
              <a:buNone/>
            </a:pPr>
            <a:r>
              <a:rPr lang="ru-RU" sz="4000" dirty="0" smtClean="0"/>
              <a:t>    </a:t>
            </a:r>
            <a:r>
              <a:rPr lang="ru-RU" sz="4000" b="1" dirty="0" smtClean="0"/>
              <a:t>Показатель 10G определяет пропускную способность канала независимо от типа передаваемого трафика,</a:t>
            </a:r>
          </a:p>
          <a:p>
            <a:pPr>
              <a:buNone/>
            </a:pPr>
            <a:r>
              <a:rPr lang="ru-RU" sz="4000" b="1" dirty="0" smtClean="0"/>
              <a:t>    а показатель 10GbE относится к трафику сети </a:t>
            </a:r>
            <a:r>
              <a:rPr lang="ru-RU" sz="4000" b="1" dirty="0" err="1" smtClean="0"/>
              <a:t>Ethernet</a:t>
            </a:r>
            <a:r>
              <a:rPr lang="ru-RU" sz="4000" b="1" dirty="0" smtClean="0"/>
              <a:t>, передаваемому со скоростью 10 Гбит/с.</a:t>
            </a:r>
            <a:endParaRPr lang="ru-RU" sz="3700"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836712"/>
          </a:xfrm>
        </p:spPr>
        <p:txBody>
          <a:bodyPr>
            <a:normAutofit/>
          </a:bodyPr>
          <a:lstStyle/>
          <a:p>
            <a:r>
              <a:rPr lang="ru-RU" sz="3600" b="1" dirty="0" smtClean="0">
                <a:solidFill>
                  <a:srgbClr val="002060"/>
                </a:solidFill>
              </a:rPr>
              <a:t>4.5 Иерархия согласования </a:t>
            </a:r>
            <a:r>
              <a:rPr lang="en-US" sz="3600" b="1" dirty="0" smtClean="0">
                <a:solidFill>
                  <a:srgbClr val="002060"/>
                </a:solidFill>
              </a:rPr>
              <a:t>OTN</a:t>
            </a:r>
            <a:r>
              <a:rPr lang="ru-RU" sz="3600" b="1" dirty="0" smtClean="0">
                <a:solidFill>
                  <a:srgbClr val="002060"/>
                </a:solidFill>
              </a:rPr>
              <a:t>. Рис 4 </a:t>
            </a:r>
            <a:endParaRPr lang="ru-RU" sz="3600" b="1" dirty="0">
              <a:solidFill>
                <a:srgbClr val="002060"/>
              </a:solidFill>
            </a:endParaRPr>
          </a:p>
        </p:txBody>
      </p:sp>
      <p:pic>
        <p:nvPicPr>
          <p:cNvPr id="172034" name="Picture 2"/>
          <p:cNvPicPr>
            <a:picLocks noGrp="1" noChangeAspect="1" noChangeArrowheads="1"/>
          </p:cNvPicPr>
          <p:nvPr>
            <p:ph idx="1"/>
          </p:nvPr>
        </p:nvPicPr>
        <p:blipFill>
          <a:blip r:embed="rId2" cstate="print"/>
          <a:srcRect/>
          <a:stretch>
            <a:fillRect/>
          </a:stretch>
        </p:blipFill>
        <p:spPr bwMode="auto">
          <a:xfrm>
            <a:off x="395536" y="764704"/>
            <a:ext cx="8496944" cy="5904656"/>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4" name="Содержимое 3"/>
          <p:cNvPicPr>
            <a:picLocks noGrp="1"/>
          </p:cNvPicPr>
          <p:nvPr>
            <p:ph idx="1"/>
          </p:nvPr>
        </p:nvPicPr>
        <p:blipFill>
          <a:blip r:embed="rId2" cstate="print"/>
          <a:srcRect t="6818" r="5113" b="10227"/>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1520" y="274638"/>
            <a:ext cx="8712968" cy="706090"/>
          </a:xfrm>
        </p:spPr>
        <p:txBody>
          <a:bodyPr>
            <a:noAutofit/>
          </a:bodyPr>
          <a:lstStyle/>
          <a:p>
            <a:r>
              <a:rPr lang="ru-RU" sz="3600" b="1" dirty="0" smtClean="0">
                <a:solidFill>
                  <a:srgbClr val="002060"/>
                </a:solidFill>
              </a:rPr>
              <a:t/>
            </a:r>
            <a:br>
              <a:rPr lang="ru-RU" sz="3600" b="1" dirty="0" smtClean="0">
                <a:solidFill>
                  <a:srgbClr val="002060"/>
                </a:solidFill>
              </a:rPr>
            </a:br>
            <a:r>
              <a:rPr lang="ru-RU" sz="3600" b="1" dirty="0" smtClean="0">
                <a:solidFill>
                  <a:srgbClr val="002060"/>
                </a:solidFill>
              </a:rPr>
              <a:t>4.5 Стандартные скорости передачи OTN </a:t>
            </a:r>
            <a:r>
              <a:rPr lang="ru-RU" sz="2800" b="1" dirty="0" smtClean="0">
                <a:solidFill>
                  <a:srgbClr val="002060"/>
                </a:solidFill>
              </a:rPr>
              <a:t> </a:t>
            </a:r>
            <a:r>
              <a:rPr lang="ru-RU" sz="2800" b="1" dirty="0" smtClean="0"/>
              <a:t>	</a:t>
            </a:r>
            <a:endParaRPr lang="ru-RU" sz="1600" dirty="0"/>
          </a:p>
        </p:txBody>
      </p:sp>
      <p:sp>
        <p:nvSpPr>
          <p:cNvPr id="3" name="Содержимое 2"/>
          <p:cNvSpPr>
            <a:spLocks noGrp="1"/>
          </p:cNvSpPr>
          <p:nvPr>
            <p:ph idx="1"/>
          </p:nvPr>
        </p:nvSpPr>
        <p:spPr>
          <a:xfrm>
            <a:off x="0" y="908720"/>
            <a:ext cx="8964488" cy="5949280"/>
          </a:xfrm>
        </p:spPr>
        <p:txBody>
          <a:bodyPr>
            <a:normAutofit fontScale="70000" lnSpcReduction="20000"/>
          </a:bodyPr>
          <a:lstStyle/>
          <a:p>
            <a:pPr>
              <a:buNone/>
            </a:pPr>
            <a:r>
              <a:rPr lang="ru-RU" b="1" dirty="0" smtClean="0"/>
              <a:t>	</a:t>
            </a:r>
          </a:p>
          <a:p>
            <a:pPr>
              <a:buNone/>
            </a:pPr>
            <a:r>
              <a:rPr lang="ru-RU" b="1" dirty="0" smtClean="0"/>
              <a:t>	                </a:t>
            </a:r>
            <a:r>
              <a:rPr lang="ru-RU" sz="2600" b="1" dirty="0" smtClean="0">
                <a:effectLst>
                  <a:outerShdw blurRad="38100" dist="38100" dir="2700000" algn="tl">
                    <a:srgbClr val="000000">
                      <a:alpha val="43137"/>
                    </a:srgbClr>
                  </a:outerShdw>
                </a:effectLst>
              </a:rPr>
              <a:t>Приблизительная </a:t>
            </a:r>
          </a:p>
          <a:p>
            <a:pPr>
              <a:buNone/>
            </a:pPr>
            <a:r>
              <a:rPr lang="ru-RU" sz="2600" b="1" dirty="0" smtClean="0">
                <a:effectLst>
                  <a:outerShdw blurRad="38100" dist="38100" dir="2700000" algn="tl">
                    <a:srgbClr val="000000">
                      <a:alpha val="43137"/>
                    </a:srgbClr>
                  </a:outerShdw>
                </a:effectLst>
              </a:rPr>
              <a:t>                            скорость передачи,</a:t>
            </a:r>
          </a:p>
          <a:p>
            <a:pPr>
              <a:buNone/>
            </a:pPr>
            <a:r>
              <a:rPr lang="ru-RU" sz="2600" b="1" dirty="0" smtClean="0">
                <a:effectLst>
                  <a:outerShdw blurRad="38100" dist="38100" dir="2700000" algn="tl">
                    <a:srgbClr val="000000">
                      <a:alpha val="43137"/>
                    </a:srgbClr>
                  </a:outerShdw>
                </a:effectLst>
              </a:rPr>
              <a:t>                                 Гбит/с                                 </a:t>
            </a:r>
            <a:r>
              <a:rPr lang="ru-RU" b="1" dirty="0" smtClean="0"/>
              <a:t>Оптимизировано для 	</a:t>
            </a:r>
          </a:p>
          <a:p>
            <a:r>
              <a:rPr lang="ru-RU" b="1" dirty="0" smtClean="0"/>
              <a:t>OTU1 </a:t>
            </a:r>
            <a:r>
              <a:rPr lang="ru-RU" dirty="0" smtClean="0"/>
              <a:t>	</a:t>
            </a:r>
            <a:r>
              <a:rPr lang="ru-RU" b="1" dirty="0" smtClean="0"/>
              <a:t>2,66</a:t>
            </a:r>
            <a:r>
              <a:rPr lang="ru-RU" dirty="0" smtClean="0"/>
              <a:t> 	           SDH STM-16 передача сигнала 	</a:t>
            </a:r>
          </a:p>
          <a:p>
            <a:r>
              <a:rPr lang="ru-RU" b="1" dirty="0" smtClean="0"/>
              <a:t>OTU2</a:t>
            </a:r>
            <a:r>
              <a:rPr lang="ru-RU" dirty="0" smtClean="0"/>
              <a:t> 	</a:t>
            </a:r>
            <a:r>
              <a:rPr lang="ru-RU" b="1" dirty="0" smtClean="0"/>
              <a:t>10,70</a:t>
            </a:r>
            <a:r>
              <a:rPr lang="ru-RU" dirty="0" smtClean="0"/>
              <a:t>              SDH STM-64 или 10GbE передача на</a:t>
            </a:r>
          </a:p>
          <a:p>
            <a:pPr>
              <a:buNone/>
            </a:pPr>
            <a:r>
              <a:rPr lang="ru-RU" dirty="0" smtClean="0"/>
              <a:t>                                                    физическом уровне глобальной сети (WAN)</a:t>
            </a:r>
          </a:p>
          <a:p>
            <a:pPr>
              <a:buNone/>
            </a:pPr>
            <a:r>
              <a:rPr lang="ru-RU" dirty="0" smtClean="0"/>
              <a:t>	</a:t>
            </a:r>
          </a:p>
          <a:p>
            <a:r>
              <a:rPr lang="ru-RU" b="1" dirty="0" smtClean="0"/>
              <a:t>OTU2e</a:t>
            </a:r>
            <a:r>
              <a:rPr lang="ru-RU" dirty="0" smtClean="0"/>
              <a:t> 	</a:t>
            </a:r>
            <a:r>
              <a:rPr lang="ru-RU" b="1" dirty="0" smtClean="0"/>
              <a:t>11,09</a:t>
            </a:r>
            <a:r>
              <a:rPr lang="ru-RU" dirty="0" smtClean="0"/>
              <a:t> 	        10GbE. Передача на физическом уровне</a:t>
            </a:r>
          </a:p>
          <a:p>
            <a:pPr>
              <a:buNone/>
            </a:pPr>
            <a:r>
              <a:rPr lang="ru-RU" dirty="0" smtClean="0"/>
              <a:t>                                                    локальной сети (LAN) (для портов </a:t>
            </a:r>
          </a:p>
          <a:p>
            <a:pPr>
              <a:buNone/>
            </a:pPr>
            <a:r>
              <a:rPr lang="ru-RU" dirty="0" smtClean="0"/>
              <a:t>                                                   коммутаторов/маршрутизаторов IP/</a:t>
            </a:r>
            <a:r>
              <a:rPr lang="ru-RU" dirty="0" err="1" smtClean="0"/>
              <a:t>Ethernet</a:t>
            </a:r>
            <a:r>
              <a:rPr lang="ru-RU" dirty="0" smtClean="0"/>
              <a:t>) </a:t>
            </a:r>
          </a:p>
          <a:p>
            <a:pPr>
              <a:buNone/>
            </a:pPr>
            <a:r>
              <a:rPr lang="ru-RU" dirty="0" smtClean="0"/>
              <a:t>                                                   на полной линейной скорости (10,3 Гбит/с) 	</a:t>
            </a:r>
          </a:p>
          <a:p>
            <a:r>
              <a:rPr lang="en-US" b="1" dirty="0" smtClean="0"/>
              <a:t>OTU3 </a:t>
            </a:r>
            <a:r>
              <a:rPr lang="en-US" dirty="0" smtClean="0"/>
              <a:t>	</a:t>
            </a:r>
            <a:r>
              <a:rPr lang="en-US" b="1" dirty="0" smtClean="0"/>
              <a:t>43,01 </a:t>
            </a:r>
            <a:r>
              <a:rPr lang="en-US" dirty="0" smtClean="0"/>
              <a:t>	</a:t>
            </a:r>
            <a:r>
              <a:rPr lang="ru-RU" dirty="0" smtClean="0"/>
              <a:t>        </a:t>
            </a:r>
            <a:r>
              <a:rPr lang="en-US" dirty="0" smtClean="0"/>
              <a:t>SDH</a:t>
            </a:r>
            <a:r>
              <a:rPr lang="ru-RU" dirty="0" smtClean="0"/>
              <a:t>:</a:t>
            </a:r>
            <a:r>
              <a:rPr lang="en-US" dirty="0" smtClean="0"/>
              <a:t> STM-256 </a:t>
            </a:r>
            <a:r>
              <a:rPr lang="ru-RU" dirty="0" smtClean="0"/>
              <a:t>или 40</a:t>
            </a:r>
            <a:r>
              <a:rPr lang="en-US" dirty="0" err="1" smtClean="0"/>
              <a:t>GbE</a:t>
            </a:r>
            <a:r>
              <a:rPr lang="en-US" dirty="0" smtClean="0"/>
              <a:t> </a:t>
            </a:r>
            <a:r>
              <a:rPr lang="ru-RU" dirty="0" smtClean="0"/>
              <a:t>передача сигнала 	</a:t>
            </a:r>
          </a:p>
          <a:p>
            <a:r>
              <a:rPr lang="ru-RU" b="1" dirty="0" smtClean="0"/>
              <a:t>OTU3e</a:t>
            </a:r>
            <a:r>
              <a:rPr lang="ru-RU" dirty="0" smtClean="0"/>
              <a:t>2 	</a:t>
            </a:r>
            <a:r>
              <a:rPr lang="ru-RU" b="1" dirty="0" smtClean="0"/>
              <a:t>44,58</a:t>
            </a:r>
            <a:r>
              <a:rPr lang="ru-RU" dirty="0" smtClean="0"/>
              <a:t>  	         Передача до четырех сигналов OTU2e 	</a:t>
            </a:r>
          </a:p>
          <a:p>
            <a:r>
              <a:rPr lang="ru-RU" b="1" dirty="0" smtClean="0"/>
              <a:t>ODU4</a:t>
            </a:r>
            <a:r>
              <a:rPr lang="ru-RU" dirty="0" smtClean="0"/>
              <a:t> 	</a:t>
            </a:r>
            <a:r>
              <a:rPr lang="ru-RU" b="1" dirty="0" smtClean="0"/>
              <a:t>112 </a:t>
            </a:r>
            <a:r>
              <a:rPr lang="ru-RU" dirty="0" smtClean="0"/>
              <a:t>	         100 </a:t>
            </a:r>
            <a:r>
              <a:rPr lang="ru-RU" dirty="0" err="1" smtClean="0"/>
              <a:t>GbE</a:t>
            </a:r>
            <a:r>
              <a:rPr lang="ru-RU" dirty="0" smtClean="0"/>
              <a:t> передача сигнала 	</a:t>
            </a:r>
          </a:p>
          <a:p>
            <a:pPr marL="2595563" indent="-2595563"/>
            <a:endParaRPr lang="ru-RU"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3068960"/>
          </a:xfrm>
        </p:spPr>
        <p:txBody>
          <a:bodyPr>
            <a:normAutofit fontScale="90000"/>
          </a:bodyPr>
          <a:lstStyle/>
          <a:p>
            <a:r>
              <a:rPr lang="ru-RU" dirty="0" smtClean="0"/>
              <a:t/>
            </a:r>
            <a:br>
              <a:rPr lang="ru-RU" dirty="0" smtClean="0"/>
            </a:br>
            <a:r>
              <a:rPr lang="ru-RU" dirty="0" smtClean="0"/>
              <a:t/>
            </a:r>
            <a:br>
              <a:rPr lang="ru-RU" dirty="0" smtClean="0"/>
            </a:br>
            <a:r>
              <a:rPr lang="ru-RU" dirty="0" smtClean="0"/>
              <a:t/>
            </a:r>
            <a:br>
              <a:rPr lang="ru-RU" dirty="0" smtClean="0"/>
            </a:br>
            <a:r>
              <a:rPr lang="ru-RU" b="1" dirty="0" smtClean="0">
                <a:solidFill>
                  <a:srgbClr val="002060"/>
                </a:solidFill>
              </a:rPr>
              <a:t>4.5 Иерархия скоростей OTN</a:t>
            </a:r>
            <a:br>
              <a:rPr lang="ru-RU" b="1" dirty="0" smtClean="0">
                <a:solidFill>
                  <a:srgbClr val="002060"/>
                </a:solidFill>
              </a:rPr>
            </a:br>
            <a:r>
              <a:rPr lang="ru-RU" sz="2200" dirty="0" smtClean="0"/>
              <a:t> </a:t>
            </a:r>
            <a:r>
              <a:rPr lang="ru-RU" sz="3100" dirty="0" smtClean="0"/>
              <a:t>В настоящее время стандартизованы три скорости OTN, которые выбраны так, чтобы прозрачным образом передавать кадры STM-16, STM-64 и </a:t>
            </a:r>
            <a:br>
              <a:rPr lang="ru-RU" sz="3100" dirty="0" smtClean="0"/>
            </a:br>
            <a:r>
              <a:rPr lang="ru-RU" sz="3100" dirty="0" smtClean="0"/>
              <a:t>STM-256 вместе со служебными заголовками. </a:t>
            </a:r>
            <a:r>
              <a:rPr lang="ru-RU" dirty="0" smtClean="0"/>
              <a:t/>
            </a:r>
            <a:br>
              <a:rPr lang="ru-RU" dirty="0" smtClean="0"/>
            </a:br>
            <a:r>
              <a:rPr lang="ru-RU" dirty="0" smtClean="0"/>
              <a:t/>
            </a:r>
            <a:br>
              <a:rPr lang="ru-RU" dirty="0" smtClean="0"/>
            </a:br>
            <a:r>
              <a:rPr lang="ru-RU" dirty="0" smtClean="0"/>
              <a:t/>
            </a:r>
            <a:br>
              <a:rPr lang="ru-RU" dirty="0" smtClean="0"/>
            </a:br>
            <a:endParaRPr lang="ru-RU" dirty="0"/>
          </a:p>
        </p:txBody>
      </p:sp>
      <p:sp>
        <p:nvSpPr>
          <p:cNvPr id="3" name="Содержимое 2"/>
          <p:cNvSpPr>
            <a:spLocks noGrp="1"/>
          </p:cNvSpPr>
          <p:nvPr>
            <p:ph idx="1"/>
          </p:nvPr>
        </p:nvSpPr>
        <p:spPr>
          <a:xfrm>
            <a:off x="457200" y="3068960"/>
            <a:ext cx="8229600" cy="3057203"/>
          </a:xfrm>
        </p:spPr>
        <p:txBody>
          <a:bodyPr/>
          <a:lstStyle/>
          <a:p>
            <a:pPr>
              <a:buNone/>
            </a:pPr>
            <a:endParaRPr lang="ru-RU" dirty="0" smtClean="0"/>
          </a:p>
          <a:p>
            <a:endParaRPr lang="ru-RU" dirty="0"/>
          </a:p>
        </p:txBody>
      </p:sp>
      <p:pic>
        <p:nvPicPr>
          <p:cNvPr id="86018" name="Picture 2" descr="C:\Users\Юра\Downloads\иерархия скоростей ОТН.png"/>
          <p:cNvPicPr>
            <a:picLocks noChangeAspect="1" noChangeArrowheads="1"/>
          </p:cNvPicPr>
          <p:nvPr/>
        </p:nvPicPr>
        <p:blipFill>
          <a:blip r:embed="rId2" cstate="print"/>
          <a:srcRect/>
          <a:stretch>
            <a:fillRect/>
          </a:stretch>
        </p:blipFill>
        <p:spPr bwMode="auto">
          <a:xfrm>
            <a:off x="755576" y="3284984"/>
            <a:ext cx="7848872" cy="3384376"/>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60648"/>
            <a:ext cx="8229600" cy="648072"/>
          </a:xfrm>
        </p:spPr>
        <p:txBody>
          <a:bodyPr>
            <a:normAutofit fontScale="90000"/>
          </a:bodyPr>
          <a:lstStyle/>
          <a:p>
            <a:r>
              <a:rPr lang="ru-RU" sz="4000" b="1" dirty="0" smtClean="0">
                <a:solidFill>
                  <a:srgbClr val="002060"/>
                </a:solidFill>
              </a:rPr>
              <a:t/>
            </a:r>
            <a:br>
              <a:rPr lang="ru-RU" sz="4000" b="1" dirty="0" smtClean="0">
                <a:solidFill>
                  <a:srgbClr val="002060"/>
                </a:solidFill>
              </a:rPr>
            </a:br>
            <a:r>
              <a:rPr lang="ru-RU" sz="4000" b="1" dirty="0" smtClean="0">
                <a:solidFill>
                  <a:srgbClr val="002060"/>
                </a:solidFill>
              </a:rPr>
              <a:t> 4.5 Коррекция ошибок</a:t>
            </a:r>
            <a:r>
              <a:rPr lang="ru-RU" b="1" dirty="0" smtClean="0"/>
              <a:t/>
            </a:r>
            <a:br>
              <a:rPr lang="ru-RU" b="1" dirty="0" smtClean="0"/>
            </a:br>
            <a:endParaRPr lang="ru-RU" dirty="0"/>
          </a:p>
        </p:txBody>
      </p:sp>
      <p:sp>
        <p:nvSpPr>
          <p:cNvPr id="3" name="Содержимое 2"/>
          <p:cNvSpPr>
            <a:spLocks noGrp="1"/>
          </p:cNvSpPr>
          <p:nvPr>
            <p:ph idx="1"/>
          </p:nvPr>
        </p:nvSpPr>
        <p:spPr>
          <a:xfrm>
            <a:off x="0" y="908720"/>
            <a:ext cx="9144000" cy="5949280"/>
          </a:xfrm>
        </p:spPr>
        <p:txBody>
          <a:bodyPr>
            <a:normAutofit fontScale="85000" lnSpcReduction="20000"/>
          </a:bodyPr>
          <a:lstStyle/>
          <a:p>
            <a:r>
              <a:rPr lang="ru-RU" b="1" dirty="0" smtClean="0"/>
              <a:t>В OTN применяется процедура прямой коррекции ошибок (FEC), в которой используются коды Рида-Соломона RS(255,239). </a:t>
            </a:r>
          </a:p>
          <a:p>
            <a:r>
              <a:rPr lang="ru-RU" dirty="0" smtClean="0"/>
              <a:t>В этом самокорректирующемся коде данные кодируются блоками по 255 байт, из которых 239 байт являются пользовательскими, а 16 байт представляют собой корректирующий код. </a:t>
            </a:r>
          </a:p>
          <a:p>
            <a:r>
              <a:rPr lang="ru-RU" dirty="0" smtClean="0"/>
              <a:t>Коды Рида-Соломона позволяют исправлять до</a:t>
            </a:r>
          </a:p>
          <a:p>
            <a:pPr>
              <a:buNone/>
            </a:pPr>
            <a:r>
              <a:rPr lang="ru-RU" dirty="0" smtClean="0"/>
              <a:t>     8 ошибочных байт в блоке из 255 байт, </a:t>
            </a:r>
          </a:p>
          <a:p>
            <a:pPr>
              <a:buNone/>
            </a:pPr>
            <a:r>
              <a:rPr lang="ru-RU" dirty="0" smtClean="0"/>
              <a:t>     что является очень хорошей характеристикой для самокорректирующего кода. </a:t>
            </a:r>
          </a:p>
          <a:p>
            <a:r>
              <a:rPr lang="ru-RU" dirty="0" smtClean="0"/>
              <a:t>Применение кода Рида-Соломона позволяет улучшить отношение мощности сигнала к мощности шума на 5 дБ.</a:t>
            </a:r>
          </a:p>
          <a:p>
            <a:r>
              <a:rPr lang="ru-RU" dirty="0" smtClean="0"/>
              <a:t> Этот эффект дает возможность увеличить расстояние между регенераторами сети на 20 км или использовать менее мощные передатчики сигнала.</a:t>
            </a:r>
          </a:p>
          <a:p>
            <a:endParaRPr lang="ru-RU"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88640"/>
            <a:ext cx="8229600" cy="792088"/>
          </a:xfrm>
        </p:spPr>
        <p:txBody>
          <a:bodyPr>
            <a:normAutofit/>
          </a:bodyPr>
          <a:lstStyle/>
          <a:p>
            <a:r>
              <a:rPr lang="ru-RU" sz="3200" b="1" dirty="0" smtClean="0">
                <a:solidFill>
                  <a:srgbClr val="002060"/>
                </a:solidFill>
              </a:rPr>
              <a:t>4.6 Основные возможности </a:t>
            </a:r>
            <a:r>
              <a:rPr lang="en-US" sz="3200" b="1" dirty="0" smtClean="0">
                <a:solidFill>
                  <a:srgbClr val="002060"/>
                </a:solidFill>
              </a:rPr>
              <a:t>OTN</a:t>
            </a:r>
            <a:r>
              <a:rPr lang="ru-RU" sz="3200" b="1" dirty="0" smtClean="0">
                <a:solidFill>
                  <a:srgbClr val="002060"/>
                </a:solidFill>
              </a:rPr>
              <a:t>(1)</a:t>
            </a:r>
            <a:r>
              <a:rPr lang="en-US" sz="3200" b="1" dirty="0" smtClean="0">
                <a:solidFill>
                  <a:srgbClr val="002060"/>
                </a:solidFill>
              </a:rPr>
              <a:t> </a:t>
            </a:r>
            <a:endParaRPr lang="ru-RU" sz="3200" dirty="0">
              <a:solidFill>
                <a:srgbClr val="002060"/>
              </a:solidFill>
            </a:endParaRPr>
          </a:p>
        </p:txBody>
      </p:sp>
      <p:sp>
        <p:nvSpPr>
          <p:cNvPr id="3" name="Содержимое 2"/>
          <p:cNvSpPr>
            <a:spLocks noGrp="1"/>
          </p:cNvSpPr>
          <p:nvPr>
            <p:ph idx="1"/>
          </p:nvPr>
        </p:nvSpPr>
        <p:spPr>
          <a:xfrm>
            <a:off x="0" y="980728"/>
            <a:ext cx="9144000" cy="5877272"/>
          </a:xfrm>
        </p:spPr>
        <p:txBody>
          <a:bodyPr>
            <a:normAutofit/>
          </a:bodyPr>
          <a:lstStyle/>
          <a:p>
            <a:pPr>
              <a:buNone/>
            </a:pPr>
            <a:r>
              <a:rPr lang="ru-RU" sz="2000" b="1" dirty="0" smtClean="0"/>
              <a:t> </a:t>
            </a:r>
            <a:r>
              <a:rPr lang="ru-RU" sz="2400" b="1" dirty="0" smtClean="0"/>
              <a:t>1.Уплотнение/коммутация для скорости 40</a:t>
            </a:r>
            <a:r>
              <a:rPr lang="en-US" sz="2400" b="1" dirty="0" smtClean="0"/>
              <a:t>G/100G </a:t>
            </a:r>
            <a:endParaRPr lang="ru-RU" sz="2400" b="1" dirty="0" smtClean="0"/>
          </a:p>
          <a:p>
            <a:pPr>
              <a:buNone/>
            </a:pPr>
            <a:r>
              <a:rPr lang="ru-RU" sz="2400" b="1" dirty="0" smtClean="0"/>
              <a:t> 2.Повышение пропускной способности сети. </a:t>
            </a:r>
          </a:p>
          <a:p>
            <a:pPr>
              <a:buNone/>
            </a:pPr>
            <a:r>
              <a:rPr lang="ru-RU" sz="2400" dirty="0" smtClean="0"/>
              <a:t>OTN позволяет увеличить пропускную способность сети до 100 Гбит/с выше.</a:t>
            </a:r>
          </a:p>
          <a:p>
            <a:pPr>
              <a:buNone/>
            </a:pPr>
            <a:r>
              <a:rPr lang="ru-RU" sz="2400" dirty="0" smtClean="0"/>
              <a:t>  </a:t>
            </a:r>
            <a:r>
              <a:rPr lang="ru-RU" sz="2400" b="1" dirty="0" smtClean="0"/>
              <a:t>Это позволяет поставщикам услуг масштабировать сети или расширять ассортимент услуг</a:t>
            </a:r>
            <a:r>
              <a:rPr lang="ru-RU" sz="2400" dirty="0" smtClean="0"/>
              <a:t>, не изменяя архитектуру сети и обходясь без крупных инвестиций.</a:t>
            </a:r>
          </a:p>
          <a:p>
            <a:pPr>
              <a:buNone/>
            </a:pPr>
            <a:r>
              <a:rPr lang="ru-RU" sz="2400" b="1" dirty="0" smtClean="0"/>
              <a:t>Использование каналов с пропускной способностью 40 и 100 Гбит/с </a:t>
            </a:r>
            <a:r>
              <a:rPr lang="ru-RU" sz="2400" dirty="0" smtClean="0"/>
              <a:t>позволяет операторам </a:t>
            </a:r>
            <a:r>
              <a:rPr lang="ru-RU" sz="2400" dirty="0" smtClean="0"/>
              <a:t>быстрее предоставлять услуги, снижать себестоимость передачи </a:t>
            </a:r>
            <a:r>
              <a:rPr lang="ru-RU" sz="2400" dirty="0" smtClean="0"/>
              <a:t>и разгружать </a:t>
            </a:r>
            <a:r>
              <a:rPr lang="ru-RU" sz="2400" dirty="0" smtClean="0"/>
              <a:t>участки линий с ограниченной пропускной способностью. </a:t>
            </a:r>
          </a:p>
          <a:p>
            <a:pPr>
              <a:buNone/>
            </a:pPr>
            <a:endParaRPr lang="ru-RU" sz="2400" b="1" dirty="0" smtClean="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4" name="Содержимое 3"/>
          <p:cNvPicPr>
            <a:picLocks noGrp="1"/>
          </p:cNvPicPr>
          <p:nvPr>
            <p:ph idx="1"/>
          </p:nvPr>
        </p:nvPicPr>
        <p:blipFill>
          <a:blip r:embed="rId2" cstate="print"/>
          <a:srcRect l="8402" r="9526" b="15045"/>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706090"/>
          </a:xfrm>
        </p:spPr>
        <p:txBody>
          <a:bodyPr>
            <a:normAutofit/>
          </a:bodyPr>
          <a:lstStyle/>
          <a:p>
            <a:r>
              <a:rPr lang="ru-RU" sz="3600" b="1" dirty="0" smtClean="0">
                <a:solidFill>
                  <a:srgbClr val="002060"/>
                </a:solidFill>
              </a:rPr>
              <a:t>4.6 Основные возможности </a:t>
            </a:r>
            <a:r>
              <a:rPr lang="en-US" sz="3600" b="1" dirty="0" smtClean="0">
                <a:solidFill>
                  <a:srgbClr val="002060"/>
                </a:solidFill>
              </a:rPr>
              <a:t>OTN</a:t>
            </a:r>
            <a:r>
              <a:rPr lang="ru-RU" sz="3600" b="1" dirty="0" smtClean="0">
                <a:solidFill>
                  <a:srgbClr val="002060"/>
                </a:solidFill>
              </a:rPr>
              <a:t>(1)</a:t>
            </a:r>
            <a:r>
              <a:rPr lang="en-US" sz="3600" b="1" dirty="0" smtClean="0">
                <a:solidFill>
                  <a:srgbClr val="002060"/>
                </a:solidFill>
              </a:rPr>
              <a:t> </a:t>
            </a:r>
            <a:endParaRPr lang="ru-RU" sz="3600" dirty="0"/>
          </a:p>
        </p:txBody>
      </p:sp>
      <p:sp>
        <p:nvSpPr>
          <p:cNvPr id="3" name="Содержимое 2"/>
          <p:cNvSpPr>
            <a:spLocks noGrp="1"/>
          </p:cNvSpPr>
          <p:nvPr>
            <p:ph idx="1"/>
          </p:nvPr>
        </p:nvSpPr>
        <p:spPr>
          <a:xfrm>
            <a:off x="0" y="1600200"/>
            <a:ext cx="8964488" cy="5257800"/>
          </a:xfrm>
        </p:spPr>
        <p:txBody>
          <a:bodyPr/>
          <a:lstStyle/>
          <a:p>
            <a:pPr>
              <a:buNone/>
            </a:pPr>
            <a:r>
              <a:rPr lang="ru-RU" b="1" dirty="0" smtClean="0"/>
              <a:t>3. Расширенный мониторинг услуг. </a:t>
            </a:r>
          </a:p>
          <a:p>
            <a:pPr>
              <a:buNone/>
            </a:pPr>
            <a:r>
              <a:rPr lang="ru-RU" dirty="0" smtClean="0"/>
              <a:t>OTN включает предусмотренные протоколом решения для мониторинга трафика,</a:t>
            </a:r>
          </a:p>
          <a:p>
            <a:pPr>
              <a:buNone/>
            </a:pPr>
            <a:r>
              <a:rPr lang="ru-RU" dirty="0" smtClean="0"/>
              <a:t>поддерживающие функцию </a:t>
            </a:r>
            <a:r>
              <a:rPr lang="ru-RU" b="1" dirty="0" smtClean="0"/>
              <a:t>мониторинга тандемных соединений (ТСМ) </a:t>
            </a:r>
            <a:r>
              <a:rPr lang="ru-RU" dirty="0" smtClean="0"/>
              <a:t>и другие подобные функции.</a:t>
            </a:r>
          </a:p>
          <a:p>
            <a:pPr>
              <a:buNone/>
            </a:pPr>
            <a:r>
              <a:rPr lang="ru-RU" dirty="0" smtClean="0"/>
              <a:t> Это позволяет вести комплексный мониторинг услуг в различных доменах </a:t>
            </a:r>
            <a:r>
              <a:rPr lang="ru-RU" b="1" dirty="0" smtClean="0"/>
              <a:t>(рис. ниже ). </a:t>
            </a:r>
          </a:p>
          <a:p>
            <a:endParaRPr lang="ru-RU"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1268760"/>
          </a:xfrm>
        </p:spPr>
        <p:txBody>
          <a:bodyPr>
            <a:noAutofit/>
          </a:bodyPr>
          <a:lstStyle/>
          <a:p>
            <a:pPr algn="l"/>
            <a:r>
              <a:rPr lang="ru-RU" sz="3200" dirty="0" smtClean="0">
                <a:solidFill>
                  <a:srgbClr val="002060"/>
                </a:solidFill>
              </a:rPr>
              <a:t> </a:t>
            </a:r>
            <a:r>
              <a:rPr lang="ru-RU" sz="3200" b="1" dirty="0" smtClean="0">
                <a:solidFill>
                  <a:srgbClr val="002060"/>
                </a:solidFill>
              </a:rPr>
              <a:t>Мониторинг тандемных соединений (TCM) обеспечивает прозрачность управления на нескольких (вложенных) уровнях. Рис.</a:t>
            </a:r>
            <a:endParaRPr lang="ru-RU" sz="3200" b="1" dirty="0">
              <a:solidFill>
                <a:srgbClr val="002060"/>
              </a:solidFill>
            </a:endParaRPr>
          </a:p>
        </p:txBody>
      </p:sp>
      <p:pic>
        <p:nvPicPr>
          <p:cNvPr id="8194" name="Picture 2"/>
          <p:cNvPicPr>
            <a:picLocks noGrp="1" noChangeAspect="1" noChangeArrowheads="1"/>
          </p:cNvPicPr>
          <p:nvPr>
            <p:ph idx="1"/>
          </p:nvPr>
        </p:nvPicPr>
        <p:blipFill>
          <a:blip r:embed="rId2" cstate="print"/>
          <a:srcRect/>
          <a:stretch>
            <a:fillRect/>
          </a:stretch>
        </p:blipFill>
        <p:spPr bwMode="auto">
          <a:xfrm>
            <a:off x="0" y="1340768"/>
            <a:ext cx="9144000" cy="5517232"/>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16632"/>
            <a:ext cx="8229600" cy="648072"/>
          </a:xfrm>
        </p:spPr>
        <p:txBody>
          <a:bodyPr>
            <a:normAutofit/>
          </a:bodyPr>
          <a:lstStyle/>
          <a:p>
            <a:r>
              <a:rPr lang="ru-RU" sz="3200" b="1" dirty="0" smtClean="0">
                <a:solidFill>
                  <a:srgbClr val="002060"/>
                </a:solidFill>
              </a:rPr>
              <a:t>4.6 Основные возможности </a:t>
            </a:r>
            <a:r>
              <a:rPr lang="en-US" sz="3200" b="1" dirty="0" smtClean="0">
                <a:solidFill>
                  <a:srgbClr val="002060"/>
                </a:solidFill>
              </a:rPr>
              <a:t>OTN</a:t>
            </a:r>
            <a:r>
              <a:rPr lang="ru-RU" sz="3200" b="1" dirty="0" smtClean="0">
                <a:solidFill>
                  <a:srgbClr val="002060"/>
                </a:solidFill>
              </a:rPr>
              <a:t>(2)</a:t>
            </a:r>
            <a:r>
              <a:rPr lang="en-US" sz="3200" b="1" dirty="0" smtClean="0">
                <a:solidFill>
                  <a:srgbClr val="002060"/>
                </a:solidFill>
              </a:rPr>
              <a:t> </a:t>
            </a:r>
            <a:endParaRPr lang="ru-RU" sz="3200" dirty="0">
              <a:solidFill>
                <a:srgbClr val="002060"/>
              </a:solidFill>
            </a:endParaRPr>
          </a:p>
        </p:txBody>
      </p:sp>
      <p:sp>
        <p:nvSpPr>
          <p:cNvPr id="3" name="Содержимое 2"/>
          <p:cNvSpPr>
            <a:spLocks noGrp="1"/>
          </p:cNvSpPr>
          <p:nvPr>
            <p:ph idx="1"/>
          </p:nvPr>
        </p:nvSpPr>
        <p:spPr>
          <a:xfrm>
            <a:off x="251520" y="980728"/>
            <a:ext cx="8712968" cy="5544616"/>
          </a:xfrm>
        </p:spPr>
        <p:txBody>
          <a:bodyPr>
            <a:normAutofit fontScale="85000" lnSpcReduction="20000"/>
          </a:bodyPr>
          <a:lstStyle/>
          <a:p>
            <a:pPr>
              <a:buNone/>
            </a:pPr>
            <a:r>
              <a:rPr lang="ru-RU" b="1" dirty="0" smtClean="0"/>
              <a:t>4</a:t>
            </a:r>
            <a:r>
              <a:rPr lang="ru-RU" dirty="0" smtClean="0"/>
              <a:t>. </a:t>
            </a:r>
            <a:r>
              <a:rPr lang="ru-RU" b="1" dirty="0" smtClean="0"/>
              <a:t>Ядро с эффективной коммутацией без потерь пакетов.</a:t>
            </a:r>
            <a:endParaRPr lang="ru-RU" dirty="0" smtClean="0"/>
          </a:p>
          <a:p>
            <a:pPr>
              <a:buNone/>
            </a:pPr>
            <a:r>
              <a:rPr lang="ru-RU" dirty="0" smtClean="0"/>
              <a:t> Детерминированный характер OTN обеспечивает высокую скорость передачи трафика в масштабе всей сети.</a:t>
            </a:r>
          </a:p>
          <a:p>
            <a:r>
              <a:rPr lang="ru-RU" dirty="0" smtClean="0"/>
              <a:t> Это позволяет поставщикам услуг построить ядро сети, обеспечивающее эффективную коммутацию без потерь пакетов.</a:t>
            </a:r>
          </a:p>
          <a:p>
            <a:r>
              <a:rPr lang="ru-RU" dirty="0" smtClean="0"/>
              <a:t> При необходимости на границе сети можно выполнять агрегацию пакетов, с превышением или без превышения лимита </a:t>
            </a:r>
            <a:r>
              <a:rPr lang="ru-RU" b="1" dirty="0" smtClean="0"/>
              <a:t>(рис. 13). </a:t>
            </a:r>
          </a:p>
          <a:p>
            <a:r>
              <a:rPr lang="ru-RU" dirty="0" smtClean="0"/>
              <a:t>При достаточном уровне заполнения трафик направляется в OTN и передается через ядро в место назначения с минимальными затратами.</a:t>
            </a:r>
            <a:endParaRPr lang="ru-RU"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764704"/>
          </a:xfrm>
        </p:spPr>
        <p:txBody>
          <a:bodyPr>
            <a:normAutofit fontScale="90000"/>
          </a:bodyPr>
          <a:lstStyle/>
          <a:p>
            <a:r>
              <a:rPr lang="ru-RU" sz="2800" b="1" dirty="0" smtClean="0">
                <a:solidFill>
                  <a:srgbClr val="002060"/>
                </a:solidFill>
              </a:rPr>
              <a:t>Ядро OTN с эффективной коммутацией без потерь пакетов (рис.13)</a:t>
            </a:r>
            <a:endParaRPr lang="ru-RU" sz="2800" b="1" dirty="0">
              <a:solidFill>
                <a:srgbClr val="002060"/>
              </a:solidFill>
            </a:endParaRPr>
          </a:p>
        </p:txBody>
      </p:sp>
      <p:pic>
        <p:nvPicPr>
          <p:cNvPr id="174082" name="Picture 2"/>
          <p:cNvPicPr>
            <a:picLocks noGrp="1" noChangeAspect="1" noChangeArrowheads="1"/>
          </p:cNvPicPr>
          <p:nvPr>
            <p:ph idx="1"/>
          </p:nvPr>
        </p:nvPicPr>
        <p:blipFill>
          <a:blip r:embed="rId2" cstate="print"/>
          <a:srcRect/>
          <a:stretch>
            <a:fillRect/>
          </a:stretch>
        </p:blipFill>
        <p:spPr bwMode="auto">
          <a:xfrm>
            <a:off x="0" y="692696"/>
            <a:ext cx="9144000" cy="5904656"/>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562074"/>
          </a:xfrm>
        </p:spPr>
        <p:txBody>
          <a:bodyPr>
            <a:noAutofit/>
          </a:bodyPr>
          <a:lstStyle/>
          <a:p>
            <a:r>
              <a:rPr lang="ru-RU" sz="3600" b="1" dirty="0" smtClean="0">
                <a:solidFill>
                  <a:srgbClr val="002060"/>
                </a:solidFill>
              </a:rPr>
              <a:t>4.6 Основные возможности </a:t>
            </a:r>
            <a:r>
              <a:rPr lang="en-US" sz="3600" b="1" dirty="0" smtClean="0">
                <a:solidFill>
                  <a:srgbClr val="002060"/>
                </a:solidFill>
              </a:rPr>
              <a:t>OTN</a:t>
            </a:r>
            <a:r>
              <a:rPr lang="ru-RU" sz="3600" b="1" dirty="0" smtClean="0">
                <a:solidFill>
                  <a:srgbClr val="002060"/>
                </a:solidFill>
              </a:rPr>
              <a:t>(3)</a:t>
            </a:r>
            <a:endParaRPr lang="ru-RU" sz="3600" dirty="0">
              <a:solidFill>
                <a:srgbClr val="002060"/>
              </a:solidFill>
            </a:endParaRPr>
          </a:p>
        </p:txBody>
      </p:sp>
      <p:sp>
        <p:nvSpPr>
          <p:cNvPr id="3" name="Содержимое 2"/>
          <p:cNvSpPr>
            <a:spLocks noGrp="1"/>
          </p:cNvSpPr>
          <p:nvPr>
            <p:ph idx="1"/>
          </p:nvPr>
        </p:nvSpPr>
        <p:spPr>
          <a:xfrm>
            <a:off x="0" y="1052736"/>
            <a:ext cx="9144000" cy="5616624"/>
          </a:xfrm>
        </p:spPr>
        <p:txBody>
          <a:bodyPr>
            <a:normAutofit/>
          </a:bodyPr>
          <a:lstStyle/>
          <a:p>
            <a:pPr>
              <a:buNone/>
            </a:pPr>
            <a:r>
              <a:rPr lang="ru-RU" dirty="0" smtClean="0"/>
              <a:t>  </a:t>
            </a:r>
            <a:r>
              <a:rPr lang="ru-RU" sz="2800" b="1" dirty="0" smtClean="0"/>
              <a:t>5.Модернизация сети ОТ</a:t>
            </a:r>
            <a:r>
              <a:rPr lang="en-US" sz="2800" b="1" dirty="0" smtClean="0"/>
              <a:t>N</a:t>
            </a:r>
            <a:endParaRPr lang="ru-RU" sz="2800" b="1" dirty="0" smtClean="0"/>
          </a:p>
          <a:p>
            <a:r>
              <a:rPr lang="ru-RU" b="1" dirty="0" smtClean="0"/>
              <a:t> </a:t>
            </a:r>
            <a:r>
              <a:rPr lang="ru-RU" sz="2400" dirty="0" smtClean="0"/>
              <a:t>Большинство операторов рассматривают OTN как путь развития сетей SDH.</a:t>
            </a:r>
          </a:p>
          <a:p>
            <a:r>
              <a:rPr lang="ru-RU" sz="2400" dirty="0" smtClean="0"/>
              <a:t> </a:t>
            </a:r>
            <a:r>
              <a:rPr lang="ru-RU" sz="2400" b="1" dirty="0" smtClean="0"/>
              <a:t>OTN предоставляет доступ SDH к каналам 100 Гбит/с и выполняет функцию шлюза для устаревших транспортных сетей. </a:t>
            </a:r>
          </a:p>
          <a:p>
            <a:r>
              <a:rPr lang="ru-RU" sz="2400" dirty="0" smtClean="0"/>
              <a:t>Выбирая обновление, ограничение или расширение, поставщики услуг могут развивать свои сети в несколько этапов, чтобы не прерывать работу основных сервисов.</a:t>
            </a:r>
          </a:p>
          <a:p>
            <a:r>
              <a:rPr lang="ru-RU" sz="2400" dirty="0" smtClean="0"/>
              <a:t> На </a:t>
            </a:r>
            <a:r>
              <a:rPr lang="ru-RU" sz="2400" b="1" dirty="0" smtClean="0"/>
              <a:t>рис.14</a:t>
            </a:r>
            <a:r>
              <a:rPr lang="ru-RU" sz="2400" dirty="0" smtClean="0"/>
              <a:t>  показан пример перехода от неэффективной кольцевой топологии сети к </a:t>
            </a:r>
            <a:r>
              <a:rPr lang="ru-RU" sz="2400" dirty="0" err="1" smtClean="0"/>
              <a:t>полносвязной</a:t>
            </a:r>
            <a:r>
              <a:rPr lang="ru-RU" sz="2400" dirty="0" smtClean="0"/>
              <a:t>   инфраструктуре и далее к интеллектуальной  </a:t>
            </a:r>
            <a:r>
              <a:rPr lang="ru-RU" sz="2400" dirty="0" err="1" smtClean="0"/>
              <a:t>полносвязной</a:t>
            </a:r>
            <a:r>
              <a:rPr lang="ru-RU" sz="2400" dirty="0" smtClean="0"/>
              <a:t> сети.</a:t>
            </a:r>
            <a:endParaRPr lang="ru-RU" sz="2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512" y="0"/>
            <a:ext cx="8964488" cy="1124744"/>
          </a:xfrm>
        </p:spPr>
        <p:txBody>
          <a:bodyPr>
            <a:noAutofit/>
          </a:bodyPr>
          <a:lstStyle/>
          <a:p>
            <a:r>
              <a:rPr lang="ru-RU" sz="3200" b="1" dirty="0" smtClean="0">
                <a:solidFill>
                  <a:srgbClr val="002060"/>
                </a:solidFill>
              </a:rPr>
              <a:t/>
            </a:r>
            <a:br>
              <a:rPr lang="ru-RU" sz="3200" b="1" dirty="0" smtClean="0">
                <a:solidFill>
                  <a:srgbClr val="002060"/>
                </a:solidFill>
              </a:rPr>
            </a:br>
            <a:r>
              <a:rPr lang="ru-RU" sz="2800" b="1" dirty="0" smtClean="0">
                <a:solidFill>
                  <a:srgbClr val="002060"/>
                </a:solidFill>
              </a:rPr>
              <a:t>4.6 Основные возможности</a:t>
            </a:r>
            <a:r>
              <a:rPr lang="en-US" sz="2800" b="1" dirty="0" smtClean="0">
                <a:solidFill>
                  <a:srgbClr val="002060"/>
                </a:solidFill>
              </a:rPr>
              <a:t> OTN</a:t>
            </a:r>
            <a:r>
              <a:rPr lang="ru-RU" sz="2800" b="1" dirty="0" smtClean="0">
                <a:solidFill>
                  <a:srgbClr val="002060"/>
                </a:solidFill>
              </a:rPr>
              <a:t>. </a:t>
            </a:r>
            <a:br>
              <a:rPr lang="ru-RU" sz="2800" b="1" dirty="0" smtClean="0">
                <a:solidFill>
                  <a:srgbClr val="002060"/>
                </a:solidFill>
              </a:rPr>
            </a:br>
            <a:r>
              <a:rPr lang="ru-RU" sz="2800" b="1" dirty="0" smtClean="0">
                <a:solidFill>
                  <a:srgbClr val="002060"/>
                </a:solidFill>
              </a:rPr>
              <a:t> Рис.14 Модернизация сети</a:t>
            </a:r>
            <a:r>
              <a:rPr lang="en-US" sz="2800" b="1" dirty="0" smtClean="0">
                <a:solidFill>
                  <a:srgbClr val="002060"/>
                </a:solidFill>
              </a:rPr>
              <a:t> </a:t>
            </a:r>
            <a:r>
              <a:rPr lang="ru-RU" sz="3200" b="1" dirty="0" smtClean="0">
                <a:solidFill>
                  <a:srgbClr val="002060"/>
                </a:solidFill>
              </a:rPr>
              <a:t/>
            </a:r>
            <a:br>
              <a:rPr lang="ru-RU" sz="3200" b="1" dirty="0" smtClean="0">
                <a:solidFill>
                  <a:srgbClr val="002060"/>
                </a:solidFill>
              </a:rPr>
            </a:br>
            <a:endParaRPr lang="ru-RU" sz="3200" dirty="0"/>
          </a:p>
        </p:txBody>
      </p:sp>
      <p:pic>
        <p:nvPicPr>
          <p:cNvPr id="175106" name="Picture 2"/>
          <p:cNvPicPr>
            <a:picLocks noGrp="1" noChangeAspect="1" noChangeArrowheads="1"/>
          </p:cNvPicPr>
          <p:nvPr>
            <p:ph idx="1"/>
          </p:nvPr>
        </p:nvPicPr>
        <p:blipFill>
          <a:blip r:embed="rId2" cstate="print"/>
          <a:srcRect/>
          <a:stretch>
            <a:fillRect/>
          </a:stretch>
        </p:blipFill>
        <p:spPr bwMode="auto">
          <a:xfrm>
            <a:off x="0" y="1196752"/>
            <a:ext cx="8964488" cy="5661248"/>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9144000" cy="706090"/>
          </a:xfrm>
        </p:spPr>
        <p:txBody>
          <a:bodyPr>
            <a:normAutofit/>
          </a:bodyPr>
          <a:lstStyle/>
          <a:p>
            <a:r>
              <a:rPr lang="ru-RU" sz="3600" b="1" dirty="0" smtClean="0">
                <a:solidFill>
                  <a:srgbClr val="002060"/>
                </a:solidFill>
              </a:rPr>
              <a:t>4.6 Основные возможности </a:t>
            </a:r>
            <a:r>
              <a:rPr lang="en-US" sz="3600" b="1" dirty="0" smtClean="0">
                <a:solidFill>
                  <a:srgbClr val="002060"/>
                </a:solidFill>
              </a:rPr>
              <a:t>OTN</a:t>
            </a:r>
            <a:r>
              <a:rPr lang="ru-RU" sz="3600" b="1" dirty="0" smtClean="0">
                <a:solidFill>
                  <a:srgbClr val="002060"/>
                </a:solidFill>
              </a:rPr>
              <a:t> (4)</a:t>
            </a:r>
            <a:endParaRPr lang="ru-RU" sz="3600" dirty="0"/>
          </a:p>
        </p:txBody>
      </p:sp>
      <p:sp>
        <p:nvSpPr>
          <p:cNvPr id="3" name="Содержимое 2"/>
          <p:cNvSpPr>
            <a:spLocks noGrp="1"/>
          </p:cNvSpPr>
          <p:nvPr>
            <p:ph idx="1"/>
          </p:nvPr>
        </p:nvSpPr>
        <p:spPr>
          <a:xfrm>
            <a:off x="0" y="1196752"/>
            <a:ext cx="9144000" cy="5661248"/>
          </a:xfrm>
        </p:spPr>
        <p:txBody>
          <a:bodyPr>
            <a:normAutofit fontScale="92500" lnSpcReduction="20000"/>
          </a:bodyPr>
          <a:lstStyle/>
          <a:p>
            <a:pPr>
              <a:buNone/>
            </a:pPr>
            <a:r>
              <a:rPr lang="ru-RU" b="1" dirty="0" smtClean="0"/>
              <a:t>   6. Экспресс-подключение </a:t>
            </a:r>
            <a:r>
              <a:rPr lang="ru-RU" b="1" dirty="0" err="1" smtClean="0"/>
              <a:t>маршрутизатора</a:t>
            </a:r>
            <a:r>
              <a:rPr lang="ru-RU" b="1" dirty="0" smtClean="0"/>
              <a:t> </a:t>
            </a:r>
          </a:p>
          <a:p>
            <a:pPr>
              <a:buNone/>
            </a:pPr>
            <a:r>
              <a:rPr lang="ru-RU" b="1" dirty="0" smtClean="0"/>
              <a:t>       ядра IP-сети.</a:t>
            </a:r>
            <a:endParaRPr lang="ru-RU" dirty="0" smtClean="0"/>
          </a:p>
          <a:p>
            <a:r>
              <a:rPr lang="ru-RU" dirty="0" smtClean="0"/>
              <a:t>Многим операторам известно, что стоимость коммутации трафика с использованием </a:t>
            </a:r>
            <a:r>
              <a:rPr lang="ru-RU" dirty="0" err="1" smtClean="0"/>
              <a:t>маршрутизатора</a:t>
            </a:r>
            <a:r>
              <a:rPr lang="ru-RU" dirty="0" smtClean="0"/>
              <a:t> выше, чем в случае использования коммутатора OTN или </a:t>
            </a:r>
            <a:r>
              <a:rPr lang="ru-RU" dirty="0" err="1" smtClean="0"/>
              <a:t>Ethernet</a:t>
            </a:r>
            <a:r>
              <a:rPr lang="ru-RU" dirty="0" smtClean="0"/>
              <a:t>.</a:t>
            </a:r>
          </a:p>
          <a:p>
            <a:r>
              <a:rPr lang="ru-RU" dirty="0" smtClean="0"/>
              <a:t> Усложнение обработки трафика маршрутизаторов вызывает дополнительные расходы.</a:t>
            </a:r>
          </a:p>
          <a:p>
            <a:r>
              <a:rPr lang="ru-RU" dirty="0" smtClean="0"/>
              <a:t> Поскольку IP-трафик передается в пакетах, многие операторы считают, что на всех узлах сети должны быть установлены </a:t>
            </a:r>
            <a:r>
              <a:rPr lang="ru-RU" dirty="0" err="1" smtClean="0"/>
              <a:t>маршрутизаторы</a:t>
            </a:r>
            <a:r>
              <a:rPr lang="ru-RU" dirty="0" smtClean="0"/>
              <a:t> многопротокольной коммутации по меткам (MPLS), независимо от моделей трафика.</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188640"/>
            <a:ext cx="9144000" cy="648072"/>
          </a:xfrm>
        </p:spPr>
        <p:txBody>
          <a:bodyPr>
            <a:normAutofit/>
          </a:bodyPr>
          <a:lstStyle/>
          <a:p>
            <a:r>
              <a:rPr lang="ru-RU" sz="3600" b="1" dirty="0" smtClean="0">
                <a:solidFill>
                  <a:srgbClr val="002060"/>
                </a:solidFill>
              </a:rPr>
              <a:t>4.6 Основные возможности </a:t>
            </a:r>
            <a:r>
              <a:rPr lang="en-US" sz="3600" b="1" dirty="0" smtClean="0">
                <a:solidFill>
                  <a:srgbClr val="002060"/>
                </a:solidFill>
              </a:rPr>
              <a:t>OTN</a:t>
            </a:r>
            <a:r>
              <a:rPr lang="ru-RU" sz="3600" b="1" dirty="0" smtClean="0">
                <a:solidFill>
                  <a:srgbClr val="002060"/>
                </a:solidFill>
              </a:rPr>
              <a:t> (5)</a:t>
            </a:r>
            <a:endParaRPr lang="ru-RU" sz="3600" dirty="0"/>
          </a:p>
        </p:txBody>
      </p:sp>
      <p:sp>
        <p:nvSpPr>
          <p:cNvPr id="3" name="Содержимое 2"/>
          <p:cNvSpPr>
            <a:spLocks noGrp="1"/>
          </p:cNvSpPr>
          <p:nvPr>
            <p:ph idx="1"/>
          </p:nvPr>
        </p:nvSpPr>
        <p:spPr>
          <a:xfrm>
            <a:off x="323528" y="836712"/>
            <a:ext cx="8640960" cy="5688632"/>
          </a:xfrm>
        </p:spPr>
        <p:txBody>
          <a:bodyPr>
            <a:normAutofit fontScale="85000" lnSpcReduction="20000"/>
          </a:bodyPr>
          <a:lstStyle/>
          <a:p>
            <a:r>
              <a:rPr lang="ru-RU" dirty="0" smtClean="0"/>
              <a:t> OTN разгружает транзитный IP-трафик с основных маршрутизаторов, уменьшая число портов и снижая общие затраты на обслуживание сети (</a:t>
            </a:r>
            <a:r>
              <a:rPr lang="ru-RU" b="1" dirty="0" smtClean="0"/>
              <a:t>рис.15). </a:t>
            </a:r>
          </a:p>
          <a:p>
            <a:r>
              <a:rPr lang="ru-RU" dirty="0" smtClean="0"/>
              <a:t>Разгрузка транзитного IP-трафика также позволяет поставщикам продлевать сроки обновления архитектуры сети.</a:t>
            </a:r>
          </a:p>
          <a:p>
            <a:r>
              <a:rPr lang="ru-RU" dirty="0" smtClean="0"/>
              <a:t> Примеры реализации сетей OTN показывают снижение капитальных расходов на 20–60 %, что позволяет достичь уровня рентабельности за девять месяцев.</a:t>
            </a:r>
          </a:p>
          <a:p>
            <a:r>
              <a:rPr lang="ru-RU" dirty="0" smtClean="0"/>
              <a:t> Кроме того, OTN снижает расходы на услуги передачи </a:t>
            </a:r>
            <a:r>
              <a:rPr lang="ru-RU" dirty="0" err="1" smtClean="0"/>
              <a:t>Ethernet</a:t>
            </a:r>
            <a:r>
              <a:rPr lang="ru-RU" dirty="0" smtClean="0"/>
              <a:t>, перенаправив трафик в обход периферийных коммутаторов. </a:t>
            </a:r>
          </a:p>
          <a:p>
            <a:r>
              <a:rPr lang="ru-RU" dirty="0" smtClean="0"/>
              <a:t>Это также позволяет повысить эффективность услуг и доступность сети. </a:t>
            </a:r>
            <a:endParaRPr lang="ru-RU"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8964488" cy="980728"/>
          </a:xfrm>
        </p:spPr>
        <p:txBody>
          <a:bodyPr>
            <a:noAutofit/>
          </a:bodyPr>
          <a:lstStyle/>
          <a:p>
            <a:r>
              <a:rPr lang="ru-RU" sz="2800" b="1" dirty="0" smtClean="0">
                <a:solidFill>
                  <a:srgbClr val="002060"/>
                </a:solidFill>
              </a:rPr>
              <a:t>4.6 Основные возможности </a:t>
            </a:r>
            <a:r>
              <a:rPr lang="en-US" sz="2800" b="1" dirty="0" smtClean="0">
                <a:solidFill>
                  <a:srgbClr val="002060"/>
                </a:solidFill>
              </a:rPr>
              <a:t>OTN</a:t>
            </a:r>
            <a:r>
              <a:rPr lang="ru-RU" sz="2800" b="1" dirty="0" smtClean="0">
                <a:solidFill>
                  <a:srgbClr val="002060"/>
                </a:solidFill>
              </a:rPr>
              <a:t> </a:t>
            </a:r>
            <a:r>
              <a:rPr lang="ru-RU" sz="3600" b="1" dirty="0" smtClean="0">
                <a:solidFill>
                  <a:srgbClr val="002060"/>
                </a:solidFill>
              </a:rPr>
              <a:t/>
            </a:r>
            <a:br>
              <a:rPr lang="ru-RU" sz="3600" b="1" dirty="0" smtClean="0">
                <a:solidFill>
                  <a:srgbClr val="002060"/>
                </a:solidFill>
              </a:rPr>
            </a:br>
            <a:r>
              <a:rPr lang="ru-RU" sz="2800" b="1" dirty="0" smtClean="0">
                <a:solidFill>
                  <a:srgbClr val="002060"/>
                </a:solidFill>
              </a:rPr>
              <a:t>Рис.15. Разгрузка роутеров от транзитного трафика </a:t>
            </a:r>
            <a:endParaRPr lang="ru-RU" sz="2800" b="1" dirty="0">
              <a:solidFill>
                <a:srgbClr val="002060"/>
              </a:solidFill>
            </a:endParaRPr>
          </a:p>
        </p:txBody>
      </p:sp>
      <p:pic>
        <p:nvPicPr>
          <p:cNvPr id="1026" name="Picture 2"/>
          <p:cNvPicPr>
            <a:picLocks noGrp="1" noChangeAspect="1" noChangeArrowheads="1"/>
          </p:cNvPicPr>
          <p:nvPr>
            <p:ph idx="1"/>
          </p:nvPr>
        </p:nvPicPr>
        <p:blipFill>
          <a:blip r:embed="rId2" cstate="print"/>
          <a:srcRect/>
          <a:stretch>
            <a:fillRect/>
          </a:stretch>
        </p:blipFill>
        <p:spPr bwMode="auto">
          <a:xfrm>
            <a:off x="0" y="1196752"/>
            <a:ext cx="9144000" cy="5661248"/>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562074"/>
          </a:xfrm>
        </p:spPr>
        <p:txBody>
          <a:bodyPr>
            <a:noAutofit/>
          </a:bodyPr>
          <a:lstStyle/>
          <a:p>
            <a:r>
              <a:rPr lang="ru-RU" sz="3600" b="1" dirty="0" smtClean="0">
                <a:solidFill>
                  <a:srgbClr val="002060"/>
                </a:solidFill>
              </a:rPr>
              <a:t>4.6 Основные возможности </a:t>
            </a:r>
            <a:r>
              <a:rPr lang="en-US" sz="3600" b="1" dirty="0" smtClean="0">
                <a:solidFill>
                  <a:srgbClr val="002060"/>
                </a:solidFill>
              </a:rPr>
              <a:t>OTN</a:t>
            </a:r>
            <a:r>
              <a:rPr lang="ru-RU" sz="3600" b="1" dirty="0" smtClean="0">
                <a:solidFill>
                  <a:srgbClr val="002060"/>
                </a:solidFill>
              </a:rPr>
              <a:t> (6)</a:t>
            </a:r>
            <a:endParaRPr lang="ru-RU" sz="3600" dirty="0"/>
          </a:p>
        </p:txBody>
      </p:sp>
      <p:sp>
        <p:nvSpPr>
          <p:cNvPr id="3" name="Содержимое 2"/>
          <p:cNvSpPr>
            <a:spLocks noGrp="1"/>
          </p:cNvSpPr>
          <p:nvPr>
            <p:ph idx="1"/>
          </p:nvPr>
        </p:nvSpPr>
        <p:spPr>
          <a:xfrm>
            <a:off x="0" y="1124744"/>
            <a:ext cx="9144000" cy="5733256"/>
          </a:xfrm>
        </p:spPr>
        <p:txBody>
          <a:bodyPr>
            <a:normAutofit fontScale="92500" lnSpcReduction="10000"/>
          </a:bodyPr>
          <a:lstStyle/>
          <a:p>
            <a:pPr>
              <a:buNone/>
            </a:pPr>
            <a:r>
              <a:rPr lang="ru-RU" sz="2400" b="1" dirty="0" smtClean="0"/>
              <a:t>7. Совместимость и функции плоскости управления</a:t>
            </a:r>
            <a:r>
              <a:rPr lang="ru-RU" sz="2400" dirty="0" smtClean="0"/>
              <a:t> </a:t>
            </a:r>
          </a:p>
          <a:p>
            <a:r>
              <a:rPr lang="ru-RU" sz="2000" dirty="0" smtClean="0"/>
              <a:t>Ценность OTN значительно возрастает при ее использовании с оптической сетью с автоматической коммутацией (ASON) или плоскостью управления обобщенной многопротокольной коммутации по меткам (</a:t>
            </a:r>
            <a:r>
              <a:rPr lang="ru-RU" sz="2000" dirty="0" err="1" smtClean="0"/>
              <a:t>GMPLs</a:t>
            </a:r>
            <a:r>
              <a:rPr lang="ru-RU" sz="2000" dirty="0" smtClean="0"/>
              <a:t>).</a:t>
            </a:r>
          </a:p>
          <a:p>
            <a:r>
              <a:rPr lang="ru-RU" sz="2000" dirty="0" smtClean="0"/>
              <a:t> </a:t>
            </a:r>
            <a:r>
              <a:rPr lang="ru-RU" sz="2000" b="1" dirty="0" smtClean="0"/>
              <a:t>Плоскость управления автоматизирует многие </a:t>
            </a:r>
            <a:r>
              <a:rPr lang="ru-RU" sz="2000" b="1" dirty="0" smtClean="0"/>
              <a:t>сетевые операции</a:t>
            </a:r>
            <a:r>
              <a:rPr lang="ru-RU" sz="2000" dirty="0" smtClean="0"/>
              <a:t>, включая предоставление, модификацию и прекращение услуг, планирование и выполнение технического обслуживания и автоматическое обнаружение сети, включая расширения.</a:t>
            </a:r>
          </a:p>
          <a:p>
            <a:r>
              <a:rPr lang="ru-RU" sz="2000" dirty="0" smtClean="0"/>
              <a:t> </a:t>
            </a:r>
            <a:r>
              <a:rPr lang="ru-RU" sz="2000" b="1" dirty="0" smtClean="0"/>
              <a:t>Плоскость управления также обеспечивает автоматическое восстановление трафика и маршрутизацию нарушенного трафика </a:t>
            </a:r>
            <a:r>
              <a:rPr lang="ru-RU" sz="2000" dirty="0" smtClean="0"/>
              <a:t>без вмешательства человека.</a:t>
            </a:r>
          </a:p>
          <a:p>
            <a:pPr>
              <a:buNone/>
            </a:pPr>
            <a:r>
              <a:rPr lang="ru-RU" sz="2000" dirty="0" smtClean="0"/>
              <a:t>      </a:t>
            </a:r>
            <a:r>
              <a:rPr lang="ru-RU" sz="2000" dirty="0" smtClean="0"/>
              <a:t>Расширяемые наборы функций поддерживают множество опций, в том числе разные уровни доступности услуги и динамические сервисы. </a:t>
            </a:r>
          </a:p>
          <a:p>
            <a:r>
              <a:rPr lang="ru-RU" sz="2000" b="1" dirty="0" smtClean="0"/>
              <a:t>Интеллектуальное решение для </a:t>
            </a:r>
            <a:r>
              <a:rPr lang="ru-RU" sz="2000" b="1" dirty="0" err="1" smtClean="0"/>
              <a:t>полносвязных</a:t>
            </a:r>
            <a:r>
              <a:rPr lang="ru-RU" sz="2000" b="1" dirty="0" smtClean="0"/>
              <a:t> сетей может сократить время развертывания сервисов от нескольких месяцев до часа. </a:t>
            </a:r>
          </a:p>
          <a:p>
            <a:r>
              <a:rPr lang="ru-RU" sz="2000" b="1" dirty="0" smtClean="0"/>
              <a:t>Плоскость управления также повышает отказоустойчивость сети </a:t>
            </a:r>
            <a:r>
              <a:rPr lang="ru-RU" sz="2000" dirty="0" smtClean="0"/>
              <a:t>благодаря одновременной обработке нескольких ошибок</a:t>
            </a:r>
            <a:r>
              <a:rPr lang="ru-RU" sz="2000" dirty="0" smtClean="0"/>
              <a:t>.</a:t>
            </a:r>
          </a:p>
          <a:p>
            <a:pPr>
              <a:buNone/>
            </a:pPr>
            <a:r>
              <a:rPr lang="ru-RU" sz="2000" b="1" dirty="0" smtClean="0"/>
              <a:t>   </a:t>
            </a:r>
            <a:r>
              <a:rPr lang="ru-RU" sz="2000" b="1" dirty="0" smtClean="0"/>
              <a:t> </a:t>
            </a:r>
            <a:r>
              <a:rPr lang="ru-RU" sz="2000" b="1" dirty="0" smtClean="0"/>
              <a:t>Это повышает доступность сети до уровня 99,9999 %. </a:t>
            </a:r>
          </a:p>
          <a:p>
            <a:endParaRPr lang="ru-RU" sz="2000" dirty="0" smtClean="0"/>
          </a:p>
          <a:p>
            <a:pPr>
              <a:buNone/>
            </a:pPr>
            <a:r>
              <a:rPr lang="ru-RU" sz="2000" dirty="0" smtClean="0"/>
              <a:t>   </a:t>
            </a:r>
            <a:endParaRPr lang="ru-RU" sz="2000" dirty="0" smtClean="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9144000" cy="562074"/>
          </a:xfrm>
        </p:spPr>
        <p:txBody>
          <a:bodyPr>
            <a:noAutofit/>
          </a:bodyPr>
          <a:lstStyle/>
          <a:p>
            <a:pPr algn="l"/>
            <a:r>
              <a:rPr lang="ru-RU" sz="2400" b="1" dirty="0" smtClean="0">
                <a:solidFill>
                  <a:srgbClr val="002060"/>
                </a:solidFill>
              </a:rPr>
              <a:t>4.7 Основные возможности плоскости управления </a:t>
            </a:r>
            <a:r>
              <a:rPr lang="en-US" sz="2400" b="1" dirty="0" smtClean="0">
                <a:solidFill>
                  <a:srgbClr val="002060"/>
                </a:solidFill>
              </a:rPr>
              <a:t>OTN</a:t>
            </a:r>
            <a:r>
              <a:rPr lang="ru-RU" sz="2400" b="1" dirty="0" smtClean="0">
                <a:solidFill>
                  <a:srgbClr val="002060"/>
                </a:solidFill>
              </a:rPr>
              <a:t> (1)</a:t>
            </a:r>
            <a:endParaRPr lang="ru-RU" sz="2400" dirty="0"/>
          </a:p>
        </p:txBody>
      </p:sp>
      <p:sp>
        <p:nvSpPr>
          <p:cNvPr id="3" name="Содержимое 2"/>
          <p:cNvSpPr>
            <a:spLocks noGrp="1"/>
          </p:cNvSpPr>
          <p:nvPr>
            <p:ph idx="1"/>
          </p:nvPr>
        </p:nvSpPr>
        <p:spPr>
          <a:xfrm>
            <a:off x="0" y="836712"/>
            <a:ext cx="9144000" cy="5904656"/>
          </a:xfrm>
        </p:spPr>
        <p:txBody>
          <a:bodyPr>
            <a:normAutofit/>
          </a:bodyPr>
          <a:lstStyle/>
          <a:p>
            <a:pPr>
              <a:buNone/>
            </a:pPr>
            <a:r>
              <a:rPr lang="ru-RU" sz="2400" b="1" dirty="0" smtClean="0">
                <a:solidFill>
                  <a:srgbClr val="002060"/>
                </a:solidFill>
              </a:rPr>
              <a:t>Ниже перечислены основные возможности плоскости управления:</a:t>
            </a:r>
          </a:p>
          <a:p>
            <a:pPr>
              <a:buNone/>
            </a:pPr>
            <a:r>
              <a:rPr lang="ru-RU" sz="2000" dirty="0" smtClean="0"/>
              <a:t>1. </a:t>
            </a:r>
            <a:r>
              <a:rPr lang="ru-RU" sz="2000" b="1" dirty="0" smtClean="0"/>
              <a:t>Автоматизация сетевых операций</a:t>
            </a:r>
            <a:r>
              <a:rPr lang="ru-RU" sz="2000" dirty="0" smtClean="0"/>
              <a:t>. </a:t>
            </a:r>
          </a:p>
          <a:p>
            <a:pPr>
              <a:buNone/>
            </a:pPr>
            <a:r>
              <a:rPr lang="ru-RU" sz="2000" dirty="0" smtClean="0"/>
              <a:t>     Плоскость управления предоставляет интеллектуальные средства, позволяющие автоматизировать множество сетевых операций.</a:t>
            </a:r>
          </a:p>
          <a:p>
            <a:pPr>
              <a:buNone/>
            </a:pPr>
            <a:r>
              <a:rPr lang="ru-RU" sz="2000" dirty="0" smtClean="0"/>
              <a:t> Это обеспечивает ускоренное развертывание сервисов, улучшает управление</a:t>
            </a:r>
          </a:p>
          <a:p>
            <a:pPr>
              <a:buNone/>
            </a:pPr>
            <a:r>
              <a:rPr lang="ru-RU" sz="2000" dirty="0" smtClean="0"/>
              <a:t>     и сокращает время восстановления после сбоев.</a:t>
            </a:r>
          </a:p>
          <a:p>
            <a:pPr>
              <a:buNone/>
            </a:pPr>
            <a:r>
              <a:rPr lang="ru-RU" sz="2000" dirty="0" smtClean="0"/>
              <a:t>       </a:t>
            </a:r>
            <a:r>
              <a:rPr lang="ru-RU" sz="2000" b="1" dirty="0" smtClean="0"/>
              <a:t>Основные функции плоскости управления </a:t>
            </a:r>
            <a:r>
              <a:rPr lang="ru-RU" sz="2000" dirty="0" smtClean="0"/>
              <a:t>: </a:t>
            </a:r>
          </a:p>
          <a:p>
            <a:pPr>
              <a:buNone/>
            </a:pPr>
            <a:r>
              <a:rPr lang="ru-RU" sz="2000" dirty="0" smtClean="0"/>
              <a:t>     -  автоматическое управление соединениями; </a:t>
            </a:r>
          </a:p>
          <a:p>
            <a:pPr>
              <a:buNone/>
            </a:pPr>
            <a:r>
              <a:rPr lang="ru-RU" sz="2000" dirty="0" smtClean="0"/>
              <a:t>     - автоматический учет и техническое обслуживание; </a:t>
            </a:r>
          </a:p>
          <a:p>
            <a:pPr>
              <a:buNone/>
            </a:pPr>
            <a:r>
              <a:rPr lang="ru-RU" sz="2000" dirty="0" smtClean="0"/>
              <a:t>     - автоматическое обнаружение; </a:t>
            </a:r>
          </a:p>
          <a:p>
            <a:pPr>
              <a:buNone/>
            </a:pPr>
            <a:r>
              <a:rPr lang="ru-RU" sz="2000" dirty="0" smtClean="0"/>
              <a:t>     - автоматическое восстановление. </a:t>
            </a:r>
          </a:p>
          <a:p>
            <a:pPr>
              <a:buNone/>
            </a:pPr>
            <a:endParaRPr lang="ru-RU" sz="2000" dirty="0" smtClean="0"/>
          </a:p>
          <a:p>
            <a:endParaRPr lang="ru-RU" sz="2000" dirty="0" smtClean="0"/>
          </a:p>
          <a:p>
            <a:endParaRPr lang="ru-RU"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8964488" cy="620688"/>
          </a:xfrm>
        </p:spPr>
        <p:txBody>
          <a:bodyPr>
            <a:normAutofit fontScale="90000"/>
          </a:bodyPr>
          <a:lstStyle/>
          <a:p>
            <a:r>
              <a:rPr lang="ru-RU" sz="2800" b="1" dirty="0" smtClean="0">
                <a:solidFill>
                  <a:srgbClr val="002060"/>
                </a:solidFill>
              </a:rPr>
              <a:t>4.7 Основные возможности плоскости управления</a:t>
            </a:r>
            <a:r>
              <a:rPr lang="en-US" sz="2800" b="1" dirty="0" smtClean="0">
                <a:solidFill>
                  <a:srgbClr val="002060"/>
                </a:solidFill>
              </a:rPr>
              <a:t> OTN</a:t>
            </a:r>
            <a:r>
              <a:rPr lang="ru-RU" sz="2800" b="1" dirty="0" smtClean="0">
                <a:solidFill>
                  <a:srgbClr val="002060"/>
                </a:solidFill>
              </a:rPr>
              <a:t> (2)</a:t>
            </a:r>
            <a:endParaRPr lang="ru-RU" sz="2800" dirty="0"/>
          </a:p>
        </p:txBody>
      </p:sp>
      <p:sp>
        <p:nvSpPr>
          <p:cNvPr id="3" name="Содержимое 2"/>
          <p:cNvSpPr>
            <a:spLocks noGrp="1"/>
          </p:cNvSpPr>
          <p:nvPr>
            <p:ph idx="1"/>
          </p:nvPr>
        </p:nvSpPr>
        <p:spPr>
          <a:xfrm>
            <a:off x="0" y="764704"/>
            <a:ext cx="9144000" cy="6093296"/>
          </a:xfrm>
        </p:spPr>
        <p:txBody>
          <a:bodyPr>
            <a:normAutofit fontScale="85000" lnSpcReduction="20000"/>
          </a:bodyPr>
          <a:lstStyle/>
          <a:p>
            <a:pPr>
              <a:buNone/>
            </a:pPr>
            <a:r>
              <a:rPr lang="ru-RU" sz="2200" b="1" dirty="0" smtClean="0"/>
              <a:t>2</a:t>
            </a:r>
            <a:r>
              <a:rPr lang="ru-RU" sz="2100" b="1" dirty="0" smtClean="0"/>
              <a:t>. Доступность с учетом класса обслуживания.</a:t>
            </a:r>
          </a:p>
          <a:p>
            <a:r>
              <a:rPr lang="ru-RU" sz="1900" dirty="0" smtClean="0"/>
              <a:t>  </a:t>
            </a:r>
            <a:r>
              <a:rPr lang="ru-RU" sz="2100" dirty="0" smtClean="0"/>
              <a:t>Теперь поставщики услуг могут проектировать классы настраиваемых услуг из широкого набора доступных структурных блоков (</a:t>
            </a:r>
            <a:r>
              <a:rPr lang="ru-RU" sz="2100" b="1" dirty="0" smtClean="0"/>
              <a:t>рис.16)</a:t>
            </a:r>
          </a:p>
          <a:p>
            <a:r>
              <a:rPr lang="ru-RU" sz="2100" dirty="0" smtClean="0"/>
              <a:t> Можно настраивать такие параметры, как время восстановления</a:t>
            </a:r>
          </a:p>
          <a:p>
            <a:pPr>
              <a:buNone/>
            </a:pPr>
            <a:r>
              <a:rPr lang="ru-RU" sz="2100" dirty="0" smtClean="0"/>
              <a:t> (50 мс, 250 мс, 500 мс), число допустимых ошибок (одна или несколько)</a:t>
            </a:r>
          </a:p>
          <a:p>
            <a:pPr>
              <a:buNone/>
            </a:pPr>
            <a:r>
              <a:rPr lang="ru-RU" sz="2100" dirty="0" smtClean="0"/>
              <a:t> и минимальный или нулевой уровень защиты для трафика с низким приоритетом. </a:t>
            </a:r>
          </a:p>
          <a:p>
            <a:r>
              <a:rPr lang="ru-RU" sz="2100" dirty="0" smtClean="0"/>
              <a:t>  Благодаря гибким услугам сети OTN способны удовлетворить потребности заказчиков и выполнить требования сложных приложений. </a:t>
            </a:r>
          </a:p>
          <a:p>
            <a:pPr>
              <a:buNone/>
            </a:pPr>
            <a:r>
              <a:rPr lang="ru-RU" sz="2100" b="1" dirty="0" smtClean="0"/>
              <a:t>  3. Измерение задержки в реальном времени</a:t>
            </a:r>
            <a:r>
              <a:rPr lang="ru-RU" sz="2100" dirty="0" smtClean="0"/>
              <a:t>.</a:t>
            </a:r>
          </a:p>
          <a:p>
            <a:r>
              <a:rPr lang="ru-RU" sz="2100" dirty="0" smtClean="0"/>
              <a:t> Выполнение требования о максимальной задержке, оговоренное в соглашениях об уровне обслуживания, является необходимым условием для многих приложений OTN, например для связи между ЦОД. Измерение задержки – стандарт</a:t>
            </a:r>
          </a:p>
          <a:p>
            <a:pPr>
              <a:buNone/>
            </a:pPr>
            <a:r>
              <a:rPr lang="ru-RU" sz="2100" b="1" dirty="0" smtClean="0"/>
              <a:t> 4. Динамическая инфраструктура. </a:t>
            </a:r>
          </a:p>
          <a:p>
            <a:r>
              <a:rPr lang="ru-RU" sz="2100" dirty="0" smtClean="0"/>
              <a:t>OTN и плоскость управления обеспечивают динамическую реакцию сети на запросы приложений верхнего уровня в реальном времени.</a:t>
            </a:r>
          </a:p>
          <a:p>
            <a:r>
              <a:rPr lang="ru-RU" sz="2200" b="1" dirty="0" smtClean="0"/>
              <a:t>Есть возможность предоставления новых услуг, например облачные подключения по требованию или по расписанию, при которых плоскость управления взаимодействует с операционной системой облака</a:t>
            </a:r>
            <a:r>
              <a:rPr lang="ru-RU" sz="2200" dirty="0" smtClean="0"/>
              <a:t>.</a:t>
            </a:r>
          </a:p>
          <a:p>
            <a:pPr>
              <a:buNone/>
            </a:pPr>
            <a:r>
              <a:rPr lang="ru-RU" sz="2200" dirty="0" smtClean="0"/>
              <a:t>      Сеть взаимодействует с облачными серверами и хранилищами, обеспечивая поддержку критически важных приложений и динамично предоставляя ресурсы по команде на уровне приложений, как показано </a:t>
            </a:r>
            <a:r>
              <a:rPr lang="ru-RU" sz="2200" b="1" dirty="0" smtClean="0"/>
              <a:t>на рис.17.</a:t>
            </a:r>
          </a:p>
          <a:p>
            <a:pPr>
              <a:buNone/>
            </a:pPr>
            <a:r>
              <a:rPr lang="ru-RU" sz="2200" dirty="0" smtClean="0"/>
              <a:t> </a:t>
            </a:r>
          </a:p>
          <a:p>
            <a:endParaRPr lang="ru-RU" sz="2200" dirty="0" smtClean="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1417638"/>
          </a:xfrm>
        </p:spPr>
        <p:txBody>
          <a:bodyPr>
            <a:noAutofit/>
          </a:bodyPr>
          <a:lstStyle/>
          <a:p>
            <a:r>
              <a:rPr lang="ru-RU" sz="3200" b="1" dirty="0" smtClean="0">
                <a:solidFill>
                  <a:srgbClr val="002060"/>
                </a:solidFill>
              </a:rPr>
              <a:t>4.7 Основные возможности </a:t>
            </a:r>
            <a:r>
              <a:rPr lang="en-US" sz="3200" b="1" dirty="0" smtClean="0">
                <a:solidFill>
                  <a:srgbClr val="002060"/>
                </a:solidFill>
              </a:rPr>
              <a:t>OTN</a:t>
            </a:r>
            <a:r>
              <a:rPr lang="ru-RU" sz="3200" b="1" dirty="0" smtClean="0">
                <a:solidFill>
                  <a:srgbClr val="002060"/>
                </a:solidFill>
              </a:rPr>
              <a:t> </a:t>
            </a:r>
            <a:r>
              <a:rPr lang="ru-RU" sz="3200" dirty="0" smtClean="0"/>
              <a:t/>
            </a:r>
            <a:br>
              <a:rPr lang="ru-RU" sz="3200" dirty="0" smtClean="0"/>
            </a:br>
            <a:r>
              <a:rPr lang="ru-RU" sz="3200" b="1" dirty="0" smtClean="0">
                <a:solidFill>
                  <a:srgbClr val="002060"/>
                </a:solidFill>
              </a:rPr>
              <a:t>Рис.17. </a:t>
            </a:r>
            <a:r>
              <a:rPr lang="ru-RU" sz="3200" dirty="0" smtClean="0">
                <a:solidFill>
                  <a:srgbClr val="002060"/>
                </a:solidFill>
              </a:rPr>
              <a:t>OTN и плоскость управления как динамический пул ресурсов для облака</a:t>
            </a:r>
            <a:endParaRPr lang="ru-RU" sz="3200" dirty="0">
              <a:solidFill>
                <a:srgbClr val="002060"/>
              </a:solidFill>
            </a:endParaRPr>
          </a:p>
        </p:txBody>
      </p:sp>
      <p:pic>
        <p:nvPicPr>
          <p:cNvPr id="6146" name="Picture 2"/>
          <p:cNvPicPr>
            <a:picLocks noGrp="1" noChangeAspect="1" noChangeArrowheads="1"/>
          </p:cNvPicPr>
          <p:nvPr>
            <p:ph idx="1"/>
          </p:nvPr>
        </p:nvPicPr>
        <p:blipFill>
          <a:blip r:embed="rId2" cstate="print"/>
          <a:srcRect/>
          <a:stretch>
            <a:fillRect/>
          </a:stretch>
        </p:blipFill>
        <p:spPr bwMode="auto">
          <a:xfrm>
            <a:off x="0" y="1484784"/>
            <a:ext cx="9144000" cy="5373216"/>
          </a:xfrm>
          <a:prstGeom prst="rect">
            <a:avLst/>
          </a:prstGeom>
          <a:noFill/>
          <a:ln w="9525">
            <a:noFill/>
            <a:miter lim="800000"/>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512" y="0"/>
            <a:ext cx="8964488" cy="1417638"/>
          </a:xfrm>
        </p:spPr>
        <p:txBody>
          <a:bodyPr>
            <a:normAutofit fontScale="90000"/>
          </a:bodyPr>
          <a:lstStyle/>
          <a:p>
            <a:r>
              <a:rPr lang="ru-RU" b="1" dirty="0" smtClean="0">
                <a:solidFill>
                  <a:srgbClr val="002060"/>
                </a:solidFill>
              </a:rPr>
              <a:t>4.7 Основные возможности </a:t>
            </a:r>
            <a:r>
              <a:rPr lang="en-US" b="1" dirty="0" smtClean="0">
                <a:solidFill>
                  <a:srgbClr val="002060"/>
                </a:solidFill>
              </a:rPr>
              <a:t>OTN</a:t>
            </a:r>
            <a:r>
              <a:rPr lang="ru-RU" b="1" dirty="0" smtClean="0">
                <a:solidFill>
                  <a:srgbClr val="002060"/>
                </a:solidFill>
              </a:rPr>
              <a:t> </a:t>
            </a:r>
            <a:r>
              <a:rPr lang="ru-RU" dirty="0" smtClean="0"/>
              <a:t/>
            </a:r>
            <a:br>
              <a:rPr lang="ru-RU" dirty="0" smtClean="0"/>
            </a:br>
            <a:r>
              <a:rPr lang="ru-RU" sz="3600" b="1" dirty="0" smtClean="0">
                <a:solidFill>
                  <a:srgbClr val="002060"/>
                </a:solidFill>
              </a:rPr>
              <a:t>Рис. 16</a:t>
            </a:r>
            <a:r>
              <a:rPr lang="ru-RU" sz="3600" dirty="0" smtClean="0">
                <a:solidFill>
                  <a:srgbClr val="002060"/>
                </a:solidFill>
              </a:rPr>
              <a:t>. Повышение отказоустойчивости сети благодаря OTN и плоскости управления</a:t>
            </a:r>
            <a:endParaRPr lang="ru-RU" sz="3600" dirty="0">
              <a:solidFill>
                <a:srgbClr val="002060"/>
              </a:solidFill>
            </a:endParaRPr>
          </a:p>
        </p:txBody>
      </p:sp>
      <p:pic>
        <p:nvPicPr>
          <p:cNvPr id="5122" name="Picture 2"/>
          <p:cNvPicPr>
            <a:picLocks noGrp="1" noChangeAspect="1" noChangeArrowheads="1"/>
          </p:cNvPicPr>
          <p:nvPr>
            <p:ph idx="1"/>
          </p:nvPr>
        </p:nvPicPr>
        <p:blipFill>
          <a:blip r:embed="rId2" cstate="print"/>
          <a:srcRect/>
          <a:stretch>
            <a:fillRect/>
          </a:stretch>
        </p:blipFill>
        <p:spPr bwMode="auto">
          <a:xfrm>
            <a:off x="0" y="1628800"/>
            <a:ext cx="9144000" cy="5112568"/>
          </a:xfrm>
          <a:prstGeom prst="rect">
            <a:avLst/>
          </a:prstGeom>
          <a:noFill/>
          <a:ln w="9525">
            <a:noFill/>
            <a:miter lim="800000"/>
            <a:headEnd/>
            <a:tailEnd/>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620688"/>
          </a:xfrm>
        </p:spPr>
        <p:txBody>
          <a:bodyPr>
            <a:noAutofit/>
          </a:bodyPr>
          <a:lstStyle/>
          <a:p>
            <a:r>
              <a:rPr lang="ru-RU" sz="2400" b="1" dirty="0" smtClean="0">
                <a:solidFill>
                  <a:srgbClr val="002060"/>
                </a:solidFill>
              </a:rPr>
              <a:t>4.7 Основные возможности плоскости управления</a:t>
            </a:r>
            <a:r>
              <a:rPr lang="en-US" sz="2400" b="1" dirty="0" smtClean="0">
                <a:solidFill>
                  <a:srgbClr val="002060"/>
                </a:solidFill>
              </a:rPr>
              <a:t> OTN</a:t>
            </a:r>
            <a:r>
              <a:rPr lang="ru-RU" sz="2400" b="1" dirty="0" smtClean="0">
                <a:solidFill>
                  <a:srgbClr val="002060"/>
                </a:solidFill>
              </a:rPr>
              <a:t> (3)</a:t>
            </a:r>
            <a:endParaRPr lang="ru-RU" sz="2400" dirty="0"/>
          </a:p>
        </p:txBody>
      </p:sp>
      <p:sp>
        <p:nvSpPr>
          <p:cNvPr id="3" name="Содержимое 2"/>
          <p:cNvSpPr>
            <a:spLocks noGrp="1"/>
          </p:cNvSpPr>
          <p:nvPr>
            <p:ph idx="1"/>
          </p:nvPr>
        </p:nvSpPr>
        <p:spPr>
          <a:xfrm>
            <a:off x="0" y="620688"/>
            <a:ext cx="9144000" cy="6237312"/>
          </a:xfrm>
        </p:spPr>
        <p:txBody>
          <a:bodyPr>
            <a:normAutofit fontScale="85000" lnSpcReduction="10000"/>
          </a:bodyPr>
          <a:lstStyle/>
          <a:p>
            <a:pPr>
              <a:buNone/>
            </a:pPr>
            <a:r>
              <a:rPr lang="ru-RU" sz="3600" b="1" dirty="0" smtClean="0"/>
              <a:t>        </a:t>
            </a:r>
            <a:r>
              <a:rPr lang="ru-RU" sz="2400" b="1" dirty="0" smtClean="0"/>
              <a:t>5. Оптические виртуальные частные сети   (O-VPN</a:t>
            </a:r>
            <a:r>
              <a:rPr lang="ru-RU" sz="2400" dirty="0" smtClean="0"/>
              <a:t>).</a:t>
            </a:r>
          </a:p>
          <a:p>
            <a:r>
              <a:rPr lang="ru-RU" sz="2400" dirty="0" smtClean="0"/>
              <a:t> </a:t>
            </a:r>
            <a:r>
              <a:rPr lang="ru-RU" sz="2400" b="1" dirty="0" smtClean="0"/>
              <a:t>O-VPN позволяет поставщикам услуг виртуально сегментировать сети, </a:t>
            </a:r>
            <a:r>
              <a:rPr lang="ru-RU" sz="2400" dirty="0" smtClean="0"/>
              <a:t>позволяя выделять одному заказчику, например предприятию, специальные соединения, спектральные каналы, </a:t>
            </a:r>
            <a:r>
              <a:rPr lang="ru-RU" sz="2400" dirty="0" err="1" smtClean="0"/>
              <a:t>субспектральные</a:t>
            </a:r>
            <a:r>
              <a:rPr lang="ru-RU" sz="2400" dirty="0" smtClean="0"/>
              <a:t> каналы или даже узлы.</a:t>
            </a:r>
          </a:p>
          <a:p>
            <a:pPr>
              <a:buNone/>
            </a:pPr>
            <a:r>
              <a:rPr lang="ru-RU" sz="2400" dirty="0" smtClean="0"/>
              <a:t>        Как показано </a:t>
            </a:r>
            <a:r>
              <a:rPr lang="ru-RU" sz="2400" b="1" dirty="0" smtClean="0"/>
              <a:t>на рис.18, </a:t>
            </a:r>
            <a:r>
              <a:rPr lang="ru-RU" sz="2400" dirty="0" smtClean="0"/>
              <a:t>сегменты виртуальных сетей предоставляют все необходимые ресурсы, включая полосу пропускания, средства управления и элементы защиты, но без дополнительных затрат и без необходимости создания отдельной, выделенной сервисной инфраструктуры.</a:t>
            </a:r>
          </a:p>
          <a:p>
            <a:r>
              <a:rPr lang="ru-RU" sz="2400" dirty="0" smtClean="0"/>
              <a:t>     </a:t>
            </a:r>
            <a:r>
              <a:rPr lang="ru-RU" sz="2400" b="1" dirty="0" smtClean="0"/>
              <a:t>Сети O-VPN предоставляют безопасную частную сеть с высокой скоростью передачи</a:t>
            </a:r>
            <a:r>
              <a:rPr lang="ru-RU" sz="2400" dirty="0" smtClean="0"/>
              <a:t>, которая связывает объекты конечных пользователей с гибкой, управляемой виртуальной инфраструктурой через фракционные, единичные или множественные прозрачные оптические подключения.</a:t>
            </a:r>
          </a:p>
          <a:p>
            <a:r>
              <a:rPr lang="ru-RU" sz="2400" dirty="0" smtClean="0"/>
              <a:t>     </a:t>
            </a:r>
            <a:r>
              <a:rPr lang="ru-RU" sz="2400" b="1" dirty="0" smtClean="0"/>
              <a:t>Подключения можно выполнять через широкий набор клиентских интерфейсов</a:t>
            </a:r>
            <a:r>
              <a:rPr lang="ru-RU" sz="2400" dirty="0" smtClean="0"/>
              <a:t>, например </a:t>
            </a:r>
            <a:r>
              <a:rPr lang="ru-RU" sz="2400" dirty="0" err="1" smtClean="0"/>
              <a:t>Ethernet</a:t>
            </a:r>
            <a:r>
              <a:rPr lang="ru-RU" sz="2400" dirty="0" smtClean="0"/>
              <a:t>, OTN, SDH, </a:t>
            </a:r>
            <a:r>
              <a:rPr lang="ru-RU" sz="2400" dirty="0" err="1" smtClean="0"/>
              <a:t>Storage</a:t>
            </a:r>
            <a:r>
              <a:rPr lang="ru-RU" sz="2400" dirty="0" smtClean="0"/>
              <a:t> </a:t>
            </a:r>
            <a:r>
              <a:rPr lang="ru-RU" sz="2400" dirty="0" err="1" smtClean="0"/>
              <a:t>Area</a:t>
            </a:r>
            <a:r>
              <a:rPr lang="ru-RU" sz="2400" dirty="0" smtClean="0"/>
              <a:t> </a:t>
            </a:r>
            <a:r>
              <a:rPr lang="ru-RU" sz="2400" dirty="0" err="1" smtClean="0"/>
              <a:t>Network</a:t>
            </a:r>
            <a:r>
              <a:rPr lang="ru-RU" sz="2400" dirty="0" smtClean="0"/>
              <a:t> (SAN) и </a:t>
            </a:r>
            <a:r>
              <a:rPr lang="ru-RU" sz="2400" dirty="0" err="1" smtClean="0"/>
              <a:t>видеоприложения</a:t>
            </a:r>
            <a:r>
              <a:rPr lang="ru-RU" sz="2400" dirty="0" smtClean="0"/>
              <a:t>.</a:t>
            </a:r>
          </a:p>
          <a:p>
            <a:r>
              <a:rPr lang="ru-RU" sz="2400" dirty="0" smtClean="0"/>
              <a:t>     </a:t>
            </a:r>
            <a:r>
              <a:rPr lang="ru-RU" sz="2400" b="1" dirty="0" smtClean="0"/>
              <a:t>Кроме того, сети O-VPN предоставляют конечным пользователям виртуальную инфраструктуру для управления их собственными внутренними подключениями, распределением полосы пропускания и параметрами защиты цепи в домене O-VPN.</a:t>
            </a:r>
          </a:p>
          <a:p>
            <a:endParaRPr lang="ru-RU" sz="2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1196752"/>
          </a:xfrm>
        </p:spPr>
        <p:txBody>
          <a:bodyPr>
            <a:normAutofit/>
          </a:bodyPr>
          <a:lstStyle/>
          <a:p>
            <a:r>
              <a:rPr lang="ru-RU" sz="3200" b="1" dirty="0" smtClean="0">
                <a:solidFill>
                  <a:srgbClr val="002060"/>
                </a:solidFill>
              </a:rPr>
              <a:t>4.7 Основные возможности </a:t>
            </a:r>
            <a:r>
              <a:rPr lang="en-US" sz="3200" b="1" dirty="0" smtClean="0">
                <a:solidFill>
                  <a:srgbClr val="002060"/>
                </a:solidFill>
              </a:rPr>
              <a:t>OTN</a:t>
            </a:r>
            <a:r>
              <a:rPr lang="ru-RU" sz="3200" b="1" dirty="0" smtClean="0">
                <a:solidFill>
                  <a:srgbClr val="002060"/>
                </a:solidFill>
              </a:rPr>
              <a:t> </a:t>
            </a:r>
            <a:r>
              <a:rPr lang="ru-RU" sz="3200" dirty="0" smtClean="0"/>
              <a:t/>
            </a:r>
            <a:br>
              <a:rPr lang="ru-RU" sz="3200" dirty="0" smtClean="0"/>
            </a:br>
            <a:r>
              <a:rPr lang="ru-RU" sz="3200" b="1" dirty="0" smtClean="0">
                <a:solidFill>
                  <a:srgbClr val="002060"/>
                </a:solidFill>
              </a:rPr>
              <a:t>Рис.18</a:t>
            </a:r>
            <a:r>
              <a:rPr lang="ru-RU" sz="3200" dirty="0" smtClean="0">
                <a:solidFill>
                  <a:srgbClr val="002060"/>
                </a:solidFill>
              </a:rPr>
              <a:t> Оптические виртуальные частные сети</a:t>
            </a:r>
            <a:endParaRPr lang="ru-RU" sz="3200" dirty="0">
              <a:solidFill>
                <a:srgbClr val="002060"/>
              </a:solidFill>
            </a:endParaRPr>
          </a:p>
        </p:txBody>
      </p:sp>
      <p:pic>
        <p:nvPicPr>
          <p:cNvPr id="7170" name="Picture 2"/>
          <p:cNvPicPr>
            <a:picLocks noGrp="1" noChangeAspect="1" noChangeArrowheads="1"/>
          </p:cNvPicPr>
          <p:nvPr>
            <p:ph idx="1"/>
          </p:nvPr>
        </p:nvPicPr>
        <p:blipFill>
          <a:blip r:embed="rId2" cstate="print"/>
          <a:srcRect/>
          <a:stretch>
            <a:fillRect/>
          </a:stretch>
        </p:blipFill>
        <p:spPr bwMode="auto">
          <a:xfrm>
            <a:off x="0" y="1268760"/>
            <a:ext cx="9144000" cy="5589240"/>
          </a:xfrm>
          <a:prstGeom prst="rect">
            <a:avLst/>
          </a:prstGeom>
          <a:noFill/>
          <a:ln w="9525">
            <a:noFill/>
            <a:miter lim="800000"/>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9144000" cy="836712"/>
          </a:xfrm>
        </p:spPr>
        <p:txBody>
          <a:bodyPr>
            <a:noAutofit/>
          </a:bodyPr>
          <a:lstStyle/>
          <a:p>
            <a:r>
              <a:rPr lang="ru-RU" sz="2400" b="1" dirty="0" smtClean="0">
                <a:solidFill>
                  <a:srgbClr val="002060"/>
                </a:solidFill>
              </a:rPr>
              <a:t>4.7 Основные возможности плоскости управления </a:t>
            </a:r>
            <a:r>
              <a:rPr lang="en-US" sz="2400" b="1" dirty="0" smtClean="0">
                <a:solidFill>
                  <a:srgbClr val="002060"/>
                </a:solidFill>
              </a:rPr>
              <a:t>OTN</a:t>
            </a:r>
            <a:r>
              <a:rPr lang="ru-RU" sz="2400" b="1" dirty="0" smtClean="0">
                <a:solidFill>
                  <a:srgbClr val="002060"/>
                </a:solidFill>
              </a:rPr>
              <a:t> (10)</a:t>
            </a:r>
            <a:endParaRPr lang="ru-RU" sz="2400" dirty="0"/>
          </a:p>
        </p:txBody>
      </p:sp>
      <p:sp>
        <p:nvSpPr>
          <p:cNvPr id="3" name="Содержимое 2"/>
          <p:cNvSpPr>
            <a:spLocks noGrp="1"/>
          </p:cNvSpPr>
          <p:nvPr>
            <p:ph idx="1"/>
          </p:nvPr>
        </p:nvSpPr>
        <p:spPr>
          <a:xfrm>
            <a:off x="0" y="836712"/>
            <a:ext cx="9144000" cy="6021288"/>
          </a:xfrm>
        </p:spPr>
        <p:txBody>
          <a:bodyPr>
            <a:normAutofit fontScale="55000" lnSpcReduction="20000"/>
          </a:bodyPr>
          <a:lstStyle/>
          <a:p>
            <a:r>
              <a:rPr lang="ru-RU" sz="4200" dirty="0" smtClean="0"/>
              <a:t>   </a:t>
            </a:r>
            <a:r>
              <a:rPr lang="ru-RU" sz="4200" b="1" dirty="0" smtClean="0"/>
              <a:t>На рис.18 показан пример виртуализации</a:t>
            </a:r>
            <a:r>
              <a:rPr lang="ru-RU" sz="4200" dirty="0" smtClean="0"/>
              <a:t>, в котором сегмент </a:t>
            </a:r>
          </a:p>
          <a:p>
            <a:pPr>
              <a:buNone/>
            </a:pPr>
            <a:r>
              <a:rPr lang="ru-RU" sz="4200" dirty="0" smtClean="0"/>
              <a:t>        </a:t>
            </a:r>
            <a:r>
              <a:rPr lang="ru-RU" sz="4200" b="1" dirty="0" smtClean="0"/>
              <a:t>Предприятие A</a:t>
            </a:r>
            <a:r>
              <a:rPr lang="ru-RU" sz="4200" dirty="0" smtClean="0"/>
              <a:t> может предоставлять высоко доступные защищенные подключения для критически важных приложений для различных пакетов и протоколов хранения. </a:t>
            </a:r>
          </a:p>
          <a:p>
            <a:pPr>
              <a:buNone/>
            </a:pPr>
            <a:r>
              <a:rPr lang="ru-RU" sz="4200" dirty="0" smtClean="0"/>
              <a:t>        Также можно создать </a:t>
            </a:r>
            <a:r>
              <a:rPr lang="ru-RU" sz="4200" b="1" dirty="0" smtClean="0"/>
              <a:t>сегмент Предприятие B </a:t>
            </a:r>
            <a:r>
              <a:rPr lang="ru-RU" sz="4200" dirty="0" smtClean="0"/>
              <a:t>для поддержки облачных услуг, где заказчики могут составлять графики передачи больших данных, необходимых для перемещения хранилищ или миграции виртуальных машин. </a:t>
            </a:r>
          </a:p>
          <a:p>
            <a:r>
              <a:rPr lang="ru-RU" sz="4200" dirty="0" smtClean="0"/>
              <a:t>   Несмотря на то, что O-VPN предлагаются в сетях поставщиков услуг, </a:t>
            </a:r>
            <a:r>
              <a:rPr lang="ru-RU" sz="4200" b="1" dirty="0" smtClean="0"/>
              <a:t>они предоставляют выделенную полосу пропускания для соединения различных объектов конечных пользователей </a:t>
            </a:r>
            <a:r>
              <a:rPr lang="ru-RU" sz="4200" dirty="0" smtClean="0"/>
              <a:t>в полно связной конфигурации с несколькими параллельными линиями и поддерживают полное разделение пользовательского трафика и полосы пропускания для восстановления.</a:t>
            </a:r>
          </a:p>
          <a:p>
            <a:r>
              <a:rPr lang="ru-RU" sz="4200" dirty="0" smtClean="0"/>
              <a:t>     Также могут быть обеспечены полная видимость сети и дополнительные средства защиты, контроля распределения ресурсов и выделения полос пропускания по требованию с использованием  безопасного клиентского </a:t>
            </a:r>
            <a:r>
              <a:rPr lang="ru-RU" sz="4200" dirty="0" err="1" smtClean="0"/>
              <a:t>веб-портала</a:t>
            </a:r>
            <a:r>
              <a:rPr lang="ru-RU" sz="4200" dirty="0" smtClean="0"/>
              <a:t> </a:t>
            </a:r>
            <a:r>
              <a:rPr lang="ru-RU" dirty="0" smtClean="0"/>
              <a: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706090"/>
          </a:xfrm>
        </p:spPr>
        <p:txBody>
          <a:bodyPr>
            <a:normAutofit fontScale="90000"/>
          </a:bodyPr>
          <a:lstStyle/>
          <a:p>
            <a:r>
              <a:rPr lang="ru-RU" b="1" dirty="0" smtClean="0"/>
              <a:t/>
            </a:r>
            <a:br>
              <a:rPr lang="ru-RU" b="1" dirty="0" smtClean="0"/>
            </a:br>
            <a:r>
              <a:rPr lang="ru-RU" sz="3600" b="1" dirty="0" smtClean="0">
                <a:solidFill>
                  <a:srgbClr val="002060"/>
                </a:solidFill>
              </a:rPr>
              <a:t>ЗАКЛЮЧЕНИЕ</a:t>
            </a:r>
            <a:r>
              <a:rPr lang="ru-RU" b="1" dirty="0" smtClean="0"/>
              <a:t/>
            </a:r>
            <a:br>
              <a:rPr lang="ru-RU" b="1" dirty="0" smtClean="0"/>
            </a:br>
            <a:endParaRPr lang="ru-RU" dirty="0"/>
          </a:p>
        </p:txBody>
      </p:sp>
      <p:sp>
        <p:nvSpPr>
          <p:cNvPr id="3" name="Содержимое 2"/>
          <p:cNvSpPr>
            <a:spLocks noGrp="1"/>
          </p:cNvSpPr>
          <p:nvPr>
            <p:ph idx="1"/>
          </p:nvPr>
        </p:nvSpPr>
        <p:spPr>
          <a:xfrm>
            <a:off x="179512" y="1196752"/>
            <a:ext cx="8784976" cy="5661248"/>
          </a:xfrm>
        </p:spPr>
        <p:txBody>
          <a:bodyPr>
            <a:noAutofit/>
          </a:bodyPr>
          <a:lstStyle/>
          <a:p>
            <a:r>
              <a:rPr lang="ru-RU" sz="2000" b="1" dirty="0" smtClean="0"/>
              <a:t>OTN обеспечивает обширную OAM&amp;P функциональность для </a:t>
            </a:r>
            <a:r>
              <a:rPr lang="ru-RU" sz="2000" b="1" dirty="0" err="1" smtClean="0"/>
              <a:t>многоволновых</a:t>
            </a:r>
            <a:r>
              <a:rPr lang="ru-RU" sz="2000" b="1" dirty="0" smtClean="0"/>
              <a:t> оптических систем за счет применения больших дополнительных заголовков оптических секций и введения механизмов коррекции ошибок FEC.</a:t>
            </a:r>
          </a:p>
          <a:p>
            <a:r>
              <a:rPr lang="ru-RU" sz="2000" dirty="0" smtClean="0"/>
              <a:t> Подобные меры требуют выделения дополнительной полосы в канале и, на первый взгляд, уменьшают эффективность его использования.</a:t>
            </a:r>
          </a:p>
          <a:p>
            <a:r>
              <a:rPr lang="ru-RU" sz="2000" dirty="0" smtClean="0"/>
              <a:t> Однако, полученные дополнительные возможности администрирования сети с лихвой окупают все затраты.</a:t>
            </a:r>
          </a:p>
          <a:p>
            <a:r>
              <a:rPr lang="ru-RU" sz="2000" dirty="0" smtClean="0"/>
              <a:t> Несмотря на то, что технология OTN относительно новая, на сегодняшний день уже все основные производители телекоммуникационного оптического оборудования предлагают решения на ее базе, а новые сети с применением волнового мультиплексирования в транспортных потоках строятся исключительно с применением технологии OTN.</a:t>
            </a:r>
          </a:p>
          <a:p>
            <a:r>
              <a:rPr lang="ru-RU" sz="2000" dirty="0" smtClean="0"/>
              <a:t>И это лишний раз показывает ее высокую эффективность и </a:t>
            </a:r>
            <a:r>
              <a:rPr lang="ru-RU" sz="2000" dirty="0" err="1" smtClean="0"/>
              <a:t>востребованность</a:t>
            </a:r>
            <a:r>
              <a:rPr lang="ru-RU" sz="2000" dirty="0" smtClean="0"/>
              <a:t>.</a:t>
            </a:r>
          </a:p>
          <a:p>
            <a:pPr>
              <a:buNone/>
            </a:pPr>
            <a:r>
              <a:rPr lang="ru-RU" sz="2000" dirty="0" smtClean="0"/>
              <a:t> </a:t>
            </a:r>
          </a:p>
          <a:p>
            <a:pPr>
              <a:buNone/>
            </a:pPr>
            <a:r>
              <a:rPr lang="ru-RU" sz="2000" dirty="0" smtClean="0"/>
              <a:t>  </a:t>
            </a:r>
          </a:p>
          <a:p>
            <a:pPr>
              <a:buNone/>
            </a:pPr>
            <a:r>
              <a:rPr lang="ru-RU" sz="2000" dirty="0" smtClean="0"/>
              <a:t> </a:t>
            </a:r>
          </a:p>
          <a:p>
            <a:endParaRPr lang="ru-RU"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pic>
        <p:nvPicPr>
          <p:cNvPr id="4" name="Содержимое 3"/>
          <p:cNvPicPr>
            <a:picLocks noGrp="1"/>
          </p:cNvPicPr>
          <p:nvPr>
            <p:ph idx="1"/>
          </p:nvPr>
        </p:nvPicPr>
        <p:blipFill>
          <a:blip r:embed="rId2" cstate="print"/>
          <a:srcRect l="7476" r="10626" b="11115"/>
          <a:stretch>
            <a:fillRect/>
          </a:stretch>
        </p:blipFill>
        <p:spPr bwMode="auto">
          <a:xfrm>
            <a:off x="0" y="0"/>
            <a:ext cx="9144000" cy="685800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1403</TotalTime>
  <Words>5441</Words>
  <Application>Microsoft Office PowerPoint</Application>
  <PresentationFormat>Экран (4:3)</PresentationFormat>
  <Paragraphs>493</Paragraphs>
  <Slides>73</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73</vt:i4>
      </vt:variant>
    </vt:vector>
  </HeadingPairs>
  <TitlesOfParts>
    <vt:vector size="74" baseType="lpstr">
      <vt:lpstr>Тема Office</vt:lpstr>
      <vt:lpstr>Технологии передачи данных в транспортных цифровых сетях связи (ЦСС)</vt:lpstr>
      <vt:lpstr>Развитие транспортных сетей</vt:lpstr>
      <vt:lpstr>Технологии передачи данных в транспортных цифровых сетях связи (ЦСС)</vt:lpstr>
      <vt:lpstr>       лекция 6.4  4.ОПТИЧЕСКИЕ ТРАНСПОРТНЫЕ СЕТИ (OTN)     4.1 Optical Transport Network (OTN)       4.1 Значение сетей OTN       4.2 Основные преимущества сети OTN.       4.3 Структура сети OTN. Оптический транспортный модуль OTM       4.4. Архитектура OTN       4.5 Иерархия уплотнения OTN       4.6 Основные возможности OTN      4.7 Основные возможности плоскости управления OTN                     </vt:lpstr>
      <vt:lpstr>4.1 Optical Transport Network (OTN)</vt:lpstr>
      <vt:lpstr>4.1 Optical Transport Network (OTN)</vt:lpstr>
      <vt:lpstr>4.1 Предпосылки возникновения OTN </vt:lpstr>
      <vt:lpstr>4.1 Предпосылки возникновения OTN </vt:lpstr>
      <vt:lpstr> 4.1 ОПТИЧЕСКИЕ ТРАНСПОРТНЫЕ СЕТИ (OTN). Применение</vt:lpstr>
      <vt:lpstr>4.1 ОПТИЧЕСКИЕ ТРАНСПОРТНЫЕ СЕТИ (OTN) </vt:lpstr>
      <vt:lpstr>4.1 Optical Transport Network (OTN)</vt:lpstr>
      <vt:lpstr>4.1 ОПТИЧЕСКИЕ ТРАНСПОРТНЫЕ СЕТИ (OTN)</vt:lpstr>
      <vt:lpstr>4.1 ОПТИЧЕСКИЕ ТРАНСПОРТНЫЕ СЕТИ (OTN)</vt:lpstr>
      <vt:lpstr>4.1 ОПТИЧЕСКИЕ ТРАНСПОРТНЫЕ СЕТИ (OTN)</vt:lpstr>
      <vt:lpstr>4.1 ОПТИЧЕСКИЕ ТРАНСПОРТНЫЕ СЕТИ (OTN)</vt:lpstr>
      <vt:lpstr>4.2 ОПТИЧЕСКИЕ ТРАНСПОРТНЫЕ СЕТИ (OTN) Основные преимущества сети.</vt:lpstr>
      <vt:lpstr>4.2 ОПТИЧЕСКИЕ ТРАНСПОРТНЫЕ СЕТИ (OTN)</vt:lpstr>
      <vt:lpstr>4.2 ОПТИЧЕСКИЕ ТРАНСПОРТНЫЕ СЕТИ (OTN)</vt:lpstr>
      <vt:lpstr>4.2 ОПТИЧЕСКИЕ ТРАНСПОРТНЫЕ СЕТИ (OTN)</vt:lpstr>
      <vt:lpstr>4.2 ОПТИЧЕСКИЕ ТРАНСПОРТНЫЕ СЕТИ (OTN)</vt:lpstr>
      <vt:lpstr>4.2 ОПТИЧЕСКИЕ ТРАНСПОРТНЫЕ СЕТИ (OTN)</vt:lpstr>
      <vt:lpstr>4.2 ОПТИЧЕСКИЕ ТРАНСПОРТНЫЕ СЕТИ (OTN)</vt:lpstr>
      <vt:lpstr>4.2 ОПТИЧЕСКИЕ ТРАНСПОРТНЫЕ СЕТИ (OTN)</vt:lpstr>
      <vt:lpstr>4.2ОПТИЧЕСКИЕ ТРАНСПОРТНЫЕ СЕТИ (OTN)</vt:lpstr>
      <vt:lpstr>4.2 ОПТИЧЕСКИЕ ТРАНСПОРТНЫЕ СЕТИ (OTN)</vt:lpstr>
      <vt:lpstr>4.3 Структура сети OTN. Модель сети OTN</vt:lpstr>
      <vt:lpstr> Формирование структуры транспортного потока OTN (1) </vt:lpstr>
      <vt:lpstr>Формирование структуры транспортного потока OTN (2)</vt:lpstr>
      <vt:lpstr> Результатом процесса формирования становится оптический канал OCh, приведенный на рисунке и содержащий полезную нагрузку (клиентский сигнал), заголовки различных уровней (структуры OH) и корректирующую информацию (FEC).  </vt:lpstr>
      <vt:lpstr>Результатом процесса формирования становится оптический канал OCh, содержащий полезную нагрузку (клиентский сигнал),  заголовки различных уровней (структуры OH) и корректирующую информацию (FEC)</vt:lpstr>
      <vt:lpstr>  4.3 Структура сети OTN.(2 вар)  Оптический транспортный модуль OTM.    </vt:lpstr>
      <vt:lpstr> 4.3 Структура сети OTN.  Оптический транспортный модуль OTM.   </vt:lpstr>
      <vt:lpstr> 4.3 Структура сети OTN.(2 вар)  Оптический транспортный модуль OTM.  </vt:lpstr>
      <vt:lpstr>4.4. Архитектура OTN (2вар)</vt:lpstr>
      <vt:lpstr>4.4 Оптический транспортный модуль (OTM) </vt:lpstr>
      <vt:lpstr>4.4 Архитектура OTN</vt:lpstr>
      <vt:lpstr>4.4 Оптический транспортный модуль (OTM) Рис. 1. </vt:lpstr>
      <vt:lpstr>4.4 Архитектура OTN</vt:lpstr>
      <vt:lpstr> 4.4 ФОРМИРОВАНИЕ СТРУКТУРЫ OTN. </vt:lpstr>
      <vt:lpstr>4.4 Формирование структуры OTN</vt:lpstr>
      <vt:lpstr>Слайд 41</vt:lpstr>
      <vt:lpstr>4.4 Архитектура OTN  Линейная часть OTM</vt:lpstr>
      <vt:lpstr>4.4. Схема линейной структуры OTN  Рисунок 2</vt:lpstr>
      <vt:lpstr>4.4 OTN поддерживает разные типы услуг на одной длине волны. Рис. 3. </vt:lpstr>
      <vt:lpstr>4.5 Структура кадра OTN(см слайд 29,30)</vt:lpstr>
      <vt:lpstr>4.5 Мультиплексирование блоков  При мультиплексировании блоков ODU,  поле пользовательских данных блока OPUk  разбивается на так называемые  трибутарные слоты (Tributary Slot, TS),  в которые помещаются данные блока OPUk-1.</vt:lpstr>
      <vt:lpstr>4.5 Иерархия уплотнения OTN </vt:lpstr>
      <vt:lpstr>4.5 Иерархия согласования OTN. Рис 4 </vt:lpstr>
      <vt:lpstr>Слайд 49</vt:lpstr>
      <vt:lpstr> 4.5 Стандартные скорости передачи OTN   </vt:lpstr>
      <vt:lpstr>   4.5 Иерархия скоростей OTN  В настоящее время стандартизованы три скорости OTN, которые выбраны так, чтобы прозрачным образом передавать кадры STM-16, STM-64 и  STM-256 вместе со служебными заголовками.    </vt:lpstr>
      <vt:lpstr>  4.5 Коррекция ошибок </vt:lpstr>
      <vt:lpstr>4.6 Основные возможности OTN(1) </vt:lpstr>
      <vt:lpstr>Слайд 54</vt:lpstr>
      <vt:lpstr>4.6 Основные возможности OTN(1) </vt:lpstr>
      <vt:lpstr> Мониторинг тандемных соединений (TCM) обеспечивает прозрачность управления на нескольких (вложенных) уровнях. Рис.</vt:lpstr>
      <vt:lpstr>4.6 Основные возможности OTN(2) </vt:lpstr>
      <vt:lpstr>Ядро OTN с эффективной коммутацией без потерь пакетов (рис.13)</vt:lpstr>
      <vt:lpstr>4.6 Основные возможности OTN(3)</vt:lpstr>
      <vt:lpstr> 4.6 Основные возможности OTN.   Рис.14 Модернизация сети  </vt:lpstr>
      <vt:lpstr>4.6 Основные возможности OTN (4)</vt:lpstr>
      <vt:lpstr>4.6 Основные возможности OTN (5)</vt:lpstr>
      <vt:lpstr>4.6 Основные возможности OTN  Рис.15. Разгрузка роутеров от транзитного трафика </vt:lpstr>
      <vt:lpstr>4.6 Основные возможности OTN (6)</vt:lpstr>
      <vt:lpstr>4.7 Основные возможности плоскости управления OTN (1)</vt:lpstr>
      <vt:lpstr>4.7 Основные возможности плоскости управления OTN (2)</vt:lpstr>
      <vt:lpstr>4.7 Основные возможности OTN  Рис.17. OTN и плоскость управления как динамический пул ресурсов для облака</vt:lpstr>
      <vt:lpstr>4.7 Основные возможности OTN  Рис. 16. Повышение отказоустойчивости сети благодаря OTN и плоскости управления</vt:lpstr>
      <vt:lpstr>4.7 Основные возможности плоскости управления OTN (3)</vt:lpstr>
      <vt:lpstr>4.7 Основные возможности OTN  Рис.18 Оптические виртуальные частные сети</vt:lpstr>
      <vt:lpstr>4.7 Основные возможности плоскости управления OTN (10)</vt:lpstr>
      <vt:lpstr> ЗАКЛЮЧЕНИЕ </vt:lpstr>
      <vt:lpstr>Слайд 73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3.Технология АТМ - Asynchronous Transfer Mode</dc:title>
  <dc:creator>Анастасия</dc:creator>
  <cp:lastModifiedBy>Анастасия</cp:lastModifiedBy>
  <cp:revision>152</cp:revision>
  <dcterms:created xsi:type="dcterms:W3CDTF">2025-10-25T22:21:04Z</dcterms:created>
  <dcterms:modified xsi:type="dcterms:W3CDTF">2025-11-27T22:41:33Z</dcterms:modified>
</cp:coreProperties>
</file>