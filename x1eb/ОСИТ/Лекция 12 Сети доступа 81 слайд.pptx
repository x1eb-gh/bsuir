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84"/>
  </p:notesMasterIdLst>
  <p:sldIdLst>
    <p:sldId id="256" r:id="rId2"/>
    <p:sldId id="372" r:id="rId3"/>
    <p:sldId id="370" r:id="rId4"/>
    <p:sldId id="373" r:id="rId5"/>
    <p:sldId id="394" r:id="rId6"/>
    <p:sldId id="379" r:id="rId7"/>
    <p:sldId id="367" r:id="rId8"/>
    <p:sldId id="378" r:id="rId9"/>
    <p:sldId id="386" r:id="rId10"/>
    <p:sldId id="380" r:id="rId11"/>
    <p:sldId id="382" r:id="rId12"/>
    <p:sldId id="387" r:id="rId13"/>
    <p:sldId id="383" r:id="rId14"/>
    <p:sldId id="384" r:id="rId15"/>
    <p:sldId id="385" r:id="rId16"/>
    <p:sldId id="388" r:id="rId17"/>
    <p:sldId id="389" r:id="rId18"/>
    <p:sldId id="390" r:id="rId19"/>
    <p:sldId id="391" r:id="rId20"/>
    <p:sldId id="392" r:id="rId21"/>
    <p:sldId id="393" r:id="rId22"/>
    <p:sldId id="357" r:id="rId23"/>
    <p:sldId id="395" r:id="rId24"/>
    <p:sldId id="358" r:id="rId25"/>
    <p:sldId id="363" r:id="rId26"/>
    <p:sldId id="359" r:id="rId27"/>
    <p:sldId id="396" r:id="rId28"/>
    <p:sldId id="360" r:id="rId29"/>
    <p:sldId id="397" r:id="rId30"/>
    <p:sldId id="361" r:id="rId31"/>
    <p:sldId id="362" r:id="rId32"/>
    <p:sldId id="404" r:id="rId33"/>
    <p:sldId id="342" r:id="rId34"/>
    <p:sldId id="409" r:id="rId35"/>
    <p:sldId id="341" r:id="rId36"/>
    <p:sldId id="262" r:id="rId37"/>
    <p:sldId id="263" r:id="rId38"/>
    <p:sldId id="267" r:id="rId39"/>
    <p:sldId id="268" r:id="rId40"/>
    <p:sldId id="343" r:id="rId41"/>
    <p:sldId id="271" r:id="rId42"/>
    <p:sldId id="344" r:id="rId43"/>
    <p:sldId id="345" r:id="rId44"/>
    <p:sldId id="410" r:id="rId45"/>
    <p:sldId id="401" r:id="rId46"/>
    <p:sldId id="403" r:id="rId47"/>
    <p:sldId id="406" r:id="rId48"/>
    <p:sldId id="405" r:id="rId49"/>
    <p:sldId id="407" r:id="rId50"/>
    <p:sldId id="338" r:id="rId51"/>
    <p:sldId id="408" r:id="rId52"/>
    <p:sldId id="411" r:id="rId53"/>
    <p:sldId id="412" r:id="rId54"/>
    <p:sldId id="413" r:id="rId55"/>
    <p:sldId id="420" r:id="rId56"/>
    <p:sldId id="414" r:id="rId57"/>
    <p:sldId id="415" r:id="rId58"/>
    <p:sldId id="416" r:id="rId59"/>
    <p:sldId id="419" r:id="rId60"/>
    <p:sldId id="368" r:id="rId61"/>
    <p:sldId id="348" r:id="rId62"/>
    <p:sldId id="346" r:id="rId63"/>
    <p:sldId id="376" r:id="rId64"/>
    <p:sldId id="349" r:id="rId65"/>
    <p:sldId id="277" r:id="rId66"/>
    <p:sldId id="350" r:id="rId67"/>
    <p:sldId id="353" r:id="rId68"/>
    <p:sldId id="285" r:id="rId69"/>
    <p:sldId id="354" r:id="rId70"/>
    <p:sldId id="287" r:id="rId71"/>
    <p:sldId id="286" r:id="rId72"/>
    <p:sldId id="356" r:id="rId73"/>
    <p:sldId id="355" r:id="rId74"/>
    <p:sldId id="332" r:id="rId75"/>
    <p:sldId id="418" r:id="rId76"/>
    <p:sldId id="369" r:id="rId77"/>
    <p:sldId id="333" r:id="rId78"/>
    <p:sldId id="336" r:id="rId79"/>
    <p:sldId id="375" r:id="rId80"/>
    <p:sldId id="374" r:id="rId81"/>
    <p:sldId id="366" r:id="rId82"/>
    <p:sldId id="371" r:id="rId8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4640" autoAdjust="0"/>
  </p:normalViewPr>
  <p:slideViewPr>
    <p:cSldViewPr>
      <p:cViewPr varScale="1">
        <p:scale>
          <a:sx n="75" d="100"/>
          <a:sy n="75" d="100"/>
        </p:scale>
        <p:origin x="-30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1B77B-F12B-4F42-AB11-E156E3708401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A73A4-8DAC-4BB9-ABEE-F6D2F08AFE0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E5A21-28D3-466D-B458-6952538DF31B}" type="datetimeFigureOut">
              <a:rPr lang="ru-RU" smtClean="0"/>
              <a:pPr/>
              <a:t>13.12.2025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352C3-F81F-44BB-B895-FB31194525B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18" Type="http://schemas.openxmlformats.org/officeDocument/2006/relationships/image" Target="../media/image17.png"/><Relationship Id="rId26" Type="http://schemas.openxmlformats.org/officeDocument/2006/relationships/image" Target="../media/image25.jpe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10" Type="http://schemas.openxmlformats.org/officeDocument/2006/relationships/image" Target="../media/image14.png"/><Relationship Id="rId4" Type="http://schemas.openxmlformats.org/officeDocument/2006/relationships/image" Target="../media/image26.png"/><Relationship Id="rId9" Type="http://schemas.openxmlformats.org/officeDocument/2006/relationships/image" Target="../media/image2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Сети доступа NGN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7" name="Rectangle 3"/>
          <p:cNvSpPr>
            <a:spLocks noGrp="1" noChangeArrowheads="1"/>
          </p:cNvSpPr>
          <p:nvPr>
            <p:ph type="title"/>
          </p:nvPr>
        </p:nvSpPr>
        <p:spPr>
          <a:xfrm>
            <a:off x="1336675" y="260350"/>
            <a:ext cx="7772400" cy="792163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ru-RU" dirty="0" smtClean="0">
                <a:solidFill>
                  <a:schemeClr val="tx1"/>
                </a:solidFill>
              </a:rPr>
              <a:t>Общая архитектура </a:t>
            </a:r>
            <a:r>
              <a:rPr lang="en-US" altLang="ru-RU" dirty="0" smtClean="0">
                <a:solidFill>
                  <a:schemeClr val="tx1"/>
                </a:solidFill>
              </a:rPr>
              <a:t>NGN</a:t>
            </a:r>
            <a:endParaRPr lang="ru-RU" altLang="ru-RU" dirty="0" smtClean="0">
              <a:solidFill>
                <a:schemeClr val="tx1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1916832"/>
            <a:ext cx="9144000" cy="4739556"/>
            <a:chOff x="0" y="663"/>
            <a:chExt cx="5760" cy="3122"/>
          </a:xfrm>
        </p:grpSpPr>
        <p:sp>
          <p:nvSpPr>
            <p:cNvPr id="30726" name="AutoShape 5"/>
            <p:cNvSpPr>
              <a:spLocks noChangeArrowheads="1"/>
            </p:cNvSpPr>
            <p:nvPr/>
          </p:nvSpPr>
          <p:spPr bwMode="auto">
            <a:xfrm>
              <a:off x="0" y="663"/>
              <a:ext cx="4672" cy="363"/>
            </a:xfrm>
            <a:prstGeom prst="parallelogram">
              <a:avLst>
                <a:gd name="adj" fmla="val 178817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  <a:effectLst>
              <a:outerShdw dist="144802" dir="22724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903" y="663"/>
              <a:ext cx="325" cy="364"/>
              <a:chOff x="4014" y="663"/>
              <a:chExt cx="325" cy="364"/>
            </a:xfrm>
          </p:grpSpPr>
          <p:pic>
            <p:nvPicPr>
              <p:cNvPr id="26689" name="Picture 7" descr="comp058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150" y="663"/>
                <a:ext cx="189" cy="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6690" name="Picture 8" descr="comp058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014" y="709"/>
                <a:ext cx="189" cy="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26632" name="Picture 9" descr="Рисунок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69" y="663"/>
              <a:ext cx="907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33" name="Picture 10" descr="Рисунок1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16" y="663"/>
              <a:ext cx="816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3447" y="709"/>
              <a:ext cx="408" cy="317"/>
              <a:chOff x="192" y="2976"/>
              <a:chExt cx="1296" cy="1129"/>
            </a:xfrm>
          </p:grpSpPr>
          <p:sp>
            <p:nvSpPr>
              <p:cNvPr id="26687" name="Rectangle 12"/>
              <p:cNvSpPr>
                <a:spLocks noChangeArrowheads="1"/>
              </p:cNvSpPr>
              <p:nvPr/>
            </p:nvSpPr>
            <p:spPr bwMode="auto">
              <a:xfrm>
                <a:off x="288" y="3120"/>
                <a:ext cx="1008" cy="91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ru-RU"/>
              </a:p>
            </p:txBody>
          </p:sp>
          <p:pic>
            <p:nvPicPr>
              <p:cNvPr id="26688" name="Picture 13" descr="9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192" y="2976"/>
                <a:ext cx="1296" cy="1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30731" name="AutoShape 14"/>
            <p:cNvSpPr>
              <a:spLocks noChangeArrowheads="1"/>
            </p:cNvSpPr>
            <p:nvPr/>
          </p:nvSpPr>
          <p:spPr bwMode="auto">
            <a:xfrm>
              <a:off x="0" y="3385"/>
              <a:ext cx="4672" cy="363"/>
            </a:xfrm>
            <a:prstGeom prst="parallelogram">
              <a:avLst>
                <a:gd name="adj" fmla="val 178817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  <a:effectLst>
              <a:outerShdw dist="144802" dir="22724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26636" name="Text Box 15"/>
            <p:cNvSpPr txBox="1">
              <a:spLocks noChangeArrowheads="1"/>
            </p:cNvSpPr>
            <p:nvPr/>
          </p:nvSpPr>
          <p:spPr bwMode="auto">
            <a:xfrm flipH="1">
              <a:off x="363" y="3612"/>
              <a:ext cx="543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r>
                <a:rPr lang="en-US" altLang="ru-RU" sz="1200">
                  <a:latin typeface="Times New Roman" pitchFamily="18" charset="0"/>
                </a:rPr>
                <a:t>POTS/ISDN</a:t>
              </a:r>
              <a:endParaRPr lang="ru-RU" altLang="ru-RU" sz="1200">
                <a:latin typeface="Times New Roman" pitchFamily="18" charset="0"/>
              </a:endParaRPr>
            </a:p>
          </p:txBody>
        </p:sp>
        <p:sp>
          <p:nvSpPr>
            <p:cNvPr id="26637" name="Text Box 16"/>
            <p:cNvSpPr txBox="1">
              <a:spLocks noChangeArrowheads="1"/>
            </p:cNvSpPr>
            <p:nvPr/>
          </p:nvSpPr>
          <p:spPr bwMode="auto">
            <a:xfrm>
              <a:off x="953" y="3612"/>
              <a:ext cx="411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lang="de-DE" altLang="ru-RU" sz="1200">
                  <a:latin typeface="Times New Roman" pitchFamily="18" charset="0"/>
                </a:rPr>
                <a:t>IP PBX</a:t>
              </a:r>
            </a:p>
          </p:txBody>
        </p:sp>
        <p:sp>
          <p:nvSpPr>
            <p:cNvPr id="26638" name="Text Box 17"/>
            <p:cNvSpPr txBox="1">
              <a:spLocks noChangeArrowheads="1"/>
            </p:cNvSpPr>
            <p:nvPr/>
          </p:nvSpPr>
          <p:spPr bwMode="auto">
            <a:xfrm flipH="1">
              <a:off x="1360" y="3612"/>
              <a:ext cx="815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pPr algn="ctr"/>
              <a:r>
                <a:rPr lang="en-US" altLang="ru-RU" sz="1200">
                  <a:latin typeface="Times New Roman" pitchFamily="18" charset="0"/>
                </a:rPr>
                <a:t>MGCP/SIP-Phone</a:t>
              </a:r>
              <a:endParaRPr lang="ru-RU" altLang="ru-RU" sz="1200">
                <a:latin typeface="Times New Roman" pitchFamily="18" charset="0"/>
              </a:endParaRPr>
            </a:p>
          </p:txBody>
        </p:sp>
        <p:pic>
          <p:nvPicPr>
            <p:cNvPr id="26639" name="Picture 18" descr="Sipphone-r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33" y="3430"/>
              <a:ext cx="272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40" name="Text Box 19"/>
            <p:cNvSpPr txBox="1">
              <a:spLocks noChangeArrowheads="1"/>
            </p:cNvSpPr>
            <p:nvPr/>
          </p:nvSpPr>
          <p:spPr bwMode="auto">
            <a:xfrm>
              <a:off x="2178" y="3612"/>
              <a:ext cx="32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/>
              <a:r>
                <a:rPr lang="en-US" altLang="ru-RU" sz="1200">
                  <a:latin typeface="Times New Roman" pitchFamily="18" charset="0"/>
                </a:rPr>
                <a:t>IADs</a:t>
              </a:r>
              <a:endParaRPr lang="ru-RU" altLang="ru-RU" sz="1200">
                <a:latin typeface="Times New Roman" pitchFamily="18" charset="0"/>
              </a:endParaRPr>
            </a:p>
          </p:txBody>
        </p:sp>
        <p:pic>
          <p:nvPicPr>
            <p:cNvPr id="26641" name="Picture 20" descr="pbx-r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44" y="3385"/>
              <a:ext cx="217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42" name="Text Box 21"/>
            <p:cNvSpPr txBox="1">
              <a:spLocks noChangeArrowheads="1"/>
            </p:cNvSpPr>
            <p:nvPr/>
          </p:nvSpPr>
          <p:spPr bwMode="auto">
            <a:xfrm flipH="1">
              <a:off x="2540" y="3612"/>
              <a:ext cx="726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pPr algn="ctr"/>
              <a:r>
                <a:rPr lang="en-US" altLang="ru-RU" sz="1200">
                  <a:latin typeface="Times New Roman" pitchFamily="18" charset="0"/>
                </a:rPr>
                <a:t>H.323/SIP-Client</a:t>
              </a:r>
              <a:endParaRPr lang="ru-RU" altLang="ru-RU" sz="1200">
                <a:latin typeface="Times New Roman" pitchFamily="18" charset="0"/>
              </a:endParaRPr>
            </a:p>
          </p:txBody>
        </p:sp>
        <p:pic>
          <p:nvPicPr>
            <p:cNvPr id="26643" name="Picture 22" descr="PC_phone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722" y="3385"/>
              <a:ext cx="317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44" name="Text Box 23"/>
            <p:cNvSpPr txBox="1">
              <a:spLocks noChangeArrowheads="1"/>
            </p:cNvSpPr>
            <p:nvPr/>
          </p:nvSpPr>
          <p:spPr bwMode="auto">
            <a:xfrm flipH="1">
              <a:off x="3314" y="3611"/>
              <a:ext cx="542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pPr algn="ctr"/>
              <a:r>
                <a:rPr lang="en-US" altLang="ru-RU" sz="1200">
                  <a:latin typeface="Times New Roman" pitchFamily="18" charset="0"/>
                </a:rPr>
                <a:t>H.323-Phone</a:t>
              </a:r>
              <a:endParaRPr lang="ru-RU" altLang="ru-RU" sz="1200">
                <a:latin typeface="Times New Roman" pitchFamily="18" charset="0"/>
              </a:endParaRPr>
            </a:p>
          </p:txBody>
        </p:sp>
        <p:pic>
          <p:nvPicPr>
            <p:cNvPr id="26645" name="Picture 24" descr="Sipphone-r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402" y="3430"/>
              <a:ext cx="272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46" name="Picture 25" descr="Рисунок2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09" y="3430"/>
              <a:ext cx="223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47" name="Picture 26" descr="Рисунок2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81" y="3430"/>
              <a:ext cx="223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48" name="Picture 27" descr="Рисунок4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2178" y="3475"/>
              <a:ext cx="3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49" name="Picture 28" descr="Рисунок5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947" y="3339"/>
              <a:ext cx="123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50" name="Text Box 29"/>
            <p:cNvSpPr txBox="1">
              <a:spLocks noChangeArrowheads="1"/>
            </p:cNvSpPr>
            <p:nvPr/>
          </p:nvSpPr>
          <p:spPr bwMode="auto">
            <a:xfrm flipH="1">
              <a:off x="3856" y="3612"/>
              <a:ext cx="680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pPr algn="ctr"/>
              <a:r>
                <a:rPr lang="en-US" altLang="ru-RU" sz="1200">
                  <a:latin typeface="Times New Roman" pitchFamily="18" charset="0"/>
                </a:rPr>
                <a:t>2/3G Terminal</a:t>
              </a:r>
              <a:endParaRPr lang="ru-RU" altLang="ru-RU" sz="1200">
                <a:latin typeface="Times New Roman" pitchFamily="18" charset="0"/>
              </a:endParaRPr>
            </a:p>
          </p:txBody>
        </p:sp>
        <p:sp>
          <p:nvSpPr>
            <p:cNvPr id="30747" name="AutoShape 30"/>
            <p:cNvSpPr>
              <a:spLocks noChangeArrowheads="1"/>
            </p:cNvSpPr>
            <p:nvPr/>
          </p:nvSpPr>
          <p:spPr bwMode="auto">
            <a:xfrm>
              <a:off x="0" y="2841"/>
              <a:ext cx="4672" cy="363"/>
            </a:xfrm>
            <a:prstGeom prst="parallelogram">
              <a:avLst>
                <a:gd name="adj" fmla="val 178817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  <a:effectLst>
              <a:outerShdw dist="144802" dir="22724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pic>
          <p:nvPicPr>
            <p:cNvPr id="26652" name="Picture 31" descr="7300 LP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635" y="2840"/>
              <a:ext cx="272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53" name="Text Box 32"/>
            <p:cNvSpPr txBox="1">
              <a:spLocks noChangeArrowheads="1"/>
            </p:cNvSpPr>
            <p:nvPr/>
          </p:nvSpPr>
          <p:spPr bwMode="auto">
            <a:xfrm>
              <a:off x="589" y="3067"/>
              <a:ext cx="476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r>
                <a:rPr lang="en-US" altLang="ru-RU" sz="1200">
                  <a:latin typeface="Times New Roman" pitchFamily="18" charset="0"/>
                </a:rPr>
                <a:t>DSLAM</a:t>
              </a:r>
            </a:p>
          </p:txBody>
        </p:sp>
        <p:sp>
          <p:nvSpPr>
            <p:cNvPr id="26654" name="Text Box 33"/>
            <p:cNvSpPr txBox="1">
              <a:spLocks noChangeArrowheads="1"/>
            </p:cNvSpPr>
            <p:nvPr/>
          </p:nvSpPr>
          <p:spPr bwMode="auto">
            <a:xfrm>
              <a:off x="1270" y="3067"/>
              <a:ext cx="31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r>
                <a:rPr lang="en-US" altLang="ru-RU" sz="1200">
                  <a:latin typeface="Times New Roman" pitchFamily="18" charset="0"/>
                </a:rPr>
                <a:t>MAP</a:t>
              </a:r>
              <a:endParaRPr lang="ru-RU" altLang="ru-RU" sz="1200">
                <a:latin typeface="Times New Roman" pitchFamily="18" charset="0"/>
              </a:endParaRPr>
            </a:p>
          </p:txBody>
        </p:sp>
        <p:pic>
          <p:nvPicPr>
            <p:cNvPr id="26655" name="Picture 34" descr="CAGE40-front-door"/>
            <p:cNvPicPr>
              <a:picLocks noChangeAspect="1" noChangeArrowheads="1"/>
            </p:cNvPicPr>
            <p:nvPr/>
          </p:nvPicPr>
          <p:blipFill>
            <a:blip r:embed="rId13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79" y="2795"/>
              <a:ext cx="408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56" name="Picture 35" descr="3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1859" y="2840"/>
              <a:ext cx="204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57" name="Text Box 36"/>
            <p:cNvSpPr txBox="1">
              <a:spLocks noChangeArrowheads="1"/>
            </p:cNvSpPr>
            <p:nvPr/>
          </p:nvSpPr>
          <p:spPr bwMode="auto">
            <a:xfrm>
              <a:off x="2086" y="3067"/>
              <a:ext cx="31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r>
                <a:rPr lang="en-US" altLang="ru-RU" sz="1200">
                  <a:latin typeface="Times New Roman" pitchFamily="18" charset="0"/>
                </a:rPr>
                <a:t>AMG</a:t>
              </a:r>
              <a:endParaRPr lang="ru-RU" altLang="ru-RU" sz="1200">
                <a:latin typeface="Times New Roman" pitchFamily="18" charset="0"/>
              </a:endParaRPr>
            </a:p>
          </p:txBody>
        </p:sp>
        <p:sp>
          <p:nvSpPr>
            <p:cNvPr id="26658" name="Text Box 37"/>
            <p:cNvSpPr txBox="1">
              <a:spLocks noChangeArrowheads="1"/>
            </p:cNvSpPr>
            <p:nvPr/>
          </p:nvSpPr>
          <p:spPr bwMode="auto">
            <a:xfrm>
              <a:off x="2585" y="3067"/>
              <a:ext cx="22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pPr algn="ctr"/>
              <a:r>
                <a:rPr lang="en-US" altLang="ru-RU" sz="1200">
                  <a:latin typeface="Times New Roman" pitchFamily="18" charset="0"/>
                </a:rPr>
                <a:t>PON</a:t>
              </a:r>
              <a:endParaRPr lang="ru-RU" altLang="ru-RU" sz="1200">
                <a:latin typeface="Times New Roman" pitchFamily="18" charset="0"/>
              </a:endParaRPr>
            </a:p>
          </p:txBody>
        </p:sp>
        <p:pic>
          <p:nvPicPr>
            <p:cNvPr id="26659" name="Picture 38" descr="ls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2494" y="2795"/>
              <a:ext cx="336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60" name="Picture 39" descr="MG"/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085" y="2795"/>
              <a:ext cx="249" cy="4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61" name="Text Box 40"/>
            <p:cNvSpPr txBox="1">
              <a:spLocks noChangeArrowheads="1"/>
            </p:cNvSpPr>
            <p:nvPr/>
          </p:nvSpPr>
          <p:spPr bwMode="auto">
            <a:xfrm>
              <a:off x="3311" y="3067"/>
              <a:ext cx="32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ru-RU" sz="1200">
                  <a:latin typeface="Times New Roman" pitchFamily="18" charset="0"/>
                </a:rPr>
                <a:t>TMG</a:t>
              </a:r>
              <a:endParaRPr lang="ru-RU" altLang="ru-RU" sz="1200">
                <a:latin typeface="Times New Roman" pitchFamily="18" charset="0"/>
              </a:endParaRPr>
            </a:p>
          </p:txBody>
        </p:sp>
        <p:sp>
          <p:nvSpPr>
            <p:cNvPr id="26662" name="Text Box 41"/>
            <p:cNvSpPr txBox="1">
              <a:spLocks noChangeArrowheads="1"/>
            </p:cNvSpPr>
            <p:nvPr/>
          </p:nvSpPr>
          <p:spPr bwMode="auto">
            <a:xfrm>
              <a:off x="3855" y="3022"/>
              <a:ext cx="226" cy="17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pPr algn="ctr"/>
              <a:r>
                <a:rPr lang="en-US" altLang="ru-RU" sz="1200">
                  <a:latin typeface="Times New Roman" pitchFamily="18" charset="0"/>
                </a:rPr>
                <a:t>SG</a:t>
              </a:r>
              <a:endParaRPr lang="ru-RU" altLang="ru-RU" sz="1200">
                <a:latin typeface="Times New Roman" pitchFamily="18" charset="0"/>
              </a:endParaRPr>
            </a:p>
          </p:txBody>
        </p:sp>
        <p:pic>
          <p:nvPicPr>
            <p:cNvPr id="26663" name="Picture 42" descr="comp05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74" y="2840"/>
              <a:ext cx="189" cy="3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60" name="AutoShape 43"/>
            <p:cNvSpPr>
              <a:spLocks noChangeArrowheads="1"/>
            </p:cNvSpPr>
            <p:nvPr/>
          </p:nvSpPr>
          <p:spPr bwMode="auto">
            <a:xfrm>
              <a:off x="0" y="2296"/>
              <a:ext cx="4672" cy="363"/>
            </a:xfrm>
            <a:prstGeom prst="parallelogram">
              <a:avLst>
                <a:gd name="adj" fmla="val 178817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  <a:effectLst>
              <a:outerShdw dist="144802" dir="22724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sp>
          <p:nvSpPr>
            <p:cNvPr id="26665" name="Text Box 44"/>
            <p:cNvSpPr txBox="1">
              <a:spLocks noChangeArrowheads="1"/>
            </p:cNvSpPr>
            <p:nvPr/>
          </p:nvSpPr>
          <p:spPr bwMode="auto">
            <a:xfrm>
              <a:off x="998" y="2478"/>
              <a:ext cx="31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r>
                <a:rPr lang="en-US" altLang="ru-RU" sz="1200">
                  <a:latin typeface="Times New Roman" pitchFamily="18" charset="0"/>
                </a:rPr>
                <a:t>ATM</a:t>
              </a:r>
              <a:endParaRPr lang="ru-RU" altLang="ru-RU" sz="1200">
                <a:latin typeface="Times New Roman" pitchFamily="18" charset="0"/>
              </a:endParaRPr>
            </a:p>
          </p:txBody>
        </p:sp>
        <p:sp>
          <p:nvSpPr>
            <p:cNvPr id="26666" name="Text Box 45"/>
            <p:cNvSpPr txBox="1">
              <a:spLocks noChangeArrowheads="1"/>
            </p:cNvSpPr>
            <p:nvPr/>
          </p:nvSpPr>
          <p:spPr bwMode="auto">
            <a:xfrm>
              <a:off x="3674" y="2296"/>
              <a:ext cx="45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000" tIns="46800" rIns="18000" bIns="46800">
              <a:spAutoFit/>
            </a:bodyPr>
            <a:lstStyle/>
            <a:p>
              <a:r>
                <a:rPr lang="en-US" altLang="ru-RU" sz="1200">
                  <a:latin typeface="Times New Roman" pitchFamily="18" charset="0"/>
                </a:rPr>
                <a:t>IP/MPLS</a:t>
              </a:r>
              <a:endParaRPr lang="ru-RU" altLang="ru-RU" sz="1200">
                <a:latin typeface="Times New Roman" pitchFamily="18" charset="0"/>
              </a:endParaRPr>
            </a:p>
          </p:txBody>
        </p:sp>
        <p:pic>
          <p:nvPicPr>
            <p:cNvPr id="26667" name="Picture 46" descr="Рисунок4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998" y="2296"/>
              <a:ext cx="1233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68" name="Picture 47" descr="Рисунок5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2585" y="2296"/>
              <a:ext cx="1279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65" name="AutoShape 48"/>
            <p:cNvSpPr>
              <a:spLocks noChangeArrowheads="1"/>
            </p:cNvSpPr>
            <p:nvPr/>
          </p:nvSpPr>
          <p:spPr bwMode="auto">
            <a:xfrm>
              <a:off x="0" y="1751"/>
              <a:ext cx="4672" cy="363"/>
            </a:xfrm>
            <a:prstGeom prst="parallelogram">
              <a:avLst>
                <a:gd name="adj" fmla="val 178817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  <a:effectLst>
              <a:outerShdw dist="144802" dir="22724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pic>
          <p:nvPicPr>
            <p:cNvPr id="26670" name="Picture 49"/>
            <p:cNvPicPr>
              <a:picLocks noChangeAspect="1" noChangeArrowheads="1"/>
            </p:cNvPicPr>
            <p:nvPr/>
          </p:nvPicPr>
          <p:blipFill>
            <a:blip r:embed="rId19" cstate="print"/>
            <a:srcRect/>
            <a:stretch>
              <a:fillRect/>
            </a:stretch>
          </p:blipFill>
          <p:spPr bwMode="auto">
            <a:xfrm>
              <a:off x="725" y="1797"/>
              <a:ext cx="49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71" name="Picture 50" descr="Рисунок6"/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3447" y="1752"/>
              <a:ext cx="234" cy="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72" name="Picture 51" descr="Рисунок7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2404" y="1752"/>
              <a:ext cx="484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73" name="Picture 52" descr="Рисунок8"/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1678" y="1752"/>
              <a:ext cx="29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70" name="AutoShape 53"/>
            <p:cNvSpPr>
              <a:spLocks noChangeArrowheads="1"/>
            </p:cNvSpPr>
            <p:nvPr/>
          </p:nvSpPr>
          <p:spPr bwMode="auto">
            <a:xfrm>
              <a:off x="0" y="1207"/>
              <a:ext cx="4672" cy="363"/>
            </a:xfrm>
            <a:prstGeom prst="parallelogram">
              <a:avLst>
                <a:gd name="adj" fmla="val 178817"/>
              </a:avLst>
            </a:prstGeom>
            <a:solidFill>
              <a:srgbClr val="00CCFF"/>
            </a:solidFill>
            <a:ln w="9525">
              <a:solidFill>
                <a:srgbClr val="00CCFF"/>
              </a:solidFill>
              <a:miter lim="800000"/>
              <a:headEnd/>
              <a:tailEnd/>
            </a:ln>
            <a:effectLst>
              <a:outerShdw dist="144802" dir="22724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ru-RU"/>
            </a:p>
          </p:txBody>
        </p:sp>
        <p:pic>
          <p:nvPicPr>
            <p:cNvPr id="26675" name="Picture 54" descr="Рисунок9"/>
            <p:cNvPicPr>
              <a:picLocks noChangeAspect="1" noChangeArrowheads="1"/>
            </p:cNvPicPr>
            <p:nvPr/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1179" y="1253"/>
              <a:ext cx="384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76" name="Picture 55" descr="Рисунок10"/>
            <p:cNvPicPr>
              <a:picLocks noChangeAspect="1"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2041" y="1207"/>
              <a:ext cx="196" cy="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77" name="Picture 56" descr="Рисунок11"/>
            <p:cNvPicPr>
              <a:picLocks noChangeAspect="1" noChangeArrowheads="1"/>
            </p:cNvPicPr>
            <p:nvPr/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2630" y="1253"/>
              <a:ext cx="407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5" name="Group 57"/>
            <p:cNvGrpSpPr>
              <a:grpSpLocks/>
            </p:cNvGrpSpPr>
            <p:nvPr/>
          </p:nvGrpSpPr>
          <p:grpSpPr bwMode="auto">
            <a:xfrm>
              <a:off x="3311" y="1207"/>
              <a:ext cx="497" cy="379"/>
              <a:chOff x="288" y="3120"/>
              <a:chExt cx="480" cy="399"/>
            </a:xfrm>
          </p:grpSpPr>
          <p:sp>
            <p:nvSpPr>
              <p:cNvPr id="26685" name="AutoShape 58"/>
              <p:cNvSpPr>
                <a:spLocks noChangeArrowheads="1"/>
              </p:cNvSpPr>
              <p:nvPr/>
            </p:nvSpPr>
            <p:spPr bwMode="auto">
              <a:xfrm>
                <a:off x="336" y="3184"/>
                <a:ext cx="336" cy="288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ru-RU"/>
              </a:p>
            </p:txBody>
          </p:sp>
          <p:pic>
            <p:nvPicPr>
              <p:cNvPr id="26686" name="Picture 59" descr="齿轮"/>
              <p:cNvPicPr>
                <a:picLocks noChangeAspect="1" noChangeArrowheads="1"/>
              </p:cNvPicPr>
              <p:nvPr/>
            </p:nvPicPr>
            <p:blipFill>
              <a:blip r:embed="rId2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88" y="3120"/>
                <a:ext cx="480" cy="3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26679" name="Rectangle 60"/>
            <p:cNvSpPr>
              <a:spLocks noChangeArrowheads="1"/>
            </p:cNvSpPr>
            <p:nvPr/>
          </p:nvSpPr>
          <p:spPr bwMode="auto">
            <a:xfrm>
              <a:off x="4835" y="3475"/>
              <a:ext cx="92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r"/>
              <a:r>
                <a:rPr lang="ru-RU" altLang="ru-RU" sz="1400">
                  <a:latin typeface="Times New Roman" pitchFamily="18" charset="0"/>
                </a:rPr>
                <a:t>Уровень доступа</a:t>
              </a:r>
            </a:p>
          </p:txBody>
        </p:sp>
        <p:sp>
          <p:nvSpPr>
            <p:cNvPr id="26680" name="Rectangle 61"/>
            <p:cNvSpPr>
              <a:spLocks noChangeArrowheads="1"/>
            </p:cNvSpPr>
            <p:nvPr/>
          </p:nvSpPr>
          <p:spPr bwMode="auto">
            <a:xfrm>
              <a:off x="4604" y="2886"/>
              <a:ext cx="115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r"/>
              <a:r>
                <a:rPr lang="ru-RU" altLang="ru-RU" sz="1400">
                  <a:latin typeface="Times New Roman" pitchFamily="18" charset="0"/>
                </a:rPr>
                <a:t>Уровень агрегации трафика</a:t>
              </a:r>
            </a:p>
          </p:txBody>
        </p:sp>
        <p:sp>
          <p:nvSpPr>
            <p:cNvPr id="26681" name="Rectangle 62"/>
            <p:cNvSpPr>
              <a:spLocks noChangeArrowheads="1"/>
            </p:cNvSpPr>
            <p:nvPr/>
          </p:nvSpPr>
          <p:spPr bwMode="auto">
            <a:xfrm>
              <a:off x="4676" y="2432"/>
              <a:ext cx="1084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r"/>
              <a:r>
                <a:rPr lang="ru-RU" altLang="ru-RU" sz="1400" dirty="0" smtClean="0">
                  <a:latin typeface="Times New Roman" pitchFamily="18" charset="0"/>
                </a:rPr>
                <a:t>Уровень транспорта</a:t>
              </a:r>
              <a:endParaRPr lang="ru-RU" altLang="ru-RU" sz="1400" dirty="0">
                <a:latin typeface="Times New Roman" pitchFamily="18" charset="0"/>
              </a:endParaRPr>
            </a:p>
          </p:txBody>
        </p:sp>
        <p:sp>
          <p:nvSpPr>
            <p:cNvPr id="26682" name="Rectangle 63"/>
            <p:cNvSpPr>
              <a:spLocks noChangeArrowheads="1"/>
            </p:cNvSpPr>
            <p:nvPr/>
          </p:nvSpPr>
          <p:spPr bwMode="auto">
            <a:xfrm>
              <a:off x="4468" y="1797"/>
              <a:ext cx="1292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algn="r"/>
              <a:r>
                <a:rPr lang="ru-RU" altLang="ru-RU" sz="1400">
                  <a:latin typeface="Times New Roman" pitchFamily="18" charset="0"/>
                </a:rPr>
                <a:t>Уровень управления соединениями</a:t>
              </a:r>
            </a:p>
          </p:txBody>
        </p:sp>
        <p:sp>
          <p:nvSpPr>
            <p:cNvPr id="26683" name="Rectangle 64"/>
            <p:cNvSpPr>
              <a:spLocks noChangeArrowheads="1"/>
            </p:cNvSpPr>
            <p:nvPr/>
          </p:nvSpPr>
          <p:spPr bwMode="auto">
            <a:xfrm>
              <a:off x="4348" y="1298"/>
              <a:ext cx="14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r"/>
              <a:r>
                <a:rPr lang="ru-RU" altLang="ru-RU" sz="1400">
                  <a:latin typeface="Times New Roman" pitchFamily="18" charset="0"/>
                </a:rPr>
                <a:t>Уровень управления сетью</a:t>
              </a:r>
            </a:p>
          </p:txBody>
        </p:sp>
        <p:sp>
          <p:nvSpPr>
            <p:cNvPr id="26684" name="Rectangle 65"/>
            <p:cNvSpPr>
              <a:spLocks noChangeArrowheads="1"/>
            </p:cNvSpPr>
            <p:nvPr/>
          </p:nvSpPr>
          <p:spPr bwMode="auto">
            <a:xfrm>
              <a:off x="4618" y="754"/>
              <a:ext cx="114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r"/>
              <a:r>
                <a:rPr lang="ru-RU" altLang="ru-RU" sz="1400">
                  <a:latin typeface="Times New Roman" pitchFamily="18" charset="0"/>
                </a:rPr>
                <a:t>Уровень</a:t>
              </a:r>
              <a:r>
                <a:rPr lang="en-US" altLang="ru-RU" sz="1400">
                  <a:latin typeface="Times New Roman" pitchFamily="18" charset="0"/>
                </a:rPr>
                <a:t> </a:t>
              </a:r>
              <a:r>
                <a:rPr lang="ru-RU" altLang="ru-RU" sz="1400">
                  <a:latin typeface="Times New Roman" pitchFamily="18" charset="0"/>
                </a:rPr>
                <a:t>приложений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/>
            </a:r>
            <a:br>
              <a:rPr lang="ru-RU" sz="3200" b="1" dirty="0" smtClean="0">
                <a:solidFill>
                  <a:srgbClr val="002060"/>
                </a:solidFill>
              </a:rPr>
            </a:br>
            <a:r>
              <a:rPr lang="ru-RU" sz="3200" b="1" dirty="0" smtClean="0">
                <a:solidFill>
                  <a:srgbClr val="002060"/>
                </a:solidFill>
              </a:rPr>
              <a:t>Базовые положения концепции NGN. </a:t>
            </a:r>
            <a:br>
              <a:rPr lang="ru-RU" sz="3200" b="1" dirty="0" smtClean="0">
                <a:solidFill>
                  <a:srgbClr val="002060"/>
                </a:solidFill>
              </a:rPr>
            </a:b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949280"/>
          </a:xfrm>
        </p:spPr>
        <p:txBody>
          <a:bodyPr/>
          <a:lstStyle/>
          <a:p>
            <a:r>
              <a:rPr lang="ru-RU" b="1" dirty="0"/>
              <a:t>Базовым принципом концепции NGN является отделение друг от </a:t>
            </a:r>
            <a:r>
              <a:rPr lang="ru-RU" b="1" dirty="0" smtClean="0"/>
              <a:t>друга: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    - </a:t>
            </a:r>
            <a:r>
              <a:rPr lang="ru-RU" u="sng" dirty="0"/>
              <a:t>функций переноса и коммутации </a:t>
            </a:r>
            <a:r>
              <a:rPr lang="ru-RU" dirty="0"/>
              <a:t>(прозрачной передачи информации пользователя между сетевыми окончаниями без какого-либо анализа или обработки ее содержания), </a:t>
            </a:r>
            <a:endParaRPr lang="ru-RU" dirty="0" smtClean="0"/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   -</a:t>
            </a:r>
            <a:r>
              <a:rPr lang="ru-RU" u="sng" dirty="0" smtClean="0"/>
              <a:t>функций </a:t>
            </a:r>
            <a:r>
              <a:rPr lang="ru-RU" u="sng" dirty="0"/>
              <a:t>управления вызовами и </a:t>
            </a:r>
            <a:endParaRPr lang="ru-RU" u="sng" dirty="0" smtClean="0"/>
          </a:p>
          <a:p>
            <a:pPr>
              <a:buNone/>
            </a:pPr>
            <a:r>
              <a:rPr lang="ru-RU" dirty="0" smtClean="0"/>
              <a:t>        </a:t>
            </a:r>
            <a:r>
              <a:rPr lang="ru-RU" u="sng" dirty="0" smtClean="0"/>
              <a:t>функций </a:t>
            </a:r>
            <a:r>
              <a:rPr lang="ru-RU" u="sng" dirty="0"/>
              <a:t>управления услугами.</a:t>
            </a:r>
            <a:br>
              <a:rPr lang="ru-RU" u="sng" dirty="0"/>
            </a:br>
            <a:endParaRPr lang="ru-RU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1" name="Rectangle 3"/>
          <p:cNvSpPr>
            <a:spLocks noGrp="1" noChangeArrowheads="1"/>
          </p:cNvSpPr>
          <p:nvPr>
            <p:ph type="title"/>
          </p:nvPr>
        </p:nvSpPr>
        <p:spPr>
          <a:xfrm>
            <a:off x="1336675" y="260350"/>
            <a:ext cx="7772400" cy="792163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ru-RU" smtClean="0">
                <a:solidFill>
                  <a:schemeClr val="tx1"/>
                </a:solidFill>
              </a:rPr>
              <a:t>Общая архитектура </a:t>
            </a:r>
            <a:r>
              <a:rPr lang="en-US" altLang="ru-RU" smtClean="0">
                <a:solidFill>
                  <a:schemeClr val="tx1"/>
                </a:solidFill>
              </a:rPr>
              <a:t>NGN</a:t>
            </a:r>
            <a:endParaRPr lang="ru-RU" altLang="ru-RU" smtClean="0">
              <a:solidFill>
                <a:schemeClr val="tx1"/>
              </a:solidFill>
            </a:endParaRPr>
          </a:p>
        </p:txBody>
      </p:sp>
      <p:sp>
        <p:nvSpPr>
          <p:cNvPr id="27651" name="Line 5"/>
          <p:cNvSpPr>
            <a:spLocks noChangeShapeType="1"/>
          </p:cNvSpPr>
          <p:nvPr/>
        </p:nvSpPr>
        <p:spPr bwMode="auto">
          <a:xfrm flipH="1">
            <a:off x="1657350" y="3213100"/>
            <a:ext cx="64770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52" name="Line 6"/>
          <p:cNvSpPr>
            <a:spLocks noChangeShapeType="1"/>
          </p:cNvSpPr>
          <p:nvPr/>
        </p:nvSpPr>
        <p:spPr bwMode="auto">
          <a:xfrm>
            <a:off x="2449513" y="4652963"/>
            <a:ext cx="215900" cy="5032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53" name="Line 7"/>
          <p:cNvSpPr>
            <a:spLocks noChangeShapeType="1"/>
          </p:cNvSpPr>
          <p:nvPr/>
        </p:nvSpPr>
        <p:spPr bwMode="auto">
          <a:xfrm flipH="1">
            <a:off x="1873250" y="4652963"/>
            <a:ext cx="360363" cy="574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54" name="Line 8"/>
          <p:cNvSpPr>
            <a:spLocks noChangeShapeType="1"/>
          </p:cNvSpPr>
          <p:nvPr/>
        </p:nvSpPr>
        <p:spPr bwMode="auto">
          <a:xfrm flipV="1">
            <a:off x="1944688" y="5229225"/>
            <a:ext cx="576262" cy="714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55" name="Line 9"/>
          <p:cNvSpPr>
            <a:spLocks noChangeShapeType="1"/>
          </p:cNvSpPr>
          <p:nvPr/>
        </p:nvSpPr>
        <p:spPr bwMode="auto">
          <a:xfrm flipH="1">
            <a:off x="2305050" y="4076700"/>
            <a:ext cx="73025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56" name="Line 10"/>
          <p:cNvSpPr>
            <a:spLocks noChangeShapeType="1"/>
          </p:cNvSpPr>
          <p:nvPr/>
        </p:nvSpPr>
        <p:spPr bwMode="auto">
          <a:xfrm flipH="1">
            <a:off x="6194425" y="2420938"/>
            <a:ext cx="144463" cy="28733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57" name="Line 11"/>
          <p:cNvSpPr>
            <a:spLocks noChangeShapeType="1"/>
          </p:cNvSpPr>
          <p:nvPr/>
        </p:nvSpPr>
        <p:spPr bwMode="auto">
          <a:xfrm flipH="1">
            <a:off x="6553200" y="2852738"/>
            <a:ext cx="217488" cy="7143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58" name="Line 12"/>
          <p:cNvSpPr>
            <a:spLocks noChangeShapeType="1"/>
          </p:cNvSpPr>
          <p:nvPr/>
        </p:nvSpPr>
        <p:spPr bwMode="auto">
          <a:xfrm flipH="1">
            <a:off x="6626225" y="3068638"/>
            <a:ext cx="504825" cy="7143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59" name="Line 13"/>
          <p:cNvSpPr>
            <a:spLocks noChangeShapeType="1"/>
          </p:cNvSpPr>
          <p:nvPr/>
        </p:nvSpPr>
        <p:spPr bwMode="auto">
          <a:xfrm flipH="1">
            <a:off x="4176713" y="4076700"/>
            <a:ext cx="73025" cy="115252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ru-RU"/>
          </a:p>
        </p:txBody>
      </p:sp>
      <p:sp>
        <p:nvSpPr>
          <p:cNvPr id="27660" name="Line 14"/>
          <p:cNvSpPr>
            <a:spLocks noChangeShapeType="1"/>
          </p:cNvSpPr>
          <p:nvPr/>
        </p:nvSpPr>
        <p:spPr bwMode="auto">
          <a:xfrm flipH="1">
            <a:off x="3386138" y="4076700"/>
            <a:ext cx="431800" cy="8636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ru-RU"/>
          </a:p>
        </p:txBody>
      </p:sp>
      <p:sp>
        <p:nvSpPr>
          <p:cNvPr id="27661" name="Line 15"/>
          <p:cNvSpPr>
            <a:spLocks noChangeShapeType="1"/>
          </p:cNvSpPr>
          <p:nvPr/>
        </p:nvSpPr>
        <p:spPr bwMode="auto">
          <a:xfrm>
            <a:off x="3025775" y="2779713"/>
            <a:ext cx="215900" cy="28892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62" name="Line 16"/>
          <p:cNvSpPr>
            <a:spLocks noChangeShapeType="1"/>
          </p:cNvSpPr>
          <p:nvPr/>
        </p:nvSpPr>
        <p:spPr bwMode="auto">
          <a:xfrm flipH="1">
            <a:off x="4826000" y="2420938"/>
            <a:ext cx="144463" cy="431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63" name="Line 17"/>
          <p:cNvSpPr>
            <a:spLocks noChangeShapeType="1"/>
          </p:cNvSpPr>
          <p:nvPr/>
        </p:nvSpPr>
        <p:spPr bwMode="auto">
          <a:xfrm flipH="1">
            <a:off x="4897438" y="4579938"/>
            <a:ext cx="71437" cy="93662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ru-RU"/>
          </a:p>
        </p:txBody>
      </p:sp>
      <p:sp>
        <p:nvSpPr>
          <p:cNvPr id="27664" name="Line 18"/>
          <p:cNvSpPr>
            <a:spLocks noChangeShapeType="1"/>
          </p:cNvSpPr>
          <p:nvPr/>
        </p:nvSpPr>
        <p:spPr bwMode="auto">
          <a:xfrm>
            <a:off x="4968875" y="4579938"/>
            <a:ext cx="503238" cy="43338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ru-RU"/>
          </a:p>
        </p:txBody>
      </p:sp>
      <p:sp>
        <p:nvSpPr>
          <p:cNvPr id="27665" name="Line 19"/>
          <p:cNvSpPr>
            <a:spLocks noChangeShapeType="1"/>
          </p:cNvSpPr>
          <p:nvPr/>
        </p:nvSpPr>
        <p:spPr bwMode="auto">
          <a:xfrm>
            <a:off x="5976938" y="3932238"/>
            <a:ext cx="576262" cy="1296987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ru-RU"/>
          </a:p>
        </p:txBody>
      </p:sp>
      <p:sp>
        <p:nvSpPr>
          <p:cNvPr id="27666" name="Line 20"/>
          <p:cNvSpPr>
            <a:spLocks noChangeShapeType="1"/>
          </p:cNvSpPr>
          <p:nvPr/>
        </p:nvSpPr>
        <p:spPr bwMode="auto">
          <a:xfrm>
            <a:off x="6337300" y="3716338"/>
            <a:ext cx="647700" cy="93662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ru-RU"/>
          </a:p>
        </p:txBody>
      </p:sp>
      <p:sp>
        <p:nvSpPr>
          <p:cNvPr id="27667" name="Line 21"/>
          <p:cNvSpPr>
            <a:spLocks noChangeShapeType="1"/>
          </p:cNvSpPr>
          <p:nvPr/>
        </p:nvSpPr>
        <p:spPr bwMode="auto">
          <a:xfrm>
            <a:off x="6624638" y="3571875"/>
            <a:ext cx="720725" cy="504825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ru-RU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7777163" y="3932238"/>
            <a:ext cx="288925" cy="431800"/>
            <a:chOff x="4830" y="1797"/>
            <a:chExt cx="182" cy="272"/>
          </a:xfrm>
        </p:grpSpPr>
        <p:sp>
          <p:nvSpPr>
            <p:cNvPr id="28454" name="Line 23"/>
            <p:cNvSpPr>
              <a:spLocks noChangeShapeType="1"/>
            </p:cNvSpPr>
            <p:nvPr/>
          </p:nvSpPr>
          <p:spPr bwMode="auto">
            <a:xfrm>
              <a:off x="4921" y="1797"/>
              <a:ext cx="0" cy="27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28455" name="Line 24"/>
            <p:cNvSpPr>
              <a:spLocks noChangeShapeType="1"/>
            </p:cNvSpPr>
            <p:nvPr/>
          </p:nvSpPr>
          <p:spPr bwMode="auto">
            <a:xfrm>
              <a:off x="4830" y="1888"/>
              <a:ext cx="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28456" name="Line 25"/>
            <p:cNvSpPr>
              <a:spLocks noChangeShapeType="1"/>
            </p:cNvSpPr>
            <p:nvPr/>
          </p:nvSpPr>
          <p:spPr bwMode="auto">
            <a:xfrm>
              <a:off x="4921" y="1842"/>
              <a:ext cx="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28457" name="Line 26"/>
            <p:cNvSpPr>
              <a:spLocks noChangeShapeType="1"/>
            </p:cNvSpPr>
            <p:nvPr/>
          </p:nvSpPr>
          <p:spPr bwMode="auto">
            <a:xfrm>
              <a:off x="4921" y="2024"/>
              <a:ext cx="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</p:grpSp>
      <p:sp>
        <p:nvSpPr>
          <p:cNvPr id="27669" name="Line 27"/>
          <p:cNvSpPr>
            <a:spLocks noChangeShapeType="1"/>
          </p:cNvSpPr>
          <p:nvPr/>
        </p:nvSpPr>
        <p:spPr bwMode="auto">
          <a:xfrm flipH="1">
            <a:off x="2593975" y="3644900"/>
            <a:ext cx="436563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70" name="Freeform 28"/>
          <p:cNvSpPr>
            <a:spLocks/>
          </p:cNvSpPr>
          <p:nvPr/>
        </p:nvSpPr>
        <p:spPr bwMode="auto">
          <a:xfrm>
            <a:off x="2881313" y="2636838"/>
            <a:ext cx="3889375" cy="1582737"/>
          </a:xfrm>
          <a:custGeom>
            <a:avLst/>
            <a:gdLst>
              <a:gd name="T0" fmla="*/ 171759932 w 7941"/>
              <a:gd name="T1" fmla="*/ 220787038 h 3775"/>
              <a:gd name="T2" fmla="*/ 0 w 7941"/>
              <a:gd name="T3" fmla="*/ 311667982 h 3775"/>
              <a:gd name="T4" fmla="*/ 94995579 w 7941"/>
              <a:gd name="T5" fmla="*/ 390419924 h 3775"/>
              <a:gd name="T6" fmla="*/ 94036093 w 7941"/>
              <a:gd name="T7" fmla="*/ 389365465 h 3775"/>
              <a:gd name="T8" fmla="*/ 41740380 w 7941"/>
              <a:gd name="T9" fmla="*/ 451593741 h 3775"/>
              <a:gd name="T10" fmla="*/ 234130975 w 7941"/>
              <a:gd name="T11" fmla="*/ 542299013 h 3775"/>
              <a:gd name="T12" fmla="*/ 256680626 w 7941"/>
              <a:gd name="T13" fmla="*/ 541947247 h 3775"/>
              <a:gd name="T14" fmla="*/ 255721139 w 7941"/>
              <a:gd name="T15" fmla="*/ 542299013 h 3775"/>
              <a:gd name="T16" fmla="*/ 551263792 w 7941"/>
              <a:gd name="T17" fmla="*/ 623863404 h 3775"/>
              <a:gd name="T18" fmla="*/ 726382112 w 7941"/>
              <a:gd name="T19" fmla="*/ 600659856 h 3775"/>
              <a:gd name="T20" fmla="*/ 725902124 w 7941"/>
              <a:gd name="T21" fmla="*/ 600659856 h 3775"/>
              <a:gd name="T22" fmla="*/ 973706824 w 7941"/>
              <a:gd name="T23" fmla="*/ 663591140 h 3775"/>
              <a:gd name="T24" fmla="*/ 1258694206 w 7941"/>
              <a:gd name="T25" fmla="*/ 563041876 h 3775"/>
              <a:gd name="T26" fmla="*/ 1258694206 w 7941"/>
              <a:gd name="T27" fmla="*/ 564096335 h 3775"/>
              <a:gd name="T28" fmla="*/ 1393991134 w 7941"/>
              <a:gd name="T29" fmla="*/ 582378096 h 3775"/>
              <a:gd name="T30" fmla="*/ 1649232224 w 7941"/>
              <a:gd name="T31" fmla="*/ 462492193 h 3775"/>
              <a:gd name="T32" fmla="*/ 1648753215 w 7941"/>
              <a:gd name="T33" fmla="*/ 462140846 h 3775"/>
              <a:gd name="T34" fmla="*/ 1904953302 w 7941"/>
              <a:gd name="T35" fmla="*/ 321863741 h 3775"/>
              <a:gd name="T36" fmla="*/ 1843542236 w 7941"/>
              <a:gd name="T37" fmla="*/ 235552817 h 3775"/>
              <a:gd name="T38" fmla="*/ 1842582259 w 7941"/>
              <a:gd name="T39" fmla="*/ 235552817 h 3775"/>
              <a:gd name="T40" fmla="*/ 1861773952 w 7941"/>
              <a:gd name="T41" fmla="*/ 191255007 h 3775"/>
              <a:gd name="T42" fmla="*/ 1688574606 w 7941"/>
              <a:gd name="T43" fmla="*/ 83674174 h 3775"/>
              <a:gd name="T44" fmla="*/ 1689053615 w 7941"/>
              <a:gd name="T45" fmla="*/ 83322408 h 3775"/>
              <a:gd name="T46" fmla="*/ 1478431839 w 7941"/>
              <a:gd name="T47" fmla="*/ 0 h 3775"/>
              <a:gd name="T48" fmla="*/ 1314828340 w 7941"/>
              <a:gd name="T49" fmla="*/ 35860422 h 3775"/>
              <a:gd name="T50" fmla="*/ 1315308328 w 7941"/>
              <a:gd name="T51" fmla="*/ 35860422 h 3775"/>
              <a:gd name="T52" fmla="*/ 1162259672 w 7941"/>
              <a:gd name="T53" fmla="*/ 0 h 3775"/>
              <a:gd name="T54" fmla="*/ 990019567 w 7941"/>
              <a:gd name="T55" fmla="*/ 50626201 h 3775"/>
              <a:gd name="T56" fmla="*/ 990499066 w 7941"/>
              <a:gd name="T57" fmla="*/ 52032426 h 3775"/>
              <a:gd name="T58" fmla="*/ 825456091 w 7941"/>
              <a:gd name="T59" fmla="*/ 20039758 h 3775"/>
              <a:gd name="T60" fmla="*/ 617952770 w 7941"/>
              <a:gd name="T61" fmla="*/ 79103734 h 3775"/>
              <a:gd name="T62" fmla="*/ 616993283 w 7941"/>
              <a:gd name="T63" fmla="*/ 80158193 h 3775"/>
              <a:gd name="T64" fmla="*/ 466342976 w 7941"/>
              <a:gd name="T65" fmla="*/ 60470207 h 3775"/>
              <a:gd name="T66" fmla="*/ 168881472 w 7941"/>
              <a:gd name="T67" fmla="*/ 201802112 h 3775"/>
              <a:gd name="T68" fmla="*/ 171280434 w 7941"/>
              <a:gd name="T69" fmla="*/ 220787038 h 3775"/>
              <a:gd name="T70" fmla="*/ 171759932 w 7941"/>
              <a:gd name="T71" fmla="*/ 220787038 h 377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941"/>
              <a:gd name="T109" fmla="*/ 0 h 3775"/>
              <a:gd name="T110" fmla="*/ 7941 w 7941"/>
              <a:gd name="T111" fmla="*/ 3775 h 3775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7941" h="3775">
                <a:moveTo>
                  <a:pt x="716" y="1256"/>
                </a:moveTo>
                <a:cubicBezTo>
                  <a:pt x="310" y="1282"/>
                  <a:pt x="0" y="1507"/>
                  <a:pt x="0" y="1773"/>
                </a:cubicBezTo>
                <a:cubicBezTo>
                  <a:pt x="0" y="1957"/>
                  <a:pt x="150" y="2129"/>
                  <a:pt x="396" y="2221"/>
                </a:cubicBezTo>
                <a:lnTo>
                  <a:pt x="392" y="2215"/>
                </a:lnTo>
                <a:cubicBezTo>
                  <a:pt x="252" y="2311"/>
                  <a:pt x="174" y="2437"/>
                  <a:pt x="174" y="2569"/>
                </a:cubicBezTo>
                <a:cubicBezTo>
                  <a:pt x="174" y="2855"/>
                  <a:pt x="534" y="3085"/>
                  <a:pt x="976" y="3085"/>
                </a:cubicBezTo>
                <a:cubicBezTo>
                  <a:pt x="1008" y="3085"/>
                  <a:pt x="1038" y="3085"/>
                  <a:pt x="1070" y="3083"/>
                </a:cubicBezTo>
                <a:lnTo>
                  <a:pt x="1066" y="3085"/>
                </a:lnTo>
                <a:cubicBezTo>
                  <a:pt x="1318" y="3373"/>
                  <a:pt x="1788" y="3549"/>
                  <a:pt x="2298" y="3549"/>
                </a:cubicBezTo>
                <a:cubicBezTo>
                  <a:pt x="2554" y="3549"/>
                  <a:pt x="2808" y="3503"/>
                  <a:pt x="3028" y="3417"/>
                </a:cubicBezTo>
                <a:lnTo>
                  <a:pt x="3026" y="3417"/>
                </a:lnTo>
                <a:cubicBezTo>
                  <a:pt x="3256" y="3641"/>
                  <a:pt x="3645" y="3775"/>
                  <a:pt x="4059" y="3775"/>
                </a:cubicBezTo>
                <a:cubicBezTo>
                  <a:pt x="4605" y="3775"/>
                  <a:pt x="5089" y="3543"/>
                  <a:pt x="5247" y="3203"/>
                </a:cubicBezTo>
                <a:lnTo>
                  <a:pt x="5247" y="3209"/>
                </a:lnTo>
                <a:cubicBezTo>
                  <a:pt x="5417" y="3277"/>
                  <a:pt x="5611" y="3313"/>
                  <a:pt x="5811" y="3313"/>
                </a:cubicBezTo>
                <a:cubicBezTo>
                  <a:pt x="6395" y="3313"/>
                  <a:pt x="6871" y="3009"/>
                  <a:pt x="6875" y="2631"/>
                </a:cubicBezTo>
                <a:lnTo>
                  <a:pt x="6873" y="2629"/>
                </a:lnTo>
                <a:cubicBezTo>
                  <a:pt x="7485" y="2573"/>
                  <a:pt x="7941" y="2233"/>
                  <a:pt x="7941" y="1831"/>
                </a:cubicBezTo>
                <a:cubicBezTo>
                  <a:pt x="7941" y="1653"/>
                  <a:pt x="7851" y="1481"/>
                  <a:pt x="7685" y="1340"/>
                </a:cubicBezTo>
                <a:lnTo>
                  <a:pt x="7681" y="1340"/>
                </a:lnTo>
                <a:cubicBezTo>
                  <a:pt x="7733" y="1260"/>
                  <a:pt x="7761" y="1174"/>
                  <a:pt x="7761" y="1088"/>
                </a:cubicBezTo>
                <a:cubicBezTo>
                  <a:pt x="7761" y="802"/>
                  <a:pt x="7465" y="550"/>
                  <a:pt x="7039" y="476"/>
                </a:cubicBezTo>
                <a:lnTo>
                  <a:pt x="7041" y="474"/>
                </a:lnTo>
                <a:cubicBezTo>
                  <a:pt x="6965" y="200"/>
                  <a:pt x="6595" y="0"/>
                  <a:pt x="6163" y="0"/>
                </a:cubicBezTo>
                <a:cubicBezTo>
                  <a:pt x="5901" y="0"/>
                  <a:pt x="5651" y="74"/>
                  <a:pt x="5481" y="204"/>
                </a:cubicBezTo>
                <a:lnTo>
                  <a:pt x="5483" y="204"/>
                </a:lnTo>
                <a:cubicBezTo>
                  <a:pt x="5331" y="76"/>
                  <a:pt x="5095" y="0"/>
                  <a:pt x="4845" y="0"/>
                </a:cubicBezTo>
                <a:cubicBezTo>
                  <a:pt x="4541" y="0"/>
                  <a:pt x="4263" y="112"/>
                  <a:pt x="4127" y="288"/>
                </a:cubicBezTo>
                <a:lnTo>
                  <a:pt x="4129" y="296"/>
                </a:lnTo>
                <a:cubicBezTo>
                  <a:pt x="3947" y="180"/>
                  <a:pt x="3699" y="114"/>
                  <a:pt x="3441" y="114"/>
                </a:cubicBezTo>
                <a:cubicBezTo>
                  <a:pt x="3078" y="114"/>
                  <a:pt x="2746" y="244"/>
                  <a:pt x="2576" y="450"/>
                </a:cubicBezTo>
                <a:lnTo>
                  <a:pt x="2572" y="456"/>
                </a:lnTo>
                <a:cubicBezTo>
                  <a:pt x="2382" y="382"/>
                  <a:pt x="2166" y="344"/>
                  <a:pt x="1944" y="344"/>
                </a:cubicBezTo>
                <a:cubicBezTo>
                  <a:pt x="1258" y="344"/>
                  <a:pt x="704" y="704"/>
                  <a:pt x="704" y="1148"/>
                </a:cubicBezTo>
                <a:cubicBezTo>
                  <a:pt x="702" y="1184"/>
                  <a:pt x="706" y="1220"/>
                  <a:pt x="714" y="1256"/>
                </a:cubicBezTo>
                <a:lnTo>
                  <a:pt x="716" y="1256"/>
                </a:lnTo>
                <a:close/>
              </a:path>
            </a:pathLst>
          </a:custGeom>
          <a:gradFill rotWithShape="1">
            <a:gsLst>
              <a:gs pos="0">
                <a:srgbClr val="CCFFFF"/>
              </a:gs>
              <a:gs pos="100000">
                <a:srgbClr val="66FFFF"/>
              </a:gs>
            </a:gsLst>
            <a:path path="rect">
              <a:fillToRect l="50000" t="50000" r="50000" b="50000"/>
            </a:path>
          </a:gra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7671" name="Freeform 29"/>
          <p:cNvSpPr>
            <a:spLocks/>
          </p:cNvSpPr>
          <p:nvPr/>
        </p:nvSpPr>
        <p:spPr bwMode="auto">
          <a:xfrm>
            <a:off x="4995863" y="2460625"/>
            <a:ext cx="2344737" cy="1555750"/>
          </a:xfrm>
          <a:custGeom>
            <a:avLst/>
            <a:gdLst>
              <a:gd name="T0" fmla="*/ 0 w 1477"/>
              <a:gd name="T1" fmla="*/ 0 h 980"/>
              <a:gd name="T2" fmla="*/ 2147483647 w 1477"/>
              <a:gd name="T3" fmla="*/ 2147483647 h 980"/>
              <a:gd name="T4" fmla="*/ 0 60000 65536"/>
              <a:gd name="T5" fmla="*/ 0 60000 65536"/>
              <a:gd name="T6" fmla="*/ 0 w 1477"/>
              <a:gd name="T7" fmla="*/ 0 h 980"/>
              <a:gd name="T8" fmla="*/ 1477 w 1477"/>
              <a:gd name="T9" fmla="*/ 980 h 9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77" h="980">
                <a:moveTo>
                  <a:pt x="0" y="0"/>
                </a:moveTo>
                <a:lnTo>
                  <a:pt x="1477" y="980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72" name="Freeform 30"/>
          <p:cNvSpPr>
            <a:spLocks/>
          </p:cNvSpPr>
          <p:nvPr/>
        </p:nvSpPr>
        <p:spPr bwMode="auto">
          <a:xfrm>
            <a:off x="4995863" y="2470150"/>
            <a:ext cx="1990725" cy="2182813"/>
          </a:xfrm>
          <a:custGeom>
            <a:avLst/>
            <a:gdLst>
              <a:gd name="T0" fmla="*/ 0 w 1260"/>
              <a:gd name="T1" fmla="*/ 0 h 1344"/>
              <a:gd name="T2" fmla="*/ 2147483647 w 1260"/>
              <a:gd name="T3" fmla="*/ 2147483647 h 1344"/>
              <a:gd name="T4" fmla="*/ 0 60000 65536"/>
              <a:gd name="T5" fmla="*/ 0 60000 65536"/>
              <a:gd name="T6" fmla="*/ 0 w 1260"/>
              <a:gd name="T7" fmla="*/ 0 h 1344"/>
              <a:gd name="T8" fmla="*/ 1260 w 1260"/>
              <a:gd name="T9" fmla="*/ 1344 h 134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60" h="1344">
                <a:moveTo>
                  <a:pt x="0" y="0"/>
                </a:moveTo>
                <a:lnTo>
                  <a:pt x="1260" y="1344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73" name="Freeform 31"/>
          <p:cNvSpPr>
            <a:spLocks/>
          </p:cNvSpPr>
          <p:nvPr/>
        </p:nvSpPr>
        <p:spPr bwMode="auto">
          <a:xfrm>
            <a:off x="4995863" y="2470150"/>
            <a:ext cx="1571625" cy="2781300"/>
          </a:xfrm>
          <a:custGeom>
            <a:avLst/>
            <a:gdLst>
              <a:gd name="T0" fmla="*/ 0 w 990"/>
              <a:gd name="T1" fmla="*/ 0 h 1752"/>
              <a:gd name="T2" fmla="*/ 2147483647 w 990"/>
              <a:gd name="T3" fmla="*/ 2147483647 h 1752"/>
              <a:gd name="T4" fmla="*/ 0 60000 65536"/>
              <a:gd name="T5" fmla="*/ 0 60000 65536"/>
              <a:gd name="T6" fmla="*/ 0 w 990"/>
              <a:gd name="T7" fmla="*/ 0 h 1752"/>
              <a:gd name="T8" fmla="*/ 990 w 990"/>
              <a:gd name="T9" fmla="*/ 1752 h 17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90" h="1752">
                <a:moveTo>
                  <a:pt x="0" y="0"/>
                </a:moveTo>
                <a:lnTo>
                  <a:pt x="990" y="1752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74" name="Freeform 32"/>
          <p:cNvSpPr>
            <a:spLocks/>
          </p:cNvSpPr>
          <p:nvPr/>
        </p:nvSpPr>
        <p:spPr bwMode="auto">
          <a:xfrm>
            <a:off x="4995863" y="2460625"/>
            <a:ext cx="495300" cy="2495550"/>
          </a:xfrm>
          <a:custGeom>
            <a:avLst/>
            <a:gdLst>
              <a:gd name="T0" fmla="*/ 0 w 312"/>
              <a:gd name="T1" fmla="*/ 0 h 1572"/>
              <a:gd name="T2" fmla="*/ 786288641 w 312"/>
              <a:gd name="T3" fmla="*/ 2147483647 h 1572"/>
              <a:gd name="T4" fmla="*/ 0 60000 65536"/>
              <a:gd name="T5" fmla="*/ 0 60000 65536"/>
              <a:gd name="T6" fmla="*/ 0 w 312"/>
              <a:gd name="T7" fmla="*/ 0 h 1572"/>
              <a:gd name="T8" fmla="*/ 312 w 312"/>
              <a:gd name="T9" fmla="*/ 1572 h 157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2" h="1572">
                <a:moveTo>
                  <a:pt x="0" y="0"/>
                </a:moveTo>
                <a:lnTo>
                  <a:pt x="312" y="1572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75" name="Freeform 33"/>
          <p:cNvSpPr>
            <a:spLocks/>
          </p:cNvSpPr>
          <p:nvPr/>
        </p:nvSpPr>
        <p:spPr bwMode="auto">
          <a:xfrm>
            <a:off x="4826000" y="2451100"/>
            <a:ext cx="169863" cy="2921000"/>
          </a:xfrm>
          <a:custGeom>
            <a:avLst/>
            <a:gdLst>
              <a:gd name="T0" fmla="*/ 269658329 w 107"/>
              <a:gd name="T1" fmla="*/ 0 h 1840"/>
              <a:gd name="T2" fmla="*/ 0 w 107"/>
              <a:gd name="T3" fmla="*/ 2147483647 h 1840"/>
              <a:gd name="T4" fmla="*/ 0 60000 65536"/>
              <a:gd name="T5" fmla="*/ 0 60000 65536"/>
              <a:gd name="T6" fmla="*/ 0 w 107"/>
              <a:gd name="T7" fmla="*/ 0 h 1840"/>
              <a:gd name="T8" fmla="*/ 107 w 107"/>
              <a:gd name="T9" fmla="*/ 1840 h 18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" h="1840">
                <a:moveTo>
                  <a:pt x="107" y="0"/>
                </a:moveTo>
                <a:lnTo>
                  <a:pt x="0" y="1840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76" name="Freeform 34"/>
          <p:cNvSpPr>
            <a:spLocks/>
          </p:cNvSpPr>
          <p:nvPr/>
        </p:nvSpPr>
        <p:spPr bwMode="auto">
          <a:xfrm>
            <a:off x="4113213" y="2451100"/>
            <a:ext cx="873125" cy="2695575"/>
          </a:xfrm>
          <a:custGeom>
            <a:avLst/>
            <a:gdLst>
              <a:gd name="T0" fmla="*/ 1386085719 w 550"/>
              <a:gd name="T1" fmla="*/ 0 h 1698"/>
              <a:gd name="T2" fmla="*/ 0 w 550"/>
              <a:gd name="T3" fmla="*/ 2147483647 h 1698"/>
              <a:gd name="T4" fmla="*/ 0 60000 65536"/>
              <a:gd name="T5" fmla="*/ 0 60000 65536"/>
              <a:gd name="T6" fmla="*/ 0 w 550"/>
              <a:gd name="T7" fmla="*/ 0 h 1698"/>
              <a:gd name="T8" fmla="*/ 550 w 550"/>
              <a:gd name="T9" fmla="*/ 1698 h 169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50" h="1698">
                <a:moveTo>
                  <a:pt x="550" y="0"/>
                </a:moveTo>
                <a:lnTo>
                  <a:pt x="0" y="169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77" name="Line 35"/>
          <p:cNvSpPr>
            <a:spLocks noChangeShapeType="1"/>
          </p:cNvSpPr>
          <p:nvPr/>
        </p:nvSpPr>
        <p:spPr bwMode="auto">
          <a:xfrm flipH="1">
            <a:off x="1979613" y="3932238"/>
            <a:ext cx="287337" cy="714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78" name="Text Box 37"/>
          <p:cNvSpPr txBox="1">
            <a:spLocks noChangeArrowheads="1"/>
          </p:cNvSpPr>
          <p:nvPr/>
        </p:nvSpPr>
        <p:spPr bwMode="auto">
          <a:xfrm>
            <a:off x="4465638" y="3284538"/>
            <a:ext cx="9175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en-US" altLang="ru-RU" sz="1200" b="1">
                <a:latin typeface="Times New Roman" pitchFamily="18" charset="0"/>
              </a:rPr>
              <a:t>IP</a:t>
            </a:r>
            <a:r>
              <a:rPr lang="ru-RU" altLang="ru-RU" sz="1200" b="1">
                <a:latin typeface="Times New Roman" pitchFamily="18" charset="0"/>
              </a:rPr>
              <a:t> сеть КТ</a:t>
            </a:r>
            <a:endParaRPr lang="en-US" altLang="ru-RU" sz="1200" b="1">
              <a:latin typeface="Times New Roman" pitchFamily="18" charset="0"/>
            </a:endParaRPr>
          </a:p>
        </p:txBody>
      </p:sp>
      <p:sp>
        <p:nvSpPr>
          <p:cNvPr id="27679" name="Text Box 38"/>
          <p:cNvSpPr txBox="1">
            <a:spLocks noChangeArrowheads="1"/>
          </p:cNvSpPr>
          <p:nvPr/>
        </p:nvSpPr>
        <p:spPr bwMode="auto">
          <a:xfrm>
            <a:off x="5402263" y="1989138"/>
            <a:ext cx="50323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Soft</a:t>
            </a:r>
          </a:p>
          <a:p>
            <a:pPr algn="ctr"/>
            <a:r>
              <a:rPr lang="en-US" altLang="ru-RU" sz="1000">
                <a:latin typeface="Times New Roman" pitchFamily="18" charset="0"/>
              </a:rPr>
              <a:t>Switch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680" name="Text Box 39"/>
          <p:cNvSpPr txBox="1">
            <a:spLocks noChangeArrowheads="1"/>
          </p:cNvSpPr>
          <p:nvPr/>
        </p:nvSpPr>
        <p:spPr bwMode="auto">
          <a:xfrm flipH="1">
            <a:off x="5548313" y="5732463"/>
            <a:ext cx="73818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MGCP/SIP-Phone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681" name="Text Box 41"/>
          <p:cNvSpPr txBox="1">
            <a:spLocks noChangeArrowheads="1"/>
          </p:cNvSpPr>
          <p:nvPr/>
        </p:nvSpPr>
        <p:spPr bwMode="auto">
          <a:xfrm flipH="1">
            <a:off x="2089150" y="3500438"/>
            <a:ext cx="288925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MG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682" name="Freeform 42"/>
          <p:cNvSpPr>
            <a:spLocks/>
          </p:cNvSpPr>
          <p:nvPr/>
        </p:nvSpPr>
        <p:spPr bwMode="auto">
          <a:xfrm>
            <a:off x="1042988" y="3571875"/>
            <a:ext cx="1008062" cy="790575"/>
          </a:xfrm>
          <a:custGeom>
            <a:avLst/>
            <a:gdLst>
              <a:gd name="T0" fmla="*/ 11538192 w 7941"/>
              <a:gd name="T1" fmla="*/ 55086021 h 3775"/>
              <a:gd name="T2" fmla="*/ 0 w 7941"/>
              <a:gd name="T3" fmla="*/ 77760754 h 3775"/>
              <a:gd name="T4" fmla="*/ 6381473 w 7941"/>
              <a:gd name="T5" fmla="*/ 97409312 h 3775"/>
              <a:gd name="T6" fmla="*/ 6316986 w 7941"/>
              <a:gd name="T7" fmla="*/ 97146276 h 3775"/>
              <a:gd name="T8" fmla="*/ 2803939 w 7941"/>
              <a:gd name="T9" fmla="*/ 112672144 h 3775"/>
              <a:gd name="T10" fmla="*/ 15727976 w 7941"/>
              <a:gd name="T11" fmla="*/ 135303107 h 3775"/>
              <a:gd name="T12" fmla="*/ 17242802 w 7941"/>
              <a:gd name="T13" fmla="*/ 135215358 h 3775"/>
              <a:gd name="T14" fmla="*/ 17178314 w 7941"/>
              <a:gd name="T15" fmla="*/ 135303107 h 3775"/>
              <a:gd name="T16" fmla="*/ 37031718 w 7941"/>
              <a:gd name="T17" fmla="*/ 155653235 h 3775"/>
              <a:gd name="T18" fmla="*/ 48795486 w 7941"/>
              <a:gd name="T19" fmla="*/ 149863924 h 3775"/>
              <a:gd name="T20" fmla="*/ 48763242 w 7941"/>
              <a:gd name="T21" fmla="*/ 149863924 h 3775"/>
              <a:gd name="T22" fmla="*/ 65409907 w 7941"/>
              <a:gd name="T23" fmla="*/ 165565263 h 3775"/>
              <a:gd name="T24" fmla="*/ 84554210 w 7941"/>
              <a:gd name="T25" fmla="*/ 140478387 h 3775"/>
              <a:gd name="T26" fmla="*/ 84554210 w 7941"/>
              <a:gd name="T27" fmla="*/ 140741424 h 3775"/>
              <a:gd name="T28" fmla="*/ 93642888 w 7941"/>
              <a:gd name="T29" fmla="*/ 145302674 h 3775"/>
              <a:gd name="T30" fmla="*/ 110789078 w 7941"/>
              <a:gd name="T31" fmla="*/ 115391302 h 3775"/>
              <a:gd name="T32" fmla="*/ 110756834 w 7941"/>
              <a:gd name="T33" fmla="*/ 115303554 h 3775"/>
              <a:gd name="T34" fmla="*/ 127967384 w 7941"/>
              <a:gd name="T35" fmla="*/ 80304624 h 3775"/>
              <a:gd name="T36" fmla="*/ 123841960 w 7941"/>
              <a:gd name="T37" fmla="*/ 58770205 h 3775"/>
              <a:gd name="T38" fmla="*/ 123777600 w 7941"/>
              <a:gd name="T39" fmla="*/ 58770205 h 3775"/>
              <a:gd name="T40" fmla="*/ 125066715 w 7941"/>
              <a:gd name="T41" fmla="*/ 47717851 h 3775"/>
              <a:gd name="T42" fmla="*/ 113431923 w 7941"/>
              <a:gd name="T43" fmla="*/ 20876626 h 3775"/>
              <a:gd name="T44" fmla="*/ 113464040 w 7941"/>
              <a:gd name="T45" fmla="*/ 20788878 h 3775"/>
              <a:gd name="T46" fmla="*/ 99315377 w 7941"/>
              <a:gd name="T47" fmla="*/ 0 h 3775"/>
              <a:gd name="T48" fmla="*/ 88325080 w 7941"/>
              <a:gd name="T49" fmla="*/ 8947006 h 3775"/>
              <a:gd name="T50" fmla="*/ 88357323 w 7941"/>
              <a:gd name="T51" fmla="*/ 8947006 h 3775"/>
              <a:gd name="T52" fmla="*/ 78076008 w 7941"/>
              <a:gd name="T53" fmla="*/ 0 h 3775"/>
              <a:gd name="T54" fmla="*/ 66505687 w 7941"/>
              <a:gd name="T55" fmla="*/ 12631190 h 3775"/>
              <a:gd name="T56" fmla="*/ 66537931 w 7941"/>
              <a:gd name="T57" fmla="*/ 12981974 h 3775"/>
              <a:gd name="T58" fmla="*/ 55450902 w 7941"/>
              <a:gd name="T59" fmla="*/ 4999785 h 3775"/>
              <a:gd name="T60" fmla="*/ 41511697 w 7941"/>
              <a:gd name="T61" fmla="*/ 19736314 h 3775"/>
              <a:gd name="T62" fmla="*/ 41447209 w 7941"/>
              <a:gd name="T63" fmla="*/ 19999350 h 3775"/>
              <a:gd name="T64" fmla="*/ 31327104 w 7941"/>
              <a:gd name="T65" fmla="*/ 15087315 h 3775"/>
              <a:gd name="T66" fmla="*/ 11344856 w 7941"/>
              <a:gd name="T67" fmla="*/ 50349471 h 3775"/>
              <a:gd name="T68" fmla="*/ 11505948 w 7941"/>
              <a:gd name="T69" fmla="*/ 55086021 h 3775"/>
              <a:gd name="T70" fmla="*/ 11538192 w 7941"/>
              <a:gd name="T71" fmla="*/ 55086021 h 377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941"/>
              <a:gd name="T109" fmla="*/ 0 h 3775"/>
              <a:gd name="T110" fmla="*/ 7941 w 7941"/>
              <a:gd name="T111" fmla="*/ 3775 h 3775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7941" h="3775">
                <a:moveTo>
                  <a:pt x="716" y="1256"/>
                </a:moveTo>
                <a:cubicBezTo>
                  <a:pt x="310" y="1282"/>
                  <a:pt x="0" y="1507"/>
                  <a:pt x="0" y="1773"/>
                </a:cubicBezTo>
                <a:cubicBezTo>
                  <a:pt x="0" y="1957"/>
                  <a:pt x="150" y="2129"/>
                  <a:pt x="396" y="2221"/>
                </a:cubicBezTo>
                <a:lnTo>
                  <a:pt x="392" y="2215"/>
                </a:lnTo>
                <a:cubicBezTo>
                  <a:pt x="252" y="2311"/>
                  <a:pt x="174" y="2437"/>
                  <a:pt x="174" y="2569"/>
                </a:cubicBezTo>
                <a:cubicBezTo>
                  <a:pt x="174" y="2855"/>
                  <a:pt x="534" y="3085"/>
                  <a:pt x="976" y="3085"/>
                </a:cubicBezTo>
                <a:cubicBezTo>
                  <a:pt x="1008" y="3085"/>
                  <a:pt x="1038" y="3085"/>
                  <a:pt x="1070" y="3083"/>
                </a:cubicBezTo>
                <a:lnTo>
                  <a:pt x="1066" y="3085"/>
                </a:lnTo>
                <a:cubicBezTo>
                  <a:pt x="1318" y="3373"/>
                  <a:pt x="1788" y="3549"/>
                  <a:pt x="2298" y="3549"/>
                </a:cubicBezTo>
                <a:cubicBezTo>
                  <a:pt x="2554" y="3549"/>
                  <a:pt x="2808" y="3503"/>
                  <a:pt x="3028" y="3417"/>
                </a:cubicBezTo>
                <a:lnTo>
                  <a:pt x="3026" y="3417"/>
                </a:lnTo>
                <a:cubicBezTo>
                  <a:pt x="3256" y="3641"/>
                  <a:pt x="3645" y="3775"/>
                  <a:pt x="4059" y="3775"/>
                </a:cubicBezTo>
                <a:cubicBezTo>
                  <a:pt x="4605" y="3775"/>
                  <a:pt x="5089" y="3543"/>
                  <a:pt x="5247" y="3203"/>
                </a:cubicBezTo>
                <a:lnTo>
                  <a:pt x="5247" y="3209"/>
                </a:lnTo>
                <a:cubicBezTo>
                  <a:pt x="5417" y="3277"/>
                  <a:pt x="5611" y="3313"/>
                  <a:pt x="5811" y="3313"/>
                </a:cubicBezTo>
                <a:cubicBezTo>
                  <a:pt x="6395" y="3313"/>
                  <a:pt x="6871" y="3009"/>
                  <a:pt x="6875" y="2631"/>
                </a:cubicBezTo>
                <a:lnTo>
                  <a:pt x="6873" y="2629"/>
                </a:lnTo>
                <a:cubicBezTo>
                  <a:pt x="7485" y="2573"/>
                  <a:pt x="7941" y="2233"/>
                  <a:pt x="7941" y="1831"/>
                </a:cubicBezTo>
                <a:cubicBezTo>
                  <a:pt x="7941" y="1653"/>
                  <a:pt x="7851" y="1481"/>
                  <a:pt x="7685" y="1340"/>
                </a:cubicBezTo>
                <a:lnTo>
                  <a:pt x="7681" y="1340"/>
                </a:lnTo>
                <a:cubicBezTo>
                  <a:pt x="7733" y="1260"/>
                  <a:pt x="7761" y="1174"/>
                  <a:pt x="7761" y="1088"/>
                </a:cubicBezTo>
                <a:cubicBezTo>
                  <a:pt x="7761" y="802"/>
                  <a:pt x="7465" y="550"/>
                  <a:pt x="7039" y="476"/>
                </a:cubicBezTo>
                <a:lnTo>
                  <a:pt x="7041" y="474"/>
                </a:lnTo>
                <a:cubicBezTo>
                  <a:pt x="6965" y="200"/>
                  <a:pt x="6595" y="0"/>
                  <a:pt x="6163" y="0"/>
                </a:cubicBezTo>
                <a:cubicBezTo>
                  <a:pt x="5901" y="0"/>
                  <a:pt x="5651" y="74"/>
                  <a:pt x="5481" y="204"/>
                </a:cubicBezTo>
                <a:lnTo>
                  <a:pt x="5483" y="204"/>
                </a:lnTo>
                <a:cubicBezTo>
                  <a:pt x="5331" y="76"/>
                  <a:pt x="5095" y="0"/>
                  <a:pt x="4845" y="0"/>
                </a:cubicBezTo>
                <a:cubicBezTo>
                  <a:pt x="4541" y="0"/>
                  <a:pt x="4263" y="112"/>
                  <a:pt x="4127" y="288"/>
                </a:cubicBezTo>
                <a:lnTo>
                  <a:pt x="4129" y="296"/>
                </a:lnTo>
                <a:cubicBezTo>
                  <a:pt x="3947" y="180"/>
                  <a:pt x="3699" y="114"/>
                  <a:pt x="3441" y="114"/>
                </a:cubicBezTo>
                <a:cubicBezTo>
                  <a:pt x="3078" y="114"/>
                  <a:pt x="2746" y="244"/>
                  <a:pt x="2576" y="450"/>
                </a:cubicBezTo>
                <a:lnTo>
                  <a:pt x="2572" y="456"/>
                </a:lnTo>
                <a:cubicBezTo>
                  <a:pt x="2382" y="382"/>
                  <a:pt x="2166" y="344"/>
                  <a:pt x="1944" y="344"/>
                </a:cubicBezTo>
                <a:cubicBezTo>
                  <a:pt x="1258" y="344"/>
                  <a:pt x="704" y="704"/>
                  <a:pt x="704" y="1148"/>
                </a:cubicBezTo>
                <a:cubicBezTo>
                  <a:pt x="702" y="1184"/>
                  <a:pt x="706" y="1220"/>
                  <a:pt x="714" y="1256"/>
                </a:cubicBezTo>
                <a:lnTo>
                  <a:pt x="716" y="1256"/>
                </a:lnTo>
                <a:close/>
              </a:path>
            </a:pathLst>
          </a:custGeom>
          <a:gradFill rotWithShape="1">
            <a:gsLst>
              <a:gs pos="0">
                <a:srgbClr val="CCFFFF"/>
              </a:gs>
              <a:gs pos="100000">
                <a:srgbClr val="66FFFF"/>
              </a:gs>
            </a:gsLst>
            <a:path path="rect">
              <a:fillToRect l="50000" t="50000" r="50000" b="50000"/>
            </a:path>
          </a:gra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7683" name="Text Box 43"/>
          <p:cNvSpPr txBox="1">
            <a:spLocks noChangeArrowheads="1"/>
          </p:cNvSpPr>
          <p:nvPr/>
        </p:nvSpPr>
        <p:spPr bwMode="auto">
          <a:xfrm flipH="1">
            <a:off x="1114425" y="3787775"/>
            <a:ext cx="8620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ru-RU" altLang="ru-RU" sz="1400">
                <a:latin typeface="Times New Roman" pitchFamily="18" charset="0"/>
              </a:rPr>
              <a:t>СТОП</a:t>
            </a:r>
          </a:p>
        </p:txBody>
      </p:sp>
      <p:pic>
        <p:nvPicPr>
          <p:cNvPr id="27684" name="Picture 44" descr="comp05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5863" y="2060575"/>
            <a:ext cx="300037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85" name="Text Box 45"/>
          <p:cNvSpPr txBox="1">
            <a:spLocks noChangeArrowheads="1"/>
          </p:cNvSpPr>
          <p:nvPr/>
        </p:nvSpPr>
        <p:spPr bwMode="auto">
          <a:xfrm>
            <a:off x="6553200" y="2132013"/>
            <a:ext cx="1441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ru-RU" altLang="ru-RU" sz="1000">
                <a:latin typeface="Times New Roman" pitchFamily="18" charset="0"/>
              </a:rPr>
              <a:t>Карточная платформа</a:t>
            </a:r>
          </a:p>
        </p:txBody>
      </p:sp>
      <p:sp>
        <p:nvSpPr>
          <p:cNvPr id="27686" name="Freeform 46"/>
          <p:cNvSpPr>
            <a:spLocks/>
          </p:cNvSpPr>
          <p:nvPr/>
        </p:nvSpPr>
        <p:spPr bwMode="auto">
          <a:xfrm>
            <a:off x="5005388" y="2451100"/>
            <a:ext cx="1285875" cy="508000"/>
          </a:xfrm>
          <a:custGeom>
            <a:avLst/>
            <a:gdLst>
              <a:gd name="T0" fmla="*/ 2041326741 w 810"/>
              <a:gd name="T1" fmla="*/ 75604683 h 320"/>
              <a:gd name="T2" fmla="*/ 0 w 810"/>
              <a:gd name="T3" fmla="*/ 0 h 320"/>
              <a:gd name="T4" fmla="*/ 0 60000 65536"/>
              <a:gd name="T5" fmla="*/ 0 60000 65536"/>
              <a:gd name="T6" fmla="*/ 0 w 810"/>
              <a:gd name="T7" fmla="*/ 0 h 320"/>
              <a:gd name="T8" fmla="*/ 810 w 810"/>
              <a:gd name="T9" fmla="*/ 320 h 3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0" h="320">
                <a:moveTo>
                  <a:pt x="810" y="30"/>
                </a:moveTo>
                <a:cubicBezTo>
                  <a:pt x="612" y="288"/>
                  <a:pt x="19" y="320"/>
                  <a:pt x="0" y="0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687" name="Text Box 47"/>
          <p:cNvSpPr txBox="1">
            <a:spLocks noChangeArrowheads="1"/>
          </p:cNvSpPr>
          <p:nvPr/>
        </p:nvSpPr>
        <p:spPr bwMode="auto">
          <a:xfrm>
            <a:off x="5689600" y="2708275"/>
            <a:ext cx="6477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SIP</a:t>
            </a:r>
            <a:endParaRPr lang="ru-RU" altLang="ru-RU" sz="1000">
              <a:latin typeface="Times New Roman" pitchFamily="18" charset="0"/>
            </a:endParaRPr>
          </a:p>
        </p:txBody>
      </p:sp>
      <p:pic>
        <p:nvPicPr>
          <p:cNvPr id="27688" name="Picture 48" descr="comp05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9463" y="2708275"/>
            <a:ext cx="300037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89" name="Text Box 49"/>
          <p:cNvSpPr txBox="1">
            <a:spLocks noChangeArrowheads="1"/>
          </p:cNvSpPr>
          <p:nvPr/>
        </p:nvSpPr>
        <p:spPr bwMode="auto">
          <a:xfrm>
            <a:off x="3025775" y="2205038"/>
            <a:ext cx="819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Hosted PBX</a:t>
            </a:r>
            <a:endParaRPr lang="ru-RU" altLang="ru-RU" sz="1000">
              <a:latin typeface="Times New Roman" pitchFamily="18" charset="0"/>
            </a:endParaRPr>
          </a:p>
        </p:txBody>
      </p: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7273925" y="4003675"/>
            <a:ext cx="549275" cy="233363"/>
            <a:chOff x="196" y="3076"/>
            <a:chExt cx="1608" cy="672"/>
          </a:xfrm>
        </p:grpSpPr>
        <p:sp>
          <p:nvSpPr>
            <p:cNvPr id="28437" name="Freeform 51"/>
            <p:cNvSpPr>
              <a:spLocks/>
            </p:cNvSpPr>
            <p:nvPr/>
          </p:nvSpPr>
          <p:spPr bwMode="auto">
            <a:xfrm>
              <a:off x="196" y="3076"/>
              <a:ext cx="1608" cy="672"/>
            </a:xfrm>
            <a:custGeom>
              <a:avLst/>
              <a:gdLst>
                <a:gd name="T0" fmla="*/ 1574 w 1608"/>
                <a:gd name="T1" fmla="*/ 110 h 672"/>
                <a:gd name="T2" fmla="*/ 1584 w 1608"/>
                <a:gd name="T3" fmla="*/ 54 h 672"/>
                <a:gd name="T4" fmla="*/ 1584 w 1608"/>
                <a:gd name="T5" fmla="*/ 48 h 672"/>
                <a:gd name="T6" fmla="*/ 1590 w 1608"/>
                <a:gd name="T7" fmla="*/ 38 h 672"/>
                <a:gd name="T8" fmla="*/ 1596 w 1608"/>
                <a:gd name="T9" fmla="*/ 32 h 672"/>
                <a:gd name="T10" fmla="*/ 1598 w 1608"/>
                <a:gd name="T11" fmla="*/ 4 h 672"/>
                <a:gd name="T12" fmla="*/ 1578 w 1608"/>
                <a:gd name="T13" fmla="*/ 6 h 672"/>
                <a:gd name="T14" fmla="*/ 1484 w 1608"/>
                <a:gd name="T15" fmla="*/ 4 h 672"/>
                <a:gd name="T16" fmla="*/ 1398 w 1608"/>
                <a:gd name="T17" fmla="*/ 0 h 672"/>
                <a:gd name="T18" fmla="*/ 1386 w 1608"/>
                <a:gd name="T19" fmla="*/ 4 h 672"/>
                <a:gd name="T20" fmla="*/ 1360 w 1608"/>
                <a:gd name="T21" fmla="*/ 22 h 672"/>
                <a:gd name="T22" fmla="*/ 1148 w 1608"/>
                <a:gd name="T23" fmla="*/ 22 h 672"/>
                <a:gd name="T24" fmla="*/ 776 w 1608"/>
                <a:gd name="T25" fmla="*/ 22 h 672"/>
                <a:gd name="T26" fmla="*/ 574 w 1608"/>
                <a:gd name="T27" fmla="*/ 24 h 672"/>
                <a:gd name="T28" fmla="*/ 532 w 1608"/>
                <a:gd name="T29" fmla="*/ 24 h 672"/>
                <a:gd name="T30" fmla="*/ 530 w 1608"/>
                <a:gd name="T31" fmla="*/ 8 h 672"/>
                <a:gd name="T32" fmla="*/ 514 w 1608"/>
                <a:gd name="T33" fmla="*/ 4 h 672"/>
                <a:gd name="T34" fmla="*/ 428 w 1608"/>
                <a:gd name="T35" fmla="*/ 4 h 672"/>
                <a:gd name="T36" fmla="*/ 378 w 1608"/>
                <a:gd name="T37" fmla="*/ 4 h 672"/>
                <a:gd name="T38" fmla="*/ 330 w 1608"/>
                <a:gd name="T39" fmla="*/ 12 h 672"/>
                <a:gd name="T40" fmla="*/ 322 w 1608"/>
                <a:gd name="T41" fmla="*/ 26 h 672"/>
                <a:gd name="T42" fmla="*/ 322 w 1608"/>
                <a:gd name="T43" fmla="*/ 46 h 672"/>
                <a:gd name="T44" fmla="*/ 140 w 1608"/>
                <a:gd name="T45" fmla="*/ 210 h 672"/>
                <a:gd name="T46" fmla="*/ 80 w 1608"/>
                <a:gd name="T47" fmla="*/ 256 h 672"/>
                <a:gd name="T48" fmla="*/ 22 w 1608"/>
                <a:gd name="T49" fmla="*/ 304 h 672"/>
                <a:gd name="T50" fmla="*/ 14 w 1608"/>
                <a:gd name="T51" fmla="*/ 322 h 672"/>
                <a:gd name="T52" fmla="*/ 4 w 1608"/>
                <a:gd name="T53" fmla="*/ 322 h 672"/>
                <a:gd name="T54" fmla="*/ 0 w 1608"/>
                <a:gd name="T55" fmla="*/ 328 h 672"/>
                <a:gd name="T56" fmla="*/ 4 w 1608"/>
                <a:gd name="T57" fmla="*/ 338 h 672"/>
                <a:gd name="T58" fmla="*/ 4 w 1608"/>
                <a:gd name="T59" fmla="*/ 348 h 672"/>
                <a:gd name="T60" fmla="*/ 52 w 1608"/>
                <a:gd name="T61" fmla="*/ 432 h 672"/>
                <a:gd name="T62" fmla="*/ 66 w 1608"/>
                <a:gd name="T63" fmla="*/ 478 h 672"/>
                <a:gd name="T64" fmla="*/ 70 w 1608"/>
                <a:gd name="T65" fmla="*/ 550 h 672"/>
                <a:gd name="T66" fmla="*/ 74 w 1608"/>
                <a:gd name="T67" fmla="*/ 584 h 672"/>
                <a:gd name="T68" fmla="*/ 86 w 1608"/>
                <a:gd name="T69" fmla="*/ 596 h 672"/>
                <a:gd name="T70" fmla="*/ 88 w 1608"/>
                <a:gd name="T71" fmla="*/ 616 h 672"/>
                <a:gd name="T72" fmla="*/ 100 w 1608"/>
                <a:gd name="T73" fmla="*/ 662 h 672"/>
                <a:gd name="T74" fmla="*/ 132 w 1608"/>
                <a:gd name="T75" fmla="*/ 672 h 672"/>
                <a:gd name="T76" fmla="*/ 190 w 1608"/>
                <a:gd name="T77" fmla="*/ 670 h 672"/>
                <a:gd name="T78" fmla="*/ 252 w 1608"/>
                <a:gd name="T79" fmla="*/ 666 h 672"/>
                <a:gd name="T80" fmla="*/ 556 w 1608"/>
                <a:gd name="T81" fmla="*/ 666 h 672"/>
                <a:gd name="T82" fmla="*/ 918 w 1608"/>
                <a:gd name="T83" fmla="*/ 668 h 672"/>
                <a:gd name="T84" fmla="*/ 1110 w 1608"/>
                <a:gd name="T85" fmla="*/ 672 h 672"/>
                <a:gd name="T86" fmla="*/ 1310 w 1608"/>
                <a:gd name="T87" fmla="*/ 668 h 672"/>
                <a:gd name="T88" fmla="*/ 1608 w 1608"/>
                <a:gd name="T89" fmla="*/ 308 h 672"/>
                <a:gd name="T90" fmla="*/ 1608 w 1608"/>
                <a:gd name="T91" fmla="*/ 242 h 672"/>
                <a:gd name="T92" fmla="*/ 1608 w 1608"/>
                <a:gd name="T93" fmla="*/ 112 h 67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608"/>
                <a:gd name="T142" fmla="*/ 0 h 672"/>
                <a:gd name="T143" fmla="*/ 1608 w 1608"/>
                <a:gd name="T144" fmla="*/ 672 h 67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608" h="672">
                  <a:moveTo>
                    <a:pt x="1608" y="112"/>
                  </a:moveTo>
                  <a:lnTo>
                    <a:pt x="1574" y="110"/>
                  </a:lnTo>
                  <a:lnTo>
                    <a:pt x="1576" y="66"/>
                  </a:lnTo>
                  <a:lnTo>
                    <a:pt x="1584" y="54"/>
                  </a:lnTo>
                  <a:lnTo>
                    <a:pt x="1586" y="52"/>
                  </a:lnTo>
                  <a:lnTo>
                    <a:pt x="1584" y="48"/>
                  </a:lnTo>
                  <a:lnTo>
                    <a:pt x="1582" y="40"/>
                  </a:lnTo>
                  <a:lnTo>
                    <a:pt x="1590" y="38"/>
                  </a:lnTo>
                  <a:lnTo>
                    <a:pt x="1592" y="36"/>
                  </a:lnTo>
                  <a:lnTo>
                    <a:pt x="1596" y="32"/>
                  </a:lnTo>
                  <a:lnTo>
                    <a:pt x="1598" y="18"/>
                  </a:lnTo>
                  <a:lnTo>
                    <a:pt x="1598" y="6"/>
                  </a:lnTo>
                  <a:lnTo>
                    <a:pt x="1598" y="4"/>
                  </a:lnTo>
                  <a:lnTo>
                    <a:pt x="1594" y="2"/>
                  </a:lnTo>
                  <a:lnTo>
                    <a:pt x="1578" y="6"/>
                  </a:lnTo>
                  <a:lnTo>
                    <a:pt x="1560" y="6"/>
                  </a:lnTo>
                  <a:lnTo>
                    <a:pt x="1522" y="6"/>
                  </a:lnTo>
                  <a:lnTo>
                    <a:pt x="1484" y="4"/>
                  </a:lnTo>
                  <a:lnTo>
                    <a:pt x="1450" y="2"/>
                  </a:lnTo>
                  <a:lnTo>
                    <a:pt x="1398" y="0"/>
                  </a:lnTo>
                  <a:lnTo>
                    <a:pt x="1392" y="0"/>
                  </a:lnTo>
                  <a:lnTo>
                    <a:pt x="1386" y="4"/>
                  </a:lnTo>
                  <a:lnTo>
                    <a:pt x="1374" y="10"/>
                  </a:lnTo>
                  <a:lnTo>
                    <a:pt x="1366" y="18"/>
                  </a:lnTo>
                  <a:lnTo>
                    <a:pt x="1360" y="22"/>
                  </a:lnTo>
                  <a:lnTo>
                    <a:pt x="1254" y="24"/>
                  </a:lnTo>
                  <a:lnTo>
                    <a:pt x="1148" y="22"/>
                  </a:lnTo>
                  <a:lnTo>
                    <a:pt x="776" y="22"/>
                  </a:lnTo>
                  <a:lnTo>
                    <a:pt x="616" y="22"/>
                  </a:lnTo>
                  <a:lnTo>
                    <a:pt x="574" y="24"/>
                  </a:lnTo>
                  <a:lnTo>
                    <a:pt x="554" y="26"/>
                  </a:lnTo>
                  <a:lnTo>
                    <a:pt x="532" y="24"/>
                  </a:lnTo>
                  <a:lnTo>
                    <a:pt x="534" y="14"/>
                  </a:lnTo>
                  <a:lnTo>
                    <a:pt x="532" y="10"/>
                  </a:lnTo>
                  <a:lnTo>
                    <a:pt x="530" y="8"/>
                  </a:lnTo>
                  <a:lnTo>
                    <a:pt x="522" y="6"/>
                  </a:lnTo>
                  <a:lnTo>
                    <a:pt x="514" y="4"/>
                  </a:lnTo>
                  <a:lnTo>
                    <a:pt x="496" y="6"/>
                  </a:lnTo>
                  <a:lnTo>
                    <a:pt x="428" y="4"/>
                  </a:lnTo>
                  <a:lnTo>
                    <a:pt x="404" y="4"/>
                  </a:lnTo>
                  <a:lnTo>
                    <a:pt x="378" y="4"/>
                  </a:lnTo>
                  <a:lnTo>
                    <a:pt x="354" y="6"/>
                  </a:lnTo>
                  <a:lnTo>
                    <a:pt x="330" y="12"/>
                  </a:lnTo>
                  <a:lnTo>
                    <a:pt x="328" y="14"/>
                  </a:lnTo>
                  <a:lnTo>
                    <a:pt x="326" y="16"/>
                  </a:lnTo>
                  <a:lnTo>
                    <a:pt x="322" y="26"/>
                  </a:lnTo>
                  <a:lnTo>
                    <a:pt x="322" y="36"/>
                  </a:lnTo>
                  <a:lnTo>
                    <a:pt x="322" y="46"/>
                  </a:lnTo>
                  <a:lnTo>
                    <a:pt x="218" y="138"/>
                  </a:lnTo>
                  <a:lnTo>
                    <a:pt x="140" y="210"/>
                  </a:lnTo>
                  <a:lnTo>
                    <a:pt x="112" y="234"/>
                  </a:lnTo>
                  <a:lnTo>
                    <a:pt x="80" y="256"/>
                  </a:lnTo>
                  <a:lnTo>
                    <a:pt x="50" y="280"/>
                  </a:lnTo>
                  <a:lnTo>
                    <a:pt x="22" y="304"/>
                  </a:lnTo>
                  <a:lnTo>
                    <a:pt x="18" y="310"/>
                  </a:lnTo>
                  <a:lnTo>
                    <a:pt x="14" y="322"/>
                  </a:lnTo>
                  <a:lnTo>
                    <a:pt x="4" y="322"/>
                  </a:lnTo>
                  <a:lnTo>
                    <a:pt x="0" y="324"/>
                  </a:lnTo>
                  <a:lnTo>
                    <a:pt x="0" y="328"/>
                  </a:lnTo>
                  <a:lnTo>
                    <a:pt x="2" y="334"/>
                  </a:lnTo>
                  <a:lnTo>
                    <a:pt x="4" y="338"/>
                  </a:lnTo>
                  <a:lnTo>
                    <a:pt x="4" y="344"/>
                  </a:lnTo>
                  <a:lnTo>
                    <a:pt x="4" y="348"/>
                  </a:lnTo>
                  <a:lnTo>
                    <a:pt x="24" y="374"/>
                  </a:lnTo>
                  <a:lnTo>
                    <a:pt x="40" y="402"/>
                  </a:lnTo>
                  <a:lnTo>
                    <a:pt x="52" y="432"/>
                  </a:lnTo>
                  <a:lnTo>
                    <a:pt x="64" y="462"/>
                  </a:lnTo>
                  <a:lnTo>
                    <a:pt x="66" y="478"/>
                  </a:lnTo>
                  <a:lnTo>
                    <a:pt x="68" y="492"/>
                  </a:lnTo>
                  <a:lnTo>
                    <a:pt x="70" y="520"/>
                  </a:lnTo>
                  <a:lnTo>
                    <a:pt x="70" y="550"/>
                  </a:lnTo>
                  <a:lnTo>
                    <a:pt x="74" y="580"/>
                  </a:lnTo>
                  <a:lnTo>
                    <a:pt x="74" y="584"/>
                  </a:lnTo>
                  <a:lnTo>
                    <a:pt x="78" y="588"/>
                  </a:lnTo>
                  <a:lnTo>
                    <a:pt x="86" y="596"/>
                  </a:lnTo>
                  <a:lnTo>
                    <a:pt x="88" y="616"/>
                  </a:lnTo>
                  <a:lnTo>
                    <a:pt x="92" y="638"/>
                  </a:lnTo>
                  <a:lnTo>
                    <a:pt x="100" y="662"/>
                  </a:lnTo>
                  <a:lnTo>
                    <a:pt x="110" y="666"/>
                  </a:lnTo>
                  <a:lnTo>
                    <a:pt x="122" y="670"/>
                  </a:lnTo>
                  <a:lnTo>
                    <a:pt x="132" y="672"/>
                  </a:lnTo>
                  <a:lnTo>
                    <a:pt x="144" y="672"/>
                  </a:lnTo>
                  <a:lnTo>
                    <a:pt x="168" y="672"/>
                  </a:lnTo>
                  <a:lnTo>
                    <a:pt x="190" y="670"/>
                  </a:lnTo>
                  <a:lnTo>
                    <a:pt x="222" y="668"/>
                  </a:lnTo>
                  <a:lnTo>
                    <a:pt x="252" y="666"/>
                  </a:lnTo>
                  <a:lnTo>
                    <a:pt x="312" y="668"/>
                  </a:lnTo>
                  <a:lnTo>
                    <a:pt x="556" y="666"/>
                  </a:lnTo>
                  <a:lnTo>
                    <a:pt x="800" y="668"/>
                  </a:lnTo>
                  <a:lnTo>
                    <a:pt x="918" y="668"/>
                  </a:lnTo>
                  <a:lnTo>
                    <a:pt x="1038" y="670"/>
                  </a:lnTo>
                  <a:lnTo>
                    <a:pt x="1110" y="672"/>
                  </a:lnTo>
                  <a:lnTo>
                    <a:pt x="1200" y="670"/>
                  </a:lnTo>
                  <a:lnTo>
                    <a:pt x="1310" y="668"/>
                  </a:lnTo>
                  <a:lnTo>
                    <a:pt x="1606" y="360"/>
                  </a:lnTo>
                  <a:lnTo>
                    <a:pt x="1608" y="308"/>
                  </a:lnTo>
                  <a:lnTo>
                    <a:pt x="1608" y="242"/>
                  </a:lnTo>
                  <a:lnTo>
                    <a:pt x="1608" y="1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38" name="Freeform 52"/>
            <p:cNvSpPr>
              <a:spLocks/>
            </p:cNvSpPr>
            <p:nvPr/>
          </p:nvSpPr>
          <p:spPr bwMode="auto">
            <a:xfrm>
              <a:off x="282" y="3186"/>
              <a:ext cx="1522" cy="562"/>
            </a:xfrm>
            <a:custGeom>
              <a:avLst/>
              <a:gdLst>
                <a:gd name="T0" fmla="*/ 1522 w 1522"/>
                <a:gd name="T1" fmla="*/ 198 h 562"/>
                <a:gd name="T2" fmla="*/ 1522 w 1522"/>
                <a:gd name="T3" fmla="*/ 198 h 562"/>
                <a:gd name="T4" fmla="*/ 1522 w 1522"/>
                <a:gd name="T5" fmla="*/ 132 h 562"/>
                <a:gd name="T6" fmla="*/ 1522 w 1522"/>
                <a:gd name="T7" fmla="*/ 132 h 562"/>
                <a:gd name="T8" fmla="*/ 1522 w 1522"/>
                <a:gd name="T9" fmla="*/ 2 h 562"/>
                <a:gd name="T10" fmla="*/ 1482 w 1522"/>
                <a:gd name="T11" fmla="*/ 0 h 562"/>
                <a:gd name="T12" fmla="*/ 1482 w 1522"/>
                <a:gd name="T13" fmla="*/ 0 h 562"/>
                <a:gd name="T14" fmla="*/ 1488 w 1522"/>
                <a:gd name="T15" fmla="*/ 88 h 562"/>
                <a:gd name="T16" fmla="*/ 1488 w 1522"/>
                <a:gd name="T17" fmla="*/ 152 h 562"/>
                <a:gd name="T18" fmla="*/ 1488 w 1522"/>
                <a:gd name="T19" fmla="*/ 174 h 562"/>
                <a:gd name="T20" fmla="*/ 1486 w 1522"/>
                <a:gd name="T21" fmla="*/ 186 h 562"/>
                <a:gd name="T22" fmla="*/ 1486 w 1522"/>
                <a:gd name="T23" fmla="*/ 186 h 562"/>
                <a:gd name="T24" fmla="*/ 1342 w 1522"/>
                <a:gd name="T25" fmla="*/ 328 h 562"/>
                <a:gd name="T26" fmla="*/ 1244 w 1522"/>
                <a:gd name="T27" fmla="*/ 424 h 562"/>
                <a:gd name="T28" fmla="*/ 1196 w 1522"/>
                <a:gd name="T29" fmla="*/ 470 h 562"/>
                <a:gd name="T30" fmla="*/ 1196 w 1522"/>
                <a:gd name="T31" fmla="*/ 470 h 562"/>
                <a:gd name="T32" fmla="*/ 1166 w 1522"/>
                <a:gd name="T33" fmla="*/ 474 h 562"/>
                <a:gd name="T34" fmla="*/ 1116 w 1522"/>
                <a:gd name="T35" fmla="*/ 476 h 562"/>
                <a:gd name="T36" fmla="*/ 966 w 1522"/>
                <a:gd name="T37" fmla="*/ 480 h 562"/>
                <a:gd name="T38" fmla="*/ 774 w 1522"/>
                <a:gd name="T39" fmla="*/ 482 h 562"/>
                <a:gd name="T40" fmla="*/ 560 w 1522"/>
                <a:gd name="T41" fmla="*/ 484 h 562"/>
                <a:gd name="T42" fmla="*/ 172 w 1522"/>
                <a:gd name="T43" fmla="*/ 486 h 562"/>
                <a:gd name="T44" fmla="*/ 0 w 1522"/>
                <a:gd name="T45" fmla="*/ 486 h 562"/>
                <a:gd name="T46" fmla="*/ 0 w 1522"/>
                <a:gd name="T47" fmla="*/ 486 h 562"/>
                <a:gd name="T48" fmla="*/ 2 w 1522"/>
                <a:gd name="T49" fmla="*/ 506 h 562"/>
                <a:gd name="T50" fmla="*/ 6 w 1522"/>
                <a:gd name="T51" fmla="*/ 528 h 562"/>
                <a:gd name="T52" fmla="*/ 14 w 1522"/>
                <a:gd name="T53" fmla="*/ 552 h 562"/>
                <a:gd name="T54" fmla="*/ 14 w 1522"/>
                <a:gd name="T55" fmla="*/ 552 h 562"/>
                <a:gd name="T56" fmla="*/ 24 w 1522"/>
                <a:gd name="T57" fmla="*/ 556 h 562"/>
                <a:gd name="T58" fmla="*/ 36 w 1522"/>
                <a:gd name="T59" fmla="*/ 560 h 562"/>
                <a:gd name="T60" fmla="*/ 46 w 1522"/>
                <a:gd name="T61" fmla="*/ 562 h 562"/>
                <a:gd name="T62" fmla="*/ 58 w 1522"/>
                <a:gd name="T63" fmla="*/ 562 h 562"/>
                <a:gd name="T64" fmla="*/ 82 w 1522"/>
                <a:gd name="T65" fmla="*/ 562 h 562"/>
                <a:gd name="T66" fmla="*/ 104 w 1522"/>
                <a:gd name="T67" fmla="*/ 560 h 562"/>
                <a:gd name="T68" fmla="*/ 104 w 1522"/>
                <a:gd name="T69" fmla="*/ 560 h 562"/>
                <a:gd name="T70" fmla="*/ 136 w 1522"/>
                <a:gd name="T71" fmla="*/ 558 h 562"/>
                <a:gd name="T72" fmla="*/ 166 w 1522"/>
                <a:gd name="T73" fmla="*/ 556 h 562"/>
                <a:gd name="T74" fmla="*/ 226 w 1522"/>
                <a:gd name="T75" fmla="*/ 558 h 562"/>
                <a:gd name="T76" fmla="*/ 226 w 1522"/>
                <a:gd name="T77" fmla="*/ 558 h 562"/>
                <a:gd name="T78" fmla="*/ 470 w 1522"/>
                <a:gd name="T79" fmla="*/ 556 h 562"/>
                <a:gd name="T80" fmla="*/ 714 w 1522"/>
                <a:gd name="T81" fmla="*/ 558 h 562"/>
                <a:gd name="T82" fmla="*/ 714 w 1522"/>
                <a:gd name="T83" fmla="*/ 558 h 562"/>
                <a:gd name="T84" fmla="*/ 832 w 1522"/>
                <a:gd name="T85" fmla="*/ 558 h 562"/>
                <a:gd name="T86" fmla="*/ 952 w 1522"/>
                <a:gd name="T87" fmla="*/ 560 h 562"/>
                <a:gd name="T88" fmla="*/ 952 w 1522"/>
                <a:gd name="T89" fmla="*/ 560 h 562"/>
                <a:gd name="T90" fmla="*/ 1024 w 1522"/>
                <a:gd name="T91" fmla="*/ 562 h 562"/>
                <a:gd name="T92" fmla="*/ 1114 w 1522"/>
                <a:gd name="T93" fmla="*/ 560 h 562"/>
                <a:gd name="T94" fmla="*/ 1224 w 1522"/>
                <a:gd name="T95" fmla="*/ 558 h 562"/>
                <a:gd name="T96" fmla="*/ 1224 w 1522"/>
                <a:gd name="T97" fmla="*/ 558 h 562"/>
                <a:gd name="T98" fmla="*/ 1520 w 1522"/>
                <a:gd name="T99" fmla="*/ 250 h 562"/>
                <a:gd name="T100" fmla="*/ 1520 w 1522"/>
                <a:gd name="T101" fmla="*/ 250 h 562"/>
                <a:gd name="T102" fmla="*/ 1522 w 1522"/>
                <a:gd name="T103" fmla="*/ 198 h 562"/>
                <a:gd name="T104" fmla="*/ 1522 w 1522"/>
                <a:gd name="T105" fmla="*/ 198 h 562"/>
                <a:gd name="T106" fmla="*/ 1522 w 1522"/>
                <a:gd name="T107" fmla="*/ 198 h 5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522"/>
                <a:gd name="T163" fmla="*/ 0 h 562"/>
                <a:gd name="T164" fmla="*/ 1522 w 1522"/>
                <a:gd name="T165" fmla="*/ 562 h 5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522" h="562">
                  <a:moveTo>
                    <a:pt x="1522" y="198"/>
                  </a:moveTo>
                  <a:lnTo>
                    <a:pt x="1522" y="198"/>
                  </a:lnTo>
                  <a:lnTo>
                    <a:pt x="1522" y="132"/>
                  </a:lnTo>
                  <a:lnTo>
                    <a:pt x="1522" y="2"/>
                  </a:lnTo>
                  <a:lnTo>
                    <a:pt x="1482" y="0"/>
                  </a:lnTo>
                  <a:lnTo>
                    <a:pt x="1488" y="88"/>
                  </a:lnTo>
                  <a:lnTo>
                    <a:pt x="1488" y="152"/>
                  </a:lnTo>
                  <a:lnTo>
                    <a:pt x="1488" y="174"/>
                  </a:lnTo>
                  <a:lnTo>
                    <a:pt x="1486" y="186"/>
                  </a:lnTo>
                  <a:lnTo>
                    <a:pt x="1342" y="328"/>
                  </a:lnTo>
                  <a:lnTo>
                    <a:pt x="1244" y="424"/>
                  </a:lnTo>
                  <a:lnTo>
                    <a:pt x="1196" y="470"/>
                  </a:lnTo>
                  <a:lnTo>
                    <a:pt x="1166" y="474"/>
                  </a:lnTo>
                  <a:lnTo>
                    <a:pt x="1116" y="476"/>
                  </a:lnTo>
                  <a:lnTo>
                    <a:pt x="966" y="480"/>
                  </a:lnTo>
                  <a:lnTo>
                    <a:pt x="774" y="482"/>
                  </a:lnTo>
                  <a:lnTo>
                    <a:pt x="560" y="484"/>
                  </a:lnTo>
                  <a:lnTo>
                    <a:pt x="172" y="486"/>
                  </a:lnTo>
                  <a:lnTo>
                    <a:pt x="0" y="486"/>
                  </a:lnTo>
                  <a:lnTo>
                    <a:pt x="2" y="506"/>
                  </a:lnTo>
                  <a:lnTo>
                    <a:pt x="6" y="528"/>
                  </a:lnTo>
                  <a:lnTo>
                    <a:pt x="14" y="552"/>
                  </a:lnTo>
                  <a:lnTo>
                    <a:pt x="24" y="556"/>
                  </a:lnTo>
                  <a:lnTo>
                    <a:pt x="36" y="560"/>
                  </a:lnTo>
                  <a:lnTo>
                    <a:pt x="46" y="562"/>
                  </a:lnTo>
                  <a:lnTo>
                    <a:pt x="58" y="562"/>
                  </a:lnTo>
                  <a:lnTo>
                    <a:pt x="82" y="562"/>
                  </a:lnTo>
                  <a:lnTo>
                    <a:pt x="104" y="560"/>
                  </a:lnTo>
                  <a:lnTo>
                    <a:pt x="136" y="558"/>
                  </a:lnTo>
                  <a:lnTo>
                    <a:pt x="166" y="556"/>
                  </a:lnTo>
                  <a:lnTo>
                    <a:pt x="226" y="558"/>
                  </a:lnTo>
                  <a:lnTo>
                    <a:pt x="470" y="556"/>
                  </a:lnTo>
                  <a:lnTo>
                    <a:pt x="714" y="558"/>
                  </a:lnTo>
                  <a:lnTo>
                    <a:pt x="832" y="558"/>
                  </a:lnTo>
                  <a:lnTo>
                    <a:pt x="952" y="560"/>
                  </a:lnTo>
                  <a:lnTo>
                    <a:pt x="1024" y="562"/>
                  </a:lnTo>
                  <a:lnTo>
                    <a:pt x="1114" y="560"/>
                  </a:lnTo>
                  <a:lnTo>
                    <a:pt x="1224" y="558"/>
                  </a:lnTo>
                  <a:lnTo>
                    <a:pt x="1520" y="250"/>
                  </a:lnTo>
                  <a:lnTo>
                    <a:pt x="1522" y="198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39" name="Freeform 53"/>
            <p:cNvSpPr>
              <a:spLocks/>
            </p:cNvSpPr>
            <p:nvPr/>
          </p:nvSpPr>
          <p:spPr bwMode="auto">
            <a:xfrm>
              <a:off x="310" y="3556"/>
              <a:ext cx="1136" cy="158"/>
            </a:xfrm>
            <a:custGeom>
              <a:avLst/>
              <a:gdLst>
                <a:gd name="T0" fmla="*/ 1134 w 1136"/>
                <a:gd name="T1" fmla="*/ 108 h 158"/>
                <a:gd name="T2" fmla="*/ 992 w 1136"/>
                <a:gd name="T3" fmla="*/ 118 h 158"/>
                <a:gd name="T4" fmla="*/ 848 w 1136"/>
                <a:gd name="T5" fmla="*/ 120 h 158"/>
                <a:gd name="T6" fmla="*/ 562 w 1136"/>
                <a:gd name="T7" fmla="*/ 114 h 158"/>
                <a:gd name="T8" fmla="*/ 210 w 1136"/>
                <a:gd name="T9" fmla="*/ 114 h 158"/>
                <a:gd name="T10" fmla="*/ 132 w 1136"/>
                <a:gd name="T11" fmla="*/ 116 h 158"/>
                <a:gd name="T12" fmla="*/ 54 w 1136"/>
                <a:gd name="T13" fmla="*/ 114 h 158"/>
                <a:gd name="T14" fmla="*/ 48 w 1136"/>
                <a:gd name="T15" fmla="*/ 112 h 158"/>
                <a:gd name="T16" fmla="*/ 38 w 1136"/>
                <a:gd name="T17" fmla="*/ 104 h 158"/>
                <a:gd name="T18" fmla="*/ 30 w 1136"/>
                <a:gd name="T19" fmla="*/ 84 h 158"/>
                <a:gd name="T20" fmla="*/ 30 w 1136"/>
                <a:gd name="T21" fmla="*/ 48 h 158"/>
                <a:gd name="T22" fmla="*/ 34 w 1136"/>
                <a:gd name="T23" fmla="*/ 2 h 158"/>
                <a:gd name="T24" fmla="*/ 34 w 1136"/>
                <a:gd name="T25" fmla="*/ 0 h 158"/>
                <a:gd name="T26" fmla="*/ 26 w 1136"/>
                <a:gd name="T27" fmla="*/ 4 h 158"/>
                <a:gd name="T28" fmla="*/ 18 w 1136"/>
                <a:gd name="T29" fmla="*/ 12 h 158"/>
                <a:gd name="T30" fmla="*/ 6 w 1136"/>
                <a:gd name="T31" fmla="*/ 32 h 158"/>
                <a:gd name="T32" fmla="*/ 6 w 1136"/>
                <a:gd name="T33" fmla="*/ 40 h 158"/>
                <a:gd name="T34" fmla="*/ 0 w 1136"/>
                <a:gd name="T35" fmla="*/ 96 h 158"/>
                <a:gd name="T36" fmla="*/ 2 w 1136"/>
                <a:gd name="T37" fmla="*/ 128 h 158"/>
                <a:gd name="T38" fmla="*/ 12 w 1136"/>
                <a:gd name="T39" fmla="*/ 150 h 158"/>
                <a:gd name="T40" fmla="*/ 16 w 1136"/>
                <a:gd name="T41" fmla="*/ 154 h 158"/>
                <a:gd name="T42" fmla="*/ 36 w 1136"/>
                <a:gd name="T43" fmla="*/ 158 h 158"/>
                <a:gd name="T44" fmla="*/ 62 w 1136"/>
                <a:gd name="T45" fmla="*/ 158 h 158"/>
                <a:gd name="T46" fmla="*/ 144 w 1136"/>
                <a:gd name="T47" fmla="*/ 156 h 158"/>
                <a:gd name="T48" fmla="*/ 234 w 1136"/>
                <a:gd name="T49" fmla="*/ 154 h 158"/>
                <a:gd name="T50" fmla="*/ 508 w 1136"/>
                <a:gd name="T51" fmla="*/ 156 h 158"/>
                <a:gd name="T52" fmla="*/ 704 w 1136"/>
                <a:gd name="T53" fmla="*/ 158 h 158"/>
                <a:gd name="T54" fmla="*/ 902 w 1136"/>
                <a:gd name="T55" fmla="*/ 158 h 158"/>
                <a:gd name="T56" fmla="*/ 1006 w 1136"/>
                <a:gd name="T57" fmla="*/ 158 h 158"/>
                <a:gd name="T58" fmla="*/ 1112 w 1136"/>
                <a:gd name="T59" fmla="*/ 150 h 158"/>
                <a:gd name="T60" fmla="*/ 1116 w 1136"/>
                <a:gd name="T61" fmla="*/ 148 h 158"/>
                <a:gd name="T62" fmla="*/ 1130 w 1136"/>
                <a:gd name="T63" fmla="*/ 128 h 158"/>
                <a:gd name="T64" fmla="*/ 1136 w 1136"/>
                <a:gd name="T65" fmla="*/ 110 h 158"/>
                <a:gd name="T66" fmla="*/ 1134 w 1136"/>
                <a:gd name="T67" fmla="*/ 108 h 15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136"/>
                <a:gd name="T103" fmla="*/ 0 h 158"/>
                <a:gd name="T104" fmla="*/ 1136 w 1136"/>
                <a:gd name="T105" fmla="*/ 158 h 15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136" h="158">
                  <a:moveTo>
                    <a:pt x="1134" y="108"/>
                  </a:moveTo>
                  <a:lnTo>
                    <a:pt x="1134" y="108"/>
                  </a:lnTo>
                  <a:lnTo>
                    <a:pt x="1064" y="116"/>
                  </a:lnTo>
                  <a:lnTo>
                    <a:pt x="992" y="118"/>
                  </a:lnTo>
                  <a:lnTo>
                    <a:pt x="920" y="120"/>
                  </a:lnTo>
                  <a:lnTo>
                    <a:pt x="848" y="120"/>
                  </a:lnTo>
                  <a:lnTo>
                    <a:pt x="704" y="116"/>
                  </a:lnTo>
                  <a:lnTo>
                    <a:pt x="562" y="114"/>
                  </a:lnTo>
                  <a:lnTo>
                    <a:pt x="210" y="114"/>
                  </a:lnTo>
                  <a:lnTo>
                    <a:pt x="132" y="116"/>
                  </a:lnTo>
                  <a:lnTo>
                    <a:pt x="92" y="116"/>
                  </a:lnTo>
                  <a:lnTo>
                    <a:pt x="54" y="114"/>
                  </a:lnTo>
                  <a:lnTo>
                    <a:pt x="48" y="112"/>
                  </a:lnTo>
                  <a:lnTo>
                    <a:pt x="42" y="108"/>
                  </a:lnTo>
                  <a:lnTo>
                    <a:pt x="38" y="104"/>
                  </a:lnTo>
                  <a:lnTo>
                    <a:pt x="34" y="98"/>
                  </a:lnTo>
                  <a:lnTo>
                    <a:pt x="30" y="84"/>
                  </a:lnTo>
                  <a:lnTo>
                    <a:pt x="28" y="66"/>
                  </a:lnTo>
                  <a:lnTo>
                    <a:pt x="30" y="48"/>
                  </a:lnTo>
                  <a:lnTo>
                    <a:pt x="32" y="30"/>
                  </a:lnTo>
                  <a:lnTo>
                    <a:pt x="34" y="2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6" y="4"/>
                  </a:lnTo>
                  <a:lnTo>
                    <a:pt x="18" y="12"/>
                  </a:lnTo>
                  <a:lnTo>
                    <a:pt x="10" y="24"/>
                  </a:lnTo>
                  <a:lnTo>
                    <a:pt x="6" y="32"/>
                  </a:lnTo>
                  <a:lnTo>
                    <a:pt x="6" y="40"/>
                  </a:lnTo>
                  <a:lnTo>
                    <a:pt x="4" y="64"/>
                  </a:lnTo>
                  <a:lnTo>
                    <a:pt x="0" y="96"/>
                  </a:lnTo>
                  <a:lnTo>
                    <a:pt x="0" y="112"/>
                  </a:lnTo>
                  <a:lnTo>
                    <a:pt x="2" y="128"/>
                  </a:lnTo>
                  <a:lnTo>
                    <a:pt x="6" y="140"/>
                  </a:lnTo>
                  <a:lnTo>
                    <a:pt x="12" y="150"/>
                  </a:lnTo>
                  <a:lnTo>
                    <a:pt x="16" y="154"/>
                  </a:lnTo>
                  <a:lnTo>
                    <a:pt x="22" y="156"/>
                  </a:lnTo>
                  <a:lnTo>
                    <a:pt x="36" y="158"/>
                  </a:lnTo>
                  <a:lnTo>
                    <a:pt x="62" y="158"/>
                  </a:lnTo>
                  <a:lnTo>
                    <a:pt x="102" y="158"/>
                  </a:lnTo>
                  <a:lnTo>
                    <a:pt x="144" y="156"/>
                  </a:lnTo>
                  <a:lnTo>
                    <a:pt x="234" y="154"/>
                  </a:lnTo>
                  <a:lnTo>
                    <a:pt x="326" y="156"/>
                  </a:lnTo>
                  <a:lnTo>
                    <a:pt x="508" y="156"/>
                  </a:lnTo>
                  <a:lnTo>
                    <a:pt x="704" y="158"/>
                  </a:lnTo>
                  <a:lnTo>
                    <a:pt x="902" y="158"/>
                  </a:lnTo>
                  <a:lnTo>
                    <a:pt x="954" y="158"/>
                  </a:lnTo>
                  <a:lnTo>
                    <a:pt x="1006" y="158"/>
                  </a:lnTo>
                  <a:lnTo>
                    <a:pt x="1060" y="156"/>
                  </a:lnTo>
                  <a:lnTo>
                    <a:pt x="1112" y="150"/>
                  </a:lnTo>
                  <a:lnTo>
                    <a:pt x="1116" y="148"/>
                  </a:lnTo>
                  <a:lnTo>
                    <a:pt x="1122" y="144"/>
                  </a:lnTo>
                  <a:lnTo>
                    <a:pt x="1130" y="128"/>
                  </a:lnTo>
                  <a:lnTo>
                    <a:pt x="1136" y="114"/>
                  </a:lnTo>
                  <a:lnTo>
                    <a:pt x="1136" y="110"/>
                  </a:lnTo>
                  <a:lnTo>
                    <a:pt x="1134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0" name="Freeform 54"/>
            <p:cNvSpPr>
              <a:spLocks/>
            </p:cNvSpPr>
            <p:nvPr/>
          </p:nvSpPr>
          <p:spPr bwMode="auto">
            <a:xfrm>
              <a:off x="258" y="3146"/>
              <a:ext cx="1488" cy="300"/>
            </a:xfrm>
            <a:custGeom>
              <a:avLst/>
              <a:gdLst>
                <a:gd name="T0" fmla="*/ 1488 w 1488"/>
                <a:gd name="T1" fmla="*/ 0 h 300"/>
                <a:gd name="T2" fmla="*/ 1474 w 1488"/>
                <a:gd name="T3" fmla="*/ 0 h 300"/>
                <a:gd name="T4" fmla="*/ 1398 w 1488"/>
                <a:gd name="T5" fmla="*/ 0 h 300"/>
                <a:gd name="T6" fmla="*/ 1356 w 1488"/>
                <a:gd name="T7" fmla="*/ 0 h 300"/>
                <a:gd name="T8" fmla="*/ 1340 w 1488"/>
                <a:gd name="T9" fmla="*/ 0 h 300"/>
                <a:gd name="T10" fmla="*/ 1320 w 1488"/>
                <a:gd name="T11" fmla="*/ 0 h 300"/>
                <a:gd name="T12" fmla="*/ 1294 w 1488"/>
                <a:gd name="T13" fmla="*/ 24 h 300"/>
                <a:gd name="T14" fmla="*/ 832 w 1488"/>
                <a:gd name="T15" fmla="*/ 24 h 300"/>
                <a:gd name="T16" fmla="*/ 548 w 1488"/>
                <a:gd name="T17" fmla="*/ 24 h 300"/>
                <a:gd name="T18" fmla="*/ 462 w 1488"/>
                <a:gd name="T19" fmla="*/ 24 h 300"/>
                <a:gd name="T20" fmla="*/ 486 w 1488"/>
                <a:gd name="T21" fmla="*/ 0 h 300"/>
                <a:gd name="T22" fmla="*/ 480 w 1488"/>
                <a:gd name="T23" fmla="*/ 0 h 300"/>
                <a:gd name="T24" fmla="*/ 472 w 1488"/>
                <a:gd name="T25" fmla="*/ 0 h 300"/>
                <a:gd name="T26" fmla="*/ 394 w 1488"/>
                <a:gd name="T27" fmla="*/ 0 h 300"/>
                <a:gd name="T28" fmla="*/ 354 w 1488"/>
                <a:gd name="T29" fmla="*/ 0 h 300"/>
                <a:gd name="T30" fmla="*/ 338 w 1488"/>
                <a:gd name="T31" fmla="*/ 0 h 300"/>
                <a:gd name="T32" fmla="*/ 318 w 1488"/>
                <a:gd name="T33" fmla="*/ 0 h 300"/>
                <a:gd name="T34" fmla="*/ 298 w 1488"/>
                <a:gd name="T35" fmla="*/ 18 h 300"/>
                <a:gd name="T36" fmla="*/ 296 w 1488"/>
                <a:gd name="T37" fmla="*/ 18 h 300"/>
                <a:gd name="T38" fmla="*/ 284 w 1488"/>
                <a:gd name="T39" fmla="*/ 28 h 300"/>
                <a:gd name="T40" fmla="*/ 274 w 1488"/>
                <a:gd name="T41" fmla="*/ 36 h 300"/>
                <a:gd name="T42" fmla="*/ 278 w 1488"/>
                <a:gd name="T43" fmla="*/ 36 h 300"/>
                <a:gd name="T44" fmla="*/ 110 w 1488"/>
                <a:gd name="T45" fmla="*/ 190 h 300"/>
                <a:gd name="T46" fmla="*/ 86 w 1488"/>
                <a:gd name="T47" fmla="*/ 208 h 300"/>
                <a:gd name="T48" fmla="*/ 24 w 1488"/>
                <a:gd name="T49" fmla="*/ 252 h 300"/>
                <a:gd name="T50" fmla="*/ 0 w 1488"/>
                <a:gd name="T51" fmla="*/ 272 h 300"/>
                <a:gd name="T52" fmla="*/ 98 w 1488"/>
                <a:gd name="T53" fmla="*/ 274 h 300"/>
                <a:gd name="T54" fmla="*/ 610 w 1488"/>
                <a:gd name="T55" fmla="*/ 300 h 300"/>
                <a:gd name="T56" fmla="*/ 722 w 1488"/>
                <a:gd name="T57" fmla="*/ 298 h 300"/>
                <a:gd name="T58" fmla="*/ 932 w 1488"/>
                <a:gd name="T59" fmla="*/ 292 h 300"/>
                <a:gd name="T60" fmla="*/ 1152 w 1488"/>
                <a:gd name="T61" fmla="*/ 278 h 300"/>
                <a:gd name="T62" fmla="*/ 1206 w 1488"/>
                <a:gd name="T63" fmla="*/ 272 h 300"/>
                <a:gd name="T64" fmla="*/ 1464 w 1488"/>
                <a:gd name="T65" fmla="*/ 26 h 300"/>
                <a:gd name="T66" fmla="*/ 1460 w 1488"/>
                <a:gd name="T67" fmla="*/ 28 h 300"/>
                <a:gd name="T68" fmla="*/ 1488 w 1488"/>
                <a:gd name="T69" fmla="*/ 0 h 300"/>
                <a:gd name="T70" fmla="*/ 1488 w 1488"/>
                <a:gd name="T71" fmla="*/ 0 h 30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488"/>
                <a:gd name="T109" fmla="*/ 0 h 300"/>
                <a:gd name="T110" fmla="*/ 1488 w 1488"/>
                <a:gd name="T111" fmla="*/ 300 h 30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488" h="300">
                  <a:moveTo>
                    <a:pt x="1488" y="0"/>
                  </a:moveTo>
                  <a:lnTo>
                    <a:pt x="1488" y="0"/>
                  </a:lnTo>
                  <a:lnTo>
                    <a:pt x="1482" y="0"/>
                  </a:lnTo>
                  <a:lnTo>
                    <a:pt x="1474" y="0"/>
                  </a:lnTo>
                  <a:lnTo>
                    <a:pt x="1398" y="0"/>
                  </a:lnTo>
                  <a:lnTo>
                    <a:pt x="1356" y="0"/>
                  </a:lnTo>
                  <a:lnTo>
                    <a:pt x="1340" y="0"/>
                  </a:lnTo>
                  <a:lnTo>
                    <a:pt x="1320" y="0"/>
                  </a:lnTo>
                  <a:lnTo>
                    <a:pt x="1294" y="24"/>
                  </a:lnTo>
                  <a:lnTo>
                    <a:pt x="832" y="24"/>
                  </a:lnTo>
                  <a:lnTo>
                    <a:pt x="548" y="24"/>
                  </a:lnTo>
                  <a:lnTo>
                    <a:pt x="462" y="24"/>
                  </a:lnTo>
                  <a:lnTo>
                    <a:pt x="486" y="0"/>
                  </a:lnTo>
                  <a:lnTo>
                    <a:pt x="480" y="0"/>
                  </a:lnTo>
                  <a:lnTo>
                    <a:pt x="472" y="0"/>
                  </a:lnTo>
                  <a:lnTo>
                    <a:pt x="394" y="0"/>
                  </a:lnTo>
                  <a:lnTo>
                    <a:pt x="354" y="0"/>
                  </a:lnTo>
                  <a:lnTo>
                    <a:pt x="338" y="0"/>
                  </a:lnTo>
                  <a:lnTo>
                    <a:pt x="318" y="0"/>
                  </a:lnTo>
                  <a:lnTo>
                    <a:pt x="298" y="18"/>
                  </a:lnTo>
                  <a:lnTo>
                    <a:pt x="296" y="18"/>
                  </a:lnTo>
                  <a:lnTo>
                    <a:pt x="284" y="28"/>
                  </a:lnTo>
                  <a:lnTo>
                    <a:pt x="274" y="36"/>
                  </a:lnTo>
                  <a:lnTo>
                    <a:pt x="278" y="36"/>
                  </a:lnTo>
                  <a:lnTo>
                    <a:pt x="186" y="120"/>
                  </a:lnTo>
                  <a:lnTo>
                    <a:pt x="110" y="190"/>
                  </a:lnTo>
                  <a:lnTo>
                    <a:pt x="86" y="208"/>
                  </a:lnTo>
                  <a:lnTo>
                    <a:pt x="56" y="230"/>
                  </a:lnTo>
                  <a:lnTo>
                    <a:pt x="24" y="252"/>
                  </a:lnTo>
                  <a:lnTo>
                    <a:pt x="0" y="272"/>
                  </a:lnTo>
                  <a:lnTo>
                    <a:pt x="28" y="272"/>
                  </a:lnTo>
                  <a:lnTo>
                    <a:pt x="98" y="274"/>
                  </a:lnTo>
                  <a:lnTo>
                    <a:pt x="304" y="284"/>
                  </a:lnTo>
                  <a:lnTo>
                    <a:pt x="610" y="300"/>
                  </a:lnTo>
                  <a:lnTo>
                    <a:pt x="722" y="298"/>
                  </a:lnTo>
                  <a:lnTo>
                    <a:pt x="832" y="296"/>
                  </a:lnTo>
                  <a:lnTo>
                    <a:pt x="932" y="292"/>
                  </a:lnTo>
                  <a:lnTo>
                    <a:pt x="1020" y="288"/>
                  </a:lnTo>
                  <a:lnTo>
                    <a:pt x="1152" y="278"/>
                  </a:lnTo>
                  <a:lnTo>
                    <a:pt x="1190" y="274"/>
                  </a:lnTo>
                  <a:lnTo>
                    <a:pt x="1206" y="272"/>
                  </a:lnTo>
                  <a:lnTo>
                    <a:pt x="1464" y="26"/>
                  </a:lnTo>
                  <a:lnTo>
                    <a:pt x="1460" y="28"/>
                  </a:lnTo>
                  <a:lnTo>
                    <a:pt x="1488" y="0"/>
                  </a:lnTo>
                  <a:close/>
                </a:path>
              </a:pathLst>
            </a:custGeom>
            <a:solidFill>
              <a:srgbClr val="6D99C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1" name="Freeform 55"/>
            <p:cNvSpPr>
              <a:spLocks/>
            </p:cNvSpPr>
            <p:nvPr/>
          </p:nvSpPr>
          <p:spPr bwMode="auto">
            <a:xfrm>
              <a:off x="280" y="3456"/>
              <a:ext cx="1202" cy="206"/>
            </a:xfrm>
            <a:custGeom>
              <a:avLst/>
              <a:gdLst>
                <a:gd name="T0" fmla="*/ 0 w 1202"/>
                <a:gd name="T1" fmla="*/ 0 h 206"/>
                <a:gd name="T2" fmla="*/ 0 w 1202"/>
                <a:gd name="T3" fmla="*/ 0 h 206"/>
                <a:gd name="T4" fmla="*/ 46 w 1202"/>
                <a:gd name="T5" fmla="*/ 0 h 206"/>
                <a:gd name="T6" fmla="*/ 112 w 1202"/>
                <a:gd name="T7" fmla="*/ 0 h 206"/>
                <a:gd name="T8" fmla="*/ 282 w 1202"/>
                <a:gd name="T9" fmla="*/ 8 h 206"/>
                <a:gd name="T10" fmla="*/ 456 w 1202"/>
                <a:gd name="T11" fmla="*/ 14 h 206"/>
                <a:gd name="T12" fmla="*/ 580 w 1202"/>
                <a:gd name="T13" fmla="*/ 18 h 206"/>
                <a:gd name="T14" fmla="*/ 580 w 1202"/>
                <a:gd name="T15" fmla="*/ 18 h 206"/>
                <a:gd name="T16" fmla="*/ 738 w 1202"/>
                <a:gd name="T17" fmla="*/ 16 h 206"/>
                <a:gd name="T18" fmla="*/ 944 w 1202"/>
                <a:gd name="T19" fmla="*/ 12 h 206"/>
                <a:gd name="T20" fmla="*/ 1202 w 1202"/>
                <a:gd name="T21" fmla="*/ 8 h 206"/>
                <a:gd name="T22" fmla="*/ 1202 w 1202"/>
                <a:gd name="T23" fmla="*/ 8 h 206"/>
                <a:gd name="T24" fmla="*/ 1200 w 1202"/>
                <a:gd name="T25" fmla="*/ 8 h 206"/>
                <a:gd name="T26" fmla="*/ 1196 w 1202"/>
                <a:gd name="T27" fmla="*/ 10 h 206"/>
                <a:gd name="T28" fmla="*/ 1190 w 1202"/>
                <a:gd name="T29" fmla="*/ 16 h 206"/>
                <a:gd name="T30" fmla="*/ 1186 w 1202"/>
                <a:gd name="T31" fmla="*/ 24 h 206"/>
                <a:gd name="T32" fmla="*/ 1180 w 1202"/>
                <a:gd name="T33" fmla="*/ 38 h 206"/>
                <a:gd name="T34" fmla="*/ 1172 w 1202"/>
                <a:gd name="T35" fmla="*/ 58 h 206"/>
                <a:gd name="T36" fmla="*/ 1166 w 1202"/>
                <a:gd name="T37" fmla="*/ 86 h 206"/>
                <a:gd name="T38" fmla="*/ 1166 w 1202"/>
                <a:gd name="T39" fmla="*/ 86 h 206"/>
                <a:gd name="T40" fmla="*/ 1164 w 1202"/>
                <a:gd name="T41" fmla="*/ 110 h 206"/>
                <a:gd name="T42" fmla="*/ 1164 w 1202"/>
                <a:gd name="T43" fmla="*/ 150 h 206"/>
                <a:gd name="T44" fmla="*/ 1166 w 1202"/>
                <a:gd name="T45" fmla="*/ 202 h 206"/>
                <a:gd name="T46" fmla="*/ 1166 w 1202"/>
                <a:gd name="T47" fmla="*/ 202 h 206"/>
                <a:gd name="T48" fmla="*/ 560 w 1202"/>
                <a:gd name="T49" fmla="*/ 198 h 206"/>
                <a:gd name="T50" fmla="*/ 560 w 1202"/>
                <a:gd name="T51" fmla="*/ 198 h 206"/>
                <a:gd name="T52" fmla="*/ 274 w 1202"/>
                <a:gd name="T53" fmla="*/ 198 h 206"/>
                <a:gd name="T54" fmla="*/ 274 w 1202"/>
                <a:gd name="T55" fmla="*/ 198 h 206"/>
                <a:gd name="T56" fmla="*/ 210 w 1202"/>
                <a:gd name="T57" fmla="*/ 200 h 206"/>
                <a:gd name="T58" fmla="*/ 152 w 1202"/>
                <a:gd name="T59" fmla="*/ 204 h 206"/>
                <a:gd name="T60" fmla="*/ 96 w 1202"/>
                <a:gd name="T61" fmla="*/ 206 h 206"/>
                <a:gd name="T62" fmla="*/ 66 w 1202"/>
                <a:gd name="T63" fmla="*/ 204 h 206"/>
                <a:gd name="T64" fmla="*/ 32 w 1202"/>
                <a:gd name="T65" fmla="*/ 202 h 206"/>
                <a:gd name="T66" fmla="*/ 32 w 1202"/>
                <a:gd name="T67" fmla="*/ 202 h 206"/>
                <a:gd name="T68" fmla="*/ 34 w 1202"/>
                <a:gd name="T69" fmla="*/ 160 h 206"/>
                <a:gd name="T70" fmla="*/ 32 w 1202"/>
                <a:gd name="T71" fmla="*/ 144 h 206"/>
                <a:gd name="T72" fmla="*/ 32 w 1202"/>
                <a:gd name="T73" fmla="*/ 128 h 206"/>
                <a:gd name="T74" fmla="*/ 28 w 1202"/>
                <a:gd name="T75" fmla="*/ 108 h 206"/>
                <a:gd name="T76" fmla="*/ 22 w 1202"/>
                <a:gd name="T77" fmla="*/ 84 h 206"/>
                <a:gd name="T78" fmla="*/ 0 w 1202"/>
                <a:gd name="T79" fmla="*/ 8 h 206"/>
                <a:gd name="T80" fmla="*/ 0 w 1202"/>
                <a:gd name="T81" fmla="*/ 8 h 206"/>
                <a:gd name="T82" fmla="*/ 0 w 1202"/>
                <a:gd name="T83" fmla="*/ 0 h 206"/>
                <a:gd name="T84" fmla="*/ 0 w 1202"/>
                <a:gd name="T85" fmla="*/ 0 h 206"/>
                <a:gd name="T86" fmla="*/ 0 w 1202"/>
                <a:gd name="T87" fmla="*/ 0 h 20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02"/>
                <a:gd name="T133" fmla="*/ 0 h 206"/>
                <a:gd name="T134" fmla="*/ 1202 w 1202"/>
                <a:gd name="T135" fmla="*/ 206 h 20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02" h="206">
                  <a:moveTo>
                    <a:pt x="0" y="0"/>
                  </a:moveTo>
                  <a:lnTo>
                    <a:pt x="0" y="0"/>
                  </a:lnTo>
                  <a:lnTo>
                    <a:pt x="46" y="0"/>
                  </a:lnTo>
                  <a:lnTo>
                    <a:pt x="112" y="0"/>
                  </a:lnTo>
                  <a:lnTo>
                    <a:pt x="282" y="8"/>
                  </a:lnTo>
                  <a:lnTo>
                    <a:pt x="456" y="14"/>
                  </a:lnTo>
                  <a:lnTo>
                    <a:pt x="580" y="18"/>
                  </a:lnTo>
                  <a:lnTo>
                    <a:pt x="738" y="16"/>
                  </a:lnTo>
                  <a:lnTo>
                    <a:pt x="944" y="12"/>
                  </a:lnTo>
                  <a:lnTo>
                    <a:pt x="1202" y="8"/>
                  </a:lnTo>
                  <a:lnTo>
                    <a:pt x="1200" y="8"/>
                  </a:lnTo>
                  <a:lnTo>
                    <a:pt x="1196" y="10"/>
                  </a:lnTo>
                  <a:lnTo>
                    <a:pt x="1190" y="16"/>
                  </a:lnTo>
                  <a:lnTo>
                    <a:pt x="1186" y="24"/>
                  </a:lnTo>
                  <a:lnTo>
                    <a:pt x="1180" y="38"/>
                  </a:lnTo>
                  <a:lnTo>
                    <a:pt x="1172" y="58"/>
                  </a:lnTo>
                  <a:lnTo>
                    <a:pt x="1166" y="86"/>
                  </a:lnTo>
                  <a:lnTo>
                    <a:pt x="1164" y="110"/>
                  </a:lnTo>
                  <a:lnTo>
                    <a:pt x="1164" y="150"/>
                  </a:lnTo>
                  <a:lnTo>
                    <a:pt x="1166" y="202"/>
                  </a:lnTo>
                  <a:lnTo>
                    <a:pt x="560" y="198"/>
                  </a:lnTo>
                  <a:lnTo>
                    <a:pt x="274" y="198"/>
                  </a:lnTo>
                  <a:lnTo>
                    <a:pt x="210" y="200"/>
                  </a:lnTo>
                  <a:lnTo>
                    <a:pt x="152" y="204"/>
                  </a:lnTo>
                  <a:lnTo>
                    <a:pt x="96" y="206"/>
                  </a:lnTo>
                  <a:lnTo>
                    <a:pt x="66" y="204"/>
                  </a:lnTo>
                  <a:lnTo>
                    <a:pt x="32" y="202"/>
                  </a:lnTo>
                  <a:lnTo>
                    <a:pt x="34" y="160"/>
                  </a:lnTo>
                  <a:lnTo>
                    <a:pt x="32" y="144"/>
                  </a:lnTo>
                  <a:lnTo>
                    <a:pt x="32" y="128"/>
                  </a:lnTo>
                  <a:lnTo>
                    <a:pt x="28" y="108"/>
                  </a:lnTo>
                  <a:lnTo>
                    <a:pt x="22" y="84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DBE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2" name="Freeform 56"/>
            <p:cNvSpPr>
              <a:spLocks/>
            </p:cNvSpPr>
            <p:nvPr/>
          </p:nvSpPr>
          <p:spPr bwMode="auto">
            <a:xfrm>
              <a:off x="1480" y="3192"/>
              <a:ext cx="282" cy="420"/>
            </a:xfrm>
            <a:custGeom>
              <a:avLst/>
              <a:gdLst>
                <a:gd name="T0" fmla="*/ 280 w 282"/>
                <a:gd name="T1" fmla="*/ 154 h 420"/>
                <a:gd name="T2" fmla="*/ 280 w 282"/>
                <a:gd name="T3" fmla="*/ 154 h 420"/>
                <a:gd name="T4" fmla="*/ 280 w 282"/>
                <a:gd name="T5" fmla="*/ 174 h 420"/>
                <a:gd name="T6" fmla="*/ 280 w 282"/>
                <a:gd name="T7" fmla="*/ 174 h 420"/>
                <a:gd name="T8" fmla="*/ 142 w 282"/>
                <a:gd name="T9" fmla="*/ 302 h 420"/>
                <a:gd name="T10" fmla="*/ 64 w 282"/>
                <a:gd name="T11" fmla="*/ 370 h 420"/>
                <a:gd name="T12" fmla="*/ 30 w 282"/>
                <a:gd name="T13" fmla="*/ 398 h 420"/>
                <a:gd name="T14" fmla="*/ 0 w 282"/>
                <a:gd name="T15" fmla="*/ 420 h 420"/>
                <a:gd name="T16" fmla="*/ 0 w 282"/>
                <a:gd name="T17" fmla="*/ 420 h 420"/>
                <a:gd name="T18" fmla="*/ 0 w 282"/>
                <a:gd name="T19" fmla="*/ 396 h 420"/>
                <a:gd name="T20" fmla="*/ 0 w 282"/>
                <a:gd name="T21" fmla="*/ 390 h 420"/>
                <a:gd name="T22" fmla="*/ 6 w 282"/>
                <a:gd name="T23" fmla="*/ 370 h 420"/>
                <a:gd name="T24" fmla="*/ 16 w 282"/>
                <a:gd name="T25" fmla="*/ 310 h 420"/>
                <a:gd name="T26" fmla="*/ 16 w 282"/>
                <a:gd name="T27" fmla="*/ 310 h 420"/>
                <a:gd name="T28" fmla="*/ 26 w 282"/>
                <a:gd name="T29" fmla="*/ 260 h 420"/>
                <a:gd name="T30" fmla="*/ 30 w 282"/>
                <a:gd name="T31" fmla="*/ 240 h 420"/>
                <a:gd name="T32" fmla="*/ 32 w 282"/>
                <a:gd name="T33" fmla="*/ 236 h 420"/>
                <a:gd name="T34" fmla="*/ 32 w 282"/>
                <a:gd name="T35" fmla="*/ 236 h 420"/>
                <a:gd name="T36" fmla="*/ 32 w 282"/>
                <a:gd name="T37" fmla="*/ 236 h 420"/>
                <a:gd name="T38" fmla="*/ 56 w 282"/>
                <a:gd name="T39" fmla="*/ 210 h 420"/>
                <a:gd name="T40" fmla="*/ 84 w 282"/>
                <a:gd name="T41" fmla="*/ 180 h 420"/>
                <a:gd name="T42" fmla="*/ 154 w 282"/>
                <a:gd name="T43" fmla="*/ 116 h 420"/>
                <a:gd name="T44" fmla="*/ 224 w 282"/>
                <a:gd name="T45" fmla="*/ 52 h 420"/>
                <a:gd name="T46" fmla="*/ 280 w 282"/>
                <a:gd name="T47" fmla="*/ 0 h 420"/>
                <a:gd name="T48" fmla="*/ 280 w 282"/>
                <a:gd name="T49" fmla="*/ 0 h 420"/>
                <a:gd name="T50" fmla="*/ 280 w 282"/>
                <a:gd name="T51" fmla="*/ 70 h 420"/>
                <a:gd name="T52" fmla="*/ 280 w 282"/>
                <a:gd name="T53" fmla="*/ 70 h 420"/>
                <a:gd name="T54" fmla="*/ 280 w 282"/>
                <a:gd name="T55" fmla="*/ 92 h 420"/>
                <a:gd name="T56" fmla="*/ 282 w 282"/>
                <a:gd name="T57" fmla="*/ 86 h 420"/>
                <a:gd name="T58" fmla="*/ 280 w 282"/>
                <a:gd name="T59" fmla="*/ 154 h 420"/>
                <a:gd name="T60" fmla="*/ 280 w 282"/>
                <a:gd name="T61" fmla="*/ 154 h 420"/>
                <a:gd name="T62" fmla="*/ 280 w 282"/>
                <a:gd name="T63" fmla="*/ 154 h 42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82"/>
                <a:gd name="T97" fmla="*/ 0 h 420"/>
                <a:gd name="T98" fmla="*/ 282 w 282"/>
                <a:gd name="T99" fmla="*/ 420 h 42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82" h="420">
                  <a:moveTo>
                    <a:pt x="280" y="154"/>
                  </a:moveTo>
                  <a:lnTo>
                    <a:pt x="280" y="154"/>
                  </a:lnTo>
                  <a:lnTo>
                    <a:pt x="280" y="174"/>
                  </a:lnTo>
                  <a:lnTo>
                    <a:pt x="142" y="302"/>
                  </a:lnTo>
                  <a:lnTo>
                    <a:pt x="64" y="370"/>
                  </a:lnTo>
                  <a:lnTo>
                    <a:pt x="30" y="398"/>
                  </a:lnTo>
                  <a:lnTo>
                    <a:pt x="0" y="420"/>
                  </a:lnTo>
                  <a:lnTo>
                    <a:pt x="0" y="396"/>
                  </a:lnTo>
                  <a:lnTo>
                    <a:pt x="0" y="390"/>
                  </a:lnTo>
                  <a:lnTo>
                    <a:pt x="6" y="370"/>
                  </a:lnTo>
                  <a:lnTo>
                    <a:pt x="16" y="310"/>
                  </a:lnTo>
                  <a:lnTo>
                    <a:pt x="26" y="260"/>
                  </a:lnTo>
                  <a:lnTo>
                    <a:pt x="30" y="240"/>
                  </a:lnTo>
                  <a:lnTo>
                    <a:pt x="32" y="236"/>
                  </a:lnTo>
                  <a:lnTo>
                    <a:pt x="56" y="210"/>
                  </a:lnTo>
                  <a:lnTo>
                    <a:pt x="84" y="180"/>
                  </a:lnTo>
                  <a:lnTo>
                    <a:pt x="154" y="116"/>
                  </a:lnTo>
                  <a:lnTo>
                    <a:pt x="224" y="52"/>
                  </a:lnTo>
                  <a:lnTo>
                    <a:pt x="280" y="0"/>
                  </a:lnTo>
                  <a:lnTo>
                    <a:pt x="280" y="70"/>
                  </a:lnTo>
                  <a:lnTo>
                    <a:pt x="280" y="92"/>
                  </a:lnTo>
                  <a:lnTo>
                    <a:pt x="282" y="86"/>
                  </a:lnTo>
                  <a:lnTo>
                    <a:pt x="280" y="154"/>
                  </a:lnTo>
                  <a:close/>
                </a:path>
              </a:pathLst>
            </a:custGeom>
            <a:solidFill>
              <a:srgbClr val="3276A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3" name="Freeform 57"/>
            <p:cNvSpPr>
              <a:spLocks noEditPoints="1"/>
            </p:cNvSpPr>
            <p:nvPr/>
          </p:nvSpPr>
          <p:spPr bwMode="auto">
            <a:xfrm>
              <a:off x="196" y="3076"/>
              <a:ext cx="1598" cy="618"/>
            </a:xfrm>
            <a:custGeom>
              <a:avLst/>
              <a:gdLst>
                <a:gd name="T0" fmla="*/ 1484 w 1598"/>
                <a:gd name="T1" fmla="*/ 4 h 618"/>
                <a:gd name="T2" fmla="*/ 1386 w 1598"/>
                <a:gd name="T3" fmla="*/ 4 h 618"/>
                <a:gd name="T4" fmla="*/ 1148 w 1598"/>
                <a:gd name="T5" fmla="*/ 22 h 618"/>
                <a:gd name="T6" fmla="*/ 574 w 1598"/>
                <a:gd name="T7" fmla="*/ 24 h 618"/>
                <a:gd name="T8" fmla="*/ 530 w 1598"/>
                <a:gd name="T9" fmla="*/ 8 h 618"/>
                <a:gd name="T10" fmla="*/ 428 w 1598"/>
                <a:gd name="T11" fmla="*/ 4 h 618"/>
                <a:gd name="T12" fmla="*/ 330 w 1598"/>
                <a:gd name="T13" fmla="*/ 12 h 618"/>
                <a:gd name="T14" fmla="*/ 322 w 1598"/>
                <a:gd name="T15" fmla="*/ 46 h 618"/>
                <a:gd name="T16" fmla="*/ 80 w 1598"/>
                <a:gd name="T17" fmla="*/ 256 h 618"/>
                <a:gd name="T18" fmla="*/ 14 w 1598"/>
                <a:gd name="T19" fmla="*/ 322 h 618"/>
                <a:gd name="T20" fmla="*/ 0 w 1598"/>
                <a:gd name="T21" fmla="*/ 328 h 618"/>
                <a:gd name="T22" fmla="*/ 4 w 1598"/>
                <a:gd name="T23" fmla="*/ 348 h 618"/>
                <a:gd name="T24" fmla="*/ 66 w 1598"/>
                <a:gd name="T25" fmla="*/ 478 h 618"/>
                <a:gd name="T26" fmla="*/ 76 w 1598"/>
                <a:gd name="T27" fmla="*/ 584 h 618"/>
                <a:gd name="T28" fmla="*/ 150 w 1598"/>
                <a:gd name="T29" fmla="*/ 604 h 618"/>
                <a:gd name="T30" fmla="*/ 490 w 1598"/>
                <a:gd name="T31" fmla="*/ 616 h 618"/>
                <a:gd name="T32" fmla="*/ 978 w 1598"/>
                <a:gd name="T33" fmla="*/ 616 h 618"/>
                <a:gd name="T34" fmla="*/ 1214 w 1598"/>
                <a:gd name="T35" fmla="*/ 600 h 618"/>
                <a:gd name="T36" fmla="*/ 1250 w 1598"/>
                <a:gd name="T37" fmla="*/ 598 h 618"/>
                <a:gd name="T38" fmla="*/ 1406 w 1598"/>
                <a:gd name="T39" fmla="*/ 470 h 618"/>
                <a:gd name="T40" fmla="*/ 1574 w 1598"/>
                <a:gd name="T41" fmla="*/ 298 h 618"/>
                <a:gd name="T42" fmla="*/ 1576 w 1598"/>
                <a:gd name="T43" fmla="*/ 186 h 618"/>
                <a:gd name="T44" fmla="*/ 1576 w 1598"/>
                <a:gd name="T45" fmla="*/ 66 h 618"/>
                <a:gd name="T46" fmla="*/ 1582 w 1598"/>
                <a:gd name="T47" fmla="*/ 40 h 618"/>
                <a:gd name="T48" fmla="*/ 1598 w 1598"/>
                <a:gd name="T49" fmla="*/ 18 h 618"/>
                <a:gd name="T50" fmla="*/ 1258 w 1598"/>
                <a:gd name="T51" fmla="*/ 544 h 618"/>
                <a:gd name="T52" fmla="*/ 1288 w 1598"/>
                <a:gd name="T53" fmla="*/ 394 h 618"/>
                <a:gd name="T54" fmla="*/ 1282 w 1598"/>
                <a:gd name="T55" fmla="*/ 358 h 618"/>
                <a:gd name="T56" fmla="*/ 1244 w 1598"/>
                <a:gd name="T57" fmla="*/ 556 h 618"/>
                <a:gd name="T58" fmla="*/ 1016 w 1598"/>
                <a:gd name="T59" fmla="*/ 574 h 618"/>
                <a:gd name="T60" fmla="*/ 538 w 1598"/>
                <a:gd name="T61" fmla="*/ 574 h 618"/>
                <a:gd name="T62" fmla="*/ 192 w 1598"/>
                <a:gd name="T63" fmla="*/ 562 h 618"/>
                <a:gd name="T64" fmla="*/ 108 w 1598"/>
                <a:gd name="T65" fmla="*/ 550 h 618"/>
                <a:gd name="T66" fmla="*/ 94 w 1598"/>
                <a:gd name="T67" fmla="*/ 444 h 618"/>
                <a:gd name="T68" fmla="*/ 58 w 1598"/>
                <a:gd name="T69" fmla="*/ 344 h 618"/>
                <a:gd name="T70" fmla="*/ 340 w 1598"/>
                <a:gd name="T71" fmla="*/ 370 h 618"/>
                <a:gd name="T72" fmla="*/ 890 w 1598"/>
                <a:gd name="T73" fmla="*/ 380 h 618"/>
                <a:gd name="T74" fmla="*/ 1240 w 1598"/>
                <a:gd name="T75" fmla="*/ 352 h 618"/>
                <a:gd name="T76" fmla="*/ 1290 w 1598"/>
                <a:gd name="T77" fmla="*/ 336 h 618"/>
                <a:gd name="T78" fmla="*/ 1266 w 1598"/>
                <a:gd name="T79" fmla="*/ 326 h 618"/>
                <a:gd name="T80" fmla="*/ 1090 w 1598"/>
                <a:gd name="T81" fmla="*/ 346 h 618"/>
                <a:gd name="T82" fmla="*/ 538 w 1598"/>
                <a:gd name="T83" fmla="*/ 358 h 618"/>
                <a:gd name="T84" fmla="*/ 48 w 1598"/>
                <a:gd name="T85" fmla="*/ 324 h 618"/>
                <a:gd name="T86" fmla="*/ 206 w 1598"/>
                <a:gd name="T87" fmla="*/ 190 h 618"/>
                <a:gd name="T88" fmla="*/ 354 w 1598"/>
                <a:gd name="T89" fmla="*/ 42 h 618"/>
                <a:gd name="T90" fmla="*/ 486 w 1598"/>
                <a:gd name="T91" fmla="*/ 44 h 618"/>
                <a:gd name="T92" fmla="*/ 512 w 1598"/>
                <a:gd name="T93" fmla="*/ 56 h 618"/>
                <a:gd name="T94" fmla="*/ 602 w 1598"/>
                <a:gd name="T95" fmla="*/ 60 h 618"/>
                <a:gd name="T96" fmla="*/ 1350 w 1598"/>
                <a:gd name="T97" fmla="*/ 60 h 618"/>
                <a:gd name="T98" fmla="*/ 1382 w 1598"/>
                <a:gd name="T99" fmla="*/ 38 h 618"/>
                <a:gd name="T100" fmla="*/ 1534 w 1598"/>
                <a:gd name="T101" fmla="*/ 44 h 618"/>
                <a:gd name="T102" fmla="*/ 1534 w 1598"/>
                <a:gd name="T103" fmla="*/ 80 h 618"/>
                <a:gd name="T104" fmla="*/ 1340 w 1598"/>
                <a:gd name="T105" fmla="*/ 266 h 618"/>
                <a:gd name="T106" fmla="*/ 1292 w 1598"/>
                <a:gd name="T107" fmla="*/ 320 h 618"/>
                <a:gd name="T108" fmla="*/ 1316 w 1598"/>
                <a:gd name="T109" fmla="*/ 318 h 618"/>
                <a:gd name="T110" fmla="*/ 1536 w 1598"/>
                <a:gd name="T111" fmla="*/ 102 h 618"/>
                <a:gd name="T112" fmla="*/ 1558 w 1598"/>
                <a:gd name="T113" fmla="*/ 184 h 618"/>
                <a:gd name="T114" fmla="*/ 1562 w 1598"/>
                <a:gd name="T115" fmla="*/ 272 h 618"/>
                <a:gd name="T116" fmla="*/ 1258 w 1598"/>
                <a:gd name="T117" fmla="*/ 544 h 61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598"/>
                <a:gd name="T178" fmla="*/ 0 h 618"/>
                <a:gd name="T179" fmla="*/ 1598 w 1598"/>
                <a:gd name="T180" fmla="*/ 618 h 61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598" h="618">
                  <a:moveTo>
                    <a:pt x="1594" y="2"/>
                  </a:moveTo>
                  <a:lnTo>
                    <a:pt x="1594" y="2"/>
                  </a:lnTo>
                  <a:lnTo>
                    <a:pt x="1578" y="6"/>
                  </a:lnTo>
                  <a:lnTo>
                    <a:pt x="1560" y="6"/>
                  </a:lnTo>
                  <a:lnTo>
                    <a:pt x="1522" y="6"/>
                  </a:lnTo>
                  <a:lnTo>
                    <a:pt x="1484" y="4"/>
                  </a:lnTo>
                  <a:lnTo>
                    <a:pt x="1450" y="2"/>
                  </a:lnTo>
                  <a:lnTo>
                    <a:pt x="1398" y="0"/>
                  </a:lnTo>
                  <a:lnTo>
                    <a:pt x="1392" y="0"/>
                  </a:lnTo>
                  <a:lnTo>
                    <a:pt x="1386" y="4"/>
                  </a:lnTo>
                  <a:lnTo>
                    <a:pt x="1374" y="10"/>
                  </a:lnTo>
                  <a:lnTo>
                    <a:pt x="1366" y="18"/>
                  </a:lnTo>
                  <a:lnTo>
                    <a:pt x="1360" y="22"/>
                  </a:lnTo>
                  <a:lnTo>
                    <a:pt x="1254" y="24"/>
                  </a:lnTo>
                  <a:lnTo>
                    <a:pt x="1148" y="22"/>
                  </a:lnTo>
                  <a:lnTo>
                    <a:pt x="776" y="22"/>
                  </a:lnTo>
                  <a:lnTo>
                    <a:pt x="616" y="22"/>
                  </a:lnTo>
                  <a:lnTo>
                    <a:pt x="574" y="24"/>
                  </a:lnTo>
                  <a:lnTo>
                    <a:pt x="554" y="26"/>
                  </a:lnTo>
                  <a:lnTo>
                    <a:pt x="532" y="24"/>
                  </a:lnTo>
                  <a:lnTo>
                    <a:pt x="534" y="14"/>
                  </a:lnTo>
                  <a:lnTo>
                    <a:pt x="532" y="10"/>
                  </a:lnTo>
                  <a:lnTo>
                    <a:pt x="530" y="8"/>
                  </a:lnTo>
                  <a:lnTo>
                    <a:pt x="522" y="6"/>
                  </a:lnTo>
                  <a:lnTo>
                    <a:pt x="514" y="4"/>
                  </a:lnTo>
                  <a:lnTo>
                    <a:pt x="496" y="6"/>
                  </a:lnTo>
                  <a:lnTo>
                    <a:pt x="428" y="4"/>
                  </a:lnTo>
                  <a:lnTo>
                    <a:pt x="404" y="4"/>
                  </a:lnTo>
                  <a:lnTo>
                    <a:pt x="378" y="4"/>
                  </a:lnTo>
                  <a:lnTo>
                    <a:pt x="354" y="6"/>
                  </a:lnTo>
                  <a:lnTo>
                    <a:pt x="330" y="12"/>
                  </a:lnTo>
                  <a:lnTo>
                    <a:pt x="328" y="14"/>
                  </a:lnTo>
                  <a:lnTo>
                    <a:pt x="326" y="16"/>
                  </a:lnTo>
                  <a:lnTo>
                    <a:pt x="322" y="26"/>
                  </a:lnTo>
                  <a:lnTo>
                    <a:pt x="322" y="36"/>
                  </a:lnTo>
                  <a:lnTo>
                    <a:pt x="322" y="46"/>
                  </a:lnTo>
                  <a:lnTo>
                    <a:pt x="218" y="138"/>
                  </a:lnTo>
                  <a:lnTo>
                    <a:pt x="140" y="210"/>
                  </a:lnTo>
                  <a:lnTo>
                    <a:pt x="112" y="234"/>
                  </a:lnTo>
                  <a:lnTo>
                    <a:pt x="80" y="256"/>
                  </a:lnTo>
                  <a:lnTo>
                    <a:pt x="50" y="280"/>
                  </a:lnTo>
                  <a:lnTo>
                    <a:pt x="22" y="304"/>
                  </a:lnTo>
                  <a:lnTo>
                    <a:pt x="18" y="310"/>
                  </a:lnTo>
                  <a:lnTo>
                    <a:pt x="14" y="322"/>
                  </a:lnTo>
                  <a:lnTo>
                    <a:pt x="4" y="322"/>
                  </a:lnTo>
                  <a:lnTo>
                    <a:pt x="0" y="324"/>
                  </a:lnTo>
                  <a:lnTo>
                    <a:pt x="0" y="328"/>
                  </a:lnTo>
                  <a:lnTo>
                    <a:pt x="2" y="334"/>
                  </a:lnTo>
                  <a:lnTo>
                    <a:pt x="4" y="338"/>
                  </a:lnTo>
                  <a:lnTo>
                    <a:pt x="4" y="344"/>
                  </a:lnTo>
                  <a:lnTo>
                    <a:pt x="4" y="348"/>
                  </a:lnTo>
                  <a:lnTo>
                    <a:pt x="24" y="374"/>
                  </a:lnTo>
                  <a:lnTo>
                    <a:pt x="40" y="402"/>
                  </a:lnTo>
                  <a:lnTo>
                    <a:pt x="52" y="432"/>
                  </a:lnTo>
                  <a:lnTo>
                    <a:pt x="64" y="462"/>
                  </a:lnTo>
                  <a:lnTo>
                    <a:pt x="66" y="478"/>
                  </a:lnTo>
                  <a:lnTo>
                    <a:pt x="68" y="492"/>
                  </a:lnTo>
                  <a:lnTo>
                    <a:pt x="70" y="520"/>
                  </a:lnTo>
                  <a:lnTo>
                    <a:pt x="70" y="550"/>
                  </a:lnTo>
                  <a:lnTo>
                    <a:pt x="74" y="580"/>
                  </a:lnTo>
                  <a:lnTo>
                    <a:pt x="76" y="584"/>
                  </a:lnTo>
                  <a:lnTo>
                    <a:pt x="78" y="590"/>
                  </a:lnTo>
                  <a:lnTo>
                    <a:pt x="82" y="594"/>
                  </a:lnTo>
                  <a:lnTo>
                    <a:pt x="88" y="596"/>
                  </a:lnTo>
                  <a:lnTo>
                    <a:pt x="102" y="602"/>
                  </a:lnTo>
                  <a:lnTo>
                    <a:pt x="118" y="604"/>
                  </a:lnTo>
                  <a:lnTo>
                    <a:pt x="150" y="604"/>
                  </a:lnTo>
                  <a:lnTo>
                    <a:pt x="176" y="604"/>
                  </a:lnTo>
                  <a:lnTo>
                    <a:pt x="280" y="606"/>
                  </a:lnTo>
                  <a:lnTo>
                    <a:pt x="382" y="610"/>
                  </a:lnTo>
                  <a:lnTo>
                    <a:pt x="490" y="616"/>
                  </a:lnTo>
                  <a:lnTo>
                    <a:pt x="598" y="618"/>
                  </a:lnTo>
                  <a:lnTo>
                    <a:pt x="706" y="618"/>
                  </a:lnTo>
                  <a:lnTo>
                    <a:pt x="814" y="616"/>
                  </a:lnTo>
                  <a:lnTo>
                    <a:pt x="924" y="616"/>
                  </a:lnTo>
                  <a:lnTo>
                    <a:pt x="978" y="616"/>
                  </a:lnTo>
                  <a:lnTo>
                    <a:pt x="1032" y="614"/>
                  </a:lnTo>
                  <a:lnTo>
                    <a:pt x="1084" y="612"/>
                  </a:lnTo>
                  <a:lnTo>
                    <a:pt x="1136" y="608"/>
                  </a:lnTo>
                  <a:lnTo>
                    <a:pt x="1190" y="604"/>
                  </a:lnTo>
                  <a:lnTo>
                    <a:pt x="1214" y="600"/>
                  </a:lnTo>
                  <a:lnTo>
                    <a:pt x="1240" y="594"/>
                  </a:lnTo>
                  <a:lnTo>
                    <a:pt x="1246" y="590"/>
                  </a:lnTo>
                  <a:lnTo>
                    <a:pt x="1248" y="596"/>
                  </a:lnTo>
                  <a:lnTo>
                    <a:pt x="1250" y="598"/>
                  </a:lnTo>
                  <a:lnTo>
                    <a:pt x="1252" y="596"/>
                  </a:lnTo>
                  <a:lnTo>
                    <a:pt x="1292" y="568"/>
                  </a:lnTo>
                  <a:lnTo>
                    <a:pt x="1330" y="536"/>
                  </a:lnTo>
                  <a:lnTo>
                    <a:pt x="1368" y="504"/>
                  </a:lnTo>
                  <a:lnTo>
                    <a:pt x="1406" y="470"/>
                  </a:lnTo>
                  <a:lnTo>
                    <a:pt x="1478" y="400"/>
                  </a:lnTo>
                  <a:lnTo>
                    <a:pt x="1550" y="330"/>
                  </a:lnTo>
                  <a:lnTo>
                    <a:pt x="1562" y="320"/>
                  </a:lnTo>
                  <a:lnTo>
                    <a:pt x="1570" y="310"/>
                  </a:lnTo>
                  <a:lnTo>
                    <a:pt x="1574" y="298"/>
                  </a:lnTo>
                  <a:lnTo>
                    <a:pt x="1576" y="284"/>
                  </a:lnTo>
                  <a:lnTo>
                    <a:pt x="1578" y="242"/>
                  </a:lnTo>
                  <a:lnTo>
                    <a:pt x="1576" y="200"/>
                  </a:lnTo>
                  <a:lnTo>
                    <a:pt x="1576" y="186"/>
                  </a:lnTo>
                  <a:lnTo>
                    <a:pt x="1574" y="184"/>
                  </a:lnTo>
                  <a:lnTo>
                    <a:pt x="1574" y="188"/>
                  </a:lnTo>
                  <a:lnTo>
                    <a:pt x="1574" y="126"/>
                  </a:lnTo>
                  <a:lnTo>
                    <a:pt x="1574" y="96"/>
                  </a:lnTo>
                  <a:lnTo>
                    <a:pt x="1576" y="66"/>
                  </a:lnTo>
                  <a:lnTo>
                    <a:pt x="1584" y="54"/>
                  </a:lnTo>
                  <a:lnTo>
                    <a:pt x="1586" y="52"/>
                  </a:lnTo>
                  <a:lnTo>
                    <a:pt x="1584" y="48"/>
                  </a:lnTo>
                  <a:lnTo>
                    <a:pt x="1582" y="40"/>
                  </a:lnTo>
                  <a:lnTo>
                    <a:pt x="1590" y="38"/>
                  </a:lnTo>
                  <a:lnTo>
                    <a:pt x="1592" y="36"/>
                  </a:lnTo>
                  <a:lnTo>
                    <a:pt x="1596" y="32"/>
                  </a:lnTo>
                  <a:lnTo>
                    <a:pt x="1598" y="18"/>
                  </a:lnTo>
                  <a:lnTo>
                    <a:pt x="1598" y="6"/>
                  </a:lnTo>
                  <a:lnTo>
                    <a:pt x="1598" y="4"/>
                  </a:lnTo>
                  <a:lnTo>
                    <a:pt x="1594" y="2"/>
                  </a:lnTo>
                  <a:close/>
                  <a:moveTo>
                    <a:pt x="1258" y="544"/>
                  </a:moveTo>
                  <a:lnTo>
                    <a:pt x="1258" y="544"/>
                  </a:lnTo>
                  <a:lnTo>
                    <a:pt x="1260" y="506"/>
                  </a:lnTo>
                  <a:lnTo>
                    <a:pt x="1266" y="468"/>
                  </a:lnTo>
                  <a:lnTo>
                    <a:pt x="1276" y="430"/>
                  </a:lnTo>
                  <a:lnTo>
                    <a:pt x="1288" y="394"/>
                  </a:lnTo>
                  <a:lnTo>
                    <a:pt x="1290" y="380"/>
                  </a:lnTo>
                  <a:lnTo>
                    <a:pt x="1288" y="364"/>
                  </a:lnTo>
                  <a:lnTo>
                    <a:pt x="1286" y="352"/>
                  </a:lnTo>
                  <a:lnTo>
                    <a:pt x="1284" y="352"/>
                  </a:lnTo>
                  <a:lnTo>
                    <a:pt x="1282" y="358"/>
                  </a:lnTo>
                  <a:lnTo>
                    <a:pt x="1266" y="406"/>
                  </a:lnTo>
                  <a:lnTo>
                    <a:pt x="1254" y="456"/>
                  </a:lnTo>
                  <a:lnTo>
                    <a:pt x="1248" y="506"/>
                  </a:lnTo>
                  <a:lnTo>
                    <a:pt x="1246" y="530"/>
                  </a:lnTo>
                  <a:lnTo>
                    <a:pt x="1244" y="556"/>
                  </a:lnTo>
                  <a:lnTo>
                    <a:pt x="1202" y="562"/>
                  </a:lnTo>
                  <a:lnTo>
                    <a:pt x="1158" y="566"/>
                  </a:lnTo>
                  <a:lnTo>
                    <a:pt x="1070" y="572"/>
                  </a:lnTo>
                  <a:lnTo>
                    <a:pt x="1016" y="574"/>
                  </a:lnTo>
                  <a:lnTo>
                    <a:pt x="962" y="574"/>
                  </a:lnTo>
                  <a:lnTo>
                    <a:pt x="854" y="574"/>
                  </a:lnTo>
                  <a:lnTo>
                    <a:pt x="748" y="576"/>
                  </a:lnTo>
                  <a:lnTo>
                    <a:pt x="644" y="576"/>
                  </a:lnTo>
                  <a:lnTo>
                    <a:pt x="538" y="574"/>
                  </a:lnTo>
                  <a:lnTo>
                    <a:pt x="434" y="570"/>
                  </a:lnTo>
                  <a:lnTo>
                    <a:pt x="332" y="564"/>
                  </a:lnTo>
                  <a:lnTo>
                    <a:pt x="232" y="562"/>
                  </a:lnTo>
                  <a:lnTo>
                    <a:pt x="192" y="562"/>
                  </a:lnTo>
                  <a:lnTo>
                    <a:pt x="150" y="560"/>
                  </a:lnTo>
                  <a:lnTo>
                    <a:pt x="134" y="558"/>
                  </a:lnTo>
                  <a:lnTo>
                    <a:pt x="118" y="556"/>
                  </a:lnTo>
                  <a:lnTo>
                    <a:pt x="112" y="554"/>
                  </a:lnTo>
                  <a:lnTo>
                    <a:pt x="108" y="550"/>
                  </a:lnTo>
                  <a:lnTo>
                    <a:pt x="104" y="544"/>
                  </a:lnTo>
                  <a:lnTo>
                    <a:pt x="102" y="534"/>
                  </a:lnTo>
                  <a:lnTo>
                    <a:pt x="98" y="504"/>
                  </a:lnTo>
                  <a:lnTo>
                    <a:pt x="98" y="474"/>
                  </a:lnTo>
                  <a:lnTo>
                    <a:pt x="94" y="444"/>
                  </a:lnTo>
                  <a:lnTo>
                    <a:pt x="92" y="428"/>
                  </a:lnTo>
                  <a:lnTo>
                    <a:pt x="88" y="412"/>
                  </a:lnTo>
                  <a:lnTo>
                    <a:pt x="82" y="396"/>
                  </a:lnTo>
                  <a:lnTo>
                    <a:pt x="76" y="378"/>
                  </a:lnTo>
                  <a:lnTo>
                    <a:pt x="58" y="344"/>
                  </a:lnTo>
                  <a:lnTo>
                    <a:pt x="100" y="348"/>
                  </a:lnTo>
                  <a:lnTo>
                    <a:pt x="144" y="352"/>
                  </a:lnTo>
                  <a:lnTo>
                    <a:pt x="230" y="362"/>
                  </a:lnTo>
                  <a:lnTo>
                    <a:pt x="340" y="370"/>
                  </a:lnTo>
                  <a:lnTo>
                    <a:pt x="452" y="376"/>
                  </a:lnTo>
                  <a:lnTo>
                    <a:pt x="562" y="380"/>
                  </a:lnTo>
                  <a:lnTo>
                    <a:pt x="672" y="382"/>
                  </a:lnTo>
                  <a:lnTo>
                    <a:pt x="782" y="382"/>
                  </a:lnTo>
                  <a:lnTo>
                    <a:pt x="890" y="380"/>
                  </a:lnTo>
                  <a:lnTo>
                    <a:pt x="1000" y="374"/>
                  </a:lnTo>
                  <a:lnTo>
                    <a:pt x="1108" y="366"/>
                  </a:lnTo>
                  <a:lnTo>
                    <a:pt x="1174" y="360"/>
                  </a:lnTo>
                  <a:lnTo>
                    <a:pt x="1240" y="352"/>
                  </a:lnTo>
                  <a:lnTo>
                    <a:pt x="1264" y="348"/>
                  </a:lnTo>
                  <a:lnTo>
                    <a:pt x="1278" y="346"/>
                  </a:lnTo>
                  <a:lnTo>
                    <a:pt x="1288" y="342"/>
                  </a:lnTo>
                  <a:lnTo>
                    <a:pt x="1290" y="340"/>
                  </a:lnTo>
                  <a:lnTo>
                    <a:pt x="1290" y="336"/>
                  </a:lnTo>
                  <a:lnTo>
                    <a:pt x="1288" y="328"/>
                  </a:lnTo>
                  <a:lnTo>
                    <a:pt x="1282" y="322"/>
                  </a:lnTo>
                  <a:lnTo>
                    <a:pt x="1280" y="322"/>
                  </a:lnTo>
                  <a:lnTo>
                    <a:pt x="1276" y="322"/>
                  </a:lnTo>
                  <a:lnTo>
                    <a:pt x="1266" y="326"/>
                  </a:lnTo>
                  <a:lnTo>
                    <a:pt x="1252" y="330"/>
                  </a:lnTo>
                  <a:lnTo>
                    <a:pt x="1226" y="332"/>
                  </a:lnTo>
                  <a:lnTo>
                    <a:pt x="1158" y="340"/>
                  </a:lnTo>
                  <a:lnTo>
                    <a:pt x="1090" y="346"/>
                  </a:lnTo>
                  <a:lnTo>
                    <a:pt x="980" y="354"/>
                  </a:lnTo>
                  <a:lnTo>
                    <a:pt x="870" y="358"/>
                  </a:lnTo>
                  <a:lnTo>
                    <a:pt x="758" y="362"/>
                  </a:lnTo>
                  <a:lnTo>
                    <a:pt x="648" y="362"/>
                  </a:lnTo>
                  <a:lnTo>
                    <a:pt x="538" y="358"/>
                  </a:lnTo>
                  <a:lnTo>
                    <a:pt x="426" y="354"/>
                  </a:lnTo>
                  <a:lnTo>
                    <a:pt x="314" y="348"/>
                  </a:lnTo>
                  <a:lnTo>
                    <a:pt x="204" y="340"/>
                  </a:lnTo>
                  <a:lnTo>
                    <a:pt x="126" y="332"/>
                  </a:lnTo>
                  <a:lnTo>
                    <a:pt x="48" y="324"/>
                  </a:lnTo>
                  <a:lnTo>
                    <a:pt x="90" y="294"/>
                  </a:lnTo>
                  <a:lnTo>
                    <a:pt x="110" y="278"/>
                  </a:lnTo>
                  <a:lnTo>
                    <a:pt x="130" y="260"/>
                  </a:lnTo>
                  <a:lnTo>
                    <a:pt x="206" y="190"/>
                  </a:lnTo>
                  <a:lnTo>
                    <a:pt x="346" y="64"/>
                  </a:lnTo>
                  <a:lnTo>
                    <a:pt x="348" y="60"/>
                  </a:lnTo>
                  <a:lnTo>
                    <a:pt x="350" y="56"/>
                  </a:lnTo>
                  <a:lnTo>
                    <a:pt x="354" y="42"/>
                  </a:lnTo>
                  <a:lnTo>
                    <a:pt x="372" y="40"/>
                  </a:lnTo>
                  <a:lnTo>
                    <a:pt x="392" y="40"/>
                  </a:lnTo>
                  <a:lnTo>
                    <a:pt x="430" y="42"/>
                  </a:lnTo>
                  <a:lnTo>
                    <a:pt x="486" y="44"/>
                  </a:lnTo>
                  <a:lnTo>
                    <a:pt x="498" y="42"/>
                  </a:lnTo>
                  <a:lnTo>
                    <a:pt x="512" y="42"/>
                  </a:lnTo>
                  <a:lnTo>
                    <a:pt x="512" y="52"/>
                  </a:lnTo>
                  <a:lnTo>
                    <a:pt x="512" y="56"/>
                  </a:lnTo>
                  <a:lnTo>
                    <a:pt x="514" y="58"/>
                  </a:lnTo>
                  <a:lnTo>
                    <a:pt x="524" y="62"/>
                  </a:lnTo>
                  <a:lnTo>
                    <a:pt x="534" y="62"/>
                  </a:lnTo>
                  <a:lnTo>
                    <a:pt x="558" y="62"/>
                  </a:lnTo>
                  <a:lnTo>
                    <a:pt x="602" y="60"/>
                  </a:lnTo>
                  <a:lnTo>
                    <a:pt x="760" y="60"/>
                  </a:lnTo>
                  <a:lnTo>
                    <a:pt x="1132" y="60"/>
                  </a:lnTo>
                  <a:lnTo>
                    <a:pt x="1350" y="60"/>
                  </a:lnTo>
                  <a:lnTo>
                    <a:pt x="1356" y="58"/>
                  </a:lnTo>
                  <a:lnTo>
                    <a:pt x="1360" y="56"/>
                  </a:lnTo>
                  <a:lnTo>
                    <a:pt x="1368" y="48"/>
                  </a:lnTo>
                  <a:lnTo>
                    <a:pt x="1376" y="40"/>
                  </a:lnTo>
                  <a:lnTo>
                    <a:pt x="1382" y="38"/>
                  </a:lnTo>
                  <a:lnTo>
                    <a:pt x="1390" y="38"/>
                  </a:lnTo>
                  <a:lnTo>
                    <a:pt x="1448" y="40"/>
                  </a:lnTo>
                  <a:lnTo>
                    <a:pt x="1506" y="42"/>
                  </a:lnTo>
                  <a:lnTo>
                    <a:pt x="1534" y="44"/>
                  </a:lnTo>
                  <a:lnTo>
                    <a:pt x="1564" y="44"/>
                  </a:lnTo>
                  <a:lnTo>
                    <a:pt x="1564" y="46"/>
                  </a:lnTo>
                  <a:lnTo>
                    <a:pt x="1550" y="64"/>
                  </a:lnTo>
                  <a:lnTo>
                    <a:pt x="1534" y="80"/>
                  </a:lnTo>
                  <a:lnTo>
                    <a:pt x="1500" y="112"/>
                  </a:lnTo>
                  <a:lnTo>
                    <a:pt x="1466" y="142"/>
                  </a:lnTo>
                  <a:lnTo>
                    <a:pt x="1434" y="172"/>
                  </a:lnTo>
                  <a:lnTo>
                    <a:pt x="1340" y="266"/>
                  </a:lnTo>
                  <a:lnTo>
                    <a:pt x="1316" y="288"/>
                  </a:lnTo>
                  <a:lnTo>
                    <a:pt x="1304" y="300"/>
                  </a:lnTo>
                  <a:lnTo>
                    <a:pt x="1294" y="314"/>
                  </a:lnTo>
                  <a:lnTo>
                    <a:pt x="1292" y="318"/>
                  </a:lnTo>
                  <a:lnTo>
                    <a:pt x="1292" y="320"/>
                  </a:lnTo>
                  <a:lnTo>
                    <a:pt x="1296" y="328"/>
                  </a:lnTo>
                  <a:lnTo>
                    <a:pt x="1302" y="332"/>
                  </a:lnTo>
                  <a:lnTo>
                    <a:pt x="1306" y="332"/>
                  </a:lnTo>
                  <a:lnTo>
                    <a:pt x="1308" y="330"/>
                  </a:lnTo>
                  <a:lnTo>
                    <a:pt x="1316" y="318"/>
                  </a:lnTo>
                  <a:lnTo>
                    <a:pt x="1328" y="308"/>
                  </a:lnTo>
                  <a:lnTo>
                    <a:pt x="1350" y="286"/>
                  </a:lnTo>
                  <a:lnTo>
                    <a:pt x="1442" y="196"/>
                  </a:lnTo>
                  <a:lnTo>
                    <a:pt x="1536" y="102"/>
                  </a:lnTo>
                  <a:lnTo>
                    <a:pt x="1560" y="80"/>
                  </a:lnTo>
                  <a:lnTo>
                    <a:pt x="1558" y="116"/>
                  </a:lnTo>
                  <a:lnTo>
                    <a:pt x="1558" y="150"/>
                  </a:lnTo>
                  <a:lnTo>
                    <a:pt x="1558" y="184"/>
                  </a:lnTo>
                  <a:lnTo>
                    <a:pt x="1562" y="218"/>
                  </a:lnTo>
                  <a:lnTo>
                    <a:pt x="1562" y="230"/>
                  </a:lnTo>
                  <a:lnTo>
                    <a:pt x="1562" y="272"/>
                  </a:lnTo>
                  <a:lnTo>
                    <a:pt x="1488" y="342"/>
                  </a:lnTo>
                  <a:lnTo>
                    <a:pt x="1416" y="414"/>
                  </a:lnTo>
                  <a:lnTo>
                    <a:pt x="1378" y="448"/>
                  </a:lnTo>
                  <a:lnTo>
                    <a:pt x="1340" y="482"/>
                  </a:lnTo>
                  <a:lnTo>
                    <a:pt x="1300" y="514"/>
                  </a:lnTo>
                  <a:lnTo>
                    <a:pt x="1258" y="5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4" name="Freeform 58"/>
            <p:cNvSpPr>
              <a:spLocks/>
            </p:cNvSpPr>
            <p:nvPr/>
          </p:nvSpPr>
          <p:spPr bwMode="auto">
            <a:xfrm>
              <a:off x="904" y="3488"/>
              <a:ext cx="50" cy="58"/>
            </a:xfrm>
            <a:custGeom>
              <a:avLst/>
              <a:gdLst>
                <a:gd name="T0" fmla="*/ 14 w 50"/>
                <a:gd name="T1" fmla="*/ 0 h 58"/>
                <a:gd name="T2" fmla="*/ 14 w 50"/>
                <a:gd name="T3" fmla="*/ 0 h 58"/>
                <a:gd name="T4" fmla="*/ 8 w 50"/>
                <a:gd name="T5" fmla="*/ 6 h 58"/>
                <a:gd name="T6" fmla="*/ 4 w 50"/>
                <a:gd name="T7" fmla="*/ 12 h 58"/>
                <a:gd name="T8" fmla="*/ 0 w 50"/>
                <a:gd name="T9" fmla="*/ 18 h 58"/>
                <a:gd name="T10" fmla="*/ 0 w 50"/>
                <a:gd name="T11" fmla="*/ 26 h 58"/>
                <a:gd name="T12" fmla="*/ 0 w 50"/>
                <a:gd name="T13" fmla="*/ 26 h 58"/>
                <a:gd name="T14" fmla="*/ 0 w 50"/>
                <a:gd name="T15" fmla="*/ 32 h 58"/>
                <a:gd name="T16" fmla="*/ 2 w 50"/>
                <a:gd name="T17" fmla="*/ 40 h 58"/>
                <a:gd name="T18" fmla="*/ 6 w 50"/>
                <a:gd name="T19" fmla="*/ 46 h 58"/>
                <a:gd name="T20" fmla="*/ 10 w 50"/>
                <a:gd name="T21" fmla="*/ 50 h 58"/>
                <a:gd name="T22" fmla="*/ 10 w 50"/>
                <a:gd name="T23" fmla="*/ 50 h 58"/>
                <a:gd name="T24" fmla="*/ 16 w 50"/>
                <a:gd name="T25" fmla="*/ 54 h 58"/>
                <a:gd name="T26" fmla="*/ 20 w 50"/>
                <a:gd name="T27" fmla="*/ 56 h 58"/>
                <a:gd name="T28" fmla="*/ 26 w 50"/>
                <a:gd name="T29" fmla="*/ 58 h 58"/>
                <a:gd name="T30" fmla="*/ 32 w 50"/>
                <a:gd name="T31" fmla="*/ 56 h 58"/>
                <a:gd name="T32" fmla="*/ 32 w 50"/>
                <a:gd name="T33" fmla="*/ 56 h 58"/>
                <a:gd name="T34" fmla="*/ 40 w 50"/>
                <a:gd name="T35" fmla="*/ 52 h 58"/>
                <a:gd name="T36" fmla="*/ 46 w 50"/>
                <a:gd name="T37" fmla="*/ 46 h 58"/>
                <a:gd name="T38" fmla="*/ 50 w 50"/>
                <a:gd name="T39" fmla="*/ 38 h 58"/>
                <a:gd name="T40" fmla="*/ 50 w 50"/>
                <a:gd name="T41" fmla="*/ 30 h 58"/>
                <a:gd name="T42" fmla="*/ 50 w 50"/>
                <a:gd name="T43" fmla="*/ 30 h 58"/>
                <a:gd name="T44" fmla="*/ 50 w 50"/>
                <a:gd name="T45" fmla="*/ 26 h 58"/>
                <a:gd name="T46" fmla="*/ 48 w 50"/>
                <a:gd name="T47" fmla="*/ 20 h 58"/>
                <a:gd name="T48" fmla="*/ 44 w 50"/>
                <a:gd name="T49" fmla="*/ 18 h 58"/>
                <a:gd name="T50" fmla="*/ 38 w 50"/>
                <a:gd name="T51" fmla="*/ 18 h 58"/>
                <a:gd name="T52" fmla="*/ 38 w 50"/>
                <a:gd name="T53" fmla="*/ 18 h 58"/>
                <a:gd name="T54" fmla="*/ 34 w 50"/>
                <a:gd name="T55" fmla="*/ 22 h 58"/>
                <a:gd name="T56" fmla="*/ 32 w 50"/>
                <a:gd name="T57" fmla="*/ 26 h 58"/>
                <a:gd name="T58" fmla="*/ 24 w 50"/>
                <a:gd name="T59" fmla="*/ 34 h 58"/>
                <a:gd name="T60" fmla="*/ 24 w 50"/>
                <a:gd name="T61" fmla="*/ 34 h 58"/>
                <a:gd name="T62" fmla="*/ 18 w 50"/>
                <a:gd name="T63" fmla="*/ 36 h 58"/>
                <a:gd name="T64" fmla="*/ 18 w 50"/>
                <a:gd name="T65" fmla="*/ 36 h 58"/>
                <a:gd name="T66" fmla="*/ 16 w 50"/>
                <a:gd name="T67" fmla="*/ 36 h 58"/>
                <a:gd name="T68" fmla="*/ 16 w 50"/>
                <a:gd name="T69" fmla="*/ 36 h 58"/>
                <a:gd name="T70" fmla="*/ 14 w 50"/>
                <a:gd name="T71" fmla="*/ 36 h 58"/>
                <a:gd name="T72" fmla="*/ 14 w 50"/>
                <a:gd name="T73" fmla="*/ 36 h 58"/>
                <a:gd name="T74" fmla="*/ 12 w 50"/>
                <a:gd name="T75" fmla="*/ 36 h 58"/>
                <a:gd name="T76" fmla="*/ 12 w 50"/>
                <a:gd name="T77" fmla="*/ 36 h 58"/>
                <a:gd name="T78" fmla="*/ 12 w 50"/>
                <a:gd name="T79" fmla="*/ 36 h 58"/>
                <a:gd name="T80" fmla="*/ 12 w 50"/>
                <a:gd name="T81" fmla="*/ 36 h 58"/>
                <a:gd name="T82" fmla="*/ 12 w 50"/>
                <a:gd name="T83" fmla="*/ 36 h 58"/>
                <a:gd name="T84" fmla="*/ 12 w 50"/>
                <a:gd name="T85" fmla="*/ 36 h 58"/>
                <a:gd name="T86" fmla="*/ 12 w 50"/>
                <a:gd name="T87" fmla="*/ 36 h 58"/>
                <a:gd name="T88" fmla="*/ 12 w 50"/>
                <a:gd name="T89" fmla="*/ 36 h 58"/>
                <a:gd name="T90" fmla="*/ 12 w 50"/>
                <a:gd name="T91" fmla="*/ 34 h 58"/>
                <a:gd name="T92" fmla="*/ 12 w 50"/>
                <a:gd name="T93" fmla="*/ 36 h 58"/>
                <a:gd name="T94" fmla="*/ 12 w 50"/>
                <a:gd name="T95" fmla="*/ 36 h 58"/>
                <a:gd name="T96" fmla="*/ 12 w 50"/>
                <a:gd name="T97" fmla="*/ 34 h 58"/>
                <a:gd name="T98" fmla="*/ 12 w 50"/>
                <a:gd name="T99" fmla="*/ 34 h 58"/>
                <a:gd name="T100" fmla="*/ 12 w 50"/>
                <a:gd name="T101" fmla="*/ 32 h 58"/>
                <a:gd name="T102" fmla="*/ 12 w 50"/>
                <a:gd name="T103" fmla="*/ 32 h 58"/>
                <a:gd name="T104" fmla="*/ 12 w 50"/>
                <a:gd name="T105" fmla="*/ 26 h 58"/>
                <a:gd name="T106" fmla="*/ 16 w 50"/>
                <a:gd name="T107" fmla="*/ 20 h 58"/>
                <a:gd name="T108" fmla="*/ 22 w 50"/>
                <a:gd name="T109" fmla="*/ 12 h 58"/>
                <a:gd name="T110" fmla="*/ 22 w 50"/>
                <a:gd name="T111" fmla="*/ 12 h 58"/>
                <a:gd name="T112" fmla="*/ 22 w 50"/>
                <a:gd name="T113" fmla="*/ 8 h 58"/>
                <a:gd name="T114" fmla="*/ 20 w 50"/>
                <a:gd name="T115" fmla="*/ 4 h 58"/>
                <a:gd name="T116" fmla="*/ 18 w 50"/>
                <a:gd name="T117" fmla="*/ 0 h 58"/>
                <a:gd name="T118" fmla="*/ 16 w 50"/>
                <a:gd name="T119" fmla="*/ 0 h 58"/>
                <a:gd name="T120" fmla="*/ 14 w 50"/>
                <a:gd name="T121" fmla="*/ 0 h 58"/>
                <a:gd name="T122" fmla="*/ 14 w 50"/>
                <a:gd name="T123" fmla="*/ 0 h 58"/>
                <a:gd name="T124" fmla="*/ 14 w 50"/>
                <a:gd name="T125" fmla="*/ 0 h 5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50"/>
                <a:gd name="T190" fmla="*/ 0 h 58"/>
                <a:gd name="T191" fmla="*/ 50 w 50"/>
                <a:gd name="T192" fmla="*/ 58 h 5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50" h="58">
                  <a:moveTo>
                    <a:pt x="14" y="0"/>
                  </a:moveTo>
                  <a:lnTo>
                    <a:pt x="14" y="0"/>
                  </a:lnTo>
                  <a:lnTo>
                    <a:pt x="8" y="6"/>
                  </a:lnTo>
                  <a:lnTo>
                    <a:pt x="4" y="12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2" y="40"/>
                  </a:lnTo>
                  <a:lnTo>
                    <a:pt x="6" y="46"/>
                  </a:lnTo>
                  <a:lnTo>
                    <a:pt x="10" y="50"/>
                  </a:lnTo>
                  <a:lnTo>
                    <a:pt x="16" y="54"/>
                  </a:lnTo>
                  <a:lnTo>
                    <a:pt x="20" y="56"/>
                  </a:lnTo>
                  <a:lnTo>
                    <a:pt x="26" y="58"/>
                  </a:lnTo>
                  <a:lnTo>
                    <a:pt x="32" y="56"/>
                  </a:lnTo>
                  <a:lnTo>
                    <a:pt x="40" y="52"/>
                  </a:lnTo>
                  <a:lnTo>
                    <a:pt x="46" y="46"/>
                  </a:lnTo>
                  <a:lnTo>
                    <a:pt x="50" y="38"/>
                  </a:lnTo>
                  <a:lnTo>
                    <a:pt x="50" y="30"/>
                  </a:lnTo>
                  <a:lnTo>
                    <a:pt x="50" y="26"/>
                  </a:lnTo>
                  <a:lnTo>
                    <a:pt x="48" y="20"/>
                  </a:lnTo>
                  <a:lnTo>
                    <a:pt x="44" y="18"/>
                  </a:lnTo>
                  <a:lnTo>
                    <a:pt x="38" y="18"/>
                  </a:lnTo>
                  <a:lnTo>
                    <a:pt x="34" y="22"/>
                  </a:lnTo>
                  <a:lnTo>
                    <a:pt x="32" y="26"/>
                  </a:lnTo>
                  <a:lnTo>
                    <a:pt x="24" y="34"/>
                  </a:lnTo>
                  <a:lnTo>
                    <a:pt x="18" y="36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2" y="32"/>
                  </a:lnTo>
                  <a:lnTo>
                    <a:pt x="12" y="26"/>
                  </a:lnTo>
                  <a:lnTo>
                    <a:pt x="16" y="20"/>
                  </a:lnTo>
                  <a:lnTo>
                    <a:pt x="22" y="12"/>
                  </a:lnTo>
                  <a:lnTo>
                    <a:pt x="22" y="8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5" name="Freeform 59"/>
            <p:cNvSpPr>
              <a:spLocks/>
            </p:cNvSpPr>
            <p:nvPr/>
          </p:nvSpPr>
          <p:spPr bwMode="auto">
            <a:xfrm>
              <a:off x="924" y="3472"/>
              <a:ext cx="28" cy="48"/>
            </a:xfrm>
            <a:custGeom>
              <a:avLst/>
              <a:gdLst>
                <a:gd name="T0" fmla="*/ 10 w 28"/>
                <a:gd name="T1" fmla="*/ 22 h 48"/>
                <a:gd name="T2" fmla="*/ 10 w 28"/>
                <a:gd name="T3" fmla="*/ 22 h 48"/>
                <a:gd name="T4" fmla="*/ 10 w 28"/>
                <a:gd name="T5" fmla="*/ 22 h 48"/>
                <a:gd name="T6" fmla="*/ 10 w 28"/>
                <a:gd name="T7" fmla="*/ 22 h 48"/>
                <a:gd name="T8" fmla="*/ 10 w 28"/>
                <a:gd name="T9" fmla="*/ 22 h 48"/>
                <a:gd name="T10" fmla="*/ 10 w 28"/>
                <a:gd name="T11" fmla="*/ 20 h 48"/>
                <a:gd name="T12" fmla="*/ 10 w 28"/>
                <a:gd name="T13" fmla="*/ 20 h 48"/>
                <a:gd name="T14" fmla="*/ 10 w 28"/>
                <a:gd name="T15" fmla="*/ 22 h 48"/>
                <a:gd name="T16" fmla="*/ 10 w 28"/>
                <a:gd name="T17" fmla="*/ 22 h 48"/>
                <a:gd name="T18" fmla="*/ 12 w 28"/>
                <a:gd name="T19" fmla="*/ 36 h 48"/>
                <a:gd name="T20" fmla="*/ 12 w 28"/>
                <a:gd name="T21" fmla="*/ 36 h 48"/>
                <a:gd name="T22" fmla="*/ 14 w 28"/>
                <a:gd name="T23" fmla="*/ 40 h 48"/>
                <a:gd name="T24" fmla="*/ 18 w 28"/>
                <a:gd name="T25" fmla="*/ 46 h 48"/>
                <a:gd name="T26" fmla="*/ 22 w 28"/>
                <a:gd name="T27" fmla="*/ 48 h 48"/>
                <a:gd name="T28" fmla="*/ 24 w 28"/>
                <a:gd name="T29" fmla="*/ 48 h 48"/>
                <a:gd name="T30" fmla="*/ 26 w 28"/>
                <a:gd name="T31" fmla="*/ 46 h 48"/>
                <a:gd name="T32" fmla="*/ 26 w 28"/>
                <a:gd name="T33" fmla="*/ 46 h 48"/>
                <a:gd name="T34" fmla="*/ 28 w 28"/>
                <a:gd name="T35" fmla="*/ 40 h 48"/>
                <a:gd name="T36" fmla="*/ 28 w 28"/>
                <a:gd name="T37" fmla="*/ 32 h 48"/>
                <a:gd name="T38" fmla="*/ 28 w 28"/>
                <a:gd name="T39" fmla="*/ 26 h 48"/>
                <a:gd name="T40" fmla="*/ 26 w 28"/>
                <a:gd name="T41" fmla="*/ 20 h 48"/>
                <a:gd name="T42" fmla="*/ 26 w 28"/>
                <a:gd name="T43" fmla="*/ 20 h 48"/>
                <a:gd name="T44" fmla="*/ 22 w 28"/>
                <a:gd name="T45" fmla="*/ 14 h 48"/>
                <a:gd name="T46" fmla="*/ 18 w 28"/>
                <a:gd name="T47" fmla="*/ 8 h 48"/>
                <a:gd name="T48" fmla="*/ 12 w 28"/>
                <a:gd name="T49" fmla="*/ 4 h 48"/>
                <a:gd name="T50" fmla="*/ 6 w 28"/>
                <a:gd name="T51" fmla="*/ 0 h 48"/>
                <a:gd name="T52" fmla="*/ 6 w 28"/>
                <a:gd name="T53" fmla="*/ 0 h 48"/>
                <a:gd name="T54" fmla="*/ 2 w 28"/>
                <a:gd name="T55" fmla="*/ 2 h 48"/>
                <a:gd name="T56" fmla="*/ 0 w 28"/>
                <a:gd name="T57" fmla="*/ 4 h 48"/>
                <a:gd name="T58" fmla="*/ 0 w 28"/>
                <a:gd name="T59" fmla="*/ 10 h 48"/>
                <a:gd name="T60" fmla="*/ 0 w 28"/>
                <a:gd name="T61" fmla="*/ 10 h 48"/>
                <a:gd name="T62" fmla="*/ 4 w 28"/>
                <a:gd name="T63" fmla="*/ 18 h 48"/>
                <a:gd name="T64" fmla="*/ 6 w 28"/>
                <a:gd name="T65" fmla="*/ 20 h 48"/>
                <a:gd name="T66" fmla="*/ 10 w 28"/>
                <a:gd name="T67" fmla="*/ 22 h 48"/>
                <a:gd name="T68" fmla="*/ 10 w 28"/>
                <a:gd name="T69" fmla="*/ 22 h 48"/>
                <a:gd name="T70" fmla="*/ 10 w 28"/>
                <a:gd name="T71" fmla="*/ 22 h 4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48"/>
                <a:gd name="T110" fmla="*/ 28 w 28"/>
                <a:gd name="T111" fmla="*/ 48 h 4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48">
                  <a:moveTo>
                    <a:pt x="10" y="22"/>
                  </a:moveTo>
                  <a:lnTo>
                    <a:pt x="10" y="22"/>
                  </a:lnTo>
                  <a:lnTo>
                    <a:pt x="10" y="20"/>
                  </a:lnTo>
                  <a:lnTo>
                    <a:pt x="10" y="22"/>
                  </a:lnTo>
                  <a:lnTo>
                    <a:pt x="12" y="36"/>
                  </a:lnTo>
                  <a:lnTo>
                    <a:pt x="14" y="40"/>
                  </a:lnTo>
                  <a:lnTo>
                    <a:pt x="18" y="46"/>
                  </a:lnTo>
                  <a:lnTo>
                    <a:pt x="22" y="48"/>
                  </a:lnTo>
                  <a:lnTo>
                    <a:pt x="24" y="48"/>
                  </a:lnTo>
                  <a:lnTo>
                    <a:pt x="26" y="46"/>
                  </a:lnTo>
                  <a:lnTo>
                    <a:pt x="28" y="40"/>
                  </a:lnTo>
                  <a:lnTo>
                    <a:pt x="28" y="32"/>
                  </a:lnTo>
                  <a:lnTo>
                    <a:pt x="28" y="26"/>
                  </a:lnTo>
                  <a:lnTo>
                    <a:pt x="26" y="20"/>
                  </a:lnTo>
                  <a:lnTo>
                    <a:pt x="22" y="14"/>
                  </a:lnTo>
                  <a:lnTo>
                    <a:pt x="18" y="8"/>
                  </a:lnTo>
                  <a:lnTo>
                    <a:pt x="12" y="4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10"/>
                  </a:lnTo>
                  <a:lnTo>
                    <a:pt x="4" y="18"/>
                  </a:lnTo>
                  <a:lnTo>
                    <a:pt x="6" y="20"/>
                  </a:lnTo>
                  <a:lnTo>
                    <a:pt x="10" y="22"/>
                  </a:lnTo>
                  <a:close/>
                </a:path>
              </a:pathLst>
            </a:custGeom>
            <a:solidFill>
              <a:srgbClr val="D5E0E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6" name="Freeform 60"/>
            <p:cNvSpPr>
              <a:spLocks/>
            </p:cNvSpPr>
            <p:nvPr/>
          </p:nvSpPr>
          <p:spPr bwMode="auto">
            <a:xfrm>
              <a:off x="976" y="3488"/>
              <a:ext cx="52" cy="58"/>
            </a:xfrm>
            <a:custGeom>
              <a:avLst/>
              <a:gdLst>
                <a:gd name="T0" fmla="*/ 14 w 52"/>
                <a:gd name="T1" fmla="*/ 0 h 58"/>
                <a:gd name="T2" fmla="*/ 14 w 52"/>
                <a:gd name="T3" fmla="*/ 0 h 58"/>
                <a:gd name="T4" fmla="*/ 8 w 52"/>
                <a:gd name="T5" fmla="*/ 6 h 58"/>
                <a:gd name="T6" fmla="*/ 4 w 52"/>
                <a:gd name="T7" fmla="*/ 12 h 58"/>
                <a:gd name="T8" fmla="*/ 2 w 52"/>
                <a:gd name="T9" fmla="*/ 18 h 58"/>
                <a:gd name="T10" fmla="*/ 0 w 52"/>
                <a:gd name="T11" fmla="*/ 26 h 58"/>
                <a:gd name="T12" fmla="*/ 0 w 52"/>
                <a:gd name="T13" fmla="*/ 26 h 58"/>
                <a:gd name="T14" fmla="*/ 0 w 52"/>
                <a:gd name="T15" fmla="*/ 32 h 58"/>
                <a:gd name="T16" fmla="*/ 2 w 52"/>
                <a:gd name="T17" fmla="*/ 40 h 58"/>
                <a:gd name="T18" fmla="*/ 6 w 52"/>
                <a:gd name="T19" fmla="*/ 46 h 58"/>
                <a:gd name="T20" fmla="*/ 10 w 52"/>
                <a:gd name="T21" fmla="*/ 50 h 58"/>
                <a:gd name="T22" fmla="*/ 10 w 52"/>
                <a:gd name="T23" fmla="*/ 50 h 58"/>
                <a:gd name="T24" fmla="*/ 16 w 52"/>
                <a:gd name="T25" fmla="*/ 54 h 58"/>
                <a:gd name="T26" fmla="*/ 22 w 52"/>
                <a:gd name="T27" fmla="*/ 56 h 58"/>
                <a:gd name="T28" fmla="*/ 28 w 52"/>
                <a:gd name="T29" fmla="*/ 58 h 58"/>
                <a:gd name="T30" fmla="*/ 34 w 52"/>
                <a:gd name="T31" fmla="*/ 56 h 58"/>
                <a:gd name="T32" fmla="*/ 34 w 52"/>
                <a:gd name="T33" fmla="*/ 56 h 58"/>
                <a:gd name="T34" fmla="*/ 40 w 52"/>
                <a:gd name="T35" fmla="*/ 52 h 58"/>
                <a:gd name="T36" fmla="*/ 46 w 52"/>
                <a:gd name="T37" fmla="*/ 46 h 58"/>
                <a:gd name="T38" fmla="*/ 50 w 52"/>
                <a:gd name="T39" fmla="*/ 38 h 58"/>
                <a:gd name="T40" fmla="*/ 52 w 52"/>
                <a:gd name="T41" fmla="*/ 30 h 58"/>
                <a:gd name="T42" fmla="*/ 52 w 52"/>
                <a:gd name="T43" fmla="*/ 30 h 58"/>
                <a:gd name="T44" fmla="*/ 50 w 52"/>
                <a:gd name="T45" fmla="*/ 26 h 58"/>
                <a:gd name="T46" fmla="*/ 48 w 52"/>
                <a:gd name="T47" fmla="*/ 20 h 58"/>
                <a:gd name="T48" fmla="*/ 44 w 52"/>
                <a:gd name="T49" fmla="*/ 18 h 58"/>
                <a:gd name="T50" fmla="*/ 40 w 52"/>
                <a:gd name="T51" fmla="*/ 18 h 58"/>
                <a:gd name="T52" fmla="*/ 40 w 52"/>
                <a:gd name="T53" fmla="*/ 18 h 58"/>
                <a:gd name="T54" fmla="*/ 34 w 52"/>
                <a:gd name="T55" fmla="*/ 22 h 58"/>
                <a:gd name="T56" fmla="*/ 32 w 52"/>
                <a:gd name="T57" fmla="*/ 26 h 58"/>
                <a:gd name="T58" fmla="*/ 24 w 52"/>
                <a:gd name="T59" fmla="*/ 34 h 58"/>
                <a:gd name="T60" fmla="*/ 24 w 52"/>
                <a:gd name="T61" fmla="*/ 34 h 58"/>
                <a:gd name="T62" fmla="*/ 20 w 52"/>
                <a:gd name="T63" fmla="*/ 36 h 58"/>
                <a:gd name="T64" fmla="*/ 20 w 52"/>
                <a:gd name="T65" fmla="*/ 36 h 58"/>
                <a:gd name="T66" fmla="*/ 16 w 52"/>
                <a:gd name="T67" fmla="*/ 36 h 58"/>
                <a:gd name="T68" fmla="*/ 16 w 52"/>
                <a:gd name="T69" fmla="*/ 36 h 58"/>
                <a:gd name="T70" fmla="*/ 14 w 52"/>
                <a:gd name="T71" fmla="*/ 36 h 58"/>
                <a:gd name="T72" fmla="*/ 14 w 52"/>
                <a:gd name="T73" fmla="*/ 36 h 58"/>
                <a:gd name="T74" fmla="*/ 14 w 52"/>
                <a:gd name="T75" fmla="*/ 36 h 58"/>
                <a:gd name="T76" fmla="*/ 14 w 52"/>
                <a:gd name="T77" fmla="*/ 36 h 58"/>
                <a:gd name="T78" fmla="*/ 14 w 52"/>
                <a:gd name="T79" fmla="*/ 36 h 58"/>
                <a:gd name="T80" fmla="*/ 14 w 52"/>
                <a:gd name="T81" fmla="*/ 36 h 58"/>
                <a:gd name="T82" fmla="*/ 14 w 52"/>
                <a:gd name="T83" fmla="*/ 36 h 58"/>
                <a:gd name="T84" fmla="*/ 14 w 52"/>
                <a:gd name="T85" fmla="*/ 36 h 58"/>
                <a:gd name="T86" fmla="*/ 12 w 52"/>
                <a:gd name="T87" fmla="*/ 36 h 58"/>
                <a:gd name="T88" fmla="*/ 12 w 52"/>
                <a:gd name="T89" fmla="*/ 36 h 58"/>
                <a:gd name="T90" fmla="*/ 12 w 52"/>
                <a:gd name="T91" fmla="*/ 34 h 58"/>
                <a:gd name="T92" fmla="*/ 12 w 52"/>
                <a:gd name="T93" fmla="*/ 36 h 58"/>
                <a:gd name="T94" fmla="*/ 12 w 52"/>
                <a:gd name="T95" fmla="*/ 36 h 58"/>
                <a:gd name="T96" fmla="*/ 12 w 52"/>
                <a:gd name="T97" fmla="*/ 34 h 58"/>
                <a:gd name="T98" fmla="*/ 12 w 52"/>
                <a:gd name="T99" fmla="*/ 34 h 58"/>
                <a:gd name="T100" fmla="*/ 12 w 52"/>
                <a:gd name="T101" fmla="*/ 32 h 58"/>
                <a:gd name="T102" fmla="*/ 12 w 52"/>
                <a:gd name="T103" fmla="*/ 32 h 58"/>
                <a:gd name="T104" fmla="*/ 14 w 52"/>
                <a:gd name="T105" fmla="*/ 26 h 58"/>
                <a:gd name="T106" fmla="*/ 16 w 52"/>
                <a:gd name="T107" fmla="*/ 20 h 58"/>
                <a:gd name="T108" fmla="*/ 22 w 52"/>
                <a:gd name="T109" fmla="*/ 12 h 58"/>
                <a:gd name="T110" fmla="*/ 22 w 52"/>
                <a:gd name="T111" fmla="*/ 12 h 58"/>
                <a:gd name="T112" fmla="*/ 24 w 52"/>
                <a:gd name="T113" fmla="*/ 8 h 58"/>
                <a:gd name="T114" fmla="*/ 22 w 52"/>
                <a:gd name="T115" fmla="*/ 4 h 58"/>
                <a:gd name="T116" fmla="*/ 18 w 52"/>
                <a:gd name="T117" fmla="*/ 0 h 58"/>
                <a:gd name="T118" fmla="*/ 16 w 52"/>
                <a:gd name="T119" fmla="*/ 0 h 58"/>
                <a:gd name="T120" fmla="*/ 14 w 52"/>
                <a:gd name="T121" fmla="*/ 0 h 58"/>
                <a:gd name="T122" fmla="*/ 14 w 52"/>
                <a:gd name="T123" fmla="*/ 0 h 58"/>
                <a:gd name="T124" fmla="*/ 14 w 52"/>
                <a:gd name="T125" fmla="*/ 0 h 5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52"/>
                <a:gd name="T190" fmla="*/ 0 h 58"/>
                <a:gd name="T191" fmla="*/ 52 w 52"/>
                <a:gd name="T192" fmla="*/ 58 h 5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52" h="58">
                  <a:moveTo>
                    <a:pt x="14" y="0"/>
                  </a:moveTo>
                  <a:lnTo>
                    <a:pt x="14" y="0"/>
                  </a:lnTo>
                  <a:lnTo>
                    <a:pt x="8" y="6"/>
                  </a:lnTo>
                  <a:lnTo>
                    <a:pt x="4" y="12"/>
                  </a:lnTo>
                  <a:lnTo>
                    <a:pt x="2" y="18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2" y="40"/>
                  </a:lnTo>
                  <a:lnTo>
                    <a:pt x="6" y="46"/>
                  </a:lnTo>
                  <a:lnTo>
                    <a:pt x="10" y="50"/>
                  </a:lnTo>
                  <a:lnTo>
                    <a:pt x="16" y="54"/>
                  </a:lnTo>
                  <a:lnTo>
                    <a:pt x="22" y="56"/>
                  </a:lnTo>
                  <a:lnTo>
                    <a:pt x="28" y="58"/>
                  </a:lnTo>
                  <a:lnTo>
                    <a:pt x="34" y="56"/>
                  </a:lnTo>
                  <a:lnTo>
                    <a:pt x="40" y="52"/>
                  </a:lnTo>
                  <a:lnTo>
                    <a:pt x="46" y="46"/>
                  </a:lnTo>
                  <a:lnTo>
                    <a:pt x="50" y="38"/>
                  </a:lnTo>
                  <a:lnTo>
                    <a:pt x="52" y="30"/>
                  </a:lnTo>
                  <a:lnTo>
                    <a:pt x="50" y="26"/>
                  </a:lnTo>
                  <a:lnTo>
                    <a:pt x="48" y="20"/>
                  </a:lnTo>
                  <a:lnTo>
                    <a:pt x="44" y="18"/>
                  </a:lnTo>
                  <a:lnTo>
                    <a:pt x="40" y="18"/>
                  </a:lnTo>
                  <a:lnTo>
                    <a:pt x="34" y="22"/>
                  </a:lnTo>
                  <a:lnTo>
                    <a:pt x="32" y="26"/>
                  </a:lnTo>
                  <a:lnTo>
                    <a:pt x="24" y="34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2" y="32"/>
                  </a:lnTo>
                  <a:lnTo>
                    <a:pt x="14" y="26"/>
                  </a:lnTo>
                  <a:lnTo>
                    <a:pt x="16" y="20"/>
                  </a:lnTo>
                  <a:lnTo>
                    <a:pt x="22" y="12"/>
                  </a:lnTo>
                  <a:lnTo>
                    <a:pt x="24" y="8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7" name="Freeform 61"/>
            <p:cNvSpPr>
              <a:spLocks/>
            </p:cNvSpPr>
            <p:nvPr/>
          </p:nvSpPr>
          <p:spPr bwMode="auto">
            <a:xfrm>
              <a:off x="996" y="3472"/>
              <a:ext cx="30" cy="48"/>
            </a:xfrm>
            <a:custGeom>
              <a:avLst/>
              <a:gdLst>
                <a:gd name="T0" fmla="*/ 12 w 30"/>
                <a:gd name="T1" fmla="*/ 22 h 48"/>
                <a:gd name="T2" fmla="*/ 12 w 30"/>
                <a:gd name="T3" fmla="*/ 22 h 48"/>
                <a:gd name="T4" fmla="*/ 12 w 30"/>
                <a:gd name="T5" fmla="*/ 22 h 48"/>
                <a:gd name="T6" fmla="*/ 12 w 30"/>
                <a:gd name="T7" fmla="*/ 22 h 48"/>
                <a:gd name="T8" fmla="*/ 12 w 30"/>
                <a:gd name="T9" fmla="*/ 22 h 48"/>
                <a:gd name="T10" fmla="*/ 10 w 30"/>
                <a:gd name="T11" fmla="*/ 20 h 48"/>
                <a:gd name="T12" fmla="*/ 10 w 30"/>
                <a:gd name="T13" fmla="*/ 20 h 48"/>
                <a:gd name="T14" fmla="*/ 10 w 30"/>
                <a:gd name="T15" fmla="*/ 22 h 48"/>
                <a:gd name="T16" fmla="*/ 10 w 30"/>
                <a:gd name="T17" fmla="*/ 22 h 48"/>
                <a:gd name="T18" fmla="*/ 12 w 30"/>
                <a:gd name="T19" fmla="*/ 36 h 48"/>
                <a:gd name="T20" fmla="*/ 12 w 30"/>
                <a:gd name="T21" fmla="*/ 36 h 48"/>
                <a:gd name="T22" fmla="*/ 14 w 30"/>
                <a:gd name="T23" fmla="*/ 40 h 48"/>
                <a:gd name="T24" fmla="*/ 18 w 30"/>
                <a:gd name="T25" fmla="*/ 46 h 48"/>
                <a:gd name="T26" fmla="*/ 22 w 30"/>
                <a:gd name="T27" fmla="*/ 48 h 48"/>
                <a:gd name="T28" fmla="*/ 24 w 30"/>
                <a:gd name="T29" fmla="*/ 48 h 48"/>
                <a:gd name="T30" fmla="*/ 26 w 30"/>
                <a:gd name="T31" fmla="*/ 46 h 48"/>
                <a:gd name="T32" fmla="*/ 26 w 30"/>
                <a:gd name="T33" fmla="*/ 46 h 48"/>
                <a:gd name="T34" fmla="*/ 30 w 30"/>
                <a:gd name="T35" fmla="*/ 40 h 48"/>
                <a:gd name="T36" fmla="*/ 30 w 30"/>
                <a:gd name="T37" fmla="*/ 32 h 48"/>
                <a:gd name="T38" fmla="*/ 28 w 30"/>
                <a:gd name="T39" fmla="*/ 26 h 48"/>
                <a:gd name="T40" fmla="*/ 26 w 30"/>
                <a:gd name="T41" fmla="*/ 20 h 48"/>
                <a:gd name="T42" fmla="*/ 26 w 30"/>
                <a:gd name="T43" fmla="*/ 20 h 48"/>
                <a:gd name="T44" fmla="*/ 22 w 30"/>
                <a:gd name="T45" fmla="*/ 14 h 48"/>
                <a:gd name="T46" fmla="*/ 18 w 30"/>
                <a:gd name="T47" fmla="*/ 8 h 48"/>
                <a:gd name="T48" fmla="*/ 14 w 30"/>
                <a:gd name="T49" fmla="*/ 4 h 48"/>
                <a:gd name="T50" fmla="*/ 6 w 30"/>
                <a:gd name="T51" fmla="*/ 0 h 48"/>
                <a:gd name="T52" fmla="*/ 6 w 30"/>
                <a:gd name="T53" fmla="*/ 0 h 48"/>
                <a:gd name="T54" fmla="*/ 4 w 30"/>
                <a:gd name="T55" fmla="*/ 2 h 48"/>
                <a:gd name="T56" fmla="*/ 2 w 30"/>
                <a:gd name="T57" fmla="*/ 4 h 48"/>
                <a:gd name="T58" fmla="*/ 0 w 30"/>
                <a:gd name="T59" fmla="*/ 10 h 48"/>
                <a:gd name="T60" fmla="*/ 0 w 30"/>
                <a:gd name="T61" fmla="*/ 10 h 48"/>
                <a:gd name="T62" fmla="*/ 4 w 30"/>
                <a:gd name="T63" fmla="*/ 18 h 48"/>
                <a:gd name="T64" fmla="*/ 8 w 30"/>
                <a:gd name="T65" fmla="*/ 20 h 48"/>
                <a:gd name="T66" fmla="*/ 12 w 30"/>
                <a:gd name="T67" fmla="*/ 22 h 48"/>
                <a:gd name="T68" fmla="*/ 12 w 30"/>
                <a:gd name="T69" fmla="*/ 22 h 48"/>
                <a:gd name="T70" fmla="*/ 12 w 30"/>
                <a:gd name="T71" fmla="*/ 22 h 4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"/>
                <a:gd name="T109" fmla="*/ 0 h 48"/>
                <a:gd name="T110" fmla="*/ 30 w 30"/>
                <a:gd name="T111" fmla="*/ 48 h 4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" h="48">
                  <a:moveTo>
                    <a:pt x="12" y="22"/>
                  </a:moveTo>
                  <a:lnTo>
                    <a:pt x="12" y="22"/>
                  </a:lnTo>
                  <a:lnTo>
                    <a:pt x="10" y="20"/>
                  </a:lnTo>
                  <a:lnTo>
                    <a:pt x="10" y="22"/>
                  </a:lnTo>
                  <a:lnTo>
                    <a:pt x="12" y="36"/>
                  </a:lnTo>
                  <a:lnTo>
                    <a:pt x="14" y="40"/>
                  </a:lnTo>
                  <a:lnTo>
                    <a:pt x="18" y="46"/>
                  </a:lnTo>
                  <a:lnTo>
                    <a:pt x="22" y="48"/>
                  </a:lnTo>
                  <a:lnTo>
                    <a:pt x="24" y="48"/>
                  </a:lnTo>
                  <a:lnTo>
                    <a:pt x="26" y="46"/>
                  </a:lnTo>
                  <a:lnTo>
                    <a:pt x="30" y="40"/>
                  </a:lnTo>
                  <a:lnTo>
                    <a:pt x="30" y="32"/>
                  </a:lnTo>
                  <a:lnTo>
                    <a:pt x="28" y="26"/>
                  </a:lnTo>
                  <a:lnTo>
                    <a:pt x="26" y="20"/>
                  </a:lnTo>
                  <a:lnTo>
                    <a:pt x="22" y="14"/>
                  </a:lnTo>
                  <a:lnTo>
                    <a:pt x="18" y="8"/>
                  </a:lnTo>
                  <a:lnTo>
                    <a:pt x="14" y="4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10"/>
                  </a:lnTo>
                  <a:lnTo>
                    <a:pt x="4" y="18"/>
                  </a:lnTo>
                  <a:lnTo>
                    <a:pt x="8" y="20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D5E0E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8" name="Freeform 62"/>
            <p:cNvSpPr>
              <a:spLocks/>
            </p:cNvSpPr>
            <p:nvPr/>
          </p:nvSpPr>
          <p:spPr bwMode="auto">
            <a:xfrm>
              <a:off x="1048" y="3488"/>
              <a:ext cx="52" cy="58"/>
            </a:xfrm>
            <a:custGeom>
              <a:avLst/>
              <a:gdLst>
                <a:gd name="T0" fmla="*/ 14 w 52"/>
                <a:gd name="T1" fmla="*/ 0 h 58"/>
                <a:gd name="T2" fmla="*/ 14 w 52"/>
                <a:gd name="T3" fmla="*/ 0 h 58"/>
                <a:gd name="T4" fmla="*/ 10 w 52"/>
                <a:gd name="T5" fmla="*/ 6 h 58"/>
                <a:gd name="T6" fmla="*/ 4 w 52"/>
                <a:gd name="T7" fmla="*/ 12 h 58"/>
                <a:gd name="T8" fmla="*/ 2 w 52"/>
                <a:gd name="T9" fmla="*/ 18 h 58"/>
                <a:gd name="T10" fmla="*/ 0 w 52"/>
                <a:gd name="T11" fmla="*/ 26 h 58"/>
                <a:gd name="T12" fmla="*/ 0 w 52"/>
                <a:gd name="T13" fmla="*/ 26 h 58"/>
                <a:gd name="T14" fmla="*/ 0 w 52"/>
                <a:gd name="T15" fmla="*/ 32 h 58"/>
                <a:gd name="T16" fmla="*/ 2 w 52"/>
                <a:gd name="T17" fmla="*/ 40 h 58"/>
                <a:gd name="T18" fmla="*/ 6 w 52"/>
                <a:gd name="T19" fmla="*/ 46 h 58"/>
                <a:gd name="T20" fmla="*/ 12 w 52"/>
                <a:gd name="T21" fmla="*/ 50 h 58"/>
                <a:gd name="T22" fmla="*/ 12 w 52"/>
                <a:gd name="T23" fmla="*/ 50 h 58"/>
                <a:gd name="T24" fmla="*/ 16 w 52"/>
                <a:gd name="T25" fmla="*/ 54 h 58"/>
                <a:gd name="T26" fmla="*/ 22 w 52"/>
                <a:gd name="T27" fmla="*/ 56 h 58"/>
                <a:gd name="T28" fmla="*/ 28 w 52"/>
                <a:gd name="T29" fmla="*/ 58 h 58"/>
                <a:gd name="T30" fmla="*/ 34 w 52"/>
                <a:gd name="T31" fmla="*/ 56 h 58"/>
                <a:gd name="T32" fmla="*/ 34 w 52"/>
                <a:gd name="T33" fmla="*/ 56 h 58"/>
                <a:gd name="T34" fmla="*/ 42 w 52"/>
                <a:gd name="T35" fmla="*/ 52 h 58"/>
                <a:gd name="T36" fmla="*/ 48 w 52"/>
                <a:gd name="T37" fmla="*/ 46 h 58"/>
                <a:gd name="T38" fmla="*/ 52 w 52"/>
                <a:gd name="T39" fmla="*/ 38 h 58"/>
                <a:gd name="T40" fmla="*/ 52 w 52"/>
                <a:gd name="T41" fmla="*/ 30 h 58"/>
                <a:gd name="T42" fmla="*/ 52 w 52"/>
                <a:gd name="T43" fmla="*/ 30 h 58"/>
                <a:gd name="T44" fmla="*/ 50 w 52"/>
                <a:gd name="T45" fmla="*/ 26 h 58"/>
                <a:gd name="T46" fmla="*/ 48 w 52"/>
                <a:gd name="T47" fmla="*/ 20 h 58"/>
                <a:gd name="T48" fmla="*/ 44 w 52"/>
                <a:gd name="T49" fmla="*/ 18 h 58"/>
                <a:gd name="T50" fmla="*/ 40 w 52"/>
                <a:gd name="T51" fmla="*/ 18 h 58"/>
                <a:gd name="T52" fmla="*/ 40 w 52"/>
                <a:gd name="T53" fmla="*/ 18 h 58"/>
                <a:gd name="T54" fmla="*/ 36 w 52"/>
                <a:gd name="T55" fmla="*/ 22 h 58"/>
                <a:gd name="T56" fmla="*/ 32 w 52"/>
                <a:gd name="T57" fmla="*/ 26 h 58"/>
                <a:gd name="T58" fmla="*/ 26 w 52"/>
                <a:gd name="T59" fmla="*/ 34 h 58"/>
                <a:gd name="T60" fmla="*/ 26 w 52"/>
                <a:gd name="T61" fmla="*/ 34 h 58"/>
                <a:gd name="T62" fmla="*/ 20 w 52"/>
                <a:gd name="T63" fmla="*/ 36 h 58"/>
                <a:gd name="T64" fmla="*/ 20 w 52"/>
                <a:gd name="T65" fmla="*/ 36 h 58"/>
                <a:gd name="T66" fmla="*/ 16 w 52"/>
                <a:gd name="T67" fmla="*/ 36 h 58"/>
                <a:gd name="T68" fmla="*/ 16 w 52"/>
                <a:gd name="T69" fmla="*/ 36 h 58"/>
                <a:gd name="T70" fmla="*/ 14 w 52"/>
                <a:gd name="T71" fmla="*/ 36 h 58"/>
                <a:gd name="T72" fmla="*/ 14 w 52"/>
                <a:gd name="T73" fmla="*/ 36 h 58"/>
                <a:gd name="T74" fmla="*/ 14 w 52"/>
                <a:gd name="T75" fmla="*/ 36 h 58"/>
                <a:gd name="T76" fmla="*/ 14 w 52"/>
                <a:gd name="T77" fmla="*/ 36 h 58"/>
                <a:gd name="T78" fmla="*/ 14 w 52"/>
                <a:gd name="T79" fmla="*/ 36 h 58"/>
                <a:gd name="T80" fmla="*/ 14 w 52"/>
                <a:gd name="T81" fmla="*/ 36 h 58"/>
                <a:gd name="T82" fmla="*/ 14 w 52"/>
                <a:gd name="T83" fmla="*/ 36 h 58"/>
                <a:gd name="T84" fmla="*/ 14 w 52"/>
                <a:gd name="T85" fmla="*/ 36 h 58"/>
                <a:gd name="T86" fmla="*/ 14 w 52"/>
                <a:gd name="T87" fmla="*/ 36 h 58"/>
                <a:gd name="T88" fmla="*/ 14 w 52"/>
                <a:gd name="T89" fmla="*/ 36 h 58"/>
                <a:gd name="T90" fmla="*/ 12 w 52"/>
                <a:gd name="T91" fmla="*/ 34 h 58"/>
                <a:gd name="T92" fmla="*/ 14 w 52"/>
                <a:gd name="T93" fmla="*/ 36 h 58"/>
                <a:gd name="T94" fmla="*/ 14 w 52"/>
                <a:gd name="T95" fmla="*/ 36 h 58"/>
                <a:gd name="T96" fmla="*/ 12 w 52"/>
                <a:gd name="T97" fmla="*/ 34 h 58"/>
                <a:gd name="T98" fmla="*/ 12 w 52"/>
                <a:gd name="T99" fmla="*/ 34 h 58"/>
                <a:gd name="T100" fmla="*/ 12 w 52"/>
                <a:gd name="T101" fmla="*/ 32 h 58"/>
                <a:gd name="T102" fmla="*/ 12 w 52"/>
                <a:gd name="T103" fmla="*/ 32 h 58"/>
                <a:gd name="T104" fmla="*/ 14 w 52"/>
                <a:gd name="T105" fmla="*/ 26 h 58"/>
                <a:gd name="T106" fmla="*/ 16 w 52"/>
                <a:gd name="T107" fmla="*/ 20 h 58"/>
                <a:gd name="T108" fmla="*/ 24 w 52"/>
                <a:gd name="T109" fmla="*/ 12 h 58"/>
                <a:gd name="T110" fmla="*/ 24 w 52"/>
                <a:gd name="T111" fmla="*/ 12 h 58"/>
                <a:gd name="T112" fmla="*/ 24 w 52"/>
                <a:gd name="T113" fmla="*/ 8 h 58"/>
                <a:gd name="T114" fmla="*/ 22 w 52"/>
                <a:gd name="T115" fmla="*/ 4 h 58"/>
                <a:gd name="T116" fmla="*/ 18 w 52"/>
                <a:gd name="T117" fmla="*/ 0 h 58"/>
                <a:gd name="T118" fmla="*/ 16 w 52"/>
                <a:gd name="T119" fmla="*/ 0 h 58"/>
                <a:gd name="T120" fmla="*/ 14 w 52"/>
                <a:gd name="T121" fmla="*/ 0 h 58"/>
                <a:gd name="T122" fmla="*/ 14 w 52"/>
                <a:gd name="T123" fmla="*/ 0 h 58"/>
                <a:gd name="T124" fmla="*/ 14 w 52"/>
                <a:gd name="T125" fmla="*/ 0 h 5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52"/>
                <a:gd name="T190" fmla="*/ 0 h 58"/>
                <a:gd name="T191" fmla="*/ 52 w 52"/>
                <a:gd name="T192" fmla="*/ 58 h 5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52" h="58">
                  <a:moveTo>
                    <a:pt x="14" y="0"/>
                  </a:moveTo>
                  <a:lnTo>
                    <a:pt x="14" y="0"/>
                  </a:lnTo>
                  <a:lnTo>
                    <a:pt x="10" y="6"/>
                  </a:lnTo>
                  <a:lnTo>
                    <a:pt x="4" y="12"/>
                  </a:lnTo>
                  <a:lnTo>
                    <a:pt x="2" y="18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2" y="40"/>
                  </a:lnTo>
                  <a:lnTo>
                    <a:pt x="6" y="46"/>
                  </a:lnTo>
                  <a:lnTo>
                    <a:pt x="12" y="50"/>
                  </a:lnTo>
                  <a:lnTo>
                    <a:pt x="16" y="54"/>
                  </a:lnTo>
                  <a:lnTo>
                    <a:pt x="22" y="56"/>
                  </a:lnTo>
                  <a:lnTo>
                    <a:pt x="28" y="58"/>
                  </a:lnTo>
                  <a:lnTo>
                    <a:pt x="34" y="56"/>
                  </a:lnTo>
                  <a:lnTo>
                    <a:pt x="42" y="52"/>
                  </a:lnTo>
                  <a:lnTo>
                    <a:pt x="48" y="46"/>
                  </a:lnTo>
                  <a:lnTo>
                    <a:pt x="52" y="38"/>
                  </a:lnTo>
                  <a:lnTo>
                    <a:pt x="52" y="30"/>
                  </a:lnTo>
                  <a:lnTo>
                    <a:pt x="50" y="26"/>
                  </a:lnTo>
                  <a:lnTo>
                    <a:pt x="48" y="20"/>
                  </a:lnTo>
                  <a:lnTo>
                    <a:pt x="44" y="18"/>
                  </a:lnTo>
                  <a:lnTo>
                    <a:pt x="40" y="18"/>
                  </a:lnTo>
                  <a:lnTo>
                    <a:pt x="36" y="22"/>
                  </a:lnTo>
                  <a:lnTo>
                    <a:pt x="32" y="26"/>
                  </a:lnTo>
                  <a:lnTo>
                    <a:pt x="26" y="34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2" y="34"/>
                  </a:lnTo>
                  <a:lnTo>
                    <a:pt x="14" y="36"/>
                  </a:lnTo>
                  <a:lnTo>
                    <a:pt x="12" y="34"/>
                  </a:lnTo>
                  <a:lnTo>
                    <a:pt x="12" y="32"/>
                  </a:lnTo>
                  <a:lnTo>
                    <a:pt x="14" y="26"/>
                  </a:lnTo>
                  <a:lnTo>
                    <a:pt x="16" y="20"/>
                  </a:lnTo>
                  <a:lnTo>
                    <a:pt x="24" y="12"/>
                  </a:lnTo>
                  <a:lnTo>
                    <a:pt x="24" y="8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49" name="Freeform 63"/>
            <p:cNvSpPr>
              <a:spLocks/>
            </p:cNvSpPr>
            <p:nvPr/>
          </p:nvSpPr>
          <p:spPr bwMode="auto">
            <a:xfrm>
              <a:off x="1068" y="3472"/>
              <a:ext cx="30" cy="48"/>
            </a:xfrm>
            <a:custGeom>
              <a:avLst/>
              <a:gdLst>
                <a:gd name="T0" fmla="*/ 12 w 30"/>
                <a:gd name="T1" fmla="*/ 22 h 48"/>
                <a:gd name="T2" fmla="*/ 12 w 30"/>
                <a:gd name="T3" fmla="*/ 22 h 48"/>
                <a:gd name="T4" fmla="*/ 12 w 30"/>
                <a:gd name="T5" fmla="*/ 22 h 48"/>
                <a:gd name="T6" fmla="*/ 12 w 30"/>
                <a:gd name="T7" fmla="*/ 22 h 48"/>
                <a:gd name="T8" fmla="*/ 12 w 30"/>
                <a:gd name="T9" fmla="*/ 22 h 48"/>
                <a:gd name="T10" fmla="*/ 10 w 30"/>
                <a:gd name="T11" fmla="*/ 20 h 48"/>
                <a:gd name="T12" fmla="*/ 10 w 30"/>
                <a:gd name="T13" fmla="*/ 20 h 48"/>
                <a:gd name="T14" fmla="*/ 12 w 30"/>
                <a:gd name="T15" fmla="*/ 22 h 48"/>
                <a:gd name="T16" fmla="*/ 12 w 30"/>
                <a:gd name="T17" fmla="*/ 22 h 48"/>
                <a:gd name="T18" fmla="*/ 12 w 30"/>
                <a:gd name="T19" fmla="*/ 36 h 48"/>
                <a:gd name="T20" fmla="*/ 12 w 30"/>
                <a:gd name="T21" fmla="*/ 36 h 48"/>
                <a:gd name="T22" fmla="*/ 14 w 30"/>
                <a:gd name="T23" fmla="*/ 40 h 48"/>
                <a:gd name="T24" fmla="*/ 18 w 30"/>
                <a:gd name="T25" fmla="*/ 46 h 48"/>
                <a:gd name="T26" fmla="*/ 22 w 30"/>
                <a:gd name="T27" fmla="*/ 48 h 48"/>
                <a:gd name="T28" fmla="*/ 26 w 30"/>
                <a:gd name="T29" fmla="*/ 48 h 48"/>
                <a:gd name="T30" fmla="*/ 26 w 30"/>
                <a:gd name="T31" fmla="*/ 46 h 48"/>
                <a:gd name="T32" fmla="*/ 26 w 30"/>
                <a:gd name="T33" fmla="*/ 46 h 48"/>
                <a:gd name="T34" fmla="*/ 30 w 30"/>
                <a:gd name="T35" fmla="*/ 40 h 48"/>
                <a:gd name="T36" fmla="*/ 30 w 30"/>
                <a:gd name="T37" fmla="*/ 32 h 48"/>
                <a:gd name="T38" fmla="*/ 28 w 30"/>
                <a:gd name="T39" fmla="*/ 26 h 48"/>
                <a:gd name="T40" fmla="*/ 26 w 30"/>
                <a:gd name="T41" fmla="*/ 20 h 48"/>
                <a:gd name="T42" fmla="*/ 26 w 30"/>
                <a:gd name="T43" fmla="*/ 20 h 48"/>
                <a:gd name="T44" fmla="*/ 24 w 30"/>
                <a:gd name="T45" fmla="*/ 14 h 48"/>
                <a:gd name="T46" fmla="*/ 18 w 30"/>
                <a:gd name="T47" fmla="*/ 8 h 48"/>
                <a:gd name="T48" fmla="*/ 14 w 30"/>
                <a:gd name="T49" fmla="*/ 4 h 48"/>
                <a:gd name="T50" fmla="*/ 8 w 30"/>
                <a:gd name="T51" fmla="*/ 0 h 48"/>
                <a:gd name="T52" fmla="*/ 8 w 30"/>
                <a:gd name="T53" fmla="*/ 0 h 48"/>
                <a:gd name="T54" fmla="*/ 4 w 30"/>
                <a:gd name="T55" fmla="*/ 2 h 48"/>
                <a:gd name="T56" fmla="*/ 2 w 30"/>
                <a:gd name="T57" fmla="*/ 4 h 48"/>
                <a:gd name="T58" fmla="*/ 0 w 30"/>
                <a:gd name="T59" fmla="*/ 10 h 48"/>
                <a:gd name="T60" fmla="*/ 0 w 30"/>
                <a:gd name="T61" fmla="*/ 10 h 48"/>
                <a:gd name="T62" fmla="*/ 4 w 30"/>
                <a:gd name="T63" fmla="*/ 18 h 48"/>
                <a:gd name="T64" fmla="*/ 8 w 30"/>
                <a:gd name="T65" fmla="*/ 20 h 48"/>
                <a:gd name="T66" fmla="*/ 12 w 30"/>
                <a:gd name="T67" fmla="*/ 22 h 48"/>
                <a:gd name="T68" fmla="*/ 12 w 30"/>
                <a:gd name="T69" fmla="*/ 22 h 48"/>
                <a:gd name="T70" fmla="*/ 12 w 30"/>
                <a:gd name="T71" fmla="*/ 22 h 4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"/>
                <a:gd name="T109" fmla="*/ 0 h 48"/>
                <a:gd name="T110" fmla="*/ 30 w 30"/>
                <a:gd name="T111" fmla="*/ 48 h 4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" h="48">
                  <a:moveTo>
                    <a:pt x="12" y="22"/>
                  </a:moveTo>
                  <a:lnTo>
                    <a:pt x="12" y="22"/>
                  </a:lnTo>
                  <a:lnTo>
                    <a:pt x="10" y="20"/>
                  </a:lnTo>
                  <a:lnTo>
                    <a:pt x="12" y="22"/>
                  </a:lnTo>
                  <a:lnTo>
                    <a:pt x="12" y="36"/>
                  </a:lnTo>
                  <a:lnTo>
                    <a:pt x="14" y="40"/>
                  </a:lnTo>
                  <a:lnTo>
                    <a:pt x="18" y="46"/>
                  </a:lnTo>
                  <a:lnTo>
                    <a:pt x="22" y="48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30" y="40"/>
                  </a:lnTo>
                  <a:lnTo>
                    <a:pt x="30" y="32"/>
                  </a:lnTo>
                  <a:lnTo>
                    <a:pt x="28" y="26"/>
                  </a:lnTo>
                  <a:lnTo>
                    <a:pt x="26" y="20"/>
                  </a:lnTo>
                  <a:lnTo>
                    <a:pt x="24" y="14"/>
                  </a:lnTo>
                  <a:lnTo>
                    <a:pt x="18" y="8"/>
                  </a:lnTo>
                  <a:lnTo>
                    <a:pt x="14" y="4"/>
                  </a:lnTo>
                  <a:lnTo>
                    <a:pt x="8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10"/>
                  </a:lnTo>
                  <a:lnTo>
                    <a:pt x="4" y="18"/>
                  </a:lnTo>
                  <a:lnTo>
                    <a:pt x="8" y="20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D5E0E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50" name="Freeform 64"/>
            <p:cNvSpPr>
              <a:spLocks/>
            </p:cNvSpPr>
            <p:nvPr/>
          </p:nvSpPr>
          <p:spPr bwMode="auto">
            <a:xfrm>
              <a:off x="1120" y="3488"/>
              <a:ext cx="52" cy="58"/>
            </a:xfrm>
            <a:custGeom>
              <a:avLst/>
              <a:gdLst>
                <a:gd name="T0" fmla="*/ 14 w 52"/>
                <a:gd name="T1" fmla="*/ 0 h 58"/>
                <a:gd name="T2" fmla="*/ 14 w 52"/>
                <a:gd name="T3" fmla="*/ 0 h 58"/>
                <a:gd name="T4" fmla="*/ 10 w 52"/>
                <a:gd name="T5" fmla="*/ 6 h 58"/>
                <a:gd name="T6" fmla="*/ 6 w 52"/>
                <a:gd name="T7" fmla="*/ 12 h 58"/>
                <a:gd name="T8" fmla="*/ 2 w 52"/>
                <a:gd name="T9" fmla="*/ 18 h 58"/>
                <a:gd name="T10" fmla="*/ 0 w 52"/>
                <a:gd name="T11" fmla="*/ 26 h 58"/>
                <a:gd name="T12" fmla="*/ 0 w 52"/>
                <a:gd name="T13" fmla="*/ 26 h 58"/>
                <a:gd name="T14" fmla="*/ 2 w 52"/>
                <a:gd name="T15" fmla="*/ 32 h 58"/>
                <a:gd name="T16" fmla="*/ 4 w 52"/>
                <a:gd name="T17" fmla="*/ 40 h 58"/>
                <a:gd name="T18" fmla="*/ 8 w 52"/>
                <a:gd name="T19" fmla="*/ 46 h 58"/>
                <a:gd name="T20" fmla="*/ 12 w 52"/>
                <a:gd name="T21" fmla="*/ 50 h 58"/>
                <a:gd name="T22" fmla="*/ 12 w 52"/>
                <a:gd name="T23" fmla="*/ 50 h 58"/>
                <a:gd name="T24" fmla="*/ 16 w 52"/>
                <a:gd name="T25" fmla="*/ 54 h 58"/>
                <a:gd name="T26" fmla="*/ 22 w 52"/>
                <a:gd name="T27" fmla="*/ 56 h 58"/>
                <a:gd name="T28" fmla="*/ 28 w 52"/>
                <a:gd name="T29" fmla="*/ 58 h 58"/>
                <a:gd name="T30" fmla="*/ 34 w 52"/>
                <a:gd name="T31" fmla="*/ 56 h 58"/>
                <a:gd name="T32" fmla="*/ 34 w 52"/>
                <a:gd name="T33" fmla="*/ 56 h 58"/>
                <a:gd name="T34" fmla="*/ 42 w 52"/>
                <a:gd name="T35" fmla="*/ 52 h 58"/>
                <a:gd name="T36" fmla="*/ 48 w 52"/>
                <a:gd name="T37" fmla="*/ 46 h 58"/>
                <a:gd name="T38" fmla="*/ 52 w 52"/>
                <a:gd name="T39" fmla="*/ 38 h 58"/>
                <a:gd name="T40" fmla="*/ 52 w 52"/>
                <a:gd name="T41" fmla="*/ 30 h 58"/>
                <a:gd name="T42" fmla="*/ 52 w 52"/>
                <a:gd name="T43" fmla="*/ 30 h 58"/>
                <a:gd name="T44" fmla="*/ 52 w 52"/>
                <a:gd name="T45" fmla="*/ 26 h 58"/>
                <a:gd name="T46" fmla="*/ 48 w 52"/>
                <a:gd name="T47" fmla="*/ 20 h 58"/>
                <a:gd name="T48" fmla="*/ 44 w 52"/>
                <a:gd name="T49" fmla="*/ 18 h 58"/>
                <a:gd name="T50" fmla="*/ 40 w 52"/>
                <a:gd name="T51" fmla="*/ 18 h 58"/>
                <a:gd name="T52" fmla="*/ 40 w 52"/>
                <a:gd name="T53" fmla="*/ 18 h 58"/>
                <a:gd name="T54" fmla="*/ 36 w 52"/>
                <a:gd name="T55" fmla="*/ 22 h 58"/>
                <a:gd name="T56" fmla="*/ 32 w 52"/>
                <a:gd name="T57" fmla="*/ 26 h 58"/>
                <a:gd name="T58" fmla="*/ 26 w 52"/>
                <a:gd name="T59" fmla="*/ 34 h 58"/>
                <a:gd name="T60" fmla="*/ 26 w 52"/>
                <a:gd name="T61" fmla="*/ 34 h 58"/>
                <a:gd name="T62" fmla="*/ 20 w 52"/>
                <a:gd name="T63" fmla="*/ 36 h 58"/>
                <a:gd name="T64" fmla="*/ 20 w 52"/>
                <a:gd name="T65" fmla="*/ 36 h 58"/>
                <a:gd name="T66" fmla="*/ 16 w 52"/>
                <a:gd name="T67" fmla="*/ 36 h 58"/>
                <a:gd name="T68" fmla="*/ 16 w 52"/>
                <a:gd name="T69" fmla="*/ 36 h 58"/>
                <a:gd name="T70" fmla="*/ 16 w 52"/>
                <a:gd name="T71" fmla="*/ 36 h 58"/>
                <a:gd name="T72" fmla="*/ 16 w 52"/>
                <a:gd name="T73" fmla="*/ 36 h 58"/>
                <a:gd name="T74" fmla="*/ 14 w 52"/>
                <a:gd name="T75" fmla="*/ 36 h 58"/>
                <a:gd name="T76" fmla="*/ 14 w 52"/>
                <a:gd name="T77" fmla="*/ 36 h 58"/>
                <a:gd name="T78" fmla="*/ 14 w 52"/>
                <a:gd name="T79" fmla="*/ 36 h 58"/>
                <a:gd name="T80" fmla="*/ 14 w 52"/>
                <a:gd name="T81" fmla="*/ 36 h 58"/>
                <a:gd name="T82" fmla="*/ 14 w 52"/>
                <a:gd name="T83" fmla="*/ 36 h 58"/>
                <a:gd name="T84" fmla="*/ 14 w 52"/>
                <a:gd name="T85" fmla="*/ 36 h 58"/>
                <a:gd name="T86" fmla="*/ 14 w 52"/>
                <a:gd name="T87" fmla="*/ 36 h 58"/>
                <a:gd name="T88" fmla="*/ 14 w 52"/>
                <a:gd name="T89" fmla="*/ 36 h 58"/>
                <a:gd name="T90" fmla="*/ 14 w 52"/>
                <a:gd name="T91" fmla="*/ 34 h 58"/>
                <a:gd name="T92" fmla="*/ 14 w 52"/>
                <a:gd name="T93" fmla="*/ 36 h 58"/>
                <a:gd name="T94" fmla="*/ 14 w 52"/>
                <a:gd name="T95" fmla="*/ 36 h 58"/>
                <a:gd name="T96" fmla="*/ 14 w 52"/>
                <a:gd name="T97" fmla="*/ 34 h 58"/>
                <a:gd name="T98" fmla="*/ 14 w 52"/>
                <a:gd name="T99" fmla="*/ 34 h 58"/>
                <a:gd name="T100" fmla="*/ 14 w 52"/>
                <a:gd name="T101" fmla="*/ 32 h 58"/>
                <a:gd name="T102" fmla="*/ 14 w 52"/>
                <a:gd name="T103" fmla="*/ 32 h 58"/>
                <a:gd name="T104" fmla="*/ 14 w 52"/>
                <a:gd name="T105" fmla="*/ 26 h 58"/>
                <a:gd name="T106" fmla="*/ 16 w 52"/>
                <a:gd name="T107" fmla="*/ 20 h 58"/>
                <a:gd name="T108" fmla="*/ 24 w 52"/>
                <a:gd name="T109" fmla="*/ 12 h 58"/>
                <a:gd name="T110" fmla="*/ 24 w 52"/>
                <a:gd name="T111" fmla="*/ 12 h 58"/>
                <a:gd name="T112" fmla="*/ 24 w 52"/>
                <a:gd name="T113" fmla="*/ 8 h 58"/>
                <a:gd name="T114" fmla="*/ 22 w 52"/>
                <a:gd name="T115" fmla="*/ 4 h 58"/>
                <a:gd name="T116" fmla="*/ 18 w 52"/>
                <a:gd name="T117" fmla="*/ 0 h 58"/>
                <a:gd name="T118" fmla="*/ 16 w 52"/>
                <a:gd name="T119" fmla="*/ 0 h 58"/>
                <a:gd name="T120" fmla="*/ 14 w 52"/>
                <a:gd name="T121" fmla="*/ 0 h 58"/>
                <a:gd name="T122" fmla="*/ 14 w 52"/>
                <a:gd name="T123" fmla="*/ 0 h 58"/>
                <a:gd name="T124" fmla="*/ 14 w 52"/>
                <a:gd name="T125" fmla="*/ 0 h 5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52"/>
                <a:gd name="T190" fmla="*/ 0 h 58"/>
                <a:gd name="T191" fmla="*/ 52 w 52"/>
                <a:gd name="T192" fmla="*/ 58 h 5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52" h="58">
                  <a:moveTo>
                    <a:pt x="14" y="0"/>
                  </a:moveTo>
                  <a:lnTo>
                    <a:pt x="14" y="0"/>
                  </a:lnTo>
                  <a:lnTo>
                    <a:pt x="10" y="6"/>
                  </a:lnTo>
                  <a:lnTo>
                    <a:pt x="6" y="12"/>
                  </a:lnTo>
                  <a:lnTo>
                    <a:pt x="2" y="18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4" y="40"/>
                  </a:lnTo>
                  <a:lnTo>
                    <a:pt x="8" y="46"/>
                  </a:lnTo>
                  <a:lnTo>
                    <a:pt x="12" y="50"/>
                  </a:lnTo>
                  <a:lnTo>
                    <a:pt x="16" y="54"/>
                  </a:lnTo>
                  <a:lnTo>
                    <a:pt x="22" y="56"/>
                  </a:lnTo>
                  <a:lnTo>
                    <a:pt x="28" y="58"/>
                  </a:lnTo>
                  <a:lnTo>
                    <a:pt x="34" y="56"/>
                  </a:lnTo>
                  <a:lnTo>
                    <a:pt x="42" y="52"/>
                  </a:lnTo>
                  <a:lnTo>
                    <a:pt x="48" y="46"/>
                  </a:lnTo>
                  <a:lnTo>
                    <a:pt x="52" y="38"/>
                  </a:lnTo>
                  <a:lnTo>
                    <a:pt x="52" y="30"/>
                  </a:lnTo>
                  <a:lnTo>
                    <a:pt x="52" y="26"/>
                  </a:lnTo>
                  <a:lnTo>
                    <a:pt x="48" y="20"/>
                  </a:lnTo>
                  <a:lnTo>
                    <a:pt x="44" y="18"/>
                  </a:lnTo>
                  <a:lnTo>
                    <a:pt x="40" y="18"/>
                  </a:lnTo>
                  <a:lnTo>
                    <a:pt x="36" y="22"/>
                  </a:lnTo>
                  <a:lnTo>
                    <a:pt x="32" y="26"/>
                  </a:lnTo>
                  <a:lnTo>
                    <a:pt x="26" y="34"/>
                  </a:lnTo>
                  <a:lnTo>
                    <a:pt x="20" y="36"/>
                  </a:lnTo>
                  <a:lnTo>
                    <a:pt x="16" y="36"/>
                  </a:lnTo>
                  <a:lnTo>
                    <a:pt x="14" y="36"/>
                  </a:lnTo>
                  <a:lnTo>
                    <a:pt x="14" y="34"/>
                  </a:lnTo>
                  <a:lnTo>
                    <a:pt x="14" y="36"/>
                  </a:lnTo>
                  <a:lnTo>
                    <a:pt x="14" y="34"/>
                  </a:lnTo>
                  <a:lnTo>
                    <a:pt x="14" y="32"/>
                  </a:lnTo>
                  <a:lnTo>
                    <a:pt x="14" y="26"/>
                  </a:lnTo>
                  <a:lnTo>
                    <a:pt x="16" y="20"/>
                  </a:lnTo>
                  <a:lnTo>
                    <a:pt x="24" y="12"/>
                  </a:lnTo>
                  <a:lnTo>
                    <a:pt x="24" y="8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51" name="Freeform 65"/>
            <p:cNvSpPr>
              <a:spLocks/>
            </p:cNvSpPr>
            <p:nvPr/>
          </p:nvSpPr>
          <p:spPr bwMode="auto">
            <a:xfrm>
              <a:off x="1142" y="3472"/>
              <a:ext cx="28" cy="48"/>
            </a:xfrm>
            <a:custGeom>
              <a:avLst/>
              <a:gdLst>
                <a:gd name="T0" fmla="*/ 10 w 28"/>
                <a:gd name="T1" fmla="*/ 22 h 48"/>
                <a:gd name="T2" fmla="*/ 10 w 28"/>
                <a:gd name="T3" fmla="*/ 22 h 48"/>
                <a:gd name="T4" fmla="*/ 10 w 28"/>
                <a:gd name="T5" fmla="*/ 22 h 48"/>
                <a:gd name="T6" fmla="*/ 10 w 28"/>
                <a:gd name="T7" fmla="*/ 22 h 48"/>
                <a:gd name="T8" fmla="*/ 10 w 28"/>
                <a:gd name="T9" fmla="*/ 22 h 48"/>
                <a:gd name="T10" fmla="*/ 10 w 28"/>
                <a:gd name="T11" fmla="*/ 20 h 48"/>
                <a:gd name="T12" fmla="*/ 10 w 28"/>
                <a:gd name="T13" fmla="*/ 20 h 48"/>
                <a:gd name="T14" fmla="*/ 10 w 28"/>
                <a:gd name="T15" fmla="*/ 22 h 48"/>
                <a:gd name="T16" fmla="*/ 10 w 28"/>
                <a:gd name="T17" fmla="*/ 22 h 48"/>
                <a:gd name="T18" fmla="*/ 12 w 28"/>
                <a:gd name="T19" fmla="*/ 36 h 48"/>
                <a:gd name="T20" fmla="*/ 12 w 28"/>
                <a:gd name="T21" fmla="*/ 36 h 48"/>
                <a:gd name="T22" fmla="*/ 14 w 28"/>
                <a:gd name="T23" fmla="*/ 40 h 48"/>
                <a:gd name="T24" fmla="*/ 16 w 28"/>
                <a:gd name="T25" fmla="*/ 46 h 48"/>
                <a:gd name="T26" fmla="*/ 22 w 28"/>
                <a:gd name="T27" fmla="*/ 48 h 48"/>
                <a:gd name="T28" fmla="*/ 24 w 28"/>
                <a:gd name="T29" fmla="*/ 48 h 48"/>
                <a:gd name="T30" fmla="*/ 26 w 28"/>
                <a:gd name="T31" fmla="*/ 46 h 48"/>
                <a:gd name="T32" fmla="*/ 26 w 28"/>
                <a:gd name="T33" fmla="*/ 46 h 48"/>
                <a:gd name="T34" fmla="*/ 28 w 28"/>
                <a:gd name="T35" fmla="*/ 40 h 48"/>
                <a:gd name="T36" fmla="*/ 28 w 28"/>
                <a:gd name="T37" fmla="*/ 32 h 48"/>
                <a:gd name="T38" fmla="*/ 28 w 28"/>
                <a:gd name="T39" fmla="*/ 26 h 48"/>
                <a:gd name="T40" fmla="*/ 26 w 28"/>
                <a:gd name="T41" fmla="*/ 20 h 48"/>
                <a:gd name="T42" fmla="*/ 26 w 28"/>
                <a:gd name="T43" fmla="*/ 20 h 48"/>
                <a:gd name="T44" fmla="*/ 22 w 28"/>
                <a:gd name="T45" fmla="*/ 14 h 48"/>
                <a:gd name="T46" fmla="*/ 18 w 28"/>
                <a:gd name="T47" fmla="*/ 8 h 48"/>
                <a:gd name="T48" fmla="*/ 12 w 28"/>
                <a:gd name="T49" fmla="*/ 4 h 48"/>
                <a:gd name="T50" fmla="*/ 6 w 28"/>
                <a:gd name="T51" fmla="*/ 0 h 48"/>
                <a:gd name="T52" fmla="*/ 6 w 28"/>
                <a:gd name="T53" fmla="*/ 0 h 48"/>
                <a:gd name="T54" fmla="*/ 2 w 28"/>
                <a:gd name="T55" fmla="*/ 2 h 48"/>
                <a:gd name="T56" fmla="*/ 0 w 28"/>
                <a:gd name="T57" fmla="*/ 4 h 48"/>
                <a:gd name="T58" fmla="*/ 0 w 28"/>
                <a:gd name="T59" fmla="*/ 10 h 48"/>
                <a:gd name="T60" fmla="*/ 0 w 28"/>
                <a:gd name="T61" fmla="*/ 10 h 48"/>
                <a:gd name="T62" fmla="*/ 4 w 28"/>
                <a:gd name="T63" fmla="*/ 18 h 48"/>
                <a:gd name="T64" fmla="*/ 6 w 28"/>
                <a:gd name="T65" fmla="*/ 20 h 48"/>
                <a:gd name="T66" fmla="*/ 10 w 28"/>
                <a:gd name="T67" fmla="*/ 22 h 48"/>
                <a:gd name="T68" fmla="*/ 10 w 28"/>
                <a:gd name="T69" fmla="*/ 22 h 48"/>
                <a:gd name="T70" fmla="*/ 10 w 28"/>
                <a:gd name="T71" fmla="*/ 22 h 4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48"/>
                <a:gd name="T110" fmla="*/ 28 w 28"/>
                <a:gd name="T111" fmla="*/ 48 h 4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48">
                  <a:moveTo>
                    <a:pt x="10" y="22"/>
                  </a:moveTo>
                  <a:lnTo>
                    <a:pt x="10" y="22"/>
                  </a:lnTo>
                  <a:lnTo>
                    <a:pt x="10" y="20"/>
                  </a:lnTo>
                  <a:lnTo>
                    <a:pt x="10" y="22"/>
                  </a:lnTo>
                  <a:lnTo>
                    <a:pt x="12" y="36"/>
                  </a:lnTo>
                  <a:lnTo>
                    <a:pt x="14" y="40"/>
                  </a:lnTo>
                  <a:lnTo>
                    <a:pt x="16" y="46"/>
                  </a:lnTo>
                  <a:lnTo>
                    <a:pt x="22" y="48"/>
                  </a:lnTo>
                  <a:lnTo>
                    <a:pt x="24" y="48"/>
                  </a:lnTo>
                  <a:lnTo>
                    <a:pt x="26" y="46"/>
                  </a:lnTo>
                  <a:lnTo>
                    <a:pt x="28" y="40"/>
                  </a:lnTo>
                  <a:lnTo>
                    <a:pt x="28" y="32"/>
                  </a:lnTo>
                  <a:lnTo>
                    <a:pt x="28" y="26"/>
                  </a:lnTo>
                  <a:lnTo>
                    <a:pt x="26" y="20"/>
                  </a:lnTo>
                  <a:lnTo>
                    <a:pt x="22" y="14"/>
                  </a:lnTo>
                  <a:lnTo>
                    <a:pt x="18" y="8"/>
                  </a:lnTo>
                  <a:lnTo>
                    <a:pt x="12" y="4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10"/>
                  </a:lnTo>
                  <a:lnTo>
                    <a:pt x="4" y="18"/>
                  </a:lnTo>
                  <a:lnTo>
                    <a:pt x="6" y="20"/>
                  </a:lnTo>
                  <a:lnTo>
                    <a:pt x="10" y="22"/>
                  </a:lnTo>
                  <a:close/>
                </a:path>
              </a:pathLst>
            </a:custGeom>
            <a:solidFill>
              <a:srgbClr val="D5E0E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52" name="Freeform 66"/>
            <p:cNvSpPr>
              <a:spLocks/>
            </p:cNvSpPr>
            <p:nvPr/>
          </p:nvSpPr>
          <p:spPr bwMode="auto">
            <a:xfrm>
              <a:off x="1194" y="3488"/>
              <a:ext cx="50" cy="58"/>
            </a:xfrm>
            <a:custGeom>
              <a:avLst/>
              <a:gdLst>
                <a:gd name="T0" fmla="*/ 14 w 50"/>
                <a:gd name="T1" fmla="*/ 0 h 58"/>
                <a:gd name="T2" fmla="*/ 14 w 50"/>
                <a:gd name="T3" fmla="*/ 0 h 58"/>
                <a:gd name="T4" fmla="*/ 8 w 50"/>
                <a:gd name="T5" fmla="*/ 6 h 58"/>
                <a:gd name="T6" fmla="*/ 4 w 50"/>
                <a:gd name="T7" fmla="*/ 12 h 58"/>
                <a:gd name="T8" fmla="*/ 0 w 50"/>
                <a:gd name="T9" fmla="*/ 18 h 58"/>
                <a:gd name="T10" fmla="*/ 0 w 50"/>
                <a:gd name="T11" fmla="*/ 26 h 58"/>
                <a:gd name="T12" fmla="*/ 0 w 50"/>
                <a:gd name="T13" fmla="*/ 26 h 58"/>
                <a:gd name="T14" fmla="*/ 0 w 50"/>
                <a:gd name="T15" fmla="*/ 32 h 58"/>
                <a:gd name="T16" fmla="*/ 2 w 50"/>
                <a:gd name="T17" fmla="*/ 40 h 58"/>
                <a:gd name="T18" fmla="*/ 6 w 50"/>
                <a:gd name="T19" fmla="*/ 46 h 58"/>
                <a:gd name="T20" fmla="*/ 10 w 50"/>
                <a:gd name="T21" fmla="*/ 50 h 58"/>
                <a:gd name="T22" fmla="*/ 10 w 50"/>
                <a:gd name="T23" fmla="*/ 50 h 58"/>
                <a:gd name="T24" fmla="*/ 16 w 50"/>
                <a:gd name="T25" fmla="*/ 54 h 58"/>
                <a:gd name="T26" fmla="*/ 20 w 50"/>
                <a:gd name="T27" fmla="*/ 56 h 58"/>
                <a:gd name="T28" fmla="*/ 26 w 50"/>
                <a:gd name="T29" fmla="*/ 58 h 58"/>
                <a:gd name="T30" fmla="*/ 32 w 50"/>
                <a:gd name="T31" fmla="*/ 56 h 58"/>
                <a:gd name="T32" fmla="*/ 32 w 50"/>
                <a:gd name="T33" fmla="*/ 56 h 58"/>
                <a:gd name="T34" fmla="*/ 40 w 50"/>
                <a:gd name="T35" fmla="*/ 52 h 58"/>
                <a:gd name="T36" fmla="*/ 46 w 50"/>
                <a:gd name="T37" fmla="*/ 46 h 58"/>
                <a:gd name="T38" fmla="*/ 50 w 50"/>
                <a:gd name="T39" fmla="*/ 38 h 58"/>
                <a:gd name="T40" fmla="*/ 50 w 50"/>
                <a:gd name="T41" fmla="*/ 30 h 58"/>
                <a:gd name="T42" fmla="*/ 50 w 50"/>
                <a:gd name="T43" fmla="*/ 30 h 58"/>
                <a:gd name="T44" fmla="*/ 50 w 50"/>
                <a:gd name="T45" fmla="*/ 26 h 58"/>
                <a:gd name="T46" fmla="*/ 48 w 50"/>
                <a:gd name="T47" fmla="*/ 20 h 58"/>
                <a:gd name="T48" fmla="*/ 44 w 50"/>
                <a:gd name="T49" fmla="*/ 18 h 58"/>
                <a:gd name="T50" fmla="*/ 38 w 50"/>
                <a:gd name="T51" fmla="*/ 18 h 58"/>
                <a:gd name="T52" fmla="*/ 38 w 50"/>
                <a:gd name="T53" fmla="*/ 18 h 58"/>
                <a:gd name="T54" fmla="*/ 34 w 50"/>
                <a:gd name="T55" fmla="*/ 22 h 58"/>
                <a:gd name="T56" fmla="*/ 32 w 50"/>
                <a:gd name="T57" fmla="*/ 26 h 58"/>
                <a:gd name="T58" fmla="*/ 24 w 50"/>
                <a:gd name="T59" fmla="*/ 34 h 58"/>
                <a:gd name="T60" fmla="*/ 24 w 50"/>
                <a:gd name="T61" fmla="*/ 34 h 58"/>
                <a:gd name="T62" fmla="*/ 18 w 50"/>
                <a:gd name="T63" fmla="*/ 36 h 58"/>
                <a:gd name="T64" fmla="*/ 18 w 50"/>
                <a:gd name="T65" fmla="*/ 36 h 58"/>
                <a:gd name="T66" fmla="*/ 14 w 50"/>
                <a:gd name="T67" fmla="*/ 36 h 58"/>
                <a:gd name="T68" fmla="*/ 14 w 50"/>
                <a:gd name="T69" fmla="*/ 36 h 58"/>
                <a:gd name="T70" fmla="*/ 14 w 50"/>
                <a:gd name="T71" fmla="*/ 36 h 58"/>
                <a:gd name="T72" fmla="*/ 14 w 50"/>
                <a:gd name="T73" fmla="*/ 36 h 58"/>
                <a:gd name="T74" fmla="*/ 12 w 50"/>
                <a:gd name="T75" fmla="*/ 36 h 58"/>
                <a:gd name="T76" fmla="*/ 12 w 50"/>
                <a:gd name="T77" fmla="*/ 36 h 58"/>
                <a:gd name="T78" fmla="*/ 12 w 50"/>
                <a:gd name="T79" fmla="*/ 36 h 58"/>
                <a:gd name="T80" fmla="*/ 12 w 50"/>
                <a:gd name="T81" fmla="*/ 36 h 58"/>
                <a:gd name="T82" fmla="*/ 12 w 50"/>
                <a:gd name="T83" fmla="*/ 36 h 58"/>
                <a:gd name="T84" fmla="*/ 12 w 50"/>
                <a:gd name="T85" fmla="*/ 36 h 58"/>
                <a:gd name="T86" fmla="*/ 12 w 50"/>
                <a:gd name="T87" fmla="*/ 36 h 58"/>
                <a:gd name="T88" fmla="*/ 12 w 50"/>
                <a:gd name="T89" fmla="*/ 36 h 58"/>
                <a:gd name="T90" fmla="*/ 12 w 50"/>
                <a:gd name="T91" fmla="*/ 34 h 58"/>
                <a:gd name="T92" fmla="*/ 12 w 50"/>
                <a:gd name="T93" fmla="*/ 36 h 58"/>
                <a:gd name="T94" fmla="*/ 12 w 50"/>
                <a:gd name="T95" fmla="*/ 36 h 58"/>
                <a:gd name="T96" fmla="*/ 12 w 50"/>
                <a:gd name="T97" fmla="*/ 34 h 58"/>
                <a:gd name="T98" fmla="*/ 12 w 50"/>
                <a:gd name="T99" fmla="*/ 34 h 58"/>
                <a:gd name="T100" fmla="*/ 12 w 50"/>
                <a:gd name="T101" fmla="*/ 32 h 58"/>
                <a:gd name="T102" fmla="*/ 12 w 50"/>
                <a:gd name="T103" fmla="*/ 32 h 58"/>
                <a:gd name="T104" fmla="*/ 12 w 50"/>
                <a:gd name="T105" fmla="*/ 26 h 58"/>
                <a:gd name="T106" fmla="*/ 16 w 50"/>
                <a:gd name="T107" fmla="*/ 20 h 58"/>
                <a:gd name="T108" fmla="*/ 22 w 50"/>
                <a:gd name="T109" fmla="*/ 12 h 58"/>
                <a:gd name="T110" fmla="*/ 22 w 50"/>
                <a:gd name="T111" fmla="*/ 12 h 58"/>
                <a:gd name="T112" fmla="*/ 22 w 50"/>
                <a:gd name="T113" fmla="*/ 8 h 58"/>
                <a:gd name="T114" fmla="*/ 20 w 50"/>
                <a:gd name="T115" fmla="*/ 4 h 58"/>
                <a:gd name="T116" fmla="*/ 18 w 50"/>
                <a:gd name="T117" fmla="*/ 0 h 58"/>
                <a:gd name="T118" fmla="*/ 16 w 50"/>
                <a:gd name="T119" fmla="*/ 0 h 58"/>
                <a:gd name="T120" fmla="*/ 14 w 50"/>
                <a:gd name="T121" fmla="*/ 0 h 58"/>
                <a:gd name="T122" fmla="*/ 14 w 50"/>
                <a:gd name="T123" fmla="*/ 0 h 58"/>
                <a:gd name="T124" fmla="*/ 14 w 50"/>
                <a:gd name="T125" fmla="*/ 0 h 5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50"/>
                <a:gd name="T190" fmla="*/ 0 h 58"/>
                <a:gd name="T191" fmla="*/ 50 w 50"/>
                <a:gd name="T192" fmla="*/ 58 h 5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50" h="58">
                  <a:moveTo>
                    <a:pt x="14" y="0"/>
                  </a:moveTo>
                  <a:lnTo>
                    <a:pt x="14" y="0"/>
                  </a:lnTo>
                  <a:lnTo>
                    <a:pt x="8" y="6"/>
                  </a:lnTo>
                  <a:lnTo>
                    <a:pt x="4" y="12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2" y="40"/>
                  </a:lnTo>
                  <a:lnTo>
                    <a:pt x="6" y="46"/>
                  </a:lnTo>
                  <a:lnTo>
                    <a:pt x="10" y="50"/>
                  </a:lnTo>
                  <a:lnTo>
                    <a:pt x="16" y="54"/>
                  </a:lnTo>
                  <a:lnTo>
                    <a:pt x="20" y="56"/>
                  </a:lnTo>
                  <a:lnTo>
                    <a:pt x="26" y="58"/>
                  </a:lnTo>
                  <a:lnTo>
                    <a:pt x="32" y="56"/>
                  </a:lnTo>
                  <a:lnTo>
                    <a:pt x="40" y="52"/>
                  </a:lnTo>
                  <a:lnTo>
                    <a:pt x="46" y="46"/>
                  </a:lnTo>
                  <a:lnTo>
                    <a:pt x="50" y="38"/>
                  </a:lnTo>
                  <a:lnTo>
                    <a:pt x="50" y="30"/>
                  </a:lnTo>
                  <a:lnTo>
                    <a:pt x="50" y="26"/>
                  </a:lnTo>
                  <a:lnTo>
                    <a:pt x="48" y="20"/>
                  </a:lnTo>
                  <a:lnTo>
                    <a:pt x="44" y="18"/>
                  </a:lnTo>
                  <a:lnTo>
                    <a:pt x="38" y="18"/>
                  </a:lnTo>
                  <a:lnTo>
                    <a:pt x="34" y="22"/>
                  </a:lnTo>
                  <a:lnTo>
                    <a:pt x="32" y="26"/>
                  </a:lnTo>
                  <a:lnTo>
                    <a:pt x="24" y="34"/>
                  </a:lnTo>
                  <a:lnTo>
                    <a:pt x="18" y="36"/>
                  </a:lnTo>
                  <a:lnTo>
                    <a:pt x="14" y="36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2" y="36"/>
                  </a:lnTo>
                  <a:lnTo>
                    <a:pt x="12" y="34"/>
                  </a:lnTo>
                  <a:lnTo>
                    <a:pt x="12" y="32"/>
                  </a:lnTo>
                  <a:lnTo>
                    <a:pt x="12" y="26"/>
                  </a:lnTo>
                  <a:lnTo>
                    <a:pt x="16" y="20"/>
                  </a:lnTo>
                  <a:lnTo>
                    <a:pt x="22" y="12"/>
                  </a:lnTo>
                  <a:lnTo>
                    <a:pt x="22" y="8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53" name="Freeform 67"/>
            <p:cNvSpPr>
              <a:spLocks/>
            </p:cNvSpPr>
            <p:nvPr/>
          </p:nvSpPr>
          <p:spPr bwMode="auto">
            <a:xfrm>
              <a:off x="1214" y="3472"/>
              <a:ext cx="28" cy="48"/>
            </a:xfrm>
            <a:custGeom>
              <a:avLst/>
              <a:gdLst>
                <a:gd name="T0" fmla="*/ 10 w 28"/>
                <a:gd name="T1" fmla="*/ 22 h 48"/>
                <a:gd name="T2" fmla="*/ 10 w 28"/>
                <a:gd name="T3" fmla="*/ 22 h 48"/>
                <a:gd name="T4" fmla="*/ 10 w 28"/>
                <a:gd name="T5" fmla="*/ 22 h 48"/>
                <a:gd name="T6" fmla="*/ 10 w 28"/>
                <a:gd name="T7" fmla="*/ 22 h 48"/>
                <a:gd name="T8" fmla="*/ 10 w 28"/>
                <a:gd name="T9" fmla="*/ 22 h 48"/>
                <a:gd name="T10" fmla="*/ 10 w 28"/>
                <a:gd name="T11" fmla="*/ 20 h 48"/>
                <a:gd name="T12" fmla="*/ 10 w 28"/>
                <a:gd name="T13" fmla="*/ 20 h 48"/>
                <a:gd name="T14" fmla="*/ 10 w 28"/>
                <a:gd name="T15" fmla="*/ 22 h 48"/>
                <a:gd name="T16" fmla="*/ 10 w 28"/>
                <a:gd name="T17" fmla="*/ 22 h 48"/>
                <a:gd name="T18" fmla="*/ 12 w 28"/>
                <a:gd name="T19" fmla="*/ 36 h 48"/>
                <a:gd name="T20" fmla="*/ 12 w 28"/>
                <a:gd name="T21" fmla="*/ 36 h 48"/>
                <a:gd name="T22" fmla="*/ 14 w 28"/>
                <a:gd name="T23" fmla="*/ 40 h 48"/>
                <a:gd name="T24" fmla="*/ 18 w 28"/>
                <a:gd name="T25" fmla="*/ 46 h 48"/>
                <a:gd name="T26" fmla="*/ 22 w 28"/>
                <a:gd name="T27" fmla="*/ 48 h 48"/>
                <a:gd name="T28" fmla="*/ 24 w 28"/>
                <a:gd name="T29" fmla="*/ 48 h 48"/>
                <a:gd name="T30" fmla="*/ 26 w 28"/>
                <a:gd name="T31" fmla="*/ 46 h 48"/>
                <a:gd name="T32" fmla="*/ 26 w 28"/>
                <a:gd name="T33" fmla="*/ 46 h 48"/>
                <a:gd name="T34" fmla="*/ 28 w 28"/>
                <a:gd name="T35" fmla="*/ 40 h 48"/>
                <a:gd name="T36" fmla="*/ 28 w 28"/>
                <a:gd name="T37" fmla="*/ 32 h 48"/>
                <a:gd name="T38" fmla="*/ 28 w 28"/>
                <a:gd name="T39" fmla="*/ 26 h 48"/>
                <a:gd name="T40" fmla="*/ 26 w 28"/>
                <a:gd name="T41" fmla="*/ 20 h 48"/>
                <a:gd name="T42" fmla="*/ 26 w 28"/>
                <a:gd name="T43" fmla="*/ 20 h 48"/>
                <a:gd name="T44" fmla="*/ 22 w 28"/>
                <a:gd name="T45" fmla="*/ 14 h 48"/>
                <a:gd name="T46" fmla="*/ 18 w 28"/>
                <a:gd name="T47" fmla="*/ 8 h 48"/>
                <a:gd name="T48" fmla="*/ 12 w 28"/>
                <a:gd name="T49" fmla="*/ 4 h 48"/>
                <a:gd name="T50" fmla="*/ 6 w 28"/>
                <a:gd name="T51" fmla="*/ 0 h 48"/>
                <a:gd name="T52" fmla="*/ 6 w 28"/>
                <a:gd name="T53" fmla="*/ 0 h 48"/>
                <a:gd name="T54" fmla="*/ 2 w 28"/>
                <a:gd name="T55" fmla="*/ 2 h 48"/>
                <a:gd name="T56" fmla="*/ 0 w 28"/>
                <a:gd name="T57" fmla="*/ 4 h 48"/>
                <a:gd name="T58" fmla="*/ 0 w 28"/>
                <a:gd name="T59" fmla="*/ 10 h 48"/>
                <a:gd name="T60" fmla="*/ 0 w 28"/>
                <a:gd name="T61" fmla="*/ 10 h 48"/>
                <a:gd name="T62" fmla="*/ 4 w 28"/>
                <a:gd name="T63" fmla="*/ 18 h 48"/>
                <a:gd name="T64" fmla="*/ 6 w 28"/>
                <a:gd name="T65" fmla="*/ 20 h 48"/>
                <a:gd name="T66" fmla="*/ 10 w 28"/>
                <a:gd name="T67" fmla="*/ 22 h 48"/>
                <a:gd name="T68" fmla="*/ 10 w 28"/>
                <a:gd name="T69" fmla="*/ 22 h 48"/>
                <a:gd name="T70" fmla="*/ 10 w 28"/>
                <a:gd name="T71" fmla="*/ 22 h 4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48"/>
                <a:gd name="T110" fmla="*/ 28 w 28"/>
                <a:gd name="T111" fmla="*/ 48 h 4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48">
                  <a:moveTo>
                    <a:pt x="10" y="22"/>
                  </a:moveTo>
                  <a:lnTo>
                    <a:pt x="10" y="22"/>
                  </a:lnTo>
                  <a:lnTo>
                    <a:pt x="10" y="20"/>
                  </a:lnTo>
                  <a:lnTo>
                    <a:pt x="10" y="22"/>
                  </a:lnTo>
                  <a:lnTo>
                    <a:pt x="12" y="36"/>
                  </a:lnTo>
                  <a:lnTo>
                    <a:pt x="14" y="40"/>
                  </a:lnTo>
                  <a:lnTo>
                    <a:pt x="18" y="46"/>
                  </a:lnTo>
                  <a:lnTo>
                    <a:pt x="22" y="48"/>
                  </a:lnTo>
                  <a:lnTo>
                    <a:pt x="24" y="48"/>
                  </a:lnTo>
                  <a:lnTo>
                    <a:pt x="26" y="46"/>
                  </a:lnTo>
                  <a:lnTo>
                    <a:pt x="28" y="40"/>
                  </a:lnTo>
                  <a:lnTo>
                    <a:pt x="28" y="32"/>
                  </a:lnTo>
                  <a:lnTo>
                    <a:pt x="28" y="26"/>
                  </a:lnTo>
                  <a:lnTo>
                    <a:pt x="26" y="20"/>
                  </a:lnTo>
                  <a:lnTo>
                    <a:pt x="22" y="14"/>
                  </a:lnTo>
                  <a:lnTo>
                    <a:pt x="18" y="8"/>
                  </a:lnTo>
                  <a:lnTo>
                    <a:pt x="12" y="4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10"/>
                  </a:lnTo>
                  <a:lnTo>
                    <a:pt x="4" y="18"/>
                  </a:lnTo>
                  <a:lnTo>
                    <a:pt x="6" y="20"/>
                  </a:lnTo>
                  <a:lnTo>
                    <a:pt x="10" y="22"/>
                  </a:lnTo>
                  <a:close/>
                </a:path>
              </a:pathLst>
            </a:custGeom>
            <a:solidFill>
              <a:srgbClr val="D5E0E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691" name="Text Box 68"/>
          <p:cNvSpPr txBox="1">
            <a:spLocks noChangeArrowheads="1"/>
          </p:cNvSpPr>
          <p:nvPr/>
        </p:nvSpPr>
        <p:spPr bwMode="auto">
          <a:xfrm>
            <a:off x="7345363" y="4221163"/>
            <a:ext cx="4079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IAD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692" name="Text Box 69"/>
          <p:cNvSpPr txBox="1">
            <a:spLocks noChangeArrowheads="1"/>
          </p:cNvSpPr>
          <p:nvPr/>
        </p:nvSpPr>
        <p:spPr bwMode="auto">
          <a:xfrm>
            <a:off x="6842125" y="4940300"/>
            <a:ext cx="50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AMG/</a:t>
            </a:r>
          </a:p>
          <a:p>
            <a:r>
              <a:rPr lang="en-US" altLang="ru-RU" sz="1000">
                <a:latin typeface="Times New Roman" pitchFamily="18" charset="0"/>
              </a:rPr>
              <a:t>MAP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693" name="Text Box 70"/>
          <p:cNvSpPr txBox="1">
            <a:spLocks noChangeArrowheads="1"/>
          </p:cNvSpPr>
          <p:nvPr/>
        </p:nvSpPr>
        <p:spPr bwMode="auto">
          <a:xfrm>
            <a:off x="6338888" y="5659438"/>
            <a:ext cx="3603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PON</a:t>
            </a:r>
            <a:endParaRPr lang="ru-RU" altLang="ru-RU" sz="1000">
              <a:latin typeface="Times New Roman" pitchFamily="18" charset="0"/>
            </a:endParaRPr>
          </a:p>
        </p:txBody>
      </p: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7994650" y="3860800"/>
            <a:ext cx="431800" cy="273050"/>
            <a:chOff x="2936" y="1784"/>
            <a:chExt cx="2040" cy="1370"/>
          </a:xfrm>
        </p:grpSpPr>
        <p:sp>
          <p:nvSpPr>
            <p:cNvPr id="28354" name="Freeform 72"/>
            <p:cNvSpPr>
              <a:spLocks/>
            </p:cNvSpPr>
            <p:nvPr/>
          </p:nvSpPr>
          <p:spPr bwMode="auto">
            <a:xfrm>
              <a:off x="3314" y="1784"/>
              <a:ext cx="1662" cy="1370"/>
            </a:xfrm>
            <a:custGeom>
              <a:avLst/>
              <a:gdLst>
                <a:gd name="T0" fmla="*/ 1650 w 1662"/>
                <a:gd name="T1" fmla="*/ 319 h 1370"/>
                <a:gd name="T2" fmla="*/ 1631 w 1662"/>
                <a:gd name="T3" fmla="*/ 315 h 1370"/>
                <a:gd name="T4" fmla="*/ 1627 w 1662"/>
                <a:gd name="T5" fmla="*/ 299 h 1370"/>
                <a:gd name="T6" fmla="*/ 1615 w 1662"/>
                <a:gd name="T7" fmla="*/ 279 h 1370"/>
                <a:gd name="T8" fmla="*/ 1599 w 1662"/>
                <a:gd name="T9" fmla="*/ 272 h 1370"/>
                <a:gd name="T10" fmla="*/ 1595 w 1662"/>
                <a:gd name="T11" fmla="*/ 272 h 1370"/>
                <a:gd name="T12" fmla="*/ 1583 w 1662"/>
                <a:gd name="T13" fmla="*/ 248 h 1370"/>
                <a:gd name="T14" fmla="*/ 1576 w 1662"/>
                <a:gd name="T15" fmla="*/ 248 h 1370"/>
                <a:gd name="T16" fmla="*/ 1320 w 1662"/>
                <a:gd name="T17" fmla="*/ 209 h 1370"/>
                <a:gd name="T18" fmla="*/ 1150 w 1662"/>
                <a:gd name="T19" fmla="*/ 173 h 1370"/>
                <a:gd name="T20" fmla="*/ 1028 w 1662"/>
                <a:gd name="T21" fmla="*/ 157 h 1370"/>
                <a:gd name="T22" fmla="*/ 985 w 1662"/>
                <a:gd name="T23" fmla="*/ 157 h 1370"/>
                <a:gd name="T24" fmla="*/ 957 w 1662"/>
                <a:gd name="T25" fmla="*/ 165 h 1370"/>
                <a:gd name="T26" fmla="*/ 898 w 1662"/>
                <a:gd name="T27" fmla="*/ 197 h 1370"/>
                <a:gd name="T28" fmla="*/ 874 w 1662"/>
                <a:gd name="T29" fmla="*/ 216 h 1370"/>
                <a:gd name="T30" fmla="*/ 874 w 1662"/>
                <a:gd name="T31" fmla="*/ 216 h 1370"/>
                <a:gd name="T32" fmla="*/ 882 w 1662"/>
                <a:gd name="T33" fmla="*/ 201 h 1370"/>
                <a:gd name="T34" fmla="*/ 890 w 1662"/>
                <a:gd name="T35" fmla="*/ 102 h 1370"/>
                <a:gd name="T36" fmla="*/ 867 w 1662"/>
                <a:gd name="T37" fmla="*/ 87 h 1370"/>
                <a:gd name="T38" fmla="*/ 855 w 1662"/>
                <a:gd name="T39" fmla="*/ 71 h 1370"/>
                <a:gd name="T40" fmla="*/ 831 w 1662"/>
                <a:gd name="T41" fmla="*/ 51 h 1370"/>
                <a:gd name="T42" fmla="*/ 741 w 1662"/>
                <a:gd name="T43" fmla="*/ 12 h 1370"/>
                <a:gd name="T44" fmla="*/ 693 w 1662"/>
                <a:gd name="T45" fmla="*/ 0 h 1370"/>
                <a:gd name="T46" fmla="*/ 642 w 1662"/>
                <a:gd name="T47" fmla="*/ 4 h 1370"/>
                <a:gd name="T48" fmla="*/ 618 w 1662"/>
                <a:gd name="T49" fmla="*/ 8 h 1370"/>
                <a:gd name="T50" fmla="*/ 567 w 1662"/>
                <a:gd name="T51" fmla="*/ 31 h 1370"/>
                <a:gd name="T52" fmla="*/ 500 w 1662"/>
                <a:gd name="T53" fmla="*/ 79 h 1370"/>
                <a:gd name="T54" fmla="*/ 461 w 1662"/>
                <a:gd name="T55" fmla="*/ 114 h 1370"/>
                <a:gd name="T56" fmla="*/ 390 w 1662"/>
                <a:gd name="T57" fmla="*/ 189 h 1370"/>
                <a:gd name="T58" fmla="*/ 327 w 1662"/>
                <a:gd name="T59" fmla="*/ 268 h 1370"/>
                <a:gd name="T60" fmla="*/ 221 w 1662"/>
                <a:gd name="T61" fmla="*/ 445 h 1370"/>
                <a:gd name="T62" fmla="*/ 130 w 1662"/>
                <a:gd name="T63" fmla="*/ 630 h 1370"/>
                <a:gd name="T64" fmla="*/ 55 w 1662"/>
                <a:gd name="T65" fmla="*/ 823 h 1370"/>
                <a:gd name="T66" fmla="*/ 39 w 1662"/>
                <a:gd name="T67" fmla="*/ 854 h 1370"/>
                <a:gd name="T68" fmla="*/ 39 w 1662"/>
                <a:gd name="T69" fmla="*/ 858 h 1370"/>
                <a:gd name="T70" fmla="*/ 39 w 1662"/>
                <a:gd name="T71" fmla="*/ 866 h 1370"/>
                <a:gd name="T72" fmla="*/ 39 w 1662"/>
                <a:gd name="T73" fmla="*/ 874 h 1370"/>
                <a:gd name="T74" fmla="*/ 20 w 1662"/>
                <a:gd name="T75" fmla="*/ 890 h 1370"/>
                <a:gd name="T76" fmla="*/ 4 w 1662"/>
                <a:gd name="T77" fmla="*/ 917 h 1370"/>
                <a:gd name="T78" fmla="*/ 0 w 1662"/>
                <a:gd name="T79" fmla="*/ 957 h 1370"/>
                <a:gd name="T80" fmla="*/ 12 w 1662"/>
                <a:gd name="T81" fmla="*/ 1028 h 1370"/>
                <a:gd name="T82" fmla="*/ 20 w 1662"/>
                <a:gd name="T83" fmla="*/ 1043 h 1370"/>
                <a:gd name="T84" fmla="*/ 32 w 1662"/>
                <a:gd name="T85" fmla="*/ 1051 h 1370"/>
                <a:gd name="T86" fmla="*/ 55 w 1662"/>
                <a:gd name="T87" fmla="*/ 1059 h 1370"/>
                <a:gd name="T88" fmla="*/ 59 w 1662"/>
                <a:gd name="T89" fmla="*/ 1067 h 1370"/>
                <a:gd name="T90" fmla="*/ 71 w 1662"/>
                <a:gd name="T91" fmla="*/ 1106 h 1370"/>
                <a:gd name="T92" fmla="*/ 95 w 1662"/>
                <a:gd name="T93" fmla="*/ 1118 h 1370"/>
                <a:gd name="T94" fmla="*/ 256 w 1662"/>
                <a:gd name="T95" fmla="*/ 1201 h 1370"/>
                <a:gd name="T96" fmla="*/ 386 w 1662"/>
                <a:gd name="T97" fmla="*/ 1252 h 1370"/>
                <a:gd name="T98" fmla="*/ 540 w 1662"/>
                <a:gd name="T99" fmla="*/ 1303 h 1370"/>
                <a:gd name="T100" fmla="*/ 717 w 1662"/>
                <a:gd name="T101" fmla="*/ 1343 h 1370"/>
                <a:gd name="T102" fmla="*/ 910 w 1662"/>
                <a:gd name="T103" fmla="*/ 1370 h 1370"/>
                <a:gd name="T104" fmla="*/ 1111 w 1662"/>
                <a:gd name="T105" fmla="*/ 1370 h 1370"/>
                <a:gd name="T106" fmla="*/ 1170 w 1662"/>
                <a:gd name="T107" fmla="*/ 1362 h 1370"/>
                <a:gd name="T108" fmla="*/ 1241 w 1662"/>
                <a:gd name="T109" fmla="*/ 1347 h 1370"/>
                <a:gd name="T110" fmla="*/ 1615 w 1662"/>
                <a:gd name="T111" fmla="*/ 693 h 1370"/>
                <a:gd name="T112" fmla="*/ 1639 w 1662"/>
                <a:gd name="T113" fmla="*/ 547 h 1370"/>
                <a:gd name="T114" fmla="*/ 1650 w 1662"/>
                <a:gd name="T115" fmla="*/ 441 h 137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62"/>
                <a:gd name="T175" fmla="*/ 0 h 1370"/>
                <a:gd name="T176" fmla="*/ 1662 w 1662"/>
                <a:gd name="T177" fmla="*/ 1370 h 137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62" h="1370">
                  <a:moveTo>
                    <a:pt x="1650" y="441"/>
                  </a:moveTo>
                  <a:lnTo>
                    <a:pt x="1650" y="319"/>
                  </a:lnTo>
                  <a:lnTo>
                    <a:pt x="1631" y="315"/>
                  </a:lnTo>
                  <a:lnTo>
                    <a:pt x="1627" y="299"/>
                  </a:lnTo>
                  <a:lnTo>
                    <a:pt x="1623" y="287"/>
                  </a:lnTo>
                  <a:lnTo>
                    <a:pt x="1615" y="279"/>
                  </a:lnTo>
                  <a:lnTo>
                    <a:pt x="1603" y="272"/>
                  </a:lnTo>
                  <a:lnTo>
                    <a:pt x="1599" y="272"/>
                  </a:lnTo>
                  <a:lnTo>
                    <a:pt x="1595" y="272"/>
                  </a:lnTo>
                  <a:lnTo>
                    <a:pt x="1587" y="256"/>
                  </a:lnTo>
                  <a:lnTo>
                    <a:pt x="1583" y="248"/>
                  </a:lnTo>
                  <a:lnTo>
                    <a:pt x="1576" y="248"/>
                  </a:lnTo>
                  <a:lnTo>
                    <a:pt x="1320" y="209"/>
                  </a:lnTo>
                  <a:lnTo>
                    <a:pt x="1237" y="193"/>
                  </a:lnTo>
                  <a:lnTo>
                    <a:pt x="1150" y="173"/>
                  </a:lnTo>
                  <a:lnTo>
                    <a:pt x="1067" y="161"/>
                  </a:lnTo>
                  <a:lnTo>
                    <a:pt x="1028" y="157"/>
                  </a:lnTo>
                  <a:lnTo>
                    <a:pt x="985" y="157"/>
                  </a:lnTo>
                  <a:lnTo>
                    <a:pt x="973" y="161"/>
                  </a:lnTo>
                  <a:lnTo>
                    <a:pt x="957" y="165"/>
                  </a:lnTo>
                  <a:lnTo>
                    <a:pt x="926" y="177"/>
                  </a:lnTo>
                  <a:lnTo>
                    <a:pt x="898" y="197"/>
                  </a:lnTo>
                  <a:lnTo>
                    <a:pt x="874" y="216"/>
                  </a:lnTo>
                  <a:lnTo>
                    <a:pt x="874" y="213"/>
                  </a:lnTo>
                  <a:lnTo>
                    <a:pt x="882" y="201"/>
                  </a:lnTo>
                  <a:lnTo>
                    <a:pt x="898" y="185"/>
                  </a:lnTo>
                  <a:lnTo>
                    <a:pt x="890" y="102"/>
                  </a:lnTo>
                  <a:lnTo>
                    <a:pt x="867" y="87"/>
                  </a:lnTo>
                  <a:lnTo>
                    <a:pt x="855" y="71"/>
                  </a:lnTo>
                  <a:lnTo>
                    <a:pt x="831" y="51"/>
                  </a:lnTo>
                  <a:lnTo>
                    <a:pt x="788" y="27"/>
                  </a:lnTo>
                  <a:lnTo>
                    <a:pt x="741" y="12"/>
                  </a:lnTo>
                  <a:lnTo>
                    <a:pt x="717" y="4"/>
                  </a:lnTo>
                  <a:lnTo>
                    <a:pt x="693" y="0"/>
                  </a:lnTo>
                  <a:lnTo>
                    <a:pt x="670" y="0"/>
                  </a:lnTo>
                  <a:lnTo>
                    <a:pt x="642" y="4"/>
                  </a:lnTo>
                  <a:lnTo>
                    <a:pt x="618" y="8"/>
                  </a:lnTo>
                  <a:lnTo>
                    <a:pt x="591" y="20"/>
                  </a:lnTo>
                  <a:lnTo>
                    <a:pt x="567" y="31"/>
                  </a:lnTo>
                  <a:lnTo>
                    <a:pt x="544" y="47"/>
                  </a:lnTo>
                  <a:lnTo>
                    <a:pt x="500" y="79"/>
                  </a:lnTo>
                  <a:lnTo>
                    <a:pt x="461" y="114"/>
                  </a:lnTo>
                  <a:lnTo>
                    <a:pt x="425" y="150"/>
                  </a:lnTo>
                  <a:lnTo>
                    <a:pt x="390" y="189"/>
                  </a:lnTo>
                  <a:lnTo>
                    <a:pt x="358" y="228"/>
                  </a:lnTo>
                  <a:lnTo>
                    <a:pt x="327" y="268"/>
                  </a:lnTo>
                  <a:lnTo>
                    <a:pt x="272" y="354"/>
                  </a:lnTo>
                  <a:lnTo>
                    <a:pt x="221" y="445"/>
                  </a:lnTo>
                  <a:lnTo>
                    <a:pt x="173" y="535"/>
                  </a:lnTo>
                  <a:lnTo>
                    <a:pt x="130" y="630"/>
                  </a:lnTo>
                  <a:lnTo>
                    <a:pt x="55" y="823"/>
                  </a:lnTo>
                  <a:lnTo>
                    <a:pt x="39" y="854"/>
                  </a:lnTo>
                  <a:lnTo>
                    <a:pt x="39" y="858"/>
                  </a:lnTo>
                  <a:lnTo>
                    <a:pt x="39" y="866"/>
                  </a:lnTo>
                  <a:lnTo>
                    <a:pt x="39" y="874"/>
                  </a:lnTo>
                  <a:lnTo>
                    <a:pt x="20" y="890"/>
                  </a:lnTo>
                  <a:lnTo>
                    <a:pt x="8" y="902"/>
                  </a:lnTo>
                  <a:lnTo>
                    <a:pt x="4" y="917"/>
                  </a:lnTo>
                  <a:lnTo>
                    <a:pt x="0" y="937"/>
                  </a:lnTo>
                  <a:lnTo>
                    <a:pt x="0" y="957"/>
                  </a:lnTo>
                  <a:lnTo>
                    <a:pt x="4" y="992"/>
                  </a:lnTo>
                  <a:lnTo>
                    <a:pt x="12" y="1028"/>
                  </a:lnTo>
                  <a:lnTo>
                    <a:pt x="20" y="1043"/>
                  </a:lnTo>
                  <a:lnTo>
                    <a:pt x="24" y="1047"/>
                  </a:lnTo>
                  <a:lnTo>
                    <a:pt x="32" y="1051"/>
                  </a:lnTo>
                  <a:lnTo>
                    <a:pt x="55" y="1059"/>
                  </a:lnTo>
                  <a:lnTo>
                    <a:pt x="59" y="1067"/>
                  </a:lnTo>
                  <a:lnTo>
                    <a:pt x="63" y="1067"/>
                  </a:lnTo>
                  <a:lnTo>
                    <a:pt x="71" y="1106"/>
                  </a:lnTo>
                  <a:lnTo>
                    <a:pt x="95" y="1118"/>
                  </a:lnTo>
                  <a:lnTo>
                    <a:pt x="158" y="1154"/>
                  </a:lnTo>
                  <a:lnTo>
                    <a:pt x="256" y="1201"/>
                  </a:lnTo>
                  <a:lnTo>
                    <a:pt x="319" y="1225"/>
                  </a:lnTo>
                  <a:lnTo>
                    <a:pt x="386" y="1252"/>
                  </a:lnTo>
                  <a:lnTo>
                    <a:pt x="461" y="1280"/>
                  </a:lnTo>
                  <a:lnTo>
                    <a:pt x="540" y="1303"/>
                  </a:lnTo>
                  <a:lnTo>
                    <a:pt x="626" y="1327"/>
                  </a:lnTo>
                  <a:lnTo>
                    <a:pt x="717" y="1343"/>
                  </a:lnTo>
                  <a:lnTo>
                    <a:pt x="811" y="1358"/>
                  </a:lnTo>
                  <a:lnTo>
                    <a:pt x="910" y="1370"/>
                  </a:lnTo>
                  <a:lnTo>
                    <a:pt x="1008" y="1370"/>
                  </a:lnTo>
                  <a:lnTo>
                    <a:pt x="1111" y="1370"/>
                  </a:lnTo>
                  <a:lnTo>
                    <a:pt x="1170" y="1362"/>
                  </a:lnTo>
                  <a:lnTo>
                    <a:pt x="1213" y="1354"/>
                  </a:lnTo>
                  <a:lnTo>
                    <a:pt x="1241" y="1347"/>
                  </a:lnTo>
                  <a:lnTo>
                    <a:pt x="1615" y="728"/>
                  </a:lnTo>
                  <a:lnTo>
                    <a:pt x="1615" y="693"/>
                  </a:lnTo>
                  <a:lnTo>
                    <a:pt x="1639" y="622"/>
                  </a:lnTo>
                  <a:lnTo>
                    <a:pt x="1639" y="547"/>
                  </a:lnTo>
                  <a:lnTo>
                    <a:pt x="1662" y="496"/>
                  </a:lnTo>
                  <a:lnTo>
                    <a:pt x="1650" y="4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55" name="Freeform 73"/>
            <p:cNvSpPr>
              <a:spLocks/>
            </p:cNvSpPr>
            <p:nvPr/>
          </p:nvSpPr>
          <p:spPr bwMode="auto">
            <a:xfrm>
              <a:off x="2983" y="2697"/>
              <a:ext cx="465" cy="339"/>
            </a:xfrm>
            <a:custGeom>
              <a:avLst/>
              <a:gdLst>
                <a:gd name="T0" fmla="*/ 465 w 465"/>
                <a:gd name="T1" fmla="*/ 197 h 339"/>
                <a:gd name="T2" fmla="*/ 465 w 465"/>
                <a:gd name="T3" fmla="*/ 197 h 339"/>
                <a:gd name="T4" fmla="*/ 445 w 465"/>
                <a:gd name="T5" fmla="*/ 225 h 339"/>
                <a:gd name="T6" fmla="*/ 422 w 465"/>
                <a:gd name="T7" fmla="*/ 249 h 339"/>
                <a:gd name="T8" fmla="*/ 386 w 465"/>
                <a:gd name="T9" fmla="*/ 276 h 339"/>
                <a:gd name="T10" fmla="*/ 347 w 465"/>
                <a:gd name="T11" fmla="*/ 304 h 339"/>
                <a:gd name="T12" fmla="*/ 323 w 465"/>
                <a:gd name="T13" fmla="*/ 315 h 339"/>
                <a:gd name="T14" fmla="*/ 300 w 465"/>
                <a:gd name="T15" fmla="*/ 327 h 339"/>
                <a:gd name="T16" fmla="*/ 276 w 465"/>
                <a:gd name="T17" fmla="*/ 335 h 339"/>
                <a:gd name="T18" fmla="*/ 248 w 465"/>
                <a:gd name="T19" fmla="*/ 339 h 339"/>
                <a:gd name="T20" fmla="*/ 221 w 465"/>
                <a:gd name="T21" fmla="*/ 339 h 339"/>
                <a:gd name="T22" fmla="*/ 189 w 465"/>
                <a:gd name="T23" fmla="*/ 335 h 339"/>
                <a:gd name="T24" fmla="*/ 189 w 465"/>
                <a:gd name="T25" fmla="*/ 335 h 339"/>
                <a:gd name="T26" fmla="*/ 134 w 465"/>
                <a:gd name="T27" fmla="*/ 323 h 339"/>
                <a:gd name="T28" fmla="*/ 87 w 465"/>
                <a:gd name="T29" fmla="*/ 312 h 339"/>
                <a:gd name="T30" fmla="*/ 51 w 465"/>
                <a:gd name="T31" fmla="*/ 292 h 339"/>
                <a:gd name="T32" fmla="*/ 24 w 465"/>
                <a:gd name="T33" fmla="*/ 276 h 339"/>
                <a:gd name="T34" fmla="*/ 12 w 465"/>
                <a:gd name="T35" fmla="*/ 264 h 339"/>
                <a:gd name="T36" fmla="*/ 8 w 465"/>
                <a:gd name="T37" fmla="*/ 252 h 339"/>
                <a:gd name="T38" fmla="*/ 4 w 465"/>
                <a:gd name="T39" fmla="*/ 241 h 339"/>
                <a:gd name="T40" fmla="*/ 0 w 465"/>
                <a:gd name="T41" fmla="*/ 229 h 339"/>
                <a:gd name="T42" fmla="*/ 4 w 465"/>
                <a:gd name="T43" fmla="*/ 217 h 339"/>
                <a:gd name="T44" fmla="*/ 8 w 465"/>
                <a:gd name="T45" fmla="*/ 205 h 339"/>
                <a:gd name="T46" fmla="*/ 16 w 465"/>
                <a:gd name="T47" fmla="*/ 193 h 339"/>
                <a:gd name="T48" fmla="*/ 24 w 465"/>
                <a:gd name="T49" fmla="*/ 178 h 339"/>
                <a:gd name="T50" fmla="*/ 24 w 465"/>
                <a:gd name="T51" fmla="*/ 178 h 339"/>
                <a:gd name="T52" fmla="*/ 55 w 465"/>
                <a:gd name="T53" fmla="*/ 150 h 339"/>
                <a:gd name="T54" fmla="*/ 95 w 465"/>
                <a:gd name="T55" fmla="*/ 123 h 339"/>
                <a:gd name="T56" fmla="*/ 142 w 465"/>
                <a:gd name="T57" fmla="*/ 95 h 339"/>
                <a:gd name="T58" fmla="*/ 189 w 465"/>
                <a:gd name="T59" fmla="*/ 71 h 339"/>
                <a:gd name="T60" fmla="*/ 280 w 465"/>
                <a:gd name="T61" fmla="*/ 32 h 339"/>
                <a:gd name="T62" fmla="*/ 339 w 465"/>
                <a:gd name="T63" fmla="*/ 8 h 339"/>
                <a:gd name="T64" fmla="*/ 339 w 465"/>
                <a:gd name="T65" fmla="*/ 8 h 339"/>
                <a:gd name="T66" fmla="*/ 374 w 465"/>
                <a:gd name="T67" fmla="*/ 4 h 339"/>
                <a:gd name="T68" fmla="*/ 398 w 465"/>
                <a:gd name="T69" fmla="*/ 0 h 339"/>
                <a:gd name="T70" fmla="*/ 422 w 465"/>
                <a:gd name="T71" fmla="*/ 4 h 33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5"/>
                <a:gd name="T109" fmla="*/ 0 h 339"/>
                <a:gd name="T110" fmla="*/ 465 w 465"/>
                <a:gd name="T111" fmla="*/ 339 h 33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5" h="339">
                  <a:moveTo>
                    <a:pt x="465" y="197"/>
                  </a:moveTo>
                  <a:lnTo>
                    <a:pt x="465" y="197"/>
                  </a:lnTo>
                  <a:lnTo>
                    <a:pt x="445" y="225"/>
                  </a:lnTo>
                  <a:lnTo>
                    <a:pt x="422" y="249"/>
                  </a:lnTo>
                  <a:lnTo>
                    <a:pt x="386" y="276"/>
                  </a:lnTo>
                  <a:lnTo>
                    <a:pt x="347" y="304"/>
                  </a:lnTo>
                  <a:lnTo>
                    <a:pt x="323" y="315"/>
                  </a:lnTo>
                  <a:lnTo>
                    <a:pt x="300" y="327"/>
                  </a:lnTo>
                  <a:lnTo>
                    <a:pt x="276" y="335"/>
                  </a:lnTo>
                  <a:lnTo>
                    <a:pt x="248" y="339"/>
                  </a:lnTo>
                  <a:lnTo>
                    <a:pt x="221" y="339"/>
                  </a:lnTo>
                  <a:lnTo>
                    <a:pt x="189" y="335"/>
                  </a:lnTo>
                  <a:lnTo>
                    <a:pt x="134" y="323"/>
                  </a:lnTo>
                  <a:lnTo>
                    <a:pt x="87" y="312"/>
                  </a:lnTo>
                  <a:lnTo>
                    <a:pt x="51" y="292"/>
                  </a:lnTo>
                  <a:lnTo>
                    <a:pt x="24" y="276"/>
                  </a:lnTo>
                  <a:lnTo>
                    <a:pt x="12" y="264"/>
                  </a:lnTo>
                  <a:lnTo>
                    <a:pt x="8" y="252"/>
                  </a:lnTo>
                  <a:lnTo>
                    <a:pt x="4" y="241"/>
                  </a:lnTo>
                  <a:lnTo>
                    <a:pt x="0" y="229"/>
                  </a:lnTo>
                  <a:lnTo>
                    <a:pt x="4" y="217"/>
                  </a:lnTo>
                  <a:lnTo>
                    <a:pt x="8" y="205"/>
                  </a:lnTo>
                  <a:lnTo>
                    <a:pt x="16" y="193"/>
                  </a:lnTo>
                  <a:lnTo>
                    <a:pt x="24" y="178"/>
                  </a:lnTo>
                  <a:lnTo>
                    <a:pt x="55" y="150"/>
                  </a:lnTo>
                  <a:lnTo>
                    <a:pt x="95" y="123"/>
                  </a:lnTo>
                  <a:lnTo>
                    <a:pt x="142" y="95"/>
                  </a:lnTo>
                  <a:lnTo>
                    <a:pt x="189" y="71"/>
                  </a:lnTo>
                  <a:lnTo>
                    <a:pt x="280" y="32"/>
                  </a:lnTo>
                  <a:lnTo>
                    <a:pt x="339" y="8"/>
                  </a:lnTo>
                  <a:lnTo>
                    <a:pt x="374" y="4"/>
                  </a:lnTo>
                  <a:lnTo>
                    <a:pt x="398" y="0"/>
                  </a:lnTo>
                  <a:lnTo>
                    <a:pt x="422" y="4"/>
                  </a:lnTo>
                </a:path>
              </a:pathLst>
            </a:custGeom>
            <a:noFill/>
            <a:ln w="68263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56" name="Freeform 74"/>
            <p:cNvSpPr>
              <a:spLocks/>
            </p:cNvSpPr>
            <p:nvPr/>
          </p:nvSpPr>
          <p:spPr bwMode="auto">
            <a:xfrm>
              <a:off x="3373" y="2071"/>
              <a:ext cx="1603" cy="1083"/>
            </a:xfrm>
            <a:custGeom>
              <a:avLst/>
              <a:gdLst>
                <a:gd name="T0" fmla="*/ 808 w 1603"/>
                <a:gd name="T1" fmla="*/ 8 h 1083"/>
                <a:gd name="T2" fmla="*/ 808 w 1603"/>
                <a:gd name="T3" fmla="*/ 8 h 1083"/>
                <a:gd name="T4" fmla="*/ 886 w 1603"/>
                <a:gd name="T5" fmla="*/ 4 h 1083"/>
                <a:gd name="T6" fmla="*/ 953 w 1603"/>
                <a:gd name="T7" fmla="*/ 0 h 1083"/>
                <a:gd name="T8" fmla="*/ 1012 w 1603"/>
                <a:gd name="T9" fmla="*/ 4 h 1083"/>
                <a:gd name="T10" fmla="*/ 1012 w 1603"/>
                <a:gd name="T11" fmla="*/ 4 h 1083"/>
                <a:gd name="T12" fmla="*/ 1103 w 1603"/>
                <a:gd name="T13" fmla="*/ 8 h 1083"/>
                <a:gd name="T14" fmla="*/ 1142 w 1603"/>
                <a:gd name="T15" fmla="*/ 12 h 1083"/>
                <a:gd name="T16" fmla="*/ 1186 w 1603"/>
                <a:gd name="T17" fmla="*/ 24 h 1083"/>
                <a:gd name="T18" fmla="*/ 1186 w 1603"/>
                <a:gd name="T19" fmla="*/ 24 h 1083"/>
                <a:gd name="T20" fmla="*/ 1276 w 1603"/>
                <a:gd name="T21" fmla="*/ 40 h 1083"/>
                <a:gd name="T22" fmla="*/ 1406 w 1603"/>
                <a:gd name="T23" fmla="*/ 63 h 1083"/>
                <a:gd name="T24" fmla="*/ 1576 w 1603"/>
                <a:gd name="T25" fmla="*/ 91 h 1083"/>
                <a:gd name="T26" fmla="*/ 1603 w 1603"/>
                <a:gd name="T27" fmla="*/ 209 h 1083"/>
                <a:gd name="T28" fmla="*/ 1580 w 1603"/>
                <a:gd name="T29" fmla="*/ 260 h 1083"/>
                <a:gd name="T30" fmla="*/ 1580 w 1603"/>
                <a:gd name="T31" fmla="*/ 335 h 1083"/>
                <a:gd name="T32" fmla="*/ 1556 w 1603"/>
                <a:gd name="T33" fmla="*/ 406 h 1083"/>
                <a:gd name="T34" fmla="*/ 1556 w 1603"/>
                <a:gd name="T35" fmla="*/ 441 h 1083"/>
                <a:gd name="T36" fmla="*/ 1182 w 1603"/>
                <a:gd name="T37" fmla="*/ 1060 h 1083"/>
                <a:gd name="T38" fmla="*/ 1182 w 1603"/>
                <a:gd name="T39" fmla="*/ 1060 h 1083"/>
                <a:gd name="T40" fmla="*/ 1154 w 1603"/>
                <a:gd name="T41" fmla="*/ 1067 h 1083"/>
                <a:gd name="T42" fmla="*/ 1111 w 1603"/>
                <a:gd name="T43" fmla="*/ 1075 h 1083"/>
                <a:gd name="T44" fmla="*/ 1052 w 1603"/>
                <a:gd name="T45" fmla="*/ 1083 h 1083"/>
                <a:gd name="T46" fmla="*/ 1052 w 1603"/>
                <a:gd name="T47" fmla="*/ 1083 h 1083"/>
                <a:gd name="T48" fmla="*/ 949 w 1603"/>
                <a:gd name="T49" fmla="*/ 1083 h 1083"/>
                <a:gd name="T50" fmla="*/ 851 w 1603"/>
                <a:gd name="T51" fmla="*/ 1083 h 1083"/>
                <a:gd name="T52" fmla="*/ 752 w 1603"/>
                <a:gd name="T53" fmla="*/ 1071 h 1083"/>
                <a:gd name="T54" fmla="*/ 658 w 1603"/>
                <a:gd name="T55" fmla="*/ 1056 h 1083"/>
                <a:gd name="T56" fmla="*/ 567 w 1603"/>
                <a:gd name="T57" fmla="*/ 1040 h 1083"/>
                <a:gd name="T58" fmla="*/ 481 w 1603"/>
                <a:gd name="T59" fmla="*/ 1016 h 1083"/>
                <a:gd name="T60" fmla="*/ 402 w 1603"/>
                <a:gd name="T61" fmla="*/ 993 h 1083"/>
                <a:gd name="T62" fmla="*/ 327 w 1603"/>
                <a:gd name="T63" fmla="*/ 965 h 1083"/>
                <a:gd name="T64" fmla="*/ 260 w 1603"/>
                <a:gd name="T65" fmla="*/ 938 h 1083"/>
                <a:gd name="T66" fmla="*/ 197 w 1603"/>
                <a:gd name="T67" fmla="*/ 914 h 1083"/>
                <a:gd name="T68" fmla="*/ 99 w 1603"/>
                <a:gd name="T69" fmla="*/ 867 h 1083"/>
                <a:gd name="T70" fmla="*/ 36 w 1603"/>
                <a:gd name="T71" fmla="*/ 831 h 1083"/>
                <a:gd name="T72" fmla="*/ 12 w 1603"/>
                <a:gd name="T73" fmla="*/ 819 h 1083"/>
                <a:gd name="T74" fmla="*/ 0 w 1603"/>
                <a:gd name="T75" fmla="*/ 768 h 1083"/>
                <a:gd name="T76" fmla="*/ 8 w 1603"/>
                <a:gd name="T77" fmla="*/ 709 h 1083"/>
                <a:gd name="T78" fmla="*/ 808 w 1603"/>
                <a:gd name="T79" fmla="*/ 8 h 108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03"/>
                <a:gd name="T121" fmla="*/ 0 h 1083"/>
                <a:gd name="T122" fmla="*/ 1603 w 1603"/>
                <a:gd name="T123" fmla="*/ 1083 h 108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03" h="1083">
                  <a:moveTo>
                    <a:pt x="808" y="8"/>
                  </a:moveTo>
                  <a:lnTo>
                    <a:pt x="808" y="8"/>
                  </a:lnTo>
                  <a:lnTo>
                    <a:pt x="886" y="4"/>
                  </a:lnTo>
                  <a:lnTo>
                    <a:pt x="953" y="0"/>
                  </a:lnTo>
                  <a:lnTo>
                    <a:pt x="1012" y="4"/>
                  </a:lnTo>
                  <a:lnTo>
                    <a:pt x="1103" y="8"/>
                  </a:lnTo>
                  <a:lnTo>
                    <a:pt x="1142" y="12"/>
                  </a:lnTo>
                  <a:lnTo>
                    <a:pt x="1186" y="24"/>
                  </a:lnTo>
                  <a:lnTo>
                    <a:pt x="1276" y="40"/>
                  </a:lnTo>
                  <a:lnTo>
                    <a:pt x="1406" y="63"/>
                  </a:lnTo>
                  <a:lnTo>
                    <a:pt x="1576" y="91"/>
                  </a:lnTo>
                  <a:lnTo>
                    <a:pt x="1603" y="209"/>
                  </a:lnTo>
                  <a:lnTo>
                    <a:pt x="1580" y="260"/>
                  </a:lnTo>
                  <a:lnTo>
                    <a:pt x="1580" y="335"/>
                  </a:lnTo>
                  <a:lnTo>
                    <a:pt x="1556" y="406"/>
                  </a:lnTo>
                  <a:lnTo>
                    <a:pt x="1556" y="441"/>
                  </a:lnTo>
                  <a:lnTo>
                    <a:pt x="1182" y="1060"/>
                  </a:lnTo>
                  <a:lnTo>
                    <a:pt x="1154" y="1067"/>
                  </a:lnTo>
                  <a:lnTo>
                    <a:pt x="1111" y="1075"/>
                  </a:lnTo>
                  <a:lnTo>
                    <a:pt x="1052" y="1083"/>
                  </a:lnTo>
                  <a:lnTo>
                    <a:pt x="949" y="1083"/>
                  </a:lnTo>
                  <a:lnTo>
                    <a:pt x="851" y="1083"/>
                  </a:lnTo>
                  <a:lnTo>
                    <a:pt x="752" y="1071"/>
                  </a:lnTo>
                  <a:lnTo>
                    <a:pt x="658" y="1056"/>
                  </a:lnTo>
                  <a:lnTo>
                    <a:pt x="567" y="1040"/>
                  </a:lnTo>
                  <a:lnTo>
                    <a:pt x="481" y="1016"/>
                  </a:lnTo>
                  <a:lnTo>
                    <a:pt x="402" y="993"/>
                  </a:lnTo>
                  <a:lnTo>
                    <a:pt x="327" y="965"/>
                  </a:lnTo>
                  <a:lnTo>
                    <a:pt x="260" y="938"/>
                  </a:lnTo>
                  <a:lnTo>
                    <a:pt x="197" y="914"/>
                  </a:lnTo>
                  <a:lnTo>
                    <a:pt x="99" y="867"/>
                  </a:lnTo>
                  <a:lnTo>
                    <a:pt x="36" y="831"/>
                  </a:lnTo>
                  <a:lnTo>
                    <a:pt x="12" y="819"/>
                  </a:lnTo>
                  <a:lnTo>
                    <a:pt x="0" y="768"/>
                  </a:lnTo>
                  <a:lnTo>
                    <a:pt x="8" y="709"/>
                  </a:lnTo>
                  <a:lnTo>
                    <a:pt x="808" y="8"/>
                  </a:lnTo>
                  <a:close/>
                </a:path>
              </a:pathLst>
            </a:custGeom>
            <a:solidFill>
              <a:srgbClr val="CCCCCC"/>
            </a:solidFill>
            <a:ln w="31750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57" name="Freeform 75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1571 w 1603"/>
                <a:gd name="T75" fmla="*/ 129 h 10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03"/>
                <a:gd name="T115" fmla="*/ 0 h 1078"/>
                <a:gd name="T116" fmla="*/ 1603 w 1603"/>
                <a:gd name="T117" fmla="*/ 1078 h 107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  <a:lnTo>
                    <a:pt x="1571" y="1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58" name="Freeform 76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03"/>
                <a:gd name="T112" fmla="*/ 0 h 1078"/>
                <a:gd name="T113" fmla="*/ 1603 w 1603"/>
                <a:gd name="T114" fmla="*/ 1078 h 107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59" name="Freeform 77"/>
            <p:cNvSpPr>
              <a:spLocks/>
            </p:cNvSpPr>
            <p:nvPr/>
          </p:nvSpPr>
          <p:spPr bwMode="auto">
            <a:xfrm>
              <a:off x="3361" y="1997"/>
              <a:ext cx="1603" cy="1130"/>
            </a:xfrm>
            <a:custGeom>
              <a:avLst/>
              <a:gdLst>
                <a:gd name="T0" fmla="*/ 1603 w 1603"/>
                <a:gd name="T1" fmla="*/ 106 h 1130"/>
                <a:gd name="T2" fmla="*/ 1603 w 1603"/>
                <a:gd name="T3" fmla="*/ 244 h 1130"/>
                <a:gd name="T4" fmla="*/ 1580 w 1603"/>
                <a:gd name="T5" fmla="*/ 370 h 1130"/>
                <a:gd name="T6" fmla="*/ 1556 w 1603"/>
                <a:gd name="T7" fmla="*/ 441 h 1130"/>
                <a:gd name="T8" fmla="*/ 1556 w 1603"/>
                <a:gd name="T9" fmla="*/ 476 h 1130"/>
                <a:gd name="T10" fmla="*/ 1182 w 1603"/>
                <a:gd name="T11" fmla="*/ 1094 h 1130"/>
                <a:gd name="T12" fmla="*/ 1123 w 1603"/>
                <a:gd name="T13" fmla="*/ 1130 h 1130"/>
                <a:gd name="T14" fmla="*/ 1123 w 1603"/>
                <a:gd name="T15" fmla="*/ 1130 h 1130"/>
                <a:gd name="T16" fmla="*/ 1091 w 1603"/>
                <a:gd name="T17" fmla="*/ 1130 h 1130"/>
                <a:gd name="T18" fmla="*/ 1052 w 1603"/>
                <a:gd name="T19" fmla="*/ 1126 h 1130"/>
                <a:gd name="T20" fmla="*/ 993 w 1603"/>
                <a:gd name="T21" fmla="*/ 1114 h 1130"/>
                <a:gd name="T22" fmla="*/ 993 w 1603"/>
                <a:gd name="T23" fmla="*/ 1114 h 1130"/>
                <a:gd name="T24" fmla="*/ 914 w 1603"/>
                <a:gd name="T25" fmla="*/ 1094 h 1130"/>
                <a:gd name="T26" fmla="*/ 784 w 1603"/>
                <a:gd name="T27" fmla="*/ 1063 h 1130"/>
                <a:gd name="T28" fmla="*/ 453 w 1603"/>
                <a:gd name="T29" fmla="*/ 976 h 1130"/>
                <a:gd name="T30" fmla="*/ 12 w 1603"/>
                <a:gd name="T31" fmla="*/ 854 h 1130"/>
                <a:gd name="T32" fmla="*/ 0 w 1603"/>
                <a:gd name="T33" fmla="*/ 803 h 1130"/>
                <a:gd name="T34" fmla="*/ 20 w 1603"/>
                <a:gd name="T35" fmla="*/ 740 h 1130"/>
                <a:gd name="T36" fmla="*/ 737 w 1603"/>
                <a:gd name="T37" fmla="*/ 106 h 1130"/>
                <a:gd name="T38" fmla="*/ 812 w 1603"/>
                <a:gd name="T39" fmla="*/ 51 h 1130"/>
                <a:gd name="T40" fmla="*/ 812 w 1603"/>
                <a:gd name="T41" fmla="*/ 51 h 1130"/>
                <a:gd name="T42" fmla="*/ 879 w 1603"/>
                <a:gd name="T43" fmla="*/ 23 h 1130"/>
                <a:gd name="T44" fmla="*/ 934 w 1603"/>
                <a:gd name="T45" fmla="*/ 7 h 1130"/>
                <a:gd name="T46" fmla="*/ 961 w 1603"/>
                <a:gd name="T47" fmla="*/ 3 h 1130"/>
                <a:gd name="T48" fmla="*/ 981 w 1603"/>
                <a:gd name="T49" fmla="*/ 0 h 1130"/>
                <a:gd name="T50" fmla="*/ 981 w 1603"/>
                <a:gd name="T51" fmla="*/ 0 h 1130"/>
                <a:gd name="T52" fmla="*/ 1036 w 1603"/>
                <a:gd name="T53" fmla="*/ 3 h 1130"/>
                <a:gd name="T54" fmla="*/ 1091 w 1603"/>
                <a:gd name="T55" fmla="*/ 11 h 1130"/>
                <a:gd name="T56" fmla="*/ 1194 w 1603"/>
                <a:gd name="T57" fmla="*/ 31 h 1130"/>
                <a:gd name="T58" fmla="*/ 1194 w 1603"/>
                <a:gd name="T59" fmla="*/ 31 h 1130"/>
                <a:gd name="T60" fmla="*/ 1395 w 1603"/>
                <a:gd name="T61" fmla="*/ 66 h 1130"/>
                <a:gd name="T62" fmla="*/ 1544 w 1603"/>
                <a:gd name="T63" fmla="*/ 94 h 1130"/>
                <a:gd name="T64" fmla="*/ 1603 w 1603"/>
                <a:gd name="T65" fmla="*/ 106 h 11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03"/>
                <a:gd name="T100" fmla="*/ 0 h 1130"/>
                <a:gd name="T101" fmla="*/ 1603 w 1603"/>
                <a:gd name="T102" fmla="*/ 1130 h 11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03" h="1130">
                  <a:moveTo>
                    <a:pt x="1603" y="106"/>
                  </a:moveTo>
                  <a:lnTo>
                    <a:pt x="1603" y="244"/>
                  </a:lnTo>
                  <a:lnTo>
                    <a:pt x="1580" y="370"/>
                  </a:lnTo>
                  <a:lnTo>
                    <a:pt x="1556" y="441"/>
                  </a:lnTo>
                  <a:lnTo>
                    <a:pt x="1556" y="476"/>
                  </a:lnTo>
                  <a:lnTo>
                    <a:pt x="1182" y="1094"/>
                  </a:lnTo>
                  <a:lnTo>
                    <a:pt x="1123" y="1130"/>
                  </a:lnTo>
                  <a:lnTo>
                    <a:pt x="1091" y="1130"/>
                  </a:lnTo>
                  <a:lnTo>
                    <a:pt x="1052" y="1126"/>
                  </a:lnTo>
                  <a:lnTo>
                    <a:pt x="993" y="1114"/>
                  </a:lnTo>
                  <a:lnTo>
                    <a:pt x="914" y="1094"/>
                  </a:lnTo>
                  <a:lnTo>
                    <a:pt x="784" y="1063"/>
                  </a:lnTo>
                  <a:lnTo>
                    <a:pt x="453" y="976"/>
                  </a:lnTo>
                  <a:lnTo>
                    <a:pt x="12" y="854"/>
                  </a:lnTo>
                  <a:lnTo>
                    <a:pt x="0" y="803"/>
                  </a:lnTo>
                  <a:lnTo>
                    <a:pt x="20" y="740"/>
                  </a:lnTo>
                  <a:lnTo>
                    <a:pt x="737" y="106"/>
                  </a:lnTo>
                  <a:lnTo>
                    <a:pt x="812" y="51"/>
                  </a:lnTo>
                  <a:lnTo>
                    <a:pt x="879" y="23"/>
                  </a:lnTo>
                  <a:lnTo>
                    <a:pt x="934" y="7"/>
                  </a:lnTo>
                  <a:lnTo>
                    <a:pt x="961" y="3"/>
                  </a:lnTo>
                  <a:lnTo>
                    <a:pt x="981" y="0"/>
                  </a:lnTo>
                  <a:lnTo>
                    <a:pt x="1036" y="3"/>
                  </a:lnTo>
                  <a:lnTo>
                    <a:pt x="1091" y="11"/>
                  </a:lnTo>
                  <a:lnTo>
                    <a:pt x="1194" y="31"/>
                  </a:lnTo>
                  <a:lnTo>
                    <a:pt x="1395" y="66"/>
                  </a:lnTo>
                  <a:lnTo>
                    <a:pt x="1544" y="94"/>
                  </a:lnTo>
                  <a:lnTo>
                    <a:pt x="1603" y="106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0" name="Freeform 78"/>
            <p:cNvSpPr>
              <a:spLocks/>
            </p:cNvSpPr>
            <p:nvPr/>
          </p:nvSpPr>
          <p:spPr bwMode="auto">
            <a:xfrm>
              <a:off x="3314" y="1941"/>
              <a:ext cx="1635" cy="1190"/>
            </a:xfrm>
            <a:custGeom>
              <a:avLst/>
              <a:gdLst>
                <a:gd name="T0" fmla="*/ 1595 w 1635"/>
                <a:gd name="T1" fmla="*/ 233 h 1190"/>
                <a:gd name="T2" fmla="*/ 1580 w 1635"/>
                <a:gd name="T3" fmla="*/ 390 h 1190"/>
                <a:gd name="T4" fmla="*/ 1524 w 1635"/>
                <a:gd name="T5" fmla="*/ 536 h 1190"/>
                <a:gd name="T6" fmla="*/ 1201 w 1635"/>
                <a:gd name="T7" fmla="*/ 1111 h 1190"/>
                <a:gd name="T8" fmla="*/ 1182 w 1635"/>
                <a:gd name="T9" fmla="*/ 1146 h 1190"/>
                <a:gd name="T10" fmla="*/ 1186 w 1635"/>
                <a:gd name="T11" fmla="*/ 1146 h 1190"/>
                <a:gd name="T12" fmla="*/ 989 w 1635"/>
                <a:gd name="T13" fmla="*/ 1107 h 1190"/>
                <a:gd name="T14" fmla="*/ 693 w 1635"/>
                <a:gd name="T15" fmla="*/ 1032 h 1190"/>
                <a:gd name="T16" fmla="*/ 35 w 1635"/>
                <a:gd name="T17" fmla="*/ 855 h 1190"/>
                <a:gd name="T18" fmla="*/ 43 w 1635"/>
                <a:gd name="T19" fmla="*/ 879 h 1190"/>
                <a:gd name="T20" fmla="*/ 39 w 1635"/>
                <a:gd name="T21" fmla="*/ 776 h 1190"/>
                <a:gd name="T22" fmla="*/ 47 w 1635"/>
                <a:gd name="T23" fmla="*/ 776 h 1190"/>
                <a:gd name="T24" fmla="*/ 225 w 1635"/>
                <a:gd name="T25" fmla="*/ 623 h 1190"/>
                <a:gd name="T26" fmla="*/ 662 w 1635"/>
                <a:gd name="T27" fmla="*/ 260 h 1190"/>
                <a:gd name="T28" fmla="*/ 772 w 1635"/>
                <a:gd name="T29" fmla="*/ 170 h 1190"/>
                <a:gd name="T30" fmla="*/ 867 w 1635"/>
                <a:gd name="T31" fmla="*/ 122 h 1190"/>
                <a:gd name="T32" fmla="*/ 965 w 1635"/>
                <a:gd name="T33" fmla="*/ 56 h 1190"/>
                <a:gd name="T34" fmla="*/ 1001 w 1635"/>
                <a:gd name="T35" fmla="*/ 44 h 1190"/>
                <a:gd name="T36" fmla="*/ 1123 w 1635"/>
                <a:gd name="T37" fmla="*/ 52 h 1190"/>
                <a:gd name="T38" fmla="*/ 1327 w 1635"/>
                <a:gd name="T39" fmla="*/ 91 h 1190"/>
                <a:gd name="T40" fmla="*/ 1583 w 1635"/>
                <a:gd name="T41" fmla="*/ 130 h 1190"/>
                <a:gd name="T42" fmla="*/ 1595 w 1635"/>
                <a:gd name="T43" fmla="*/ 122 h 1190"/>
                <a:gd name="T44" fmla="*/ 1583 w 1635"/>
                <a:gd name="T45" fmla="*/ 91 h 1190"/>
                <a:gd name="T46" fmla="*/ 1320 w 1635"/>
                <a:gd name="T47" fmla="*/ 52 h 1190"/>
                <a:gd name="T48" fmla="*/ 1150 w 1635"/>
                <a:gd name="T49" fmla="*/ 16 h 1190"/>
                <a:gd name="T50" fmla="*/ 985 w 1635"/>
                <a:gd name="T51" fmla="*/ 0 h 1190"/>
                <a:gd name="T52" fmla="*/ 953 w 1635"/>
                <a:gd name="T53" fmla="*/ 8 h 1190"/>
                <a:gd name="T54" fmla="*/ 863 w 1635"/>
                <a:gd name="T55" fmla="*/ 67 h 1190"/>
                <a:gd name="T56" fmla="*/ 796 w 1635"/>
                <a:gd name="T57" fmla="*/ 111 h 1190"/>
                <a:gd name="T58" fmla="*/ 697 w 1635"/>
                <a:gd name="T59" fmla="*/ 166 h 1190"/>
                <a:gd name="T60" fmla="*/ 626 w 1635"/>
                <a:gd name="T61" fmla="*/ 229 h 1190"/>
                <a:gd name="T62" fmla="*/ 20 w 1635"/>
                <a:gd name="T63" fmla="*/ 733 h 1190"/>
                <a:gd name="T64" fmla="*/ 4 w 1635"/>
                <a:gd name="T65" fmla="*/ 760 h 1190"/>
                <a:gd name="T66" fmla="*/ 4 w 1635"/>
                <a:gd name="T67" fmla="*/ 835 h 1190"/>
                <a:gd name="T68" fmla="*/ 20 w 1635"/>
                <a:gd name="T69" fmla="*/ 886 h 1190"/>
                <a:gd name="T70" fmla="*/ 32 w 1635"/>
                <a:gd name="T71" fmla="*/ 894 h 1190"/>
                <a:gd name="T72" fmla="*/ 729 w 1635"/>
                <a:gd name="T73" fmla="*/ 1083 h 1190"/>
                <a:gd name="T74" fmla="*/ 1119 w 1635"/>
                <a:gd name="T75" fmla="*/ 1178 h 1190"/>
                <a:gd name="T76" fmla="*/ 1205 w 1635"/>
                <a:gd name="T77" fmla="*/ 1190 h 1190"/>
                <a:gd name="T78" fmla="*/ 1536 w 1635"/>
                <a:gd name="T79" fmla="*/ 603 h 1190"/>
                <a:gd name="T80" fmla="*/ 1583 w 1635"/>
                <a:gd name="T81" fmla="*/ 516 h 1190"/>
                <a:gd name="T82" fmla="*/ 1587 w 1635"/>
                <a:gd name="T83" fmla="*/ 489 h 1190"/>
                <a:gd name="T84" fmla="*/ 1611 w 1635"/>
                <a:gd name="T85" fmla="*/ 414 h 1190"/>
                <a:gd name="T86" fmla="*/ 1627 w 1635"/>
                <a:gd name="T87" fmla="*/ 347 h 1190"/>
                <a:gd name="T88" fmla="*/ 1631 w 1635"/>
                <a:gd name="T89" fmla="*/ 213 h 1190"/>
                <a:gd name="T90" fmla="*/ 1623 w 1635"/>
                <a:gd name="T91" fmla="*/ 130 h 1190"/>
                <a:gd name="T92" fmla="*/ 1599 w 1635"/>
                <a:gd name="T93" fmla="*/ 115 h 1190"/>
                <a:gd name="T94" fmla="*/ 1595 w 1635"/>
                <a:gd name="T95" fmla="*/ 126 h 1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35"/>
                <a:gd name="T145" fmla="*/ 0 h 1190"/>
                <a:gd name="T146" fmla="*/ 1635 w 1635"/>
                <a:gd name="T147" fmla="*/ 1190 h 1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35" h="1190">
                  <a:moveTo>
                    <a:pt x="1595" y="126"/>
                  </a:moveTo>
                  <a:lnTo>
                    <a:pt x="1595" y="126"/>
                  </a:lnTo>
                  <a:lnTo>
                    <a:pt x="1595" y="233"/>
                  </a:lnTo>
                  <a:lnTo>
                    <a:pt x="1591" y="284"/>
                  </a:lnTo>
                  <a:lnTo>
                    <a:pt x="1587" y="339"/>
                  </a:lnTo>
                  <a:lnTo>
                    <a:pt x="1580" y="390"/>
                  </a:lnTo>
                  <a:lnTo>
                    <a:pt x="1564" y="441"/>
                  </a:lnTo>
                  <a:lnTo>
                    <a:pt x="1548" y="489"/>
                  </a:lnTo>
                  <a:lnTo>
                    <a:pt x="1524" y="536"/>
                  </a:lnTo>
                  <a:lnTo>
                    <a:pt x="1201" y="1111"/>
                  </a:lnTo>
                  <a:lnTo>
                    <a:pt x="1186" y="1142"/>
                  </a:lnTo>
                  <a:lnTo>
                    <a:pt x="1182" y="1146"/>
                  </a:lnTo>
                  <a:lnTo>
                    <a:pt x="1182" y="1150"/>
                  </a:lnTo>
                  <a:lnTo>
                    <a:pt x="1186" y="1146"/>
                  </a:lnTo>
                  <a:lnTo>
                    <a:pt x="1087" y="1131"/>
                  </a:lnTo>
                  <a:lnTo>
                    <a:pt x="989" y="1107"/>
                  </a:lnTo>
                  <a:lnTo>
                    <a:pt x="839" y="1071"/>
                  </a:lnTo>
                  <a:lnTo>
                    <a:pt x="693" y="1032"/>
                  </a:lnTo>
                  <a:lnTo>
                    <a:pt x="35" y="855"/>
                  </a:lnTo>
                  <a:lnTo>
                    <a:pt x="24" y="851"/>
                  </a:lnTo>
                  <a:lnTo>
                    <a:pt x="43" y="879"/>
                  </a:lnTo>
                  <a:lnTo>
                    <a:pt x="39" y="827"/>
                  </a:lnTo>
                  <a:lnTo>
                    <a:pt x="39" y="776"/>
                  </a:lnTo>
                  <a:lnTo>
                    <a:pt x="39" y="780"/>
                  </a:lnTo>
                  <a:lnTo>
                    <a:pt x="47" y="776"/>
                  </a:lnTo>
                  <a:lnTo>
                    <a:pt x="59" y="760"/>
                  </a:lnTo>
                  <a:lnTo>
                    <a:pt x="225" y="623"/>
                  </a:lnTo>
                  <a:lnTo>
                    <a:pt x="662" y="260"/>
                  </a:lnTo>
                  <a:lnTo>
                    <a:pt x="744" y="189"/>
                  </a:lnTo>
                  <a:lnTo>
                    <a:pt x="772" y="170"/>
                  </a:lnTo>
                  <a:lnTo>
                    <a:pt x="804" y="154"/>
                  </a:lnTo>
                  <a:lnTo>
                    <a:pt x="835" y="138"/>
                  </a:lnTo>
                  <a:lnTo>
                    <a:pt x="867" y="122"/>
                  </a:lnTo>
                  <a:lnTo>
                    <a:pt x="930" y="75"/>
                  </a:lnTo>
                  <a:lnTo>
                    <a:pt x="965" y="56"/>
                  </a:lnTo>
                  <a:lnTo>
                    <a:pt x="985" y="48"/>
                  </a:lnTo>
                  <a:lnTo>
                    <a:pt x="1001" y="44"/>
                  </a:lnTo>
                  <a:lnTo>
                    <a:pt x="1040" y="44"/>
                  </a:lnTo>
                  <a:lnTo>
                    <a:pt x="1083" y="44"/>
                  </a:lnTo>
                  <a:lnTo>
                    <a:pt x="1123" y="52"/>
                  </a:lnTo>
                  <a:lnTo>
                    <a:pt x="1166" y="59"/>
                  </a:lnTo>
                  <a:lnTo>
                    <a:pt x="1249" y="75"/>
                  </a:lnTo>
                  <a:lnTo>
                    <a:pt x="1327" y="91"/>
                  </a:lnTo>
                  <a:lnTo>
                    <a:pt x="1583" y="130"/>
                  </a:lnTo>
                  <a:lnTo>
                    <a:pt x="1591" y="130"/>
                  </a:lnTo>
                  <a:lnTo>
                    <a:pt x="1595" y="126"/>
                  </a:lnTo>
                  <a:lnTo>
                    <a:pt x="1595" y="122"/>
                  </a:lnTo>
                  <a:lnTo>
                    <a:pt x="1595" y="115"/>
                  </a:lnTo>
                  <a:lnTo>
                    <a:pt x="1587" y="99"/>
                  </a:lnTo>
                  <a:lnTo>
                    <a:pt x="1583" y="91"/>
                  </a:lnTo>
                  <a:lnTo>
                    <a:pt x="1576" y="91"/>
                  </a:lnTo>
                  <a:lnTo>
                    <a:pt x="1320" y="52"/>
                  </a:lnTo>
                  <a:lnTo>
                    <a:pt x="1237" y="36"/>
                  </a:lnTo>
                  <a:lnTo>
                    <a:pt x="1150" y="16"/>
                  </a:lnTo>
                  <a:lnTo>
                    <a:pt x="1067" y="4"/>
                  </a:lnTo>
                  <a:lnTo>
                    <a:pt x="1028" y="0"/>
                  </a:lnTo>
                  <a:lnTo>
                    <a:pt x="985" y="0"/>
                  </a:lnTo>
                  <a:lnTo>
                    <a:pt x="969" y="4"/>
                  </a:lnTo>
                  <a:lnTo>
                    <a:pt x="953" y="8"/>
                  </a:lnTo>
                  <a:lnTo>
                    <a:pt x="922" y="24"/>
                  </a:lnTo>
                  <a:lnTo>
                    <a:pt x="886" y="48"/>
                  </a:lnTo>
                  <a:lnTo>
                    <a:pt x="863" y="67"/>
                  </a:lnTo>
                  <a:lnTo>
                    <a:pt x="831" y="91"/>
                  </a:lnTo>
                  <a:lnTo>
                    <a:pt x="796" y="111"/>
                  </a:lnTo>
                  <a:lnTo>
                    <a:pt x="721" y="150"/>
                  </a:lnTo>
                  <a:lnTo>
                    <a:pt x="697" y="166"/>
                  </a:lnTo>
                  <a:lnTo>
                    <a:pt x="674" y="185"/>
                  </a:lnTo>
                  <a:lnTo>
                    <a:pt x="626" y="229"/>
                  </a:lnTo>
                  <a:lnTo>
                    <a:pt x="169" y="607"/>
                  </a:lnTo>
                  <a:lnTo>
                    <a:pt x="20" y="733"/>
                  </a:lnTo>
                  <a:lnTo>
                    <a:pt x="8" y="745"/>
                  </a:lnTo>
                  <a:lnTo>
                    <a:pt x="4" y="760"/>
                  </a:lnTo>
                  <a:lnTo>
                    <a:pt x="0" y="780"/>
                  </a:lnTo>
                  <a:lnTo>
                    <a:pt x="0" y="800"/>
                  </a:lnTo>
                  <a:lnTo>
                    <a:pt x="4" y="835"/>
                  </a:lnTo>
                  <a:lnTo>
                    <a:pt x="12" y="871"/>
                  </a:lnTo>
                  <a:lnTo>
                    <a:pt x="20" y="886"/>
                  </a:lnTo>
                  <a:lnTo>
                    <a:pt x="24" y="890"/>
                  </a:lnTo>
                  <a:lnTo>
                    <a:pt x="32" y="894"/>
                  </a:lnTo>
                  <a:lnTo>
                    <a:pt x="571" y="1040"/>
                  </a:lnTo>
                  <a:lnTo>
                    <a:pt x="729" y="1083"/>
                  </a:lnTo>
                  <a:lnTo>
                    <a:pt x="882" y="1127"/>
                  </a:lnTo>
                  <a:lnTo>
                    <a:pt x="1040" y="1162"/>
                  </a:lnTo>
                  <a:lnTo>
                    <a:pt x="1119" y="1178"/>
                  </a:lnTo>
                  <a:lnTo>
                    <a:pt x="1197" y="1190"/>
                  </a:lnTo>
                  <a:lnTo>
                    <a:pt x="1205" y="1190"/>
                  </a:lnTo>
                  <a:lnTo>
                    <a:pt x="1209" y="1186"/>
                  </a:lnTo>
                  <a:lnTo>
                    <a:pt x="1536" y="603"/>
                  </a:lnTo>
                  <a:lnTo>
                    <a:pt x="1583" y="516"/>
                  </a:lnTo>
                  <a:lnTo>
                    <a:pt x="1587" y="504"/>
                  </a:lnTo>
                  <a:lnTo>
                    <a:pt x="1587" y="489"/>
                  </a:lnTo>
                  <a:lnTo>
                    <a:pt x="1591" y="469"/>
                  </a:lnTo>
                  <a:lnTo>
                    <a:pt x="1595" y="449"/>
                  </a:lnTo>
                  <a:lnTo>
                    <a:pt x="1611" y="414"/>
                  </a:lnTo>
                  <a:lnTo>
                    <a:pt x="1619" y="382"/>
                  </a:lnTo>
                  <a:lnTo>
                    <a:pt x="1627" y="347"/>
                  </a:lnTo>
                  <a:lnTo>
                    <a:pt x="1631" y="315"/>
                  </a:lnTo>
                  <a:lnTo>
                    <a:pt x="1635" y="280"/>
                  </a:lnTo>
                  <a:lnTo>
                    <a:pt x="1631" y="213"/>
                  </a:lnTo>
                  <a:lnTo>
                    <a:pt x="1627" y="142"/>
                  </a:lnTo>
                  <a:lnTo>
                    <a:pt x="1623" y="130"/>
                  </a:lnTo>
                  <a:lnTo>
                    <a:pt x="1611" y="119"/>
                  </a:lnTo>
                  <a:lnTo>
                    <a:pt x="1603" y="115"/>
                  </a:lnTo>
                  <a:lnTo>
                    <a:pt x="1599" y="115"/>
                  </a:lnTo>
                  <a:lnTo>
                    <a:pt x="1595" y="119"/>
                  </a:lnTo>
                  <a:lnTo>
                    <a:pt x="1595" y="1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1" name="Freeform 79"/>
            <p:cNvSpPr>
              <a:spLocks/>
            </p:cNvSpPr>
            <p:nvPr/>
          </p:nvSpPr>
          <p:spPr bwMode="auto">
            <a:xfrm>
              <a:off x="3369" y="1804"/>
              <a:ext cx="804" cy="1000"/>
            </a:xfrm>
            <a:custGeom>
              <a:avLst/>
              <a:gdLst>
                <a:gd name="T0" fmla="*/ 0 w 804"/>
                <a:gd name="T1" fmla="*/ 854 h 1000"/>
                <a:gd name="T2" fmla="*/ 0 w 804"/>
                <a:gd name="T3" fmla="*/ 854 h 1000"/>
                <a:gd name="T4" fmla="*/ 28 w 804"/>
                <a:gd name="T5" fmla="*/ 783 h 1000"/>
                <a:gd name="T6" fmla="*/ 59 w 804"/>
                <a:gd name="T7" fmla="*/ 708 h 1000"/>
                <a:gd name="T8" fmla="*/ 99 w 804"/>
                <a:gd name="T9" fmla="*/ 618 h 1000"/>
                <a:gd name="T10" fmla="*/ 146 w 804"/>
                <a:gd name="T11" fmla="*/ 511 h 1000"/>
                <a:gd name="T12" fmla="*/ 205 w 804"/>
                <a:gd name="T13" fmla="*/ 405 h 1000"/>
                <a:gd name="T14" fmla="*/ 268 w 804"/>
                <a:gd name="T15" fmla="*/ 299 h 1000"/>
                <a:gd name="T16" fmla="*/ 300 w 804"/>
                <a:gd name="T17" fmla="*/ 252 h 1000"/>
                <a:gd name="T18" fmla="*/ 335 w 804"/>
                <a:gd name="T19" fmla="*/ 208 h 1000"/>
                <a:gd name="T20" fmla="*/ 335 w 804"/>
                <a:gd name="T21" fmla="*/ 208 h 1000"/>
                <a:gd name="T22" fmla="*/ 410 w 804"/>
                <a:gd name="T23" fmla="*/ 118 h 1000"/>
                <a:gd name="T24" fmla="*/ 520 w 804"/>
                <a:gd name="T25" fmla="*/ 23 h 1000"/>
                <a:gd name="T26" fmla="*/ 520 w 804"/>
                <a:gd name="T27" fmla="*/ 23 h 1000"/>
                <a:gd name="T28" fmla="*/ 532 w 804"/>
                <a:gd name="T29" fmla="*/ 19 h 1000"/>
                <a:gd name="T30" fmla="*/ 563 w 804"/>
                <a:gd name="T31" fmla="*/ 7 h 1000"/>
                <a:gd name="T32" fmla="*/ 583 w 804"/>
                <a:gd name="T33" fmla="*/ 4 h 1000"/>
                <a:gd name="T34" fmla="*/ 607 w 804"/>
                <a:gd name="T35" fmla="*/ 0 h 1000"/>
                <a:gd name="T36" fmla="*/ 634 w 804"/>
                <a:gd name="T37" fmla="*/ 0 h 1000"/>
                <a:gd name="T38" fmla="*/ 662 w 804"/>
                <a:gd name="T39" fmla="*/ 4 h 1000"/>
                <a:gd name="T40" fmla="*/ 662 w 804"/>
                <a:gd name="T41" fmla="*/ 4 h 1000"/>
                <a:gd name="T42" fmla="*/ 686 w 804"/>
                <a:gd name="T43" fmla="*/ 11 h 1000"/>
                <a:gd name="T44" fmla="*/ 713 w 804"/>
                <a:gd name="T45" fmla="*/ 19 h 1000"/>
                <a:gd name="T46" fmla="*/ 756 w 804"/>
                <a:gd name="T47" fmla="*/ 39 h 1000"/>
                <a:gd name="T48" fmla="*/ 800 w 804"/>
                <a:gd name="T49" fmla="*/ 67 h 1000"/>
                <a:gd name="T50" fmla="*/ 804 w 804"/>
                <a:gd name="T51" fmla="*/ 145 h 1000"/>
                <a:gd name="T52" fmla="*/ 788 w 804"/>
                <a:gd name="T53" fmla="*/ 161 h 1000"/>
                <a:gd name="T54" fmla="*/ 772 w 804"/>
                <a:gd name="T55" fmla="*/ 224 h 1000"/>
                <a:gd name="T56" fmla="*/ 749 w 804"/>
                <a:gd name="T57" fmla="*/ 244 h 1000"/>
                <a:gd name="T58" fmla="*/ 737 w 804"/>
                <a:gd name="T59" fmla="*/ 240 h 1000"/>
                <a:gd name="T60" fmla="*/ 737 w 804"/>
                <a:gd name="T61" fmla="*/ 240 h 1000"/>
                <a:gd name="T62" fmla="*/ 705 w 804"/>
                <a:gd name="T63" fmla="*/ 267 h 1000"/>
                <a:gd name="T64" fmla="*/ 626 w 804"/>
                <a:gd name="T65" fmla="*/ 346 h 1000"/>
                <a:gd name="T66" fmla="*/ 579 w 804"/>
                <a:gd name="T67" fmla="*/ 397 h 1000"/>
                <a:gd name="T68" fmla="*/ 532 w 804"/>
                <a:gd name="T69" fmla="*/ 456 h 1000"/>
                <a:gd name="T70" fmla="*/ 489 w 804"/>
                <a:gd name="T71" fmla="*/ 519 h 1000"/>
                <a:gd name="T72" fmla="*/ 449 w 804"/>
                <a:gd name="T73" fmla="*/ 586 h 1000"/>
                <a:gd name="T74" fmla="*/ 449 w 804"/>
                <a:gd name="T75" fmla="*/ 586 h 1000"/>
                <a:gd name="T76" fmla="*/ 272 w 804"/>
                <a:gd name="T77" fmla="*/ 960 h 1000"/>
                <a:gd name="T78" fmla="*/ 181 w 804"/>
                <a:gd name="T79" fmla="*/ 1000 h 1000"/>
                <a:gd name="T80" fmla="*/ 91 w 804"/>
                <a:gd name="T81" fmla="*/ 984 h 1000"/>
                <a:gd name="T82" fmla="*/ 91 w 804"/>
                <a:gd name="T83" fmla="*/ 984 h 1000"/>
                <a:gd name="T84" fmla="*/ 59 w 804"/>
                <a:gd name="T85" fmla="*/ 976 h 1000"/>
                <a:gd name="T86" fmla="*/ 36 w 804"/>
                <a:gd name="T87" fmla="*/ 964 h 1000"/>
                <a:gd name="T88" fmla="*/ 20 w 804"/>
                <a:gd name="T89" fmla="*/ 953 h 1000"/>
                <a:gd name="T90" fmla="*/ 8 w 804"/>
                <a:gd name="T91" fmla="*/ 937 h 1000"/>
                <a:gd name="T92" fmla="*/ 4 w 804"/>
                <a:gd name="T93" fmla="*/ 921 h 1000"/>
                <a:gd name="T94" fmla="*/ 0 w 804"/>
                <a:gd name="T95" fmla="*/ 909 h 1000"/>
                <a:gd name="T96" fmla="*/ 0 w 804"/>
                <a:gd name="T97" fmla="*/ 901 h 1000"/>
                <a:gd name="T98" fmla="*/ 0 w 804"/>
                <a:gd name="T99" fmla="*/ 854 h 10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4"/>
                <a:gd name="T151" fmla="*/ 0 h 1000"/>
                <a:gd name="T152" fmla="*/ 804 w 804"/>
                <a:gd name="T153" fmla="*/ 1000 h 100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4" h="1000">
                  <a:moveTo>
                    <a:pt x="0" y="854"/>
                  </a:moveTo>
                  <a:lnTo>
                    <a:pt x="0" y="854"/>
                  </a:lnTo>
                  <a:lnTo>
                    <a:pt x="28" y="783"/>
                  </a:lnTo>
                  <a:lnTo>
                    <a:pt x="59" y="708"/>
                  </a:lnTo>
                  <a:lnTo>
                    <a:pt x="99" y="618"/>
                  </a:lnTo>
                  <a:lnTo>
                    <a:pt x="146" y="511"/>
                  </a:lnTo>
                  <a:lnTo>
                    <a:pt x="205" y="405"/>
                  </a:lnTo>
                  <a:lnTo>
                    <a:pt x="268" y="299"/>
                  </a:lnTo>
                  <a:lnTo>
                    <a:pt x="300" y="252"/>
                  </a:lnTo>
                  <a:lnTo>
                    <a:pt x="335" y="208"/>
                  </a:lnTo>
                  <a:lnTo>
                    <a:pt x="410" y="118"/>
                  </a:lnTo>
                  <a:lnTo>
                    <a:pt x="520" y="23"/>
                  </a:lnTo>
                  <a:lnTo>
                    <a:pt x="532" y="19"/>
                  </a:lnTo>
                  <a:lnTo>
                    <a:pt x="563" y="7"/>
                  </a:lnTo>
                  <a:lnTo>
                    <a:pt x="583" y="4"/>
                  </a:lnTo>
                  <a:lnTo>
                    <a:pt x="607" y="0"/>
                  </a:lnTo>
                  <a:lnTo>
                    <a:pt x="634" y="0"/>
                  </a:lnTo>
                  <a:lnTo>
                    <a:pt x="662" y="4"/>
                  </a:lnTo>
                  <a:lnTo>
                    <a:pt x="686" y="11"/>
                  </a:lnTo>
                  <a:lnTo>
                    <a:pt x="713" y="19"/>
                  </a:lnTo>
                  <a:lnTo>
                    <a:pt x="756" y="39"/>
                  </a:lnTo>
                  <a:lnTo>
                    <a:pt x="800" y="67"/>
                  </a:lnTo>
                  <a:lnTo>
                    <a:pt x="804" y="145"/>
                  </a:lnTo>
                  <a:lnTo>
                    <a:pt x="788" y="161"/>
                  </a:lnTo>
                  <a:lnTo>
                    <a:pt x="772" y="224"/>
                  </a:lnTo>
                  <a:lnTo>
                    <a:pt x="749" y="244"/>
                  </a:lnTo>
                  <a:lnTo>
                    <a:pt x="737" y="240"/>
                  </a:lnTo>
                  <a:lnTo>
                    <a:pt x="705" y="267"/>
                  </a:lnTo>
                  <a:lnTo>
                    <a:pt x="626" y="346"/>
                  </a:lnTo>
                  <a:lnTo>
                    <a:pt x="579" y="397"/>
                  </a:lnTo>
                  <a:lnTo>
                    <a:pt x="532" y="456"/>
                  </a:lnTo>
                  <a:lnTo>
                    <a:pt x="489" y="519"/>
                  </a:lnTo>
                  <a:lnTo>
                    <a:pt x="449" y="586"/>
                  </a:lnTo>
                  <a:lnTo>
                    <a:pt x="272" y="960"/>
                  </a:lnTo>
                  <a:lnTo>
                    <a:pt x="181" y="1000"/>
                  </a:lnTo>
                  <a:lnTo>
                    <a:pt x="91" y="984"/>
                  </a:lnTo>
                  <a:lnTo>
                    <a:pt x="59" y="976"/>
                  </a:lnTo>
                  <a:lnTo>
                    <a:pt x="36" y="964"/>
                  </a:lnTo>
                  <a:lnTo>
                    <a:pt x="20" y="953"/>
                  </a:lnTo>
                  <a:lnTo>
                    <a:pt x="8" y="937"/>
                  </a:lnTo>
                  <a:lnTo>
                    <a:pt x="4" y="921"/>
                  </a:lnTo>
                  <a:lnTo>
                    <a:pt x="0" y="909"/>
                  </a:lnTo>
                  <a:lnTo>
                    <a:pt x="0" y="901"/>
                  </a:lnTo>
                  <a:lnTo>
                    <a:pt x="0" y="85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2" name="Freeform 80"/>
            <p:cNvSpPr>
              <a:spLocks/>
            </p:cNvSpPr>
            <p:nvPr/>
          </p:nvSpPr>
          <p:spPr bwMode="auto">
            <a:xfrm>
              <a:off x="3405" y="1823"/>
              <a:ext cx="807" cy="997"/>
            </a:xfrm>
            <a:custGeom>
              <a:avLst/>
              <a:gdLst>
                <a:gd name="T0" fmla="*/ 0 w 807"/>
                <a:gd name="T1" fmla="*/ 835 h 997"/>
                <a:gd name="T2" fmla="*/ 0 w 807"/>
                <a:gd name="T3" fmla="*/ 835 h 997"/>
                <a:gd name="T4" fmla="*/ 27 w 807"/>
                <a:gd name="T5" fmla="*/ 768 h 997"/>
                <a:gd name="T6" fmla="*/ 59 w 807"/>
                <a:gd name="T7" fmla="*/ 693 h 997"/>
                <a:gd name="T8" fmla="*/ 98 w 807"/>
                <a:gd name="T9" fmla="*/ 603 h 997"/>
                <a:gd name="T10" fmla="*/ 149 w 807"/>
                <a:gd name="T11" fmla="*/ 500 h 997"/>
                <a:gd name="T12" fmla="*/ 204 w 807"/>
                <a:gd name="T13" fmla="*/ 394 h 997"/>
                <a:gd name="T14" fmla="*/ 267 w 807"/>
                <a:gd name="T15" fmla="*/ 288 h 997"/>
                <a:gd name="T16" fmla="*/ 299 w 807"/>
                <a:gd name="T17" fmla="*/ 240 h 997"/>
                <a:gd name="T18" fmla="*/ 334 w 807"/>
                <a:gd name="T19" fmla="*/ 197 h 997"/>
                <a:gd name="T20" fmla="*/ 334 w 807"/>
                <a:gd name="T21" fmla="*/ 197 h 997"/>
                <a:gd name="T22" fmla="*/ 413 w 807"/>
                <a:gd name="T23" fmla="*/ 114 h 997"/>
                <a:gd name="T24" fmla="*/ 523 w 807"/>
                <a:gd name="T25" fmla="*/ 24 h 997"/>
                <a:gd name="T26" fmla="*/ 523 w 807"/>
                <a:gd name="T27" fmla="*/ 24 h 997"/>
                <a:gd name="T28" fmla="*/ 535 w 807"/>
                <a:gd name="T29" fmla="*/ 16 h 997"/>
                <a:gd name="T30" fmla="*/ 567 w 807"/>
                <a:gd name="T31" fmla="*/ 8 h 997"/>
                <a:gd name="T32" fmla="*/ 587 w 807"/>
                <a:gd name="T33" fmla="*/ 4 h 997"/>
                <a:gd name="T34" fmla="*/ 610 w 807"/>
                <a:gd name="T35" fmla="*/ 0 h 997"/>
                <a:gd name="T36" fmla="*/ 638 w 807"/>
                <a:gd name="T37" fmla="*/ 0 h 997"/>
                <a:gd name="T38" fmla="*/ 661 w 807"/>
                <a:gd name="T39" fmla="*/ 4 h 997"/>
                <a:gd name="T40" fmla="*/ 661 w 807"/>
                <a:gd name="T41" fmla="*/ 4 h 997"/>
                <a:gd name="T42" fmla="*/ 689 w 807"/>
                <a:gd name="T43" fmla="*/ 8 h 997"/>
                <a:gd name="T44" fmla="*/ 716 w 807"/>
                <a:gd name="T45" fmla="*/ 20 h 997"/>
                <a:gd name="T46" fmla="*/ 760 w 807"/>
                <a:gd name="T47" fmla="*/ 40 h 997"/>
                <a:gd name="T48" fmla="*/ 799 w 807"/>
                <a:gd name="T49" fmla="*/ 63 h 997"/>
                <a:gd name="T50" fmla="*/ 807 w 807"/>
                <a:gd name="T51" fmla="*/ 146 h 997"/>
                <a:gd name="T52" fmla="*/ 791 w 807"/>
                <a:gd name="T53" fmla="*/ 162 h 997"/>
                <a:gd name="T54" fmla="*/ 772 w 807"/>
                <a:gd name="T55" fmla="*/ 189 h 997"/>
                <a:gd name="T56" fmla="*/ 744 w 807"/>
                <a:gd name="T57" fmla="*/ 213 h 997"/>
                <a:gd name="T58" fmla="*/ 661 w 807"/>
                <a:gd name="T59" fmla="*/ 272 h 997"/>
                <a:gd name="T60" fmla="*/ 661 w 807"/>
                <a:gd name="T61" fmla="*/ 272 h 997"/>
                <a:gd name="T62" fmla="*/ 642 w 807"/>
                <a:gd name="T63" fmla="*/ 296 h 997"/>
                <a:gd name="T64" fmla="*/ 590 w 807"/>
                <a:gd name="T65" fmla="*/ 363 h 997"/>
                <a:gd name="T66" fmla="*/ 559 w 807"/>
                <a:gd name="T67" fmla="*/ 410 h 997"/>
                <a:gd name="T68" fmla="*/ 523 w 807"/>
                <a:gd name="T69" fmla="*/ 461 h 997"/>
                <a:gd name="T70" fmla="*/ 488 w 807"/>
                <a:gd name="T71" fmla="*/ 520 h 997"/>
                <a:gd name="T72" fmla="*/ 453 w 807"/>
                <a:gd name="T73" fmla="*/ 587 h 997"/>
                <a:gd name="T74" fmla="*/ 453 w 807"/>
                <a:gd name="T75" fmla="*/ 587 h 997"/>
                <a:gd name="T76" fmla="*/ 275 w 807"/>
                <a:gd name="T77" fmla="*/ 957 h 997"/>
                <a:gd name="T78" fmla="*/ 185 w 807"/>
                <a:gd name="T79" fmla="*/ 997 h 997"/>
                <a:gd name="T80" fmla="*/ 90 w 807"/>
                <a:gd name="T81" fmla="*/ 985 h 997"/>
                <a:gd name="T82" fmla="*/ 90 w 807"/>
                <a:gd name="T83" fmla="*/ 985 h 997"/>
                <a:gd name="T84" fmla="*/ 63 w 807"/>
                <a:gd name="T85" fmla="*/ 977 h 997"/>
                <a:gd name="T86" fmla="*/ 39 w 807"/>
                <a:gd name="T87" fmla="*/ 965 h 997"/>
                <a:gd name="T88" fmla="*/ 23 w 807"/>
                <a:gd name="T89" fmla="*/ 949 h 997"/>
                <a:gd name="T90" fmla="*/ 11 w 807"/>
                <a:gd name="T91" fmla="*/ 934 h 997"/>
                <a:gd name="T92" fmla="*/ 7 w 807"/>
                <a:gd name="T93" fmla="*/ 922 h 997"/>
                <a:gd name="T94" fmla="*/ 4 w 807"/>
                <a:gd name="T95" fmla="*/ 910 h 997"/>
                <a:gd name="T96" fmla="*/ 4 w 807"/>
                <a:gd name="T97" fmla="*/ 898 h 997"/>
                <a:gd name="T98" fmla="*/ 0 w 807"/>
                <a:gd name="T99" fmla="*/ 835 h 9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7"/>
                <a:gd name="T151" fmla="*/ 0 h 997"/>
                <a:gd name="T152" fmla="*/ 807 w 807"/>
                <a:gd name="T153" fmla="*/ 997 h 9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7" h="997">
                  <a:moveTo>
                    <a:pt x="0" y="835"/>
                  </a:moveTo>
                  <a:lnTo>
                    <a:pt x="0" y="835"/>
                  </a:lnTo>
                  <a:lnTo>
                    <a:pt x="27" y="768"/>
                  </a:lnTo>
                  <a:lnTo>
                    <a:pt x="59" y="693"/>
                  </a:lnTo>
                  <a:lnTo>
                    <a:pt x="98" y="603"/>
                  </a:lnTo>
                  <a:lnTo>
                    <a:pt x="149" y="500"/>
                  </a:lnTo>
                  <a:lnTo>
                    <a:pt x="204" y="394"/>
                  </a:lnTo>
                  <a:lnTo>
                    <a:pt x="267" y="288"/>
                  </a:lnTo>
                  <a:lnTo>
                    <a:pt x="299" y="240"/>
                  </a:lnTo>
                  <a:lnTo>
                    <a:pt x="334" y="197"/>
                  </a:lnTo>
                  <a:lnTo>
                    <a:pt x="413" y="114"/>
                  </a:lnTo>
                  <a:lnTo>
                    <a:pt x="523" y="24"/>
                  </a:lnTo>
                  <a:lnTo>
                    <a:pt x="535" y="16"/>
                  </a:lnTo>
                  <a:lnTo>
                    <a:pt x="567" y="8"/>
                  </a:lnTo>
                  <a:lnTo>
                    <a:pt x="587" y="4"/>
                  </a:lnTo>
                  <a:lnTo>
                    <a:pt x="610" y="0"/>
                  </a:lnTo>
                  <a:lnTo>
                    <a:pt x="638" y="0"/>
                  </a:lnTo>
                  <a:lnTo>
                    <a:pt x="661" y="4"/>
                  </a:lnTo>
                  <a:lnTo>
                    <a:pt x="689" y="8"/>
                  </a:lnTo>
                  <a:lnTo>
                    <a:pt x="716" y="20"/>
                  </a:lnTo>
                  <a:lnTo>
                    <a:pt x="760" y="40"/>
                  </a:lnTo>
                  <a:lnTo>
                    <a:pt x="799" y="63"/>
                  </a:lnTo>
                  <a:lnTo>
                    <a:pt x="807" y="146"/>
                  </a:lnTo>
                  <a:lnTo>
                    <a:pt x="791" y="162"/>
                  </a:lnTo>
                  <a:lnTo>
                    <a:pt x="772" y="189"/>
                  </a:lnTo>
                  <a:lnTo>
                    <a:pt x="744" y="213"/>
                  </a:lnTo>
                  <a:lnTo>
                    <a:pt x="661" y="272"/>
                  </a:lnTo>
                  <a:lnTo>
                    <a:pt x="642" y="296"/>
                  </a:lnTo>
                  <a:lnTo>
                    <a:pt x="590" y="363"/>
                  </a:lnTo>
                  <a:lnTo>
                    <a:pt x="559" y="410"/>
                  </a:lnTo>
                  <a:lnTo>
                    <a:pt x="523" y="461"/>
                  </a:lnTo>
                  <a:lnTo>
                    <a:pt x="488" y="520"/>
                  </a:lnTo>
                  <a:lnTo>
                    <a:pt x="453" y="587"/>
                  </a:lnTo>
                  <a:lnTo>
                    <a:pt x="275" y="957"/>
                  </a:lnTo>
                  <a:lnTo>
                    <a:pt x="185" y="997"/>
                  </a:lnTo>
                  <a:lnTo>
                    <a:pt x="90" y="985"/>
                  </a:lnTo>
                  <a:lnTo>
                    <a:pt x="63" y="977"/>
                  </a:lnTo>
                  <a:lnTo>
                    <a:pt x="39" y="965"/>
                  </a:lnTo>
                  <a:lnTo>
                    <a:pt x="23" y="949"/>
                  </a:lnTo>
                  <a:lnTo>
                    <a:pt x="11" y="934"/>
                  </a:lnTo>
                  <a:lnTo>
                    <a:pt x="7" y="922"/>
                  </a:lnTo>
                  <a:lnTo>
                    <a:pt x="4" y="910"/>
                  </a:lnTo>
                  <a:lnTo>
                    <a:pt x="4" y="898"/>
                  </a:lnTo>
                  <a:lnTo>
                    <a:pt x="0" y="835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3" name="Freeform 81"/>
            <p:cNvSpPr>
              <a:spLocks/>
            </p:cNvSpPr>
            <p:nvPr/>
          </p:nvSpPr>
          <p:spPr bwMode="auto">
            <a:xfrm>
              <a:off x="3353" y="1784"/>
              <a:ext cx="835" cy="1036"/>
            </a:xfrm>
            <a:custGeom>
              <a:avLst/>
              <a:gdLst>
                <a:gd name="T0" fmla="*/ 91 w 835"/>
                <a:gd name="T1" fmla="*/ 740 h 1036"/>
                <a:gd name="T2" fmla="*/ 225 w 835"/>
                <a:gd name="T3" fmla="*/ 461 h 1036"/>
                <a:gd name="T4" fmla="*/ 304 w 835"/>
                <a:gd name="T5" fmla="*/ 331 h 1036"/>
                <a:gd name="T6" fmla="*/ 434 w 835"/>
                <a:gd name="T7" fmla="*/ 165 h 1036"/>
                <a:gd name="T8" fmla="*/ 520 w 835"/>
                <a:gd name="T9" fmla="*/ 94 h 1036"/>
                <a:gd name="T10" fmla="*/ 639 w 835"/>
                <a:gd name="T11" fmla="*/ 43 h 1036"/>
                <a:gd name="T12" fmla="*/ 682 w 835"/>
                <a:gd name="T13" fmla="*/ 43 h 1036"/>
                <a:gd name="T14" fmla="*/ 772 w 835"/>
                <a:gd name="T15" fmla="*/ 79 h 1036"/>
                <a:gd name="T16" fmla="*/ 796 w 835"/>
                <a:gd name="T17" fmla="*/ 75 h 1036"/>
                <a:gd name="T18" fmla="*/ 800 w 835"/>
                <a:gd name="T19" fmla="*/ 193 h 1036"/>
                <a:gd name="T20" fmla="*/ 788 w 835"/>
                <a:gd name="T21" fmla="*/ 197 h 1036"/>
                <a:gd name="T22" fmla="*/ 757 w 835"/>
                <a:gd name="T23" fmla="*/ 224 h 1036"/>
                <a:gd name="T24" fmla="*/ 650 w 835"/>
                <a:gd name="T25" fmla="*/ 323 h 1036"/>
                <a:gd name="T26" fmla="*/ 540 w 835"/>
                <a:gd name="T27" fmla="*/ 449 h 1036"/>
                <a:gd name="T28" fmla="*/ 453 w 835"/>
                <a:gd name="T29" fmla="*/ 591 h 1036"/>
                <a:gd name="T30" fmla="*/ 316 w 835"/>
                <a:gd name="T31" fmla="*/ 870 h 1036"/>
                <a:gd name="T32" fmla="*/ 288 w 835"/>
                <a:gd name="T33" fmla="*/ 933 h 1036"/>
                <a:gd name="T34" fmla="*/ 260 w 835"/>
                <a:gd name="T35" fmla="*/ 965 h 1036"/>
                <a:gd name="T36" fmla="*/ 209 w 835"/>
                <a:gd name="T37" fmla="*/ 988 h 1036"/>
                <a:gd name="T38" fmla="*/ 111 w 835"/>
                <a:gd name="T39" fmla="*/ 984 h 1036"/>
                <a:gd name="T40" fmla="*/ 67 w 835"/>
                <a:gd name="T41" fmla="*/ 973 h 1036"/>
                <a:gd name="T42" fmla="*/ 40 w 835"/>
                <a:gd name="T43" fmla="*/ 937 h 1036"/>
                <a:gd name="T44" fmla="*/ 36 w 835"/>
                <a:gd name="T45" fmla="*/ 882 h 1036"/>
                <a:gd name="T46" fmla="*/ 16 w 835"/>
                <a:gd name="T47" fmla="*/ 854 h 1036"/>
                <a:gd name="T48" fmla="*/ 0 w 835"/>
                <a:gd name="T49" fmla="*/ 854 h 1036"/>
                <a:gd name="T50" fmla="*/ 0 w 835"/>
                <a:gd name="T51" fmla="*/ 894 h 1036"/>
                <a:gd name="T52" fmla="*/ 20 w 835"/>
                <a:gd name="T53" fmla="*/ 969 h 1036"/>
                <a:gd name="T54" fmla="*/ 79 w 835"/>
                <a:gd name="T55" fmla="*/ 1020 h 1036"/>
                <a:gd name="T56" fmla="*/ 166 w 835"/>
                <a:gd name="T57" fmla="*/ 1036 h 1036"/>
                <a:gd name="T58" fmla="*/ 252 w 835"/>
                <a:gd name="T59" fmla="*/ 1028 h 1036"/>
                <a:gd name="T60" fmla="*/ 312 w 835"/>
                <a:gd name="T61" fmla="*/ 976 h 1036"/>
                <a:gd name="T62" fmla="*/ 434 w 835"/>
                <a:gd name="T63" fmla="*/ 713 h 1036"/>
                <a:gd name="T64" fmla="*/ 544 w 835"/>
                <a:gd name="T65" fmla="*/ 524 h 1036"/>
                <a:gd name="T66" fmla="*/ 639 w 835"/>
                <a:gd name="T67" fmla="*/ 402 h 1036"/>
                <a:gd name="T68" fmla="*/ 828 w 835"/>
                <a:gd name="T69" fmla="*/ 224 h 1036"/>
                <a:gd name="T70" fmla="*/ 835 w 835"/>
                <a:gd name="T71" fmla="*/ 205 h 1036"/>
                <a:gd name="T72" fmla="*/ 832 w 835"/>
                <a:gd name="T73" fmla="*/ 126 h 1036"/>
                <a:gd name="T74" fmla="*/ 816 w 835"/>
                <a:gd name="T75" fmla="*/ 67 h 1036"/>
                <a:gd name="T76" fmla="*/ 749 w 835"/>
                <a:gd name="T77" fmla="*/ 27 h 1036"/>
                <a:gd name="T78" fmla="*/ 654 w 835"/>
                <a:gd name="T79" fmla="*/ 0 h 1036"/>
                <a:gd name="T80" fmla="*/ 603 w 835"/>
                <a:gd name="T81" fmla="*/ 4 h 1036"/>
                <a:gd name="T82" fmla="*/ 528 w 835"/>
                <a:gd name="T83" fmla="*/ 31 h 1036"/>
                <a:gd name="T84" fmla="*/ 422 w 835"/>
                <a:gd name="T85" fmla="*/ 114 h 1036"/>
                <a:gd name="T86" fmla="*/ 351 w 835"/>
                <a:gd name="T87" fmla="*/ 189 h 1036"/>
                <a:gd name="T88" fmla="*/ 233 w 835"/>
                <a:gd name="T89" fmla="*/ 354 h 1036"/>
                <a:gd name="T90" fmla="*/ 91 w 835"/>
                <a:gd name="T91" fmla="*/ 630 h 1036"/>
                <a:gd name="T92" fmla="*/ 0 w 835"/>
                <a:gd name="T93" fmla="*/ 858 h 1036"/>
                <a:gd name="T94" fmla="*/ 0 w 835"/>
                <a:gd name="T95" fmla="*/ 874 h 1036"/>
                <a:gd name="T96" fmla="*/ 24 w 835"/>
                <a:gd name="T97" fmla="*/ 894 h 1036"/>
                <a:gd name="T98" fmla="*/ 32 w 835"/>
                <a:gd name="T99" fmla="*/ 886 h 10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35"/>
                <a:gd name="T151" fmla="*/ 0 h 1036"/>
                <a:gd name="T152" fmla="*/ 835 w 835"/>
                <a:gd name="T153" fmla="*/ 1036 h 10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35" h="1036">
                  <a:moveTo>
                    <a:pt x="32" y="886"/>
                  </a:moveTo>
                  <a:lnTo>
                    <a:pt x="32" y="886"/>
                  </a:lnTo>
                  <a:lnTo>
                    <a:pt x="91" y="740"/>
                  </a:lnTo>
                  <a:lnTo>
                    <a:pt x="154" y="598"/>
                  </a:lnTo>
                  <a:lnTo>
                    <a:pt x="186" y="531"/>
                  </a:lnTo>
                  <a:lnTo>
                    <a:pt x="225" y="461"/>
                  </a:lnTo>
                  <a:lnTo>
                    <a:pt x="264" y="394"/>
                  </a:lnTo>
                  <a:lnTo>
                    <a:pt x="304" y="331"/>
                  </a:lnTo>
                  <a:lnTo>
                    <a:pt x="343" y="272"/>
                  </a:lnTo>
                  <a:lnTo>
                    <a:pt x="386" y="216"/>
                  </a:lnTo>
                  <a:lnTo>
                    <a:pt x="434" y="165"/>
                  </a:lnTo>
                  <a:lnTo>
                    <a:pt x="485" y="118"/>
                  </a:lnTo>
                  <a:lnTo>
                    <a:pt x="520" y="94"/>
                  </a:lnTo>
                  <a:lnTo>
                    <a:pt x="556" y="71"/>
                  </a:lnTo>
                  <a:lnTo>
                    <a:pt x="595" y="55"/>
                  </a:lnTo>
                  <a:lnTo>
                    <a:pt x="639" y="43"/>
                  </a:lnTo>
                  <a:lnTo>
                    <a:pt x="658" y="39"/>
                  </a:lnTo>
                  <a:lnTo>
                    <a:pt x="682" y="43"/>
                  </a:lnTo>
                  <a:lnTo>
                    <a:pt x="705" y="51"/>
                  </a:lnTo>
                  <a:lnTo>
                    <a:pt x="729" y="59"/>
                  </a:lnTo>
                  <a:lnTo>
                    <a:pt x="772" y="79"/>
                  </a:lnTo>
                  <a:lnTo>
                    <a:pt x="816" y="102"/>
                  </a:lnTo>
                  <a:lnTo>
                    <a:pt x="796" y="75"/>
                  </a:lnTo>
                  <a:lnTo>
                    <a:pt x="800" y="193"/>
                  </a:lnTo>
                  <a:lnTo>
                    <a:pt x="800" y="185"/>
                  </a:lnTo>
                  <a:lnTo>
                    <a:pt x="796" y="189"/>
                  </a:lnTo>
                  <a:lnTo>
                    <a:pt x="788" y="197"/>
                  </a:lnTo>
                  <a:lnTo>
                    <a:pt x="757" y="224"/>
                  </a:lnTo>
                  <a:lnTo>
                    <a:pt x="733" y="244"/>
                  </a:lnTo>
                  <a:lnTo>
                    <a:pt x="650" y="323"/>
                  </a:lnTo>
                  <a:lnTo>
                    <a:pt x="615" y="362"/>
                  </a:lnTo>
                  <a:lnTo>
                    <a:pt x="575" y="405"/>
                  </a:lnTo>
                  <a:lnTo>
                    <a:pt x="540" y="449"/>
                  </a:lnTo>
                  <a:lnTo>
                    <a:pt x="509" y="492"/>
                  </a:lnTo>
                  <a:lnTo>
                    <a:pt x="477" y="539"/>
                  </a:lnTo>
                  <a:lnTo>
                    <a:pt x="453" y="591"/>
                  </a:lnTo>
                  <a:lnTo>
                    <a:pt x="382" y="728"/>
                  </a:lnTo>
                  <a:lnTo>
                    <a:pt x="316" y="870"/>
                  </a:lnTo>
                  <a:lnTo>
                    <a:pt x="304" y="906"/>
                  </a:lnTo>
                  <a:lnTo>
                    <a:pt x="288" y="933"/>
                  </a:lnTo>
                  <a:lnTo>
                    <a:pt x="280" y="945"/>
                  </a:lnTo>
                  <a:lnTo>
                    <a:pt x="272" y="957"/>
                  </a:lnTo>
                  <a:lnTo>
                    <a:pt x="260" y="965"/>
                  </a:lnTo>
                  <a:lnTo>
                    <a:pt x="245" y="973"/>
                  </a:lnTo>
                  <a:lnTo>
                    <a:pt x="209" y="988"/>
                  </a:lnTo>
                  <a:lnTo>
                    <a:pt x="182" y="992"/>
                  </a:lnTo>
                  <a:lnTo>
                    <a:pt x="150" y="992"/>
                  </a:lnTo>
                  <a:lnTo>
                    <a:pt x="111" y="984"/>
                  </a:lnTo>
                  <a:lnTo>
                    <a:pt x="87" y="980"/>
                  </a:lnTo>
                  <a:lnTo>
                    <a:pt x="67" y="973"/>
                  </a:lnTo>
                  <a:lnTo>
                    <a:pt x="56" y="965"/>
                  </a:lnTo>
                  <a:lnTo>
                    <a:pt x="44" y="953"/>
                  </a:lnTo>
                  <a:lnTo>
                    <a:pt x="40" y="937"/>
                  </a:lnTo>
                  <a:lnTo>
                    <a:pt x="36" y="921"/>
                  </a:lnTo>
                  <a:lnTo>
                    <a:pt x="36" y="882"/>
                  </a:lnTo>
                  <a:lnTo>
                    <a:pt x="32" y="874"/>
                  </a:lnTo>
                  <a:lnTo>
                    <a:pt x="28" y="866"/>
                  </a:lnTo>
                  <a:lnTo>
                    <a:pt x="16" y="854"/>
                  </a:lnTo>
                  <a:lnTo>
                    <a:pt x="12" y="850"/>
                  </a:lnTo>
                  <a:lnTo>
                    <a:pt x="4" y="850"/>
                  </a:lnTo>
                  <a:lnTo>
                    <a:pt x="0" y="854"/>
                  </a:lnTo>
                  <a:lnTo>
                    <a:pt x="0" y="862"/>
                  </a:lnTo>
                  <a:lnTo>
                    <a:pt x="0" y="894"/>
                  </a:lnTo>
                  <a:lnTo>
                    <a:pt x="4" y="921"/>
                  </a:lnTo>
                  <a:lnTo>
                    <a:pt x="8" y="949"/>
                  </a:lnTo>
                  <a:lnTo>
                    <a:pt x="20" y="969"/>
                  </a:lnTo>
                  <a:lnTo>
                    <a:pt x="36" y="988"/>
                  </a:lnTo>
                  <a:lnTo>
                    <a:pt x="56" y="1008"/>
                  </a:lnTo>
                  <a:lnTo>
                    <a:pt x="79" y="1020"/>
                  </a:lnTo>
                  <a:lnTo>
                    <a:pt x="111" y="1028"/>
                  </a:lnTo>
                  <a:lnTo>
                    <a:pt x="166" y="1036"/>
                  </a:lnTo>
                  <a:lnTo>
                    <a:pt x="193" y="1036"/>
                  </a:lnTo>
                  <a:lnTo>
                    <a:pt x="225" y="1036"/>
                  </a:lnTo>
                  <a:lnTo>
                    <a:pt x="252" y="1028"/>
                  </a:lnTo>
                  <a:lnTo>
                    <a:pt x="276" y="1020"/>
                  </a:lnTo>
                  <a:lnTo>
                    <a:pt x="296" y="1000"/>
                  </a:lnTo>
                  <a:lnTo>
                    <a:pt x="312" y="976"/>
                  </a:lnTo>
                  <a:lnTo>
                    <a:pt x="375" y="847"/>
                  </a:lnTo>
                  <a:lnTo>
                    <a:pt x="434" y="713"/>
                  </a:lnTo>
                  <a:lnTo>
                    <a:pt x="469" y="650"/>
                  </a:lnTo>
                  <a:lnTo>
                    <a:pt x="505" y="587"/>
                  </a:lnTo>
                  <a:lnTo>
                    <a:pt x="544" y="524"/>
                  </a:lnTo>
                  <a:lnTo>
                    <a:pt x="583" y="468"/>
                  </a:lnTo>
                  <a:lnTo>
                    <a:pt x="639" y="402"/>
                  </a:lnTo>
                  <a:lnTo>
                    <a:pt x="702" y="339"/>
                  </a:lnTo>
                  <a:lnTo>
                    <a:pt x="761" y="283"/>
                  </a:lnTo>
                  <a:lnTo>
                    <a:pt x="828" y="224"/>
                  </a:lnTo>
                  <a:lnTo>
                    <a:pt x="832" y="216"/>
                  </a:lnTo>
                  <a:lnTo>
                    <a:pt x="835" y="205"/>
                  </a:lnTo>
                  <a:lnTo>
                    <a:pt x="835" y="177"/>
                  </a:lnTo>
                  <a:lnTo>
                    <a:pt x="832" y="126"/>
                  </a:lnTo>
                  <a:lnTo>
                    <a:pt x="832" y="98"/>
                  </a:lnTo>
                  <a:lnTo>
                    <a:pt x="824" y="83"/>
                  </a:lnTo>
                  <a:lnTo>
                    <a:pt x="816" y="67"/>
                  </a:lnTo>
                  <a:lnTo>
                    <a:pt x="792" y="51"/>
                  </a:lnTo>
                  <a:lnTo>
                    <a:pt x="749" y="27"/>
                  </a:lnTo>
                  <a:lnTo>
                    <a:pt x="702" y="12"/>
                  </a:lnTo>
                  <a:lnTo>
                    <a:pt x="678" y="4"/>
                  </a:lnTo>
                  <a:lnTo>
                    <a:pt x="654" y="0"/>
                  </a:lnTo>
                  <a:lnTo>
                    <a:pt x="631" y="0"/>
                  </a:lnTo>
                  <a:lnTo>
                    <a:pt x="603" y="4"/>
                  </a:lnTo>
                  <a:lnTo>
                    <a:pt x="579" y="8"/>
                  </a:lnTo>
                  <a:lnTo>
                    <a:pt x="552" y="20"/>
                  </a:lnTo>
                  <a:lnTo>
                    <a:pt x="528" y="31"/>
                  </a:lnTo>
                  <a:lnTo>
                    <a:pt x="505" y="47"/>
                  </a:lnTo>
                  <a:lnTo>
                    <a:pt x="461" y="79"/>
                  </a:lnTo>
                  <a:lnTo>
                    <a:pt x="422" y="114"/>
                  </a:lnTo>
                  <a:lnTo>
                    <a:pt x="386" y="150"/>
                  </a:lnTo>
                  <a:lnTo>
                    <a:pt x="351" y="189"/>
                  </a:lnTo>
                  <a:lnTo>
                    <a:pt x="319" y="228"/>
                  </a:lnTo>
                  <a:lnTo>
                    <a:pt x="288" y="268"/>
                  </a:lnTo>
                  <a:lnTo>
                    <a:pt x="233" y="354"/>
                  </a:lnTo>
                  <a:lnTo>
                    <a:pt x="182" y="445"/>
                  </a:lnTo>
                  <a:lnTo>
                    <a:pt x="134" y="535"/>
                  </a:lnTo>
                  <a:lnTo>
                    <a:pt x="91" y="630"/>
                  </a:lnTo>
                  <a:lnTo>
                    <a:pt x="16" y="823"/>
                  </a:lnTo>
                  <a:lnTo>
                    <a:pt x="0" y="858"/>
                  </a:lnTo>
                  <a:lnTo>
                    <a:pt x="0" y="866"/>
                  </a:lnTo>
                  <a:lnTo>
                    <a:pt x="0" y="874"/>
                  </a:lnTo>
                  <a:lnTo>
                    <a:pt x="12" y="886"/>
                  </a:lnTo>
                  <a:lnTo>
                    <a:pt x="16" y="894"/>
                  </a:lnTo>
                  <a:lnTo>
                    <a:pt x="24" y="894"/>
                  </a:lnTo>
                  <a:lnTo>
                    <a:pt x="28" y="894"/>
                  </a:lnTo>
                  <a:lnTo>
                    <a:pt x="32" y="8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4" name="Freeform 82"/>
            <p:cNvSpPr>
              <a:spLocks/>
            </p:cNvSpPr>
            <p:nvPr/>
          </p:nvSpPr>
          <p:spPr bwMode="auto">
            <a:xfrm>
              <a:off x="4488" y="2075"/>
              <a:ext cx="437" cy="1004"/>
            </a:xfrm>
            <a:custGeom>
              <a:avLst/>
              <a:gdLst>
                <a:gd name="T0" fmla="*/ 8 w 437"/>
                <a:gd name="T1" fmla="*/ 1004 h 1004"/>
                <a:gd name="T2" fmla="*/ 8 w 437"/>
                <a:gd name="T3" fmla="*/ 1004 h 1004"/>
                <a:gd name="T4" fmla="*/ 4 w 437"/>
                <a:gd name="T5" fmla="*/ 1004 h 1004"/>
                <a:gd name="T6" fmla="*/ 0 w 437"/>
                <a:gd name="T7" fmla="*/ 993 h 1004"/>
                <a:gd name="T8" fmla="*/ 0 w 437"/>
                <a:gd name="T9" fmla="*/ 981 h 1004"/>
                <a:gd name="T10" fmla="*/ 0 w 437"/>
                <a:gd name="T11" fmla="*/ 969 h 1004"/>
                <a:gd name="T12" fmla="*/ 4 w 437"/>
                <a:gd name="T13" fmla="*/ 945 h 1004"/>
                <a:gd name="T14" fmla="*/ 12 w 437"/>
                <a:gd name="T15" fmla="*/ 922 h 1004"/>
                <a:gd name="T16" fmla="*/ 12 w 437"/>
                <a:gd name="T17" fmla="*/ 922 h 1004"/>
                <a:gd name="T18" fmla="*/ 106 w 437"/>
                <a:gd name="T19" fmla="*/ 682 h 1004"/>
                <a:gd name="T20" fmla="*/ 228 w 437"/>
                <a:gd name="T21" fmla="*/ 386 h 1004"/>
                <a:gd name="T22" fmla="*/ 291 w 437"/>
                <a:gd name="T23" fmla="*/ 248 h 1004"/>
                <a:gd name="T24" fmla="*/ 346 w 437"/>
                <a:gd name="T25" fmla="*/ 130 h 1004"/>
                <a:gd name="T26" fmla="*/ 390 w 437"/>
                <a:gd name="T27" fmla="*/ 44 h 1004"/>
                <a:gd name="T28" fmla="*/ 406 w 437"/>
                <a:gd name="T29" fmla="*/ 16 h 1004"/>
                <a:gd name="T30" fmla="*/ 421 w 437"/>
                <a:gd name="T31" fmla="*/ 0 h 1004"/>
                <a:gd name="T32" fmla="*/ 421 w 437"/>
                <a:gd name="T33" fmla="*/ 0 h 1004"/>
                <a:gd name="T34" fmla="*/ 421 w 437"/>
                <a:gd name="T35" fmla="*/ 0 h 1004"/>
                <a:gd name="T36" fmla="*/ 425 w 437"/>
                <a:gd name="T37" fmla="*/ 4 h 1004"/>
                <a:gd name="T38" fmla="*/ 429 w 437"/>
                <a:gd name="T39" fmla="*/ 16 h 1004"/>
                <a:gd name="T40" fmla="*/ 433 w 437"/>
                <a:gd name="T41" fmla="*/ 55 h 1004"/>
                <a:gd name="T42" fmla="*/ 437 w 437"/>
                <a:gd name="T43" fmla="*/ 118 h 1004"/>
                <a:gd name="T44" fmla="*/ 425 w 437"/>
                <a:gd name="T45" fmla="*/ 177 h 1004"/>
                <a:gd name="T46" fmla="*/ 382 w 437"/>
                <a:gd name="T47" fmla="*/ 351 h 1004"/>
                <a:gd name="T48" fmla="*/ 8 w 437"/>
                <a:gd name="T49" fmla="*/ 1004 h 100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37"/>
                <a:gd name="T76" fmla="*/ 0 h 1004"/>
                <a:gd name="T77" fmla="*/ 437 w 437"/>
                <a:gd name="T78" fmla="*/ 1004 h 100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37" h="1004">
                  <a:moveTo>
                    <a:pt x="8" y="1004"/>
                  </a:moveTo>
                  <a:lnTo>
                    <a:pt x="8" y="1004"/>
                  </a:lnTo>
                  <a:lnTo>
                    <a:pt x="4" y="1004"/>
                  </a:lnTo>
                  <a:lnTo>
                    <a:pt x="0" y="993"/>
                  </a:lnTo>
                  <a:lnTo>
                    <a:pt x="0" y="981"/>
                  </a:lnTo>
                  <a:lnTo>
                    <a:pt x="0" y="969"/>
                  </a:lnTo>
                  <a:lnTo>
                    <a:pt x="4" y="945"/>
                  </a:lnTo>
                  <a:lnTo>
                    <a:pt x="12" y="922"/>
                  </a:lnTo>
                  <a:lnTo>
                    <a:pt x="106" y="682"/>
                  </a:lnTo>
                  <a:lnTo>
                    <a:pt x="228" y="386"/>
                  </a:lnTo>
                  <a:lnTo>
                    <a:pt x="291" y="248"/>
                  </a:lnTo>
                  <a:lnTo>
                    <a:pt x="346" y="130"/>
                  </a:lnTo>
                  <a:lnTo>
                    <a:pt x="390" y="44"/>
                  </a:lnTo>
                  <a:lnTo>
                    <a:pt x="406" y="16"/>
                  </a:lnTo>
                  <a:lnTo>
                    <a:pt x="421" y="0"/>
                  </a:lnTo>
                  <a:lnTo>
                    <a:pt x="425" y="4"/>
                  </a:lnTo>
                  <a:lnTo>
                    <a:pt x="429" y="16"/>
                  </a:lnTo>
                  <a:lnTo>
                    <a:pt x="433" y="55"/>
                  </a:lnTo>
                  <a:lnTo>
                    <a:pt x="437" y="118"/>
                  </a:lnTo>
                  <a:lnTo>
                    <a:pt x="425" y="177"/>
                  </a:lnTo>
                  <a:lnTo>
                    <a:pt x="382" y="351"/>
                  </a:lnTo>
                  <a:lnTo>
                    <a:pt x="8" y="1004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5" name="Freeform 83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w 342"/>
                <a:gd name="T23" fmla="*/ 83 h 1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2"/>
                <a:gd name="T37" fmla="*/ 0 h 153"/>
                <a:gd name="T38" fmla="*/ 342 w 342"/>
                <a:gd name="T39" fmla="*/ 153 h 15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7E9FA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6" name="Freeform 84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2"/>
                <a:gd name="T34" fmla="*/ 0 h 153"/>
                <a:gd name="T35" fmla="*/ 342 w 342"/>
                <a:gd name="T36" fmla="*/ 153 h 1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7" name="Freeform 85"/>
            <p:cNvSpPr>
              <a:spLocks/>
            </p:cNvSpPr>
            <p:nvPr/>
          </p:nvSpPr>
          <p:spPr bwMode="auto">
            <a:xfrm>
              <a:off x="4267" y="2245"/>
              <a:ext cx="292" cy="114"/>
            </a:xfrm>
            <a:custGeom>
              <a:avLst/>
              <a:gdLst>
                <a:gd name="T0" fmla="*/ 32 w 292"/>
                <a:gd name="T1" fmla="*/ 0 h 114"/>
                <a:gd name="T2" fmla="*/ 292 w 292"/>
                <a:gd name="T3" fmla="*/ 55 h 114"/>
                <a:gd name="T4" fmla="*/ 252 w 292"/>
                <a:gd name="T5" fmla="*/ 114 h 114"/>
                <a:gd name="T6" fmla="*/ 252 w 292"/>
                <a:gd name="T7" fmla="*/ 114 h 114"/>
                <a:gd name="T8" fmla="*/ 209 w 292"/>
                <a:gd name="T9" fmla="*/ 102 h 114"/>
                <a:gd name="T10" fmla="*/ 83 w 292"/>
                <a:gd name="T11" fmla="*/ 74 h 114"/>
                <a:gd name="T12" fmla="*/ 83 w 292"/>
                <a:gd name="T13" fmla="*/ 74 h 114"/>
                <a:gd name="T14" fmla="*/ 0 w 292"/>
                <a:gd name="T15" fmla="*/ 55 h 114"/>
                <a:gd name="T16" fmla="*/ 32 w 292"/>
                <a:gd name="T17" fmla="*/ 0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2"/>
                <a:gd name="T28" fmla="*/ 0 h 114"/>
                <a:gd name="T29" fmla="*/ 292 w 292"/>
                <a:gd name="T30" fmla="*/ 114 h 1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2" h="114">
                  <a:moveTo>
                    <a:pt x="32" y="0"/>
                  </a:moveTo>
                  <a:lnTo>
                    <a:pt x="292" y="55"/>
                  </a:lnTo>
                  <a:lnTo>
                    <a:pt x="252" y="114"/>
                  </a:lnTo>
                  <a:lnTo>
                    <a:pt x="209" y="102"/>
                  </a:lnTo>
                  <a:lnTo>
                    <a:pt x="83" y="74"/>
                  </a:lnTo>
                  <a:lnTo>
                    <a:pt x="0" y="5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BFBFA2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8" name="Freeform 86"/>
            <p:cNvSpPr>
              <a:spLocks/>
            </p:cNvSpPr>
            <p:nvPr/>
          </p:nvSpPr>
          <p:spPr bwMode="auto">
            <a:xfrm>
              <a:off x="4240" y="2233"/>
              <a:ext cx="59" cy="79"/>
            </a:xfrm>
            <a:custGeom>
              <a:avLst/>
              <a:gdLst>
                <a:gd name="T0" fmla="*/ 0 w 59"/>
                <a:gd name="T1" fmla="*/ 79 h 79"/>
                <a:gd name="T2" fmla="*/ 27 w 59"/>
                <a:gd name="T3" fmla="*/ 67 h 79"/>
                <a:gd name="T4" fmla="*/ 59 w 59"/>
                <a:gd name="T5" fmla="*/ 12 h 79"/>
                <a:gd name="T6" fmla="*/ 47 w 59"/>
                <a:gd name="T7" fmla="*/ 0 h 79"/>
                <a:gd name="T8" fmla="*/ 0 w 59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79"/>
                <a:gd name="T17" fmla="*/ 59 w 5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79">
                  <a:moveTo>
                    <a:pt x="0" y="79"/>
                  </a:moveTo>
                  <a:lnTo>
                    <a:pt x="27" y="67"/>
                  </a:lnTo>
                  <a:lnTo>
                    <a:pt x="59" y="12"/>
                  </a:lnTo>
                  <a:lnTo>
                    <a:pt x="47" y="0"/>
                  </a:lnTo>
                  <a:lnTo>
                    <a:pt x="0" y="79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69" name="Freeform 87"/>
            <p:cNvSpPr>
              <a:spLocks/>
            </p:cNvSpPr>
            <p:nvPr/>
          </p:nvSpPr>
          <p:spPr bwMode="auto">
            <a:xfrm>
              <a:off x="4519" y="2284"/>
              <a:ext cx="59" cy="91"/>
            </a:xfrm>
            <a:custGeom>
              <a:avLst/>
              <a:gdLst>
                <a:gd name="T0" fmla="*/ 40 w 59"/>
                <a:gd name="T1" fmla="*/ 8 h 91"/>
                <a:gd name="T2" fmla="*/ 59 w 59"/>
                <a:gd name="T3" fmla="*/ 0 h 91"/>
                <a:gd name="T4" fmla="*/ 4 w 59"/>
                <a:gd name="T5" fmla="*/ 91 h 91"/>
                <a:gd name="T6" fmla="*/ 0 w 59"/>
                <a:gd name="T7" fmla="*/ 75 h 91"/>
                <a:gd name="T8" fmla="*/ 40 w 59"/>
                <a:gd name="T9" fmla="*/ 8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91"/>
                <a:gd name="T17" fmla="*/ 59 w 59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91">
                  <a:moveTo>
                    <a:pt x="40" y="8"/>
                  </a:moveTo>
                  <a:lnTo>
                    <a:pt x="59" y="0"/>
                  </a:lnTo>
                  <a:lnTo>
                    <a:pt x="4" y="91"/>
                  </a:lnTo>
                  <a:lnTo>
                    <a:pt x="0" y="75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ABC3C9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0" name="Freeform 88"/>
            <p:cNvSpPr>
              <a:spLocks/>
            </p:cNvSpPr>
            <p:nvPr/>
          </p:nvSpPr>
          <p:spPr bwMode="auto">
            <a:xfrm>
              <a:off x="3732" y="2060"/>
              <a:ext cx="319" cy="523"/>
            </a:xfrm>
            <a:custGeom>
              <a:avLst/>
              <a:gdLst>
                <a:gd name="T0" fmla="*/ 3 w 319"/>
                <a:gd name="T1" fmla="*/ 523 h 523"/>
                <a:gd name="T2" fmla="*/ 3 w 319"/>
                <a:gd name="T3" fmla="*/ 523 h 523"/>
                <a:gd name="T4" fmla="*/ 23 w 319"/>
                <a:gd name="T5" fmla="*/ 445 h 523"/>
                <a:gd name="T6" fmla="*/ 47 w 319"/>
                <a:gd name="T7" fmla="*/ 370 h 523"/>
                <a:gd name="T8" fmla="*/ 78 w 319"/>
                <a:gd name="T9" fmla="*/ 299 h 523"/>
                <a:gd name="T10" fmla="*/ 114 w 319"/>
                <a:gd name="T11" fmla="*/ 228 h 523"/>
                <a:gd name="T12" fmla="*/ 114 w 319"/>
                <a:gd name="T13" fmla="*/ 228 h 523"/>
                <a:gd name="T14" fmla="*/ 161 w 319"/>
                <a:gd name="T15" fmla="*/ 149 h 523"/>
                <a:gd name="T16" fmla="*/ 185 w 319"/>
                <a:gd name="T17" fmla="*/ 110 h 523"/>
                <a:gd name="T18" fmla="*/ 212 w 319"/>
                <a:gd name="T19" fmla="*/ 70 h 523"/>
                <a:gd name="T20" fmla="*/ 212 w 319"/>
                <a:gd name="T21" fmla="*/ 70 h 523"/>
                <a:gd name="T22" fmla="*/ 224 w 319"/>
                <a:gd name="T23" fmla="*/ 55 h 523"/>
                <a:gd name="T24" fmla="*/ 240 w 319"/>
                <a:gd name="T25" fmla="*/ 47 h 523"/>
                <a:gd name="T26" fmla="*/ 252 w 319"/>
                <a:gd name="T27" fmla="*/ 39 h 523"/>
                <a:gd name="T28" fmla="*/ 263 w 319"/>
                <a:gd name="T29" fmla="*/ 39 h 523"/>
                <a:gd name="T30" fmla="*/ 275 w 319"/>
                <a:gd name="T31" fmla="*/ 43 h 523"/>
                <a:gd name="T32" fmla="*/ 287 w 319"/>
                <a:gd name="T33" fmla="*/ 47 h 523"/>
                <a:gd name="T34" fmla="*/ 319 w 319"/>
                <a:gd name="T35" fmla="*/ 66 h 523"/>
                <a:gd name="T36" fmla="*/ 319 w 319"/>
                <a:gd name="T37" fmla="*/ 66 h 523"/>
                <a:gd name="T38" fmla="*/ 319 w 319"/>
                <a:gd name="T39" fmla="*/ 63 h 523"/>
                <a:gd name="T40" fmla="*/ 319 w 319"/>
                <a:gd name="T41" fmla="*/ 51 h 523"/>
                <a:gd name="T42" fmla="*/ 319 w 319"/>
                <a:gd name="T43" fmla="*/ 35 h 523"/>
                <a:gd name="T44" fmla="*/ 319 w 319"/>
                <a:gd name="T45" fmla="*/ 27 h 523"/>
                <a:gd name="T46" fmla="*/ 319 w 319"/>
                <a:gd name="T47" fmla="*/ 27 h 523"/>
                <a:gd name="T48" fmla="*/ 287 w 319"/>
                <a:gd name="T49" fmla="*/ 7 h 523"/>
                <a:gd name="T50" fmla="*/ 271 w 319"/>
                <a:gd name="T51" fmla="*/ 3 h 523"/>
                <a:gd name="T52" fmla="*/ 260 w 319"/>
                <a:gd name="T53" fmla="*/ 0 h 523"/>
                <a:gd name="T54" fmla="*/ 248 w 319"/>
                <a:gd name="T55" fmla="*/ 3 h 523"/>
                <a:gd name="T56" fmla="*/ 236 w 319"/>
                <a:gd name="T57" fmla="*/ 11 h 523"/>
                <a:gd name="T58" fmla="*/ 220 w 319"/>
                <a:gd name="T59" fmla="*/ 23 h 523"/>
                <a:gd name="T60" fmla="*/ 204 w 319"/>
                <a:gd name="T61" fmla="*/ 39 h 523"/>
                <a:gd name="T62" fmla="*/ 204 w 319"/>
                <a:gd name="T63" fmla="*/ 39 h 523"/>
                <a:gd name="T64" fmla="*/ 181 w 319"/>
                <a:gd name="T65" fmla="*/ 74 h 523"/>
                <a:gd name="T66" fmla="*/ 157 w 319"/>
                <a:gd name="T67" fmla="*/ 114 h 523"/>
                <a:gd name="T68" fmla="*/ 114 w 319"/>
                <a:gd name="T69" fmla="*/ 189 h 523"/>
                <a:gd name="T70" fmla="*/ 114 w 319"/>
                <a:gd name="T71" fmla="*/ 189 h 523"/>
                <a:gd name="T72" fmla="*/ 74 w 319"/>
                <a:gd name="T73" fmla="*/ 263 h 523"/>
                <a:gd name="T74" fmla="*/ 47 w 319"/>
                <a:gd name="T75" fmla="*/ 334 h 523"/>
                <a:gd name="T76" fmla="*/ 19 w 319"/>
                <a:gd name="T77" fmla="*/ 409 h 523"/>
                <a:gd name="T78" fmla="*/ 0 w 319"/>
                <a:gd name="T79" fmla="*/ 488 h 523"/>
                <a:gd name="T80" fmla="*/ 0 w 319"/>
                <a:gd name="T81" fmla="*/ 488 h 523"/>
                <a:gd name="T82" fmla="*/ 0 w 319"/>
                <a:gd name="T83" fmla="*/ 508 h 523"/>
                <a:gd name="T84" fmla="*/ 3 w 319"/>
                <a:gd name="T85" fmla="*/ 523 h 523"/>
                <a:gd name="T86" fmla="*/ 3 w 319"/>
                <a:gd name="T87" fmla="*/ 523 h 52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9"/>
                <a:gd name="T133" fmla="*/ 0 h 523"/>
                <a:gd name="T134" fmla="*/ 319 w 319"/>
                <a:gd name="T135" fmla="*/ 523 h 52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9" h="523">
                  <a:moveTo>
                    <a:pt x="3" y="523"/>
                  </a:moveTo>
                  <a:lnTo>
                    <a:pt x="3" y="523"/>
                  </a:lnTo>
                  <a:lnTo>
                    <a:pt x="23" y="445"/>
                  </a:lnTo>
                  <a:lnTo>
                    <a:pt x="47" y="370"/>
                  </a:lnTo>
                  <a:lnTo>
                    <a:pt x="78" y="299"/>
                  </a:lnTo>
                  <a:lnTo>
                    <a:pt x="114" y="228"/>
                  </a:lnTo>
                  <a:lnTo>
                    <a:pt x="161" y="149"/>
                  </a:lnTo>
                  <a:lnTo>
                    <a:pt x="185" y="110"/>
                  </a:lnTo>
                  <a:lnTo>
                    <a:pt x="212" y="70"/>
                  </a:lnTo>
                  <a:lnTo>
                    <a:pt x="224" y="55"/>
                  </a:lnTo>
                  <a:lnTo>
                    <a:pt x="240" y="47"/>
                  </a:lnTo>
                  <a:lnTo>
                    <a:pt x="252" y="39"/>
                  </a:lnTo>
                  <a:lnTo>
                    <a:pt x="263" y="39"/>
                  </a:lnTo>
                  <a:lnTo>
                    <a:pt x="275" y="43"/>
                  </a:lnTo>
                  <a:lnTo>
                    <a:pt x="287" y="47"/>
                  </a:lnTo>
                  <a:lnTo>
                    <a:pt x="319" y="66"/>
                  </a:lnTo>
                  <a:lnTo>
                    <a:pt x="319" y="63"/>
                  </a:lnTo>
                  <a:lnTo>
                    <a:pt x="319" y="51"/>
                  </a:lnTo>
                  <a:lnTo>
                    <a:pt x="319" y="35"/>
                  </a:lnTo>
                  <a:lnTo>
                    <a:pt x="319" y="27"/>
                  </a:lnTo>
                  <a:lnTo>
                    <a:pt x="287" y="7"/>
                  </a:lnTo>
                  <a:lnTo>
                    <a:pt x="271" y="3"/>
                  </a:lnTo>
                  <a:lnTo>
                    <a:pt x="260" y="0"/>
                  </a:lnTo>
                  <a:lnTo>
                    <a:pt x="248" y="3"/>
                  </a:lnTo>
                  <a:lnTo>
                    <a:pt x="236" y="11"/>
                  </a:lnTo>
                  <a:lnTo>
                    <a:pt x="220" y="23"/>
                  </a:lnTo>
                  <a:lnTo>
                    <a:pt x="204" y="39"/>
                  </a:lnTo>
                  <a:lnTo>
                    <a:pt x="181" y="74"/>
                  </a:lnTo>
                  <a:lnTo>
                    <a:pt x="157" y="114"/>
                  </a:lnTo>
                  <a:lnTo>
                    <a:pt x="114" y="189"/>
                  </a:lnTo>
                  <a:lnTo>
                    <a:pt x="74" y="263"/>
                  </a:lnTo>
                  <a:lnTo>
                    <a:pt x="47" y="334"/>
                  </a:lnTo>
                  <a:lnTo>
                    <a:pt x="19" y="409"/>
                  </a:lnTo>
                  <a:lnTo>
                    <a:pt x="0" y="488"/>
                  </a:lnTo>
                  <a:lnTo>
                    <a:pt x="0" y="508"/>
                  </a:lnTo>
                  <a:lnTo>
                    <a:pt x="3" y="5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1" name="Freeform 89"/>
            <p:cNvSpPr>
              <a:spLocks/>
            </p:cNvSpPr>
            <p:nvPr/>
          </p:nvSpPr>
          <p:spPr bwMode="auto">
            <a:xfrm>
              <a:off x="3397" y="2646"/>
              <a:ext cx="165" cy="91"/>
            </a:xfrm>
            <a:custGeom>
              <a:avLst/>
              <a:gdLst>
                <a:gd name="T0" fmla="*/ 4 w 165"/>
                <a:gd name="T1" fmla="*/ 79 h 91"/>
                <a:gd name="T2" fmla="*/ 4 w 165"/>
                <a:gd name="T3" fmla="*/ 79 h 91"/>
                <a:gd name="T4" fmla="*/ 23 w 165"/>
                <a:gd name="T5" fmla="*/ 63 h 91"/>
                <a:gd name="T6" fmla="*/ 43 w 165"/>
                <a:gd name="T7" fmla="*/ 51 h 91"/>
                <a:gd name="T8" fmla="*/ 67 w 165"/>
                <a:gd name="T9" fmla="*/ 44 h 91"/>
                <a:gd name="T10" fmla="*/ 86 w 165"/>
                <a:gd name="T11" fmla="*/ 40 h 91"/>
                <a:gd name="T12" fmla="*/ 110 w 165"/>
                <a:gd name="T13" fmla="*/ 44 h 91"/>
                <a:gd name="T14" fmla="*/ 130 w 165"/>
                <a:gd name="T15" fmla="*/ 51 h 91"/>
                <a:gd name="T16" fmla="*/ 145 w 165"/>
                <a:gd name="T17" fmla="*/ 67 h 91"/>
                <a:gd name="T18" fmla="*/ 161 w 165"/>
                <a:gd name="T19" fmla="*/ 91 h 91"/>
                <a:gd name="T20" fmla="*/ 161 w 165"/>
                <a:gd name="T21" fmla="*/ 91 h 91"/>
                <a:gd name="T22" fmla="*/ 165 w 165"/>
                <a:gd name="T23" fmla="*/ 71 h 91"/>
                <a:gd name="T24" fmla="*/ 165 w 165"/>
                <a:gd name="T25" fmla="*/ 59 h 91"/>
                <a:gd name="T26" fmla="*/ 165 w 165"/>
                <a:gd name="T27" fmla="*/ 51 h 91"/>
                <a:gd name="T28" fmla="*/ 165 w 165"/>
                <a:gd name="T29" fmla="*/ 51 h 91"/>
                <a:gd name="T30" fmla="*/ 149 w 165"/>
                <a:gd name="T31" fmla="*/ 28 h 91"/>
                <a:gd name="T32" fmla="*/ 130 w 165"/>
                <a:gd name="T33" fmla="*/ 16 h 91"/>
                <a:gd name="T34" fmla="*/ 110 w 165"/>
                <a:gd name="T35" fmla="*/ 4 h 91"/>
                <a:gd name="T36" fmla="*/ 90 w 165"/>
                <a:gd name="T37" fmla="*/ 0 h 91"/>
                <a:gd name="T38" fmla="*/ 67 w 165"/>
                <a:gd name="T39" fmla="*/ 4 h 91"/>
                <a:gd name="T40" fmla="*/ 43 w 165"/>
                <a:gd name="T41" fmla="*/ 12 h 91"/>
                <a:gd name="T42" fmla="*/ 23 w 165"/>
                <a:gd name="T43" fmla="*/ 24 h 91"/>
                <a:gd name="T44" fmla="*/ 4 w 165"/>
                <a:gd name="T45" fmla="*/ 40 h 91"/>
                <a:gd name="T46" fmla="*/ 4 w 165"/>
                <a:gd name="T47" fmla="*/ 40 h 91"/>
                <a:gd name="T48" fmla="*/ 0 w 165"/>
                <a:gd name="T49" fmla="*/ 48 h 91"/>
                <a:gd name="T50" fmla="*/ 4 w 165"/>
                <a:gd name="T51" fmla="*/ 59 h 91"/>
                <a:gd name="T52" fmla="*/ 4 w 165"/>
                <a:gd name="T53" fmla="*/ 71 h 91"/>
                <a:gd name="T54" fmla="*/ 4 w 165"/>
                <a:gd name="T55" fmla="*/ 79 h 91"/>
                <a:gd name="T56" fmla="*/ 4 w 165"/>
                <a:gd name="T57" fmla="*/ 79 h 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5"/>
                <a:gd name="T88" fmla="*/ 0 h 91"/>
                <a:gd name="T89" fmla="*/ 165 w 165"/>
                <a:gd name="T90" fmla="*/ 91 h 9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5" h="91">
                  <a:moveTo>
                    <a:pt x="4" y="79"/>
                  </a:moveTo>
                  <a:lnTo>
                    <a:pt x="4" y="79"/>
                  </a:lnTo>
                  <a:lnTo>
                    <a:pt x="23" y="63"/>
                  </a:lnTo>
                  <a:lnTo>
                    <a:pt x="43" y="51"/>
                  </a:lnTo>
                  <a:lnTo>
                    <a:pt x="67" y="44"/>
                  </a:lnTo>
                  <a:lnTo>
                    <a:pt x="86" y="40"/>
                  </a:lnTo>
                  <a:lnTo>
                    <a:pt x="110" y="44"/>
                  </a:lnTo>
                  <a:lnTo>
                    <a:pt x="130" y="51"/>
                  </a:lnTo>
                  <a:lnTo>
                    <a:pt x="145" y="67"/>
                  </a:lnTo>
                  <a:lnTo>
                    <a:pt x="161" y="91"/>
                  </a:lnTo>
                  <a:lnTo>
                    <a:pt x="165" y="71"/>
                  </a:lnTo>
                  <a:lnTo>
                    <a:pt x="165" y="59"/>
                  </a:lnTo>
                  <a:lnTo>
                    <a:pt x="165" y="51"/>
                  </a:lnTo>
                  <a:lnTo>
                    <a:pt x="149" y="28"/>
                  </a:lnTo>
                  <a:lnTo>
                    <a:pt x="130" y="16"/>
                  </a:lnTo>
                  <a:lnTo>
                    <a:pt x="110" y="4"/>
                  </a:lnTo>
                  <a:lnTo>
                    <a:pt x="90" y="0"/>
                  </a:lnTo>
                  <a:lnTo>
                    <a:pt x="67" y="4"/>
                  </a:lnTo>
                  <a:lnTo>
                    <a:pt x="43" y="12"/>
                  </a:lnTo>
                  <a:lnTo>
                    <a:pt x="23" y="24"/>
                  </a:lnTo>
                  <a:lnTo>
                    <a:pt x="4" y="40"/>
                  </a:lnTo>
                  <a:lnTo>
                    <a:pt x="0" y="48"/>
                  </a:lnTo>
                  <a:lnTo>
                    <a:pt x="4" y="59"/>
                  </a:lnTo>
                  <a:lnTo>
                    <a:pt x="4" y="71"/>
                  </a:lnTo>
                  <a:lnTo>
                    <a:pt x="4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2" name="Freeform 90"/>
            <p:cNvSpPr>
              <a:spLocks/>
            </p:cNvSpPr>
            <p:nvPr/>
          </p:nvSpPr>
          <p:spPr bwMode="auto">
            <a:xfrm>
              <a:off x="4003" y="265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3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3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3" name="Freeform 91"/>
            <p:cNvSpPr>
              <a:spLocks/>
            </p:cNvSpPr>
            <p:nvPr/>
          </p:nvSpPr>
          <p:spPr bwMode="auto">
            <a:xfrm>
              <a:off x="4118" y="267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4" name="Freeform 92"/>
            <p:cNvSpPr>
              <a:spLocks/>
            </p:cNvSpPr>
            <p:nvPr/>
          </p:nvSpPr>
          <p:spPr bwMode="auto">
            <a:xfrm>
              <a:off x="4228" y="2701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5" name="Freeform 93"/>
            <p:cNvSpPr>
              <a:spLocks/>
            </p:cNvSpPr>
            <p:nvPr/>
          </p:nvSpPr>
          <p:spPr bwMode="auto">
            <a:xfrm>
              <a:off x="4062" y="2556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19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19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6" name="Freeform 94"/>
            <p:cNvSpPr>
              <a:spLocks/>
            </p:cNvSpPr>
            <p:nvPr/>
          </p:nvSpPr>
          <p:spPr bwMode="auto">
            <a:xfrm>
              <a:off x="4177" y="2579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7" name="Freeform 95"/>
            <p:cNvSpPr>
              <a:spLocks/>
            </p:cNvSpPr>
            <p:nvPr/>
          </p:nvSpPr>
          <p:spPr bwMode="auto">
            <a:xfrm>
              <a:off x="4287" y="260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8" name="Freeform 96"/>
            <p:cNvSpPr>
              <a:spLocks/>
            </p:cNvSpPr>
            <p:nvPr/>
          </p:nvSpPr>
          <p:spPr bwMode="auto">
            <a:xfrm>
              <a:off x="4121" y="2461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20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79" name="Freeform 97"/>
            <p:cNvSpPr>
              <a:spLocks/>
            </p:cNvSpPr>
            <p:nvPr/>
          </p:nvSpPr>
          <p:spPr bwMode="auto">
            <a:xfrm>
              <a:off x="4236" y="2485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0" name="Freeform 98"/>
            <p:cNvSpPr>
              <a:spLocks/>
            </p:cNvSpPr>
            <p:nvPr/>
          </p:nvSpPr>
          <p:spPr bwMode="auto">
            <a:xfrm>
              <a:off x="4346" y="2512"/>
              <a:ext cx="118" cy="79"/>
            </a:xfrm>
            <a:custGeom>
              <a:avLst/>
              <a:gdLst>
                <a:gd name="T0" fmla="*/ 0 w 118"/>
                <a:gd name="T1" fmla="*/ 56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6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6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1" name="Freeform 99"/>
            <p:cNvSpPr>
              <a:spLocks/>
            </p:cNvSpPr>
            <p:nvPr/>
          </p:nvSpPr>
          <p:spPr bwMode="auto">
            <a:xfrm>
              <a:off x="4181" y="2367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2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2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2" name="Freeform 100"/>
            <p:cNvSpPr>
              <a:spLocks/>
            </p:cNvSpPr>
            <p:nvPr/>
          </p:nvSpPr>
          <p:spPr bwMode="auto">
            <a:xfrm>
              <a:off x="4295" y="239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3" name="Freeform 101"/>
            <p:cNvSpPr>
              <a:spLocks/>
            </p:cNvSpPr>
            <p:nvPr/>
          </p:nvSpPr>
          <p:spPr bwMode="auto">
            <a:xfrm>
              <a:off x="4405" y="2418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4" name="Freeform 102"/>
            <p:cNvSpPr>
              <a:spLocks/>
            </p:cNvSpPr>
            <p:nvPr/>
          </p:nvSpPr>
          <p:spPr bwMode="auto">
            <a:xfrm>
              <a:off x="3992" y="2631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2 w 118"/>
                <a:gd name="T3" fmla="*/ 78 h 78"/>
                <a:gd name="T4" fmla="*/ 118 w 118"/>
                <a:gd name="T5" fmla="*/ 19 h 78"/>
                <a:gd name="T6" fmla="*/ 39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2" y="78"/>
                  </a:lnTo>
                  <a:lnTo>
                    <a:pt x="118" y="19"/>
                  </a:lnTo>
                  <a:lnTo>
                    <a:pt x="3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5" name="Freeform 103"/>
            <p:cNvSpPr>
              <a:spLocks/>
            </p:cNvSpPr>
            <p:nvPr/>
          </p:nvSpPr>
          <p:spPr bwMode="auto">
            <a:xfrm>
              <a:off x="4106" y="265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6" name="Freeform 104"/>
            <p:cNvSpPr>
              <a:spLocks/>
            </p:cNvSpPr>
            <p:nvPr/>
          </p:nvSpPr>
          <p:spPr bwMode="auto">
            <a:xfrm>
              <a:off x="4216" y="2686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7" name="Freeform 105"/>
            <p:cNvSpPr>
              <a:spLocks/>
            </p:cNvSpPr>
            <p:nvPr/>
          </p:nvSpPr>
          <p:spPr bwMode="auto">
            <a:xfrm>
              <a:off x="4051" y="2536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2 w 118"/>
                <a:gd name="T3" fmla="*/ 79 h 79"/>
                <a:gd name="T4" fmla="*/ 118 w 118"/>
                <a:gd name="T5" fmla="*/ 20 h 79"/>
                <a:gd name="T6" fmla="*/ 39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9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8" name="Freeform 106"/>
            <p:cNvSpPr>
              <a:spLocks/>
            </p:cNvSpPr>
            <p:nvPr/>
          </p:nvSpPr>
          <p:spPr bwMode="auto">
            <a:xfrm>
              <a:off x="4165" y="2560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5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89" name="Freeform 107"/>
            <p:cNvSpPr>
              <a:spLocks/>
            </p:cNvSpPr>
            <p:nvPr/>
          </p:nvSpPr>
          <p:spPr bwMode="auto">
            <a:xfrm>
              <a:off x="4275" y="258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0" name="Freeform 108"/>
            <p:cNvSpPr>
              <a:spLocks/>
            </p:cNvSpPr>
            <p:nvPr/>
          </p:nvSpPr>
          <p:spPr bwMode="auto">
            <a:xfrm>
              <a:off x="4110" y="2441"/>
              <a:ext cx="118" cy="75"/>
            </a:xfrm>
            <a:custGeom>
              <a:avLst/>
              <a:gdLst>
                <a:gd name="T0" fmla="*/ 0 w 118"/>
                <a:gd name="T1" fmla="*/ 56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6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6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1" name="Freeform 109"/>
            <p:cNvSpPr>
              <a:spLocks/>
            </p:cNvSpPr>
            <p:nvPr/>
          </p:nvSpPr>
          <p:spPr bwMode="auto">
            <a:xfrm>
              <a:off x="4224" y="2465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2" name="Freeform 110"/>
            <p:cNvSpPr>
              <a:spLocks/>
            </p:cNvSpPr>
            <p:nvPr/>
          </p:nvSpPr>
          <p:spPr bwMode="auto">
            <a:xfrm>
              <a:off x="4334" y="2493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6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3" name="Freeform 111"/>
            <p:cNvSpPr>
              <a:spLocks/>
            </p:cNvSpPr>
            <p:nvPr/>
          </p:nvSpPr>
          <p:spPr bwMode="auto">
            <a:xfrm>
              <a:off x="4169" y="2347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4" name="Freeform 112"/>
            <p:cNvSpPr>
              <a:spLocks/>
            </p:cNvSpPr>
            <p:nvPr/>
          </p:nvSpPr>
          <p:spPr bwMode="auto">
            <a:xfrm>
              <a:off x="4283" y="2371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5" name="Freeform 113"/>
            <p:cNvSpPr>
              <a:spLocks/>
            </p:cNvSpPr>
            <p:nvPr/>
          </p:nvSpPr>
          <p:spPr bwMode="auto">
            <a:xfrm>
              <a:off x="4393" y="2398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6" name="Freeform 114"/>
            <p:cNvSpPr>
              <a:spLocks/>
            </p:cNvSpPr>
            <p:nvPr/>
          </p:nvSpPr>
          <p:spPr bwMode="auto">
            <a:xfrm>
              <a:off x="4208" y="2378"/>
              <a:ext cx="16" cy="12"/>
            </a:xfrm>
            <a:custGeom>
              <a:avLst/>
              <a:gdLst>
                <a:gd name="T0" fmla="*/ 12 w 16"/>
                <a:gd name="T1" fmla="*/ 12 h 12"/>
                <a:gd name="T2" fmla="*/ 12 w 16"/>
                <a:gd name="T3" fmla="*/ 12 h 12"/>
                <a:gd name="T4" fmla="*/ 12 w 16"/>
                <a:gd name="T5" fmla="*/ 12 h 12"/>
                <a:gd name="T6" fmla="*/ 12 w 16"/>
                <a:gd name="T7" fmla="*/ 12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4 w 16"/>
                <a:gd name="T15" fmla="*/ 12 h 12"/>
                <a:gd name="T16" fmla="*/ 4 w 16"/>
                <a:gd name="T17" fmla="*/ 12 h 12"/>
                <a:gd name="T18" fmla="*/ 0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4 w 16"/>
                <a:gd name="T25" fmla="*/ 8 h 12"/>
                <a:gd name="T26" fmla="*/ 4 w 16"/>
                <a:gd name="T27" fmla="*/ 8 h 12"/>
                <a:gd name="T28" fmla="*/ 8 w 16"/>
                <a:gd name="T29" fmla="*/ 8 h 12"/>
                <a:gd name="T30" fmla="*/ 12 w 16"/>
                <a:gd name="T31" fmla="*/ 0 h 12"/>
                <a:gd name="T32" fmla="*/ 12 w 16"/>
                <a:gd name="T33" fmla="*/ 0 h 12"/>
                <a:gd name="T34" fmla="*/ 12 w 16"/>
                <a:gd name="T35" fmla="*/ 0 h 12"/>
                <a:gd name="T36" fmla="*/ 12 w 16"/>
                <a:gd name="T37" fmla="*/ 0 h 12"/>
                <a:gd name="T38" fmla="*/ 12 w 16"/>
                <a:gd name="T39" fmla="*/ 0 h 12"/>
                <a:gd name="T40" fmla="*/ 12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2 w 16"/>
                <a:gd name="T49" fmla="*/ 0 h 12"/>
                <a:gd name="T50" fmla="*/ 12 w 16"/>
                <a:gd name="T51" fmla="*/ 0 h 12"/>
                <a:gd name="T52" fmla="*/ 16 w 16"/>
                <a:gd name="T53" fmla="*/ 0 h 12"/>
                <a:gd name="T54" fmla="*/ 16 w 16"/>
                <a:gd name="T55" fmla="*/ 0 h 12"/>
                <a:gd name="T56" fmla="*/ 16 w 16"/>
                <a:gd name="T57" fmla="*/ 0 h 12"/>
                <a:gd name="T58" fmla="*/ 16 w 16"/>
                <a:gd name="T59" fmla="*/ 0 h 12"/>
                <a:gd name="T60" fmla="*/ 16 w 16"/>
                <a:gd name="T61" fmla="*/ 0 h 12"/>
                <a:gd name="T62" fmla="*/ 16 w 16"/>
                <a:gd name="T63" fmla="*/ 0 h 12"/>
                <a:gd name="T64" fmla="*/ 16 w 16"/>
                <a:gd name="T65" fmla="*/ 0 h 12"/>
                <a:gd name="T66" fmla="*/ 8 w 16"/>
                <a:gd name="T67" fmla="*/ 12 h 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"/>
                <a:gd name="T103" fmla="*/ 0 h 12"/>
                <a:gd name="T104" fmla="*/ 16 w 16"/>
                <a:gd name="T105" fmla="*/ 12 h 1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" h="12">
                  <a:moveTo>
                    <a:pt x="8" y="12"/>
                  </a:move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7" name="Freeform 115"/>
            <p:cNvSpPr>
              <a:spLocks/>
            </p:cNvSpPr>
            <p:nvPr/>
          </p:nvSpPr>
          <p:spPr bwMode="auto">
            <a:xfrm>
              <a:off x="4338" y="2394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12 w 20"/>
                <a:gd name="T5" fmla="*/ 12 h 16"/>
                <a:gd name="T6" fmla="*/ 12 w 20"/>
                <a:gd name="T7" fmla="*/ 12 h 16"/>
                <a:gd name="T8" fmla="*/ 16 w 20"/>
                <a:gd name="T9" fmla="*/ 12 h 16"/>
                <a:gd name="T10" fmla="*/ 16 w 20"/>
                <a:gd name="T11" fmla="*/ 12 h 16"/>
                <a:gd name="T12" fmla="*/ 16 w 20"/>
                <a:gd name="T13" fmla="*/ 12 h 16"/>
                <a:gd name="T14" fmla="*/ 16 w 20"/>
                <a:gd name="T15" fmla="*/ 16 h 16"/>
                <a:gd name="T16" fmla="*/ 16 w 20"/>
                <a:gd name="T17" fmla="*/ 16 h 16"/>
                <a:gd name="T18" fmla="*/ 16 w 20"/>
                <a:gd name="T19" fmla="*/ 16 h 16"/>
                <a:gd name="T20" fmla="*/ 16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0 w 20"/>
                <a:gd name="T27" fmla="*/ 16 h 16"/>
                <a:gd name="T28" fmla="*/ 0 w 20"/>
                <a:gd name="T29" fmla="*/ 16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12 w 20"/>
                <a:gd name="T41" fmla="*/ 8 h 16"/>
                <a:gd name="T42" fmla="*/ 12 w 20"/>
                <a:gd name="T43" fmla="*/ 8 h 16"/>
                <a:gd name="T44" fmla="*/ 16 w 20"/>
                <a:gd name="T45" fmla="*/ 8 h 16"/>
                <a:gd name="T46" fmla="*/ 16 w 20"/>
                <a:gd name="T47" fmla="*/ 4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4 h 16"/>
                <a:gd name="T56" fmla="*/ 12 w 20"/>
                <a:gd name="T57" fmla="*/ 4 h 16"/>
                <a:gd name="T58" fmla="*/ 12 w 20"/>
                <a:gd name="T59" fmla="*/ 4 h 16"/>
                <a:gd name="T60" fmla="*/ 12 w 20"/>
                <a:gd name="T61" fmla="*/ 4 h 16"/>
                <a:gd name="T62" fmla="*/ 12 w 20"/>
                <a:gd name="T63" fmla="*/ 4 h 16"/>
                <a:gd name="T64" fmla="*/ 8 w 20"/>
                <a:gd name="T65" fmla="*/ 4 h 16"/>
                <a:gd name="T66" fmla="*/ 8 w 20"/>
                <a:gd name="T67" fmla="*/ 4 h 16"/>
                <a:gd name="T68" fmla="*/ 8 w 20"/>
                <a:gd name="T69" fmla="*/ 4 h 16"/>
                <a:gd name="T70" fmla="*/ 8 w 20"/>
                <a:gd name="T71" fmla="*/ 4 h 16"/>
                <a:gd name="T72" fmla="*/ 8 w 20"/>
                <a:gd name="T73" fmla="*/ 4 h 16"/>
                <a:gd name="T74" fmla="*/ 8 w 20"/>
                <a:gd name="T75" fmla="*/ 0 h 16"/>
                <a:gd name="T76" fmla="*/ 12 w 20"/>
                <a:gd name="T77" fmla="*/ 0 h 16"/>
                <a:gd name="T78" fmla="*/ 12 w 20"/>
                <a:gd name="T79" fmla="*/ 0 h 16"/>
                <a:gd name="T80" fmla="*/ 12 w 20"/>
                <a:gd name="T81" fmla="*/ 0 h 16"/>
                <a:gd name="T82" fmla="*/ 16 w 20"/>
                <a:gd name="T83" fmla="*/ 0 h 16"/>
                <a:gd name="T84" fmla="*/ 16 w 20"/>
                <a:gd name="T85" fmla="*/ 0 h 16"/>
                <a:gd name="T86" fmla="*/ 20 w 20"/>
                <a:gd name="T87" fmla="*/ 4 h 16"/>
                <a:gd name="T88" fmla="*/ 20 w 20"/>
                <a:gd name="T89" fmla="*/ 8 h 16"/>
                <a:gd name="T90" fmla="*/ 20 w 20"/>
                <a:gd name="T91" fmla="*/ 8 h 16"/>
                <a:gd name="T92" fmla="*/ 16 w 20"/>
                <a:gd name="T93" fmla="*/ 8 h 16"/>
                <a:gd name="T94" fmla="*/ 12 w 20"/>
                <a:gd name="T95" fmla="*/ 12 h 16"/>
                <a:gd name="T96" fmla="*/ 8 w 20"/>
                <a:gd name="T97" fmla="*/ 12 h 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16"/>
                <a:gd name="T149" fmla="*/ 20 w 20"/>
                <a:gd name="T150" fmla="*/ 16 h 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16">
                  <a:moveTo>
                    <a:pt x="8" y="12"/>
                  </a:move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8" name="Freeform 116"/>
            <p:cNvSpPr>
              <a:spLocks noEditPoints="1"/>
            </p:cNvSpPr>
            <p:nvPr/>
          </p:nvSpPr>
          <p:spPr bwMode="auto">
            <a:xfrm>
              <a:off x="4315" y="2410"/>
              <a:ext cx="15" cy="12"/>
            </a:xfrm>
            <a:custGeom>
              <a:avLst/>
              <a:gdLst>
                <a:gd name="T0" fmla="*/ 15 w 15"/>
                <a:gd name="T1" fmla="*/ 12 h 12"/>
                <a:gd name="T2" fmla="*/ 15 w 15"/>
                <a:gd name="T3" fmla="*/ 12 h 12"/>
                <a:gd name="T4" fmla="*/ 15 w 15"/>
                <a:gd name="T5" fmla="*/ 12 h 12"/>
                <a:gd name="T6" fmla="*/ 15 w 15"/>
                <a:gd name="T7" fmla="*/ 12 h 12"/>
                <a:gd name="T8" fmla="*/ 15 w 15"/>
                <a:gd name="T9" fmla="*/ 12 h 12"/>
                <a:gd name="T10" fmla="*/ 15 w 15"/>
                <a:gd name="T11" fmla="*/ 12 h 12"/>
                <a:gd name="T12" fmla="*/ 11 w 15"/>
                <a:gd name="T13" fmla="*/ 12 h 12"/>
                <a:gd name="T14" fmla="*/ 11 w 15"/>
                <a:gd name="T15" fmla="*/ 12 h 12"/>
                <a:gd name="T16" fmla="*/ 11 w 15"/>
                <a:gd name="T17" fmla="*/ 12 h 12"/>
                <a:gd name="T18" fmla="*/ 7 w 15"/>
                <a:gd name="T19" fmla="*/ 12 h 12"/>
                <a:gd name="T20" fmla="*/ 7 w 15"/>
                <a:gd name="T21" fmla="*/ 12 h 12"/>
                <a:gd name="T22" fmla="*/ 7 w 15"/>
                <a:gd name="T23" fmla="*/ 12 h 12"/>
                <a:gd name="T24" fmla="*/ 11 w 15"/>
                <a:gd name="T25" fmla="*/ 8 h 12"/>
                <a:gd name="T26" fmla="*/ 11 w 15"/>
                <a:gd name="T27" fmla="*/ 8 h 12"/>
                <a:gd name="T28" fmla="*/ 11 w 15"/>
                <a:gd name="T29" fmla="*/ 8 h 12"/>
                <a:gd name="T30" fmla="*/ 11 w 15"/>
                <a:gd name="T31" fmla="*/ 8 h 12"/>
                <a:gd name="T32" fmla="*/ 7 w 15"/>
                <a:gd name="T33" fmla="*/ 8 h 12"/>
                <a:gd name="T34" fmla="*/ 3 w 15"/>
                <a:gd name="T35" fmla="*/ 8 h 12"/>
                <a:gd name="T36" fmla="*/ 7 w 15"/>
                <a:gd name="T37" fmla="*/ 8 h 12"/>
                <a:gd name="T38" fmla="*/ 7 w 15"/>
                <a:gd name="T39" fmla="*/ 8 h 12"/>
                <a:gd name="T40" fmla="*/ 7 w 15"/>
                <a:gd name="T41" fmla="*/ 8 h 12"/>
                <a:gd name="T42" fmla="*/ 7 w 15"/>
                <a:gd name="T43" fmla="*/ 8 h 12"/>
                <a:gd name="T44" fmla="*/ 7 w 15"/>
                <a:gd name="T45" fmla="*/ 8 h 12"/>
                <a:gd name="T46" fmla="*/ 7 w 15"/>
                <a:gd name="T47" fmla="*/ 12 h 12"/>
                <a:gd name="T48" fmla="*/ 3 w 15"/>
                <a:gd name="T49" fmla="*/ 12 h 12"/>
                <a:gd name="T50" fmla="*/ 3 w 15"/>
                <a:gd name="T51" fmla="*/ 12 h 12"/>
                <a:gd name="T52" fmla="*/ 3 w 15"/>
                <a:gd name="T53" fmla="*/ 12 h 12"/>
                <a:gd name="T54" fmla="*/ 0 w 15"/>
                <a:gd name="T55" fmla="*/ 8 h 12"/>
                <a:gd name="T56" fmla="*/ 0 w 15"/>
                <a:gd name="T57" fmla="*/ 8 h 12"/>
                <a:gd name="T58" fmla="*/ 0 w 15"/>
                <a:gd name="T59" fmla="*/ 8 h 12"/>
                <a:gd name="T60" fmla="*/ 3 w 15"/>
                <a:gd name="T61" fmla="*/ 8 h 12"/>
                <a:gd name="T62" fmla="*/ 3 w 15"/>
                <a:gd name="T63" fmla="*/ 8 h 12"/>
                <a:gd name="T64" fmla="*/ 3 w 15"/>
                <a:gd name="T65" fmla="*/ 8 h 12"/>
                <a:gd name="T66" fmla="*/ 11 w 15"/>
                <a:gd name="T67" fmla="*/ 4 h 12"/>
                <a:gd name="T68" fmla="*/ 7 w 15"/>
                <a:gd name="T69" fmla="*/ 4 h 12"/>
                <a:gd name="T70" fmla="*/ 7 w 15"/>
                <a:gd name="T71" fmla="*/ 4 h 12"/>
                <a:gd name="T72" fmla="*/ 7 w 15"/>
                <a:gd name="T73" fmla="*/ 0 h 12"/>
                <a:gd name="T74" fmla="*/ 7 w 15"/>
                <a:gd name="T75" fmla="*/ 0 h 12"/>
                <a:gd name="T76" fmla="*/ 7 w 15"/>
                <a:gd name="T77" fmla="*/ 0 h 12"/>
                <a:gd name="T78" fmla="*/ 7 w 15"/>
                <a:gd name="T79" fmla="*/ 0 h 12"/>
                <a:gd name="T80" fmla="*/ 11 w 15"/>
                <a:gd name="T81" fmla="*/ 0 h 12"/>
                <a:gd name="T82" fmla="*/ 15 w 15"/>
                <a:gd name="T83" fmla="*/ 0 h 12"/>
                <a:gd name="T84" fmla="*/ 15 w 15"/>
                <a:gd name="T85" fmla="*/ 0 h 12"/>
                <a:gd name="T86" fmla="*/ 15 w 15"/>
                <a:gd name="T87" fmla="*/ 4 h 12"/>
                <a:gd name="T88" fmla="*/ 15 w 15"/>
                <a:gd name="T89" fmla="*/ 4 h 12"/>
                <a:gd name="T90" fmla="*/ 11 w 15"/>
                <a:gd name="T91" fmla="*/ 4 h 12"/>
                <a:gd name="T92" fmla="*/ 7 w 15"/>
                <a:gd name="T93" fmla="*/ 8 h 12"/>
                <a:gd name="T94" fmla="*/ 11 w 15"/>
                <a:gd name="T95" fmla="*/ 8 h 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5"/>
                <a:gd name="T145" fmla="*/ 0 h 12"/>
                <a:gd name="T146" fmla="*/ 15 w 15"/>
                <a:gd name="T147" fmla="*/ 12 h 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5" h="12">
                  <a:moveTo>
                    <a:pt x="15" y="12"/>
                  </a:move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11" y="8"/>
                  </a:lnTo>
                  <a:lnTo>
                    <a:pt x="7" y="8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12"/>
                  </a:lnTo>
                  <a:close/>
                  <a:moveTo>
                    <a:pt x="11" y="4"/>
                  </a:move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99" name="Freeform 117"/>
            <p:cNvSpPr>
              <a:spLocks noEditPoints="1"/>
            </p:cNvSpPr>
            <p:nvPr/>
          </p:nvSpPr>
          <p:spPr bwMode="auto">
            <a:xfrm>
              <a:off x="4330" y="2414"/>
              <a:ext cx="16" cy="12"/>
            </a:xfrm>
            <a:custGeom>
              <a:avLst/>
              <a:gdLst>
                <a:gd name="T0" fmla="*/ 12 w 16"/>
                <a:gd name="T1" fmla="*/ 4 h 12"/>
                <a:gd name="T2" fmla="*/ 16 w 16"/>
                <a:gd name="T3" fmla="*/ 8 h 12"/>
                <a:gd name="T4" fmla="*/ 16 w 16"/>
                <a:gd name="T5" fmla="*/ 8 h 12"/>
                <a:gd name="T6" fmla="*/ 16 w 16"/>
                <a:gd name="T7" fmla="*/ 8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8 w 16"/>
                <a:gd name="T15" fmla="*/ 12 h 12"/>
                <a:gd name="T16" fmla="*/ 8 w 16"/>
                <a:gd name="T17" fmla="*/ 12 h 12"/>
                <a:gd name="T18" fmla="*/ 8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4 w 16"/>
                <a:gd name="T33" fmla="*/ 8 h 12"/>
                <a:gd name="T34" fmla="*/ 4 w 16"/>
                <a:gd name="T35" fmla="*/ 8 h 12"/>
                <a:gd name="T36" fmla="*/ 8 w 16"/>
                <a:gd name="T37" fmla="*/ 0 h 12"/>
                <a:gd name="T38" fmla="*/ 8 w 16"/>
                <a:gd name="T39" fmla="*/ 0 h 12"/>
                <a:gd name="T40" fmla="*/ 8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4 w 16"/>
                <a:gd name="T47" fmla="*/ 0 h 12"/>
                <a:gd name="T48" fmla="*/ 8 w 16"/>
                <a:gd name="T49" fmla="*/ 0 h 12"/>
                <a:gd name="T50" fmla="*/ 8 w 16"/>
                <a:gd name="T51" fmla="*/ 0 h 12"/>
                <a:gd name="T52" fmla="*/ 12 w 16"/>
                <a:gd name="T53" fmla="*/ 0 h 12"/>
                <a:gd name="T54" fmla="*/ 12 w 16"/>
                <a:gd name="T55" fmla="*/ 0 h 12"/>
                <a:gd name="T56" fmla="*/ 16 w 16"/>
                <a:gd name="T57" fmla="*/ 0 h 12"/>
                <a:gd name="T58" fmla="*/ 16 w 16"/>
                <a:gd name="T59" fmla="*/ 4 h 12"/>
                <a:gd name="T60" fmla="*/ 16 w 16"/>
                <a:gd name="T61" fmla="*/ 4 h 12"/>
                <a:gd name="T62" fmla="*/ 16 w 16"/>
                <a:gd name="T63" fmla="*/ 4 h 12"/>
                <a:gd name="T64" fmla="*/ 12 w 16"/>
                <a:gd name="T65" fmla="*/ 4 h 12"/>
                <a:gd name="T66" fmla="*/ 8 w 16"/>
                <a:gd name="T67" fmla="*/ 0 h 12"/>
                <a:gd name="T68" fmla="*/ 8 w 16"/>
                <a:gd name="T69" fmla="*/ 4 h 12"/>
                <a:gd name="T70" fmla="*/ 8 w 16"/>
                <a:gd name="T71" fmla="*/ 4 h 12"/>
                <a:gd name="T72" fmla="*/ 12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0 h 12"/>
                <a:gd name="T84" fmla="*/ 8 w 16"/>
                <a:gd name="T85" fmla="*/ 4 h 12"/>
                <a:gd name="T86" fmla="*/ 4 w 16"/>
                <a:gd name="T87" fmla="*/ 8 h 12"/>
                <a:gd name="T88" fmla="*/ 8 w 16"/>
                <a:gd name="T89" fmla="*/ 8 h 12"/>
                <a:gd name="T90" fmla="*/ 8 w 16"/>
                <a:gd name="T91" fmla="*/ 8 h 12"/>
                <a:gd name="T92" fmla="*/ 8 w 16"/>
                <a:gd name="T93" fmla="*/ 8 h 12"/>
                <a:gd name="T94" fmla="*/ 12 w 16"/>
                <a:gd name="T95" fmla="*/ 8 h 12"/>
                <a:gd name="T96" fmla="*/ 12 w 16"/>
                <a:gd name="T97" fmla="*/ 8 h 12"/>
                <a:gd name="T98" fmla="*/ 12 w 16"/>
                <a:gd name="T99" fmla="*/ 8 h 12"/>
                <a:gd name="T100" fmla="*/ 8 w 16"/>
                <a:gd name="T101" fmla="*/ 4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2"/>
                <a:gd name="T155" fmla="*/ 16 w 16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2">
                  <a:moveTo>
                    <a:pt x="12" y="4"/>
                  </a:moveTo>
                  <a:lnTo>
                    <a:pt x="12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  <a:moveTo>
                    <a:pt x="8" y="0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close/>
                  <a:moveTo>
                    <a:pt x="8" y="4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0" name="Freeform 118"/>
            <p:cNvSpPr>
              <a:spLocks/>
            </p:cNvSpPr>
            <p:nvPr/>
          </p:nvSpPr>
          <p:spPr bwMode="auto">
            <a:xfrm>
              <a:off x="4346" y="2418"/>
              <a:ext cx="16" cy="12"/>
            </a:xfrm>
            <a:custGeom>
              <a:avLst/>
              <a:gdLst>
                <a:gd name="T0" fmla="*/ 16 w 16"/>
                <a:gd name="T1" fmla="*/ 0 h 12"/>
                <a:gd name="T2" fmla="*/ 16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6 w 16"/>
                <a:gd name="T13" fmla="*/ 4 h 12"/>
                <a:gd name="T14" fmla="*/ 16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12 w 16"/>
                <a:gd name="T31" fmla="*/ 0 h 12"/>
                <a:gd name="T32" fmla="*/ 12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8 w 16"/>
                <a:gd name="T43" fmla="*/ 8 h 12"/>
                <a:gd name="T44" fmla="*/ 8 w 16"/>
                <a:gd name="T45" fmla="*/ 8 h 12"/>
                <a:gd name="T46" fmla="*/ 8 w 16"/>
                <a:gd name="T47" fmla="*/ 8 h 12"/>
                <a:gd name="T48" fmla="*/ 12 w 16"/>
                <a:gd name="T49" fmla="*/ 8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8 h 12"/>
                <a:gd name="T56" fmla="*/ 12 w 16"/>
                <a:gd name="T57" fmla="*/ 8 h 12"/>
                <a:gd name="T58" fmla="*/ 8 w 16"/>
                <a:gd name="T59" fmla="*/ 12 h 12"/>
                <a:gd name="T60" fmla="*/ 4 w 16"/>
                <a:gd name="T61" fmla="*/ 8 h 12"/>
                <a:gd name="T62" fmla="*/ 4 w 16"/>
                <a:gd name="T63" fmla="*/ 8 h 12"/>
                <a:gd name="T64" fmla="*/ 0 w 16"/>
                <a:gd name="T65" fmla="*/ 8 h 12"/>
                <a:gd name="T66" fmla="*/ 0 w 16"/>
                <a:gd name="T67" fmla="*/ 4 h 12"/>
                <a:gd name="T68" fmla="*/ 0 w 16"/>
                <a:gd name="T69" fmla="*/ 4 h 12"/>
                <a:gd name="T70" fmla="*/ 4 w 16"/>
                <a:gd name="T71" fmla="*/ 0 h 12"/>
                <a:gd name="T72" fmla="*/ 12 w 16"/>
                <a:gd name="T73" fmla="*/ 0 h 12"/>
                <a:gd name="T74" fmla="*/ 12 w 16"/>
                <a:gd name="T75" fmla="*/ 0 h 12"/>
                <a:gd name="T76" fmla="*/ 12 w 16"/>
                <a:gd name="T77" fmla="*/ 0 h 12"/>
                <a:gd name="T78" fmla="*/ 16 w 16"/>
                <a:gd name="T79" fmla="*/ 0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1" name="Freeform 119"/>
            <p:cNvSpPr>
              <a:spLocks/>
            </p:cNvSpPr>
            <p:nvPr/>
          </p:nvSpPr>
          <p:spPr bwMode="auto">
            <a:xfrm>
              <a:off x="4448" y="2426"/>
              <a:ext cx="20" cy="15"/>
            </a:xfrm>
            <a:custGeom>
              <a:avLst/>
              <a:gdLst>
                <a:gd name="T0" fmla="*/ 12 w 20"/>
                <a:gd name="T1" fmla="*/ 8 h 15"/>
                <a:gd name="T2" fmla="*/ 16 w 20"/>
                <a:gd name="T3" fmla="*/ 12 h 15"/>
                <a:gd name="T4" fmla="*/ 16 w 20"/>
                <a:gd name="T5" fmla="*/ 12 h 15"/>
                <a:gd name="T6" fmla="*/ 16 w 20"/>
                <a:gd name="T7" fmla="*/ 12 h 15"/>
                <a:gd name="T8" fmla="*/ 12 w 20"/>
                <a:gd name="T9" fmla="*/ 15 h 15"/>
                <a:gd name="T10" fmla="*/ 4 w 20"/>
                <a:gd name="T11" fmla="*/ 15 h 15"/>
                <a:gd name="T12" fmla="*/ 4 w 20"/>
                <a:gd name="T13" fmla="*/ 15 h 15"/>
                <a:gd name="T14" fmla="*/ 0 w 20"/>
                <a:gd name="T15" fmla="*/ 15 h 15"/>
                <a:gd name="T16" fmla="*/ 0 w 20"/>
                <a:gd name="T17" fmla="*/ 12 h 15"/>
                <a:gd name="T18" fmla="*/ 0 w 20"/>
                <a:gd name="T19" fmla="*/ 12 h 15"/>
                <a:gd name="T20" fmla="*/ 0 w 20"/>
                <a:gd name="T21" fmla="*/ 12 h 15"/>
                <a:gd name="T22" fmla="*/ 0 w 20"/>
                <a:gd name="T23" fmla="*/ 12 h 15"/>
                <a:gd name="T24" fmla="*/ 0 w 20"/>
                <a:gd name="T25" fmla="*/ 12 h 15"/>
                <a:gd name="T26" fmla="*/ 4 w 20"/>
                <a:gd name="T27" fmla="*/ 12 h 15"/>
                <a:gd name="T28" fmla="*/ 8 w 20"/>
                <a:gd name="T29" fmla="*/ 12 h 15"/>
                <a:gd name="T30" fmla="*/ 8 w 20"/>
                <a:gd name="T31" fmla="*/ 12 h 15"/>
                <a:gd name="T32" fmla="*/ 8 w 20"/>
                <a:gd name="T33" fmla="*/ 12 h 15"/>
                <a:gd name="T34" fmla="*/ 12 w 20"/>
                <a:gd name="T35" fmla="*/ 12 h 15"/>
                <a:gd name="T36" fmla="*/ 12 w 20"/>
                <a:gd name="T37" fmla="*/ 12 h 15"/>
                <a:gd name="T38" fmla="*/ 12 w 20"/>
                <a:gd name="T39" fmla="*/ 12 h 15"/>
                <a:gd name="T40" fmla="*/ 8 w 20"/>
                <a:gd name="T41" fmla="*/ 8 h 15"/>
                <a:gd name="T42" fmla="*/ 8 w 20"/>
                <a:gd name="T43" fmla="*/ 8 h 15"/>
                <a:gd name="T44" fmla="*/ 8 w 20"/>
                <a:gd name="T45" fmla="*/ 8 h 15"/>
                <a:gd name="T46" fmla="*/ 8 w 20"/>
                <a:gd name="T47" fmla="*/ 8 h 15"/>
                <a:gd name="T48" fmla="*/ 8 w 20"/>
                <a:gd name="T49" fmla="*/ 8 h 15"/>
                <a:gd name="T50" fmla="*/ 8 w 20"/>
                <a:gd name="T51" fmla="*/ 8 h 15"/>
                <a:gd name="T52" fmla="*/ 8 w 20"/>
                <a:gd name="T53" fmla="*/ 8 h 15"/>
                <a:gd name="T54" fmla="*/ 8 w 20"/>
                <a:gd name="T55" fmla="*/ 8 h 15"/>
                <a:gd name="T56" fmla="*/ 12 w 20"/>
                <a:gd name="T57" fmla="*/ 8 h 15"/>
                <a:gd name="T58" fmla="*/ 12 w 20"/>
                <a:gd name="T59" fmla="*/ 4 h 15"/>
                <a:gd name="T60" fmla="*/ 12 w 20"/>
                <a:gd name="T61" fmla="*/ 4 h 15"/>
                <a:gd name="T62" fmla="*/ 12 w 20"/>
                <a:gd name="T63" fmla="*/ 4 h 15"/>
                <a:gd name="T64" fmla="*/ 12 w 20"/>
                <a:gd name="T65" fmla="*/ 4 h 15"/>
                <a:gd name="T66" fmla="*/ 12 w 20"/>
                <a:gd name="T67" fmla="*/ 4 h 15"/>
                <a:gd name="T68" fmla="*/ 8 w 20"/>
                <a:gd name="T69" fmla="*/ 4 h 15"/>
                <a:gd name="T70" fmla="*/ 8 w 20"/>
                <a:gd name="T71" fmla="*/ 4 h 15"/>
                <a:gd name="T72" fmla="*/ 8 w 20"/>
                <a:gd name="T73" fmla="*/ 4 h 15"/>
                <a:gd name="T74" fmla="*/ 8 w 20"/>
                <a:gd name="T75" fmla="*/ 4 h 15"/>
                <a:gd name="T76" fmla="*/ 8 w 20"/>
                <a:gd name="T77" fmla="*/ 0 h 15"/>
                <a:gd name="T78" fmla="*/ 8 w 20"/>
                <a:gd name="T79" fmla="*/ 0 h 15"/>
                <a:gd name="T80" fmla="*/ 8 w 20"/>
                <a:gd name="T81" fmla="*/ 0 h 15"/>
                <a:gd name="T82" fmla="*/ 16 w 20"/>
                <a:gd name="T83" fmla="*/ 0 h 15"/>
                <a:gd name="T84" fmla="*/ 16 w 20"/>
                <a:gd name="T85" fmla="*/ 0 h 15"/>
                <a:gd name="T86" fmla="*/ 16 w 20"/>
                <a:gd name="T87" fmla="*/ 4 h 15"/>
                <a:gd name="T88" fmla="*/ 20 w 20"/>
                <a:gd name="T89" fmla="*/ 4 h 15"/>
                <a:gd name="T90" fmla="*/ 20 w 20"/>
                <a:gd name="T91" fmla="*/ 4 h 15"/>
                <a:gd name="T92" fmla="*/ 16 w 20"/>
                <a:gd name="T93" fmla="*/ 8 h 15"/>
                <a:gd name="T94" fmla="*/ 12 w 20"/>
                <a:gd name="T95" fmla="*/ 8 h 1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"/>
                <a:gd name="T145" fmla="*/ 0 h 15"/>
                <a:gd name="T146" fmla="*/ 20 w 20"/>
                <a:gd name="T147" fmla="*/ 15 h 15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" h="15">
                  <a:moveTo>
                    <a:pt x="12" y="8"/>
                  </a:moveTo>
                  <a:lnTo>
                    <a:pt x="12" y="8"/>
                  </a:lnTo>
                  <a:lnTo>
                    <a:pt x="16" y="12"/>
                  </a:lnTo>
                  <a:lnTo>
                    <a:pt x="12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8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2" name="Freeform 120"/>
            <p:cNvSpPr>
              <a:spLocks noEditPoints="1"/>
            </p:cNvSpPr>
            <p:nvPr/>
          </p:nvSpPr>
          <p:spPr bwMode="auto">
            <a:xfrm>
              <a:off x="4425" y="2441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4 w 16"/>
                <a:gd name="T3" fmla="*/ 4 h 12"/>
                <a:gd name="T4" fmla="*/ 4 w 16"/>
                <a:gd name="T5" fmla="*/ 4 h 12"/>
                <a:gd name="T6" fmla="*/ 4 w 16"/>
                <a:gd name="T7" fmla="*/ 4 h 12"/>
                <a:gd name="T8" fmla="*/ 4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8 w 16"/>
                <a:gd name="T15" fmla="*/ 0 h 12"/>
                <a:gd name="T16" fmla="*/ 8 w 16"/>
                <a:gd name="T17" fmla="*/ 0 h 12"/>
                <a:gd name="T18" fmla="*/ 8 w 16"/>
                <a:gd name="T19" fmla="*/ 0 h 12"/>
                <a:gd name="T20" fmla="*/ 8 w 16"/>
                <a:gd name="T21" fmla="*/ 0 h 12"/>
                <a:gd name="T22" fmla="*/ 12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6 w 16"/>
                <a:gd name="T31" fmla="*/ 8 h 12"/>
                <a:gd name="T32" fmla="*/ 16 w 16"/>
                <a:gd name="T33" fmla="*/ 8 h 12"/>
                <a:gd name="T34" fmla="*/ 12 w 16"/>
                <a:gd name="T35" fmla="*/ 12 h 12"/>
                <a:gd name="T36" fmla="*/ 8 w 16"/>
                <a:gd name="T37" fmla="*/ 12 h 12"/>
                <a:gd name="T38" fmla="*/ 8 w 16"/>
                <a:gd name="T39" fmla="*/ 12 h 12"/>
                <a:gd name="T40" fmla="*/ 8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12 h 12"/>
                <a:gd name="T52" fmla="*/ 0 w 16"/>
                <a:gd name="T53" fmla="*/ 8 h 12"/>
                <a:gd name="T54" fmla="*/ 0 w 16"/>
                <a:gd name="T55" fmla="*/ 8 h 12"/>
                <a:gd name="T56" fmla="*/ 0 w 16"/>
                <a:gd name="T57" fmla="*/ 8 h 12"/>
                <a:gd name="T58" fmla="*/ 0 w 16"/>
                <a:gd name="T59" fmla="*/ 8 h 12"/>
                <a:gd name="T60" fmla="*/ 4 w 16"/>
                <a:gd name="T61" fmla="*/ 8 h 12"/>
                <a:gd name="T62" fmla="*/ 4 w 16"/>
                <a:gd name="T63" fmla="*/ 12 h 12"/>
                <a:gd name="T64" fmla="*/ 4 w 16"/>
                <a:gd name="T65" fmla="*/ 12 h 12"/>
                <a:gd name="T66" fmla="*/ 4 w 16"/>
                <a:gd name="T67" fmla="*/ 12 h 12"/>
                <a:gd name="T68" fmla="*/ 8 w 16"/>
                <a:gd name="T69" fmla="*/ 12 h 12"/>
                <a:gd name="T70" fmla="*/ 12 w 16"/>
                <a:gd name="T71" fmla="*/ 8 h 12"/>
                <a:gd name="T72" fmla="*/ 12 w 16"/>
                <a:gd name="T73" fmla="*/ 8 h 12"/>
                <a:gd name="T74" fmla="*/ 12 w 16"/>
                <a:gd name="T75" fmla="*/ 4 h 12"/>
                <a:gd name="T76" fmla="*/ 8 w 16"/>
                <a:gd name="T77" fmla="*/ 4 h 12"/>
                <a:gd name="T78" fmla="*/ 8 w 16"/>
                <a:gd name="T79" fmla="*/ 4 h 12"/>
                <a:gd name="T80" fmla="*/ 8 w 16"/>
                <a:gd name="T81" fmla="*/ 4 h 12"/>
                <a:gd name="T82" fmla="*/ 8 w 16"/>
                <a:gd name="T83" fmla="*/ 4 h 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2"/>
                <a:gd name="T128" fmla="*/ 16 w 16"/>
                <a:gd name="T129" fmla="*/ 12 h 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2">
                  <a:moveTo>
                    <a:pt x="4" y="8"/>
                  </a:move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close/>
                  <a:moveTo>
                    <a:pt x="8" y="4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3" name="Freeform 121"/>
            <p:cNvSpPr>
              <a:spLocks/>
            </p:cNvSpPr>
            <p:nvPr/>
          </p:nvSpPr>
          <p:spPr bwMode="auto">
            <a:xfrm>
              <a:off x="4441" y="2445"/>
              <a:ext cx="15" cy="12"/>
            </a:xfrm>
            <a:custGeom>
              <a:avLst/>
              <a:gdLst>
                <a:gd name="T0" fmla="*/ 11 w 15"/>
                <a:gd name="T1" fmla="*/ 4 h 12"/>
                <a:gd name="T2" fmla="*/ 11 w 15"/>
                <a:gd name="T3" fmla="*/ 4 h 12"/>
                <a:gd name="T4" fmla="*/ 11 w 15"/>
                <a:gd name="T5" fmla="*/ 4 h 12"/>
                <a:gd name="T6" fmla="*/ 11 w 15"/>
                <a:gd name="T7" fmla="*/ 4 h 12"/>
                <a:gd name="T8" fmla="*/ 15 w 15"/>
                <a:gd name="T9" fmla="*/ 4 h 12"/>
                <a:gd name="T10" fmla="*/ 15 w 15"/>
                <a:gd name="T11" fmla="*/ 4 h 12"/>
                <a:gd name="T12" fmla="*/ 15 w 15"/>
                <a:gd name="T13" fmla="*/ 4 h 12"/>
                <a:gd name="T14" fmla="*/ 15 w 15"/>
                <a:gd name="T15" fmla="*/ 4 h 12"/>
                <a:gd name="T16" fmla="*/ 15 w 15"/>
                <a:gd name="T17" fmla="*/ 4 h 12"/>
                <a:gd name="T18" fmla="*/ 15 w 15"/>
                <a:gd name="T19" fmla="*/ 0 h 12"/>
                <a:gd name="T20" fmla="*/ 3 w 15"/>
                <a:gd name="T21" fmla="*/ 0 h 12"/>
                <a:gd name="T22" fmla="*/ 3 w 15"/>
                <a:gd name="T23" fmla="*/ 0 h 12"/>
                <a:gd name="T24" fmla="*/ 3 w 15"/>
                <a:gd name="T25" fmla="*/ 0 h 12"/>
                <a:gd name="T26" fmla="*/ 3 w 15"/>
                <a:gd name="T27" fmla="*/ 0 h 12"/>
                <a:gd name="T28" fmla="*/ 3 w 15"/>
                <a:gd name="T29" fmla="*/ 0 h 12"/>
                <a:gd name="T30" fmla="*/ 3 w 15"/>
                <a:gd name="T31" fmla="*/ 0 h 12"/>
                <a:gd name="T32" fmla="*/ 3 w 15"/>
                <a:gd name="T33" fmla="*/ 0 h 12"/>
                <a:gd name="T34" fmla="*/ 3 w 15"/>
                <a:gd name="T35" fmla="*/ 0 h 12"/>
                <a:gd name="T36" fmla="*/ 0 w 15"/>
                <a:gd name="T37" fmla="*/ 8 h 12"/>
                <a:gd name="T38" fmla="*/ 0 w 15"/>
                <a:gd name="T39" fmla="*/ 8 h 12"/>
                <a:gd name="T40" fmla="*/ 0 w 15"/>
                <a:gd name="T41" fmla="*/ 8 h 12"/>
                <a:gd name="T42" fmla="*/ 0 w 15"/>
                <a:gd name="T43" fmla="*/ 8 h 12"/>
                <a:gd name="T44" fmla="*/ 0 w 15"/>
                <a:gd name="T45" fmla="*/ 8 h 12"/>
                <a:gd name="T46" fmla="*/ 0 w 15"/>
                <a:gd name="T47" fmla="*/ 8 h 12"/>
                <a:gd name="T48" fmla="*/ 0 w 15"/>
                <a:gd name="T49" fmla="*/ 12 h 12"/>
                <a:gd name="T50" fmla="*/ 0 w 15"/>
                <a:gd name="T51" fmla="*/ 12 h 12"/>
                <a:gd name="T52" fmla="*/ 11 w 15"/>
                <a:gd name="T53" fmla="*/ 12 h 12"/>
                <a:gd name="T54" fmla="*/ 11 w 15"/>
                <a:gd name="T55" fmla="*/ 12 h 12"/>
                <a:gd name="T56" fmla="*/ 11 w 15"/>
                <a:gd name="T57" fmla="*/ 12 h 12"/>
                <a:gd name="T58" fmla="*/ 11 w 15"/>
                <a:gd name="T59" fmla="*/ 12 h 12"/>
                <a:gd name="T60" fmla="*/ 11 w 15"/>
                <a:gd name="T61" fmla="*/ 12 h 12"/>
                <a:gd name="T62" fmla="*/ 11 w 15"/>
                <a:gd name="T63" fmla="*/ 12 h 12"/>
                <a:gd name="T64" fmla="*/ 11 w 15"/>
                <a:gd name="T65" fmla="*/ 8 h 12"/>
                <a:gd name="T66" fmla="*/ 11 w 15"/>
                <a:gd name="T67" fmla="*/ 8 h 12"/>
                <a:gd name="T68" fmla="*/ 11 w 15"/>
                <a:gd name="T69" fmla="*/ 8 h 12"/>
                <a:gd name="T70" fmla="*/ 11 w 15"/>
                <a:gd name="T71" fmla="*/ 8 h 12"/>
                <a:gd name="T72" fmla="*/ 11 w 15"/>
                <a:gd name="T73" fmla="*/ 8 h 12"/>
                <a:gd name="T74" fmla="*/ 7 w 15"/>
                <a:gd name="T75" fmla="*/ 12 h 12"/>
                <a:gd name="T76" fmla="*/ 3 w 15"/>
                <a:gd name="T77" fmla="*/ 8 h 12"/>
                <a:gd name="T78" fmla="*/ 3 w 15"/>
                <a:gd name="T79" fmla="*/ 8 h 12"/>
                <a:gd name="T80" fmla="*/ 7 w 15"/>
                <a:gd name="T81" fmla="*/ 8 h 12"/>
                <a:gd name="T82" fmla="*/ 7 w 15"/>
                <a:gd name="T83" fmla="*/ 8 h 12"/>
                <a:gd name="T84" fmla="*/ 7 w 15"/>
                <a:gd name="T85" fmla="*/ 8 h 12"/>
                <a:gd name="T86" fmla="*/ 7 w 15"/>
                <a:gd name="T87" fmla="*/ 8 h 12"/>
                <a:gd name="T88" fmla="*/ 7 w 15"/>
                <a:gd name="T89" fmla="*/ 8 h 12"/>
                <a:gd name="T90" fmla="*/ 7 w 15"/>
                <a:gd name="T91" fmla="*/ 8 h 12"/>
                <a:gd name="T92" fmla="*/ 7 w 15"/>
                <a:gd name="T93" fmla="*/ 8 h 12"/>
                <a:gd name="T94" fmla="*/ 11 w 15"/>
                <a:gd name="T95" fmla="*/ 8 h 12"/>
                <a:gd name="T96" fmla="*/ 11 w 15"/>
                <a:gd name="T97" fmla="*/ 4 h 12"/>
                <a:gd name="T98" fmla="*/ 11 w 15"/>
                <a:gd name="T99" fmla="*/ 4 h 12"/>
                <a:gd name="T100" fmla="*/ 11 w 15"/>
                <a:gd name="T101" fmla="*/ 4 h 12"/>
                <a:gd name="T102" fmla="*/ 11 w 15"/>
                <a:gd name="T103" fmla="*/ 4 h 12"/>
                <a:gd name="T104" fmla="*/ 11 w 15"/>
                <a:gd name="T105" fmla="*/ 4 h 12"/>
                <a:gd name="T106" fmla="*/ 11 w 15"/>
                <a:gd name="T107" fmla="*/ 4 h 12"/>
                <a:gd name="T108" fmla="*/ 11 w 15"/>
                <a:gd name="T109" fmla="*/ 4 h 12"/>
                <a:gd name="T110" fmla="*/ 11 w 15"/>
                <a:gd name="T111" fmla="*/ 4 h 12"/>
                <a:gd name="T112" fmla="*/ 7 w 15"/>
                <a:gd name="T113" fmla="*/ 4 h 12"/>
                <a:gd name="T114" fmla="*/ 7 w 15"/>
                <a:gd name="T115" fmla="*/ 4 h 12"/>
                <a:gd name="T116" fmla="*/ 7 w 15"/>
                <a:gd name="T117" fmla="*/ 4 h 12"/>
                <a:gd name="T118" fmla="*/ 7 w 15"/>
                <a:gd name="T119" fmla="*/ 4 h 12"/>
                <a:gd name="T120" fmla="*/ 7 w 15"/>
                <a:gd name="T121" fmla="*/ 4 h 12"/>
                <a:gd name="T122" fmla="*/ 11 w 15"/>
                <a:gd name="T123" fmla="*/ 4 h 12"/>
                <a:gd name="T124" fmla="*/ 11 w 15"/>
                <a:gd name="T125" fmla="*/ 4 h 1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2"/>
                <a:gd name="T191" fmla="*/ 15 w 15"/>
                <a:gd name="T192" fmla="*/ 12 h 1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2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3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7" y="12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4" name="Freeform 122"/>
            <p:cNvSpPr>
              <a:spLocks/>
            </p:cNvSpPr>
            <p:nvPr/>
          </p:nvSpPr>
          <p:spPr bwMode="auto">
            <a:xfrm>
              <a:off x="4456" y="2449"/>
              <a:ext cx="16" cy="12"/>
            </a:xfrm>
            <a:custGeom>
              <a:avLst/>
              <a:gdLst>
                <a:gd name="T0" fmla="*/ 8 w 16"/>
                <a:gd name="T1" fmla="*/ 0 h 12"/>
                <a:gd name="T2" fmla="*/ 4 w 16"/>
                <a:gd name="T3" fmla="*/ 4 h 12"/>
                <a:gd name="T4" fmla="*/ 8 w 16"/>
                <a:gd name="T5" fmla="*/ 4 h 12"/>
                <a:gd name="T6" fmla="*/ 8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8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8 w 16"/>
                <a:gd name="T23" fmla="*/ 8 h 12"/>
                <a:gd name="T24" fmla="*/ 8 w 16"/>
                <a:gd name="T25" fmla="*/ 8 h 12"/>
                <a:gd name="T26" fmla="*/ 8 w 16"/>
                <a:gd name="T27" fmla="*/ 8 h 12"/>
                <a:gd name="T28" fmla="*/ 8 w 16"/>
                <a:gd name="T29" fmla="*/ 8 h 12"/>
                <a:gd name="T30" fmla="*/ 8 w 16"/>
                <a:gd name="T31" fmla="*/ 8 h 12"/>
                <a:gd name="T32" fmla="*/ 8 w 16"/>
                <a:gd name="T33" fmla="*/ 8 h 12"/>
                <a:gd name="T34" fmla="*/ 8 w 16"/>
                <a:gd name="T35" fmla="*/ 8 h 12"/>
                <a:gd name="T36" fmla="*/ 8 w 16"/>
                <a:gd name="T37" fmla="*/ 8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4 w 16"/>
                <a:gd name="T49" fmla="*/ 12 h 12"/>
                <a:gd name="T50" fmla="*/ 4 w 16"/>
                <a:gd name="T51" fmla="*/ 12 h 12"/>
                <a:gd name="T52" fmla="*/ 4 w 16"/>
                <a:gd name="T53" fmla="*/ 12 h 12"/>
                <a:gd name="T54" fmla="*/ 4 w 16"/>
                <a:gd name="T55" fmla="*/ 12 h 12"/>
                <a:gd name="T56" fmla="*/ 0 w 16"/>
                <a:gd name="T57" fmla="*/ 8 h 12"/>
                <a:gd name="T58" fmla="*/ 0 w 16"/>
                <a:gd name="T59" fmla="*/ 8 h 12"/>
                <a:gd name="T60" fmla="*/ 0 w 16"/>
                <a:gd name="T61" fmla="*/ 8 h 12"/>
                <a:gd name="T62" fmla="*/ 0 w 16"/>
                <a:gd name="T63" fmla="*/ 8 h 12"/>
                <a:gd name="T64" fmla="*/ 0 w 16"/>
                <a:gd name="T65" fmla="*/ 8 h 12"/>
                <a:gd name="T66" fmla="*/ 0 w 16"/>
                <a:gd name="T67" fmla="*/ 8 h 12"/>
                <a:gd name="T68" fmla="*/ 0 w 16"/>
                <a:gd name="T69" fmla="*/ 8 h 12"/>
                <a:gd name="T70" fmla="*/ 0 w 16"/>
                <a:gd name="T71" fmla="*/ 8 h 12"/>
                <a:gd name="T72" fmla="*/ 4 w 16"/>
                <a:gd name="T73" fmla="*/ 0 h 12"/>
                <a:gd name="T74" fmla="*/ 4 w 16"/>
                <a:gd name="T75" fmla="*/ 0 h 12"/>
                <a:gd name="T76" fmla="*/ 4 w 16"/>
                <a:gd name="T77" fmla="*/ 0 h 12"/>
                <a:gd name="T78" fmla="*/ 4 w 16"/>
                <a:gd name="T79" fmla="*/ 0 h 12"/>
                <a:gd name="T80" fmla="*/ 4 w 16"/>
                <a:gd name="T81" fmla="*/ 0 h 12"/>
                <a:gd name="T82" fmla="*/ 4 w 16"/>
                <a:gd name="T83" fmla="*/ 0 h 12"/>
                <a:gd name="T84" fmla="*/ 4 w 16"/>
                <a:gd name="T85" fmla="*/ 0 h 12"/>
                <a:gd name="T86" fmla="*/ 4 w 16"/>
                <a:gd name="T87" fmla="*/ 0 h 12"/>
                <a:gd name="T88" fmla="*/ 16 w 16"/>
                <a:gd name="T89" fmla="*/ 0 h 12"/>
                <a:gd name="T90" fmla="*/ 16 w 16"/>
                <a:gd name="T91" fmla="*/ 0 h 12"/>
                <a:gd name="T92" fmla="*/ 16 w 16"/>
                <a:gd name="T93" fmla="*/ 0 h 12"/>
                <a:gd name="T94" fmla="*/ 16 w 16"/>
                <a:gd name="T95" fmla="*/ 4 h 12"/>
                <a:gd name="T96" fmla="*/ 16 w 16"/>
                <a:gd name="T97" fmla="*/ 4 h 12"/>
                <a:gd name="T98" fmla="*/ 16 w 16"/>
                <a:gd name="T99" fmla="*/ 4 h 12"/>
                <a:gd name="T100" fmla="*/ 16 w 16"/>
                <a:gd name="T101" fmla="*/ 4 h 12"/>
                <a:gd name="T102" fmla="*/ 12 w 16"/>
                <a:gd name="T103" fmla="*/ 4 h 12"/>
                <a:gd name="T104" fmla="*/ 12 w 16"/>
                <a:gd name="T105" fmla="*/ 4 h 12"/>
                <a:gd name="T106" fmla="*/ 12 w 16"/>
                <a:gd name="T107" fmla="*/ 4 h 12"/>
                <a:gd name="T108" fmla="*/ 12 w 16"/>
                <a:gd name="T109" fmla="*/ 4 h 12"/>
                <a:gd name="T110" fmla="*/ 12 w 16"/>
                <a:gd name="T111" fmla="*/ 4 h 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6"/>
                <a:gd name="T169" fmla="*/ 0 h 12"/>
                <a:gd name="T170" fmla="*/ 16 w 16"/>
                <a:gd name="T171" fmla="*/ 12 h 1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6" h="12">
                  <a:moveTo>
                    <a:pt x="12" y="4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12"/>
                  </a:lnTo>
                  <a:lnTo>
                    <a:pt x="0" y="8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5" name="Freeform 123"/>
            <p:cNvSpPr>
              <a:spLocks noEditPoints="1"/>
            </p:cNvSpPr>
            <p:nvPr/>
          </p:nvSpPr>
          <p:spPr bwMode="auto">
            <a:xfrm>
              <a:off x="4173" y="2469"/>
              <a:ext cx="15" cy="16"/>
            </a:xfrm>
            <a:custGeom>
              <a:avLst/>
              <a:gdLst>
                <a:gd name="T0" fmla="*/ 12 w 15"/>
                <a:gd name="T1" fmla="*/ 8 h 16"/>
                <a:gd name="T2" fmla="*/ 12 w 15"/>
                <a:gd name="T3" fmla="*/ 8 h 16"/>
                <a:gd name="T4" fmla="*/ 12 w 15"/>
                <a:gd name="T5" fmla="*/ 8 h 16"/>
                <a:gd name="T6" fmla="*/ 12 w 15"/>
                <a:gd name="T7" fmla="*/ 8 h 16"/>
                <a:gd name="T8" fmla="*/ 12 w 15"/>
                <a:gd name="T9" fmla="*/ 8 h 16"/>
                <a:gd name="T10" fmla="*/ 12 w 15"/>
                <a:gd name="T11" fmla="*/ 8 h 16"/>
                <a:gd name="T12" fmla="*/ 12 w 15"/>
                <a:gd name="T13" fmla="*/ 8 h 16"/>
                <a:gd name="T14" fmla="*/ 12 w 15"/>
                <a:gd name="T15" fmla="*/ 8 h 16"/>
                <a:gd name="T16" fmla="*/ 12 w 15"/>
                <a:gd name="T17" fmla="*/ 8 h 16"/>
                <a:gd name="T18" fmla="*/ 12 w 15"/>
                <a:gd name="T19" fmla="*/ 8 h 16"/>
                <a:gd name="T20" fmla="*/ 12 w 15"/>
                <a:gd name="T21" fmla="*/ 8 h 16"/>
                <a:gd name="T22" fmla="*/ 12 w 15"/>
                <a:gd name="T23" fmla="*/ 8 h 16"/>
                <a:gd name="T24" fmla="*/ 12 w 15"/>
                <a:gd name="T25" fmla="*/ 12 h 16"/>
                <a:gd name="T26" fmla="*/ 12 w 15"/>
                <a:gd name="T27" fmla="*/ 12 h 16"/>
                <a:gd name="T28" fmla="*/ 12 w 15"/>
                <a:gd name="T29" fmla="*/ 12 h 16"/>
                <a:gd name="T30" fmla="*/ 12 w 15"/>
                <a:gd name="T31" fmla="*/ 12 h 16"/>
                <a:gd name="T32" fmla="*/ 8 w 15"/>
                <a:gd name="T33" fmla="*/ 12 h 16"/>
                <a:gd name="T34" fmla="*/ 8 w 15"/>
                <a:gd name="T35" fmla="*/ 12 h 16"/>
                <a:gd name="T36" fmla="*/ 8 w 15"/>
                <a:gd name="T37" fmla="*/ 12 h 16"/>
                <a:gd name="T38" fmla="*/ 8 w 15"/>
                <a:gd name="T39" fmla="*/ 12 h 16"/>
                <a:gd name="T40" fmla="*/ 8 w 15"/>
                <a:gd name="T41" fmla="*/ 12 h 16"/>
                <a:gd name="T42" fmla="*/ 8 w 15"/>
                <a:gd name="T43" fmla="*/ 12 h 16"/>
                <a:gd name="T44" fmla="*/ 8 w 15"/>
                <a:gd name="T45" fmla="*/ 12 h 16"/>
                <a:gd name="T46" fmla="*/ 12 w 15"/>
                <a:gd name="T47" fmla="*/ 12 h 16"/>
                <a:gd name="T48" fmla="*/ 12 w 15"/>
                <a:gd name="T49" fmla="*/ 12 h 16"/>
                <a:gd name="T50" fmla="*/ 12 w 15"/>
                <a:gd name="T51" fmla="*/ 12 h 16"/>
                <a:gd name="T52" fmla="*/ 8 w 15"/>
                <a:gd name="T53" fmla="*/ 16 h 16"/>
                <a:gd name="T54" fmla="*/ 8 w 15"/>
                <a:gd name="T55" fmla="*/ 16 h 16"/>
                <a:gd name="T56" fmla="*/ 0 w 15"/>
                <a:gd name="T57" fmla="*/ 12 h 16"/>
                <a:gd name="T58" fmla="*/ 0 w 15"/>
                <a:gd name="T59" fmla="*/ 12 h 16"/>
                <a:gd name="T60" fmla="*/ 0 w 15"/>
                <a:gd name="T61" fmla="*/ 12 h 16"/>
                <a:gd name="T62" fmla="*/ 0 w 15"/>
                <a:gd name="T63" fmla="*/ 12 h 16"/>
                <a:gd name="T64" fmla="*/ 0 w 15"/>
                <a:gd name="T65" fmla="*/ 12 h 16"/>
                <a:gd name="T66" fmla="*/ 0 w 15"/>
                <a:gd name="T67" fmla="*/ 12 h 16"/>
                <a:gd name="T68" fmla="*/ 4 w 15"/>
                <a:gd name="T69" fmla="*/ 12 h 16"/>
                <a:gd name="T70" fmla="*/ 4 w 15"/>
                <a:gd name="T71" fmla="*/ 12 h 16"/>
                <a:gd name="T72" fmla="*/ 8 w 15"/>
                <a:gd name="T73" fmla="*/ 8 h 16"/>
                <a:gd name="T74" fmla="*/ 0 w 15"/>
                <a:gd name="T75" fmla="*/ 8 h 16"/>
                <a:gd name="T76" fmla="*/ 0 w 15"/>
                <a:gd name="T77" fmla="*/ 8 h 16"/>
                <a:gd name="T78" fmla="*/ 0 w 15"/>
                <a:gd name="T79" fmla="*/ 8 h 16"/>
                <a:gd name="T80" fmla="*/ 0 w 15"/>
                <a:gd name="T81" fmla="*/ 8 h 16"/>
                <a:gd name="T82" fmla="*/ 0 w 15"/>
                <a:gd name="T83" fmla="*/ 8 h 16"/>
                <a:gd name="T84" fmla="*/ 0 w 15"/>
                <a:gd name="T85" fmla="*/ 8 h 16"/>
                <a:gd name="T86" fmla="*/ 0 w 15"/>
                <a:gd name="T87" fmla="*/ 4 h 16"/>
                <a:gd name="T88" fmla="*/ 0 w 15"/>
                <a:gd name="T89" fmla="*/ 4 h 16"/>
                <a:gd name="T90" fmla="*/ 12 w 15"/>
                <a:gd name="T91" fmla="*/ 0 h 16"/>
                <a:gd name="T92" fmla="*/ 12 w 15"/>
                <a:gd name="T93" fmla="*/ 0 h 16"/>
                <a:gd name="T94" fmla="*/ 12 w 15"/>
                <a:gd name="T95" fmla="*/ 0 h 16"/>
                <a:gd name="T96" fmla="*/ 12 w 15"/>
                <a:gd name="T97" fmla="*/ 0 h 16"/>
                <a:gd name="T98" fmla="*/ 12 w 15"/>
                <a:gd name="T99" fmla="*/ 0 h 16"/>
                <a:gd name="T100" fmla="*/ 15 w 15"/>
                <a:gd name="T101" fmla="*/ 0 h 16"/>
                <a:gd name="T102" fmla="*/ 15 w 15"/>
                <a:gd name="T103" fmla="*/ 0 h 16"/>
                <a:gd name="T104" fmla="*/ 15 w 15"/>
                <a:gd name="T105" fmla="*/ 0 h 16"/>
                <a:gd name="T106" fmla="*/ 15 w 15"/>
                <a:gd name="T107" fmla="*/ 0 h 16"/>
                <a:gd name="T108" fmla="*/ 15 w 15"/>
                <a:gd name="T109" fmla="*/ 0 h 16"/>
                <a:gd name="T110" fmla="*/ 15 w 15"/>
                <a:gd name="T111" fmla="*/ 0 h 16"/>
                <a:gd name="T112" fmla="*/ 12 w 15"/>
                <a:gd name="T113" fmla="*/ 8 h 16"/>
                <a:gd name="T114" fmla="*/ 4 w 15"/>
                <a:gd name="T115" fmla="*/ 8 h 16"/>
                <a:gd name="T116" fmla="*/ 8 w 15"/>
                <a:gd name="T117" fmla="*/ 8 h 16"/>
                <a:gd name="T118" fmla="*/ 12 w 15"/>
                <a:gd name="T119" fmla="*/ 0 h 1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5"/>
                <a:gd name="T181" fmla="*/ 0 h 16"/>
                <a:gd name="T182" fmla="*/ 15 w 15"/>
                <a:gd name="T183" fmla="*/ 16 h 1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5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2" y="8"/>
                  </a:lnTo>
                  <a:close/>
                  <a:moveTo>
                    <a:pt x="12" y="0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6" name="Freeform 124"/>
            <p:cNvSpPr>
              <a:spLocks/>
            </p:cNvSpPr>
            <p:nvPr/>
          </p:nvSpPr>
          <p:spPr bwMode="auto">
            <a:xfrm>
              <a:off x="4149" y="2485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2 w 16"/>
                <a:gd name="T13" fmla="*/ 4 h 12"/>
                <a:gd name="T14" fmla="*/ 12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8 w 16"/>
                <a:gd name="T31" fmla="*/ 0 h 12"/>
                <a:gd name="T32" fmla="*/ 8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8 w 16"/>
                <a:gd name="T49" fmla="*/ 8 h 12"/>
                <a:gd name="T50" fmla="*/ 8 w 16"/>
                <a:gd name="T51" fmla="*/ 8 h 12"/>
                <a:gd name="T52" fmla="*/ 8 w 16"/>
                <a:gd name="T53" fmla="*/ 8 h 12"/>
                <a:gd name="T54" fmla="*/ 8 w 16"/>
                <a:gd name="T55" fmla="*/ 8 h 12"/>
                <a:gd name="T56" fmla="*/ 4 w 16"/>
                <a:gd name="T57" fmla="*/ 4 h 12"/>
                <a:gd name="T58" fmla="*/ 4 w 16"/>
                <a:gd name="T59" fmla="*/ 4 h 12"/>
                <a:gd name="T60" fmla="*/ 4 w 16"/>
                <a:gd name="T61" fmla="*/ 4 h 12"/>
                <a:gd name="T62" fmla="*/ 8 w 16"/>
                <a:gd name="T63" fmla="*/ 4 h 12"/>
                <a:gd name="T64" fmla="*/ 8 w 16"/>
                <a:gd name="T65" fmla="*/ 4 h 12"/>
                <a:gd name="T66" fmla="*/ 12 w 16"/>
                <a:gd name="T67" fmla="*/ 4 h 12"/>
                <a:gd name="T68" fmla="*/ 12 w 16"/>
                <a:gd name="T69" fmla="*/ 4 h 12"/>
                <a:gd name="T70" fmla="*/ 12 w 16"/>
                <a:gd name="T71" fmla="*/ 4 h 12"/>
                <a:gd name="T72" fmla="*/ 12 w 16"/>
                <a:gd name="T73" fmla="*/ 8 h 12"/>
                <a:gd name="T74" fmla="*/ 12 w 16"/>
                <a:gd name="T75" fmla="*/ 8 h 12"/>
                <a:gd name="T76" fmla="*/ 12 w 16"/>
                <a:gd name="T77" fmla="*/ 8 h 12"/>
                <a:gd name="T78" fmla="*/ 12 w 16"/>
                <a:gd name="T79" fmla="*/ 8 h 12"/>
                <a:gd name="T80" fmla="*/ 12 w 16"/>
                <a:gd name="T81" fmla="*/ 8 h 12"/>
                <a:gd name="T82" fmla="*/ 8 w 16"/>
                <a:gd name="T83" fmla="*/ 8 h 12"/>
                <a:gd name="T84" fmla="*/ 8 w 16"/>
                <a:gd name="T85" fmla="*/ 8 h 12"/>
                <a:gd name="T86" fmla="*/ 8 w 16"/>
                <a:gd name="T87" fmla="*/ 8 h 12"/>
                <a:gd name="T88" fmla="*/ 8 w 16"/>
                <a:gd name="T89" fmla="*/ 8 h 12"/>
                <a:gd name="T90" fmla="*/ 8 w 16"/>
                <a:gd name="T91" fmla="*/ 12 h 12"/>
                <a:gd name="T92" fmla="*/ 8 w 16"/>
                <a:gd name="T93" fmla="*/ 12 h 12"/>
                <a:gd name="T94" fmla="*/ 4 w 16"/>
                <a:gd name="T95" fmla="*/ 12 h 12"/>
                <a:gd name="T96" fmla="*/ 4 w 16"/>
                <a:gd name="T97" fmla="*/ 8 h 12"/>
                <a:gd name="T98" fmla="*/ 4 w 16"/>
                <a:gd name="T99" fmla="*/ 8 h 12"/>
                <a:gd name="T100" fmla="*/ 0 w 16"/>
                <a:gd name="T101" fmla="*/ 8 h 12"/>
                <a:gd name="T102" fmla="*/ 0 w 16"/>
                <a:gd name="T103" fmla="*/ 4 h 12"/>
                <a:gd name="T104" fmla="*/ 0 w 16"/>
                <a:gd name="T105" fmla="*/ 4 h 12"/>
                <a:gd name="T106" fmla="*/ 4 w 16"/>
                <a:gd name="T107" fmla="*/ 0 h 12"/>
                <a:gd name="T108" fmla="*/ 12 w 16"/>
                <a:gd name="T109" fmla="*/ 0 h 12"/>
                <a:gd name="T110" fmla="*/ 12 w 16"/>
                <a:gd name="T111" fmla="*/ 0 h 12"/>
                <a:gd name="T112" fmla="*/ 12 w 16"/>
                <a:gd name="T113" fmla="*/ 0 h 12"/>
                <a:gd name="T114" fmla="*/ 12 w 16"/>
                <a:gd name="T115" fmla="*/ 0 h 1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"/>
                <a:gd name="T175" fmla="*/ 0 h 12"/>
                <a:gd name="T176" fmla="*/ 16 w 16"/>
                <a:gd name="T177" fmla="*/ 12 h 1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7" name="Freeform 125"/>
            <p:cNvSpPr>
              <a:spLocks/>
            </p:cNvSpPr>
            <p:nvPr/>
          </p:nvSpPr>
          <p:spPr bwMode="auto">
            <a:xfrm>
              <a:off x="4161" y="2485"/>
              <a:ext cx="16" cy="12"/>
            </a:xfrm>
            <a:custGeom>
              <a:avLst/>
              <a:gdLst>
                <a:gd name="T0" fmla="*/ 8 w 16"/>
                <a:gd name="T1" fmla="*/ 4 h 12"/>
                <a:gd name="T2" fmla="*/ 12 w 16"/>
                <a:gd name="T3" fmla="*/ 4 h 12"/>
                <a:gd name="T4" fmla="*/ 12 w 16"/>
                <a:gd name="T5" fmla="*/ 4 h 12"/>
                <a:gd name="T6" fmla="*/ 8 w 16"/>
                <a:gd name="T7" fmla="*/ 0 h 12"/>
                <a:gd name="T8" fmla="*/ 8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4 w 16"/>
                <a:gd name="T15" fmla="*/ 4 h 12"/>
                <a:gd name="T16" fmla="*/ 4 w 16"/>
                <a:gd name="T17" fmla="*/ 4 h 12"/>
                <a:gd name="T18" fmla="*/ 0 w 16"/>
                <a:gd name="T19" fmla="*/ 8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12 h 12"/>
                <a:gd name="T26" fmla="*/ 0 w 16"/>
                <a:gd name="T27" fmla="*/ 12 h 12"/>
                <a:gd name="T28" fmla="*/ 0 w 16"/>
                <a:gd name="T29" fmla="*/ 12 h 12"/>
                <a:gd name="T30" fmla="*/ 4 w 16"/>
                <a:gd name="T31" fmla="*/ 12 h 12"/>
                <a:gd name="T32" fmla="*/ 4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8 h 12"/>
                <a:gd name="T42" fmla="*/ 8 w 16"/>
                <a:gd name="T43" fmla="*/ 12 h 12"/>
                <a:gd name="T44" fmla="*/ 8 w 16"/>
                <a:gd name="T45" fmla="*/ 12 h 12"/>
                <a:gd name="T46" fmla="*/ 8 w 16"/>
                <a:gd name="T47" fmla="*/ 12 h 12"/>
                <a:gd name="T48" fmla="*/ 4 w 16"/>
                <a:gd name="T49" fmla="*/ 12 h 12"/>
                <a:gd name="T50" fmla="*/ 4 w 16"/>
                <a:gd name="T51" fmla="*/ 12 h 12"/>
                <a:gd name="T52" fmla="*/ 8 w 16"/>
                <a:gd name="T53" fmla="*/ 12 h 12"/>
                <a:gd name="T54" fmla="*/ 8 w 16"/>
                <a:gd name="T55" fmla="*/ 12 h 12"/>
                <a:gd name="T56" fmla="*/ 12 w 16"/>
                <a:gd name="T57" fmla="*/ 12 h 12"/>
                <a:gd name="T58" fmla="*/ 12 w 16"/>
                <a:gd name="T59" fmla="*/ 12 h 12"/>
                <a:gd name="T60" fmla="*/ 12 w 16"/>
                <a:gd name="T61" fmla="*/ 12 h 12"/>
                <a:gd name="T62" fmla="*/ 12 w 16"/>
                <a:gd name="T63" fmla="*/ 12 h 12"/>
                <a:gd name="T64" fmla="*/ 16 w 16"/>
                <a:gd name="T65" fmla="*/ 4 h 12"/>
                <a:gd name="T66" fmla="*/ 16 w 16"/>
                <a:gd name="T67" fmla="*/ 4 h 12"/>
                <a:gd name="T68" fmla="*/ 16 w 16"/>
                <a:gd name="T69" fmla="*/ 4 h 12"/>
                <a:gd name="T70" fmla="*/ 16 w 16"/>
                <a:gd name="T71" fmla="*/ 4 h 12"/>
                <a:gd name="T72" fmla="*/ 16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4 h 12"/>
                <a:gd name="T84" fmla="*/ 12 w 16"/>
                <a:gd name="T85" fmla="*/ 4 h 12"/>
                <a:gd name="T86" fmla="*/ 8 w 16"/>
                <a:gd name="T87" fmla="*/ 4 h 12"/>
                <a:gd name="T88" fmla="*/ 8 w 16"/>
                <a:gd name="T89" fmla="*/ 4 h 1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2"/>
                <a:gd name="T137" fmla="*/ 16 w 16"/>
                <a:gd name="T138" fmla="*/ 12 h 1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2">
                  <a:moveTo>
                    <a:pt x="8" y="4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8" name="Freeform 126"/>
            <p:cNvSpPr>
              <a:spLocks/>
            </p:cNvSpPr>
            <p:nvPr/>
          </p:nvSpPr>
          <p:spPr bwMode="auto">
            <a:xfrm>
              <a:off x="4173" y="2489"/>
              <a:ext cx="15" cy="12"/>
            </a:xfrm>
            <a:custGeom>
              <a:avLst/>
              <a:gdLst>
                <a:gd name="T0" fmla="*/ 8 w 15"/>
                <a:gd name="T1" fmla="*/ 12 h 12"/>
                <a:gd name="T2" fmla="*/ 12 w 15"/>
                <a:gd name="T3" fmla="*/ 12 h 12"/>
                <a:gd name="T4" fmla="*/ 12 w 15"/>
                <a:gd name="T5" fmla="*/ 12 h 12"/>
                <a:gd name="T6" fmla="*/ 12 w 15"/>
                <a:gd name="T7" fmla="*/ 12 h 12"/>
                <a:gd name="T8" fmla="*/ 12 w 15"/>
                <a:gd name="T9" fmla="*/ 12 h 12"/>
                <a:gd name="T10" fmla="*/ 12 w 15"/>
                <a:gd name="T11" fmla="*/ 12 h 12"/>
                <a:gd name="T12" fmla="*/ 12 w 15"/>
                <a:gd name="T13" fmla="*/ 12 h 12"/>
                <a:gd name="T14" fmla="*/ 8 w 15"/>
                <a:gd name="T15" fmla="*/ 12 h 12"/>
                <a:gd name="T16" fmla="*/ 4 w 15"/>
                <a:gd name="T17" fmla="*/ 12 h 12"/>
                <a:gd name="T18" fmla="*/ 4 w 15"/>
                <a:gd name="T19" fmla="*/ 12 h 12"/>
                <a:gd name="T20" fmla="*/ 0 w 15"/>
                <a:gd name="T21" fmla="*/ 12 h 12"/>
                <a:gd name="T22" fmla="*/ 0 w 15"/>
                <a:gd name="T23" fmla="*/ 8 h 12"/>
                <a:gd name="T24" fmla="*/ 0 w 15"/>
                <a:gd name="T25" fmla="*/ 8 h 12"/>
                <a:gd name="T26" fmla="*/ 4 w 15"/>
                <a:gd name="T27" fmla="*/ 8 h 12"/>
                <a:gd name="T28" fmla="*/ 4 w 15"/>
                <a:gd name="T29" fmla="*/ 8 h 12"/>
                <a:gd name="T30" fmla="*/ 4 w 15"/>
                <a:gd name="T31" fmla="*/ 8 h 12"/>
                <a:gd name="T32" fmla="*/ 12 w 15"/>
                <a:gd name="T33" fmla="*/ 4 h 12"/>
                <a:gd name="T34" fmla="*/ 8 w 15"/>
                <a:gd name="T35" fmla="*/ 4 h 12"/>
                <a:gd name="T36" fmla="*/ 8 w 15"/>
                <a:gd name="T37" fmla="*/ 4 h 12"/>
                <a:gd name="T38" fmla="*/ 8 w 15"/>
                <a:gd name="T39" fmla="*/ 0 h 12"/>
                <a:gd name="T40" fmla="*/ 8 w 15"/>
                <a:gd name="T41" fmla="*/ 0 h 12"/>
                <a:gd name="T42" fmla="*/ 8 w 15"/>
                <a:gd name="T43" fmla="*/ 0 h 12"/>
                <a:gd name="T44" fmla="*/ 8 w 15"/>
                <a:gd name="T45" fmla="*/ 0 h 12"/>
                <a:gd name="T46" fmla="*/ 8 w 15"/>
                <a:gd name="T47" fmla="*/ 0 h 12"/>
                <a:gd name="T48" fmla="*/ 15 w 15"/>
                <a:gd name="T49" fmla="*/ 4 h 12"/>
                <a:gd name="T50" fmla="*/ 15 w 15"/>
                <a:gd name="T51" fmla="*/ 4 h 12"/>
                <a:gd name="T52" fmla="*/ 15 w 15"/>
                <a:gd name="T53" fmla="*/ 4 h 12"/>
                <a:gd name="T54" fmla="*/ 15 w 15"/>
                <a:gd name="T55" fmla="*/ 4 h 12"/>
                <a:gd name="T56" fmla="*/ 15 w 15"/>
                <a:gd name="T57" fmla="*/ 4 h 12"/>
                <a:gd name="T58" fmla="*/ 15 w 15"/>
                <a:gd name="T59" fmla="*/ 4 h 12"/>
                <a:gd name="T60" fmla="*/ 15 w 15"/>
                <a:gd name="T61" fmla="*/ 4 h 12"/>
                <a:gd name="T62" fmla="*/ 12 w 15"/>
                <a:gd name="T63" fmla="*/ 4 h 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5"/>
                <a:gd name="T97" fmla="*/ 0 h 12"/>
                <a:gd name="T98" fmla="*/ 15 w 15"/>
                <a:gd name="T99" fmla="*/ 12 h 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5" h="12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09" name="Freeform 127"/>
            <p:cNvSpPr>
              <a:spLocks/>
            </p:cNvSpPr>
            <p:nvPr/>
          </p:nvSpPr>
          <p:spPr bwMode="auto">
            <a:xfrm>
              <a:off x="4283" y="2485"/>
              <a:ext cx="20" cy="20"/>
            </a:xfrm>
            <a:custGeom>
              <a:avLst/>
              <a:gdLst>
                <a:gd name="T0" fmla="*/ 8 w 20"/>
                <a:gd name="T1" fmla="*/ 8 h 20"/>
                <a:gd name="T2" fmla="*/ 8 w 20"/>
                <a:gd name="T3" fmla="*/ 8 h 20"/>
                <a:gd name="T4" fmla="*/ 12 w 20"/>
                <a:gd name="T5" fmla="*/ 8 h 20"/>
                <a:gd name="T6" fmla="*/ 12 w 20"/>
                <a:gd name="T7" fmla="*/ 8 h 20"/>
                <a:gd name="T8" fmla="*/ 12 w 20"/>
                <a:gd name="T9" fmla="*/ 8 h 20"/>
                <a:gd name="T10" fmla="*/ 16 w 20"/>
                <a:gd name="T11" fmla="*/ 12 h 20"/>
                <a:gd name="T12" fmla="*/ 16 w 20"/>
                <a:gd name="T13" fmla="*/ 16 h 20"/>
                <a:gd name="T14" fmla="*/ 16 w 20"/>
                <a:gd name="T15" fmla="*/ 16 h 20"/>
                <a:gd name="T16" fmla="*/ 12 w 20"/>
                <a:gd name="T17" fmla="*/ 20 h 20"/>
                <a:gd name="T18" fmla="*/ 4 w 20"/>
                <a:gd name="T19" fmla="*/ 20 h 20"/>
                <a:gd name="T20" fmla="*/ 4 w 20"/>
                <a:gd name="T21" fmla="*/ 20 h 20"/>
                <a:gd name="T22" fmla="*/ 0 w 20"/>
                <a:gd name="T23" fmla="*/ 16 h 20"/>
                <a:gd name="T24" fmla="*/ 0 w 20"/>
                <a:gd name="T25" fmla="*/ 16 h 20"/>
                <a:gd name="T26" fmla="*/ 0 w 20"/>
                <a:gd name="T27" fmla="*/ 16 h 20"/>
                <a:gd name="T28" fmla="*/ 0 w 20"/>
                <a:gd name="T29" fmla="*/ 12 h 20"/>
                <a:gd name="T30" fmla="*/ 4 w 20"/>
                <a:gd name="T31" fmla="*/ 12 h 20"/>
                <a:gd name="T32" fmla="*/ 4 w 20"/>
                <a:gd name="T33" fmla="*/ 12 h 20"/>
                <a:gd name="T34" fmla="*/ 4 w 20"/>
                <a:gd name="T35" fmla="*/ 16 h 20"/>
                <a:gd name="T36" fmla="*/ 8 w 20"/>
                <a:gd name="T37" fmla="*/ 16 h 20"/>
                <a:gd name="T38" fmla="*/ 8 w 20"/>
                <a:gd name="T39" fmla="*/ 16 h 20"/>
                <a:gd name="T40" fmla="*/ 8 w 20"/>
                <a:gd name="T41" fmla="*/ 16 h 20"/>
                <a:gd name="T42" fmla="*/ 12 w 20"/>
                <a:gd name="T43" fmla="*/ 12 h 20"/>
                <a:gd name="T44" fmla="*/ 12 w 20"/>
                <a:gd name="T45" fmla="*/ 12 h 20"/>
                <a:gd name="T46" fmla="*/ 12 w 20"/>
                <a:gd name="T47" fmla="*/ 12 h 20"/>
                <a:gd name="T48" fmla="*/ 12 w 20"/>
                <a:gd name="T49" fmla="*/ 12 h 20"/>
                <a:gd name="T50" fmla="*/ 12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2 h 20"/>
                <a:gd name="T58" fmla="*/ 4 w 20"/>
                <a:gd name="T59" fmla="*/ 8 h 20"/>
                <a:gd name="T60" fmla="*/ 4 w 20"/>
                <a:gd name="T61" fmla="*/ 8 h 20"/>
                <a:gd name="T62" fmla="*/ 8 w 20"/>
                <a:gd name="T63" fmla="*/ 0 h 20"/>
                <a:gd name="T64" fmla="*/ 8 w 20"/>
                <a:gd name="T65" fmla="*/ 0 h 20"/>
                <a:gd name="T66" fmla="*/ 8 w 20"/>
                <a:gd name="T67" fmla="*/ 0 h 20"/>
                <a:gd name="T68" fmla="*/ 12 w 20"/>
                <a:gd name="T69" fmla="*/ 0 h 20"/>
                <a:gd name="T70" fmla="*/ 20 w 20"/>
                <a:gd name="T71" fmla="*/ 4 h 20"/>
                <a:gd name="T72" fmla="*/ 20 w 20"/>
                <a:gd name="T73" fmla="*/ 4 h 20"/>
                <a:gd name="T74" fmla="*/ 20 w 20"/>
                <a:gd name="T75" fmla="*/ 4 h 20"/>
                <a:gd name="T76" fmla="*/ 20 w 20"/>
                <a:gd name="T77" fmla="*/ 4 h 20"/>
                <a:gd name="T78" fmla="*/ 20 w 20"/>
                <a:gd name="T79" fmla="*/ 4 h 20"/>
                <a:gd name="T80" fmla="*/ 20 w 20"/>
                <a:gd name="T81" fmla="*/ 8 h 20"/>
                <a:gd name="T82" fmla="*/ 20 w 20"/>
                <a:gd name="T83" fmla="*/ 8 h 20"/>
                <a:gd name="T84" fmla="*/ 12 w 20"/>
                <a:gd name="T85" fmla="*/ 4 h 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20"/>
                <a:gd name="T131" fmla="*/ 20 w 20"/>
                <a:gd name="T132" fmla="*/ 20 h 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20"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12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0" name="Freeform 128"/>
            <p:cNvSpPr>
              <a:spLocks/>
            </p:cNvSpPr>
            <p:nvPr/>
          </p:nvSpPr>
          <p:spPr bwMode="auto">
            <a:xfrm>
              <a:off x="4259" y="2505"/>
              <a:ext cx="20" cy="11"/>
            </a:xfrm>
            <a:custGeom>
              <a:avLst/>
              <a:gdLst>
                <a:gd name="T0" fmla="*/ 12 w 20"/>
                <a:gd name="T1" fmla="*/ 7 h 11"/>
                <a:gd name="T2" fmla="*/ 12 w 20"/>
                <a:gd name="T3" fmla="*/ 7 h 11"/>
                <a:gd name="T4" fmla="*/ 12 w 20"/>
                <a:gd name="T5" fmla="*/ 7 h 11"/>
                <a:gd name="T6" fmla="*/ 12 w 20"/>
                <a:gd name="T7" fmla="*/ 7 h 11"/>
                <a:gd name="T8" fmla="*/ 8 w 20"/>
                <a:gd name="T9" fmla="*/ 11 h 11"/>
                <a:gd name="T10" fmla="*/ 8 w 20"/>
                <a:gd name="T11" fmla="*/ 11 h 11"/>
                <a:gd name="T12" fmla="*/ 8 w 20"/>
                <a:gd name="T13" fmla="*/ 11 h 11"/>
                <a:gd name="T14" fmla="*/ 4 w 20"/>
                <a:gd name="T15" fmla="*/ 11 h 11"/>
                <a:gd name="T16" fmla="*/ 4 w 20"/>
                <a:gd name="T17" fmla="*/ 11 h 11"/>
                <a:gd name="T18" fmla="*/ 4 w 20"/>
                <a:gd name="T19" fmla="*/ 11 h 11"/>
                <a:gd name="T20" fmla="*/ 0 w 20"/>
                <a:gd name="T21" fmla="*/ 7 h 11"/>
                <a:gd name="T22" fmla="*/ 0 w 20"/>
                <a:gd name="T23" fmla="*/ 7 h 11"/>
                <a:gd name="T24" fmla="*/ 0 w 20"/>
                <a:gd name="T25" fmla="*/ 7 h 11"/>
                <a:gd name="T26" fmla="*/ 0 w 20"/>
                <a:gd name="T27" fmla="*/ 7 h 11"/>
                <a:gd name="T28" fmla="*/ 0 w 20"/>
                <a:gd name="T29" fmla="*/ 3 h 11"/>
                <a:gd name="T30" fmla="*/ 0 w 20"/>
                <a:gd name="T31" fmla="*/ 3 h 11"/>
                <a:gd name="T32" fmla="*/ 4 w 20"/>
                <a:gd name="T33" fmla="*/ 3 h 11"/>
                <a:gd name="T34" fmla="*/ 4 w 20"/>
                <a:gd name="T35" fmla="*/ 3 h 11"/>
                <a:gd name="T36" fmla="*/ 4 w 20"/>
                <a:gd name="T37" fmla="*/ 3 h 11"/>
                <a:gd name="T38" fmla="*/ 4 w 20"/>
                <a:gd name="T39" fmla="*/ 3 h 11"/>
                <a:gd name="T40" fmla="*/ 4 w 20"/>
                <a:gd name="T41" fmla="*/ 7 h 11"/>
                <a:gd name="T42" fmla="*/ 4 w 20"/>
                <a:gd name="T43" fmla="*/ 7 h 11"/>
                <a:gd name="T44" fmla="*/ 4 w 20"/>
                <a:gd name="T45" fmla="*/ 7 h 11"/>
                <a:gd name="T46" fmla="*/ 4 w 20"/>
                <a:gd name="T47" fmla="*/ 7 h 11"/>
                <a:gd name="T48" fmla="*/ 4 w 20"/>
                <a:gd name="T49" fmla="*/ 7 h 11"/>
                <a:gd name="T50" fmla="*/ 8 w 20"/>
                <a:gd name="T51" fmla="*/ 7 h 11"/>
                <a:gd name="T52" fmla="*/ 8 w 20"/>
                <a:gd name="T53" fmla="*/ 7 h 11"/>
                <a:gd name="T54" fmla="*/ 12 w 20"/>
                <a:gd name="T55" fmla="*/ 0 h 11"/>
                <a:gd name="T56" fmla="*/ 12 w 20"/>
                <a:gd name="T57" fmla="*/ 0 h 11"/>
                <a:gd name="T58" fmla="*/ 12 w 20"/>
                <a:gd name="T59" fmla="*/ 0 h 11"/>
                <a:gd name="T60" fmla="*/ 8 w 20"/>
                <a:gd name="T61" fmla="*/ 0 h 11"/>
                <a:gd name="T62" fmla="*/ 8 w 20"/>
                <a:gd name="T63" fmla="*/ 0 h 11"/>
                <a:gd name="T64" fmla="*/ 8 w 20"/>
                <a:gd name="T65" fmla="*/ 0 h 11"/>
                <a:gd name="T66" fmla="*/ 12 w 20"/>
                <a:gd name="T67" fmla="*/ 0 h 11"/>
                <a:gd name="T68" fmla="*/ 12 w 20"/>
                <a:gd name="T69" fmla="*/ 0 h 11"/>
                <a:gd name="T70" fmla="*/ 16 w 20"/>
                <a:gd name="T71" fmla="*/ 0 h 11"/>
                <a:gd name="T72" fmla="*/ 16 w 20"/>
                <a:gd name="T73" fmla="*/ 0 h 11"/>
                <a:gd name="T74" fmla="*/ 20 w 20"/>
                <a:gd name="T75" fmla="*/ 0 h 11"/>
                <a:gd name="T76" fmla="*/ 20 w 20"/>
                <a:gd name="T77" fmla="*/ 3 h 11"/>
                <a:gd name="T78" fmla="*/ 20 w 20"/>
                <a:gd name="T79" fmla="*/ 3 h 11"/>
                <a:gd name="T80" fmla="*/ 16 w 20"/>
                <a:gd name="T81" fmla="*/ 3 h 11"/>
                <a:gd name="T82" fmla="*/ 16 w 20"/>
                <a:gd name="T83" fmla="*/ 3 h 11"/>
                <a:gd name="T84" fmla="*/ 16 w 20"/>
                <a:gd name="T85" fmla="*/ 3 h 1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11"/>
                <a:gd name="T131" fmla="*/ 20 w 20"/>
                <a:gd name="T132" fmla="*/ 11 h 1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11">
                  <a:moveTo>
                    <a:pt x="16" y="3"/>
                  </a:moveTo>
                  <a:lnTo>
                    <a:pt x="12" y="7"/>
                  </a:lnTo>
                  <a:lnTo>
                    <a:pt x="8" y="11"/>
                  </a:lnTo>
                  <a:lnTo>
                    <a:pt x="4" y="11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3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0" y="3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1" name="Freeform 129"/>
            <p:cNvSpPr>
              <a:spLocks/>
            </p:cNvSpPr>
            <p:nvPr/>
          </p:nvSpPr>
          <p:spPr bwMode="auto">
            <a:xfrm>
              <a:off x="4275" y="2505"/>
              <a:ext cx="16" cy="15"/>
            </a:xfrm>
            <a:custGeom>
              <a:avLst/>
              <a:gdLst>
                <a:gd name="T0" fmla="*/ 4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6 w 16"/>
                <a:gd name="T11" fmla="*/ 3 h 15"/>
                <a:gd name="T12" fmla="*/ 16 w 16"/>
                <a:gd name="T13" fmla="*/ 3 h 15"/>
                <a:gd name="T14" fmla="*/ 16 w 16"/>
                <a:gd name="T15" fmla="*/ 3 h 15"/>
                <a:gd name="T16" fmla="*/ 16 w 16"/>
                <a:gd name="T17" fmla="*/ 7 h 15"/>
                <a:gd name="T18" fmla="*/ 16 w 16"/>
                <a:gd name="T19" fmla="*/ 7 h 15"/>
                <a:gd name="T20" fmla="*/ 16 w 16"/>
                <a:gd name="T21" fmla="*/ 7 h 15"/>
                <a:gd name="T22" fmla="*/ 8 w 16"/>
                <a:gd name="T23" fmla="*/ 7 h 15"/>
                <a:gd name="T24" fmla="*/ 12 w 16"/>
                <a:gd name="T25" fmla="*/ 11 h 15"/>
                <a:gd name="T26" fmla="*/ 12 w 16"/>
                <a:gd name="T27" fmla="*/ 11 h 15"/>
                <a:gd name="T28" fmla="*/ 12 w 16"/>
                <a:gd name="T29" fmla="*/ 11 h 15"/>
                <a:gd name="T30" fmla="*/ 12 w 16"/>
                <a:gd name="T31" fmla="*/ 11 h 15"/>
                <a:gd name="T32" fmla="*/ 12 w 16"/>
                <a:gd name="T33" fmla="*/ 15 h 15"/>
                <a:gd name="T34" fmla="*/ 12 w 16"/>
                <a:gd name="T35" fmla="*/ 15 h 15"/>
                <a:gd name="T36" fmla="*/ 8 w 16"/>
                <a:gd name="T37" fmla="*/ 15 h 15"/>
                <a:gd name="T38" fmla="*/ 8 w 16"/>
                <a:gd name="T39" fmla="*/ 15 h 15"/>
                <a:gd name="T40" fmla="*/ 8 w 16"/>
                <a:gd name="T41" fmla="*/ 11 h 15"/>
                <a:gd name="T42" fmla="*/ 8 w 16"/>
                <a:gd name="T43" fmla="*/ 11 h 15"/>
                <a:gd name="T44" fmla="*/ 8 w 16"/>
                <a:gd name="T45" fmla="*/ 11 h 15"/>
                <a:gd name="T46" fmla="*/ 4 w 16"/>
                <a:gd name="T47" fmla="*/ 7 h 15"/>
                <a:gd name="T48" fmla="*/ 4 w 16"/>
                <a:gd name="T49" fmla="*/ 11 h 15"/>
                <a:gd name="T50" fmla="*/ 4 w 16"/>
                <a:gd name="T51" fmla="*/ 11 h 15"/>
                <a:gd name="T52" fmla="*/ 4 w 16"/>
                <a:gd name="T53" fmla="*/ 11 h 15"/>
                <a:gd name="T54" fmla="*/ 4 w 16"/>
                <a:gd name="T55" fmla="*/ 11 h 15"/>
                <a:gd name="T56" fmla="*/ 4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0 w 16"/>
                <a:gd name="T65" fmla="*/ 11 h 15"/>
                <a:gd name="T66" fmla="*/ 0 w 16"/>
                <a:gd name="T67" fmla="*/ 11 h 15"/>
                <a:gd name="T68" fmla="*/ 0 w 16"/>
                <a:gd name="T69" fmla="*/ 11 h 15"/>
                <a:gd name="T70" fmla="*/ 4 w 16"/>
                <a:gd name="T71" fmla="*/ 3 h 15"/>
                <a:gd name="T72" fmla="*/ 4 w 16"/>
                <a:gd name="T73" fmla="*/ 3 h 15"/>
                <a:gd name="T74" fmla="*/ 4 w 16"/>
                <a:gd name="T75" fmla="*/ 3 h 15"/>
                <a:gd name="T76" fmla="*/ 4 w 16"/>
                <a:gd name="T77" fmla="*/ 0 h 15"/>
                <a:gd name="T78" fmla="*/ 4 w 16"/>
                <a:gd name="T79" fmla="*/ 0 h 15"/>
                <a:gd name="T80" fmla="*/ 8 w 16"/>
                <a:gd name="T81" fmla="*/ 3 h 15"/>
                <a:gd name="T82" fmla="*/ 12 w 16"/>
                <a:gd name="T83" fmla="*/ 3 h 15"/>
                <a:gd name="T84" fmla="*/ 8 w 16"/>
                <a:gd name="T85" fmla="*/ 3 h 15"/>
                <a:gd name="T86" fmla="*/ 8 w 16"/>
                <a:gd name="T87" fmla="*/ 3 h 15"/>
                <a:gd name="T88" fmla="*/ 8 w 16"/>
                <a:gd name="T89" fmla="*/ 3 h 1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5"/>
                <a:gd name="T137" fmla="*/ 16 w 16"/>
                <a:gd name="T138" fmla="*/ 15 h 1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5">
                  <a:moveTo>
                    <a:pt x="8" y="3"/>
                  </a:moveTo>
                  <a:lnTo>
                    <a:pt x="4" y="7"/>
                  </a:lnTo>
                  <a:lnTo>
                    <a:pt x="12" y="3"/>
                  </a:lnTo>
                  <a:lnTo>
                    <a:pt x="16" y="3"/>
                  </a:lnTo>
                  <a:lnTo>
                    <a:pt x="16" y="7"/>
                  </a:lnTo>
                  <a:lnTo>
                    <a:pt x="8" y="7"/>
                  </a:lnTo>
                  <a:lnTo>
                    <a:pt x="12" y="11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12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2" name="Freeform 130"/>
            <p:cNvSpPr>
              <a:spLocks/>
            </p:cNvSpPr>
            <p:nvPr/>
          </p:nvSpPr>
          <p:spPr bwMode="auto">
            <a:xfrm>
              <a:off x="4287" y="2508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12 w 16"/>
                <a:gd name="T3" fmla="*/ 12 h 16"/>
                <a:gd name="T4" fmla="*/ 12 w 16"/>
                <a:gd name="T5" fmla="*/ 12 h 16"/>
                <a:gd name="T6" fmla="*/ 12 w 16"/>
                <a:gd name="T7" fmla="*/ 12 h 16"/>
                <a:gd name="T8" fmla="*/ 16 w 16"/>
                <a:gd name="T9" fmla="*/ 12 h 16"/>
                <a:gd name="T10" fmla="*/ 16 w 16"/>
                <a:gd name="T11" fmla="*/ 12 h 16"/>
                <a:gd name="T12" fmla="*/ 16 w 16"/>
                <a:gd name="T13" fmla="*/ 12 h 16"/>
                <a:gd name="T14" fmla="*/ 16 w 16"/>
                <a:gd name="T15" fmla="*/ 12 h 16"/>
                <a:gd name="T16" fmla="*/ 16 w 16"/>
                <a:gd name="T17" fmla="*/ 12 h 16"/>
                <a:gd name="T18" fmla="*/ 16 w 16"/>
                <a:gd name="T19" fmla="*/ 16 h 16"/>
                <a:gd name="T20" fmla="*/ 16 w 16"/>
                <a:gd name="T21" fmla="*/ 16 h 16"/>
                <a:gd name="T22" fmla="*/ 12 w 16"/>
                <a:gd name="T23" fmla="*/ 16 h 16"/>
                <a:gd name="T24" fmla="*/ 12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4 w 16"/>
                <a:gd name="T39" fmla="*/ 12 h 16"/>
                <a:gd name="T40" fmla="*/ 4 w 16"/>
                <a:gd name="T41" fmla="*/ 12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8 w 16"/>
                <a:gd name="T49" fmla="*/ 4 h 16"/>
                <a:gd name="T50" fmla="*/ 8 w 16"/>
                <a:gd name="T51" fmla="*/ 0 h 16"/>
                <a:gd name="T52" fmla="*/ 8 w 16"/>
                <a:gd name="T53" fmla="*/ 0 h 16"/>
                <a:gd name="T54" fmla="*/ 8 w 16"/>
                <a:gd name="T55" fmla="*/ 0 h 16"/>
                <a:gd name="T56" fmla="*/ 8 w 16"/>
                <a:gd name="T57" fmla="*/ 0 h 16"/>
                <a:gd name="T58" fmla="*/ 12 w 16"/>
                <a:gd name="T59" fmla="*/ 4 h 16"/>
                <a:gd name="T60" fmla="*/ 12 w 16"/>
                <a:gd name="T61" fmla="*/ 4 h 16"/>
                <a:gd name="T62" fmla="*/ 16 w 16"/>
                <a:gd name="T63" fmla="*/ 4 h 16"/>
                <a:gd name="T64" fmla="*/ 16 w 16"/>
                <a:gd name="T65" fmla="*/ 4 h 16"/>
                <a:gd name="T66" fmla="*/ 16 w 16"/>
                <a:gd name="T67" fmla="*/ 4 h 16"/>
                <a:gd name="T68" fmla="*/ 12 w 16"/>
                <a:gd name="T69" fmla="*/ 4 h 16"/>
                <a:gd name="T70" fmla="*/ 12 w 16"/>
                <a:gd name="T71" fmla="*/ 4 h 16"/>
                <a:gd name="T72" fmla="*/ 12 w 16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"/>
                <a:gd name="T112" fmla="*/ 0 h 16"/>
                <a:gd name="T113" fmla="*/ 16 w 16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" h="16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3" name="Freeform 131"/>
            <p:cNvSpPr>
              <a:spLocks noEditPoints="1"/>
            </p:cNvSpPr>
            <p:nvPr/>
          </p:nvSpPr>
          <p:spPr bwMode="auto">
            <a:xfrm>
              <a:off x="4393" y="2512"/>
              <a:ext cx="24" cy="16"/>
            </a:xfrm>
            <a:custGeom>
              <a:avLst/>
              <a:gdLst>
                <a:gd name="T0" fmla="*/ 8 w 24"/>
                <a:gd name="T1" fmla="*/ 8 h 16"/>
                <a:gd name="T2" fmla="*/ 12 w 24"/>
                <a:gd name="T3" fmla="*/ 8 h 16"/>
                <a:gd name="T4" fmla="*/ 12 w 24"/>
                <a:gd name="T5" fmla="*/ 8 h 16"/>
                <a:gd name="T6" fmla="*/ 12 w 24"/>
                <a:gd name="T7" fmla="*/ 8 h 16"/>
                <a:gd name="T8" fmla="*/ 16 w 24"/>
                <a:gd name="T9" fmla="*/ 8 h 16"/>
                <a:gd name="T10" fmla="*/ 16 w 24"/>
                <a:gd name="T11" fmla="*/ 12 h 16"/>
                <a:gd name="T12" fmla="*/ 16 w 24"/>
                <a:gd name="T13" fmla="*/ 12 h 16"/>
                <a:gd name="T14" fmla="*/ 12 w 24"/>
                <a:gd name="T15" fmla="*/ 16 h 16"/>
                <a:gd name="T16" fmla="*/ 8 w 24"/>
                <a:gd name="T17" fmla="*/ 16 h 16"/>
                <a:gd name="T18" fmla="*/ 8 w 24"/>
                <a:gd name="T19" fmla="*/ 16 h 16"/>
                <a:gd name="T20" fmla="*/ 0 w 24"/>
                <a:gd name="T21" fmla="*/ 12 h 16"/>
                <a:gd name="T22" fmla="*/ 4 w 24"/>
                <a:gd name="T23" fmla="*/ 8 h 16"/>
                <a:gd name="T24" fmla="*/ 4 w 24"/>
                <a:gd name="T25" fmla="*/ 8 h 16"/>
                <a:gd name="T26" fmla="*/ 8 w 24"/>
                <a:gd name="T27" fmla="*/ 0 h 16"/>
                <a:gd name="T28" fmla="*/ 20 w 24"/>
                <a:gd name="T29" fmla="*/ 0 h 16"/>
                <a:gd name="T30" fmla="*/ 20 w 24"/>
                <a:gd name="T31" fmla="*/ 0 h 16"/>
                <a:gd name="T32" fmla="*/ 24 w 24"/>
                <a:gd name="T33" fmla="*/ 0 h 16"/>
                <a:gd name="T34" fmla="*/ 24 w 24"/>
                <a:gd name="T35" fmla="*/ 4 h 16"/>
                <a:gd name="T36" fmla="*/ 24 w 24"/>
                <a:gd name="T37" fmla="*/ 4 h 16"/>
                <a:gd name="T38" fmla="*/ 20 w 24"/>
                <a:gd name="T39" fmla="*/ 4 h 16"/>
                <a:gd name="T40" fmla="*/ 16 w 24"/>
                <a:gd name="T41" fmla="*/ 4 h 16"/>
                <a:gd name="T42" fmla="*/ 16 w 24"/>
                <a:gd name="T43" fmla="*/ 4 h 16"/>
                <a:gd name="T44" fmla="*/ 12 w 24"/>
                <a:gd name="T45" fmla="*/ 4 h 16"/>
                <a:gd name="T46" fmla="*/ 8 w 24"/>
                <a:gd name="T47" fmla="*/ 8 h 16"/>
                <a:gd name="T48" fmla="*/ 12 w 24"/>
                <a:gd name="T49" fmla="*/ 12 h 16"/>
                <a:gd name="T50" fmla="*/ 12 w 24"/>
                <a:gd name="T51" fmla="*/ 12 h 16"/>
                <a:gd name="T52" fmla="*/ 12 w 24"/>
                <a:gd name="T53" fmla="*/ 12 h 16"/>
                <a:gd name="T54" fmla="*/ 12 w 24"/>
                <a:gd name="T55" fmla="*/ 8 h 16"/>
                <a:gd name="T56" fmla="*/ 8 w 24"/>
                <a:gd name="T57" fmla="*/ 8 h 16"/>
                <a:gd name="T58" fmla="*/ 8 w 24"/>
                <a:gd name="T59" fmla="*/ 8 h 16"/>
                <a:gd name="T60" fmla="*/ 8 w 24"/>
                <a:gd name="T61" fmla="*/ 12 h 16"/>
                <a:gd name="T62" fmla="*/ 8 w 24"/>
                <a:gd name="T63" fmla="*/ 12 h 16"/>
                <a:gd name="T64" fmla="*/ 8 w 24"/>
                <a:gd name="T65" fmla="*/ 12 h 16"/>
                <a:gd name="T66" fmla="*/ 8 w 24"/>
                <a:gd name="T67" fmla="*/ 16 h 16"/>
                <a:gd name="T68" fmla="*/ 12 w 24"/>
                <a:gd name="T69" fmla="*/ 16 h 16"/>
                <a:gd name="T70" fmla="*/ 12 w 24"/>
                <a:gd name="T71" fmla="*/ 16 h 16"/>
                <a:gd name="T72" fmla="*/ 12 w 24"/>
                <a:gd name="T73" fmla="*/ 12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"/>
                <a:gd name="T112" fmla="*/ 0 h 16"/>
                <a:gd name="T113" fmla="*/ 24 w 24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" h="16">
                  <a:moveTo>
                    <a:pt x="8" y="8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close/>
                  <a:moveTo>
                    <a:pt x="12" y="12"/>
                  </a:moveTo>
                  <a:lnTo>
                    <a:pt x="12" y="12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4" name="Freeform 132"/>
            <p:cNvSpPr>
              <a:spLocks/>
            </p:cNvSpPr>
            <p:nvPr/>
          </p:nvSpPr>
          <p:spPr bwMode="auto">
            <a:xfrm>
              <a:off x="4370" y="2528"/>
              <a:ext cx="19" cy="16"/>
            </a:xfrm>
            <a:custGeom>
              <a:avLst/>
              <a:gdLst>
                <a:gd name="T0" fmla="*/ 15 w 19"/>
                <a:gd name="T1" fmla="*/ 4 h 16"/>
                <a:gd name="T2" fmla="*/ 15 w 19"/>
                <a:gd name="T3" fmla="*/ 4 h 16"/>
                <a:gd name="T4" fmla="*/ 15 w 19"/>
                <a:gd name="T5" fmla="*/ 4 h 16"/>
                <a:gd name="T6" fmla="*/ 19 w 19"/>
                <a:gd name="T7" fmla="*/ 4 h 16"/>
                <a:gd name="T8" fmla="*/ 19 w 19"/>
                <a:gd name="T9" fmla="*/ 4 h 16"/>
                <a:gd name="T10" fmla="*/ 19 w 19"/>
                <a:gd name="T11" fmla="*/ 4 h 16"/>
                <a:gd name="T12" fmla="*/ 19 w 19"/>
                <a:gd name="T13" fmla="*/ 8 h 16"/>
                <a:gd name="T14" fmla="*/ 15 w 19"/>
                <a:gd name="T15" fmla="*/ 4 h 16"/>
                <a:gd name="T16" fmla="*/ 11 w 19"/>
                <a:gd name="T17" fmla="*/ 12 h 16"/>
                <a:gd name="T18" fmla="*/ 11 w 19"/>
                <a:gd name="T19" fmla="*/ 12 h 16"/>
                <a:gd name="T20" fmla="*/ 15 w 19"/>
                <a:gd name="T21" fmla="*/ 16 h 16"/>
                <a:gd name="T22" fmla="*/ 15 w 19"/>
                <a:gd name="T23" fmla="*/ 16 h 16"/>
                <a:gd name="T24" fmla="*/ 11 w 19"/>
                <a:gd name="T25" fmla="*/ 16 h 16"/>
                <a:gd name="T26" fmla="*/ 8 w 19"/>
                <a:gd name="T27" fmla="*/ 16 h 16"/>
                <a:gd name="T28" fmla="*/ 8 w 19"/>
                <a:gd name="T29" fmla="*/ 16 h 16"/>
                <a:gd name="T30" fmla="*/ 8 w 19"/>
                <a:gd name="T31" fmla="*/ 12 h 16"/>
                <a:gd name="T32" fmla="*/ 8 w 19"/>
                <a:gd name="T33" fmla="*/ 12 h 16"/>
                <a:gd name="T34" fmla="*/ 11 w 19"/>
                <a:gd name="T35" fmla="*/ 12 h 16"/>
                <a:gd name="T36" fmla="*/ 11 w 19"/>
                <a:gd name="T37" fmla="*/ 12 h 16"/>
                <a:gd name="T38" fmla="*/ 8 w 19"/>
                <a:gd name="T39" fmla="*/ 12 h 16"/>
                <a:gd name="T40" fmla="*/ 8 w 19"/>
                <a:gd name="T41" fmla="*/ 12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8 h 16"/>
                <a:gd name="T48" fmla="*/ 8 w 19"/>
                <a:gd name="T49" fmla="*/ 4 h 16"/>
                <a:gd name="T50" fmla="*/ 4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4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12 h 16"/>
                <a:gd name="T68" fmla="*/ 0 w 19"/>
                <a:gd name="T69" fmla="*/ 12 h 16"/>
                <a:gd name="T70" fmla="*/ 4 w 19"/>
                <a:gd name="T71" fmla="*/ 4 h 16"/>
                <a:gd name="T72" fmla="*/ 4 w 19"/>
                <a:gd name="T73" fmla="*/ 4 h 16"/>
                <a:gd name="T74" fmla="*/ 4 w 19"/>
                <a:gd name="T75" fmla="*/ 4 h 16"/>
                <a:gd name="T76" fmla="*/ 4 w 19"/>
                <a:gd name="T77" fmla="*/ 0 h 16"/>
                <a:gd name="T78" fmla="*/ 4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8 h 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9"/>
                <a:gd name="T133" fmla="*/ 0 h 16"/>
                <a:gd name="T134" fmla="*/ 19 w 19"/>
                <a:gd name="T135" fmla="*/ 16 h 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9" h="16">
                  <a:moveTo>
                    <a:pt x="8" y="8"/>
                  </a:move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5" name="Freeform 133"/>
            <p:cNvSpPr>
              <a:spLocks/>
            </p:cNvSpPr>
            <p:nvPr/>
          </p:nvSpPr>
          <p:spPr bwMode="auto">
            <a:xfrm>
              <a:off x="4385" y="2532"/>
              <a:ext cx="20" cy="16"/>
            </a:xfrm>
            <a:custGeom>
              <a:avLst/>
              <a:gdLst>
                <a:gd name="T0" fmla="*/ 8 w 20"/>
                <a:gd name="T1" fmla="*/ 4 h 16"/>
                <a:gd name="T2" fmla="*/ 8 w 20"/>
                <a:gd name="T3" fmla="*/ 0 h 16"/>
                <a:gd name="T4" fmla="*/ 8 w 20"/>
                <a:gd name="T5" fmla="*/ 0 h 16"/>
                <a:gd name="T6" fmla="*/ 8 w 20"/>
                <a:gd name="T7" fmla="*/ 0 h 16"/>
                <a:gd name="T8" fmla="*/ 8 w 20"/>
                <a:gd name="T9" fmla="*/ 0 h 16"/>
                <a:gd name="T10" fmla="*/ 4 w 20"/>
                <a:gd name="T11" fmla="*/ 0 h 16"/>
                <a:gd name="T12" fmla="*/ 4 w 20"/>
                <a:gd name="T13" fmla="*/ 0 h 16"/>
                <a:gd name="T14" fmla="*/ 4 w 20"/>
                <a:gd name="T15" fmla="*/ 0 h 16"/>
                <a:gd name="T16" fmla="*/ 4 w 20"/>
                <a:gd name="T17" fmla="*/ 4 h 16"/>
                <a:gd name="T18" fmla="*/ 4 w 20"/>
                <a:gd name="T19" fmla="*/ 4 h 16"/>
                <a:gd name="T20" fmla="*/ 4 w 20"/>
                <a:gd name="T21" fmla="*/ 4 h 16"/>
                <a:gd name="T22" fmla="*/ 0 w 20"/>
                <a:gd name="T23" fmla="*/ 12 h 16"/>
                <a:gd name="T24" fmla="*/ 0 w 20"/>
                <a:gd name="T25" fmla="*/ 12 h 16"/>
                <a:gd name="T26" fmla="*/ 0 w 20"/>
                <a:gd name="T27" fmla="*/ 12 h 16"/>
                <a:gd name="T28" fmla="*/ 0 w 20"/>
                <a:gd name="T29" fmla="*/ 12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4 w 20"/>
                <a:gd name="T41" fmla="*/ 12 h 16"/>
                <a:gd name="T42" fmla="*/ 4 w 20"/>
                <a:gd name="T43" fmla="*/ 12 h 16"/>
                <a:gd name="T44" fmla="*/ 4 w 20"/>
                <a:gd name="T45" fmla="*/ 12 h 16"/>
                <a:gd name="T46" fmla="*/ 4 w 20"/>
                <a:gd name="T47" fmla="*/ 12 h 16"/>
                <a:gd name="T48" fmla="*/ 4 w 20"/>
                <a:gd name="T49" fmla="*/ 12 h 16"/>
                <a:gd name="T50" fmla="*/ 4 w 20"/>
                <a:gd name="T51" fmla="*/ 12 h 16"/>
                <a:gd name="T52" fmla="*/ 4 w 20"/>
                <a:gd name="T53" fmla="*/ 12 h 16"/>
                <a:gd name="T54" fmla="*/ 8 w 20"/>
                <a:gd name="T55" fmla="*/ 4 h 16"/>
                <a:gd name="T56" fmla="*/ 8 w 20"/>
                <a:gd name="T57" fmla="*/ 16 h 16"/>
                <a:gd name="T58" fmla="*/ 8 w 20"/>
                <a:gd name="T59" fmla="*/ 16 h 16"/>
                <a:gd name="T60" fmla="*/ 8 w 20"/>
                <a:gd name="T61" fmla="*/ 16 h 16"/>
                <a:gd name="T62" fmla="*/ 8 w 20"/>
                <a:gd name="T63" fmla="*/ 16 h 16"/>
                <a:gd name="T64" fmla="*/ 12 w 20"/>
                <a:gd name="T65" fmla="*/ 16 h 16"/>
                <a:gd name="T66" fmla="*/ 12 w 20"/>
                <a:gd name="T67" fmla="*/ 16 h 16"/>
                <a:gd name="T68" fmla="*/ 12 w 20"/>
                <a:gd name="T69" fmla="*/ 16 h 16"/>
                <a:gd name="T70" fmla="*/ 12 w 20"/>
                <a:gd name="T71" fmla="*/ 16 h 16"/>
                <a:gd name="T72" fmla="*/ 16 w 20"/>
                <a:gd name="T73" fmla="*/ 4 h 16"/>
                <a:gd name="T74" fmla="*/ 16 w 20"/>
                <a:gd name="T75" fmla="*/ 4 h 16"/>
                <a:gd name="T76" fmla="*/ 16 w 20"/>
                <a:gd name="T77" fmla="*/ 4 h 16"/>
                <a:gd name="T78" fmla="*/ 16 w 20"/>
                <a:gd name="T79" fmla="*/ 4 h 16"/>
                <a:gd name="T80" fmla="*/ 20 w 20"/>
                <a:gd name="T81" fmla="*/ 4 h 16"/>
                <a:gd name="T82" fmla="*/ 20 w 20"/>
                <a:gd name="T83" fmla="*/ 4 h 16"/>
                <a:gd name="T84" fmla="*/ 20 w 20"/>
                <a:gd name="T85" fmla="*/ 4 h 16"/>
                <a:gd name="T86" fmla="*/ 16 w 20"/>
                <a:gd name="T87" fmla="*/ 4 h 16"/>
                <a:gd name="T88" fmla="*/ 16 w 20"/>
                <a:gd name="T89" fmla="*/ 4 h 16"/>
                <a:gd name="T90" fmla="*/ 16 w 20"/>
                <a:gd name="T91" fmla="*/ 4 h 16"/>
                <a:gd name="T92" fmla="*/ 12 w 20"/>
                <a:gd name="T93" fmla="*/ 4 h 16"/>
                <a:gd name="T94" fmla="*/ 12 w 20"/>
                <a:gd name="T95" fmla="*/ 4 h 16"/>
                <a:gd name="T96" fmla="*/ 12 w 20"/>
                <a:gd name="T97" fmla="*/ 4 h 16"/>
                <a:gd name="T98" fmla="*/ 12 w 20"/>
                <a:gd name="T99" fmla="*/ 4 h 16"/>
                <a:gd name="T100" fmla="*/ 12 w 20"/>
                <a:gd name="T101" fmla="*/ 4 h 16"/>
                <a:gd name="T102" fmla="*/ 12 w 20"/>
                <a:gd name="T103" fmla="*/ 4 h 16"/>
                <a:gd name="T104" fmla="*/ 12 w 20"/>
                <a:gd name="T105" fmla="*/ 12 h 16"/>
                <a:gd name="T106" fmla="*/ 8 w 20"/>
                <a:gd name="T107" fmla="*/ 4 h 1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0"/>
                <a:gd name="T163" fmla="*/ 0 h 16"/>
                <a:gd name="T164" fmla="*/ 20 w 20"/>
                <a:gd name="T165" fmla="*/ 16 h 1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0" h="16">
                  <a:moveTo>
                    <a:pt x="8" y="4"/>
                  </a:move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1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6" name="Freeform 134"/>
            <p:cNvSpPr>
              <a:spLocks noEditPoints="1"/>
            </p:cNvSpPr>
            <p:nvPr/>
          </p:nvSpPr>
          <p:spPr bwMode="auto">
            <a:xfrm>
              <a:off x="4401" y="2536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4 h 12"/>
                <a:gd name="T6" fmla="*/ 16 w 16"/>
                <a:gd name="T7" fmla="*/ 4 h 12"/>
                <a:gd name="T8" fmla="*/ 16 w 16"/>
                <a:gd name="T9" fmla="*/ 4 h 12"/>
                <a:gd name="T10" fmla="*/ 16 w 16"/>
                <a:gd name="T11" fmla="*/ 8 h 12"/>
                <a:gd name="T12" fmla="*/ 16 w 16"/>
                <a:gd name="T13" fmla="*/ 8 h 12"/>
                <a:gd name="T14" fmla="*/ 16 w 16"/>
                <a:gd name="T15" fmla="*/ 8 h 12"/>
                <a:gd name="T16" fmla="*/ 12 w 16"/>
                <a:gd name="T17" fmla="*/ 12 h 12"/>
                <a:gd name="T18" fmla="*/ 12 w 16"/>
                <a:gd name="T19" fmla="*/ 12 h 12"/>
                <a:gd name="T20" fmla="*/ 12 w 16"/>
                <a:gd name="T21" fmla="*/ 12 h 12"/>
                <a:gd name="T22" fmla="*/ 4 w 16"/>
                <a:gd name="T23" fmla="*/ 12 h 12"/>
                <a:gd name="T24" fmla="*/ 4 w 16"/>
                <a:gd name="T25" fmla="*/ 12 h 12"/>
                <a:gd name="T26" fmla="*/ 4 w 16"/>
                <a:gd name="T27" fmla="*/ 12 h 12"/>
                <a:gd name="T28" fmla="*/ 0 w 16"/>
                <a:gd name="T29" fmla="*/ 12 h 12"/>
                <a:gd name="T30" fmla="*/ 0 w 16"/>
                <a:gd name="T31" fmla="*/ 12 h 12"/>
                <a:gd name="T32" fmla="*/ 0 w 16"/>
                <a:gd name="T33" fmla="*/ 12 h 12"/>
                <a:gd name="T34" fmla="*/ 0 w 16"/>
                <a:gd name="T35" fmla="*/ 4 h 12"/>
                <a:gd name="T36" fmla="*/ 0 w 16"/>
                <a:gd name="T37" fmla="*/ 4 h 12"/>
                <a:gd name="T38" fmla="*/ 0 w 16"/>
                <a:gd name="T39" fmla="*/ 4 h 12"/>
                <a:gd name="T40" fmla="*/ 4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12 w 16"/>
                <a:gd name="T47" fmla="*/ 0 h 12"/>
                <a:gd name="T48" fmla="*/ 12 w 16"/>
                <a:gd name="T49" fmla="*/ 0 h 12"/>
                <a:gd name="T50" fmla="*/ 12 w 16"/>
                <a:gd name="T51" fmla="*/ 4 h 12"/>
                <a:gd name="T52" fmla="*/ 12 w 16"/>
                <a:gd name="T53" fmla="*/ 4 h 12"/>
                <a:gd name="T54" fmla="*/ 8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4 w 16"/>
                <a:gd name="T61" fmla="*/ 8 h 12"/>
                <a:gd name="T62" fmla="*/ 4 w 16"/>
                <a:gd name="T63" fmla="*/ 8 h 12"/>
                <a:gd name="T64" fmla="*/ 4 w 16"/>
                <a:gd name="T65" fmla="*/ 8 h 12"/>
                <a:gd name="T66" fmla="*/ 4 w 16"/>
                <a:gd name="T67" fmla="*/ 8 h 12"/>
                <a:gd name="T68" fmla="*/ 4 w 16"/>
                <a:gd name="T69" fmla="*/ 8 h 12"/>
                <a:gd name="T70" fmla="*/ 4 w 16"/>
                <a:gd name="T71" fmla="*/ 8 h 12"/>
                <a:gd name="T72" fmla="*/ 8 w 16"/>
                <a:gd name="T73" fmla="*/ 12 h 12"/>
                <a:gd name="T74" fmla="*/ 8 w 16"/>
                <a:gd name="T75" fmla="*/ 12 h 12"/>
                <a:gd name="T76" fmla="*/ 8 w 16"/>
                <a:gd name="T77" fmla="*/ 12 h 12"/>
                <a:gd name="T78" fmla="*/ 8 w 16"/>
                <a:gd name="T79" fmla="*/ 12 h 12"/>
                <a:gd name="T80" fmla="*/ 8 w 16"/>
                <a:gd name="T81" fmla="*/ 12 h 12"/>
                <a:gd name="T82" fmla="*/ 8 w 16"/>
                <a:gd name="T83" fmla="*/ 12 h 12"/>
                <a:gd name="T84" fmla="*/ 12 w 16"/>
                <a:gd name="T85" fmla="*/ 8 h 12"/>
                <a:gd name="T86" fmla="*/ 12 w 16"/>
                <a:gd name="T87" fmla="*/ 8 h 12"/>
                <a:gd name="T88" fmla="*/ 12 w 16"/>
                <a:gd name="T89" fmla="*/ 8 h 12"/>
                <a:gd name="T90" fmla="*/ 12 w 16"/>
                <a:gd name="T91" fmla="*/ 4 h 12"/>
                <a:gd name="T92" fmla="*/ 12 w 16"/>
                <a:gd name="T93" fmla="*/ 4 h 12"/>
                <a:gd name="T94" fmla="*/ 12 w 16"/>
                <a:gd name="T95" fmla="*/ 4 h 12"/>
                <a:gd name="T96" fmla="*/ 12 w 16"/>
                <a:gd name="T97" fmla="*/ 4 h 12"/>
                <a:gd name="T98" fmla="*/ 12 w 16"/>
                <a:gd name="T99" fmla="*/ 4 h 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6"/>
                <a:gd name="T151" fmla="*/ 0 h 12"/>
                <a:gd name="T152" fmla="*/ 16 w 16"/>
                <a:gd name="T153" fmla="*/ 12 h 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7" name="Freeform 135"/>
            <p:cNvSpPr>
              <a:spLocks/>
            </p:cNvSpPr>
            <p:nvPr/>
          </p:nvSpPr>
          <p:spPr bwMode="auto">
            <a:xfrm>
              <a:off x="4114" y="2556"/>
              <a:ext cx="19" cy="19"/>
            </a:xfrm>
            <a:custGeom>
              <a:avLst/>
              <a:gdLst>
                <a:gd name="T0" fmla="*/ 4 w 19"/>
                <a:gd name="T1" fmla="*/ 19 h 19"/>
                <a:gd name="T2" fmla="*/ 4 w 19"/>
                <a:gd name="T3" fmla="*/ 19 h 19"/>
                <a:gd name="T4" fmla="*/ 4 w 19"/>
                <a:gd name="T5" fmla="*/ 19 h 19"/>
                <a:gd name="T6" fmla="*/ 0 w 19"/>
                <a:gd name="T7" fmla="*/ 19 h 19"/>
                <a:gd name="T8" fmla="*/ 0 w 19"/>
                <a:gd name="T9" fmla="*/ 15 h 19"/>
                <a:gd name="T10" fmla="*/ 0 w 19"/>
                <a:gd name="T11" fmla="*/ 15 h 19"/>
                <a:gd name="T12" fmla="*/ 0 w 19"/>
                <a:gd name="T13" fmla="*/ 15 h 19"/>
                <a:gd name="T14" fmla="*/ 0 w 19"/>
                <a:gd name="T15" fmla="*/ 15 h 19"/>
                <a:gd name="T16" fmla="*/ 0 w 19"/>
                <a:gd name="T17" fmla="*/ 15 h 19"/>
                <a:gd name="T18" fmla="*/ 0 w 19"/>
                <a:gd name="T19" fmla="*/ 15 h 19"/>
                <a:gd name="T20" fmla="*/ 0 w 19"/>
                <a:gd name="T21" fmla="*/ 15 h 19"/>
                <a:gd name="T22" fmla="*/ 11 w 19"/>
                <a:gd name="T23" fmla="*/ 4 h 19"/>
                <a:gd name="T24" fmla="*/ 7 w 19"/>
                <a:gd name="T25" fmla="*/ 4 h 19"/>
                <a:gd name="T26" fmla="*/ 7 w 19"/>
                <a:gd name="T27" fmla="*/ 4 h 19"/>
                <a:gd name="T28" fmla="*/ 7 w 19"/>
                <a:gd name="T29" fmla="*/ 4 h 19"/>
                <a:gd name="T30" fmla="*/ 4 w 19"/>
                <a:gd name="T31" fmla="*/ 4 h 19"/>
                <a:gd name="T32" fmla="*/ 4 w 19"/>
                <a:gd name="T33" fmla="*/ 4 h 19"/>
                <a:gd name="T34" fmla="*/ 4 w 19"/>
                <a:gd name="T35" fmla="*/ 4 h 19"/>
                <a:gd name="T36" fmla="*/ 4 w 19"/>
                <a:gd name="T37" fmla="*/ 4 h 19"/>
                <a:gd name="T38" fmla="*/ 4 w 19"/>
                <a:gd name="T39" fmla="*/ 4 h 19"/>
                <a:gd name="T40" fmla="*/ 4 w 19"/>
                <a:gd name="T41" fmla="*/ 4 h 19"/>
                <a:gd name="T42" fmla="*/ 4 w 19"/>
                <a:gd name="T43" fmla="*/ 4 h 19"/>
                <a:gd name="T44" fmla="*/ 4 w 19"/>
                <a:gd name="T45" fmla="*/ 4 h 19"/>
                <a:gd name="T46" fmla="*/ 4 w 19"/>
                <a:gd name="T47" fmla="*/ 0 h 19"/>
                <a:gd name="T48" fmla="*/ 4 w 19"/>
                <a:gd name="T49" fmla="*/ 0 h 19"/>
                <a:gd name="T50" fmla="*/ 7 w 19"/>
                <a:gd name="T51" fmla="*/ 0 h 19"/>
                <a:gd name="T52" fmla="*/ 7 w 19"/>
                <a:gd name="T53" fmla="*/ 0 h 19"/>
                <a:gd name="T54" fmla="*/ 19 w 19"/>
                <a:gd name="T55" fmla="*/ 4 h 19"/>
                <a:gd name="T56" fmla="*/ 19 w 19"/>
                <a:gd name="T57" fmla="*/ 4 h 19"/>
                <a:gd name="T58" fmla="*/ 19 w 19"/>
                <a:gd name="T59" fmla="*/ 4 h 19"/>
                <a:gd name="T60" fmla="*/ 19 w 19"/>
                <a:gd name="T61" fmla="*/ 4 h 19"/>
                <a:gd name="T62" fmla="*/ 19 w 19"/>
                <a:gd name="T63" fmla="*/ 4 h 1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"/>
                <a:gd name="T97" fmla="*/ 0 h 19"/>
                <a:gd name="T98" fmla="*/ 19 w 19"/>
                <a:gd name="T99" fmla="*/ 19 h 1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" h="19">
                  <a:moveTo>
                    <a:pt x="19" y="4"/>
                  </a:move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11" y="4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7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8" name="Freeform 136"/>
            <p:cNvSpPr>
              <a:spLocks noEditPoints="1"/>
            </p:cNvSpPr>
            <p:nvPr/>
          </p:nvSpPr>
          <p:spPr bwMode="auto">
            <a:xfrm>
              <a:off x="4078" y="2571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8 w 16"/>
                <a:gd name="T3" fmla="*/ 12 h 12"/>
                <a:gd name="T4" fmla="*/ 8 w 16"/>
                <a:gd name="T5" fmla="*/ 12 h 12"/>
                <a:gd name="T6" fmla="*/ 8 w 16"/>
                <a:gd name="T7" fmla="*/ 12 h 12"/>
                <a:gd name="T8" fmla="*/ 8 w 16"/>
                <a:gd name="T9" fmla="*/ 12 h 12"/>
                <a:gd name="T10" fmla="*/ 8 w 16"/>
                <a:gd name="T11" fmla="*/ 12 h 12"/>
                <a:gd name="T12" fmla="*/ 8 w 16"/>
                <a:gd name="T13" fmla="*/ 12 h 12"/>
                <a:gd name="T14" fmla="*/ 4 w 16"/>
                <a:gd name="T15" fmla="*/ 12 h 12"/>
                <a:gd name="T16" fmla="*/ 0 w 16"/>
                <a:gd name="T17" fmla="*/ 12 h 12"/>
                <a:gd name="T18" fmla="*/ 0 w 16"/>
                <a:gd name="T19" fmla="*/ 12 h 12"/>
                <a:gd name="T20" fmla="*/ 0 w 16"/>
                <a:gd name="T21" fmla="*/ 12 h 12"/>
                <a:gd name="T22" fmla="*/ 0 w 16"/>
                <a:gd name="T23" fmla="*/ 12 h 12"/>
                <a:gd name="T24" fmla="*/ 0 w 16"/>
                <a:gd name="T25" fmla="*/ 12 h 12"/>
                <a:gd name="T26" fmla="*/ 0 w 16"/>
                <a:gd name="T27" fmla="*/ 12 h 12"/>
                <a:gd name="T28" fmla="*/ 4 w 16"/>
                <a:gd name="T29" fmla="*/ 12 h 12"/>
                <a:gd name="T30" fmla="*/ 4 w 16"/>
                <a:gd name="T31" fmla="*/ 12 h 12"/>
                <a:gd name="T32" fmla="*/ 8 w 16"/>
                <a:gd name="T33" fmla="*/ 4 h 12"/>
                <a:gd name="T34" fmla="*/ 8 w 16"/>
                <a:gd name="T35" fmla="*/ 4 h 12"/>
                <a:gd name="T36" fmla="*/ 8 w 16"/>
                <a:gd name="T37" fmla="*/ 4 h 12"/>
                <a:gd name="T38" fmla="*/ 8 w 16"/>
                <a:gd name="T39" fmla="*/ 4 h 12"/>
                <a:gd name="T40" fmla="*/ 8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8 h 12"/>
                <a:gd name="T56" fmla="*/ 16 w 16"/>
                <a:gd name="T57" fmla="*/ 8 h 12"/>
                <a:gd name="T58" fmla="*/ 16 w 16"/>
                <a:gd name="T59" fmla="*/ 8 h 12"/>
                <a:gd name="T60" fmla="*/ 8 w 16"/>
                <a:gd name="T61" fmla="*/ 8 h 12"/>
                <a:gd name="T62" fmla="*/ 8 w 16"/>
                <a:gd name="T63" fmla="*/ 8 h 12"/>
                <a:gd name="T64" fmla="*/ 8 w 16"/>
                <a:gd name="T65" fmla="*/ 8 h 12"/>
                <a:gd name="T66" fmla="*/ 12 w 16"/>
                <a:gd name="T67" fmla="*/ 8 h 12"/>
                <a:gd name="T68" fmla="*/ 12 w 16"/>
                <a:gd name="T69" fmla="*/ 8 h 12"/>
                <a:gd name="T70" fmla="*/ 12 w 16"/>
                <a:gd name="T71" fmla="*/ 8 h 12"/>
                <a:gd name="T72" fmla="*/ 16 w 16"/>
                <a:gd name="T73" fmla="*/ 8 h 12"/>
                <a:gd name="T74" fmla="*/ 16 w 16"/>
                <a:gd name="T75" fmla="*/ 8 h 12"/>
                <a:gd name="T76" fmla="*/ 16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6"/>
                <a:gd name="T124" fmla="*/ 0 h 12"/>
                <a:gd name="T125" fmla="*/ 16 w 16"/>
                <a:gd name="T126" fmla="*/ 12 h 1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6" h="12">
                  <a:moveTo>
                    <a:pt x="8" y="8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8" y="8"/>
                  </a:lnTo>
                  <a:close/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19" name="Freeform 137"/>
            <p:cNvSpPr>
              <a:spLocks noEditPoints="1"/>
            </p:cNvSpPr>
            <p:nvPr/>
          </p:nvSpPr>
          <p:spPr bwMode="auto">
            <a:xfrm>
              <a:off x="4090" y="2575"/>
              <a:ext cx="20" cy="16"/>
            </a:xfrm>
            <a:custGeom>
              <a:avLst/>
              <a:gdLst>
                <a:gd name="T0" fmla="*/ 4 w 20"/>
                <a:gd name="T1" fmla="*/ 12 h 16"/>
                <a:gd name="T2" fmla="*/ 4 w 20"/>
                <a:gd name="T3" fmla="*/ 12 h 16"/>
                <a:gd name="T4" fmla="*/ 8 w 20"/>
                <a:gd name="T5" fmla="*/ 12 h 16"/>
                <a:gd name="T6" fmla="*/ 8 w 20"/>
                <a:gd name="T7" fmla="*/ 16 h 16"/>
                <a:gd name="T8" fmla="*/ 8 w 20"/>
                <a:gd name="T9" fmla="*/ 16 h 16"/>
                <a:gd name="T10" fmla="*/ 8 w 20"/>
                <a:gd name="T11" fmla="*/ 16 h 16"/>
                <a:gd name="T12" fmla="*/ 12 w 20"/>
                <a:gd name="T13" fmla="*/ 16 h 16"/>
                <a:gd name="T14" fmla="*/ 12 w 20"/>
                <a:gd name="T15" fmla="*/ 16 h 16"/>
                <a:gd name="T16" fmla="*/ 12 w 20"/>
                <a:gd name="T17" fmla="*/ 16 h 16"/>
                <a:gd name="T18" fmla="*/ 12 w 20"/>
                <a:gd name="T19" fmla="*/ 16 h 16"/>
                <a:gd name="T20" fmla="*/ 12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12 w 20"/>
                <a:gd name="T27" fmla="*/ 16 h 16"/>
                <a:gd name="T28" fmla="*/ 12 w 20"/>
                <a:gd name="T29" fmla="*/ 16 h 16"/>
                <a:gd name="T30" fmla="*/ 8 w 20"/>
                <a:gd name="T31" fmla="*/ 16 h 16"/>
                <a:gd name="T32" fmla="*/ 8 w 20"/>
                <a:gd name="T33" fmla="*/ 16 h 16"/>
                <a:gd name="T34" fmla="*/ 8 w 20"/>
                <a:gd name="T35" fmla="*/ 16 h 16"/>
                <a:gd name="T36" fmla="*/ 8 w 20"/>
                <a:gd name="T37" fmla="*/ 16 h 16"/>
                <a:gd name="T38" fmla="*/ 8 w 20"/>
                <a:gd name="T39" fmla="*/ 16 h 16"/>
                <a:gd name="T40" fmla="*/ 4 w 20"/>
                <a:gd name="T41" fmla="*/ 16 h 16"/>
                <a:gd name="T42" fmla="*/ 4 w 20"/>
                <a:gd name="T43" fmla="*/ 16 h 16"/>
                <a:gd name="T44" fmla="*/ 4 w 20"/>
                <a:gd name="T45" fmla="*/ 16 h 16"/>
                <a:gd name="T46" fmla="*/ 0 w 20"/>
                <a:gd name="T47" fmla="*/ 16 h 16"/>
                <a:gd name="T48" fmla="*/ 4 w 20"/>
                <a:gd name="T49" fmla="*/ 16 h 16"/>
                <a:gd name="T50" fmla="*/ 4 w 20"/>
                <a:gd name="T51" fmla="*/ 16 h 16"/>
                <a:gd name="T52" fmla="*/ 4 w 20"/>
                <a:gd name="T53" fmla="*/ 12 h 16"/>
                <a:gd name="T54" fmla="*/ 4 w 20"/>
                <a:gd name="T55" fmla="*/ 12 h 16"/>
                <a:gd name="T56" fmla="*/ 4 w 20"/>
                <a:gd name="T57" fmla="*/ 12 h 16"/>
                <a:gd name="T58" fmla="*/ 4 w 20"/>
                <a:gd name="T59" fmla="*/ 12 h 16"/>
                <a:gd name="T60" fmla="*/ 4 w 20"/>
                <a:gd name="T61" fmla="*/ 8 h 16"/>
                <a:gd name="T62" fmla="*/ 4 w 20"/>
                <a:gd name="T63" fmla="*/ 4 h 16"/>
                <a:gd name="T64" fmla="*/ 4 w 20"/>
                <a:gd name="T65" fmla="*/ 4 h 16"/>
                <a:gd name="T66" fmla="*/ 12 w 20"/>
                <a:gd name="T67" fmla="*/ 0 h 16"/>
                <a:gd name="T68" fmla="*/ 16 w 20"/>
                <a:gd name="T69" fmla="*/ 0 h 16"/>
                <a:gd name="T70" fmla="*/ 16 w 20"/>
                <a:gd name="T71" fmla="*/ 0 h 16"/>
                <a:gd name="T72" fmla="*/ 20 w 20"/>
                <a:gd name="T73" fmla="*/ 4 h 16"/>
                <a:gd name="T74" fmla="*/ 20 w 20"/>
                <a:gd name="T75" fmla="*/ 8 h 16"/>
                <a:gd name="T76" fmla="*/ 20 w 20"/>
                <a:gd name="T77" fmla="*/ 8 h 16"/>
                <a:gd name="T78" fmla="*/ 12 w 20"/>
                <a:gd name="T79" fmla="*/ 12 h 16"/>
                <a:gd name="T80" fmla="*/ 8 w 20"/>
                <a:gd name="T81" fmla="*/ 12 h 16"/>
                <a:gd name="T82" fmla="*/ 8 w 20"/>
                <a:gd name="T83" fmla="*/ 12 h 16"/>
                <a:gd name="T84" fmla="*/ 8 w 20"/>
                <a:gd name="T85" fmla="*/ 12 h 16"/>
                <a:gd name="T86" fmla="*/ 8 w 20"/>
                <a:gd name="T87" fmla="*/ 12 h 16"/>
                <a:gd name="T88" fmla="*/ 16 w 20"/>
                <a:gd name="T89" fmla="*/ 4 h 16"/>
                <a:gd name="T90" fmla="*/ 12 w 20"/>
                <a:gd name="T91" fmla="*/ 4 h 16"/>
                <a:gd name="T92" fmla="*/ 12 w 20"/>
                <a:gd name="T93" fmla="*/ 4 h 16"/>
                <a:gd name="T94" fmla="*/ 8 w 20"/>
                <a:gd name="T95" fmla="*/ 8 h 16"/>
                <a:gd name="T96" fmla="*/ 8 w 20"/>
                <a:gd name="T97" fmla="*/ 8 h 16"/>
                <a:gd name="T98" fmla="*/ 8 w 20"/>
                <a:gd name="T99" fmla="*/ 8 h 16"/>
                <a:gd name="T100" fmla="*/ 8 w 20"/>
                <a:gd name="T101" fmla="*/ 12 h 16"/>
                <a:gd name="T102" fmla="*/ 12 w 20"/>
                <a:gd name="T103" fmla="*/ 12 h 16"/>
                <a:gd name="T104" fmla="*/ 12 w 20"/>
                <a:gd name="T105" fmla="*/ 12 h 16"/>
                <a:gd name="T106" fmla="*/ 16 w 20"/>
                <a:gd name="T107" fmla="*/ 8 h 16"/>
                <a:gd name="T108" fmla="*/ 16 w 20"/>
                <a:gd name="T109" fmla="*/ 4 h 16"/>
                <a:gd name="T110" fmla="*/ 16 w 20"/>
                <a:gd name="T111" fmla="*/ 4 h 16"/>
                <a:gd name="T112" fmla="*/ 16 w 20"/>
                <a:gd name="T113" fmla="*/ 4 h 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"/>
                <a:gd name="T172" fmla="*/ 0 h 16"/>
                <a:gd name="T173" fmla="*/ 20 w 20"/>
                <a:gd name="T174" fmla="*/ 16 h 1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" h="16">
                  <a:moveTo>
                    <a:pt x="8" y="12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0" name="Freeform 138"/>
            <p:cNvSpPr>
              <a:spLocks noEditPoints="1"/>
            </p:cNvSpPr>
            <p:nvPr/>
          </p:nvSpPr>
          <p:spPr bwMode="auto">
            <a:xfrm>
              <a:off x="4106" y="2579"/>
              <a:ext cx="19" cy="16"/>
            </a:xfrm>
            <a:custGeom>
              <a:avLst/>
              <a:gdLst>
                <a:gd name="T0" fmla="*/ 12 w 19"/>
                <a:gd name="T1" fmla="*/ 8 h 16"/>
                <a:gd name="T2" fmla="*/ 12 w 19"/>
                <a:gd name="T3" fmla="*/ 8 h 16"/>
                <a:gd name="T4" fmla="*/ 12 w 19"/>
                <a:gd name="T5" fmla="*/ 8 h 16"/>
                <a:gd name="T6" fmla="*/ 12 w 19"/>
                <a:gd name="T7" fmla="*/ 12 h 16"/>
                <a:gd name="T8" fmla="*/ 12 w 19"/>
                <a:gd name="T9" fmla="*/ 12 h 16"/>
                <a:gd name="T10" fmla="*/ 12 w 19"/>
                <a:gd name="T11" fmla="*/ 12 h 16"/>
                <a:gd name="T12" fmla="*/ 12 w 19"/>
                <a:gd name="T13" fmla="*/ 12 h 16"/>
                <a:gd name="T14" fmla="*/ 15 w 19"/>
                <a:gd name="T15" fmla="*/ 12 h 16"/>
                <a:gd name="T16" fmla="*/ 15 w 19"/>
                <a:gd name="T17" fmla="*/ 12 h 16"/>
                <a:gd name="T18" fmla="*/ 15 w 19"/>
                <a:gd name="T19" fmla="*/ 12 h 16"/>
                <a:gd name="T20" fmla="*/ 12 w 19"/>
                <a:gd name="T21" fmla="*/ 16 h 16"/>
                <a:gd name="T22" fmla="*/ 12 w 19"/>
                <a:gd name="T23" fmla="*/ 16 h 16"/>
                <a:gd name="T24" fmla="*/ 12 w 19"/>
                <a:gd name="T25" fmla="*/ 16 h 16"/>
                <a:gd name="T26" fmla="*/ 12 w 19"/>
                <a:gd name="T27" fmla="*/ 16 h 16"/>
                <a:gd name="T28" fmla="*/ 8 w 19"/>
                <a:gd name="T29" fmla="*/ 12 h 16"/>
                <a:gd name="T30" fmla="*/ 8 w 19"/>
                <a:gd name="T31" fmla="*/ 12 h 16"/>
                <a:gd name="T32" fmla="*/ 8 w 19"/>
                <a:gd name="T33" fmla="*/ 8 h 16"/>
                <a:gd name="T34" fmla="*/ 8 w 19"/>
                <a:gd name="T35" fmla="*/ 8 h 16"/>
                <a:gd name="T36" fmla="*/ 8 w 19"/>
                <a:gd name="T37" fmla="*/ 8 h 16"/>
                <a:gd name="T38" fmla="*/ 8 w 19"/>
                <a:gd name="T39" fmla="*/ 8 h 16"/>
                <a:gd name="T40" fmla="*/ 8 w 19"/>
                <a:gd name="T41" fmla="*/ 8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12 h 16"/>
                <a:gd name="T48" fmla="*/ 8 w 19"/>
                <a:gd name="T49" fmla="*/ 12 h 16"/>
                <a:gd name="T50" fmla="*/ 8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0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8 h 16"/>
                <a:gd name="T68" fmla="*/ 0 w 19"/>
                <a:gd name="T69" fmla="*/ 8 h 16"/>
                <a:gd name="T70" fmla="*/ 4 w 19"/>
                <a:gd name="T71" fmla="*/ 8 h 16"/>
                <a:gd name="T72" fmla="*/ 4 w 19"/>
                <a:gd name="T73" fmla="*/ 8 h 16"/>
                <a:gd name="T74" fmla="*/ 8 w 19"/>
                <a:gd name="T75" fmla="*/ 4 h 16"/>
                <a:gd name="T76" fmla="*/ 8 w 19"/>
                <a:gd name="T77" fmla="*/ 4 h 16"/>
                <a:gd name="T78" fmla="*/ 8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0 h 16"/>
                <a:gd name="T88" fmla="*/ 8 w 19"/>
                <a:gd name="T89" fmla="*/ 0 h 16"/>
                <a:gd name="T90" fmla="*/ 15 w 19"/>
                <a:gd name="T91" fmla="*/ 0 h 16"/>
                <a:gd name="T92" fmla="*/ 19 w 19"/>
                <a:gd name="T93" fmla="*/ 4 h 16"/>
                <a:gd name="T94" fmla="*/ 19 w 19"/>
                <a:gd name="T95" fmla="*/ 4 h 16"/>
                <a:gd name="T96" fmla="*/ 15 w 19"/>
                <a:gd name="T97" fmla="*/ 8 h 16"/>
                <a:gd name="T98" fmla="*/ 15 w 19"/>
                <a:gd name="T99" fmla="*/ 8 h 16"/>
                <a:gd name="T100" fmla="*/ 15 w 19"/>
                <a:gd name="T101" fmla="*/ 8 h 16"/>
                <a:gd name="T102" fmla="*/ 12 w 19"/>
                <a:gd name="T103" fmla="*/ 8 h 16"/>
                <a:gd name="T104" fmla="*/ 8 w 19"/>
                <a:gd name="T105" fmla="*/ 4 h 16"/>
                <a:gd name="T106" fmla="*/ 12 w 19"/>
                <a:gd name="T107" fmla="*/ 8 h 16"/>
                <a:gd name="T108" fmla="*/ 12 w 19"/>
                <a:gd name="T109" fmla="*/ 8 h 16"/>
                <a:gd name="T110" fmla="*/ 12 w 19"/>
                <a:gd name="T111" fmla="*/ 8 h 16"/>
                <a:gd name="T112" fmla="*/ 15 w 19"/>
                <a:gd name="T113" fmla="*/ 4 h 16"/>
                <a:gd name="T114" fmla="*/ 15 w 19"/>
                <a:gd name="T115" fmla="*/ 4 h 16"/>
                <a:gd name="T116" fmla="*/ 15 w 19"/>
                <a:gd name="T117" fmla="*/ 4 h 16"/>
                <a:gd name="T118" fmla="*/ 12 w 19"/>
                <a:gd name="T119" fmla="*/ 4 h 16"/>
                <a:gd name="T120" fmla="*/ 12 w 19"/>
                <a:gd name="T121" fmla="*/ 4 h 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"/>
                <a:gd name="T184" fmla="*/ 0 h 16"/>
                <a:gd name="T185" fmla="*/ 19 w 19"/>
                <a:gd name="T186" fmla="*/ 16 h 1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15" y="12"/>
                  </a:lnTo>
                  <a:lnTo>
                    <a:pt x="12" y="16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5" y="8"/>
                  </a:lnTo>
                  <a:lnTo>
                    <a:pt x="12" y="8"/>
                  </a:lnTo>
                  <a:close/>
                  <a:moveTo>
                    <a:pt x="12" y="4"/>
                  </a:moveTo>
                  <a:lnTo>
                    <a:pt x="8" y="4"/>
                  </a:lnTo>
                  <a:lnTo>
                    <a:pt x="12" y="8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1" name="Freeform 139"/>
            <p:cNvSpPr>
              <a:spLocks/>
            </p:cNvSpPr>
            <p:nvPr/>
          </p:nvSpPr>
          <p:spPr bwMode="auto">
            <a:xfrm>
              <a:off x="4121" y="2583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8 w 16"/>
                <a:gd name="T3" fmla="*/ 0 h 12"/>
                <a:gd name="T4" fmla="*/ 4 w 16"/>
                <a:gd name="T5" fmla="*/ 4 h 12"/>
                <a:gd name="T6" fmla="*/ 4 w 16"/>
                <a:gd name="T7" fmla="*/ 4 h 12"/>
                <a:gd name="T8" fmla="*/ 8 w 16"/>
                <a:gd name="T9" fmla="*/ 8 h 12"/>
                <a:gd name="T10" fmla="*/ 8 w 16"/>
                <a:gd name="T11" fmla="*/ 8 h 12"/>
                <a:gd name="T12" fmla="*/ 8 w 16"/>
                <a:gd name="T13" fmla="*/ 12 h 12"/>
                <a:gd name="T14" fmla="*/ 8 w 16"/>
                <a:gd name="T15" fmla="*/ 12 h 12"/>
                <a:gd name="T16" fmla="*/ 4 w 16"/>
                <a:gd name="T17" fmla="*/ 12 h 12"/>
                <a:gd name="T18" fmla="*/ 4 w 16"/>
                <a:gd name="T19" fmla="*/ 12 h 12"/>
                <a:gd name="T20" fmla="*/ 4 w 16"/>
                <a:gd name="T21" fmla="*/ 8 h 12"/>
                <a:gd name="T22" fmla="*/ 4 w 16"/>
                <a:gd name="T23" fmla="*/ 8 h 12"/>
                <a:gd name="T24" fmla="*/ 4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0 w 16"/>
                <a:gd name="T35" fmla="*/ 12 h 12"/>
                <a:gd name="T36" fmla="*/ 0 w 16"/>
                <a:gd name="T37" fmla="*/ 12 h 12"/>
                <a:gd name="T38" fmla="*/ 0 w 16"/>
                <a:gd name="T39" fmla="*/ 12 h 12"/>
                <a:gd name="T40" fmla="*/ 0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8 w 16"/>
                <a:gd name="T47" fmla="*/ 12 h 12"/>
                <a:gd name="T48" fmla="*/ 12 w 16"/>
                <a:gd name="T49" fmla="*/ 12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12 w 16"/>
                <a:gd name="T61" fmla="*/ 4 h 12"/>
                <a:gd name="T62" fmla="*/ 12 w 16"/>
                <a:gd name="T63" fmla="*/ 4 h 12"/>
                <a:gd name="T64" fmla="*/ 12 w 16"/>
                <a:gd name="T65" fmla="*/ 4 h 12"/>
                <a:gd name="T66" fmla="*/ 12 w 16"/>
                <a:gd name="T67" fmla="*/ 4 h 12"/>
                <a:gd name="T68" fmla="*/ 12 w 16"/>
                <a:gd name="T69" fmla="*/ 8 h 12"/>
                <a:gd name="T70" fmla="*/ 16 w 16"/>
                <a:gd name="T71" fmla="*/ 8 h 12"/>
                <a:gd name="T72" fmla="*/ 16 w 16"/>
                <a:gd name="T73" fmla="*/ 4 h 12"/>
                <a:gd name="T74" fmla="*/ 16 w 16"/>
                <a:gd name="T75" fmla="*/ 4 h 12"/>
                <a:gd name="T76" fmla="*/ 16 w 16"/>
                <a:gd name="T77" fmla="*/ 4 h 12"/>
                <a:gd name="T78" fmla="*/ 16 w 16"/>
                <a:gd name="T79" fmla="*/ 0 h 12"/>
                <a:gd name="T80" fmla="*/ 16 w 16"/>
                <a:gd name="T81" fmla="*/ 0 h 12"/>
                <a:gd name="T82" fmla="*/ 16 w 16"/>
                <a:gd name="T83" fmla="*/ 4 h 12"/>
                <a:gd name="T84" fmla="*/ 16 w 16"/>
                <a:gd name="T85" fmla="*/ 0 h 1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6"/>
                <a:gd name="T130" fmla="*/ 0 h 12"/>
                <a:gd name="T131" fmla="*/ 16 w 16"/>
                <a:gd name="T132" fmla="*/ 12 h 1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2" name="Freeform 140"/>
            <p:cNvSpPr>
              <a:spLocks noEditPoints="1"/>
            </p:cNvSpPr>
            <p:nvPr/>
          </p:nvSpPr>
          <p:spPr bwMode="auto">
            <a:xfrm>
              <a:off x="4224" y="2579"/>
              <a:ext cx="20" cy="20"/>
            </a:xfrm>
            <a:custGeom>
              <a:avLst/>
              <a:gdLst>
                <a:gd name="T0" fmla="*/ 12 w 20"/>
                <a:gd name="T1" fmla="*/ 12 h 20"/>
                <a:gd name="T2" fmla="*/ 16 w 20"/>
                <a:gd name="T3" fmla="*/ 16 h 20"/>
                <a:gd name="T4" fmla="*/ 16 w 20"/>
                <a:gd name="T5" fmla="*/ 16 h 20"/>
                <a:gd name="T6" fmla="*/ 16 w 20"/>
                <a:gd name="T7" fmla="*/ 16 h 20"/>
                <a:gd name="T8" fmla="*/ 12 w 20"/>
                <a:gd name="T9" fmla="*/ 20 h 20"/>
                <a:gd name="T10" fmla="*/ 4 w 20"/>
                <a:gd name="T11" fmla="*/ 20 h 20"/>
                <a:gd name="T12" fmla="*/ 4 w 20"/>
                <a:gd name="T13" fmla="*/ 20 h 20"/>
                <a:gd name="T14" fmla="*/ 0 w 20"/>
                <a:gd name="T15" fmla="*/ 16 h 20"/>
                <a:gd name="T16" fmla="*/ 0 w 20"/>
                <a:gd name="T17" fmla="*/ 12 h 20"/>
                <a:gd name="T18" fmla="*/ 0 w 20"/>
                <a:gd name="T19" fmla="*/ 12 h 20"/>
                <a:gd name="T20" fmla="*/ 4 w 20"/>
                <a:gd name="T21" fmla="*/ 12 h 20"/>
                <a:gd name="T22" fmla="*/ 8 w 20"/>
                <a:gd name="T23" fmla="*/ 8 h 20"/>
                <a:gd name="T24" fmla="*/ 8 w 20"/>
                <a:gd name="T25" fmla="*/ 8 h 20"/>
                <a:gd name="T26" fmla="*/ 4 w 20"/>
                <a:gd name="T27" fmla="*/ 8 h 20"/>
                <a:gd name="T28" fmla="*/ 4 w 20"/>
                <a:gd name="T29" fmla="*/ 4 h 20"/>
                <a:gd name="T30" fmla="*/ 4 w 20"/>
                <a:gd name="T31" fmla="*/ 4 h 20"/>
                <a:gd name="T32" fmla="*/ 8 w 20"/>
                <a:gd name="T33" fmla="*/ 0 h 20"/>
                <a:gd name="T34" fmla="*/ 16 w 20"/>
                <a:gd name="T35" fmla="*/ 4 h 20"/>
                <a:gd name="T36" fmla="*/ 16 w 20"/>
                <a:gd name="T37" fmla="*/ 4 h 20"/>
                <a:gd name="T38" fmla="*/ 20 w 20"/>
                <a:gd name="T39" fmla="*/ 4 h 20"/>
                <a:gd name="T40" fmla="*/ 20 w 20"/>
                <a:gd name="T41" fmla="*/ 8 h 20"/>
                <a:gd name="T42" fmla="*/ 20 w 20"/>
                <a:gd name="T43" fmla="*/ 8 h 20"/>
                <a:gd name="T44" fmla="*/ 16 w 20"/>
                <a:gd name="T45" fmla="*/ 12 h 20"/>
                <a:gd name="T46" fmla="*/ 12 w 20"/>
                <a:gd name="T47" fmla="*/ 12 h 20"/>
                <a:gd name="T48" fmla="*/ 8 w 20"/>
                <a:gd name="T49" fmla="*/ 12 h 20"/>
                <a:gd name="T50" fmla="*/ 8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6 h 20"/>
                <a:gd name="T58" fmla="*/ 4 w 20"/>
                <a:gd name="T59" fmla="*/ 16 h 20"/>
                <a:gd name="T60" fmla="*/ 8 w 20"/>
                <a:gd name="T61" fmla="*/ 16 h 20"/>
                <a:gd name="T62" fmla="*/ 8 w 20"/>
                <a:gd name="T63" fmla="*/ 16 h 20"/>
                <a:gd name="T64" fmla="*/ 8 w 20"/>
                <a:gd name="T65" fmla="*/ 16 h 20"/>
                <a:gd name="T66" fmla="*/ 12 w 20"/>
                <a:gd name="T67" fmla="*/ 16 h 20"/>
                <a:gd name="T68" fmla="*/ 12 w 20"/>
                <a:gd name="T69" fmla="*/ 12 h 20"/>
                <a:gd name="T70" fmla="*/ 12 w 20"/>
                <a:gd name="T71" fmla="*/ 12 h 20"/>
                <a:gd name="T72" fmla="*/ 8 w 20"/>
                <a:gd name="T73" fmla="*/ 12 h 20"/>
                <a:gd name="T74" fmla="*/ 16 w 20"/>
                <a:gd name="T75" fmla="*/ 4 h 20"/>
                <a:gd name="T76" fmla="*/ 12 w 20"/>
                <a:gd name="T77" fmla="*/ 4 h 20"/>
                <a:gd name="T78" fmla="*/ 8 w 20"/>
                <a:gd name="T79" fmla="*/ 8 h 20"/>
                <a:gd name="T80" fmla="*/ 8 w 20"/>
                <a:gd name="T81" fmla="*/ 8 h 20"/>
                <a:gd name="T82" fmla="*/ 8 w 20"/>
                <a:gd name="T83" fmla="*/ 8 h 20"/>
                <a:gd name="T84" fmla="*/ 12 w 20"/>
                <a:gd name="T85" fmla="*/ 8 h 20"/>
                <a:gd name="T86" fmla="*/ 12 w 20"/>
                <a:gd name="T87" fmla="*/ 8 h 20"/>
                <a:gd name="T88" fmla="*/ 12 w 20"/>
                <a:gd name="T89" fmla="*/ 8 h 20"/>
                <a:gd name="T90" fmla="*/ 16 w 20"/>
                <a:gd name="T91" fmla="*/ 8 h 20"/>
                <a:gd name="T92" fmla="*/ 16 w 20"/>
                <a:gd name="T93" fmla="*/ 8 h 20"/>
                <a:gd name="T94" fmla="*/ 16 w 20"/>
                <a:gd name="T95" fmla="*/ 4 h 20"/>
                <a:gd name="T96" fmla="*/ 16 w 20"/>
                <a:gd name="T97" fmla="*/ 4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20"/>
                <a:gd name="T149" fmla="*/ 20 w 20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20">
                  <a:moveTo>
                    <a:pt x="12" y="12"/>
                  </a:moveTo>
                  <a:lnTo>
                    <a:pt x="12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12"/>
                  </a:lnTo>
                  <a:lnTo>
                    <a:pt x="12" y="12"/>
                  </a:lnTo>
                  <a:close/>
                  <a:moveTo>
                    <a:pt x="8" y="12"/>
                  </a:moveTo>
                  <a:lnTo>
                    <a:pt x="8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3" name="Freeform 141"/>
            <p:cNvSpPr>
              <a:spLocks/>
            </p:cNvSpPr>
            <p:nvPr/>
          </p:nvSpPr>
          <p:spPr bwMode="auto">
            <a:xfrm>
              <a:off x="4200" y="2599"/>
              <a:ext cx="16" cy="16"/>
            </a:xfrm>
            <a:custGeom>
              <a:avLst/>
              <a:gdLst>
                <a:gd name="T0" fmla="*/ 12 w 16"/>
                <a:gd name="T1" fmla="*/ 8 h 16"/>
                <a:gd name="T2" fmla="*/ 12 w 16"/>
                <a:gd name="T3" fmla="*/ 8 h 16"/>
                <a:gd name="T4" fmla="*/ 12 w 16"/>
                <a:gd name="T5" fmla="*/ 8 h 16"/>
                <a:gd name="T6" fmla="*/ 12 w 16"/>
                <a:gd name="T7" fmla="*/ 8 h 16"/>
                <a:gd name="T8" fmla="*/ 12 w 16"/>
                <a:gd name="T9" fmla="*/ 8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4 h 16"/>
                <a:gd name="T16" fmla="*/ 16 w 16"/>
                <a:gd name="T17" fmla="*/ 4 h 16"/>
                <a:gd name="T18" fmla="*/ 16 w 16"/>
                <a:gd name="T19" fmla="*/ 4 h 16"/>
                <a:gd name="T20" fmla="*/ 16 w 16"/>
                <a:gd name="T21" fmla="*/ 4 h 16"/>
                <a:gd name="T22" fmla="*/ 4 w 16"/>
                <a:gd name="T23" fmla="*/ 0 h 16"/>
                <a:gd name="T24" fmla="*/ 4 w 16"/>
                <a:gd name="T25" fmla="*/ 0 h 16"/>
                <a:gd name="T26" fmla="*/ 4 w 16"/>
                <a:gd name="T27" fmla="*/ 0 h 16"/>
                <a:gd name="T28" fmla="*/ 4 w 16"/>
                <a:gd name="T29" fmla="*/ 0 h 16"/>
                <a:gd name="T30" fmla="*/ 0 w 16"/>
                <a:gd name="T31" fmla="*/ 4 h 16"/>
                <a:gd name="T32" fmla="*/ 0 w 16"/>
                <a:gd name="T33" fmla="*/ 4 h 16"/>
                <a:gd name="T34" fmla="*/ 0 w 16"/>
                <a:gd name="T35" fmla="*/ 4 h 16"/>
                <a:gd name="T36" fmla="*/ 0 w 16"/>
                <a:gd name="T37" fmla="*/ 4 h 16"/>
                <a:gd name="T38" fmla="*/ 0 w 16"/>
                <a:gd name="T39" fmla="*/ 4 h 16"/>
                <a:gd name="T40" fmla="*/ 0 w 16"/>
                <a:gd name="T41" fmla="*/ 4 h 16"/>
                <a:gd name="T42" fmla="*/ 4 w 16"/>
                <a:gd name="T43" fmla="*/ 4 h 16"/>
                <a:gd name="T44" fmla="*/ 4 w 16"/>
                <a:gd name="T45" fmla="*/ 4 h 16"/>
                <a:gd name="T46" fmla="*/ 4 w 16"/>
                <a:gd name="T47" fmla="*/ 4 h 16"/>
                <a:gd name="T48" fmla="*/ 4 w 16"/>
                <a:gd name="T49" fmla="*/ 4 h 16"/>
                <a:gd name="T50" fmla="*/ 8 w 16"/>
                <a:gd name="T51" fmla="*/ 4 h 16"/>
                <a:gd name="T52" fmla="*/ 4 w 16"/>
                <a:gd name="T53" fmla="*/ 12 h 16"/>
                <a:gd name="T54" fmla="*/ 0 w 16"/>
                <a:gd name="T55" fmla="*/ 8 h 16"/>
                <a:gd name="T56" fmla="*/ 0 w 16"/>
                <a:gd name="T57" fmla="*/ 8 h 16"/>
                <a:gd name="T58" fmla="*/ 0 w 16"/>
                <a:gd name="T59" fmla="*/ 8 h 16"/>
                <a:gd name="T60" fmla="*/ 0 w 16"/>
                <a:gd name="T61" fmla="*/ 12 h 16"/>
                <a:gd name="T62" fmla="*/ 0 w 16"/>
                <a:gd name="T63" fmla="*/ 12 h 16"/>
                <a:gd name="T64" fmla="*/ 0 w 16"/>
                <a:gd name="T65" fmla="*/ 12 h 16"/>
                <a:gd name="T66" fmla="*/ 0 w 16"/>
                <a:gd name="T67" fmla="*/ 12 h 16"/>
                <a:gd name="T68" fmla="*/ 8 w 16"/>
                <a:gd name="T69" fmla="*/ 16 h 16"/>
                <a:gd name="T70" fmla="*/ 8 w 16"/>
                <a:gd name="T71" fmla="*/ 16 h 16"/>
                <a:gd name="T72" fmla="*/ 8 w 16"/>
                <a:gd name="T73" fmla="*/ 16 h 16"/>
                <a:gd name="T74" fmla="*/ 8 w 16"/>
                <a:gd name="T75" fmla="*/ 12 h 16"/>
                <a:gd name="T76" fmla="*/ 8 w 16"/>
                <a:gd name="T77" fmla="*/ 12 h 16"/>
                <a:gd name="T78" fmla="*/ 8 w 16"/>
                <a:gd name="T79" fmla="*/ 12 h 16"/>
                <a:gd name="T80" fmla="*/ 8 w 16"/>
                <a:gd name="T81" fmla="*/ 12 h 16"/>
                <a:gd name="T82" fmla="*/ 8 w 16"/>
                <a:gd name="T83" fmla="*/ 12 h 16"/>
                <a:gd name="T84" fmla="*/ 12 w 16"/>
                <a:gd name="T85" fmla="*/ 4 h 16"/>
                <a:gd name="T86" fmla="*/ 12 w 16"/>
                <a:gd name="T87" fmla="*/ 4 h 16"/>
                <a:gd name="T88" fmla="*/ 12 w 16"/>
                <a:gd name="T89" fmla="*/ 8 h 1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6"/>
                <a:gd name="T137" fmla="*/ 16 w 16"/>
                <a:gd name="T138" fmla="*/ 16 h 1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6">
                  <a:moveTo>
                    <a:pt x="12" y="8"/>
                  </a:move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4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0" y="12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2" y="4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4" name="Freeform 142"/>
            <p:cNvSpPr>
              <a:spLocks/>
            </p:cNvSpPr>
            <p:nvPr/>
          </p:nvSpPr>
          <p:spPr bwMode="auto">
            <a:xfrm>
              <a:off x="4216" y="2603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8 w 16"/>
                <a:gd name="T3" fmla="*/ 4 h 12"/>
                <a:gd name="T4" fmla="*/ 8 w 16"/>
                <a:gd name="T5" fmla="*/ 0 h 12"/>
                <a:gd name="T6" fmla="*/ 8 w 16"/>
                <a:gd name="T7" fmla="*/ 0 h 12"/>
                <a:gd name="T8" fmla="*/ 8 w 16"/>
                <a:gd name="T9" fmla="*/ 0 h 12"/>
                <a:gd name="T10" fmla="*/ 8 w 16"/>
                <a:gd name="T11" fmla="*/ 0 h 12"/>
                <a:gd name="T12" fmla="*/ 4 w 16"/>
                <a:gd name="T13" fmla="*/ 0 h 12"/>
                <a:gd name="T14" fmla="*/ 4 w 16"/>
                <a:gd name="T15" fmla="*/ 0 h 12"/>
                <a:gd name="T16" fmla="*/ 4 w 16"/>
                <a:gd name="T17" fmla="*/ 0 h 12"/>
                <a:gd name="T18" fmla="*/ 0 w 16"/>
                <a:gd name="T19" fmla="*/ 0 h 12"/>
                <a:gd name="T20" fmla="*/ 0 w 16"/>
                <a:gd name="T21" fmla="*/ 0 h 12"/>
                <a:gd name="T22" fmla="*/ 0 w 16"/>
                <a:gd name="T23" fmla="*/ 0 h 12"/>
                <a:gd name="T24" fmla="*/ 4 w 16"/>
                <a:gd name="T25" fmla="*/ 0 h 12"/>
                <a:gd name="T26" fmla="*/ 4 w 16"/>
                <a:gd name="T27" fmla="*/ 0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8 w 16"/>
                <a:gd name="T39" fmla="*/ 12 h 12"/>
                <a:gd name="T40" fmla="*/ 12 w 16"/>
                <a:gd name="T41" fmla="*/ 8 h 12"/>
                <a:gd name="T42" fmla="*/ 16 w 16"/>
                <a:gd name="T43" fmla="*/ 4 h 12"/>
                <a:gd name="T44" fmla="*/ 16 w 16"/>
                <a:gd name="T45" fmla="*/ 4 h 12"/>
                <a:gd name="T46" fmla="*/ 16 w 16"/>
                <a:gd name="T47" fmla="*/ 4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4 h 12"/>
                <a:gd name="T56" fmla="*/ 16 w 16"/>
                <a:gd name="T57" fmla="*/ 4 h 12"/>
                <a:gd name="T58" fmla="*/ 12 w 16"/>
                <a:gd name="T59" fmla="*/ 0 h 12"/>
                <a:gd name="T60" fmla="*/ 12 w 16"/>
                <a:gd name="T61" fmla="*/ 0 h 12"/>
                <a:gd name="T62" fmla="*/ 12 w 16"/>
                <a:gd name="T63" fmla="*/ 0 h 12"/>
                <a:gd name="T64" fmla="*/ 12 w 16"/>
                <a:gd name="T65" fmla="*/ 4 h 12"/>
                <a:gd name="T66" fmla="*/ 12 w 16"/>
                <a:gd name="T67" fmla="*/ 4 h 12"/>
                <a:gd name="T68" fmla="*/ 8 w 16"/>
                <a:gd name="T69" fmla="*/ 4 h 12"/>
                <a:gd name="T70" fmla="*/ 12 w 16"/>
                <a:gd name="T71" fmla="*/ 4 h 12"/>
                <a:gd name="T72" fmla="*/ 12 w 16"/>
                <a:gd name="T73" fmla="*/ 4 h 12"/>
                <a:gd name="T74" fmla="*/ 8 w 16"/>
                <a:gd name="T75" fmla="*/ 8 h 12"/>
                <a:gd name="T76" fmla="*/ 8 w 16"/>
                <a:gd name="T77" fmla="*/ 8 h 12"/>
                <a:gd name="T78" fmla="*/ 4 w 16"/>
                <a:gd name="T79" fmla="*/ 12 h 12"/>
                <a:gd name="T80" fmla="*/ 4 w 16"/>
                <a:gd name="T81" fmla="*/ 12 h 12"/>
                <a:gd name="T82" fmla="*/ 4 w 16"/>
                <a:gd name="T83" fmla="*/ 12 h 12"/>
                <a:gd name="T84" fmla="*/ 0 w 16"/>
                <a:gd name="T85" fmla="*/ 12 h 12"/>
                <a:gd name="T86" fmla="*/ 4 w 16"/>
                <a:gd name="T87" fmla="*/ 8 h 12"/>
                <a:gd name="T88" fmla="*/ 4 w 16"/>
                <a:gd name="T89" fmla="*/ 4 h 12"/>
                <a:gd name="T90" fmla="*/ 4 w 16"/>
                <a:gd name="T91" fmla="*/ 4 h 1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12"/>
                <a:gd name="T140" fmla="*/ 16 w 16"/>
                <a:gd name="T141" fmla="*/ 12 h 1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12">
                  <a:moveTo>
                    <a:pt x="4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5" name="Freeform 143"/>
            <p:cNvSpPr>
              <a:spLocks/>
            </p:cNvSpPr>
            <p:nvPr/>
          </p:nvSpPr>
          <p:spPr bwMode="auto">
            <a:xfrm>
              <a:off x="4232" y="2607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12 w 16"/>
                <a:gd name="T3" fmla="*/ 4 h 12"/>
                <a:gd name="T4" fmla="*/ 12 w 16"/>
                <a:gd name="T5" fmla="*/ 4 h 12"/>
                <a:gd name="T6" fmla="*/ 12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12 w 16"/>
                <a:gd name="T15" fmla="*/ 0 h 12"/>
                <a:gd name="T16" fmla="*/ 12 w 16"/>
                <a:gd name="T17" fmla="*/ 0 h 12"/>
                <a:gd name="T18" fmla="*/ 16 w 16"/>
                <a:gd name="T19" fmla="*/ 4 h 12"/>
                <a:gd name="T20" fmla="*/ 16 w 16"/>
                <a:gd name="T21" fmla="*/ 4 h 12"/>
                <a:gd name="T22" fmla="*/ 16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2 w 16"/>
                <a:gd name="T31" fmla="*/ 4 h 12"/>
                <a:gd name="T32" fmla="*/ 12 w 16"/>
                <a:gd name="T33" fmla="*/ 4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12 h 12"/>
                <a:gd name="T42" fmla="*/ 0 w 16"/>
                <a:gd name="T43" fmla="*/ 12 h 12"/>
                <a:gd name="T44" fmla="*/ 0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0 h 12"/>
                <a:gd name="T52" fmla="*/ 0 w 16"/>
                <a:gd name="T53" fmla="*/ 0 h 12"/>
                <a:gd name="T54" fmla="*/ 0 w 16"/>
                <a:gd name="T55" fmla="*/ 0 h 12"/>
                <a:gd name="T56" fmla="*/ 0 w 16"/>
                <a:gd name="T57" fmla="*/ 0 h 12"/>
                <a:gd name="T58" fmla="*/ 0 w 16"/>
                <a:gd name="T59" fmla="*/ 0 h 12"/>
                <a:gd name="T60" fmla="*/ 0 w 16"/>
                <a:gd name="T61" fmla="*/ 0 h 12"/>
                <a:gd name="T62" fmla="*/ 0 w 16"/>
                <a:gd name="T63" fmla="*/ 0 h 12"/>
                <a:gd name="T64" fmla="*/ 4 w 16"/>
                <a:gd name="T65" fmla="*/ 0 h 12"/>
                <a:gd name="T66" fmla="*/ 8 w 16"/>
                <a:gd name="T67" fmla="*/ 0 h 12"/>
                <a:gd name="T68" fmla="*/ 8 w 16"/>
                <a:gd name="T69" fmla="*/ 0 h 12"/>
                <a:gd name="T70" fmla="*/ 8 w 16"/>
                <a:gd name="T71" fmla="*/ 0 h 12"/>
                <a:gd name="T72" fmla="*/ 8 w 16"/>
                <a:gd name="T73" fmla="*/ 0 h 12"/>
                <a:gd name="T74" fmla="*/ 8 w 16"/>
                <a:gd name="T75" fmla="*/ 4 h 12"/>
                <a:gd name="T76" fmla="*/ 8 w 16"/>
                <a:gd name="T77" fmla="*/ 4 h 12"/>
                <a:gd name="T78" fmla="*/ 4 w 16"/>
                <a:gd name="T79" fmla="*/ 4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4" y="4"/>
                  </a:moveTo>
                  <a:lnTo>
                    <a:pt x="4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6" name="Freeform 144"/>
            <p:cNvSpPr>
              <a:spLocks noEditPoints="1"/>
            </p:cNvSpPr>
            <p:nvPr/>
          </p:nvSpPr>
          <p:spPr bwMode="auto">
            <a:xfrm>
              <a:off x="4330" y="2607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8 w 20"/>
                <a:gd name="T5" fmla="*/ 12 h 16"/>
                <a:gd name="T6" fmla="*/ 8 w 20"/>
                <a:gd name="T7" fmla="*/ 12 h 16"/>
                <a:gd name="T8" fmla="*/ 4 w 20"/>
                <a:gd name="T9" fmla="*/ 8 h 16"/>
                <a:gd name="T10" fmla="*/ 4 w 20"/>
                <a:gd name="T11" fmla="*/ 4 h 16"/>
                <a:gd name="T12" fmla="*/ 4 w 20"/>
                <a:gd name="T13" fmla="*/ 4 h 16"/>
                <a:gd name="T14" fmla="*/ 8 w 20"/>
                <a:gd name="T15" fmla="*/ 0 h 16"/>
                <a:gd name="T16" fmla="*/ 16 w 20"/>
                <a:gd name="T17" fmla="*/ 0 h 16"/>
                <a:gd name="T18" fmla="*/ 16 w 20"/>
                <a:gd name="T19" fmla="*/ 0 h 16"/>
                <a:gd name="T20" fmla="*/ 20 w 20"/>
                <a:gd name="T21" fmla="*/ 4 h 16"/>
                <a:gd name="T22" fmla="*/ 20 w 20"/>
                <a:gd name="T23" fmla="*/ 8 h 16"/>
                <a:gd name="T24" fmla="*/ 20 w 20"/>
                <a:gd name="T25" fmla="*/ 8 h 16"/>
                <a:gd name="T26" fmla="*/ 12 w 20"/>
                <a:gd name="T27" fmla="*/ 16 h 16"/>
                <a:gd name="T28" fmla="*/ 4 w 20"/>
                <a:gd name="T29" fmla="*/ 16 h 16"/>
                <a:gd name="T30" fmla="*/ 4 w 20"/>
                <a:gd name="T31" fmla="*/ 16 h 16"/>
                <a:gd name="T32" fmla="*/ 0 w 20"/>
                <a:gd name="T33" fmla="*/ 16 h 16"/>
                <a:gd name="T34" fmla="*/ 0 w 20"/>
                <a:gd name="T35" fmla="*/ 16 h 16"/>
                <a:gd name="T36" fmla="*/ 0 w 20"/>
                <a:gd name="T37" fmla="*/ 16 h 16"/>
                <a:gd name="T38" fmla="*/ 4 w 20"/>
                <a:gd name="T39" fmla="*/ 12 h 16"/>
                <a:gd name="T40" fmla="*/ 4 w 20"/>
                <a:gd name="T41" fmla="*/ 16 h 16"/>
                <a:gd name="T42" fmla="*/ 4 w 20"/>
                <a:gd name="T43" fmla="*/ 16 h 16"/>
                <a:gd name="T44" fmla="*/ 8 w 20"/>
                <a:gd name="T45" fmla="*/ 12 h 16"/>
                <a:gd name="T46" fmla="*/ 12 w 20"/>
                <a:gd name="T47" fmla="*/ 12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0 h 16"/>
                <a:gd name="T56" fmla="*/ 12 w 20"/>
                <a:gd name="T57" fmla="*/ 0 h 16"/>
                <a:gd name="T58" fmla="*/ 12 w 20"/>
                <a:gd name="T59" fmla="*/ 0 h 16"/>
                <a:gd name="T60" fmla="*/ 8 w 20"/>
                <a:gd name="T61" fmla="*/ 4 h 16"/>
                <a:gd name="T62" fmla="*/ 8 w 20"/>
                <a:gd name="T63" fmla="*/ 8 h 16"/>
                <a:gd name="T64" fmla="*/ 8 w 20"/>
                <a:gd name="T65" fmla="*/ 8 h 16"/>
                <a:gd name="T66" fmla="*/ 12 w 20"/>
                <a:gd name="T67" fmla="*/ 8 h 16"/>
                <a:gd name="T68" fmla="*/ 16 w 20"/>
                <a:gd name="T69" fmla="*/ 8 h 16"/>
                <a:gd name="T70" fmla="*/ 16 w 20"/>
                <a:gd name="T71" fmla="*/ 8 h 16"/>
                <a:gd name="T72" fmla="*/ 16 w 20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0"/>
                <a:gd name="T112" fmla="*/ 0 h 16"/>
                <a:gd name="T113" fmla="*/ 20 w 20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0" h="16">
                  <a:moveTo>
                    <a:pt x="12" y="12"/>
                  </a:move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2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7" name="Freeform 145"/>
            <p:cNvSpPr>
              <a:spLocks/>
            </p:cNvSpPr>
            <p:nvPr/>
          </p:nvSpPr>
          <p:spPr bwMode="auto">
            <a:xfrm>
              <a:off x="4299" y="2623"/>
              <a:ext cx="19" cy="15"/>
            </a:xfrm>
            <a:custGeom>
              <a:avLst/>
              <a:gdLst>
                <a:gd name="T0" fmla="*/ 4 w 19"/>
                <a:gd name="T1" fmla="*/ 8 h 15"/>
                <a:gd name="T2" fmla="*/ 8 w 19"/>
                <a:gd name="T3" fmla="*/ 4 h 15"/>
                <a:gd name="T4" fmla="*/ 8 w 19"/>
                <a:gd name="T5" fmla="*/ 4 h 15"/>
                <a:gd name="T6" fmla="*/ 8 w 19"/>
                <a:gd name="T7" fmla="*/ 4 h 15"/>
                <a:gd name="T8" fmla="*/ 8 w 19"/>
                <a:gd name="T9" fmla="*/ 4 h 15"/>
                <a:gd name="T10" fmla="*/ 8 w 19"/>
                <a:gd name="T11" fmla="*/ 4 h 15"/>
                <a:gd name="T12" fmla="*/ 12 w 19"/>
                <a:gd name="T13" fmla="*/ 4 h 15"/>
                <a:gd name="T14" fmla="*/ 12 w 19"/>
                <a:gd name="T15" fmla="*/ 4 h 15"/>
                <a:gd name="T16" fmla="*/ 12 w 19"/>
                <a:gd name="T17" fmla="*/ 11 h 15"/>
                <a:gd name="T18" fmla="*/ 12 w 19"/>
                <a:gd name="T19" fmla="*/ 4 h 15"/>
                <a:gd name="T20" fmla="*/ 12 w 19"/>
                <a:gd name="T21" fmla="*/ 4 h 15"/>
                <a:gd name="T22" fmla="*/ 12 w 19"/>
                <a:gd name="T23" fmla="*/ 4 h 15"/>
                <a:gd name="T24" fmla="*/ 12 w 19"/>
                <a:gd name="T25" fmla="*/ 4 h 15"/>
                <a:gd name="T26" fmla="*/ 12 w 19"/>
                <a:gd name="T27" fmla="*/ 4 h 15"/>
                <a:gd name="T28" fmla="*/ 12 w 19"/>
                <a:gd name="T29" fmla="*/ 4 h 15"/>
                <a:gd name="T30" fmla="*/ 12 w 19"/>
                <a:gd name="T31" fmla="*/ 0 h 15"/>
                <a:gd name="T32" fmla="*/ 16 w 19"/>
                <a:gd name="T33" fmla="*/ 0 h 15"/>
                <a:gd name="T34" fmla="*/ 19 w 19"/>
                <a:gd name="T35" fmla="*/ 4 h 15"/>
                <a:gd name="T36" fmla="*/ 19 w 19"/>
                <a:gd name="T37" fmla="*/ 4 h 15"/>
                <a:gd name="T38" fmla="*/ 19 w 19"/>
                <a:gd name="T39" fmla="*/ 4 h 15"/>
                <a:gd name="T40" fmla="*/ 19 w 19"/>
                <a:gd name="T41" fmla="*/ 4 h 15"/>
                <a:gd name="T42" fmla="*/ 19 w 19"/>
                <a:gd name="T43" fmla="*/ 4 h 15"/>
                <a:gd name="T44" fmla="*/ 19 w 19"/>
                <a:gd name="T45" fmla="*/ 4 h 15"/>
                <a:gd name="T46" fmla="*/ 16 w 19"/>
                <a:gd name="T47" fmla="*/ 4 h 15"/>
                <a:gd name="T48" fmla="*/ 16 w 19"/>
                <a:gd name="T49" fmla="*/ 4 h 15"/>
                <a:gd name="T50" fmla="*/ 12 w 19"/>
                <a:gd name="T51" fmla="*/ 11 h 15"/>
                <a:gd name="T52" fmla="*/ 12 w 19"/>
                <a:gd name="T53" fmla="*/ 11 h 15"/>
                <a:gd name="T54" fmla="*/ 8 w 19"/>
                <a:gd name="T55" fmla="*/ 15 h 15"/>
                <a:gd name="T56" fmla="*/ 8 w 19"/>
                <a:gd name="T57" fmla="*/ 15 h 15"/>
                <a:gd name="T58" fmla="*/ 8 w 19"/>
                <a:gd name="T59" fmla="*/ 15 h 15"/>
                <a:gd name="T60" fmla="*/ 8 w 19"/>
                <a:gd name="T61" fmla="*/ 15 h 15"/>
                <a:gd name="T62" fmla="*/ 8 w 19"/>
                <a:gd name="T63" fmla="*/ 11 h 15"/>
                <a:gd name="T64" fmla="*/ 8 w 19"/>
                <a:gd name="T65" fmla="*/ 11 h 15"/>
                <a:gd name="T66" fmla="*/ 8 w 19"/>
                <a:gd name="T67" fmla="*/ 4 h 15"/>
                <a:gd name="T68" fmla="*/ 4 w 19"/>
                <a:gd name="T69" fmla="*/ 11 h 15"/>
                <a:gd name="T70" fmla="*/ 4 w 19"/>
                <a:gd name="T71" fmla="*/ 11 h 15"/>
                <a:gd name="T72" fmla="*/ 0 w 19"/>
                <a:gd name="T73" fmla="*/ 11 h 15"/>
                <a:gd name="T74" fmla="*/ 0 w 19"/>
                <a:gd name="T75" fmla="*/ 11 h 15"/>
                <a:gd name="T76" fmla="*/ 0 w 19"/>
                <a:gd name="T77" fmla="*/ 11 h 15"/>
                <a:gd name="T78" fmla="*/ 0 w 19"/>
                <a:gd name="T79" fmla="*/ 11 h 15"/>
                <a:gd name="T80" fmla="*/ 0 w 19"/>
                <a:gd name="T81" fmla="*/ 11 h 15"/>
                <a:gd name="T82" fmla="*/ 0 w 19"/>
                <a:gd name="T83" fmla="*/ 11 h 15"/>
                <a:gd name="T84" fmla="*/ 4 w 19"/>
                <a:gd name="T85" fmla="*/ 0 h 15"/>
                <a:gd name="T86" fmla="*/ 4 w 19"/>
                <a:gd name="T87" fmla="*/ 0 h 15"/>
                <a:gd name="T88" fmla="*/ 4 w 19"/>
                <a:gd name="T89" fmla="*/ 0 h 15"/>
                <a:gd name="T90" fmla="*/ 4 w 19"/>
                <a:gd name="T91" fmla="*/ 0 h 15"/>
                <a:gd name="T92" fmla="*/ 4 w 19"/>
                <a:gd name="T93" fmla="*/ 0 h 15"/>
                <a:gd name="T94" fmla="*/ 4 w 19"/>
                <a:gd name="T95" fmla="*/ 0 h 15"/>
                <a:gd name="T96" fmla="*/ 4 w 19"/>
                <a:gd name="T97" fmla="*/ 0 h 15"/>
                <a:gd name="T98" fmla="*/ 4 w 19"/>
                <a:gd name="T99" fmla="*/ 0 h 15"/>
                <a:gd name="T100" fmla="*/ 8 w 19"/>
                <a:gd name="T101" fmla="*/ 0 h 15"/>
                <a:gd name="T102" fmla="*/ 8 w 19"/>
                <a:gd name="T103" fmla="*/ 0 h 15"/>
                <a:gd name="T104" fmla="*/ 8 w 19"/>
                <a:gd name="T105" fmla="*/ 0 h 15"/>
                <a:gd name="T106" fmla="*/ 8 w 19"/>
                <a:gd name="T107" fmla="*/ 0 h 15"/>
                <a:gd name="T108" fmla="*/ 8 w 19"/>
                <a:gd name="T109" fmla="*/ 0 h 15"/>
                <a:gd name="T110" fmla="*/ 8 w 19"/>
                <a:gd name="T111" fmla="*/ 4 h 15"/>
                <a:gd name="T112" fmla="*/ 8 w 19"/>
                <a:gd name="T113" fmla="*/ 4 h 15"/>
                <a:gd name="T114" fmla="*/ 8 w 19"/>
                <a:gd name="T115" fmla="*/ 0 h 1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9"/>
                <a:gd name="T175" fmla="*/ 0 h 15"/>
                <a:gd name="T176" fmla="*/ 19 w 19"/>
                <a:gd name="T177" fmla="*/ 15 h 1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9" h="15">
                  <a:moveTo>
                    <a:pt x="8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11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4"/>
                  </a:lnTo>
                  <a:lnTo>
                    <a:pt x="16" y="4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4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8" name="Freeform 146"/>
            <p:cNvSpPr>
              <a:spLocks/>
            </p:cNvSpPr>
            <p:nvPr/>
          </p:nvSpPr>
          <p:spPr bwMode="auto">
            <a:xfrm>
              <a:off x="4311" y="2627"/>
              <a:ext cx="19" cy="15"/>
            </a:xfrm>
            <a:custGeom>
              <a:avLst/>
              <a:gdLst>
                <a:gd name="T0" fmla="*/ 11 w 19"/>
                <a:gd name="T1" fmla="*/ 4 h 15"/>
                <a:gd name="T2" fmla="*/ 15 w 19"/>
                <a:gd name="T3" fmla="*/ 4 h 15"/>
                <a:gd name="T4" fmla="*/ 15 w 19"/>
                <a:gd name="T5" fmla="*/ 4 h 15"/>
                <a:gd name="T6" fmla="*/ 15 w 19"/>
                <a:gd name="T7" fmla="*/ 4 h 15"/>
                <a:gd name="T8" fmla="*/ 15 w 19"/>
                <a:gd name="T9" fmla="*/ 0 h 15"/>
                <a:gd name="T10" fmla="*/ 19 w 19"/>
                <a:gd name="T11" fmla="*/ 4 h 15"/>
                <a:gd name="T12" fmla="*/ 19 w 19"/>
                <a:gd name="T13" fmla="*/ 4 h 15"/>
                <a:gd name="T14" fmla="*/ 19 w 19"/>
                <a:gd name="T15" fmla="*/ 4 h 15"/>
                <a:gd name="T16" fmla="*/ 19 w 19"/>
                <a:gd name="T17" fmla="*/ 4 h 15"/>
                <a:gd name="T18" fmla="*/ 19 w 19"/>
                <a:gd name="T19" fmla="*/ 4 h 15"/>
                <a:gd name="T20" fmla="*/ 19 w 19"/>
                <a:gd name="T21" fmla="*/ 4 h 15"/>
                <a:gd name="T22" fmla="*/ 11 w 19"/>
                <a:gd name="T23" fmla="*/ 7 h 15"/>
                <a:gd name="T24" fmla="*/ 15 w 19"/>
                <a:gd name="T25" fmla="*/ 11 h 15"/>
                <a:gd name="T26" fmla="*/ 15 w 19"/>
                <a:gd name="T27" fmla="*/ 11 h 15"/>
                <a:gd name="T28" fmla="*/ 15 w 19"/>
                <a:gd name="T29" fmla="*/ 11 h 15"/>
                <a:gd name="T30" fmla="*/ 15 w 19"/>
                <a:gd name="T31" fmla="*/ 15 h 15"/>
                <a:gd name="T32" fmla="*/ 15 w 19"/>
                <a:gd name="T33" fmla="*/ 15 h 15"/>
                <a:gd name="T34" fmla="*/ 11 w 19"/>
                <a:gd name="T35" fmla="*/ 15 h 15"/>
                <a:gd name="T36" fmla="*/ 7 w 19"/>
                <a:gd name="T37" fmla="*/ 11 h 15"/>
                <a:gd name="T38" fmla="*/ 7 w 19"/>
                <a:gd name="T39" fmla="*/ 11 h 15"/>
                <a:gd name="T40" fmla="*/ 11 w 19"/>
                <a:gd name="T41" fmla="*/ 11 h 15"/>
                <a:gd name="T42" fmla="*/ 11 w 19"/>
                <a:gd name="T43" fmla="*/ 11 h 15"/>
                <a:gd name="T44" fmla="*/ 11 w 19"/>
                <a:gd name="T45" fmla="*/ 7 h 15"/>
                <a:gd name="T46" fmla="*/ 7 w 19"/>
                <a:gd name="T47" fmla="*/ 11 h 15"/>
                <a:gd name="T48" fmla="*/ 7 w 19"/>
                <a:gd name="T49" fmla="*/ 11 h 15"/>
                <a:gd name="T50" fmla="*/ 7 w 19"/>
                <a:gd name="T51" fmla="*/ 11 h 15"/>
                <a:gd name="T52" fmla="*/ 7 w 19"/>
                <a:gd name="T53" fmla="*/ 11 h 15"/>
                <a:gd name="T54" fmla="*/ 4 w 19"/>
                <a:gd name="T55" fmla="*/ 11 h 15"/>
                <a:gd name="T56" fmla="*/ 0 w 19"/>
                <a:gd name="T57" fmla="*/ 11 h 15"/>
                <a:gd name="T58" fmla="*/ 4 w 19"/>
                <a:gd name="T59" fmla="*/ 11 h 15"/>
                <a:gd name="T60" fmla="*/ 4 w 19"/>
                <a:gd name="T61" fmla="*/ 7 h 15"/>
                <a:gd name="T62" fmla="*/ 4 w 19"/>
                <a:gd name="T63" fmla="*/ 7 h 15"/>
                <a:gd name="T64" fmla="*/ 4 w 19"/>
                <a:gd name="T65" fmla="*/ 7 h 15"/>
                <a:gd name="T66" fmla="*/ 7 w 19"/>
                <a:gd name="T67" fmla="*/ 0 h 15"/>
                <a:gd name="T68" fmla="*/ 7 w 19"/>
                <a:gd name="T69" fmla="*/ 0 h 15"/>
                <a:gd name="T70" fmla="*/ 7 w 19"/>
                <a:gd name="T71" fmla="*/ 0 h 15"/>
                <a:gd name="T72" fmla="*/ 7 w 19"/>
                <a:gd name="T73" fmla="*/ 0 h 15"/>
                <a:gd name="T74" fmla="*/ 7 w 19"/>
                <a:gd name="T75" fmla="*/ 0 h 15"/>
                <a:gd name="T76" fmla="*/ 11 w 19"/>
                <a:gd name="T77" fmla="*/ 0 h 15"/>
                <a:gd name="T78" fmla="*/ 11 w 19"/>
                <a:gd name="T79" fmla="*/ 0 h 15"/>
                <a:gd name="T80" fmla="*/ 15 w 19"/>
                <a:gd name="T81" fmla="*/ 0 h 15"/>
                <a:gd name="T82" fmla="*/ 15 w 19"/>
                <a:gd name="T83" fmla="*/ 0 h 15"/>
                <a:gd name="T84" fmla="*/ 11 w 19"/>
                <a:gd name="T85" fmla="*/ 4 h 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9"/>
                <a:gd name="T130" fmla="*/ 0 h 15"/>
                <a:gd name="T131" fmla="*/ 19 w 19"/>
                <a:gd name="T132" fmla="*/ 15 h 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9" h="15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1" y="7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11" y="7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29" name="Freeform 147"/>
            <p:cNvSpPr>
              <a:spLocks/>
            </p:cNvSpPr>
            <p:nvPr/>
          </p:nvSpPr>
          <p:spPr bwMode="auto">
            <a:xfrm>
              <a:off x="4330" y="2631"/>
              <a:ext cx="16" cy="15"/>
            </a:xfrm>
            <a:custGeom>
              <a:avLst/>
              <a:gdLst>
                <a:gd name="T0" fmla="*/ 8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2 w 16"/>
                <a:gd name="T11" fmla="*/ 3 h 15"/>
                <a:gd name="T12" fmla="*/ 12 w 16"/>
                <a:gd name="T13" fmla="*/ 3 h 15"/>
                <a:gd name="T14" fmla="*/ 12 w 16"/>
                <a:gd name="T15" fmla="*/ 0 h 15"/>
                <a:gd name="T16" fmla="*/ 12 w 16"/>
                <a:gd name="T17" fmla="*/ 0 h 15"/>
                <a:gd name="T18" fmla="*/ 16 w 16"/>
                <a:gd name="T19" fmla="*/ 3 h 15"/>
                <a:gd name="T20" fmla="*/ 16 w 16"/>
                <a:gd name="T21" fmla="*/ 3 h 15"/>
                <a:gd name="T22" fmla="*/ 16 w 16"/>
                <a:gd name="T23" fmla="*/ 3 h 15"/>
                <a:gd name="T24" fmla="*/ 16 w 16"/>
                <a:gd name="T25" fmla="*/ 3 h 15"/>
                <a:gd name="T26" fmla="*/ 16 w 16"/>
                <a:gd name="T27" fmla="*/ 3 h 15"/>
                <a:gd name="T28" fmla="*/ 16 w 16"/>
                <a:gd name="T29" fmla="*/ 3 h 15"/>
                <a:gd name="T30" fmla="*/ 16 w 16"/>
                <a:gd name="T31" fmla="*/ 3 h 15"/>
                <a:gd name="T32" fmla="*/ 16 w 16"/>
                <a:gd name="T33" fmla="*/ 3 h 15"/>
                <a:gd name="T34" fmla="*/ 8 w 16"/>
                <a:gd name="T35" fmla="*/ 7 h 15"/>
                <a:gd name="T36" fmla="*/ 8 w 16"/>
                <a:gd name="T37" fmla="*/ 11 h 15"/>
                <a:gd name="T38" fmla="*/ 8 w 16"/>
                <a:gd name="T39" fmla="*/ 11 h 15"/>
                <a:gd name="T40" fmla="*/ 8 w 16"/>
                <a:gd name="T41" fmla="*/ 11 h 15"/>
                <a:gd name="T42" fmla="*/ 12 w 16"/>
                <a:gd name="T43" fmla="*/ 11 h 15"/>
                <a:gd name="T44" fmla="*/ 12 w 16"/>
                <a:gd name="T45" fmla="*/ 11 h 15"/>
                <a:gd name="T46" fmla="*/ 12 w 16"/>
                <a:gd name="T47" fmla="*/ 11 h 15"/>
                <a:gd name="T48" fmla="*/ 8 w 16"/>
                <a:gd name="T49" fmla="*/ 15 h 15"/>
                <a:gd name="T50" fmla="*/ 8 w 16"/>
                <a:gd name="T51" fmla="*/ 15 h 15"/>
                <a:gd name="T52" fmla="*/ 0 w 16"/>
                <a:gd name="T53" fmla="*/ 11 h 15"/>
                <a:gd name="T54" fmla="*/ 0 w 16"/>
                <a:gd name="T55" fmla="*/ 11 h 15"/>
                <a:gd name="T56" fmla="*/ 0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4 w 16"/>
                <a:gd name="T65" fmla="*/ 11 h 15"/>
                <a:gd name="T66" fmla="*/ 4 w 16"/>
                <a:gd name="T67" fmla="*/ 11 h 15"/>
                <a:gd name="T68" fmla="*/ 4 w 16"/>
                <a:gd name="T69" fmla="*/ 7 h 15"/>
                <a:gd name="T70" fmla="*/ 4 w 16"/>
                <a:gd name="T71" fmla="*/ 0 h 15"/>
                <a:gd name="T72" fmla="*/ 4 w 16"/>
                <a:gd name="T73" fmla="*/ 0 h 15"/>
                <a:gd name="T74" fmla="*/ 4 w 16"/>
                <a:gd name="T75" fmla="*/ 0 h 15"/>
                <a:gd name="T76" fmla="*/ 4 w 16"/>
                <a:gd name="T77" fmla="*/ 0 h 15"/>
                <a:gd name="T78" fmla="*/ 4 w 16"/>
                <a:gd name="T79" fmla="*/ 0 h 15"/>
                <a:gd name="T80" fmla="*/ 4 w 16"/>
                <a:gd name="T81" fmla="*/ 0 h 15"/>
                <a:gd name="T82" fmla="*/ 4 w 16"/>
                <a:gd name="T83" fmla="*/ 0 h 15"/>
                <a:gd name="T84" fmla="*/ 8 w 16"/>
                <a:gd name="T85" fmla="*/ 0 h 15"/>
                <a:gd name="T86" fmla="*/ 8 w 16"/>
                <a:gd name="T87" fmla="*/ 0 h 15"/>
                <a:gd name="T88" fmla="*/ 8 w 16"/>
                <a:gd name="T89" fmla="*/ 0 h 15"/>
                <a:gd name="T90" fmla="*/ 12 w 16"/>
                <a:gd name="T91" fmla="*/ 0 h 15"/>
                <a:gd name="T92" fmla="*/ 12 w 16"/>
                <a:gd name="T93" fmla="*/ 0 h 15"/>
                <a:gd name="T94" fmla="*/ 12 w 16"/>
                <a:gd name="T95" fmla="*/ 0 h 15"/>
                <a:gd name="T96" fmla="*/ 8 w 16"/>
                <a:gd name="T97" fmla="*/ 3 h 15"/>
                <a:gd name="T98" fmla="*/ 8 w 16"/>
                <a:gd name="T99" fmla="*/ 3 h 15"/>
                <a:gd name="T100" fmla="*/ 8 w 16"/>
                <a:gd name="T101" fmla="*/ 3 h 1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5"/>
                <a:gd name="T155" fmla="*/ 16 w 16"/>
                <a:gd name="T156" fmla="*/ 15 h 1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5">
                  <a:moveTo>
                    <a:pt x="8" y="3"/>
                  </a:moveTo>
                  <a:lnTo>
                    <a:pt x="8" y="7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1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30" name="Freeform 148"/>
            <p:cNvSpPr>
              <a:spLocks/>
            </p:cNvSpPr>
            <p:nvPr/>
          </p:nvSpPr>
          <p:spPr bwMode="auto">
            <a:xfrm>
              <a:off x="4346" y="2634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8 w 16"/>
                <a:gd name="T3" fmla="*/ 12 h 16"/>
                <a:gd name="T4" fmla="*/ 8 w 16"/>
                <a:gd name="T5" fmla="*/ 12 h 16"/>
                <a:gd name="T6" fmla="*/ 12 w 16"/>
                <a:gd name="T7" fmla="*/ 8 h 16"/>
                <a:gd name="T8" fmla="*/ 12 w 16"/>
                <a:gd name="T9" fmla="*/ 8 h 16"/>
                <a:gd name="T10" fmla="*/ 12 w 16"/>
                <a:gd name="T11" fmla="*/ 8 h 16"/>
                <a:gd name="T12" fmla="*/ 12 w 16"/>
                <a:gd name="T13" fmla="*/ 12 h 16"/>
                <a:gd name="T14" fmla="*/ 12 w 16"/>
                <a:gd name="T15" fmla="*/ 12 h 16"/>
                <a:gd name="T16" fmla="*/ 12 w 16"/>
                <a:gd name="T17" fmla="*/ 12 h 16"/>
                <a:gd name="T18" fmla="*/ 12 w 16"/>
                <a:gd name="T19" fmla="*/ 16 h 16"/>
                <a:gd name="T20" fmla="*/ 12 w 16"/>
                <a:gd name="T21" fmla="*/ 16 h 16"/>
                <a:gd name="T22" fmla="*/ 8 w 16"/>
                <a:gd name="T23" fmla="*/ 16 h 16"/>
                <a:gd name="T24" fmla="*/ 8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0 w 16"/>
                <a:gd name="T39" fmla="*/ 12 h 16"/>
                <a:gd name="T40" fmla="*/ 12 w 16"/>
                <a:gd name="T41" fmla="*/ 4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4 w 16"/>
                <a:gd name="T49" fmla="*/ 4 h 16"/>
                <a:gd name="T50" fmla="*/ 4 w 16"/>
                <a:gd name="T51" fmla="*/ 4 h 16"/>
                <a:gd name="T52" fmla="*/ 4 w 16"/>
                <a:gd name="T53" fmla="*/ 4 h 16"/>
                <a:gd name="T54" fmla="*/ 4 w 16"/>
                <a:gd name="T55" fmla="*/ 4 h 16"/>
                <a:gd name="T56" fmla="*/ 4 w 16"/>
                <a:gd name="T57" fmla="*/ 4 h 16"/>
                <a:gd name="T58" fmla="*/ 4 w 16"/>
                <a:gd name="T59" fmla="*/ 4 h 16"/>
                <a:gd name="T60" fmla="*/ 4 w 16"/>
                <a:gd name="T61" fmla="*/ 0 h 16"/>
                <a:gd name="T62" fmla="*/ 4 w 16"/>
                <a:gd name="T63" fmla="*/ 0 h 16"/>
                <a:gd name="T64" fmla="*/ 8 w 16"/>
                <a:gd name="T65" fmla="*/ 0 h 16"/>
                <a:gd name="T66" fmla="*/ 8 w 16"/>
                <a:gd name="T67" fmla="*/ 0 h 16"/>
                <a:gd name="T68" fmla="*/ 16 w 16"/>
                <a:gd name="T69" fmla="*/ 4 h 16"/>
                <a:gd name="T70" fmla="*/ 16 w 16"/>
                <a:gd name="T71" fmla="*/ 4 h 16"/>
                <a:gd name="T72" fmla="*/ 16 w 16"/>
                <a:gd name="T73" fmla="*/ 4 h 16"/>
                <a:gd name="T74" fmla="*/ 16 w 16"/>
                <a:gd name="T75" fmla="*/ 4 h 16"/>
                <a:gd name="T76" fmla="*/ 16 w 16"/>
                <a:gd name="T77" fmla="*/ 4 h 16"/>
                <a:gd name="T78" fmla="*/ 16 w 16"/>
                <a:gd name="T79" fmla="*/ 4 h 16"/>
                <a:gd name="T80" fmla="*/ 16 w 16"/>
                <a:gd name="T81" fmla="*/ 4 h 16"/>
                <a:gd name="T82" fmla="*/ 4 w 16"/>
                <a:gd name="T83" fmla="*/ 12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6"/>
                <a:gd name="T128" fmla="*/ 16 w 16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6">
                  <a:moveTo>
                    <a:pt x="4" y="12"/>
                  </a:moveTo>
                  <a:lnTo>
                    <a:pt x="8" y="12"/>
                  </a:lnTo>
                  <a:lnTo>
                    <a:pt x="12" y="8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6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31" name="Freeform 149"/>
            <p:cNvSpPr>
              <a:spLocks noEditPoints="1"/>
            </p:cNvSpPr>
            <p:nvPr/>
          </p:nvSpPr>
          <p:spPr bwMode="auto">
            <a:xfrm>
              <a:off x="4153" y="2686"/>
              <a:ext cx="20" cy="19"/>
            </a:xfrm>
            <a:custGeom>
              <a:avLst/>
              <a:gdLst>
                <a:gd name="T0" fmla="*/ 16 w 20"/>
                <a:gd name="T1" fmla="*/ 0 h 19"/>
                <a:gd name="T2" fmla="*/ 16 w 20"/>
                <a:gd name="T3" fmla="*/ 0 h 19"/>
                <a:gd name="T4" fmla="*/ 20 w 20"/>
                <a:gd name="T5" fmla="*/ 4 h 19"/>
                <a:gd name="T6" fmla="*/ 20 w 20"/>
                <a:gd name="T7" fmla="*/ 4 h 19"/>
                <a:gd name="T8" fmla="*/ 20 w 20"/>
                <a:gd name="T9" fmla="*/ 4 h 19"/>
                <a:gd name="T10" fmla="*/ 20 w 20"/>
                <a:gd name="T11" fmla="*/ 11 h 19"/>
                <a:gd name="T12" fmla="*/ 20 w 20"/>
                <a:gd name="T13" fmla="*/ 11 h 19"/>
                <a:gd name="T14" fmla="*/ 20 w 20"/>
                <a:gd name="T15" fmla="*/ 11 h 19"/>
                <a:gd name="T16" fmla="*/ 12 w 20"/>
                <a:gd name="T17" fmla="*/ 15 h 19"/>
                <a:gd name="T18" fmla="*/ 12 w 20"/>
                <a:gd name="T19" fmla="*/ 15 h 19"/>
                <a:gd name="T20" fmla="*/ 12 w 20"/>
                <a:gd name="T21" fmla="*/ 15 h 19"/>
                <a:gd name="T22" fmla="*/ 4 w 20"/>
                <a:gd name="T23" fmla="*/ 19 h 19"/>
                <a:gd name="T24" fmla="*/ 4 w 20"/>
                <a:gd name="T25" fmla="*/ 19 h 19"/>
                <a:gd name="T26" fmla="*/ 4 w 20"/>
                <a:gd name="T27" fmla="*/ 19 h 19"/>
                <a:gd name="T28" fmla="*/ 0 w 20"/>
                <a:gd name="T29" fmla="*/ 11 h 19"/>
                <a:gd name="T30" fmla="*/ 0 w 20"/>
                <a:gd name="T31" fmla="*/ 11 h 19"/>
                <a:gd name="T32" fmla="*/ 0 w 20"/>
                <a:gd name="T33" fmla="*/ 11 h 19"/>
                <a:gd name="T34" fmla="*/ 4 w 20"/>
                <a:gd name="T35" fmla="*/ 4 h 19"/>
                <a:gd name="T36" fmla="*/ 4 w 20"/>
                <a:gd name="T37" fmla="*/ 4 h 19"/>
                <a:gd name="T38" fmla="*/ 4 w 20"/>
                <a:gd name="T39" fmla="*/ 4 h 19"/>
                <a:gd name="T40" fmla="*/ 8 w 20"/>
                <a:gd name="T41" fmla="*/ 0 h 19"/>
                <a:gd name="T42" fmla="*/ 8 w 20"/>
                <a:gd name="T43" fmla="*/ 0 h 19"/>
                <a:gd name="T44" fmla="*/ 8 w 20"/>
                <a:gd name="T45" fmla="*/ 0 h 19"/>
                <a:gd name="T46" fmla="*/ 16 w 20"/>
                <a:gd name="T47" fmla="*/ 0 h 19"/>
                <a:gd name="T48" fmla="*/ 16 w 20"/>
                <a:gd name="T49" fmla="*/ 0 h 19"/>
                <a:gd name="T50" fmla="*/ 16 w 20"/>
                <a:gd name="T51" fmla="*/ 0 h 19"/>
                <a:gd name="T52" fmla="*/ 16 w 20"/>
                <a:gd name="T53" fmla="*/ 0 h 19"/>
                <a:gd name="T54" fmla="*/ 12 w 20"/>
                <a:gd name="T55" fmla="*/ 4 h 19"/>
                <a:gd name="T56" fmla="*/ 12 w 20"/>
                <a:gd name="T57" fmla="*/ 4 h 19"/>
                <a:gd name="T58" fmla="*/ 12 w 20"/>
                <a:gd name="T59" fmla="*/ 4 h 19"/>
                <a:gd name="T60" fmla="*/ 8 w 20"/>
                <a:gd name="T61" fmla="*/ 8 h 19"/>
                <a:gd name="T62" fmla="*/ 8 w 20"/>
                <a:gd name="T63" fmla="*/ 8 h 19"/>
                <a:gd name="T64" fmla="*/ 8 w 20"/>
                <a:gd name="T65" fmla="*/ 8 h 19"/>
                <a:gd name="T66" fmla="*/ 4 w 20"/>
                <a:gd name="T67" fmla="*/ 11 h 19"/>
                <a:gd name="T68" fmla="*/ 4 w 20"/>
                <a:gd name="T69" fmla="*/ 11 h 19"/>
                <a:gd name="T70" fmla="*/ 4 w 20"/>
                <a:gd name="T71" fmla="*/ 11 h 19"/>
                <a:gd name="T72" fmla="*/ 8 w 20"/>
                <a:gd name="T73" fmla="*/ 15 h 19"/>
                <a:gd name="T74" fmla="*/ 8 w 20"/>
                <a:gd name="T75" fmla="*/ 15 h 19"/>
                <a:gd name="T76" fmla="*/ 8 w 20"/>
                <a:gd name="T77" fmla="*/ 15 h 19"/>
                <a:gd name="T78" fmla="*/ 12 w 20"/>
                <a:gd name="T79" fmla="*/ 11 h 19"/>
                <a:gd name="T80" fmla="*/ 12 w 20"/>
                <a:gd name="T81" fmla="*/ 11 h 19"/>
                <a:gd name="T82" fmla="*/ 12 w 20"/>
                <a:gd name="T83" fmla="*/ 11 h 19"/>
                <a:gd name="T84" fmla="*/ 16 w 20"/>
                <a:gd name="T85" fmla="*/ 8 h 19"/>
                <a:gd name="T86" fmla="*/ 16 w 20"/>
                <a:gd name="T87" fmla="*/ 8 h 19"/>
                <a:gd name="T88" fmla="*/ 16 w 20"/>
                <a:gd name="T89" fmla="*/ 8 h 19"/>
                <a:gd name="T90" fmla="*/ 16 w 20"/>
                <a:gd name="T91" fmla="*/ 4 h 19"/>
                <a:gd name="T92" fmla="*/ 16 w 20"/>
                <a:gd name="T93" fmla="*/ 4 h 19"/>
                <a:gd name="T94" fmla="*/ 16 w 20"/>
                <a:gd name="T95" fmla="*/ 4 h 19"/>
                <a:gd name="T96" fmla="*/ 16 w 20"/>
                <a:gd name="T97" fmla="*/ 0 h 19"/>
                <a:gd name="T98" fmla="*/ 16 w 20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0"/>
                <a:gd name="T151" fmla="*/ 0 h 19"/>
                <a:gd name="T152" fmla="*/ 20 w 20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0" h="19">
                  <a:moveTo>
                    <a:pt x="16" y="0"/>
                  </a:moveTo>
                  <a:lnTo>
                    <a:pt x="16" y="0"/>
                  </a:lnTo>
                  <a:lnTo>
                    <a:pt x="20" y="4"/>
                  </a:lnTo>
                  <a:lnTo>
                    <a:pt x="20" y="11"/>
                  </a:lnTo>
                  <a:lnTo>
                    <a:pt x="12" y="15"/>
                  </a:lnTo>
                  <a:lnTo>
                    <a:pt x="4" y="19"/>
                  </a:lnTo>
                  <a:lnTo>
                    <a:pt x="0" y="11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close/>
                  <a:moveTo>
                    <a:pt x="16" y="0"/>
                  </a:moveTo>
                  <a:lnTo>
                    <a:pt x="16" y="0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1"/>
                  </a:lnTo>
                  <a:lnTo>
                    <a:pt x="8" y="15"/>
                  </a:lnTo>
                  <a:lnTo>
                    <a:pt x="12" y="11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32" name="Freeform 150"/>
            <p:cNvSpPr>
              <a:spLocks/>
            </p:cNvSpPr>
            <p:nvPr/>
          </p:nvSpPr>
          <p:spPr bwMode="auto">
            <a:xfrm>
              <a:off x="4177" y="2690"/>
              <a:ext cx="15" cy="19"/>
            </a:xfrm>
            <a:custGeom>
              <a:avLst/>
              <a:gdLst>
                <a:gd name="T0" fmla="*/ 11 w 15"/>
                <a:gd name="T1" fmla="*/ 7 h 19"/>
                <a:gd name="T2" fmla="*/ 15 w 15"/>
                <a:gd name="T3" fmla="*/ 11 h 19"/>
                <a:gd name="T4" fmla="*/ 15 w 15"/>
                <a:gd name="T5" fmla="*/ 11 h 19"/>
                <a:gd name="T6" fmla="*/ 15 w 15"/>
                <a:gd name="T7" fmla="*/ 11 h 19"/>
                <a:gd name="T8" fmla="*/ 15 w 15"/>
                <a:gd name="T9" fmla="*/ 11 h 19"/>
                <a:gd name="T10" fmla="*/ 15 w 15"/>
                <a:gd name="T11" fmla="*/ 11 h 19"/>
                <a:gd name="T12" fmla="*/ 15 w 15"/>
                <a:gd name="T13" fmla="*/ 11 h 19"/>
                <a:gd name="T14" fmla="*/ 15 w 15"/>
                <a:gd name="T15" fmla="*/ 11 h 19"/>
                <a:gd name="T16" fmla="*/ 15 w 15"/>
                <a:gd name="T17" fmla="*/ 11 h 19"/>
                <a:gd name="T18" fmla="*/ 15 w 15"/>
                <a:gd name="T19" fmla="*/ 11 h 19"/>
                <a:gd name="T20" fmla="*/ 15 w 15"/>
                <a:gd name="T21" fmla="*/ 11 h 19"/>
                <a:gd name="T22" fmla="*/ 15 w 15"/>
                <a:gd name="T23" fmla="*/ 11 h 19"/>
                <a:gd name="T24" fmla="*/ 15 w 15"/>
                <a:gd name="T25" fmla="*/ 11 h 19"/>
                <a:gd name="T26" fmla="*/ 15 w 15"/>
                <a:gd name="T27" fmla="*/ 11 h 19"/>
                <a:gd name="T28" fmla="*/ 15 w 15"/>
                <a:gd name="T29" fmla="*/ 11 h 19"/>
                <a:gd name="T30" fmla="*/ 8 w 15"/>
                <a:gd name="T31" fmla="*/ 11 h 19"/>
                <a:gd name="T32" fmla="*/ 8 w 15"/>
                <a:gd name="T33" fmla="*/ 11 h 19"/>
                <a:gd name="T34" fmla="*/ 4 w 15"/>
                <a:gd name="T35" fmla="*/ 15 h 19"/>
                <a:gd name="T36" fmla="*/ 4 w 15"/>
                <a:gd name="T37" fmla="*/ 15 h 19"/>
                <a:gd name="T38" fmla="*/ 4 w 15"/>
                <a:gd name="T39" fmla="*/ 15 h 19"/>
                <a:gd name="T40" fmla="*/ 4 w 15"/>
                <a:gd name="T41" fmla="*/ 19 h 19"/>
                <a:gd name="T42" fmla="*/ 4 w 15"/>
                <a:gd name="T43" fmla="*/ 19 h 19"/>
                <a:gd name="T44" fmla="*/ 4 w 15"/>
                <a:gd name="T45" fmla="*/ 19 h 19"/>
                <a:gd name="T46" fmla="*/ 4 w 15"/>
                <a:gd name="T47" fmla="*/ 19 h 19"/>
                <a:gd name="T48" fmla="*/ 4 w 15"/>
                <a:gd name="T49" fmla="*/ 19 h 19"/>
                <a:gd name="T50" fmla="*/ 4 w 15"/>
                <a:gd name="T51" fmla="*/ 19 h 19"/>
                <a:gd name="T52" fmla="*/ 0 w 15"/>
                <a:gd name="T53" fmla="*/ 15 h 19"/>
                <a:gd name="T54" fmla="*/ 0 w 15"/>
                <a:gd name="T55" fmla="*/ 15 h 19"/>
                <a:gd name="T56" fmla="*/ 0 w 15"/>
                <a:gd name="T57" fmla="*/ 15 h 19"/>
                <a:gd name="T58" fmla="*/ 0 w 15"/>
                <a:gd name="T59" fmla="*/ 15 h 19"/>
                <a:gd name="T60" fmla="*/ 0 w 15"/>
                <a:gd name="T61" fmla="*/ 15 h 19"/>
                <a:gd name="T62" fmla="*/ 4 w 15"/>
                <a:gd name="T63" fmla="*/ 11 h 19"/>
                <a:gd name="T64" fmla="*/ 4 w 15"/>
                <a:gd name="T65" fmla="*/ 11 h 19"/>
                <a:gd name="T66" fmla="*/ 0 w 15"/>
                <a:gd name="T67" fmla="*/ 7 h 19"/>
                <a:gd name="T68" fmla="*/ 0 w 15"/>
                <a:gd name="T69" fmla="*/ 7 h 19"/>
                <a:gd name="T70" fmla="*/ 0 w 15"/>
                <a:gd name="T71" fmla="*/ 7 h 19"/>
                <a:gd name="T72" fmla="*/ 0 w 15"/>
                <a:gd name="T73" fmla="*/ 7 h 19"/>
                <a:gd name="T74" fmla="*/ 0 w 15"/>
                <a:gd name="T75" fmla="*/ 7 h 19"/>
                <a:gd name="T76" fmla="*/ 0 w 15"/>
                <a:gd name="T77" fmla="*/ 7 h 19"/>
                <a:gd name="T78" fmla="*/ 0 w 15"/>
                <a:gd name="T79" fmla="*/ 7 h 19"/>
                <a:gd name="T80" fmla="*/ 0 w 15"/>
                <a:gd name="T81" fmla="*/ 7 h 19"/>
                <a:gd name="T82" fmla="*/ 0 w 15"/>
                <a:gd name="T83" fmla="*/ 7 h 19"/>
                <a:gd name="T84" fmla="*/ 0 w 15"/>
                <a:gd name="T85" fmla="*/ 7 h 19"/>
                <a:gd name="T86" fmla="*/ 0 w 15"/>
                <a:gd name="T87" fmla="*/ 7 h 19"/>
                <a:gd name="T88" fmla="*/ 0 w 15"/>
                <a:gd name="T89" fmla="*/ 7 h 19"/>
                <a:gd name="T90" fmla="*/ 0 w 15"/>
                <a:gd name="T91" fmla="*/ 7 h 19"/>
                <a:gd name="T92" fmla="*/ 8 w 15"/>
                <a:gd name="T93" fmla="*/ 7 h 19"/>
                <a:gd name="T94" fmla="*/ 8 w 15"/>
                <a:gd name="T95" fmla="*/ 7 h 19"/>
                <a:gd name="T96" fmla="*/ 8 w 15"/>
                <a:gd name="T97" fmla="*/ 4 h 19"/>
                <a:gd name="T98" fmla="*/ 8 w 15"/>
                <a:gd name="T99" fmla="*/ 4 h 19"/>
                <a:gd name="T100" fmla="*/ 8 w 15"/>
                <a:gd name="T101" fmla="*/ 4 h 19"/>
                <a:gd name="T102" fmla="*/ 11 w 15"/>
                <a:gd name="T103" fmla="*/ 0 h 19"/>
                <a:gd name="T104" fmla="*/ 11 w 15"/>
                <a:gd name="T105" fmla="*/ 0 h 19"/>
                <a:gd name="T106" fmla="*/ 11 w 15"/>
                <a:gd name="T107" fmla="*/ 0 h 19"/>
                <a:gd name="T108" fmla="*/ 11 w 15"/>
                <a:gd name="T109" fmla="*/ 0 h 19"/>
                <a:gd name="T110" fmla="*/ 11 w 15"/>
                <a:gd name="T111" fmla="*/ 0 h 19"/>
                <a:gd name="T112" fmla="*/ 11 w 15"/>
                <a:gd name="T113" fmla="*/ 0 h 19"/>
                <a:gd name="T114" fmla="*/ 11 w 15"/>
                <a:gd name="T115" fmla="*/ 4 h 19"/>
                <a:gd name="T116" fmla="*/ 11 w 15"/>
                <a:gd name="T117" fmla="*/ 4 h 19"/>
                <a:gd name="T118" fmla="*/ 11 w 15"/>
                <a:gd name="T119" fmla="*/ 4 h 19"/>
                <a:gd name="T120" fmla="*/ 11 w 15"/>
                <a:gd name="T121" fmla="*/ 4 h 19"/>
                <a:gd name="T122" fmla="*/ 11 w 15"/>
                <a:gd name="T123" fmla="*/ 4 h 19"/>
                <a:gd name="T124" fmla="*/ 11 w 15"/>
                <a:gd name="T125" fmla="*/ 7 h 1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9"/>
                <a:gd name="T191" fmla="*/ 15 w 15"/>
                <a:gd name="T192" fmla="*/ 19 h 1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9">
                  <a:moveTo>
                    <a:pt x="11" y="7"/>
                  </a:moveTo>
                  <a:lnTo>
                    <a:pt x="15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0" y="7"/>
                  </a:lnTo>
                  <a:lnTo>
                    <a:pt x="8" y="7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33" name="Freeform 151"/>
            <p:cNvSpPr>
              <a:spLocks/>
            </p:cNvSpPr>
            <p:nvPr/>
          </p:nvSpPr>
          <p:spPr bwMode="auto">
            <a:xfrm>
              <a:off x="4043" y="2658"/>
              <a:ext cx="27" cy="24"/>
            </a:xfrm>
            <a:custGeom>
              <a:avLst/>
              <a:gdLst>
                <a:gd name="T0" fmla="*/ 27 w 27"/>
                <a:gd name="T1" fmla="*/ 8 h 24"/>
                <a:gd name="T2" fmla="*/ 27 w 27"/>
                <a:gd name="T3" fmla="*/ 8 h 24"/>
                <a:gd name="T4" fmla="*/ 27 w 27"/>
                <a:gd name="T5" fmla="*/ 8 h 24"/>
                <a:gd name="T6" fmla="*/ 27 w 27"/>
                <a:gd name="T7" fmla="*/ 8 h 24"/>
                <a:gd name="T8" fmla="*/ 27 w 27"/>
                <a:gd name="T9" fmla="*/ 12 h 24"/>
                <a:gd name="T10" fmla="*/ 27 w 27"/>
                <a:gd name="T11" fmla="*/ 12 h 24"/>
                <a:gd name="T12" fmla="*/ 27 w 27"/>
                <a:gd name="T13" fmla="*/ 12 h 24"/>
                <a:gd name="T14" fmla="*/ 27 w 27"/>
                <a:gd name="T15" fmla="*/ 16 h 24"/>
                <a:gd name="T16" fmla="*/ 27 w 27"/>
                <a:gd name="T17" fmla="*/ 16 h 24"/>
                <a:gd name="T18" fmla="*/ 15 w 27"/>
                <a:gd name="T19" fmla="*/ 12 h 24"/>
                <a:gd name="T20" fmla="*/ 19 w 27"/>
                <a:gd name="T21" fmla="*/ 20 h 24"/>
                <a:gd name="T22" fmla="*/ 19 w 27"/>
                <a:gd name="T23" fmla="*/ 20 h 24"/>
                <a:gd name="T24" fmla="*/ 19 w 27"/>
                <a:gd name="T25" fmla="*/ 20 h 24"/>
                <a:gd name="T26" fmla="*/ 19 w 27"/>
                <a:gd name="T27" fmla="*/ 20 h 24"/>
                <a:gd name="T28" fmla="*/ 15 w 27"/>
                <a:gd name="T29" fmla="*/ 20 h 24"/>
                <a:gd name="T30" fmla="*/ 15 w 27"/>
                <a:gd name="T31" fmla="*/ 24 h 24"/>
                <a:gd name="T32" fmla="*/ 12 w 27"/>
                <a:gd name="T33" fmla="*/ 24 h 24"/>
                <a:gd name="T34" fmla="*/ 12 w 27"/>
                <a:gd name="T35" fmla="*/ 24 h 24"/>
                <a:gd name="T36" fmla="*/ 12 w 27"/>
                <a:gd name="T37" fmla="*/ 24 h 24"/>
                <a:gd name="T38" fmla="*/ 12 w 27"/>
                <a:gd name="T39" fmla="*/ 16 h 24"/>
                <a:gd name="T40" fmla="*/ 4 w 27"/>
                <a:gd name="T41" fmla="*/ 20 h 24"/>
                <a:gd name="T42" fmla="*/ 4 w 27"/>
                <a:gd name="T43" fmla="*/ 20 h 24"/>
                <a:gd name="T44" fmla="*/ 4 w 27"/>
                <a:gd name="T45" fmla="*/ 20 h 24"/>
                <a:gd name="T46" fmla="*/ 4 w 27"/>
                <a:gd name="T47" fmla="*/ 20 h 24"/>
                <a:gd name="T48" fmla="*/ 4 w 27"/>
                <a:gd name="T49" fmla="*/ 20 h 24"/>
                <a:gd name="T50" fmla="*/ 4 w 27"/>
                <a:gd name="T51" fmla="*/ 16 h 24"/>
                <a:gd name="T52" fmla="*/ 0 w 27"/>
                <a:gd name="T53" fmla="*/ 16 h 24"/>
                <a:gd name="T54" fmla="*/ 0 w 27"/>
                <a:gd name="T55" fmla="*/ 16 h 24"/>
                <a:gd name="T56" fmla="*/ 4 w 27"/>
                <a:gd name="T57" fmla="*/ 16 h 24"/>
                <a:gd name="T58" fmla="*/ 12 w 27"/>
                <a:gd name="T59" fmla="*/ 12 h 24"/>
                <a:gd name="T60" fmla="*/ 4 w 27"/>
                <a:gd name="T61" fmla="*/ 8 h 24"/>
                <a:gd name="T62" fmla="*/ 4 w 27"/>
                <a:gd name="T63" fmla="*/ 8 h 24"/>
                <a:gd name="T64" fmla="*/ 4 w 27"/>
                <a:gd name="T65" fmla="*/ 8 h 24"/>
                <a:gd name="T66" fmla="*/ 4 w 27"/>
                <a:gd name="T67" fmla="*/ 8 h 24"/>
                <a:gd name="T68" fmla="*/ 4 w 27"/>
                <a:gd name="T69" fmla="*/ 8 h 24"/>
                <a:gd name="T70" fmla="*/ 8 w 27"/>
                <a:gd name="T71" fmla="*/ 4 h 24"/>
                <a:gd name="T72" fmla="*/ 8 w 27"/>
                <a:gd name="T73" fmla="*/ 4 h 24"/>
                <a:gd name="T74" fmla="*/ 8 w 27"/>
                <a:gd name="T75" fmla="*/ 4 h 24"/>
                <a:gd name="T76" fmla="*/ 8 w 27"/>
                <a:gd name="T77" fmla="*/ 4 h 24"/>
                <a:gd name="T78" fmla="*/ 15 w 27"/>
                <a:gd name="T79" fmla="*/ 8 h 24"/>
                <a:gd name="T80" fmla="*/ 19 w 27"/>
                <a:gd name="T81" fmla="*/ 0 h 24"/>
                <a:gd name="T82" fmla="*/ 19 w 27"/>
                <a:gd name="T83" fmla="*/ 0 h 24"/>
                <a:gd name="T84" fmla="*/ 19 w 27"/>
                <a:gd name="T85" fmla="*/ 0 h 24"/>
                <a:gd name="T86" fmla="*/ 23 w 27"/>
                <a:gd name="T87" fmla="*/ 4 h 24"/>
                <a:gd name="T88" fmla="*/ 23 w 27"/>
                <a:gd name="T89" fmla="*/ 4 h 24"/>
                <a:gd name="T90" fmla="*/ 23 w 27"/>
                <a:gd name="T91" fmla="*/ 4 h 24"/>
                <a:gd name="T92" fmla="*/ 19 w 27"/>
                <a:gd name="T93" fmla="*/ 12 h 2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7"/>
                <a:gd name="T142" fmla="*/ 0 h 24"/>
                <a:gd name="T143" fmla="*/ 27 w 27"/>
                <a:gd name="T144" fmla="*/ 24 h 24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7" h="24">
                  <a:moveTo>
                    <a:pt x="19" y="12"/>
                  </a:moveTo>
                  <a:lnTo>
                    <a:pt x="27" y="8"/>
                  </a:lnTo>
                  <a:lnTo>
                    <a:pt x="27" y="12"/>
                  </a:lnTo>
                  <a:lnTo>
                    <a:pt x="27" y="16"/>
                  </a:lnTo>
                  <a:lnTo>
                    <a:pt x="23" y="16"/>
                  </a:lnTo>
                  <a:lnTo>
                    <a:pt x="15" y="12"/>
                  </a:lnTo>
                  <a:lnTo>
                    <a:pt x="19" y="20"/>
                  </a:lnTo>
                  <a:lnTo>
                    <a:pt x="15" y="20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4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2" y="12"/>
                  </a:lnTo>
                  <a:lnTo>
                    <a:pt x="4" y="8"/>
                  </a:lnTo>
                  <a:lnTo>
                    <a:pt x="8" y="4"/>
                  </a:lnTo>
                  <a:lnTo>
                    <a:pt x="15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23" y="4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34" name="Freeform 152"/>
            <p:cNvSpPr>
              <a:spLocks noEditPoints="1"/>
            </p:cNvSpPr>
            <p:nvPr/>
          </p:nvSpPr>
          <p:spPr bwMode="auto">
            <a:xfrm>
              <a:off x="4263" y="2705"/>
              <a:ext cx="36" cy="32"/>
            </a:xfrm>
            <a:custGeom>
              <a:avLst/>
              <a:gdLst>
                <a:gd name="T0" fmla="*/ 20 w 36"/>
                <a:gd name="T1" fmla="*/ 0 h 32"/>
                <a:gd name="T2" fmla="*/ 24 w 36"/>
                <a:gd name="T3" fmla="*/ 0 h 32"/>
                <a:gd name="T4" fmla="*/ 24 w 36"/>
                <a:gd name="T5" fmla="*/ 4 h 32"/>
                <a:gd name="T6" fmla="*/ 24 w 36"/>
                <a:gd name="T7" fmla="*/ 4 h 32"/>
                <a:gd name="T8" fmla="*/ 24 w 36"/>
                <a:gd name="T9" fmla="*/ 4 h 32"/>
                <a:gd name="T10" fmla="*/ 24 w 36"/>
                <a:gd name="T11" fmla="*/ 12 h 32"/>
                <a:gd name="T12" fmla="*/ 28 w 36"/>
                <a:gd name="T13" fmla="*/ 4 h 32"/>
                <a:gd name="T14" fmla="*/ 32 w 36"/>
                <a:gd name="T15" fmla="*/ 4 h 32"/>
                <a:gd name="T16" fmla="*/ 32 w 36"/>
                <a:gd name="T17" fmla="*/ 4 h 32"/>
                <a:gd name="T18" fmla="*/ 36 w 36"/>
                <a:gd name="T19" fmla="*/ 4 h 32"/>
                <a:gd name="T20" fmla="*/ 36 w 36"/>
                <a:gd name="T21" fmla="*/ 8 h 32"/>
                <a:gd name="T22" fmla="*/ 32 w 36"/>
                <a:gd name="T23" fmla="*/ 16 h 32"/>
                <a:gd name="T24" fmla="*/ 32 w 36"/>
                <a:gd name="T25" fmla="*/ 16 h 32"/>
                <a:gd name="T26" fmla="*/ 36 w 36"/>
                <a:gd name="T27" fmla="*/ 16 h 32"/>
                <a:gd name="T28" fmla="*/ 36 w 36"/>
                <a:gd name="T29" fmla="*/ 16 h 32"/>
                <a:gd name="T30" fmla="*/ 36 w 36"/>
                <a:gd name="T31" fmla="*/ 20 h 32"/>
                <a:gd name="T32" fmla="*/ 32 w 36"/>
                <a:gd name="T33" fmla="*/ 20 h 32"/>
                <a:gd name="T34" fmla="*/ 24 w 36"/>
                <a:gd name="T35" fmla="*/ 20 h 32"/>
                <a:gd name="T36" fmla="*/ 32 w 36"/>
                <a:gd name="T37" fmla="*/ 24 h 32"/>
                <a:gd name="T38" fmla="*/ 32 w 36"/>
                <a:gd name="T39" fmla="*/ 24 h 32"/>
                <a:gd name="T40" fmla="*/ 32 w 36"/>
                <a:gd name="T41" fmla="*/ 24 h 32"/>
                <a:gd name="T42" fmla="*/ 32 w 36"/>
                <a:gd name="T43" fmla="*/ 24 h 32"/>
                <a:gd name="T44" fmla="*/ 28 w 36"/>
                <a:gd name="T45" fmla="*/ 24 h 32"/>
                <a:gd name="T46" fmla="*/ 20 w 36"/>
                <a:gd name="T47" fmla="*/ 32 h 32"/>
                <a:gd name="T48" fmla="*/ 16 w 36"/>
                <a:gd name="T49" fmla="*/ 32 h 32"/>
                <a:gd name="T50" fmla="*/ 16 w 36"/>
                <a:gd name="T51" fmla="*/ 32 h 32"/>
                <a:gd name="T52" fmla="*/ 12 w 36"/>
                <a:gd name="T53" fmla="*/ 32 h 32"/>
                <a:gd name="T54" fmla="*/ 12 w 36"/>
                <a:gd name="T55" fmla="*/ 28 h 32"/>
                <a:gd name="T56" fmla="*/ 12 w 36"/>
                <a:gd name="T57" fmla="*/ 28 h 32"/>
                <a:gd name="T58" fmla="*/ 12 w 36"/>
                <a:gd name="T59" fmla="*/ 20 h 32"/>
                <a:gd name="T60" fmla="*/ 8 w 36"/>
                <a:gd name="T61" fmla="*/ 28 h 32"/>
                <a:gd name="T62" fmla="*/ 8 w 36"/>
                <a:gd name="T63" fmla="*/ 28 h 32"/>
                <a:gd name="T64" fmla="*/ 4 w 36"/>
                <a:gd name="T65" fmla="*/ 28 h 32"/>
                <a:gd name="T66" fmla="*/ 0 w 36"/>
                <a:gd name="T67" fmla="*/ 28 h 32"/>
                <a:gd name="T68" fmla="*/ 0 w 36"/>
                <a:gd name="T69" fmla="*/ 24 h 32"/>
                <a:gd name="T70" fmla="*/ 8 w 36"/>
                <a:gd name="T71" fmla="*/ 20 h 32"/>
                <a:gd name="T72" fmla="*/ 4 w 36"/>
                <a:gd name="T73" fmla="*/ 16 h 32"/>
                <a:gd name="T74" fmla="*/ 0 w 36"/>
                <a:gd name="T75" fmla="*/ 16 h 32"/>
                <a:gd name="T76" fmla="*/ 0 w 36"/>
                <a:gd name="T77" fmla="*/ 16 h 32"/>
                <a:gd name="T78" fmla="*/ 4 w 36"/>
                <a:gd name="T79" fmla="*/ 16 h 32"/>
                <a:gd name="T80" fmla="*/ 4 w 36"/>
                <a:gd name="T81" fmla="*/ 16 h 32"/>
                <a:gd name="T82" fmla="*/ 12 w 36"/>
                <a:gd name="T83" fmla="*/ 12 h 32"/>
                <a:gd name="T84" fmla="*/ 8 w 36"/>
                <a:gd name="T85" fmla="*/ 12 h 32"/>
                <a:gd name="T86" fmla="*/ 4 w 36"/>
                <a:gd name="T87" fmla="*/ 8 h 32"/>
                <a:gd name="T88" fmla="*/ 4 w 36"/>
                <a:gd name="T89" fmla="*/ 8 h 32"/>
                <a:gd name="T90" fmla="*/ 4 w 36"/>
                <a:gd name="T91" fmla="*/ 8 h 32"/>
                <a:gd name="T92" fmla="*/ 8 w 36"/>
                <a:gd name="T93" fmla="*/ 8 h 32"/>
                <a:gd name="T94" fmla="*/ 20 w 36"/>
                <a:gd name="T95" fmla="*/ 0 h 32"/>
                <a:gd name="T96" fmla="*/ 20 w 36"/>
                <a:gd name="T97" fmla="*/ 20 h 32"/>
                <a:gd name="T98" fmla="*/ 16 w 36"/>
                <a:gd name="T99" fmla="*/ 12 h 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"/>
                <a:gd name="T151" fmla="*/ 0 h 32"/>
                <a:gd name="T152" fmla="*/ 36 w 36"/>
                <a:gd name="T153" fmla="*/ 32 h 3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" h="32">
                  <a:moveTo>
                    <a:pt x="20" y="0"/>
                  </a:move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12"/>
                  </a:lnTo>
                  <a:lnTo>
                    <a:pt x="24" y="12"/>
                  </a:lnTo>
                  <a:lnTo>
                    <a:pt x="28" y="4"/>
                  </a:lnTo>
                  <a:lnTo>
                    <a:pt x="32" y="4"/>
                  </a:lnTo>
                  <a:lnTo>
                    <a:pt x="36" y="4"/>
                  </a:lnTo>
                  <a:lnTo>
                    <a:pt x="36" y="8"/>
                  </a:lnTo>
                  <a:lnTo>
                    <a:pt x="32" y="16"/>
                  </a:lnTo>
                  <a:lnTo>
                    <a:pt x="36" y="16"/>
                  </a:lnTo>
                  <a:lnTo>
                    <a:pt x="36" y="20"/>
                  </a:lnTo>
                  <a:lnTo>
                    <a:pt x="32" y="20"/>
                  </a:lnTo>
                  <a:lnTo>
                    <a:pt x="28" y="16"/>
                  </a:lnTo>
                  <a:lnTo>
                    <a:pt x="24" y="20"/>
                  </a:lnTo>
                  <a:lnTo>
                    <a:pt x="32" y="24"/>
                  </a:lnTo>
                  <a:lnTo>
                    <a:pt x="28" y="24"/>
                  </a:lnTo>
                  <a:lnTo>
                    <a:pt x="24" y="24"/>
                  </a:lnTo>
                  <a:lnTo>
                    <a:pt x="20" y="32"/>
                  </a:lnTo>
                  <a:lnTo>
                    <a:pt x="16" y="32"/>
                  </a:lnTo>
                  <a:lnTo>
                    <a:pt x="12" y="32"/>
                  </a:lnTo>
                  <a:lnTo>
                    <a:pt x="12" y="2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28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8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20" y="0"/>
                  </a:lnTo>
                  <a:close/>
                  <a:moveTo>
                    <a:pt x="16" y="16"/>
                  </a:moveTo>
                  <a:lnTo>
                    <a:pt x="20" y="20"/>
                  </a:lnTo>
                  <a:lnTo>
                    <a:pt x="24" y="16"/>
                  </a:lnTo>
                  <a:lnTo>
                    <a:pt x="16" y="12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35" name="Freeform 153"/>
            <p:cNvSpPr>
              <a:spLocks/>
            </p:cNvSpPr>
            <p:nvPr/>
          </p:nvSpPr>
          <p:spPr bwMode="auto">
            <a:xfrm>
              <a:off x="3365" y="2760"/>
              <a:ext cx="1111" cy="323"/>
            </a:xfrm>
            <a:custGeom>
              <a:avLst/>
              <a:gdLst>
                <a:gd name="T0" fmla="*/ 0 w 1111"/>
                <a:gd name="T1" fmla="*/ 32 h 323"/>
                <a:gd name="T2" fmla="*/ 12 w 1111"/>
                <a:gd name="T3" fmla="*/ 0 h 323"/>
                <a:gd name="T4" fmla="*/ 12 w 1111"/>
                <a:gd name="T5" fmla="*/ 0 h 323"/>
                <a:gd name="T6" fmla="*/ 16 w 1111"/>
                <a:gd name="T7" fmla="*/ 8 h 323"/>
                <a:gd name="T8" fmla="*/ 36 w 1111"/>
                <a:gd name="T9" fmla="*/ 24 h 323"/>
                <a:gd name="T10" fmla="*/ 51 w 1111"/>
                <a:gd name="T11" fmla="*/ 32 h 323"/>
                <a:gd name="T12" fmla="*/ 67 w 1111"/>
                <a:gd name="T13" fmla="*/ 40 h 323"/>
                <a:gd name="T14" fmla="*/ 91 w 1111"/>
                <a:gd name="T15" fmla="*/ 48 h 323"/>
                <a:gd name="T16" fmla="*/ 118 w 1111"/>
                <a:gd name="T17" fmla="*/ 48 h 323"/>
                <a:gd name="T18" fmla="*/ 118 w 1111"/>
                <a:gd name="T19" fmla="*/ 48 h 323"/>
                <a:gd name="T20" fmla="*/ 174 w 1111"/>
                <a:gd name="T21" fmla="*/ 48 h 323"/>
                <a:gd name="T22" fmla="*/ 225 w 1111"/>
                <a:gd name="T23" fmla="*/ 40 h 323"/>
                <a:gd name="T24" fmla="*/ 272 w 1111"/>
                <a:gd name="T25" fmla="*/ 32 h 323"/>
                <a:gd name="T26" fmla="*/ 1111 w 1111"/>
                <a:gd name="T27" fmla="*/ 276 h 323"/>
                <a:gd name="T28" fmla="*/ 1111 w 1111"/>
                <a:gd name="T29" fmla="*/ 323 h 323"/>
                <a:gd name="T30" fmla="*/ 0 w 1111"/>
                <a:gd name="T31" fmla="*/ 32 h 32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11"/>
                <a:gd name="T49" fmla="*/ 0 h 323"/>
                <a:gd name="T50" fmla="*/ 1111 w 1111"/>
                <a:gd name="T51" fmla="*/ 323 h 32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11" h="323">
                  <a:moveTo>
                    <a:pt x="0" y="32"/>
                  </a:moveTo>
                  <a:lnTo>
                    <a:pt x="12" y="0"/>
                  </a:lnTo>
                  <a:lnTo>
                    <a:pt x="16" y="8"/>
                  </a:lnTo>
                  <a:lnTo>
                    <a:pt x="36" y="24"/>
                  </a:lnTo>
                  <a:lnTo>
                    <a:pt x="51" y="32"/>
                  </a:lnTo>
                  <a:lnTo>
                    <a:pt x="67" y="40"/>
                  </a:lnTo>
                  <a:lnTo>
                    <a:pt x="91" y="48"/>
                  </a:lnTo>
                  <a:lnTo>
                    <a:pt x="118" y="48"/>
                  </a:lnTo>
                  <a:lnTo>
                    <a:pt x="174" y="48"/>
                  </a:lnTo>
                  <a:lnTo>
                    <a:pt x="225" y="40"/>
                  </a:lnTo>
                  <a:lnTo>
                    <a:pt x="272" y="32"/>
                  </a:lnTo>
                  <a:lnTo>
                    <a:pt x="1111" y="276"/>
                  </a:lnTo>
                  <a:lnTo>
                    <a:pt x="1111" y="323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436" name="Freeform 154"/>
            <p:cNvSpPr>
              <a:spLocks/>
            </p:cNvSpPr>
            <p:nvPr/>
          </p:nvSpPr>
          <p:spPr bwMode="auto">
            <a:xfrm>
              <a:off x="2936" y="2611"/>
              <a:ext cx="524" cy="401"/>
            </a:xfrm>
            <a:custGeom>
              <a:avLst/>
              <a:gdLst>
                <a:gd name="T0" fmla="*/ 476 w 524"/>
                <a:gd name="T1" fmla="*/ 157 h 401"/>
                <a:gd name="T2" fmla="*/ 433 w 524"/>
                <a:gd name="T3" fmla="*/ 216 h 401"/>
                <a:gd name="T4" fmla="*/ 386 w 524"/>
                <a:gd name="T5" fmla="*/ 268 h 401"/>
                <a:gd name="T6" fmla="*/ 319 w 524"/>
                <a:gd name="T7" fmla="*/ 315 h 401"/>
                <a:gd name="T8" fmla="*/ 248 w 524"/>
                <a:gd name="T9" fmla="*/ 335 h 401"/>
                <a:gd name="T10" fmla="*/ 177 w 524"/>
                <a:gd name="T11" fmla="*/ 331 h 401"/>
                <a:gd name="T12" fmla="*/ 98 w 524"/>
                <a:gd name="T13" fmla="*/ 311 h 401"/>
                <a:gd name="T14" fmla="*/ 79 w 524"/>
                <a:gd name="T15" fmla="*/ 299 h 401"/>
                <a:gd name="T16" fmla="*/ 59 w 524"/>
                <a:gd name="T17" fmla="*/ 279 h 401"/>
                <a:gd name="T18" fmla="*/ 63 w 524"/>
                <a:gd name="T19" fmla="*/ 252 h 401"/>
                <a:gd name="T20" fmla="*/ 94 w 524"/>
                <a:gd name="T21" fmla="*/ 216 h 401"/>
                <a:gd name="T22" fmla="*/ 165 w 524"/>
                <a:gd name="T23" fmla="*/ 169 h 401"/>
                <a:gd name="T24" fmla="*/ 224 w 524"/>
                <a:gd name="T25" fmla="*/ 142 h 401"/>
                <a:gd name="T26" fmla="*/ 323 w 524"/>
                <a:gd name="T27" fmla="*/ 90 h 401"/>
                <a:gd name="T28" fmla="*/ 382 w 524"/>
                <a:gd name="T29" fmla="*/ 71 h 401"/>
                <a:gd name="T30" fmla="*/ 433 w 524"/>
                <a:gd name="T31" fmla="*/ 67 h 401"/>
                <a:gd name="T32" fmla="*/ 441 w 524"/>
                <a:gd name="T33" fmla="*/ 67 h 401"/>
                <a:gd name="T34" fmla="*/ 449 w 524"/>
                <a:gd name="T35" fmla="*/ 51 h 401"/>
                <a:gd name="T36" fmla="*/ 445 w 524"/>
                <a:gd name="T37" fmla="*/ 27 h 401"/>
                <a:gd name="T38" fmla="*/ 429 w 524"/>
                <a:gd name="T39" fmla="*/ 8 h 401"/>
                <a:gd name="T40" fmla="*/ 417 w 524"/>
                <a:gd name="T41" fmla="*/ 4 h 401"/>
                <a:gd name="T42" fmla="*/ 347 w 524"/>
                <a:gd name="T43" fmla="*/ 8 h 401"/>
                <a:gd name="T44" fmla="*/ 268 w 524"/>
                <a:gd name="T45" fmla="*/ 35 h 401"/>
                <a:gd name="T46" fmla="*/ 130 w 524"/>
                <a:gd name="T47" fmla="*/ 106 h 401"/>
                <a:gd name="T48" fmla="*/ 102 w 524"/>
                <a:gd name="T49" fmla="*/ 126 h 401"/>
                <a:gd name="T50" fmla="*/ 47 w 524"/>
                <a:gd name="T51" fmla="*/ 165 h 401"/>
                <a:gd name="T52" fmla="*/ 8 w 524"/>
                <a:gd name="T53" fmla="*/ 220 h 401"/>
                <a:gd name="T54" fmla="*/ 0 w 524"/>
                <a:gd name="T55" fmla="*/ 248 h 401"/>
                <a:gd name="T56" fmla="*/ 4 w 524"/>
                <a:gd name="T57" fmla="*/ 279 h 401"/>
                <a:gd name="T58" fmla="*/ 20 w 524"/>
                <a:gd name="T59" fmla="*/ 311 h 401"/>
                <a:gd name="T60" fmla="*/ 51 w 524"/>
                <a:gd name="T61" fmla="*/ 342 h 401"/>
                <a:gd name="T62" fmla="*/ 126 w 524"/>
                <a:gd name="T63" fmla="*/ 382 h 401"/>
                <a:gd name="T64" fmla="*/ 213 w 524"/>
                <a:gd name="T65" fmla="*/ 401 h 401"/>
                <a:gd name="T66" fmla="*/ 295 w 524"/>
                <a:gd name="T67" fmla="*/ 398 h 401"/>
                <a:gd name="T68" fmla="*/ 335 w 524"/>
                <a:gd name="T69" fmla="*/ 386 h 401"/>
                <a:gd name="T70" fmla="*/ 390 w 524"/>
                <a:gd name="T71" fmla="*/ 358 h 401"/>
                <a:gd name="T72" fmla="*/ 441 w 524"/>
                <a:gd name="T73" fmla="*/ 315 h 401"/>
                <a:gd name="T74" fmla="*/ 520 w 524"/>
                <a:gd name="T75" fmla="*/ 209 h 401"/>
                <a:gd name="T76" fmla="*/ 524 w 524"/>
                <a:gd name="T77" fmla="*/ 201 h 401"/>
                <a:gd name="T78" fmla="*/ 516 w 524"/>
                <a:gd name="T79" fmla="*/ 177 h 401"/>
                <a:gd name="T80" fmla="*/ 500 w 524"/>
                <a:gd name="T81" fmla="*/ 157 h 401"/>
                <a:gd name="T82" fmla="*/ 484 w 524"/>
                <a:gd name="T83" fmla="*/ 149 h 401"/>
                <a:gd name="T84" fmla="*/ 476 w 524"/>
                <a:gd name="T85" fmla="*/ 157 h 40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24"/>
                <a:gd name="T130" fmla="*/ 0 h 401"/>
                <a:gd name="T131" fmla="*/ 524 w 524"/>
                <a:gd name="T132" fmla="*/ 401 h 40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24" h="401">
                  <a:moveTo>
                    <a:pt x="476" y="157"/>
                  </a:moveTo>
                  <a:lnTo>
                    <a:pt x="476" y="157"/>
                  </a:lnTo>
                  <a:lnTo>
                    <a:pt x="457" y="189"/>
                  </a:lnTo>
                  <a:lnTo>
                    <a:pt x="433" y="216"/>
                  </a:lnTo>
                  <a:lnTo>
                    <a:pt x="386" y="268"/>
                  </a:lnTo>
                  <a:lnTo>
                    <a:pt x="354" y="295"/>
                  </a:lnTo>
                  <a:lnTo>
                    <a:pt x="319" y="315"/>
                  </a:lnTo>
                  <a:lnTo>
                    <a:pt x="283" y="327"/>
                  </a:lnTo>
                  <a:lnTo>
                    <a:pt x="248" y="335"/>
                  </a:lnTo>
                  <a:lnTo>
                    <a:pt x="213" y="335"/>
                  </a:lnTo>
                  <a:lnTo>
                    <a:pt x="177" y="331"/>
                  </a:lnTo>
                  <a:lnTo>
                    <a:pt x="138" y="323"/>
                  </a:lnTo>
                  <a:lnTo>
                    <a:pt x="98" y="311"/>
                  </a:lnTo>
                  <a:lnTo>
                    <a:pt x="79" y="299"/>
                  </a:lnTo>
                  <a:lnTo>
                    <a:pt x="67" y="287"/>
                  </a:lnTo>
                  <a:lnTo>
                    <a:pt x="59" y="279"/>
                  </a:lnTo>
                  <a:lnTo>
                    <a:pt x="59" y="268"/>
                  </a:lnTo>
                  <a:lnTo>
                    <a:pt x="63" y="252"/>
                  </a:lnTo>
                  <a:lnTo>
                    <a:pt x="71" y="240"/>
                  </a:lnTo>
                  <a:lnTo>
                    <a:pt x="94" y="216"/>
                  </a:lnTo>
                  <a:lnTo>
                    <a:pt x="130" y="193"/>
                  </a:lnTo>
                  <a:lnTo>
                    <a:pt x="165" y="169"/>
                  </a:lnTo>
                  <a:lnTo>
                    <a:pt x="224" y="142"/>
                  </a:lnTo>
                  <a:lnTo>
                    <a:pt x="268" y="114"/>
                  </a:lnTo>
                  <a:lnTo>
                    <a:pt x="323" y="90"/>
                  </a:lnTo>
                  <a:lnTo>
                    <a:pt x="350" y="79"/>
                  </a:lnTo>
                  <a:lnTo>
                    <a:pt x="382" y="71"/>
                  </a:lnTo>
                  <a:lnTo>
                    <a:pt x="406" y="67"/>
                  </a:lnTo>
                  <a:lnTo>
                    <a:pt x="433" y="67"/>
                  </a:lnTo>
                  <a:lnTo>
                    <a:pt x="441" y="67"/>
                  </a:lnTo>
                  <a:lnTo>
                    <a:pt x="449" y="59"/>
                  </a:lnTo>
                  <a:lnTo>
                    <a:pt x="449" y="51"/>
                  </a:lnTo>
                  <a:lnTo>
                    <a:pt x="449" y="39"/>
                  </a:lnTo>
                  <a:lnTo>
                    <a:pt x="445" y="27"/>
                  </a:lnTo>
                  <a:lnTo>
                    <a:pt x="437" y="16"/>
                  </a:lnTo>
                  <a:lnTo>
                    <a:pt x="429" y="8"/>
                  </a:lnTo>
                  <a:lnTo>
                    <a:pt x="417" y="4"/>
                  </a:lnTo>
                  <a:lnTo>
                    <a:pt x="382" y="0"/>
                  </a:lnTo>
                  <a:lnTo>
                    <a:pt x="347" y="8"/>
                  </a:lnTo>
                  <a:lnTo>
                    <a:pt x="307" y="20"/>
                  </a:lnTo>
                  <a:lnTo>
                    <a:pt x="268" y="35"/>
                  </a:lnTo>
                  <a:lnTo>
                    <a:pt x="193" y="71"/>
                  </a:lnTo>
                  <a:lnTo>
                    <a:pt x="130" y="106"/>
                  </a:lnTo>
                  <a:lnTo>
                    <a:pt x="102" y="126"/>
                  </a:lnTo>
                  <a:lnTo>
                    <a:pt x="75" y="142"/>
                  </a:lnTo>
                  <a:lnTo>
                    <a:pt x="47" y="165"/>
                  </a:lnTo>
                  <a:lnTo>
                    <a:pt x="24" y="193"/>
                  </a:lnTo>
                  <a:lnTo>
                    <a:pt x="8" y="220"/>
                  </a:lnTo>
                  <a:lnTo>
                    <a:pt x="0" y="232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4" y="279"/>
                  </a:lnTo>
                  <a:lnTo>
                    <a:pt x="8" y="295"/>
                  </a:lnTo>
                  <a:lnTo>
                    <a:pt x="20" y="311"/>
                  </a:lnTo>
                  <a:lnTo>
                    <a:pt x="51" y="342"/>
                  </a:lnTo>
                  <a:lnTo>
                    <a:pt x="87" y="366"/>
                  </a:lnTo>
                  <a:lnTo>
                    <a:pt x="126" y="382"/>
                  </a:lnTo>
                  <a:lnTo>
                    <a:pt x="169" y="394"/>
                  </a:lnTo>
                  <a:lnTo>
                    <a:pt x="213" y="401"/>
                  </a:lnTo>
                  <a:lnTo>
                    <a:pt x="256" y="401"/>
                  </a:lnTo>
                  <a:lnTo>
                    <a:pt x="295" y="398"/>
                  </a:lnTo>
                  <a:lnTo>
                    <a:pt x="335" y="386"/>
                  </a:lnTo>
                  <a:lnTo>
                    <a:pt x="366" y="374"/>
                  </a:lnTo>
                  <a:lnTo>
                    <a:pt x="390" y="358"/>
                  </a:lnTo>
                  <a:lnTo>
                    <a:pt x="417" y="338"/>
                  </a:lnTo>
                  <a:lnTo>
                    <a:pt x="441" y="315"/>
                  </a:lnTo>
                  <a:lnTo>
                    <a:pt x="484" y="264"/>
                  </a:lnTo>
                  <a:lnTo>
                    <a:pt x="520" y="209"/>
                  </a:lnTo>
                  <a:lnTo>
                    <a:pt x="524" y="201"/>
                  </a:lnTo>
                  <a:lnTo>
                    <a:pt x="524" y="189"/>
                  </a:lnTo>
                  <a:lnTo>
                    <a:pt x="516" y="177"/>
                  </a:lnTo>
                  <a:lnTo>
                    <a:pt x="508" y="165"/>
                  </a:lnTo>
                  <a:lnTo>
                    <a:pt x="500" y="157"/>
                  </a:lnTo>
                  <a:lnTo>
                    <a:pt x="492" y="149"/>
                  </a:lnTo>
                  <a:lnTo>
                    <a:pt x="484" y="149"/>
                  </a:lnTo>
                  <a:lnTo>
                    <a:pt x="476" y="1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7695" name="Picture 155" descr="Sipphone-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91188" y="5445125"/>
            <a:ext cx="431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96" name="Picture 156" descr="PC_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94650" y="4148138"/>
            <a:ext cx="5032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97" name="Picture 157" descr="speedtouchmodem-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57800" y="4868863"/>
            <a:ext cx="4318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58"/>
          <p:cNvGrpSpPr>
            <a:grpSpLocks/>
          </p:cNvGrpSpPr>
          <p:nvPr/>
        </p:nvGrpSpPr>
        <p:grpSpPr bwMode="auto">
          <a:xfrm rot="16200000" flipH="1">
            <a:off x="5509419" y="4976019"/>
            <a:ext cx="288925" cy="649287"/>
            <a:chOff x="4830" y="1797"/>
            <a:chExt cx="182" cy="272"/>
          </a:xfrm>
        </p:grpSpPr>
        <p:sp>
          <p:nvSpPr>
            <p:cNvPr id="28350" name="Line 159"/>
            <p:cNvSpPr>
              <a:spLocks noChangeShapeType="1"/>
            </p:cNvSpPr>
            <p:nvPr/>
          </p:nvSpPr>
          <p:spPr bwMode="auto">
            <a:xfrm>
              <a:off x="4921" y="1797"/>
              <a:ext cx="0" cy="27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28351" name="Line 160"/>
            <p:cNvSpPr>
              <a:spLocks noChangeShapeType="1"/>
            </p:cNvSpPr>
            <p:nvPr/>
          </p:nvSpPr>
          <p:spPr bwMode="auto">
            <a:xfrm>
              <a:off x="4830" y="1888"/>
              <a:ext cx="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28352" name="Line 161"/>
            <p:cNvSpPr>
              <a:spLocks noChangeShapeType="1"/>
            </p:cNvSpPr>
            <p:nvPr/>
          </p:nvSpPr>
          <p:spPr bwMode="auto">
            <a:xfrm>
              <a:off x="4921" y="1842"/>
              <a:ext cx="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28353" name="Line 162"/>
            <p:cNvSpPr>
              <a:spLocks noChangeShapeType="1"/>
            </p:cNvSpPr>
            <p:nvPr/>
          </p:nvSpPr>
          <p:spPr bwMode="auto">
            <a:xfrm>
              <a:off x="4921" y="2024"/>
              <a:ext cx="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</p:grpSp>
      <p:pic>
        <p:nvPicPr>
          <p:cNvPr id="27699" name="Picture 163" descr="PC_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6363" y="5372100"/>
            <a:ext cx="5032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700" name="Picture 164" descr="speedtouchmodem-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10100" y="5300663"/>
            <a:ext cx="4318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65"/>
          <p:cNvGrpSpPr>
            <a:grpSpLocks/>
          </p:cNvGrpSpPr>
          <p:nvPr/>
        </p:nvGrpSpPr>
        <p:grpSpPr bwMode="auto">
          <a:xfrm rot="16200000" flipH="1">
            <a:off x="4717256" y="5407819"/>
            <a:ext cx="288925" cy="649288"/>
            <a:chOff x="4830" y="1797"/>
            <a:chExt cx="182" cy="272"/>
          </a:xfrm>
        </p:grpSpPr>
        <p:sp>
          <p:nvSpPr>
            <p:cNvPr id="28346" name="Line 166"/>
            <p:cNvSpPr>
              <a:spLocks noChangeShapeType="1"/>
            </p:cNvSpPr>
            <p:nvPr/>
          </p:nvSpPr>
          <p:spPr bwMode="auto">
            <a:xfrm>
              <a:off x="4921" y="1797"/>
              <a:ext cx="0" cy="27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28347" name="Line 167"/>
            <p:cNvSpPr>
              <a:spLocks noChangeShapeType="1"/>
            </p:cNvSpPr>
            <p:nvPr/>
          </p:nvSpPr>
          <p:spPr bwMode="auto">
            <a:xfrm>
              <a:off x="4830" y="1888"/>
              <a:ext cx="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28348" name="Line 168"/>
            <p:cNvSpPr>
              <a:spLocks noChangeShapeType="1"/>
            </p:cNvSpPr>
            <p:nvPr/>
          </p:nvSpPr>
          <p:spPr bwMode="auto">
            <a:xfrm>
              <a:off x="4921" y="1842"/>
              <a:ext cx="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  <p:sp>
          <p:nvSpPr>
            <p:cNvPr id="28349" name="Line 169"/>
            <p:cNvSpPr>
              <a:spLocks noChangeShapeType="1"/>
            </p:cNvSpPr>
            <p:nvPr/>
          </p:nvSpPr>
          <p:spPr bwMode="auto">
            <a:xfrm>
              <a:off x="4921" y="2024"/>
              <a:ext cx="91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endParaRPr lang="ru-RU"/>
            </a:p>
          </p:txBody>
        </p:sp>
      </p:grpSp>
      <p:sp>
        <p:nvSpPr>
          <p:cNvPr id="27702" name="Text Box 170"/>
          <p:cNvSpPr txBox="1">
            <a:spLocks noChangeArrowheads="1"/>
          </p:cNvSpPr>
          <p:nvPr/>
        </p:nvSpPr>
        <p:spPr bwMode="auto">
          <a:xfrm flipH="1">
            <a:off x="4610100" y="6092825"/>
            <a:ext cx="738188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H.323-Phone</a:t>
            </a:r>
            <a:endParaRPr lang="ru-RU" altLang="ru-RU" sz="1000">
              <a:latin typeface="Times New Roman" pitchFamily="18" charset="0"/>
            </a:endParaRPr>
          </a:p>
        </p:txBody>
      </p:sp>
      <p:pic>
        <p:nvPicPr>
          <p:cNvPr id="27703" name="Picture 171" descr="Sipphone-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51388" y="5805488"/>
            <a:ext cx="4318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704" name="Picture 172" descr="PC_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46563" y="5805488"/>
            <a:ext cx="5032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705" name="Text Box 173"/>
          <p:cNvSpPr txBox="1">
            <a:spLocks noChangeArrowheads="1"/>
          </p:cNvSpPr>
          <p:nvPr/>
        </p:nvSpPr>
        <p:spPr bwMode="auto">
          <a:xfrm flipH="1">
            <a:off x="8428038" y="3860800"/>
            <a:ext cx="430212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POTS</a:t>
            </a:r>
          </a:p>
          <a:p>
            <a:r>
              <a:rPr lang="en-US" altLang="ru-RU" sz="1000">
                <a:latin typeface="Times New Roman" pitchFamily="18" charset="0"/>
              </a:rPr>
              <a:t>ISDN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06" name="Text Box 174"/>
          <p:cNvSpPr txBox="1">
            <a:spLocks noChangeArrowheads="1"/>
          </p:cNvSpPr>
          <p:nvPr/>
        </p:nvSpPr>
        <p:spPr bwMode="auto">
          <a:xfrm flipH="1">
            <a:off x="3744913" y="5445125"/>
            <a:ext cx="738187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H.323/SIP-Client</a:t>
            </a:r>
            <a:endParaRPr lang="ru-RU" altLang="ru-RU" sz="1000">
              <a:latin typeface="Times New Roman" pitchFamily="18" charset="0"/>
            </a:endParaRPr>
          </a:p>
        </p:txBody>
      </p:sp>
      <p:pic>
        <p:nvPicPr>
          <p:cNvPr id="27707" name="Picture 175" descr="comp05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9875" y="2276475"/>
            <a:ext cx="3000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708" name="Freeform 176"/>
          <p:cNvSpPr>
            <a:spLocks/>
          </p:cNvSpPr>
          <p:nvPr/>
        </p:nvSpPr>
        <p:spPr bwMode="auto">
          <a:xfrm>
            <a:off x="3071813" y="2746375"/>
            <a:ext cx="1019175" cy="2362200"/>
          </a:xfrm>
          <a:custGeom>
            <a:avLst/>
            <a:gdLst>
              <a:gd name="T0" fmla="*/ 0 w 642"/>
              <a:gd name="T1" fmla="*/ 0 h 1488"/>
              <a:gd name="T2" fmla="*/ 1617940094 w 642"/>
              <a:gd name="T3" fmla="*/ 2147483647 h 1488"/>
              <a:gd name="T4" fmla="*/ 0 60000 65536"/>
              <a:gd name="T5" fmla="*/ 0 60000 65536"/>
              <a:gd name="T6" fmla="*/ 0 w 642"/>
              <a:gd name="T7" fmla="*/ 0 h 1488"/>
              <a:gd name="T8" fmla="*/ 642 w 642"/>
              <a:gd name="T9" fmla="*/ 1488 h 14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2" h="1488">
                <a:moveTo>
                  <a:pt x="0" y="0"/>
                </a:moveTo>
                <a:lnTo>
                  <a:pt x="642" y="148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09" name="Freeform 177"/>
          <p:cNvSpPr>
            <a:spLocks/>
          </p:cNvSpPr>
          <p:nvPr/>
        </p:nvSpPr>
        <p:spPr bwMode="auto">
          <a:xfrm>
            <a:off x="3081338" y="2755900"/>
            <a:ext cx="1744662" cy="2616200"/>
          </a:xfrm>
          <a:custGeom>
            <a:avLst/>
            <a:gdLst>
              <a:gd name="T0" fmla="*/ 0 w 1099"/>
              <a:gd name="T1" fmla="*/ 0 h 1648"/>
              <a:gd name="T2" fmla="*/ 2147483647 w 1099"/>
              <a:gd name="T3" fmla="*/ 2147483647 h 1648"/>
              <a:gd name="T4" fmla="*/ 0 60000 65536"/>
              <a:gd name="T5" fmla="*/ 0 60000 65536"/>
              <a:gd name="T6" fmla="*/ 0 w 1099"/>
              <a:gd name="T7" fmla="*/ 0 h 1648"/>
              <a:gd name="T8" fmla="*/ 1099 w 1099"/>
              <a:gd name="T9" fmla="*/ 1648 h 16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9" h="1648">
                <a:moveTo>
                  <a:pt x="0" y="0"/>
                </a:moveTo>
                <a:lnTo>
                  <a:pt x="1099" y="164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10" name="Freeform 178"/>
          <p:cNvSpPr>
            <a:spLocks/>
          </p:cNvSpPr>
          <p:nvPr/>
        </p:nvSpPr>
        <p:spPr bwMode="auto">
          <a:xfrm>
            <a:off x="3100388" y="2746375"/>
            <a:ext cx="4229100" cy="1333500"/>
          </a:xfrm>
          <a:custGeom>
            <a:avLst/>
            <a:gdLst>
              <a:gd name="T0" fmla="*/ 0 w 2664"/>
              <a:gd name="T1" fmla="*/ 0 h 840"/>
              <a:gd name="T2" fmla="*/ 2147483647 w 2664"/>
              <a:gd name="T3" fmla="*/ 2116931428 h 840"/>
              <a:gd name="T4" fmla="*/ 0 60000 65536"/>
              <a:gd name="T5" fmla="*/ 0 60000 65536"/>
              <a:gd name="T6" fmla="*/ 0 w 2664"/>
              <a:gd name="T7" fmla="*/ 0 h 840"/>
              <a:gd name="T8" fmla="*/ 2664 w 2664"/>
              <a:gd name="T9" fmla="*/ 840 h 8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64" h="840">
                <a:moveTo>
                  <a:pt x="0" y="0"/>
                </a:moveTo>
                <a:lnTo>
                  <a:pt x="2664" y="840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11" name="Text Box 179"/>
          <p:cNvSpPr txBox="1">
            <a:spLocks noChangeArrowheads="1"/>
          </p:cNvSpPr>
          <p:nvPr/>
        </p:nvSpPr>
        <p:spPr bwMode="auto">
          <a:xfrm flipH="1">
            <a:off x="5689600" y="4868863"/>
            <a:ext cx="409575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DSL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12" name="Text Box 180"/>
          <p:cNvSpPr txBox="1">
            <a:spLocks noChangeArrowheads="1"/>
          </p:cNvSpPr>
          <p:nvPr/>
        </p:nvSpPr>
        <p:spPr bwMode="auto">
          <a:xfrm flipH="1">
            <a:off x="4968875" y="5229225"/>
            <a:ext cx="409575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DSL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13" name="Text Box 181"/>
          <p:cNvSpPr txBox="1">
            <a:spLocks noChangeArrowheads="1"/>
          </p:cNvSpPr>
          <p:nvPr/>
        </p:nvSpPr>
        <p:spPr bwMode="auto">
          <a:xfrm>
            <a:off x="1657350" y="2276475"/>
            <a:ext cx="10795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Cisco</a:t>
            </a:r>
            <a:r>
              <a:rPr lang="ru-RU" altLang="ru-RU" sz="1000">
                <a:latin typeface="Times New Roman" pitchFamily="18" charset="0"/>
              </a:rPr>
              <a:t> </a:t>
            </a:r>
            <a:r>
              <a:rPr lang="en-US" altLang="ru-RU" sz="1000">
                <a:latin typeface="Times New Roman" pitchFamily="18" charset="0"/>
              </a:rPr>
              <a:t>Call</a:t>
            </a:r>
            <a:r>
              <a:rPr lang="ru-RU" altLang="ru-RU" sz="1000">
                <a:latin typeface="Times New Roman" pitchFamily="18" charset="0"/>
              </a:rPr>
              <a:t> </a:t>
            </a:r>
            <a:r>
              <a:rPr lang="en-US" altLang="ru-RU" sz="1000">
                <a:latin typeface="Times New Roman" pitchFamily="18" charset="0"/>
              </a:rPr>
              <a:t>Manager/Definity</a:t>
            </a:r>
            <a:endParaRPr lang="ru-RU" altLang="ru-RU" sz="1000">
              <a:latin typeface="Times New Roman" pitchFamily="18" charset="0"/>
            </a:endParaRPr>
          </a:p>
        </p:txBody>
      </p:sp>
      <p:pic>
        <p:nvPicPr>
          <p:cNvPr id="27714" name="Picture 182" descr="comp05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97663" y="2420938"/>
            <a:ext cx="300037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715" name="Text Box 183"/>
          <p:cNvSpPr txBox="1">
            <a:spLocks noChangeArrowheads="1"/>
          </p:cNvSpPr>
          <p:nvPr/>
        </p:nvSpPr>
        <p:spPr bwMode="auto">
          <a:xfrm>
            <a:off x="6913563" y="2420938"/>
            <a:ext cx="1368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ru-RU" altLang="ru-RU" sz="1000">
                <a:latin typeface="Times New Roman" pitchFamily="18" charset="0"/>
              </a:rPr>
              <a:t>Сервер приложений</a:t>
            </a:r>
          </a:p>
        </p:txBody>
      </p:sp>
      <p:sp>
        <p:nvSpPr>
          <p:cNvPr id="27716" name="Freeform 184"/>
          <p:cNvSpPr>
            <a:spLocks/>
          </p:cNvSpPr>
          <p:nvPr/>
        </p:nvSpPr>
        <p:spPr bwMode="auto">
          <a:xfrm>
            <a:off x="5005388" y="2451100"/>
            <a:ext cx="1689100" cy="628650"/>
          </a:xfrm>
          <a:custGeom>
            <a:avLst/>
            <a:gdLst>
              <a:gd name="T0" fmla="*/ 2147483647 w 1064"/>
              <a:gd name="T1" fmla="*/ 521673175 h 396"/>
              <a:gd name="T2" fmla="*/ 0 w 1064"/>
              <a:gd name="T3" fmla="*/ 0 h 396"/>
              <a:gd name="T4" fmla="*/ 0 60000 65536"/>
              <a:gd name="T5" fmla="*/ 0 60000 65536"/>
              <a:gd name="T6" fmla="*/ 0 w 1064"/>
              <a:gd name="T7" fmla="*/ 0 h 396"/>
              <a:gd name="T8" fmla="*/ 1064 w 1064"/>
              <a:gd name="T9" fmla="*/ 396 h 3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64" h="396">
                <a:moveTo>
                  <a:pt x="1064" y="207"/>
                </a:moveTo>
                <a:cubicBezTo>
                  <a:pt x="750" y="396"/>
                  <a:pt x="19" y="320"/>
                  <a:pt x="0" y="0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17" name="Freeform 185"/>
          <p:cNvSpPr>
            <a:spLocks/>
          </p:cNvSpPr>
          <p:nvPr/>
        </p:nvSpPr>
        <p:spPr bwMode="auto">
          <a:xfrm>
            <a:off x="4995863" y="2489200"/>
            <a:ext cx="2166937" cy="638175"/>
          </a:xfrm>
          <a:custGeom>
            <a:avLst/>
            <a:gdLst>
              <a:gd name="T0" fmla="*/ 2147483647 w 1365"/>
              <a:gd name="T1" fmla="*/ 869454833 h 402"/>
              <a:gd name="T2" fmla="*/ 0 w 1365"/>
              <a:gd name="T3" fmla="*/ 0 h 402"/>
              <a:gd name="T4" fmla="*/ 0 60000 65536"/>
              <a:gd name="T5" fmla="*/ 0 60000 65536"/>
              <a:gd name="T6" fmla="*/ 0 w 1365"/>
              <a:gd name="T7" fmla="*/ 0 h 402"/>
              <a:gd name="T8" fmla="*/ 1365 w 1365"/>
              <a:gd name="T9" fmla="*/ 402 h 40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65" h="402">
                <a:moveTo>
                  <a:pt x="1365" y="345"/>
                </a:moveTo>
                <a:cubicBezTo>
                  <a:pt x="876" y="402"/>
                  <a:pt x="19" y="320"/>
                  <a:pt x="0" y="0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18" name="Text Box 186"/>
          <p:cNvSpPr txBox="1">
            <a:spLocks noChangeArrowheads="1"/>
          </p:cNvSpPr>
          <p:nvPr/>
        </p:nvSpPr>
        <p:spPr bwMode="auto">
          <a:xfrm>
            <a:off x="7345363" y="2852738"/>
            <a:ext cx="15113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ru-RU" altLang="ru-RU" sz="1000">
                <a:latin typeface="Times New Roman" pitchFamily="18" charset="0"/>
              </a:rPr>
              <a:t>Сервер медиа-ресурсов</a:t>
            </a:r>
          </a:p>
        </p:txBody>
      </p:sp>
      <p:sp>
        <p:nvSpPr>
          <p:cNvPr id="27719" name="Freeform 187"/>
          <p:cNvSpPr>
            <a:spLocks/>
          </p:cNvSpPr>
          <p:nvPr/>
        </p:nvSpPr>
        <p:spPr bwMode="auto">
          <a:xfrm>
            <a:off x="4394200" y="2432050"/>
            <a:ext cx="496888" cy="414338"/>
          </a:xfrm>
          <a:custGeom>
            <a:avLst/>
            <a:gdLst>
              <a:gd name="T0" fmla="*/ 788810385 w 313"/>
              <a:gd name="T1" fmla="*/ 0 h 261"/>
              <a:gd name="T2" fmla="*/ 0 w 313"/>
              <a:gd name="T3" fmla="*/ 32762862 h 261"/>
              <a:gd name="T4" fmla="*/ 0 60000 65536"/>
              <a:gd name="T5" fmla="*/ 0 60000 65536"/>
              <a:gd name="T6" fmla="*/ 0 w 313"/>
              <a:gd name="T7" fmla="*/ 0 h 261"/>
              <a:gd name="T8" fmla="*/ 313 w 313"/>
              <a:gd name="T9" fmla="*/ 261 h 2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3" h="261">
                <a:moveTo>
                  <a:pt x="313" y="0"/>
                </a:moveTo>
                <a:cubicBezTo>
                  <a:pt x="121" y="217"/>
                  <a:pt x="79" y="261"/>
                  <a:pt x="0" y="13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20" name="Text Box 188"/>
          <p:cNvSpPr txBox="1">
            <a:spLocks noChangeArrowheads="1"/>
          </p:cNvSpPr>
          <p:nvPr/>
        </p:nvSpPr>
        <p:spPr bwMode="auto">
          <a:xfrm>
            <a:off x="4033838" y="2779713"/>
            <a:ext cx="6477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SIP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21" name="Rectangle 189"/>
          <p:cNvSpPr>
            <a:spLocks noChangeArrowheads="1"/>
          </p:cNvSpPr>
          <p:nvPr/>
        </p:nvSpPr>
        <p:spPr bwMode="auto">
          <a:xfrm>
            <a:off x="3386138" y="2995613"/>
            <a:ext cx="4953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H.323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22" name="Text Box 190"/>
          <p:cNvSpPr txBox="1">
            <a:spLocks noChangeArrowheads="1"/>
          </p:cNvSpPr>
          <p:nvPr/>
        </p:nvSpPr>
        <p:spPr bwMode="auto">
          <a:xfrm flipH="1">
            <a:off x="2378075" y="3355975"/>
            <a:ext cx="50323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r"/>
            <a:r>
              <a:rPr lang="en-US" altLang="ru-RU" sz="1000">
                <a:latin typeface="Times New Roman" pitchFamily="18" charset="0"/>
              </a:rPr>
              <a:t>MGCP/H.248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23" name="Text Box 191"/>
          <p:cNvSpPr txBox="1">
            <a:spLocks noChangeArrowheads="1"/>
          </p:cNvSpPr>
          <p:nvPr/>
        </p:nvSpPr>
        <p:spPr bwMode="auto">
          <a:xfrm flipH="1">
            <a:off x="2954338" y="5300663"/>
            <a:ext cx="738187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IP-PBX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24" name="Freeform 192"/>
          <p:cNvSpPr>
            <a:spLocks/>
          </p:cNvSpPr>
          <p:nvPr/>
        </p:nvSpPr>
        <p:spPr bwMode="auto">
          <a:xfrm>
            <a:off x="3457575" y="2441575"/>
            <a:ext cx="1519238" cy="2459038"/>
          </a:xfrm>
          <a:custGeom>
            <a:avLst/>
            <a:gdLst>
              <a:gd name="T0" fmla="*/ 2147483647 w 957"/>
              <a:gd name="T1" fmla="*/ 0 h 1549"/>
              <a:gd name="T2" fmla="*/ 0 w 957"/>
              <a:gd name="T3" fmla="*/ 2147483647 h 1549"/>
              <a:gd name="T4" fmla="*/ 0 60000 65536"/>
              <a:gd name="T5" fmla="*/ 0 60000 65536"/>
              <a:gd name="T6" fmla="*/ 0 w 957"/>
              <a:gd name="T7" fmla="*/ 0 h 1549"/>
              <a:gd name="T8" fmla="*/ 957 w 957"/>
              <a:gd name="T9" fmla="*/ 1549 h 154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57" h="1549">
                <a:moveTo>
                  <a:pt x="957" y="0"/>
                </a:moveTo>
                <a:lnTo>
                  <a:pt x="0" y="1549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pic>
        <p:nvPicPr>
          <p:cNvPr id="27725" name="Picture 193" descr="pbx-r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68650" y="4868863"/>
            <a:ext cx="411163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726" name="Picture 194" descr="comp05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76713" y="1987550"/>
            <a:ext cx="300037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727" name="Picture 195" descr="7300 LP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52975" y="4221163"/>
            <a:ext cx="431800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728" name="Text Box 196"/>
          <p:cNvSpPr txBox="1">
            <a:spLocks noChangeArrowheads="1"/>
          </p:cNvSpPr>
          <p:nvPr/>
        </p:nvSpPr>
        <p:spPr bwMode="auto">
          <a:xfrm>
            <a:off x="5186363" y="4221163"/>
            <a:ext cx="7556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DSLAM/</a:t>
            </a:r>
          </a:p>
          <a:p>
            <a:r>
              <a:rPr lang="en-US" altLang="ru-RU" sz="1000">
                <a:latin typeface="Times New Roman" pitchFamily="18" charset="0"/>
              </a:rPr>
              <a:t>IP-DSLAM</a:t>
            </a:r>
          </a:p>
        </p:txBody>
      </p:sp>
      <p:grpSp>
        <p:nvGrpSpPr>
          <p:cNvPr id="7" name="Group 197"/>
          <p:cNvGrpSpPr>
            <a:grpSpLocks/>
          </p:cNvGrpSpPr>
          <p:nvPr/>
        </p:nvGrpSpPr>
        <p:grpSpPr bwMode="auto">
          <a:xfrm>
            <a:off x="7561263" y="4724400"/>
            <a:ext cx="431800" cy="273050"/>
            <a:chOff x="2936" y="1784"/>
            <a:chExt cx="2040" cy="1370"/>
          </a:xfrm>
        </p:grpSpPr>
        <p:sp>
          <p:nvSpPr>
            <p:cNvPr id="28263" name="Freeform 198"/>
            <p:cNvSpPr>
              <a:spLocks/>
            </p:cNvSpPr>
            <p:nvPr/>
          </p:nvSpPr>
          <p:spPr bwMode="auto">
            <a:xfrm>
              <a:off x="3314" y="1784"/>
              <a:ext cx="1662" cy="1370"/>
            </a:xfrm>
            <a:custGeom>
              <a:avLst/>
              <a:gdLst>
                <a:gd name="T0" fmla="*/ 1650 w 1662"/>
                <a:gd name="T1" fmla="*/ 319 h 1370"/>
                <a:gd name="T2" fmla="*/ 1631 w 1662"/>
                <a:gd name="T3" fmla="*/ 315 h 1370"/>
                <a:gd name="T4" fmla="*/ 1627 w 1662"/>
                <a:gd name="T5" fmla="*/ 299 h 1370"/>
                <a:gd name="T6" fmla="*/ 1615 w 1662"/>
                <a:gd name="T7" fmla="*/ 279 h 1370"/>
                <a:gd name="T8" fmla="*/ 1599 w 1662"/>
                <a:gd name="T9" fmla="*/ 272 h 1370"/>
                <a:gd name="T10" fmla="*/ 1595 w 1662"/>
                <a:gd name="T11" fmla="*/ 272 h 1370"/>
                <a:gd name="T12" fmla="*/ 1583 w 1662"/>
                <a:gd name="T13" fmla="*/ 248 h 1370"/>
                <a:gd name="T14" fmla="*/ 1576 w 1662"/>
                <a:gd name="T15" fmla="*/ 248 h 1370"/>
                <a:gd name="T16" fmla="*/ 1320 w 1662"/>
                <a:gd name="T17" fmla="*/ 209 h 1370"/>
                <a:gd name="T18" fmla="*/ 1150 w 1662"/>
                <a:gd name="T19" fmla="*/ 173 h 1370"/>
                <a:gd name="T20" fmla="*/ 1028 w 1662"/>
                <a:gd name="T21" fmla="*/ 157 h 1370"/>
                <a:gd name="T22" fmla="*/ 985 w 1662"/>
                <a:gd name="T23" fmla="*/ 157 h 1370"/>
                <a:gd name="T24" fmla="*/ 957 w 1662"/>
                <a:gd name="T25" fmla="*/ 165 h 1370"/>
                <a:gd name="T26" fmla="*/ 898 w 1662"/>
                <a:gd name="T27" fmla="*/ 197 h 1370"/>
                <a:gd name="T28" fmla="*/ 874 w 1662"/>
                <a:gd name="T29" fmla="*/ 216 h 1370"/>
                <a:gd name="T30" fmla="*/ 874 w 1662"/>
                <a:gd name="T31" fmla="*/ 216 h 1370"/>
                <a:gd name="T32" fmla="*/ 882 w 1662"/>
                <a:gd name="T33" fmla="*/ 201 h 1370"/>
                <a:gd name="T34" fmla="*/ 890 w 1662"/>
                <a:gd name="T35" fmla="*/ 102 h 1370"/>
                <a:gd name="T36" fmla="*/ 867 w 1662"/>
                <a:gd name="T37" fmla="*/ 87 h 1370"/>
                <a:gd name="T38" fmla="*/ 855 w 1662"/>
                <a:gd name="T39" fmla="*/ 71 h 1370"/>
                <a:gd name="T40" fmla="*/ 831 w 1662"/>
                <a:gd name="T41" fmla="*/ 51 h 1370"/>
                <a:gd name="T42" fmla="*/ 741 w 1662"/>
                <a:gd name="T43" fmla="*/ 12 h 1370"/>
                <a:gd name="T44" fmla="*/ 693 w 1662"/>
                <a:gd name="T45" fmla="*/ 0 h 1370"/>
                <a:gd name="T46" fmla="*/ 642 w 1662"/>
                <a:gd name="T47" fmla="*/ 4 h 1370"/>
                <a:gd name="T48" fmla="*/ 618 w 1662"/>
                <a:gd name="T49" fmla="*/ 8 h 1370"/>
                <a:gd name="T50" fmla="*/ 567 w 1662"/>
                <a:gd name="T51" fmla="*/ 31 h 1370"/>
                <a:gd name="T52" fmla="*/ 500 w 1662"/>
                <a:gd name="T53" fmla="*/ 79 h 1370"/>
                <a:gd name="T54" fmla="*/ 461 w 1662"/>
                <a:gd name="T55" fmla="*/ 114 h 1370"/>
                <a:gd name="T56" fmla="*/ 390 w 1662"/>
                <a:gd name="T57" fmla="*/ 189 h 1370"/>
                <a:gd name="T58" fmla="*/ 327 w 1662"/>
                <a:gd name="T59" fmla="*/ 268 h 1370"/>
                <a:gd name="T60" fmla="*/ 221 w 1662"/>
                <a:gd name="T61" fmla="*/ 445 h 1370"/>
                <a:gd name="T62" fmla="*/ 130 w 1662"/>
                <a:gd name="T63" fmla="*/ 630 h 1370"/>
                <a:gd name="T64" fmla="*/ 55 w 1662"/>
                <a:gd name="T65" fmla="*/ 823 h 1370"/>
                <a:gd name="T66" fmla="*/ 39 w 1662"/>
                <a:gd name="T67" fmla="*/ 854 h 1370"/>
                <a:gd name="T68" fmla="*/ 39 w 1662"/>
                <a:gd name="T69" fmla="*/ 858 h 1370"/>
                <a:gd name="T70" fmla="*/ 39 w 1662"/>
                <a:gd name="T71" fmla="*/ 866 h 1370"/>
                <a:gd name="T72" fmla="*/ 39 w 1662"/>
                <a:gd name="T73" fmla="*/ 874 h 1370"/>
                <a:gd name="T74" fmla="*/ 20 w 1662"/>
                <a:gd name="T75" fmla="*/ 890 h 1370"/>
                <a:gd name="T76" fmla="*/ 4 w 1662"/>
                <a:gd name="T77" fmla="*/ 917 h 1370"/>
                <a:gd name="T78" fmla="*/ 0 w 1662"/>
                <a:gd name="T79" fmla="*/ 957 h 1370"/>
                <a:gd name="T80" fmla="*/ 12 w 1662"/>
                <a:gd name="T81" fmla="*/ 1028 h 1370"/>
                <a:gd name="T82" fmla="*/ 20 w 1662"/>
                <a:gd name="T83" fmla="*/ 1043 h 1370"/>
                <a:gd name="T84" fmla="*/ 32 w 1662"/>
                <a:gd name="T85" fmla="*/ 1051 h 1370"/>
                <a:gd name="T86" fmla="*/ 55 w 1662"/>
                <a:gd name="T87" fmla="*/ 1059 h 1370"/>
                <a:gd name="T88" fmla="*/ 59 w 1662"/>
                <a:gd name="T89" fmla="*/ 1067 h 1370"/>
                <a:gd name="T90" fmla="*/ 71 w 1662"/>
                <a:gd name="T91" fmla="*/ 1106 h 1370"/>
                <a:gd name="T92" fmla="*/ 95 w 1662"/>
                <a:gd name="T93" fmla="*/ 1118 h 1370"/>
                <a:gd name="T94" fmla="*/ 256 w 1662"/>
                <a:gd name="T95" fmla="*/ 1201 h 1370"/>
                <a:gd name="T96" fmla="*/ 386 w 1662"/>
                <a:gd name="T97" fmla="*/ 1252 h 1370"/>
                <a:gd name="T98" fmla="*/ 540 w 1662"/>
                <a:gd name="T99" fmla="*/ 1303 h 1370"/>
                <a:gd name="T100" fmla="*/ 717 w 1662"/>
                <a:gd name="T101" fmla="*/ 1343 h 1370"/>
                <a:gd name="T102" fmla="*/ 910 w 1662"/>
                <a:gd name="T103" fmla="*/ 1370 h 1370"/>
                <a:gd name="T104" fmla="*/ 1111 w 1662"/>
                <a:gd name="T105" fmla="*/ 1370 h 1370"/>
                <a:gd name="T106" fmla="*/ 1170 w 1662"/>
                <a:gd name="T107" fmla="*/ 1362 h 1370"/>
                <a:gd name="T108" fmla="*/ 1241 w 1662"/>
                <a:gd name="T109" fmla="*/ 1347 h 1370"/>
                <a:gd name="T110" fmla="*/ 1615 w 1662"/>
                <a:gd name="T111" fmla="*/ 693 h 1370"/>
                <a:gd name="T112" fmla="*/ 1639 w 1662"/>
                <a:gd name="T113" fmla="*/ 547 h 1370"/>
                <a:gd name="T114" fmla="*/ 1650 w 1662"/>
                <a:gd name="T115" fmla="*/ 441 h 137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62"/>
                <a:gd name="T175" fmla="*/ 0 h 1370"/>
                <a:gd name="T176" fmla="*/ 1662 w 1662"/>
                <a:gd name="T177" fmla="*/ 1370 h 137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62" h="1370">
                  <a:moveTo>
                    <a:pt x="1650" y="441"/>
                  </a:moveTo>
                  <a:lnTo>
                    <a:pt x="1650" y="319"/>
                  </a:lnTo>
                  <a:lnTo>
                    <a:pt x="1631" y="315"/>
                  </a:lnTo>
                  <a:lnTo>
                    <a:pt x="1627" y="299"/>
                  </a:lnTo>
                  <a:lnTo>
                    <a:pt x="1623" y="287"/>
                  </a:lnTo>
                  <a:lnTo>
                    <a:pt x="1615" y="279"/>
                  </a:lnTo>
                  <a:lnTo>
                    <a:pt x="1603" y="272"/>
                  </a:lnTo>
                  <a:lnTo>
                    <a:pt x="1599" y="272"/>
                  </a:lnTo>
                  <a:lnTo>
                    <a:pt x="1595" y="272"/>
                  </a:lnTo>
                  <a:lnTo>
                    <a:pt x="1587" y="256"/>
                  </a:lnTo>
                  <a:lnTo>
                    <a:pt x="1583" y="248"/>
                  </a:lnTo>
                  <a:lnTo>
                    <a:pt x="1576" y="248"/>
                  </a:lnTo>
                  <a:lnTo>
                    <a:pt x="1320" y="209"/>
                  </a:lnTo>
                  <a:lnTo>
                    <a:pt x="1237" y="193"/>
                  </a:lnTo>
                  <a:lnTo>
                    <a:pt x="1150" y="173"/>
                  </a:lnTo>
                  <a:lnTo>
                    <a:pt x="1067" y="161"/>
                  </a:lnTo>
                  <a:lnTo>
                    <a:pt x="1028" y="157"/>
                  </a:lnTo>
                  <a:lnTo>
                    <a:pt x="985" y="157"/>
                  </a:lnTo>
                  <a:lnTo>
                    <a:pt x="973" y="161"/>
                  </a:lnTo>
                  <a:lnTo>
                    <a:pt x="957" y="165"/>
                  </a:lnTo>
                  <a:lnTo>
                    <a:pt x="926" y="177"/>
                  </a:lnTo>
                  <a:lnTo>
                    <a:pt x="898" y="197"/>
                  </a:lnTo>
                  <a:lnTo>
                    <a:pt x="874" y="216"/>
                  </a:lnTo>
                  <a:lnTo>
                    <a:pt x="874" y="213"/>
                  </a:lnTo>
                  <a:lnTo>
                    <a:pt x="882" y="201"/>
                  </a:lnTo>
                  <a:lnTo>
                    <a:pt x="898" y="185"/>
                  </a:lnTo>
                  <a:lnTo>
                    <a:pt x="890" y="102"/>
                  </a:lnTo>
                  <a:lnTo>
                    <a:pt x="867" y="87"/>
                  </a:lnTo>
                  <a:lnTo>
                    <a:pt x="855" y="71"/>
                  </a:lnTo>
                  <a:lnTo>
                    <a:pt x="831" y="51"/>
                  </a:lnTo>
                  <a:lnTo>
                    <a:pt x="788" y="27"/>
                  </a:lnTo>
                  <a:lnTo>
                    <a:pt x="741" y="12"/>
                  </a:lnTo>
                  <a:lnTo>
                    <a:pt x="717" y="4"/>
                  </a:lnTo>
                  <a:lnTo>
                    <a:pt x="693" y="0"/>
                  </a:lnTo>
                  <a:lnTo>
                    <a:pt x="670" y="0"/>
                  </a:lnTo>
                  <a:lnTo>
                    <a:pt x="642" y="4"/>
                  </a:lnTo>
                  <a:lnTo>
                    <a:pt x="618" y="8"/>
                  </a:lnTo>
                  <a:lnTo>
                    <a:pt x="591" y="20"/>
                  </a:lnTo>
                  <a:lnTo>
                    <a:pt x="567" y="31"/>
                  </a:lnTo>
                  <a:lnTo>
                    <a:pt x="544" y="47"/>
                  </a:lnTo>
                  <a:lnTo>
                    <a:pt x="500" y="79"/>
                  </a:lnTo>
                  <a:lnTo>
                    <a:pt x="461" y="114"/>
                  </a:lnTo>
                  <a:lnTo>
                    <a:pt x="425" y="150"/>
                  </a:lnTo>
                  <a:lnTo>
                    <a:pt x="390" y="189"/>
                  </a:lnTo>
                  <a:lnTo>
                    <a:pt x="358" y="228"/>
                  </a:lnTo>
                  <a:lnTo>
                    <a:pt x="327" y="268"/>
                  </a:lnTo>
                  <a:lnTo>
                    <a:pt x="272" y="354"/>
                  </a:lnTo>
                  <a:lnTo>
                    <a:pt x="221" y="445"/>
                  </a:lnTo>
                  <a:lnTo>
                    <a:pt x="173" y="535"/>
                  </a:lnTo>
                  <a:lnTo>
                    <a:pt x="130" y="630"/>
                  </a:lnTo>
                  <a:lnTo>
                    <a:pt x="55" y="823"/>
                  </a:lnTo>
                  <a:lnTo>
                    <a:pt x="39" y="854"/>
                  </a:lnTo>
                  <a:lnTo>
                    <a:pt x="39" y="858"/>
                  </a:lnTo>
                  <a:lnTo>
                    <a:pt x="39" y="866"/>
                  </a:lnTo>
                  <a:lnTo>
                    <a:pt x="39" y="874"/>
                  </a:lnTo>
                  <a:lnTo>
                    <a:pt x="20" y="890"/>
                  </a:lnTo>
                  <a:lnTo>
                    <a:pt x="8" y="902"/>
                  </a:lnTo>
                  <a:lnTo>
                    <a:pt x="4" y="917"/>
                  </a:lnTo>
                  <a:lnTo>
                    <a:pt x="0" y="937"/>
                  </a:lnTo>
                  <a:lnTo>
                    <a:pt x="0" y="957"/>
                  </a:lnTo>
                  <a:lnTo>
                    <a:pt x="4" y="992"/>
                  </a:lnTo>
                  <a:lnTo>
                    <a:pt x="12" y="1028"/>
                  </a:lnTo>
                  <a:lnTo>
                    <a:pt x="20" y="1043"/>
                  </a:lnTo>
                  <a:lnTo>
                    <a:pt x="24" y="1047"/>
                  </a:lnTo>
                  <a:lnTo>
                    <a:pt x="32" y="1051"/>
                  </a:lnTo>
                  <a:lnTo>
                    <a:pt x="55" y="1059"/>
                  </a:lnTo>
                  <a:lnTo>
                    <a:pt x="59" y="1067"/>
                  </a:lnTo>
                  <a:lnTo>
                    <a:pt x="63" y="1067"/>
                  </a:lnTo>
                  <a:lnTo>
                    <a:pt x="71" y="1106"/>
                  </a:lnTo>
                  <a:lnTo>
                    <a:pt x="95" y="1118"/>
                  </a:lnTo>
                  <a:lnTo>
                    <a:pt x="158" y="1154"/>
                  </a:lnTo>
                  <a:lnTo>
                    <a:pt x="256" y="1201"/>
                  </a:lnTo>
                  <a:lnTo>
                    <a:pt x="319" y="1225"/>
                  </a:lnTo>
                  <a:lnTo>
                    <a:pt x="386" y="1252"/>
                  </a:lnTo>
                  <a:lnTo>
                    <a:pt x="461" y="1280"/>
                  </a:lnTo>
                  <a:lnTo>
                    <a:pt x="540" y="1303"/>
                  </a:lnTo>
                  <a:lnTo>
                    <a:pt x="626" y="1327"/>
                  </a:lnTo>
                  <a:lnTo>
                    <a:pt x="717" y="1343"/>
                  </a:lnTo>
                  <a:lnTo>
                    <a:pt x="811" y="1358"/>
                  </a:lnTo>
                  <a:lnTo>
                    <a:pt x="910" y="1370"/>
                  </a:lnTo>
                  <a:lnTo>
                    <a:pt x="1008" y="1370"/>
                  </a:lnTo>
                  <a:lnTo>
                    <a:pt x="1111" y="1370"/>
                  </a:lnTo>
                  <a:lnTo>
                    <a:pt x="1170" y="1362"/>
                  </a:lnTo>
                  <a:lnTo>
                    <a:pt x="1213" y="1354"/>
                  </a:lnTo>
                  <a:lnTo>
                    <a:pt x="1241" y="1347"/>
                  </a:lnTo>
                  <a:lnTo>
                    <a:pt x="1615" y="728"/>
                  </a:lnTo>
                  <a:lnTo>
                    <a:pt x="1615" y="693"/>
                  </a:lnTo>
                  <a:lnTo>
                    <a:pt x="1639" y="622"/>
                  </a:lnTo>
                  <a:lnTo>
                    <a:pt x="1639" y="547"/>
                  </a:lnTo>
                  <a:lnTo>
                    <a:pt x="1662" y="496"/>
                  </a:lnTo>
                  <a:lnTo>
                    <a:pt x="1650" y="4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64" name="Freeform 199"/>
            <p:cNvSpPr>
              <a:spLocks/>
            </p:cNvSpPr>
            <p:nvPr/>
          </p:nvSpPr>
          <p:spPr bwMode="auto">
            <a:xfrm>
              <a:off x="2983" y="2697"/>
              <a:ext cx="465" cy="339"/>
            </a:xfrm>
            <a:custGeom>
              <a:avLst/>
              <a:gdLst>
                <a:gd name="T0" fmla="*/ 465 w 465"/>
                <a:gd name="T1" fmla="*/ 197 h 339"/>
                <a:gd name="T2" fmla="*/ 465 w 465"/>
                <a:gd name="T3" fmla="*/ 197 h 339"/>
                <a:gd name="T4" fmla="*/ 445 w 465"/>
                <a:gd name="T5" fmla="*/ 225 h 339"/>
                <a:gd name="T6" fmla="*/ 422 w 465"/>
                <a:gd name="T7" fmla="*/ 249 h 339"/>
                <a:gd name="T8" fmla="*/ 386 w 465"/>
                <a:gd name="T9" fmla="*/ 276 h 339"/>
                <a:gd name="T10" fmla="*/ 347 w 465"/>
                <a:gd name="T11" fmla="*/ 304 h 339"/>
                <a:gd name="T12" fmla="*/ 323 w 465"/>
                <a:gd name="T13" fmla="*/ 315 h 339"/>
                <a:gd name="T14" fmla="*/ 300 w 465"/>
                <a:gd name="T15" fmla="*/ 327 h 339"/>
                <a:gd name="T16" fmla="*/ 276 w 465"/>
                <a:gd name="T17" fmla="*/ 335 h 339"/>
                <a:gd name="T18" fmla="*/ 248 w 465"/>
                <a:gd name="T19" fmla="*/ 339 h 339"/>
                <a:gd name="T20" fmla="*/ 221 w 465"/>
                <a:gd name="T21" fmla="*/ 339 h 339"/>
                <a:gd name="T22" fmla="*/ 189 w 465"/>
                <a:gd name="T23" fmla="*/ 335 h 339"/>
                <a:gd name="T24" fmla="*/ 189 w 465"/>
                <a:gd name="T25" fmla="*/ 335 h 339"/>
                <a:gd name="T26" fmla="*/ 134 w 465"/>
                <a:gd name="T27" fmla="*/ 323 h 339"/>
                <a:gd name="T28" fmla="*/ 87 w 465"/>
                <a:gd name="T29" fmla="*/ 312 h 339"/>
                <a:gd name="T30" fmla="*/ 51 w 465"/>
                <a:gd name="T31" fmla="*/ 292 h 339"/>
                <a:gd name="T32" fmla="*/ 24 w 465"/>
                <a:gd name="T33" fmla="*/ 276 h 339"/>
                <a:gd name="T34" fmla="*/ 12 w 465"/>
                <a:gd name="T35" fmla="*/ 264 h 339"/>
                <a:gd name="T36" fmla="*/ 8 w 465"/>
                <a:gd name="T37" fmla="*/ 252 h 339"/>
                <a:gd name="T38" fmla="*/ 4 w 465"/>
                <a:gd name="T39" fmla="*/ 241 h 339"/>
                <a:gd name="T40" fmla="*/ 0 w 465"/>
                <a:gd name="T41" fmla="*/ 229 h 339"/>
                <a:gd name="T42" fmla="*/ 4 w 465"/>
                <a:gd name="T43" fmla="*/ 217 h 339"/>
                <a:gd name="T44" fmla="*/ 8 w 465"/>
                <a:gd name="T45" fmla="*/ 205 h 339"/>
                <a:gd name="T46" fmla="*/ 16 w 465"/>
                <a:gd name="T47" fmla="*/ 193 h 339"/>
                <a:gd name="T48" fmla="*/ 24 w 465"/>
                <a:gd name="T49" fmla="*/ 178 h 339"/>
                <a:gd name="T50" fmla="*/ 24 w 465"/>
                <a:gd name="T51" fmla="*/ 178 h 339"/>
                <a:gd name="T52" fmla="*/ 55 w 465"/>
                <a:gd name="T53" fmla="*/ 150 h 339"/>
                <a:gd name="T54" fmla="*/ 95 w 465"/>
                <a:gd name="T55" fmla="*/ 123 h 339"/>
                <a:gd name="T56" fmla="*/ 142 w 465"/>
                <a:gd name="T57" fmla="*/ 95 h 339"/>
                <a:gd name="T58" fmla="*/ 189 w 465"/>
                <a:gd name="T59" fmla="*/ 71 h 339"/>
                <a:gd name="T60" fmla="*/ 280 w 465"/>
                <a:gd name="T61" fmla="*/ 32 h 339"/>
                <a:gd name="T62" fmla="*/ 339 w 465"/>
                <a:gd name="T63" fmla="*/ 8 h 339"/>
                <a:gd name="T64" fmla="*/ 339 w 465"/>
                <a:gd name="T65" fmla="*/ 8 h 339"/>
                <a:gd name="T66" fmla="*/ 374 w 465"/>
                <a:gd name="T67" fmla="*/ 4 h 339"/>
                <a:gd name="T68" fmla="*/ 398 w 465"/>
                <a:gd name="T69" fmla="*/ 0 h 339"/>
                <a:gd name="T70" fmla="*/ 422 w 465"/>
                <a:gd name="T71" fmla="*/ 4 h 33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5"/>
                <a:gd name="T109" fmla="*/ 0 h 339"/>
                <a:gd name="T110" fmla="*/ 465 w 465"/>
                <a:gd name="T111" fmla="*/ 339 h 33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5" h="339">
                  <a:moveTo>
                    <a:pt x="465" y="197"/>
                  </a:moveTo>
                  <a:lnTo>
                    <a:pt x="465" y="197"/>
                  </a:lnTo>
                  <a:lnTo>
                    <a:pt x="445" y="225"/>
                  </a:lnTo>
                  <a:lnTo>
                    <a:pt x="422" y="249"/>
                  </a:lnTo>
                  <a:lnTo>
                    <a:pt x="386" y="276"/>
                  </a:lnTo>
                  <a:lnTo>
                    <a:pt x="347" y="304"/>
                  </a:lnTo>
                  <a:lnTo>
                    <a:pt x="323" y="315"/>
                  </a:lnTo>
                  <a:lnTo>
                    <a:pt x="300" y="327"/>
                  </a:lnTo>
                  <a:lnTo>
                    <a:pt x="276" y="335"/>
                  </a:lnTo>
                  <a:lnTo>
                    <a:pt x="248" y="339"/>
                  </a:lnTo>
                  <a:lnTo>
                    <a:pt x="221" y="339"/>
                  </a:lnTo>
                  <a:lnTo>
                    <a:pt x="189" y="335"/>
                  </a:lnTo>
                  <a:lnTo>
                    <a:pt x="134" y="323"/>
                  </a:lnTo>
                  <a:lnTo>
                    <a:pt x="87" y="312"/>
                  </a:lnTo>
                  <a:lnTo>
                    <a:pt x="51" y="292"/>
                  </a:lnTo>
                  <a:lnTo>
                    <a:pt x="24" y="276"/>
                  </a:lnTo>
                  <a:lnTo>
                    <a:pt x="12" y="264"/>
                  </a:lnTo>
                  <a:lnTo>
                    <a:pt x="8" y="252"/>
                  </a:lnTo>
                  <a:lnTo>
                    <a:pt x="4" y="241"/>
                  </a:lnTo>
                  <a:lnTo>
                    <a:pt x="0" y="229"/>
                  </a:lnTo>
                  <a:lnTo>
                    <a:pt x="4" y="217"/>
                  </a:lnTo>
                  <a:lnTo>
                    <a:pt x="8" y="205"/>
                  </a:lnTo>
                  <a:lnTo>
                    <a:pt x="16" y="193"/>
                  </a:lnTo>
                  <a:lnTo>
                    <a:pt x="24" y="178"/>
                  </a:lnTo>
                  <a:lnTo>
                    <a:pt x="55" y="150"/>
                  </a:lnTo>
                  <a:lnTo>
                    <a:pt x="95" y="123"/>
                  </a:lnTo>
                  <a:lnTo>
                    <a:pt x="142" y="95"/>
                  </a:lnTo>
                  <a:lnTo>
                    <a:pt x="189" y="71"/>
                  </a:lnTo>
                  <a:lnTo>
                    <a:pt x="280" y="32"/>
                  </a:lnTo>
                  <a:lnTo>
                    <a:pt x="339" y="8"/>
                  </a:lnTo>
                  <a:lnTo>
                    <a:pt x="374" y="4"/>
                  </a:lnTo>
                  <a:lnTo>
                    <a:pt x="398" y="0"/>
                  </a:lnTo>
                  <a:lnTo>
                    <a:pt x="422" y="4"/>
                  </a:lnTo>
                </a:path>
              </a:pathLst>
            </a:custGeom>
            <a:noFill/>
            <a:ln w="68263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65" name="Freeform 200"/>
            <p:cNvSpPr>
              <a:spLocks/>
            </p:cNvSpPr>
            <p:nvPr/>
          </p:nvSpPr>
          <p:spPr bwMode="auto">
            <a:xfrm>
              <a:off x="3373" y="2071"/>
              <a:ext cx="1603" cy="1083"/>
            </a:xfrm>
            <a:custGeom>
              <a:avLst/>
              <a:gdLst>
                <a:gd name="T0" fmla="*/ 808 w 1603"/>
                <a:gd name="T1" fmla="*/ 8 h 1083"/>
                <a:gd name="T2" fmla="*/ 808 w 1603"/>
                <a:gd name="T3" fmla="*/ 8 h 1083"/>
                <a:gd name="T4" fmla="*/ 886 w 1603"/>
                <a:gd name="T5" fmla="*/ 4 h 1083"/>
                <a:gd name="T6" fmla="*/ 953 w 1603"/>
                <a:gd name="T7" fmla="*/ 0 h 1083"/>
                <a:gd name="T8" fmla="*/ 1012 w 1603"/>
                <a:gd name="T9" fmla="*/ 4 h 1083"/>
                <a:gd name="T10" fmla="*/ 1012 w 1603"/>
                <a:gd name="T11" fmla="*/ 4 h 1083"/>
                <a:gd name="T12" fmla="*/ 1103 w 1603"/>
                <a:gd name="T13" fmla="*/ 8 h 1083"/>
                <a:gd name="T14" fmla="*/ 1142 w 1603"/>
                <a:gd name="T15" fmla="*/ 12 h 1083"/>
                <a:gd name="T16" fmla="*/ 1186 w 1603"/>
                <a:gd name="T17" fmla="*/ 24 h 1083"/>
                <a:gd name="T18" fmla="*/ 1186 w 1603"/>
                <a:gd name="T19" fmla="*/ 24 h 1083"/>
                <a:gd name="T20" fmla="*/ 1276 w 1603"/>
                <a:gd name="T21" fmla="*/ 40 h 1083"/>
                <a:gd name="T22" fmla="*/ 1406 w 1603"/>
                <a:gd name="T23" fmla="*/ 63 h 1083"/>
                <a:gd name="T24" fmla="*/ 1576 w 1603"/>
                <a:gd name="T25" fmla="*/ 91 h 1083"/>
                <a:gd name="T26" fmla="*/ 1603 w 1603"/>
                <a:gd name="T27" fmla="*/ 209 h 1083"/>
                <a:gd name="T28" fmla="*/ 1580 w 1603"/>
                <a:gd name="T29" fmla="*/ 260 h 1083"/>
                <a:gd name="T30" fmla="*/ 1580 w 1603"/>
                <a:gd name="T31" fmla="*/ 335 h 1083"/>
                <a:gd name="T32" fmla="*/ 1556 w 1603"/>
                <a:gd name="T33" fmla="*/ 406 h 1083"/>
                <a:gd name="T34" fmla="*/ 1556 w 1603"/>
                <a:gd name="T35" fmla="*/ 441 h 1083"/>
                <a:gd name="T36" fmla="*/ 1182 w 1603"/>
                <a:gd name="T37" fmla="*/ 1060 h 1083"/>
                <a:gd name="T38" fmla="*/ 1182 w 1603"/>
                <a:gd name="T39" fmla="*/ 1060 h 1083"/>
                <a:gd name="T40" fmla="*/ 1154 w 1603"/>
                <a:gd name="T41" fmla="*/ 1067 h 1083"/>
                <a:gd name="T42" fmla="*/ 1111 w 1603"/>
                <a:gd name="T43" fmla="*/ 1075 h 1083"/>
                <a:gd name="T44" fmla="*/ 1052 w 1603"/>
                <a:gd name="T45" fmla="*/ 1083 h 1083"/>
                <a:gd name="T46" fmla="*/ 1052 w 1603"/>
                <a:gd name="T47" fmla="*/ 1083 h 1083"/>
                <a:gd name="T48" fmla="*/ 949 w 1603"/>
                <a:gd name="T49" fmla="*/ 1083 h 1083"/>
                <a:gd name="T50" fmla="*/ 851 w 1603"/>
                <a:gd name="T51" fmla="*/ 1083 h 1083"/>
                <a:gd name="T52" fmla="*/ 752 w 1603"/>
                <a:gd name="T53" fmla="*/ 1071 h 1083"/>
                <a:gd name="T54" fmla="*/ 658 w 1603"/>
                <a:gd name="T55" fmla="*/ 1056 h 1083"/>
                <a:gd name="T56" fmla="*/ 567 w 1603"/>
                <a:gd name="T57" fmla="*/ 1040 h 1083"/>
                <a:gd name="T58" fmla="*/ 481 w 1603"/>
                <a:gd name="T59" fmla="*/ 1016 h 1083"/>
                <a:gd name="T60" fmla="*/ 402 w 1603"/>
                <a:gd name="T61" fmla="*/ 993 h 1083"/>
                <a:gd name="T62" fmla="*/ 327 w 1603"/>
                <a:gd name="T63" fmla="*/ 965 h 1083"/>
                <a:gd name="T64" fmla="*/ 260 w 1603"/>
                <a:gd name="T65" fmla="*/ 938 h 1083"/>
                <a:gd name="T66" fmla="*/ 197 w 1603"/>
                <a:gd name="T67" fmla="*/ 914 h 1083"/>
                <a:gd name="T68" fmla="*/ 99 w 1603"/>
                <a:gd name="T69" fmla="*/ 867 h 1083"/>
                <a:gd name="T70" fmla="*/ 36 w 1603"/>
                <a:gd name="T71" fmla="*/ 831 h 1083"/>
                <a:gd name="T72" fmla="*/ 12 w 1603"/>
                <a:gd name="T73" fmla="*/ 819 h 1083"/>
                <a:gd name="T74" fmla="*/ 0 w 1603"/>
                <a:gd name="T75" fmla="*/ 768 h 1083"/>
                <a:gd name="T76" fmla="*/ 8 w 1603"/>
                <a:gd name="T77" fmla="*/ 709 h 1083"/>
                <a:gd name="T78" fmla="*/ 808 w 1603"/>
                <a:gd name="T79" fmla="*/ 8 h 108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03"/>
                <a:gd name="T121" fmla="*/ 0 h 1083"/>
                <a:gd name="T122" fmla="*/ 1603 w 1603"/>
                <a:gd name="T123" fmla="*/ 1083 h 108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03" h="1083">
                  <a:moveTo>
                    <a:pt x="808" y="8"/>
                  </a:moveTo>
                  <a:lnTo>
                    <a:pt x="808" y="8"/>
                  </a:lnTo>
                  <a:lnTo>
                    <a:pt x="886" y="4"/>
                  </a:lnTo>
                  <a:lnTo>
                    <a:pt x="953" y="0"/>
                  </a:lnTo>
                  <a:lnTo>
                    <a:pt x="1012" y="4"/>
                  </a:lnTo>
                  <a:lnTo>
                    <a:pt x="1103" y="8"/>
                  </a:lnTo>
                  <a:lnTo>
                    <a:pt x="1142" y="12"/>
                  </a:lnTo>
                  <a:lnTo>
                    <a:pt x="1186" y="24"/>
                  </a:lnTo>
                  <a:lnTo>
                    <a:pt x="1276" y="40"/>
                  </a:lnTo>
                  <a:lnTo>
                    <a:pt x="1406" y="63"/>
                  </a:lnTo>
                  <a:lnTo>
                    <a:pt x="1576" y="91"/>
                  </a:lnTo>
                  <a:lnTo>
                    <a:pt x="1603" y="209"/>
                  </a:lnTo>
                  <a:lnTo>
                    <a:pt x="1580" y="260"/>
                  </a:lnTo>
                  <a:lnTo>
                    <a:pt x="1580" y="335"/>
                  </a:lnTo>
                  <a:lnTo>
                    <a:pt x="1556" y="406"/>
                  </a:lnTo>
                  <a:lnTo>
                    <a:pt x="1556" y="441"/>
                  </a:lnTo>
                  <a:lnTo>
                    <a:pt x="1182" y="1060"/>
                  </a:lnTo>
                  <a:lnTo>
                    <a:pt x="1154" y="1067"/>
                  </a:lnTo>
                  <a:lnTo>
                    <a:pt x="1111" y="1075"/>
                  </a:lnTo>
                  <a:lnTo>
                    <a:pt x="1052" y="1083"/>
                  </a:lnTo>
                  <a:lnTo>
                    <a:pt x="949" y="1083"/>
                  </a:lnTo>
                  <a:lnTo>
                    <a:pt x="851" y="1083"/>
                  </a:lnTo>
                  <a:lnTo>
                    <a:pt x="752" y="1071"/>
                  </a:lnTo>
                  <a:lnTo>
                    <a:pt x="658" y="1056"/>
                  </a:lnTo>
                  <a:lnTo>
                    <a:pt x="567" y="1040"/>
                  </a:lnTo>
                  <a:lnTo>
                    <a:pt x="481" y="1016"/>
                  </a:lnTo>
                  <a:lnTo>
                    <a:pt x="402" y="993"/>
                  </a:lnTo>
                  <a:lnTo>
                    <a:pt x="327" y="965"/>
                  </a:lnTo>
                  <a:lnTo>
                    <a:pt x="260" y="938"/>
                  </a:lnTo>
                  <a:lnTo>
                    <a:pt x="197" y="914"/>
                  </a:lnTo>
                  <a:lnTo>
                    <a:pt x="99" y="867"/>
                  </a:lnTo>
                  <a:lnTo>
                    <a:pt x="36" y="831"/>
                  </a:lnTo>
                  <a:lnTo>
                    <a:pt x="12" y="819"/>
                  </a:lnTo>
                  <a:lnTo>
                    <a:pt x="0" y="768"/>
                  </a:lnTo>
                  <a:lnTo>
                    <a:pt x="8" y="709"/>
                  </a:lnTo>
                  <a:lnTo>
                    <a:pt x="808" y="8"/>
                  </a:lnTo>
                  <a:close/>
                </a:path>
              </a:pathLst>
            </a:custGeom>
            <a:solidFill>
              <a:srgbClr val="CCCCCC"/>
            </a:solidFill>
            <a:ln w="31750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66" name="Freeform 201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1571 w 1603"/>
                <a:gd name="T75" fmla="*/ 129 h 10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03"/>
                <a:gd name="T115" fmla="*/ 0 h 1078"/>
                <a:gd name="T116" fmla="*/ 1603 w 1603"/>
                <a:gd name="T117" fmla="*/ 1078 h 107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  <a:lnTo>
                    <a:pt x="1571" y="1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67" name="Freeform 202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03"/>
                <a:gd name="T112" fmla="*/ 0 h 1078"/>
                <a:gd name="T113" fmla="*/ 1603 w 1603"/>
                <a:gd name="T114" fmla="*/ 1078 h 107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68" name="Freeform 203"/>
            <p:cNvSpPr>
              <a:spLocks/>
            </p:cNvSpPr>
            <p:nvPr/>
          </p:nvSpPr>
          <p:spPr bwMode="auto">
            <a:xfrm>
              <a:off x="3361" y="1997"/>
              <a:ext cx="1603" cy="1130"/>
            </a:xfrm>
            <a:custGeom>
              <a:avLst/>
              <a:gdLst>
                <a:gd name="T0" fmla="*/ 1603 w 1603"/>
                <a:gd name="T1" fmla="*/ 106 h 1130"/>
                <a:gd name="T2" fmla="*/ 1603 w 1603"/>
                <a:gd name="T3" fmla="*/ 244 h 1130"/>
                <a:gd name="T4" fmla="*/ 1580 w 1603"/>
                <a:gd name="T5" fmla="*/ 370 h 1130"/>
                <a:gd name="T6" fmla="*/ 1556 w 1603"/>
                <a:gd name="T7" fmla="*/ 441 h 1130"/>
                <a:gd name="T8" fmla="*/ 1556 w 1603"/>
                <a:gd name="T9" fmla="*/ 476 h 1130"/>
                <a:gd name="T10" fmla="*/ 1182 w 1603"/>
                <a:gd name="T11" fmla="*/ 1094 h 1130"/>
                <a:gd name="T12" fmla="*/ 1123 w 1603"/>
                <a:gd name="T13" fmla="*/ 1130 h 1130"/>
                <a:gd name="T14" fmla="*/ 1123 w 1603"/>
                <a:gd name="T15" fmla="*/ 1130 h 1130"/>
                <a:gd name="T16" fmla="*/ 1091 w 1603"/>
                <a:gd name="T17" fmla="*/ 1130 h 1130"/>
                <a:gd name="T18" fmla="*/ 1052 w 1603"/>
                <a:gd name="T19" fmla="*/ 1126 h 1130"/>
                <a:gd name="T20" fmla="*/ 993 w 1603"/>
                <a:gd name="T21" fmla="*/ 1114 h 1130"/>
                <a:gd name="T22" fmla="*/ 993 w 1603"/>
                <a:gd name="T23" fmla="*/ 1114 h 1130"/>
                <a:gd name="T24" fmla="*/ 914 w 1603"/>
                <a:gd name="T25" fmla="*/ 1094 h 1130"/>
                <a:gd name="T26" fmla="*/ 784 w 1603"/>
                <a:gd name="T27" fmla="*/ 1063 h 1130"/>
                <a:gd name="T28" fmla="*/ 453 w 1603"/>
                <a:gd name="T29" fmla="*/ 976 h 1130"/>
                <a:gd name="T30" fmla="*/ 12 w 1603"/>
                <a:gd name="T31" fmla="*/ 854 h 1130"/>
                <a:gd name="T32" fmla="*/ 0 w 1603"/>
                <a:gd name="T33" fmla="*/ 803 h 1130"/>
                <a:gd name="T34" fmla="*/ 20 w 1603"/>
                <a:gd name="T35" fmla="*/ 740 h 1130"/>
                <a:gd name="T36" fmla="*/ 737 w 1603"/>
                <a:gd name="T37" fmla="*/ 106 h 1130"/>
                <a:gd name="T38" fmla="*/ 812 w 1603"/>
                <a:gd name="T39" fmla="*/ 51 h 1130"/>
                <a:gd name="T40" fmla="*/ 812 w 1603"/>
                <a:gd name="T41" fmla="*/ 51 h 1130"/>
                <a:gd name="T42" fmla="*/ 879 w 1603"/>
                <a:gd name="T43" fmla="*/ 23 h 1130"/>
                <a:gd name="T44" fmla="*/ 934 w 1603"/>
                <a:gd name="T45" fmla="*/ 7 h 1130"/>
                <a:gd name="T46" fmla="*/ 961 w 1603"/>
                <a:gd name="T47" fmla="*/ 3 h 1130"/>
                <a:gd name="T48" fmla="*/ 981 w 1603"/>
                <a:gd name="T49" fmla="*/ 0 h 1130"/>
                <a:gd name="T50" fmla="*/ 981 w 1603"/>
                <a:gd name="T51" fmla="*/ 0 h 1130"/>
                <a:gd name="T52" fmla="*/ 1036 w 1603"/>
                <a:gd name="T53" fmla="*/ 3 h 1130"/>
                <a:gd name="T54" fmla="*/ 1091 w 1603"/>
                <a:gd name="T55" fmla="*/ 11 h 1130"/>
                <a:gd name="T56" fmla="*/ 1194 w 1603"/>
                <a:gd name="T57" fmla="*/ 31 h 1130"/>
                <a:gd name="T58" fmla="*/ 1194 w 1603"/>
                <a:gd name="T59" fmla="*/ 31 h 1130"/>
                <a:gd name="T60" fmla="*/ 1395 w 1603"/>
                <a:gd name="T61" fmla="*/ 66 h 1130"/>
                <a:gd name="T62" fmla="*/ 1544 w 1603"/>
                <a:gd name="T63" fmla="*/ 94 h 1130"/>
                <a:gd name="T64" fmla="*/ 1603 w 1603"/>
                <a:gd name="T65" fmla="*/ 106 h 11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03"/>
                <a:gd name="T100" fmla="*/ 0 h 1130"/>
                <a:gd name="T101" fmla="*/ 1603 w 1603"/>
                <a:gd name="T102" fmla="*/ 1130 h 11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03" h="1130">
                  <a:moveTo>
                    <a:pt x="1603" y="106"/>
                  </a:moveTo>
                  <a:lnTo>
                    <a:pt x="1603" y="244"/>
                  </a:lnTo>
                  <a:lnTo>
                    <a:pt x="1580" y="370"/>
                  </a:lnTo>
                  <a:lnTo>
                    <a:pt x="1556" y="441"/>
                  </a:lnTo>
                  <a:lnTo>
                    <a:pt x="1556" y="476"/>
                  </a:lnTo>
                  <a:lnTo>
                    <a:pt x="1182" y="1094"/>
                  </a:lnTo>
                  <a:lnTo>
                    <a:pt x="1123" y="1130"/>
                  </a:lnTo>
                  <a:lnTo>
                    <a:pt x="1091" y="1130"/>
                  </a:lnTo>
                  <a:lnTo>
                    <a:pt x="1052" y="1126"/>
                  </a:lnTo>
                  <a:lnTo>
                    <a:pt x="993" y="1114"/>
                  </a:lnTo>
                  <a:lnTo>
                    <a:pt x="914" y="1094"/>
                  </a:lnTo>
                  <a:lnTo>
                    <a:pt x="784" y="1063"/>
                  </a:lnTo>
                  <a:lnTo>
                    <a:pt x="453" y="976"/>
                  </a:lnTo>
                  <a:lnTo>
                    <a:pt x="12" y="854"/>
                  </a:lnTo>
                  <a:lnTo>
                    <a:pt x="0" y="803"/>
                  </a:lnTo>
                  <a:lnTo>
                    <a:pt x="20" y="740"/>
                  </a:lnTo>
                  <a:lnTo>
                    <a:pt x="737" y="106"/>
                  </a:lnTo>
                  <a:lnTo>
                    <a:pt x="812" y="51"/>
                  </a:lnTo>
                  <a:lnTo>
                    <a:pt x="879" y="23"/>
                  </a:lnTo>
                  <a:lnTo>
                    <a:pt x="934" y="7"/>
                  </a:lnTo>
                  <a:lnTo>
                    <a:pt x="961" y="3"/>
                  </a:lnTo>
                  <a:lnTo>
                    <a:pt x="981" y="0"/>
                  </a:lnTo>
                  <a:lnTo>
                    <a:pt x="1036" y="3"/>
                  </a:lnTo>
                  <a:lnTo>
                    <a:pt x="1091" y="11"/>
                  </a:lnTo>
                  <a:lnTo>
                    <a:pt x="1194" y="31"/>
                  </a:lnTo>
                  <a:lnTo>
                    <a:pt x="1395" y="66"/>
                  </a:lnTo>
                  <a:lnTo>
                    <a:pt x="1544" y="94"/>
                  </a:lnTo>
                  <a:lnTo>
                    <a:pt x="1603" y="106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69" name="Freeform 204"/>
            <p:cNvSpPr>
              <a:spLocks/>
            </p:cNvSpPr>
            <p:nvPr/>
          </p:nvSpPr>
          <p:spPr bwMode="auto">
            <a:xfrm>
              <a:off x="3314" y="1941"/>
              <a:ext cx="1635" cy="1190"/>
            </a:xfrm>
            <a:custGeom>
              <a:avLst/>
              <a:gdLst>
                <a:gd name="T0" fmla="*/ 1595 w 1635"/>
                <a:gd name="T1" fmla="*/ 233 h 1190"/>
                <a:gd name="T2" fmla="*/ 1580 w 1635"/>
                <a:gd name="T3" fmla="*/ 390 h 1190"/>
                <a:gd name="T4" fmla="*/ 1524 w 1635"/>
                <a:gd name="T5" fmla="*/ 536 h 1190"/>
                <a:gd name="T6" fmla="*/ 1201 w 1635"/>
                <a:gd name="T7" fmla="*/ 1111 h 1190"/>
                <a:gd name="T8" fmla="*/ 1182 w 1635"/>
                <a:gd name="T9" fmla="*/ 1146 h 1190"/>
                <a:gd name="T10" fmla="*/ 1186 w 1635"/>
                <a:gd name="T11" fmla="*/ 1146 h 1190"/>
                <a:gd name="T12" fmla="*/ 989 w 1635"/>
                <a:gd name="T13" fmla="*/ 1107 h 1190"/>
                <a:gd name="T14" fmla="*/ 693 w 1635"/>
                <a:gd name="T15" fmla="*/ 1032 h 1190"/>
                <a:gd name="T16" fmla="*/ 35 w 1635"/>
                <a:gd name="T17" fmla="*/ 855 h 1190"/>
                <a:gd name="T18" fmla="*/ 43 w 1635"/>
                <a:gd name="T19" fmla="*/ 879 h 1190"/>
                <a:gd name="T20" fmla="*/ 39 w 1635"/>
                <a:gd name="T21" fmla="*/ 776 h 1190"/>
                <a:gd name="T22" fmla="*/ 47 w 1635"/>
                <a:gd name="T23" fmla="*/ 776 h 1190"/>
                <a:gd name="T24" fmla="*/ 225 w 1635"/>
                <a:gd name="T25" fmla="*/ 623 h 1190"/>
                <a:gd name="T26" fmla="*/ 662 w 1635"/>
                <a:gd name="T27" fmla="*/ 260 h 1190"/>
                <a:gd name="T28" fmla="*/ 772 w 1635"/>
                <a:gd name="T29" fmla="*/ 170 h 1190"/>
                <a:gd name="T30" fmla="*/ 867 w 1635"/>
                <a:gd name="T31" fmla="*/ 122 h 1190"/>
                <a:gd name="T32" fmla="*/ 965 w 1635"/>
                <a:gd name="T33" fmla="*/ 56 h 1190"/>
                <a:gd name="T34" fmla="*/ 1001 w 1635"/>
                <a:gd name="T35" fmla="*/ 44 h 1190"/>
                <a:gd name="T36" fmla="*/ 1123 w 1635"/>
                <a:gd name="T37" fmla="*/ 52 h 1190"/>
                <a:gd name="T38" fmla="*/ 1327 w 1635"/>
                <a:gd name="T39" fmla="*/ 91 h 1190"/>
                <a:gd name="T40" fmla="*/ 1583 w 1635"/>
                <a:gd name="T41" fmla="*/ 130 h 1190"/>
                <a:gd name="T42" fmla="*/ 1595 w 1635"/>
                <a:gd name="T43" fmla="*/ 122 h 1190"/>
                <a:gd name="T44" fmla="*/ 1583 w 1635"/>
                <a:gd name="T45" fmla="*/ 91 h 1190"/>
                <a:gd name="T46" fmla="*/ 1320 w 1635"/>
                <a:gd name="T47" fmla="*/ 52 h 1190"/>
                <a:gd name="T48" fmla="*/ 1150 w 1635"/>
                <a:gd name="T49" fmla="*/ 16 h 1190"/>
                <a:gd name="T50" fmla="*/ 985 w 1635"/>
                <a:gd name="T51" fmla="*/ 0 h 1190"/>
                <a:gd name="T52" fmla="*/ 953 w 1635"/>
                <a:gd name="T53" fmla="*/ 8 h 1190"/>
                <a:gd name="T54" fmla="*/ 863 w 1635"/>
                <a:gd name="T55" fmla="*/ 67 h 1190"/>
                <a:gd name="T56" fmla="*/ 796 w 1635"/>
                <a:gd name="T57" fmla="*/ 111 h 1190"/>
                <a:gd name="T58" fmla="*/ 697 w 1635"/>
                <a:gd name="T59" fmla="*/ 166 h 1190"/>
                <a:gd name="T60" fmla="*/ 626 w 1635"/>
                <a:gd name="T61" fmla="*/ 229 h 1190"/>
                <a:gd name="T62" fmla="*/ 20 w 1635"/>
                <a:gd name="T63" fmla="*/ 733 h 1190"/>
                <a:gd name="T64" fmla="*/ 4 w 1635"/>
                <a:gd name="T65" fmla="*/ 760 h 1190"/>
                <a:gd name="T66" fmla="*/ 4 w 1635"/>
                <a:gd name="T67" fmla="*/ 835 h 1190"/>
                <a:gd name="T68" fmla="*/ 20 w 1635"/>
                <a:gd name="T69" fmla="*/ 886 h 1190"/>
                <a:gd name="T70" fmla="*/ 32 w 1635"/>
                <a:gd name="T71" fmla="*/ 894 h 1190"/>
                <a:gd name="T72" fmla="*/ 729 w 1635"/>
                <a:gd name="T73" fmla="*/ 1083 h 1190"/>
                <a:gd name="T74" fmla="*/ 1119 w 1635"/>
                <a:gd name="T75" fmla="*/ 1178 h 1190"/>
                <a:gd name="T76" fmla="*/ 1205 w 1635"/>
                <a:gd name="T77" fmla="*/ 1190 h 1190"/>
                <a:gd name="T78" fmla="*/ 1536 w 1635"/>
                <a:gd name="T79" fmla="*/ 603 h 1190"/>
                <a:gd name="T80" fmla="*/ 1583 w 1635"/>
                <a:gd name="T81" fmla="*/ 516 h 1190"/>
                <a:gd name="T82" fmla="*/ 1587 w 1635"/>
                <a:gd name="T83" fmla="*/ 489 h 1190"/>
                <a:gd name="T84" fmla="*/ 1611 w 1635"/>
                <a:gd name="T85" fmla="*/ 414 h 1190"/>
                <a:gd name="T86" fmla="*/ 1627 w 1635"/>
                <a:gd name="T87" fmla="*/ 347 h 1190"/>
                <a:gd name="T88" fmla="*/ 1631 w 1635"/>
                <a:gd name="T89" fmla="*/ 213 h 1190"/>
                <a:gd name="T90" fmla="*/ 1623 w 1635"/>
                <a:gd name="T91" fmla="*/ 130 h 1190"/>
                <a:gd name="T92" fmla="*/ 1599 w 1635"/>
                <a:gd name="T93" fmla="*/ 115 h 1190"/>
                <a:gd name="T94" fmla="*/ 1595 w 1635"/>
                <a:gd name="T95" fmla="*/ 126 h 1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35"/>
                <a:gd name="T145" fmla="*/ 0 h 1190"/>
                <a:gd name="T146" fmla="*/ 1635 w 1635"/>
                <a:gd name="T147" fmla="*/ 1190 h 1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35" h="1190">
                  <a:moveTo>
                    <a:pt x="1595" y="126"/>
                  </a:moveTo>
                  <a:lnTo>
                    <a:pt x="1595" y="126"/>
                  </a:lnTo>
                  <a:lnTo>
                    <a:pt x="1595" y="233"/>
                  </a:lnTo>
                  <a:lnTo>
                    <a:pt x="1591" y="284"/>
                  </a:lnTo>
                  <a:lnTo>
                    <a:pt x="1587" y="339"/>
                  </a:lnTo>
                  <a:lnTo>
                    <a:pt x="1580" y="390"/>
                  </a:lnTo>
                  <a:lnTo>
                    <a:pt x="1564" y="441"/>
                  </a:lnTo>
                  <a:lnTo>
                    <a:pt x="1548" y="489"/>
                  </a:lnTo>
                  <a:lnTo>
                    <a:pt x="1524" y="536"/>
                  </a:lnTo>
                  <a:lnTo>
                    <a:pt x="1201" y="1111"/>
                  </a:lnTo>
                  <a:lnTo>
                    <a:pt x="1186" y="1142"/>
                  </a:lnTo>
                  <a:lnTo>
                    <a:pt x="1182" y="1146"/>
                  </a:lnTo>
                  <a:lnTo>
                    <a:pt x="1182" y="1150"/>
                  </a:lnTo>
                  <a:lnTo>
                    <a:pt x="1186" y="1146"/>
                  </a:lnTo>
                  <a:lnTo>
                    <a:pt x="1087" y="1131"/>
                  </a:lnTo>
                  <a:lnTo>
                    <a:pt x="989" y="1107"/>
                  </a:lnTo>
                  <a:lnTo>
                    <a:pt x="839" y="1071"/>
                  </a:lnTo>
                  <a:lnTo>
                    <a:pt x="693" y="1032"/>
                  </a:lnTo>
                  <a:lnTo>
                    <a:pt x="35" y="855"/>
                  </a:lnTo>
                  <a:lnTo>
                    <a:pt x="24" y="851"/>
                  </a:lnTo>
                  <a:lnTo>
                    <a:pt x="43" y="879"/>
                  </a:lnTo>
                  <a:lnTo>
                    <a:pt x="39" y="827"/>
                  </a:lnTo>
                  <a:lnTo>
                    <a:pt x="39" y="776"/>
                  </a:lnTo>
                  <a:lnTo>
                    <a:pt x="39" y="780"/>
                  </a:lnTo>
                  <a:lnTo>
                    <a:pt x="47" y="776"/>
                  </a:lnTo>
                  <a:lnTo>
                    <a:pt x="59" y="760"/>
                  </a:lnTo>
                  <a:lnTo>
                    <a:pt x="225" y="623"/>
                  </a:lnTo>
                  <a:lnTo>
                    <a:pt x="662" y="260"/>
                  </a:lnTo>
                  <a:lnTo>
                    <a:pt x="744" y="189"/>
                  </a:lnTo>
                  <a:lnTo>
                    <a:pt x="772" y="170"/>
                  </a:lnTo>
                  <a:lnTo>
                    <a:pt x="804" y="154"/>
                  </a:lnTo>
                  <a:lnTo>
                    <a:pt x="835" y="138"/>
                  </a:lnTo>
                  <a:lnTo>
                    <a:pt x="867" y="122"/>
                  </a:lnTo>
                  <a:lnTo>
                    <a:pt x="930" y="75"/>
                  </a:lnTo>
                  <a:lnTo>
                    <a:pt x="965" y="56"/>
                  </a:lnTo>
                  <a:lnTo>
                    <a:pt x="985" y="48"/>
                  </a:lnTo>
                  <a:lnTo>
                    <a:pt x="1001" y="44"/>
                  </a:lnTo>
                  <a:lnTo>
                    <a:pt x="1040" y="44"/>
                  </a:lnTo>
                  <a:lnTo>
                    <a:pt x="1083" y="44"/>
                  </a:lnTo>
                  <a:lnTo>
                    <a:pt x="1123" y="52"/>
                  </a:lnTo>
                  <a:lnTo>
                    <a:pt x="1166" y="59"/>
                  </a:lnTo>
                  <a:lnTo>
                    <a:pt x="1249" y="75"/>
                  </a:lnTo>
                  <a:lnTo>
                    <a:pt x="1327" y="91"/>
                  </a:lnTo>
                  <a:lnTo>
                    <a:pt x="1583" y="130"/>
                  </a:lnTo>
                  <a:lnTo>
                    <a:pt x="1591" y="130"/>
                  </a:lnTo>
                  <a:lnTo>
                    <a:pt x="1595" y="126"/>
                  </a:lnTo>
                  <a:lnTo>
                    <a:pt x="1595" y="122"/>
                  </a:lnTo>
                  <a:lnTo>
                    <a:pt x="1595" y="115"/>
                  </a:lnTo>
                  <a:lnTo>
                    <a:pt x="1587" y="99"/>
                  </a:lnTo>
                  <a:lnTo>
                    <a:pt x="1583" y="91"/>
                  </a:lnTo>
                  <a:lnTo>
                    <a:pt x="1576" y="91"/>
                  </a:lnTo>
                  <a:lnTo>
                    <a:pt x="1320" y="52"/>
                  </a:lnTo>
                  <a:lnTo>
                    <a:pt x="1237" y="36"/>
                  </a:lnTo>
                  <a:lnTo>
                    <a:pt x="1150" y="16"/>
                  </a:lnTo>
                  <a:lnTo>
                    <a:pt x="1067" y="4"/>
                  </a:lnTo>
                  <a:lnTo>
                    <a:pt x="1028" y="0"/>
                  </a:lnTo>
                  <a:lnTo>
                    <a:pt x="985" y="0"/>
                  </a:lnTo>
                  <a:lnTo>
                    <a:pt x="969" y="4"/>
                  </a:lnTo>
                  <a:lnTo>
                    <a:pt x="953" y="8"/>
                  </a:lnTo>
                  <a:lnTo>
                    <a:pt x="922" y="24"/>
                  </a:lnTo>
                  <a:lnTo>
                    <a:pt x="886" y="48"/>
                  </a:lnTo>
                  <a:lnTo>
                    <a:pt x="863" y="67"/>
                  </a:lnTo>
                  <a:lnTo>
                    <a:pt x="831" y="91"/>
                  </a:lnTo>
                  <a:lnTo>
                    <a:pt x="796" y="111"/>
                  </a:lnTo>
                  <a:lnTo>
                    <a:pt x="721" y="150"/>
                  </a:lnTo>
                  <a:lnTo>
                    <a:pt x="697" y="166"/>
                  </a:lnTo>
                  <a:lnTo>
                    <a:pt x="674" y="185"/>
                  </a:lnTo>
                  <a:lnTo>
                    <a:pt x="626" y="229"/>
                  </a:lnTo>
                  <a:lnTo>
                    <a:pt x="169" y="607"/>
                  </a:lnTo>
                  <a:lnTo>
                    <a:pt x="20" y="733"/>
                  </a:lnTo>
                  <a:lnTo>
                    <a:pt x="8" y="745"/>
                  </a:lnTo>
                  <a:lnTo>
                    <a:pt x="4" y="760"/>
                  </a:lnTo>
                  <a:lnTo>
                    <a:pt x="0" y="780"/>
                  </a:lnTo>
                  <a:lnTo>
                    <a:pt x="0" y="800"/>
                  </a:lnTo>
                  <a:lnTo>
                    <a:pt x="4" y="835"/>
                  </a:lnTo>
                  <a:lnTo>
                    <a:pt x="12" y="871"/>
                  </a:lnTo>
                  <a:lnTo>
                    <a:pt x="20" y="886"/>
                  </a:lnTo>
                  <a:lnTo>
                    <a:pt x="24" y="890"/>
                  </a:lnTo>
                  <a:lnTo>
                    <a:pt x="32" y="894"/>
                  </a:lnTo>
                  <a:lnTo>
                    <a:pt x="571" y="1040"/>
                  </a:lnTo>
                  <a:lnTo>
                    <a:pt x="729" y="1083"/>
                  </a:lnTo>
                  <a:lnTo>
                    <a:pt x="882" y="1127"/>
                  </a:lnTo>
                  <a:lnTo>
                    <a:pt x="1040" y="1162"/>
                  </a:lnTo>
                  <a:lnTo>
                    <a:pt x="1119" y="1178"/>
                  </a:lnTo>
                  <a:lnTo>
                    <a:pt x="1197" y="1190"/>
                  </a:lnTo>
                  <a:lnTo>
                    <a:pt x="1205" y="1190"/>
                  </a:lnTo>
                  <a:lnTo>
                    <a:pt x="1209" y="1186"/>
                  </a:lnTo>
                  <a:lnTo>
                    <a:pt x="1536" y="603"/>
                  </a:lnTo>
                  <a:lnTo>
                    <a:pt x="1583" y="516"/>
                  </a:lnTo>
                  <a:lnTo>
                    <a:pt x="1587" y="504"/>
                  </a:lnTo>
                  <a:lnTo>
                    <a:pt x="1587" y="489"/>
                  </a:lnTo>
                  <a:lnTo>
                    <a:pt x="1591" y="469"/>
                  </a:lnTo>
                  <a:lnTo>
                    <a:pt x="1595" y="449"/>
                  </a:lnTo>
                  <a:lnTo>
                    <a:pt x="1611" y="414"/>
                  </a:lnTo>
                  <a:lnTo>
                    <a:pt x="1619" y="382"/>
                  </a:lnTo>
                  <a:lnTo>
                    <a:pt x="1627" y="347"/>
                  </a:lnTo>
                  <a:lnTo>
                    <a:pt x="1631" y="315"/>
                  </a:lnTo>
                  <a:lnTo>
                    <a:pt x="1635" y="280"/>
                  </a:lnTo>
                  <a:lnTo>
                    <a:pt x="1631" y="213"/>
                  </a:lnTo>
                  <a:lnTo>
                    <a:pt x="1627" y="142"/>
                  </a:lnTo>
                  <a:lnTo>
                    <a:pt x="1623" y="130"/>
                  </a:lnTo>
                  <a:lnTo>
                    <a:pt x="1611" y="119"/>
                  </a:lnTo>
                  <a:lnTo>
                    <a:pt x="1603" y="115"/>
                  </a:lnTo>
                  <a:lnTo>
                    <a:pt x="1599" y="115"/>
                  </a:lnTo>
                  <a:lnTo>
                    <a:pt x="1595" y="119"/>
                  </a:lnTo>
                  <a:lnTo>
                    <a:pt x="1595" y="1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0" name="Freeform 205"/>
            <p:cNvSpPr>
              <a:spLocks/>
            </p:cNvSpPr>
            <p:nvPr/>
          </p:nvSpPr>
          <p:spPr bwMode="auto">
            <a:xfrm>
              <a:off x="3369" y="1804"/>
              <a:ext cx="804" cy="1000"/>
            </a:xfrm>
            <a:custGeom>
              <a:avLst/>
              <a:gdLst>
                <a:gd name="T0" fmla="*/ 0 w 804"/>
                <a:gd name="T1" fmla="*/ 854 h 1000"/>
                <a:gd name="T2" fmla="*/ 0 w 804"/>
                <a:gd name="T3" fmla="*/ 854 h 1000"/>
                <a:gd name="T4" fmla="*/ 28 w 804"/>
                <a:gd name="T5" fmla="*/ 783 h 1000"/>
                <a:gd name="T6" fmla="*/ 59 w 804"/>
                <a:gd name="T7" fmla="*/ 708 h 1000"/>
                <a:gd name="T8" fmla="*/ 99 w 804"/>
                <a:gd name="T9" fmla="*/ 618 h 1000"/>
                <a:gd name="T10" fmla="*/ 146 w 804"/>
                <a:gd name="T11" fmla="*/ 511 h 1000"/>
                <a:gd name="T12" fmla="*/ 205 w 804"/>
                <a:gd name="T13" fmla="*/ 405 h 1000"/>
                <a:gd name="T14" fmla="*/ 268 w 804"/>
                <a:gd name="T15" fmla="*/ 299 h 1000"/>
                <a:gd name="T16" fmla="*/ 300 w 804"/>
                <a:gd name="T17" fmla="*/ 252 h 1000"/>
                <a:gd name="T18" fmla="*/ 335 w 804"/>
                <a:gd name="T19" fmla="*/ 208 h 1000"/>
                <a:gd name="T20" fmla="*/ 335 w 804"/>
                <a:gd name="T21" fmla="*/ 208 h 1000"/>
                <a:gd name="T22" fmla="*/ 410 w 804"/>
                <a:gd name="T23" fmla="*/ 118 h 1000"/>
                <a:gd name="T24" fmla="*/ 520 w 804"/>
                <a:gd name="T25" fmla="*/ 23 h 1000"/>
                <a:gd name="T26" fmla="*/ 520 w 804"/>
                <a:gd name="T27" fmla="*/ 23 h 1000"/>
                <a:gd name="T28" fmla="*/ 532 w 804"/>
                <a:gd name="T29" fmla="*/ 19 h 1000"/>
                <a:gd name="T30" fmla="*/ 563 w 804"/>
                <a:gd name="T31" fmla="*/ 7 h 1000"/>
                <a:gd name="T32" fmla="*/ 583 w 804"/>
                <a:gd name="T33" fmla="*/ 4 h 1000"/>
                <a:gd name="T34" fmla="*/ 607 w 804"/>
                <a:gd name="T35" fmla="*/ 0 h 1000"/>
                <a:gd name="T36" fmla="*/ 634 w 804"/>
                <a:gd name="T37" fmla="*/ 0 h 1000"/>
                <a:gd name="T38" fmla="*/ 662 w 804"/>
                <a:gd name="T39" fmla="*/ 4 h 1000"/>
                <a:gd name="T40" fmla="*/ 662 w 804"/>
                <a:gd name="T41" fmla="*/ 4 h 1000"/>
                <a:gd name="T42" fmla="*/ 686 w 804"/>
                <a:gd name="T43" fmla="*/ 11 h 1000"/>
                <a:gd name="T44" fmla="*/ 713 w 804"/>
                <a:gd name="T45" fmla="*/ 19 h 1000"/>
                <a:gd name="T46" fmla="*/ 756 w 804"/>
                <a:gd name="T47" fmla="*/ 39 h 1000"/>
                <a:gd name="T48" fmla="*/ 800 w 804"/>
                <a:gd name="T49" fmla="*/ 67 h 1000"/>
                <a:gd name="T50" fmla="*/ 804 w 804"/>
                <a:gd name="T51" fmla="*/ 145 h 1000"/>
                <a:gd name="T52" fmla="*/ 788 w 804"/>
                <a:gd name="T53" fmla="*/ 161 h 1000"/>
                <a:gd name="T54" fmla="*/ 772 w 804"/>
                <a:gd name="T55" fmla="*/ 224 h 1000"/>
                <a:gd name="T56" fmla="*/ 749 w 804"/>
                <a:gd name="T57" fmla="*/ 244 h 1000"/>
                <a:gd name="T58" fmla="*/ 737 w 804"/>
                <a:gd name="T59" fmla="*/ 240 h 1000"/>
                <a:gd name="T60" fmla="*/ 737 w 804"/>
                <a:gd name="T61" fmla="*/ 240 h 1000"/>
                <a:gd name="T62" fmla="*/ 705 w 804"/>
                <a:gd name="T63" fmla="*/ 267 h 1000"/>
                <a:gd name="T64" fmla="*/ 626 w 804"/>
                <a:gd name="T65" fmla="*/ 346 h 1000"/>
                <a:gd name="T66" fmla="*/ 579 w 804"/>
                <a:gd name="T67" fmla="*/ 397 h 1000"/>
                <a:gd name="T68" fmla="*/ 532 w 804"/>
                <a:gd name="T69" fmla="*/ 456 h 1000"/>
                <a:gd name="T70" fmla="*/ 489 w 804"/>
                <a:gd name="T71" fmla="*/ 519 h 1000"/>
                <a:gd name="T72" fmla="*/ 449 w 804"/>
                <a:gd name="T73" fmla="*/ 586 h 1000"/>
                <a:gd name="T74" fmla="*/ 449 w 804"/>
                <a:gd name="T75" fmla="*/ 586 h 1000"/>
                <a:gd name="T76" fmla="*/ 272 w 804"/>
                <a:gd name="T77" fmla="*/ 960 h 1000"/>
                <a:gd name="T78" fmla="*/ 181 w 804"/>
                <a:gd name="T79" fmla="*/ 1000 h 1000"/>
                <a:gd name="T80" fmla="*/ 91 w 804"/>
                <a:gd name="T81" fmla="*/ 984 h 1000"/>
                <a:gd name="T82" fmla="*/ 91 w 804"/>
                <a:gd name="T83" fmla="*/ 984 h 1000"/>
                <a:gd name="T84" fmla="*/ 59 w 804"/>
                <a:gd name="T85" fmla="*/ 976 h 1000"/>
                <a:gd name="T86" fmla="*/ 36 w 804"/>
                <a:gd name="T87" fmla="*/ 964 h 1000"/>
                <a:gd name="T88" fmla="*/ 20 w 804"/>
                <a:gd name="T89" fmla="*/ 953 h 1000"/>
                <a:gd name="T90" fmla="*/ 8 w 804"/>
                <a:gd name="T91" fmla="*/ 937 h 1000"/>
                <a:gd name="T92" fmla="*/ 4 w 804"/>
                <a:gd name="T93" fmla="*/ 921 h 1000"/>
                <a:gd name="T94" fmla="*/ 0 w 804"/>
                <a:gd name="T95" fmla="*/ 909 h 1000"/>
                <a:gd name="T96" fmla="*/ 0 w 804"/>
                <a:gd name="T97" fmla="*/ 901 h 1000"/>
                <a:gd name="T98" fmla="*/ 0 w 804"/>
                <a:gd name="T99" fmla="*/ 854 h 10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4"/>
                <a:gd name="T151" fmla="*/ 0 h 1000"/>
                <a:gd name="T152" fmla="*/ 804 w 804"/>
                <a:gd name="T153" fmla="*/ 1000 h 100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4" h="1000">
                  <a:moveTo>
                    <a:pt x="0" y="854"/>
                  </a:moveTo>
                  <a:lnTo>
                    <a:pt x="0" y="854"/>
                  </a:lnTo>
                  <a:lnTo>
                    <a:pt x="28" y="783"/>
                  </a:lnTo>
                  <a:lnTo>
                    <a:pt x="59" y="708"/>
                  </a:lnTo>
                  <a:lnTo>
                    <a:pt x="99" y="618"/>
                  </a:lnTo>
                  <a:lnTo>
                    <a:pt x="146" y="511"/>
                  </a:lnTo>
                  <a:lnTo>
                    <a:pt x="205" y="405"/>
                  </a:lnTo>
                  <a:lnTo>
                    <a:pt x="268" y="299"/>
                  </a:lnTo>
                  <a:lnTo>
                    <a:pt x="300" y="252"/>
                  </a:lnTo>
                  <a:lnTo>
                    <a:pt x="335" y="208"/>
                  </a:lnTo>
                  <a:lnTo>
                    <a:pt x="410" y="118"/>
                  </a:lnTo>
                  <a:lnTo>
                    <a:pt x="520" y="23"/>
                  </a:lnTo>
                  <a:lnTo>
                    <a:pt x="532" y="19"/>
                  </a:lnTo>
                  <a:lnTo>
                    <a:pt x="563" y="7"/>
                  </a:lnTo>
                  <a:lnTo>
                    <a:pt x="583" y="4"/>
                  </a:lnTo>
                  <a:lnTo>
                    <a:pt x="607" y="0"/>
                  </a:lnTo>
                  <a:lnTo>
                    <a:pt x="634" y="0"/>
                  </a:lnTo>
                  <a:lnTo>
                    <a:pt x="662" y="4"/>
                  </a:lnTo>
                  <a:lnTo>
                    <a:pt x="686" y="11"/>
                  </a:lnTo>
                  <a:lnTo>
                    <a:pt x="713" y="19"/>
                  </a:lnTo>
                  <a:lnTo>
                    <a:pt x="756" y="39"/>
                  </a:lnTo>
                  <a:lnTo>
                    <a:pt x="800" y="67"/>
                  </a:lnTo>
                  <a:lnTo>
                    <a:pt x="804" y="145"/>
                  </a:lnTo>
                  <a:lnTo>
                    <a:pt x="788" y="161"/>
                  </a:lnTo>
                  <a:lnTo>
                    <a:pt x="772" y="224"/>
                  </a:lnTo>
                  <a:lnTo>
                    <a:pt x="749" y="244"/>
                  </a:lnTo>
                  <a:lnTo>
                    <a:pt x="737" y="240"/>
                  </a:lnTo>
                  <a:lnTo>
                    <a:pt x="705" y="267"/>
                  </a:lnTo>
                  <a:lnTo>
                    <a:pt x="626" y="346"/>
                  </a:lnTo>
                  <a:lnTo>
                    <a:pt x="579" y="397"/>
                  </a:lnTo>
                  <a:lnTo>
                    <a:pt x="532" y="456"/>
                  </a:lnTo>
                  <a:lnTo>
                    <a:pt x="489" y="519"/>
                  </a:lnTo>
                  <a:lnTo>
                    <a:pt x="449" y="586"/>
                  </a:lnTo>
                  <a:lnTo>
                    <a:pt x="272" y="960"/>
                  </a:lnTo>
                  <a:lnTo>
                    <a:pt x="181" y="1000"/>
                  </a:lnTo>
                  <a:lnTo>
                    <a:pt x="91" y="984"/>
                  </a:lnTo>
                  <a:lnTo>
                    <a:pt x="59" y="976"/>
                  </a:lnTo>
                  <a:lnTo>
                    <a:pt x="36" y="964"/>
                  </a:lnTo>
                  <a:lnTo>
                    <a:pt x="20" y="953"/>
                  </a:lnTo>
                  <a:lnTo>
                    <a:pt x="8" y="937"/>
                  </a:lnTo>
                  <a:lnTo>
                    <a:pt x="4" y="921"/>
                  </a:lnTo>
                  <a:lnTo>
                    <a:pt x="0" y="909"/>
                  </a:lnTo>
                  <a:lnTo>
                    <a:pt x="0" y="901"/>
                  </a:lnTo>
                  <a:lnTo>
                    <a:pt x="0" y="85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1" name="Freeform 206"/>
            <p:cNvSpPr>
              <a:spLocks/>
            </p:cNvSpPr>
            <p:nvPr/>
          </p:nvSpPr>
          <p:spPr bwMode="auto">
            <a:xfrm>
              <a:off x="3405" y="1823"/>
              <a:ext cx="807" cy="997"/>
            </a:xfrm>
            <a:custGeom>
              <a:avLst/>
              <a:gdLst>
                <a:gd name="T0" fmla="*/ 0 w 807"/>
                <a:gd name="T1" fmla="*/ 835 h 997"/>
                <a:gd name="T2" fmla="*/ 0 w 807"/>
                <a:gd name="T3" fmla="*/ 835 h 997"/>
                <a:gd name="T4" fmla="*/ 27 w 807"/>
                <a:gd name="T5" fmla="*/ 768 h 997"/>
                <a:gd name="T6" fmla="*/ 59 w 807"/>
                <a:gd name="T7" fmla="*/ 693 h 997"/>
                <a:gd name="T8" fmla="*/ 98 w 807"/>
                <a:gd name="T9" fmla="*/ 603 h 997"/>
                <a:gd name="T10" fmla="*/ 149 w 807"/>
                <a:gd name="T11" fmla="*/ 500 h 997"/>
                <a:gd name="T12" fmla="*/ 204 w 807"/>
                <a:gd name="T13" fmla="*/ 394 h 997"/>
                <a:gd name="T14" fmla="*/ 267 w 807"/>
                <a:gd name="T15" fmla="*/ 288 h 997"/>
                <a:gd name="T16" fmla="*/ 299 w 807"/>
                <a:gd name="T17" fmla="*/ 240 h 997"/>
                <a:gd name="T18" fmla="*/ 334 w 807"/>
                <a:gd name="T19" fmla="*/ 197 h 997"/>
                <a:gd name="T20" fmla="*/ 334 w 807"/>
                <a:gd name="T21" fmla="*/ 197 h 997"/>
                <a:gd name="T22" fmla="*/ 413 w 807"/>
                <a:gd name="T23" fmla="*/ 114 h 997"/>
                <a:gd name="T24" fmla="*/ 523 w 807"/>
                <a:gd name="T25" fmla="*/ 24 h 997"/>
                <a:gd name="T26" fmla="*/ 523 w 807"/>
                <a:gd name="T27" fmla="*/ 24 h 997"/>
                <a:gd name="T28" fmla="*/ 535 w 807"/>
                <a:gd name="T29" fmla="*/ 16 h 997"/>
                <a:gd name="T30" fmla="*/ 567 w 807"/>
                <a:gd name="T31" fmla="*/ 8 h 997"/>
                <a:gd name="T32" fmla="*/ 587 w 807"/>
                <a:gd name="T33" fmla="*/ 4 h 997"/>
                <a:gd name="T34" fmla="*/ 610 w 807"/>
                <a:gd name="T35" fmla="*/ 0 h 997"/>
                <a:gd name="T36" fmla="*/ 638 w 807"/>
                <a:gd name="T37" fmla="*/ 0 h 997"/>
                <a:gd name="T38" fmla="*/ 661 w 807"/>
                <a:gd name="T39" fmla="*/ 4 h 997"/>
                <a:gd name="T40" fmla="*/ 661 w 807"/>
                <a:gd name="T41" fmla="*/ 4 h 997"/>
                <a:gd name="T42" fmla="*/ 689 w 807"/>
                <a:gd name="T43" fmla="*/ 8 h 997"/>
                <a:gd name="T44" fmla="*/ 716 w 807"/>
                <a:gd name="T45" fmla="*/ 20 h 997"/>
                <a:gd name="T46" fmla="*/ 760 w 807"/>
                <a:gd name="T47" fmla="*/ 40 h 997"/>
                <a:gd name="T48" fmla="*/ 799 w 807"/>
                <a:gd name="T49" fmla="*/ 63 h 997"/>
                <a:gd name="T50" fmla="*/ 807 w 807"/>
                <a:gd name="T51" fmla="*/ 146 h 997"/>
                <a:gd name="T52" fmla="*/ 791 w 807"/>
                <a:gd name="T53" fmla="*/ 162 h 997"/>
                <a:gd name="T54" fmla="*/ 772 w 807"/>
                <a:gd name="T55" fmla="*/ 189 h 997"/>
                <a:gd name="T56" fmla="*/ 744 w 807"/>
                <a:gd name="T57" fmla="*/ 213 h 997"/>
                <a:gd name="T58" fmla="*/ 661 w 807"/>
                <a:gd name="T59" fmla="*/ 272 h 997"/>
                <a:gd name="T60" fmla="*/ 661 w 807"/>
                <a:gd name="T61" fmla="*/ 272 h 997"/>
                <a:gd name="T62" fmla="*/ 642 w 807"/>
                <a:gd name="T63" fmla="*/ 296 h 997"/>
                <a:gd name="T64" fmla="*/ 590 w 807"/>
                <a:gd name="T65" fmla="*/ 363 h 997"/>
                <a:gd name="T66" fmla="*/ 559 w 807"/>
                <a:gd name="T67" fmla="*/ 410 h 997"/>
                <a:gd name="T68" fmla="*/ 523 w 807"/>
                <a:gd name="T69" fmla="*/ 461 h 997"/>
                <a:gd name="T70" fmla="*/ 488 w 807"/>
                <a:gd name="T71" fmla="*/ 520 h 997"/>
                <a:gd name="T72" fmla="*/ 453 w 807"/>
                <a:gd name="T73" fmla="*/ 587 h 997"/>
                <a:gd name="T74" fmla="*/ 453 w 807"/>
                <a:gd name="T75" fmla="*/ 587 h 997"/>
                <a:gd name="T76" fmla="*/ 275 w 807"/>
                <a:gd name="T77" fmla="*/ 957 h 997"/>
                <a:gd name="T78" fmla="*/ 185 w 807"/>
                <a:gd name="T79" fmla="*/ 997 h 997"/>
                <a:gd name="T80" fmla="*/ 90 w 807"/>
                <a:gd name="T81" fmla="*/ 985 h 997"/>
                <a:gd name="T82" fmla="*/ 90 w 807"/>
                <a:gd name="T83" fmla="*/ 985 h 997"/>
                <a:gd name="T84" fmla="*/ 63 w 807"/>
                <a:gd name="T85" fmla="*/ 977 h 997"/>
                <a:gd name="T86" fmla="*/ 39 w 807"/>
                <a:gd name="T87" fmla="*/ 965 h 997"/>
                <a:gd name="T88" fmla="*/ 23 w 807"/>
                <a:gd name="T89" fmla="*/ 949 h 997"/>
                <a:gd name="T90" fmla="*/ 11 w 807"/>
                <a:gd name="T91" fmla="*/ 934 h 997"/>
                <a:gd name="T92" fmla="*/ 7 w 807"/>
                <a:gd name="T93" fmla="*/ 922 h 997"/>
                <a:gd name="T94" fmla="*/ 4 w 807"/>
                <a:gd name="T95" fmla="*/ 910 h 997"/>
                <a:gd name="T96" fmla="*/ 4 w 807"/>
                <a:gd name="T97" fmla="*/ 898 h 997"/>
                <a:gd name="T98" fmla="*/ 0 w 807"/>
                <a:gd name="T99" fmla="*/ 835 h 9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7"/>
                <a:gd name="T151" fmla="*/ 0 h 997"/>
                <a:gd name="T152" fmla="*/ 807 w 807"/>
                <a:gd name="T153" fmla="*/ 997 h 9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7" h="997">
                  <a:moveTo>
                    <a:pt x="0" y="835"/>
                  </a:moveTo>
                  <a:lnTo>
                    <a:pt x="0" y="835"/>
                  </a:lnTo>
                  <a:lnTo>
                    <a:pt x="27" y="768"/>
                  </a:lnTo>
                  <a:lnTo>
                    <a:pt x="59" y="693"/>
                  </a:lnTo>
                  <a:lnTo>
                    <a:pt x="98" y="603"/>
                  </a:lnTo>
                  <a:lnTo>
                    <a:pt x="149" y="500"/>
                  </a:lnTo>
                  <a:lnTo>
                    <a:pt x="204" y="394"/>
                  </a:lnTo>
                  <a:lnTo>
                    <a:pt x="267" y="288"/>
                  </a:lnTo>
                  <a:lnTo>
                    <a:pt x="299" y="240"/>
                  </a:lnTo>
                  <a:lnTo>
                    <a:pt x="334" y="197"/>
                  </a:lnTo>
                  <a:lnTo>
                    <a:pt x="413" y="114"/>
                  </a:lnTo>
                  <a:lnTo>
                    <a:pt x="523" y="24"/>
                  </a:lnTo>
                  <a:lnTo>
                    <a:pt x="535" y="16"/>
                  </a:lnTo>
                  <a:lnTo>
                    <a:pt x="567" y="8"/>
                  </a:lnTo>
                  <a:lnTo>
                    <a:pt x="587" y="4"/>
                  </a:lnTo>
                  <a:lnTo>
                    <a:pt x="610" y="0"/>
                  </a:lnTo>
                  <a:lnTo>
                    <a:pt x="638" y="0"/>
                  </a:lnTo>
                  <a:lnTo>
                    <a:pt x="661" y="4"/>
                  </a:lnTo>
                  <a:lnTo>
                    <a:pt x="689" y="8"/>
                  </a:lnTo>
                  <a:lnTo>
                    <a:pt x="716" y="20"/>
                  </a:lnTo>
                  <a:lnTo>
                    <a:pt x="760" y="40"/>
                  </a:lnTo>
                  <a:lnTo>
                    <a:pt x="799" y="63"/>
                  </a:lnTo>
                  <a:lnTo>
                    <a:pt x="807" y="146"/>
                  </a:lnTo>
                  <a:lnTo>
                    <a:pt x="791" y="162"/>
                  </a:lnTo>
                  <a:lnTo>
                    <a:pt x="772" y="189"/>
                  </a:lnTo>
                  <a:lnTo>
                    <a:pt x="744" y="213"/>
                  </a:lnTo>
                  <a:lnTo>
                    <a:pt x="661" y="272"/>
                  </a:lnTo>
                  <a:lnTo>
                    <a:pt x="642" y="296"/>
                  </a:lnTo>
                  <a:lnTo>
                    <a:pt x="590" y="363"/>
                  </a:lnTo>
                  <a:lnTo>
                    <a:pt x="559" y="410"/>
                  </a:lnTo>
                  <a:lnTo>
                    <a:pt x="523" y="461"/>
                  </a:lnTo>
                  <a:lnTo>
                    <a:pt x="488" y="520"/>
                  </a:lnTo>
                  <a:lnTo>
                    <a:pt x="453" y="587"/>
                  </a:lnTo>
                  <a:lnTo>
                    <a:pt x="275" y="957"/>
                  </a:lnTo>
                  <a:lnTo>
                    <a:pt x="185" y="997"/>
                  </a:lnTo>
                  <a:lnTo>
                    <a:pt x="90" y="985"/>
                  </a:lnTo>
                  <a:lnTo>
                    <a:pt x="63" y="977"/>
                  </a:lnTo>
                  <a:lnTo>
                    <a:pt x="39" y="965"/>
                  </a:lnTo>
                  <a:lnTo>
                    <a:pt x="23" y="949"/>
                  </a:lnTo>
                  <a:lnTo>
                    <a:pt x="11" y="934"/>
                  </a:lnTo>
                  <a:lnTo>
                    <a:pt x="7" y="922"/>
                  </a:lnTo>
                  <a:lnTo>
                    <a:pt x="4" y="910"/>
                  </a:lnTo>
                  <a:lnTo>
                    <a:pt x="4" y="898"/>
                  </a:lnTo>
                  <a:lnTo>
                    <a:pt x="0" y="835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2" name="Freeform 207"/>
            <p:cNvSpPr>
              <a:spLocks/>
            </p:cNvSpPr>
            <p:nvPr/>
          </p:nvSpPr>
          <p:spPr bwMode="auto">
            <a:xfrm>
              <a:off x="3353" y="1784"/>
              <a:ext cx="835" cy="1036"/>
            </a:xfrm>
            <a:custGeom>
              <a:avLst/>
              <a:gdLst>
                <a:gd name="T0" fmla="*/ 91 w 835"/>
                <a:gd name="T1" fmla="*/ 740 h 1036"/>
                <a:gd name="T2" fmla="*/ 225 w 835"/>
                <a:gd name="T3" fmla="*/ 461 h 1036"/>
                <a:gd name="T4" fmla="*/ 304 w 835"/>
                <a:gd name="T5" fmla="*/ 331 h 1036"/>
                <a:gd name="T6" fmla="*/ 434 w 835"/>
                <a:gd name="T7" fmla="*/ 165 h 1036"/>
                <a:gd name="T8" fmla="*/ 520 w 835"/>
                <a:gd name="T9" fmla="*/ 94 h 1036"/>
                <a:gd name="T10" fmla="*/ 639 w 835"/>
                <a:gd name="T11" fmla="*/ 43 h 1036"/>
                <a:gd name="T12" fmla="*/ 682 w 835"/>
                <a:gd name="T13" fmla="*/ 43 h 1036"/>
                <a:gd name="T14" fmla="*/ 772 w 835"/>
                <a:gd name="T15" fmla="*/ 79 h 1036"/>
                <a:gd name="T16" fmla="*/ 796 w 835"/>
                <a:gd name="T17" fmla="*/ 75 h 1036"/>
                <a:gd name="T18" fmla="*/ 800 w 835"/>
                <a:gd name="T19" fmla="*/ 193 h 1036"/>
                <a:gd name="T20" fmla="*/ 788 w 835"/>
                <a:gd name="T21" fmla="*/ 197 h 1036"/>
                <a:gd name="T22" fmla="*/ 757 w 835"/>
                <a:gd name="T23" fmla="*/ 224 h 1036"/>
                <a:gd name="T24" fmla="*/ 650 w 835"/>
                <a:gd name="T25" fmla="*/ 323 h 1036"/>
                <a:gd name="T26" fmla="*/ 540 w 835"/>
                <a:gd name="T27" fmla="*/ 449 h 1036"/>
                <a:gd name="T28" fmla="*/ 453 w 835"/>
                <a:gd name="T29" fmla="*/ 591 h 1036"/>
                <a:gd name="T30" fmla="*/ 316 w 835"/>
                <a:gd name="T31" fmla="*/ 870 h 1036"/>
                <a:gd name="T32" fmla="*/ 288 w 835"/>
                <a:gd name="T33" fmla="*/ 933 h 1036"/>
                <a:gd name="T34" fmla="*/ 260 w 835"/>
                <a:gd name="T35" fmla="*/ 965 h 1036"/>
                <a:gd name="T36" fmla="*/ 209 w 835"/>
                <a:gd name="T37" fmla="*/ 988 h 1036"/>
                <a:gd name="T38" fmla="*/ 111 w 835"/>
                <a:gd name="T39" fmla="*/ 984 h 1036"/>
                <a:gd name="T40" fmla="*/ 67 w 835"/>
                <a:gd name="T41" fmla="*/ 973 h 1036"/>
                <a:gd name="T42" fmla="*/ 40 w 835"/>
                <a:gd name="T43" fmla="*/ 937 h 1036"/>
                <a:gd name="T44" fmla="*/ 36 w 835"/>
                <a:gd name="T45" fmla="*/ 882 h 1036"/>
                <a:gd name="T46" fmla="*/ 16 w 835"/>
                <a:gd name="T47" fmla="*/ 854 h 1036"/>
                <a:gd name="T48" fmla="*/ 0 w 835"/>
                <a:gd name="T49" fmla="*/ 854 h 1036"/>
                <a:gd name="T50" fmla="*/ 0 w 835"/>
                <a:gd name="T51" fmla="*/ 894 h 1036"/>
                <a:gd name="T52" fmla="*/ 20 w 835"/>
                <a:gd name="T53" fmla="*/ 969 h 1036"/>
                <a:gd name="T54" fmla="*/ 79 w 835"/>
                <a:gd name="T55" fmla="*/ 1020 h 1036"/>
                <a:gd name="T56" fmla="*/ 166 w 835"/>
                <a:gd name="T57" fmla="*/ 1036 h 1036"/>
                <a:gd name="T58" fmla="*/ 252 w 835"/>
                <a:gd name="T59" fmla="*/ 1028 h 1036"/>
                <a:gd name="T60" fmla="*/ 312 w 835"/>
                <a:gd name="T61" fmla="*/ 976 h 1036"/>
                <a:gd name="T62" fmla="*/ 434 w 835"/>
                <a:gd name="T63" fmla="*/ 713 h 1036"/>
                <a:gd name="T64" fmla="*/ 544 w 835"/>
                <a:gd name="T65" fmla="*/ 524 h 1036"/>
                <a:gd name="T66" fmla="*/ 639 w 835"/>
                <a:gd name="T67" fmla="*/ 402 h 1036"/>
                <a:gd name="T68" fmla="*/ 828 w 835"/>
                <a:gd name="T69" fmla="*/ 224 h 1036"/>
                <a:gd name="T70" fmla="*/ 835 w 835"/>
                <a:gd name="T71" fmla="*/ 205 h 1036"/>
                <a:gd name="T72" fmla="*/ 832 w 835"/>
                <a:gd name="T73" fmla="*/ 126 h 1036"/>
                <a:gd name="T74" fmla="*/ 816 w 835"/>
                <a:gd name="T75" fmla="*/ 67 h 1036"/>
                <a:gd name="T76" fmla="*/ 749 w 835"/>
                <a:gd name="T77" fmla="*/ 27 h 1036"/>
                <a:gd name="T78" fmla="*/ 654 w 835"/>
                <a:gd name="T79" fmla="*/ 0 h 1036"/>
                <a:gd name="T80" fmla="*/ 603 w 835"/>
                <a:gd name="T81" fmla="*/ 4 h 1036"/>
                <a:gd name="T82" fmla="*/ 528 w 835"/>
                <a:gd name="T83" fmla="*/ 31 h 1036"/>
                <a:gd name="T84" fmla="*/ 422 w 835"/>
                <a:gd name="T85" fmla="*/ 114 h 1036"/>
                <a:gd name="T86" fmla="*/ 351 w 835"/>
                <a:gd name="T87" fmla="*/ 189 h 1036"/>
                <a:gd name="T88" fmla="*/ 233 w 835"/>
                <a:gd name="T89" fmla="*/ 354 h 1036"/>
                <a:gd name="T90" fmla="*/ 91 w 835"/>
                <a:gd name="T91" fmla="*/ 630 h 1036"/>
                <a:gd name="T92" fmla="*/ 0 w 835"/>
                <a:gd name="T93" fmla="*/ 858 h 1036"/>
                <a:gd name="T94" fmla="*/ 0 w 835"/>
                <a:gd name="T95" fmla="*/ 874 h 1036"/>
                <a:gd name="T96" fmla="*/ 24 w 835"/>
                <a:gd name="T97" fmla="*/ 894 h 1036"/>
                <a:gd name="T98" fmla="*/ 32 w 835"/>
                <a:gd name="T99" fmla="*/ 886 h 10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35"/>
                <a:gd name="T151" fmla="*/ 0 h 1036"/>
                <a:gd name="T152" fmla="*/ 835 w 835"/>
                <a:gd name="T153" fmla="*/ 1036 h 10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35" h="1036">
                  <a:moveTo>
                    <a:pt x="32" y="886"/>
                  </a:moveTo>
                  <a:lnTo>
                    <a:pt x="32" y="886"/>
                  </a:lnTo>
                  <a:lnTo>
                    <a:pt x="91" y="740"/>
                  </a:lnTo>
                  <a:lnTo>
                    <a:pt x="154" y="598"/>
                  </a:lnTo>
                  <a:lnTo>
                    <a:pt x="186" y="531"/>
                  </a:lnTo>
                  <a:lnTo>
                    <a:pt x="225" y="461"/>
                  </a:lnTo>
                  <a:lnTo>
                    <a:pt x="264" y="394"/>
                  </a:lnTo>
                  <a:lnTo>
                    <a:pt x="304" y="331"/>
                  </a:lnTo>
                  <a:lnTo>
                    <a:pt x="343" y="272"/>
                  </a:lnTo>
                  <a:lnTo>
                    <a:pt x="386" y="216"/>
                  </a:lnTo>
                  <a:lnTo>
                    <a:pt x="434" y="165"/>
                  </a:lnTo>
                  <a:lnTo>
                    <a:pt x="485" y="118"/>
                  </a:lnTo>
                  <a:lnTo>
                    <a:pt x="520" y="94"/>
                  </a:lnTo>
                  <a:lnTo>
                    <a:pt x="556" y="71"/>
                  </a:lnTo>
                  <a:lnTo>
                    <a:pt x="595" y="55"/>
                  </a:lnTo>
                  <a:lnTo>
                    <a:pt x="639" y="43"/>
                  </a:lnTo>
                  <a:lnTo>
                    <a:pt x="658" y="39"/>
                  </a:lnTo>
                  <a:lnTo>
                    <a:pt x="682" y="43"/>
                  </a:lnTo>
                  <a:lnTo>
                    <a:pt x="705" y="51"/>
                  </a:lnTo>
                  <a:lnTo>
                    <a:pt x="729" y="59"/>
                  </a:lnTo>
                  <a:lnTo>
                    <a:pt x="772" y="79"/>
                  </a:lnTo>
                  <a:lnTo>
                    <a:pt x="816" y="102"/>
                  </a:lnTo>
                  <a:lnTo>
                    <a:pt x="796" y="75"/>
                  </a:lnTo>
                  <a:lnTo>
                    <a:pt x="800" y="193"/>
                  </a:lnTo>
                  <a:lnTo>
                    <a:pt x="800" y="185"/>
                  </a:lnTo>
                  <a:lnTo>
                    <a:pt x="796" y="189"/>
                  </a:lnTo>
                  <a:lnTo>
                    <a:pt x="788" y="197"/>
                  </a:lnTo>
                  <a:lnTo>
                    <a:pt x="757" y="224"/>
                  </a:lnTo>
                  <a:lnTo>
                    <a:pt x="733" y="244"/>
                  </a:lnTo>
                  <a:lnTo>
                    <a:pt x="650" y="323"/>
                  </a:lnTo>
                  <a:lnTo>
                    <a:pt x="615" y="362"/>
                  </a:lnTo>
                  <a:lnTo>
                    <a:pt x="575" y="405"/>
                  </a:lnTo>
                  <a:lnTo>
                    <a:pt x="540" y="449"/>
                  </a:lnTo>
                  <a:lnTo>
                    <a:pt x="509" y="492"/>
                  </a:lnTo>
                  <a:lnTo>
                    <a:pt x="477" y="539"/>
                  </a:lnTo>
                  <a:lnTo>
                    <a:pt x="453" y="591"/>
                  </a:lnTo>
                  <a:lnTo>
                    <a:pt x="382" y="728"/>
                  </a:lnTo>
                  <a:lnTo>
                    <a:pt x="316" y="870"/>
                  </a:lnTo>
                  <a:lnTo>
                    <a:pt x="304" y="906"/>
                  </a:lnTo>
                  <a:lnTo>
                    <a:pt x="288" y="933"/>
                  </a:lnTo>
                  <a:lnTo>
                    <a:pt x="280" y="945"/>
                  </a:lnTo>
                  <a:lnTo>
                    <a:pt x="272" y="957"/>
                  </a:lnTo>
                  <a:lnTo>
                    <a:pt x="260" y="965"/>
                  </a:lnTo>
                  <a:lnTo>
                    <a:pt x="245" y="973"/>
                  </a:lnTo>
                  <a:lnTo>
                    <a:pt x="209" y="988"/>
                  </a:lnTo>
                  <a:lnTo>
                    <a:pt x="182" y="992"/>
                  </a:lnTo>
                  <a:lnTo>
                    <a:pt x="150" y="992"/>
                  </a:lnTo>
                  <a:lnTo>
                    <a:pt x="111" y="984"/>
                  </a:lnTo>
                  <a:lnTo>
                    <a:pt x="87" y="980"/>
                  </a:lnTo>
                  <a:lnTo>
                    <a:pt x="67" y="973"/>
                  </a:lnTo>
                  <a:lnTo>
                    <a:pt x="56" y="965"/>
                  </a:lnTo>
                  <a:lnTo>
                    <a:pt x="44" y="953"/>
                  </a:lnTo>
                  <a:lnTo>
                    <a:pt x="40" y="937"/>
                  </a:lnTo>
                  <a:lnTo>
                    <a:pt x="36" y="921"/>
                  </a:lnTo>
                  <a:lnTo>
                    <a:pt x="36" y="882"/>
                  </a:lnTo>
                  <a:lnTo>
                    <a:pt x="32" y="874"/>
                  </a:lnTo>
                  <a:lnTo>
                    <a:pt x="28" y="866"/>
                  </a:lnTo>
                  <a:lnTo>
                    <a:pt x="16" y="854"/>
                  </a:lnTo>
                  <a:lnTo>
                    <a:pt x="12" y="850"/>
                  </a:lnTo>
                  <a:lnTo>
                    <a:pt x="4" y="850"/>
                  </a:lnTo>
                  <a:lnTo>
                    <a:pt x="0" y="854"/>
                  </a:lnTo>
                  <a:lnTo>
                    <a:pt x="0" y="862"/>
                  </a:lnTo>
                  <a:lnTo>
                    <a:pt x="0" y="894"/>
                  </a:lnTo>
                  <a:lnTo>
                    <a:pt x="4" y="921"/>
                  </a:lnTo>
                  <a:lnTo>
                    <a:pt x="8" y="949"/>
                  </a:lnTo>
                  <a:lnTo>
                    <a:pt x="20" y="969"/>
                  </a:lnTo>
                  <a:lnTo>
                    <a:pt x="36" y="988"/>
                  </a:lnTo>
                  <a:lnTo>
                    <a:pt x="56" y="1008"/>
                  </a:lnTo>
                  <a:lnTo>
                    <a:pt x="79" y="1020"/>
                  </a:lnTo>
                  <a:lnTo>
                    <a:pt x="111" y="1028"/>
                  </a:lnTo>
                  <a:lnTo>
                    <a:pt x="166" y="1036"/>
                  </a:lnTo>
                  <a:lnTo>
                    <a:pt x="193" y="1036"/>
                  </a:lnTo>
                  <a:lnTo>
                    <a:pt x="225" y="1036"/>
                  </a:lnTo>
                  <a:lnTo>
                    <a:pt x="252" y="1028"/>
                  </a:lnTo>
                  <a:lnTo>
                    <a:pt x="276" y="1020"/>
                  </a:lnTo>
                  <a:lnTo>
                    <a:pt x="296" y="1000"/>
                  </a:lnTo>
                  <a:lnTo>
                    <a:pt x="312" y="976"/>
                  </a:lnTo>
                  <a:lnTo>
                    <a:pt x="375" y="847"/>
                  </a:lnTo>
                  <a:lnTo>
                    <a:pt x="434" y="713"/>
                  </a:lnTo>
                  <a:lnTo>
                    <a:pt x="469" y="650"/>
                  </a:lnTo>
                  <a:lnTo>
                    <a:pt x="505" y="587"/>
                  </a:lnTo>
                  <a:lnTo>
                    <a:pt x="544" y="524"/>
                  </a:lnTo>
                  <a:lnTo>
                    <a:pt x="583" y="468"/>
                  </a:lnTo>
                  <a:lnTo>
                    <a:pt x="639" y="402"/>
                  </a:lnTo>
                  <a:lnTo>
                    <a:pt x="702" y="339"/>
                  </a:lnTo>
                  <a:lnTo>
                    <a:pt x="761" y="283"/>
                  </a:lnTo>
                  <a:lnTo>
                    <a:pt x="828" y="224"/>
                  </a:lnTo>
                  <a:lnTo>
                    <a:pt x="832" y="216"/>
                  </a:lnTo>
                  <a:lnTo>
                    <a:pt x="835" y="205"/>
                  </a:lnTo>
                  <a:lnTo>
                    <a:pt x="835" y="177"/>
                  </a:lnTo>
                  <a:lnTo>
                    <a:pt x="832" y="126"/>
                  </a:lnTo>
                  <a:lnTo>
                    <a:pt x="832" y="98"/>
                  </a:lnTo>
                  <a:lnTo>
                    <a:pt x="824" y="83"/>
                  </a:lnTo>
                  <a:lnTo>
                    <a:pt x="816" y="67"/>
                  </a:lnTo>
                  <a:lnTo>
                    <a:pt x="792" y="51"/>
                  </a:lnTo>
                  <a:lnTo>
                    <a:pt x="749" y="27"/>
                  </a:lnTo>
                  <a:lnTo>
                    <a:pt x="702" y="12"/>
                  </a:lnTo>
                  <a:lnTo>
                    <a:pt x="678" y="4"/>
                  </a:lnTo>
                  <a:lnTo>
                    <a:pt x="654" y="0"/>
                  </a:lnTo>
                  <a:lnTo>
                    <a:pt x="631" y="0"/>
                  </a:lnTo>
                  <a:lnTo>
                    <a:pt x="603" y="4"/>
                  </a:lnTo>
                  <a:lnTo>
                    <a:pt x="579" y="8"/>
                  </a:lnTo>
                  <a:lnTo>
                    <a:pt x="552" y="20"/>
                  </a:lnTo>
                  <a:lnTo>
                    <a:pt x="528" y="31"/>
                  </a:lnTo>
                  <a:lnTo>
                    <a:pt x="505" y="47"/>
                  </a:lnTo>
                  <a:lnTo>
                    <a:pt x="461" y="79"/>
                  </a:lnTo>
                  <a:lnTo>
                    <a:pt x="422" y="114"/>
                  </a:lnTo>
                  <a:lnTo>
                    <a:pt x="386" y="150"/>
                  </a:lnTo>
                  <a:lnTo>
                    <a:pt x="351" y="189"/>
                  </a:lnTo>
                  <a:lnTo>
                    <a:pt x="319" y="228"/>
                  </a:lnTo>
                  <a:lnTo>
                    <a:pt x="288" y="268"/>
                  </a:lnTo>
                  <a:lnTo>
                    <a:pt x="233" y="354"/>
                  </a:lnTo>
                  <a:lnTo>
                    <a:pt x="182" y="445"/>
                  </a:lnTo>
                  <a:lnTo>
                    <a:pt x="134" y="535"/>
                  </a:lnTo>
                  <a:lnTo>
                    <a:pt x="91" y="630"/>
                  </a:lnTo>
                  <a:lnTo>
                    <a:pt x="16" y="823"/>
                  </a:lnTo>
                  <a:lnTo>
                    <a:pt x="0" y="858"/>
                  </a:lnTo>
                  <a:lnTo>
                    <a:pt x="0" y="866"/>
                  </a:lnTo>
                  <a:lnTo>
                    <a:pt x="0" y="874"/>
                  </a:lnTo>
                  <a:lnTo>
                    <a:pt x="12" y="886"/>
                  </a:lnTo>
                  <a:lnTo>
                    <a:pt x="16" y="894"/>
                  </a:lnTo>
                  <a:lnTo>
                    <a:pt x="24" y="894"/>
                  </a:lnTo>
                  <a:lnTo>
                    <a:pt x="28" y="894"/>
                  </a:lnTo>
                  <a:lnTo>
                    <a:pt x="32" y="8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3" name="Freeform 208"/>
            <p:cNvSpPr>
              <a:spLocks/>
            </p:cNvSpPr>
            <p:nvPr/>
          </p:nvSpPr>
          <p:spPr bwMode="auto">
            <a:xfrm>
              <a:off x="4488" y="2075"/>
              <a:ext cx="437" cy="1004"/>
            </a:xfrm>
            <a:custGeom>
              <a:avLst/>
              <a:gdLst>
                <a:gd name="T0" fmla="*/ 8 w 437"/>
                <a:gd name="T1" fmla="*/ 1004 h 1004"/>
                <a:gd name="T2" fmla="*/ 8 w 437"/>
                <a:gd name="T3" fmla="*/ 1004 h 1004"/>
                <a:gd name="T4" fmla="*/ 4 w 437"/>
                <a:gd name="T5" fmla="*/ 1004 h 1004"/>
                <a:gd name="T6" fmla="*/ 0 w 437"/>
                <a:gd name="T7" fmla="*/ 993 h 1004"/>
                <a:gd name="T8" fmla="*/ 0 w 437"/>
                <a:gd name="T9" fmla="*/ 981 h 1004"/>
                <a:gd name="T10" fmla="*/ 0 w 437"/>
                <a:gd name="T11" fmla="*/ 969 h 1004"/>
                <a:gd name="T12" fmla="*/ 4 w 437"/>
                <a:gd name="T13" fmla="*/ 945 h 1004"/>
                <a:gd name="T14" fmla="*/ 12 w 437"/>
                <a:gd name="T15" fmla="*/ 922 h 1004"/>
                <a:gd name="T16" fmla="*/ 12 w 437"/>
                <a:gd name="T17" fmla="*/ 922 h 1004"/>
                <a:gd name="T18" fmla="*/ 106 w 437"/>
                <a:gd name="T19" fmla="*/ 682 h 1004"/>
                <a:gd name="T20" fmla="*/ 228 w 437"/>
                <a:gd name="T21" fmla="*/ 386 h 1004"/>
                <a:gd name="T22" fmla="*/ 291 w 437"/>
                <a:gd name="T23" fmla="*/ 248 h 1004"/>
                <a:gd name="T24" fmla="*/ 346 w 437"/>
                <a:gd name="T25" fmla="*/ 130 h 1004"/>
                <a:gd name="T26" fmla="*/ 390 w 437"/>
                <a:gd name="T27" fmla="*/ 44 h 1004"/>
                <a:gd name="T28" fmla="*/ 406 w 437"/>
                <a:gd name="T29" fmla="*/ 16 h 1004"/>
                <a:gd name="T30" fmla="*/ 421 w 437"/>
                <a:gd name="T31" fmla="*/ 0 h 1004"/>
                <a:gd name="T32" fmla="*/ 421 w 437"/>
                <a:gd name="T33" fmla="*/ 0 h 1004"/>
                <a:gd name="T34" fmla="*/ 421 w 437"/>
                <a:gd name="T35" fmla="*/ 0 h 1004"/>
                <a:gd name="T36" fmla="*/ 425 w 437"/>
                <a:gd name="T37" fmla="*/ 4 h 1004"/>
                <a:gd name="T38" fmla="*/ 429 w 437"/>
                <a:gd name="T39" fmla="*/ 16 h 1004"/>
                <a:gd name="T40" fmla="*/ 433 w 437"/>
                <a:gd name="T41" fmla="*/ 55 h 1004"/>
                <a:gd name="T42" fmla="*/ 437 w 437"/>
                <a:gd name="T43" fmla="*/ 118 h 1004"/>
                <a:gd name="T44" fmla="*/ 425 w 437"/>
                <a:gd name="T45" fmla="*/ 177 h 1004"/>
                <a:gd name="T46" fmla="*/ 382 w 437"/>
                <a:gd name="T47" fmla="*/ 351 h 1004"/>
                <a:gd name="T48" fmla="*/ 8 w 437"/>
                <a:gd name="T49" fmla="*/ 1004 h 100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37"/>
                <a:gd name="T76" fmla="*/ 0 h 1004"/>
                <a:gd name="T77" fmla="*/ 437 w 437"/>
                <a:gd name="T78" fmla="*/ 1004 h 100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37" h="1004">
                  <a:moveTo>
                    <a:pt x="8" y="1004"/>
                  </a:moveTo>
                  <a:lnTo>
                    <a:pt x="8" y="1004"/>
                  </a:lnTo>
                  <a:lnTo>
                    <a:pt x="4" y="1004"/>
                  </a:lnTo>
                  <a:lnTo>
                    <a:pt x="0" y="993"/>
                  </a:lnTo>
                  <a:lnTo>
                    <a:pt x="0" y="981"/>
                  </a:lnTo>
                  <a:lnTo>
                    <a:pt x="0" y="969"/>
                  </a:lnTo>
                  <a:lnTo>
                    <a:pt x="4" y="945"/>
                  </a:lnTo>
                  <a:lnTo>
                    <a:pt x="12" y="922"/>
                  </a:lnTo>
                  <a:lnTo>
                    <a:pt x="106" y="682"/>
                  </a:lnTo>
                  <a:lnTo>
                    <a:pt x="228" y="386"/>
                  </a:lnTo>
                  <a:lnTo>
                    <a:pt x="291" y="248"/>
                  </a:lnTo>
                  <a:lnTo>
                    <a:pt x="346" y="130"/>
                  </a:lnTo>
                  <a:lnTo>
                    <a:pt x="390" y="44"/>
                  </a:lnTo>
                  <a:lnTo>
                    <a:pt x="406" y="16"/>
                  </a:lnTo>
                  <a:lnTo>
                    <a:pt x="421" y="0"/>
                  </a:lnTo>
                  <a:lnTo>
                    <a:pt x="425" y="4"/>
                  </a:lnTo>
                  <a:lnTo>
                    <a:pt x="429" y="16"/>
                  </a:lnTo>
                  <a:lnTo>
                    <a:pt x="433" y="55"/>
                  </a:lnTo>
                  <a:lnTo>
                    <a:pt x="437" y="118"/>
                  </a:lnTo>
                  <a:lnTo>
                    <a:pt x="425" y="177"/>
                  </a:lnTo>
                  <a:lnTo>
                    <a:pt x="382" y="351"/>
                  </a:lnTo>
                  <a:lnTo>
                    <a:pt x="8" y="1004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4" name="Freeform 209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w 342"/>
                <a:gd name="T23" fmla="*/ 83 h 1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2"/>
                <a:gd name="T37" fmla="*/ 0 h 153"/>
                <a:gd name="T38" fmla="*/ 342 w 342"/>
                <a:gd name="T39" fmla="*/ 153 h 15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7E9FA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5" name="Freeform 210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2"/>
                <a:gd name="T34" fmla="*/ 0 h 153"/>
                <a:gd name="T35" fmla="*/ 342 w 342"/>
                <a:gd name="T36" fmla="*/ 153 h 1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6" name="Freeform 211"/>
            <p:cNvSpPr>
              <a:spLocks/>
            </p:cNvSpPr>
            <p:nvPr/>
          </p:nvSpPr>
          <p:spPr bwMode="auto">
            <a:xfrm>
              <a:off x="4267" y="2245"/>
              <a:ext cx="292" cy="114"/>
            </a:xfrm>
            <a:custGeom>
              <a:avLst/>
              <a:gdLst>
                <a:gd name="T0" fmla="*/ 32 w 292"/>
                <a:gd name="T1" fmla="*/ 0 h 114"/>
                <a:gd name="T2" fmla="*/ 292 w 292"/>
                <a:gd name="T3" fmla="*/ 55 h 114"/>
                <a:gd name="T4" fmla="*/ 252 w 292"/>
                <a:gd name="T5" fmla="*/ 114 h 114"/>
                <a:gd name="T6" fmla="*/ 252 w 292"/>
                <a:gd name="T7" fmla="*/ 114 h 114"/>
                <a:gd name="T8" fmla="*/ 209 w 292"/>
                <a:gd name="T9" fmla="*/ 102 h 114"/>
                <a:gd name="T10" fmla="*/ 83 w 292"/>
                <a:gd name="T11" fmla="*/ 74 h 114"/>
                <a:gd name="T12" fmla="*/ 83 w 292"/>
                <a:gd name="T13" fmla="*/ 74 h 114"/>
                <a:gd name="T14" fmla="*/ 0 w 292"/>
                <a:gd name="T15" fmla="*/ 55 h 114"/>
                <a:gd name="T16" fmla="*/ 32 w 292"/>
                <a:gd name="T17" fmla="*/ 0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2"/>
                <a:gd name="T28" fmla="*/ 0 h 114"/>
                <a:gd name="T29" fmla="*/ 292 w 292"/>
                <a:gd name="T30" fmla="*/ 114 h 1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2" h="114">
                  <a:moveTo>
                    <a:pt x="32" y="0"/>
                  </a:moveTo>
                  <a:lnTo>
                    <a:pt x="292" y="55"/>
                  </a:lnTo>
                  <a:lnTo>
                    <a:pt x="252" y="114"/>
                  </a:lnTo>
                  <a:lnTo>
                    <a:pt x="209" y="102"/>
                  </a:lnTo>
                  <a:lnTo>
                    <a:pt x="83" y="74"/>
                  </a:lnTo>
                  <a:lnTo>
                    <a:pt x="0" y="5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BFBFA2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7" name="Freeform 212"/>
            <p:cNvSpPr>
              <a:spLocks/>
            </p:cNvSpPr>
            <p:nvPr/>
          </p:nvSpPr>
          <p:spPr bwMode="auto">
            <a:xfrm>
              <a:off x="4240" y="2233"/>
              <a:ext cx="59" cy="79"/>
            </a:xfrm>
            <a:custGeom>
              <a:avLst/>
              <a:gdLst>
                <a:gd name="T0" fmla="*/ 0 w 59"/>
                <a:gd name="T1" fmla="*/ 79 h 79"/>
                <a:gd name="T2" fmla="*/ 27 w 59"/>
                <a:gd name="T3" fmla="*/ 67 h 79"/>
                <a:gd name="T4" fmla="*/ 59 w 59"/>
                <a:gd name="T5" fmla="*/ 12 h 79"/>
                <a:gd name="T6" fmla="*/ 47 w 59"/>
                <a:gd name="T7" fmla="*/ 0 h 79"/>
                <a:gd name="T8" fmla="*/ 0 w 59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79"/>
                <a:gd name="T17" fmla="*/ 59 w 5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79">
                  <a:moveTo>
                    <a:pt x="0" y="79"/>
                  </a:moveTo>
                  <a:lnTo>
                    <a:pt x="27" y="67"/>
                  </a:lnTo>
                  <a:lnTo>
                    <a:pt x="59" y="12"/>
                  </a:lnTo>
                  <a:lnTo>
                    <a:pt x="47" y="0"/>
                  </a:lnTo>
                  <a:lnTo>
                    <a:pt x="0" y="79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8" name="Freeform 213"/>
            <p:cNvSpPr>
              <a:spLocks/>
            </p:cNvSpPr>
            <p:nvPr/>
          </p:nvSpPr>
          <p:spPr bwMode="auto">
            <a:xfrm>
              <a:off x="4519" y="2284"/>
              <a:ext cx="59" cy="91"/>
            </a:xfrm>
            <a:custGeom>
              <a:avLst/>
              <a:gdLst>
                <a:gd name="T0" fmla="*/ 40 w 59"/>
                <a:gd name="T1" fmla="*/ 8 h 91"/>
                <a:gd name="T2" fmla="*/ 59 w 59"/>
                <a:gd name="T3" fmla="*/ 0 h 91"/>
                <a:gd name="T4" fmla="*/ 4 w 59"/>
                <a:gd name="T5" fmla="*/ 91 h 91"/>
                <a:gd name="T6" fmla="*/ 0 w 59"/>
                <a:gd name="T7" fmla="*/ 75 h 91"/>
                <a:gd name="T8" fmla="*/ 40 w 59"/>
                <a:gd name="T9" fmla="*/ 8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91"/>
                <a:gd name="T17" fmla="*/ 59 w 59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91">
                  <a:moveTo>
                    <a:pt x="40" y="8"/>
                  </a:moveTo>
                  <a:lnTo>
                    <a:pt x="59" y="0"/>
                  </a:lnTo>
                  <a:lnTo>
                    <a:pt x="4" y="91"/>
                  </a:lnTo>
                  <a:lnTo>
                    <a:pt x="0" y="75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ABC3C9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79" name="Freeform 214"/>
            <p:cNvSpPr>
              <a:spLocks/>
            </p:cNvSpPr>
            <p:nvPr/>
          </p:nvSpPr>
          <p:spPr bwMode="auto">
            <a:xfrm>
              <a:off x="3732" y="2060"/>
              <a:ext cx="319" cy="523"/>
            </a:xfrm>
            <a:custGeom>
              <a:avLst/>
              <a:gdLst>
                <a:gd name="T0" fmla="*/ 3 w 319"/>
                <a:gd name="T1" fmla="*/ 523 h 523"/>
                <a:gd name="T2" fmla="*/ 3 w 319"/>
                <a:gd name="T3" fmla="*/ 523 h 523"/>
                <a:gd name="T4" fmla="*/ 23 w 319"/>
                <a:gd name="T5" fmla="*/ 445 h 523"/>
                <a:gd name="T6" fmla="*/ 47 w 319"/>
                <a:gd name="T7" fmla="*/ 370 h 523"/>
                <a:gd name="T8" fmla="*/ 78 w 319"/>
                <a:gd name="T9" fmla="*/ 299 h 523"/>
                <a:gd name="T10" fmla="*/ 114 w 319"/>
                <a:gd name="T11" fmla="*/ 228 h 523"/>
                <a:gd name="T12" fmla="*/ 114 w 319"/>
                <a:gd name="T13" fmla="*/ 228 h 523"/>
                <a:gd name="T14" fmla="*/ 161 w 319"/>
                <a:gd name="T15" fmla="*/ 149 h 523"/>
                <a:gd name="T16" fmla="*/ 185 w 319"/>
                <a:gd name="T17" fmla="*/ 110 h 523"/>
                <a:gd name="T18" fmla="*/ 212 w 319"/>
                <a:gd name="T19" fmla="*/ 70 h 523"/>
                <a:gd name="T20" fmla="*/ 212 w 319"/>
                <a:gd name="T21" fmla="*/ 70 h 523"/>
                <a:gd name="T22" fmla="*/ 224 w 319"/>
                <a:gd name="T23" fmla="*/ 55 h 523"/>
                <a:gd name="T24" fmla="*/ 240 w 319"/>
                <a:gd name="T25" fmla="*/ 47 h 523"/>
                <a:gd name="T26" fmla="*/ 252 w 319"/>
                <a:gd name="T27" fmla="*/ 39 h 523"/>
                <a:gd name="T28" fmla="*/ 263 w 319"/>
                <a:gd name="T29" fmla="*/ 39 h 523"/>
                <a:gd name="T30" fmla="*/ 275 w 319"/>
                <a:gd name="T31" fmla="*/ 43 h 523"/>
                <a:gd name="T32" fmla="*/ 287 w 319"/>
                <a:gd name="T33" fmla="*/ 47 h 523"/>
                <a:gd name="T34" fmla="*/ 319 w 319"/>
                <a:gd name="T35" fmla="*/ 66 h 523"/>
                <a:gd name="T36" fmla="*/ 319 w 319"/>
                <a:gd name="T37" fmla="*/ 66 h 523"/>
                <a:gd name="T38" fmla="*/ 319 w 319"/>
                <a:gd name="T39" fmla="*/ 63 h 523"/>
                <a:gd name="T40" fmla="*/ 319 w 319"/>
                <a:gd name="T41" fmla="*/ 51 h 523"/>
                <a:gd name="T42" fmla="*/ 319 w 319"/>
                <a:gd name="T43" fmla="*/ 35 h 523"/>
                <a:gd name="T44" fmla="*/ 319 w 319"/>
                <a:gd name="T45" fmla="*/ 27 h 523"/>
                <a:gd name="T46" fmla="*/ 319 w 319"/>
                <a:gd name="T47" fmla="*/ 27 h 523"/>
                <a:gd name="T48" fmla="*/ 287 w 319"/>
                <a:gd name="T49" fmla="*/ 7 h 523"/>
                <a:gd name="T50" fmla="*/ 271 w 319"/>
                <a:gd name="T51" fmla="*/ 3 h 523"/>
                <a:gd name="T52" fmla="*/ 260 w 319"/>
                <a:gd name="T53" fmla="*/ 0 h 523"/>
                <a:gd name="T54" fmla="*/ 248 w 319"/>
                <a:gd name="T55" fmla="*/ 3 h 523"/>
                <a:gd name="T56" fmla="*/ 236 w 319"/>
                <a:gd name="T57" fmla="*/ 11 h 523"/>
                <a:gd name="T58" fmla="*/ 220 w 319"/>
                <a:gd name="T59" fmla="*/ 23 h 523"/>
                <a:gd name="T60" fmla="*/ 204 w 319"/>
                <a:gd name="T61" fmla="*/ 39 h 523"/>
                <a:gd name="T62" fmla="*/ 204 w 319"/>
                <a:gd name="T63" fmla="*/ 39 h 523"/>
                <a:gd name="T64" fmla="*/ 181 w 319"/>
                <a:gd name="T65" fmla="*/ 74 h 523"/>
                <a:gd name="T66" fmla="*/ 157 w 319"/>
                <a:gd name="T67" fmla="*/ 114 h 523"/>
                <a:gd name="T68" fmla="*/ 114 w 319"/>
                <a:gd name="T69" fmla="*/ 189 h 523"/>
                <a:gd name="T70" fmla="*/ 114 w 319"/>
                <a:gd name="T71" fmla="*/ 189 h 523"/>
                <a:gd name="T72" fmla="*/ 74 w 319"/>
                <a:gd name="T73" fmla="*/ 263 h 523"/>
                <a:gd name="T74" fmla="*/ 47 w 319"/>
                <a:gd name="T75" fmla="*/ 334 h 523"/>
                <a:gd name="T76" fmla="*/ 19 w 319"/>
                <a:gd name="T77" fmla="*/ 409 h 523"/>
                <a:gd name="T78" fmla="*/ 0 w 319"/>
                <a:gd name="T79" fmla="*/ 488 h 523"/>
                <a:gd name="T80" fmla="*/ 0 w 319"/>
                <a:gd name="T81" fmla="*/ 488 h 523"/>
                <a:gd name="T82" fmla="*/ 0 w 319"/>
                <a:gd name="T83" fmla="*/ 508 h 523"/>
                <a:gd name="T84" fmla="*/ 3 w 319"/>
                <a:gd name="T85" fmla="*/ 523 h 523"/>
                <a:gd name="T86" fmla="*/ 3 w 319"/>
                <a:gd name="T87" fmla="*/ 523 h 52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9"/>
                <a:gd name="T133" fmla="*/ 0 h 523"/>
                <a:gd name="T134" fmla="*/ 319 w 319"/>
                <a:gd name="T135" fmla="*/ 523 h 52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9" h="523">
                  <a:moveTo>
                    <a:pt x="3" y="523"/>
                  </a:moveTo>
                  <a:lnTo>
                    <a:pt x="3" y="523"/>
                  </a:lnTo>
                  <a:lnTo>
                    <a:pt x="23" y="445"/>
                  </a:lnTo>
                  <a:lnTo>
                    <a:pt x="47" y="370"/>
                  </a:lnTo>
                  <a:lnTo>
                    <a:pt x="78" y="299"/>
                  </a:lnTo>
                  <a:lnTo>
                    <a:pt x="114" y="228"/>
                  </a:lnTo>
                  <a:lnTo>
                    <a:pt x="161" y="149"/>
                  </a:lnTo>
                  <a:lnTo>
                    <a:pt x="185" y="110"/>
                  </a:lnTo>
                  <a:lnTo>
                    <a:pt x="212" y="70"/>
                  </a:lnTo>
                  <a:lnTo>
                    <a:pt x="224" y="55"/>
                  </a:lnTo>
                  <a:lnTo>
                    <a:pt x="240" y="47"/>
                  </a:lnTo>
                  <a:lnTo>
                    <a:pt x="252" y="39"/>
                  </a:lnTo>
                  <a:lnTo>
                    <a:pt x="263" y="39"/>
                  </a:lnTo>
                  <a:lnTo>
                    <a:pt x="275" y="43"/>
                  </a:lnTo>
                  <a:lnTo>
                    <a:pt x="287" y="47"/>
                  </a:lnTo>
                  <a:lnTo>
                    <a:pt x="319" y="66"/>
                  </a:lnTo>
                  <a:lnTo>
                    <a:pt x="319" y="63"/>
                  </a:lnTo>
                  <a:lnTo>
                    <a:pt x="319" y="51"/>
                  </a:lnTo>
                  <a:lnTo>
                    <a:pt x="319" y="35"/>
                  </a:lnTo>
                  <a:lnTo>
                    <a:pt x="319" y="27"/>
                  </a:lnTo>
                  <a:lnTo>
                    <a:pt x="287" y="7"/>
                  </a:lnTo>
                  <a:lnTo>
                    <a:pt x="271" y="3"/>
                  </a:lnTo>
                  <a:lnTo>
                    <a:pt x="260" y="0"/>
                  </a:lnTo>
                  <a:lnTo>
                    <a:pt x="248" y="3"/>
                  </a:lnTo>
                  <a:lnTo>
                    <a:pt x="236" y="11"/>
                  </a:lnTo>
                  <a:lnTo>
                    <a:pt x="220" y="23"/>
                  </a:lnTo>
                  <a:lnTo>
                    <a:pt x="204" y="39"/>
                  </a:lnTo>
                  <a:lnTo>
                    <a:pt x="181" y="74"/>
                  </a:lnTo>
                  <a:lnTo>
                    <a:pt x="157" y="114"/>
                  </a:lnTo>
                  <a:lnTo>
                    <a:pt x="114" y="189"/>
                  </a:lnTo>
                  <a:lnTo>
                    <a:pt x="74" y="263"/>
                  </a:lnTo>
                  <a:lnTo>
                    <a:pt x="47" y="334"/>
                  </a:lnTo>
                  <a:lnTo>
                    <a:pt x="19" y="409"/>
                  </a:lnTo>
                  <a:lnTo>
                    <a:pt x="0" y="488"/>
                  </a:lnTo>
                  <a:lnTo>
                    <a:pt x="0" y="508"/>
                  </a:lnTo>
                  <a:lnTo>
                    <a:pt x="3" y="5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0" name="Freeform 215"/>
            <p:cNvSpPr>
              <a:spLocks/>
            </p:cNvSpPr>
            <p:nvPr/>
          </p:nvSpPr>
          <p:spPr bwMode="auto">
            <a:xfrm>
              <a:off x="3397" y="2646"/>
              <a:ext cx="165" cy="91"/>
            </a:xfrm>
            <a:custGeom>
              <a:avLst/>
              <a:gdLst>
                <a:gd name="T0" fmla="*/ 4 w 165"/>
                <a:gd name="T1" fmla="*/ 79 h 91"/>
                <a:gd name="T2" fmla="*/ 4 w 165"/>
                <a:gd name="T3" fmla="*/ 79 h 91"/>
                <a:gd name="T4" fmla="*/ 23 w 165"/>
                <a:gd name="T5" fmla="*/ 63 h 91"/>
                <a:gd name="T6" fmla="*/ 43 w 165"/>
                <a:gd name="T7" fmla="*/ 51 h 91"/>
                <a:gd name="T8" fmla="*/ 67 w 165"/>
                <a:gd name="T9" fmla="*/ 44 h 91"/>
                <a:gd name="T10" fmla="*/ 86 w 165"/>
                <a:gd name="T11" fmla="*/ 40 h 91"/>
                <a:gd name="T12" fmla="*/ 110 w 165"/>
                <a:gd name="T13" fmla="*/ 44 h 91"/>
                <a:gd name="T14" fmla="*/ 130 w 165"/>
                <a:gd name="T15" fmla="*/ 51 h 91"/>
                <a:gd name="T16" fmla="*/ 145 w 165"/>
                <a:gd name="T17" fmla="*/ 67 h 91"/>
                <a:gd name="T18" fmla="*/ 161 w 165"/>
                <a:gd name="T19" fmla="*/ 91 h 91"/>
                <a:gd name="T20" fmla="*/ 161 w 165"/>
                <a:gd name="T21" fmla="*/ 91 h 91"/>
                <a:gd name="T22" fmla="*/ 165 w 165"/>
                <a:gd name="T23" fmla="*/ 71 h 91"/>
                <a:gd name="T24" fmla="*/ 165 w 165"/>
                <a:gd name="T25" fmla="*/ 59 h 91"/>
                <a:gd name="T26" fmla="*/ 165 w 165"/>
                <a:gd name="T27" fmla="*/ 51 h 91"/>
                <a:gd name="T28" fmla="*/ 165 w 165"/>
                <a:gd name="T29" fmla="*/ 51 h 91"/>
                <a:gd name="T30" fmla="*/ 149 w 165"/>
                <a:gd name="T31" fmla="*/ 28 h 91"/>
                <a:gd name="T32" fmla="*/ 130 w 165"/>
                <a:gd name="T33" fmla="*/ 16 h 91"/>
                <a:gd name="T34" fmla="*/ 110 w 165"/>
                <a:gd name="T35" fmla="*/ 4 h 91"/>
                <a:gd name="T36" fmla="*/ 90 w 165"/>
                <a:gd name="T37" fmla="*/ 0 h 91"/>
                <a:gd name="T38" fmla="*/ 67 w 165"/>
                <a:gd name="T39" fmla="*/ 4 h 91"/>
                <a:gd name="T40" fmla="*/ 43 w 165"/>
                <a:gd name="T41" fmla="*/ 12 h 91"/>
                <a:gd name="T42" fmla="*/ 23 w 165"/>
                <a:gd name="T43" fmla="*/ 24 h 91"/>
                <a:gd name="T44" fmla="*/ 4 w 165"/>
                <a:gd name="T45" fmla="*/ 40 h 91"/>
                <a:gd name="T46" fmla="*/ 4 w 165"/>
                <a:gd name="T47" fmla="*/ 40 h 91"/>
                <a:gd name="T48" fmla="*/ 0 w 165"/>
                <a:gd name="T49" fmla="*/ 48 h 91"/>
                <a:gd name="T50" fmla="*/ 4 w 165"/>
                <a:gd name="T51" fmla="*/ 59 h 91"/>
                <a:gd name="T52" fmla="*/ 4 w 165"/>
                <a:gd name="T53" fmla="*/ 71 h 91"/>
                <a:gd name="T54" fmla="*/ 4 w 165"/>
                <a:gd name="T55" fmla="*/ 79 h 91"/>
                <a:gd name="T56" fmla="*/ 4 w 165"/>
                <a:gd name="T57" fmla="*/ 79 h 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5"/>
                <a:gd name="T88" fmla="*/ 0 h 91"/>
                <a:gd name="T89" fmla="*/ 165 w 165"/>
                <a:gd name="T90" fmla="*/ 91 h 9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5" h="91">
                  <a:moveTo>
                    <a:pt x="4" y="79"/>
                  </a:moveTo>
                  <a:lnTo>
                    <a:pt x="4" y="79"/>
                  </a:lnTo>
                  <a:lnTo>
                    <a:pt x="23" y="63"/>
                  </a:lnTo>
                  <a:lnTo>
                    <a:pt x="43" y="51"/>
                  </a:lnTo>
                  <a:lnTo>
                    <a:pt x="67" y="44"/>
                  </a:lnTo>
                  <a:lnTo>
                    <a:pt x="86" y="40"/>
                  </a:lnTo>
                  <a:lnTo>
                    <a:pt x="110" y="44"/>
                  </a:lnTo>
                  <a:lnTo>
                    <a:pt x="130" y="51"/>
                  </a:lnTo>
                  <a:lnTo>
                    <a:pt x="145" y="67"/>
                  </a:lnTo>
                  <a:lnTo>
                    <a:pt x="161" y="91"/>
                  </a:lnTo>
                  <a:lnTo>
                    <a:pt x="165" y="71"/>
                  </a:lnTo>
                  <a:lnTo>
                    <a:pt x="165" y="59"/>
                  </a:lnTo>
                  <a:lnTo>
                    <a:pt x="165" y="51"/>
                  </a:lnTo>
                  <a:lnTo>
                    <a:pt x="149" y="28"/>
                  </a:lnTo>
                  <a:lnTo>
                    <a:pt x="130" y="16"/>
                  </a:lnTo>
                  <a:lnTo>
                    <a:pt x="110" y="4"/>
                  </a:lnTo>
                  <a:lnTo>
                    <a:pt x="90" y="0"/>
                  </a:lnTo>
                  <a:lnTo>
                    <a:pt x="67" y="4"/>
                  </a:lnTo>
                  <a:lnTo>
                    <a:pt x="43" y="12"/>
                  </a:lnTo>
                  <a:lnTo>
                    <a:pt x="23" y="24"/>
                  </a:lnTo>
                  <a:lnTo>
                    <a:pt x="4" y="40"/>
                  </a:lnTo>
                  <a:lnTo>
                    <a:pt x="0" y="48"/>
                  </a:lnTo>
                  <a:lnTo>
                    <a:pt x="4" y="59"/>
                  </a:lnTo>
                  <a:lnTo>
                    <a:pt x="4" y="71"/>
                  </a:lnTo>
                  <a:lnTo>
                    <a:pt x="4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1" name="Freeform 216"/>
            <p:cNvSpPr>
              <a:spLocks/>
            </p:cNvSpPr>
            <p:nvPr/>
          </p:nvSpPr>
          <p:spPr bwMode="auto">
            <a:xfrm>
              <a:off x="4003" y="265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3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3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2" name="Freeform 217"/>
            <p:cNvSpPr>
              <a:spLocks/>
            </p:cNvSpPr>
            <p:nvPr/>
          </p:nvSpPr>
          <p:spPr bwMode="auto">
            <a:xfrm>
              <a:off x="4118" y="267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3" name="Freeform 218"/>
            <p:cNvSpPr>
              <a:spLocks/>
            </p:cNvSpPr>
            <p:nvPr/>
          </p:nvSpPr>
          <p:spPr bwMode="auto">
            <a:xfrm>
              <a:off x="4228" y="2701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4" name="Freeform 219"/>
            <p:cNvSpPr>
              <a:spLocks/>
            </p:cNvSpPr>
            <p:nvPr/>
          </p:nvSpPr>
          <p:spPr bwMode="auto">
            <a:xfrm>
              <a:off x="4062" y="2556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19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19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5" name="Freeform 220"/>
            <p:cNvSpPr>
              <a:spLocks/>
            </p:cNvSpPr>
            <p:nvPr/>
          </p:nvSpPr>
          <p:spPr bwMode="auto">
            <a:xfrm>
              <a:off x="4177" y="2579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6" name="Freeform 221"/>
            <p:cNvSpPr>
              <a:spLocks/>
            </p:cNvSpPr>
            <p:nvPr/>
          </p:nvSpPr>
          <p:spPr bwMode="auto">
            <a:xfrm>
              <a:off x="4287" y="260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7" name="Freeform 222"/>
            <p:cNvSpPr>
              <a:spLocks/>
            </p:cNvSpPr>
            <p:nvPr/>
          </p:nvSpPr>
          <p:spPr bwMode="auto">
            <a:xfrm>
              <a:off x="4121" y="2461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20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8" name="Freeform 223"/>
            <p:cNvSpPr>
              <a:spLocks/>
            </p:cNvSpPr>
            <p:nvPr/>
          </p:nvSpPr>
          <p:spPr bwMode="auto">
            <a:xfrm>
              <a:off x="4236" y="2485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89" name="Freeform 224"/>
            <p:cNvSpPr>
              <a:spLocks/>
            </p:cNvSpPr>
            <p:nvPr/>
          </p:nvSpPr>
          <p:spPr bwMode="auto">
            <a:xfrm>
              <a:off x="4346" y="2512"/>
              <a:ext cx="118" cy="79"/>
            </a:xfrm>
            <a:custGeom>
              <a:avLst/>
              <a:gdLst>
                <a:gd name="T0" fmla="*/ 0 w 118"/>
                <a:gd name="T1" fmla="*/ 56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6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6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0" name="Freeform 225"/>
            <p:cNvSpPr>
              <a:spLocks/>
            </p:cNvSpPr>
            <p:nvPr/>
          </p:nvSpPr>
          <p:spPr bwMode="auto">
            <a:xfrm>
              <a:off x="4181" y="2367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2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2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1" name="Freeform 226"/>
            <p:cNvSpPr>
              <a:spLocks/>
            </p:cNvSpPr>
            <p:nvPr/>
          </p:nvSpPr>
          <p:spPr bwMode="auto">
            <a:xfrm>
              <a:off x="4295" y="239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2" name="Freeform 227"/>
            <p:cNvSpPr>
              <a:spLocks/>
            </p:cNvSpPr>
            <p:nvPr/>
          </p:nvSpPr>
          <p:spPr bwMode="auto">
            <a:xfrm>
              <a:off x="4405" y="2418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3" name="Freeform 228"/>
            <p:cNvSpPr>
              <a:spLocks/>
            </p:cNvSpPr>
            <p:nvPr/>
          </p:nvSpPr>
          <p:spPr bwMode="auto">
            <a:xfrm>
              <a:off x="3992" y="2631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2 w 118"/>
                <a:gd name="T3" fmla="*/ 78 h 78"/>
                <a:gd name="T4" fmla="*/ 118 w 118"/>
                <a:gd name="T5" fmla="*/ 19 h 78"/>
                <a:gd name="T6" fmla="*/ 39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2" y="78"/>
                  </a:lnTo>
                  <a:lnTo>
                    <a:pt x="118" y="19"/>
                  </a:lnTo>
                  <a:lnTo>
                    <a:pt x="3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4" name="Freeform 229"/>
            <p:cNvSpPr>
              <a:spLocks/>
            </p:cNvSpPr>
            <p:nvPr/>
          </p:nvSpPr>
          <p:spPr bwMode="auto">
            <a:xfrm>
              <a:off x="4106" y="265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5" name="Freeform 230"/>
            <p:cNvSpPr>
              <a:spLocks/>
            </p:cNvSpPr>
            <p:nvPr/>
          </p:nvSpPr>
          <p:spPr bwMode="auto">
            <a:xfrm>
              <a:off x="4216" y="2686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6" name="Freeform 231"/>
            <p:cNvSpPr>
              <a:spLocks/>
            </p:cNvSpPr>
            <p:nvPr/>
          </p:nvSpPr>
          <p:spPr bwMode="auto">
            <a:xfrm>
              <a:off x="4051" y="2536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2 w 118"/>
                <a:gd name="T3" fmla="*/ 79 h 79"/>
                <a:gd name="T4" fmla="*/ 118 w 118"/>
                <a:gd name="T5" fmla="*/ 20 h 79"/>
                <a:gd name="T6" fmla="*/ 39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9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7" name="Freeform 232"/>
            <p:cNvSpPr>
              <a:spLocks/>
            </p:cNvSpPr>
            <p:nvPr/>
          </p:nvSpPr>
          <p:spPr bwMode="auto">
            <a:xfrm>
              <a:off x="4165" y="2560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5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8" name="Freeform 233"/>
            <p:cNvSpPr>
              <a:spLocks/>
            </p:cNvSpPr>
            <p:nvPr/>
          </p:nvSpPr>
          <p:spPr bwMode="auto">
            <a:xfrm>
              <a:off x="4275" y="258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99" name="Freeform 234"/>
            <p:cNvSpPr>
              <a:spLocks/>
            </p:cNvSpPr>
            <p:nvPr/>
          </p:nvSpPr>
          <p:spPr bwMode="auto">
            <a:xfrm>
              <a:off x="4110" y="2441"/>
              <a:ext cx="118" cy="75"/>
            </a:xfrm>
            <a:custGeom>
              <a:avLst/>
              <a:gdLst>
                <a:gd name="T0" fmla="*/ 0 w 118"/>
                <a:gd name="T1" fmla="*/ 56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6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6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0" name="Freeform 235"/>
            <p:cNvSpPr>
              <a:spLocks/>
            </p:cNvSpPr>
            <p:nvPr/>
          </p:nvSpPr>
          <p:spPr bwMode="auto">
            <a:xfrm>
              <a:off x="4224" y="2465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1" name="Freeform 236"/>
            <p:cNvSpPr>
              <a:spLocks/>
            </p:cNvSpPr>
            <p:nvPr/>
          </p:nvSpPr>
          <p:spPr bwMode="auto">
            <a:xfrm>
              <a:off x="4334" y="2493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6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2" name="Freeform 237"/>
            <p:cNvSpPr>
              <a:spLocks/>
            </p:cNvSpPr>
            <p:nvPr/>
          </p:nvSpPr>
          <p:spPr bwMode="auto">
            <a:xfrm>
              <a:off x="4169" y="2347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3" name="Freeform 238"/>
            <p:cNvSpPr>
              <a:spLocks/>
            </p:cNvSpPr>
            <p:nvPr/>
          </p:nvSpPr>
          <p:spPr bwMode="auto">
            <a:xfrm>
              <a:off x="4283" y="2371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4" name="Freeform 239"/>
            <p:cNvSpPr>
              <a:spLocks/>
            </p:cNvSpPr>
            <p:nvPr/>
          </p:nvSpPr>
          <p:spPr bwMode="auto">
            <a:xfrm>
              <a:off x="4393" y="2398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5" name="Freeform 240"/>
            <p:cNvSpPr>
              <a:spLocks/>
            </p:cNvSpPr>
            <p:nvPr/>
          </p:nvSpPr>
          <p:spPr bwMode="auto">
            <a:xfrm>
              <a:off x="4208" y="2378"/>
              <a:ext cx="16" cy="12"/>
            </a:xfrm>
            <a:custGeom>
              <a:avLst/>
              <a:gdLst>
                <a:gd name="T0" fmla="*/ 12 w 16"/>
                <a:gd name="T1" fmla="*/ 12 h 12"/>
                <a:gd name="T2" fmla="*/ 12 w 16"/>
                <a:gd name="T3" fmla="*/ 12 h 12"/>
                <a:gd name="T4" fmla="*/ 12 w 16"/>
                <a:gd name="T5" fmla="*/ 12 h 12"/>
                <a:gd name="T6" fmla="*/ 12 w 16"/>
                <a:gd name="T7" fmla="*/ 12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4 w 16"/>
                <a:gd name="T15" fmla="*/ 12 h 12"/>
                <a:gd name="T16" fmla="*/ 4 w 16"/>
                <a:gd name="T17" fmla="*/ 12 h 12"/>
                <a:gd name="T18" fmla="*/ 0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4 w 16"/>
                <a:gd name="T25" fmla="*/ 8 h 12"/>
                <a:gd name="T26" fmla="*/ 4 w 16"/>
                <a:gd name="T27" fmla="*/ 8 h 12"/>
                <a:gd name="T28" fmla="*/ 8 w 16"/>
                <a:gd name="T29" fmla="*/ 8 h 12"/>
                <a:gd name="T30" fmla="*/ 12 w 16"/>
                <a:gd name="T31" fmla="*/ 0 h 12"/>
                <a:gd name="T32" fmla="*/ 12 w 16"/>
                <a:gd name="T33" fmla="*/ 0 h 12"/>
                <a:gd name="T34" fmla="*/ 12 w 16"/>
                <a:gd name="T35" fmla="*/ 0 h 12"/>
                <a:gd name="T36" fmla="*/ 12 w 16"/>
                <a:gd name="T37" fmla="*/ 0 h 12"/>
                <a:gd name="T38" fmla="*/ 12 w 16"/>
                <a:gd name="T39" fmla="*/ 0 h 12"/>
                <a:gd name="T40" fmla="*/ 12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2 w 16"/>
                <a:gd name="T49" fmla="*/ 0 h 12"/>
                <a:gd name="T50" fmla="*/ 12 w 16"/>
                <a:gd name="T51" fmla="*/ 0 h 12"/>
                <a:gd name="T52" fmla="*/ 16 w 16"/>
                <a:gd name="T53" fmla="*/ 0 h 12"/>
                <a:gd name="T54" fmla="*/ 16 w 16"/>
                <a:gd name="T55" fmla="*/ 0 h 12"/>
                <a:gd name="T56" fmla="*/ 16 w 16"/>
                <a:gd name="T57" fmla="*/ 0 h 12"/>
                <a:gd name="T58" fmla="*/ 16 w 16"/>
                <a:gd name="T59" fmla="*/ 0 h 12"/>
                <a:gd name="T60" fmla="*/ 16 w 16"/>
                <a:gd name="T61" fmla="*/ 0 h 12"/>
                <a:gd name="T62" fmla="*/ 16 w 16"/>
                <a:gd name="T63" fmla="*/ 0 h 12"/>
                <a:gd name="T64" fmla="*/ 16 w 16"/>
                <a:gd name="T65" fmla="*/ 0 h 12"/>
                <a:gd name="T66" fmla="*/ 8 w 16"/>
                <a:gd name="T67" fmla="*/ 12 h 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"/>
                <a:gd name="T103" fmla="*/ 0 h 12"/>
                <a:gd name="T104" fmla="*/ 16 w 16"/>
                <a:gd name="T105" fmla="*/ 12 h 1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" h="12">
                  <a:moveTo>
                    <a:pt x="8" y="12"/>
                  </a:move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6" name="Freeform 241"/>
            <p:cNvSpPr>
              <a:spLocks/>
            </p:cNvSpPr>
            <p:nvPr/>
          </p:nvSpPr>
          <p:spPr bwMode="auto">
            <a:xfrm>
              <a:off x="4338" y="2394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12 w 20"/>
                <a:gd name="T5" fmla="*/ 12 h 16"/>
                <a:gd name="T6" fmla="*/ 12 w 20"/>
                <a:gd name="T7" fmla="*/ 12 h 16"/>
                <a:gd name="T8" fmla="*/ 16 w 20"/>
                <a:gd name="T9" fmla="*/ 12 h 16"/>
                <a:gd name="T10" fmla="*/ 16 w 20"/>
                <a:gd name="T11" fmla="*/ 12 h 16"/>
                <a:gd name="T12" fmla="*/ 16 w 20"/>
                <a:gd name="T13" fmla="*/ 12 h 16"/>
                <a:gd name="T14" fmla="*/ 16 w 20"/>
                <a:gd name="T15" fmla="*/ 16 h 16"/>
                <a:gd name="T16" fmla="*/ 16 w 20"/>
                <a:gd name="T17" fmla="*/ 16 h 16"/>
                <a:gd name="T18" fmla="*/ 16 w 20"/>
                <a:gd name="T19" fmla="*/ 16 h 16"/>
                <a:gd name="T20" fmla="*/ 16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0 w 20"/>
                <a:gd name="T27" fmla="*/ 16 h 16"/>
                <a:gd name="T28" fmla="*/ 0 w 20"/>
                <a:gd name="T29" fmla="*/ 16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12 w 20"/>
                <a:gd name="T41" fmla="*/ 8 h 16"/>
                <a:gd name="T42" fmla="*/ 12 w 20"/>
                <a:gd name="T43" fmla="*/ 8 h 16"/>
                <a:gd name="T44" fmla="*/ 16 w 20"/>
                <a:gd name="T45" fmla="*/ 8 h 16"/>
                <a:gd name="T46" fmla="*/ 16 w 20"/>
                <a:gd name="T47" fmla="*/ 4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4 h 16"/>
                <a:gd name="T56" fmla="*/ 12 w 20"/>
                <a:gd name="T57" fmla="*/ 4 h 16"/>
                <a:gd name="T58" fmla="*/ 12 w 20"/>
                <a:gd name="T59" fmla="*/ 4 h 16"/>
                <a:gd name="T60" fmla="*/ 12 w 20"/>
                <a:gd name="T61" fmla="*/ 4 h 16"/>
                <a:gd name="T62" fmla="*/ 12 w 20"/>
                <a:gd name="T63" fmla="*/ 4 h 16"/>
                <a:gd name="T64" fmla="*/ 8 w 20"/>
                <a:gd name="T65" fmla="*/ 4 h 16"/>
                <a:gd name="T66" fmla="*/ 8 w 20"/>
                <a:gd name="T67" fmla="*/ 4 h 16"/>
                <a:gd name="T68" fmla="*/ 8 w 20"/>
                <a:gd name="T69" fmla="*/ 4 h 16"/>
                <a:gd name="T70" fmla="*/ 8 w 20"/>
                <a:gd name="T71" fmla="*/ 4 h 16"/>
                <a:gd name="T72" fmla="*/ 8 w 20"/>
                <a:gd name="T73" fmla="*/ 4 h 16"/>
                <a:gd name="T74" fmla="*/ 8 w 20"/>
                <a:gd name="T75" fmla="*/ 0 h 16"/>
                <a:gd name="T76" fmla="*/ 12 w 20"/>
                <a:gd name="T77" fmla="*/ 0 h 16"/>
                <a:gd name="T78" fmla="*/ 12 w 20"/>
                <a:gd name="T79" fmla="*/ 0 h 16"/>
                <a:gd name="T80" fmla="*/ 12 w 20"/>
                <a:gd name="T81" fmla="*/ 0 h 16"/>
                <a:gd name="T82" fmla="*/ 16 w 20"/>
                <a:gd name="T83" fmla="*/ 0 h 16"/>
                <a:gd name="T84" fmla="*/ 16 w 20"/>
                <a:gd name="T85" fmla="*/ 0 h 16"/>
                <a:gd name="T86" fmla="*/ 20 w 20"/>
                <a:gd name="T87" fmla="*/ 4 h 16"/>
                <a:gd name="T88" fmla="*/ 20 w 20"/>
                <a:gd name="T89" fmla="*/ 8 h 16"/>
                <a:gd name="T90" fmla="*/ 20 w 20"/>
                <a:gd name="T91" fmla="*/ 8 h 16"/>
                <a:gd name="T92" fmla="*/ 16 w 20"/>
                <a:gd name="T93" fmla="*/ 8 h 16"/>
                <a:gd name="T94" fmla="*/ 12 w 20"/>
                <a:gd name="T95" fmla="*/ 12 h 16"/>
                <a:gd name="T96" fmla="*/ 8 w 20"/>
                <a:gd name="T97" fmla="*/ 12 h 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16"/>
                <a:gd name="T149" fmla="*/ 20 w 20"/>
                <a:gd name="T150" fmla="*/ 16 h 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16">
                  <a:moveTo>
                    <a:pt x="8" y="12"/>
                  </a:move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7" name="Freeform 242"/>
            <p:cNvSpPr>
              <a:spLocks noEditPoints="1"/>
            </p:cNvSpPr>
            <p:nvPr/>
          </p:nvSpPr>
          <p:spPr bwMode="auto">
            <a:xfrm>
              <a:off x="4315" y="2410"/>
              <a:ext cx="15" cy="12"/>
            </a:xfrm>
            <a:custGeom>
              <a:avLst/>
              <a:gdLst>
                <a:gd name="T0" fmla="*/ 15 w 15"/>
                <a:gd name="T1" fmla="*/ 12 h 12"/>
                <a:gd name="T2" fmla="*/ 15 w 15"/>
                <a:gd name="T3" fmla="*/ 12 h 12"/>
                <a:gd name="T4" fmla="*/ 15 w 15"/>
                <a:gd name="T5" fmla="*/ 12 h 12"/>
                <a:gd name="T6" fmla="*/ 15 w 15"/>
                <a:gd name="T7" fmla="*/ 12 h 12"/>
                <a:gd name="T8" fmla="*/ 15 w 15"/>
                <a:gd name="T9" fmla="*/ 12 h 12"/>
                <a:gd name="T10" fmla="*/ 15 w 15"/>
                <a:gd name="T11" fmla="*/ 12 h 12"/>
                <a:gd name="T12" fmla="*/ 11 w 15"/>
                <a:gd name="T13" fmla="*/ 12 h 12"/>
                <a:gd name="T14" fmla="*/ 11 w 15"/>
                <a:gd name="T15" fmla="*/ 12 h 12"/>
                <a:gd name="T16" fmla="*/ 11 w 15"/>
                <a:gd name="T17" fmla="*/ 12 h 12"/>
                <a:gd name="T18" fmla="*/ 7 w 15"/>
                <a:gd name="T19" fmla="*/ 12 h 12"/>
                <a:gd name="T20" fmla="*/ 7 w 15"/>
                <a:gd name="T21" fmla="*/ 12 h 12"/>
                <a:gd name="T22" fmla="*/ 7 w 15"/>
                <a:gd name="T23" fmla="*/ 12 h 12"/>
                <a:gd name="T24" fmla="*/ 11 w 15"/>
                <a:gd name="T25" fmla="*/ 8 h 12"/>
                <a:gd name="T26" fmla="*/ 11 w 15"/>
                <a:gd name="T27" fmla="*/ 8 h 12"/>
                <a:gd name="T28" fmla="*/ 11 w 15"/>
                <a:gd name="T29" fmla="*/ 8 h 12"/>
                <a:gd name="T30" fmla="*/ 11 w 15"/>
                <a:gd name="T31" fmla="*/ 8 h 12"/>
                <a:gd name="T32" fmla="*/ 7 w 15"/>
                <a:gd name="T33" fmla="*/ 8 h 12"/>
                <a:gd name="T34" fmla="*/ 3 w 15"/>
                <a:gd name="T35" fmla="*/ 8 h 12"/>
                <a:gd name="T36" fmla="*/ 7 w 15"/>
                <a:gd name="T37" fmla="*/ 8 h 12"/>
                <a:gd name="T38" fmla="*/ 7 w 15"/>
                <a:gd name="T39" fmla="*/ 8 h 12"/>
                <a:gd name="T40" fmla="*/ 7 w 15"/>
                <a:gd name="T41" fmla="*/ 8 h 12"/>
                <a:gd name="T42" fmla="*/ 7 w 15"/>
                <a:gd name="T43" fmla="*/ 8 h 12"/>
                <a:gd name="T44" fmla="*/ 7 w 15"/>
                <a:gd name="T45" fmla="*/ 8 h 12"/>
                <a:gd name="T46" fmla="*/ 7 w 15"/>
                <a:gd name="T47" fmla="*/ 12 h 12"/>
                <a:gd name="T48" fmla="*/ 3 w 15"/>
                <a:gd name="T49" fmla="*/ 12 h 12"/>
                <a:gd name="T50" fmla="*/ 3 w 15"/>
                <a:gd name="T51" fmla="*/ 12 h 12"/>
                <a:gd name="T52" fmla="*/ 3 w 15"/>
                <a:gd name="T53" fmla="*/ 12 h 12"/>
                <a:gd name="T54" fmla="*/ 0 w 15"/>
                <a:gd name="T55" fmla="*/ 8 h 12"/>
                <a:gd name="T56" fmla="*/ 0 w 15"/>
                <a:gd name="T57" fmla="*/ 8 h 12"/>
                <a:gd name="T58" fmla="*/ 0 w 15"/>
                <a:gd name="T59" fmla="*/ 8 h 12"/>
                <a:gd name="T60" fmla="*/ 3 w 15"/>
                <a:gd name="T61" fmla="*/ 8 h 12"/>
                <a:gd name="T62" fmla="*/ 3 w 15"/>
                <a:gd name="T63" fmla="*/ 8 h 12"/>
                <a:gd name="T64" fmla="*/ 3 w 15"/>
                <a:gd name="T65" fmla="*/ 8 h 12"/>
                <a:gd name="T66" fmla="*/ 11 w 15"/>
                <a:gd name="T67" fmla="*/ 4 h 12"/>
                <a:gd name="T68" fmla="*/ 7 w 15"/>
                <a:gd name="T69" fmla="*/ 4 h 12"/>
                <a:gd name="T70" fmla="*/ 7 w 15"/>
                <a:gd name="T71" fmla="*/ 4 h 12"/>
                <a:gd name="T72" fmla="*/ 7 w 15"/>
                <a:gd name="T73" fmla="*/ 0 h 12"/>
                <a:gd name="T74" fmla="*/ 7 w 15"/>
                <a:gd name="T75" fmla="*/ 0 h 12"/>
                <a:gd name="T76" fmla="*/ 7 w 15"/>
                <a:gd name="T77" fmla="*/ 0 h 12"/>
                <a:gd name="T78" fmla="*/ 7 w 15"/>
                <a:gd name="T79" fmla="*/ 0 h 12"/>
                <a:gd name="T80" fmla="*/ 11 w 15"/>
                <a:gd name="T81" fmla="*/ 0 h 12"/>
                <a:gd name="T82" fmla="*/ 15 w 15"/>
                <a:gd name="T83" fmla="*/ 0 h 12"/>
                <a:gd name="T84" fmla="*/ 15 w 15"/>
                <a:gd name="T85" fmla="*/ 0 h 12"/>
                <a:gd name="T86" fmla="*/ 15 w 15"/>
                <a:gd name="T87" fmla="*/ 4 h 12"/>
                <a:gd name="T88" fmla="*/ 15 w 15"/>
                <a:gd name="T89" fmla="*/ 4 h 12"/>
                <a:gd name="T90" fmla="*/ 11 w 15"/>
                <a:gd name="T91" fmla="*/ 4 h 12"/>
                <a:gd name="T92" fmla="*/ 7 w 15"/>
                <a:gd name="T93" fmla="*/ 8 h 12"/>
                <a:gd name="T94" fmla="*/ 11 w 15"/>
                <a:gd name="T95" fmla="*/ 8 h 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5"/>
                <a:gd name="T145" fmla="*/ 0 h 12"/>
                <a:gd name="T146" fmla="*/ 15 w 15"/>
                <a:gd name="T147" fmla="*/ 12 h 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5" h="12">
                  <a:moveTo>
                    <a:pt x="15" y="12"/>
                  </a:move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11" y="8"/>
                  </a:lnTo>
                  <a:lnTo>
                    <a:pt x="7" y="8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12"/>
                  </a:lnTo>
                  <a:close/>
                  <a:moveTo>
                    <a:pt x="11" y="4"/>
                  </a:move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8" name="Freeform 243"/>
            <p:cNvSpPr>
              <a:spLocks noEditPoints="1"/>
            </p:cNvSpPr>
            <p:nvPr/>
          </p:nvSpPr>
          <p:spPr bwMode="auto">
            <a:xfrm>
              <a:off x="4330" y="2414"/>
              <a:ext cx="16" cy="12"/>
            </a:xfrm>
            <a:custGeom>
              <a:avLst/>
              <a:gdLst>
                <a:gd name="T0" fmla="*/ 12 w 16"/>
                <a:gd name="T1" fmla="*/ 4 h 12"/>
                <a:gd name="T2" fmla="*/ 16 w 16"/>
                <a:gd name="T3" fmla="*/ 8 h 12"/>
                <a:gd name="T4" fmla="*/ 16 w 16"/>
                <a:gd name="T5" fmla="*/ 8 h 12"/>
                <a:gd name="T6" fmla="*/ 16 w 16"/>
                <a:gd name="T7" fmla="*/ 8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8 w 16"/>
                <a:gd name="T15" fmla="*/ 12 h 12"/>
                <a:gd name="T16" fmla="*/ 8 w 16"/>
                <a:gd name="T17" fmla="*/ 12 h 12"/>
                <a:gd name="T18" fmla="*/ 8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4 w 16"/>
                <a:gd name="T33" fmla="*/ 8 h 12"/>
                <a:gd name="T34" fmla="*/ 4 w 16"/>
                <a:gd name="T35" fmla="*/ 8 h 12"/>
                <a:gd name="T36" fmla="*/ 8 w 16"/>
                <a:gd name="T37" fmla="*/ 0 h 12"/>
                <a:gd name="T38" fmla="*/ 8 w 16"/>
                <a:gd name="T39" fmla="*/ 0 h 12"/>
                <a:gd name="T40" fmla="*/ 8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4 w 16"/>
                <a:gd name="T47" fmla="*/ 0 h 12"/>
                <a:gd name="T48" fmla="*/ 8 w 16"/>
                <a:gd name="T49" fmla="*/ 0 h 12"/>
                <a:gd name="T50" fmla="*/ 8 w 16"/>
                <a:gd name="T51" fmla="*/ 0 h 12"/>
                <a:gd name="T52" fmla="*/ 12 w 16"/>
                <a:gd name="T53" fmla="*/ 0 h 12"/>
                <a:gd name="T54" fmla="*/ 12 w 16"/>
                <a:gd name="T55" fmla="*/ 0 h 12"/>
                <a:gd name="T56" fmla="*/ 16 w 16"/>
                <a:gd name="T57" fmla="*/ 0 h 12"/>
                <a:gd name="T58" fmla="*/ 16 w 16"/>
                <a:gd name="T59" fmla="*/ 4 h 12"/>
                <a:gd name="T60" fmla="*/ 16 w 16"/>
                <a:gd name="T61" fmla="*/ 4 h 12"/>
                <a:gd name="T62" fmla="*/ 16 w 16"/>
                <a:gd name="T63" fmla="*/ 4 h 12"/>
                <a:gd name="T64" fmla="*/ 12 w 16"/>
                <a:gd name="T65" fmla="*/ 4 h 12"/>
                <a:gd name="T66" fmla="*/ 8 w 16"/>
                <a:gd name="T67" fmla="*/ 0 h 12"/>
                <a:gd name="T68" fmla="*/ 8 w 16"/>
                <a:gd name="T69" fmla="*/ 4 h 12"/>
                <a:gd name="T70" fmla="*/ 8 w 16"/>
                <a:gd name="T71" fmla="*/ 4 h 12"/>
                <a:gd name="T72" fmla="*/ 12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0 h 12"/>
                <a:gd name="T84" fmla="*/ 8 w 16"/>
                <a:gd name="T85" fmla="*/ 4 h 12"/>
                <a:gd name="T86" fmla="*/ 4 w 16"/>
                <a:gd name="T87" fmla="*/ 8 h 12"/>
                <a:gd name="T88" fmla="*/ 8 w 16"/>
                <a:gd name="T89" fmla="*/ 8 h 12"/>
                <a:gd name="T90" fmla="*/ 8 w 16"/>
                <a:gd name="T91" fmla="*/ 8 h 12"/>
                <a:gd name="T92" fmla="*/ 8 w 16"/>
                <a:gd name="T93" fmla="*/ 8 h 12"/>
                <a:gd name="T94" fmla="*/ 12 w 16"/>
                <a:gd name="T95" fmla="*/ 8 h 12"/>
                <a:gd name="T96" fmla="*/ 12 w 16"/>
                <a:gd name="T97" fmla="*/ 8 h 12"/>
                <a:gd name="T98" fmla="*/ 12 w 16"/>
                <a:gd name="T99" fmla="*/ 8 h 12"/>
                <a:gd name="T100" fmla="*/ 8 w 16"/>
                <a:gd name="T101" fmla="*/ 4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2"/>
                <a:gd name="T155" fmla="*/ 16 w 16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2">
                  <a:moveTo>
                    <a:pt x="12" y="4"/>
                  </a:moveTo>
                  <a:lnTo>
                    <a:pt x="12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  <a:moveTo>
                    <a:pt x="8" y="0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close/>
                  <a:moveTo>
                    <a:pt x="8" y="4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09" name="Freeform 244"/>
            <p:cNvSpPr>
              <a:spLocks/>
            </p:cNvSpPr>
            <p:nvPr/>
          </p:nvSpPr>
          <p:spPr bwMode="auto">
            <a:xfrm>
              <a:off x="4346" y="2418"/>
              <a:ext cx="16" cy="12"/>
            </a:xfrm>
            <a:custGeom>
              <a:avLst/>
              <a:gdLst>
                <a:gd name="T0" fmla="*/ 16 w 16"/>
                <a:gd name="T1" fmla="*/ 0 h 12"/>
                <a:gd name="T2" fmla="*/ 16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6 w 16"/>
                <a:gd name="T13" fmla="*/ 4 h 12"/>
                <a:gd name="T14" fmla="*/ 16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12 w 16"/>
                <a:gd name="T31" fmla="*/ 0 h 12"/>
                <a:gd name="T32" fmla="*/ 12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8 w 16"/>
                <a:gd name="T43" fmla="*/ 8 h 12"/>
                <a:gd name="T44" fmla="*/ 8 w 16"/>
                <a:gd name="T45" fmla="*/ 8 h 12"/>
                <a:gd name="T46" fmla="*/ 8 w 16"/>
                <a:gd name="T47" fmla="*/ 8 h 12"/>
                <a:gd name="T48" fmla="*/ 12 w 16"/>
                <a:gd name="T49" fmla="*/ 8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8 h 12"/>
                <a:gd name="T56" fmla="*/ 12 w 16"/>
                <a:gd name="T57" fmla="*/ 8 h 12"/>
                <a:gd name="T58" fmla="*/ 8 w 16"/>
                <a:gd name="T59" fmla="*/ 12 h 12"/>
                <a:gd name="T60" fmla="*/ 4 w 16"/>
                <a:gd name="T61" fmla="*/ 8 h 12"/>
                <a:gd name="T62" fmla="*/ 4 w 16"/>
                <a:gd name="T63" fmla="*/ 8 h 12"/>
                <a:gd name="T64" fmla="*/ 0 w 16"/>
                <a:gd name="T65" fmla="*/ 8 h 12"/>
                <a:gd name="T66" fmla="*/ 0 w 16"/>
                <a:gd name="T67" fmla="*/ 4 h 12"/>
                <a:gd name="T68" fmla="*/ 0 w 16"/>
                <a:gd name="T69" fmla="*/ 4 h 12"/>
                <a:gd name="T70" fmla="*/ 4 w 16"/>
                <a:gd name="T71" fmla="*/ 0 h 12"/>
                <a:gd name="T72" fmla="*/ 12 w 16"/>
                <a:gd name="T73" fmla="*/ 0 h 12"/>
                <a:gd name="T74" fmla="*/ 12 w 16"/>
                <a:gd name="T75" fmla="*/ 0 h 12"/>
                <a:gd name="T76" fmla="*/ 12 w 16"/>
                <a:gd name="T77" fmla="*/ 0 h 12"/>
                <a:gd name="T78" fmla="*/ 16 w 16"/>
                <a:gd name="T79" fmla="*/ 0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0" name="Freeform 245"/>
            <p:cNvSpPr>
              <a:spLocks/>
            </p:cNvSpPr>
            <p:nvPr/>
          </p:nvSpPr>
          <p:spPr bwMode="auto">
            <a:xfrm>
              <a:off x="4448" y="2426"/>
              <a:ext cx="20" cy="15"/>
            </a:xfrm>
            <a:custGeom>
              <a:avLst/>
              <a:gdLst>
                <a:gd name="T0" fmla="*/ 12 w 20"/>
                <a:gd name="T1" fmla="*/ 8 h 15"/>
                <a:gd name="T2" fmla="*/ 16 w 20"/>
                <a:gd name="T3" fmla="*/ 12 h 15"/>
                <a:gd name="T4" fmla="*/ 16 w 20"/>
                <a:gd name="T5" fmla="*/ 12 h 15"/>
                <a:gd name="T6" fmla="*/ 16 w 20"/>
                <a:gd name="T7" fmla="*/ 12 h 15"/>
                <a:gd name="T8" fmla="*/ 12 w 20"/>
                <a:gd name="T9" fmla="*/ 15 h 15"/>
                <a:gd name="T10" fmla="*/ 4 w 20"/>
                <a:gd name="T11" fmla="*/ 15 h 15"/>
                <a:gd name="T12" fmla="*/ 4 w 20"/>
                <a:gd name="T13" fmla="*/ 15 h 15"/>
                <a:gd name="T14" fmla="*/ 0 w 20"/>
                <a:gd name="T15" fmla="*/ 15 h 15"/>
                <a:gd name="T16" fmla="*/ 0 w 20"/>
                <a:gd name="T17" fmla="*/ 12 h 15"/>
                <a:gd name="T18" fmla="*/ 0 w 20"/>
                <a:gd name="T19" fmla="*/ 12 h 15"/>
                <a:gd name="T20" fmla="*/ 0 w 20"/>
                <a:gd name="T21" fmla="*/ 12 h 15"/>
                <a:gd name="T22" fmla="*/ 0 w 20"/>
                <a:gd name="T23" fmla="*/ 12 h 15"/>
                <a:gd name="T24" fmla="*/ 0 w 20"/>
                <a:gd name="T25" fmla="*/ 12 h 15"/>
                <a:gd name="T26" fmla="*/ 4 w 20"/>
                <a:gd name="T27" fmla="*/ 12 h 15"/>
                <a:gd name="T28" fmla="*/ 8 w 20"/>
                <a:gd name="T29" fmla="*/ 12 h 15"/>
                <a:gd name="T30" fmla="*/ 8 w 20"/>
                <a:gd name="T31" fmla="*/ 12 h 15"/>
                <a:gd name="T32" fmla="*/ 8 w 20"/>
                <a:gd name="T33" fmla="*/ 12 h 15"/>
                <a:gd name="T34" fmla="*/ 12 w 20"/>
                <a:gd name="T35" fmla="*/ 12 h 15"/>
                <a:gd name="T36" fmla="*/ 12 w 20"/>
                <a:gd name="T37" fmla="*/ 12 h 15"/>
                <a:gd name="T38" fmla="*/ 12 w 20"/>
                <a:gd name="T39" fmla="*/ 12 h 15"/>
                <a:gd name="T40" fmla="*/ 8 w 20"/>
                <a:gd name="T41" fmla="*/ 8 h 15"/>
                <a:gd name="T42" fmla="*/ 8 w 20"/>
                <a:gd name="T43" fmla="*/ 8 h 15"/>
                <a:gd name="T44" fmla="*/ 8 w 20"/>
                <a:gd name="T45" fmla="*/ 8 h 15"/>
                <a:gd name="T46" fmla="*/ 8 w 20"/>
                <a:gd name="T47" fmla="*/ 8 h 15"/>
                <a:gd name="T48" fmla="*/ 8 w 20"/>
                <a:gd name="T49" fmla="*/ 8 h 15"/>
                <a:gd name="T50" fmla="*/ 8 w 20"/>
                <a:gd name="T51" fmla="*/ 8 h 15"/>
                <a:gd name="T52" fmla="*/ 8 w 20"/>
                <a:gd name="T53" fmla="*/ 8 h 15"/>
                <a:gd name="T54" fmla="*/ 8 w 20"/>
                <a:gd name="T55" fmla="*/ 8 h 15"/>
                <a:gd name="T56" fmla="*/ 12 w 20"/>
                <a:gd name="T57" fmla="*/ 8 h 15"/>
                <a:gd name="T58" fmla="*/ 12 w 20"/>
                <a:gd name="T59" fmla="*/ 4 h 15"/>
                <a:gd name="T60" fmla="*/ 12 w 20"/>
                <a:gd name="T61" fmla="*/ 4 h 15"/>
                <a:gd name="T62" fmla="*/ 12 w 20"/>
                <a:gd name="T63" fmla="*/ 4 h 15"/>
                <a:gd name="T64" fmla="*/ 12 w 20"/>
                <a:gd name="T65" fmla="*/ 4 h 15"/>
                <a:gd name="T66" fmla="*/ 12 w 20"/>
                <a:gd name="T67" fmla="*/ 4 h 15"/>
                <a:gd name="T68" fmla="*/ 8 w 20"/>
                <a:gd name="T69" fmla="*/ 4 h 15"/>
                <a:gd name="T70" fmla="*/ 8 w 20"/>
                <a:gd name="T71" fmla="*/ 4 h 15"/>
                <a:gd name="T72" fmla="*/ 8 w 20"/>
                <a:gd name="T73" fmla="*/ 4 h 15"/>
                <a:gd name="T74" fmla="*/ 8 w 20"/>
                <a:gd name="T75" fmla="*/ 4 h 15"/>
                <a:gd name="T76" fmla="*/ 8 w 20"/>
                <a:gd name="T77" fmla="*/ 0 h 15"/>
                <a:gd name="T78" fmla="*/ 8 w 20"/>
                <a:gd name="T79" fmla="*/ 0 h 15"/>
                <a:gd name="T80" fmla="*/ 8 w 20"/>
                <a:gd name="T81" fmla="*/ 0 h 15"/>
                <a:gd name="T82" fmla="*/ 16 w 20"/>
                <a:gd name="T83" fmla="*/ 0 h 15"/>
                <a:gd name="T84" fmla="*/ 16 w 20"/>
                <a:gd name="T85" fmla="*/ 0 h 15"/>
                <a:gd name="T86" fmla="*/ 16 w 20"/>
                <a:gd name="T87" fmla="*/ 4 h 15"/>
                <a:gd name="T88" fmla="*/ 20 w 20"/>
                <a:gd name="T89" fmla="*/ 4 h 15"/>
                <a:gd name="T90" fmla="*/ 20 w 20"/>
                <a:gd name="T91" fmla="*/ 4 h 15"/>
                <a:gd name="T92" fmla="*/ 16 w 20"/>
                <a:gd name="T93" fmla="*/ 8 h 15"/>
                <a:gd name="T94" fmla="*/ 12 w 20"/>
                <a:gd name="T95" fmla="*/ 8 h 1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"/>
                <a:gd name="T145" fmla="*/ 0 h 15"/>
                <a:gd name="T146" fmla="*/ 20 w 20"/>
                <a:gd name="T147" fmla="*/ 15 h 15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" h="15">
                  <a:moveTo>
                    <a:pt x="12" y="8"/>
                  </a:moveTo>
                  <a:lnTo>
                    <a:pt x="12" y="8"/>
                  </a:lnTo>
                  <a:lnTo>
                    <a:pt x="16" y="12"/>
                  </a:lnTo>
                  <a:lnTo>
                    <a:pt x="12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8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1" name="Freeform 246"/>
            <p:cNvSpPr>
              <a:spLocks noEditPoints="1"/>
            </p:cNvSpPr>
            <p:nvPr/>
          </p:nvSpPr>
          <p:spPr bwMode="auto">
            <a:xfrm>
              <a:off x="4425" y="2441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4 w 16"/>
                <a:gd name="T3" fmla="*/ 4 h 12"/>
                <a:gd name="T4" fmla="*/ 4 w 16"/>
                <a:gd name="T5" fmla="*/ 4 h 12"/>
                <a:gd name="T6" fmla="*/ 4 w 16"/>
                <a:gd name="T7" fmla="*/ 4 h 12"/>
                <a:gd name="T8" fmla="*/ 4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8 w 16"/>
                <a:gd name="T15" fmla="*/ 0 h 12"/>
                <a:gd name="T16" fmla="*/ 8 w 16"/>
                <a:gd name="T17" fmla="*/ 0 h 12"/>
                <a:gd name="T18" fmla="*/ 8 w 16"/>
                <a:gd name="T19" fmla="*/ 0 h 12"/>
                <a:gd name="T20" fmla="*/ 8 w 16"/>
                <a:gd name="T21" fmla="*/ 0 h 12"/>
                <a:gd name="T22" fmla="*/ 12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6 w 16"/>
                <a:gd name="T31" fmla="*/ 8 h 12"/>
                <a:gd name="T32" fmla="*/ 16 w 16"/>
                <a:gd name="T33" fmla="*/ 8 h 12"/>
                <a:gd name="T34" fmla="*/ 12 w 16"/>
                <a:gd name="T35" fmla="*/ 12 h 12"/>
                <a:gd name="T36" fmla="*/ 8 w 16"/>
                <a:gd name="T37" fmla="*/ 12 h 12"/>
                <a:gd name="T38" fmla="*/ 8 w 16"/>
                <a:gd name="T39" fmla="*/ 12 h 12"/>
                <a:gd name="T40" fmla="*/ 8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12 h 12"/>
                <a:gd name="T52" fmla="*/ 0 w 16"/>
                <a:gd name="T53" fmla="*/ 8 h 12"/>
                <a:gd name="T54" fmla="*/ 0 w 16"/>
                <a:gd name="T55" fmla="*/ 8 h 12"/>
                <a:gd name="T56" fmla="*/ 0 w 16"/>
                <a:gd name="T57" fmla="*/ 8 h 12"/>
                <a:gd name="T58" fmla="*/ 0 w 16"/>
                <a:gd name="T59" fmla="*/ 8 h 12"/>
                <a:gd name="T60" fmla="*/ 4 w 16"/>
                <a:gd name="T61" fmla="*/ 8 h 12"/>
                <a:gd name="T62" fmla="*/ 4 w 16"/>
                <a:gd name="T63" fmla="*/ 12 h 12"/>
                <a:gd name="T64" fmla="*/ 4 w 16"/>
                <a:gd name="T65" fmla="*/ 12 h 12"/>
                <a:gd name="T66" fmla="*/ 4 w 16"/>
                <a:gd name="T67" fmla="*/ 12 h 12"/>
                <a:gd name="T68" fmla="*/ 8 w 16"/>
                <a:gd name="T69" fmla="*/ 12 h 12"/>
                <a:gd name="T70" fmla="*/ 12 w 16"/>
                <a:gd name="T71" fmla="*/ 8 h 12"/>
                <a:gd name="T72" fmla="*/ 12 w 16"/>
                <a:gd name="T73" fmla="*/ 8 h 12"/>
                <a:gd name="T74" fmla="*/ 12 w 16"/>
                <a:gd name="T75" fmla="*/ 4 h 12"/>
                <a:gd name="T76" fmla="*/ 8 w 16"/>
                <a:gd name="T77" fmla="*/ 4 h 12"/>
                <a:gd name="T78" fmla="*/ 8 w 16"/>
                <a:gd name="T79" fmla="*/ 4 h 12"/>
                <a:gd name="T80" fmla="*/ 8 w 16"/>
                <a:gd name="T81" fmla="*/ 4 h 12"/>
                <a:gd name="T82" fmla="*/ 8 w 16"/>
                <a:gd name="T83" fmla="*/ 4 h 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2"/>
                <a:gd name="T128" fmla="*/ 16 w 16"/>
                <a:gd name="T129" fmla="*/ 12 h 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2">
                  <a:moveTo>
                    <a:pt x="4" y="8"/>
                  </a:move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close/>
                  <a:moveTo>
                    <a:pt x="8" y="4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2" name="Freeform 247"/>
            <p:cNvSpPr>
              <a:spLocks/>
            </p:cNvSpPr>
            <p:nvPr/>
          </p:nvSpPr>
          <p:spPr bwMode="auto">
            <a:xfrm>
              <a:off x="4441" y="2445"/>
              <a:ext cx="15" cy="12"/>
            </a:xfrm>
            <a:custGeom>
              <a:avLst/>
              <a:gdLst>
                <a:gd name="T0" fmla="*/ 11 w 15"/>
                <a:gd name="T1" fmla="*/ 4 h 12"/>
                <a:gd name="T2" fmla="*/ 11 w 15"/>
                <a:gd name="T3" fmla="*/ 4 h 12"/>
                <a:gd name="T4" fmla="*/ 11 w 15"/>
                <a:gd name="T5" fmla="*/ 4 h 12"/>
                <a:gd name="T6" fmla="*/ 11 w 15"/>
                <a:gd name="T7" fmla="*/ 4 h 12"/>
                <a:gd name="T8" fmla="*/ 15 w 15"/>
                <a:gd name="T9" fmla="*/ 4 h 12"/>
                <a:gd name="T10" fmla="*/ 15 w 15"/>
                <a:gd name="T11" fmla="*/ 4 h 12"/>
                <a:gd name="T12" fmla="*/ 15 w 15"/>
                <a:gd name="T13" fmla="*/ 4 h 12"/>
                <a:gd name="T14" fmla="*/ 15 w 15"/>
                <a:gd name="T15" fmla="*/ 4 h 12"/>
                <a:gd name="T16" fmla="*/ 15 w 15"/>
                <a:gd name="T17" fmla="*/ 4 h 12"/>
                <a:gd name="T18" fmla="*/ 15 w 15"/>
                <a:gd name="T19" fmla="*/ 0 h 12"/>
                <a:gd name="T20" fmla="*/ 3 w 15"/>
                <a:gd name="T21" fmla="*/ 0 h 12"/>
                <a:gd name="T22" fmla="*/ 3 w 15"/>
                <a:gd name="T23" fmla="*/ 0 h 12"/>
                <a:gd name="T24" fmla="*/ 3 w 15"/>
                <a:gd name="T25" fmla="*/ 0 h 12"/>
                <a:gd name="T26" fmla="*/ 3 w 15"/>
                <a:gd name="T27" fmla="*/ 0 h 12"/>
                <a:gd name="T28" fmla="*/ 3 w 15"/>
                <a:gd name="T29" fmla="*/ 0 h 12"/>
                <a:gd name="T30" fmla="*/ 3 w 15"/>
                <a:gd name="T31" fmla="*/ 0 h 12"/>
                <a:gd name="T32" fmla="*/ 3 w 15"/>
                <a:gd name="T33" fmla="*/ 0 h 12"/>
                <a:gd name="T34" fmla="*/ 3 w 15"/>
                <a:gd name="T35" fmla="*/ 0 h 12"/>
                <a:gd name="T36" fmla="*/ 0 w 15"/>
                <a:gd name="T37" fmla="*/ 8 h 12"/>
                <a:gd name="T38" fmla="*/ 0 w 15"/>
                <a:gd name="T39" fmla="*/ 8 h 12"/>
                <a:gd name="T40" fmla="*/ 0 w 15"/>
                <a:gd name="T41" fmla="*/ 8 h 12"/>
                <a:gd name="T42" fmla="*/ 0 w 15"/>
                <a:gd name="T43" fmla="*/ 8 h 12"/>
                <a:gd name="T44" fmla="*/ 0 w 15"/>
                <a:gd name="T45" fmla="*/ 8 h 12"/>
                <a:gd name="T46" fmla="*/ 0 w 15"/>
                <a:gd name="T47" fmla="*/ 8 h 12"/>
                <a:gd name="T48" fmla="*/ 0 w 15"/>
                <a:gd name="T49" fmla="*/ 12 h 12"/>
                <a:gd name="T50" fmla="*/ 0 w 15"/>
                <a:gd name="T51" fmla="*/ 12 h 12"/>
                <a:gd name="T52" fmla="*/ 11 w 15"/>
                <a:gd name="T53" fmla="*/ 12 h 12"/>
                <a:gd name="T54" fmla="*/ 11 w 15"/>
                <a:gd name="T55" fmla="*/ 12 h 12"/>
                <a:gd name="T56" fmla="*/ 11 w 15"/>
                <a:gd name="T57" fmla="*/ 12 h 12"/>
                <a:gd name="T58" fmla="*/ 11 w 15"/>
                <a:gd name="T59" fmla="*/ 12 h 12"/>
                <a:gd name="T60" fmla="*/ 11 w 15"/>
                <a:gd name="T61" fmla="*/ 12 h 12"/>
                <a:gd name="T62" fmla="*/ 11 w 15"/>
                <a:gd name="T63" fmla="*/ 12 h 12"/>
                <a:gd name="T64" fmla="*/ 11 w 15"/>
                <a:gd name="T65" fmla="*/ 8 h 12"/>
                <a:gd name="T66" fmla="*/ 11 w 15"/>
                <a:gd name="T67" fmla="*/ 8 h 12"/>
                <a:gd name="T68" fmla="*/ 11 w 15"/>
                <a:gd name="T69" fmla="*/ 8 h 12"/>
                <a:gd name="T70" fmla="*/ 11 w 15"/>
                <a:gd name="T71" fmla="*/ 8 h 12"/>
                <a:gd name="T72" fmla="*/ 11 w 15"/>
                <a:gd name="T73" fmla="*/ 8 h 12"/>
                <a:gd name="T74" fmla="*/ 7 w 15"/>
                <a:gd name="T75" fmla="*/ 12 h 12"/>
                <a:gd name="T76" fmla="*/ 3 w 15"/>
                <a:gd name="T77" fmla="*/ 8 h 12"/>
                <a:gd name="T78" fmla="*/ 3 w 15"/>
                <a:gd name="T79" fmla="*/ 8 h 12"/>
                <a:gd name="T80" fmla="*/ 7 w 15"/>
                <a:gd name="T81" fmla="*/ 8 h 12"/>
                <a:gd name="T82" fmla="*/ 7 w 15"/>
                <a:gd name="T83" fmla="*/ 8 h 12"/>
                <a:gd name="T84" fmla="*/ 7 w 15"/>
                <a:gd name="T85" fmla="*/ 8 h 12"/>
                <a:gd name="T86" fmla="*/ 7 w 15"/>
                <a:gd name="T87" fmla="*/ 8 h 12"/>
                <a:gd name="T88" fmla="*/ 7 w 15"/>
                <a:gd name="T89" fmla="*/ 8 h 12"/>
                <a:gd name="T90" fmla="*/ 7 w 15"/>
                <a:gd name="T91" fmla="*/ 8 h 12"/>
                <a:gd name="T92" fmla="*/ 7 w 15"/>
                <a:gd name="T93" fmla="*/ 8 h 12"/>
                <a:gd name="T94" fmla="*/ 11 w 15"/>
                <a:gd name="T95" fmla="*/ 8 h 12"/>
                <a:gd name="T96" fmla="*/ 11 w 15"/>
                <a:gd name="T97" fmla="*/ 4 h 12"/>
                <a:gd name="T98" fmla="*/ 11 w 15"/>
                <a:gd name="T99" fmla="*/ 4 h 12"/>
                <a:gd name="T100" fmla="*/ 11 w 15"/>
                <a:gd name="T101" fmla="*/ 4 h 12"/>
                <a:gd name="T102" fmla="*/ 11 w 15"/>
                <a:gd name="T103" fmla="*/ 4 h 12"/>
                <a:gd name="T104" fmla="*/ 11 w 15"/>
                <a:gd name="T105" fmla="*/ 4 h 12"/>
                <a:gd name="T106" fmla="*/ 11 w 15"/>
                <a:gd name="T107" fmla="*/ 4 h 12"/>
                <a:gd name="T108" fmla="*/ 11 w 15"/>
                <a:gd name="T109" fmla="*/ 4 h 12"/>
                <a:gd name="T110" fmla="*/ 11 w 15"/>
                <a:gd name="T111" fmla="*/ 4 h 12"/>
                <a:gd name="T112" fmla="*/ 7 w 15"/>
                <a:gd name="T113" fmla="*/ 4 h 12"/>
                <a:gd name="T114" fmla="*/ 7 w 15"/>
                <a:gd name="T115" fmla="*/ 4 h 12"/>
                <a:gd name="T116" fmla="*/ 7 w 15"/>
                <a:gd name="T117" fmla="*/ 4 h 12"/>
                <a:gd name="T118" fmla="*/ 7 w 15"/>
                <a:gd name="T119" fmla="*/ 4 h 12"/>
                <a:gd name="T120" fmla="*/ 7 w 15"/>
                <a:gd name="T121" fmla="*/ 4 h 12"/>
                <a:gd name="T122" fmla="*/ 11 w 15"/>
                <a:gd name="T123" fmla="*/ 4 h 12"/>
                <a:gd name="T124" fmla="*/ 11 w 15"/>
                <a:gd name="T125" fmla="*/ 4 h 1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2"/>
                <a:gd name="T191" fmla="*/ 15 w 15"/>
                <a:gd name="T192" fmla="*/ 12 h 1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2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3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7" y="12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3" name="Freeform 248"/>
            <p:cNvSpPr>
              <a:spLocks/>
            </p:cNvSpPr>
            <p:nvPr/>
          </p:nvSpPr>
          <p:spPr bwMode="auto">
            <a:xfrm>
              <a:off x="4456" y="2449"/>
              <a:ext cx="16" cy="12"/>
            </a:xfrm>
            <a:custGeom>
              <a:avLst/>
              <a:gdLst>
                <a:gd name="T0" fmla="*/ 8 w 16"/>
                <a:gd name="T1" fmla="*/ 0 h 12"/>
                <a:gd name="T2" fmla="*/ 4 w 16"/>
                <a:gd name="T3" fmla="*/ 4 h 12"/>
                <a:gd name="T4" fmla="*/ 8 w 16"/>
                <a:gd name="T5" fmla="*/ 4 h 12"/>
                <a:gd name="T6" fmla="*/ 8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8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8 w 16"/>
                <a:gd name="T23" fmla="*/ 8 h 12"/>
                <a:gd name="T24" fmla="*/ 8 w 16"/>
                <a:gd name="T25" fmla="*/ 8 h 12"/>
                <a:gd name="T26" fmla="*/ 8 w 16"/>
                <a:gd name="T27" fmla="*/ 8 h 12"/>
                <a:gd name="T28" fmla="*/ 8 w 16"/>
                <a:gd name="T29" fmla="*/ 8 h 12"/>
                <a:gd name="T30" fmla="*/ 8 w 16"/>
                <a:gd name="T31" fmla="*/ 8 h 12"/>
                <a:gd name="T32" fmla="*/ 8 w 16"/>
                <a:gd name="T33" fmla="*/ 8 h 12"/>
                <a:gd name="T34" fmla="*/ 8 w 16"/>
                <a:gd name="T35" fmla="*/ 8 h 12"/>
                <a:gd name="T36" fmla="*/ 8 w 16"/>
                <a:gd name="T37" fmla="*/ 8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4 w 16"/>
                <a:gd name="T49" fmla="*/ 12 h 12"/>
                <a:gd name="T50" fmla="*/ 4 w 16"/>
                <a:gd name="T51" fmla="*/ 12 h 12"/>
                <a:gd name="T52" fmla="*/ 4 w 16"/>
                <a:gd name="T53" fmla="*/ 12 h 12"/>
                <a:gd name="T54" fmla="*/ 4 w 16"/>
                <a:gd name="T55" fmla="*/ 12 h 12"/>
                <a:gd name="T56" fmla="*/ 0 w 16"/>
                <a:gd name="T57" fmla="*/ 8 h 12"/>
                <a:gd name="T58" fmla="*/ 0 w 16"/>
                <a:gd name="T59" fmla="*/ 8 h 12"/>
                <a:gd name="T60" fmla="*/ 0 w 16"/>
                <a:gd name="T61" fmla="*/ 8 h 12"/>
                <a:gd name="T62" fmla="*/ 0 w 16"/>
                <a:gd name="T63" fmla="*/ 8 h 12"/>
                <a:gd name="T64" fmla="*/ 0 w 16"/>
                <a:gd name="T65" fmla="*/ 8 h 12"/>
                <a:gd name="T66" fmla="*/ 0 w 16"/>
                <a:gd name="T67" fmla="*/ 8 h 12"/>
                <a:gd name="T68" fmla="*/ 0 w 16"/>
                <a:gd name="T69" fmla="*/ 8 h 12"/>
                <a:gd name="T70" fmla="*/ 0 w 16"/>
                <a:gd name="T71" fmla="*/ 8 h 12"/>
                <a:gd name="T72" fmla="*/ 4 w 16"/>
                <a:gd name="T73" fmla="*/ 0 h 12"/>
                <a:gd name="T74" fmla="*/ 4 w 16"/>
                <a:gd name="T75" fmla="*/ 0 h 12"/>
                <a:gd name="T76" fmla="*/ 4 w 16"/>
                <a:gd name="T77" fmla="*/ 0 h 12"/>
                <a:gd name="T78" fmla="*/ 4 w 16"/>
                <a:gd name="T79" fmla="*/ 0 h 12"/>
                <a:gd name="T80" fmla="*/ 4 w 16"/>
                <a:gd name="T81" fmla="*/ 0 h 12"/>
                <a:gd name="T82" fmla="*/ 4 w 16"/>
                <a:gd name="T83" fmla="*/ 0 h 12"/>
                <a:gd name="T84" fmla="*/ 4 w 16"/>
                <a:gd name="T85" fmla="*/ 0 h 12"/>
                <a:gd name="T86" fmla="*/ 4 w 16"/>
                <a:gd name="T87" fmla="*/ 0 h 12"/>
                <a:gd name="T88" fmla="*/ 16 w 16"/>
                <a:gd name="T89" fmla="*/ 0 h 12"/>
                <a:gd name="T90" fmla="*/ 16 w 16"/>
                <a:gd name="T91" fmla="*/ 0 h 12"/>
                <a:gd name="T92" fmla="*/ 16 w 16"/>
                <a:gd name="T93" fmla="*/ 0 h 12"/>
                <a:gd name="T94" fmla="*/ 16 w 16"/>
                <a:gd name="T95" fmla="*/ 4 h 12"/>
                <a:gd name="T96" fmla="*/ 16 w 16"/>
                <a:gd name="T97" fmla="*/ 4 h 12"/>
                <a:gd name="T98" fmla="*/ 16 w 16"/>
                <a:gd name="T99" fmla="*/ 4 h 12"/>
                <a:gd name="T100" fmla="*/ 16 w 16"/>
                <a:gd name="T101" fmla="*/ 4 h 12"/>
                <a:gd name="T102" fmla="*/ 12 w 16"/>
                <a:gd name="T103" fmla="*/ 4 h 12"/>
                <a:gd name="T104" fmla="*/ 12 w 16"/>
                <a:gd name="T105" fmla="*/ 4 h 12"/>
                <a:gd name="T106" fmla="*/ 12 w 16"/>
                <a:gd name="T107" fmla="*/ 4 h 12"/>
                <a:gd name="T108" fmla="*/ 12 w 16"/>
                <a:gd name="T109" fmla="*/ 4 h 12"/>
                <a:gd name="T110" fmla="*/ 12 w 16"/>
                <a:gd name="T111" fmla="*/ 4 h 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6"/>
                <a:gd name="T169" fmla="*/ 0 h 12"/>
                <a:gd name="T170" fmla="*/ 16 w 16"/>
                <a:gd name="T171" fmla="*/ 12 h 1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6" h="12">
                  <a:moveTo>
                    <a:pt x="12" y="4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12"/>
                  </a:lnTo>
                  <a:lnTo>
                    <a:pt x="0" y="8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4" name="Freeform 249"/>
            <p:cNvSpPr>
              <a:spLocks noEditPoints="1"/>
            </p:cNvSpPr>
            <p:nvPr/>
          </p:nvSpPr>
          <p:spPr bwMode="auto">
            <a:xfrm>
              <a:off x="4173" y="2469"/>
              <a:ext cx="15" cy="16"/>
            </a:xfrm>
            <a:custGeom>
              <a:avLst/>
              <a:gdLst>
                <a:gd name="T0" fmla="*/ 12 w 15"/>
                <a:gd name="T1" fmla="*/ 8 h 16"/>
                <a:gd name="T2" fmla="*/ 12 w 15"/>
                <a:gd name="T3" fmla="*/ 8 h 16"/>
                <a:gd name="T4" fmla="*/ 12 w 15"/>
                <a:gd name="T5" fmla="*/ 8 h 16"/>
                <a:gd name="T6" fmla="*/ 12 w 15"/>
                <a:gd name="T7" fmla="*/ 8 h 16"/>
                <a:gd name="T8" fmla="*/ 12 w 15"/>
                <a:gd name="T9" fmla="*/ 8 h 16"/>
                <a:gd name="T10" fmla="*/ 12 w 15"/>
                <a:gd name="T11" fmla="*/ 8 h 16"/>
                <a:gd name="T12" fmla="*/ 12 w 15"/>
                <a:gd name="T13" fmla="*/ 8 h 16"/>
                <a:gd name="T14" fmla="*/ 12 w 15"/>
                <a:gd name="T15" fmla="*/ 8 h 16"/>
                <a:gd name="T16" fmla="*/ 12 w 15"/>
                <a:gd name="T17" fmla="*/ 8 h 16"/>
                <a:gd name="T18" fmla="*/ 12 w 15"/>
                <a:gd name="T19" fmla="*/ 8 h 16"/>
                <a:gd name="T20" fmla="*/ 12 w 15"/>
                <a:gd name="T21" fmla="*/ 8 h 16"/>
                <a:gd name="T22" fmla="*/ 12 w 15"/>
                <a:gd name="T23" fmla="*/ 8 h 16"/>
                <a:gd name="T24" fmla="*/ 12 w 15"/>
                <a:gd name="T25" fmla="*/ 12 h 16"/>
                <a:gd name="T26" fmla="*/ 12 w 15"/>
                <a:gd name="T27" fmla="*/ 12 h 16"/>
                <a:gd name="T28" fmla="*/ 12 w 15"/>
                <a:gd name="T29" fmla="*/ 12 h 16"/>
                <a:gd name="T30" fmla="*/ 12 w 15"/>
                <a:gd name="T31" fmla="*/ 12 h 16"/>
                <a:gd name="T32" fmla="*/ 8 w 15"/>
                <a:gd name="T33" fmla="*/ 12 h 16"/>
                <a:gd name="T34" fmla="*/ 8 w 15"/>
                <a:gd name="T35" fmla="*/ 12 h 16"/>
                <a:gd name="T36" fmla="*/ 8 w 15"/>
                <a:gd name="T37" fmla="*/ 12 h 16"/>
                <a:gd name="T38" fmla="*/ 8 w 15"/>
                <a:gd name="T39" fmla="*/ 12 h 16"/>
                <a:gd name="T40" fmla="*/ 8 w 15"/>
                <a:gd name="T41" fmla="*/ 12 h 16"/>
                <a:gd name="T42" fmla="*/ 8 w 15"/>
                <a:gd name="T43" fmla="*/ 12 h 16"/>
                <a:gd name="T44" fmla="*/ 8 w 15"/>
                <a:gd name="T45" fmla="*/ 12 h 16"/>
                <a:gd name="T46" fmla="*/ 12 w 15"/>
                <a:gd name="T47" fmla="*/ 12 h 16"/>
                <a:gd name="T48" fmla="*/ 12 w 15"/>
                <a:gd name="T49" fmla="*/ 12 h 16"/>
                <a:gd name="T50" fmla="*/ 12 w 15"/>
                <a:gd name="T51" fmla="*/ 12 h 16"/>
                <a:gd name="T52" fmla="*/ 8 w 15"/>
                <a:gd name="T53" fmla="*/ 16 h 16"/>
                <a:gd name="T54" fmla="*/ 8 w 15"/>
                <a:gd name="T55" fmla="*/ 16 h 16"/>
                <a:gd name="T56" fmla="*/ 0 w 15"/>
                <a:gd name="T57" fmla="*/ 12 h 16"/>
                <a:gd name="T58" fmla="*/ 0 w 15"/>
                <a:gd name="T59" fmla="*/ 12 h 16"/>
                <a:gd name="T60" fmla="*/ 0 w 15"/>
                <a:gd name="T61" fmla="*/ 12 h 16"/>
                <a:gd name="T62" fmla="*/ 0 w 15"/>
                <a:gd name="T63" fmla="*/ 12 h 16"/>
                <a:gd name="T64" fmla="*/ 0 w 15"/>
                <a:gd name="T65" fmla="*/ 12 h 16"/>
                <a:gd name="T66" fmla="*/ 0 w 15"/>
                <a:gd name="T67" fmla="*/ 12 h 16"/>
                <a:gd name="T68" fmla="*/ 4 w 15"/>
                <a:gd name="T69" fmla="*/ 12 h 16"/>
                <a:gd name="T70" fmla="*/ 4 w 15"/>
                <a:gd name="T71" fmla="*/ 12 h 16"/>
                <a:gd name="T72" fmla="*/ 8 w 15"/>
                <a:gd name="T73" fmla="*/ 8 h 16"/>
                <a:gd name="T74" fmla="*/ 0 w 15"/>
                <a:gd name="T75" fmla="*/ 8 h 16"/>
                <a:gd name="T76" fmla="*/ 0 w 15"/>
                <a:gd name="T77" fmla="*/ 8 h 16"/>
                <a:gd name="T78" fmla="*/ 0 w 15"/>
                <a:gd name="T79" fmla="*/ 8 h 16"/>
                <a:gd name="T80" fmla="*/ 0 w 15"/>
                <a:gd name="T81" fmla="*/ 8 h 16"/>
                <a:gd name="T82" fmla="*/ 0 w 15"/>
                <a:gd name="T83" fmla="*/ 8 h 16"/>
                <a:gd name="T84" fmla="*/ 0 w 15"/>
                <a:gd name="T85" fmla="*/ 8 h 16"/>
                <a:gd name="T86" fmla="*/ 0 w 15"/>
                <a:gd name="T87" fmla="*/ 4 h 16"/>
                <a:gd name="T88" fmla="*/ 0 w 15"/>
                <a:gd name="T89" fmla="*/ 4 h 16"/>
                <a:gd name="T90" fmla="*/ 12 w 15"/>
                <a:gd name="T91" fmla="*/ 0 h 16"/>
                <a:gd name="T92" fmla="*/ 12 w 15"/>
                <a:gd name="T93" fmla="*/ 0 h 16"/>
                <a:gd name="T94" fmla="*/ 12 w 15"/>
                <a:gd name="T95" fmla="*/ 0 h 16"/>
                <a:gd name="T96" fmla="*/ 12 w 15"/>
                <a:gd name="T97" fmla="*/ 0 h 16"/>
                <a:gd name="T98" fmla="*/ 12 w 15"/>
                <a:gd name="T99" fmla="*/ 0 h 16"/>
                <a:gd name="T100" fmla="*/ 15 w 15"/>
                <a:gd name="T101" fmla="*/ 0 h 16"/>
                <a:gd name="T102" fmla="*/ 15 w 15"/>
                <a:gd name="T103" fmla="*/ 0 h 16"/>
                <a:gd name="T104" fmla="*/ 15 w 15"/>
                <a:gd name="T105" fmla="*/ 0 h 16"/>
                <a:gd name="T106" fmla="*/ 15 w 15"/>
                <a:gd name="T107" fmla="*/ 0 h 16"/>
                <a:gd name="T108" fmla="*/ 15 w 15"/>
                <a:gd name="T109" fmla="*/ 0 h 16"/>
                <a:gd name="T110" fmla="*/ 15 w 15"/>
                <a:gd name="T111" fmla="*/ 0 h 16"/>
                <a:gd name="T112" fmla="*/ 12 w 15"/>
                <a:gd name="T113" fmla="*/ 8 h 16"/>
                <a:gd name="T114" fmla="*/ 4 w 15"/>
                <a:gd name="T115" fmla="*/ 8 h 16"/>
                <a:gd name="T116" fmla="*/ 8 w 15"/>
                <a:gd name="T117" fmla="*/ 8 h 16"/>
                <a:gd name="T118" fmla="*/ 12 w 15"/>
                <a:gd name="T119" fmla="*/ 0 h 1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5"/>
                <a:gd name="T181" fmla="*/ 0 h 16"/>
                <a:gd name="T182" fmla="*/ 15 w 15"/>
                <a:gd name="T183" fmla="*/ 16 h 1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5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2" y="8"/>
                  </a:lnTo>
                  <a:close/>
                  <a:moveTo>
                    <a:pt x="12" y="0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5" name="Freeform 250"/>
            <p:cNvSpPr>
              <a:spLocks/>
            </p:cNvSpPr>
            <p:nvPr/>
          </p:nvSpPr>
          <p:spPr bwMode="auto">
            <a:xfrm>
              <a:off x="4149" y="2485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2 w 16"/>
                <a:gd name="T13" fmla="*/ 4 h 12"/>
                <a:gd name="T14" fmla="*/ 12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8 w 16"/>
                <a:gd name="T31" fmla="*/ 0 h 12"/>
                <a:gd name="T32" fmla="*/ 8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8 w 16"/>
                <a:gd name="T49" fmla="*/ 8 h 12"/>
                <a:gd name="T50" fmla="*/ 8 w 16"/>
                <a:gd name="T51" fmla="*/ 8 h 12"/>
                <a:gd name="T52" fmla="*/ 8 w 16"/>
                <a:gd name="T53" fmla="*/ 8 h 12"/>
                <a:gd name="T54" fmla="*/ 8 w 16"/>
                <a:gd name="T55" fmla="*/ 8 h 12"/>
                <a:gd name="T56" fmla="*/ 4 w 16"/>
                <a:gd name="T57" fmla="*/ 4 h 12"/>
                <a:gd name="T58" fmla="*/ 4 w 16"/>
                <a:gd name="T59" fmla="*/ 4 h 12"/>
                <a:gd name="T60" fmla="*/ 4 w 16"/>
                <a:gd name="T61" fmla="*/ 4 h 12"/>
                <a:gd name="T62" fmla="*/ 8 w 16"/>
                <a:gd name="T63" fmla="*/ 4 h 12"/>
                <a:gd name="T64" fmla="*/ 8 w 16"/>
                <a:gd name="T65" fmla="*/ 4 h 12"/>
                <a:gd name="T66" fmla="*/ 12 w 16"/>
                <a:gd name="T67" fmla="*/ 4 h 12"/>
                <a:gd name="T68" fmla="*/ 12 w 16"/>
                <a:gd name="T69" fmla="*/ 4 h 12"/>
                <a:gd name="T70" fmla="*/ 12 w 16"/>
                <a:gd name="T71" fmla="*/ 4 h 12"/>
                <a:gd name="T72" fmla="*/ 12 w 16"/>
                <a:gd name="T73" fmla="*/ 8 h 12"/>
                <a:gd name="T74" fmla="*/ 12 w 16"/>
                <a:gd name="T75" fmla="*/ 8 h 12"/>
                <a:gd name="T76" fmla="*/ 12 w 16"/>
                <a:gd name="T77" fmla="*/ 8 h 12"/>
                <a:gd name="T78" fmla="*/ 12 w 16"/>
                <a:gd name="T79" fmla="*/ 8 h 12"/>
                <a:gd name="T80" fmla="*/ 12 w 16"/>
                <a:gd name="T81" fmla="*/ 8 h 12"/>
                <a:gd name="T82" fmla="*/ 8 w 16"/>
                <a:gd name="T83" fmla="*/ 8 h 12"/>
                <a:gd name="T84" fmla="*/ 8 w 16"/>
                <a:gd name="T85" fmla="*/ 8 h 12"/>
                <a:gd name="T86" fmla="*/ 8 w 16"/>
                <a:gd name="T87" fmla="*/ 8 h 12"/>
                <a:gd name="T88" fmla="*/ 8 w 16"/>
                <a:gd name="T89" fmla="*/ 8 h 12"/>
                <a:gd name="T90" fmla="*/ 8 w 16"/>
                <a:gd name="T91" fmla="*/ 12 h 12"/>
                <a:gd name="T92" fmla="*/ 8 w 16"/>
                <a:gd name="T93" fmla="*/ 12 h 12"/>
                <a:gd name="T94" fmla="*/ 4 w 16"/>
                <a:gd name="T95" fmla="*/ 12 h 12"/>
                <a:gd name="T96" fmla="*/ 4 w 16"/>
                <a:gd name="T97" fmla="*/ 8 h 12"/>
                <a:gd name="T98" fmla="*/ 4 w 16"/>
                <a:gd name="T99" fmla="*/ 8 h 12"/>
                <a:gd name="T100" fmla="*/ 0 w 16"/>
                <a:gd name="T101" fmla="*/ 8 h 12"/>
                <a:gd name="T102" fmla="*/ 0 w 16"/>
                <a:gd name="T103" fmla="*/ 4 h 12"/>
                <a:gd name="T104" fmla="*/ 0 w 16"/>
                <a:gd name="T105" fmla="*/ 4 h 12"/>
                <a:gd name="T106" fmla="*/ 4 w 16"/>
                <a:gd name="T107" fmla="*/ 0 h 12"/>
                <a:gd name="T108" fmla="*/ 12 w 16"/>
                <a:gd name="T109" fmla="*/ 0 h 12"/>
                <a:gd name="T110" fmla="*/ 12 w 16"/>
                <a:gd name="T111" fmla="*/ 0 h 12"/>
                <a:gd name="T112" fmla="*/ 12 w 16"/>
                <a:gd name="T113" fmla="*/ 0 h 12"/>
                <a:gd name="T114" fmla="*/ 12 w 16"/>
                <a:gd name="T115" fmla="*/ 0 h 1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"/>
                <a:gd name="T175" fmla="*/ 0 h 12"/>
                <a:gd name="T176" fmla="*/ 16 w 16"/>
                <a:gd name="T177" fmla="*/ 12 h 1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6" name="Freeform 251"/>
            <p:cNvSpPr>
              <a:spLocks/>
            </p:cNvSpPr>
            <p:nvPr/>
          </p:nvSpPr>
          <p:spPr bwMode="auto">
            <a:xfrm>
              <a:off x="4161" y="2485"/>
              <a:ext cx="16" cy="12"/>
            </a:xfrm>
            <a:custGeom>
              <a:avLst/>
              <a:gdLst>
                <a:gd name="T0" fmla="*/ 8 w 16"/>
                <a:gd name="T1" fmla="*/ 4 h 12"/>
                <a:gd name="T2" fmla="*/ 12 w 16"/>
                <a:gd name="T3" fmla="*/ 4 h 12"/>
                <a:gd name="T4" fmla="*/ 12 w 16"/>
                <a:gd name="T5" fmla="*/ 4 h 12"/>
                <a:gd name="T6" fmla="*/ 8 w 16"/>
                <a:gd name="T7" fmla="*/ 0 h 12"/>
                <a:gd name="T8" fmla="*/ 8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4 w 16"/>
                <a:gd name="T15" fmla="*/ 4 h 12"/>
                <a:gd name="T16" fmla="*/ 4 w 16"/>
                <a:gd name="T17" fmla="*/ 4 h 12"/>
                <a:gd name="T18" fmla="*/ 0 w 16"/>
                <a:gd name="T19" fmla="*/ 8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12 h 12"/>
                <a:gd name="T26" fmla="*/ 0 w 16"/>
                <a:gd name="T27" fmla="*/ 12 h 12"/>
                <a:gd name="T28" fmla="*/ 0 w 16"/>
                <a:gd name="T29" fmla="*/ 12 h 12"/>
                <a:gd name="T30" fmla="*/ 4 w 16"/>
                <a:gd name="T31" fmla="*/ 12 h 12"/>
                <a:gd name="T32" fmla="*/ 4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8 h 12"/>
                <a:gd name="T42" fmla="*/ 8 w 16"/>
                <a:gd name="T43" fmla="*/ 12 h 12"/>
                <a:gd name="T44" fmla="*/ 8 w 16"/>
                <a:gd name="T45" fmla="*/ 12 h 12"/>
                <a:gd name="T46" fmla="*/ 8 w 16"/>
                <a:gd name="T47" fmla="*/ 12 h 12"/>
                <a:gd name="T48" fmla="*/ 4 w 16"/>
                <a:gd name="T49" fmla="*/ 12 h 12"/>
                <a:gd name="T50" fmla="*/ 4 w 16"/>
                <a:gd name="T51" fmla="*/ 12 h 12"/>
                <a:gd name="T52" fmla="*/ 8 w 16"/>
                <a:gd name="T53" fmla="*/ 12 h 12"/>
                <a:gd name="T54" fmla="*/ 8 w 16"/>
                <a:gd name="T55" fmla="*/ 12 h 12"/>
                <a:gd name="T56" fmla="*/ 12 w 16"/>
                <a:gd name="T57" fmla="*/ 12 h 12"/>
                <a:gd name="T58" fmla="*/ 12 w 16"/>
                <a:gd name="T59" fmla="*/ 12 h 12"/>
                <a:gd name="T60" fmla="*/ 12 w 16"/>
                <a:gd name="T61" fmla="*/ 12 h 12"/>
                <a:gd name="T62" fmla="*/ 12 w 16"/>
                <a:gd name="T63" fmla="*/ 12 h 12"/>
                <a:gd name="T64" fmla="*/ 16 w 16"/>
                <a:gd name="T65" fmla="*/ 4 h 12"/>
                <a:gd name="T66" fmla="*/ 16 w 16"/>
                <a:gd name="T67" fmla="*/ 4 h 12"/>
                <a:gd name="T68" fmla="*/ 16 w 16"/>
                <a:gd name="T69" fmla="*/ 4 h 12"/>
                <a:gd name="T70" fmla="*/ 16 w 16"/>
                <a:gd name="T71" fmla="*/ 4 h 12"/>
                <a:gd name="T72" fmla="*/ 16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4 h 12"/>
                <a:gd name="T84" fmla="*/ 12 w 16"/>
                <a:gd name="T85" fmla="*/ 4 h 12"/>
                <a:gd name="T86" fmla="*/ 8 w 16"/>
                <a:gd name="T87" fmla="*/ 4 h 12"/>
                <a:gd name="T88" fmla="*/ 8 w 16"/>
                <a:gd name="T89" fmla="*/ 4 h 1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2"/>
                <a:gd name="T137" fmla="*/ 16 w 16"/>
                <a:gd name="T138" fmla="*/ 12 h 1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2">
                  <a:moveTo>
                    <a:pt x="8" y="4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7" name="Freeform 252"/>
            <p:cNvSpPr>
              <a:spLocks/>
            </p:cNvSpPr>
            <p:nvPr/>
          </p:nvSpPr>
          <p:spPr bwMode="auto">
            <a:xfrm>
              <a:off x="4173" y="2489"/>
              <a:ext cx="15" cy="12"/>
            </a:xfrm>
            <a:custGeom>
              <a:avLst/>
              <a:gdLst>
                <a:gd name="T0" fmla="*/ 8 w 15"/>
                <a:gd name="T1" fmla="*/ 12 h 12"/>
                <a:gd name="T2" fmla="*/ 12 w 15"/>
                <a:gd name="T3" fmla="*/ 12 h 12"/>
                <a:gd name="T4" fmla="*/ 12 w 15"/>
                <a:gd name="T5" fmla="*/ 12 h 12"/>
                <a:gd name="T6" fmla="*/ 12 w 15"/>
                <a:gd name="T7" fmla="*/ 12 h 12"/>
                <a:gd name="T8" fmla="*/ 12 w 15"/>
                <a:gd name="T9" fmla="*/ 12 h 12"/>
                <a:gd name="T10" fmla="*/ 12 w 15"/>
                <a:gd name="T11" fmla="*/ 12 h 12"/>
                <a:gd name="T12" fmla="*/ 12 w 15"/>
                <a:gd name="T13" fmla="*/ 12 h 12"/>
                <a:gd name="T14" fmla="*/ 8 w 15"/>
                <a:gd name="T15" fmla="*/ 12 h 12"/>
                <a:gd name="T16" fmla="*/ 4 w 15"/>
                <a:gd name="T17" fmla="*/ 12 h 12"/>
                <a:gd name="T18" fmla="*/ 4 w 15"/>
                <a:gd name="T19" fmla="*/ 12 h 12"/>
                <a:gd name="T20" fmla="*/ 0 w 15"/>
                <a:gd name="T21" fmla="*/ 12 h 12"/>
                <a:gd name="T22" fmla="*/ 0 w 15"/>
                <a:gd name="T23" fmla="*/ 8 h 12"/>
                <a:gd name="T24" fmla="*/ 0 w 15"/>
                <a:gd name="T25" fmla="*/ 8 h 12"/>
                <a:gd name="T26" fmla="*/ 4 w 15"/>
                <a:gd name="T27" fmla="*/ 8 h 12"/>
                <a:gd name="T28" fmla="*/ 4 w 15"/>
                <a:gd name="T29" fmla="*/ 8 h 12"/>
                <a:gd name="T30" fmla="*/ 4 w 15"/>
                <a:gd name="T31" fmla="*/ 8 h 12"/>
                <a:gd name="T32" fmla="*/ 12 w 15"/>
                <a:gd name="T33" fmla="*/ 4 h 12"/>
                <a:gd name="T34" fmla="*/ 8 w 15"/>
                <a:gd name="T35" fmla="*/ 4 h 12"/>
                <a:gd name="T36" fmla="*/ 8 w 15"/>
                <a:gd name="T37" fmla="*/ 4 h 12"/>
                <a:gd name="T38" fmla="*/ 8 w 15"/>
                <a:gd name="T39" fmla="*/ 0 h 12"/>
                <a:gd name="T40" fmla="*/ 8 w 15"/>
                <a:gd name="T41" fmla="*/ 0 h 12"/>
                <a:gd name="T42" fmla="*/ 8 w 15"/>
                <a:gd name="T43" fmla="*/ 0 h 12"/>
                <a:gd name="T44" fmla="*/ 8 w 15"/>
                <a:gd name="T45" fmla="*/ 0 h 12"/>
                <a:gd name="T46" fmla="*/ 8 w 15"/>
                <a:gd name="T47" fmla="*/ 0 h 12"/>
                <a:gd name="T48" fmla="*/ 15 w 15"/>
                <a:gd name="T49" fmla="*/ 4 h 12"/>
                <a:gd name="T50" fmla="*/ 15 w 15"/>
                <a:gd name="T51" fmla="*/ 4 h 12"/>
                <a:gd name="T52" fmla="*/ 15 w 15"/>
                <a:gd name="T53" fmla="*/ 4 h 12"/>
                <a:gd name="T54" fmla="*/ 15 w 15"/>
                <a:gd name="T55" fmla="*/ 4 h 12"/>
                <a:gd name="T56" fmla="*/ 15 w 15"/>
                <a:gd name="T57" fmla="*/ 4 h 12"/>
                <a:gd name="T58" fmla="*/ 15 w 15"/>
                <a:gd name="T59" fmla="*/ 4 h 12"/>
                <a:gd name="T60" fmla="*/ 15 w 15"/>
                <a:gd name="T61" fmla="*/ 4 h 12"/>
                <a:gd name="T62" fmla="*/ 12 w 15"/>
                <a:gd name="T63" fmla="*/ 4 h 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5"/>
                <a:gd name="T97" fmla="*/ 0 h 12"/>
                <a:gd name="T98" fmla="*/ 15 w 15"/>
                <a:gd name="T99" fmla="*/ 12 h 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5" h="12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8" name="Freeform 253"/>
            <p:cNvSpPr>
              <a:spLocks/>
            </p:cNvSpPr>
            <p:nvPr/>
          </p:nvSpPr>
          <p:spPr bwMode="auto">
            <a:xfrm>
              <a:off x="4283" y="2485"/>
              <a:ext cx="20" cy="20"/>
            </a:xfrm>
            <a:custGeom>
              <a:avLst/>
              <a:gdLst>
                <a:gd name="T0" fmla="*/ 8 w 20"/>
                <a:gd name="T1" fmla="*/ 8 h 20"/>
                <a:gd name="T2" fmla="*/ 8 w 20"/>
                <a:gd name="T3" fmla="*/ 8 h 20"/>
                <a:gd name="T4" fmla="*/ 12 w 20"/>
                <a:gd name="T5" fmla="*/ 8 h 20"/>
                <a:gd name="T6" fmla="*/ 12 w 20"/>
                <a:gd name="T7" fmla="*/ 8 h 20"/>
                <a:gd name="T8" fmla="*/ 12 w 20"/>
                <a:gd name="T9" fmla="*/ 8 h 20"/>
                <a:gd name="T10" fmla="*/ 16 w 20"/>
                <a:gd name="T11" fmla="*/ 12 h 20"/>
                <a:gd name="T12" fmla="*/ 16 w 20"/>
                <a:gd name="T13" fmla="*/ 16 h 20"/>
                <a:gd name="T14" fmla="*/ 16 w 20"/>
                <a:gd name="T15" fmla="*/ 16 h 20"/>
                <a:gd name="T16" fmla="*/ 12 w 20"/>
                <a:gd name="T17" fmla="*/ 20 h 20"/>
                <a:gd name="T18" fmla="*/ 4 w 20"/>
                <a:gd name="T19" fmla="*/ 20 h 20"/>
                <a:gd name="T20" fmla="*/ 4 w 20"/>
                <a:gd name="T21" fmla="*/ 20 h 20"/>
                <a:gd name="T22" fmla="*/ 0 w 20"/>
                <a:gd name="T23" fmla="*/ 16 h 20"/>
                <a:gd name="T24" fmla="*/ 0 w 20"/>
                <a:gd name="T25" fmla="*/ 16 h 20"/>
                <a:gd name="T26" fmla="*/ 0 w 20"/>
                <a:gd name="T27" fmla="*/ 16 h 20"/>
                <a:gd name="T28" fmla="*/ 0 w 20"/>
                <a:gd name="T29" fmla="*/ 12 h 20"/>
                <a:gd name="T30" fmla="*/ 4 w 20"/>
                <a:gd name="T31" fmla="*/ 12 h 20"/>
                <a:gd name="T32" fmla="*/ 4 w 20"/>
                <a:gd name="T33" fmla="*/ 12 h 20"/>
                <a:gd name="T34" fmla="*/ 4 w 20"/>
                <a:gd name="T35" fmla="*/ 16 h 20"/>
                <a:gd name="T36" fmla="*/ 8 w 20"/>
                <a:gd name="T37" fmla="*/ 16 h 20"/>
                <a:gd name="T38" fmla="*/ 8 w 20"/>
                <a:gd name="T39" fmla="*/ 16 h 20"/>
                <a:gd name="T40" fmla="*/ 8 w 20"/>
                <a:gd name="T41" fmla="*/ 16 h 20"/>
                <a:gd name="T42" fmla="*/ 12 w 20"/>
                <a:gd name="T43" fmla="*/ 12 h 20"/>
                <a:gd name="T44" fmla="*/ 12 w 20"/>
                <a:gd name="T45" fmla="*/ 12 h 20"/>
                <a:gd name="T46" fmla="*/ 12 w 20"/>
                <a:gd name="T47" fmla="*/ 12 h 20"/>
                <a:gd name="T48" fmla="*/ 12 w 20"/>
                <a:gd name="T49" fmla="*/ 12 h 20"/>
                <a:gd name="T50" fmla="*/ 12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2 h 20"/>
                <a:gd name="T58" fmla="*/ 4 w 20"/>
                <a:gd name="T59" fmla="*/ 8 h 20"/>
                <a:gd name="T60" fmla="*/ 4 w 20"/>
                <a:gd name="T61" fmla="*/ 8 h 20"/>
                <a:gd name="T62" fmla="*/ 8 w 20"/>
                <a:gd name="T63" fmla="*/ 0 h 20"/>
                <a:gd name="T64" fmla="*/ 8 w 20"/>
                <a:gd name="T65" fmla="*/ 0 h 20"/>
                <a:gd name="T66" fmla="*/ 8 w 20"/>
                <a:gd name="T67" fmla="*/ 0 h 20"/>
                <a:gd name="T68" fmla="*/ 12 w 20"/>
                <a:gd name="T69" fmla="*/ 0 h 20"/>
                <a:gd name="T70" fmla="*/ 20 w 20"/>
                <a:gd name="T71" fmla="*/ 4 h 20"/>
                <a:gd name="T72" fmla="*/ 20 w 20"/>
                <a:gd name="T73" fmla="*/ 4 h 20"/>
                <a:gd name="T74" fmla="*/ 20 w 20"/>
                <a:gd name="T75" fmla="*/ 4 h 20"/>
                <a:gd name="T76" fmla="*/ 20 w 20"/>
                <a:gd name="T77" fmla="*/ 4 h 20"/>
                <a:gd name="T78" fmla="*/ 20 w 20"/>
                <a:gd name="T79" fmla="*/ 4 h 20"/>
                <a:gd name="T80" fmla="*/ 20 w 20"/>
                <a:gd name="T81" fmla="*/ 8 h 20"/>
                <a:gd name="T82" fmla="*/ 20 w 20"/>
                <a:gd name="T83" fmla="*/ 8 h 20"/>
                <a:gd name="T84" fmla="*/ 12 w 20"/>
                <a:gd name="T85" fmla="*/ 4 h 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20"/>
                <a:gd name="T131" fmla="*/ 20 w 20"/>
                <a:gd name="T132" fmla="*/ 20 h 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20"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12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19" name="Freeform 254"/>
            <p:cNvSpPr>
              <a:spLocks/>
            </p:cNvSpPr>
            <p:nvPr/>
          </p:nvSpPr>
          <p:spPr bwMode="auto">
            <a:xfrm>
              <a:off x="4259" y="2505"/>
              <a:ext cx="20" cy="11"/>
            </a:xfrm>
            <a:custGeom>
              <a:avLst/>
              <a:gdLst>
                <a:gd name="T0" fmla="*/ 12 w 20"/>
                <a:gd name="T1" fmla="*/ 7 h 11"/>
                <a:gd name="T2" fmla="*/ 12 w 20"/>
                <a:gd name="T3" fmla="*/ 7 h 11"/>
                <a:gd name="T4" fmla="*/ 12 w 20"/>
                <a:gd name="T5" fmla="*/ 7 h 11"/>
                <a:gd name="T6" fmla="*/ 12 w 20"/>
                <a:gd name="T7" fmla="*/ 7 h 11"/>
                <a:gd name="T8" fmla="*/ 8 w 20"/>
                <a:gd name="T9" fmla="*/ 11 h 11"/>
                <a:gd name="T10" fmla="*/ 8 w 20"/>
                <a:gd name="T11" fmla="*/ 11 h 11"/>
                <a:gd name="T12" fmla="*/ 8 w 20"/>
                <a:gd name="T13" fmla="*/ 11 h 11"/>
                <a:gd name="T14" fmla="*/ 4 w 20"/>
                <a:gd name="T15" fmla="*/ 11 h 11"/>
                <a:gd name="T16" fmla="*/ 4 w 20"/>
                <a:gd name="T17" fmla="*/ 11 h 11"/>
                <a:gd name="T18" fmla="*/ 4 w 20"/>
                <a:gd name="T19" fmla="*/ 11 h 11"/>
                <a:gd name="T20" fmla="*/ 0 w 20"/>
                <a:gd name="T21" fmla="*/ 7 h 11"/>
                <a:gd name="T22" fmla="*/ 0 w 20"/>
                <a:gd name="T23" fmla="*/ 7 h 11"/>
                <a:gd name="T24" fmla="*/ 0 w 20"/>
                <a:gd name="T25" fmla="*/ 7 h 11"/>
                <a:gd name="T26" fmla="*/ 0 w 20"/>
                <a:gd name="T27" fmla="*/ 7 h 11"/>
                <a:gd name="T28" fmla="*/ 0 w 20"/>
                <a:gd name="T29" fmla="*/ 3 h 11"/>
                <a:gd name="T30" fmla="*/ 0 w 20"/>
                <a:gd name="T31" fmla="*/ 3 h 11"/>
                <a:gd name="T32" fmla="*/ 4 w 20"/>
                <a:gd name="T33" fmla="*/ 3 h 11"/>
                <a:gd name="T34" fmla="*/ 4 w 20"/>
                <a:gd name="T35" fmla="*/ 3 h 11"/>
                <a:gd name="T36" fmla="*/ 4 w 20"/>
                <a:gd name="T37" fmla="*/ 3 h 11"/>
                <a:gd name="T38" fmla="*/ 4 w 20"/>
                <a:gd name="T39" fmla="*/ 3 h 11"/>
                <a:gd name="T40" fmla="*/ 4 w 20"/>
                <a:gd name="T41" fmla="*/ 7 h 11"/>
                <a:gd name="T42" fmla="*/ 4 w 20"/>
                <a:gd name="T43" fmla="*/ 7 h 11"/>
                <a:gd name="T44" fmla="*/ 4 w 20"/>
                <a:gd name="T45" fmla="*/ 7 h 11"/>
                <a:gd name="T46" fmla="*/ 4 w 20"/>
                <a:gd name="T47" fmla="*/ 7 h 11"/>
                <a:gd name="T48" fmla="*/ 4 w 20"/>
                <a:gd name="T49" fmla="*/ 7 h 11"/>
                <a:gd name="T50" fmla="*/ 8 w 20"/>
                <a:gd name="T51" fmla="*/ 7 h 11"/>
                <a:gd name="T52" fmla="*/ 8 w 20"/>
                <a:gd name="T53" fmla="*/ 7 h 11"/>
                <a:gd name="T54" fmla="*/ 12 w 20"/>
                <a:gd name="T55" fmla="*/ 0 h 11"/>
                <a:gd name="T56" fmla="*/ 12 w 20"/>
                <a:gd name="T57" fmla="*/ 0 h 11"/>
                <a:gd name="T58" fmla="*/ 12 w 20"/>
                <a:gd name="T59" fmla="*/ 0 h 11"/>
                <a:gd name="T60" fmla="*/ 8 w 20"/>
                <a:gd name="T61" fmla="*/ 0 h 11"/>
                <a:gd name="T62" fmla="*/ 8 w 20"/>
                <a:gd name="T63" fmla="*/ 0 h 11"/>
                <a:gd name="T64" fmla="*/ 8 w 20"/>
                <a:gd name="T65" fmla="*/ 0 h 11"/>
                <a:gd name="T66" fmla="*/ 12 w 20"/>
                <a:gd name="T67" fmla="*/ 0 h 11"/>
                <a:gd name="T68" fmla="*/ 12 w 20"/>
                <a:gd name="T69" fmla="*/ 0 h 11"/>
                <a:gd name="T70" fmla="*/ 16 w 20"/>
                <a:gd name="T71" fmla="*/ 0 h 11"/>
                <a:gd name="T72" fmla="*/ 16 w 20"/>
                <a:gd name="T73" fmla="*/ 0 h 11"/>
                <a:gd name="T74" fmla="*/ 20 w 20"/>
                <a:gd name="T75" fmla="*/ 0 h 11"/>
                <a:gd name="T76" fmla="*/ 20 w 20"/>
                <a:gd name="T77" fmla="*/ 3 h 11"/>
                <a:gd name="T78" fmla="*/ 20 w 20"/>
                <a:gd name="T79" fmla="*/ 3 h 11"/>
                <a:gd name="T80" fmla="*/ 16 w 20"/>
                <a:gd name="T81" fmla="*/ 3 h 11"/>
                <a:gd name="T82" fmla="*/ 16 w 20"/>
                <a:gd name="T83" fmla="*/ 3 h 11"/>
                <a:gd name="T84" fmla="*/ 16 w 20"/>
                <a:gd name="T85" fmla="*/ 3 h 1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11"/>
                <a:gd name="T131" fmla="*/ 20 w 20"/>
                <a:gd name="T132" fmla="*/ 11 h 1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11">
                  <a:moveTo>
                    <a:pt x="16" y="3"/>
                  </a:moveTo>
                  <a:lnTo>
                    <a:pt x="12" y="7"/>
                  </a:lnTo>
                  <a:lnTo>
                    <a:pt x="8" y="11"/>
                  </a:lnTo>
                  <a:lnTo>
                    <a:pt x="4" y="11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3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0" y="3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0" name="Freeform 255"/>
            <p:cNvSpPr>
              <a:spLocks/>
            </p:cNvSpPr>
            <p:nvPr/>
          </p:nvSpPr>
          <p:spPr bwMode="auto">
            <a:xfrm>
              <a:off x="4275" y="2505"/>
              <a:ext cx="16" cy="15"/>
            </a:xfrm>
            <a:custGeom>
              <a:avLst/>
              <a:gdLst>
                <a:gd name="T0" fmla="*/ 4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6 w 16"/>
                <a:gd name="T11" fmla="*/ 3 h 15"/>
                <a:gd name="T12" fmla="*/ 16 w 16"/>
                <a:gd name="T13" fmla="*/ 3 h 15"/>
                <a:gd name="T14" fmla="*/ 16 w 16"/>
                <a:gd name="T15" fmla="*/ 3 h 15"/>
                <a:gd name="T16" fmla="*/ 16 w 16"/>
                <a:gd name="T17" fmla="*/ 7 h 15"/>
                <a:gd name="T18" fmla="*/ 16 w 16"/>
                <a:gd name="T19" fmla="*/ 7 h 15"/>
                <a:gd name="T20" fmla="*/ 16 w 16"/>
                <a:gd name="T21" fmla="*/ 7 h 15"/>
                <a:gd name="T22" fmla="*/ 8 w 16"/>
                <a:gd name="T23" fmla="*/ 7 h 15"/>
                <a:gd name="T24" fmla="*/ 12 w 16"/>
                <a:gd name="T25" fmla="*/ 11 h 15"/>
                <a:gd name="T26" fmla="*/ 12 w 16"/>
                <a:gd name="T27" fmla="*/ 11 h 15"/>
                <a:gd name="T28" fmla="*/ 12 w 16"/>
                <a:gd name="T29" fmla="*/ 11 h 15"/>
                <a:gd name="T30" fmla="*/ 12 w 16"/>
                <a:gd name="T31" fmla="*/ 11 h 15"/>
                <a:gd name="T32" fmla="*/ 12 w 16"/>
                <a:gd name="T33" fmla="*/ 15 h 15"/>
                <a:gd name="T34" fmla="*/ 12 w 16"/>
                <a:gd name="T35" fmla="*/ 15 h 15"/>
                <a:gd name="T36" fmla="*/ 8 w 16"/>
                <a:gd name="T37" fmla="*/ 15 h 15"/>
                <a:gd name="T38" fmla="*/ 8 w 16"/>
                <a:gd name="T39" fmla="*/ 15 h 15"/>
                <a:gd name="T40" fmla="*/ 8 w 16"/>
                <a:gd name="T41" fmla="*/ 11 h 15"/>
                <a:gd name="T42" fmla="*/ 8 w 16"/>
                <a:gd name="T43" fmla="*/ 11 h 15"/>
                <a:gd name="T44" fmla="*/ 8 w 16"/>
                <a:gd name="T45" fmla="*/ 11 h 15"/>
                <a:gd name="T46" fmla="*/ 4 w 16"/>
                <a:gd name="T47" fmla="*/ 7 h 15"/>
                <a:gd name="T48" fmla="*/ 4 w 16"/>
                <a:gd name="T49" fmla="*/ 11 h 15"/>
                <a:gd name="T50" fmla="*/ 4 w 16"/>
                <a:gd name="T51" fmla="*/ 11 h 15"/>
                <a:gd name="T52" fmla="*/ 4 w 16"/>
                <a:gd name="T53" fmla="*/ 11 h 15"/>
                <a:gd name="T54" fmla="*/ 4 w 16"/>
                <a:gd name="T55" fmla="*/ 11 h 15"/>
                <a:gd name="T56" fmla="*/ 4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0 w 16"/>
                <a:gd name="T65" fmla="*/ 11 h 15"/>
                <a:gd name="T66" fmla="*/ 0 w 16"/>
                <a:gd name="T67" fmla="*/ 11 h 15"/>
                <a:gd name="T68" fmla="*/ 0 w 16"/>
                <a:gd name="T69" fmla="*/ 11 h 15"/>
                <a:gd name="T70" fmla="*/ 4 w 16"/>
                <a:gd name="T71" fmla="*/ 3 h 15"/>
                <a:gd name="T72" fmla="*/ 4 w 16"/>
                <a:gd name="T73" fmla="*/ 3 h 15"/>
                <a:gd name="T74" fmla="*/ 4 w 16"/>
                <a:gd name="T75" fmla="*/ 3 h 15"/>
                <a:gd name="T76" fmla="*/ 4 w 16"/>
                <a:gd name="T77" fmla="*/ 0 h 15"/>
                <a:gd name="T78" fmla="*/ 4 w 16"/>
                <a:gd name="T79" fmla="*/ 0 h 15"/>
                <a:gd name="T80" fmla="*/ 8 w 16"/>
                <a:gd name="T81" fmla="*/ 3 h 15"/>
                <a:gd name="T82" fmla="*/ 12 w 16"/>
                <a:gd name="T83" fmla="*/ 3 h 15"/>
                <a:gd name="T84" fmla="*/ 8 w 16"/>
                <a:gd name="T85" fmla="*/ 3 h 15"/>
                <a:gd name="T86" fmla="*/ 8 w 16"/>
                <a:gd name="T87" fmla="*/ 3 h 15"/>
                <a:gd name="T88" fmla="*/ 8 w 16"/>
                <a:gd name="T89" fmla="*/ 3 h 1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5"/>
                <a:gd name="T137" fmla="*/ 16 w 16"/>
                <a:gd name="T138" fmla="*/ 15 h 1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5">
                  <a:moveTo>
                    <a:pt x="8" y="3"/>
                  </a:moveTo>
                  <a:lnTo>
                    <a:pt x="4" y="7"/>
                  </a:lnTo>
                  <a:lnTo>
                    <a:pt x="12" y="3"/>
                  </a:lnTo>
                  <a:lnTo>
                    <a:pt x="16" y="3"/>
                  </a:lnTo>
                  <a:lnTo>
                    <a:pt x="16" y="7"/>
                  </a:lnTo>
                  <a:lnTo>
                    <a:pt x="8" y="7"/>
                  </a:lnTo>
                  <a:lnTo>
                    <a:pt x="12" y="11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12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1" name="Freeform 256"/>
            <p:cNvSpPr>
              <a:spLocks/>
            </p:cNvSpPr>
            <p:nvPr/>
          </p:nvSpPr>
          <p:spPr bwMode="auto">
            <a:xfrm>
              <a:off x="4287" y="2508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12 w 16"/>
                <a:gd name="T3" fmla="*/ 12 h 16"/>
                <a:gd name="T4" fmla="*/ 12 w 16"/>
                <a:gd name="T5" fmla="*/ 12 h 16"/>
                <a:gd name="T6" fmla="*/ 12 w 16"/>
                <a:gd name="T7" fmla="*/ 12 h 16"/>
                <a:gd name="T8" fmla="*/ 16 w 16"/>
                <a:gd name="T9" fmla="*/ 12 h 16"/>
                <a:gd name="T10" fmla="*/ 16 w 16"/>
                <a:gd name="T11" fmla="*/ 12 h 16"/>
                <a:gd name="T12" fmla="*/ 16 w 16"/>
                <a:gd name="T13" fmla="*/ 12 h 16"/>
                <a:gd name="T14" fmla="*/ 16 w 16"/>
                <a:gd name="T15" fmla="*/ 12 h 16"/>
                <a:gd name="T16" fmla="*/ 16 w 16"/>
                <a:gd name="T17" fmla="*/ 12 h 16"/>
                <a:gd name="T18" fmla="*/ 16 w 16"/>
                <a:gd name="T19" fmla="*/ 16 h 16"/>
                <a:gd name="T20" fmla="*/ 16 w 16"/>
                <a:gd name="T21" fmla="*/ 16 h 16"/>
                <a:gd name="T22" fmla="*/ 12 w 16"/>
                <a:gd name="T23" fmla="*/ 16 h 16"/>
                <a:gd name="T24" fmla="*/ 12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4 w 16"/>
                <a:gd name="T39" fmla="*/ 12 h 16"/>
                <a:gd name="T40" fmla="*/ 4 w 16"/>
                <a:gd name="T41" fmla="*/ 12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8 w 16"/>
                <a:gd name="T49" fmla="*/ 4 h 16"/>
                <a:gd name="T50" fmla="*/ 8 w 16"/>
                <a:gd name="T51" fmla="*/ 0 h 16"/>
                <a:gd name="T52" fmla="*/ 8 w 16"/>
                <a:gd name="T53" fmla="*/ 0 h 16"/>
                <a:gd name="T54" fmla="*/ 8 w 16"/>
                <a:gd name="T55" fmla="*/ 0 h 16"/>
                <a:gd name="T56" fmla="*/ 8 w 16"/>
                <a:gd name="T57" fmla="*/ 0 h 16"/>
                <a:gd name="T58" fmla="*/ 12 w 16"/>
                <a:gd name="T59" fmla="*/ 4 h 16"/>
                <a:gd name="T60" fmla="*/ 12 w 16"/>
                <a:gd name="T61" fmla="*/ 4 h 16"/>
                <a:gd name="T62" fmla="*/ 16 w 16"/>
                <a:gd name="T63" fmla="*/ 4 h 16"/>
                <a:gd name="T64" fmla="*/ 16 w 16"/>
                <a:gd name="T65" fmla="*/ 4 h 16"/>
                <a:gd name="T66" fmla="*/ 16 w 16"/>
                <a:gd name="T67" fmla="*/ 4 h 16"/>
                <a:gd name="T68" fmla="*/ 12 w 16"/>
                <a:gd name="T69" fmla="*/ 4 h 16"/>
                <a:gd name="T70" fmla="*/ 12 w 16"/>
                <a:gd name="T71" fmla="*/ 4 h 16"/>
                <a:gd name="T72" fmla="*/ 12 w 16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"/>
                <a:gd name="T112" fmla="*/ 0 h 16"/>
                <a:gd name="T113" fmla="*/ 16 w 16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" h="16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2" name="Freeform 257"/>
            <p:cNvSpPr>
              <a:spLocks noEditPoints="1"/>
            </p:cNvSpPr>
            <p:nvPr/>
          </p:nvSpPr>
          <p:spPr bwMode="auto">
            <a:xfrm>
              <a:off x="4393" y="2512"/>
              <a:ext cx="24" cy="16"/>
            </a:xfrm>
            <a:custGeom>
              <a:avLst/>
              <a:gdLst>
                <a:gd name="T0" fmla="*/ 8 w 24"/>
                <a:gd name="T1" fmla="*/ 8 h 16"/>
                <a:gd name="T2" fmla="*/ 12 w 24"/>
                <a:gd name="T3" fmla="*/ 8 h 16"/>
                <a:gd name="T4" fmla="*/ 12 w 24"/>
                <a:gd name="T5" fmla="*/ 8 h 16"/>
                <a:gd name="T6" fmla="*/ 12 w 24"/>
                <a:gd name="T7" fmla="*/ 8 h 16"/>
                <a:gd name="T8" fmla="*/ 16 w 24"/>
                <a:gd name="T9" fmla="*/ 8 h 16"/>
                <a:gd name="T10" fmla="*/ 16 w 24"/>
                <a:gd name="T11" fmla="*/ 12 h 16"/>
                <a:gd name="T12" fmla="*/ 16 w 24"/>
                <a:gd name="T13" fmla="*/ 12 h 16"/>
                <a:gd name="T14" fmla="*/ 12 w 24"/>
                <a:gd name="T15" fmla="*/ 16 h 16"/>
                <a:gd name="T16" fmla="*/ 8 w 24"/>
                <a:gd name="T17" fmla="*/ 16 h 16"/>
                <a:gd name="T18" fmla="*/ 8 w 24"/>
                <a:gd name="T19" fmla="*/ 16 h 16"/>
                <a:gd name="T20" fmla="*/ 0 w 24"/>
                <a:gd name="T21" fmla="*/ 12 h 16"/>
                <a:gd name="T22" fmla="*/ 4 w 24"/>
                <a:gd name="T23" fmla="*/ 8 h 16"/>
                <a:gd name="T24" fmla="*/ 4 w 24"/>
                <a:gd name="T25" fmla="*/ 8 h 16"/>
                <a:gd name="T26" fmla="*/ 8 w 24"/>
                <a:gd name="T27" fmla="*/ 0 h 16"/>
                <a:gd name="T28" fmla="*/ 20 w 24"/>
                <a:gd name="T29" fmla="*/ 0 h 16"/>
                <a:gd name="T30" fmla="*/ 20 w 24"/>
                <a:gd name="T31" fmla="*/ 0 h 16"/>
                <a:gd name="T32" fmla="*/ 24 w 24"/>
                <a:gd name="T33" fmla="*/ 0 h 16"/>
                <a:gd name="T34" fmla="*/ 24 w 24"/>
                <a:gd name="T35" fmla="*/ 4 h 16"/>
                <a:gd name="T36" fmla="*/ 24 w 24"/>
                <a:gd name="T37" fmla="*/ 4 h 16"/>
                <a:gd name="T38" fmla="*/ 20 w 24"/>
                <a:gd name="T39" fmla="*/ 4 h 16"/>
                <a:gd name="T40" fmla="*/ 16 w 24"/>
                <a:gd name="T41" fmla="*/ 4 h 16"/>
                <a:gd name="T42" fmla="*/ 16 w 24"/>
                <a:gd name="T43" fmla="*/ 4 h 16"/>
                <a:gd name="T44" fmla="*/ 12 w 24"/>
                <a:gd name="T45" fmla="*/ 4 h 16"/>
                <a:gd name="T46" fmla="*/ 8 w 24"/>
                <a:gd name="T47" fmla="*/ 8 h 16"/>
                <a:gd name="T48" fmla="*/ 12 w 24"/>
                <a:gd name="T49" fmla="*/ 12 h 16"/>
                <a:gd name="T50" fmla="*/ 12 w 24"/>
                <a:gd name="T51" fmla="*/ 12 h 16"/>
                <a:gd name="T52" fmla="*/ 12 w 24"/>
                <a:gd name="T53" fmla="*/ 12 h 16"/>
                <a:gd name="T54" fmla="*/ 12 w 24"/>
                <a:gd name="T55" fmla="*/ 8 h 16"/>
                <a:gd name="T56" fmla="*/ 8 w 24"/>
                <a:gd name="T57" fmla="*/ 8 h 16"/>
                <a:gd name="T58" fmla="*/ 8 w 24"/>
                <a:gd name="T59" fmla="*/ 8 h 16"/>
                <a:gd name="T60" fmla="*/ 8 w 24"/>
                <a:gd name="T61" fmla="*/ 12 h 16"/>
                <a:gd name="T62" fmla="*/ 8 w 24"/>
                <a:gd name="T63" fmla="*/ 12 h 16"/>
                <a:gd name="T64" fmla="*/ 8 w 24"/>
                <a:gd name="T65" fmla="*/ 12 h 16"/>
                <a:gd name="T66" fmla="*/ 8 w 24"/>
                <a:gd name="T67" fmla="*/ 16 h 16"/>
                <a:gd name="T68" fmla="*/ 12 w 24"/>
                <a:gd name="T69" fmla="*/ 16 h 16"/>
                <a:gd name="T70" fmla="*/ 12 w 24"/>
                <a:gd name="T71" fmla="*/ 16 h 16"/>
                <a:gd name="T72" fmla="*/ 12 w 24"/>
                <a:gd name="T73" fmla="*/ 12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"/>
                <a:gd name="T112" fmla="*/ 0 h 16"/>
                <a:gd name="T113" fmla="*/ 24 w 24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" h="16">
                  <a:moveTo>
                    <a:pt x="8" y="8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close/>
                  <a:moveTo>
                    <a:pt x="12" y="12"/>
                  </a:moveTo>
                  <a:lnTo>
                    <a:pt x="12" y="12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3" name="Freeform 258"/>
            <p:cNvSpPr>
              <a:spLocks/>
            </p:cNvSpPr>
            <p:nvPr/>
          </p:nvSpPr>
          <p:spPr bwMode="auto">
            <a:xfrm>
              <a:off x="4370" y="2528"/>
              <a:ext cx="19" cy="16"/>
            </a:xfrm>
            <a:custGeom>
              <a:avLst/>
              <a:gdLst>
                <a:gd name="T0" fmla="*/ 15 w 19"/>
                <a:gd name="T1" fmla="*/ 4 h 16"/>
                <a:gd name="T2" fmla="*/ 15 w 19"/>
                <a:gd name="T3" fmla="*/ 4 h 16"/>
                <a:gd name="T4" fmla="*/ 15 w 19"/>
                <a:gd name="T5" fmla="*/ 4 h 16"/>
                <a:gd name="T6" fmla="*/ 19 w 19"/>
                <a:gd name="T7" fmla="*/ 4 h 16"/>
                <a:gd name="T8" fmla="*/ 19 w 19"/>
                <a:gd name="T9" fmla="*/ 4 h 16"/>
                <a:gd name="T10" fmla="*/ 19 w 19"/>
                <a:gd name="T11" fmla="*/ 4 h 16"/>
                <a:gd name="T12" fmla="*/ 19 w 19"/>
                <a:gd name="T13" fmla="*/ 8 h 16"/>
                <a:gd name="T14" fmla="*/ 15 w 19"/>
                <a:gd name="T15" fmla="*/ 4 h 16"/>
                <a:gd name="T16" fmla="*/ 11 w 19"/>
                <a:gd name="T17" fmla="*/ 12 h 16"/>
                <a:gd name="T18" fmla="*/ 11 w 19"/>
                <a:gd name="T19" fmla="*/ 12 h 16"/>
                <a:gd name="T20" fmla="*/ 15 w 19"/>
                <a:gd name="T21" fmla="*/ 16 h 16"/>
                <a:gd name="T22" fmla="*/ 15 w 19"/>
                <a:gd name="T23" fmla="*/ 16 h 16"/>
                <a:gd name="T24" fmla="*/ 11 w 19"/>
                <a:gd name="T25" fmla="*/ 16 h 16"/>
                <a:gd name="T26" fmla="*/ 8 w 19"/>
                <a:gd name="T27" fmla="*/ 16 h 16"/>
                <a:gd name="T28" fmla="*/ 8 w 19"/>
                <a:gd name="T29" fmla="*/ 16 h 16"/>
                <a:gd name="T30" fmla="*/ 8 w 19"/>
                <a:gd name="T31" fmla="*/ 12 h 16"/>
                <a:gd name="T32" fmla="*/ 8 w 19"/>
                <a:gd name="T33" fmla="*/ 12 h 16"/>
                <a:gd name="T34" fmla="*/ 11 w 19"/>
                <a:gd name="T35" fmla="*/ 12 h 16"/>
                <a:gd name="T36" fmla="*/ 11 w 19"/>
                <a:gd name="T37" fmla="*/ 12 h 16"/>
                <a:gd name="T38" fmla="*/ 8 w 19"/>
                <a:gd name="T39" fmla="*/ 12 h 16"/>
                <a:gd name="T40" fmla="*/ 8 w 19"/>
                <a:gd name="T41" fmla="*/ 12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8 h 16"/>
                <a:gd name="T48" fmla="*/ 8 w 19"/>
                <a:gd name="T49" fmla="*/ 4 h 16"/>
                <a:gd name="T50" fmla="*/ 4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4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12 h 16"/>
                <a:gd name="T68" fmla="*/ 0 w 19"/>
                <a:gd name="T69" fmla="*/ 12 h 16"/>
                <a:gd name="T70" fmla="*/ 4 w 19"/>
                <a:gd name="T71" fmla="*/ 4 h 16"/>
                <a:gd name="T72" fmla="*/ 4 w 19"/>
                <a:gd name="T73" fmla="*/ 4 h 16"/>
                <a:gd name="T74" fmla="*/ 4 w 19"/>
                <a:gd name="T75" fmla="*/ 4 h 16"/>
                <a:gd name="T76" fmla="*/ 4 w 19"/>
                <a:gd name="T77" fmla="*/ 0 h 16"/>
                <a:gd name="T78" fmla="*/ 4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8 h 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9"/>
                <a:gd name="T133" fmla="*/ 0 h 16"/>
                <a:gd name="T134" fmla="*/ 19 w 19"/>
                <a:gd name="T135" fmla="*/ 16 h 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9" h="16">
                  <a:moveTo>
                    <a:pt x="8" y="8"/>
                  </a:move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4" name="Freeform 259"/>
            <p:cNvSpPr>
              <a:spLocks/>
            </p:cNvSpPr>
            <p:nvPr/>
          </p:nvSpPr>
          <p:spPr bwMode="auto">
            <a:xfrm>
              <a:off x="4385" y="2532"/>
              <a:ext cx="20" cy="16"/>
            </a:xfrm>
            <a:custGeom>
              <a:avLst/>
              <a:gdLst>
                <a:gd name="T0" fmla="*/ 8 w 20"/>
                <a:gd name="T1" fmla="*/ 4 h 16"/>
                <a:gd name="T2" fmla="*/ 8 w 20"/>
                <a:gd name="T3" fmla="*/ 0 h 16"/>
                <a:gd name="T4" fmla="*/ 8 w 20"/>
                <a:gd name="T5" fmla="*/ 0 h 16"/>
                <a:gd name="T6" fmla="*/ 8 w 20"/>
                <a:gd name="T7" fmla="*/ 0 h 16"/>
                <a:gd name="T8" fmla="*/ 8 w 20"/>
                <a:gd name="T9" fmla="*/ 0 h 16"/>
                <a:gd name="T10" fmla="*/ 4 w 20"/>
                <a:gd name="T11" fmla="*/ 0 h 16"/>
                <a:gd name="T12" fmla="*/ 4 w 20"/>
                <a:gd name="T13" fmla="*/ 0 h 16"/>
                <a:gd name="T14" fmla="*/ 4 w 20"/>
                <a:gd name="T15" fmla="*/ 0 h 16"/>
                <a:gd name="T16" fmla="*/ 4 w 20"/>
                <a:gd name="T17" fmla="*/ 4 h 16"/>
                <a:gd name="T18" fmla="*/ 4 w 20"/>
                <a:gd name="T19" fmla="*/ 4 h 16"/>
                <a:gd name="T20" fmla="*/ 4 w 20"/>
                <a:gd name="T21" fmla="*/ 4 h 16"/>
                <a:gd name="T22" fmla="*/ 0 w 20"/>
                <a:gd name="T23" fmla="*/ 12 h 16"/>
                <a:gd name="T24" fmla="*/ 0 w 20"/>
                <a:gd name="T25" fmla="*/ 12 h 16"/>
                <a:gd name="T26" fmla="*/ 0 w 20"/>
                <a:gd name="T27" fmla="*/ 12 h 16"/>
                <a:gd name="T28" fmla="*/ 0 w 20"/>
                <a:gd name="T29" fmla="*/ 12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4 w 20"/>
                <a:gd name="T41" fmla="*/ 12 h 16"/>
                <a:gd name="T42" fmla="*/ 4 w 20"/>
                <a:gd name="T43" fmla="*/ 12 h 16"/>
                <a:gd name="T44" fmla="*/ 4 w 20"/>
                <a:gd name="T45" fmla="*/ 12 h 16"/>
                <a:gd name="T46" fmla="*/ 4 w 20"/>
                <a:gd name="T47" fmla="*/ 12 h 16"/>
                <a:gd name="T48" fmla="*/ 4 w 20"/>
                <a:gd name="T49" fmla="*/ 12 h 16"/>
                <a:gd name="T50" fmla="*/ 4 w 20"/>
                <a:gd name="T51" fmla="*/ 12 h 16"/>
                <a:gd name="T52" fmla="*/ 4 w 20"/>
                <a:gd name="T53" fmla="*/ 12 h 16"/>
                <a:gd name="T54" fmla="*/ 8 w 20"/>
                <a:gd name="T55" fmla="*/ 4 h 16"/>
                <a:gd name="T56" fmla="*/ 8 w 20"/>
                <a:gd name="T57" fmla="*/ 16 h 16"/>
                <a:gd name="T58" fmla="*/ 8 w 20"/>
                <a:gd name="T59" fmla="*/ 16 h 16"/>
                <a:gd name="T60" fmla="*/ 8 w 20"/>
                <a:gd name="T61" fmla="*/ 16 h 16"/>
                <a:gd name="T62" fmla="*/ 8 w 20"/>
                <a:gd name="T63" fmla="*/ 16 h 16"/>
                <a:gd name="T64" fmla="*/ 12 w 20"/>
                <a:gd name="T65" fmla="*/ 16 h 16"/>
                <a:gd name="T66" fmla="*/ 12 w 20"/>
                <a:gd name="T67" fmla="*/ 16 h 16"/>
                <a:gd name="T68" fmla="*/ 12 w 20"/>
                <a:gd name="T69" fmla="*/ 16 h 16"/>
                <a:gd name="T70" fmla="*/ 12 w 20"/>
                <a:gd name="T71" fmla="*/ 16 h 16"/>
                <a:gd name="T72" fmla="*/ 16 w 20"/>
                <a:gd name="T73" fmla="*/ 4 h 16"/>
                <a:gd name="T74" fmla="*/ 16 w 20"/>
                <a:gd name="T75" fmla="*/ 4 h 16"/>
                <a:gd name="T76" fmla="*/ 16 w 20"/>
                <a:gd name="T77" fmla="*/ 4 h 16"/>
                <a:gd name="T78" fmla="*/ 16 w 20"/>
                <a:gd name="T79" fmla="*/ 4 h 16"/>
                <a:gd name="T80" fmla="*/ 20 w 20"/>
                <a:gd name="T81" fmla="*/ 4 h 16"/>
                <a:gd name="T82" fmla="*/ 20 w 20"/>
                <a:gd name="T83" fmla="*/ 4 h 16"/>
                <a:gd name="T84" fmla="*/ 20 w 20"/>
                <a:gd name="T85" fmla="*/ 4 h 16"/>
                <a:gd name="T86" fmla="*/ 16 w 20"/>
                <a:gd name="T87" fmla="*/ 4 h 16"/>
                <a:gd name="T88" fmla="*/ 16 w 20"/>
                <a:gd name="T89" fmla="*/ 4 h 16"/>
                <a:gd name="T90" fmla="*/ 16 w 20"/>
                <a:gd name="T91" fmla="*/ 4 h 16"/>
                <a:gd name="T92" fmla="*/ 12 w 20"/>
                <a:gd name="T93" fmla="*/ 4 h 16"/>
                <a:gd name="T94" fmla="*/ 12 w 20"/>
                <a:gd name="T95" fmla="*/ 4 h 16"/>
                <a:gd name="T96" fmla="*/ 12 w 20"/>
                <a:gd name="T97" fmla="*/ 4 h 16"/>
                <a:gd name="T98" fmla="*/ 12 w 20"/>
                <a:gd name="T99" fmla="*/ 4 h 16"/>
                <a:gd name="T100" fmla="*/ 12 w 20"/>
                <a:gd name="T101" fmla="*/ 4 h 16"/>
                <a:gd name="T102" fmla="*/ 12 w 20"/>
                <a:gd name="T103" fmla="*/ 4 h 16"/>
                <a:gd name="T104" fmla="*/ 12 w 20"/>
                <a:gd name="T105" fmla="*/ 12 h 16"/>
                <a:gd name="T106" fmla="*/ 8 w 20"/>
                <a:gd name="T107" fmla="*/ 4 h 1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0"/>
                <a:gd name="T163" fmla="*/ 0 h 16"/>
                <a:gd name="T164" fmla="*/ 20 w 20"/>
                <a:gd name="T165" fmla="*/ 16 h 1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0" h="16">
                  <a:moveTo>
                    <a:pt x="8" y="4"/>
                  </a:move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1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5" name="Freeform 260"/>
            <p:cNvSpPr>
              <a:spLocks noEditPoints="1"/>
            </p:cNvSpPr>
            <p:nvPr/>
          </p:nvSpPr>
          <p:spPr bwMode="auto">
            <a:xfrm>
              <a:off x="4401" y="2536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4 h 12"/>
                <a:gd name="T6" fmla="*/ 16 w 16"/>
                <a:gd name="T7" fmla="*/ 4 h 12"/>
                <a:gd name="T8" fmla="*/ 16 w 16"/>
                <a:gd name="T9" fmla="*/ 4 h 12"/>
                <a:gd name="T10" fmla="*/ 16 w 16"/>
                <a:gd name="T11" fmla="*/ 8 h 12"/>
                <a:gd name="T12" fmla="*/ 16 w 16"/>
                <a:gd name="T13" fmla="*/ 8 h 12"/>
                <a:gd name="T14" fmla="*/ 16 w 16"/>
                <a:gd name="T15" fmla="*/ 8 h 12"/>
                <a:gd name="T16" fmla="*/ 12 w 16"/>
                <a:gd name="T17" fmla="*/ 12 h 12"/>
                <a:gd name="T18" fmla="*/ 12 w 16"/>
                <a:gd name="T19" fmla="*/ 12 h 12"/>
                <a:gd name="T20" fmla="*/ 12 w 16"/>
                <a:gd name="T21" fmla="*/ 12 h 12"/>
                <a:gd name="T22" fmla="*/ 4 w 16"/>
                <a:gd name="T23" fmla="*/ 12 h 12"/>
                <a:gd name="T24" fmla="*/ 4 w 16"/>
                <a:gd name="T25" fmla="*/ 12 h 12"/>
                <a:gd name="T26" fmla="*/ 4 w 16"/>
                <a:gd name="T27" fmla="*/ 12 h 12"/>
                <a:gd name="T28" fmla="*/ 0 w 16"/>
                <a:gd name="T29" fmla="*/ 12 h 12"/>
                <a:gd name="T30" fmla="*/ 0 w 16"/>
                <a:gd name="T31" fmla="*/ 12 h 12"/>
                <a:gd name="T32" fmla="*/ 0 w 16"/>
                <a:gd name="T33" fmla="*/ 12 h 12"/>
                <a:gd name="T34" fmla="*/ 0 w 16"/>
                <a:gd name="T35" fmla="*/ 4 h 12"/>
                <a:gd name="T36" fmla="*/ 0 w 16"/>
                <a:gd name="T37" fmla="*/ 4 h 12"/>
                <a:gd name="T38" fmla="*/ 0 w 16"/>
                <a:gd name="T39" fmla="*/ 4 h 12"/>
                <a:gd name="T40" fmla="*/ 4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12 w 16"/>
                <a:gd name="T47" fmla="*/ 0 h 12"/>
                <a:gd name="T48" fmla="*/ 12 w 16"/>
                <a:gd name="T49" fmla="*/ 0 h 12"/>
                <a:gd name="T50" fmla="*/ 12 w 16"/>
                <a:gd name="T51" fmla="*/ 4 h 12"/>
                <a:gd name="T52" fmla="*/ 12 w 16"/>
                <a:gd name="T53" fmla="*/ 4 h 12"/>
                <a:gd name="T54" fmla="*/ 8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4 w 16"/>
                <a:gd name="T61" fmla="*/ 8 h 12"/>
                <a:gd name="T62" fmla="*/ 4 w 16"/>
                <a:gd name="T63" fmla="*/ 8 h 12"/>
                <a:gd name="T64" fmla="*/ 4 w 16"/>
                <a:gd name="T65" fmla="*/ 8 h 12"/>
                <a:gd name="T66" fmla="*/ 4 w 16"/>
                <a:gd name="T67" fmla="*/ 8 h 12"/>
                <a:gd name="T68" fmla="*/ 4 w 16"/>
                <a:gd name="T69" fmla="*/ 8 h 12"/>
                <a:gd name="T70" fmla="*/ 4 w 16"/>
                <a:gd name="T71" fmla="*/ 8 h 12"/>
                <a:gd name="T72" fmla="*/ 8 w 16"/>
                <a:gd name="T73" fmla="*/ 12 h 12"/>
                <a:gd name="T74" fmla="*/ 8 w 16"/>
                <a:gd name="T75" fmla="*/ 12 h 12"/>
                <a:gd name="T76" fmla="*/ 8 w 16"/>
                <a:gd name="T77" fmla="*/ 12 h 12"/>
                <a:gd name="T78" fmla="*/ 8 w 16"/>
                <a:gd name="T79" fmla="*/ 12 h 12"/>
                <a:gd name="T80" fmla="*/ 8 w 16"/>
                <a:gd name="T81" fmla="*/ 12 h 12"/>
                <a:gd name="T82" fmla="*/ 8 w 16"/>
                <a:gd name="T83" fmla="*/ 12 h 12"/>
                <a:gd name="T84" fmla="*/ 12 w 16"/>
                <a:gd name="T85" fmla="*/ 8 h 12"/>
                <a:gd name="T86" fmla="*/ 12 w 16"/>
                <a:gd name="T87" fmla="*/ 8 h 12"/>
                <a:gd name="T88" fmla="*/ 12 w 16"/>
                <a:gd name="T89" fmla="*/ 8 h 12"/>
                <a:gd name="T90" fmla="*/ 12 w 16"/>
                <a:gd name="T91" fmla="*/ 4 h 12"/>
                <a:gd name="T92" fmla="*/ 12 w 16"/>
                <a:gd name="T93" fmla="*/ 4 h 12"/>
                <a:gd name="T94" fmla="*/ 12 w 16"/>
                <a:gd name="T95" fmla="*/ 4 h 12"/>
                <a:gd name="T96" fmla="*/ 12 w 16"/>
                <a:gd name="T97" fmla="*/ 4 h 12"/>
                <a:gd name="T98" fmla="*/ 12 w 16"/>
                <a:gd name="T99" fmla="*/ 4 h 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6"/>
                <a:gd name="T151" fmla="*/ 0 h 12"/>
                <a:gd name="T152" fmla="*/ 16 w 16"/>
                <a:gd name="T153" fmla="*/ 12 h 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6" name="Freeform 261"/>
            <p:cNvSpPr>
              <a:spLocks/>
            </p:cNvSpPr>
            <p:nvPr/>
          </p:nvSpPr>
          <p:spPr bwMode="auto">
            <a:xfrm>
              <a:off x="4114" y="2556"/>
              <a:ext cx="19" cy="19"/>
            </a:xfrm>
            <a:custGeom>
              <a:avLst/>
              <a:gdLst>
                <a:gd name="T0" fmla="*/ 4 w 19"/>
                <a:gd name="T1" fmla="*/ 19 h 19"/>
                <a:gd name="T2" fmla="*/ 4 w 19"/>
                <a:gd name="T3" fmla="*/ 19 h 19"/>
                <a:gd name="T4" fmla="*/ 4 w 19"/>
                <a:gd name="T5" fmla="*/ 19 h 19"/>
                <a:gd name="T6" fmla="*/ 0 w 19"/>
                <a:gd name="T7" fmla="*/ 19 h 19"/>
                <a:gd name="T8" fmla="*/ 0 w 19"/>
                <a:gd name="T9" fmla="*/ 15 h 19"/>
                <a:gd name="T10" fmla="*/ 0 w 19"/>
                <a:gd name="T11" fmla="*/ 15 h 19"/>
                <a:gd name="T12" fmla="*/ 0 w 19"/>
                <a:gd name="T13" fmla="*/ 15 h 19"/>
                <a:gd name="T14" fmla="*/ 0 w 19"/>
                <a:gd name="T15" fmla="*/ 15 h 19"/>
                <a:gd name="T16" fmla="*/ 0 w 19"/>
                <a:gd name="T17" fmla="*/ 15 h 19"/>
                <a:gd name="T18" fmla="*/ 0 w 19"/>
                <a:gd name="T19" fmla="*/ 15 h 19"/>
                <a:gd name="T20" fmla="*/ 0 w 19"/>
                <a:gd name="T21" fmla="*/ 15 h 19"/>
                <a:gd name="T22" fmla="*/ 11 w 19"/>
                <a:gd name="T23" fmla="*/ 4 h 19"/>
                <a:gd name="T24" fmla="*/ 7 w 19"/>
                <a:gd name="T25" fmla="*/ 4 h 19"/>
                <a:gd name="T26" fmla="*/ 7 w 19"/>
                <a:gd name="T27" fmla="*/ 4 h 19"/>
                <a:gd name="T28" fmla="*/ 7 w 19"/>
                <a:gd name="T29" fmla="*/ 4 h 19"/>
                <a:gd name="T30" fmla="*/ 4 w 19"/>
                <a:gd name="T31" fmla="*/ 4 h 19"/>
                <a:gd name="T32" fmla="*/ 4 w 19"/>
                <a:gd name="T33" fmla="*/ 4 h 19"/>
                <a:gd name="T34" fmla="*/ 4 w 19"/>
                <a:gd name="T35" fmla="*/ 4 h 19"/>
                <a:gd name="T36" fmla="*/ 4 w 19"/>
                <a:gd name="T37" fmla="*/ 4 h 19"/>
                <a:gd name="T38" fmla="*/ 4 w 19"/>
                <a:gd name="T39" fmla="*/ 4 h 19"/>
                <a:gd name="T40" fmla="*/ 4 w 19"/>
                <a:gd name="T41" fmla="*/ 4 h 19"/>
                <a:gd name="T42" fmla="*/ 4 w 19"/>
                <a:gd name="T43" fmla="*/ 4 h 19"/>
                <a:gd name="T44" fmla="*/ 4 w 19"/>
                <a:gd name="T45" fmla="*/ 4 h 19"/>
                <a:gd name="T46" fmla="*/ 4 w 19"/>
                <a:gd name="T47" fmla="*/ 0 h 19"/>
                <a:gd name="T48" fmla="*/ 4 w 19"/>
                <a:gd name="T49" fmla="*/ 0 h 19"/>
                <a:gd name="T50" fmla="*/ 7 w 19"/>
                <a:gd name="T51" fmla="*/ 0 h 19"/>
                <a:gd name="T52" fmla="*/ 7 w 19"/>
                <a:gd name="T53" fmla="*/ 0 h 19"/>
                <a:gd name="T54" fmla="*/ 19 w 19"/>
                <a:gd name="T55" fmla="*/ 4 h 19"/>
                <a:gd name="T56" fmla="*/ 19 w 19"/>
                <a:gd name="T57" fmla="*/ 4 h 19"/>
                <a:gd name="T58" fmla="*/ 19 w 19"/>
                <a:gd name="T59" fmla="*/ 4 h 19"/>
                <a:gd name="T60" fmla="*/ 19 w 19"/>
                <a:gd name="T61" fmla="*/ 4 h 19"/>
                <a:gd name="T62" fmla="*/ 19 w 19"/>
                <a:gd name="T63" fmla="*/ 4 h 1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"/>
                <a:gd name="T97" fmla="*/ 0 h 19"/>
                <a:gd name="T98" fmla="*/ 19 w 19"/>
                <a:gd name="T99" fmla="*/ 19 h 1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" h="19">
                  <a:moveTo>
                    <a:pt x="19" y="4"/>
                  </a:move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11" y="4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7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7" name="Freeform 262"/>
            <p:cNvSpPr>
              <a:spLocks noEditPoints="1"/>
            </p:cNvSpPr>
            <p:nvPr/>
          </p:nvSpPr>
          <p:spPr bwMode="auto">
            <a:xfrm>
              <a:off x="4078" y="2571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8 w 16"/>
                <a:gd name="T3" fmla="*/ 12 h 12"/>
                <a:gd name="T4" fmla="*/ 8 w 16"/>
                <a:gd name="T5" fmla="*/ 12 h 12"/>
                <a:gd name="T6" fmla="*/ 8 w 16"/>
                <a:gd name="T7" fmla="*/ 12 h 12"/>
                <a:gd name="T8" fmla="*/ 8 w 16"/>
                <a:gd name="T9" fmla="*/ 12 h 12"/>
                <a:gd name="T10" fmla="*/ 8 w 16"/>
                <a:gd name="T11" fmla="*/ 12 h 12"/>
                <a:gd name="T12" fmla="*/ 8 w 16"/>
                <a:gd name="T13" fmla="*/ 12 h 12"/>
                <a:gd name="T14" fmla="*/ 4 w 16"/>
                <a:gd name="T15" fmla="*/ 12 h 12"/>
                <a:gd name="T16" fmla="*/ 0 w 16"/>
                <a:gd name="T17" fmla="*/ 12 h 12"/>
                <a:gd name="T18" fmla="*/ 0 w 16"/>
                <a:gd name="T19" fmla="*/ 12 h 12"/>
                <a:gd name="T20" fmla="*/ 0 w 16"/>
                <a:gd name="T21" fmla="*/ 12 h 12"/>
                <a:gd name="T22" fmla="*/ 0 w 16"/>
                <a:gd name="T23" fmla="*/ 12 h 12"/>
                <a:gd name="T24" fmla="*/ 0 w 16"/>
                <a:gd name="T25" fmla="*/ 12 h 12"/>
                <a:gd name="T26" fmla="*/ 0 w 16"/>
                <a:gd name="T27" fmla="*/ 12 h 12"/>
                <a:gd name="T28" fmla="*/ 4 w 16"/>
                <a:gd name="T29" fmla="*/ 12 h 12"/>
                <a:gd name="T30" fmla="*/ 4 w 16"/>
                <a:gd name="T31" fmla="*/ 12 h 12"/>
                <a:gd name="T32" fmla="*/ 8 w 16"/>
                <a:gd name="T33" fmla="*/ 4 h 12"/>
                <a:gd name="T34" fmla="*/ 8 w 16"/>
                <a:gd name="T35" fmla="*/ 4 h 12"/>
                <a:gd name="T36" fmla="*/ 8 w 16"/>
                <a:gd name="T37" fmla="*/ 4 h 12"/>
                <a:gd name="T38" fmla="*/ 8 w 16"/>
                <a:gd name="T39" fmla="*/ 4 h 12"/>
                <a:gd name="T40" fmla="*/ 8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8 h 12"/>
                <a:gd name="T56" fmla="*/ 16 w 16"/>
                <a:gd name="T57" fmla="*/ 8 h 12"/>
                <a:gd name="T58" fmla="*/ 16 w 16"/>
                <a:gd name="T59" fmla="*/ 8 h 12"/>
                <a:gd name="T60" fmla="*/ 8 w 16"/>
                <a:gd name="T61" fmla="*/ 8 h 12"/>
                <a:gd name="T62" fmla="*/ 8 w 16"/>
                <a:gd name="T63" fmla="*/ 8 h 12"/>
                <a:gd name="T64" fmla="*/ 8 w 16"/>
                <a:gd name="T65" fmla="*/ 8 h 12"/>
                <a:gd name="T66" fmla="*/ 12 w 16"/>
                <a:gd name="T67" fmla="*/ 8 h 12"/>
                <a:gd name="T68" fmla="*/ 12 w 16"/>
                <a:gd name="T69" fmla="*/ 8 h 12"/>
                <a:gd name="T70" fmla="*/ 12 w 16"/>
                <a:gd name="T71" fmla="*/ 8 h 12"/>
                <a:gd name="T72" fmla="*/ 16 w 16"/>
                <a:gd name="T73" fmla="*/ 8 h 12"/>
                <a:gd name="T74" fmla="*/ 16 w 16"/>
                <a:gd name="T75" fmla="*/ 8 h 12"/>
                <a:gd name="T76" fmla="*/ 16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6"/>
                <a:gd name="T124" fmla="*/ 0 h 12"/>
                <a:gd name="T125" fmla="*/ 16 w 16"/>
                <a:gd name="T126" fmla="*/ 12 h 1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6" h="12">
                  <a:moveTo>
                    <a:pt x="8" y="8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8" y="8"/>
                  </a:lnTo>
                  <a:close/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8" name="Freeform 263"/>
            <p:cNvSpPr>
              <a:spLocks noEditPoints="1"/>
            </p:cNvSpPr>
            <p:nvPr/>
          </p:nvSpPr>
          <p:spPr bwMode="auto">
            <a:xfrm>
              <a:off x="4090" y="2575"/>
              <a:ext cx="20" cy="16"/>
            </a:xfrm>
            <a:custGeom>
              <a:avLst/>
              <a:gdLst>
                <a:gd name="T0" fmla="*/ 4 w 20"/>
                <a:gd name="T1" fmla="*/ 12 h 16"/>
                <a:gd name="T2" fmla="*/ 4 w 20"/>
                <a:gd name="T3" fmla="*/ 12 h 16"/>
                <a:gd name="T4" fmla="*/ 8 w 20"/>
                <a:gd name="T5" fmla="*/ 12 h 16"/>
                <a:gd name="T6" fmla="*/ 8 w 20"/>
                <a:gd name="T7" fmla="*/ 16 h 16"/>
                <a:gd name="T8" fmla="*/ 8 w 20"/>
                <a:gd name="T9" fmla="*/ 16 h 16"/>
                <a:gd name="T10" fmla="*/ 8 w 20"/>
                <a:gd name="T11" fmla="*/ 16 h 16"/>
                <a:gd name="T12" fmla="*/ 12 w 20"/>
                <a:gd name="T13" fmla="*/ 16 h 16"/>
                <a:gd name="T14" fmla="*/ 12 w 20"/>
                <a:gd name="T15" fmla="*/ 16 h 16"/>
                <a:gd name="T16" fmla="*/ 12 w 20"/>
                <a:gd name="T17" fmla="*/ 16 h 16"/>
                <a:gd name="T18" fmla="*/ 12 w 20"/>
                <a:gd name="T19" fmla="*/ 16 h 16"/>
                <a:gd name="T20" fmla="*/ 12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12 w 20"/>
                <a:gd name="T27" fmla="*/ 16 h 16"/>
                <a:gd name="T28" fmla="*/ 12 w 20"/>
                <a:gd name="T29" fmla="*/ 16 h 16"/>
                <a:gd name="T30" fmla="*/ 8 w 20"/>
                <a:gd name="T31" fmla="*/ 16 h 16"/>
                <a:gd name="T32" fmla="*/ 8 w 20"/>
                <a:gd name="T33" fmla="*/ 16 h 16"/>
                <a:gd name="T34" fmla="*/ 8 w 20"/>
                <a:gd name="T35" fmla="*/ 16 h 16"/>
                <a:gd name="T36" fmla="*/ 8 w 20"/>
                <a:gd name="T37" fmla="*/ 16 h 16"/>
                <a:gd name="T38" fmla="*/ 8 w 20"/>
                <a:gd name="T39" fmla="*/ 16 h 16"/>
                <a:gd name="T40" fmla="*/ 4 w 20"/>
                <a:gd name="T41" fmla="*/ 16 h 16"/>
                <a:gd name="T42" fmla="*/ 4 w 20"/>
                <a:gd name="T43" fmla="*/ 16 h 16"/>
                <a:gd name="T44" fmla="*/ 4 w 20"/>
                <a:gd name="T45" fmla="*/ 16 h 16"/>
                <a:gd name="T46" fmla="*/ 0 w 20"/>
                <a:gd name="T47" fmla="*/ 16 h 16"/>
                <a:gd name="T48" fmla="*/ 4 w 20"/>
                <a:gd name="T49" fmla="*/ 16 h 16"/>
                <a:gd name="T50" fmla="*/ 4 w 20"/>
                <a:gd name="T51" fmla="*/ 16 h 16"/>
                <a:gd name="T52" fmla="*/ 4 w 20"/>
                <a:gd name="T53" fmla="*/ 12 h 16"/>
                <a:gd name="T54" fmla="*/ 4 w 20"/>
                <a:gd name="T55" fmla="*/ 12 h 16"/>
                <a:gd name="T56" fmla="*/ 4 w 20"/>
                <a:gd name="T57" fmla="*/ 12 h 16"/>
                <a:gd name="T58" fmla="*/ 4 w 20"/>
                <a:gd name="T59" fmla="*/ 12 h 16"/>
                <a:gd name="T60" fmla="*/ 4 w 20"/>
                <a:gd name="T61" fmla="*/ 8 h 16"/>
                <a:gd name="T62" fmla="*/ 4 w 20"/>
                <a:gd name="T63" fmla="*/ 4 h 16"/>
                <a:gd name="T64" fmla="*/ 4 w 20"/>
                <a:gd name="T65" fmla="*/ 4 h 16"/>
                <a:gd name="T66" fmla="*/ 12 w 20"/>
                <a:gd name="T67" fmla="*/ 0 h 16"/>
                <a:gd name="T68" fmla="*/ 16 w 20"/>
                <a:gd name="T69" fmla="*/ 0 h 16"/>
                <a:gd name="T70" fmla="*/ 16 w 20"/>
                <a:gd name="T71" fmla="*/ 0 h 16"/>
                <a:gd name="T72" fmla="*/ 20 w 20"/>
                <a:gd name="T73" fmla="*/ 4 h 16"/>
                <a:gd name="T74" fmla="*/ 20 w 20"/>
                <a:gd name="T75" fmla="*/ 8 h 16"/>
                <a:gd name="T76" fmla="*/ 20 w 20"/>
                <a:gd name="T77" fmla="*/ 8 h 16"/>
                <a:gd name="T78" fmla="*/ 12 w 20"/>
                <a:gd name="T79" fmla="*/ 12 h 16"/>
                <a:gd name="T80" fmla="*/ 8 w 20"/>
                <a:gd name="T81" fmla="*/ 12 h 16"/>
                <a:gd name="T82" fmla="*/ 8 w 20"/>
                <a:gd name="T83" fmla="*/ 12 h 16"/>
                <a:gd name="T84" fmla="*/ 8 w 20"/>
                <a:gd name="T85" fmla="*/ 12 h 16"/>
                <a:gd name="T86" fmla="*/ 8 w 20"/>
                <a:gd name="T87" fmla="*/ 12 h 16"/>
                <a:gd name="T88" fmla="*/ 16 w 20"/>
                <a:gd name="T89" fmla="*/ 4 h 16"/>
                <a:gd name="T90" fmla="*/ 12 w 20"/>
                <a:gd name="T91" fmla="*/ 4 h 16"/>
                <a:gd name="T92" fmla="*/ 12 w 20"/>
                <a:gd name="T93" fmla="*/ 4 h 16"/>
                <a:gd name="T94" fmla="*/ 8 w 20"/>
                <a:gd name="T95" fmla="*/ 8 h 16"/>
                <a:gd name="T96" fmla="*/ 8 w 20"/>
                <a:gd name="T97" fmla="*/ 8 h 16"/>
                <a:gd name="T98" fmla="*/ 8 w 20"/>
                <a:gd name="T99" fmla="*/ 8 h 16"/>
                <a:gd name="T100" fmla="*/ 8 w 20"/>
                <a:gd name="T101" fmla="*/ 12 h 16"/>
                <a:gd name="T102" fmla="*/ 12 w 20"/>
                <a:gd name="T103" fmla="*/ 12 h 16"/>
                <a:gd name="T104" fmla="*/ 12 w 20"/>
                <a:gd name="T105" fmla="*/ 12 h 16"/>
                <a:gd name="T106" fmla="*/ 16 w 20"/>
                <a:gd name="T107" fmla="*/ 8 h 16"/>
                <a:gd name="T108" fmla="*/ 16 w 20"/>
                <a:gd name="T109" fmla="*/ 4 h 16"/>
                <a:gd name="T110" fmla="*/ 16 w 20"/>
                <a:gd name="T111" fmla="*/ 4 h 16"/>
                <a:gd name="T112" fmla="*/ 16 w 20"/>
                <a:gd name="T113" fmla="*/ 4 h 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"/>
                <a:gd name="T172" fmla="*/ 0 h 16"/>
                <a:gd name="T173" fmla="*/ 20 w 20"/>
                <a:gd name="T174" fmla="*/ 16 h 1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" h="16">
                  <a:moveTo>
                    <a:pt x="8" y="12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29" name="Freeform 264"/>
            <p:cNvSpPr>
              <a:spLocks noEditPoints="1"/>
            </p:cNvSpPr>
            <p:nvPr/>
          </p:nvSpPr>
          <p:spPr bwMode="auto">
            <a:xfrm>
              <a:off x="4106" y="2579"/>
              <a:ext cx="19" cy="16"/>
            </a:xfrm>
            <a:custGeom>
              <a:avLst/>
              <a:gdLst>
                <a:gd name="T0" fmla="*/ 12 w 19"/>
                <a:gd name="T1" fmla="*/ 8 h 16"/>
                <a:gd name="T2" fmla="*/ 12 w 19"/>
                <a:gd name="T3" fmla="*/ 8 h 16"/>
                <a:gd name="T4" fmla="*/ 12 w 19"/>
                <a:gd name="T5" fmla="*/ 8 h 16"/>
                <a:gd name="T6" fmla="*/ 12 w 19"/>
                <a:gd name="T7" fmla="*/ 12 h 16"/>
                <a:gd name="T8" fmla="*/ 12 w 19"/>
                <a:gd name="T9" fmla="*/ 12 h 16"/>
                <a:gd name="T10" fmla="*/ 12 w 19"/>
                <a:gd name="T11" fmla="*/ 12 h 16"/>
                <a:gd name="T12" fmla="*/ 12 w 19"/>
                <a:gd name="T13" fmla="*/ 12 h 16"/>
                <a:gd name="T14" fmla="*/ 15 w 19"/>
                <a:gd name="T15" fmla="*/ 12 h 16"/>
                <a:gd name="T16" fmla="*/ 15 w 19"/>
                <a:gd name="T17" fmla="*/ 12 h 16"/>
                <a:gd name="T18" fmla="*/ 15 w 19"/>
                <a:gd name="T19" fmla="*/ 12 h 16"/>
                <a:gd name="T20" fmla="*/ 12 w 19"/>
                <a:gd name="T21" fmla="*/ 16 h 16"/>
                <a:gd name="T22" fmla="*/ 12 w 19"/>
                <a:gd name="T23" fmla="*/ 16 h 16"/>
                <a:gd name="T24" fmla="*/ 12 w 19"/>
                <a:gd name="T25" fmla="*/ 16 h 16"/>
                <a:gd name="T26" fmla="*/ 12 w 19"/>
                <a:gd name="T27" fmla="*/ 16 h 16"/>
                <a:gd name="T28" fmla="*/ 8 w 19"/>
                <a:gd name="T29" fmla="*/ 12 h 16"/>
                <a:gd name="T30" fmla="*/ 8 w 19"/>
                <a:gd name="T31" fmla="*/ 12 h 16"/>
                <a:gd name="T32" fmla="*/ 8 w 19"/>
                <a:gd name="T33" fmla="*/ 8 h 16"/>
                <a:gd name="T34" fmla="*/ 8 w 19"/>
                <a:gd name="T35" fmla="*/ 8 h 16"/>
                <a:gd name="T36" fmla="*/ 8 w 19"/>
                <a:gd name="T37" fmla="*/ 8 h 16"/>
                <a:gd name="T38" fmla="*/ 8 w 19"/>
                <a:gd name="T39" fmla="*/ 8 h 16"/>
                <a:gd name="T40" fmla="*/ 8 w 19"/>
                <a:gd name="T41" fmla="*/ 8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12 h 16"/>
                <a:gd name="T48" fmla="*/ 8 w 19"/>
                <a:gd name="T49" fmla="*/ 12 h 16"/>
                <a:gd name="T50" fmla="*/ 8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0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8 h 16"/>
                <a:gd name="T68" fmla="*/ 0 w 19"/>
                <a:gd name="T69" fmla="*/ 8 h 16"/>
                <a:gd name="T70" fmla="*/ 4 w 19"/>
                <a:gd name="T71" fmla="*/ 8 h 16"/>
                <a:gd name="T72" fmla="*/ 4 w 19"/>
                <a:gd name="T73" fmla="*/ 8 h 16"/>
                <a:gd name="T74" fmla="*/ 8 w 19"/>
                <a:gd name="T75" fmla="*/ 4 h 16"/>
                <a:gd name="T76" fmla="*/ 8 w 19"/>
                <a:gd name="T77" fmla="*/ 4 h 16"/>
                <a:gd name="T78" fmla="*/ 8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0 h 16"/>
                <a:gd name="T88" fmla="*/ 8 w 19"/>
                <a:gd name="T89" fmla="*/ 0 h 16"/>
                <a:gd name="T90" fmla="*/ 15 w 19"/>
                <a:gd name="T91" fmla="*/ 0 h 16"/>
                <a:gd name="T92" fmla="*/ 19 w 19"/>
                <a:gd name="T93" fmla="*/ 4 h 16"/>
                <a:gd name="T94" fmla="*/ 19 w 19"/>
                <a:gd name="T95" fmla="*/ 4 h 16"/>
                <a:gd name="T96" fmla="*/ 15 w 19"/>
                <a:gd name="T97" fmla="*/ 8 h 16"/>
                <a:gd name="T98" fmla="*/ 15 w 19"/>
                <a:gd name="T99" fmla="*/ 8 h 16"/>
                <a:gd name="T100" fmla="*/ 15 w 19"/>
                <a:gd name="T101" fmla="*/ 8 h 16"/>
                <a:gd name="T102" fmla="*/ 12 w 19"/>
                <a:gd name="T103" fmla="*/ 8 h 16"/>
                <a:gd name="T104" fmla="*/ 8 w 19"/>
                <a:gd name="T105" fmla="*/ 4 h 16"/>
                <a:gd name="T106" fmla="*/ 12 w 19"/>
                <a:gd name="T107" fmla="*/ 8 h 16"/>
                <a:gd name="T108" fmla="*/ 12 w 19"/>
                <a:gd name="T109" fmla="*/ 8 h 16"/>
                <a:gd name="T110" fmla="*/ 12 w 19"/>
                <a:gd name="T111" fmla="*/ 8 h 16"/>
                <a:gd name="T112" fmla="*/ 15 w 19"/>
                <a:gd name="T113" fmla="*/ 4 h 16"/>
                <a:gd name="T114" fmla="*/ 15 w 19"/>
                <a:gd name="T115" fmla="*/ 4 h 16"/>
                <a:gd name="T116" fmla="*/ 15 w 19"/>
                <a:gd name="T117" fmla="*/ 4 h 16"/>
                <a:gd name="T118" fmla="*/ 12 w 19"/>
                <a:gd name="T119" fmla="*/ 4 h 16"/>
                <a:gd name="T120" fmla="*/ 12 w 19"/>
                <a:gd name="T121" fmla="*/ 4 h 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"/>
                <a:gd name="T184" fmla="*/ 0 h 16"/>
                <a:gd name="T185" fmla="*/ 19 w 19"/>
                <a:gd name="T186" fmla="*/ 16 h 1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15" y="12"/>
                  </a:lnTo>
                  <a:lnTo>
                    <a:pt x="12" y="16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5" y="8"/>
                  </a:lnTo>
                  <a:lnTo>
                    <a:pt x="12" y="8"/>
                  </a:lnTo>
                  <a:close/>
                  <a:moveTo>
                    <a:pt x="12" y="4"/>
                  </a:moveTo>
                  <a:lnTo>
                    <a:pt x="8" y="4"/>
                  </a:lnTo>
                  <a:lnTo>
                    <a:pt x="12" y="8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0" name="Freeform 265"/>
            <p:cNvSpPr>
              <a:spLocks/>
            </p:cNvSpPr>
            <p:nvPr/>
          </p:nvSpPr>
          <p:spPr bwMode="auto">
            <a:xfrm>
              <a:off x="4121" y="2583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8 w 16"/>
                <a:gd name="T3" fmla="*/ 0 h 12"/>
                <a:gd name="T4" fmla="*/ 4 w 16"/>
                <a:gd name="T5" fmla="*/ 4 h 12"/>
                <a:gd name="T6" fmla="*/ 4 w 16"/>
                <a:gd name="T7" fmla="*/ 4 h 12"/>
                <a:gd name="T8" fmla="*/ 8 w 16"/>
                <a:gd name="T9" fmla="*/ 8 h 12"/>
                <a:gd name="T10" fmla="*/ 8 w 16"/>
                <a:gd name="T11" fmla="*/ 8 h 12"/>
                <a:gd name="T12" fmla="*/ 8 w 16"/>
                <a:gd name="T13" fmla="*/ 12 h 12"/>
                <a:gd name="T14" fmla="*/ 8 w 16"/>
                <a:gd name="T15" fmla="*/ 12 h 12"/>
                <a:gd name="T16" fmla="*/ 4 w 16"/>
                <a:gd name="T17" fmla="*/ 12 h 12"/>
                <a:gd name="T18" fmla="*/ 4 w 16"/>
                <a:gd name="T19" fmla="*/ 12 h 12"/>
                <a:gd name="T20" fmla="*/ 4 w 16"/>
                <a:gd name="T21" fmla="*/ 8 h 12"/>
                <a:gd name="T22" fmla="*/ 4 w 16"/>
                <a:gd name="T23" fmla="*/ 8 h 12"/>
                <a:gd name="T24" fmla="*/ 4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0 w 16"/>
                <a:gd name="T35" fmla="*/ 12 h 12"/>
                <a:gd name="T36" fmla="*/ 0 w 16"/>
                <a:gd name="T37" fmla="*/ 12 h 12"/>
                <a:gd name="T38" fmla="*/ 0 w 16"/>
                <a:gd name="T39" fmla="*/ 12 h 12"/>
                <a:gd name="T40" fmla="*/ 0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8 w 16"/>
                <a:gd name="T47" fmla="*/ 12 h 12"/>
                <a:gd name="T48" fmla="*/ 12 w 16"/>
                <a:gd name="T49" fmla="*/ 12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12 w 16"/>
                <a:gd name="T61" fmla="*/ 4 h 12"/>
                <a:gd name="T62" fmla="*/ 12 w 16"/>
                <a:gd name="T63" fmla="*/ 4 h 12"/>
                <a:gd name="T64" fmla="*/ 12 w 16"/>
                <a:gd name="T65" fmla="*/ 4 h 12"/>
                <a:gd name="T66" fmla="*/ 12 w 16"/>
                <a:gd name="T67" fmla="*/ 4 h 12"/>
                <a:gd name="T68" fmla="*/ 12 w 16"/>
                <a:gd name="T69" fmla="*/ 8 h 12"/>
                <a:gd name="T70" fmla="*/ 16 w 16"/>
                <a:gd name="T71" fmla="*/ 8 h 12"/>
                <a:gd name="T72" fmla="*/ 16 w 16"/>
                <a:gd name="T73" fmla="*/ 4 h 12"/>
                <a:gd name="T74" fmla="*/ 16 w 16"/>
                <a:gd name="T75" fmla="*/ 4 h 12"/>
                <a:gd name="T76" fmla="*/ 16 w 16"/>
                <a:gd name="T77" fmla="*/ 4 h 12"/>
                <a:gd name="T78" fmla="*/ 16 w 16"/>
                <a:gd name="T79" fmla="*/ 0 h 12"/>
                <a:gd name="T80" fmla="*/ 16 w 16"/>
                <a:gd name="T81" fmla="*/ 0 h 12"/>
                <a:gd name="T82" fmla="*/ 16 w 16"/>
                <a:gd name="T83" fmla="*/ 4 h 12"/>
                <a:gd name="T84" fmla="*/ 16 w 16"/>
                <a:gd name="T85" fmla="*/ 0 h 1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6"/>
                <a:gd name="T130" fmla="*/ 0 h 12"/>
                <a:gd name="T131" fmla="*/ 16 w 16"/>
                <a:gd name="T132" fmla="*/ 12 h 1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1" name="Freeform 266"/>
            <p:cNvSpPr>
              <a:spLocks noEditPoints="1"/>
            </p:cNvSpPr>
            <p:nvPr/>
          </p:nvSpPr>
          <p:spPr bwMode="auto">
            <a:xfrm>
              <a:off x="4224" y="2579"/>
              <a:ext cx="20" cy="20"/>
            </a:xfrm>
            <a:custGeom>
              <a:avLst/>
              <a:gdLst>
                <a:gd name="T0" fmla="*/ 12 w 20"/>
                <a:gd name="T1" fmla="*/ 12 h 20"/>
                <a:gd name="T2" fmla="*/ 16 w 20"/>
                <a:gd name="T3" fmla="*/ 16 h 20"/>
                <a:gd name="T4" fmla="*/ 16 w 20"/>
                <a:gd name="T5" fmla="*/ 16 h 20"/>
                <a:gd name="T6" fmla="*/ 16 w 20"/>
                <a:gd name="T7" fmla="*/ 16 h 20"/>
                <a:gd name="T8" fmla="*/ 12 w 20"/>
                <a:gd name="T9" fmla="*/ 20 h 20"/>
                <a:gd name="T10" fmla="*/ 4 w 20"/>
                <a:gd name="T11" fmla="*/ 20 h 20"/>
                <a:gd name="T12" fmla="*/ 4 w 20"/>
                <a:gd name="T13" fmla="*/ 20 h 20"/>
                <a:gd name="T14" fmla="*/ 0 w 20"/>
                <a:gd name="T15" fmla="*/ 16 h 20"/>
                <a:gd name="T16" fmla="*/ 0 w 20"/>
                <a:gd name="T17" fmla="*/ 12 h 20"/>
                <a:gd name="T18" fmla="*/ 0 w 20"/>
                <a:gd name="T19" fmla="*/ 12 h 20"/>
                <a:gd name="T20" fmla="*/ 4 w 20"/>
                <a:gd name="T21" fmla="*/ 12 h 20"/>
                <a:gd name="T22" fmla="*/ 8 w 20"/>
                <a:gd name="T23" fmla="*/ 8 h 20"/>
                <a:gd name="T24" fmla="*/ 8 w 20"/>
                <a:gd name="T25" fmla="*/ 8 h 20"/>
                <a:gd name="T26" fmla="*/ 4 w 20"/>
                <a:gd name="T27" fmla="*/ 8 h 20"/>
                <a:gd name="T28" fmla="*/ 4 w 20"/>
                <a:gd name="T29" fmla="*/ 4 h 20"/>
                <a:gd name="T30" fmla="*/ 4 w 20"/>
                <a:gd name="T31" fmla="*/ 4 h 20"/>
                <a:gd name="T32" fmla="*/ 8 w 20"/>
                <a:gd name="T33" fmla="*/ 0 h 20"/>
                <a:gd name="T34" fmla="*/ 16 w 20"/>
                <a:gd name="T35" fmla="*/ 4 h 20"/>
                <a:gd name="T36" fmla="*/ 16 w 20"/>
                <a:gd name="T37" fmla="*/ 4 h 20"/>
                <a:gd name="T38" fmla="*/ 20 w 20"/>
                <a:gd name="T39" fmla="*/ 4 h 20"/>
                <a:gd name="T40" fmla="*/ 20 w 20"/>
                <a:gd name="T41" fmla="*/ 8 h 20"/>
                <a:gd name="T42" fmla="*/ 20 w 20"/>
                <a:gd name="T43" fmla="*/ 8 h 20"/>
                <a:gd name="T44" fmla="*/ 16 w 20"/>
                <a:gd name="T45" fmla="*/ 12 h 20"/>
                <a:gd name="T46" fmla="*/ 12 w 20"/>
                <a:gd name="T47" fmla="*/ 12 h 20"/>
                <a:gd name="T48" fmla="*/ 8 w 20"/>
                <a:gd name="T49" fmla="*/ 12 h 20"/>
                <a:gd name="T50" fmla="*/ 8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6 h 20"/>
                <a:gd name="T58" fmla="*/ 4 w 20"/>
                <a:gd name="T59" fmla="*/ 16 h 20"/>
                <a:gd name="T60" fmla="*/ 8 w 20"/>
                <a:gd name="T61" fmla="*/ 16 h 20"/>
                <a:gd name="T62" fmla="*/ 8 w 20"/>
                <a:gd name="T63" fmla="*/ 16 h 20"/>
                <a:gd name="T64" fmla="*/ 8 w 20"/>
                <a:gd name="T65" fmla="*/ 16 h 20"/>
                <a:gd name="T66" fmla="*/ 12 w 20"/>
                <a:gd name="T67" fmla="*/ 16 h 20"/>
                <a:gd name="T68" fmla="*/ 12 w 20"/>
                <a:gd name="T69" fmla="*/ 12 h 20"/>
                <a:gd name="T70" fmla="*/ 12 w 20"/>
                <a:gd name="T71" fmla="*/ 12 h 20"/>
                <a:gd name="T72" fmla="*/ 8 w 20"/>
                <a:gd name="T73" fmla="*/ 12 h 20"/>
                <a:gd name="T74" fmla="*/ 16 w 20"/>
                <a:gd name="T75" fmla="*/ 4 h 20"/>
                <a:gd name="T76" fmla="*/ 12 w 20"/>
                <a:gd name="T77" fmla="*/ 4 h 20"/>
                <a:gd name="T78" fmla="*/ 8 w 20"/>
                <a:gd name="T79" fmla="*/ 8 h 20"/>
                <a:gd name="T80" fmla="*/ 8 w 20"/>
                <a:gd name="T81" fmla="*/ 8 h 20"/>
                <a:gd name="T82" fmla="*/ 8 w 20"/>
                <a:gd name="T83" fmla="*/ 8 h 20"/>
                <a:gd name="T84" fmla="*/ 12 w 20"/>
                <a:gd name="T85" fmla="*/ 8 h 20"/>
                <a:gd name="T86" fmla="*/ 12 w 20"/>
                <a:gd name="T87" fmla="*/ 8 h 20"/>
                <a:gd name="T88" fmla="*/ 12 w 20"/>
                <a:gd name="T89" fmla="*/ 8 h 20"/>
                <a:gd name="T90" fmla="*/ 16 w 20"/>
                <a:gd name="T91" fmla="*/ 8 h 20"/>
                <a:gd name="T92" fmla="*/ 16 w 20"/>
                <a:gd name="T93" fmla="*/ 8 h 20"/>
                <a:gd name="T94" fmla="*/ 16 w 20"/>
                <a:gd name="T95" fmla="*/ 4 h 20"/>
                <a:gd name="T96" fmla="*/ 16 w 20"/>
                <a:gd name="T97" fmla="*/ 4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20"/>
                <a:gd name="T149" fmla="*/ 20 w 20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20">
                  <a:moveTo>
                    <a:pt x="12" y="12"/>
                  </a:moveTo>
                  <a:lnTo>
                    <a:pt x="12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12"/>
                  </a:lnTo>
                  <a:lnTo>
                    <a:pt x="12" y="12"/>
                  </a:lnTo>
                  <a:close/>
                  <a:moveTo>
                    <a:pt x="8" y="12"/>
                  </a:moveTo>
                  <a:lnTo>
                    <a:pt x="8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2" name="Freeform 267"/>
            <p:cNvSpPr>
              <a:spLocks/>
            </p:cNvSpPr>
            <p:nvPr/>
          </p:nvSpPr>
          <p:spPr bwMode="auto">
            <a:xfrm>
              <a:off x="4200" y="2599"/>
              <a:ext cx="16" cy="16"/>
            </a:xfrm>
            <a:custGeom>
              <a:avLst/>
              <a:gdLst>
                <a:gd name="T0" fmla="*/ 12 w 16"/>
                <a:gd name="T1" fmla="*/ 8 h 16"/>
                <a:gd name="T2" fmla="*/ 12 w 16"/>
                <a:gd name="T3" fmla="*/ 8 h 16"/>
                <a:gd name="T4" fmla="*/ 12 w 16"/>
                <a:gd name="T5" fmla="*/ 8 h 16"/>
                <a:gd name="T6" fmla="*/ 12 w 16"/>
                <a:gd name="T7" fmla="*/ 8 h 16"/>
                <a:gd name="T8" fmla="*/ 12 w 16"/>
                <a:gd name="T9" fmla="*/ 8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4 h 16"/>
                <a:gd name="T16" fmla="*/ 16 w 16"/>
                <a:gd name="T17" fmla="*/ 4 h 16"/>
                <a:gd name="T18" fmla="*/ 16 w 16"/>
                <a:gd name="T19" fmla="*/ 4 h 16"/>
                <a:gd name="T20" fmla="*/ 16 w 16"/>
                <a:gd name="T21" fmla="*/ 4 h 16"/>
                <a:gd name="T22" fmla="*/ 4 w 16"/>
                <a:gd name="T23" fmla="*/ 0 h 16"/>
                <a:gd name="T24" fmla="*/ 4 w 16"/>
                <a:gd name="T25" fmla="*/ 0 h 16"/>
                <a:gd name="T26" fmla="*/ 4 w 16"/>
                <a:gd name="T27" fmla="*/ 0 h 16"/>
                <a:gd name="T28" fmla="*/ 4 w 16"/>
                <a:gd name="T29" fmla="*/ 0 h 16"/>
                <a:gd name="T30" fmla="*/ 0 w 16"/>
                <a:gd name="T31" fmla="*/ 4 h 16"/>
                <a:gd name="T32" fmla="*/ 0 w 16"/>
                <a:gd name="T33" fmla="*/ 4 h 16"/>
                <a:gd name="T34" fmla="*/ 0 w 16"/>
                <a:gd name="T35" fmla="*/ 4 h 16"/>
                <a:gd name="T36" fmla="*/ 0 w 16"/>
                <a:gd name="T37" fmla="*/ 4 h 16"/>
                <a:gd name="T38" fmla="*/ 0 w 16"/>
                <a:gd name="T39" fmla="*/ 4 h 16"/>
                <a:gd name="T40" fmla="*/ 0 w 16"/>
                <a:gd name="T41" fmla="*/ 4 h 16"/>
                <a:gd name="T42" fmla="*/ 4 w 16"/>
                <a:gd name="T43" fmla="*/ 4 h 16"/>
                <a:gd name="T44" fmla="*/ 4 w 16"/>
                <a:gd name="T45" fmla="*/ 4 h 16"/>
                <a:gd name="T46" fmla="*/ 4 w 16"/>
                <a:gd name="T47" fmla="*/ 4 h 16"/>
                <a:gd name="T48" fmla="*/ 4 w 16"/>
                <a:gd name="T49" fmla="*/ 4 h 16"/>
                <a:gd name="T50" fmla="*/ 8 w 16"/>
                <a:gd name="T51" fmla="*/ 4 h 16"/>
                <a:gd name="T52" fmla="*/ 4 w 16"/>
                <a:gd name="T53" fmla="*/ 12 h 16"/>
                <a:gd name="T54" fmla="*/ 0 w 16"/>
                <a:gd name="T55" fmla="*/ 8 h 16"/>
                <a:gd name="T56" fmla="*/ 0 w 16"/>
                <a:gd name="T57" fmla="*/ 8 h 16"/>
                <a:gd name="T58" fmla="*/ 0 w 16"/>
                <a:gd name="T59" fmla="*/ 8 h 16"/>
                <a:gd name="T60" fmla="*/ 0 w 16"/>
                <a:gd name="T61" fmla="*/ 12 h 16"/>
                <a:gd name="T62" fmla="*/ 0 w 16"/>
                <a:gd name="T63" fmla="*/ 12 h 16"/>
                <a:gd name="T64" fmla="*/ 0 w 16"/>
                <a:gd name="T65" fmla="*/ 12 h 16"/>
                <a:gd name="T66" fmla="*/ 0 w 16"/>
                <a:gd name="T67" fmla="*/ 12 h 16"/>
                <a:gd name="T68" fmla="*/ 8 w 16"/>
                <a:gd name="T69" fmla="*/ 16 h 16"/>
                <a:gd name="T70" fmla="*/ 8 w 16"/>
                <a:gd name="T71" fmla="*/ 16 h 16"/>
                <a:gd name="T72" fmla="*/ 8 w 16"/>
                <a:gd name="T73" fmla="*/ 16 h 16"/>
                <a:gd name="T74" fmla="*/ 8 w 16"/>
                <a:gd name="T75" fmla="*/ 12 h 16"/>
                <a:gd name="T76" fmla="*/ 8 w 16"/>
                <a:gd name="T77" fmla="*/ 12 h 16"/>
                <a:gd name="T78" fmla="*/ 8 w 16"/>
                <a:gd name="T79" fmla="*/ 12 h 16"/>
                <a:gd name="T80" fmla="*/ 8 w 16"/>
                <a:gd name="T81" fmla="*/ 12 h 16"/>
                <a:gd name="T82" fmla="*/ 8 w 16"/>
                <a:gd name="T83" fmla="*/ 12 h 16"/>
                <a:gd name="T84" fmla="*/ 12 w 16"/>
                <a:gd name="T85" fmla="*/ 4 h 16"/>
                <a:gd name="T86" fmla="*/ 12 w 16"/>
                <a:gd name="T87" fmla="*/ 4 h 16"/>
                <a:gd name="T88" fmla="*/ 12 w 16"/>
                <a:gd name="T89" fmla="*/ 8 h 1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6"/>
                <a:gd name="T137" fmla="*/ 16 w 16"/>
                <a:gd name="T138" fmla="*/ 16 h 1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6">
                  <a:moveTo>
                    <a:pt x="12" y="8"/>
                  </a:move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4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0" y="12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2" y="4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3" name="Freeform 268"/>
            <p:cNvSpPr>
              <a:spLocks/>
            </p:cNvSpPr>
            <p:nvPr/>
          </p:nvSpPr>
          <p:spPr bwMode="auto">
            <a:xfrm>
              <a:off x="4216" y="2603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8 w 16"/>
                <a:gd name="T3" fmla="*/ 4 h 12"/>
                <a:gd name="T4" fmla="*/ 8 w 16"/>
                <a:gd name="T5" fmla="*/ 0 h 12"/>
                <a:gd name="T6" fmla="*/ 8 w 16"/>
                <a:gd name="T7" fmla="*/ 0 h 12"/>
                <a:gd name="T8" fmla="*/ 8 w 16"/>
                <a:gd name="T9" fmla="*/ 0 h 12"/>
                <a:gd name="T10" fmla="*/ 8 w 16"/>
                <a:gd name="T11" fmla="*/ 0 h 12"/>
                <a:gd name="T12" fmla="*/ 4 w 16"/>
                <a:gd name="T13" fmla="*/ 0 h 12"/>
                <a:gd name="T14" fmla="*/ 4 w 16"/>
                <a:gd name="T15" fmla="*/ 0 h 12"/>
                <a:gd name="T16" fmla="*/ 4 w 16"/>
                <a:gd name="T17" fmla="*/ 0 h 12"/>
                <a:gd name="T18" fmla="*/ 0 w 16"/>
                <a:gd name="T19" fmla="*/ 0 h 12"/>
                <a:gd name="T20" fmla="*/ 0 w 16"/>
                <a:gd name="T21" fmla="*/ 0 h 12"/>
                <a:gd name="T22" fmla="*/ 0 w 16"/>
                <a:gd name="T23" fmla="*/ 0 h 12"/>
                <a:gd name="T24" fmla="*/ 4 w 16"/>
                <a:gd name="T25" fmla="*/ 0 h 12"/>
                <a:gd name="T26" fmla="*/ 4 w 16"/>
                <a:gd name="T27" fmla="*/ 0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8 w 16"/>
                <a:gd name="T39" fmla="*/ 12 h 12"/>
                <a:gd name="T40" fmla="*/ 12 w 16"/>
                <a:gd name="T41" fmla="*/ 8 h 12"/>
                <a:gd name="T42" fmla="*/ 16 w 16"/>
                <a:gd name="T43" fmla="*/ 4 h 12"/>
                <a:gd name="T44" fmla="*/ 16 w 16"/>
                <a:gd name="T45" fmla="*/ 4 h 12"/>
                <a:gd name="T46" fmla="*/ 16 w 16"/>
                <a:gd name="T47" fmla="*/ 4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4 h 12"/>
                <a:gd name="T56" fmla="*/ 16 w 16"/>
                <a:gd name="T57" fmla="*/ 4 h 12"/>
                <a:gd name="T58" fmla="*/ 12 w 16"/>
                <a:gd name="T59" fmla="*/ 0 h 12"/>
                <a:gd name="T60" fmla="*/ 12 w 16"/>
                <a:gd name="T61" fmla="*/ 0 h 12"/>
                <a:gd name="T62" fmla="*/ 12 w 16"/>
                <a:gd name="T63" fmla="*/ 0 h 12"/>
                <a:gd name="T64" fmla="*/ 12 w 16"/>
                <a:gd name="T65" fmla="*/ 4 h 12"/>
                <a:gd name="T66" fmla="*/ 12 w 16"/>
                <a:gd name="T67" fmla="*/ 4 h 12"/>
                <a:gd name="T68" fmla="*/ 8 w 16"/>
                <a:gd name="T69" fmla="*/ 4 h 12"/>
                <a:gd name="T70" fmla="*/ 12 w 16"/>
                <a:gd name="T71" fmla="*/ 4 h 12"/>
                <a:gd name="T72" fmla="*/ 12 w 16"/>
                <a:gd name="T73" fmla="*/ 4 h 12"/>
                <a:gd name="T74" fmla="*/ 8 w 16"/>
                <a:gd name="T75" fmla="*/ 8 h 12"/>
                <a:gd name="T76" fmla="*/ 8 w 16"/>
                <a:gd name="T77" fmla="*/ 8 h 12"/>
                <a:gd name="T78" fmla="*/ 4 w 16"/>
                <a:gd name="T79" fmla="*/ 12 h 12"/>
                <a:gd name="T80" fmla="*/ 4 w 16"/>
                <a:gd name="T81" fmla="*/ 12 h 12"/>
                <a:gd name="T82" fmla="*/ 4 w 16"/>
                <a:gd name="T83" fmla="*/ 12 h 12"/>
                <a:gd name="T84" fmla="*/ 0 w 16"/>
                <a:gd name="T85" fmla="*/ 12 h 12"/>
                <a:gd name="T86" fmla="*/ 4 w 16"/>
                <a:gd name="T87" fmla="*/ 8 h 12"/>
                <a:gd name="T88" fmla="*/ 4 w 16"/>
                <a:gd name="T89" fmla="*/ 4 h 12"/>
                <a:gd name="T90" fmla="*/ 4 w 16"/>
                <a:gd name="T91" fmla="*/ 4 h 1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12"/>
                <a:gd name="T140" fmla="*/ 16 w 16"/>
                <a:gd name="T141" fmla="*/ 12 h 1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12">
                  <a:moveTo>
                    <a:pt x="4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4" name="Freeform 269"/>
            <p:cNvSpPr>
              <a:spLocks/>
            </p:cNvSpPr>
            <p:nvPr/>
          </p:nvSpPr>
          <p:spPr bwMode="auto">
            <a:xfrm>
              <a:off x="4232" y="2607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12 w 16"/>
                <a:gd name="T3" fmla="*/ 4 h 12"/>
                <a:gd name="T4" fmla="*/ 12 w 16"/>
                <a:gd name="T5" fmla="*/ 4 h 12"/>
                <a:gd name="T6" fmla="*/ 12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12 w 16"/>
                <a:gd name="T15" fmla="*/ 0 h 12"/>
                <a:gd name="T16" fmla="*/ 12 w 16"/>
                <a:gd name="T17" fmla="*/ 0 h 12"/>
                <a:gd name="T18" fmla="*/ 16 w 16"/>
                <a:gd name="T19" fmla="*/ 4 h 12"/>
                <a:gd name="T20" fmla="*/ 16 w 16"/>
                <a:gd name="T21" fmla="*/ 4 h 12"/>
                <a:gd name="T22" fmla="*/ 16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2 w 16"/>
                <a:gd name="T31" fmla="*/ 4 h 12"/>
                <a:gd name="T32" fmla="*/ 12 w 16"/>
                <a:gd name="T33" fmla="*/ 4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12 h 12"/>
                <a:gd name="T42" fmla="*/ 0 w 16"/>
                <a:gd name="T43" fmla="*/ 12 h 12"/>
                <a:gd name="T44" fmla="*/ 0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0 h 12"/>
                <a:gd name="T52" fmla="*/ 0 w 16"/>
                <a:gd name="T53" fmla="*/ 0 h 12"/>
                <a:gd name="T54" fmla="*/ 0 w 16"/>
                <a:gd name="T55" fmla="*/ 0 h 12"/>
                <a:gd name="T56" fmla="*/ 0 w 16"/>
                <a:gd name="T57" fmla="*/ 0 h 12"/>
                <a:gd name="T58" fmla="*/ 0 w 16"/>
                <a:gd name="T59" fmla="*/ 0 h 12"/>
                <a:gd name="T60" fmla="*/ 0 w 16"/>
                <a:gd name="T61" fmla="*/ 0 h 12"/>
                <a:gd name="T62" fmla="*/ 0 w 16"/>
                <a:gd name="T63" fmla="*/ 0 h 12"/>
                <a:gd name="T64" fmla="*/ 4 w 16"/>
                <a:gd name="T65" fmla="*/ 0 h 12"/>
                <a:gd name="T66" fmla="*/ 8 w 16"/>
                <a:gd name="T67" fmla="*/ 0 h 12"/>
                <a:gd name="T68" fmla="*/ 8 w 16"/>
                <a:gd name="T69" fmla="*/ 0 h 12"/>
                <a:gd name="T70" fmla="*/ 8 w 16"/>
                <a:gd name="T71" fmla="*/ 0 h 12"/>
                <a:gd name="T72" fmla="*/ 8 w 16"/>
                <a:gd name="T73" fmla="*/ 0 h 12"/>
                <a:gd name="T74" fmla="*/ 8 w 16"/>
                <a:gd name="T75" fmla="*/ 4 h 12"/>
                <a:gd name="T76" fmla="*/ 8 w 16"/>
                <a:gd name="T77" fmla="*/ 4 h 12"/>
                <a:gd name="T78" fmla="*/ 4 w 16"/>
                <a:gd name="T79" fmla="*/ 4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4" y="4"/>
                  </a:moveTo>
                  <a:lnTo>
                    <a:pt x="4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5" name="Freeform 270"/>
            <p:cNvSpPr>
              <a:spLocks noEditPoints="1"/>
            </p:cNvSpPr>
            <p:nvPr/>
          </p:nvSpPr>
          <p:spPr bwMode="auto">
            <a:xfrm>
              <a:off x="4330" y="2607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8 w 20"/>
                <a:gd name="T5" fmla="*/ 12 h 16"/>
                <a:gd name="T6" fmla="*/ 8 w 20"/>
                <a:gd name="T7" fmla="*/ 12 h 16"/>
                <a:gd name="T8" fmla="*/ 4 w 20"/>
                <a:gd name="T9" fmla="*/ 8 h 16"/>
                <a:gd name="T10" fmla="*/ 4 w 20"/>
                <a:gd name="T11" fmla="*/ 4 h 16"/>
                <a:gd name="T12" fmla="*/ 4 w 20"/>
                <a:gd name="T13" fmla="*/ 4 h 16"/>
                <a:gd name="T14" fmla="*/ 8 w 20"/>
                <a:gd name="T15" fmla="*/ 0 h 16"/>
                <a:gd name="T16" fmla="*/ 16 w 20"/>
                <a:gd name="T17" fmla="*/ 0 h 16"/>
                <a:gd name="T18" fmla="*/ 16 w 20"/>
                <a:gd name="T19" fmla="*/ 0 h 16"/>
                <a:gd name="T20" fmla="*/ 20 w 20"/>
                <a:gd name="T21" fmla="*/ 4 h 16"/>
                <a:gd name="T22" fmla="*/ 20 w 20"/>
                <a:gd name="T23" fmla="*/ 8 h 16"/>
                <a:gd name="T24" fmla="*/ 20 w 20"/>
                <a:gd name="T25" fmla="*/ 8 h 16"/>
                <a:gd name="T26" fmla="*/ 12 w 20"/>
                <a:gd name="T27" fmla="*/ 16 h 16"/>
                <a:gd name="T28" fmla="*/ 4 w 20"/>
                <a:gd name="T29" fmla="*/ 16 h 16"/>
                <a:gd name="T30" fmla="*/ 4 w 20"/>
                <a:gd name="T31" fmla="*/ 16 h 16"/>
                <a:gd name="T32" fmla="*/ 0 w 20"/>
                <a:gd name="T33" fmla="*/ 16 h 16"/>
                <a:gd name="T34" fmla="*/ 0 w 20"/>
                <a:gd name="T35" fmla="*/ 16 h 16"/>
                <a:gd name="T36" fmla="*/ 0 w 20"/>
                <a:gd name="T37" fmla="*/ 16 h 16"/>
                <a:gd name="T38" fmla="*/ 4 w 20"/>
                <a:gd name="T39" fmla="*/ 12 h 16"/>
                <a:gd name="T40" fmla="*/ 4 w 20"/>
                <a:gd name="T41" fmla="*/ 16 h 16"/>
                <a:gd name="T42" fmla="*/ 4 w 20"/>
                <a:gd name="T43" fmla="*/ 16 h 16"/>
                <a:gd name="T44" fmla="*/ 8 w 20"/>
                <a:gd name="T45" fmla="*/ 12 h 16"/>
                <a:gd name="T46" fmla="*/ 12 w 20"/>
                <a:gd name="T47" fmla="*/ 12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0 h 16"/>
                <a:gd name="T56" fmla="*/ 12 w 20"/>
                <a:gd name="T57" fmla="*/ 0 h 16"/>
                <a:gd name="T58" fmla="*/ 12 w 20"/>
                <a:gd name="T59" fmla="*/ 0 h 16"/>
                <a:gd name="T60" fmla="*/ 8 w 20"/>
                <a:gd name="T61" fmla="*/ 4 h 16"/>
                <a:gd name="T62" fmla="*/ 8 w 20"/>
                <a:gd name="T63" fmla="*/ 8 h 16"/>
                <a:gd name="T64" fmla="*/ 8 w 20"/>
                <a:gd name="T65" fmla="*/ 8 h 16"/>
                <a:gd name="T66" fmla="*/ 12 w 20"/>
                <a:gd name="T67" fmla="*/ 8 h 16"/>
                <a:gd name="T68" fmla="*/ 16 w 20"/>
                <a:gd name="T69" fmla="*/ 8 h 16"/>
                <a:gd name="T70" fmla="*/ 16 w 20"/>
                <a:gd name="T71" fmla="*/ 8 h 16"/>
                <a:gd name="T72" fmla="*/ 16 w 20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0"/>
                <a:gd name="T112" fmla="*/ 0 h 16"/>
                <a:gd name="T113" fmla="*/ 20 w 20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0" h="16">
                  <a:moveTo>
                    <a:pt x="12" y="12"/>
                  </a:move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2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6" name="Freeform 271"/>
            <p:cNvSpPr>
              <a:spLocks/>
            </p:cNvSpPr>
            <p:nvPr/>
          </p:nvSpPr>
          <p:spPr bwMode="auto">
            <a:xfrm>
              <a:off x="4299" y="2623"/>
              <a:ext cx="19" cy="15"/>
            </a:xfrm>
            <a:custGeom>
              <a:avLst/>
              <a:gdLst>
                <a:gd name="T0" fmla="*/ 4 w 19"/>
                <a:gd name="T1" fmla="*/ 8 h 15"/>
                <a:gd name="T2" fmla="*/ 8 w 19"/>
                <a:gd name="T3" fmla="*/ 4 h 15"/>
                <a:gd name="T4" fmla="*/ 8 w 19"/>
                <a:gd name="T5" fmla="*/ 4 h 15"/>
                <a:gd name="T6" fmla="*/ 8 w 19"/>
                <a:gd name="T7" fmla="*/ 4 h 15"/>
                <a:gd name="T8" fmla="*/ 8 w 19"/>
                <a:gd name="T9" fmla="*/ 4 h 15"/>
                <a:gd name="T10" fmla="*/ 8 w 19"/>
                <a:gd name="T11" fmla="*/ 4 h 15"/>
                <a:gd name="T12" fmla="*/ 12 w 19"/>
                <a:gd name="T13" fmla="*/ 4 h 15"/>
                <a:gd name="T14" fmla="*/ 12 w 19"/>
                <a:gd name="T15" fmla="*/ 4 h 15"/>
                <a:gd name="T16" fmla="*/ 12 w 19"/>
                <a:gd name="T17" fmla="*/ 11 h 15"/>
                <a:gd name="T18" fmla="*/ 12 w 19"/>
                <a:gd name="T19" fmla="*/ 4 h 15"/>
                <a:gd name="T20" fmla="*/ 12 w 19"/>
                <a:gd name="T21" fmla="*/ 4 h 15"/>
                <a:gd name="T22" fmla="*/ 12 w 19"/>
                <a:gd name="T23" fmla="*/ 4 h 15"/>
                <a:gd name="T24" fmla="*/ 12 w 19"/>
                <a:gd name="T25" fmla="*/ 4 h 15"/>
                <a:gd name="T26" fmla="*/ 12 w 19"/>
                <a:gd name="T27" fmla="*/ 4 h 15"/>
                <a:gd name="T28" fmla="*/ 12 w 19"/>
                <a:gd name="T29" fmla="*/ 4 h 15"/>
                <a:gd name="T30" fmla="*/ 12 w 19"/>
                <a:gd name="T31" fmla="*/ 0 h 15"/>
                <a:gd name="T32" fmla="*/ 16 w 19"/>
                <a:gd name="T33" fmla="*/ 0 h 15"/>
                <a:gd name="T34" fmla="*/ 19 w 19"/>
                <a:gd name="T35" fmla="*/ 4 h 15"/>
                <a:gd name="T36" fmla="*/ 19 w 19"/>
                <a:gd name="T37" fmla="*/ 4 h 15"/>
                <a:gd name="T38" fmla="*/ 19 w 19"/>
                <a:gd name="T39" fmla="*/ 4 h 15"/>
                <a:gd name="T40" fmla="*/ 19 w 19"/>
                <a:gd name="T41" fmla="*/ 4 h 15"/>
                <a:gd name="T42" fmla="*/ 19 w 19"/>
                <a:gd name="T43" fmla="*/ 4 h 15"/>
                <a:gd name="T44" fmla="*/ 19 w 19"/>
                <a:gd name="T45" fmla="*/ 4 h 15"/>
                <a:gd name="T46" fmla="*/ 16 w 19"/>
                <a:gd name="T47" fmla="*/ 4 h 15"/>
                <a:gd name="T48" fmla="*/ 16 w 19"/>
                <a:gd name="T49" fmla="*/ 4 h 15"/>
                <a:gd name="T50" fmla="*/ 12 w 19"/>
                <a:gd name="T51" fmla="*/ 11 h 15"/>
                <a:gd name="T52" fmla="*/ 12 w 19"/>
                <a:gd name="T53" fmla="*/ 11 h 15"/>
                <a:gd name="T54" fmla="*/ 8 w 19"/>
                <a:gd name="T55" fmla="*/ 15 h 15"/>
                <a:gd name="T56" fmla="*/ 8 w 19"/>
                <a:gd name="T57" fmla="*/ 15 h 15"/>
                <a:gd name="T58" fmla="*/ 8 w 19"/>
                <a:gd name="T59" fmla="*/ 15 h 15"/>
                <a:gd name="T60" fmla="*/ 8 w 19"/>
                <a:gd name="T61" fmla="*/ 15 h 15"/>
                <a:gd name="T62" fmla="*/ 8 w 19"/>
                <a:gd name="T63" fmla="*/ 11 h 15"/>
                <a:gd name="T64" fmla="*/ 8 w 19"/>
                <a:gd name="T65" fmla="*/ 11 h 15"/>
                <a:gd name="T66" fmla="*/ 8 w 19"/>
                <a:gd name="T67" fmla="*/ 4 h 15"/>
                <a:gd name="T68" fmla="*/ 4 w 19"/>
                <a:gd name="T69" fmla="*/ 11 h 15"/>
                <a:gd name="T70" fmla="*/ 4 w 19"/>
                <a:gd name="T71" fmla="*/ 11 h 15"/>
                <a:gd name="T72" fmla="*/ 0 w 19"/>
                <a:gd name="T73" fmla="*/ 11 h 15"/>
                <a:gd name="T74" fmla="*/ 0 w 19"/>
                <a:gd name="T75" fmla="*/ 11 h 15"/>
                <a:gd name="T76" fmla="*/ 0 w 19"/>
                <a:gd name="T77" fmla="*/ 11 h 15"/>
                <a:gd name="T78" fmla="*/ 0 w 19"/>
                <a:gd name="T79" fmla="*/ 11 h 15"/>
                <a:gd name="T80" fmla="*/ 0 w 19"/>
                <a:gd name="T81" fmla="*/ 11 h 15"/>
                <a:gd name="T82" fmla="*/ 0 w 19"/>
                <a:gd name="T83" fmla="*/ 11 h 15"/>
                <a:gd name="T84" fmla="*/ 4 w 19"/>
                <a:gd name="T85" fmla="*/ 0 h 15"/>
                <a:gd name="T86" fmla="*/ 4 w 19"/>
                <a:gd name="T87" fmla="*/ 0 h 15"/>
                <a:gd name="T88" fmla="*/ 4 w 19"/>
                <a:gd name="T89" fmla="*/ 0 h 15"/>
                <a:gd name="T90" fmla="*/ 4 w 19"/>
                <a:gd name="T91" fmla="*/ 0 h 15"/>
                <a:gd name="T92" fmla="*/ 4 w 19"/>
                <a:gd name="T93" fmla="*/ 0 h 15"/>
                <a:gd name="T94" fmla="*/ 4 w 19"/>
                <a:gd name="T95" fmla="*/ 0 h 15"/>
                <a:gd name="T96" fmla="*/ 4 w 19"/>
                <a:gd name="T97" fmla="*/ 0 h 15"/>
                <a:gd name="T98" fmla="*/ 4 w 19"/>
                <a:gd name="T99" fmla="*/ 0 h 15"/>
                <a:gd name="T100" fmla="*/ 8 w 19"/>
                <a:gd name="T101" fmla="*/ 0 h 15"/>
                <a:gd name="T102" fmla="*/ 8 w 19"/>
                <a:gd name="T103" fmla="*/ 0 h 15"/>
                <a:gd name="T104" fmla="*/ 8 w 19"/>
                <a:gd name="T105" fmla="*/ 0 h 15"/>
                <a:gd name="T106" fmla="*/ 8 w 19"/>
                <a:gd name="T107" fmla="*/ 0 h 15"/>
                <a:gd name="T108" fmla="*/ 8 w 19"/>
                <a:gd name="T109" fmla="*/ 0 h 15"/>
                <a:gd name="T110" fmla="*/ 8 w 19"/>
                <a:gd name="T111" fmla="*/ 4 h 15"/>
                <a:gd name="T112" fmla="*/ 8 w 19"/>
                <a:gd name="T113" fmla="*/ 4 h 15"/>
                <a:gd name="T114" fmla="*/ 8 w 19"/>
                <a:gd name="T115" fmla="*/ 0 h 1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9"/>
                <a:gd name="T175" fmla="*/ 0 h 15"/>
                <a:gd name="T176" fmla="*/ 19 w 19"/>
                <a:gd name="T177" fmla="*/ 15 h 1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9" h="15">
                  <a:moveTo>
                    <a:pt x="8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11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4"/>
                  </a:lnTo>
                  <a:lnTo>
                    <a:pt x="16" y="4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4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7" name="Freeform 272"/>
            <p:cNvSpPr>
              <a:spLocks/>
            </p:cNvSpPr>
            <p:nvPr/>
          </p:nvSpPr>
          <p:spPr bwMode="auto">
            <a:xfrm>
              <a:off x="4311" y="2627"/>
              <a:ext cx="19" cy="15"/>
            </a:xfrm>
            <a:custGeom>
              <a:avLst/>
              <a:gdLst>
                <a:gd name="T0" fmla="*/ 11 w 19"/>
                <a:gd name="T1" fmla="*/ 4 h 15"/>
                <a:gd name="T2" fmla="*/ 15 w 19"/>
                <a:gd name="T3" fmla="*/ 4 h 15"/>
                <a:gd name="T4" fmla="*/ 15 w 19"/>
                <a:gd name="T5" fmla="*/ 4 h 15"/>
                <a:gd name="T6" fmla="*/ 15 w 19"/>
                <a:gd name="T7" fmla="*/ 4 h 15"/>
                <a:gd name="T8" fmla="*/ 15 w 19"/>
                <a:gd name="T9" fmla="*/ 0 h 15"/>
                <a:gd name="T10" fmla="*/ 19 w 19"/>
                <a:gd name="T11" fmla="*/ 4 h 15"/>
                <a:gd name="T12" fmla="*/ 19 w 19"/>
                <a:gd name="T13" fmla="*/ 4 h 15"/>
                <a:gd name="T14" fmla="*/ 19 w 19"/>
                <a:gd name="T15" fmla="*/ 4 h 15"/>
                <a:gd name="T16" fmla="*/ 19 w 19"/>
                <a:gd name="T17" fmla="*/ 4 h 15"/>
                <a:gd name="T18" fmla="*/ 19 w 19"/>
                <a:gd name="T19" fmla="*/ 4 h 15"/>
                <a:gd name="T20" fmla="*/ 19 w 19"/>
                <a:gd name="T21" fmla="*/ 4 h 15"/>
                <a:gd name="T22" fmla="*/ 11 w 19"/>
                <a:gd name="T23" fmla="*/ 7 h 15"/>
                <a:gd name="T24" fmla="*/ 15 w 19"/>
                <a:gd name="T25" fmla="*/ 11 h 15"/>
                <a:gd name="T26" fmla="*/ 15 w 19"/>
                <a:gd name="T27" fmla="*/ 11 h 15"/>
                <a:gd name="T28" fmla="*/ 15 w 19"/>
                <a:gd name="T29" fmla="*/ 11 h 15"/>
                <a:gd name="T30" fmla="*/ 15 w 19"/>
                <a:gd name="T31" fmla="*/ 15 h 15"/>
                <a:gd name="T32" fmla="*/ 15 w 19"/>
                <a:gd name="T33" fmla="*/ 15 h 15"/>
                <a:gd name="T34" fmla="*/ 11 w 19"/>
                <a:gd name="T35" fmla="*/ 15 h 15"/>
                <a:gd name="T36" fmla="*/ 7 w 19"/>
                <a:gd name="T37" fmla="*/ 11 h 15"/>
                <a:gd name="T38" fmla="*/ 7 w 19"/>
                <a:gd name="T39" fmla="*/ 11 h 15"/>
                <a:gd name="T40" fmla="*/ 11 w 19"/>
                <a:gd name="T41" fmla="*/ 11 h 15"/>
                <a:gd name="T42" fmla="*/ 11 w 19"/>
                <a:gd name="T43" fmla="*/ 11 h 15"/>
                <a:gd name="T44" fmla="*/ 11 w 19"/>
                <a:gd name="T45" fmla="*/ 7 h 15"/>
                <a:gd name="T46" fmla="*/ 7 w 19"/>
                <a:gd name="T47" fmla="*/ 11 h 15"/>
                <a:gd name="T48" fmla="*/ 7 w 19"/>
                <a:gd name="T49" fmla="*/ 11 h 15"/>
                <a:gd name="T50" fmla="*/ 7 w 19"/>
                <a:gd name="T51" fmla="*/ 11 h 15"/>
                <a:gd name="T52" fmla="*/ 7 w 19"/>
                <a:gd name="T53" fmla="*/ 11 h 15"/>
                <a:gd name="T54" fmla="*/ 4 w 19"/>
                <a:gd name="T55" fmla="*/ 11 h 15"/>
                <a:gd name="T56" fmla="*/ 0 w 19"/>
                <a:gd name="T57" fmla="*/ 11 h 15"/>
                <a:gd name="T58" fmla="*/ 4 w 19"/>
                <a:gd name="T59" fmla="*/ 11 h 15"/>
                <a:gd name="T60" fmla="*/ 4 w 19"/>
                <a:gd name="T61" fmla="*/ 7 h 15"/>
                <a:gd name="T62" fmla="*/ 4 w 19"/>
                <a:gd name="T63" fmla="*/ 7 h 15"/>
                <a:gd name="T64" fmla="*/ 4 w 19"/>
                <a:gd name="T65" fmla="*/ 7 h 15"/>
                <a:gd name="T66" fmla="*/ 7 w 19"/>
                <a:gd name="T67" fmla="*/ 0 h 15"/>
                <a:gd name="T68" fmla="*/ 7 w 19"/>
                <a:gd name="T69" fmla="*/ 0 h 15"/>
                <a:gd name="T70" fmla="*/ 7 w 19"/>
                <a:gd name="T71" fmla="*/ 0 h 15"/>
                <a:gd name="T72" fmla="*/ 7 w 19"/>
                <a:gd name="T73" fmla="*/ 0 h 15"/>
                <a:gd name="T74" fmla="*/ 7 w 19"/>
                <a:gd name="T75" fmla="*/ 0 h 15"/>
                <a:gd name="T76" fmla="*/ 11 w 19"/>
                <a:gd name="T77" fmla="*/ 0 h 15"/>
                <a:gd name="T78" fmla="*/ 11 w 19"/>
                <a:gd name="T79" fmla="*/ 0 h 15"/>
                <a:gd name="T80" fmla="*/ 15 w 19"/>
                <a:gd name="T81" fmla="*/ 0 h 15"/>
                <a:gd name="T82" fmla="*/ 15 w 19"/>
                <a:gd name="T83" fmla="*/ 0 h 15"/>
                <a:gd name="T84" fmla="*/ 11 w 19"/>
                <a:gd name="T85" fmla="*/ 4 h 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9"/>
                <a:gd name="T130" fmla="*/ 0 h 15"/>
                <a:gd name="T131" fmla="*/ 19 w 19"/>
                <a:gd name="T132" fmla="*/ 15 h 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9" h="15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1" y="7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11" y="7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8" name="Freeform 273"/>
            <p:cNvSpPr>
              <a:spLocks/>
            </p:cNvSpPr>
            <p:nvPr/>
          </p:nvSpPr>
          <p:spPr bwMode="auto">
            <a:xfrm>
              <a:off x="4330" y="2631"/>
              <a:ext cx="16" cy="15"/>
            </a:xfrm>
            <a:custGeom>
              <a:avLst/>
              <a:gdLst>
                <a:gd name="T0" fmla="*/ 8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2 w 16"/>
                <a:gd name="T11" fmla="*/ 3 h 15"/>
                <a:gd name="T12" fmla="*/ 12 w 16"/>
                <a:gd name="T13" fmla="*/ 3 h 15"/>
                <a:gd name="T14" fmla="*/ 12 w 16"/>
                <a:gd name="T15" fmla="*/ 0 h 15"/>
                <a:gd name="T16" fmla="*/ 12 w 16"/>
                <a:gd name="T17" fmla="*/ 0 h 15"/>
                <a:gd name="T18" fmla="*/ 16 w 16"/>
                <a:gd name="T19" fmla="*/ 3 h 15"/>
                <a:gd name="T20" fmla="*/ 16 w 16"/>
                <a:gd name="T21" fmla="*/ 3 h 15"/>
                <a:gd name="T22" fmla="*/ 16 w 16"/>
                <a:gd name="T23" fmla="*/ 3 h 15"/>
                <a:gd name="T24" fmla="*/ 16 w 16"/>
                <a:gd name="T25" fmla="*/ 3 h 15"/>
                <a:gd name="T26" fmla="*/ 16 w 16"/>
                <a:gd name="T27" fmla="*/ 3 h 15"/>
                <a:gd name="T28" fmla="*/ 16 w 16"/>
                <a:gd name="T29" fmla="*/ 3 h 15"/>
                <a:gd name="T30" fmla="*/ 16 w 16"/>
                <a:gd name="T31" fmla="*/ 3 h 15"/>
                <a:gd name="T32" fmla="*/ 16 w 16"/>
                <a:gd name="T33" fmla="*/ 3 h 15"/>
                <a:gd name="T34" fmla="*/ 8 w 16"/>
                <a:gd name="T35" fmla="*/ 7 h 15"/>
                <a:gd name="T36" fmla="*/ 8 w 16"/>
                <a:gd name="T37" fmla="*/ 11 h 15"/>
                <a:gd name="T38" fmla="*/ 8 w 16"/>
                <a:gd name="T39" fmla="*/ 11 h 15"/>
                <a:gd name="T40" fmla="*/ 8 w 16"/>
                <a:gd name="T41" fmla="*/ 11 h 15"/>
                <a:gd name="T42" fmla="*/ 12 w 16"/>
                <a:gd name="T43" fmla="*/ 11 h 15"/>
                <a:gd name="T44" fmla="*/ 12 w 16"/>
                <a:gd name="T45" fmla="*/ 11 h 15"/>
                <a:gd name="T46" fmla="*/ 12 w 16"/>
                <a:gd name="T47" fmla="*/ 11 h 15"/>
                <a:gd name="T48" fmla="*/ 8 w 16"/>
                <a:gd name="T49" fmla="*/ 15 h 15"/>
                <a:gd name="T50" fmla="*/ 8 w 16"/>
                <a:gd name="T51" fmla="*/ 15 h 15"/>
                <a:gd name="T52" fmla="*/ 0 w 16"/>
                <a:gd name="T53" fmla="*/ 11 h 15"/>
                <a:gd name="T54" fmla="*/ 0 w 16"/>
                <a:gd name="T55" fmla="*/ 11 h 15"/>
                <a:gd name="T56" fmla="*/ 0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4 w 16"/>
                <a:gd name="T65" fmla="*/ 11 h 15"/>
                <a:gd name="T66" fmla="*/ 4 w 16"/>
                <a:gd name="T67" fmla="*/ 11 h 15"/>
                <a:gd name="T68" fmla="*/ 4 w 16"/>
                <a:gd name="T69" fmla="*/ 7 h 15"/>
                <a:gd name="T70" fmla="*/ 4 w 16"/>
                <a:gd name="T71" fmla="*/ 0 h 15"/>
                <a:gd name="T72" fmla="*/ 4 w 16"/>
                <a:gd name="T73" fmla="*/ 0 h 15"/>
                <a:gd name="T74" fmla="*/ 4 w 16"/>
                <a:gd name="T75" fmla="*/ 0 h 15"/>
                <a:gd name="T76" fmla="*/ 4 w 16"/>
                <a:gd name="T77" fmla="*/ 0 h 15"/>
                <a:gd name="T78" fmla="*/ 4 w 16"/>
                <a:gd name="T79" fmla="*/ 0 h 15"/>
                <a:gd name="T80" fmla="*/ 4 w 16"/>
                <a:gd name="T81" fmla="*/ 0 h 15"/>
                <a:gd name="T82" fmla="*/ 4 w 16"/>
                <a:gd name="T83" fmla="*/ 0 h 15"/>
                <a:gd name="T84" fmla="*/ 8 w 16"/>
                <a:gd name="T85" fmla="*/ 0 h 15"/>
                <a:gd name="T86" fmla="*/ 8 w 16"/>
                <a:gd name="T87" fmla="*/ 0 h 15"/>
                <a:gd name="T88" fmla="*/ 8 w 16"/>
                <a:gd name="T89" fmla="*/ 0 h 15"/>
                <a:gd name="T90" fmla="*/ 12 w 16"/>
                <a:gd name="T91" fmla="*/ 0 h 15"/>
                <a:gd name="T92" fmla="*/ 12 w 16"/>
                <a:gd name="T93" fmla="*/ 0 h 15"/>
                <a:gd name="T94" fmla="*/ 12 w 16"/>
                <a:gd name="T95" fmla="*/ 0 h 15"/>
                <a:gd name="T96" fmla="*/ 8 w 16"/>
                <a:gd name="T97" fmla="*/ 3 h 15"/>
                <a:gd name="T98" fmla="*/ 8 w 16"/>
                <a:gd name="T99" fmla="*/ 3 h 15"/>
                <a:gd name="T100" fmla="*/ 8 w 16"/>
                <a:gd name="T101" fmla="*/ 3 h 1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5"/>
                <a:gd name="T155" fmla="*/ 16 w 16"/>
                <a:gd name="T156" fmla="*/ 15 h 1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5">
                  <a:moveTo>
                    <a:pt x="8" y="3"/>
                  </a:moveTo>
                  <a:lnTo>
                    <a:pt x="8" y="7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1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39" name="Freeform 274"/>
            <p:cNvSpPr>
              <a:spLocks/>
            </p:cNvSpPr>
            <p:nvPr/>
          </p:nvSpPr>
          <p:spPr bwMode="auto">
            <a:xfrm>
              <a:off x="4346" y="2634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8 w 16"/>
                <a:gd name="T3" fmla="*/ 12 h 16"/>
                <a:gd name="T4" fmla="*/ 8 w 16"/>
                <a:gd name="T5" fmla="*/ 12 h 16"/>
                <a:gd name="T6" fmla="*/ 12 w 16"/>
                <a:gd name="T7" fmla="*/ 8 h 16"/>
                <a:gd name="T8" fmla="*/ 12 w 16"/>
                <a:gd name="T9" fmla="*/ 8 h 16"/>
                <a:gd name="T10" fmla="*/ 12 w 16"/>
                <a:gd name="T11" fmla="*/ 8 h 16"/>
                <a:gd name="T12" fmla="*/ 12 w 16"/>
                <a:gd name="T13" fmla="*/ 12 h 16"/>
                <a:gd name="T14" fmla="*/ 12 w 16"/>
                <a:gd name="T15" fmla="*/ 12 h 16"/>
                <a:gd name="T16" fmla="*/ 12 w 16"/>
                <a:gd name="T17" fmla="*/ 12 h 16"/>
                <a:gd name="T18" fmla="*/ 12 w 16"/>
                <a:gd name="T19" fmla="*/ 16 h 16"/>
                <a:gd name="T20" fmla="*/ 12 w 16"/>
                <a:gd name="T21" fmla="*/ 16 h 16"/>
                <a:gd name="T22" fmla="*/ 8 w 16"/>
                <a:gd name="T23" fmla="*/ 16 h 16"/>
                <a:gd name="T24" fmla="*/ 8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0 w 16"/>
                <a:gd name="T39" fmla="*/ 12 h 16"/>
                <a:gd name="T40" fmla="*/ 12 w 16"/>
                <a:gd name="T41" fmla="*/ 4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4 w 16"/>
                <a:gd name="T49" fmla="*/ 4 h 16"/>
                <a:gd name="T50" fmla="*/ 4 w 16"/>
                <a:gd name="T51" fmla="*/ 4 h 16"/>
                <a:gd name="T52" fmla="*/ 4 w 16"/>
                <a:gd name="T53" fmla="*/ 4 h 16"/>
                <a:gd name="T54" fmla="*/ 4 w 16"/>
                <a:gd name="T55" fmla="*/ 4 h 16"/>
                <a:gd name="T56" fmla="*/ 4 w 16"/>
                <a:gd name="T57" fmla="*/ 4 h 16"/>
                <a:gd name="T58" fmla="*/ 4 w 16"/>
                <a:gd name="T59" fmla="*/ 4 h 16"/>
                <a:gd name="T60" fmla="*/ 4 w 16"/>
                <a:gd name="T61" fmla="*/ 0 h 16"/>
                <a:gd name="T62" fmla="*/ 4 w 16"/>
                <a:gd name="T63" fmla="*/ 0 h 16"/>
                <a:gd name="T64" fmla="*/ 8 w 16"/>
                <a:gd name="T65" fmla="*/ 0 h 16"/>
                <a:gd name="T66" fmla="*/ 8 w 16"/>
                <a:gd name="T67" fmla="*/ 0 h 16"/>
                <a:gd name="T68" fmla="*/ 16 w 16"/>
                <a:gd name="T69" fmla="*/ 4 h 16"/>
                <a:gd name="T70" fmla="*/ 16 w 16"/>
                <a:gd name="T71" fmla="*/ 4 h 16"/>
                <a:gd name="T72" fmla="*/ 16 w 16"/>
                <a:gd name="T73" fmla="*/ 4 h 16"/>
                <a:gd name="T74" fmla="*/ 16 w 16"/>
                <a:gd name="T75" fmla="*/ 4 h 16"/>
                <a:gd name="T76" fmla="*/ 16 w 16"/>
                <a:gd name="T77" fmla="*/ 4 h 16"/>
                <a:gd name="T78" fmla="*/ 16 w 16"/>
                <a:gd name="T79" fmla="*/ 4 h 16"/>
                <a:gd name="T80" fmla="*/ 16 w 16"/>
                <a:gd name="T81" fmla="*/ 4 h 16"/>
                <a:gd name="T82" fmla="*/ 4 w 16"/>
                <a:gd name="T83" fmla="*/ 12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6"/>
                <a:gd name="T128" fmla="*/ 16 w 16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6">
                  <a:moveTo>
                    <a:pt x="4" y="12"/>
                  </a:moveTo>
                  <a:lnTo>
                    <a:pt x="8" y="12"/>
                  </a:lnTo>
                  <a:lnTo>
                    <a:pt x="12" y="8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6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40" name="Freeform 275"/>
            <p:cNvSpPr>
              <a:spLocks noEditPoints="1"/>
            </p:cNvSpPr>
            <p:nvPr/>
          </p:nvSpPr>
          <p:spPr bwMode="auto">
            <a:xfrm>
              <a:off x="4153" y="2686"/>
              <a:ext cx="20" cy="19"/>
            </a:xfrm>
            <a:custGeom>
              <a:avLst/>
              <a:gdLst>
                <a:gd name="T0" fmla="*/ 16 w 20"/>
                <a:gd name="T1" fmla="*/ 0 h 19"/>
                <a:gd name="T2" fmla="*/ 16 w 20"/>
                <a:gd name="T3" fmla="*/ 0 h 19"/>
                <a:gd name="T4" fmla="*/ 20 w 20"/>
                <a:gd name="T5" fmla="*/ 4 h 19"/>
                <a:gd name="T6" fmla="*/ 20 w 20"/>
                <a:gd name="T7" fmla="*/ 4 h 19"/>
                <a:gd name="T8" fmla="*/ 20 w 20"/>
                <a:gd name="T9" fmla="*/ 4 h 19"/>
                <a:gd name="T10" fmla="*/ 20 w 20"/>
                <a:gd name="T11" fmla="*/ 11 h 19"/>
                <a:gd name="T12" fmla="*/ 20 w 20"/>
                <a:gd name="T13" fmla="*/ 11 h 19"/>
                <a:gd name="T14" fmla="*/ 20 w 20"/>
                <a:gd name="T15" fmla="*/ 11 h 19"/>
                <a:gd name="T16" fmla="*/ 12 w 20"/>
                <a:gd name="T17" fmla="*/ 15 h 19"/>
                <a:gd name="T18" fmla="*/ 12 w 20"/>
                <a:gd name="T19" fmla="*/ 15 h 19"/>
                <a:gd name="T20" fmla="*/ 12 w 20"/>
                <a:gd name="T21" fmla="*/ 15 h 19"/>
                <a:gd name="T22" fmla="*/ 4 w 20"/>
                <a:gd name="T23" fmla="*/ 19 h 19"/>
                <a:gd name="T24" fmla="*/ 4 w 20"/>
                <a:gd name="T25" fmla="*/ 19 h 19"/>
                <a:gd name="T26" fmla="*/ 4 w 20"/>
                <a:gd name="T27" fmla="*/ 19 h 19"/>
                <a:gd name="T28" fmla="*/ 0 w 20"/>
                <a:gd name="T29" fmla="*/ 11 h 19"/>
                <a:gd name="T30" fmla="*/ 0 w 20"/>
                <a:gd name="T31" fmla="*/ 11 h 19"/>
                <a:gd name="T32" fmla="*/ 0 w 20"/>
                <a:gd name="T33" fmla="*/ 11 h 19"/>
                <a:gd name="T34" fmla="*/ 4 w 20"/>
                <a:gd name="T35" fmla="*/ 4 h 19"/>
                <a:gd name="T36" fmla="*/ 4 w 20"/>
                <a:gd name="T37" fmla="*/ 4 h 19"/>
                <a:gd name="T38" fmla="*/ 4 w 20"/>
                <a:gd name="T39" fmla="*/ 4 h 19"/>
                <a:gd name="T40" fmla="*/ 8 w 20"/>
                <a:gd name="T41" fmla="*/ 0 h 19"/>
                <a:gd name="T42" fmla="*/ 8 w 20"/>
                <a:gd name="T43" fmla="*/ 0 h 19"/>
                <a:gd name="T44" fmla="*/ 8 w 20"/>
                <a:gd name="T45" fmla="*/ 0 h 19"/>
                <a:gd name="T46" fmla="*/ 16 w 20"/>
                <a:gd name="T47" fmla="*/ 0 h 19"/>
                <a:gd name="T48" fmla="*/ 16 w 20"/>
                <a:gd name="T49" fmla="*/ 0 h 19"/>
                <a:gd name="T50" fmla="*/ 16 w 20"/>
                <a:gd name="T51" fmla="*/ 0 h 19"/>
                <a:gd name="T52" fmla="*/ 16 w 20"/>
                <a:gd name="T53" fmla="*/ 0 h 19"/>
                <a:gd name="T54" fmla="*/ 12 w 20"/>
                <a:gd name="T55" fmla="*/ 4 h 19"/>
                <a:gd name="T56" fmla="*/ 12 w 20"/>
                <a:gd name="T57" fmla="*/ 4 h 19"/>
                <a:gd name="T58" fmla="*/ 12 w 20"/>
                <a:gd name="T59" fmla="*/ 4 h 19"/>
                <a:gd name="T60" fmla="*/ 8 w 20"/>
                <a:gd name="T61" fmla="*/ 8 h 19"/>
                <a:gd name="T62" fmla="*/ 8 w 20"/>
                <a:gd name="T63" fmla="*/ 8 h 19"/>
                <a:gd name="T64" fmla="*/ 8 w 20"/>
                <a:gd name="T65" fmla="*/ 8 h 19"/>
                <a:gd name="T66" fmla="*/ 4 w 20"/>
                <a:gd name="T67" fmla="*/ 11 h 19"/>
                <a:gd name="T68" fmla="*/ 4 w 20"/>
                <a:gd name="T69" fmla="*/ 11 h 19"/>
                <a:gd name="T70" fmla="*/ 4 w 20"/>
                <a:gd name="T71" fmla="*/ 11 h 19"/>
                <a:gd name="T72" fmla="*/ 8 w 20"/>
                <a:gd name="T73" fmla="*/ 15 h 19"/>
                <a:gd name="T74" fmla="*/ 8 w 20"/>
                <a:gd name="T75" fmla="*/ 15 h 19"/>
                <a:gd name="T76" fmla="*/ 8 w 20"/>
                <a:gd name="T77" fmla="*/ 15 h 19"/>
                <a:gd name="T78" fmla="*/ 12 w 20"/>
                <a:gd name="T79" fmla="*/ 11 h 19"/>
                <a:gd name="T80" fmla="*/ 12 w 20"/>
                <a:gd name="T81" fmla="*/ 11 h 19"/>
                <a:gd name="T82" fmla="*/ 12 w 20"/>
                <a:gd name="T83" fmla="*/ 11 h 19"/>
                <a:gd name="T84" fmla="*/ 16 w 20"/>
                <a:gd name="T85" fmla="*/ 8 h 19"/>
                <a:gd name="T86" fmla="*/ 16 w 20"/>
                <a:gd name="T87" fmla="*/ 8 h 19"/>
                <a:gd name="T88" fmla="*/ 16 w 20"/>
                <a:gd name="T89" fmla="*/ 8 h 19"/>
                <a:gd name="T90" fmla="*/ 16 w 20"/>
                <a:gd name="T91" fmla="*/ 4 h 19"/>
                <a:gd name="T92" fmla="*/ 16 w 20"/>
                <a:gd name="T93" fmla="*/ 4 h 19"/>
                <a:gd name="T94" fmla="*/ 16 w 20"/>
                <a:gd name="T95" fmla="*/ 4 h 19"/>
                <a:gd name="T96" fmla="*/ 16 w 20"/>
                <a:gd name="T97" fmla="*/ 0 h 19"/>
                <a:gd name="T98" fmla="*/ 16 w 20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0"/>
                <a:gd name="T151" fmla="*/ 0 h 19"/>
                <a:gd name="T152" fmla="*/ 20 w 20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0" h="19">
                  <a:moveTo>
                    <a:pt x="16" y="0"/>
                  </a:moveTo>
                  <a:lnTo>
                    <a:pt x="16" y="0"/>
                  </a:lnTo>
                  <a:lnTo>
                    <a:pt x="20" y="4"/>
                  </a:lnTo>
                  <a:lnTo>
                    <a:pt x="20" y="11"/>
                  </a:lnTo>
                  <a:lnTo>
                    <a:pt x="12" y="15"/>
                  </a:lnTo>
                  <a:lnTo>
                    <a:pt x="4" y="19"/>
                  </a:lnTo>
                  <a:lnTo>
                    <a:pt x="0" y="11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close/>
                  <a:moveTo>
                    <a:pt x="16" y="0"/>
                  </a:moveTo>
                  <a:lnTo>
                    <a:pt x="16" y="0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1"/>
                  </a:lnTo>
                  <a:lnTo>
                    <a:pt x="8" y="15"/>
                  </a:lnTo>
                  <a:lnTo>
                    <a:pt x="12" y="11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41" name="Freeform 276"/>
            <p:cNvSpPr>
              <a:spLocks/>
            </p:cNvSpPr>
            <p:nvPr/>
          </p:nvSpPr>
          <p:spPr bwMode="auto">
            <a:xfrm>
              <a:off x="4177" y="2690"/>
              <a:ext cx="15" cy="19"/>
            </a:xfrm>
            <a:custGeom>
              <a:avLst/>
              <a:gdLst>
                <a:gd name="T0" fmla="*/ 11 w 15"/>
                <a:gd name="T1" fmla="*/ 7 h 19"/>
                <a:gd name="T2" fmla="*/ 15 w 15"/>
                <a:gd name="T3" fmla="*/ 11 h 19"/>
                <a:gd name="T4" fmla="*/ 15 w 15"/>
                <a:gd name="T5" fmla="*/ 11 h 19"/>
                <a:gd name="T6" fmla="*/ 15 w 15"/>
                <a:gd name="T7" fmla="*/ 11 h 19"/>
                <a:gd name="T8" fmla="*/ 15 w 15"/>
                <a:gd name="T9" fmla="*/ 11 h 19"/>
                <a:gd name="T10" fmla="*/ 15 w 15"/>
                <a:gd name="T11" fmla="*/ 11 h 19"/>
                <a:gd name="T12" fmla="*/ 15 w 15"/>
                <a:gd name="T13" fmla="*/ 11 h 19"/>
                <a:gd name="T14" fmla="*/ 15 w 15"/>
                <a:gd name="T15" fmla="*/ 11 h 19"/>
                <a:gd name="T16" fmla="*/ 15 w 15"/>
                <a:gd name="T17" fmla="*/ 11 h 19"/>
                <a:gd name="T18" fmla="*/ 15 w 15"/>
                <a:gd name="T19" fmla="*/ 11 h 19"/>
                <a:gd name="T20" fmla="*/ 15 w 15"/>
                <a:gd name="T21" fmla="*/ 11 h 19"/>
                <a:gd name="T22" fmla="*/ 15 w 15"/>
                <a:gd name="T23" fmla="*/ 11 h 19"/>
                <a:gd name="T24" fmla="*/ 15 w 15"/>
                <a:gd name="T25" fmla="*/ 11 h 19"/>
                <a:gd name="T26" fmla="*/ 15 w 15"/>
                <a:gd name="T27" fmla="*/ 11 h 19"/>
                <a:gd name="T28" fmla="*/ 15 w 15"/>
                <a:gd name="T29" fmla="*/ 11 h 19"/>
                <a:gd name="T30" fmla="*/ 8 w 15"/>
                <a:gd name="T31" fmla="*/ 11 h 19"/>
                <a:gd name="T32" fmla="*/ 8 w 15"/>
                <a:gd name="T33" fmla="*/ 11 h 19"/>
                <a:gd name="T34" fmla="*/ 4 w 15"/>
                <a:gd name="T35" fmla="*/ 15 h 19"/>
                <a:gd name="T36" fmla="*/ 4 w 15"/>
                <a:gd name="T37" fmla="*/ 15 h 19"/>
                <a:gd name="T38" fmla="*/ 4 w 15"/>
                <a:gd name="T39" fmla="*/ 15 h 19"/>
                <a:gd name="T40" fmla="*/ 4 w 15"/>
                <a:gd name="T41" fmla="*/ 19 h 19"/>
                <a:gd name="T42" fmla="*/ 4 w 15"/>
                <a:gd name="T43" fmla="*/ 19 h 19"/>
                <a:gd name="T44" fmla="*/ 4 w 15"/>
                <a:gd name="T45" fmla="*/ 19 h 19"/>
                <a:gd name="T46" fmla="*/ 4 w 15"/>
                <a:gd name="T47" fmla="*/ 19 h 19"/>
                <a:gd name="T48" fmla="*/ 4 w 15"/>
                <a:gd name="T49" fmla="*/ 19 h 19"/>
                <a:gd name="T50" fmla="*/ 4 w 15"/>
                <a:gd name="T51" fmla="*/ 19 h 19"/>
                <a:gd name="T52" fmla="*/ 0 w 15"/>
                <a:gd name="T53" fmla="*/ 15 h 19"/>
                <a:gd name="T54" fmla="*/ 0 w 15"/>
                <a:gd name="T55" fmla="*/ 15 h 19"/>
                <a:gd name="T56" fmla="*/ 0 w 15"/>
                <a:gd name="T57" fmla="*/ 15 h 19"/>
                <a:gd name="T58" fmla="*/ 0 w 15"/>
                <a:gd name="T59" fmla="*/ 15 h 19"/>
                <a:gd name="T60" fmla="*/ 0 w 15"/>
                <a:gd name="T61" fmla="*/ 15 h 19"/>
                <a:gd name="T62" fmla="*/ 4 w 15"/>
                <a:gd name="T63" fmla="*/ 11 h 19"/>
                <a:gd name="T64" fmla="*/ 4 w 15"/>
                <a:gd name="T65" fmla="*/ 11 h 19"/>
                <a:gd name="T66" fmla="*/ 0 w 15"/>
                <a:gd name="T67" fmla="*/ 7 h 19"/>
                <a:gd name="T68" fmla="*/ 0 w 15"/>
                <a:gd name="T69" fmla="*/ 7 h 19"/>
                <a:gd name="T70" fmla="*/ 0 w 15"/>
                <a:gd name="T71" fmla="*/ 7 h 19"/>
                <a:gd name="T72" fmla="*/ 0 w 15"/>
                <a:gd name="T73" fmla="*/ 7 h 19"/>
                <a:gd name="T74" fmla="*/ 0 w 15"/>
                <a:gd name="T75" fmla="*/ 7 h 19"/>
                <a:gd name="T76" fmla="*/ 0 w 15"/>
                <a:gd name="T77" fmla="*/ 7 h 19"/>
                <a:gd name="T78" fmla="*/ 0 w 15"/>
                <a:gd name="T79" fmla="*/ 7 h 19"/>
                <a:gd name="T80" fmla="*/ 0 w 15"/>
                <a:gd name="T81" fmla="*/ 7 h 19"/>
                <a:gd name="T82" fmla="*/ 0 w 15"/>
                <a:gd name="T83" fmla="*/ 7 h 19"/>
                <a:gd name="T84" fmla="*/ 0 w 15"/>
                <a:gd name="T85" fmla="*/ 7 h 19"/>
                <a:gd name="T86" fmla="*/ 0 w 15"/>
                <a:gd name="T87" fmla="*/ 7 h 19"/>
                <a:gd name="T88" fmla="*/ 0 w 15"/>
                <a:gd name="T89" fmla="*/ 7 h 19"/>
                <a:gd name="T90" fmla="*/ 0 w 15"/>
                <a:gd name="T91" fmla="*/ 7 h 19"/>
                <a:gd name="T92" fmla="*/ 8 w 15"/>
                <a:gd name="T93" fmla="*/ 7 h 19"/>
                <a:gd name="T94" fmla="*/ 8 w 15"/>
                <a:gd name="T95" fmla="*/ 7 h 19"/>
                <a:gd name="T96" fmla="*/ 8 w 15"/>
                <a:gd name="T97" fmla="*/ 4 h 19"/>
                <a:gd name="T98" fmla="*/ 8 w 15"/>
                <a:gd name="T99" fmla="*/ 4 h 19"/>
                <a:gd name="T100" fmla="*/ 8 w 15"/>
                <a:gd name="T101" fmla="*/ 4 h 19"/>
                <a:gd name="T102" fmla="*/ 11 w 15"/>
                <a:gd name="T103" fmla="*/ 0 h 19"/>
                <a:gd name="T104" fmla="*/ 11 w 15"/>
                <a:gd name="T105" fmla="*/ 0 h 19"/>
                <a:gd name="T106" fmla="*/ 11 w 15"/>
                <a:gd name="T107" fmla="*/ 0 h 19"/>
                <a:gd name="T108" fmla="*/ 11 w 15"/>
                <a:gd name="T109" fmla="*/ 0 h 19"/>
                <a:gd name="T110" fmla="*/ 11 w 15"/>
                <a:gd name="T111" fmla="*/ 0 h 19"/>
                <a:gd name="T112" fmla="*/ 11 w 15"/>
                <a:gd name="T113" fmla="*/ 0 h 19"/>
                <a:gd name="T114" fmla="*/ 11 w 15"/>
                <a:gd name="T115" fmla="*/ 4 h 19"/>
                <a:gd name="T116" fmla="*/ 11 w 15"/>
                <a:gd name="T117" fmla="*/ 4 h 19"/>
                <a:gd name="T118" fmla="*/ 11 w 15"/>
                <a:gd name="T119" fmla="*/ 4 h 19"/>
                <a:gd name="T120" fmla="*/ 11 w 15"/>
                <a:gd name="T121" fmla="*/ 4 h 19"/>
                <a:gd name="T122" fmla="*/ 11 w 15"/>
                <a:gd name="T123" fmla="*/ 4 h 19"/>
                <a:gd name="T124" fmla="*/ 11 w 15"/>
                <a:gd name="T125" fmla="*/ 7 h 1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9"/>
                <a:gd name="T191" fmla="*/ 15 w 15"/>
                <a:gd name="T192" fmla="*/ 19 h 1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9">
                  <a:moveTo>
                    <a:pt x="11" y="7"/>
                  </a:moveTo>
                  <a:lnTo>
                    <a:pt x="15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0" y="7"/>
                  </a:lnTo>
                  <a:lnTo>
                    <a:pt x="8" y="7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42" name="Freeform 277"/>
            <p:cNvSpPr>
              <a:spLocks/>
            </p:cNvSpPr>
            <p:nvPr/>
          </p:nvSpPr>
          <p:spPr bwMode="auto">
            <a:xfrm>
              <a:off x="4043" y="2658"/>
              <a:ext cx="27" cy="24"/>
            </a:xfrm>
            <a:custGeom>
              <a:avLst/>
              <a:gdLst>
                <a:gd name="T0" fmla="*/ 27 w 27"/>
                <a:gd name="T1" fmla="*/ 8 h 24"/>
                <a:gd name="T2" fmla="*/ 27 w 27"/>
                <a:gd name="T3" fmla="*/ 8 h 24"/>
                <a:gd name="T4" fmla="*/ 27 w 27"/>
                <a:gd name="T5" fmla="*/ 8 h 24"/>
                <a:gd name="T6" fmla="*/ 27 w 27"/>
                <a:gd name="T7" fmla="*/ 8 h 24"/>
                <a:gd name="T8" fmla="*/ 27 w 27"/>
                <a:gd name="T9" fmla="*/ 12 h 24"/>
                <a:gd name="T10" fmla="*/ 27 w 27"/>
                <a:gd name="T11" fmla="*/ 12 h 24"/>
                <a:gd name="T12" fmla="*/ 27 w 27"/>
                <a:gd name="T13" fmla="*/ 12 h 24"/>
                <a:gd name="T14" fmla="*/ 27 w 27"/>
                <a:gd name="T15" fmla="*/ 16 h 24"/>
                <a:gd name="T16" fmla="*/ 27 w 27"/>
                <a:gd name="T17" fmla="*/ 16 h 24"/>
                <a:gd name="T18" fmla="*/ 15 w 27"/>
                <a:gd name="T19" fmla="*/ 12 h 24"/>
                <a:gd name="T20" fmla="*/ 19 w 27"/>
                <a:gd name="T21" fmla="*/ 20 h 24"/>
                <a:gd name="T22" fmla="*/ 19 w 27"/>
                <a:gd name="T23" fmla="*/ 20 h 24"/>
                <a:gd name="T24" fmla="*/ 19 w 27"/>
                <a:gd name="T25" fmla="*/ 20 h 24"/>
                <a:gd name="T26" fmla="*/ 19 w 27"/>
                <a:gd name="T27" fmla="*/ 20 h 24"/>
                <a:gd name="T28" fmla="*/ 15 w 27"/>
                <a:gd name="T29" fmla="*/ 20 h 24"/>
                <a:gd name="T30" fmla="*/ 15 w 27"/>
                <a:gd name="T31" fmla="*/ 24 h 24"/>
                <a:gd name="T32" fmla="*/ 12 w 27"/>
                <a:gd name="T33" fmla="*/ 24 h 24"/>
                <a:gd name="T34" fmla="*/ 12 w 27"/>
                <a:gd name="T35" fmla="*/ 24 h 24"/>
                <a:gd name="T36" fmla="*/ 12 w 27"/>
                <a:gd name="T37" fmla="*/ 24 h 24"/>
                <a:gd name="T38" fmla="*/ 12 w 27"/>
                <a:gd name="T39" fmla="*/ 16 h 24"/>
                <a:gd name="T40" fmla="*/ 4 w 27"/>
                <a:gd name="T41" fmla="*/ 20 h 24"/>
                <a:gd name="T42" fmla="*/ 4 w 27"/>
                <a:gd name="T43" fmla="*/ 20 h 24"/>
                <a:gd name="T44" fmla="*/ 4 w 27"/>
                <a:gd name="T45" fmla="*/ 20 h 24"/>
                <a:gd name="T46" fmla="*/ 4 w 27"/>
                <a:gd name="T47" fmla="*/ 20 h 24"/>
                <a:gd name="T48" fmla="*/ 4 w 27"/>
                <a:gd name="T49" fmla="*/ 20 h 24"/>
                <a:gd name="T50" fmla="*/ 4 w 27"/>
                <a:gd name="T51" fmla="*/ 16 h 24"/>
                <a:gd name="T52" fmla="*/ 0 w 27"/>
                <a:gd name="T53" fmla="*/ 16 h 24"/>
                <a:gd name="T54" fmla="*/ 0 w 27"/>
                <a:gd name="T55" fmla="*/ 16 h 24"/>
                <a:gd name="T56" fmla="*/ 4 w 27"/>
                <a:gd name="T57" fmla="*/ 16 h 24"/>
                <a:gd name="T58" fmla="*/ 12 w 27"/>
                <a:gd name="T59" fmla="*/ 12 h 24"/>
                <a:gd name="T60" fmla="*/ 4 w 27"/>
                <a:gd name="T61" fmla="*/ 8 h 24"/>
                <a:gd name="T62" fmla="*/ 4 w 27"/>
                <a:gd name="T63" fmla="*/ 8 h 24"/>
                <a:gd name="T64" fmla="*/ 4 w 27"/>
                <a:gd name="T65" fmla="*/ 8 h 24"/>
                <a:gd name="T66" fmla="*/ 4 w 27"/>
                <a:gd name="T67" fmla="*/ 8 h 24"/>
                <a:gd name="T68" fmla="*/ 4 w 27"/>
                <a:gd name="T69" fmla="*/ 8 h 24"/>
                <a:gd name="T70" fmla="*/ 8 w 27"/>
                <a:gd name="T71" fmla="*/ 4 h 24"/>
                <a:gd name="T72" fmla="*/ 8 w 27"/>
                <a:gd name="T73" fmla="*/ 4 h 24"/>
                <a:gd name="T74" fmla="*/ 8 w 27"/>
                <a:gd name="T75" fmla="*/ 4 h 24"/>
                <a:gd name="T76" fmla="*/ 8 w 27"/>
                <a:gd name="T77" fmla="*/ 4 h 24"/>
                <a:gd name="T78" fmla="*/ 15 w 27"/>
                <a:gd name="T79" fmla="*/ 8 h 24"/>
                <a:gd name="T80" fmla="*/ 19 w 27"/>
                <a:gd name="T81" fmla="*/ 0 h 24"/>
                <a:gd name="T82" fmla="*/ 19 w 27"/>
                <a:gd name="T83" fmla="*/ 0 h 24"/>
                <a:gd name="T84" fmla="*/ 19 w 27"/>
                <a:gd name="T85" fmla="*/ 0 h 24"/>
                <a:gd name="T86" fmla="*/ 23 w 27"/>
                <a:gd name="T87" fmla="*/ 4 h 24"/>
                <a:gd name="T88" fmla="*/ 23 w 27"/>
                <a:gd name="T89" fmla="*/ 4 h 24"/>
                <a:gd name="T90" fmla="*/ 23 w 27"/>
                <a:gd name="T91" fmla="*/ 4 h 24"/>
                <a:gd name="T92" fmla="*/ 19 w 27"/>
                <a:gd name="T93" fmla="*/ 12 h 2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7"/>
                <a:gd name="T142" fmla="*/ 0 h 24"/>
                <a:gd name="T143" fmla="*/ 27 w 27"/>
                <a:gd name="T144" fmla="*/ 24 h 24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7" h="24">
                  <a:moveTo>
                    <a:pt x="19" y="12"/>
                  </a:moveTo>
                  <a:lnTo>
                    <a:pt x="27" y="8"/>
                  </a:lnTo>
                  <a:lnTo>
                    <a:pt x="27" y="12"/>
                  </a:lnTo>
                  <a:lnTo>
                    <a:pt x="27" y="16"/>
                  </a:lnTo>
                  <a:lnTo>
                    <a:pt x="23" y="16"/>
                  </a:lnTo>
                  <a:lnTo>
                    <a:pt x="15" y="12"/>
                  </a:lnTo>
                  <a:lnTo>
                    <a:pt x="19" y="20"/>
                  </a:lnTo>
                  <a:lnTo>
                    <a:pt x="15" y="20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4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2" y="12"/>
                  </a:lnTo>
                  <a:lnTo>
                    <a:pt x="4" y="8"/>
                  </a:lnTo>
                  <a:lnTo>
                    <a:pt x="8" y="4"/>
                  </a:lnTo>
                  <a:lnTo>
                    <a:pt x="15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23" y="4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43" name="Freeform 278"/>
            <p:cNvSpPr>
              <a:spLocks noEditPoints="1"/>
            </p:cNvSpPr>
            <p:nvPr/>
          </p:nvSpPr>
          <p:spPr bwMode="auto">
            <a:xfrm>
              <a:off x="4263" y="2705"/>
              <a:ext cx="36" cy="32"/>
            </a:xfrm>
            <a:custGeom>
              <a:avLst/>
              <a:gdLst>
                <a:gd name="T0" fmla="*/ 20 w 36"/>
                <a:gd name="T1" fmla="*/ 0 h 32"/>
                <a:gd name="T2" fmla="*/ 24 w 36"/>
                <a:gd name="T3" fmla="*/ 0 h 32"/>
                <a:gd name="T4" fmla="*/ 24 w 36"/>
                <a:gd name="T5" fmla="*/ 4 h 32"/>
                <a:gd name="T6" fmla="*/ 24 w 36"/>
                <a:gd name="T7" fmla="*/ 4 h 32"/>
                <a:gd name="T8" fmla="*/ 24 w 36"/>
                <a:gd name="T9" fmla="*/ 4 h 32"/>
                <a:gd name="T10" fmla="*/ 24 w 36"/>
                <a:gd name="T11" fmla="*/ 12 h 32"/>
                <a:gd name="T12" fmla="*/ 28 w 36"/>
                <a:gd name="T13" fmla="*/ 4 h 32"/>
                <a:gd name="T14" fmla="*/ 32 w 36"/>
                <a:gd name="T15" fmla="*/ 4 h 32"/>
                <a:gd name="T16" fmla="*/ 32 w 36"/>
                <a:gd name="T17" fmla="*/ 4 h 32"/>
                <a:gd name="T18" fmla="*/ 36 w 36"/>
                <a:gd name="T19" fmla="*/ 4 h 32"/>
                <a:gd name="T20" fmla="*/ 36 w 36"/>
                <a:gd name="T21" fmla="*/ 8 h 32"/>
                <a:gd name="T22" fmla="*/ 32 w 36"/>
                <a:gd name="T23" fmla="*/ 16 h 32"/>
                <a:gd name="T24" fmla="*/ 32 w 36"/>
                <a:gd name="T25" fmla="*/ 16 h 32"/>
                <a:gd name="T26" fmla="*/ 36 w 36"/>
                <a:gd name="T27" fmla="*/ 16 h 32"/>
                <a:gd name="T28" fmla="*/ 36 w 36"/>
                <a:gd name="T29" fmla="*/ 16 h 32"/>
                <a:gd name="T30" fmla="*/ 36 w 36"/>
                <a:gd name="T31" fmla="*/ 20 h 32"/>
                <a:gd name="T32" fmla="*/ 32 w 36"/>
                <a:gd name="T33" fmla="*/ 20 h 32"/>
                <a:gd name="T34" fmla="*/ 24 w 36"/>
                <a:gd name="T35" fmla="*/ 20 h 32"/>
                <a:gd name="T36" fmla="*/ 32 w 36"/>
                <a:gd name="T37" fmla="*/ 24 h 32"/>
                <a:gd name="T38" fmla="*/ 32 w 36"/>
                <a:gd name="T39" fmla="*/ 24 h 32"/>
                <a:gd name="T40" fmla="*/ 32 w 36"/>
                <a:gd name="T41" fmla="*/ 24 h 32"/>
                <a:gd name="T42" fmla="*/ 32 w 36"/>
                <a:gd name="T43" fmla="*/ 24 h 32"/>
                <a:gd name="T44" fmla="*/ 28 w 36"/>
                <a:gd name="T45" fmla="*/ 24 h 32"/>
                <a:gd name="T46" fmla="*/ 20 w 36"/>
                <a:gd name="T47" fmla="*/ 32 h 32"/>
                <a:gd name="T48" fmla="*/ 16 w 36"/>
                <a:gd name="T49" fmla="*/ 32 h 32"/>
                <a:gd name="T50" fmla="*/ 16 w 36"/>
                <a:gd name="T51" fmla="*/ 32 h 32"/>
                <a:gd name="T52" fmla="*/ 12 w 36"/>
                <a:gd name="T53" fmla="*/ 32 h 32"/>
                <a:gd name="T54" fmla="*/ 12 w 36"/>
                <a:gd name="T55" fmla="*/ 28 h 32"/>
                <a:gd name="T56" fmla="*/ 12 w 36"/>
                <a:gd name="T57" fmla="*/ 28 h 32"/>
                <a:gd name="T58" fmla="*/ 12 w 36"/>
                <a:gd name="T59" fmla="*/ 20 h 32"/>
                <a:gd name="T60" fmla="*/ 8 w 36"/>
                <a:gd name="T61" fmla="*/ 28 h 32"/>
                <a:gd name="T62" fmla="*/ 8 w 36"/>
                <a:gd name="T63" fmla="*/ 28 h 32"/>
                <a:gd name="T64" fmla="*/ 4 w 36"/>
                <a:gd name="T65" fmla="*/ 28 h 32"/>
                <a:gd name="T66" fmla="*/ 0 w 36"/>
                <a:gd name="T67" fmla="*/ 28 h 32"/>
                <a:gd name="T68" fmla="*/ 0 w 36"/>
                <a:gd name="T69" fmla="*/ 24 h 32"/>
                <a:gd name="T70" fmla="*/ 8 w 36"/>
                <a:gd name="T71" fmla="*/ 20 h 32"/>
                <a:gd name="T72" fmla="*/ 4 w 36"/>
                <a:gd name="T73" fmla="*/ 16 h 32"/>
                <a:gd name="T74" fmla="*/ 0 w 36"/>
                <a:gd name="T75" fmla="*/ 16 h 32"/>
                <a:gd name="T76" fmla="*/ 0 w 36"/>
                <a:gd name="T77" fmla="*/ 16 h 32"/>
                <a:gd name="T78" fmla="*/ 4 w 36"/>
                <a:gd name="T79" fmla="*/ 16 h 32"/>
                <a:gd name="T80" fmla="*/ 4 w 36"/>
                <a:gd name="T81" fmla="*/ 16 h 32"/>
                <a:gd name="T82" fmla="*/ 12 w 36"/>
                <a:gd name="T83" fmla="*/ 12 h 32"/>
                <a:gd name="T84" fmla="*/ 8 w 36"/>
                <a:gd name="T85" fmla="*/ 12 h 32"/>
                <a:gd name="T86" fmla="*/ 4 w 36"/>
                <a:gd name="T87" fmla="*/ 8 h 32"/>
                <a:gd name="T88" fmla="*/ 4 w 36"/>
                <a:gd name="T89" fmla="*/ 8 h 32"/>
                <a:gd name="T90" fmla="*/ 4 w 36"/>
                <a:gd name="T91" fmla="*/ 8 h 32"/>
                <a:gd name="T92" fmla="*/ 8 w 36"/>
                <a:gd name="T93" fmla="*/ 8 h 32"/>
                <a:gd name="T94" fmla="*/ 20 w 36"/>
                <a:gd name="T95" fmla="*/ 0 h 32"/>
                <a:gd name="T96" fmla="*/ 20 w 36"/>
                <a:gd name="T97" fmla="*/ 20 h 32"/>
                <a:gd name="T98" fmla="*/ 16 w 36"/>
                <a:gd name="T99" fmla="*/ 12 h 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"/>
                <a:gd name="T151" fmla="*/ 0 h 32"/>
                <a:gd name="T152" fmla="*/ 36 w 36"/>
                <a:gd name="T153" fmla="*/ 32 h 3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" h="32">
                  <a:moveTo>
                    <a:pt x="20" y="0"/>
                  </a:move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12"/>
                  </a:lnTo>
                  <a:lnTo>
                    <a:pt x="24" y="12"/>
                  </a:lnTo>
                  <a:lnTo>
                    <a:pt x="28" y="4"/>
                  </a:lnTo>
                  <a:lnTo>
                    <a:pt x="32" y="4"/>
                  </a:lnTo>
                  <a:lnTo>
                    <a:pt x="36" y="4"/>
                  </a:lnTo>
                  <a:lnTo>
                    <a:pt x="36" y="8"/>
                  </a:lnTo>
                  <a:lnTo>
                    <a:pt x="32" y="16"/>
                  </a:lnTo>
                  <a:lnTo>
                    <a:pt x="36" y="16"/>
                  </a:lnTo>
                  <a:lnTo>
                    <a:pt x="36" y="20"/>
                  </a:lnTo>
                  <a:lnTo>
                    <a:pt x="32" y="20"/>
                  </a:lnTo>
                  <a:lnTo>
                    <a:pt x="28" y="16"/>
                  </a:lnTo>
                  <a:lnTo>
                    <a:pt x="24" y="20"/>
                  </a:lnTo>
                  <a:lnTo>
                    <a:pt x="32" y="24"/>
                  </a:lnTo>
                  <a:lnTo>
                    <a:pt x="28" y="24"/>
                  </a:lnTo>
                  <a:lnTo>
                    <a:pt x="24" y="24"/>
                  </a:lnTo>
                  <a:lnTo>
                    <a:pt x="20" y="32"/>
                  </a:lnTo>
                  <a:lnTo>
                    <a:pt x="16" y="32"/>
                  </a:lnTo>
                  <a:lnTo>
                    <a:pt x="12" y="32"/>
                  </a:lnTo>
                  <a:lnTo>
                    <a:pt x="12" y="2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28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8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20" y="0"/>
                  </a:lnTo>
                  <a:close/>
                  <a:moveTo>
                    <a:pt x="16" y="16"/>
                  </a:moveTo>
                  <a:lnTo>
                    <a:pt x="20" y="20"/>
                  </a:lnTo>
                  <a:lnTo>
                    <a:pt x="24" y="16"/>
                  </a:lnTo>
                  <a:lnTo>
                    <a:pt x="16" y="12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44" name="Freeform 279"/>
            <p:cNvSpPr>
              <a:spLocks/>
            </p:cNvSpPr>
            <p:nvPr/>
          </p:nvSpPr>
          <p:spPr bwMode="auto">
            <a:xfrm>
              <a:off x="3365" y="2760"/>
              <a:ext cx="1111" cy="323"/>
            </a:xfrm>
            <a:custGeom>
              <a:avLst/>
              <a:gdLst>
                <a:gd name="T0" fmla="*/ 0 w 1111"/>
                <a:gd name="T1" fmla="*/ 32 h 323"/>
                <a:gd name="T2" fmla="*/ 12 w 1111"/>
                <a:gd name="T3" fmla="*/ 0 h 323"/>
                <a:gd name="T4" fmla="*/ 12 w 1111"/>
                <a:gd name="T5" fmla="*/ 0 h 323"/>
                <a:gd name="T6" fmla="*/ 16 w 1111"/>
                <a:gd name="T7" fmla="*/ 8 h 323"/>
                <a:gd name="T8" fmla="*/ 36 w 1111"/>
                <a:gd name="T9" fmla="*/ 24 h 323"/>
                <a:gd name="T10" fmla="*/ 51 w 1111"/>
                <a:gd name="T11" fmla="*/ 32 h 323"/>
                <a:gd name="T12" fmla="*/ 67 w 1111"/>
                <a:gd name="T13" fmla="*/ 40 h 323"/>
                <a:gd name="T14" fmla="*/ 91 w 1111"/>
                <a:gd name="T15" fmla="*/ 48 h 323"/>
                <a:gd name="T16" fmla="*/ 118 w 1111"/>
                <a:gd name="T17" fmla="*/ 48 h 323"/>
                <a:gd name="T18" fmla="*/ 118 w 1111"/>
                <a:gd name="T19" fmla="*/ 48 h 323"/>
                <a:gd name="T20" fmla="*/ 174 w 1111"/>
                <a:gd name="T21" fmla="*/ 48 h 323"/>
                <a:gd name="T22" fmla="*/ 225 w 1111"/>
                <a:gd name="T23" fmla="*/ 40 h 323"/>
                <a:gd name="T24" fmla="*/ 272 w 1111"/>
                <a:gd name="T25" fmla="*/ 32 h 323"/>
                <a:gd name="T26" fmla="*/ 1111 w 1111"/>
                <a:gd name="T27" fmla="*/ 276 h 323"/>
                <a:gd name="T28" fmla="*/ 1111 w 1111"/>
                <a:gd name="T29" fmla="*/ 323 h 323"/>
                <a:gd name="T30" fmla="*/ 0 w 1111"/>
                <a:gd name="T31" fmla="*/ 32 h 32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11"/>
                <a:gd name="T49" fmla="*/ 0 h 323"/>
                <a:gd name="T50" fmla="*/ 1111 w 1111"/>
                <a:gd name="T51" fmla="*/ 323 h 32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11" h="323">
                  <a:moveTo>
                    <a:pt x="0" y="32"/>
                  </a:moveTo>
                  <a:lnTo>
                    <a:pt x="12" y="0"/>
                  </a:lnTo>
                  <a:lnTo>
                    <a:pt x="16" y="8"/>
                  </a:lnTo>
                  <a:lnTo>
                    <a:pt x="36" y="24"/>
                  </a:lnTo>
                  <a:lnTo>
                    <a:pt x="51" y="32"/>
                  </a:lnTo>
                  <a:lnTo>
                    <a:pt x="67" y="40"/>
                  </a:lnTo>
                  <a:lnTo>
                    <a:pt x="91" y="48"/>
                  </a:lnTo>
                  <a:lnTo>
                    <a:pt x="118" y="48"/>
                  </a:lnTo>
                  <a:lnTo>
                    <a:pt x="174" y="48"/>
                  </a:lnTo>
                  <a:lnTo>
                    <a:pt x="225" y="40"/>
                  </a:lnTo>
                  <a:lnTo>
                    <a:pt x="272" y="32"/>
                  </a:lnTo>
                  <a:lnTo>
                    <a:pt x="1111" y="276"/>
                  </a:lnTo>
                  <a:lnTo>
                    <a:pt x="1111" y="323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345" name="Freeform 280"/>
            <p:cNvSpPr>
              <a:spLocks/>
            </p:cNvSpPr>
            <p:nvPr/>
          </p:nvSpPr>
          <p:spPr bwMode="auto">
            <a:xfrm>
              <a:off x="2936" y="2611"/>
              <a:ext cx="524" cy="401"/>
            </a:xfrm>
            <a:custGeom>
              <a:avLst/>
              <a:gdLst>
                <a:gd name="T0" fmla="*/ 476 w 524"/>
                <a:gd name="T1" fmla="*/ 157 h 401"/>
                <a:gd name="T2" fmla="*/ 433 w 524"/>
                <a:gd name="T3" fmla="*/ 216 h 401"/>
                <a:gd name="T4" fmla="*/ 386 w 524"/>
                <a:gd name="T5" fmla="*/ 268 h 401"/>
                <a:gd name="T6" fmla="*/ 319 w 524"/>
                <a:gd name="T7" fmla="*/ 315 h 401"/>
                <a:gd name="T8" fmla="*/ 248 w 524"/>
                <a:gd name="T9" fmla="*/ 335 h 401"/>
                <a:gd name="T10" fmla="*/ 177 w 524"/>
                <a:gd name="T11" fmla="*/ 331 h 401"/>
                <a:gd name="T12" fmla="*/ 98 w 524"/>
                <a:gd name="T13" fmla="*/ 311 h 401"/>
                <a:gd name="T14" fmla="*/ 79 w 524"/>
                <a:gd name="T15" fmla="*/ 299 h 401"/>
                <a:gd name="T16" fmla="*/ 59 w 524"/>
                <a:gd name="T17" fmla="*/ 279 h 401"/>
                <a:gd name="T18" fmla="*/ 63 w 524"/>
                <a:gd name="T19" fmla="*/ 252 h 401"/>
                <a:gd name="T20" fmla="*/ 94 w 524"/>
                <a:gd name="T21" fmla="*/ 216 h 401"/>
                <a:gd name="T22" fmla="*/ 165 w 524"/>
                <a:gd name="T23" fmla="*/ 169 h 401"/>
                <a:gd name="T24" fmla="*/ 224 w 524"/>
                <a:gd name="T25" fmla="*/ 142 h 401"/>
                <a:gd name="T26" fmla="*/ 323 w 524"/>
                <a:gd name="T27" fmla="*/ 90 h 401"/>
                <a:gd name="T28" fmla="*/ 382 w 524"/>
                <a:gd name="T29" fmla="*/ 71 h 401"/>
                <a:gd name="T30" fmla="*/ 433 w 524"/>
                <a:gd name="T31" fmla="*/ 67 h 401"/>
                <a:gd name="T32" fmla="*/ 441 w 524"/>
                <a:gd name="T33" fmla="*/ 67 h 401"/>
                <a:gd name="T34" fmla="*/ 449 w 524"/>
                <a:gd name="T35" fmla="*/ 51 h 401"/>
                <a:gd name="T36" fmla="*/ 445 w 524"/>
                <a:gd name="T37" fmla="*/ 27 h 401"/>
                <a:gd name="T38" fmla="*/ 429 w 524"/>
                <a:gd name="T39" fmla="*/ 8 h 401"/>
                <a:gd name="T40" fmla="*/ 417 w 524"/>
                <a:gd name="T41" fmla="*/ 4 h 401"/>
                <a:gd name="T42" fmla="*/ 347 w 524"/>
                <a:gd name="T43" fmla="*/ 8 h 401"/>
                <a:gd name="T44" fmla="*/ 268 w 524"/>
                <a:gd name="T45" fmla="*/ 35 h 401"/>
                <a:gd name="T46" fmla="*/ 130 w 524"/>
                <a:gd name="T47" fmla="*/ 106 h 401"/>
                <a:gd name="T48" fmla="*/ 102 w 524"/>
                <a:gd name="T49" fmla="*/ 126 h 401"/>
                <a:gd name="T50" fmla="*/ 47 w 524"/>
                <a:gd name="T51" fmla="*/ 165 h 401"/>
                <a:gd name="T52" fmla="*/ 8 w 524"/>
                <a:gd name="T53" fmla="*/ 220 h 401"/>
                <a:gd name="T54" fmla="*/ 0 w 524"/>
                <a:gd name="T55" fmla="*/ 248 h 401"/>
                <a:gd name="T56" fmla="*/ 4 w 524"/>
                <a:gd name="T57" fmla="*/ 279 h 401"/>
                <a:gd name="T58" fmla="*/ 20 w 524"/>
                <a:gd name="T59" fmla="*/ 311 h 401"/>
                <a:gd name="T60" fmla="*/ 51 w 524"/>
                <a:gd name="T61" fmla="*/ 342 h 401"/>
                <a:gd name="T62" fmla="*/ 126 w 524"/>
                <a:gd name="T63" fmla="*/ 382 h 401"/>
                <a:gd name="T64" fmla="*/ 213 w 524"/>
                <a:gd name="T65" fmla="*/ 401 h 401"/>
                <a:gd name="T66" fmla="*/ 295 w 524"/>
                <a:gd name="T67" fmla="*/ 398 h 401"/>
                <a:gd name="T68" fmla="*/ 335 w 524"/>
                <a:gd name="T69" fmla="*/ 386 h 401"/>
                <a:gd name="T70" fmla="*/ 390 w 524"/>
                <a:gd name="T71" fmla="*/ 358 h 401"/>
                <a:gd name="T72" fmla="*/ 441 w 524"/>
                <a:gd name="T73" fmla="*/ 315 h 401"/>
                <a:gd name="T74" fmla="*/ 520 w 524"/>
                <a:gd name="T75" fmla="*/ 209 h 401"/>
                <a:gd name="T76" fmla="*/ 524 w 524"/>
                <a:gd name="T77" fmla="*/ 201 h 401"/>
                <a:gd name="T78" fmla="*/ 516 w 524"/>
                <a:gd name="T79" fmla="*/ 177 h 401"/>
                <a:gd name="T80" fmla="*/ 500 w 524"/>
                <a:gd name="T81" fmla="*/ 157 h 401"/>
                <a:gd name="T82" fmla="*/ 484 w 524"/>
                <a:gd name="T83" fmla="*/ 149 h 401"/>
                <a:gd name="T84" fmla="*/ 476 w 524"/>
                <a:gd name="T85" fmla="*/ 157 h 40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24"/>
                <a:gd name="T130" fmla="*/ 0 h 401"/>
                <a:gd name="T131" fmla="*/ 524 w 524"/>
                <a:gd name="T132" fmla="*/ 401 h 40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24" h="401">
                  <a:moveTo>
                    <a:pt x="476" y="157"/>
                  </a:moveTo>
                  <a:lnTo>
                    <a:pt x="476" y="157"/>
                  </a:lnTo>
                  <a:lnTo>
                    <a:pt x="457" y="189"/>
                  </a:lnTo>
                  <a:lnTo>
                    <a:pt x="433" y="216"/>
                  </a:lnTo>
                  <a:lnTo>
                    <a:pt x="386" y="268"/>
                  </a:lnTo>
                  <a:lnTo>
                    <a:pt x="354" y="295"/>
                  </a:lnTo>
                  <a:lnTo>
                    <a:pt x="319" y="315"/>
                  </a:lnTo>
                  <a:lnTo>
                    <a:pt x="283" y="327"/>
                  </a:lnTo>
                  <a:lnTo>
                    <a:pt x="248" y="335"/>
                  </a:lnTo>
                  <a:lnTo>
                    <a:pt x="213" y="335"/>
                  </a:lnTo>
                  <a:lnTo>
                    <a:pt x="177" y="331"/>
                  </a:lnTo>
                  <a:lnTo>
                    <a:pt x="138" y="323"/>
                  </a:lnTo>
                  <a:lnTo>
                    <a:pt x="98" y="311"/>
                  </a:lnTo>
                  <a:lnTo>
                    <a:pt x="79" y="299"/>
                  </a:lnTo>
                  <a:lnTo>
                    <a:pt x="67" y="287"/>
                  </a:lnTo>
                  <a:lnTo>
                    <a:pt x="59" y="279"/>
                  </a:lnTo>
                  <a:lnTo>
                    <a:pt x="59" y="268"/>
                  </a:lnTo>
                  <a:lnTo>
                    <a:pt x="63" y="252"/>
                  </a:lnTo>
                  <a:lnTo>
                    <a:pt x="71" y="240"/>
                  </a:lnTo>
                  <a:lnTo>
                    <a:pt x="94" y="216"/>
                  </a:lnTo>
                  <a:lnTo>
                    <a:pt x="130" y="193"/>
                  </a:lnTo>
                  <a:lnTo>
                    <a:pt x="165" y="169"/>
                  </a:lnTo>
                  <a:lnTo>
                    <a:pt x="224" y="142"/>
                  </a:lnTo>
                  <a:lnTo>
                    <a:pt x="268" y="114"/>
                  </a:lnTo>
                  <a:lnTo>
                    <a:pt x="323" y="90"/>
                  </a:lnTo>
                  <a:lnTo>
                    <a:pt x="350" y="79"/>
                  </a:lnTo>
                  <a:lnTo>
                    <a:pt x="382" y="71"/>
                  </a:lnTo>
                  <a:lnTo>
                    <a:pt x="406" y="67"/>
                  </a:lnTo>
                  <a:lnTo>
                    <a:pt x="433" y="67"/>
                  </a:lnTo>
                  <a:lnTo>
                    <a:pt x="441" y="67"/>
                  </a:lnTo>
                  <a:lnTo>
                    <a:pt x="449" y="59"/>
                  </a:lnTo>
                  <a:lnTo>
                    <a:pt x="449" y="51"/>
                  </a:lnTo>
                  <a:lnTo>
                    <a:pt x="449" y="39"/>
                  </a:lnTo>
                  <a:lnTo>
                    <a:pt x="445" y="27"/>
                  </a:lnTo>
                  <a:lnTo>
                    <a:pt x="437" y="16"/>
                  </a:lnTo>
                  <a:lnTo>
                    <a:pt x="429" y="8"/>
                  </a:lnTo>
                  <a:lnTo>
                    <a:pt x="417" y="4"/>
                  </a:lnTo>
                  <a:lnTo>
                    <a:pt x="382" y="0"/>
                  </a:lnTo>
                  <a:lnTo>
                    <a:pt x="347" y="8"/>
                  </a:lnTo>
                  <a:lnTo>
                    <a:pt x="307" y="20"/>
                  </a:lnTo>
                  <a:lnTo>
                    <a:pt x="268" y="35"/>
                  </a:lnTo>
                  <a:lnTo>
                    <a:pt x="193" y="71"/>
                  </a:lnTo>
                  <a:lnTo>
                    <a:pt x="130" y="106"/>
                  </a:lnTo>
                  <a:lnTo>
                    <a:pt x="102" y="126"/>
                  </a:lnTo>
                  <a:lnTo>
                    <a:pt x="75" y="142"/>
                  </a:lnTo>
                  <a:lnTo>
                    <a:pt x="47" y="165"/>
                  </a:lnTo>
                  <a:lnTo>
                    <a:pt x="24" y="193"/>
                  </a:lnTo>
                  <a:lnTo>
                    <a:pt x="8" y="220"/>
                  </a:lnTo>
                  <a:lnTo>
                    <a:pt x="0" y="232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4" y="279"/>
                  </a:lnTo>
                  <a:lnTo>
                    <a:pt x="8" y="295"/>
                  </a:lnTo>
                  <a:lnTo>
                    <a:pt x="20" y="311"/>
                  </a:lnTo>
                  <a:lnTo>
                    <a:pt x="51" y="342"/>
                  </a:lnTo>
                  <a:lnTo>
                    <a:pt x="87" y="366"/>
                  </a:lnTo>
                  <a:lnTo>
                    <a:pt x="126" y="382"/>
                  </a:lnTo>
                  <a:lnTo>
                    <a:pt x="169" y="394"/>
                  </a:lnTo>
                  <a:lnTo>
                    <a:pt x="213" y="401"/>
                  </a:lnTo>
                  <a:lnTo>
                    <a:pt x="256" y="401"/>
                  </a:lnTo>
                  <a:lnTo>
                    <a:pt x="295" y="398"/>
                  </a:lnTo>
                  <a:lnTo>
                    <a:pt x="335" y="386"/>
                  </a:lnTo>
                  <a:lnTo>
                    <a:pt x="366" y="374"/>
                  </a:lnTo>
                  <a:lnTo>
                    <a:pt x="390" y="358"/>
                  </a:lnTo>
                  <a:lnTo>
                    <a:pt x="417" y="338"/>
                  </a:lnTo>
                  <a:lnTo>
                    <a:pt x="441" y="315"/>
                  </a:lnTo>
                  <a:lnTo>
                    <a:pt x="484" y="264"/>
                  </a:lnTo>
                  <a:lnTo>
                    <a:pt x="520" y="209"/>
                  </a:lnTo>
                  <a:lnTo>
                    <a:pt x="524" y="201"/>
                  </a:lnTo>
                  <a:lnTo>
                    <a:pt x="524" y="189"/>
                  </a:lnTo>
                  <a:lnTo>
                    <a:pt x="516" y="177"/>
                  </a:lnTo>
                  <a:lnTo>
                    <a:pt x="508" y="165"/>
                  </a:lnTo>
                  <a:lnTo>
                    <a:pt x="500" y="157"/>
                  </a:lnTo>
                  <a:lnTo>
                    <a:pt x="492" y="149"/>
                  </a:lnTo>
                  <a:lnTo>
                    <a:pt x="484" y="149"/>
                  </a:lnTo>
                  <a:lnTo>
                    <a:pt x="476" y="1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730" name="Text Box 281"/>
          <p:cNvSpPr txBox="1">
            <a:spLocks noChangeArrowheads="1"/>
          </p:cNvSpPr>
          <p:nvPr/>
        </p:nvSpPr>
        <p:spPr bwMode="auto">
          <a:xfrm flipH="1">
            <a:off x="7993063" y="4724400"/>
            <a:ext cx="430212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POTS</a:t>
            </a:r>
          </a:p>
          <a:p>
            <a:r>
              <a:rPr lang="en-US" altLang="ru-RU" sz="1000">
                <a:latin typeface="Times New Roman" pitchFamily="18" charset="0"/>
              </a:rPr>
              <a:t>ISDN</a:t>
            </a:r>
            <a:endParaRPr lang="ru-RU" altLang="ru-RU" sz="1000">
              <a:latin typeface="Times New Roman" pitchFamily="18" charset="0"/>
            </a:endParaRPr>
          </a:p>
        </p:txBody>
      </p:sp>
      <p:grpSp>
        <p:nvGrpSpPr>
          <p:cNvPr id="8" name="Group 282"/>
          <p:cNvGrpSpPr>
            <a:grpSpLocks/>
          </p:cNvGrpSpPr>
          <p:nvPr/>
        </p:nvGrpSpPr>
        <p:grpSpPr bwMode="auto">
          <a:xfrm>
            <a:off x="7345363" y="5300663"/>
            <a:ext cx="431800" cy="273050"/>
            <a:chOff x="2936" y="1784"/>
            <a:chExt cx="2040" cy="1370"/>
          </a:xfrm>
        </p:grpSpPr>
        <p:sp>
          <p:nvSpPr>
            <p:cNvPr id="28180" name="Freeform 283"/>
            <p:cNvSpPr>
              <a:spLocks/>
            </p:cNvSpPr>
            <p:nvPr/>
          </p:nvSpPr>
          <p:spPr bwMode="auto">
            <a:xfrm>
              <a:off x="3314" y="1784"/>
              <a:ext cx="1662" cy="1370"/>
            </a:xfrm>
            <a:custGeom>
              <a:avLst/>
              <a:gdLst>
                <a:gd name="T0" fmla="*/ 1650 w 1662"/>
                <a:gd name="T1" fmla="*/ 319 h 1370"/>
                <a:gd name="T2" fmla="*/ 1631 w 1662"/>
                <a:gd name="T3" fmla="*/ 315 h 1370"/>
                <a:gd name="T4" fmla="*/ 1627 w 1662"/>
                <a:gd name="T5" fmla="*/ 299 h 1370"/>
                <a:gd name="T6" fmla="*/ 1615 w 1662"/>
                <a:gd name="T7" fmla="*/ 279 h 1370"/>
                <a:gd name="T8" fmla="*/ 1599 w 1662"/>
                <a:gd name="T9" fmla="*/ 272 h 1370"/>
                <a:gd name="T10" fmla="*/ 1595 w 1662"/>
                <a:gd name="T11" fmla="*/ 272 h 1370"/>
                <a:gd name="T12" fmla="*/ 1583 w 1662"/>
                <a:gd name="T13" fmla="*/ 248 h 1370"/>
                <a:gd name="T14" fmla="*/ 1576 w 1662"/>
                <a:gd name="T15" fmla="*/ 248 h 1370"/>
                <a:gd name="T16" fmla="*/ 1320 w 1662"/>
                <a:gd name="T17" fmla="*/ 209 h 1370"/>
                <a:gd name="T18" fmla="*/ 1150 w 1662"/>
                <a:gd name="T19" fmla="*/ 173 h 1370"/>
                <a:gd name="T20" fmla="*/ 1028 w 1662"/>
                <a:gd name="T21" fmla="*/ 157 h 1370"/>
                <a:gd name="T22" fmla="*/ 985 w 1662"/>
                <a:gd name="T23" fmla="*/ 157 h 1370"/>
                <a:gd name="T24" fmla="*/ 957 w 1662"/>
                <a:gd name="T25" fmla="*/ 165 h 1370"/>
                <a:gd name="T26" fmla="*/ 898 w 1662"/>
                <a:gd name="T27" fmla="*/ 197 h 1370"/>
                <a:gd name="T28" fmla="*/ 874 w 1662"/>
                <a:gd name="T29" fmla="*/ 216 h 1370"/>
                <a:gd name="T30" fmla="*/ 874 w 1662"/>
                <a:gd name="T31" fmla="*/ 216 h 1370"/>
                <a:gd name="T32" fmla="*/ 882 w 1662"/>
                <a:gd name="T33" fmla="*/ 201 h 1370"/>
                <a:gd name="T34" fmla="*/ 890 w 1662"/>
                <a:gd name="T35" fmla="*/ 102 h 1370"/>
                <a:gd name="T36" fmla="*/ 867 w 1662"/>
                <a:gd name="T37" fmla="*/ 87 h 1370"/>
                <a:gd name="T38" fmla="*/ 855 w 1662"/>
                <a:gd name="T39" fmla="*/ 71 h 1370"/>
                <a:gd name="T40" fmla="*/ 831 w 1662"/>
                <a:gd name="T41" fmla="*/ 51 h 1370"/>
                <a:gd name="T42" fmla="*/ 741 w 1662"/>
                <a:gd name="T43" fmla="*/ 12 h 1370"/>
                <a:gd name="T44" fmla="*/ 693 w 1662"/>
                <a:gd name="T45" fmla="*/ 0 h 1370"/>
                <a:gd name="T46" fmla="*/ 642 w 1662"/>
                <a:gd name="T47" fmla="*/ 4 h 1370"/>
                <a:gd name="T48" fmla="*/ 618 w 1662"/>
                <a:gd name="T49" fmla="*/ 8 h 1370"/>
                <a:gd name="T50" fmla="*/ 567 w 1662"/>
                <a:gd name="T51" fmla="*/ 31 h 1370"/>
                <a:gd name="T52" fmla="*/ 500 w 1662"/>
                <a:gd name="T53" fmla="*/ 79 h 1370"/>
                <a:gd name="T54" fmla="*/ 461 w 1662"/>
                <a:gd name="T55" fmla="*/ 114 h 1370"/>
                <a:gd name="T56" fmla="*/ 390 w 1662"/>
                <a:gd name="T57" fmla="*/ 189 h 1370"/>
                <a:gd name="T58" fmla="*/ 327 w 1662"/>
                <a:gd name="T59" fmla="*/ 268 h 1370"/>
                <a:gd name="T60" fmla="*/ 221 w 1662"/>
                <a:gd name="T61" fmla="*/ 445 h 1370"/>
                <a:gd name="T62" fmla="*/ 130 w 1662"/>
                <a:gd name="T63" fmla="*/ 630 h 1370"/>
                <a:gd name="T64" fmla="*/ 55 w 1662"/>
                <a:gd name="T65" fmla="*/ 823 h 1370"/>
                <a:gd name="T66" fmla="*/ 39 w 1662"/>
                <a:gd name="T67" fmla="*/ 854 h 1370"/>
                <a:gd name="T68" fmla="*/ 39 w 1662"/>
                <a:gd name="T69" fmla="*/ 858 h 1370"/>
                <a:gd name="T70" fmla="*/ 39 w 1662"/>
                <a:gd name="T71" fmla="*/ 866 h 1370"/>
                <a:gd name="T72" fmla="*/ 39 w 1662"/>
                <a:gd name="T73" fmla="*/ 874 h 1370"/>
                <a:gd name="T74" fmla="*/ 20 w 1662"/>
                <a:gd name="T75" fmla="*/ 890 h 1370"/>
                <a:gd name="T76" fmla="*/ 4 w 1662"/>
                <a:gd name="T77" fmla="*/ 917 h 1370"/>
                <a:gd name="T78" fmla="*/ 0 w 1662"/>
                <a:gd name="T79" fmla="*/ 957 h 1370"/>
                <a:gd name="T80" fmla="*/ 12 w 1662"/>
                <a:gd name="T81" fmla="*/ 1028 h 1370"/>
                <a:gd name="T82" fmla="*/ 20 w 1662"/>
                <a:gd name="T83" fmla="*/ 1043 h 1370"/>
                <a:gd name="T84" fmla="*/ 32 w 1662"/>
                <a:gd name="T85" fmla="*/ 1051 h 1370"/>
                <a:gd name="T86" fmla="*/ 55 w 1662"/>
                <a:gd name="T87" fmla="*/ 1059 h 1370"/>
                <a:gd name="T88" fmla="*/ 59 w 1662"/>
                <a:gd name="T89" fmla="*/ 1067 h 1370"/>
                <a:gd name="T90" fmla="*/ 71 w 1662"/>
                <a:gd name="T91" fmla="*/ 1106 h 1370"/>
                <a:gd name="T92" fmla="*/ 95 w 1662"/>
                <a:gd name="T93" fmla="*/ 1118 h 1370"/>
                <a:gd name="T94" fmla="*/ 256 w 1662"/>
                <a:gd name="T95" fmla="*/ 1201 h 1370"/>
                <a:gd name="T96" fmla="*/ 386 w 1662"/>
                <a:gd name="T97" fmla="*/ 1252 h 1370"/>
                <a:gd name="T98" fmla="*/ 540 w 1662"/>
                <a:gd name="T99" fmla="*/ 1303 h 1370"/>
                <a:gd name="T100" fmla="*/ 717 w 1662"/>
                <a:gd name="T101" fmla="*/ 1343 h 1370"/>
                <a:gd name="T102" fmla="*/ 910 w 1662"/>
                <a:gd name="T103" fmla="*/ 1370 h 1370"/>
                <a:gd name="T104" fmla="*/ 1111 w 1662"/>
                <a:gd name="T105" fmla="*/ 1370 h 1370"/>
                <a:gd name="T106" fmla="*/ 1170 w 1662"/>
                <a:gd name="T107" fmla="*/ 1362 h 1370"/>
                <a:gd name="T108" fmla="*/ 1241 w 1662"/>
                <a:gd name="T109" fmla="*/ 1347 h 1370"/>
                <a:gd name="T110" fmla="*/ 1615 w 1662"/>
                <a:gd name="T111" fmla="*/ 693 h 1370"/>
                <a:gd name="T112" fmla="*/ 1639 w 1662"/>
                <a:gd name="T113" fmla="*/ 547 h 1370"/>
                <a:gd name="T114" fmla="*/ 1650 w 1662"/>
                <a:gd name="T115" fmla="*/ 441 h 137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62"/>
                <a:gd name="T175" fmla="*/ 0 h 1370"/>
                <a:gd name="T176" fmla="*/ 1662 w 1662"/>
                <a:gd name="T177" fmla="*/ 1370 h 137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62" h="1370">
                  <a:moveTo>
                    <a:pt x="1650" y="441"/>
                  </a:moveTo>
                  <a:lnTo>
                    <a:pt x="1650" y="319"/>
                  </a:lnTo>
                  <a:lnTo>
                    <a:pt x="1631" y="315"/>
                  </a:lnTo>
                  <a:lnTo>
                    <a:pt x="1627" y="299"/>
                  </a:lnTo>
                  <a:lnTo>
                    <a:pt x="1623" y="287"/>
                  </a:lnTo>
                  <a:lnTo>
                    <a:pt x="1615" y="279"/>
                  </a:lnTo>
                  <a:lnTo>
                    <a:pt x="1603" y="272"/>
                  </a:lnTo>
                  <a:lnTo>
                    <a:pt x="1599" y="272"/>
                  </a:lnTo>
                  <a:lnTo>
                    <a:pt x="1595" y="272"/>
                  </a:lnTo>
                  <a:lnTo>
                    <a:pt x="1587" y="256"/>
                  </a:lnTo>
                  <a:lnTo>
                    <a:pt x="1583" y="248"/>
                  </a:lnTo>
                  <a:lnTo>
                    <a:pt x="1576" y="248"/>
                  </a:lnTo>
                  <a:lnTo>
                    <a:pt x="1320" y="209"/>
                  </a:lnTo>
                  <a:lnTo>
                    <a:pt x="1237" y="193"/>
                  </a:lnTo>
                  <a:lnTo>
                    <a:pt x="1150" y="173"/>
                  </a:lnTo>
                  <a:lnTo>
                    <a:pt x="1067" y="161"/>
                  </a:lnTo>
                  <a:lnTo>
                    <a:pt x="1028" y="157"/>
                  </a:lnTo>
                  <a:lnTo>
                    <a:pt x="985" y="157"/>
                  </a:lnTo>
                  <a:lnTo>
                    <a:pt x="973" y="161"/>
                  </a:lnTo>
                  <a:lnTo>
                    <a:pt x="957" y="165"/>
                  </a:lnTo>
                  <a:lnTo>
                    <a:pt x="926" y="177"/>
                  </a:lnTo>
                  <a:lnTo>
                    <a:pt x="898" y="197"/>
                  </a:lnTo>
                  <a:lnTo>
                    <a:pt x="874" y="216"/>
                  </a:lnTo>
                  <a:lnTo>
                    <a:pt x="874" y="213"/>
                  </a:lnTo>
                  <a:lnTo>
                    <a:pt x="882" y="201"/>
                  </a:lnTo>
                  <a:lnTo>
                    <a:pt x="898" y="185"/>
                  </a:lnTo>
                  <a:lnTo>
                    <a:pt x="890" y="102"/>
                  </a:lnTo>
                  <a:lnTo>
                    <a:pt x="867" y="87"/>
                  </a:lnTo>
                  <a:lnTo>
                    <a:pt x="855" y="71"/>
                  </a:lnTo>
                  <a:lnTo>
                    <a:pt x="831" y="51"/>
                  </a:lnTo>
                  <a:lnTo>
                    <a:pt x="788" y="27"/>
                  </a:lnTo>
                  <a:lnTo>
                    <a:pt x="741" y="12"/>
                  </a:lnTo>
                  <a:lnTo>
                    <a:pt x="717" y="4"/>
                  </a:lnTo>
                  <a:lnTo>
                    <a:pt x="693" y="0"/>
                  </a:lnTo>
                  <a:lnTo>
                    <a:pt x="670" y="0"/>
                  </a:lnTo>
                  <a:lnTo>
                    <a:pt x="642" y="4"/>
                  </a:lnTo>
                  <a:lnTo>
                    <a:pt x="618" y="8"/>
                  </a:lnTo>
                  <a:lnTo>
                    <a:pt x="591" y="20"/>
                  </a:lnTo>
                  <a:lnTo>
                    <a:pt x="567" y="31"/>
                  </a:lnTo>
                  <a:lnTo>
                    <a:pt x="544" y="47"/>
                  </a:lnTo>
                  <a:lnTo>
                    <a:pt x="500" y="79"/>
                  </a:lnTo>
                  <a:lnTo>
                    <a:pt x="461" y="114"/>
                  </a:lnTo>
                  <a:lnTo>
                    <a:pt x="425" y="150"/>
                  </a:lnTo>
                  <a:lnTo>
                    <a:pt x="390" y="189"/>
                  </a:lnTo>
                  <a:lnTo>
                    <a:pt x="358" y="228"/>
                  </a:lnTo>
                  <a:lnTo>
                    <a:pt x="327" y="268"/>
                  </a:lnTo>
                  <a:lnTo>
                    <a:pt x="272" y="354"/>
                  </a:lnTo>
                  <a:lnTo>
                    <a:pt x="221" y="445"/>
                  </a:lnTo>
                  <a:lnTo>
                    <a:pt x="173" y="535"/>
                  </a:lnTo>
                  <a:lnTo>
                    <a:pt x="130" y="630"/>
                  </a:lnTo>
                  <a:lnTo>
                    <a:pt x="55" y="823"/>
                  </a:lnTo>
                  <a:lnTo>
                    <a:pt x="39" y="854"/>
                  </a:lnTo>
                  <a:lnTo>
                    <a:pt x="39" y="858"/>
                  </a:lnTo>
                  <a:lnTo>
                    <a:pt x="39" y="866"/>
                  </a:lnTo>
                  <a:lnTo>
                    <a:pt x="39" y="874"/>
                  </a:lnTo>
                  <a:lnTo>
                    <a:pt x="20" y="890"/>
                  </a:lnTo>
                  <a:lnTo>
                    <a:pt x="8" y="902"/>
                  </a:lnTo>
                  <a:lnTo>
                    <a:pt x="4" y="917"/>
                  </a:lnTo>
                  <a:lnTo>
                    <a:pt x="0" y="937"/>
                  </a:lnTo>
                  <a:lnTo>
                    <a:pt x="0" y="957"/>
                  </a:lnTo>
                  <a:lnTo>
                    <a:pt x="4" y="992"/>
                  </a:lnTo>
                  <a:lnTo>
                    <a:pt x="12" y="1028"/>
                  </a:lnTo>
                  <a:lnTo>
                    <a:pt x="20" y="1043"/>
                  </a:lnTo>
                  <a:lnTo>
                    <a:pt x="24" y="1047"/>
                  </a:lnTo>
                  <a:lnTo>
                    <a:pt x="32" y="1051"/>
                  </a:lnTo>
                  <a:lnTo>
                    <a:pt x="55" y="1059"/>
                  </a:lnTo>
                  <a:lnTo>
                    <a:pt x="59" y="1067"/>
                  </a:lnTo>
                  <a:lnTo>
                    <a:pt x="63" y="1067"/>
                  </a:lnTo>
                  <a:lnTo>
                    <a:pt x="71" y="1106"/>
                  </a:lnTo>
                  <a:lnTo>
                    <a:pt x="95" y="1118"/>
                  </a:lnTo>
                  <a:lnTo>
                    <a:pt x="158" y="1154"/>
                  </a:lnTo>
                  <a:lnTo>
                    <a:pt x="256" y="1201"/>
                  </a:lnTo>
                  <a:lnTo>
                    <a:pt x="319" y="1225"/>
                  </a:lnTo>
                  <a:lnTo>
                    <a:pt x="386" y="1252"/>
                  </a:lnTo>
                  <a:lnTo>
                    <a:pt x="461" y="1280"/>
                  </a:lnTo>
                  <a:lnTo>
                    <a:pt x="540" y="1303"/>
                  </a:lnTo>
                  <a:lnTo>
                    <a:pt x="626" y="1327"/>
                  </a:lnTo>
                  <a:lnTo>
                    <a:pt x="717" y="1343"/>
                  </a:lnTo>
                  <a:lnTo>
                    <a:pt x="811" y="1358"/>
                  </a:lnTo>
                  <a:lnTo>
                    <a:pt x="910" y="1370"/>
                  </a:lnTo>
                  <a:lnTo>
                    <a:pt x="1008" y="1370"/>
                  </a:lnTo>
                  <a:lnTo>
                    <a:pt x="1111" y="1370"/>
                  </a:lnTo>
                  <a:lnTo>
                    <a:pt x="1170" y="1362"/>
                  </a:lnTo>
                  <a:lnTo>
                    <a:pt x="1213" y="1354"/>
                  </a:lnTo>
                  <a:lnTo>
                    <a:pt x="1241" y="1347"/>
                  </a:lnTo>
                  <a:lnTo>
                    <a:pt x="1615" y="728"/>
                  </a:lnTo>
                  <a:lnTo>
                    <a:pt x="1615" y="693"/>
                  </a:lnTo>
                  <a:lnTo>
                    <a:pt x="1639" y="622"/>
                  </a:lnTo>
                  <a:lnTo>
                    <a:pt x="1639" y="547"/>
                  </a:lnTo>
                  <a:lnTo>
                    <a:pt x="1662" y="496"/>
                  </a:lnTo>
                  <a:lnTo>
                    <a:pt x="1650" y="4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81" name="Freeform 284"/>
            <p:cNvSpPr>
              <a:spLocks/>
            </p:cNvSpPr>
            <p:nvPr/>
          </p:nvSpPr>
          <p:spPr bwMode="auto">
            <a:xfrm>
              <a:off x="2983" y="2697"/>
              <a:ext cx="465" cy="339"/>
            </a:xfrm>
            <a:custGeom>
              <a:avLst/>
              <a:gdLst>
                <a:gd name="T0" fmla="*/ 465 w 465"/>
                <a:gd name="T1" fmla="*/ 197 h 339"/>
                <a:gd name="T2" fmla="*/ 465 w 465"/>
                <a:gd name="T3" fmla="*/ 197 h 339"/>
                <a:gd name="T4" fmla="*/ 445 w 465"/>
                <a:gd name="T5" fmla="*/ 225 h 339"/>
                <a:gd name="T6" fmla="*/ 422 w 465"/>
                <a:gd name="T7" fmla="*/ 249 h 339"/>
                <a:gd name="T8" fmla="*/ 386 w 465"/>
                <a:gd name="T9" fmla="*/ 276 h 339"/>
                <a:gd name="T10" fmla="*/ 347 w 465"/>
                <a:gd name="T11" fmla="*/ 304 h 339"/>
                <a:gd name="T12" fmla="*/ 323 w 465"/>
                <a:gd name="T13" fmla="*/ 315 h 339"/>
                <a:gd name="T14" fmla="*/ 300 w 465"/>
                <a:gd name="T15" fmla="*/ 327 h 339"/>
                <a:gd name="T16" fmla="*/ 276 w 465"/>
                <a:gd name="T17" fmla="*/ 335 h 339"/>
                <a:gd name="T18" fmla="*/ 248 w 465"/>
                <a:gd name="T19" fmla="*/ 339 h 339"/>
                <a:gd name="T20" fmla="*/ 221 w 465"/>
                <a:gd name="T21" fmla="*/ 339 h 339"/>
                <a:gd name="T22" fmla="*/ 189 w 465"/>
                <a:gd name="T23" fmla="*/ 335 h 339"/>
                <a:gd name="T24" fmla="*/ 189 w 465"/>
                <a:gd name="T25" fmla="*/ 335 h 339"/>
                <a:gd name="T26" fmla="*/ 134 w 465"/>
                <a:gd name="T27" fmla="*/ 323 h 339"/>
                <a:gd name="T28" fmla="*/ 87 w 465"/>
                <a:gd name="T29" fmla="*/ 312 h 339"/>
                <a:gd name="T30" fmla="*/ 51 w 465"/>
                <a:gd name="T31" fmla="*/ 292 h 339"/>
                <a:gd name="T32" fmla="*/ 24 w 465"/>
                <a:gd name="T33" fmla="*/ 276 h 339"/>
                <a:gd name="T34" fmla="*/ 12 w 465"/>
                <a:gd name="T35" fmla="*/ 264 h 339"/>
                <a:gd name="T36" fmla="*/ 8 w 465"/>
                <a:gd name="T37" fmla="*/ 252 h 339"/>
                <a:gd name="T38" fmla="*/ 4 w 465"/>
                <a:gd name="T39" fmla="*/ 241 h 339"/>
                <a:gd name="T40" fmla="*/ 0 w 465"/>
                <a:gd name="T41" fmla="*/ 229 h 339"/>
                <a:gd name="T42" fmla="*/ 4 w 465"/>
                <a:gd name="T43" fmla="*/ 217 h 339"/>
                <a:gd name="T44" fmla="*/ 8 w 465"/>
                <a:gd name="T45" fmla="*/ 205 h 339"/>
                <a:gd name="T46" fmla="*/ 16 w 465"/>
                <a:gd name="T47" fmla="*/ 193 h 339"/>
                <a:gd name="T48" fmla="*/ 24 w 465"/>
                <a:gd name="T49" fmla="*/ 178 h 339"/>
                <a:gd name="T50" fmla="*/ 24 w 465"/>
                <a:gd name="T51" fmla="*/ 178 h 339"/>
                <a:gd name="T52" fmla="*/ 55 w 465"/>
                <a:gd name="T53" fmla="*/ 150 h 339"/>
                <a:gd name="T54" fmla="*/ 95 w 465"/>
                <a:gd name="T55" fmla="*/ 123 h 339"/>
                <a:gd name="T56" fmla="*/ 142 w 465"/>
                <a:gd name="T57" fmla="*/ 95 h 339"/>
                <a:gd name="T58" fmla="*/ 189 w 465"/>
                <a:gd name="T59" fmla="*/ 71 h 339"/>
                <a:gd name="T60" fmla="*/ 280 w 465"/>
                <a:gd name="T61" fmla="*/ 32 h 339"/>
                <a:gd name="T62" fmla="*/ 339 w 465"/>
                <a:gd name="T63" fmla="*/ 8 h 339"/>
                <a:gd name="T64" fmla="*/ 339 w 465"/>
                <a:gd name="T65" fmla="*/ 8 h 339"/>
                <a:gd name="T66" fmla="*/ 374 w 465"/>
                <a:gd name="T67" fmla="*/ 4 h 339"/>
                <a:gd name="T68" fmla="*/ 398 w 465"/>
                <a:gd name="T69" fmla="*/ 0 h 339"/>
                <a:gd name="T70" fmla="*/ 422 w 465"/>
                <a:gd name="T71" fmla="*/ 4 h 33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5"/>
                <a:gd name="T109" fmla="*/ 0 h 339"/>
                <a:gd name="T110" fmla="*/ 465 w 465"/>
                <a:gd name="T111" fmla="*/ 339 h 33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5" h="339">
                  <a:moveTo>
                    <a:pt x="465" y="197"/>
                  </a:moveTo>
                  <a:lnTo>
                    <a:pt x="465" y="197"/>
                  </a:lnTo>
                  <a:lnTo>
                    <a:pt x="445" y="225"/>
                  </a:lnTo>
                  <a:lnTo>
                    <a:pt x="422" y="249"/>
                  </a:lnTo>
                  <a:lnTo>
                    <a:pt x="386" y="276"/>
                  </a:lnTo>
                  <a:lnTo>
                    <a:pt x="347" y="304"/>
                  </a:lnTo>
                  <a:lnTo>
                    <a:pt x="323" y="315"/>
                  </a:lnTo>
                  <a:lnTo>
                    <a:pt x="300" y="327"/>
                  </a:lnTo>
                  <a:lnTo>
                    <a:pt x="276" y="335"/>
                  </a:lnTo>
                  <a:lnTo>
                    <a:pt x="248" y="339"/>
                  </a:lnTo>
                  <a:lnTo>
                    <a:pt x="221" y="339"/>
                  </a:lnTo>
                  <a:lnTo>
                    <a:pt x="189" y="335"/>
                  </a:lnTo>
                  <a:lnTo>
                    <a:pt x="134" y="323"/>
                  </a:lnTo>
                  <a:lnTo>
                    <a:pt x="87" y="312"/>
                  </a:lnTo>
                  <a:lnTo>
                    <a:pt x="51" y="292"/>
                  </a:lnTo>
                  <a:lnTo>
                    <a:pt x="24" y="276"/>
                  </a:lnTo>
                  <a:lnTo>
                    <a:pt x="12" y="264"/>
                  </a:lnTo>
                  <a:lnTo>
                    <a:pt x="8" y="252"/>
                  </a:lnTo>
                  <a:lnTo>
                    <a:pt x="4" y="241"/>
                  </a:lnTo>
                  <a:lnTo>
                    <a:pt x="0" y="229"/>
                  </a:lnTo>
                  <a:lnTo>
                    <a:pt x="4" y="217"/>
                  </a:lnTo>
                  <a:lnTo>
                    <a:pt x="8" y="205"/>
                  </a:lnTo>
                  <a:lnTo>
                    <a:pt x="16" y="193"/>
                  </a:lnTo>
                  <a:lnTo>
                    <a:pt x="24" y="178"/>
                  </a:lnTo>
                  <a:lnTo>
                    <a:pt x="55" y="150"/>
                  </a:lnTo>
                  <a:lnTo>
                    <a:pt x="95" y="123"/>
                  </a:lnTo>
                  <a:lnTo>
                    <a:pt x="142" y="95"/>
                  </a:lnTo>
                  <a:lnTo>
                    <a:pt x="189" y="71"/>
                  </a:lnTo>
                  <a:lnTo>
                    <a:pt x="280" y="32"/>
                  </a:lnTo>
                  <a:lnTo>
                    <a:pt x="339" y="8"/>
                  </a:lnTo>
                  <a:lnTo>
                    <a:pt x="374" y="4"/>
                  </a:lnTo>
                  <a:lnTo>
                    <a:pt x="398" y="0"/>
                  </a:lnTo>
                  <a:lnTo>
                    <a:pt x="422" y="4"/>
                  </a:lnTo>
                </a:path>
              </a:pathLst>
            </a:custGeom>
            <a:noFill/>
            <a:ln w="68263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82" name="Freeform 285"/>
            <p:cNvSpPr>
              <a:spLocks/>
            </p:cNvSpPr>
            <p:nvPr/>
          </p:nvSpPr>
          <p:spPr bwMode="auto">
            <a:xfrm>
              <a:off x="3373" y="2071"/>
              <a:ext cx="1603" cy="1083"/>
            </a:xfrm>
            <a:custGeom>
              <a:avLst/>
              <a:gdLst>
                <a:gd name="T0" fmla="*/ 808 w 1603"/>
                <a:gd name="T1" fmla="*/ 8 h 1083"/>
                <a:gd name="T2" fmla="*/ 808 w 1603"/>
                <a:gd name="T3" fmla="*/ 8 h 1083"/>
                <a:gd name="T4" fmla="*/ 886 w 1603"/>
                <a:gd name="T5" fmla="*/ 4 h 1083"/>
                <a:gd name="T6" fmla="*/ 953 w 1603"/>
                <a:gd name="T7" fmla="*/ 0 h 1083"/>
                <a:gd name="T8" fmla="*/ 1012 w 1603"/>
                <a:gd name="T9" fmla="*/ 4 h 1083"/>
                <a:gd name="T10" fmla="*/ 1012 w 1603"/>
                <a:gd name="T11" fmla="*/ 4 h 1083"/>
                <a:gd name="T12" fmla="*/ 1103 w 1603"/>
                <a:gd name="T13" fmla="*/ 8 h 1083"/>
                <a:gd name="T14" fmla="*/ 1142 w 1603"/>
                <a:gd name="T15" fmla="*/ 12 h 1083"/>
                <a:gd name="T16" fmla="*/ 1186 w 1603"/>
                <a:gd name="T17" fmla="*/ 24 h 1083"/>
                <a:gd name="T18" fmla="*/ 1186 w 1603"/>
                <a:gd name="T19" fmla="*/ 24 h 1083"/>
                <a:gd name="T20" fmla="*/ 1276 w 1603"/>
                <a:gd name="T21" fmla="*/ 40 h 1083"/>
                <a:gd name="T22" fmla="*/ 1406 w 1603"/>
                <a:gd name="T23" fmla="*/ 63 h 1083"/>
                <a:gd name="T24" fmla="*/ 1576 w 1603"/>
                <a:gd name="T25" fmla="*/ 91 h 1083"/>
                <a:gd name="T26" fmla="*/ 1603 w 1603"/>
                <a:gd name="T27" fmla="*/ 209 h 1083"/>
                <a:gd name="T28" fmla="*/ 1580 w 1603"/>
                <a:gd name="T29" fmla="*/ 260 h 1083"/>
                <a:gd name="T30" fmla="*/ 1580 w 1603"/>
                <a:gd name="T31" fmla="*/ 335 h 1083"/>
                <a:gd name="T32" fmla="*/ 1556 w 1603"/>
                <a:gd name="T33" fmla="*/ 406 h 1083"/>
                <a:gd name="T34" fmla="*/ 1556 w 1603"/>
                <a:gd name="T35" fmla="*/ 441 h 1083"/>
                <a:gd name="T36" fmla="*/ 1182 w 1603"/>
                <a:gd name="T37" fmla="*/ 1060 h 1083"/>
                <a:gd name="T38" fmla="*/ 1182 w 1603"/>
                <a:gd name="T39" fmla="*/ 1060 h 1083"/>
                <a:gd name="T40" fmla="*/ 1154 w 1603"/>
                <a:gd name="T41" fmla="*/ 1067 h 1083"/>
                <a:gd name="T42" fmla="*/ 1111 w 1603"/>
                <a:gd name="T43" fmla="*/ 1075 h 1083"/>
                <a:gd name="T44" fmla="*/ 1052 w 1603"/>
                <a:gd name="T45" fmla="*/ 1083 h 1083"/>
                <a:gd name="T46" fmla="*/ 1052 w 1603"/>
                <a:gd name="T47" fmla="*/ 1083 h 1083"/>
                <a:gd name="T48" fmla="*/ 949 w 1603"/>
                <a:gd name="T49" fmla="*/ 1083 h 1083"/>
                <a:gd name="T50" fmla="*/ 851 w 1603"/>
                <a:gd name="T51" fmla="*/ 1083 h 1083"/>
                <a:gd name="T52" fmla="*/ 752 w 1603"/>
                <a:gd name="T53" fmla="*/ 1071 h 1083"/>
                <a:gd name="T54" fmla="*/ 658 w 1603"/>
                <a:gd name="T55" fmla="*/ 1056 h 1083"/>
                <a:gd name="T56" fmla="*/ 567 w 1603"/>
                <a:gd name="T57" fmla="*/ 1040 h 1083"/>
                <a:gd name="T58" fmla="*/ 481 w 1603"/>
                <a:gd name="T59" fmla="*/ 1016 h 1083"/>
                <a:gd name="T60" fmla="*/ 402 w 1603"/>
                <a:gd name="T61" fmla="*/ 993 h 1083"/>
                <a:gd name="T62" fmla="*/ 327 w 1603"/>
                <a:gd name="T63" fmla="*/ 965 h 1083"/>
                <a:gd name="T64" fmla="*/ 260 w 1603"/>
                <a:gd name="T65" fmla="*/ 938 h 1083"/>
                <a:gd name="T66" fmla="*/ 197 w 1603"/>
                <a:gd name="T67" fmla="*/ 914 h 1083"/>
                <a:gd name="T68" fmla="*/ 99 w 1603"/>
                <a:gd name="T69" fmla="*/ 867 h 1083"/>
                <a:gd name="T70" fmla="*/ 36 w 1603"/>
                <a:gd name="T71" fmla="*/ 831 h 1083"/>
                <a:gd name="T72" fmla="*/ 12 w 1603"/>
                <a:gd name="T73" fmla="*/ 819 h 1083"/>
                <a:gd name="T74" fmla="*/ 0 w 1603"/>
                <a:gd name="T75" fmla="*/ 768 h 1083"/>
                <a:gd name="T76" fmla="*/ 8 w 1603"/>
                <a:gd name="T77" fmla="*/ 709 h 1083"/>
                <a:gd name="T78" fmla="*/ 808 w 1603"/>
                <a:gd name="T79" fmla="*/ 8 h 108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03"/>
                <a:gd name="T121" fmla="*/ 0 h 1083"/>
                <a:gd name="T122" fmla="*/ 1603 w 1603"/>
                <a:gd name="T123" fmla="*/ 1083 h 108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03" h="1083">
                  <a:moveTo>
                    <a:pt x="808" y="8"/>
                  </a:moveTo>
                  <a:lnTo>
                    <a:pt x="808" y="8"/>
                  </a:lnTo>
                  <a:lnTo>
                    <a:pt x="886" y="4"/>
                  </a:lnTo>
                  <a:lnTo>
                    <a:pt x="953" y="0"/>
                  </a:lnTo>
                  <a:lnTo>
                    <a:pt x="1012" y="4"/>
                  </a:lnTo>
                  <a:lnTo>
                    <a:pt x="1103" y="8"/>
                  </a:lnTo>
                  <a:lnTo>
                    <a:pt x="1142" y="12"/>
                  </a:lnTo>
                  <a:lnTo>
                    <a:pt x="1186" y="24"/>
                  </a:lnTo>
                  <a:lnTo>
                    <a:pt x="1276" y="40"/>
                  </a:lnTo>
                  <a:lnTo>
                    <a:pt x="1406" y="63"/>
                  </a:lnTo>
                  <a:lnTo>
                    <a:pt x="1576" y="91"/>
                  </a:lnTo>
                  <a:lnTo>
                    <a:pt x="1603" y="209"/>
                  </a:lnTo>
                  <a:lnTo>
                    <a:pt x="1580" y="260"/>
                  </a:lnTo>
                  <a:lnTo>
                    <a:pt x="1580" y="335"/>
                  </a:lnTo>
                  <a:lnTo>
                    <a:pt x="1556" y="406"/>
                  </a:lnTo>
                  <a:lnTo>
                    <a:pt x="1556" y="441"/>
                  </a:lnTo>
                  <a:lnTo>
                    <a:pt x="1182" y="1060"/>
                  </a:lnTo>
                  <a:lnTo>
                    <a:pt x="1154" y="1067"/>
                  </a:lnTo>
                  <a:lnTo>
                    <a:pt x="1111" y="1075"/>
                  </a:lnTo>
                  <a:lnTo>
                    <a:pt x="1052" y="1083"/>
                  </a:lnTo>
                  <a:lnTo>
                    <a:pt x="949" y="1083"/>
                  </a:lnTo>
                  <a:lnTo>
                    <a:pt x="851" y="1083"/>
                  </a:lnTo>
                  <a:lnTo>
                    <a:pt x="752" y="1071"/>
                  </a:lnTo>
                  <a:lnTo>
                    <a:pt x="658" y="1056"/>
                  </a:lnTo>
                  <a:lnTo>
                    <a:pt x="567" y="1040"/>
                  </a:lnTo>
                  <a:lnTo>
                    <a:pt x="481" y="1016"/>
                  </a:lnTo>
                  <a:lnTo>
                    <a:pt x="402" y="993"/>
                  </a:lnTo>
                  <a:lnTo>
                    <a:pt x="327" y="965"/>
                  </a:lnTo>
                  <a:lnTo>
                    <a:pt x="260" y="938"/>
                  </a:lnTo>
                  <a:lnTo>
                    <a:pt x="197" y="914"/>
                  </a:lnTo>
                  <a:lnTo>
                    <a:pt x="99" y="867"/>
                  </a:lnTo>
                  <a:lnTo>
                    <a:pt x="36" y="831"/>
                  </a:lnTo>
                  <a:lnTo>
                    <a:pt x="12" y="819"/>
                  </a:lnTo>
                  <a:lnTo>
                    <a:pt x="0" y="768"/>
                  </a:lnTo>
                  <a:lnTo>
                    <a:pt x="8" y="709"/>
                  </a:lnTo>
                  <a:lnTo>
                    <a:pt x="808" y="8"/>
                  </a:lnTo>
                  <a:close/>
                </a:path>
              </a:pathLst>
            </a:custGeom>
            <a:solidFill>
              <a:srgbClr val="CCCCCC"/>
            </a:solidFill>
            <a:ln w="31750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83" name="Freeform 286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1571 w 1603"/>
                <a:gd name="T75" fmla="*/ 129 h 10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03"/>
                <a:gd name="T115" fmla="*/ 0 h 1078"/>
                <a:gd name="T116" fmla="*/ 1603 w 1603"/>
                <a:gd name="T117" fmla="*/ 1078 h 107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  <a:lnTo>
                    <a:pt x="1571" y="1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84" name="Freeform 287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03"/>
                <a:gd name="T112" fmla="*/ 0 h 1078"/>
                <a:gd name="T113" fmla="*/ 1603 w 1603"/>
                <a:gd name="T114" fmla="*/ 1078 h 107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85" name="Freeform 288"/>
            <p:cNvSpPr>
              <a:spLocks/>
            </p:cNvSpPr>
            <p:nvPr/>
          </p:nvSpPr>
          <p:spPr bwMode="auto">
            <a:xfrm>
              <a:off x="3361" y="1997"/>
              <a:ext cx="1603" cy="1130"/>
            </a:xfrm>
            <a:custGeom>
              <a:avLst/>
              <a:gdLst>
                <a:gd name="T0" fmla="*/ 1603 w 1603"/>
                <a:gd name="T1" fmla="*/ 106 h 1130"/>
                <a:gd name="T2" fmla="*/ 1603 w 1603"/>
                <a:gd name="T3" fmla="*/ 244 h 1130"/>
                <a:gd name="T4" fmla="*/ 1580 w 1603"/>
                <a:gd name="T5" fmla="*/ 370 h 1130"/>
                <a:gd name="T6" fmla="*/ 1556 w 1603"/>
                <a:gd name="T7" fmla="*/ 441 h 1130"/>
                <a:gd name="T8" fmla="*/ 1556 w 1603"/>
                <a:gd name="T9" fmla="*/ 476 h 1130"/>
                <a:gd name="T10" fmla="*/ 1182 w 1603"/>
                <a:gd name="T11" fmla="*/ 1094 h 1130"/>
                <a:gd name="T12" fmla="*/ 1123 w 1603"/>
                <a:gd name="T13" fmla="*/ 1130 h 1130"/>
                <a:gd name="T14" fmla="*/ 1123 w 1603"/>
                <a:gd name="T15" fmla="*/ 1130 h 1130"/>
                <a:gd name="T16" fmla="*/ 1091 w 1603"/>
                <a:gd name="T17" fmla="*/ 1130 h 1130"/>
                <a:gd name="T18" fmla="*/ 1052 w 1603"/>
                <a:gd name="T19" fmla="*/ 1126 h 1130"/>
                <a:gd name="T20" fmla="*/ 993 w 1603"/>
                <a:gd name="T21" fmla="*/ 1114 h 1130"/>
                <a:gd name="T22" fmla="*/ 993 w 1603"/>
                <a:gd name="T23" fmla="*/ 1114 h 1130"/>
                <a:gd name="T24" fmla="*/ 914 w 1603"/>
                <a:gd name="T25" fmla="*/ 1094 h 1130"/>
                <a:gd name="T26" fmla="*/ 784 w 1603"/>
                <a:gd name="T27" fmla="*/ 1063 h 1130"/>
                <a:gd name="T28" fmla="*/ 453 w 1603"/>
                <a:gd name="T29" fmla="*/ 976 h 1130"/>
                <a:gd name="T30" fmla="*/ 12 w 1603"/>
                <a:gd name="T31" fmla="*/ 854 h 1130"/>
                <a:gd name="T32" fmla="*/ 0 w 1603"/>
                <a:gd name="T33" fmla="*/ 803 h 1130"/>
                <a:gd name="T34" fmla="*/ 20 w 1603"/>
                <a:gd name="T35" fmla="*/ 740 h 1130"/>
                <a:gd name="T36" fmla="*/ 737 w 1603"/>
                <a:gd name="T37" fmla="*/ 106 h 1130"/>
                <a:gd name="T38" fmla="*/ 812 w 1603"/>
                <a:gd name="T39" fmla="*/ 51 h 1130"/>
                <a:gd name="T40" fmla="*/ 812 w 1603"/>
                <a:gd name="T41" fmla="*/ 51 h 1130"/>
                <a:gd name="T42" fmla="*/ 879 w 1603"/>
                <a:gd name="T43" fmla="*/ 23 h 1130"/>
                <a:gd name="T44" fmla="*/ 934 w 1603"/>
                <a:gd name="T45" fmla="*/ 7 h 1130"/>
                <a:gd name="T46" fmla="*/ 961 w 1603"/>
                <a:gd name="T47" fmla="*/ 3 h 1130"/>
                <a:gd name="T48" fmla="*/ 981 w 1603"/>
                <a:gd name="T49" fmla="*/ 0 h 1130"/>
                <a:gd name="T50" fmla="*/ 981 w 1603"/>
                <a:gd name="T51" fmla="*/ 0 h 1130"/>
                <a:gd name="T52" fmla="*/ 1036 w 1603"/>
                <a:gd name="T53" fmla="*/ 3 h 1130"/>
                <a:gd name="T54" fmla="*/ 1091 w 1603"/>
                <a:gd name="T55" fmla="*/ 11 h 1130"/>
                <a:gd name="T56" fmla="*/ 1194 w 1603"/>
                <a:gd name="T57" fmla="*/ 31 h 1130"/>
                <a:gd name="T58" fmla="*/ 1194 w 1603"/>
                <a:gd name="T59" fmla="*/ 31 h 1130"/>
                <a:gd name="T60" fmla="*/ 1395 w 1603"/>
                <a:gd name="T61" fmla="*/ 66 h 1130"/>
                <a:gd name="T62" fmla="*/ 1544 w 1603"/>
                <a:gd name="T63" fmla="*/ 94 h 1130"/>
                <a:gd name="T64" fmla="*/ 1603 w 1603"/>
                <a:gd name="T65" fmla="*/ 106 h 11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03"/>
                <a:gd name="T100" fmla="*/ 0 h 1130"/>
                <a:gd name="T101" fmla="*/ 1603 w 1603"/>
                <a:gd name="T102" fmla="*/ 1130 h 11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03" h="1130">
                  <a:moveTo>
                    <a:pt x="1603" y="106"/>
                  </a:moveTo>
                  <a:lnTo>
                    <a:pt x="1603" y="244"/>
                  </a:lnTo>
                  <a:lnTo>
                    <a:pt x="1580" y="370"/>
                  </a:lnTo>
                  <a:lnTo>
                    <a:pt x="1556" y="441"/>
                  </a:lnTo>
                  <a:lnTo>
                    <a:pt x="1556" y="476"/>
                  </a:lnTo>
                  <a:lnTo>
                    <a:pt x="1182" y="1094"/>
                  </a:lnTo>
                  <a:lnTo>
                    <a:pt x="1123" y="1130"/>
                  </a:lnTo>
                  <a:lnTo>
                    <a:pt x="1091" y="1130"/>
                  </a:lnTo>
                  <a:lnTo>
                    <a:pt x="1052" y="1126"/>
                  </a:lnTo>
                  <a:lnTo>
                    <a:pt x="993" y="1114"/>
                  </a:lnTo>
                  <a:lnTo>
                    <a:pt x="914" y="1094"/>
                  </a:lnTo>
                  <a:lnTo>
                    <a:pt x="784" y="1063"/>
                  </a:lnTo>
                  <a:lnTo>
                    <a:pt x="453" y="976"/>
                  </a:lnTo>
                  <a:lnTo>
                    <a:pt x="12" y="854"/>
                  </a:lnTo>
                  <a:lnTo>
                    <a:pt x="0" y="803"/>
                  </a:lnTo>
                  <a:lnTo>
                    <a:pt x="20" y="740"/>
                  </a:lnTo>
                  <a:lnTo>
                    <a:pt x="737" y="106"/>
                  </a:lnTo>
                  <a:lnTo>
                    <a:pt x="812" y="51"/>
                  </a:lnTo>
                  <a:lnTo>
                    <a:pt x="879" y="23"/>
                  </a:lnTo>
                  <a:lnTo>
                    <a:pt x="934" y="7"/>
                  </a:lnTo>
                  <a:lnTo>
                    <a:pt x="961" y="3"/>
                  </a:lnTo>
                  <a:lnTo>
                    <a:pt x="981" y="0"/>
                  </a:lnTo>
                  <a:lnTo>
                    <a:pt x="1036" y="3"/>
                  </a:lnTo>
                  <a:lnTo>
                    <a:pt x="1091" y="11"/>
                  </a:lnTo>
                  <a:lnTo>
                    <a:pt x="1194" y="31"/>
                  </a:lnTo>
                  <a:lnTo>
                    <a:pt x="1395" y="66"/>
                  </a:lnTo>
                  <a:lnTo>
                    <a:pt x="1544" y="94"/>
                  </a:lnTo>
                  <a:lnTo>
                    <a:pt x="1603" y="106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86" name="Freeform 289"/>
            <p:cNvSpPr>
              <a:spLocks/>
            </p:cNvSpPr>
            <p:nvPr/>
          </p:nvSpPr>
          <p:spPr bwMode="auto">
            <a:xfrm>
              <a:off x="3314" y="1941"/>
              <a:ext cx="1635" cy="1190"/>
            </a:xfrm>
            <a:custGeom>
              <a:avLst/>
              <a:gdLst>
                <a:gd name="T0" fmla="*/ 1595 w 1635"/>
                <a:gd name="T1" fmla="*/ 233 h 1190"/>
                <a:gd name="T2" fmla="*/ 1580 w 1635"/>
                <a:gd name="T3" fmla="*/ 390 h 1190"/>
                <a:gd name="T4" fmla="*/ 1524 w 1635"/>
                <a:gd name="T5" fmla="*/ 536 h 1190"/>
                <a:gd name="T6" fmla="*/ 1201 w 1635"/>
                <a:gd name="T7" fmla="*/ 1111 h 1190"/>
                <a:gd name="T8" fmla="*/ 1182 w 1635"/>
                <a:gd name="T9" fmla="*/ 1146 h 1190"/>
                <a:gd name="T10" fmla="*/ 1186 w 1635"/>
                <a:gd name="T11" fmla="*/ 1146 h 1190"/>
                <a:gd name="T12" fmla="*/ 989 w 1635"/>
                <a:gd name="T13" fmla="*/ 1107 h 1190"/>
                <a:gd name="T14" fmla="*/ 693 w 1635"/>
                <a:gd name="T15" fmla="*/ 1032 h 1190"/>
                <a:gd name="T16" fmla="*/ 35 w 1635"/>
                <a:gd name="T17" fmla="*/ 855 h 1190"/>
                <a:gd name="T18" fmla="*/ 43 w 1635"/>
                <a:gd name="T19" fmla="*/ 879 h 1190"/>
                <a:gd name="T20" fmla="*/ 39 w 1635"/>
                <a:gd name="T21" fmla="*/ 776 h 1190"/>
                <a:gd name="T22" fmla="*/ 47 w 1635"/>
                <a:gd name="T23" fmla="*/ 776 h 1190"/>
                <a:gd name="T24" fmla="*/ 225 w 1635"/>
                <a:gd name="T25" fmla="*/ 623 h 1190"/>
                <a:gd name="T26" fmla="*/ 662 w 1635"/>
                <a:gd name="T27" fmla="*/ 260 h 1190"/>
                <a:gd name="T28" fmla="*/ 772 w 1635"/>
                <a:gd name="T29" fmla="*/ 170 h 1190"/>
                <a:gd name="T30" fmla="*/ 867 w 1635"/>
                <a:gd name="T31" fmla="*/ 122 h 1190"/>
                <a:gd name="T32" fmla="*/ 965 w 1635"/>
                <a:gd name="T33" fmla="*/ 56 h 1190"/>
                <a:gd name="T34" fmla="*/ 1001 w 1635"/>
                <a:gd name="T35" fmla="*/ 44 h 1190"/>
                <a:gd name="T36" fmla="*/ 1123 w 1635"/>
                <a:gd name="T37" fmla="*/ 52 h 1190"/>
                <a:gd name="T38" fmla="*/ 1327 w 1635"/>
                <a:gd name="T39" fmla="*/ 91 h 1190"/>
                <a:gd name="T40" fmla="*/ 1583 w 1635"/>
                <a:gd name="T41" fmla="*/ 130 h 1190"/>
                <a:gd name="T42" fmla="*/ 1595 w 1635"/>
                <a:gd name="T43" fmla="*/ 122 h 1190"/>
                <a:gd name="T44" fmla="*/ 1583 w 1635"/>
                <a:gd name="T45" fmla="*/ 91 h 1190"/>
                <a:gd name="T46" fmla="*/ 1320 w 1635"/>
                <a:gd name="T47" fmla="*/ 52 h 1190"/>
                <a:gd name="T48" fmla="*/ 1150 w 1635"/>
                <a:gd name="T49" fmla="*/ 16 h 1190"/>
                <a:gd name="T50" fmla="*/ 985 w 1635"/>
                <a:gd name="T51" fmla="*/ 0 h 1190"/>
                <a:gd name="T52" fmla="*/ 953 w 1635"/>
                <a:gd name="T53" fmla="*/ 8 h 1190"/>
                <a:gd name="T54" fmla="*/ 863 w 1635"/>
                <a:gd name="T55" fmla="*/ 67 h 1190"/>
                <a:gd name="T56" fmla="*/ 796 w 1635"/>
                <a:gd name="T57" fmla="*/ 111 h 1190"/>
                <a:gd name="T58" fmla="*/ 697 w 1635"/>
                <a:gd name="T59" fmla="*/ 166 h 1190"/>
                <a:gd name="T60" fmla="*/ 626 w 1635"/>
                <a:gd name="T61" fmla="*/ 229 h 1190"/>
                <a:gd name="T62" fmla="*/ 20 w 1635"/>
                <a:gd name="T63" fmla="*/ 733 h 1190"/>
                <a:gd name="T64" fmla="*/ 4 w 1635"/>
                <a:gd name="T65" fmla="*/ 760 h 1190"/>
                <a:gd name="T66" fmla="*/ 4 w 1635"/>
                <a:gd name="T67" fmla="*/ 835 h 1190"/>
                <a:gd name="T68" fmla="*/ 20 w 1635"/>
                <a:gd name="T69" fmla="*/ 886 h 1190"/>
                <a:gd name="T70" fmla="*/ 32 w 1635"/>
                <a:gd name="T71" fmla="*/ 894 h 1190"/>
                <a:gd name="T72" fmla="*/ 729 w 1635"/>
                <a:gd name="T73" fmla="*/ 1083 h 1190"/>
                <a:gd name="T74" fmla="*/ 1119 w 1635"/>
                <a:gd name="T75" fmla="*/ 1178 h 1190"/>
                <a:gd name="T76" fmla="*/ 1205 w 1635"/>
                <a:gd name="T77" fmla="*/ 1190 h 1190"/>
                <a:gd name="T78" fmla="*/ 1536 w 1635"/>
                <a:gd name="T79" fmla="*/ 603 h 1190"/>
                <a:gd name="T80" fmla="*/ 1583 w 1635"/>
                <a:gd name="T81" fmla="*/ 516 h 1190"/>
                <a:gd name="T82" fmla="*/ 1587 w 1635"/>
                <a:gd name="T83" fmla="*/ 489 h 1190"/>
                <a:gd name="T84" fmla="*/ 1611 w 1635"/>
                <a:gd name="T85" fmla="*/ 414 h 1190"/>
                <a:gd name="T86" fmla="*/ 1627 w 1635"/>
                <a:gd name="T87" fmla="*/ 347 h 1190"/>
                <a:gd name="T88" fmla="*/ 1631 w 1635"/>
                <a:gd name="T89" fmla="*/ 213 h 1190"/>
                <a:gd name="T90" fmla="*/ 1623 w 1635"/>
                <a:gd name="T91" fmla="*/ 130 h 1190"/>
                <a:gd name="T92" fmla="*/ 1599 w 1635"/>
                <a:gd name="T93" fmla="*/ 115 h 1190"/>
                <a:gd name="T94" fmla="*/ 1595 w 1635"/>
                <a:gd name="T95" fmla="*/ 126 h 1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35"/>
                <a:gd name="T145" fmla="*/ 0 h 1190"/>
                <a:gd name="T146" fmla="*/ 1635 w 1635"/>
                <a:gd name="T147" fmla="*/ 1190 h 1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35" h="1190">
                  <a:moveTo>
                    <a:pt x="1595" y="126"/>
                  </a:moveTo>
                  <a:lnTo>
                    <a:pt x="1595" y="126"/>
                  </a:lnTo>
                  <a:lnTo>
                    <a:pt x="1595" y="233"/>
                  </a:lnTo>
                  <a:lnTo>
                    <a:pt x="1591" y="284"/>
                  </a:lnTo>
                  <a:lnTo>
                    <a:pt x="1587" y="339"/>
                  </a:lnTo>
                  <a:lnTo>
                    <a:pt x="1580" y="390"/>
                  </a:lnTo>
                  <a:lnTo>
                    <a:pt x="1564" y="441"/>
                  </a:lnTo>
                  <a:lnTo>
                    <a:pt x="1548" y="489"/>
                  </a:lnTo>
                  <a:lnTo>
                    <a:pt x="1524" y="536"/>
                  </a:lnTo>
                  <a:lnTo>
                    <a:pt x="1201" y="1111"/>
                  </a:lnTo>
                  <a:lnTo>
                    <a:pt x="1186" y="1142"/>
                  </a:lnTo>
                  <a:lnTo>
                    <a:pt x="1182" y="1146"/>
                  </a:lnTo>
                  <a:lnTo>
                    <a:pt x="1182" y="1150"/>
                  </a:lnTo>
                  <a:lnTo>
                    <a:pt x="1186" y="1146"/>
                  </a:lnTo>
                  <a:lnTo>
                    <a:pt x="1087" y="1131"/>
                  </a:lnTo>
                  <a:lnTo>
                    <a:pt x="989" y="1107"/>
                  </a:lnTo>
                  <a:lnTo>
                    <a:pt x="839" y="1071"/>
                  </a:lnTo>
                  <a:lnTo>
                    <a:pt x="693" y="1032"/>
                  </a:lnTo>
                  <a:lnTo>
                    <a:pt x="35" y="855"/>
                  </a:lnTo>
                  <a:lnTo>
                    <a:pt x="24" y="851"/>
                  </a:lnTo>
                  <a:lnTo>
                    <a:pt x="43" y="879"/>
                  </a:lnTo>
                  <a:lnTo>
                    <a:pt x="39" y="827"/>
                  </a:lnTo>
                  <a:lnTo>
                    <a:pt x="39" y="776"/>
                  </a:lnTo>
                  <a:lnTo>
                    <a:pt x="39" y="780"/>
                  </a:lnTo>
                  <a:lnTo>
                    <a:pt x="47" y="776"/>
                  </a:lnTo>
                  <a:lnTo>
                    <a:pt x="59" y="760"/>
                  </a:lnTo>
                  <a:lnTo>
                    <a:pt x="225" y="623"/>
                  </a:lnTo>
                  <a:lnTo>
                    <a:pt x="662" y="260"/>
                  </a:lnTo>
                  <a:lnTo>
                    <a:pt x="744" y="189"/>
                  </a:lnTo>
                  <a:lnTo>
                    <a:pt x="772" y="170"/>
                  </a:lnTo>
                  <a:lnTo>
                    <a:pt x="804" y="154"/>
                  </a:lnTo>
                  <a:lnTo>
                    <a:pt x="835" y="138"/>
                  </a:lnTo>
                  <a:lnTo>
                    <a:pt x="867" y="122"/>
                  </a:lnTo>
                  <a:lnTo>
                    <a:pt x="930" y="75"/>
                  </a:lnTo>
                  <a:lnTo>
                    <a:pt x="965" y="56"/>
                  </a:lnTo>
                  <a:lnTo>
                    <a:pt x="985" y="48"/>
                  </a:lnTo>
                  <a:lnTo>
                    <a:pt x="1001" y="44"/>
                  </a:lnTo>
                  <a:lnTo>
                    <a:pt x="1040" y="44"/>
                  </a:lnTo>
                  <a:lnTo>
                    <a:pt x="1083" y="44"/>
                  </a:lnTo>
                  <a:lnTo>
                    <a:pt x="1123" y="52"/>
                  </a:lnTo>
                  <a:lnTo>
                    <a:pt x="1166" y="59"/>
                  </a:lnTo>
                  <a:lnTo>
                    <a:pt x="1249" y="75"/>
                  </a:lnTo>
                  <a:lnTo>
                    <a:pt x="1327" y="91"/>
                  </a:lnTo>
                  <a:lnTo>
                    <a:pt x="1583" y="130"/>
                  </a:lnTo>
                  <a:lnTo>
                    <a:pt x="1591" y="130"/>
                  </a:lnTo>
                  <a:lnTo>
                    <a:pt x="1595" y="126"/>
                  </a:lnTo>
                  <a:lnTo>
                    <a:pt x="1595" y="122"/>
                  </a:lnTo>
                  <a:lnTo>
                    <a:pt x="1595" y="115"/>
                  </a:lnTo>
                  <a:lnTo>
                    <a:pt x="1587" y="99"/>
                  </a:lnTo>
                  <a:lnTo>
                    <a:pt x="1583" y="91"/>
                  </a:lnTo>
                  <a:lnTo>
                    <a:pt x="1576" y="91"/>
                  </a:lnTo>
                  <a:lnTo>
                    <a:pt x="1320" y="52"/>
                  </a:lnTo>
                  <a:lnTo>
                    <a:pt x="1237" y="36"/>
                  </a:lnTo>
                  <a:lnTo>
                    <a:pt x="1150" y="16"/>
                  </a:lnTo>
                  <a:lnTo>
                    <a:pt x="1067" y="4"/>
                  </a:lnTo>
                  <a:lnTo>
                    <a:pt x="1028" y="0"/>
                  </a:lnTo>
                  <a:lnTo>
                    <a:pt x="985" y="0"/>
                  </a:lnTo>
                  <a:lnTo>
                    <a:pt x="969" y="4"/>
                  </a:lnTo>
                  <a:lnTo>
                    <a:pt x="953" y="8"/>
                  </a:lnTo>
                  <a:lnTo>
                    <a:pt x="922" y="24"/>
                  </a:lnTo>
                  <a:lnTo>
                    <a:pt x="886" y="48"/>
                  </a:lnTo>
                  <a:lnTo>
                    <a:pt x="863" y="67"/>
                  </a:lnTo>
                  <a:lnTo>
                    <a:pt x="831" y="91"/>
                  </a:lnTo>
                  <a:lnTo>
                    <a:pt x="796" y="111"/>
                  </a:lnTo>
                  <a:lnTo>
                    <a:pt x="721" y="150"/>
                  </a:lnTo>
                  <a:lnTo>
                    <a:pt x="697" y="166"/>
                  </a:lnTo>
                  <a:lnTo>
                    <a:pt x="674" y="185"/>
                  </a:lnTo>
                  <a:lnTo>
                    <a:pt x="626" y="229"/>
                  </a:lnTo>
                  <a:lnTo>
                    <a:pt x="169" y="607"/>
                  </a:lnTo>
                  <a:lnTo>
                    <a:pt x="20" y="733"/>
                  </a:lnTo>
                  <a:lnTo>
                    <a:pt x="8" y="745"/>
                  </a:lnTo>
                  <a:lnTo>
                    <a:pt x="4" y="760"/>
                  </a:lnTo>
                  <a:lnTo>
                    <a:pt x="0" y="780"/>
                  </a:lnTo>
                  <a:lnTo>
                    <a:pt x="0" y="800"/>
                  </a:lnTo>
                  <a:lnTo>
                    <a:pt x="4" y="835"/>
                  </a:lnTo>
                  <a:lnTo>
                    <a:pt x="12" y="871"/>
                  </a:lnTo>
                  <a:lnTo>
                    <a:pt x="20" y="886"/>
                  </a:lnTo>
                  <a:lnTo>
                    <a:pt x="24" y="890"/>
                  </a:lnTo>
                  <a:lnTo>
                    <a:pt x="32" y="894"/>
                  </a:lnTo>
                  <a:lnTo>
                    <a:pt x="571" y="1040"/>
                  </a:lnTo>
                  <a:lnTo>
                    <a:pt x="729" y="1083"/>
                  </a:lnTo>
                  <a:lnTo>
                    <a:pt x="882" y="1127"/>
                  </a:lnTo>
                  <a:lnTo>
                    <a:pt x="1040" y="1162"/>
                  </a:lnTo>
                  <a:lnTo>
                    <a:pt x="1119" y="1178"/>
                  </a:lnTo>
                  <a:lnTo>
                    <a:pt x="1197" y="1190"/>
                  </a:lnTo>
                  <a:lnTo>
                    <a:pt x="1205" y="1190"/>
                  </a:lnTo>
                  <a:lnTo>
                    <a:pt x="1209" y="1186"/>
                  </a:lnTo>
                  <a:lnTo>
                    <a:pt x="1536" y="603"/>
                  </a:lnTo>
                  <a:lnTo>
                    <a:pt x="1583" y="516"/>
                  </a:lnTo>
                  <a:lnTo>
                    <a:pt x="1587" y="504"/>
                  </a:lnTo>
                  <a:lnTo>
                    <a:pt x="1587" y="489"/>
                  </a:lnTo>
                  <a:lnTo>
                    <a:pt x="1591" y="469"/>
                  </a:lnTo>
                  <a:lnTo>
                    <a:pt x="1595" y="449"/>
                  </a:lnTo>
                  <a:lnTo>
                    <a:pt x="1611" y="414"/>
                  </a:lnTo>
                  <a:lnTo>
                    <a:pt x="1619" y="382"/>
                  </a:lnTo>
                  <a:lnTo>
                    <a:pt x="1627" y="347"/>
                  </a:lnTo>
                  <a:lnTo>
                    <a:pt x="1631" y="315"/>
                  </a:lnTo>
                  <a:lnTo>
                    <a:pt x="1635" y="280"/>
                  </a:lnTo>
                  <a:lnTo>
                    <a:pt x="1631" y="213"/>
                  </a:lnTo>
                  <a:lnTo>
                    <a:pt x="1627" y="142"/>
                  </a:lnTo>
                  <a:lnTo>
                    <a:pt x="1623" y="130"/>
                  </a:lnTo>
                  <a:lnTo>
                    <a:pt x="1611" y="119"/>
                  </a:lnTo>
                  <a:lnTo>
                    <a:pt x="1603" y="115"/>
                  </a:lnTo>
                  <a:lnTo>
                    <a:pt x="1599" y="115"/>
                  </a:lnTo>
                  <a:lnTo>
                    <a:pt x="1595" y="119"/>
                  </a:lnTo>
                  <a:lnTo>
                    <a:pt x="1595" y="1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87" name="Freeform 290"/>
            <p:cNvSpPr>
              <a:spLocks/>
            </p:cNvSpPr>
            <p:nvPr/>
          </p:nvSpPr>
          <p:spPr bwMode="auto">
            <a:xfrm>
              <a:off x="3369" y="1804"/>
              <a:ext cx="804" cy="1000"/>
            </a:xfrm>
            <a:custGeom>
              <a:avLst/>
              <a:gdLst>
                <a:gd name="T0" fmla="*/ 0 w 804"/>
                <a:gd name="T1" fmla="*/ 854 h 1000"/>
                <a:gd name="T2" fmla="*/ 0 w 804"/>
                <a:gd name="T3" fmla="*/ 854 h 1000"/>
                <a:gd name="T4" fmla="*/ 28 w 804"/>
                <a:gd name="T5" fmla="*/ 783 h 1000"/>
                <a:gd name="T6" fmla="*/ 59 w 804"/>
                <a:gd name="T7" fmla="*/ 708 h 1000"/>
                <a:gd name="T8" fmla="*/ 99 w 804"/>
                <a:gd name="T9" fmla="*/ 618 h 1000"/>
                <a:gd name="T10" fmla="*/ 146 w 804"/>
                <a:gd name="T11" fmla="*/ 511 h 1000"/>
                <a:gd name="T12" fmla="*/ 205 w 804"/>
                <a:gd name="T13" fmla="*/ 405 h 1000"/>
                <a:gd name="T14" fmla="*/ 268 w 804"/>
                <a:gd name="T15" fmla="*/ 299 h 1000"/>
                <a:gd name="T16" fmla="*/ 300 w 804"/>
                <a:gd name="T17" fmla="*/ 252 h 1000"/>
                <a:gd name="T18" fmla="*/ 335 w 804"/>
                <a:gd name="T19" fmla="*/ 208 h 1000"/>
                <a:gd name="T20" fmla="*/ 335 w 804"/>
                <a:gd name="T21" fmla="*/ 208 h 1000"/>
                <a:gd name="T22" fmla="*/ 410 w 804"/>
                <a:gd name="T23" fmla="*/ 118 h 1000"/>
                <a:gd name="T24" fmla="*/ 520 w 804"/>
                <a:gd name="T25" fmla="*/ 23 h 1000"/>
                <a:gd name="T26" fmla="*/ 520 w 804"/>
                <a:gd name="T27" fmla="*/ 23 h 1000"/>
                <a:gd name="T28" fmla="*/ 532 w 804"/>
                <a:gd name="T29" fmla="*/ 19 h 1000"/>
                <a:gd name="T30" fmla="*/ 563 w 804"/>
                <a:gd name="T31" fmla="*/ 7 h 1000"/>
                <a:gd name="T32" fmla="*/ 583 w 804"/>
                <a:gd name="T33" fmla="*/ 4 h 1000"/>
                <a:gd name="T34" fmla="*/ 607 w 804"/>
                <a:gd name="T35" fmla="*/ 0 h 1000"/>
                <a:gd name="T36" fmla="*/ 634 w 804"/>
                <a:gd name="T37" fmla="*/ 0 h 1000"/>
                <a:gd name="T38" fmla="*/ 662 w 804"/>
                <a:gd name="T39" fmla="*/ 4 h 1000"/>
                <a:gd name="T40" fmla="*/ 662 w 804"/>
                <a:gd name="T41" fmla="*/ 4 h 1000"/>
                <a:gd name="T42" fmla="*/ 686 w 804"/>
                <a:gd name="T43" fmla="*/ 11 h 1000"/>
                <a:gd name="T44" fmla="*/ 713 w 804"/>
                <a:gd name="T45" fmla="*/ 19 h 1000"/>
                <a:gd name="T46" fmla="*/ 756 w 804"/>
                <a:gd name="T47" fmla="*/ 39 h 1000"/>
                <a:gd name="T48" fmla="*/ 800 w 804"/>
                <a:gd name="T49" fmla="*/ 67 h 1000"/>
                <a:gd name="T50" fmla="*/ 804 w 804"/>
                <a:gd name="T51" fmla="*/ 145 h 1000"/>
                <a:gd name="T52" fmla="*/ 788 w 804"/>
                <a:gd name="T53" fmla="*/ 161 h 1000"/>
                <a:gd name="T54" fmla="*/ 772 w 804"/>
                <a:gd name="T55" fmla="*/ 224 h 1000"/>
                <a:gd name="T56" fmla="*/ 749 w 804"/>
                <a:gd name="T57" fmla="*/ 244 h 1000"/>
                <a:gd name="T58" fmla="*/ 737 w 804"/>
                <a:gd name="T59" fmla="*/ 240 h 1000"/>
                <a:gd name="T60" fmla="*/ 737 w 804"/>
                <a:gd name="T61" fmla="*/ 240 h 1000"/>
                <a:gd name="T62" fmla="*/ 705 w 804"/>
                <a:gd name="T63" fmla="*/ 267 h 1000"/>
                <a:gd name="T64" fmla="*/ 626 w 804"/>
                <a:gd name="T65" fmla="*/ 346 h 1000"/>
                <a:gd name="T66" fmla="*/ 579 w 804"/>
                <a:gd name="T67" fmla="*/ 397 h 1000"/>
                <a:gd name="T68" fmla="*/ 532 w 804"/>
                <a:gd name="T69" fmla="*/ 456 h 1000"/>
                <a:gd name="T70" fmla="*/ 489 w 804"/>
                <a:gd name="T71" fmla="*/ 519 h 1000"/>
                <a:gd name="T72" fmla="*/ 449 w 804"/>
                <a:gd name="T73" fmla="*/ 586 h 1000"/>
                <a:gd name="T74" fmla="*/ 449 w 804"/>
                <a:gd name="T75" fmla="*/ 586 h 1000"/>
                <a:gd name="T76" fmla="*/ 272 w 804"/>
                <a:gd name="T77" fmla="*/ 960 h 1000"/>
                <a:gd name="T78" fmla="*/ 181 w 804"/>
                <a:gd name="T79" fmla="*/ 1000 h 1000"/>
                <a:gd name="T80" fmla="*/ 91 w 804"/>
                <a:gd name="T81" fmla="*/ 984 h 1000"/>
                <a:gd name="T82" fmla="*/ 91 w 804"/>
                <a:gd name="T83" fmla="*/ 984 h 1000"/>
                <a:gd name="T84" fmla="*/ 59 w 804"/>
                <a:gd name="T85" fmla="*/ 976 h 1000"/>
                <a:gd name="T86" fmla="*/ 36 w 804"/>
                <a:gd name="T87" fmla="*/ 964 h 1000"/>
                <a:gd name="T88" fmla="*/ 20 w 804"/>
                <a:gd name="T89" fmla="*/ 953 h 1000"/>
                <a:gd name="T90" fmla="*/ 8 w 804"/>
                <a:gd name="T91" fmla="*/ 937 h 1000"/>
                <a:gd name="T92" fmla="*/ 4 w 804"/>
                <a:gd name="T93" fmla="*/ 921 h 1000"/>
                <a:gd name="T94" fmla="*/ 0 w 804"/>
                <a:gd name="T95" fmla="*/ 909 h 1000"/>
                <a:gd name="T96" fmla="*/ 0 w 804"/>
                <a:gd name="T97" fmla="*/ 901 h 1000"/>
                <a:gd name="T98" fmla="*/ 0 w 804"/>
                <a:gd name="T99" fmla="*/ 854 h 10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4"/>
                <a:gd name="T151" fmla="*/ 0 h 1000"/>
                <a:gd name="T152" fmla="*/ 804 w 804"/>
                <a:gd name="T153" fmla="*/ 1000 h 100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4" h="1000">
                  <a:moveTo>
                    <a:pt x="0" y="854"/>
                  </a:moveTo>
                  <a:lnTo>
                    <a:pt x="0" y="854"/>
                  </a:lnTo>
                  <a:lnTo>
                    <a:pt x="28" y="783"/>
                  </a:lnTo>
                  <a:lnTo>
                    <a:pt x="59" y="708"/>
                  </a:lnTo>
                  <a:lnTo>
                    <a:pt x="99" y="618"/>
                  </a:lnTo>
                  <a:lnTo>
                    <a:pt x="146" y="511"/>
                  </a:lnTo>
                  <a:lnTo>
                    <a:pt x="205" y="405"/>
                  </a:lnTo>
                  <a:lnTo>
                    <a:pt x="268" y="299"/>
                  </a:lnTo>
                  <a:lnTo>
                    <a:pt x="300" y="252"/>
                  </a:lnTo>
                  <a:lnTo>
                    <a:pt x="335" y="208"/>
                  </a:lnTo>
                  <a:lnTo>
                    <a:pt x="410" y="118"/>
                  </a:lnTo>
                  <a:lnTo>
                    <a:pt x="520" y="23"/>
                  </a:lnTo>
                  <a:lnTo>
                    <a:pt x="532" y="19"/>
                  </a:lnTo>
                  <a:lnTo>
                    <a:pt x="563" y="7"/>
                  </a:lnTo>
                  <a:lnTo>
                    <a:pt x="583" y="4"/>
                  </a:lnTo>
                  <a:lnTo>
                    <a:pt x="607" y="0"/>
                  </a:lnTo>
                  <a:lnTo>
                    <a:pt x="634" y="0"/>
                  </a:lnTo>
                  <a:lnTo>
                    <a:pt x="662" y="4"/>
                  </a:lnTo>
                  <a:lnTo>
                    <a:pt x="686" y="11"/>
                  </a:lnTo>
                  <a:lnTo>
                    <a:pt x="713" y="19"/>
                  </a:lnTo>
                  <a:lnTo>
                    <a:pt x="756" y="39"/>
                  </a:lnTo>
                  <a:lnTo>
                    <a:pt x="800" y="67"/>
                  </a:lnTo>
                  <a:lnTo>
                    <a:pt x="804" y="145"/>
                  </a:lnTo>
                  <a:lnTo>
                    <a:pt x="788" y="161"/>
                  </a:lnTo>
                  <a:lnTo>
                    <a:pt x="772" y="224"/>
                  </a:lnTo>
                  <a:lnTo>
                    <a:pt x="749" y="244"/>
                  </a:lnTo>
                  <a:lnTo>
                    <a:pt x="737" y="240"/>
                  </a:lnTo>
                  <a:lnTo>
                    <a:pt x="705" y="267"/>
                  </a:lnTo>
                  <a:lnTo>
                    <a:pt x="626" y="346"/>
                  </a:lnTo>
                  <a:lnTo>
                    <a:pt x="579" y="397"/>
                  </a:lnTo>
                  <a:lnTo>
                    <a:pt x="532" y="456"/>
                  </a:lnTo>
                  <a:lnTo>
                    <a:pt x="489" y="519"/>
                  </a:lnTo>
                  <a:lnTo>
                    <a:pt x="449" y="586"/>
                  </a:lnTo>
                  <a:lnTo>
                    <a:pt x="272" y="960"/>
                  </a:lnTo>
                  <a:lnTo>
                    <a:pt x="181" y="1000"/>
                  </a:lnTo>
                  <a:lnTo>
                    <a:pt x="91" y="984"/>
                  </a:lnTo>
                  <a:lnTo>
                    <a:pt x="59" y="976"/>
                  </a:lnTo>
                  <a:lnTo>
                    <a:pt x="36" y="964"/>
                  </a:lnTo>
                  <a:lnTo>
                    <a:pt x="20" y="953"/>
                  </a:lnTo>
                  <a:lnTo>
                    <a:pt x="8" y="937"/>
                  </a:lnTo>
                  <a:lnTo>
                    <a:pt x="4" y="921"/>
                  </a:lnTo>
                  <a:lnTo>
                    <a:pt x="0" y="909"/>
                  </a:lnTo>
                  <a:lnTo>
                    <a:pt x="0" y="901"/>
                  </a:lnTo>
                  <a:lnTo>
                    <a:pt x="0" y="85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88" name="Freeform 291"/>
            <p:cNvSpPr>
              <a:spLocks/>
            </p:cNvSpPr>
            <p:nvPr/>
          </p:nvSpPr>
          <p:spPr bwMode="auto">
            <a:xfrm>
              <a:off x="3405" y="1823"/>
              <a:ext cx="807" cy="997"/>
            </a:xfrm>
            <a:custGeom>
              <a:avLst/>
              <a:gdLst>
                <a:gd name="T0" fmla="*/ 0 w 807"/>
                <a:gd name="T1" fmla="*/ 835 h 997"/>
                <a:gd name="T2" fmla="*/ 0 w 807"/>
                <a:gd name="T3" fmla="*/ 835 h 997"/>
                <a:gd name="T4" fmla="*/ 27 w 807"/>
                <a:gd name="T5" fmla="*/ 768 h 997"/>
                <a:gd name="T6" fmla="*/ 59 w 807"/>
                <a:gd name="T7" fmla="*/ 693 h 997"/>
                <a:gd name="T8" fmla="*/ 98 w 807"/>
                <a:gd name="T9" fmla="*/ 603 h 997"/>
                <a:gd name="T10" fmla="*/ 149 w 807"/>
                <a:gd name="T11" fmla="*/ 500 h 997"/>
                <a:gd name="T12" fmla="*/ 204 w 807"/>
                <a:gd name="T13" fmla="*/ 394 h 997"/>
                <a:gd name="T14" fmla="*/ 267 w 807"/>
                <a:gd name="T15" fmla="*/ 288 h 997"/>
                <a:gd name="T16" fmla="*/ 299 w 807"/>
                <a:gd name="T17" fmla="*/ 240 h 997"/>
                <a:gd name="T18" fmla="*/ 334 w 807"/>
                <a:gd name="T19" fmla="*/ 197 h 997"/>
                <a:gd name="T20" fmla="*/ 334 w 807"/>
                <a:gd name="T21" fmla="*/ 197 h 997"/>
                <a:gd name="T22" fmla="*/ 413 w 807"/>
                <a:gd name="T23" fmla="*/ 114 h 997"/>
                <a:gd name="T24" fmla="*/ 523 w 807"/>
                <a:gd name="T25" fmla="*/ 24 h 997"/>
                <a:gd name="T26" fmla="*/ 523 w 807"/>
                <a:gd name="T27" fmla="*/ 24 h 997"/>
                <a:gd name="T28" fmla="*/ 535 w 807"/>
                <a:gd name="T29" fmla="*/ 16 h 997"/>
                <a:gd name="T30" fmla="*/ 567 w 807"/>
                <a:gd name="T31" fmla="*/ 8 h 997"/>
                <a:gd name="T32" fmla="*/ 587 w 807"/>
                <a:gd name="T33" fmla="*/ 4 h 997"/>
                <a:gd name="T34" fmla="*/ 610 w 807"/>
                <a:gd name="T35" fmla="*/ 0 h 997"/>
                <a:gd name="T36" fmla="*/ 638 w 807"/>
                <a:gd name="T37" fmla="*/ 0 h 997"/>
                <a:gd name="T38" fmla="*/ 661 w 807"/>
                <a:gd name="T39" fmla="*/ 4 h 997"/>
                <a:gd name="T40" fmla="*/ 661 w 807"/>
                <a:gd name="T41" fmla="*/ 4 h 997"/>
                <a:gd name="T42" fmla="*/ 689 w 807"/>
                <a:gd name="T43" fmla="*/ 8 h 997"/>
                <a:gd name="T44" fmla="*/ 716 w 807"/>
                <a:gd name="T45" fmla="*/ 20 h 997"/>
                <a:gd name="T46" fmla="*/ 760 w 807"/>
                <a:gd name="T47" fmla="*/ 40 h 997"/>
                <a:gd name="T48" fmla="*/ 799 w 807"/>
                <a:gd name="T49" fmla="*/ 63 h 997"/>
                <a:gd name="T50" fmla="*/ 807 w 807"/>
                <a:gd name="T51" fmla="*/ 146 h 997"/>
                <a:gd name="T52" fmla="*/ 791 w 807"/>
                <a:gd name="T53" fmla="*/ 162 h 997"/>
                <a:gd name="T54" fmla="*/ 772 w 807"/>
                <a:gd name="T55" fmla="*/ 189 h 997"/>
                <a:gd name="T56" fmla="*/ 744 w 807"/>
                <a:gd name="T57" fmla="*/ 213 h 997"/>
                <a:gd name="T58" fmla="*/ 661 w 807"/>
                <a:gd name="T59" fmla="*/ 272 h 997"/>
                <a:gd name="T60" fmla="*/ 661 w 807"/>
                <a:gd name="T61" fmla="*/ 272 h 997"/>
                <a:gd name="T62" fmla="*/ 642 w 807"/>
                <a:gd name="T63" fmla="*/ 296 h 997"/>
                <a:gd name="T64" fmla="*/ 590 w 807"/>
                <a:gd name="T65" fmla="*/ 363 h 997"/>
                <a:gd name="T66" fmla="*/ 559 w 807"/>
                <a:gd name="T67" fmla="*/ 410 h 997"/>
                <a:gd name="T68" fmla="*/ 523 w 807"/>
                <a:gd name="T69" fmla="*/ 461 h 997"/>
                <a:gd name="T70" fmla="*/ 488 w 807"/>
                <a:gd name="T71" fmla="*/ 520 h 997"/>
                <a:gd name="T72" fmla="*/ 453 w 807"/>
                <a:gd name="T73" fmla="*/ 587 h 997"/>
                <a:gd name="T74" fmla="*/ 453 w 807"/>
                <a:gd name="T75" fmla="*/ 587 h 997"/>
                <a:gd name="T76" fmla="*/ 275 w 807"/>
                <a:gd name="T77" fmla="*/ 957 h 997"/>
                <a:gd name="T78" fmla="*/ 185 w 807"/>
                <a:gd name="T79" fmla="*/ 997 h 997"/>
                <a:gd name="T80" fmla="*/ 90 w 807"/>
                <a:gd name="T81" fmla="*/ 985 h 997"/>
                <a:gd name="T82" fmla="*/ 90 w 807"/>
                <a:gd name="T83" fmla="*/ 985 h 997"/>
                <a:gd name="T84" fmla="*/ 63 w 807"/>
                <a:gd name="T85" fmla="*/ 977 h 997"/>
                <a:gd name="T86" fmla="*/ 39 w 807"/>
                <a:gd name="T87" fmla="*/ 965 h 997"/>
                <a:gd name="T88" fmla="*/ 23 w 807"/>
                <a:gd name="T89" fmla="*/ 949 h 997"/>
                <a:gd name="T90" fmla="*/ 11 w 807"/>
                <a:gd name="T91" fmla="*/ 934 h 997"/>
                <a:gd name="T92" fmla="*/ 7 w 807"/>
                <a:gd name="T93" fmla="*/ 922 h 997"/>
                <a:gd name="T94" fmla="*/ 4 w 807"/>
                <a:gd name="T95" fmla="*/ 910 h 997"/>
                <a:gd name="T96" fmla="*/ 4 w 807"/>
                <a:gd name="T97" fmla="*/ 898 h 997"/>
                <a:gd name="T98" fmla="*/ 0 w 807"/>
                <a:gd name="T99" fmla="*/ 835 h 9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7"/>
                <a:gd name="T151" fmla="*/ 0 h 997"/>
                <a:gd name="T152" fmla="*/ 807 w 807"/>
                <a:gd name="T153" fmla="*/ 997 h 9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7" h="997">
                  <a:moveTo>
                    <a:pt x="0" y="835"/>
                  </a:moveTo>
                  <a:lnTo>
                    <a:pt x="0" y="835"/>
                  </a:lnTo>
                  <a:lnTo>
                    <a:pt x="27" y="768"/>
                  </a:lnTo>
                  <a:lnTo>
                    <a:pt x="59" y="693"/>
                  </a:lnTo>
                  <a:lnTo>
                    <a:pt x="98" y="603"/>
                  </a:lnTo>
                  <a:lnTo>
                    <a:pt x="149" y="500"/>
                  </a:lnTo>
                  <a:lnTo>
                    <a:pt x="204" y="394"/>
                  </a:lnTo>
                  <a:lnTo>
                    <a:pt x="267" y="288"/>
                  </a:lnTo>
                  <a:lnTo>
                    <a:pt x="299" y="240"/>
                  </a:lnTo>
                  <a:lnTo>
                    <a:pt x="334" y="197"/>
                  </a:lnTo>
                  <a:lnTo>
                    <a:pt x="413" y="114"/>
                  </a:lnTo>
                  <a:lnTo>
                    <a:pt x="523" y="24"/>
                  </a:lnTo>
                  <a:lnTo>
                    <a:pt x="535" y="16"/>
                  </a:lnTo>
                  <a:lnTo>
                    <a:pt x="567" y="8"/>
                  </a:lnTo>
                  <a:lnTo>
                    <a:pt x="587" y="4"/>
                  </a:lnTo>
                  <a:lnTo>
                    <a:pt x="610" y="0"/>
                  </a:lnTo>
                  <a:lnTo>
                    <a:pt x="638" y="0"/>
                  </a:lnTo>
                  <a:lnTo>
                    <a:pt x="661" y="4"/>
                  </a:lnTo>
                  <a:lnTo>
                    <a:pt x="689" y="8"/>
                  </a:lnTo>
                  <a:lnTo>
                    <a:pt x="716" y="20"/>
                  </a:lnTo>
                  <a:lnTo>
                    <a:pt x="760" y="40"/>
                  </a:lnTo>
                  <a:lnTo>
                    <a:pt x="799" y="63"/>
                  </a:lnTo>
                  <a:lnTo>
                    <a:pt x="807" y="146"/>
                  </a:lnTo>
                  <a:lnTo>
                    <a:pt x="791" y="162"/>
                  </a:lnTo>
                  <a:lnTo>
                    <a:pt x="772" y="189"/>
                  </a:lnTo>
                  <a:lnTo>
                    <a:pt x="744" y="213"/>
                  </a:lnTo>
                  <a:lnTo>
                    <a:pt x="661" y="272"/>
                  </a:lnTo>
                  <a:lnTo>
                    <a:pt x="642" y="296"/>
                  </a:lnTo>
                  <a:lnTo>
                    <a:pt x="590" y="363"/>
                  </a:lnTo>
                  <a:lnTo>
                    <a:pt x="559" y="410"/>
                  </a:lnTo>
                  <a:lnTo>
                    <a:pt x="523" y="461"/>
                  </a:lnTo>
                  <a:lnTo>
                    <a:pt x="488" y="520"/>
                  </a:lnTo>
                  <a:lnTo>
                    <a:pt x="453" y="587"/>
                  </a:lnTo>
                  <a:lnTo>
                    <a:pt x="275" y="957"/>
                  </a:lnTo>
                  <a:lnTo>
                    <a:pt x="185" y="997"/>
                  </a:lnTo>
                  <a:lnTo>
                    <a:pt x="90" y="985"/>
                  </a:lnTo>
                  <a:lnTo>
                    <a:pt x="63" y="977"/>
                  </a:lnTo>
                  <a:lnTo>
                    <a:pt x="39" y="965"/>
                  </a:lnTo>
                  <a:lnTo>
                    <a:pt x="23" y="949"/>
                  </a:lnTo>
                  <a:lnTo>
                    <a:pt x="11" y="934"/>
                  </a:lnTo>
                  <a:lnTo>
                    <a:pt x="7" y="922"/>
                  </a:lnTo>
                  <a:lnTo>
                    <a:pt x="4" y="910"/>
                  </a:lnTo>
                  <a:lnTo>
                    <a:pt x="4" y="898"/>
                  </a:lnTo>
                  <a:lnTo>
                    <a:pt x="0" y="835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89" name="Freeform 292"/>
            <p:cNvSpPr>
              <a:spLocks/>
            </p:cNvSpPr>
            <p:nvPr/>
          </p:nvSpPr>
          <p:spPr bwMode="auto">
            <a:xfrm>
              <a:off x="3353" y="1784"/>
              <a:ext cx="835" cy="1036"/>
            </a:xfrm>
            <a:custGeom>
              <a:avLst/>
              <a:gdLst>
                <a:gd name="T0" fmla="*/ 91 w 835"/>
                <a:gd name="T1" fmla="*/ 740 h 1036"/>
                <a:gd name="T2" fmla="*/ 225 w 835"/>
                <a:gd name="T3" fmla="*/ 461 h 1036"/>
                <a:gd name="T4" fmla="*/ 304 w 835"/>
                <a:gd name="T5" fmla="*/ 331 h 1036"/>
                <a:gd name="T6" fmla="*/ 434 w 835"/>
                <a:gd name="T7" fmla="*/ 165 h 1036"/>
                <a:gd name="T8" fmla="*/ 520 w 835"/>
                <a:gd name="T9" fmla="*/ 94 h 1036"/>
                <a:gd name="T10" fmla="*/ 639 w 835"/>
                <a:gd name="T11" fmla="*/ 43 h 1036"/>
                <a:gd name="T12" fmla="*/ 682 w 835"/>
                <a:gd name="T13" fmla="*/ 43 h 1036"/>
                <a:gd name="T14" fmla="*/ 772 w 835"/>
                <a:gd name="T15" fmla="*/ 79 h 1036"/>
                <a:gd name="T16" fmla="*/ 796 w 835"/>
                <a:gd name="T17" fmla="*/ 75 h 1036"/>
                <a:gd name="T18" fmla="*/ 800 w 835"/>
                <a:gd name="T19" fmla="*/ 193 h 1036"/>
                <a:gd name="T20" fmla="*/ 788 w 835"/>
                <a:gd name="T21" fmla="*/ 197 h 1036"/>
                <a:gd name="T22" fmla="*/ 757 w 835"/>
                <a:gd name="T23" fmla="*/ 224 h 1036"/>
                <a:gd name="T24" fmla="*/ 650 w 835"/>
                <a:gd name="T25" fmla="*/ 323 h 1036"/>
                <a:gd name="T26" fmla="*/ 540 w 835"/>
                <a:gd name="T27" fmla="*/ 449 h 1036"/>
                <a:gd name="T28" fmla="*/ 453 w 835"/>
                <a:gd name="T29" fmla="*/ 591 h 1036"/>
                <a:gd name="T30" fmla="*/ 316 w 835"/>
                <a:gd name="T31" fmla="*/ 870 h 1036"/>
                <a:gd name="T32" fmla="*/ 288 w 835"/>
                <a:gd name="T33" fmla="*/ 933 h 1036"/>
                <a:gd name="T34" fmla="*/ 260 w 835"/>
                <a:gd name="T35" fmla="*/ 965 h 1036"/>
                <a:gd name="T36" fmla="*/ 209 w 835"/>
                <a:gd name="T37" fmla="*/ 988 h 1036"/>
                <a:gd name="T38" fmla="*/ 111 w 835"/>
                <a:gd name="T39" fmla="*/ 984 h 1036"/>
                <a:gd name="T40" fmla="*/ 67 w 835"/>
                <a:gd name="T41" fmla="*/ 973 h 1036"/>
                <a:gd name="T42" fmla="*/ 40 w 835"/>
                <a:gd name="T43" fmla="*/ 937 h 1036"/>
                <a:gd name="T44" fmla="*/ 36 w 835"/>
                <a:gd name="T45" fmla="*/ 882 h 1036"/>
                <a:gd name="T46" fmla="*/ 16 w 835"/>
                <a:gd name="T47" fmla="*/ 854 h 1036"/>
                <a:gd name="T48" fmla="*/ 0 w 835"/>
                <a:gd name="T49" fmla="*/ 854 h 1036"/>
                <a:gd name="T50" fmla="*/ 0 w 835"/>
                <a:gd name="T51" fmla="*/ 894 h 1036"/>
                <a:gd name="T52" fmla="*/ 20 w 835"/>
                <a:gd name="T53" fmla="*/ 969 h 1036"/>
                <a:gd name="T54" fmla="*/ 79 w 835"/>
                <a:gd name="T55" fmla="*/ 1020 h 1036"/>
                <a:gd name="T56" fmla="*/ 166 w 835"/>
                <a:gd name="T57" fmla="*/ 1036 h 1036"/>
                <a:gd name="T58" fmla="*/ 252 w 835"/>
                <a:gd name="T59" fmla="*/ 1028 h 1036"/>
                <a:gd name="T60" fmla="*/ 312 w 835"/>
                <a:gd name="T61" fmla="*/ 976 h 1036"/>
                <a:gd name="T62" fmla="*/ 434 w 835"/>
                <a:gd name="T63" fmla="*/ 713 h 1036"/>
                <a:gd name="T64" fmla="*/ 544 w 835"/>
                <a:gd name="T65" fmla="*/ 524 h 1036"/>
                <a:gd name="T66" fmla="*/ 639 w 835"/>
                <a:gd name="T67" fmla="*/ 402 h 1036"/>
                <a:gd name="T68" fmla="*/ 828 w 835"/>
                <a:gd name="T69" fmla="*/ 224 h 1036"/>
                <a:gd name="T70" fmla="*/ 835 w 835"/>
                <a:gd name="T71" fmla="*/ 205 h 1036"/>
                <a:gd name="T72" fmla="*/ 832 w 835"/>
                <a:gd name="T73" fmla="*/ 126 h 1036"/>
                <a:gd name="T74" fmla="*/ 816 w 835"/>
                <a:gd name="T75" fmla="*/ 67 h 1036"/>
                <a:gd name="T76" fmla="*/ 749 w 835"/>
                <a:gd name="T77" fmla="*/ 27 h 1036"/>
                <a:gd name="T78" fmla="*/ 654 w 835"/>
                <a:gd name="T79" fmla="*/ 0 h 1036"/>
                <a:gd name="T80" fmla="*/ 603 w 835"/>
                <a:gd name="T81" fmla="*/ 4 h 1036"/>
                <a:gd name="T82" fmla="*/ 528 w 835"/>
                <a:gd name="T83" fmla="*/ 31 h 1036"/>
                <a:gd name="T84" fmla="*/ 422 w 835"/>
                <a:gd name="T85" fmla="*/ 114 h 1036"/>
                <a:gd name="T86" fmla="*/ 351 w 835"/>
                <a:gd name="T87" fmla="*/ 189 h 1036"/>
                <a:gd name="T88" fmla="*/ 233 w 835"/>
                <a:gd name="T89" fmla="*/ 354 h 1036"/>
                <a:gd name="T90" fmla="*/ 91 w 835"/>
                <a:gd name="T91" fmla="*/ 630 h 1036"/>
                <a:gd name="T92" fmla="*/ 0 w 835"/>
                <a:gd name="T93" fmla="*/ 858 h 1036"/>
                <a:gd name="T94" fmla="*/ 0 w 835"/>
                <a:gd name="T95" fmla="*/ 874 h 1036"/>
                <a:gd name="T96" fmla="*/ 24 w 835"/>
                <a:gd name="T97" fmla="*/ 894 h 1036"/>
                <a:gd name="T98" fmla="*/ 32 w 835"/>
                <a:gd name="T99" fmla="*/ 886 h 10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35"/>
                <a:gd name="T151" fmla="*/ 0 h 1036"/>
                <a:gd name="T152" fmla="*/ 835 w 835"/>
                <a:gd name="T153" fmla="*/ 1036 h 10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35" h="1036">
                  <a:moveTo>
                    <a:pt x="32" y="886"/>
                  </a:moveTo>
                  <a:lnTo>
                    <a:pt x="32" y="886"/>
                  </a:lnTo>
                  <a:lnTo>
                    <a:pt x="91" y="740"/>
                  </a:lnTo>
                  <a:lnTo>
                    <a:pt x="154" y="598"/>
                  </a:lnTo>
                  <a:lnTo>
                    <a:pt x="186" y="531"/>
                  </a:lnTo>
                  <a:lnTo>
                    <a:pt x="225" y="461"/>
                  </a:lnTo>
                  <a:lnTo>
                    <a:pt x="264" y="394"/>
                  </a:lnTo>
                  <a:lnTo>
                    <a:pt x="304" y="331"/>
                  </a:lnTo>
                  <a:lnTo>
                    <a:pt x="343" y="272"/>
                  </a:lnTo>
                  <a:lnTo>
                    <a:pt x="386" y="216"/>
                  </a:lnTo>
                  <a:lnTo>
                    <a:pt x="434" y="165"/>
                  </a:lnTo>
                  <a:lnTo>
                    <a:pt x="485" y="118"/>
                  </a:lnTo>
                  <a:lnTo>
                    <a:pt x="520" y="94"/>
                  </a:lnTo>
                  <a:lnTo>
                    <a:pt x="556" y="71"/>
                  </a:lnTo>
                  <a:lnTo>
                    <a:pt x="595" y="55"/>
                  </a:lnTo>
                  <a:lnTo>
                    <a:pt x="639" y="43"/>
                  </a:lnTo>
                  <a:lnTo>
                    <a:pt x="658" y="39"/>
                  </a:lnTo>
                  <a:lnTo>
                    <a:pt x="682" y="43"/>
                  </a:lnTo>
                  <a:lnTo>
                    <a:pt x="705" y="51"/>
                  </a:lnTo>
                  <a:lnTo>
                    <a:pt x="729" y="59"/>
                  </a:lnTo>
                  <a:lnTo>
                    <a:pt x="772" y="79"/>
                  </a:lnTo>
                  <a:lnTo>
                    <a:pt x="816" y="102"/>
                  </a:lnTo>
                  <a:lnTo>
                    <a:pt x="796" y="75"/>
                  </a:lnTo>
                  <a:lnTo>
                    <a:pt x="800" y="193"/>
                  </a:lnTo>
                  <a:lnTo>
                    <a:pt x="800" y="185"/>
                  </a:lnTo>
                  <a:lnTo>
                    <a:pt x="796" y="189"/>
                  </a:lnTo>
                  <a:lnTo>
                    <a:pt x="788" y="197"/>
                  </a:lnTo>
                  <a:lnTo>
                    <a:pt x="757" y="224"/>
                  </a:lnTo>
                  <a:lnTo>
                    <a:pt x="733" y="244"/>
                  </a:lnTo>
                  <a:lnTo>
                    <a:pt x="650" y="323"/>
                  </a:lnTo>
                  <a:lnTo>
                    <a:pt x="615" y="362"/>
                  </a:lnTo>
                  <a:lnTo>
                    <a:pt x="575" y="405"/>
                  </a:lnTo>
                  <a:lnTo>
                    <a:pt x="540" y="449"/>
                  </a:lnTo>
                  <a:lnTo>
                    <a:pt x="509" y="492"/>
                  </a:lnTo>
                  <a:lnTo>
                    <a:pt x="477" y="539"/>
                  </a:lnTo>
                  <a:lnTo>
                    <a:pt x="453" y="591"/>
                  </a:lnTo>
                  <a:lnTo>
                    <a:pt x="382" y="728"/>
                  </a:lnTo>
                  <a:lnTo>
                    <a:pt x="316" y="870"/>
                  </a:lnTo>
                  <a:lnTo>
                    <a:pt x="304" y="906"/>
                  </a:lnTo>
                  <a:lnTo>
                    <a:pt x="288" y="933"/>
                  </a:lnTo>
                  <a:lnTo>
                    <a:pt x="280" y="945"/>
                  </a:lnTo>
                  <a:lnTo>
                    <a:pt x="272" y="957"/>
                  </a:lnTo>
                  <a:lnTo>
                    <a:pt x="260" y="965"/>
                  </a:lnTo>
                  <a:lnTo>
                    <a:pt x="245" y="973"/>
                  </a:lnTo>
                  <a:lnTo>
                    <a:pt x="209" y="988"/>
                  </a:lnTo>
                  <a:lnTo>
                    <a:pt x="182" y="992"/>
                  </a:lnTo>
                  <a:lnTo>
                    <a:pt x="150" y="992"/>
                  </a:lnTo>
                  <a:lnTo>
                    <a:pt x="111" y="984"/>
                  </a:lnTo>
                  <a:lnTo>
                    <a:pt x="87" y="980"/>
                  </a:lnTo>
                  <a:lnTo>
                    <a:pt x="67" y="973"/>
                  </a:lnTo>
                  <a:lnTo>
                    <a:pt x="56" y="965"/>
                  </a:lnTo>
                  <a:lnTo>
                    <a:pt x="44" y="953"/>
                  </a:lnTo>
                  <a:lnTo>
                    <a:pt x="40" y="937"/>
                  </a:lnTo>
                  <a:lnTo>
                    <a:pt x="36" y="921"/>
                  </a:lnTo>
                  <a:lnTo>
                    <a:pt x="36" y="882"/>
                  </a:lnTo>
                  <a:lnTo>
                    <a:pt x="32" y="874"/>
                  </a:lnTo>
                  <a:lnTo>
                    <a:pt x="28" y="866"/>
                  </a:lnTo>
                  <a:lnTo>
                    <a:pt x="16" y="854"/>
                  </a:lnTo>
                  <a:lnTo>
                    <a:pt x="12" y="850"/>
                  </a:lnTo>
                  <a:lnTo>
                    <a:pt x="4" y="850"/>
                  </a:lnTo>
                  <a:lnTo>
                    <a:pt x="0" y="854"/>
                  </a:lnTo>
                  <a:lnTo>
                    <a:pt x="0" y="862"/>
                  </a:lnTo>
                  <a:lnTo>
                    <a:pt x="0" y="894"/>
                  </a:lnTo>
                  <a:lnTo>
                    <a:pt x="4" y="921"/>
                  </a:lnTo>
                  <a:lnTo>
                    <a:pt x="8" y="949"/>
                  </a:lnTo>
                  <a:lnTo>
                    <a:pt x="20" y="969"/>
                  </a:lnTo>
                  <a:lnTo>
                    <a:pt x="36" y="988"/>
                  </a:lnTo>
                  <a:lnTo>
                    <a:pt x="56" y="1008"/>
                  </a:lnTo>
                  <a:lnTo>
                    <a:pt x="79" y="1020"/>
                  </a:lnTo>
                  <a:lnTo>
                    <a:pt x="111" y="1028"/>
                  </a:lnTo>
                  <a:lnTo>
                    <a:pt x="166" y="1036"/>
                  </a:lnTo>
                  <a:lnTo>
                    <a:pt x="193" y="1036"/>
                  </a:lnTo>
                  <a:lnTo>
                    <a:pt x="225" y="1036"/>
                  </a:lnTo>
                  <a:lnTo>
                    <a:pt x="252" y="1028"/>
                  </a:lnTo>
                  <a:lnTo>
                    <a:pt x="276" y="1020"/>
                  </a:lnTo>
                  <a:lnTo>
                    <a:pt x="296" y="1000"/>
                  </a:lnTo>
                  <a:lnTo>
                    <a:pt x="312" y="976"/>
                  </a:lnTo>
                  <a:lnTo>
                    <a:pt x="375" y="847"/>
                  </a:lnTo>
                  <a:lnTo>
                    <a:pt x="434" y="713"/>
                  </a:lnTo>
                  <a:lnTo>
                    <a:pt x="469" y="650"/>
                  </a:lnTo>
                  <a:lnTo>
                    <a:pt x="505" y="587"/>
                  </a:lnTo>
                  <a:lnTo>
                    <a:pt x="544" y="524"/>
                  </a:lnTo>
                  <a:lnTo>
                    <a:pt x="583" y="468"/>
                  </a:lnTo>
                  <a:lnTo>
                    <a:pt x="639" y="402"/>
                  </a:lnTo>
                  <a:lnTo>
                    <a:pt x="702" y="339"/>
                  </a:lnTo>
                  <a:lnTo>
                    <a:pt x="761" y="283"/>
                  </a:lnTo>
                  <a:lnTo>
                    <a:pt x="828" y="224"/>
                  </a:lnTo>
                  <a:lnTo>
                    <a:pt x="832" y="216"/>
                  </a:lnTo>
                  <a:lnTo>
                    <a:pt x="835" y="205"/>
                  </a:lnTo>
                  <a:lnTo>
                    <a:pt x="835" y="177"/>
                  </a:lnTo>
                  <a:lnTo>
                    <a:pt x="832" y="126"/>
                  </a:lnTo>
                  <a:lnTo>
                    <a:pt x="832" y="98"/>
                  </a:lnTo>
                  <a:lnTo>
                    <a:pt x="824" y="83"/>
                  </a:lnTo>
                  <a:lnTo>
                    <a:pt x="816" y="67"/>
                  </a:lnTo>
                  <a:lnTo>
                    <a:pt x="792" y="51"/>
                  </a:lnTo>
                  <a:lnTo>
                    <a:pt x="749" y="27"/>
                  </a:lnTo>
                  <a:lnTo>
                    <a:pt x="702" y="12"/>
                  </a:lnTo>
                  <a:lnTo>
                    <a:pt x="678" y="4"/>
                  </a:lnTo>
                  <a:lnTo>
                    <a:pt x="654" y="0"/>
                  </a:lnTo>
                  <a:lnTo>
                    <a:pt x="631" y="0"/>
                  </a:lnTo>
                  <a:lnTo>
                    <a:pt x="603" y="4"/>
                  </a:lnTo>
                  <a:lnTo>
                    <a:pt x="579" y="8"/>
                  </a:lnTo>
                  <a:lnTo>
                    <a:pt x="552" y="20"/>
                  </a:lnTo>
                  <a:lnTo>
                    <a:pt x="528" y="31"/>
                  </a:lnTo>
                  <a:lnTo>
                    <a:pt x="505" y="47"/>
                  </a:lnTo>
                  <a:lnTo>
                    <a:pt x="461" y="79"/>
                  </a:lnTo>
                  <a:lnTo>
                    <a:pt x="422" y="114"/>
                  </a:lnTo>
                  <a:lnTo>
                    <a:pt x="386" y="150"/>
                  </a:lnTo>
                  <a:lnTo>
                    <a:pt x="351" y="189"/>
                  </a:lnTo>
                  <a:lnTo>
                    <a:pt x="319" y="228"/>
                  </a:lnTo>
                  <a:lnTo>
                    <a:pt x="288" y="268"/>
                  </a:lnTo>
                  <a:lnTo>
                    <a:pt x="233" y="354"/>
                  </a:lnTo>
                  <a:lnTo>
                    <a:pt x="182" y="445"/>
                  </a:lnTo>
                  <a:lnTo>
                    <a:pt x="134" y="535"/>
                  </a:lnTo>
                  <a:lnTo>
                    <a:pt x="91" y="630"/>
                  </a:lnTo>
                  <a:lnTo>
                    <a:pt x="16" y="823"/>
                  </a:lnTo>
                  <a:lnTo>
                    <a:pt x="0" y="858"/>
                  </a:lnTo>
                  <a:lnTo>
                    <a:pt x="0" y="866"/>
                  </a:lnTo>
                  <a:lnTo>
                    <a:pt x="0" y="874"/>
                  </a:lnTo>
                  <a:lnTo>
                    <a:pt x="12" y="886"/>
                  </a:lnTo>
                  <a:lnTo>
                    <a:pt x="16" y="894"/>
                  </a:lnTo>
                  <a:lnTo>
                    <a:pt x="24" y="894"/>
                  </a:lnTo>
                  <a:lnTo>
                    <a:pt x="28" y="894"/>
                  </a:lnTo>
                  <a:lnTo>
                    <a:pt x="32" y="8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0" name="Freeform 293"/>
            <p:cNvSpPr>
              <a:spLocks/>
            </p:cNvSpPr>
            <p:nvPr/>
          </p:nvSpPr>
          <p:spPr bwMode="auto">
            <a:xfrm>
              <a:off x="4488" y="2075"/>
              <a:ext cx="437" cy="1004"/>
            </a:xfrm>
            <a:custGeom>
              <a:avLst/>
              <a:gdLst>
                <a:gd name="T0" fmla="*/ 8 w 437"/>
                <a:gd name="T1" fmla="*/ 1004 h 1004"/>
                <a:gd name="T2" fmla="*/ 8 w 437"/>
                <a:gd name="T3" fmla="*/ 1004 h 1004"/>
                <a:gd name="T4" fmla="*/ 4 w 437"/>
                <a:gd name="T5" fmla="*/ 1004 h 1004"/>
                <a:gd name="T6" fmla="*/ 0 w 437"/>
                <a:gd name="T7" fmla="*/ 993 h 1004"/>
                <a:gd name="T8" fmla="*/ 0 w 437"/>
                <a:gd name="T9" fmla="*/ 981 h 1004"/>
                <a:gd name="T10" fmla="*/ 0 w 437"/>
                <a:gd name="T11" fmla="*/ 969 h 1004"/>
                <a:gd name="T12" fmla="*/ 4 w 437"/>
                <a:gd name="T13" fmla="*/ 945 h 1004"/>
                <a:gd name="T14" fmla="*/ 12 w 437"/>
                <a:gd name="T15" fmla="*/ 922 h 1004"/>
                <a:gd name="T16" fmla="*/ 12 w 437"/>
                <a:gd name="T17" fmla="*/ 922 h 1004"/>
                <a:gd name="T18" fmla="*/ 106 w 437"/>
                <a:gd name="T19" fmla="*/ 682 h 1004"/>
                <a:gd name="T20" fmla="*/ 228 w 437"/>
                <a:gd name="T21" fmla="*/ 386 h 1004"/>
                <a:gd name="T22" fmla="*/ 291 w 437"/>
                <a:gd name="T23" fmla="*/ 248 h 1004"/>
                <a:gd name="T24" fmla="*/ 346 w 437"/>
                <a:gd name="T25" fmla="*/ 130 h 1004"/>
                <a:gd name="T26" fmla="*/ 390 w 437"/>
                <a:gd name="T27" fmla="*/ 44 h 1004"/>
                <a:gd name="T28" fmla="*/ 406 w 437"/>
                <a:gd name="T29" fmla="*/ 16 h 1004"/>
                <a:gd name="T30" fmla="*/ 421 w 437"/>
                <a:gd name="T31" fmla="*/ 0 h 1004"/>
                <a:gd name="T32" fmla="*/ 421 w 437"/>
                <a:gd name="T33" fmla="*/ 0 h 1004"/>
                <a:gd name="T34" fmla="*/ 421 w 437"/>
                <a:gd name="T35" fmla="*/ 0 h 1004"/>
                <a:gd name="T36" fmla="*/ 425 w 437"/>
                <a:gd name="T37" fmla="*/ 4 h 1004"/>
                <a:gd name="T38" fmla="*/ 429 w 437"/>
                <a:gd name="T39" fmla="*/ 16 h 1004"/>
                <a:gd name="T40" fmla="*/ 433 w 437"/>
                <a:gd name="T41" fmla="*/ 55 h 1004"/>
                <a:gd name="T42" fmla="*/ 437 w 437"/>
                <a:gd name="T43" fmla="*/ 118 h 1004"/>
                <a:gd name="T44" fmla="*/ 425 w 437"/>
                <a:gd name="T45" fmla="*/ 177 h 1004"/>
                <a:gd name="T46" fmla="*/ 382 w 437"/>
                <a:gd name="T47" fmla="*/ 351 h 1004"/>
                <a:gd name="T48" fmla="*/ 8 w 437"/>
                <a:gd name="T49" fmla="*/ 1004 h 100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37"/>
                <a:gd name="T76" fmla="*/ 0 h 1004"/>
                <a:gd name="T77" fmla="*/ 437 w 437"/>
                <a:gd name="T78" fmla="*/ 1004 h 100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37" h="1004">
                  <a:moveTo>
                    <a:pt x="8" y="1004"/>
                  </a:moveTo>
                  <a:lnTo>
                    <a:pt x="8" y="1004"/>
                  </a:lnTo>
                  <a:lnTo>
                    <a:pt x="4" y="1004"/>
                  </a:lnTo>
                  <a:lnTo>
                    <a:pt x="0" y="993"/>
                  </a:lnTo>
                  <a:lnTo>
                    <a:pt x="0" y="981"/>
                  </a:lnTo>
                  <a:lnTo>
                    <a:pt x="0" y="969"/>
                  </a:lnTo>
                  <a:lnTo>
                    <a:pt x="4" y="945"/>
                  </a:lnTo>
                  <a:lnTo>
                    <a:pt x="12" y="922"/>
                  </a:lnTo>
                  <a:lnTo>
                    <a:pt x="106" y="682"/>
                  </a:lnTo>
                  <a:lnTo>
                    <a:pt x="228" y="386"/>
                  </a:lnTo>
                  <a:lnTo>
                    <a:pt x="291" y="248"/>
                  </a:lnTo>
                  <a:lnTo>
                    <a:pt x="346" y="130"/>
                  </a:lnTo>
                  <a:lnTo>
                    <a:pt x="390" y="44"/>
                  </a:lnTo>
                  <a:lnTo>
                    <a:pt x="406" y="16"/>
                  </a:lnTo>
                  <a:lnTo>
                    <a:pt x="421" y="0"/>
                  </a:lnTo>
                  <a:lnTo>
                    <a:pt x="425" y="4"/>
                  </a:lnTo>
                  <a:lnTo>
                    <a:pt x="429" y="16"/>
                  </a:lnTo>
                  <a:lnTo>
                    <a:pt x="433" y="55"/>
                  </a:lnTo>
                  <a:lnTo>
                    <a:pt x="437" y="118"/>
                  </a:lnTo>
                  <a:lnTo>
                    <a:pt x="425" y="177"/>
                  </a:lnTo>
                  <a:lnTo>
                    <a:pt x="382" y="351"/>
                  </a:lnTo>
                  <a:lnTo>
                    <a:pt x="8" y="1004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1" name="Freeform 294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w 342"/>
                <a:gd name="T23" fmla="*/ 83 h 1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2"/>
                <a:gd name="T37" fmla="*/ 0 h 153"/>
                <a:gd name="T38" fmla="*/ 342 w 342"/>
                <a:gd name="T39" fmla="*/ 153 h 15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7E9FA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2" name="Freeform 295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2"/>
                <a:gd name="T34" fmla="*/ 0 h 153"/>
                <a:gd name="T35" fmla="*/ 342 w 342"/>
                <a:gd name="T36" fmla="*/ 153 h 1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3" name="Freeform 296"/>
            <p:cNvSpPr>
              <a:spLocks/>
            </p:cNvSpPr>
            <p:nvPr/>
          </p:nvSpPr>
          <p:spPr bwMode="auto">
            <a:xfrm>
              <a:off x="4267" y="2245"/>
              <a:ext cx="292" cy="114"/>
            </a:xfrm>
            <a:custGeom>
              <a:avLst/>
              <a:gdLst>
                <a:gd name="T0" fmla="*/ 32 w 292"/>
                <a:gd name="T1" fmla="*/ 0 h 114"/>
                <a:gd name="T2" fmla="*/ 292 w 292"/>
                <a:gd name="T3" fmla="*/ 55 h 114"/>
                <a:gd name="T4" fmla="*/ 252 w 292"/>
                <a:gd name="T5" fmla="*/ 114 h 114"/>
                <a:gd name="T6" fmla="*/ 252 w 292"/>
                <a:gd name="T7" fmla="*/ 114 h 114"/>
                <a:gd name="T8" fmla="*/ 209 w 292"/>
                <a:gd name="T9" fmla="*/ 102 h 114"/>
                <a:gd name="T10" fmla="*/ 83 w 292"/>
                <a:gd name="T11" fmla="*/ 74 h 114"/>
                <a:gd name="T12" fmla="*/ 83 w 292"/>
                <a:gd name="T13" fmla="*/ 74 h 114"/>
                <a:gd name="T14" fmla="*/ 0 w 292"/>
                <a:gd name="T15" fmla="*/ 55 h 114"/>
                <a:gd name="T16" fmla="*/ 32 w 292"/>
                <a:gd name="T17" fmla="*/ 0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2"/>
                <a:gd name="T28" fmla="*/ 0 h 114"/>
                <a:gd name="T29" fmla="*/ 292 w 292"/>
                <a:gd name="T30" fmla="*/ 114 h 1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2" h="114">
                  <a:moveTo>
                    <a:pt x="32" y="0"/>
                  </a:moveTo>
                  <a:lnTo>
                    <a:pt x="292" y="55"/>
                  </a:lnTo>
                  <a:lnTo>
                    <a:pt x="252" y="114"/>
                  </a:lnTo>
                  <a:lnTo>
                    <a:pt x="209" y="102"/>
                  </a:lnTo>
                  <a:lnTo>
                    <a:pt x="83" y="74"/>
                  </a:lnTo>
                  <a:lnTo>
                    <a:pt x="0" y="5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BFBFA2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4" name="Freeform 297"/>
            <p:cNvSpPr>
              <a:spLocks/>
            </p:cNvSpPr>
            <p:nvPr/>
          </p:nvSpPr>
          <p:spPr bwMode="auto">
            <a:xfrm>
              <a:off x="4240" y="2233"/>
              <a:ext cx="59" cy="79"/>
            </a:xfrm>
            <a:custGeom>
              <a:avLst/>
              <a:gdLst>
                <a:gd name="T0" fmla="*/ 0 w 59"/>
                <a:gd name="T1" fmla="*/ 79 h 79"/>
                <a:gd name="T2" fmla="*/ 27 w 59"/>
                <a:gd name="T3" fmla="*/ 67 h 79"/>
                <a:gd name="T4" fmla="*/ 59 w 59"/>
                <a:gd name="T5" fmla="*/ 12 h 79"/>
                <a:gd name="T6" fmla="*/ 47 w 59"/>
                <a:gd name="T7" fmla="*/ 0 h 79"/>
                <a:gd name="T8" fmla="*/ 0 w 59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79"/>
                <a:gd name="T17" fmla="*/ 59 w 5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79">
                  <a:moveTo>
                    <a:pt x="0" y="79"/>
                  </a:moveTo>
                  <a:lnTo>
                    <a:pt x="27" y="67"/>
                  </a:lnTo>
                  <a:lnTo>
                    <a:pt x="59" y="12"/>
                  </a:lnTo>
                  <a:lnTo>
                    <a:pt x="47" y="0"/>
                  </a:lnTo>
                  <a:lnTo>
                    <a:pt x="0" y="79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5" name="Freeform 298"/>
            <p:cNvSpPr>
              <a:spLocks/>
            </p:cNvSpPr>
            <p:nvPr/>
          </p:nvSpPr>
          <p:spPr bwMode="auto">
            <a:xfrm>
              <a:off x="4519" y="2284"/>
              <a:ext cx="59" cy="91"/>
            </a:xfrm>
            <a:custGeom>
              <a:avLst/>
              <a:gdLst>
                <a:gd name="T0" fmla="*/ 40 w 59"/>
                <a:gd name="T1" fmla="*/ 8 h 91"/>
                <a:gd name="T2" fmla="*/ 59 w 59"/>
                <a:gd name="T3" fmla="*/ 0 h 91"/>
                <a:gd name="T4" fmla="*/ 4 w 59"/>
                <a:gd name="T5" fmla="*/ 91 h 91"/>
                <a:gd name="T6" fmla="*/ 0 w 59"/>
                <a:gd name="T7" fmla="*/ 75 h 91"/>
                <a:gd name="T8" fmla="*/ 40 w 59"/>
                <a:gd name="T9" fmla="*/ 8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91"/>
                <a:gd name="T17" fmla="*/ 59 w 59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91">
                  <a:moveTo>
                    <a:pt x="40" y="8"/>
                  </a:moveTo>
                  <a:lnTo>
                    <a:pt x="59" y="0"/>
                  </a:lnTo>
                  <a:lnTo>
                    <a:pt x="4" y="91"/>
                  </a:lnTo>
                  <a:lnTo>
                    <a:pt x="0" y="75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ABC3C9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6" name="Freeform 299"/>
            <p:cNvSpPr>
              <a:spLocks/>
            </p:cNvSpPr>
            <p:nvPr/>
          </p:nvSpPr>
          <p:spPr bwMode="auto">
            <a:xfrm>
              <a:off x="3732" y="2060"/>
              <a:ext cx="319" cy="523"/>
            </a:xfrm>
            <a:custGeom>
              <a:avLst/>
              <a:gdLst>
                <a:gd name="T0" fmla="*/ 3 w 319"/>
                <a:gd name="T1" fmla="*/ 523 h 523"/>
                <a:gd name="T2" fmla="*/ 3 w 319"/>
                <a:gd name="T3" fmla="*/ 523 h 523"/>
                <a:gd name="T4" fmla="*/ 23 w 319"/>
                <a:gd name="T5" fmla="*/ 445 h 523"/>
                <a:gd name="T6" fmla="*/ 47 w 319"/>
                <a:gd name="T7" fmla="*/ 370 h 523"/>
                <a:gd name="T8" fmla="*/ 78 w 319"/>
                <a:gd name="T9" fmla="*/ 299 h 523"/>
                <a:gd name="T10" fmla="*/ 114 w 319"/>
                <a:gd name="T11" fmla="*/ 228 h 523"/>
                <a:gd name="T12" fmla="*/ 114 w 319"/>
                <a:gd name="T13" fmla="*/ 228 h 523"/>
                <a:gd name="T14" fmla="*/ 161 w 319"/>
                <a:gd name="T15" fmla="*/ 149 h 523"/>
                <a:gd name="T16" fmla="*/ 185 w 319"/>
                <a:gd name="T17" fmla="*/ 110 h 523"/>
                <a:gd name="T18" fmla="*/ 212 w 319"/>
                <a:gd name="T19" fmla="*/ 70 h 523"/>
                <a:gd name="T20" fmla="*/ 212 w 319"/>
                <a:gd name="T21" fmla="*/ 70 h 523"/>
                <a:gd name="T22" fmla="*/ 224 w 319"/>
                <a:gd name="T23" fmla="*/ 55 h 523"/>
                <a:gd name="T24" fmla="*/ 240 w 319"/>
                <a:gd name="T25" fmla="*/ 47 h 523"/>
                <a:gd name="T26" fmla="*/ 252 w 319"/>
                <a:gd name="T27" fmla="*/ 39 h 523"/>
                <a:gd name="T28" fmla="*/ 263 w 319"/>
                <a:gd name="T29" fmla="*/ 39 h 523"/>
                <a:gd name="T30" fmla="*/ 275 w 319"/>
                <a:gd name="T31" fmla="*/ 43 h 523"/>
                <a:gd name="T32" fmla="*/ 287 w 319"/>
                <a:gd name="T33" fmla="*/ 47 h 523"/>
                <a:gd name="T34" fmla="*/ 319 w 319"/>
                <a:gd name="T35" fmla="*/ 66 h 523"/>
                <a:gd name="T36" fmla="*/ 319 w 319"/>
                <a:gd name="T37" fmla="*/ 66 h 523"/>
                <a:gd name="T38" fmla="*/ 319 w 319"/>
                <a:gd name="T39" fmla="*/ 63 h 523"/>
                <a:gd name="T40" fmla="*/ 319 w 319"/>
                <a:gd name="T41" fmla="*/ 51 h 523"/>
                <a:gd name="T42" fmla="*/ 319 w 319"/>
                <a:gd name="T43" fmla="*/ 35 h 523"/>
                <a:gd name="T44" fmla="*/ 319 w 319"/>
                <a:gd name="T45" fmla="*/ 27 h 523"/>
                <a:gd name="T46" fmla="*/ 319 w 319"/>
                <a:gd name="T47" fmla="*/ 27 h 523"/>
                <a:gd name="T48" fmla="*/ 287 w 319"/>
                <a:gd name="T49" fmla="*/ 7 h 523"/>
                <a:gd name="T50" fmla="*/ 271 w 319"/>
                <a:gd name="T51" fmla="*/ 3 h 523"/>
                <a:gd name="T52" fmla="*/ 260 w 319"/>
                <a:gd name="T53" fmla="*/ 0 h 523"/>
                <a:gd name="T54" fmla="*/ 248 w 319"/>
                <a:gd name="T55" fmla="*/ 3 h 523"/>
                <a:gd name="T56" fmla="*/ 236 w 319"/>
                <a:gd name="T57" fmla="*/ 11 h 523"/>
                <a:gd name="T58" fmla="*/ 220 w 319"/>
                <a:gd name="T59" fmla="*/ 23 h 523"/>
                <a:gd name="T60" fmla="*/ 204 w 319"/>
                <a:gd name="T61" fmla="*/ 39 h 523"/>
                <a:gd name="T62" fmla="*/ 204 w 319"/>
                <a:gd name="T63" fmla="*/ 39 h 523"/>
                <a:gd name="T64" fmla="*/ 181 w 319"/>
                <a:gd name="T65" fmla="*/ 74 h 523"/>
                <a:gd name="T66" fmla="*/ 157 w 319"/>
                <a:gd name="T67" fmla="*/ 114 h 523"/>
                <a:gd name="T68" fmla="*/ 114 w 319"/>
                <a:gd name="T69" fmla="*/ 189 h 523"/>
                <a:gd name="T70" fmla="*/ 114 w 319"/>
                <a:gd name="T71" fmla="*/ 189 h 523"/>
                <a:gd name="T72" fmla="*/ 74 w 319"/>
                <a:gd name="T73" fmla="*/ 263 h 523"/>
                <a:gd name="T74" fmla="*/ 47 w 319"/>
                <a:gd name="T75" fmla="*/ 334 h 523"/>
                <a:gd name="T76" fmla="*/ 19 w 319"/>
                <a:gd name="T77" fmla="*/ 409 h 523"/>
                <a:gd name="T78" fmla="*/ 0 w 319"/>
                <a:gd name="T79" fmla="*/ 488 h 523"/>
                <a:gd name="T80" fmla="*/ 0 w 319"/>
                <a:gd name="T81" fmla="*/ 488 h 523"/>
                <a:gd name="T82" fmla="*/ 0 w 319"/>
                <a:gd name="T83" fmla="*/ 508 h 523"/>
                <a:gd name="T84" fmla="*/ 3 w 319"/>
                <a:gd name="T85" fmla="*/ 523 h 523"/>
                <a:gd name="T86" fmla="*/ 3 w 319"/>
                <a:gd name="T87" fmla="*/ 523 h 52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9"/>
                <a:gd name="T133" fmla="*/ 0 h 523"/>
                <a:gd name="T134" fmla="*/ 319 w 319"/>
                <a:gd name="T135" fmla="*/ 523 h 52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9" h="523">
                  <a:moveTo>
                    <a:pt x="3" y="523"/>
                  </a:moveTo>
                  <a:lnTo>
                    <a:pt x="3" y="523"/>
                  </a:lnTo>
                  <a:lnTo>
                    <a:pt x="23" y="445"/>
                  </a:lnTo>
                  <a:lnTo>
                    <a:pt x="47" y="370"/>
                  </a:lnTo>
                  <a:lnTo>
                    <a:pt x="78" y="299"/>
                  </a:lnTo>
                  <a:lnTo>
                    <a:pt x="114" y="228"/>
                  </a:lnTo>
                  <a:lnTo>
                    <a:pt x="161" y="149"/>
                  </a:lnTo>
                  <a:lnTo>
                    <a:pt x="185" y="110"/>
                  </a:lnTo>
                  <a:lnTo>
                    <a:pt x="212" y="70"/>
                  </a:lnTo>
                  <a:lnTo>
                    <a:pt x="224" y="55"/>
                  </a:lnTo>
                  <a:lnTo>
                    <a:pt x="240" y="47"/>
                  </a:lnTo>
                  <a:lnTo>
                    <a:pt x="252" y="39"/>
                  </a:lnTo>
                  <a:lnTo>
                    <a:pt x="263" y="39"/>
                  </a:lnTo>
                  <a:lnTo>
                    <a:pt x="275" y="43"/>
                  </a:lnTo>
                  <a:lnTo>
                    <a:pt x="287" y="47"/>
                  </a:lnTo>
                  <a:lnTo>
                    <a:pt x="319" y="66"/>
                  </a:lnTo>
                  <a:lnTo>
                    <a:pt x="319" y="63"/>
                  </a:lnTo>
                  <a:lnTo>
                    <a:pt x="319" y="51"/>
                  </a:lnTo>
                  <a:lnTo>
                    <a:pt x="319" y="35"/>
                  </a:lnTo>
                  <a:lnTo>
                    <a:pt x="319" y="27"/>
                  </a:lnTo>
                  <a:lnTo>
                    <a:pt x="287" y="7"/>
                  </a:lnTo>
                  <a:lnTo>
                    <a:pt x="271" y="3"/>
                  </a:lnTo>
                  <a:lnTo>
                    <a:pt x="260" y="0"/>
                  </a:lnTo>
                  <a:lnTo>
                    <a:pt x="248" y="3"/>
                  </a:lnTo>
                  <a:lnTo>
                    <a:pt x="236" y="11"/>
                  </a:lnTo>
                  <a:lnTo>
                    <a:pt x="220" y="23"/>
                  </a:lnTo>
                  <a:lnTo>
                    <a:pt x="204" y="39"/>
                  </a:lnTo>
                  <a:lnTo>
                    <a:pt x="181" y="74"/>
                  </a:lnTo>
                  <a:lnTo>
                    <a:pt x="157" y="114"/>
                  </a:lnTo>
                  <a:lnTo>
                    <a:pt x="114" y="189"/>
                  </a:lnTo>
                  <a:lnTo>
                    <a:pt x="74" y="263"/>
                  </a:lnTo>
                  <a:lnTo>
                    <a:pt x="47" y="334"/>
                  </a:lnTo>
                  <a:lnTo>
                    <a:pt x="19" y="409"/>
                  </a:lnTo>
                  <a:lnTo>
                    <a:pt x="0" y="488"/>
                  </a:lnTo>
                  <a:lnTo>
                    <a:pt x="0" y="508"/>
                  </a:lnTo>
                  <a:lnTo>
                    <a:pt x="3" y="5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7" name="Freeform 300"/>
            <p:cNvSpPr>
              <a:spLocks/>
            </p:cNvSpPr>
            <p:nvPr/>
          </p:nvSpPr>
          <p:spPr bwMode="auto">
            <a:xfrm>
              <a:off x="3397" y="2646"/>
              <a:ext cx="165" cy="91"/>
            </a:xfrm>
            <a:custGeom>
              <a:avLst/>
              <a:gdLst>
                <a:gd name="T0" fmla="*/ 4 w 165"/>
                <a:gd name="T1" fmla="*/ 79 h 91"/>
                <a:gd name="T2" fmla="*/ 4 w 165"/>
                <a:gd name="T3" fmla="*/ 79 h 91"/>
                <a:gd name="T4" fmla="*/ 23 w 165"/>
                <a:gd name="T5" fmla="*/ 63 h 91"/>
                <a:gd name="T6" fmla="*/ 43 w 165"/>
                <a:gd name="T7" fmla="*/ 51 h 91"/>
                <a:gd name="T8" fmla="*/ 67 w 165"/>
                <a:gd name="T9" fmla="*/ 44 h 91"/>
                <a:gd name="T10" fmla="*/ 86 w 165"/>
                <a:gd name="T11" fmla="*/ 40 h 91"/>
                <a:gd name="T12" fmla="*/ 110 w 165"/>
                <a:gd name="T13" fmla="*/ 44 h 91"/>
                <a:gd name="T14" fmla="*/ 130 w 165"/>
                <a:gd name="T15" fmla="*/ 51 h 91"/>
                <a:gd name="T16" fmla="*/ 145 w 165"/>
                <a:gd name="T17" fmla="*/ 67 h 91"/>
                <a:gd name="T18" fmla="*/ 161 w 165"/>
                <a:gd name="T19" fmla="*/ 91 h 91"/>
                <a:gd name="T20" fmla="*/ 161 w 165"/>
                <a:gd name="T21" fmla="*/ 91 h 91"/>
                <a:gd name="T22" fmla="*/ 165 w 165"/>
                <a:gd name="T23" fmla="*/ 71 h 91"/>
                <a:gd name="T24" fmla="*/ 165 w 165"/>
                <a:gd name="T25" fmla="*/ 59 h 91"/>
                <a:gd name="T26" fmla="*/ 165 w 165"/>
                <a:gd name="T27" fmla="*/ 51 h 91"/>
                <a:gd name="T28" fmla="*/ 165 w 165"/>
                <a:gd name="T29" fmla="*/ 51 h 91"/>
                <a:gd name="T30" fmla="*/ 149 w 165"/>
                <a:gd name="T31" fmla="*/ 28 h 91"/>
                <a:gd name="T32" fmla="*/ 130 w 165"/>
                <a:gd name="T33" fmla="*/ 16 h 91"/>
                <a:gd name="T34" fmla="*/ 110 w 165"/>
                <a:gd name="T35" fmla="*/ 4 h 91"/>
                <a:gd name="T36" fmla="*/ 90 w 165"/>
                <a:gd name="T37" fmla="*/ 0 h 91"/>
                <a:gd name="T38" fmla="*/ 67 w 165"/>
                <a:gd name="T39" fmla="*/ 4 h 91"/>
                <a:gd name="T40" fmla="*/ 43 w 165"/>
                <a:gd name="T41" fmla="*/ 12 h 91"/>
                <a:gd name="T42" fmla="*/ 23 w 165"/>
                <a:gd name="T43" fmla="*/ 24 h 91"/>
                <a:gd name="T44" fmla="*/ 4 w 165"/>
                <a:gd name="T45" fmla="*/ 40 h 91"/>
                <a:gd name="T46" fmla="*/ 4 w 165"/>
                <a:gd name="T47" fmla="*/ 40 h 91"/>
                <a:gd name="T48" fmla="*/ 0 w 165"/>
                <a:gd name="T49" fmla="*/ 48 h 91"/>
                <a:gd name="T50" fmla="*/ 4 w 165"/>
                <a:gd name="T51" fmla="*/ 59 h 91"/>
                <a:gd name="T52" fmla="*/ 4 w 165"/>
                <a:gd name="T53" fmla="*/ 71 h 91"/>
                <a:gd name="T54" fmla="*/ 4 w 165"/>
                <a:gd name="T55" fmla="*/ 79 h 91"/>
                <a:gd name="T56" fmla="*/ 4 w 165"/>
                <a:gd name="T57" fmla="*/ 79 h 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5"/>
                <a:gd name="T88" fmla="*/ 0 h 91"/>
                <a:gd name="T89" fmla="*/ 165 w 165"/>
                <a:gd name="T90" fmla="*/ 91 h 9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5" h="91">
                  <a:moveTo>
                    <a:pt x="4" y="79"/>
                  </a:moveTo>
                  <a:lnTo>
                    <a:pt x="4" y="79"/>
                  </a:lnTo>
                  <a:lnTo>
                    <a:pt x="23" y="63"/>
                  </a:lnTo>
                  <a:lnTo>
                    <a:pt x="43" y="51"/>
                  </a:lnTo>
                  <a:lnTo>
                    <a:pt x="67" y="44"/>
                  </a:lnTo>
                  <a:lnTo>
                    <a:pt x="86" y="40"/>
                  </a:lnTo>
                  <a:lnTo>
                    <a:pt x="110" y="44"/>
                  </a:lnTo>
                  <a:lnTo>
                    <a:pt x="130" y="51"/>
                  </a:lnTo>
                  <a:lnTo>
                    <a:pt x="145" y="67"/>
                  </a:lnTo>
                  <a:lnTo>
                    <a:pt x="161" y="91"/>
                  </a:lnTo>
                  <a:lnTo>
                    <a:pt x="165" y="71"/>
                  </a:lnTo>
                  <a:lnTo>
                    <a:pt x="165" y="59"/>
                  </a:lnTo>
                  <a:lnTo>
                    <a:pt x="165" y="51"/>
                  </a:lnTo>
                  <a:lnTo>
                    <a:pt x="149" y="28"/>
                  </a:lnTo>
                  <a:lnTo>
                    <a:pt x="130" y="16"/>
                  </a:lnTo>
                  <a:lnTo>
                    <a:pt x="110" y="4"/>
                  </a:lnTo>
                  <a:lnTo>
                    <a:pt x="90" y="0"/>
                  </a:lnTo>
                  <a:lnTo>
                    <a:pt x="67" y="4"/>
                  </a:lnTo>
                  <a:lnTo>
                    <a:pt x="43" y="12"/>
                  </a:lnTo>
                  <a:lnTo>
                    <a:pt x="23" y="24"/>
                  </a:lnTo>
                  <a:lnTo>
                    <a:pt x="4" y="40"/>
                  </a:lnTo>
                  <a:lnTo>
                    <a:pt x="0" y="48"/>
                  </a:lnTo>
                  <a:lnTo>
                    <a:pt x="4" y="59"/>
                  </a:lnTo>
                  <a:lnTo>
                    <a:pt x="4" y="71"/>
                  </a:lnTo>
                  <a:lnTo>
                    <a:pt x="4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8" name="Freeform 301"/>
            <p:cNvSpPr>
              <a:spLocks/>
            </p:cNvSpPr>
            <p:nvPr/>
          </p:nvSpPr>
          <p:spPr bwMode="auto">
            <a:xfrm>
              <a:off x="4003" y="265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3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3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99" name="Freeform 302"/>
            <p:cNvSpPr>
              <a:spLocks/>
            </p:cNvSpPr>
            <p:nvPr/>
          </p:nvSpPr>
          <p:spPr bwMode="auto">
            <a:xfrm>
              <a:off x="4118" y="267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0" name="Freeform 303"/>
            <p:cNvSpPr>
              <a:spLocks/>
            </p:cNvSpPr>
            <p:nvPr/>
          </p:nvSpPr>
          <p:spPr bwMode="auto">
            <a:xfrm>
              <a:off x="4228" y="2701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1" name="Freeform 304"/>
            <p:cNvSpPr>
              <a:spLocks/>
            </p:cNvSpPr>
            <p:nvPr/>
          </p:nvSpPr>
          <p:spPr bwMode="auto">
            <a:xfrm>
              <a:off x="4062" y="2556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19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19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2" name="Freeform 305"/>
            <p:cNvSpPr>
              <a:spLocks/>
            </p:cNvSpPr>
            <p:nvPr/>
          </p:nvSpPr>
          <p:spPr bwMode="auto">
            <a:xfrm>
              <a:off x="4177" y="2579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3" name="Freeform 306"/>
            <p:cNvSpPr>
              <a:spLocks/>
            </p:cNvSpPr>
            <p:nvPr/>
          </p:nvSpPr>
          <p:spPr bwMode="auto">
            <a:xfrm>
              <a:off x="4287" y="260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4" name="Freeform 307"/>
            <p:cNvSpPr>
              <a:spLocks/>
            </p:cNvSpPr>
            <p:nvPr/>
          </p:nvSpPr>
          <p:spPr bwMode="auto">
            <a:xfrm>
              <a:off x="4121" y="2461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20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5" name="Freeform 308"/>
            <p:cNvSpPr>
              <a:spLocks/>
            </p:cNvSpPr>
            <p:nvPr/>
          </p:nvSpPr>
          <p:spPr bwMode="auto">
            <a:xfrm>
              <a:off x="4236" y="2485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6" name="Freeform 309"/>
            <p:cNvSpPr>
              <a:spLocks/>
            </p:cNvSpPr>
            <p:nvPr/>
          </p:nvSpPr>
          <p:spPr bwMode="auto">
            <a:xfrm>
              <a:off x="4346" y="2512"/>
              <a:ext cx="118" cy="79"/>
            </a:xfrm>
            <a:custGeom>
              <a:avLst/>
              <a:gdLst>
                <a:gd name="T0" fmla="*/ 0 w 118"/>
                <a:gd name="T1" fmla="*/ 56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6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6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7" name="Freeform 310"/>
            <p:cNvSpPr>
              <a:spLocks/>
            </p:cNvSpPr>
            <p:nvPr/>
          </p:nvSpPr>
          <p:spPr bwMode="auto">
            <a:xfrm>
              <a:off x="4181" y="2367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2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2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8" name="Freeform 311"/>
            <p:cNvSpPr>
              <a:spLocks/>
            </p:cNvSpPr>
            <p:nvPr/>
          </p:nvSpPr>
          <p:spPr bwMode="auto">
            <a:xfrm>
              <a:off x="4295" y="239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09" name="Freeform 312"/>
            <p:cNvSpPr>
              <a:spLocks/>
            </p:cNvSpPr>
            <p:nvPr/>
          </p:nvSpPr>
          <p:spPr bwMode="auto">
            <a:xfrm>
              <a:off x="4405" y="2418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0" name="Freeform 313"/>
            <p:cNvSpPr>
              <a:spLocks/>
            </p:cNvSpPr>
            <p:nvPr/>
          </p:nvSpPr>
          <p:spPr bwMode="auto">
            <a:xfrm>
              <a:off x="3992" y="2631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2 w 118"/>
                <a:gd name="T3" fmla="*/ 78 h 78"/>
                <a:gd name="T4" fmla="*/ 118 w 118"/>
                <a:gd name="T5" fmla="*/ 19 h 78"/>
                <a:gd name="T6" fmla="*/ 39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2" y="78"/>
                  </a:lnTo>
                  <a:lnTo>
                    <a:pt x="118" y="19"/>
                  </a:lnTo>
                  <a:lnTo>
                    <a:pt x="3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1" name="Freeform 314"/>
            <p:cNvSpPr>
              <a:spLocks/>
            </p:cNvSpPr>
            <p:nvPr/>
          </p:nvSpPr>
          <p:spPr bwMode="auto">
            <a:xfrm>
              <a:off x="4106" y="265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2" name="Freeform 315"/>
            <p:cNvSpPr>
              <a:spLocks/>
            </p:cNvSpPr>
            <p:nvPr/>
          </p:nvSpPr>
          <p:spPr bwMode="auto">
            <a:xfrm>
              <a:off x="4216" y="2686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3" name="Freeform 316"/>
            <p:cNvSpPr>
              <a:spLocks/>
            </p:cNvSpPr>
            <p:nvPr/>
          </p:nvSpPr>
          <p:spPr bwMode="auto">
            <a:xfrm>
              <a:off x="4051" y="2536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2 w 118"/>
                <a:gd name="T3" fmla="*/ 79 h 79"/>
                <a:gd name="T4" fmla="*/ 118 w 118"/>
                <a:gd name="T5" fmla="*/ 20 h 79"/>
                <a:gd name="T6" fmla="*/ 39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9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4" name="Freeform 317"/>
            <p:cNvSpPr>
              <a:spLocks/>
            </p:cNvSpPr>
            <p:nvPr/>
          </p:nvSpPr>
          <p:spPr bwMode="auto">
            <a:xfrm>
              <a:off x="4165" y="2560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5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5" name="Freeform 318"/>
            <p:cNvSpPr>
              <a:spLocks/>
            </p:cNvSpPr>
            <p:nvPr/>
          </p:nvSpPr>
          <p:spPr bwMode="auto">
            <a:xfrm>
              <a:off x="4275" y="258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6" name="Freeform 319"/>
            <p:cNvSpPr>
              <a:spLocks/>
            </p:cNvSpPr>
            <p:nvPr/>
          </p:nvSpPr>
          <p:spPr bwMode="auto">
            <a:xfrm>
              <a:off x="4110" y="2441"/>
              <a:ext cx="118" cy="75"/>
            </a:xfrm>
            <a:custGeom>
              <a:avLst/>
              <a:gdLst>
                <a:gd name="T0" fmla="*/ 0 w 118"/>
                <a:gd name="T1" fmla="*/ 56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6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6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7" name="Freeform 320"/>
            <p:cNvSpPr>
              <a:spLocks/>
            </p:cNvSpPr>
            <p:nvPr/>
          </p:nvSpPr>
          <p:spPr bwMode="auto">
            <a:xfrm>
              <a:off x="4224" y="2465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8" name="Freeform 321"/>
            <p:cNvSpPr>
              <a:spLocks/>
            </p:cNvSpPr>
            <p:nvPr/>
          </p:nvSpPr>
          <p:spPr bwMode="auto">
            <a:xfrm>
              <a:off x="4334" y="2493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6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19" name="Freeform 322"/>
            <p:cNvSpPr>
              <a:spLocks/>
            </p:cNvSpPr>
            <p:nvPr/>
          </p:nvSpPr>
          <p:spPr bwMode="auto">
            <a:xfrm>
              <a:off x="4169" y="2347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0" name="Freeform 323"/>
            <p:cNvSpPr>
              <a:spLocks/>
            </p:cNvSpPr>
            <p:nvPr/>
          </p:nvSpPr>
          <p:spPr bwMode="auto">
            <a:xfrm>
              <a:off x="4283" y="2371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1" name="Freeform 324"/>
            <p:cNvSpPr>
              <a:spLocks/>
            </p:cNvSpPr>
            <p:nvPr/>
          </p:nvSpPr>
          <p:spPr bwMode="auto">
            <a:xfrm>
              <a:off x="4393" y="2398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2" name="Freeform 325"/>
            <p:cNvSpPr>
              <a:spLocks/>
            </p:cNvSpPr>
            <p:nvPr/>
          </p:nvSpPr>
          <p:spPr bwMode="auto">
            <a:xfrm>
              <a:off x="4208" y="2378"/>
              <a:ext cx="16" cy="12"/>
            </a:xfrm>
            <a:custGeom>
              <a:avLst/>
              <a:gdLst>
                <a:gd name="T0" fmla="*/ 12 w 16"/>
                <a:gd name="T1" fmla="*/ 12 h 12"/>
                <a:gd name="T2" fmla="*/ 12 w 16"/>
                <a:gd name="T3" fmla="*/ 12 h 12"/>
                <a:gd name="T4" fmla="*/ 12 w 16"/>
                <a:gd name="T5" fmla="*/ 12 h 12"/>
                <a:gd name="T6" fmla="*/ 12 w 16"/>
                <a:gd name="T7" fmla="*/ 12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4 w 16"/>
                <a:gd name="T15" fmla="*/ 12 h 12"/>
                <a:gd name="T16" fmla="*/ 4 w 16"/>
                <a:gd name="T17" fmla="*/ 12 h 12"/>
                <a:gd name="T18" fmla="*/ 0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4 w 16"/>
                <a:gd name="T25" fmla="*/ 8 h 12"/>
                <a:gd name="T26" fmla="*/ 4 w 16"/>
                <a:gd name="T27" fmla="*/ 8 h 12"/>
                <a:gd name="T28" fmla="*/ 8 w 16"/>
                <a:gd name="T29" fmla="*/ 8 h 12"/>
                <a:gd name="T30" fmla="*/ 12 w 16"/>
                <a:gd name="T31" fmla="*/ 0 h 12"/>
                <a:gd name="T32" fmla="*/ 12 w 16"/>
                <a:gd name="T33" fmla="*/ 0 h 12"/>
                <a:gd name="T34" fmla="*/ 12 w 16"/>
                <a:gd name="T35" fmla="*/ 0 h 12"/>
                <a:gd name="T36" fmla="*/ 12 w 16"/>
                <a:gd name="T37" fmla="*/ 0 h 12"/>
                <a:gd name="T38" fmla="*/ 12 w 16"/>
                <a:gd name="T39" fmla="*/ 0 h 12"/>
                <a:gd name="T40" fmla="*/ 12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2 w 16"/>
                <a:gd name="T49" fmla="*/ 0 h 12"/>
                <a:gd name="T50" fmla="*/ 12 w 16"/>
                <a:gd name="T51" fmla="*/ 0 h 12"/>
                <a:gd name="T52" fmla="*/ 16 w 16"/>
                <a:gd name="T53" fmla="*/ 0 h 12"/>
                <a:gd name="T54" fmla="*/ 16 w 16"/>
                <a:gd name="T55" fmla="*/ 0 h 12"/>
                <a:gd name="T56" fmla="*/ 16 w 16"/>
                <a:gd name="T57" fmla="*/ 0 h 12"/>
                <a:gd name="T58" fmla="*/ 16 w 16"/>
                <a:gd name="T59" fmla="*/ 0 h 12"/>
                <a:gd name="T60" fmla="*/ 16 w 16"/>
                <a:gd name="T61" fmla="*/ 0 h 12"/>
                <a:gd name="T62" fmla="*/ 16 w 16"/>
                <a:gd name="T63" fmla="*/ 0 h 12"/>
                <a:gd name="T64" fmla="*/ 16 w 16"/>
                <a:gd name="T65" fmla="*/ 0 h 12"/>
                <a:gd name="T66" fmla="*/ 8 w 16"/>
                <a:gd name="T67" fmla="*/ 12 h 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"/>
                <a:gd name="T103" fmla="*/ 0 h 12"/>
                <a:gd name="T104" fmla="*/ 16 w 16"/>
                <a:gd name="T105" fmla="*/ 12 h 1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" h="12">
                  <a:moveTo>
                    <a:pt x="8" y="12"/>
                  </a:move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3" name="Freeform 326"/>
            <p:cNvSpPr>
              <a:spLocks/>
            </p:cNvSpPr>
            <p:nvPr/>
          </p:nvSpPr>
          <p:spPr bwMode="auto">
            <a:xfrm>
              <a:off x="4338" y="2394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12 w 20"/>
                <a:gd name="T5" fmla="*/ 12 h 16"/>
                <a:gd name="T6" fmla="*/ 12 w 20"/>
                <a:gd name="T7" fmla="*/ 12 h 16"/>
                <a:gd name="T8" fmla="*/ 16 w 20"/>
                <a:gd name="T9" fmla="*/ 12 h 16"/>
                <a:gd name="T10" fmla="*/ 16 w 20"/>
                <a:gd name="T11" fmla="*/ 12 h 16"/>
                <a:gd name="T12" fmla="*/ 16 w 20"/>
                <a:gd name="T13" fmla="*/ 12 h 16"/>
                <a:gd name="T14" fmla="*/ 16 w 20"/>
                <a:gd name="T15" fmla="*/ 16 h 16"/>
                <a:gd name="T16" fmla="*/ 16 w 20"/>
                <a:gd name="T17" fmla="*/ 16 h 16"/>
                <a:gd name="T18" fmla="*/ 16 w 20"/>
                <a:gd name="T19" fmla="*/ 16 h 16"/>
                <a:gd name="T20" fmla="*/ 16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0 w 20"/>
                <a:gd name="T27" fmla="*/ 16 h 16"/>
                <a:gd name="T28" fmla="*/ 0 w 20"/>
                <a:gd name="T29" fmla="*/ 16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12 w 20"/>
                <a:gd name="T41" fmla="*/ 8 h 16"/>
                <a:gd name="T42" fmla="*/ 12 w 20"/>
                <a:gd name="T43" fmla="*/ 8 h 16"/>
                <a:gd name="T44" fmla="*/ 16 w 20"/>
                <a:gd name="T45" fmla="*/ 8 h 16"/>
                <a:gd name="T46" fmla="*/ 16 w 20"/>
                <a:gd name="T47" fmla="*/ 4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4 h 16"/>
                <a:gd name="T56" fmla="*/ 12 w 20"/>
                <a:gd name="T57" fmla="*/ 4 h 16"/>
                <a:gd name="T58" fmla="*/ 12 w 20"/>
                <a:gd name="T59" fmla="*/ 4 h 16"/>
                <a:gd name="T60" fmla="*/ 12 w 20"/>
                <a:gd name="T61" fmla="*/ 4 h 16"/>
                <a:gd name="T62" fmla="*/ 12 w 20"/>
                <a:gd name="T63" fmla="*/ 4 h 16"/>
                <a:gd name="T64" fmla="*/ 8 w 20"/>
                <a:gd name="T65" fmla="*/ 4 h 16"/>
                <a:gd name="T66" fmla="*/ 8 w 20"/>
                <a:gd name="T67" fmla="*/ 4 h 16"/>
                <a:gd name="T68" fmla="*/ 8 w 20"/>
                <a:gd name="T69" fmla="*/ 4 h 16"/>
                <a:gd name="T70" fmla="*/ 8 w 20"/>
                <a:gd name="T71" fmla="*/ 4 h 16"/>
                <a:gd name="T72" fmla="*/ 8 w 20"/>
                <a:gd name="T73" fmla="*/ 4 h 16"/>
                <a:gd name="T74" fmla="*/ 8 w 20"/>
                <a:gd name="T75" fmla="*/ 0 h 16"/>
                <a:gd name="T76" fmla="*/ 12 w 20"/>
                <a:gd name="T77" fmla="*/ 0 h 16"/>
                <a:gd name="T78" fmla="*/ 12 w 20"/>
                <a:gd name="T79" fmla="*/ 0 h 16"/>
                <a:gd name="T80" fmla="*/ 12 w 20"/>
                <a:gd name="T81" fmla="*/ 0 h 16"/>
                <a:gd name="T82" fmla="*/ 16 w 20"/>
                <a:gd name="T83" fmla="*/ 0 h 16"/>
                <a:gd name="T84" fmla="*/ 16 w 20"/>
                <a:gd name="T85" fmla="*/ 0 h 16"/>
                <a:gd name="T86" fmla="*/ 20 w 20"/>
                <a:gd name="T87" fmla="*/ 4 h 16"/>
                <a:gd name="T88" fmla="*/ 20 w 20"/>
                <a:gd name="T89" fmla="*/ 8 h 16"/>
                <a:gd name="T90" fmla="*/ 20 w 20"/>
                <a:gd name="T91" fmla="*/ 8 h 16"/>
                <a:gd name="T92" fmla="*/ 16 w 20"/>
                <a:gd name="T93" fmla="*/ 8 h 16"/>
                <a:gd name="T94" fmla="*/ 12 w 20"/>
                <a:gd name="T95" fmla="*/ 12 h 16"/>
                <a:gd name="T96" fmla="*/ 8 w 20"/>
                <a:gd name="T97" fmla="*/ 12 h 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16"/>
                <a:gd name="T149" fmla="*/ 20 w 20"/>
                <a:gd name="T150" fmla="*/ 16 h 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16">
                  <a:moveTo>
                    <a:pt x="8" y="12"/>
                  </a:move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4" name="Freeform 327"/>
            <p:cNvSpPr>
              <a:spLocks noEditPoints="1"/>
            </p:cNvSpPr>
            <p:nvPr/>
          </p:nvSpPr>
          <p:spPr bwMode="auto">
            <a:xfrm>
              <a:off x="4315" y="2410"/>
              <a:ext cx="15" cy="12"/>
            </a:xfrm>
            <a:custGeom>
              <a:avLst/>
              <a:gdLst>
                <a:gd name="T0" fmla="*/ 15 w 15"/>
                <a:gd name="T1" fmla="*/ 12 h 12"/>
                <a:gd name="T2" fmla="*/ 15 w 15"/>
                <a:gd name="T3" fmla="*/ 12 h 12"/>
                <a:gd name="T4" fmla="*/ 15 w 15"/>
                <a:gd name="T5" fmla="*/ 12 h 12"/>
                <a:gd name="T6" fmla="*/ 15 w 15"/>
                <a:gd name="T7" fmla="*/ 12 h 12"/>
                <a:gd name="T8" fmla="*/ 15 w 15"/>
                <a:gd name="T9" fmla="*/ 12 h 12"/>
                <a:gd name="T10" fmla="*/ 15 w 15"/>
                <a:gd name="T11" fmla="*/ 12 h 12"/>
                <a:gd name="T12" fmla="*/ 11 w 15"/>
                <a:gd name="T13" fmla="*/ 12 h 12"/>
                <a:gd name="T14" fmla="*/ 11 w 15"/>
                <a:gd name="T15" fmla="*/ 12 h 12"/>
                <a:gd name="T16" fmla="*/ 11 w 15"/>
                <a:gd name="T17" fmla="*/ 12 h 12"/>
                <a:gd name="T18" fmla="*/ 7 w 15"/>
                <a:gd name="T19" fmla="*/ 12 h 12"/>
                <a:gd name="T20" fmla="*/ 7 w 15"/>
                <a:gd name="T21" fmla="*/ 12 h 12"/>
                <a:gd name="T22" fmla="*/ 7 w 15"/>
                <a:gd name="T23" fmla="*/ 12 h 12"/>
                <a:gd name="T24" fmla="*/ 11 w 15"/>
                <a:gd name="T25" fmla="*/ 8 h 12"/>
                <a:gd name="T26" fmla="*/ 11 w 15"/>
                <a:gd name="T27" fmla="*/ 8 h 12"/>
                <a:gd name="T28" fmla="*/ 11 w 15"/>
                <a:gd name="T29" fmla="*/ 8 h 12"/>
                <a:gd name="T30" fmla="*/ 11 w 15"/>
                <a:gd name="T31" fmla="*/ 8 h 12"/>
                <a:gd name="T32" fmla="*/ 7 w 15"/>
                <a:gd name="T33" fmla="*/ 8 h 12"/>
                <a:gd name="T34" fmla="*/ 3 w 15"/>
                <a:gd name="T35" fmla="*/ 8 h 12"/>
                <a:gd name="T36" fmla="*/ 7 w 15"/>
                <a:gd name="T37" fmla="*/ 8 h 12"/>
                <a:gd name="T38" fmla="*/ 7 w 15"/>
                <a:gd name="T39" fmla="*/ 8 h 12"/>
                <a:gd name="T40" fmla="*/ 7 w 15"/>
                <a:gd name="T41" fmla="*/ 8 h 12"/>
                <a:gd name="T42" fmla="*/ 7 w 15"/>
                <a:gd name="T43" fmla="*/ 8 h 12"/>
                <a:gd name="T44" fmla="*/ 7 w 15"/>
                <a:gd name="T45" fmla="*/ 8 h 12"/>
                <a:gd name="T46" fmla="*/ 7 w 15"/>
                <a:gd name="T47" fmla="*/ 12 h 12"/>
                <a:gd name="T48" fmla="*/ 3 w 15"/>
                <a:gd name="T49" fmla="*/ 12 h 12"/>
                <a:gd name="T50" fmla="*/ 3 w 15"/>
                <a:gd name="T51" fmla="*/ 12 h 12"/>
                <a:gd name="T52" fmla="*/ 3 w 15"/>
                <a:gd name="T53" fmla="*/ 12 h 12"/>
                <a:gd name="T54" fmla="*/ 0 w 15"/>
                <a:gd name="T55" fmla="*/ 8 h 12"/>
                <a:gd name="T56" fmla="*/ 0 w 15"/>
                <a:gd name="T57" fmla="*/ 8 h 12"/>
                <a:gd name="T58" fmla="*/ 0 w 15"/>
                <a:gd name="T59" fmla="*/ 8 h 12"/>
                <a:gd name="T60" fmla="*/ 3 w 15"/>
                <a:gd name="T61" fmla="*/ 8 h 12"/>
                <a:gd name="T62" fmla="*/ 3 w 15"/>
                <a:gd name="T63" fmla="*/ 8 h 12"/>
                <a:gd name="T64" fmla="*/ 3 w 15"/>
                <a:gd name="T65" fmla="*/ 8 h 12"/>
                <a:gd name="T66" fmla="*/ 11 w 15"/>
                <a:gd name="T67" fmla="*/ 4 h 12"/>
                <a:gd name="T68" fmla="*/ 7 w 15"/>
                <a:gd name="T69" fmla="*/ 4 h 12"/>
                <a:gd name="T70" fmla="*/ 7 w 15"/>
                <a:gd name="T71" fmla="*/ 4 h 12"/>
                <a:gd name="T72" fmla="*/ 7 w 15"/>
                <a:gd name="T73" fmla="*/ 0 h 12"/>
                <a:gd name="T74" fmla="*/ 7 w 15"/>
                <a:gd name="T75" fmla="*/ 0 h 12"/>
                <a:gd name="T76" fmla="*/ 7 w 15"/>
                <a:gd name="T77" fmla="*/ 0 h 12"/>
                <a:gd name="T78" fmla="*/ 7 w 15"/>
                <a:gd name="T79" fmla="*/ 0 h 12"/>
                <a:gd name="T80" fmla="*/ 11 w 15"/>
                <a:gd name="T81" fmla="*/ 0 h 12"/>
                <a:gd name="T82" fmla="*/ 15 w 15"/>
                <a:gd name="T83" fmla="*/ 0 h 12"/>
                <a:gd name="T84" fmla="*/ 15 w 15"/>
                <a:gd name="T85" fmla="*/ 0 h 12"/>
                <a:gd name="T86" fmla="*/ 15 w 15"/>
                <a:gd name="T87" fmla="*/ 4 h 12"/>
                <a:gd name="T88" fmla="*/ 15 w 15"/>
                <a:gd name="T89" fmla="*/ 4 h 12"/>
                <a:gd name="T90" fmla="*/ 11 w 15"/>
                <a:gd name="T91" fmla="*/ 4 h 12"/>
                <a:gd name="T92" fmla="*/ 7 w 15"/>
                <a:gd name="T93" fmla="*/ 8 h 12"/>
                <a:gd name="T94" fmla="*/ 11 w 15"/>
                <a:gd name="T95" fmla="*/ 8 h 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5"/>
                <a:gd name="T145" fmla="*/ 0 h 12"/>
                <a:gd name="T146" fmla="*/ 15 w 15"/>
                <a:gd name="T147" fmla="*/ 12 h 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5" h="12">
                  <a:moveTo>
                    <a:pt x="15" y="12"/>
                  </a:move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11" y="8"/>
                  </a:lnTo>
                  <a:lnTo>
                    <a:pt x="7" y="8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12"/>
                  </a:lnTo>
                  <a:close/>
                  <a:moveTo>
                    <a:pt x="11" y="4"/>
                  </a:move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5" name="Freeform 328"/>
            <p:cNvSpPr>
              <a:spLocks noEditPoints="1"/>
            </p:cNvSpPr>
            <p:nvPr/>
          </p:nvSpPr>
          <p:spPr bwMode="auto">
            <a:xfrm>
              <a:off x="4330" y="2414"/>
              <a:ext cx="16" cy="12"/>
            </a:xfrm>
            <a:custGeom>
              <a:avLst/>
              <a:gdLst>
                <a:gd name="T0" fmla="*/ 12 w 16"/>
                <a:gd name="T1" fmla="*/ 4 h 12"/>
                <a:gd name="T2" fmla="*/ 16 w 16"/>
                <a:gd name="T3" fmla="*/ 8 h 12"/>
                <a:gd name="T4" fmla="*/ 16 w 16"/>
                <a:gd name="T5" fmla="*/ 8 h 12"/>
                <a:gd name="T6" fmla="*/ 16 w 16"/>
                <a:gd name="T7" fmla="*/ 8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8 w 16"/>
                <a:gd name="T15" fmla="*/ 12 h 12"/>
                <a:gd name="T16" fmla="*/ 8 w 16"/>
                <a:gd name="T17" fmla="*/ 12 h 12"/>
                <a:gd name="T18" fmla="*/ 8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4 w 16"/>
                <a:gd name="T33" fmla="*/ 8 h 12"/>
                <a:gd name="T34" fmla="*/ 4 w 16"/>
                <a:gd name="T35" fmla="*/ 8 h 12"/>
                <a:gd name="T36" fmla="*/ 8 w 16"/>
                <a:gd name="T37" fmla="*/ 0 h 12"/>
                <a:gd name="T38" fmla="*/ 8 w 16"/>
                <a:gd name="T39" fmla="*/ 0 h 12"/>
                <a:gd name="T40" fmla="*/ 8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4 w 16"/>
                <a:gd name="T47" fmla="*/ 0 h 12"/>
                <a:gd name="T48" fmla="*/ 8 w 16"/>
                <a:gd name="T49" fmla="*/ 0 h 12"/>
                <a:gd name="T50" fmla="*/ 8 w 16"/>
                <a:gd name="T51" fmla="*/ 0 h 12"/>
                <a:gd name="T52" fmla="*/ 12 w 16"/>
                <a:gd name="T53" fmla="*/ 0 h 12"/>
                <a:gd name="T54" fmla="*/ 12 w 16"/>
                <a:gd name="T55" fmla="*/ 0 h 12"/>
                <a:gd name="T56" fmla="*/ 16 w 16"/>
                <a:gd name="T57" fmla="*/ 0 h 12"/>
                <a:gd name="T58" fmla="*/ 16 w 16"/>
                <a:gd name="T59" fmla="*/ 4 h 12"/>
                <a:gd name="T60" fmla="*/ 16 w 16"/>
                <a:gd name="T61" fmla="*/ 4 h 12"/>
                <a:gd name="T62" fmla="*/ 16 w 16"/>
                <a:gd name="T63" fmla="*/ 4 h 12"/>
                <a:gd name="T64" fmla="*/ 12 w 16"/>
                <a:gd name="T65" fmla="*/ 4 h 12"/>
                <a:gd name="T66" fmla="*/ 8 w 16"/>
                <a:gd name="T67" fmla="*/ 0 h 12"/>
                <a:gd name="T68" fmla="*/ 8 w 16"/>
                <a:gd name="T69" fmla="*/ 4 h 12"/>
                <a:gd name="T70" fmla="*/ 8 w 16"/>
                <a:gd name="T71" fmla="*/ 4 h 12"/>
                <a:gd name="T72" fmla="*/ 12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0 h 12"/>
                <a:gd name="T84" fmla="*/ 8 w 16"/>
                <a:gd name="T85" fmla="*/ 4 h 12"/>
                <a:gd name="T86" fmla="*/ 4 w 16"/>
                <a:gd name="T87" fmla="*/ 8 h 12"/>
                <a:gd name="T88" fmla="*/ 8 w 16"/>
                <a:gd name="T89" fmla="*/ 8 h 12"/>
                <a:gd name="T90" fmla="*/ 8 w 16"/>
                <a:gd name="T91" fmla="*/ 8 h 12"/>
                <a:gd name="T92" fmla="*/ 8 w 16"/>
                <a:gd name="T93" fmla="*/ 8 h 12"/>
                <a:gd name="T94" fmla="*/ 12 w 16"/>
                <a:gd name="T95" fmla="*/ 8 h 12"/>
                <a:gd name="T96" fmla="*/ 12 w 16"/>
                <a:gd name="T97" fmla="*/ 8 h 12"/>
                <a:gd name="T98" fmla="*/ 12 w 16"/>
                <a:gd name="T99" fmla="*/ 8 h 12"/>
                <a:gd name="T100" fmla="*/ 8 w 16"/>
                <a:gd name="T101" fmla="*/ 4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2"/>
                <a:gd name="T155" fmla="*/ 16 w 16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2">
                  <a:moveTo>
                    <a:pt x="12" y="4"/>
                  </a:moveTo>
                  <a:lnTo>
                    <a:pt x="12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  <a:moveTo>
                    <a:pt x="8" y="0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close/>
                  <a:moveTo>
                    <a:pt x="8" y="4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6" name="Freeform 329"/>
            <p:cNvSpPr>
              <a:spLocks/>
            </p:cNvSpPr>
            <p:nvPr/>
          </p:nvSpPr>
          <p:spPr bwMode="auto">
            <a:xfrm>
              <a:off x="4346" y="2418"/>
              <a:ext cx="16" cy="12"/>
            </a:xfrm>
            <a:custGeom>
              <a:avLst/>
              <a:gdLst>
                <a:gd name="T0" fmla="*/ 16 w 16"/>
                <a:gd name="T1" fmla="*/ 0 h 12"/>
                <a:gd name="T2" fmla="*/ 16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6 w 16"/>
                <a:gd name="T13" fmla="*/ 4 h 12"/>
                <a:gd name="T14" fmla="*/ 16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12 w 16"/>
                <a:gd name="T31" fmla="*/ 0 h 12"/>
                <a:gd name="T32" fmla="*/ 12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8 w 16"/>
                <a:gd name="T43" fmla="*/ 8 h 12"/>
                <a:gd name="T44" fmla="*/ 8 w 16"/>
                <a:gd name="T45" fmla="*/ 8 h 12"/>
                <a:gd name="T46" fmla="*/ 8 w 16"/>
                <a:gd name="T47" fmla="*/ 8 h 12"/>
                <a:gd name="T48" fmla="*/ 12 w 16"/>
                <a:gd name="T49" fmla="*/ 8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8 h 12"/>
                <a:gd name="T56" fmla="*/ 12 w 16"/>
                <a:gd name="T57" fmla="*/ 8 h 12"/>
                <a:gd name="T58" fmla="*/ 8 w 16"/>
                <a:gd name="T59" fmla="*/ 12 h 12"/>
                <a:gd name="T60" fmla="*/ 4 w 16"/>
                <a:gd name="T61" fmla="*/ 8 h 12"/>
                <a:gd name="T62" fmla="*/ 4 w 16"/>
                <a:gd name="T63" fmla="*/ 8 h 12"/>
                <a:gd name="T64" fmla="*/ 0 w 16"/>
                <a:gd name="T65" fmla="*/ 8 h 12"/>
                <a:gd name="T66" fmla="*/ 0 w 16"/>
                <a:gd name="T67" fmla="*/ 4 h 12"/>
                <a:gd name="T68" fmla="*/ 0 w 16"/>
                <a:gd name="T69" fmla="*/ 4 h 12"/>
                <a:gd name="T70" fmla="*/ 4 w 16"/>
                <a:gd name="T71" fmla="*/ 0 h 12"/>
                <a:gd name="T72" fmla="*/ 12 w 16"/>
                <a:gd name="T73" fmla="*/ 0 h 12"/>
                <a:gd name="T74" fmla="*/ 12 w 16"/>
                <a:gd name="T75" fmla="*/ 0 h 12"/>
                <a:gd name="T76" fmla="*/ 12 w 16"/>
                <a:gd name="T77" fmla="*/ 0 h 12"/>
                <a:gd name="T78" fmla="*/ 16 w 16"/>
                <a:gd name="T79" fmla="*/ 0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7" name="Freeform 330"/>
            <p:cNvSpPr>
              <a:spLocks/>
            </p:cNvSpPr>
            <p:nvPr/>
          </p:nvSpPr>
          <p:spPr bwMode="auto">
            <a:xfrm>
              <a:off x="4448" y="2426"/>
              <a:ext cx="20" cy="15"/>
            </a:xfrm>
            <a:custGeom>
              <a:avLst/>
              <a:gdLst>
                <a:gd name="T0" fmla="*/ 12 w 20"/>
                <a:gd name="T1" fmla="*/ 8 h 15"/>
                <a:gd name="T2" fmla="*/ 16 w 20"/>
                <a:gd name="T3" fmla="*/ 12 h 15"/>
                <a:gd name="T4" fmla="*/ 16 w 20"/>
                <a:gd name="T5" fmla="*/ 12 h 15"/>
                <a:gd name="T6" fmla="*/ 16 w 20"/>
                <a:gd name="T7" fmla="*/ 12 h 15"/>
                <a:gd name="T8" fmla="*/ 12 w 20"/>
                <a:gd name="T9" fmla="*/ 15 h 15"/>
                <a:gd name="T10" fmla="*/ 4 w 20"/>
                <a:gd name="T11" fmla="*/ 15 h 15"/>
                <a:gd name="T12" fmla="*/ 4 w 20"/>
                <a:gd name="T13" fmla="*/ 15 h 15"/>
                <a:gd name="T14" fmla="*/ 0 w 20"/>
                <a:gd name="T15" fmla="*/ 15 h 15"/>
                <a:gd name="T16" fmla="*/ 0 w 20"/>
                <a:gd name="T17" fmla="*/ 12 h 15"/>
                <a:gd name="T18" fmla="*/ 0 w 20"/>
                <a:gd name="T19" fmla="*/ 12 h 15"/>
                <a:gd name="T20" fmla="*/ 0 w 20"/>
                <a:gd name="T21" fmla="*/ 12 h 15"/>
                <a:gd name="T22" fmla="*/ 0 w 20"/>
                <a:gd name="T23" fmla="*/ 12 h 15"/>
                <a:gd name="T24" fmla="*/ 0 w 20"/>
                <a:gd name="T25" fmla="*/ 12 h 15"/>
                <a:gd name="T26" fmla="*/ 4 w 20"/>
                <a:gd name="T27" fmla="*/ 12 h 15"/>
                <a:gd name="T28" fmla="*/ 8 w 20"/>
                <a:gd name="T29" fmla="*/ 12 h 15"/>
                <a:gd name="T30" fmla="*/ 8 w 20"/>
                <a:gd name="T31" fmla="*/ 12 h 15"/>
                <a:gd name="T32" fmla="*/ 8 w 20"/>
                <a:gd name="T33" fmla="*/ 12 h 15"/>
                <a:gd name="T34" fmla="*/ 12 w 20"/>
                <a:gd name="T35" fmla="*/ 12 h 15"/>
                <a:gd name="T36" fmla="*/ 12 w 20"/>
                <a:gd name="T37" fmla="*/ 12 h 15"/>
                <a:gd name="T38" fmla="*/ 12 w 20"/>
                <a:gd name="T39" fmla="*/ 12 h 15"/>
                <a:gd name="T40" fmla="*/ 8 w 20"/>
                <a:gd name="T41" fmla="*/ 8 h 15"/>
                <a:gd name="T42" fmla="*/ 8 w 20"/>
                <a:gd name="T43" fmla="*/ 8 h 15"/>
                <a:gd name="T44" fmla="*/ 8 w 20"/>
                <a:gd name="T45" fmla="*/ 8 h 15"/>
                <a:gd name="T46" fmla="*/ 8 w 20"/>
                <a:gd name="T47" fmla="*/ 8 h 15"/>
                <a:gd name="T48" fmla="*/ 8 w 20"/>
                <a:gd name="T49" fmla="*/ 8 h 15"/>
                <a:gd name="T50" fmla="*/ 8 w 20"/>
                <a:gd name="T51" fmla="*/ 8 h 15"/>
                <a:gd name="T52" fmla="*/ 8 w 20"/>
                <a:gd name="T53" fmla="*/ 8 h 15"/>
                <a:gd name="T54" fmla="*/ 8 w 20"/>
                <a:gd name="T55" fmla="*/ 8 h 15"/>
                <a:gd name="T56" fmla="*/ 12 w 20"/>
                <a:gd name="T57" fmla="*/ 8 h 15"/>
                <a:gd name="T58" fmla="*/ 12 w 20"/>
                <a:gd name="T59" fmla="*/ 4 h 15"/>
                <a:gd name="T60" fmla="*/ 12 w 20"/>
                <a:gd name="T61" fmla="*/ 4 h 15"/>
                <a:gd name="T62" fmla="*/ 12 w 20"/>
                <a:gd name="T63" fmla="*/ 4 h 15"/>
                <a:gd name="T64" fmla="*/ 12 w 20"/>
                <a:gd name="T65" fmla="*/ 4 h 15"/>
                <a:gd name="T66" fmla="*/ 12 w 20"/>
                <a:gd name="T67" fmla="*/ 4 h 15"/>
                <a:gd name="T68" fmla="*/ 8 w 20"/>
                <a:gd name="T69" fmla="*/ 4 h 15"/>
                <a:gd name="T70" fmla="*/ 8 w 20"/>
                <a:gd name="T71" fmla="*/ 4 h 15"/>
                <a:gd name="T72" fmla="*/ 8 w 20"/>
                <a:gd name="T73" fmla="*/ 4 h 15"/>
                <a:gd name="T74" fmla="*/ 8 w 20"/>
                <a:gd name="T75" fmla="*/ 4 h 15"/>
                <a:gd name="T76" fmla="*/ 8 w 20"/>
                <a:gd name="T77" fmla="*/ 0 h 15"/>
                <a:gd name="T78" fmla="*/ 8 w 20"/>
                <a:gd name="T79" fmla="*/ 0 h 15"/>
                <a:gd name="T80" fmla="*/ 8 w 20"/>
                <a:gd name="T81" fmla="*/ 0 h 15"/>
                <a:gd name="T82" fmla="*/ 16 w 20"/>
                <a:gd name="T83" fmla="*/ 0 h 15"/>
                <a:gd name="T84" fmla="*/ 16 w 20"/>
                <a:gd name="T85" fmla="*/ 0 h 15"/>
                <a:gd name="T86" fmla="*/ 16 w 20"/>
                <a:gd name="T87" fmla="*/ 4 h 15"/>
                <a:gd name="T88" fmla="*/ 20 w 20"/>
                <a:gd name="T89" fmla="*/ 4 h 15"/>
                <a:gd name="T90" fmla="*/ 20 w 20"/>
                <a:gd name="T91" fmla="*/ 4 h 15"/>
                <a:gd name="T92" fmla="*/ 16 w 20"/>
                <a:gd name="T93" fmla="*/ 8 h 15"/>
                <a:gd name="T94" fmla="*/ 12 w 20"/>
                <a:gd name="T95" fmla="*/ 8 h 1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"/>
                <a:gd name="T145" fmla="*/ 0 h 15"/>
                <a:gd name="T146" fmla="*/ 20 w 20"/>
                <a:gd name="T147" fmla="*/ 15 h 15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" h="15">
                  <a:moveTo>
                    <a:pt x="12" y="8"/>
                  </a:moveTo>
                  <a:lnTo>
                    <a:pt x="12" y="8"/>
                  </a:lnTo>
                  <a:lnTo>
                    <a:pt x="16" y="12"/>
                  </a:lnTo>
                  <a:lnTo>
                    <a:pt x="12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8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8" name="Freeform 331"/>
            <p:cNvSpPr>
              <a:spLocks noEditPoints="1"/>
            </p:cNvSpPr>
            <p:nvPr/>
          </p:nvSpPr>
          <p:spPr bwMode="auto">
            <a:xfrm>
              <a:off x="4425" y="2441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4 w 16"/>
                <a:gd name="T3" fmla="*/ 4 h 12"/>
                <a:gd name="T4" fmla="*/ 4 w 16"/>
                <a:gd name="T5" fmla="*/ 4 h 12"/>
                <a:gd name="T6" fmla="*/ 4 w 16"/>
                <a:gd name="T7" fmla="*/ 4 h 12"/>
                <a:gd name="T8" fmla="*/ 4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8 w 16"/>
                <a:gd name="T15" fmla="*/ 0 h 12"/>
                <a:gd name="T16" fmla="*/ 8 w 16"/>
                <a:gd name="T17" fmla="*/ 0 h 12"/>
                <a:gd name="T18" fmla="*/ 8 w 16"/>
                <a:gd name="T19" fmla="*/ 0 h 12"/>
                <a:gd name="T20" fmla="*/ 8 w 16"/>
                <a:gd name="T21" fmla="*/ 0 h 12"/>
                <a:gd name="T22" fmla="*/ 12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6 w 16"/>
                <a:gd name="T31" fmla="*/ 8 h 12"/>
                <a:gd name="T32" fmla="*/ 16 w 16"/>
                <a:gd name="T33" fmla="*/ 8 h 12"/>
                <a:gd name="T34" fmla="*/ 12 w 16"/>
                <a:gd name="T35" fmla="*/ 12 h 12"/>
                <a:gd name="T36" fmla="*/ 8 w 16"/>
                <a:gd name="T37" fmla="*/ 12 h 12"/>
                <a:gd name="T38" fmla="*/ 8 w 16"/>
                <a:gd name="T39" fmla="*/ 12 h 12"/>
                <a:gd name="T40" fmla="*/ 8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12 h 12"/>
                <a:gd name="T52" fmla="*/ 0 w 16"/>
                <a:gd name="T53" fmla="*/ 8 h 12"/>
                <a:gd name="T54" fmla="*/ 0 w 16"/>
                <a:gd name="T55" fmla="*/ 8 h 12"/>
                <a:gd name="T56" fmla="*/ 0 w 16"/>
                <a:gd name="T57" fmla="*/ 8 h 12"/>
                <a:gd name="T58" fmla="*/ 0 w 16"/>
                <a:gd name="T59" fmla="*/ 8 h 12"/>
                <a:gd name="T60" fmla="*/ 4 w 16"/>
                <a:gd name="T61" fmla="*/ 8 h 12"/>
                <a:gd name="T62" fmla="*/ 4 w 16"/>
                <a:gd name="T63" fmla="*/ 12 h 12"/>
                <a:gd name="T64" fmla="*/ 4 w 16"/>
                <a:gd name="T65" fmla="*/ 12 h 12"/>
                <a:gd name="T66" fmla="*/ 4 w 16"/>
                <a:gd name="T67" fmla="*/ 12 h 12"/>
                <a:gd name="T68" fmla="*/ 8 w 16"/>
                <a:gd name="T69" fmla="*/ 12 h 12"/>
                <a:gd name="T70" fmla="*/ 12 w 16"/>
                <a:gd name="T71" fmla="*/ 8 h 12"/>
                <a:gd name="T72" fmla="*/ 12 w 16"/>
                <a:gd name="T73" fmla="*/ 8 h 12"/>
                <a:gd name="T74" fmla="*/ 12 w 16"/>
                <a:gd name="T75" fmla="*/ 4 h 12"/>
                <a:gd name="T76" fmla="*/ 8 w 16"/>
                <a:gd name="T77" fmla="*/ 4 h 12"/>
                <a:gd name="T78" fmla="*/ 8 w 16"/>
                <a:gd name="T79" fmla="*/ 4 h 12"/>
                <a:gd name="T80" fmla="*/ 8 w 16"/>
                <a:gd name="T81" fmla="*/ 4 h 12"/>
                <a:gd name="T82" fmla="*/ 8 w 16"/>
                <a:gd name="T83" fmla="*/ 4 h 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2"/>
                <a:gd name="T128" fmla="*/ 16 w 16"/>
                <a:gd name="T129" fmla="*/ 12 h 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2">
                  <a:moveTo>
                    <a:pt x="4" y="8"/>
                  </a:move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close/>
                  <a:moveTo>
                    <a:pt x="8" y="4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29" name="Freeform 332"/>
            <p:cNvSpPr>
              <a:spLocks/>
            </p:cNvSpPr>
            <p:nvPr/>
          </p:nvSpPr>
          <p:spPr bwMode="auto">
            <a:xfrm>
              <a:off x="4441" y="2445"/>
              <a:ext cx="15" cy="12"/>
            </a:xfrm>
            <a:custGeom>
              <a:avLst/>
              <a:gdLst>
                <a:gd name="T0" fmla="*/ 11 w 15"/>
                <a:gd name="T1" fmla="*/ 4 h 12"/>
                <a:gd name="T2" fmla="*/ 11 w 15"/>
                <a:gd name="T3" fmla="*/ 4 h 12"/>
                <a:gd name="T4" fmla="*/ 11 w 15"/>
                <a:gd name="T5" fmla="*/ 4 h 12"/>
                <a:gd name="T6" fmla="*/ 11 w 15"/>
                <a:gd name="T7" fmla="*/ 4 h 12"/>
                <a:gd name="T8" fmla="*/ 15 w 15"/>
                <a:gd name="T9" fmla="*/ 4 h 12"/>
                <a:gd name="T10" fmla="*/ 15 w 15"/>
                <a:gd name="T11" fmla="*/ 4 h 12"/>
                <a:gd name="T12" fmla="*/ 15 w 15"/>
                <a:gd name="T13" fmla="*/ 4 h 12"/>
                <a:gd name="T14" fmla="*/ 15 w 15"/>
                <a:gd name="T15" fmla="*/ 4 h 12"/>
                <a:gd name="T16" fmla="*/ 15 w 15"/>
                <a:gd name="T17" fmla="*/ 4 h 12"/>
                <a:gd name="T18" fmla="*/ 15 w 15"/>
                <a:gd name="T19" fmla="*/ 0 h 12"/>
                <a:gd name="T20" fmla="*/ 3 w 15"/>
                <a:gd name="T21" fmla="*/ 0 h 12"/>
                <a:gd name="T22" fmla="*/ 3 w 15"/>
                <a:gd name="T23" fmla="*/ 0 h 12"/>
                <a:gd name="T24" fmla="*/ 3 w 15"/>
                <a:gd name="T25" fmla="*/ 0 h 12"/>
                <a:gd name="T26" fmla="*/ 3 w 15"/>
                <a:gd name="T27" fmla="*/ 0 h 12"/>
                <a:gd name="T28" fmla="*/ 3 w 15"/>
                <a:gd name="T29" fmla="*/ 0 h 12"/>
                <a:gd name="T30" fmla="*/ 3 w 15"/>
                <a:gd name="T31" fmla="*/ 0 h 12"/>
                <a:gd name="T32" fmla="*/ 3 w 15"/>
                <a:gd name="T33" fmla="*/ 0 h 12"/>
                <a:gd name="T34" fmla="*/ 3 w 15"/>
                <a:gd name="T35" fmla="*/ 0 h 12"/>
                <a:gd name="T36" fmla="*/ 0 w 15"/>
                <a:gd name="T37" fmla="*/ 8 h 12"/>
                <a:gd name="T38" fmla="*/ 0 w 15"/>
                <a:gd name="T39" fmla="*/ 8 h 12"/>
                <a:gd name="T40" fmla="*/ 0 w 15"/>
                <a:gd name="T41" fmla="*/ 8 h 12"/>
                <a:gd name="T42" fmla="*/ 0 w 15"/>
                <a:gd name="T43" fmla="*/ 8 h 12"/>
                <a:gd name="T44" fmla="*/ 0 w 15"/>
                <a:gd name="T45" fmla="*/ 8 h 12"/>
                <a:gd name="T46" fmla="*/ 0 w 15"/>
                <a:gd name="T47" fmla="*/ 8 h 12"/>
                <a:gd name="T48" fmla="*/ 0 w 15"/>
                <a:gd name="T49" fmla="*/ 12 h 12"/>
                <a:gd name="T50" fmla="*/ 0 w 15"/>
                <a:gd name="T51" fmla="*/ 12 h 12"/>
                <a:gd name="T52" fmla="*/ 11 w 15"/>
                <a:gd name="T53" fmla="*/ 12 h 12"/>
                <a:gd name="T54" fmla="*/ 11 w 15"/>
                <a:gd name="T55" fmla="*/ 12 h 12"/>
                <a:gd name="T56" fmla="*/ 11 w 15"/>
                <a:gd name="T57" fmla="*/ 12 h 12"/>
                <a:gd name="T58" fmla="*/ 11 w 15"/>
                <a:gd name="T59" fmla="*/ 12 h 12"/>
                <a:gd name="T60" fmla="*/ 11 w 15"/>
                <a:gd name="T61" fmla="*/ 12 h 12"/>
                <a:gd name="T62" fmla="*/ 11 w 15"/>
                <a:gd name="T63" fmla="*/ 12 h 12"/>
                <a:gd name="T64" fmla="*/ 11 w 15"/>
                <a:gd name="T65" fmla="*/ 8 h 12"/>
                <a:gd name="T66" fmla="*/ 11 w 15"/>
                <a:gd name="T67" fmla="*/ 8 h 12"/>
                <a:gd name="T68" fmla="*/ 11 w 15"/>
                <a:gd name="T69" fmla="*/ 8 h 12"/>
                <a:gd name="T70" fmla="*/ 11 w 15"/>
                <a:gd name="T71" fmla="*/ 8 h 12"/>
                <a:gd name="T72" fmla="*/ 11 w 15"/>
                <a:gd name="T73" fmla="*/ 8 h 12"/>
                <a:gd name="T74" fmla="*/ 7 w 15"/>
                <a:gd name="T75" fmla="*/ 12 h 12"/>
                <a:gd name="T76" fmla="*/ 3 w 15"/>
                <a:gd name="T77" fmla="*/ 8 h 12"/>
                <a:gd name="T78" fmla="*/ 3 w 15"/>
                <a:gd name="T79" fmla="*/ 8 h 12"/>
                <a:gd name="T80" fmla="*/ 7 w 15"/>
                <a:gd name="T81" fmla="*/ 8 h 12"/>
                <a:gd name="T82" fmla="*/ 7 w 15"/>
                <a:gd name="T83" fmla="*/ 8 h 12"/>
                <a:gd name="T84" fmla="*/ 7 w 15"/>
                <a:gd name="T85" fmla="*/ 8 h 12"/>
                <a:gd name="T86" fmla="*/ 7 w 15"/>
                <a:gd name="T87" fmla="*/ 8 h 12"/>
                <a:gd name="T88" fmla="*/ 7 w 15"/>
                <a:gd name="T89" fmla="*/ 8 h 12"/>
                <a:gd name="T90" fmla="*/ 7 w 15"/>
                <a:gd name="T91" fmla="*/ 8 h 12"/>
                <a:gd name="T92" fmla="*/ 7 w 15"/>
                <a:gd name="T93" fmla="*/ 8 h 12"/>
                <a:gd name="T94" fmla="*/ 11 w 15"/>
                <a:gd name="T95" fmla="*/ 8 h 12"/>
                <a:gd name="T96" fmla="*/ 11 w 15"/>
                <a:gd name="T97" fmla="*/ 4 h 12"/>
                <a:gd name="T98" fmla="*/ 11 w 15"/>
                <a:gd name="T99" fmla="*/ 4 h 12"/>
                <a:gd name="T100" fmla="*/ 11 w 15"/>
                <a:gd name="T101" fmla="*/ 4 h 12"/>
                <a:gd name="T102" fmla="*/ 11 w 15"/>
                <a:gd name="T103" fmla="*/ 4 h 12"/>
                <a:gd name="T104" fmla="*/ 11 w 15"/>
                <a:gd name="T105" fmla="*/ 4 h 12"/>
                <a:gd name="T106" fmla="*/ 11 w 15"/>
                <a:gd name="T107" fmla="*/ 4 h 12"/>
                <a:gd name="T108" fmla="*/ 11 w 15"/>
                <a:gd name="T109" fmla="*/ 4 h 12"/>
                <a:gd name="T110" fmla="*/ 11 w 15"/>
                <a:gd name="T111" fmla="*/ 4 h 12"/>
                <a:gd name="T112" fmla="*/ 7 w 15"/>
                <a:gd name="T113" fmla="*/ 4 h 12"/>
                <a:gd name="T114" fmla="*/ 7 w 15"/>
                <a:gd name="T115" fmla="*/ 4 h 12"/>
                <a:gd name="T116" fmla="*/ 7 w 15"/>
                <a:gd name="T117" fmla="*/ 4 h 12"/>
                <a:gd name="T118" fmla="*/ 7 w 15"/>
                <a:gd name="T119" fmla="*/ 4 h 12"/>
                <a:gd name="T120" fmla="*/ 7 w 15"/>
                <a:gd name="T121" fmla="*/ 4 h 12"/>
                <a:gd name="T122" fmla="*/ 11 w 15"/>
                <a:gd name="T123" fmla="*/ 4 h 12"/>
                <a:gd name="T124" fmla="*/ 11 w 15"/>
                <a:gd name="T125" fmla="*/ 4 h 1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2"/>
                <a:gd name="T191" fmla="*/ 15 w 15"/>
                <a:gd name="T192" fmla="*/ 12 h 1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2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3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7" y="12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0" name="Freeform 333"/>
            <p:cNvSpPr>
              <a:spLocks/>
            </p:cNvSpPr>
            <p:nvPr/>
          </p:nvSpPr>
          <p:spPr bwMode="auto">
            <a:xfrm>
              <a:off x="4456" y="2449"/>
              <a:ext cx="16" cy="12"/>
            </a:xfrm>
            <a:custGeom>
              <a:avLst/>
              <a:gdLst>
                <a:gd name="T0" fmla="*/ 8 w 16"/>
                <a:gd name="T1" fmla="*/ 0 h 12"/>
                <a:gd name="T2" fmla="*/ 4 w 16"/>
                <a:gd name="T3" fmla="*/ 4 h 12"/>
                <a:gd name="T4" fmla="*/ 8 w 16"/>
                <a:gd name="T5" fmla="*/ 4 h 12"/>
                <a:gd name="T6" fmla="*/ 8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8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8 w 16"/>
                <a:gd name="T23" fmla="*/ 8 h 12"/>
                <a:gd name="T24" fmla="*/ 8 w 16"/>
                <a:gd name="T25" fmla="*/ 8 h 12"/>
                <a:gd name="T26" fmla="*/ 8 w 16"/>
                <a:gd name="T27" fmla="*/ 8 h 12"/>
                <a:gd name="T28" fmla="*/ 8 w 16"/>
                <a:gd name="T29" fmla="*/ 8 h 12"/>
                <a:gd name="T30" fmla="*/ 8 w 16"/>
                <a:gd name="T31" fmla="*/ 8 h 12"/>
                <a:gd name="T32" fmla="*/ 8 w 16"/>
                <a:gd name="T33" fmla="*/ 8 h 12"/>
                <a:gd name="T34" fmla="*/ 8 w 16"/>
                <a:gd name="T35" fmla="*/ 8 h 12"/>
                <a:gd name="T36" fmla="*/ 8 w 16"/>
                <a:gd name="T37" fmla="*/ 8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4 w 16"/>
                <a:gd name="T49" fmla="*/ 12 h 12"/>
                <a:gd name="T50" fmla="*/ 4 w 16"/>
                <a:gd name="T51" fmla="*/ 12 h 12"/>
                <a:gd name="T52" fmla="*/ 4 w 16"/>
                <a:gd name="T53" fmla="*/ 12 h 12"/>
                <a:gd name="T54" fmla="*/ 4 w 16"/>
                <a:gd name="T55" fmla="*/ 12 h 12"/>
                <a:gd name="T56" fmla="*/ 0 w 16"/>
                <a:gd name="T57" fmla="*/ 8 h 12"/>
                <a:gd name="T58" fmla="*/ 0 w 16"/>
                <a:gd name="T59" fmla="*/ 8 h 12"/>
                <a:gd name="T60" fmla="*/ 0 w 16"/>
                <a:gd name="T61" fmla="*/ 8 h 12"/>
                <a:gd name="T62" fmla="*/ 0 w 16"/>
                <a:gd name="T63" fmla="*/ 8 h 12"/>
                <a:gd name="T64" fmla="*/ 0 w 16"/>
                <a:gd name="T65" fmla="*/ 8 h 12"/>
                <a:gd name="T66" fmla="*/ 0 w 16"/>
                <a:gd name="T67" fmla="*/ 8 h 12"/>
                <a:gd name="T68" fmla="*/ 0 w 16"/>
                <a:gd name="T69" fmla="*/ 8 h 12"/>
                <a:gd name="T70" fmla="*/ 0 w 16"/>
                <a:gd name="T71" fmla="*/ 8 h 12"/>
                <a:gd name="T72" fmla="*/ 4 w 16"/>
                <a:gd name="T73" fmla="*/ 0 h 12"/>
                <a:gd name="T74" fmla="*/ 4 w 16"/>
                <a:gd name="T75" fmla="*/ 0 h 12"/>
                <a:gd name="T76" fmla="*/ 4 w 16"/>
                <a:gd name="T77" fmla="*/ 0 h 12"/>
                <a:gd name="T78" fmla="*/ 4 w 16"/>
                <a:gd name="T79" fmla="*/ 0 h 12"/>
                <a:gd name="T80" fmla="*/ 4 w 16"/>
                <a:gd name="T81" fmla="*/ 0 h 12"/>
                <a:gd name="T82" fmla="*/ 4 w 16"/>
                <a:gd name="T83" fmla="*/ 0 h 12"/>
                <a:gd name="T84" fmla="*/ 4 w 16"/>
                <a:gd name="T85" fmla="*/ 0 h 12"/>
                <a:gd name="T86" fmla="*/ 4 w 16"/>
                <a:gd name="T87" fmla="*/ 0 h 12"/>
                <a:gd name="T88" fmla="*/ 16 w 16"/>
                <a:gd name="T89" fmla="*/ 0 h 12"/>
                <a:gd name="T90" fmla="*/ 16 w 16"/>
                <a:gd name="T91" fmla="*/ 0 h 12"/>
                <a:gd name="T92" fmla="*/ 16 w 16"/>
                <a:gd name="T93" fmla="*/ 0 h 12"/>
                <a:gd name="T94" fmla="*/ 16 w 16"/>
                <a:gd name="T95" fmla="*/ 4 h 12"/>
                <a:gd name="T96" fmla="*/ 16 w 16"/>
                <a:gd name="T97" fmla="*/ 4 h 12"/>
                <a:gd name="T98" fmla="*/ 16 w 16"/>
                <a:gd name="T99" fmla="*/ 4 h 12"/>
                <a:gd name="T100" fmla="*/ 16 w 16"/>
                <a:gd name="T101" fmla="*/ 4 h 12"/>
                <a:gd name="T102" fmla="*/ 12 w 16"/>
                <a:gd name="T103" fmla="*/ 4 h 12"/>
                <a:gd name="T104" fmla="*/ 12 w 16"/>
                <a:gd name="T105" fmla="*/ 4 h 12"/>
                <a:gd name="T106" fmla="*/ 12 w 16"/>
                <a:gd name="T107" fmla="*/ 4 h 12"/>
                <a:gd name="T108" fmla="*/ 12 w 16"/>
                <a:gd name="T109" fmla="*/ 4 h 12"/>
                <a:gd name="T110" fmla="*/ 12 w 16"/>
                <a:gd name="T111" fmla="*/ 4 h 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6"/>
                <a:gd name="T169" fmla="*/ 0 h 12"/>
                <a:gd name="T170" fmla="*/ 16 w 16"/>
                <a:gd name="T171" fmla="*/ 12 h 1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6" h="12">
                  <a:moveTo>
                    <a:pt x="12" y="4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12"/>
                  </a:lnTo>
                  <a:lnTo>
                    <a:pt x="0" y="8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1" name="Freeform 334"/>
            <p:cNvSpPr>
              <a:spLocks noEditPoints="1"/>
            </p:cNvSpPr>
            <p:nvPr/>
          </p:nvSpPr>
          <p:spPr bwMode="auto">
            <a:xfrm>
              <a:off x="4173" y="2469"/>
              <a:ext cx="15" cy="16"/>
            </a:xfrm>
            <a:custGeom>
              <a:avLst/>
              <a:gdLst>
                <a:gd name="T0" fmla="*/ 12 w 15"/>
                <a:gd name="T1" fmla="*/ 8 h 16"/>
                <a:gd name="T2" fmla="*/ 12 w 15"/>
                <a:gd name="T3" fmla="*/ 8 h 16"/>
                <a:gd name="T4" fmla="*/ 12 w 15"/>
                <a:gd name="T5" fmla="*/ 8 h 16"/>
                <a:gd name="T6" fmla="*/ 12 w 15"/>
                <a:gd name="T7" fmla="*/ 8 h 16"/>
                <a:gd name="T8" fmla="*/ 12 w 15"/>
                <a:gd name="T9" fmla="*/ 8 h 16"/>
                <a:gd name="T10" fmla="*/ 12 w 15"/>
                <a:gd name="T11" fmla="*/ 8 h 16"/>
                <a:gd name="T12" fmla="*/ 12 w 15"/>
                <a:gd name="T13" fmla="*/ 8 h 16"/>
                <a:gd name="T14" fmla="*/ 12 w 15"/>
                <a:gd name="T15" fmla="*/ 8 h 16"/>
                <a:gd name="T16" fmla="*/ 12 w 15"/>
                <a:gd name="T17" fmla="*/ 8 h 16"/>
                <a:gd name="T18" fmla="*/ 12 w 15"/>
                <a:gd name="T19" fmla="*/ 8 h 16"/>
                <a:gd name="T20" fmla="*/ 12 w 15"/>
                <a:gd name="T21" fmla="*/ 8 h 16"/>
                <a:gd name="T22" fmla="*/ 12 w 15"/>
                <a:gd name="T23" fmla="*/ 8 h 16"/>
                <a:gd name="T24" fmla="*/ 12 w 15"/>
                <a:gd name="T25" fmla="*/ 12 h 16"/>
                <a:gd name="T26" fmla="*/ 12 w 15"/>
                <a:gd name="T27" fmla="*/ 12 h 16"/>
                <a:gd name="T28" fmla="*/ 12 w 15"/>
                <a:gd name="T29" fmla="*/ 12 h 16"/>
                <a:gd name="T30" fmla="*/ 12 w 15"/>
                <a:gd name="T31" fmla="*/ 12 h 16"/>
                <a:gd name="T32" fmla="*/ 8 w 15"/>
                <a:gd name="T33" fmla="*/ 12 h 16"/>
                <a:gd name="T34" fmla="*/ 8 w 15"/>
                <a:gd name="T35" fmla="*/ 12 h 16"/>
                <a:gd name="T36" fmla="*/ 8 w 15"/>
                <a:gd name="T37" fmla="*/ 12 h 16"/>
                <a:gd name="T38" fmla="*/ 8 w 15"/>
                <a:gd name="T39" fmla="*/ 12 h 16"/>
                <a:gd name="T40" fmla="*/ 8 w 15"/>
                <a:gd name="T41" fmla="*/ 12 h 16"/>
                <a:gd name="T42" fmla="*/ 8 w 15"/>
                <a:gd name="T43" fmla="*/ 12 h 16"/>
                <a:gd name="T44" fmla="*/ 8 w 15"/>
                <a:gd name="T45" fmla="*/ 12 h 16"/>
                <a:gd name="T46" fmla="*/ 12 w 15"/>
                <a:gd name="T47" fmla="*/ 12 h 16"/>
                <a:gd name="T48" fmla="*/ 12 w 15"/>
                <a:gd name="T49" fmla="*/ 12 h 16"/>
                <a:gd name="T50" fmla="*/ 12 w 15"/>
                <a:gd name="T51" fmla="*/ 12 h 16"/>
                <a:gd name="T52" fmla="*/ 8 w 15"/>
                <a:gd name="T53" fmla="*/ 16 h 16"/>
                <a:gd name="T54" fmla="*/ 8 w 15"/>
                <a:gd name="T55" fmla="*/ 16 h 16"/>
                <a:gd name="T56" fmla="*/ 0 w 15"/>
                <a:gd name="T57" fmla="*/ 12 h 16"/>
                <a:gd name="T58" fmla="*/ 0 w 15"/>
                <a:gd name="T59" fmla="*/ 12 h 16"/>
                <a:gd name="T60" fmla="*/ 0 w 15"/>
                <a:gd name="T61" fmla="*/ 12 h 16"/>
                <a:gd name="T62" fmla="*/ 0 w 15"/>
                <a:gd name="T63" fmla="*/ 12 h 16"/>
                <a:gd name="T64" fmla="*/ 0 w 15"/>
                <a:gd name="T65" fmla="*/ 12 h 16"/>
                <a:gd name="T66" fmla="*/ 0 w 15"/>
                <a:gd name="T67" fmla="*/ 12 h 16"/>
                <a:gd name="T68" fmla="*/ 4 w 15"/>
                <a:gd name="T69" fmla="*/ 12 h 16"/>
                <a:gd name="T70" fmla="*/ 4 w 15"/>
                <a:gd name="T71" fmla="*/ 12 h 16"/>
                <a:gd name="T72" fmla="*/ 8 w 15"/>
                <a:gd name="T73" fmla="*/ 8 h 16"/>
                <a:gd name="T74" fmla="*/ 0 w 15"/>
                <a:gd name="T75" fmla="*/ 8 h 16"/>
                <a:gd name="T76" fmla="*/ 0 w 15"/>
                <a:gd name="T77" fmla="*/ 8 h 16"/>
                <a:gd name="T78" fmla="*/ 0 w 15"/>
                <a:gd name="T79" fmla="*/ 8 h 16"/>
                <a:gd name="T80" fmla="*/ 0 w 15"/>
                <a:gd name="T81" fmla="*/ 8 h 16"/>
                <a:gd name="T82" fmla="*/ 0 w 15"/>
                <a:gd name="T83" fmla="*/ 8 h 16"/>
                <a:gd name="T84" fmla="*/ 0 w 15"/>
                <a:gd name="T85" fmla="*/ 8 h 16"/>
                <a:gd name="T86" fmla="*/ 0 w 15"/>
                <a:gd name="T87" fmla="*/ 4 h 16"/>
                <a:gd name="T88" fmla="*/ 0 w 15"/>
                <a:gd name="T89" fmla="*/ 4 h 16"/>
                <a:gd name="T90" fmla="*/ 12 w 15"/>
                <a:gd name="T91" fmla="*/ 0 h 16"/>
                <a:gd name="T92" fmla="*/ 12 w 15"/>
                <a:gd name="T93" fmla="*/ 0 h 16"/>
                <a:gd name="T94" fmla="*/ 12 w 15"/>
                <a:gd name="T95" fmla="*/ 0 h 16"/>
                <a:gd name="T96" fmla="*/ 12 w 15"/>
                <a:gd name="T97" fmla="*/ 0 h 16"/>
                <a:gd name="T98" fmla="*/ 12 w 15"/>
                <a:gd name="T99" fmla="*/ 0 h 16"/>
                <a:gd name="T100" fmla="*/ 15 w 15"/>
                <a:gd name="T101" fmla="*/ 0 h 16"/>
                <a:gd name="T102" fmla="*/ 15 w 15"/>
                <a:gd name="T103" fmla="*/ 0 h 16"/>
                <a:gd name="T104" fmla="*/ 15 w 15"/>
                <a:gd name="T105" fmla="*/ 0 h 16"/>
                <a:gd name="T106" fmla="*/ 15 w 15"/>
                <a:gd name="T107" fmla="*/ 0 h 16"/>
                <a:gd name="T108" fmla="*/ 15 w 15"/>
                <a:gd name="T109" fmla="*/ 0 h 16"/>
                <a:gd name="T110" fmla="*/ 15 w 15"/>
                <a:gd name="T111" fmla="*/ 0 h 16"/>
                <a:gd name="T112" fmla="*/ 12 w 15"/>
                <a:gd name="T113" fmla="*/ 8 h 16"/>
                <a:gd name="T114" fmla="*/ 4 w 15"/>
                <a:gd name="T115" fmla="*/ 8 h 16"/>
                <a:gd name="T116" fmla="*/ 8 w 15"/>
                <a:gd name="T117" fmla="*/ 8 h 16"/>
                <a:gd name="T118" fmla="*/ 12 w 15"/>
                <a:gd name="T119" fmla="*/ 0 h 1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5"/>
                <a:gd name="T181" fmla="*/ 0 h 16"/>
                <a:gd name="T182" fmla="*/ 15 w 15"/>
                <a:gd name="T183" fmla="*/ 16 h 1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5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2" y="8"/>
                  </a:lnTo>
                  <a:close/>
                  <a:moveTo>
                    <a:pt x="12" y="0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2" name="Freeform 335"/>
            <p:cNvSpPr>
              <a:spLocks/>
            </p:cNvSpPr>
            <p:nvPr/>
          </p:nvSpPr>
          <p:spPr bwMode="auto">
            <a:xfrm>
              <a:off x="4149" y="2485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2 w 16"/>
                <a:gd name="T13" fmla="*/ 4 h 12"/>
                <a:gd name="T14" fmla="*/ 12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8 w 16"/>
                <a:gd name="T31" fmla="*/ 0 h 12"/>
                <a:gd name="T32" fmla="*/ 8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8 w 16"/>
                <a:gd name="T49" fmla="*/ 8 h 12"/>
                <a:gd name="T50" fmla="*/ 8 w 16"/>
                <a:gd name="T51" fmla="*/ 8 h 12"/>
                <a:gd name="T52" fmla="*/ 8 w 16"/>
                <a:gd name="T53" fmla="*/ 8 h 12"/>
                <a:gd name="T54" fmla="*/ 8 w 16"/>
                <a:gd name="T55" fmla="*/ 8 h 12"/>
                <a:gd name="T56" fmla="*/ 4 w 16"/>
                <a:gd name="T57" fmla="*/ 4 h 12"/>
                <a:gd name="T58" fmla="*/ 4 w 16"/>
                <a:gd name="T59" fmla="*/ 4 h 12"/>
                <a:gd name="T60" fmla="*/ 4 w 16"/>
                <a:gd name="T61" fmla="*/ 4 h 12"/>
                <a:gd name="T62" fmla="*/ 8 w 16"/>
                <a:gd name="T63" fmla="*/ 4 h 12"/>
                <a:gd name="T64" fmla="*/ 8 w 16"/>
                <a:gd name="T65" fmla="*/ 4 h 12"/>
                <a:gd name="T66" fmla="*/ 12 w 16"/>
                <a:gd name="T67" fmla="*/ 4 h 12"/>
                <a:gd name="T68" fmla="*/ 12 w 16"/>
                <a:gd name="T69" fmla="*/ 4 h 12"/>
                <a:gd name="T70" fmla="*/ 12 w 16"/>
                <a:gd name="T71" fmla="*/ 4 h 12"/>
                <a:gd name="T72" fmla="*/ 12 w 16"/>
                <a:gd name="T73" fmla="*/ 8 h 12"/>
                <a:gd name="T74" fmla="*/ 12 w 16"/>
                <a:gd name="T75" fmla="*/ 8 h 12"/>
                <a:gd name="T76" fmla="*/ 12 w 16"/>
                <a:gd name="T77" fmla="*/ 8 h 12"/>
                <a:gd name="T78" fmla="*/ 12 w 16"/>
                <a:gd name="T79" fmla="*/ 8 h 12"/>
                <a:gd name="T80" fmla="*/ 12 w 16"/>
                <a:gd name="T81" fmla="*/ 8 h 12"/>
                <a:gd name="T82" fmla="*/ 8 w 16"/>
                <a:gd name="T83" fmla="*/ 8 h 12"/>
                <a:gd name="T84" fmla="*/ 8 w 16"/>
                <a:gd name="T85" fmla="*/ 8 h 12"/>
                <a:gd name="T86" fmla="*/ 8 w 16"/>
                <a:gd name="T87" fmla="*/ 8 h 12"/>
                <a:gd name="T88" fmla="*/ 8 w 16"/>
                <a:gd name="T89" fmla="*/ 8 h 12"/>
                <a:gd name="T90" fmla="*/ 8 w 16"/>
                <a:gd name="T91" fmla="*/ 12 h 12"/>
                <a:gd name="T92" fmla="*/ 8 w 16"/>
                <a:gd name="T93" fmla="*/ 12 h 12"/>
                <a:gd name="T94" fmla="*/ 4 w 16"/>
                <a:gd name="T95" fmla="*/ 12 h 12"/>
                <a:gd name="T96" fmla="*/ 4 w 16"/>
                <a:gd name="T97" fmla="*/ 8 h 12"/>
                <a:gd name="T98" fmla="*/ 4 w 16"/>
                <a:gd name="T99" fmla="*/ 8 h 12"/>
                <a:gd name="T100" fmla="*/ 0 w 16"/>
                <a:gd name="T101" fmla="*/ 8 h 12"/>
                <a:gd name="T102" fmla="*/ 0 w 16"/>
                <a:gd name="T103" fmla="*/ 4 h 12"/>
                <a:gd name="T104" fmla="*/ 0 w 16"/>
                <a:gd name="T105" fmla="*/ 4 h 12"/>
                <a:gd name="T106" fmla="*/ 4 w 16"/>
                <a:gd name="T107" fmla="*/ 0 h 12"/>
                <a:gd name="T108" fmla="*/ 12 w 16"/>
                <a:gd name="T109" fmla="*/ 0 h 12"/>
                <a:gd name="T110" fmla="*/ 12 w 16"/>
                <a:gd name="T111" fmla="*/ 0 h 12"/>
                <a:gd name="T112" fmla="*/ 12 w 16"/>
                <a:gd name="T113" fmla="*/ 0 h 12"/>
                <a:gd name="T114" fmla="*/ 12 w 16"/>
                <a:gd name="T115" fmla="*/ 0 h 1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"/>
                <a:gd name="T175" fmla="*/ 0 h 12"/>
                <a:gd name="T176" fmla="*/ 16 w 16"/>
                <a:gd name="T177" fmla="*/ 12 h 1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3" name="Freeform 336"/>
            <p:cNvSpPr>
              <a:spLocks/>
            </p:cNvSpPr>
            <p:nvPr/>
          </p:nvSpPr>
          <p:spPr bwMode="auto">
            <a:xfrm>
              <a:off x="4161" y="2485"/>
              <a:ext cx="16" cy="12"/>
            </a:xfrm>
            <a:custGeom>
              <a:avLst/>
              <a:gdLst>
                <a:gd name="T0" fmla="*/ 8 w 16"/>
                <a:gd name="T1" fmla="*/ 4 h 12"/>
                <a:gd name="T2" fmla="*/ 12 w 16"/>
                <a:gd name="T3" fmla="*/ 4 h 12"/>
                <a:gd name="T4" fmla="*/ 12 w 16"/>
                <a:gd name="T5" fmla="*/ 4 h 12"/>
                <a:gd name="T6" fmla="*/ 8 w 16"/>
                <a:gd name="T7" fmla="*/ 0 h 12"/>
                <a:gd name="T8" fmla="*/ 8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4 w 16"/>
                <a:gd name="T15" fmla="*/ 4 h 12"/>
                <a:gd name="T16" fmla="*/ 4 w 16"/>
                <a:gd name="T17" fmla="*/ 4 h 12"/>
                <a:gd name="T18" fmla="*/ 0 w 16"/>
                <a:gd name="T19" fmla="*/ 8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12 h 12"/>
                <a:gd name="T26" fmla="*/ 0 w 16"/>
                <a:gd name="T27" fmla="*/ 12 h 12"/>
                <a:gd name="T28" fmla="*/ 0 w 16"/>
                <a:gd name="T29" fmla="*/ 12 h 12"/>
                <a:gd name="T30" fmla="*/ 4 w 16"/>
                <a:gd name="T31" fmla="*/ 12 h 12"/>
                <a:gd name="T32" fmla="*/ 4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8 h 12"/>
                <a:gd name="T42" fmla="*/ 8 w 16"/>
                <a:gd name="T43" fmla="*/ 12 h 12"/>
                <a:gd name="T44" fmla="*/ 8 w 16"/>
                <a:gd name="T45" fmla="*/ 12 h 12"/>
                <a:gd name="T46" fmla="*/ 8 w 16"/>
                <a:gd name="T47" fmla="*/ 12 h 12"/>
                <a:gd name="T48" fmla="*/ 4 w 16"/>
                <a:gd name="T49" fmla="*/ 12 h 12"/>
                <a:gd name="T50" fmla="*/ 4 w 16"/>
                <a:gd name="T51" fmla="*/ 12 h 12"/>
                <a:gd name="T52" fmla="*/ 8 w 16"/>
                <a:gd name="T53" fmla="*/ 12 h 12"/>
                <a:gd name="T54" fmla="*/ 8 w 16"/>
                <a:gd name="T55" fmla="*/ 12 h 12"/>
                <a:gd name="T56" fmla="*/ 12 w 16"/>
                <a:gd name="T57" fmla="*/ 12 h 12"/>
                <a:gd name="T58" fmla="*/ 12 w 16"/>
                <a:gd name="T59" fmla="*/ 12 h 12"/>
                <a:gd name="T60" fmla="*/ 12 w 16"/>
                <a:gd name="T61" fmla="*/ 12 h 12"/>
                <a:gd name="T62" fmla="*/ 12 w 16"/>
                <a:gd name="T63" fmla="*/ 12 h 12"/>
                <a:gd name="T64" fmla="*/ 16 w 16"/>
                <a:gd name="T65" fmla="*/ 4 h 12"/>
                <a:gd name="T66" fmla="*/ 16 w 16"/>
                <a:gd name="T67" fmla="*/ 4 h 12"/>
                <a:gd name="T68" fmla="*/ 16 w 16"/>
                <a:gd name="T69" fmla="*/ 4 h 12"/>
                <a:gd name="T70" fmla="*/ 16 w 16"/>
                <a:gd name="T71" fmla="*/ 4 h 12"/>
                <a:gd name="T72" fmla="*/ 16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4 h 12"/>
                <a:gd name="T84" fmla="*/ 12 w 16"/>
                <a:gd name="T85" fmla="*/ 4 h 12"/>
                <a:gd name="T86" fmla="*/ 8 w 16"/>
                <a:gd name="T87" fmla="*/ 4 h 12"/>
                <a:gd name="T88" fmla="*/ 8 w 16"/>
                <a:gd name="T89" fmla="*/ 4 h 1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2"/>
                <a:gd name="T137" fmla="*/ 16 w 16"/>
                <a:gd name="T138" fmla="*/ 12 h 1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2">
                  <a:moveTo>
                    <a:pt x="8" y="4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4" name="Freeform 337"/>
            <p:cNvSpPr>
              <a:spLocks/>
            </p:cNvSpPr>
            <p:nvPr/>
          </p:nvSpPr>
          <p:spPr bwMode="auto">
            <a:xfrm>
              <a:off x="4173" y="2489"/>
              <a:ext cx="15" cy="12"/>
            </a:xfrm>
            <a:custGeom>
              <a:avLst/>
              <a:gdLst>
                <a:gd name="T0" fmla="*/ 8 w 15"/>
                <a:gd name="T1" fmla="*/ 12 h 12"/>
                <a:gd name="T2" fmla="*/ 12 w 15"/>
                <a:gd name="T3" fmla="*/ 12 h 12"/>
                <a:gd name="T4" fmla="*/ 12 w 15"/>
                <a:gd name="T5" fmla="*/ 12 h 12"/>
                <a:gd name="T6" fmla="*/ 12 w 15"/>
                <a:gd name="T7" fmla="*/ 12 h 12"/>
                <a:gd name="T8" fmla="*/ 12 w 15"/>
                <a:gd name="T9" fmla="*/ 12 h 12"/>
                <a:gd name="T10" fmla="*/ 12 w 15"/>
                <a:gd name="T11" fmla="*/ 12 h 12"/>
                <a:gd name="T12" fmla="*/ 12 w 15"/>
                <a:gd name="T13" fmla="*/ 12 h 12"/>
                <a:gd name="T14" fmla="*/ 8 w 15"/>
                <a:gd name="T15" fmla="*/ 12 h 12"/>
                <a:gd name="T16" fmla="*/ 4 w 15"/>
                <a:gd name="T17" fmla="*/ 12 h 12"/>
                <a:gd name="T18" fmla="*/ 4 w 15"/>
                <a:gd name="T19" fmla="*/ 12 h 12"/>
                <a:gd name="T20" fmla="*/ 0 w 15"/>
                <a:gd name="T21" fmla="*/ 12 h 12"/>
                <a:gd name="T22" fmla="*/ 0 w 15"/>
                <a:gd name="T23" fmla="*/ 8 h 12"/>
                <a:gd name="T24" fmla="*/ 0 w 15"/>
                <a:gd name="T25" fmla="*/ 8 h 12"/>
                <a:gd name="T26" fmla="*/ 4 w 15"/>
                <a:gd name="T27" fmla="*/ 8 h 12"/>
                <a:gd name="T28" fmla="*/ 4 w 15"/>
                <a:gd name="T29" fmla="*/ 8 h 12"/>
                <a:gd name="T30" fmla="*/ 4 w 15"/>
                <a:gd name="T31" fmla="*/ 8 h 12"/>
                <a:gd name="T32" fmla="*/ 12 w 15"/>
                <a:gd name="T33" fmla="*/ 4 h 12"/>
                <a:gd name="T34" fmla="*/ 8 w 15"/>
                <a:gd name="T35" fmla="*/ 4 h 12"/>
                <a:gd name="T36" fmla="*/ 8 w 15"/>
                <a:gd name="T37" fmla="*/ 4 h 12"/>
                <a:gd name="T38" fmla="*/ 8 w 15"/>
                <a:gd name="T39" fmla="*/ 0 h 12"/>
                <a:gd name="T40" fmla="*/ 8 w 15"/>
                <a:gd name="T41" fmla="*/ 0 h 12"/>
                <a:gd name="T42" fmla="*/ 8 w 15"/>
                <a:gd name="T43" fmla="*/ 0 h 12"/>
                <a:gd name="T44" fmla="*/ 8 w 15"/>
                <a:gd name="T45" fmla="*/ 0 h 12"/>
                <a:gd name="T46" fmla="*/ 8 w 15"/>
                <a:gd name="T47" fmla="*/ 0 h 12"/>
                <a:gd name="T48" fmla="*/ 15 w 15"/>
                <a:gd name="T49" fmla="*/ 4 h 12"/>
                <a:gd name="T50" fmla="*/ 15 w 15"/>
                <a:gd name="T51" fmla="*/ 4 h 12"/>
                <a:gd name="T52" fmla="*/ 15 w 15"/>
                <a:gd name="T53" fmla="*/ 4 h 12"/>
                <a:gd name="T54" fmla="*/ 15 w 15"/>
                <a:gd name="T55" fmla="*/ 4 h 12"/>
                <a:gd name="T56" fmla="*/ 15 w 15"/>
                <a:gd name="T57" fmla="*/ 4 h 12"/>
                <a:gd name="T58" fmla="*/ 15 w 15"/>
                <a:gd name="T59" fmla="*/ 4 h 12"/>
                <a:gd name="T60" fmla="*/ 15 w 15"/>
                <a:gd name="T61" fmla="*/ 4 h 12"/>
                <a:gd name="T62" fmla="*/ 12 w 15"/>
                <a:gd name="T63" fmla="*/ 4 h 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5"/>
                <a:gd name="T97" fmla="*/ 0 h 12"/>
                <a:gd name="T98" fmla="*/ 15 w 15"/>
                <a:gd name="T99" fmla="*/ 12 h 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5" h="12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5" name="Freeform 338"/>
            <p:cNvSpPr>
              <a:spLocks/>
            </p:cNvSpPr>
            <p:nvPr/>
          </p:nvSpPr>
          <p:spPr bwMode="auto">
            <a:xfrm>
              <a:off x="4283" y="2485"/>
              <a:ext cx="20" cy="20"/>
            </a:xfrm>
            <a:custGeom>
              <a:avLst/>
              <a:gdLst>
                <a:gd name="T0" fmla="*/ 8 w 20"/>
                <a:gd name="T1" fmla="*/ 8 h 20"/>
                <a:gd name="T2" fmla="*/ 8 w 20"/>
                <a:gd name="T3" fmla="*/ 8 h 20"/>
                <a:gd name="T4" fmla="*/ 12 w 20"/>
                <a:gd name="T5" fmla="*/ 8 h 20"/>
                <a:gd name="T6" fmla="*/ 12 w 20"/>
                <a:gd name="T7" fmla="*/ 8 h 20"/>
                <a:gd name="T8" fmla="*/ 12 w 20"/>
                <a:gd name="T9" fmla="*/ 8 h 20"/>
                <a:gd name="T10" fmla="*/ 16 w 20"/>
                <a:gd name="T11" fmla="*/ 12 h 20"/>
                <a:gd name="T12" fmla="*/ 16 w 20"/>
                <a:gd name="T13" fmla="*/ 16 h 20"/>
                <a:gd name="T14" fmla="*/ 16 w 20"/>
                <a:gd name="T15" fmla="*/ 16 h 20"/>
                <a:gd name="T16" fmla="*/ 12 w 20"/>
                <a:gd name="T17" fmla="*/ 20 h 20"/>
                <a:gd name="T18" fmla="*/ 4 w 20"/>
                <a:gd name="T19" fmla="*/ 20 h 20"/>
                <a:gd name="T20" fmla="*/ 4 w 20"/>
                <a:gd name="T21" fmla="*/ 20 h 20"/>
                <a:gd name="T22" fmla="*/ 0 w 20"/>
                <a:gd name="T23" fmla="*/ 16 h 20"/>
                <a:gd name="T24" fmla="*/ 0 w 20"/>
                <a:gd name="T25" fmla="*/ 16 h 20"/>
                <a:gd name="T26" fmla="*/ 0 w 20"/>
                <a:gd name="T27" fmla="*/ 16 h 20"/>
                <a:gd name="T28" fmla="*/ 0 w 20"/>
                <a:gd name="T29" fmla="*/ 12 h 20"/>
                <a:gd name="T30" fmla="*/ 4 w 20"/>
                <a:gd name="T31" fmla="*/ 12 h 20"/>
                <a:gd name="T32" fmla="*/ 4 w 20"/>
                <a:gd name="T33" fmla="*/ 12 h 20"/>
                <a:gd name="T34" fmla="*/ 4 w 20"/>
                <a:gd name="T35" fmla="*/ 16 h 20"/>
                <a:gd name="T36" fmla="*/ 8 w 20"/>
                <a:gd name="T37" fmla="*/ 16 h 20"/>
                <a:gd name="T38" fmla="*/ 8 w 20"/>
                <a:gd name="T39" fmla="*/ 16 h 20"/>
                <a:gd name="T40" fmla="*/ 8 w 20"/>
                <a:gd name="T41" fmla="*/ 16 h 20"/>
                <a:gd name="T42" fmla="*/ 12 w 20"/>
                <a:gd name="T43" fmla="*/ 12 h 20"/>
                <a:gd name="T44" fmla="*/ 12 w 20"/>
                <a:gd name="T45" fmla="*/ 12 h 20"/>
                <a:gd name="T46" fmla="*/ 12 w 20"/>
                <a:gd name="T47" fmla="*/ 12 h 20"/>
                <a:gd name="T48" fmla="*/ 12 w 20"/>
                <a:gd name="T49" fmla="*/ 12 h 20"/>
                <a:gd name="T50" fmla="*/ 12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2 h 20"/>
                <a:gd name="T58" fmla="*/ 4 w 20"/>
                <a:gd name="T59" fmla="*/ 8 h 20"/>
                <a:gd name="T60" fmla="*/ 4 w 20"/>
                <a:gd name="T61" fmla="*/ 8 h 20"/>
                <a:gd name="T62" fmla="*/ 8 w 20"/>
                <a:gd name="T63" fmla="*/ 0 h 20"/>
                <a:gd name="T64" fmla="*/ 8 w 20"/>
                <a:gd name="T65" fmla="*/ 0 h 20"/>
                <a:gd name="T66" fmla="*/ 8 w 20"/>
                <a:gd name="T67" fmla="*/ 0 h 20"/>
                <a:gd name="T68" fmla="*/ 12 w 20"/>
                <a:gd name="T69" fmla="*/ 0 h 20"/>
                <a:gd name="T70" fmla="*/ 20 w 20"/>
                <a:gd name="T71" fmla="*/ 4 h 20"/>
                <a:gd name="T72" fmla="*/ 20 w 20"/>
                <a:gd name="T73" fmla="*/ 4 h 20"/>
                <a:gd name="T74" fmla="*/ 20 w 20"/>
                <a:gd name="T75" fmla="*/ 4 h 20"/>
                <a:gd name="T76" fmla="*/ 20 w 20"/>
                <a:gd name="T77" fmla="*/ 4 h 20"/>
                <a:gd name="T78" fmla="*/ 20 w 20"/>
                <a:gd name="T79" fmla="*/ 4 h 20"/>
                <a:gd name="T80" fmla="*/ 20 w 20"/>
                <a:gd name="T81" fmla="*/ 8 h 20"/>
                <a:gd name="T82" fmla="*/ 20 w 20"/>
                <a:gd name="T83" fmla="*/ 8 h 20"/>
                <a:gd name="T84" fmla="*/ 12 w 20"/>
                <a:gd name="T85" fmla="*/ 4 h 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20"/>
                <a:gd name="T131" fmla="*/ 20 w 20"/>
                <a:gd name="T132" fmla="*/ 20 h 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20"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12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6" name="Freeform 339"/>
            <p:cNvSpPr>
              <a:spLocks/>
            </p:cNvSpPr>
            <p:nvPr/>
          </p:nvSpPr>
          <p:spPr bwMode="auto">
            <a:xfrm>
              <a:off x="4259" y="2505"/>
              <a:ext cx="20" cy="11"/>
            </a:xfrm>
            <a:custGeom>
              <a:avLst/>
              <a:gdLst>
                <a:gd name="T0" fmla="*/ 12 w 20"/>
                <a:gd name="T1" fmla="*/ 7 h 11"/>
                <a:gd name="T2" fmla="*/ 12 w 20"/>
                <a:gd name="T3" fmla="*/ 7 h 11"/>
                <a:gd name="T4" fmla="*/ 12 w 20"/>
                <a:gd name="T5" fmla="*/ 7 h 11"/>
                <a:gd name="T6" fmla="*/ 12 w 20"/>
                <a:gd name="T7" fmla="*/ 7 h 11"/>
                <a:gd name="T8" fmla="*/ 8 w 20"/>
                <a:gd name="T9" fmla="*/ 11 h 11"/>
                <a:gd name="T10" fmla="*/ 8 w 20"/>
                <a:gd name="T11" fmla="*/ 11 h 11"/>
                <a:gd name="T12" fmla="*/ 8 w 20"/>
                <a:gd name="T13" fmla="*/ 11 h 11"/>
                <a:gd name="T14" fmla="*/ 4 w 20"/>
                <a:gd name="T15" fmla="*/ 11 h 11"/>
                <a:gd name="T16" fmla="*/ 4 w 20"/>
                <a:gd name="T17" fmla="*/ 11 h 11"/>
                <a:gd name="T18" fmla="*/ 4 w 20"/>
                <a:gd name="T19" fmla="*/ 11 h 11"/>
                <a:gd name="T20" fmla="*/ 0 w 20"/>
                <a:gd name="T21" fmla="*/ 7 h 11"/>
                <a:gd name="T22" fmla="*/ 0 w 20"/>
                <a:gd name="T23" fmla="*/ 7 h 11"/>
                <a:gd name="T24" fmla="*/ 0 w 20"/>
                <a:gd name="T25" fmla="*/ 7 h 11"/>
                <a:gd name="T26" fmla="*/ 0 w 20"/>
                <a:gd name="T27" fmla="*/ 7 h 11"/>
                <a:gd name="T28" fmla="*/ 0 w 20"/>
                <a:gd name="T29" fmla="*/ 3 h 11"/>
                <a:gd name="T30" fmla="*/ 0 w 20"/>
                <a:gd name="T31" fmla="*/ 3 h 11"/>
                <a:gd name="T32" fmla="*/ 4 w 20"/>
                <a:gd name="T33" fmla="*/ 3 h 11"/>
                <a:gd name="T34" fmla="*/ 4 w 20"/>
                <a:gd name="T35" fmla="*/ 3 h 11"/>
                <a:gd name="T36" fmla="*/ 4 w 20"/>
                <a:gd name="T37" fmla="*/ 3 h 11"/>
                <a:gd name="T38" fmla="*/ 4 w 20"/>
                <a:gd name="T39" fmla="*/ 3 h 11"/>
                <a:gd name="T40" fmla="*/ 4 w 20"/>
                <a:gd name="T41" fmla="*/ 7 h 11"/>
                <a:gd name="T42" fmla="*/ 4 w 20"/>
                <a:gd name="T43" fmla="*/ 7 h 11"/>
                <a:gd name="T44" fmla="*/ 4 w 20"/>
                <a:gd name="T45" fmla="*/ 7 h 11"/>
                <a:gd name="T46" fmla="*/ 4 w 20"/>
                <a:gd name="T47" fmla="*/ 7 h 11"/>
                <a:gd name="T48" fmla="*/ 4 w 20"/>
                <a:gd name="T49" fmla="*/ 7 h 11"/>
                <a:gd name="T50" fmla="*/ 8 w 20"/>
                <a:gd name="T51" fmla="*/ 7 h 11"/>
                <a:gd name="T52" fmla="*/ 8 w 20"/>
                <a:gd name="T53" fmla="*/ 7 h 11"/>
                <a:gd name="T54" fmla="*/ 12 w 20"/>
                <a:gd name="T55" fmla="*/ 0 h 11"/>
                <a:gd name="T56" fmla="*/ 12 w 20"/>
                <a:gd name="T57" fmla="*/ 0 h 11"/>
                <a:gd name="T58" fmla="*/ 12 w 20"/>
                <a:gd name="T59" fmla="*/ 0 h 11"/>
                <a:gd name="T60" fmla="*/ 8 w 20"/>
                <a:gd name="T61" fmla="*/ 0 h 11"/>
                <a:gd name="T62" fmla="*/ 8 w 20"/>
                <a:gd name="T63" fmla="*/ 0 h 11"/>
                <a:gd name="T64" fmla="*/ 8 w 20"/>
                <a:gd name="T65" fmla="*/ 0 h 11"/>
                <a:gd name="T66" fmla="*/ 12 w 20"/>
                <a:gd name="T67" fmla="*/ 0 h 11"/>
                <a:gd name="T68" fmla="*/ 12 w 20"/>
                <a:gd name="T69" fmla="*/ 0 h 11"/>
                <a:gd name="T70" fmla="*/ 16 w 20"/>
                <a:gd name="T71" fmla="*/ 0 h 11"/>
                <a:gd name="T72" fmla="*/ 16 w 20"/>
                <a:gd name="T73" fmla="*/ 0 h 11"/>
                <a:gd name="T74" fmla="*/ 20 w 20"/>
                <a:gd name="T75" fmla="*/ 0 h 11"/>
                <a:gd name="T76" fmla="*/ 20 w 20"/>
                <a:gd name="T77" fmla="*/ 3 h 11"/>
                <a:gd name="T78" fmla="*/ 20 w 20"/>
                <a:gd name="T79" fmla="*/ 3 h 11"/>
                <a:gd name="T80" fmla="*/ 16 w 20"/>
                <a:gd name="T81" fmla="*/ 3 h 11"/>
                <a:gd name="T82" fmla="*/ 16 w 20"/>
                <a:gd name="T83" fmla="*/ 3 h 11"/>
                <a:gd name="T84" fmla="*/ 16 w 20"/>
                <a:gd name="T85" fmla="*/ 3 h 1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11"/>
                <a:gd name="T131" fmla="*/ 20 w 20"/>
                <a:gd name="T132" fmla="*/ 11 h 1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11">
                  <a:moveTo>
                    <a:pt x="16" y="3"/>
                  </a:moveTo>
                  <a:lnTo>
                    <a:pt x="12" y="7"/>
                  </a:lnTo>
                  <a:lnTo>
                    <a:pt x="8" y="11"/>
                  </a:lnTo>
                  <a:lnTo>
                    <a:pt x="4" y="11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3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0" y="3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7" name="Freeform 340"/>
            <p:cNvSpPr>
              <a:spLocks/>
            </p:cNvSpPr>
            <p:nvPr/>
          </p:nvSpPr>
          <p:spPr bwMode="auto">
            <a:xfrm>
              <a:off x="4275" y="2505"/>
              <a:ext cx="16" cy="15"/>
            </a:xfrm>
            <a:custGeom>
              <a:avLst/>
              <a:gdLst>
                <a:gd name="T0" fmla="*/ 4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6 w 16"/>
                <a:gd name="T11" fmla="*/ 3 h 15"/>
                <a:gd name="T12" fmla="*/ 16 w 16"/>
                <a:gd name="T13" fmla="*/ 3 h 15"/>
                <a:gd name="T14" fmla="*/ 16 w 16"/>
                <a:gd name="T15" fmla="*/ 3 h 15"/>
                <a:gd name="T16" fmla="*/ 16 w 16"/>
                <a:gd name="T17" fmla="*/ 7 h 15"/>
                <a:gd name="T18" fmla="*/ 16 w 16"/>
                <a:gd name="T19" fmla="*/ 7 h 15"/>
                <a:gd name="T20" fmla="*/ 16 w 16"/>
                <a:gd name="T21" fmla="*/ 7 h 15"/>
                <a:gd name="T22" fmla="*/ 8 w 16"/>
                <a:gd name="T23" fmla="*/ 7 h 15"/>
                <a:gd name="T24" fmla="*/ 12 w 16"/>
                <a:gd name="T25" fmla="*/ 11 h 15"/>
                <a:gd name="T26" fmla="*/ 12 w 16"/>
                <a:gd name="T27" fmla="*/ 11 h 15"/>
                <a:gd name="T28" fmla="*/ 12 w 16"/>
                <a:gd name="T29" fmla="*/ 11 h 15"/>
                <a:gd name="T30" fmla="*/ 12 w 16"/>
                <a:gd name="T31" fmla="*/ 11 h 15"/>
                <a:gd name="T32" fmla="*/ 12 w 16"/>
                <a:gd name="T33" fmla="*/ 15 h 15"/>
                <a:gd name="T34" fmla="*/ 12 w 16"/>
                <a:gd name="T35" fmla="*/ 15 h 15"/>
                <a:gd name="T36" fmla="*/ 8 w 16"/>
                <a:gd name="T37" fmla="*/ 15 h 15"/>
                <a:gd name="T38" fmla="*/ 8 w 16"/>
                <a:gd name="T39" fmla="*/ 15 h 15"/>
                <a:gd name="T40" fmla="*/ 8 w 16"/>
                <a:gd name="T41" fmla="*/ 11 h 15"/>
                <a:gd name="T42" fmla="*/ 8 w 16"/>
                <a:gd name="T43" fmla="*/ 11 h 15"/>
                <a:gd name="T44" fmla="*/ 8 w 16"/>
                <a:gd name="T45" fmla="*/ 11 h 15"/>
                <a:gd name="T46" fmla="*/ 4 w 16"/>
                <a:gd name="T47" fmla="*/ 7 h 15"/>
                <a:gd name="T48" fmla="*/ 4 w 16"/>
                <a:gd name="T49" fmla="*/ 11 h 15"/>
                <a:gd name="T50" fmla="*/ 4 w 16"/>
                <a:gd name="T51" fmla="*/ 11 h 15"/>
                <a:gd name="T52" fmla="*/ 4 w 16"/>
                <a:gd name="T53" fmla="*/ 11 h 15"/>
                <a:gd name="T54" fmla="*/ 4 w 16"/>
                <a:gd name="T55" fmla="*/ 11 h 15"/>
                <a:gd name="T56" fmla="*/ 4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0 w 16"/>
                <a:gd name="T65" fmla="*/ 11 h 15"/>
                <a:gd name="T66" fmla="*/ 0 w 16"/>
                <a:gd name="T67" fmla="*/ 11 h 15"/>
                <a:gd name="T68" fmla="*/ 0 w 16"/>
                <a:gd name="T69" fmla="*/ 11 h 15"/>
                <a:gd name="T70" fmla="*/ 4 w 16"/>
                <a:gd name="T71" fmla="*/ 3 h 15"/>
                <a:gd name="T72" fmla="*/ 4 w 16"/>
                <a:gd name="T73" fmla="*/ 3 h 15"/>
                <a:gd name="T74" fmla="*/ 4 w 16"/>
                <a:gd name="T75" fmla="*/ 3 h 15"/>
                <a:gd name="T76" fmla="*/ 4 w 16"/>
                <a:gd name="T77" fmla="*/ 0 h 15"/>
                <a:gd name="T78" fmla="*/ 4 w 16"/>
                <a:gd name="T79" fmla="*/ 0 h 15"/>
                <a:gd name="T80" fmla="*/ 8 w 16"/>
                <a:gd name="T81" fmla="*/ 3 h 15"/>
                <a:gd name="T82" fmla="*/ 12 w 16"/>
                <a:gd name="T83" fmla="*/ 3 h 15"/>
                <a:gd name="T84" fmla="*/ 8 w 16"/>
                <a:gd name="T85" fmla="*/ 3 h 15"/>
                <a:gd name="T86" fmla="*/ 8 w 16"/>
                <a:gd name="T87" fmla="*/ 3 h 15"/>
                <a:gd name="T88" fmla="*/ 8 w 16"/>
                <a:gd name="T89" fmla="*/ 3 h 1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5"/>
                <a:gd name="T137" fmla="*/ 16 w 16"/>
                <a:gd name="T138" fmla="*/ 15 h 1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5">
                  <a:moveTo>
                    <a:pt x="8" y="3"/>
                  </a:moveTo>
                  <a:lnTo>
                    <a:pt x="4" y="7"/>
                  </a:lnTo>
                  <a:lnTo>
                    <a:pt x="12" y="3"/>
                  </a:lnTo>
                  <a:lnTo>
                    <a:pt x="16" y="3"/>
                  </a:lnTo>
                  <a:lnTo>
                    <a:pt x="16" y="7"/>
                  </a:lnTo>
                  <a:lnTo>
                    <a:pt x="8" y="7"/>
                  </a:lnTo>
                  <a:lnTo>
                    <a:pt x="12" y="11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12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8" name="Freeform 341"/>
            <p:cNvSpPr>
              <a:spLocks/>
            </p:cNvSpPr>
            <p:nvPr/>
          </p:nvSpPr>
          <p:spPr bwMode="auto">
            <a:xfrm>
              <a:off x="4287" y="2508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12 w 16"/>
                <a:gd name="T3" fmla="*/ 12 h 16"/>
                <a:gd name="T4" fmla="*/ 12 w 16"/>
                <a:gd name="T5" fmla="*/ 12 h 16"/>
                <a:gd name="T6" fmla="*/ 12 w 16"/>
                <a:gd name="T7" fmla="*/ 12 h 16"/>
                <a:gd name="T8" fmla="*/ 16 w 16"/>
                <a:gd name="T9" fmla="*/ 12 h 16"/>
                <a:gd name="T10" fmla="*/ 16 w 16"/>
                <a:gd name="T11" fmla="*/ 12 h 16"/>
                <a:gd name="T12" fmla="*/ 16 w 16"/>
                <a:gd name="T13" fmla="*/ 12 h 16"/>
                <a:gd name="T14" fmla="*/ 16 w 16"/>
                <a:gd name="T15" fmla="*/ 12 h 16"/>
                <a:gd name="T16" fmla="*/ 16 w 16"/>
                <a:gd name="T17" fmla="*/ 12 h 16"/>
                <a:gd name="T18" fmla="*/ 16 w 16"/>
                <a:gd name="T19" fmla="*/ 16 h 16"/>
                <a:gd name="T20" fmla="*/ 16 w 16"/>
                <a:gd name="T21" fmla="*/ 16 h 16"/>
                <a:gd name="T22" fmla="*/ 12 w 16"/>
                <a:gd name="T23" fmla="*/ 16 h 16"/>
                <a:gd name="T24" fmla="*/ 12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4 w 16"/>
                <a:gd name="T39" fmla="*/ 12 h 16"/>
                <a:gd name="T40" fmla="*/ 4 w 16"/>
                <a:gd name="T41" fmla="*/ 12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8 w 16"/>
                <a:gd name="T49" fmla="*/ 4 h 16"/>
                <a:gd name="T50" fmla="*/ 8 w 16"/>
                <a:gd name="T51" fmla="*/ 0 h 16"/>
                <a:gd name="T52" fmla="*/ 8 w 16"/>
                <a:gd name="T53" fmla="*/ 0 h 16"/>
                <a:gd name="T54" fmla="*/ 8 w 16"/>
                <a:gd name="T55" fmla="*/ 0 h 16"/>
                <a:gd name="T56" fmla="*/ 8 w 16"/>
                <a:gd name="T57" fmla="*/ 0 h 16"/>
                <a:gd name="T58" fmla="*/ 12 w 16"/>
                <a:gd name="T59" fmla="*/ 4 h 16"/>
                <a:gd name="T60" fmla="*/ 12 w 16"/>
                <a:gd name="T61" fmla="*/ 4 h 16"/>
                <a:gd name="T62" fmla="*/ 16 w 16"/>
                <a:gd name="T63" fmla="*/ 4 h 16"/>
                <a:gd name="T64" fmla="*/ 16 w 16"/>
                <a:gd name="T65" fmla="*/ 4 h 16"/>
                <a:gd name="T66" fmla="*/ 16 w 16"/>
                <a:gd name="T67" fmla="*/ 4 h 16"/>
                <a:gd name="T68" fmla="*/ 12 w 16"/>
                <a:gd name="T69" fmla="*/ 4 h 16"/>
                <a:gd name="T70" fmla="*/ 12 w 16"/>
                <a:gd name="T71" fmla="*/ 4 h 16"/>
                <a:gd name="T72" fmla="*/ 12 w 16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"/>
                <a:gd name="T112" fmla="*/ 0 h 16"/>
                <a:gd name="T113" fmla="*/ 16 w 16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" h="16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39" name="Freeform 342"/>
            <p:cNvSpPr>
              <a:spLocks noEditPoints="1"/>
            </p:cNvSpPr>
            <p:nvPr/>
          </p:nvSpPr>
          <p:spPr bwMode="auto">
            <a:xfrm>
              <a:off x="4393" y="2512"/>
              <a:ext cx="24" cy="16"/>
            </a:xfrm>
            <a:custGeom>
              <a:avLst/>
              <a:gdLst>
                <a:gd name="T0" fmla="*/ 8 w 24"/>
                <a:gd name="T1" fmla="*/ 8 h 16"/>
                <a:gd name="T2" fmla="*/ 12 w 24"/>
                <a:gd name="T3" fmla="*/ 8 h 16"/>
                <a:gd name="T4" fmla="*/ 12 w 24"/>
                <a:gd name="T5" fmla="*/ 8 h 16"/>
                <a:gd name="T6" fmla="*/ 12 w 24"/>
                <a:gd name="T7" fmla="*/ 8 h 16"/>
                <a:gd name="T8" fmla="*/ 16 w 24"/>
                <a:gd name="T9" fmla="*/ 8 h 16"/>
                <a:gd name="T10" fmla="*/ 16 w 24"/>
                <a:gd name="T11" fmla="*/ 12 h 16"/>
                <a:gd name="T12" fmla="*/ 16 w 24"/>
                <a:gd name="T13" fmla="*/ 12 h 16"/>
                <a:gd name="T14" fmla="*/ 12 w 24"/>
                <a:gd name="T15" fmla="*/ 16 h 16"/>
                <a:gd name="T16" fmla="*/ 8 w 24"/>
                <a:gd name="T17" fmla="*/ 16 h 16"/>
                <a:gd name="T18" fmla="*/ 8 w 24"/>
                <a:gd name="T19" fmla="*/ 16 h 16"/>
                <a:gd name="T20" fmla="*/ 0 w 24"/>
                <a:gd name="T21" fmla="*/ 12 h 16"/>
                <a:gd name="T22" fmla="*/ 4 w 24"/>
                <a:gd name="T23" fmla="*/ 8 h 16"/>
                <a:gd name="T24" fmla="*/ 4 w 24"/>
                <a:gd name="T25" fmla="*/ 8 h 16"/>
                <a:gd name="T26" fmla="*/ 8 w 24"/>
                <a:gd name="T27" fmla="*/ 0 h 16"/>
                <a:gd name="T28" fmla="*/ 20 w 24"/>
                <a:gd name="T29" fmla="*/ 0 h 16"/>
                <a:gd name="T30" fmla="*/ 20 w 24"/>
                <a:gd name="T31" fmla="*/ 0 h 16"/>
                <a:gd name="T32" fmla="*/ 24 w 24"/>
                <a:gd name="T33" fmla="*/ 0 h 16"/>
                <a:gd name="T34" fmla="*/ 24 w 24"/>
                <a:gd name="T35" fmla="*/ 4 h 16"/>
                <a:gd name="T36" fmla="*/ 24 w 24"/>
                <a:gd name="T37" fmla="*/ 4 h 16"/>
                <a:gd name="T38" fmla="*/ 20 w 24"/>
                <a:gd name="T39" fmla="*/ 4 h 16"/>
                <a:gd name="T40" fmla="*/ 16 w 24"/>
                <a:gd name="T41" fmla="*/ 4 h 16"/>
                <a:gd name="T42" fmla="*/ 16 w 24"/>
                <a:gd name="T43" fmla="*/ 4 h 16"/>
                <a:gd name="T44" fmla="*/ 12 w 24"/>
                <a:gd name="T45" fmla="*/ 4 h 16"/>
                <a:gd name="T46" fmla="*/ 8 w 24"/>
                <a:gd name="T47" fmla="*/ 8 h 16"/>
                <a:gd name="T48" fmla="*/ 12 w 24"/>
                <a:gd name="T49" fmla="*/ 12 h 16"/>
                <a:gd name="T50" fmla="*/ 12 w 24"/>
                <a:gd name="T51" fmla="*/ 12 h 16"/>
                <a:gd name="T52" fmla="*/ 12 w 24"/>
                <a:gd name="T53" fmla="*/ 12 h 16"/>
                <a:gd name="T54" fmla="*/ 12 w 24"/>
                <a:gd name="T55" fmla="*/ 8 h 16"/>
                <a:gd name="T56" fmla="*/ 8 w 24"/>
                <a:gd name="T57" fmla="*/ 8 h 16"/>
                <a:gd name="T58" fmla="*/ 8 w 24"/>
                <a:gd name="T59" fmla="*/ 8 h 16"/>
                <a:gd name="T60" fmla="*/ 8 w 24"/>
                <a:gd name="T61" fmla="*/ 12 h 16"/>
                <a:gd name="T62" fmla="*/ 8 w 24"/>
                <a:gd name="T63" fmla="*/ 12 h 16"/>
                <a:gd name="T64" fmla="*/ 8 w 24"/>
                <a:gd name="T65" fmla="*/ 12 h 16"/>
                <a:gd name="T66" fmla="*/ 8 w 24"/>
                <a:gd name="T67" fmla="*/ 16 h 16"/>
                <a:gd name="T68" fmla="*/ 12 w 24"/>
                <a:gd name="T69" fmla="*/ 16 h 16"/>
                <a:gd name="T70" fmla="*/ 12 w 24"/>
                <a:gd name="T71" fmla="*/ 16 h 16"/>
                <a:gd name="T72" fmla="*/ 12 w 24"/>
                <a:gd name="T73" fmla="*/ 12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"/>
                <a:gd name="T112" fmla="*/ 0 h 16"/>
                <a:gd name="T113" fmla="*/ 24 w 24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" h="16">
                  <a:moveTo>
                    <a:pt x="8" y="8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close/>
                  <a:moveTo>
                    <a:pt x="12" y="12"/>
                  </a:moveTo>
                  <a:lnTo>
                    <a:pt x="12" y="12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0" name="Freeform 343"/>
            <p:cNvSpPr>
              <a:spLocks/>
            </p:cNvSpPr>
            <p:nvPr/>
          </p:nvSpPr>
          <p:spPr bwMode="auto">
            <a:xfrm>
              <a:off x="4370" y="2528"/>
              <a:ext cx="19" cy="16"/>
            </a:xfrm>
            <a:custGeom>
              <a:avLst/>
              <a:gdLst>
                <a:gd name="T0" fmla="*/ 15 w 19"/>
                <a:gd name="T1" fmla="*/ 4 h 16"/>
                <a:gd name="T2" fmla="*/ 15 w 19"/>
                <a:gd name="T3" fmla="*/ 4 h 16"/>
                <a:gd name="T4" fmla="*/ 15 w 19"/>
                <a:gd name="T5" fmla="*/ 4 h 16"/>
                <a:gd name="T6" fmla="*/ 19 w 19"/>
                <a:gd name="T7" fmla="*/ 4 h 16"/>
                <a:gd name="T8" fmla="*/ 19 w 19"/>
                <a:gd name="T9" fmla="*/ 4 h 16"/>
                <a:gd name="T10" fmla="*/ 19 w 19"/>
                <a:gd name="T11" fmla="*/ 4 h 16"/>
                <a:gd name="T12" fmla="*/ 19 w 19"/>
                <a:gd name="T13" fmla="*/ 8 h 16"/>
                <a:gd name="T14" fmla="*/ 15 w 19"/>
                <a:gd name="T15" fmla="*/ 4 h 16"/>
                <a:gd name="T16" fmla="*/ 11 w 19"/>
                <a:gd name="T17" fmla="*/ 12 h 16"/>
                <a:gd name="T18" fmla="*/ 11 w 19"/>
                <a:gd name="T19" fmla="*/ 12 h 16"/>
                <a:gd name="T20" fmla="*/ 15 w 19"/>
                <a:gd name="T21" fmla="*/ 16 h 16"/>
                <a:gd name="T22" fmla="*/ 15 w 19"/>
                <a:gd name="T23" fmla="*/ 16 h 16"/>
                <a:gd name="T24" fmla="*/ 11 w 19"/>
                <a:gd name="T25" fmla="*/ 16 h 16"/>
                <a:gd name="T26" fmla="*/ 8 w 19"/>
                <a:gd name="T27" fmla="*/ 16 h 16"/>
                <a:gd name="T28" fmla="*/ 8 w 19"/>
                <a:gd name="T29" fmla="*/ 16 h 16"/>
                <a:gd name="T30" fmla="*/ 8 w 19"/>
                <a:gd name="T31" fmla="*/ 12 h 16"/>
                <a:gd name="T32" fmla="*/ 8 w 19"/>
                <a:gd name="T33" fmla="*/ 12 h 16"/>
                <a:gd name="T34" fmla="*/ 11 w 19"/>
                <a:gd name="T35" fmla="*/ 12 h 16"/>
                <a:gd name="T36" fmla="*/ 11 w 19"/>
                <a:gd name="T37" fmla="*/ 12 h 16"/>
                <a:gd name="T38" fmla="*/ 8 w 19"/>
                <a:gd name="T39" fmla="*/ 12 h 16"/>
                <a:gd name="T40" fmla="*/ 8 w 19"/>
                <a:gd name="T41" fmla="*/ 12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8 h 16"/>
                <a:gd name="T48" fmla="*/ 8 w 19"/>
                <a:gd name="T49" fmla="*/ 4 h 16"/>
                <a:gd name="T50" fmla="*/ 4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4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12 h 16"/>
                <a:gd name="T68" fmla="*/ 0 w 19"/>
                <a:gd name="T69" fmla="*/ 12 h 16"/>
                <a:gd name="T70" fmla="*/ 4 w 19"/>
                <a:gd name="T71" fmla="*/ 4 h 16"/>
                <a:gd name="T72" fmla="*/ 4 w 19"/>
                <a:gd name="T73" fmla="*/ 4 h 16"/>
                <a:gd name="T74" fmla="*/ 4 w 19"/>
                <a:gd name="T75" fmla="*/ 4 h 16"/>
                <a:gd name="T76" fmla="*/ 4 w 19"/>
                <a:gd name="T77" fmla="*/ 0 h 16"/>
                <a:gd name="T78" fmla="*/ 4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8 h 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9"/>
                <a:gd name="T133" fmla="*/ 0 h 16"/>
                <a:gd name="T134" fmla="*/ 19 w 19"/>
                <a:gd name="T135" fmla="*/ 16 h 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9" h="16">
                  <a:moveTo>
                    <a:pt x="8" y="8"/>
                  </a:move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1" name="Freeform 344"/>
            <p:cNvSpPr>
              <a:spLocks/>
            </p:cNvSpPr>
            <p:nvPr/>
          </p:nvSpPr>
          <p:spPr bwMode="auto">
            <a:xfrm>
              <a:off x="4385" y="2532"/>
              <a:ext cx="20" cy="16"/>
            </a:xfrm>
            <a:custGeom>
              <a:avLst/>
              <a:gdLst>
                <a:gd name="T0" fmla="*/ 8 w 20"/>
                <a:gd name="T1" fmla="*/ 4 h 16"/>
                <a:gd name="T2" fmla="*/ 8 w 20"/>
                <a:gd name="T3" fmla="*/ 0 h 16"/>
                <a:gd name="T4" fmla="*/ 8 w 20"/>
                <a:gd name="T5" fmla="*/ 0 h 16"/>
                <a:gd name="T6" fmla="*/ 8 w 20"/>
                <a:gd name="T7" fmla="*/ 0 h 16"/>
                <a:gd name="T8" fmla="*/ 8 w 20"/>
                <a:gd name="T9" fmla="*/ 0 h 16"/>
                <a:gd name="T10" fmla="*/ 4 w 20"/>
                <a:gd name="T11" fmla="*/ 0 h 16"/>
                <a:gd name="T12" fmla="*/ 4 w 20"/>
                <a:gd name="T13" fmla="*/ 0 h 16"/>
                <a:gd name="T14" fmla="*/ 4 w 20"/>
                <a:gd name="T15" fmla="*/ 0 h 16"/>
                <a:gd name="T16" fmla="*/ 4 w 20"/>
                <a:gd name="T17" fmla="*/ 4 h 16"/>
                <a:gd name="T18" fmla="*/ 4 w 20"/>
                <a:gd name="T19" fmla="*/ 4 h 16"/>
                <a:gd name="T20" fmla="*/ 4 w 20"/>
                <a:gd name="T21" fmla="*/ 4 h 16"/>
                <a:gd name="T22" fmla="*/ 0 w 20"/>
                <a:gd name="T23" fmla="*/ 12 h 16"/>
                <a:gd name="T24" fmla="*/ 0 w 20"/>
                <a:gd name="T25" fmla="*/ 12 h 16"/>
                <a:gd name="T26" fmla="*/ 0 w 20"/>
                <a:gd name="T27" fmla="*/ 12 h 16"/>
                <a:gd name="T28" fmla="*/ 0 w 20"/>
                <a:gd name="T29" fmla="*/ 12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4 w 20"/>
                <a:gd name="T41" fmla="*/ 12 h 16"/>
                <a:gd name="T42" fmla="*/ 4 w 20"/>
                <a:gd name="T43" fmla="*/ 12 h 16"/>
                <a:gd name="T44" fmla="*/ 4 w 20"/>
                <a:gd name="T45" fmla="*/ 12 h 16"/>
                <a:gd name="T46" fmla="*/ 4 w 20"/>
                <a:gd name="T47" fmla="*/ 12 h 16"/>
                <a:gd name="T48" fmla="*/ 4 w 20"/>
                <a:gd name="T49" fmla="*/ 12 h 16"/>
                <a:gd name="T50" fmla="*/ 4 w 20"/>
                <a:gd name="T51" fmla="*/ 12 h 16"/>
                <a:gd name="T52" fmla="*/ 4 w 20"/>
                <a:gd name="T53" fmla="*/ 12 h 16"/>
                <a:gd name="T54" fmla="*/ 8 w 20"/>
                <a:gd name="T55" fmla="*/ 4 h 16"/>
                <a:gd name="T56" fmla="*/ 8 w 20"/>
                <a:gd name="T57" fmla="*/ 16 h 16"/>
                <a:gd name="T58" fmla="*/ 8 w 20"/>
                <a:gd name="T59" fmla="*/ 16 h 16"/>
                <a:gd name="T60" fmla="*/ 8 w 20"/>
                <a:gd name="T61" fmla="*/ 16 h 16"/>
                <a:gd name="T62" fmla="*/ 8 w 20"/>
                <a:gd name="T63" fmla="*/ 16 h 16"/>
                <a:gd name="T64" fmla="*/ 12 w 20"/>
                <a:gd name="T65" fmla="*/ 16 h 16"/>
                <a:gd name="T66" fmla="*/ 12 w 20"/>
                <a:gd name="T67" fmla="*/ 16 h 16"/>
                <a:gd name="T68" fmla="*/ 12 w 20"/>
                <a:gd name="T69" fmla="*/ 16 h 16"/>
                <a:gd name="T70" fmla="*/ 12 w 20"/>
                <a:gd name="T71" fmla="*/ 16 h 16"/>
                <a:gd name="T72" fmla="*/ 16 w 20"/>
                <a:gd name="T73" fmla="*/ 4 h 16"/>
                <a:gd name="T74" fmla="*/ 16 w 20"/>
                <a:gd name="T75" fmla="*/ 4 h 16"/>
                <a:gd name="T76" fmla="*/ 16 w 20"/>
                <a:gd name="T77" fmla="*/ 4 h 16"/>
                <a:gd name="T78" fmla="*/ 16 w 20"/>
                <a:gd name="T79" fmla="*/ 4 h 16"/>
                <a:gd name="T80" fmla="*/ 20 w 20"/>
                <a:gd name="T81" fmla="*/ 4 h 16"/>
                <a:gd name="T82" fmla="*/ 20 w 20"/>
                <a:gd name="T83" fmla="*/ 4 h 16"/>
                <a:gd name="T84" fmla="*/ 20 w 20"/>
                <a:gd name="T85" fmla="*/ 4 h 16"/>
                <a:gd name="T86" fmla="*/ 16 w 20"/>
                <a:gd name="T87" fmla="*/ 4 h 16"/>
                <a:gd name="T88" fmla="*/ 16 w 20"/>
                <a:gd name="T89" fmla="*/ 4 h 16"/>
                <a:gd name="T90" fmla="*/ 16 w 20"/>
                <a:gd name="T91" fmla="*/ 4 h 16"/>
                <a:gd name="T92" fmla="*/ 12 w 20"/>
                <a:gd name="T93" fmla="*/ 4 h 16"/>
                <a:gd name="T94" fmla="*/ 12 w 20"/>
                <a:gd name="T95" fmla="*/ 4 h 16"/>
                <a:gd name="T96" fmla="*/ 12 w 20"/>
                <a:gd name="T97" fmla="*/ 4 h 16"/>
                <a:gd name="T98" fmla="*/ 12 w 20"/>
                <a:gd name="T99" fmla="*/ 4 h 16"/>
                <a:gd name="T100" fmla="*/ 12 w 20"/>
                <a:gd name="T101" fmla="*/ 4 h 16"/>
                <a:gd name="T102" fmla="*/ 12 w 20"/>
                <a:gd name="T103" fmla="*/ 4 h 16"/>
                <a:gd name="T104" fmla="*/ 12 w 20"/>
                <a:gd name="T105" fmla="*/ 12 h 16"/>
                <a:gd name="T106" fmla="*/ 8 w 20"/>
                <a:gd name="T107" fmla="*/ 4 h 1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0"/>
                <a:gd name="T163" fmla="*/ 0 h 16"/>
                <a:gd name="T164" fmla="*/ 20 w 20"/>
                <a:gd name="T165" fmla="*/ 16 h 1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0" h="16">
                  <a:moveTo>
                    <a:pt x="8" y="4"/>
                  </a:move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1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2" name="Freeform 345"/>
            <p:cNvSpPr>
              <a:spLocks noEditPoints="1"/>
            </p:cNvSpPr>
            <p:nvPr/>
          </p:nvSpPr>
          <p:spPr bwMode="auto">
            <a:xfrm>
              <a:off x="4401" y="2536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4 h 12"/>
                <a:gd name="T6" fmla="*/ 16 w 16"/>
                <a:gd name="T7" fmla="*/ 4 h 12"/>
                <a:gd name="T8" fmla="*/ 16 w 16"/>
                <a:gd name="T9" fmla="*/ 4 h 12"/>
                <a:gd name="T10" fmla="*/ 16 w 16"/>
                <a:gd name="T11" fmla="*/ 8 h 12"/>
                <a:gd name="T12" fmla="*/ 16 w 16"/>
                <a:gd name="T13" fmla="*/ 8 h 12"/>
                <a:gd name="T14" fmla="*/ 16 w 16"/>
                <a:gd name="T15" fmla="*/ 8 h 12"/>
                <a:gd name="T16" fmla="*/ 12 w 16"/>
                <a:gd name="T17" fmla="*/ 12 h 12"/>
                <a:gd name="T18" fmla="*/ 12 w 16"/>
                <a:gd name="T19" fmla="*/ 12 h 12"/>
                <a:gd name="T20" fmla="*/ 12 w 16"/>
                <a:gd name="T21" fmla="*/ 12 h 12"/>
                <a:gd name="T22" fmla="*/ 4 w 16"/>
                <a:gd name="T23" fmla="*/ 12 h 12"/>
                <a:gd name="T24" fmla="*/ 4 w 16"/>
                <a:gd name="T25" fmla="*/ 12 h 12"/>
                <a:gd name="T26" fmla="*/ 4 w 16"/>
                <a:gd name="T27" fmla="*/ 12 h 12"/>
                <a:gd name="T28" fmla="*/ 0 w 16"/>
                <a:gd name="T29" fmla="*/ 12 h 12"/>
                <a:gd name="T30" fmla="*/ 0 w 16"/>
                <a:gd name="T31" fmla="*/ 12 h 12"/>
                <a:gd name="T32" fmla="*/ 0 w 16"/>
                <a:gd name="T33" fmla="*/ 12 h 12"/>
                <a:gd name="T34" fmla="*/ 0 w 16"/>
                <a:gd name="T35" fmla="*/ 4 h 12"/>
                <a:gd name="T36" fmla="*/ 0 w 16"/>
                <a:gd name="T37" fmla="*/ 4 h 12"/>
                <a:gd name="T38" fmla="*/ 0 w 16"/>
                <a:gd name="T39" fmla="*/ 4 h 12"/>
                <a:gd name="T40" fmla="*/ 4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12 w 16"/>
                <a:gd name="T47" fmla="*/ 0 h 12"/>
                <a:gd name="T48" fmla="*/ 12 w 16"/>
                <a:gd name="T49" fmla="*/ 0 h 12"/>
                <a:gd name="T50" fmla="*/ 12 w 16"/>
                <a:gd name="T51" fmla="*/ 4 h 12"/>
                <a:gd name="T52" fmla="*/ 12 w 16"/>
                <a:gd name="T53" fmla="*/ 4 h 12"/>
                <a:gd name="T54" fmla="*/ 8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4 w 16"/>
                <a:gd name="T61" fmla="*/ 8 h 12"/>
                <a:gd name="T62" fmla="*/ 4 w 16"/>
                <a:gd name="T63" fmla="*/ 8 h 12"/>
                <a:gd name="T64" fmla="*/ 4 w 16"/>
                <a:gd name="T65" fmla="*/ 8 h 12"/>
                <a:gd name="T66" fmla="*/ 4 w 16"/>
                <a:gd name="T67" fmla="*/ 8 h 12"/>
                <a:gd name="T68" fmla="*/ 4 w 16"/>
                <a:gd name="T69" fmla="*/ 8 h 12"/>
                <a:gd name="T70" fmla="*/ 4 w 16"/>
                <a:gd name="T71" fmla="*/ 8 h 12"/>
                <a:gd name="T72" fmla="*/ 8 w 16"/>
                <a:gd name="T73" fmla="*/ 12 h 12"/>
                <a:gd name="T74" fmla="*/ 8 w 16"/>
                <a:gd name="T75" fmla="*/ 12 h 12"/>
                <a:gd name="T76" fmla="*/ 8 w 16"/>
                <a:gd name="T77" fmla="*/ 12 h 12"/>
                <a:gd name="T78" fmla="*/ 8 w 16"/>
                <a:gd name="T79" fmla="*/ 12 h 12"/>
                <a:gd name="T80" fmla="*/ 8 w 16"/>
                <a:gd name="T81" fmla="*/ 12 h 12"/>
                <a:gd name="T82" fmla="*/ 8 w 16"/>
                <a:gd name="T83" fmla="*/ 12 h 12"/>
                <a:gd name="T84" fmla="*/ 12 w 16"/>
                <a:gd name="T85" fmla="*/ 8 h 12"/>
                <a:gd name="T86" fmla="*/ 12 w 16"/>
                <a:gd name="T87" fmla="*/ 8 h 12"/>
                <a:gd name="T88" fmla="*/ 12 w 16"/>
                <a:gd name="T89" fmla="*/ 8 h 12"/>
                <a:gd name="T90" fmla="*/ 12 w 16"/>
                <a:gd name="T91" fmla="*/ 4 h 12"/>
                <a:gd name="T92" fmla="*/ 12 w 16"/>
                <a:gd name="T93" fmla="*/ 4 h 12"/>
                <a:gd name="T94" fmla="*/ 12 w 16"/>
                <a:gd name="T95" fmla="*/ 4 h 12"/>
                <a:gd name="T96" fmla="*/ 12 w 16"/>
                <a:gd name="T97" fmla="*/ 4 h 12"/>
                <a:gd name="T98" fmla="*/ 12 w 16"/>
                <a:gd name="T99" fmla="*/ 4 h 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6"/>
                <a:gd name="T151" fmla="*/ 0 h 12"/>
                <a:gd name="T152" fmla="*/ 16 w 16"/>
                <a:gd name="T153" fmla="*/ 12 h 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3" name="Freeform 346"/>
            <p:cNvSpPr>
              <a:spLocks/>
            </p:cNvSpPr>
            <p:nvPr/>
          </p:nvSpPr>
          <p:spPr bwMode="auto">
            <a:xfrm>
              <a:off x="4114" y="2556"/>
              <a:ext cx="19" cy="19"/>
            </a:xfrm>
            <a:custGeom>
              <a:avLst/>
              <a:gdLst>
                <a:gd name="T0" fmla="*/ 4 w 19"/>
                <a:gd name="T1" fmla="*/ 19 h 19"/>
                <a:gd name="T2" fmla="*/ 4 w 19"/>
                <a:gd name="T3" fmla="*/ 19 h 19"/>
                <a:gd name="T4" fmla="*/ 4 w 19"/>
                <a:gd name="T5" fmla="*/ 19 h 19"/>
                <a:gd name="T6" fmla="*/ 0 w 19"/>
                <a:gd name="T7" fmla="*/ 19 h 19"/>
                <a:gd name="T8" fmla="*/ 0 w 19"/>
                <a:gd name="T9" fmla="*/ 15 h 19"/>
                <a:gd name="T10" fmla="*/ 0 w 19"/>
                <a:gd name="T11" fmla="*/ 15 h 19"/>
                <a:gd name="T12" fmla="*/ 0 w 19"/>
                <a:gd name="T13" fmla="*/ 15 h 19"/>
                <a:gd name="T14" fmla="*/ 0 w 19"/>
                <a:gd name="T15" fmla="*/ 15 h 19"/>
                <a:gd name="T16" fmla="*/ 0 w 19"/>
                <a:gd name="T17" fmla="*/ 15 h 19"/>
                <a:gd name="T18" fmla="*/ 0 w 19"/>
                <a:gd name="T19" fmla="*/ 15 h 19"/>
                <a:gd name="T20" fmla="*/ 0 w 19"/>
                <a:gd name="T21" fmla="*/ 15 h 19"/>
                <a:gd name="T22" fmla="*/ 11 w 19"/>
                <a:gd name="T23" fmla="*/ 4 h 19"/>
                <a:gd name="T24" fmla="*/ 7 w 19"/>
                <a:gd name="T25" fmla="*/ 4 h 19"/>
                <a:gd name="T26" fmla="*/ 7 w 19"/>
                <a:gd name="T27" fmla="*/ 4 h 19"/>
                <a:gd name="T28" fmla="*/ 7 w 19"/>
                <a:gd name="T29" fmla="*/ 4 h 19"/>
                <a:gd name="T30" fmla="*/ 4 w 19"/>
                <a:gd name="T31" fmla="*/ 4 h 19"/>
                <a:gd name="T32" fmla="*/ 4 w 19"/>
                <a:gd name="T33" fmla="*/ 4 h 19"/>
                <a:gd name="T34" fmla="*/ 4 w 19"/>
                <a:gd name="T35" fmla="*/ 4 h 19"/>
                <a:gd name="T36" fmla="*/ 4 w 19"/>
                <a:gd name="T37" fmla="*/ 4 h 19"/>
                <a:gd name="T38" fmla="*/ 4 w 19"/>
                <a:gd name="T39" fmla="*/ 4 h 19"/>
                <a:gd name="T40" fmla="*/ 4 w 19"/>
                <a:gd name="T41" fmla="*/ 4 h 19"/>
                <a:gd name="T42" fmla="*/ 4 w 19"/>
                <a:gd name="T43" fmla="*/ 4 h 19"/>
                <a:gd name="T44" fmla="*/ 4 w 19"/>
                <a:gd name="T45" fmla="*/ 4 h 19"/>
                <a:gd name="T46" fmla="*/ 4 w 19"/>
                <a:gd name="T47" fmla="*/ 0 h 19"/>
                <a:gd name="T48" fmla="*/ 4 w 19"/>
                <a:gd name="T49" fmla="*/ 0 h 19"/>
                <a:gd name="T50" fmla="*/ 7 w 19"/>
                <a:gd name="T51" fmla="*/ 0 h 19"/>
                <a:gd name="T52" fmla="*/ 7 w 19"/>
                <a:gd name="T53" fmla="*/ 0 h 19"/>
                <a:gd name="T54" fmla="*/ 19 w 19"/>
                <a:gd name="T55" fmla="*/ 4 h 19"/>
                <a:gd name="T56" fmla="*/ 19 w 19"/>
                <a:gd name="T57" fmla="*/ 4 h 19"/>
                <a:gd name="T58" fmla="*/ 19 w 19"/>
                <a:gd name="T59" fmla="*/ 4 h 19"/>
                <a:gd name="T60" fmla="*/ 19 w 19"/>
                <a:gd name="T61" fmla="*/ 4 h 19"/>
                <a:gd name="T62" fmla="*/ 19 w 19"/>
                <a:gd name="T63" fmla="*/ 4 h 1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"/>
                <a:gd name="T97" fmla="*/ 0 h 19"/>
                <a:gd name="T98" fmla="*/ 19 w 19"/>
                <a:gd name="T99" fmla="*/ 19 h 1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" h="19">
                  <a:moveTo>
                    <a:pt x="19" y="4"/>
                  </a:move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11" y="4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7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4" name="Freeform 347"/>
            <p:cNvSpPr>
              <a:spLocks noEditPoints="1"/>
            </p:cNvSpPr>
            <p:nvPr/>
          </p:nvSpPr>
          <p:spPr bwMode="auto">
            <a:xfrm>
              <a:off x="4078" y="2571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8 w 16"/>
                <a:gd name="T3" fmla="*/ 12 h 12"/>
                <a:gd name="T4" fmla="*/ 8 w 16"/>
                <a:gd name="T5" fmla="*/ 12 h 12"/>
                <a:gd name="T6" fmla="*/ 8 w 16"/>
                <a:gd name="T7" fmla="*/ 12 h 12"/>
                <a:gd name="T8" fmla="*/ 8 w 16"/>
                <a:gd name="T9" fmla="*/ 12 h 12"/>
                <a:gd name="T10" fmla="*/ 8 w 16"/>
                <a:gd name="T11" fmla="*/ 12 h 12"/>
                <a:gd name="T12" fmla="*/ 8 w 16"/>
                <a:gd name="T13" fmla="*/ 12 h 12"/>
                <a:gd name="T14" fmla="*/ 4 w 16"/>
                <a:gd name="T15" fmla="*/ 12 h 12"/>
                <a:gd name="T16" fmla="*/ 0 w 16"/>
                <a:gd name="T17" fmla="*/ 12 h 12"/>
                <a:gd name="T18" fmla="*/ 0 w 16"/>
                <a:gd name="T19" fmla="*/ 12 h 12"/>
                <a:gd name="T20" fmla="*/ 0 w 16"/>
                <a:gd name="T21" fmla="*/ 12 h 12"/>
                <a:gd name="T22" fmla="*/ 0 w 16"/>
                <a:gd name="T23" fmla="*/ 12 h 12"/>
                <a:gd name="T24" fmla="*/ 0 w 16"/>
                <a:gd name="T25" fmla="*/ 12 h 12"/>
                <a:gd name="T26" fmla="*/ 0 w 16"/>
                <a:gd name="T27" fmla="*/ 12 h 12"/>
                <a:gd name="T28" fmla="*/ 4 w 16"/>
                <a:gd name="T29" fmla="*/ 12 h 12"/>
                <a:gd name="T30" fmla="*/ 4 w 16"/>
                <a:gd name="T31" fmla="*/ 12 h 12"/>
                <a:gd name="T32" fmla="*/ 8 w 16"/>
                <a:gd name="T33" fmla="*/ 4 h 12"/>
                <a:gd name="T34" fmla="*/ 8 w 16"/>
                <a:gd name="T35" fmla="*/ 4 h 12"/>
                <a:gd name="T36" fmla="*/ 8 w 16"/>
                <a:gd name="T37" fmla="*/ 4 h 12"/>
                <a:gd name="T38" fmla="*/ 8 w 16"/>
                <a:gd name="T39" fmla="*/ 4 h 12"/>
                <a:gd name="T40" fmla="*/ 8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8 h 12"/>
                <a:gd name="T56" fmla="*/ 16 w 16"/>
                <a:gd name="T57" fmla="*/ 8 h 12"/>
                <a:gd name="T58" fmla="*/ 16 w 16"/>
                <a:gd name="T59" fmla="*/ 8 h 12"/>
                <a:gd name="T60" fmla="*/ 8 w 16"/>
                <a:gd name="T61" fmla="*/ 8 h 12"/>
                <a:gd name="T62" fmla="*/ 8 w 16"/>
                <a:gd name="T63" fmla="*/ 8 h 12"/>
                <a:gd name="T64" fmla="*/ 8 w 16"/>
                <a:gd name="T65" fmla="*/ 8 h 12"/>
                <a:gd name="T66" fmla="*/ 12 w 16"/>
                <a:gd name="T67" fmla="*/ 8 h 12"/>
                <a:gd name="T68" fmla="*/ 12 w 16"/>
                <a:gd name="T69" fmla="*/ 8 h 12"/>
                <a:gd name="T70" fmla="*/ 12 w 16"/>
                <a:gd name="T71" fmla="*/ 8 h 12"/>
                <a:gd name="T72" fmla="*/ 16 w 16"/>
                <a:gd name="T73" fmla="*/ 8 h 12"/>
                <a:gd name="T74" fmla="*/ 16 w 16"/>
                <a:gd name="T75" fmla="*/ 8 h 12"/>
                <a:gd name="T76" fmla="*/ 16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6"/>
                <a:gd name="T124" fmla="*/ 0 h 12"/>
                <a:gd name="T125" fmla="*/ 16 w 16"/>
                <a:gd name="T126" fmla="*/ 12 h 1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6" h="12">
                  <a:moveTo>
                    <a:pt x="8" y="8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8" y="8"/>
                  </a:lnTo>
                  <a:close/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5" name="Freeform 348"/>
            <p:cNvSpPr>
              <a:spLocks noEditPoints="1"/>
            </p:cNvSpPr>
            <p:nvPr/>
          </p:nvSpPr>
          <p:spPr bwMode="auto">
            <a:xfrm>
              <a:off x="4090" y="2575"/>
              <a:ext cx="20" cy="16"/>
            </a:xfrm>
            <a:custGeom>
              <a:avLst/>
              <a:gdLst>
                <a:gd name="T0" fmla="*/ 4 w 20"/>
                <a:gd name="T1" fmla="*/ 12 h 16"/>
                <a:gd name="T2" fmla="*/ 4 w 20"/>
                <a:gd name="T3" fmla="*/ 12 h 16"/>
                <a:gd name="T4" fmla="*/ 8 w 20"/>
                <a:gd name="T5" fmla="*/ 12 h 16"/>
                <a:gd name="T6" fmla="*/ 8 w 20"/>
                <a:gd name="T7" fmla="*/ 16 h 16"/>
                <a:gd name="T8" fmla="*/ 8 w 20"/>
                <a:gd name="T9" fmla="*/ 16 h 16"/>
                <a:gd name="T10" fmla="*/ 8 w 20"/>
                <a:gd name="T11" fmla="*/ 16 h 16"/>
                <a:gd name="T12" fmla="*/ 12 w 20"/>
                <a:gd name="T13" fmla="*/ 16 h 16"/>
                <a:gd name="T14" fmla="*/ 12 w 20"/>
                <a:gd name="T15" fmla="*/ 16 h 16"/>
                <a:gd name="T16" fmla="*/ 12 w 20"/>
                <a:gd name="T17" fmla="*/ 16 h 16"/>
                <a:gd name="T18" fmla="*/ 12 w 20"/>
                <a:gd name="T19" fmla="*/ 16 h 16"/>
                <a:gd name="T20" fmla="*/ 12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12 w 20"/>
                <a:gd name="T27" fmla="*/ 16 h 16"/>
                <a:gd name="T28" fmla="*/ 12 w 20"/>
                <a:gd name="T29" fmla="*/ 16 h 16"/>
                <a:gd name="T30" fmla="*/ 8 w 20"/>
                <a:gd name="T31" fmla="*/ 16 h 16"/>
                <a:gd name="T32" fmla="*/ 8 w 20"/>
                <a:gd name="T33" fmla="*/ 16 h 16"/>
                <a:gd name="T34" fmla="*/ 8 w 20"/>
                <a:gd name="T35" fmla="*/ 16 h 16"/>
                <a:gd name="T36" fmla="*/ 8 w 20"/>
                <a:gd name="T37" fmla="*/ 16 h 16"/>
                <a:gd name="T38" fmla="*/ 8 w 20"/>
                <a:gd name="T39" fmla="*/ 16 h 16"/>
                <a:gd name="T40" fmla="*/ 4 w 20"/>
                <a:gd name="T41" fmla="*/ 16 h 16"/>
                <a:gd name="T42" fmla="*/ 4 w 20"/>
                <a:gd name="T43" fmla="*/ 16 h 16"/>
                <a:gd name="T44" fmla="*/ 4 w 20"/>
                <a:gd name="T45" fmla="*/ 16 h 16"/>
                <a:gd name="T46" fmla="*/ 0 w 20"/>
                <a:gd name="T47" fmla="*/ 16 h 16"/>
                <a:gd name="T48" fmla="*/ 4 w 20"/>
                <a:gd name="T49" fmla="*/ 16 h 16"/>
                <a:gd name="T50" fmla="*/ 4 w 20"/>
                <a:gd name="T51" fmla="*/ 16 h 16"/>
                <a:gd name="T52" fmla="*/ 4 w 20"/>
                <a:gd name="T53" fmla="*/ 12 h 16"/>
                <a:gd name="T54" fmla="*/ 4 w 20"/>
                <a:gd name="T55" fmla="*/ 12 h 16"/>
                <a:gd name="T56" fmla="*/ 4 w 20"/>
                <a:gd name="T57" fmla="*/ 12 h 16"/>
                <a:gd name="T58" fmla="*/ 4 w 20"/>
                <a:gd name="T59" fmla="*/ 12 h 16"/>
                <a:gd name="T60" fmla="*/ 4 w 20"/>
                <a:gd name="T61" fmla="*/ 8 h 16"/>
                <a:gd name="T62" fmla="*/ 4 w 20"/>
                <a:gd name="T63" fmla="*/ 4 h 16"/>
                <a:gd name="T64" fmla="*/ 4 w 20"/>
                <a:gd name="T65" fmla="*/ 4 h 16"/>
                <a:gd name="T66" fmla="*/ 12 w 20"/>
                <a:gd name="T67" fmla="*/ 0 h 16"/>
                <a:gd name="T68" fmla="*/ 16 w 20"/>
                <a:gd name="T69" fmla="*/ 0 h 16"/>
                <a:gd name="T70" fmla="*/ 16 w 20"/>
                <a:gd name="T71" fmla="*/ 0 h 16"/>
                <a:gd name="T72" fmla="*/ 20 w 20"/>
                <a:gd name="T73" fmla="*/ 4 h 16"/>
                <a:gd name="T74" fmla="*/ 20 w 20"/>
                <a:gd name="T75" fmla="*/ 8 h 16"/>
                <a:gd name="T76" fmla="*/ 20 w 20"/>
                <a:gd name="T77" fmla="*/ 8 h 16"/>
                <a:gd name="T78" fmla="*/ 12 w 20"/>
                <a:gd name="T79" fmla="*/ 12 h 16"/>
                <a:gd name="T80" fmla="*/ 8 w 20"/>
                <a:gd name="T81" fmla="*/ 12 h 16"/>
                <a:gd name="T82" fmla="*/ 8 w 20"/>
                <a:gd name="T83" fmla="*/ 12 h 16"/>
                <a:gd name="T84" fmla="*/ 8 w 20"/>
                <a:gd name="T85" fmla="*/ 12 h 16"/>
                <a:gd name="T86" fmla="*/ 8 w 20"/>
                <a:gd name="T87" fmla="*/ 12 h 16"/>
                <a:gd name="T88" fmla="*/ 16 w 20"/>
                <a:gd name="T89" fmla="*/ 4 h 16"/>
                <a:gd name="T90" fmla="*/ 12 w 20"/>
                <a:gd name="T91" fmla="*/ 4 h 16"/>
                <a:gd name="T92" fmla="*/ 12 w 20"/>
                <a:gd name="T93" fmla="*/ 4 h 16"/>
                <a:gd name="T94" fmla="*/ 8 w 20"/>
                <a:gd name="T95" fmla="*/ 8 h 16"/>
                <a:gd name="T96" fmla="*/ 8 w 20"/>
                <a:gd name="T97" fmla="*/ 8 h 16"/>
                <a:gd name="T98" fmla="*/ 8 w 20"/>
                <a:gd name="T99" fmla="*/ 8 h 16"/>
                <a:gd name="T100" fmla="*/ 8 w 20"/>
                <a:gd name="T101" fmla="*/ 12 h 16"/>
                <a:gd name="T102" fmla="*/ 12 w 20"/>
                <a:gd name="T103" fmla="*/ 12 h 16"/>
                <a:gd name="T104" fmla="*/ 12 w 20"/>
                <a:gd name="T105" fmla="*/ 12 h 16"/>
                <a:gd name="T106" fmla="*/ 16 w 20"/>
                <a:gd name="T107" fmla="*/ 8 h 16"/>
                <a:gd name="T108" fmla="*/ 16 w 20"/>
                <a:gd name="T109" fmla="*/ 4 h 16"/>
                <a:gd name="T110" fmla="*/ 16 w 20"/>
                <a:gd name="T111" fmla="*/ 4 h 16"/>
                <a:gd name="T112" fmla="*/ 16 w 20"/>
                <a:gd name="T113" fmla="*/ 4 h 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"/>
                <a:gd name="T172" fmla="*/ 0 h 16"/>
                <a:gd name="T173" fmla="*/ 20 w 20"/>
                <a:gd name="T174" fmla="*/ 16 h 1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" h="16">
                  <a:moveTo>
                    <a:pt x="8" y="12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6" name="Freeform 349"/>
            <p:cNvSpPr>
              <a:spLocks noEditPoints="1"/>
            </p:cNvSpPr>
            <p:nvPr/>
          </p:nvSpPr>
          <p:spPr bwMode="auto">
            <a:xfrm>
              <a:off x="4106" y="2579"/>
              <a:ext cx="19" cy="16"/>
            </a:xfrm>
            <a:custGeom>
              <a:avLst/>
              <a:gdLst>
                <a:gd name="T0" fmla="*/ 12 w 19"/>
                <a:gd name="T1" fmla="*/ 8 h 16"/>
                <a:gd name="T2" fmla="*/ 12 w 19"/>
                <a:gd name="T3" fmla="*/ 8 h 16"/>
                <a:gd name="T4" fmla="*/ 12 w 19"/>
                <a:gd name="T5" fmla="*/ 8 h 16"/>
                <a:gd name="T6" fmla="*/ 12 w 19"/>
                <a:gd name="T7" fmla="*/ 12 h 16"/>
                <a:gd name="T8" fmla="*/ 12 w 19"/>
                <a:gd name="T9" fmla="*/ 12 h 16"/>
                <a:gd name="T10" fmla="*/ 12 w 19"/>
                <a:gd name="T11" fmla="*/ 12 h 16"/>
                <a:gd name="T12" fmla="*/ 12 w 19"/>
                <a:gd name="T13" fmla="*/ 12 h 16"/>
                <a:gd name="T14" fmla="*/ 15 w 19"/>
                <a:gd name="T15" fmla="*/ 12 h 16"/>
                <a:gd name="T16" fmla="*/ 15 w 19"/>
                <a:gd name="T17" fmla="*/ 12 h 16"/>
                <a:gd name="T18" fmla="*/ 15 w 19"/>
                <a:gd name="T19" fmla="*/ 12 h 16"/>
                <a:gd name="T20" fmla="*/ 12 w 19"/>
                <a:gd name="T21" fmla="*/ 16 h 16"/>
                <a:gd name="T22" fmla="*/ 12 w 19"/>
                <a:gd name="T23" fmla="*/ 16 h 16"/>
                <a:gd name="T24" fmla="*/ 12 w 19"/>
                <a:gd name="T25" fmla="*/ 16 h 16"/>
                <a:gd name="T26" fmla="*/ 12 w 19"/>
                <a:gd name="T27" fmla="*/ 16 h 16"/>
                <a:gd name="T28" fmla="*/ 8 w 19"/>
                <a:gd name="T29" fmla="*/ 12 h 16"/>
                <a:gd name="T30" fmla="*/ 8 w 19"/>
                <a:gd name="T31" fmla="*/ 12 h 16"/>
                <a:gd name="T32" fmla="*/ 8 w 19"/>
                <a:gd name="T33" fmla="*/ 8 h 16"/>
                <a:gd name="T34" fmla="*/ 8 w 19"/>
                <a:gd name="T35" fmla="*/ 8 h 16"/>
                <a:gd name="T36" fmla="*/ 8 w 19"/>
                <a:gd name="T37" fmla="*/ 8 h 16"/>
                <a:gd name="T38" fmla="*/ 8 w 19"/>
                <a:gd name="T39" fmla="*/ 8 h 16"/>
                <a:gd name="T40" fmla="*/ 8 w 19"/>
                <a:gd name="T41" fmla="*/ 8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12 h 16"/>
                <a:gd name="T48" fmla="*/ 8 w 19"/>
                <a:gd name="T49" fmla="*/ 12 h 16"/>
                <a:gd name="T50" fmla="*/ 8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0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8 h 16"/>
                <a:gd name="T68" fmla="*/ 0 w 19"/>
                <a:gd name="T69" fmla="*/ 8 h 16"/>
                <a:gd name="T70" fmla="*/ 4 w 19"/>
                <a:gd name="T71" fmla="*/ 8 h 16"/>
                <a:gd name="T72" fmla="*/ 4 w 19"/>
                <a:gd name="T73" fmla="*/ 8 h 16"/>
                <a:gd name="T74" fmla="*/ 8 w 19"/>
                <a:gd name="T75" fmla="*/ 4 h 16"/>
                <a:gd name="T76" fmla="*/ 8 w 19"/>
                <a:gd name="T77" fmla="*/ 4 h 16"/>
                <a:gd name="T78" fmla="*/ 8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0 h 16"/>
                <a:gd name="T88" fmla="*/ 8 w 19"/>
                <a:gd name="T89" fmla="*/ 0 h 16"/>
                <a:gd name="T90" fmla="*/ 15 w 19"/>
                <a:gd name="T91" fmla="*/ 0 h 16"/>
                <a:gd name="T92" fmla="*/ 19 w 19"/>
                <a:gd name="T93" fmla="*/ 4 h 16"/>
                <a:gd name="T94" fmla="*/ 19 w 19"/>
                <a:gd name="T95" fmla="*/ 4 h 16"/>
                <a:gd name="T96" fmla="*/ 15 w 19"/>
                <a:gd name="T97" fmla="*/ 8 h 16"/>
                <a:gd name="T98" fmla="*/ 15 w 19"/>
                <a:gd name="T99" fmla="*/ 8 h 16"/>
                <a:gd name="T100" fmla="*/ 15 w 19"/>
                <a:gd name="T101" fmla="*/ 8 h 16"/>
                <a:gd name="T102" fmla="*/ 12 w 19"/>
                <a:gd name="T103" fmla="*/ 8 h 16"/>
                <a:gd name="T104" fmla="*/ 8 w 19"/>
                <a:gd name="T105" fmla="*/ 4 h 16"/>
                <a:gd name="T106" fmla="*/ 12 w 19"/>
                <a:gd name="T107" fmla="*/ 8 h 16"/>
                <a:gd name="T108" fmla="*/ 12 w 19"/>
                <a:gd name="T109" fmla="*/ 8 h 16"/>
                <a:gd name="T110" fmla="*/ 12 w 19"/>
                <a:gd name="T111" fmla="*/ 8 h 16"/>
                <a:gd name="T112" fmla="*/ 15 w 19"/>
                <a:gd name="T113" fmla="*/ 4 h 16"/>
                <a:gd name="T114" fmla="*/ 15 w 19"/>
                <a:gd name="T115" fmla="*/ 4 h 16"/>
                <a:gd name="T116" fmla="*/ 15 w 19"/>
                <a:gd name="T117" fmla="*/ 4 h 16"/>
                <a:gd name="T118" fmla="*/ 12 w 19"/>
                <a:gd name="T119" fmla="*/ 4 h 16"/>
                <a:gd name="T120" fmla="*/ 12 w 19"/>
                <a:gd name="T121" fmla="*/ 4 h 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"/>
                <a:gd name="T184" fmla="*/ 0 h 16"/>
                <a:gd name="T185" fmla="*/ 19 w 19"/>
                <a:gd name="T186" fmla="*/ 16 h 1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15" y="12"/>
                  </a:lnTo>
                  <a:lnTo>
                    <a:pt x="12" y="16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5" y="8"/>
                  </a:lnTo>
                  <a:lnTo>
                    <a:pt x="12" y="8"/>
                  </a:lnTo>
                  <a:close/>
                  <a:moveTo>
                    <a:pt x="12" y="4"/>
                  </a:moveTo>
                  <a:lnTo>
                    <a:pt x="8" y="4"/>
                  </a:lnTo>
                  <a:lnTo>
                    <a:pt x="12" y="8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7" name="Freeform 350"/>
            <p:cNvSpPr>
              <a:spLocks/>
            </p:cNvSpPr>
            <p:nvPr/>
          </p:nvSpPr>
          <p:spPr bwMode="auto">
            <a:xfrm>
              <a:off x="4121" y="2583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8 w 16"/>
                <a:gd name="T3" fmla="*/ 0 h 12"/>
                <a:gd name="T4" fmla="*/ 4 w 16"/>
                <a:gd name="T5" fmla="*/ 4 h 12"/>
                <a:gd name="T6" fmla="*/ 4 w 16"/>
                <a:gd name="T7" fmla="*/ 4 h 12"/>
                <a:gd name="T8" fmla="*/ 8 w 16"/>
                <a:gd name="T9" fmla="*/ 8 h 12"/>
                <a:gd name="T10" fmla="*/ 8 w 16"/>
                <a:gd name="T11" fmla="*/ 8 h 12"/>
                <a:gd name="T12" fmla="*/ 8 w 16"/>
                <a:gd name="T13" fmla="*/ 12 h 12"/>
                <a:gd name="T14" fmla="*/ 8 w 16"/>
                <a:gd name="T15" fmla="*/ 12 h 12"/>
                <a:gd name="T16" fmla="*/ 4 w 16"/>
                <a:gd name="T17" fmla="*/ 12 h 12"/>
                <a:gd name="T18" fmla="*/ 4 w 16"/>
                <a:gd name="T19" fmla="*/ 12 h 12"/>
                <a:gd name="T20" fmla="*/ 4 w 16"/>
                <a:gd name="T21" fmla="*/ 8 h 12"/>
                <a:gd name="T22" fmla="*/ 4 w 16"/>
                <a:gd name="T23" fmla="*/ 8 h 12"/>
                <a:gd name="T24" fmla="*/ 4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0 w 16"/>
                <a:gd name="T35" fmla="*/ 12 h 12"/>
                <a:gd name="T36" fmla="*/ 0 w 16"/>
                <a:gd name="T37" fmla="*/ 12 h 12"/>
                <a:gd name="T38" fmla="*/ 0 w 16"/>
                <a:gd name="T39" fmla="*/ 12 h 12"/>
                <a:gd name="T40" fmla="*/ 0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8 w 16"/>
                <a:gd name="T47" fmla="*/ 12 h 12"/>
                <a:gd name="T48" fmla="*/ 12 w 16"/>
                <a:gd name="T49" fmla="*/ 12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12 w 16"/>
                <a:gd name="T61" fmla="*/ 4 h 12"/>
                <a:gd name="T62" fmla="*/ 12 w 16"/>
                <a:gd name="T63" fmla="*/ 4 h 12"/>
                <a:gd name="T64" fmla="*/ 12 w 16"/>
                <a:gd name="T65" fmla="*/ 4 h 12"/>
                <a:gd name="T66" fmla="*/ 12 w 16"/>
                <a:gd name="T67" fmla="*/ 4 h 12"/>
                <a:gd name="T68" fmla="*/ 12 w 16"/>
                <a:gd name="T69" fmla="*/ 8 h 12"/>
                <a:gd name="T70" fmla="*/ 16 w 16"/>
                <a:gd name="T71" fmla="*/ 8 h 12"/>
                <a:gd name="T72" fmla="*/ 16 w 16"/>
                <a:gd name="T73" fmla="*/ 4 h 12"/>
                <a:gd name="T74" fmla="*/ 16 w 16"/>
                <a:gd name="T75" fmla="*/ 4 h 12"/>
                <a:gd name="T76" fmla="*/ 16 w 16"/>
                <a:gd name="T77" fmla="*/ 4 h 12"/>
                <a:gd name="T78" fmla="*/ 16 w 16"/>
                <a:gd name="T79" fmla="*/ 0 h 12"/>
                <a:gd name="T80" fmla="*/ 16 w 16"/>
                <a:gd name="T81" fmla="*/ 0 h 12"/>
                <a:gd name="T82" fmla="*/ 16 w 16"/>
                <a:gd name="T83" fmla="*/ 4 h 12"/>
                <a:gd name="T84" fmla="*/ 16 w 16"/>
                <a:gd name="T85" fmla="*/ 0 h 1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6"/>
                <a:gd name="T130" fmla="*/ 0 h 12"/>
                <a:gd name="T131" fmla="*/ 16 w 16"/>
                <a:gd name="T132" fmla="*/ 12 h 1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8" name="Freeform 351"/>
            <p:cNvSpPr>
              <a:spLocks noEditPoints="1"/>
            </p:cNvSpPr>
            <p:nvPr/>
          </p:nvSpPr>
          <p:spPr bwMode="auto">
            <a:xfrm>
              <a:off x="4224" y="2579"/>
              <a:ext cx="20" cy="20"/>
            </a:xfrm>
            <a:custGeom>
              <a:avLst/>
              <a:gdLst>
                <a:gd name="T0" fmla="*/ 12 w 20"/>
                <a:gd name="T1" fmla="*/ 12 h 20"/>
                <a:gd name="T2" fmla="*/ 16 w 20"/>
                <a:gd name="T3" fmla="*/ 16 h 20"/>
                <a:gd name="T4" fmla="*/ 16 w 20"/>
                <a:gd name="T5" fmla="*/ 16 h 20"/>
                <a:gd name="T6" fmla="*/ 16 w 20"/>
                <a:gd name="T7" fmla="*/ 16 h 20"/>
                <a:gd name="T8" fmla="*/ 12 w 20"/>
                <a:gd name="T9" fmla="*/ 20 h 20"/>
                <a:gd name="T10" fmla="*/ 4 w 20"/>
                <a:gd name="T11" fmla="*/ 20 h 20"/>
                <a:gd name="T12" fmla="*/ 4 w 20"/>
                <a:gd name="T13" fmla="*/ 20 h 20"/>
                <a:gd name="T14" fmla="*/ 0 w 20"/>
                <a:gd name="T15" fmla="*/ 16 h 20"/>
                <a:gd name="T16" fmla="*/ 0 w 20"/>
                <a:gd name="T17" fmla="*/ 12 h 20"/>
                <a:gd name="T18" fmla="*/ 0 w 20"/>
                <a:gd name="T19" fmla="*/ 12 h 20"/>
                <a:gd name="T20" fmla="*/ 4 w 20"/>
                <a:gd name="T21" fmla="*/ 12 h 20"/>
                <a:gd name="T22" fmla="*/ 8 w 20"/>
                <a:gd name="T23" fmla="*/ 8 h 20"/>
                <a:gd name="T24" fmla="*/ 8 w 20"/>
                <a:gd name="T25" fmla="*/ 8 h 20"/>
                <a:gd name="T26" fmla="*/ 4 w 20"/>
                <a:gd name="T27" fmla="*/ 8 h 20"/>
                <a:gd name="T28" fmla="*/ 4 w 20"/>
                <a:gd name="T29" fmla="*/ 4 h 20"/>
                <a:gd name="T30" fmla="*/ 4 w 20"/>
                <a:gd name="T31" fmla="*/ 4 h 20"/>
                <a:gd name="T32" fmla="*/ 8 w 20"/>
                <a:gd name="T33" fmla="*/ 0 h 20"/>
                <a:gd name="T34" fmla="*/ 16 w 20"/>
                <a:gd name="T35" fmla="*/ 4 h 20"/>
                <a:gd name="T36" fmla="*/ 16 w 20"/>
                <a:gd name="T37" fmla="*/ 4 h 20"/>
                <a:gd name="T38" fmla="*/ 20 w 20"/>
                <a:gd name="T39" fmla="*/ 4 h 20"/>
                <a:gd name="T40" fmla="*/ 20 w 20"/>
                <a:gd name="T41" fmla="*/ 8 h 20"/>
                <a:gd name="T42" fmla="*/ 20 w 20"/>
                <a:gd name="T43" fmla="*/ 8 h 20"/>
                <a:gd name="T44" fmla="*/ 16 w 20"/>
                <a:gd name="T45" fmla="*/ 12 h 20"/>
                <a:gd name="T46" fmla="*/ 12 w 20"/>
                <a:gd name="T47" fmla="*/ 12 h 20"/>
                <a:gd name="T48" fmla="*/ 8 w 20"/>
                <a:gd name="T49" fmla="*/ 12 h 20"/>
                <a:gd name="T50" fmla="*/ 8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6 h 20"/>
                <a:gd name="T58" fmla="*/ 4 w 20"/>
                <a:gd name="T59" fmla="*/ 16 h 20"/>
                <a:gd name="T60" fmla="*/ 8 w 20"/>
                <a:gd name="T61" fmla="*/ 16 h 20"/>
                <a:gd name="T62" fmla="*/ 8 w 20"/>
                <a:gd name="T63" fmla="*/ 16 h 20"/>
                <a:gd name="T64" fmla="*/ 8 w 20"/>
                <a:gd name="T65" fmla="*/ 16 h 20"/>
                <a:gd name="T66" fmla="*/ 12 w 20"/>
                <a:gd name="T67" fmla="*/ 16 h 20"/>
                <a:gd name="T68" fmla="*/ 12 w 20"/>
                <a:gd name="T69" fmla="*/ 12 h 20"/>
                <a:gd name="T70" fmla="*/ 12 w 20"/>
                <a:gd name="T71" fmla="*/ 12 h 20"/>
                <a:gd name="T72" fmla="*/ 8 w 20"/>
                <a:gd name="T73" fmla="*/ 12 h 20"/>
                <a:gd name="T74" fmla="*/ 16 w 20"/>
                <a:gd name="T75" fmla="*/ 4 h 20"/>
                <a:gd name="T76" fmla="*/ 12 w 20"/>
                <a:gd name="T77" fmla="*/ 4 h 20"/>
                <a:gd name="T78" fmla="*/ 8 w 20"/>
                <a:gd name="T79" fmla="*/ 8 h 20"/>
                <a:gd name="T80" fmla="*/ 8 w 20"/>
                <a:gd name="T81" fmla="*/ 8 h 20"/>
                <a:gd name="T82" fmla="*/ 8 w 20"/>
                <a:gd name="T83" fmla="*/ 8 h 20"/>
                <a:gd name="T84" fmla="*/ 12 w 20"/>
                <a:gd name="T85" fmla="*/ 8 h 20"/>
                <a:gd name="T86" fmla="*/ 12 w 20"/>
                <a:gd name="T87" fmla="*/ 8 h 20"/>
                <a:gd name="T88" fmla="*/ 12 w 20"/>
                <a:gd name="T89" fmla="*/ 8 h 20"/>
                <a:gd name="T90" fmla="*/ 16 w 20"/>
                <a:gd name="T91" fmla="*/ 8 h 20"/>
                <a:gd name="T92" fmla="*/ 16 w 20"/>
                <a:gd name="T93" fmla="*/ 8 h 20"/>
                <a:gd name="T94" fmla="*/ 16 w 20"/>
                <a:gd name="T95" fmla="*/ 4 h 20"/>
                <a:gd name="T96" fmla="*/ 16 w 20"/>
                <a:gd name="T97" fmla="*/ 4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20"/>
                <a:gd name="T149" fmla="*/ 20 w 20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20">
                  <a:moveTo>
                    <a:pt x="12" y="12"/>
                  </a:moveTo>
                  <a:lnTo>
                    <a:pt x="12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12"/>
                  </a:lnTo>
                  <a:lnTo>
                    <a:pt x="12" y="12"/>
                  </a:lnTo>
                  <a:close/>
                  <a:moveTo>
                    <a:pt x="8" y="12"/>
                  </a:moveTo>
                  <a:lnTo>
                    <a:pt x="8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49" name="Freeform 352"/>
            <p:cNvSpPr>
              <a:spLocks/>
            </p:cNvSpPr>
            <p:nvPr/>
          </p:nvSpPr>
          <p:spPr bwMode="auto">
            <a:xfrm>
              <a:off x="4200" y="2599"/>
              <a:ext cx="16" cy="16"/>
            </a:xfrm>
            <a:custGeom>
              <a:avLst/>
              <a:gdLst>
                <a:gd name="T0" fmla="*/ 12 w 16"/>
                <a:gd name="T1" fmla="*/ 8 h 16"/>
                <a:gd name="T2" fmla="*/ 12 w 16"/>
                <a:gd name="T3" fmla="*/ 8 h 16"/>
                <a:gd name="T4" fmla="*/ 12 w 16"/>
                <a:gd name="T5" fmla="*/ 8 h 16"/>
                <a:gd name="T6" fmla="*/ 12 w 16"/>
                <a:gd name="T7" fmla="*/ 8 h 16"/>
                <a:gd name="T8" fmla="*/ 12 w 16"/>
                <a:gd name="T9" fmla="*/ 8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4 h 16"/>
                <a:gd name="T16" fmla="*/ 16 w 16"/>
                <a:gd name="T17" fmla="*/ 4 h 16"/>
                <a:gd name="T18" fmla="*/ 16 w 16"/>
                <a:gd name="T19" fmla="*/ 4 h 16"/>
                <a:gd name="T20" fmla="*/ 16 w 16"/>
                <a:gd name="T21" fmla="*/ 4 h 16"/>
                <a:gd name="T22" fmla="*/ 4 w 16"/>
                <a:gd name="T23" fmla="*/ 0 h 16"/>
                <a:gd name="T24" fmla="*/ 4 w 16"/>
                <a:gd name="T25" fmla="*/ 0 h 16"/>
                <a:gd name="T26" fmla="*/ 4 w 16"/>
                <a:gd name="T27" fmla="*/ 0 h 16"/>
                <a:gd name="T28" fmla="*/ 4 w 16"/>
                <a:gd name="T29" fmla="*/ 0 h 16"/>
                <a:gd name="T30" fmla="*/ 0 w 16"/>
                <a:gd name="T31" fmla="*/ 4 h 16"/>
                <a:gd name="T32" fmla="*/ 0 w 16"/>
                <a:gd name="T33" fmla="*/ 4 h 16"/>
                <a:gd name="T34" fmla="*/ 0 w 16"/>
                <a:gd name="T35" fmla="*/ 4 h 16"/>
                <a:gd name="T36" fmla="*/ 0 w 16"/>
                <a:gd name="T37" fmla="*/ 4 h 16"/>
                <a:gd name="T38" fmla="*/ 0 w 16"/>
                <a:gd name="T39" fmla="*/ 4 h 16"/>
                <a:gd name="T40" fmla="*/ 0 w 16"/>
                <a:gd name="T41" fmla="*/ 4 h 16"/>
                <a:gd name="T42" fmla="*/ 4 w 16"/>
                <a:gd name="T43" fmla="*/ 4 h 16"/>
                <a:gd name="T44" fmla="*/ 4 w 16"/>
                <a:gd name="T45" fmla="*/ 4 h 16"/>
                <a:gd name="T46" fmla="*/ 4 w 16"/>
                <a:gd name="T47" fmla="*/ 4 h 16"/>
                <a:gd name="T48" fmla="*/ 4 w 16"/>
                <a:gd name="T49" fmla="*/ 4 h 16"/>
                <a:gd name="T50" fmla="*/ 8 w 16"/>
                <a:gd name="T51" fmla="*/ 4 h 16"/>
                <a:gd name="T52" fmla="*/ 4 w 16"/>
                <a:gd name="T53" fmla="*/ 12 h 16"/>
                <a:gd name="T54" fmla="*/ 0 w 16"/>
                <a:gd name="T55" fmla="*/ 8 h 16"/>
                <a:gd name="T56" fmla="*/ 0 w 16"/>
                <a:gd name="T57" fmla="*/ 8 h 16"/>
                <a:gd name="T58" fmla="*/ 0 w 16"/>
                <a:gd name="T59" fmla="*/ 8 h 16"/>
                <a:gd name="T60" fmla="*/ 0 w 16"/>
                <a:gd name="T61" fmla="*/ 12 h 16"/>
                <a:gd name="T62" fmla="*/ 0 w 16"/>
                <a:gd name="T63" fmla="*/ 12 h 16"/>
                <a:gd name="T64" fmla="*/ 0 w 16"/>
                <a:gd name="T65" fmla="*/ 12 h 16"/>
                <a:gd name="T66" fmla="*/ 0 w 16"/>
                <a:gd name="T67" fmla="*/ 12 h 16"/>
                <a:gd name="T68" fmla="*/ 8 w 16"/>
                <a:gd name="T69" fmla="*/ 16 h 16"/>
                <a:gd name="T70" fmla="*/ 8 w 16"/>
                <a:gd name="T71" fmla="*/ 16 h 16"/>
                <a:gd name="T72" fmla="*/ 8 w 16"/>
                <a:gd name="T73" fmla="*/ 16 h 16"/>
                <a:gd name="T74" fmla="*/ 8 w 16"/>
                <a:gd name="T75" fmla="*/ 12 h 16"/>
                <a:gd name="T76" fmla="*/ 8 w 16"/>
                <a:gd name="T77" fmla="*/ 12 h 16"/>
                <a:gd name="T78" fmla="*/ 8 w 16"/>
                <a:gd name="T79" fmla="*/ 12 h 16"/>
                <a:gd name="T80" fmla="*/ 8 w 16"/>
                <a:gd name="T81" fmla="*/ 12 h 16"/>
                <a:gd name="T82" fmla="*/ 8 w 16"/>
                <a:gd name="T83" fmla="*/ 12 h 16"/>
                <a:gd name="T84" fmla="*/ 12 w 16"/>
                <a:gd name="T85" fmla="*/ 4 h 16"/>
                <a:gd name="T86" fmla="*/ 12 w 16"/>
                <a:gd name="T87" fmla="*/ 4 h 16"/>
                <a:gd name="T88" fmla="*/ 12 w 16"/>
                <a:gd name="T89" fmla="*/ 8 h 1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6"/>
                <a:gd name="T137" fmla="*/ 16 w 16"/>
                <a:gd name="T138" fmla="*/ 16 h 1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6">
                  <a:moveTo>
                    <a:pt x="12" y="8"/>
                  </a:move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4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0" y="12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2" y="4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0" name="Freeform 353"/>
            <p:cNvSpPr>
              <a:spLocks/>
            </p:cNvSpPr>
            <p:nvPr/>
          </p:nvSpPr>
          <p:spPr bwMode="auto">
            <a:xfrm>
              <a:off x="4216" y="2603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8 w 16"/>
                <a:gd name="T3" fmla="*/ 4 h 12"/>
                <a:gd name="T4" fmla="*/ 8 w 16"/>
                <a:gd name="T5" fmla="*/ 0 h 12"/>
                <a:gd name="T6" fmla="*/ 8 w 16"/>
                <a:gd name="T7" fmla="*/ 0 h 12"/>
                <a:gd name="T8" fmla="*/ 8 w 16"/>
                <a:gd name="T9" fmla="*/ 0 h 12"/>
                <a:gd name="T10" fmla="*/ 8 w 16"/>
                <a:gd name="T11" fmla="*/ 0 h 12"/>
                <a:gd name="T12" fmla="*/ 4 w 16"/>
                <a:gd name="T13" fmla="*/ 0 h 12"/>
                <a:gd name="T14" fmla="*/ 4 w 16"/>
                <a:gd name="T15" fmla="*/ 0 h 12"/>
                <a:gd name="T16" fmla="*/ 4 w 16"/>
                <a:gd name="T17" fmla="*/ 0 h 12"/>
                <a:gd name="T18" fmla="*/ 0 w 16"/>
                <a:gd name="T19" fmla="*/ 0 h 12"/>
                <a:gd name="T20" fmla="*/ 0 w 16"/>
                <a:gd name="T21" fmla="*/ 0 h 12"/>
                <a:gd name="T22" fmla="*/ 0 w 16"/>
                <a:gd name="T23" fmla="*/ 0 h 12"/>
                <a:gd name="T24" fmla="*/ 4 w 16"/>
                <a:gd name="T25" fmla="*/ 0 h 12"/>
                <a:gd name="T26" fmla="*/ 4 w 16"/>
                <a:gd name="T27" fmla="*/ 0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8 w 16"/>
                <a:gd name="T39" fmla="*/ 12 h 12"/>
                <a:gd name="T40" fmla="*/ 12 w 16"/>
                <a:gd name="T41" fmla="*/ 8 h 12"/>
                <a:gd name="T42" fmla="*/ 16 w 16"/>
                <a:gd name="T43" fmla="*/ 4 h 12"/>
                <a:gd name="T44" fmla="*/ 16 w 16"/>
                <a:gd name="T45" fmla="*/ 4 h 12"/>
                <a:gd name="T46" fmla="*/ 16 w 16"/>
                <a:gd name="T47" fmla="*/ 4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4 h 12"/>
                <a:gd name="T56" fmla="*/ 16 w 16"/>
                <a:gd name="T57" fmla="*/ 4 h 12"/>
                <a:gd name="T58" fmla="*/ 12 w 16"/>
                <a:gd name="T59" fmla="*/ 0 h 12"/>
                <a:gd name="T60" fmla="*/ 12 w 16"/>
                <a:gd name="T61" fmla="*/ 0 h 12"/>
                <a:gd name="T62" fmla="*/ 12 w 16"/>
                <a:gd name="T63" fmla="*/ 0 h 12"/>
                <a:gd name="T64" fmla="*/ 12 w 16"/>
                <a:gd name="T65" fmla="*/ 4 h 12"/>
                <a:gd name="T66" fmla="*/ 12 w 16"/>
                <a:gd name="T67" fmla="*/ 4 h 12"/>
                <a:gd name="T68" fmla="*/ 8 w 16"/>
                <a:gd name="T69" fmla="*/ 4 h 12"/>
                <a:gd name="T70" fmla="*/ 12 w 16"/>
                <a:gd name="T71" fmla="*/ 4 h 12"/>
                <a:gd name="T72" fmla="*/ 12 w 16"/>
                <a:gd name="T73" fmla="*/ 4 h 12"/>
                <a:gd name="T74" fmla="*/ 8 w 16"/>
                <a:gd name="T75" fmla="*/ 8 h 12"/>
                <a:gd name="T76" fmla="*/ 8 w 16"/>
                <a:gd name="T77" fmla="*/ 8 h 12"/>
                <a:gd name="T78" fmla="*/ 4 w 16"/>
                <a:gd name="T79" fmla="*/ 12 h 12"/>
                <a:gd name="T80" fmla="*/ 4 w 16"/>
                <a:gd name="T81" fmla="*/ 12 h 12"/>
                <a:gd name="T82" fmla="*/ 4 w 16"/>
                <a:gd name="T83" fmla="*/ 12 h 12"/>
                <a:gd name="T84" fmla="*/ 0 w 16"/>
                <a:gd name="T85" fmla="*/ 12 h 12"/>
                <a:gd name="T86" fmla="*/ 4 w 16"/>
                <a:gd name="T87" fmla="*/ 8 h 12"/>
                <a:gd name="T88" fmla="*/ 4 w 16"/>
                <a:gd name="T89" fmla="*/ 4 h 12"/>
                <a:gd name="T90" fmla="*/ 4 w 16"/>
                <a:gd name="T91" fmla="*/ 4 h 1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12"/>
                <a:gd name="T140" fmla="*/ 16 w 16"/>
                <a:gd name="T141" fmla="*/ 12 h 1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12">
                  <a:moveTo>
                    <a:pt x="4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1" name="Freeform 354"/>
            <p:cNvSpPr>
              <a:spLocks/>
            </p:cNvSpPr>
            <p:nvPr/>
          </p:nvSpPr>
          <p:spPr bwMode="auto">
            <a:xfrm>
              <a:off x="4232" y="2607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12 w 16"/>
                <a:gd name="T3" fmla="*/ 4 h 12"/>
                <a:gd name="T4" fmla="*/ 12 w 16"/>
                <a:gd name="T5" fmla="*/ 4 h 12"/>
                <a:gd name="T6" fmla="*/ 12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12 w 16"/>
                <a:gd name="T15" fmla="*/ 0 h 12"/>
                <a:gd name="T16" fmla="*/ 12 w 16"/>
                <a:gd name="T17" fmla="*/ 0 h 12"/>
                <a:gd name="T18" fmla="*/ 16 w 16"/>
                <a:gd name="T19" fmla="*/ 4 h 12"/>
                <a:gd name="T20" fmla="*/ 16 w 16"/>
                <a:gd name="T21" fmla="*/ 4 h 12"/>
                <a:gd name="T22" fmla="*/ 16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2 w 16"/>
                <a:gd name="T31" fmla="*/ 4 h 12"/>
                <a:gd name="T32" fmla="*/ 12 w 16"/>
                <a:gd name="T33" fmla="*/ 4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12 h 12"/>
                <a:gd name="T42" fmla="*/ 0 w 16"/>
                <a:gd name="T43" fmla="*/ 12 h 12"/>
                <a:gd name="T44" fmla="*/ 0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0 h 12"/>
                <a:gd name="T52" fmla="*/ 0 w 16"/>
                <a:gd name="T53" fmla="*/ 0 h 12"/>
                <a:gd name="T54" fmla="*/ 0 w 16"/>
                <a:gd name="T55" fmla="*/ 0 h 12"/>
                <a:gd name="T56" fmla="*/ 0 w 16"/>
                <a:gd name="T57" fmla="*/ 0 h 12"/>
                <a:gd name="T58" fmla="*/ 0 w 16"/>
                <a:gd name="T59" fmla="*/ 0 h 12"/>
                <a:gd name="T60" fmla="*/ 0 w 16"/>
                <a:gd name="T61" fmla="*/ 0 h 12"/>
                <a:gd name="T62" fmla="*/ 0 w 16"/>
                <a:gd name="T63" fmla="*/ 0 h 12"/>
                <a:gd name="T64" fmla="*/ 4 w 16"/>
                <a:gd name="T65" fmla="*/ 0 h 12"/>
                <a:gd name="T66" fmla="*/ 8 w 16"/>
                <a:gd name="T67" fmla="*/ 0 h 12"/>
                <a:gd name="T68" fmla="*/ 8 w 16"/>
                <a:gd name="T69" fmla="*/ 0 h 12"/>
                <a:gd name="T70" fmla="*/ 8 w 16"/>
                <a:gd name="T71" fmla="*/ 0 h 12"/>
                <a:gd name="T72" fmla="*/ 8 w 16"/>
                <a:gd name="T73" fmla="*/ 0 h 12"/>
                <a:gd name="T74" fmla="*/ 8 w 16"/>
                <a:gd name="T75" fmla="*/ 4 h 12"/>
                <a:gd name="T76" fmla="*/ 8 w 16"/>
                <a:gd name="T77" fmla="*/ 4 h 12"/>
                <a:gd name="T78" fmla="*/ 4 w 16"/>
                <a:gd name="T79" fmla="*/ 4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4" y="4"/>
                  </a:moveTo>
                  <a:lnTo>
                    <a:pt x="4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2" name="Freeform 355"/>
            <p:cNvSpPr>
              <a:spLocks noEditPoints="1"/>
            </p:cNvSpPr>
            <p:nvPr/>
          </p:nvSpPr>
          <p:spPr bwMode="auto">
            <a:xfrm>
              <a:off x="4330" y="2607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8 w 20"/>
                <a:gd name="T5" fmla="*/ 12 h 16"/>
                <a:gd name="T6" fmla="*/ 8 w 20"/>
                <a:gd name="T7" fmla="*/ 12 h 16"/>
                <a:gd name="T8" fmla="*/ 4 w 20"/>
                <a:gd name="T9" fmla="*/ 8 h 16"/>
                <a:gd name="T10" fmla="*/ 4 w 20"/>
                <a:gd name="T11" fmla="*/ 4 h 16"/>
                <a:gd name="T12" fmla="*/ 4 w 20"/>
                <a:gd name="T13" fmla="*/ 4 h 16"/>
                <a:gd name="T14" fmla="*/ 8 w 20"/>
                <a:gd name="T15" fmla="*/ 0 h 16"/>
                <a:gd name="T16" fmla="*/ 16 w 20"/>
                <a:gd name="T17" fmla="*/ 0 h 16"/>
                <a:gd name="T18" fmla="*/ 16 w 20"/>
                <a:gd name="T19" fmla="*/ 0 h 16"/>
                <a:gd name="T20" fmla="*/ 20 w 20"/>
                <a:gd name="T21" fmla="*/ 4 h 16"/>
                <a:gd name="T22" fmla="*/ 20 w 20"/>
                <a:gd name="T23" fmla="*/ 8 h 16"/>
                <a:gd name="T24" fmla="*/ 20 w 20"/>
                <a:gd name="T25" fmla="*/ 8 h 16"/>
                <a:gd name="T26" fmla="*/ 12 w 20"/>
                <a:gd name="T27" fmla="*/ 16 h 16"/>
                <a:gd name="T28" fmla="*/ 4 w 20"/>
                <a:gd name="T29" fmla="*/ 16 h 16"/>
                <a:gd name="T30" fmla="*/ 4 w 20"/>
                <a:gd name="T31" fmla="*/ 16 h 16"/>
                <a:gd name="T32" fmla="*/ 0 w 20"/>
                <a:gd name="T33" fmla="*/ 16 h 16"/>
                <a:gd name="T34" fmla="*/ 0 w 20"/>
                <a:gd name="T35" fmla="*/ 16 h 16"/>
                <a:gd name="T36" fmla="*/ 0 w 20"/>
                <a:gd name="T37" fmla="*/ 16 h 16"/>
                <a:gd name="T38" fmla="*/ 4 w 20"/>
                <a:gd name="T39" fmla="*/ 12 h 16"/>
                <a:gd name="T40" fmla="*/ 4 w 20"/>
                <a:gd name="T41" fmla="*/ 16 h 16"/>
                <a:gd name="T42" fmla="*/ 4 w 20"/>
                <a:gd name="T43" fmla="*/ 16 h 16"/>
                <a:gd name="T44" fmla="*/ 8 w 20"/>
                <a:gd name="T45" fmla="*/ 12 h 16"/>
                <a:gd name="T46" fmla="*/ 12 w 20"/>
                <a:gd name="T47" fmla="*/ 12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0 h 16"/>
                <a:gd name="T56" fmla="*/ 12 w 20"/>
                <a:gd name="T57" fmla="*/ 0 h 16"/>
                <a:gd name="T58" fmla="*/ 12 w 20"/>
                <a:gd name="T59" fmla="*/ 0 h 16"/>
                <a:gd name="T60" fmla="*/ 8 w 20"/>
                <a:gd name="T61" fmla="*/ 4 h 16"/>
                <a:gd name="T62" fmla="*/ 8 w 20"/>
                <a:gd name="T63" fmla="*/ 8 h 16"/>
                <a:gd name="T64" fmla="*/ 8 w 20"/>
                <a:gd name="T65" fmla="*/ 8 h 16"/>
                <a:gd name="T66" fmla="*/ 12 w 20"/>
                <a:gd name="T67" fmla="*/ 8 h 16"/>
                <a:gd name="T68" fmla="*/ 16 w 20"/>
                <a:gd name="T69" fmla="*/ 8 h 16"/>
                <a:gd name="T70" fmla="*/ 16 w 20"/>
                <a:gd name="T71" fmla="*/ 8 h 16"/>
                <a:gd name="T72" fmla="*/ 16 w 20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0"/>
                <a:gd name="T112" fmla="*/ 0 h 16"/>
                <a:gd name="T113" fmla="*/ 20 w 20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0" h="16">
                  <a:moveTo>
                    <a:pt x="12" y="12"/>
                  </a:move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2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3" name="Freeform 356"/>
            <p:cNvSpPr>
              <a:spLocks/>
            </p:cNvSpPr>
            <p:nvPr/>
          </p:nvSpPr>
          <p:spPr bwMode="auto">
            <a:xfrm>
              <a:off x="4299" y="2623"/>
              <a:ext cx="19" cy="15"/>
            </a:xfrm>
            <a:custGeom>
              <a:avLst/>
              <a:gdLst>
                <a:gd name="T0" fmla="*/ 4 w 19"/>
                <a:gd name="T1" fmla="*/ 8 h 15"/>
                <a:gd name="T2" fmla="*/ 8 w 19"/>
                <a:gd name="T3" fmla="*/ 4 h 15"/>
                <a:gd name="T4" fmla="*/ 8 w 19"/>
                <a:gd name="T5" fmla="*/ 4 h 15"/>
                <a:gd name="T6" fmla="*/ 8 w 19"/>
                <a:gd name="T7" fmla="*/ 4 h 15"/>
                <a:gd name="T8" fmla="*/ 8 w 19"/>
                <a:gd name="T9" fmla="*/ 4 h 15"/>
                <a:gd name="T10" fmla="*/ 8 w 19"/>
                <a:gd name="T11" fmla="*/ 4 h 15"/>
                <a:gd name="T12" fmla="*/ 12 w 19"/>
                <a:gd name="T13" fmla="*/ 4 h 15"/>
                <a:gd name="T14" fmla="*/ 12 w 19"/>
                <a:gd name="T15" fmla="*/ 4 h 15"/>
                <a:gd name="T16" fmla="*/ 12 w 19"/>
                <a:gd name="T17" fmla="*/ 11 h 15"/>
                <a:gd name="T18" fmla="*/ 12 w 19"/>
                <a:gd name="T19" fmla="*/ 4 h 15"/>
                <a:gd name="T20" fmla="*/ 12 w 19"/>
                <a:gd name="T21" fmla="*/ 4 h 15"/>
                <a:gd name="T22" fmla="*/ 12 w 19"/>
                <a:gd name="T23" fmla="*/ 4 h 15"/>
                <a:gd name="T24" fmla="*/ 12 w 19"/>
                <a:gd name="T25" fmla="*/ 4 h 15"/>
                <a:gd name="T26" fmla="*/ 12 w 19"/>
                <a:gd name="T27" fmla="*/ 4 h 15"/>
                <a:gd name="T28" fmla="*/ 12 w 19"/>
                <a:gd name="T29" fmla="*/ 4 h 15"/>
                <a:gd name="T30" fmla="*/ 12 w 19"/>
                <a:gd name="T31" fmla="*/ 0 h 15"/>
                <a:gd name="T32" fmla="*/ 16 w 19"/>
                <a:gd name="T33" fmla="*/ 0 h 15"/>
                <a:gd name="T34" fmla="*/ 19 w 19"/>
                <a:gd name="T35" fmla="*/ 4 h 15"/>
                <a:gd name="T36" fmla="*/ 19 w 19"/>
                <a:gd name="T37" fmla="*/ 4 h 15"/>
                <a:gd name="T38" fmla="*/ 19 w 19"/>
                <a:gd name="T39" fmla="*/ 4 h 15"/>
                <a:gd name="T40" fmla="*/ 19 w 19"/>
                <a:gd name="T41" fmla="*/ 4 h 15"/>
                <a:gd name="T42" fmla="*/ 19 w 19"/>
                <a:gd name="T43" fmla="*/ 4 h 15"/>
                <a:gd name="T44" fmla="*/ 19 w 19"/>
                <a:gd name="T45" fmla="*/ 4 h 15"/>
                <a:gd name="T46" fmla="*/ 16 w 19"/>
                <a:gd name="T47" fmla="*/ 4 h 15"/>
                <a:gd name="T48" fmla="*/ 16 w 19"/>
                <a:gd name="T49" fmla="*/ 4 h 15"/>
                <a:gd name="T50" fmla="*/ 12 w 19"/>
                <a:gd name="T51" fmla="*/ 11 h 15"/>
                <a:gd name="T52" fmla="*/ 12 w 19"/>
                <a:gd name="T53" fmla="*/ 11 h 15"/>
                <a:gd name="T54" fmla="*/ 8 w 19"/>
                <a:gd name="T55" fmla="*/ 15 h 15"/>
                <a:gd name="T56" fmla="*/ 8 w 19"/>
                <a:gd name="T57" fmla="*/ 15 h 15"/>
                <a:gd name="T58" fmla="*/ 8 w 19"/>
                <a:gd name="T59" fmla="*/ 15 h 15"/>
                <a:gd name="T60" fmla="*/ 8 w 19"/>
                <a:gd name="T61" fmla="*/ 15 h 15"/>
                <a:gd name="T62" fmla="*/ 8 w 19"/>
                <a:gd name="T63" fmla="*/ 11 h 15"/>
                <a:gd name="T64" fmla="*/ 8 w 19"/>
                <a:gd name="T65" fmla="*/ 11 h 15"/>
                <a:gd name="T66" fmla="*/ 8 w 19"/>
                <a:gd name="T67" fmla="*/ 4 h 15"/>
                <a:gd name="T68" fmla="*/ 4 w 19"/>
                <a:gd name="T69" fmla="*/ 11 h 15"/>
                <a:gd name="T70" fmla="*/ 4 w 19"/>
                <a:gd name="T71" fmla="*/ 11 h 15"/>
                <a:gd name="T72" fmla="*/ 0 w 19"/>
                <a:gd name="T73" fmla="*/ 11 h 15"/>
                <a:gd name="T74" fmla="*/ 0 w 19"/>
                <a:gd name="T75" fmla="*/ 11 h 15"/>
                <a:gd name="T76" fmla="*/ 0 w 19"/>
                <a:gd name="T77" fmla="*/ 11 h 15"/>
                <a:gd name="T78" fmla="*/ 0 w 19"/>
                <a:gd name="T79" fmla="*/ 11 h 15"/>
                <a:gd name="T80" fmla="*/ 0 w 19"/>
                <a:gd name="T81" fmla="*/ 11 h 15"/>
                <a:gd name="T82" fmla="*/ 0 w 19"/>
                <a:gd name="T83" fmla="*/ 11 h 15"/>
                <a:gd name="T84" fmla="*/ 4 w 19"/>
                <a:gd name="T85" fmla="*/ 0 h 15"/>
                <a:gd name="T86" fmla="*/ 4 w 19"/>
                <a:gd name="T87" fmla="*/ 0 h 15"/>
                <a:gd name="T88" fmla="*/ 4 w 19"/>
                <a:gd name="T89" fmla="*/ 0 h 15"/>
                <a:gd name="T90" fmla="*/ 4 w 19"/>
                <a:gd name="T91" fmla="*/ 0 h 15"/>
                <a:gd name="T92" fmla="*/ 4 w 19"/>
                <a:gd name="T93" fmla="*/ 0 h 15"/>
                <a:gd name="T94" fmla="*/ 4 w 19"/>
                <a:gd name="T95" fmla="*/ 0 h 15"/>
                <a:gd name="T96" fmla="*/ 4 w 19"/>
                <a:gd name="T97" fmla="*/ 0 h 15"/>
                <a:gd name="T98" fmla="*/ 4 w 19"/>
                <a:gd name="T99" fmla="*/ 0 h 15"/>
                <a:gd name="T100" fmla="*/ 8 w 19"/>
                <a:gd name="T101" fmla="*/ 0 h 15"/>
                <a:gd name="T102" fmla="*/ 8 w 19"/>
                <a:gd name="T103" fmla="*/ 0 h 15"/>
                <a:gd name="T104" fmla="*/ 8 w 19"/>
                <a:gd name="T105" fmla="*/ 0 h 15"/>
                <a:gd name="T106" fmla="*/ 8 w 19"/>
                <a:gd name="T107" fmla="*/ 0 h 15"/>
                <a:gd name="T108" fmla="*/ 8 w 19"/>
                <a:gd name="T109" fmla="*/ 0 h 15"/>
                <a:gd name="T110" fmla="*/ 8 w 19"/>
                <a:gd name="T111" fmla="*/ 4 h 15"/>
                <a:gd name="T112" fmla="*/ 8 w 19"/>
                <a:gd name="T113" fmla="*/ 4 h 15"/>
                <a:gd name="T114" fmla="*/ 8 w 19"/>
                <a:gd name="T115" fmla="*/ 0 h 1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9"/>
                <a:gd name="T175" fmla="*/ 0 h 15"/>
                <a:gd name="T176" fmla="*/ 19 w 19"/>
                <a:gd name="T177" fmla="*/ 15 h 1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9" h="15">
                  <a:moveTo>
                    <a:pt x="8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11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4"/>
                  </a:lnTo>
                  <a:lnTo>
                    <a:pt x="16" y="4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4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4" name="Freeform 357"/>
            <p:cNvSpPr>
              <a:spLocks/>
            </p:cNvSpPr>
            <p:nvPr/>
          </p:nvSpPr>
          <p:spPr bwMode="auto">
            <a:xfrm>
              <a:off x="4311" y="2627"/>
              <a:ext cx="19" cy="15"/>
            </a:xfrm>
            <a:custGeom>
              <a:avLst/>
              <a:gdLst>
                <a:gd name="T0" fmla="*/ 11 w 19"/>
                <a:gd name="T1" fmla="*/ 4 h 15"/>
                <a:gd name="T2" fmla="*/ 15 w 19"/>
                <a:gd name="T3" fmla="*/ 4 h 15"/>
                <a:gd name="T4" fmla="*/ 15 w 19"/>
                <a:gd name="T5" fmla="*/ 4 h 15"/>
                <a:gd name="T6" fmla="*/ 15 w 19"/>
                <a:gd name="T7" fmla="*/ 4 h 15"/>
                <a:gd name="T8" fmla="*/ 15 w 19"/>
                <a:gd name="T9" fmla="*/ 0 h 15"/>
                <a:gd name="T10" fmla="*/ 19 w 19"/>
                <a:gd name="T11" fmla="*/ 4 h 15"/>
                <a:gd name="T12" fmla="*/ 19 w 19"/>
                <a:gd name="T13" fmla="*/ 4 h 15"/>
                <a:gd name="T14" fmla="*/ 19 w 19"/>
                <a:gd name="T15" fmla="*/ 4 h 15"/>
                <a:gd name="T16" fmla="*/ 19 w 19"/>
                <a:gd name="T17" fmla="*/ 4 h 15"/>
                <a:gd name="T18" fmla="*/ 19 w 19"/>
                <a:gd name="T19" fmla="*/ 4 h 15"/>
                <a:gd name="T20" fmla="*/ 19 w 19"/>
                <a:gd name="T21" fmla="*/ 4 h 15"/>
                <a:gd name="T22" fmla="*/ 11 w 19"/>
                <a:gd name="T23" fmla="*/ 7 h 15"/>
                <a:gd name="T24" fmla="*/ 15 w 19"/>
                <a:gd name="T25" fmla="*/ 11 h 15"/>
                <a:gd name="T26" fmla="*/ 15 w 19"/>
                <a:gd name="T27" fmla="*/ 11 h 15"/>
                <a:gd name="T28" fmla="*/ 15 w 19"/>
                <a:gd name="T29" fmla="*/ 11 h 15"/>
                <a:gd name="T30" fmla="*/ 15 w 19"/>
                <a:gd name="T31" fmla="*/ 15 h 15"/>
                <a:gd name="T32" fmla="*/ 15 w 19"/>
                <a:gd name="T33" fmla="*/ 15 h 15"/>
                <a:gd name="T34" fmla="*/ 11 w 19"/>
                <a:gd name="T35" fmla="*/ 15 h 15"/>
                <a:gd name="T36" fmla="*/ 7 w 19"/>
                <a:gd name="T37" fmla="*/ 11 h 15"/>
                <a:gd name="T38" fmla="*/ 7 w 19"/>
                <a:gd name="T39" fmla="*/ 11 h 15"/>
                <a:gd name="T40" fmla="*/ 11 w 19"/>
                <a:gd name="T41" fmla="*/ 11 h 15"/>
                <a:gd name="T42" fmla="*/ 11 w 19"/>
                <a:gd name="T43" fmla="*/ 11 h 15"/>
                <a:gd name="T44" fmla="*/ 11 w 19"/>
                <a:gd name="T45" fmla="*/ 7 h 15"/>
                <a:gd name="T46" fmla="*/ 7 w 19"/>
                <a:gd name="T47" fmla="*/ 11 h 15"/>
                <a:gd name="T48" fmla="*/ 7 w 19"/>
                <a:gd name="T49" fmla="*/ 11 h 15"/>
                <a:gd name="T50" fmla="*/ 7 w 19"/>
                <a:gd name="T51" fmla="*/ 11 h 15"/>
                <a:gd name="T52" fmla="*/ 7 w 19"/>
                <a:gd name="T53" fmla="*/ 11 h 15"/>
                <a:gd name="T54" fmla="*/ 4 w 19"/>
                <a:gd name="T55" fmla="*/ 11 h 15"/>
                <a:gd name="T56" fmla="*/ 0 w 19"/>
                <a:gd name="T57" fmla="*/ 11 h 15"/>
                <a:gd name="T58" fmla="*/ 4 w 19"/>
                <a:gd name="T59" fmla="*/ 11 h 15"/>
                <a:gd name="T60" fmla="*/ 4 w 19"/>
                <a:gd name="T61" fmla="*/ 7 h 15"/>
                <a:gd name="T62" fmla="*/ 4 w 19"/>
                <a:gd name="T63" fmla="*/ 7 h 15"/>
                <a:gd name="T64" fmla="*/ 4 w 19"/>
                <a:gd name="T65" fmla="*/ 7 h 15"/>
                <a:gd name="T66" fmla="*/ 7 w 19"/>
                <a:gd name="T67" fmla="*/ 0 h 15"/>
                <a:gd name="T68" fmla="*/ 7 w 19"/>
                <a:gd name="T69" fmla="*/ 0 h 15"/>
                <a:gd name="T70" fmla="*/ 7 w 19"/>
                <a:gd name="T71" fmla="*/ 0 h 15"/>
                <a:gd name="T72" fmla="*/ 7 w 19"/>
                <a:gd name="T73" fmla="*/ 0 h 15"/>
                <a:gd name="T74" fmla="*/ 7 w 19"/>
                <a:gd name="T75" fmla="*/ 0 h 15"/>
                <a:gd name="T76" fmla="*/ 11 w 19"/>
                <a:gd name="T77" fmla="*/ 0 h 15"/>
                <a:gd name="T78" fmla="*/ 11 w 19"/>
                <a:gd name="T79" fmla="*/ 0 h 15"/>
                <a:gd name="T80" fmla="*/ 15 w 19"/>
                <a:gd name="T81" fmla="*/ 0 h 15"/>
                <a:gd name="T82" fmla="*/ 15 w 19"/>
                <a:gd name="T83" fmla="*/ 0 h 15"/>
                <a:gd name="T84" fmla="*/ 11 w 19"/>
                <a:gd name="T85" fmla="*/ 4 h 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9"/>
                <a:gd name="T130" fmla="*/ 0 h 15"/>
                <a:gd name="T131" fmla="*/ 19 w 19"/>
                <a:gd name="T132" fmla="*/ 15 h 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9" h="15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1" y="7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11" y="7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5" name="Freeform 358"/>
            <p:cNvSpPr>
              <a:spLocks/>
            </p:cNvSpPr>
            <p:nvPr/>
          </p:nvSpPr>
          <p:spPr bwMode="auto">
            <a:xfrm>
              <a:off x="4330" y="2631"/>
              <a:ext cx="16" cy="15"/>
            </a:xfrm>
            <a:custGeom>
              <a:avLst/>
              <a:gdLst>
                <a:gd name="T0" fmla="*/ 8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2 w 16"/>
                <a:gd name="T11" fmla="*/ 3 h 15"/>
                <a:gd name="T12" fmla="*/ 12 w 16"/>
                <a:gd name="T13" fmla="*/ 3 h 15"/>
                <a:gd name="T14" fmla="*/ 12 w 16"/>
                <a:gd name="T15" fmla="*/ 0 h 15"/>
                <a:gd name="T16" fmla="*/ 12 w 16"/>
                <a:gd name="T17" fmla="*/ 0 h 15"/>
                <a:gd name="T18" fmla="*/ 16 w 16"/>
                <a:gd name="T19" fmla="*/ 3 h 15"/>
                <a:gd name="T20" fmla="*/ 16 w 16"/>
                <a:gd name="T21" fmla="*/ 3 h 15"/>
                <a:gd name="T22" fmla="*/ 16 w 16"/>
                <a:gd name="T23" fmla="*/ 3 h 15"/>
                <a:gd name="T24" fmla="*/ 16 w 16"/>
                <a:gd name="T25" fmla="*/ 3 h 15"/>
                <a:gd name="T26" fmla="*/ 16 w 16"/>
                <a:gd name="T27" fmla="*/ 3 h 15"/>
                <a:gd name="T28" fmla="*/ 16 w 16"/>
                <a:gd name="T29" fmla="*/ 3 h 15"/>
                <a:gd name="T30" fmla="*/ 16 w 16"/>
                <a:gd name="T31" fmla="*/ 3 h 15"/>
                <a:gd name="T32" fmla="*/ 16 w 16"/>
                <a:gd name="T33" fmla="*/ 3 h 15"/>
                <a:gd name="T34" fmla="*/ 8 w 16"/>
                <a:gd name="T35" fmla="*/ 7 h 15"/>
                <a:gd name="T36" fmla="*/ 8 w 16"/>
                <a:gd name="T37" fmla="*/ 11 h 15"/>
                <a:gd name="T38" fmla="*/ 8 w 16"/>
                <a:gd name="T39" fmla="*/ 11 h 15"/>
                <a:gd name="T40" fmla="*/ 8 w 16"/>
                <a:gd name="T41" fmla="*/ 11 h 15"/>
                <a:gd name="T42" fmla="*/ 12 w 16"/>
                <a:gd name="T43" fmla="*/ 11 h 15"/>
                <a:gd name="T44" fmla="*/ 12 w 16"/>
                <a:gd name="T45" fmla="*/ 11 h 15"/>
                <a:gd name="T46" fmla="*/ 12 w 16"/>
                <a:gd name="T47" fmla="*/ 11 h 15"/>
                <a:gd name="T48" fmla="*/ 8 w 16"/>
                <a:gd name="T49" fmla="*/ 15 h 15"/>
                <a:gd name="T50" fmla="*/ 8 w 16"/>
                <a:gd name="T51" fmla="*/ 15 h 15"/>
                <a:gd name="T52" fmla="*/ 0 w 16"/>
                <a:gd name="T53" fmla="*/ 11 h 15"/>
                <a:gd name="T54" fmla="*/ 0 w 16"/>
                <a:gd name="T55" fmla="*/ 11 h 15"/>
                <a:gd name="T56" fmla="*/ 0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4 w 16"/>
                <a:gd name="T65" fmla="*/ 11 h 15"/>
                <a:gd name="T66" fmla="*/ 4 w 16"/>
                <a:gd name="T67" fmla="*/ 11 h 15"/>
                <a:gd name="T68" fmla="*/ 4 w 16"/>
                <a:gd name="T69" fmla="*/ 7 h 15"/>
                <a:gd name="T70" fmla="*/ 4 w 16"/>
                <a:gd name="T71" fmla="*/ 0 h 15"/>
                <a:gd name="T72" fmla="*/ 4 w 16"/>
                <a:gd name="T73" fmla="*/ 0 h 15"/>
                <a:gd name="T74" fmla="*/ 4 w 16"/>
                <a:gd name="T75" fmla="*/ 0 h 15"/>
                <a:gd name="T76" fmla="*/ 4 w 16"/>
                <a:gd name="T77" fmla="*/ 0 h 15"/>
                <a:gd name="T78" fmla="*/ 4 w 16"/>
                <a:gd name="T79" fmla="*/ 0 h 15"/>
                <a:gd name="T80" fmla="*/ 4 w 16"/>
                <a:gd name="T81" fmla="*/ 0 h 15"/>
                <a:gd name="T82" fmla="*/ 4 w 16"/>
                <a:gd name="T83" fmla="*/ 0 h 15"/>
                <a:gd name="T84" fmla="*/ 8 w 16"/>
                <a:gd name="T85" fmla="*/ 0 h 15"/>
                <a:gd name="T86" fmla="*/ 8 w 16"/>
                <a:gd name="T87" fmla="*/ 0 h 15"/>
                <a:gd name="T88" fmla="*/ 8 w 16"/>
                <a:gd name="T89" fmla="*/ 0 h 15"/>
                <a:gd name="T90" fmla="*/ 12 w 16"/>
                <a:gd name="T91" fmla="*/ 0 h 15"/>
                <a:gd name="T92" fmla="*/ 12 w 16"/>
                <a:gd name="T93" fmla="*/ 0 h 15"/>
                <a:gd name="T94" fmla="*/ 12 w 16"/>
                <a:gd name="T95" fmla="*/ 0 h 15"/>
                <a:gd name="T96" fmla="*/ 8 w 16"/>
                <a:gd name="T97" fmla="*/ 3 h 15"/>
                <a:gd name="T98" fmla="*/ 8 w 16"/>
                <a:gd name="T99" fmla="*/ 3 h 15"/>
                <a:gd name="T100" fmla="*/ 8 w 16"/>
                <a:gd name="T101" fmla="*/ 3 h 1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5"/>
                <a:gd name="T155" fmla="*/ 16 w 16"/>
                <a:gd name="T156" fmla="*/ 15 h 1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5">
                  <a:moveTo>
                    <a:pt x="8" y="3"/>
                  </a:moveTo>
                  <a:lnTo>
                    <a:pt x="8" y="7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1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6" name="Freeform 359"/>
            <p:cNvSpPr>
              <a:spLocks/>
            </p:cNvSpPr>
            <p:nvPr/>
          </p:nvSpPr>
          <p:spPr bwMode="auto">
            <a:xfrm>
              <a:off x="4346" y="2634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8 w 16"/>
                <a:gd name="T3" fmla="*/ 12 h 16"/>
                <a:gd name="T4" fmla="*/ 8 w 16"/>
                <a:gd name="T5" fmla="*/ 12 h 16"/>
                <a:gd name="T6" fmla="*/ 12 w 16"/>
                <a:gd name="T7" fmla="*/ 8 h 16"/>
                <a:gd name="T8" fmla="*/ 12 w 16"/>
                <a:gd name="T9" fmla="*/ 8 h 16"/>
                <a:gd name="T10" fmla="*/ 12 w 16"/>
                <a:gd name="T11" fmla="*/ 8 h 16"/>
                <a:gd name="T12" fmla="*/ 12 w 16"/>
                <a:gd name="T13" fmla="*/ 12 h 16"/>
                <a:gd name="T14" fmla="*/ 12 w 16"/>
                <a:gd name="T15" fmla="*/ 12 h 16"/>
                <a:gd name="T16" fmla="*/ 12 w 16"/>
                <a:gd name="T17" fmla="*/ 12 h 16"/>
                <a:gd name="T18" fmla="*/ 12 w 16"/>
                <a:gd name="T19" fmla="*/ 16 h 16"/>
                <a:gd name="T20" fmla="*/ 12 w 16"/>
                <a:gd name="T21" fmla="*/ 16 h 16"/>
                <a:gd name="T22" fmla="*/ 8 w 16"/>
                <a:gd name="T23" fmla="*/ 16 h 16"/>
                <a:gd name="T24" fmla="*/ 8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0 w 16"/>
                <a:gd name="T39" fmla="*/ 12 h 16"/>
                <a:gd name="T40" fmla="*/ 12 w 16"/>
                <a:gd name="T41" fmla="*/ 4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4 w 16"/>
                <a:gd name="T49" fmla="*/ 4 h 16"/>
                <a:gd name="T50" fmla="*/ 4 w 16"/>
                <a:gd name="T51" fmla="*/ 4 h 16"/>
                <a:gd name="T52" fmla="*/ 4 w 16"/>
                <a:gd name="T53" fmla="*/ 4 h 16"/>
                <a:gd name="T54" fmla="*/ 4 w 16"/>
                <a:gd name="T55" fmla="*/ 4 h 16"/>
                <a:gd name="T56" fmla="*/ 4 w 16"/>
                <a:gd name="T57" fmla="*/ 4 h 16"/>
                <a:gd name="T58" fmla="*/ 4 w 16"/>
                <a:gd name="T59" fmla="*/ 4 h 16"/>
                <a:gd name="T60" fmla="*/ 4 w 16"/>
                <a:gd name="T61" fmla="*/ 0 h 16"/>
                <a:gd name="T62" fmla="*/ 4 w 16"/>
                <a:gd name="T63" fmla="*/ 0 h 16"/>
                <a:gd name="T64" fmla="*/ 8 w 16"/>
                <a:gd name="T65" fmla="*/ 0 h 16"/>
                <a:gd name="T66" fmla="*/ 8 w 16"/>
                <a:gd name="T67" fmla="*/ 0 h 16"/>
                <a:gd name="T68" fmla="*/ 16 w 16"/>
                <a:gd name="T69" fmla="*/ 4 h 16"/>
                <a:gd name="T70" fmla="*/ 16 w 16"/>
                <a:gd name="T71" fmla="*/ 4 h 16"/>
                <a:gd name="T72" fmla="*/ 16 w 16"/>
                <a:gd name="T73" fmla="*/ 4 h 16"/>
                <a:gd name="T74" fmla="*/ 16 w 16"/>
                <a:gd name="T75" fmla="*/ 4 h 16"/>
                <a:gd name="T76" fmla="*/ 16 w 16"/>
                <a:gd name="T77" fmla="*/ 4 h 16"/>
                <a:gd name="T78" fmla="*/ 16 w 16"/>
                <a:gd name="T79" fmla="*/ 4 h 16"/>
                <a:gd name="T80" fmla="*/ 16 w 16"/>
                <a:gd name="T81" fmla="*/ 4 h 16"/>
                <a:gd name="T82" fmla="*/ 4 w 16"/>
                <a:gd name="T83" fmla="*/ 12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6"/>
                <a:gd name="T128" fmla="*/ 16 w 16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6">
                  <a:moveTo>
                    <a:pt x="4" y="12"/>
                  </a:moveTo>
                  <a:lnTo>
                    <a:pt x="8" y="12"/>
                  </a:lnTo>
                  <a:lnTo>
                    <a:pt x="12" y="8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6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7" name="Freeform 360"/>
            <p:cNvSpPr>
              <a:spLocks noEditPoints="1"/>
            </p:cNvSpPr>
            <p:nvPr/>
          </p:nvSpPr>
          <p:spPr bwMode="auto">
            <a:xfrm>
              <a:off x="4153" y="2686"/>
              <a:ext cx="20" cy="19"/>
            </a:xfrm>
            <a:custGeom>
              <a:avLst/>
              <a:gdLst>
                <a:gd name="T0" fmla="*/ 16 w 20"/>
                <a:gd name="T1" fmla="*/ 0 h 19"/>
                <a:gd name="T2" fmla="*/ 16 w 20"/>
                <a:gd name="T3" fmla="*/ 0 h 19"/>
                <a:gd name="T4" fmla="*/ 20 w 20"/>
                <a:gd name="T5" fmla="*/ 4 h 19"/>
                <a:gd name="T6" fmla="*/ 20 w 20"/>
                <a:gd name="T7" fmla="*/ 4 h 19"/>
                <a:gd name="T8" fmla="*/ 20 w 20"/>
                <a:gd name="T9" fmla="*/ 4 h 19"/>
                <a:gd name="T10" fmla="*/ 20 w 20"/>
                <a:gd name="T11" fmla="*/ 11 h 19"/>
                <a:gd name="T12" fmla="*/ 20 w 20"/>
                <a:gd name="T13" fmla="*/ 11 h 19"/>
                <a:gd name="T14" fmla="*/ 20 w 20"/>
                <a:gd name="T15" fmla="*/ 11 h 19"/>
                <a:gd name="T16" fmla="*/ 12 w 20"/>
                <a:gd name="T17" fmla="*/ 15 h 19"/>
                <a:gd name="T18" fmla="*/ 12 w 20"/>
                <a:gd name="T19" fmla="*/ 15 h 19"/>
                <a:gd name="T20" fmla="*/ 12 w 20"/>
                <a:gd name="T21" fmla="*/ 15 h 19"/>
                <a:gd name="T22" fmla="*/ 4 w 20"/>
                <a:gd name="T23" fmla="*/ 19 h 19"/>
                <a:gd name="T24" fmla="*/ 4 w 20"/>
                <a:gd name="T25" fmla="*/ 19 h 19"/>
                <a:gd name="T26" fmla="*/ 4 w 20"/>
                <a:gd name="T27" fmla="*/ 19 h 19"/>
                <a:gd name="T28" fmla="*/ 0 w 20"/>
                <a:gd name="T29" fmla="*/ 11 h 19"/>
                <a:gd name="T30" fmla="*/ 0 w 20"/>
                <a:gd name="T31" fmla="*/ 11 h 19"/>
                <a:gd name="T32" fmla="*/ 0 w 20"/>
                <a:gd name="T33" fmla="*/ 11 h 19"/>
                <a:gd name="T34" fmla="*/ 4 w 20"/>
                <a:gd name="T35" fmla="*/ 4 h 19"/>
                <a:gd name="T36" fmla="*/ 4 w 20"/>
                <a:gd name="T37" fmla="*/ 4 h 19"/>
                <a:gd name="T38" fmla="*/ 4 w 20"/>
                <a:gd name="T39" fmla="*/ 4 h 19"/>
                <a:gd name="T40" fmla="*/ 8 w 20"/>
                <a:gd name="T41" fmla="*/ 0 h 19"/>
                <a:gd name="T42" fmla="*/ 8 w 20"/>
                <a:gd name="T43" fmla="*/ 0 h 19"/>
                <a:gd name="T44" fmla="*/ 8 w 20"/>
                <a:gd name="T45" fmla="*/ 0 h 19"/>
                <a:gd name="T46" fmla="*/ 16 w 20"/>
                <a:gd name="T47" fmla="*/ 0 h 19"/>
                <a:gd name="T48" fmla="*/ 16 w 20"/>
                <a:gd name="T49" fmla="*/ 0 h 19"/>
                <a:gd name="T50" fmla="*/ 16 w 20"/>
                <a:gd name="T51" fmla="*/ 0 h 19"/>
                <a:gd name="T52" fmla="*/ 16 w 20"/>
                <a:gd name="T53" fmla="*/ 0 h 19"/>
                <a:gd name="T54" fmla="*/ 12 w 20"/>
                <a:gd name="T55" fmla="*/ 4 h 19"/>
                <a:gd name="T56" fmla="*/ 12 w 20"/>
                <a:gd name="T57" fmla="*/ 4 h 19"/>
                <a:gd name="T58" fmla="*/ 12 w 20"/>
                <a:gd name="T59" fmla="*/ 4 h 19"/>
                <a:gd name="T60" fmla="*/ 8 w 20"/>
                <a:gd name="T61" fmla="*/ 8 h 19"/>
                <a:gd name="T62" fmla="*/ 8 w 20"/>
                <a:gd name="T63" fmla="*/ 8 h 19"/>
                <a:gd name="T64" fmla="*/ 8 w 20"/>
                <a:gd name="T65" fmla="*/ 8 h 19"/>
                <a:gd name="T66" fmla="*/ 4 w 20"/>
                <a:gd name="T67" fmla="*/ 11 h 19"/>
                <a:gd name="T68" fmla="*/ 4 w 20"/>
                <a:gd name="T69" fmla="*/ 11 h 19"/>
                <a:gd name="T70" fmla="*/ 4 w 20"/>
                <a:gd name="T71" fmla="*/ 11 h 19"/>
                <a:gd name="T72" fmla="*/ 8 w 20"/>
                <a:gd name="T73" fmla="*/ 15 h 19"/>
                <a:gd name="T74" fmla="*/ 8 w 20"/>
                <a:gd name="T75" fmla="*/ 15 h 19"/>
                <a:gd name="T76" fmla="*/ 8 w 20"/>
                <a:gd name="T77" fmla="*/ 15 h 19"/>
                <a:gd name="T78" fmla="*/ 12 w 20"/>
                <a:gd name="T79" fmla="*/ 11 h 19"/>
                <a:gd name="T80" fmla="*/ 12 w 20"/>
                <a:gd name="T81" fmla="*/ 11 h 19"/>
                <a:gd name="T82" fmla="*/ 12 w 20"/>
                <a:gd name="T83" fmla="*/ 11 h 19"/>
                <a:gd name="T84" fmla="*/ 16 w 20"/>
                <a:gd name="T85" fmla="*/ 8 h 19"/>
                <a:gd name="T86" fmla="*/ 16 w 20"/>
                <a:gd name="T87" fmla="*/ 8 h 19"/>
                <a:gd name="T88" fmla="*/ 16 w 20"/>
                <a:gd name="T89" fmla="*/ 8 h 19"/>
                <a:gd name="T90" fmla="*/ 16 w 20"/>
                <a:gd name="T91" fmla="*/ 4 h 19"/>
                <a:gd name="T92" fmla="*/ 16 w 20"/>
                <a:gd name="T93" fmla="*/ 4 h 19"/>
                <a:gd name="T94" fmla="*/ 16 w 20"/>
                <a:gd name="T95" fmla="*/ 4 h 19"/>
                <a:gd name="T96" fmla="*/ 16 w 20"/>
                <a:gd name="T97" fmla="*/ 0 h 19"/>
                <a:gd name="T98" fmla="*/ 16 w 20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0"/>
                <a:gd name="T151" fmla="*/ 0 h 19"/>
                <a:gd name="T152" fmla="*/ 20 w 20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0" h="19">
                  <a:moveTo>
                    <a:pt x="16" y="0"/>
                  </a:moveTo>
                  <a:lnTo>
                    <a:pt x="16" y="0"/>
                  </a:lnTo>
                  <a:lnTo>
                    <a:pt x="20" y="4"/>
                  </a:lnTo>
                  <a:lnTo>
                    <a:pt x="20" y="11"/>
                  </a:lnTo>
                  <a:lnTo>
                    <a:pt x="12" y="15"/>
                  </a:lnTo>
                  <a:lnTo>
                    <a:pt x="4" y="19"/>
                  </a:lnTo>
                  <a:lnTo>
                    <a:pt x="0" y="11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close/>
                  <a:moveTo>
                    <a:pt x="16" y="0"/>
                  </a:moveTo>
                  <a:lnTo>
                    <a:pt x="16" y="0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1"/>
                  </a:lnTo>
                  <a:lnTo>
                    <a:pt x="8" y="15"/>
                  </a:lnTo>
                  <a:lnTo>
                    <a:pt x="12" y="11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8" name="Freeform 361"/>
            <p:cNvSpPr>
              <a:spLocks/>
            </p:cNvSpPr>
            <p:nvPr/>
          </p:nvSpPr>
          <p:spPr bwMode="auto">
            <a:xfrm>
              <a:off x="4177" y="2690"/>
              <a:ext cx="15" cy="19"/>
            </a:xfrm>
            <a:custGeom>
              <a:avLst/>
              <a:gdLst>
                <a:gd name="T0" fmla="*/ 11 w 15"/>
                <a:gd name="T1" fmla="*/ 7 h 19"/>
                <a:gd name="T2" fmla="*/ 15 w 15"/>
                <a:gd name="T3" fmla="*/ 11 h 19"/>
                <a:gd name="T4" fmla="*/ 15 w 15"/>
                <a:gd name="T5" fmla="*/ 11 h 19"/>
                <a:gd name="T6" fmla="*/ 15 w 15"/>
                <a:gd name="T7" fmla="*/ 11 h 19"/>
                <a:gd name="T8" fmla="*/ 15 w 15"/>
                <a:gd name="T9" fmla="*/ 11 h 19"/>
                <a:gd name="T10" fmla="*/ 15 w 15"/>
                <a:gd name="T11" fmla="*/ 11 h 19"/>
                <a:gd name="T12" fmla="*/ 15 w 15"/>
                <a:gd name="T13" fmla="*/ 11 h 19"/>
                <a:gd name="T14" fmla="*/ 15 w 15"/>
                <a:gd name="T15" fmla="*/ 11 h 19"/>
                <a:gd name="T16" fmla="*/ 15 w 15"/>
                <a:gd name="T17" fmla="*/ 11 h 19"/>
                <a:gd name="T18" fmla="*/ 15 w 15"/>
                <a:gd name="T19" fmla="*/ 11 h 19"/>
                <a:gd name="T20" fmla="*/ 15 w 15"/>
                <a:gd name="T21" fmla="*/ 11 h 19"/>
                <a:gd name="T22" fmla="*/ 15 w 15"/>
                <a:gd name="T23" fmla="*/ 11 h 19"/>
                <a:gd name="T24" fmla="*/ 15 w 15"/>
                <a:gd name="T25" fmla="*/ 11 h 19"/>
                <a:gd name="T26" fmla="*/ 15 w 15"/>
                <a:gd name="T27" fmla="*/ 11 h 19"/>
                <a:gd name="T28" fmla="*/ 15 w 15"/>
                <a:gd name="T29" fmla="*/ 11 h 19"/>
                <a:gd name="T30" fmla="*/ 8 w 15"/>
                <a:gd name="T31" fmla="*/ 11 h 19"/>
                <a:gd name="T32" fmla="*/ 8 w 15"/>
                <a:gd name="T33" fmla="*/ 11 h 19"/>
                <a:gd name="T34" fmla="*/ 4 w 15"/>
                <a:gd name="T35" fmla="*/ 15 h 19"/>
                <a:gd name="T36" fmla="*/ 4 w 15"/>
                <a:gd name="T37" fmla="*/ 15 h 19"/>
                <a:gd name="T38" fmla="*/ 4 w 15"/>
                <a:gd name="T39" fmla="*/ 15 h 19"/>
                <a:gd name="T40" fmla="*/ 4 w 15"/>
                <a:gd name="T41" fmla="*/ 19 h 19"/>
                <a:gd name="T42" fmla="*/ 4 w 15"/>
                <a:gd name="T43" fmla="*/ 19 h 19"/>
                <a:gd name="T44" fmla="*/ 4 w 15"/>
                <a:gd name="T45" fmla="*/ 19 h 19"/>
                <a:gd name="T46" fmla="*/ 4 w 15"/>
                <a:gd name="T47" fmla="*/ 19 h 19"/>
                <a:gd name="T48" fmla="*/ 4 w 15"/>
                <a:gd name="T49" fmla="*/ 19 h 19"/>
                <a:gd name="T50" fmla="*/ 4 w 15"/>
                <a:gd name="T51" fmla="*/ 19 h 19"/>
                <a:gd name="T52" fmla="*/ 0 w 15"/>
                <a:gd name="T53" fmla="*/ 15 h 19"/>
                <a:gd name="T54" fmla="*/ 0 w 15"/>
                <a:gd name="T55" fmla="*/ 15 h 19"/>
                <a:gd name="T56" fmla="*/ 0 w 15"/>
                <a:gd name="T57" fmla="*/ 15 h 19"/>
                <a:gd name="T58" fmla="*/ 0 w 15"/>
                <a:gd name="T59" fmla="*/ 15 h 19"/>
                <a:gd name="T60" fmla="*/ 0 w 15"/>
                <a:gd name="T61" fmla="*/ 15 h 19"/>
                <a:gd name="T62" fmla="*/ 4 w 15"/>
                <a:gd name="T63" fmla="*/ 11 h 19"/>
                <a:gd name="T64" fmla="*/ 4 w 15"/>
                <a:gd name="T65" fmla="*/ 11 h 19"/>
                <a:gd name="T66" fmla="*/ 0 w 15"/>
                <a:gd name="T67" fmla="*/ 7 h 19"/>
                <a:gd name="T68" fmla="*/ 0 w 15"/>
                <a:gd name="T69" fmla="*/ 7 h 19"/>
                <a:gd name="T70" fmla="*/ 0 w 15"/>
                <a:gd name="T71" fmla="*/ 7 h 19"/>
                <a:gd name="T72" fmla="*/ 0 w 15"/>
                <a:gd name="T73" fmla="*/ 7 h 19"/>
                <a:gd name="T74" fmla="*/ 0 w 15"/>
                <a:gd name="T75" fmla="*/ 7 h 19"/>
                <a:gd name="T76" fmla="*/ 0 w 15"/>
                <a:gd name="T77" fmla="*/ 7 h 19"/>
                <a:gd name="T78" fmla="*/ 0 w 15"/>
                <a:gd name="T79" fmla="*/ 7 h 19"/>
                <a:gd name="T80" fmla="*/ 0 w 15"/>
                <a:gd name="T81" fmla="*/ 7 h 19"/>
                <a:gd name="T82" fmla="*/ 0 w 15"/>
                <a:gd name="T83" fmla="*/ 7 h 19"/>
                <a:gd name="T84" fmla="*/ 0 w 15"/>
                <a:gd name="T85" fmla="*/ 7 h 19"/>
                <a:gd name="T86" fmla="*/ 0 w 15"/>
                <a:gd name="T87" fmla="*/ 7 h 19"/>
                <a:gd name="T88" fmla="*/ 0 w 15"/>
                <a:gd name="T89" fmla="*/ 7 h 19"/>
                <a:gd name="T90" fmla="*/ 0 w 15"/>
                <a:gd name="T91" fmla="*/ 7 h 19"/>
                <a:gd name="T92" fmla="*/ 8 w 15"/>
                <a:gd name="T93" fmla="*/ 7 h 19"/>
                <a:gd name="T94" fmla="*/ 8 w 15"/>
                <a:gd name="T95" fmla="*/ 7 h 19"/>
                <a:gd name="T96" fmla="*/ 8 w 15"/>
                <a:gd name="T97" fmla="*/ 4 h 19"/>
                <a:gd name="T98" fmla="*/ 8 w 15"/>
                <a:gd name="T99" fmla="*/ 4 h 19"/>
                <a:gd name="T100" fmla="*/ 8 w 15"/>
                <a:gd name="T101" fmla="*/ 4 h 19"/>
                <a:gd name="T102" fmla="*/ 11 w 15"/>
                <a:gd name="T103" fmla="*/ 0 h 19"/>
                <a:gd name="T104" fmla="*/ 11 w 15"/>
                <a:gd name="T105" fmla="*/ 0 h 19"/>
                <a:gd name="T106" fmla="*/ 11 w 15"/>
                <a:gd name="T107" fmla="*/ 0 h 19"/>
                <a:gd name="T108" fmla="*/ 11 w 15"/>
                <a:gd name="T109" fmla="*/ 0 h 19"/>
                <a:gd name="T110" fmla="*/ 11 w 15"/>
                <a:gd name="T111" fmla="*/ 0 h 19"/>
                <a:gd name="T112" fmla="*/ 11 w 15"/>
                <a:gd name="T113" fmla="*/ 0 h 19"/>
                <a:gd name="T114" fmla="*/ 11 w 15"/>
                <a:gd name="T115" fmla="*/ 4 h 19"/>
                <a:gd name="T116" fmla="*/ 11 w 15"/>
                <a:gd name="T117" fmla="*/ 4 h 19"/>
                <a:gd name="T118" fmla="*/ 11 w 15"/>
                <a:gd name="T119" fmla="*/ 4 h 19"/>
                <a:gd name="T120" fmla="*/ 11 w 15"/>
                <a:gd name="T121" fmla="*/ 4 h 19"/>
                <a:gd name="T122" fmla="*/ 11 w 15"/>
                <a:gd name="T123" fmla="*/ 4 h 19"/>
                <a:gd name="T124" fmla="*/ 11 w 15"/>
                <a:gd name="T125" fmla="*/ 7 h 1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9"/>
                <a:gd name="T191" fmla="*/ 15 w 15"/>
                <a:gd name="T192" fmla="*/ 19 h 1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9">
                  <a:moveTo>
                    <a:pt x="11" y="7"/>
                  </a:moveTo>
                  <a:lnTo>
                    <a:pt x="15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0" y="7"/>
                  </a:lnTo>
                  <a:lnTo>
                    <a:pt x="8" y="7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59" name="Freeform 362"/>
            <p:cNvSpPr>
              <a:spLocks/>
            </p:cNvSpPr>
            <p:nvPr/>
          </p:nvSpPr>
          <p:spPr bwMode="auto">
            <a:xfrm>
              <a:off x="4043" y="2658"/>
              <a:ext cx="27" cy="24"/>
            </a:xfrm>
            <a:custGeom>
              <a:avLst/>
              <a:gdLst>
                <a:gd name="T0" fmla="*/ 27 w 27"/>
                <a:gd name="T1" fmla="*/ 8 h 24"/>
                <a:gd name="T2" fmla="*/ 27 w 27"/>
                <a:gd name="T3" fmla="*/ 8 h 24"/>
                <a:gd name="T4" fmla="*/ 27 w 27"/>
                <a:gd name="T5" fmla="*/ 8 h 24"/>
                <a:gd name="T6" fmla="*/ 27 w 27"/>
                <a:gd name="T7" fmla="*/ 8 h 24"/>
                <a:gd name="T8" fmla="*/ 27 w 27"/>
                <a:gd name="T9" fmla="*/ 12 h 24"/>
                <a:gd name="T10" fmla="*/ 27 w 27"/>
                <a:gd name="T11" fmla="*/ 12 h 24"/>
                <a:gd name="T12" fmla="*/ 27 w 27"/>
                <a:gd name="T13" fmla="*/ 12 h 24"/>
                <a:gd name="T14" fmla="*/ 27 w 27"/>
                <a:gd name="T15" fmla="*/ 16 h 24"/>
                <a:gd name="T16" fmla="*/ 27 w 27"/>
                <a:gd name="T17" fmla="*/ 16 h 24"/>
                <a:gd name="T18" fmla="*/ 15 w 27"/>
                <a:gd name="T19" fmla="*/ 12 h 24"/>
                <a:gd name="T20" fmla="*/ 19 w 27"/>
                <a:gd name="T21" fmla="*/ 20 h 24"/>
                <a:gd name="T22" fmla="*/ 19 w 27"/>
                <a:gd name="T23" fmla="*/ 20 h 24"/>
                <a:gd name="T24" fmla="*/ 19 w 27"/>
                <a:gd name="T25" fmla="*/ 20 h 24"/>
                <a:gd name="T26" fmla="*/ 19 w 27"/>
                <a:gd name="T27" fmla="*/ 20 h 24"/>
                <a:gd name="T28" fmla="*/ 15 w 27"/>
                <a:gd name="T29" fmla="*/ 20 h 24"/>
                <a:gd name="T30" fmla="*/ 15 w 27"/>
                <a:gd name="T31" fmla="*/ 24 h 24"/>
                <a:gd name="T32" fmla="*/ 12 w 27"/>
                <a:gd name="T33" fmla="*/ 24 h 24"/>
                <a:gd name="T34" fmla="*/ 12 w 27"/>
                <a:gd name="T35" fmla="*/ 24 h 24"/>
                <a:gd name="T36" fmla="*/ 12 w 27"/>
                <a:gd name="T37" fmla="*/ 24 h 24"/>
                <a:gd name="T38" fmla="*/ 12 w 27"/>
                <a:gd name="T39" fmla="*/ 16 h 24"/>
                <a:gd name="T40" fmla="*/ 4 w 27"/>
                <a:gd name="T41" fmla="*/ 20 h 24"/>
                <a:gd name="T42" fmla="*/ 4 w 27"/>
                <a:gd name="T43" fmla="*/ 20 h 24"/>
                <a:gd name="T44" fmla="*/ 4 w 27"/>
                <a:gd name="T45" fmla="*/ 20 h 24"/>
                <a:gd name="T46" fmla="*/ 4 w 27"/>
                <a:gd name="T47" fmla="*/ 20 h 24"/>
                <a:gd name="T48" fmla="*/ 4 w 27"/>
                <a:gd name="T49" fmla="*/ 20 h 24"/>
                <a:gd name="T50" fmla="*/ 4 w 27"/>
                <a:gd name="T51" fmla="*/ 16 h 24"/>
                <a:gd name="T52" fmla="*/ 0 w 27"/>
                <a:gd name="T53" fmla="*/ 16 h 24"/>
                <a:gd name="T54" fmla="*/ 0 w 27"/>
                <a:gd name="T55" fmla="*/ 16 h 24"/>
                <a:gd name="T56" fmla="*/ 4 w 27"/>
                <a:gd name="T57" fmla="*/ 16 h 24"/>
                <a:gd name="T58" fmla="*/ 12 w 27"/>
                <a:gd name="T59" fmla="*/ 12 h 24"/>
                <a:gd name="T60" fmla="*/ 4 w 27"/>
                <a:gd name="T61" fmla="*/ 8 h 24"/>
                <a:gd name="T62" fmla="*/ 4 w 27"/>
                <a:gd name="T63" fmla="*/ 8 h 24"/>
                <a:gd name="T64" fmla="*/ 4 w 27"/>
                <a:gd name="T65" fmla="*/ 8 h 24"/>
                <a:gd name="T66" fmla="*/ 4 w 27"/>
                <a:gd name="T67" fmla="*/ 8 h 24"/>
                <a:gd name="T68" fmla="*/ 4 w 27"/>
                <a:gd name="T69" fmla="*/ 8 h 24"/>
                <a:gd name="T70" fmla="*/ 8 w 27"/>
                <a:gd name="T71" fmla="*/ 4 h 24"/>
                <a:gd name="T72" fmla="*/ 8 w 27"/>
                <a:gd name="T73" fmla="*/ 4 h 24"/>
                <a:gd name="T74" fmla="*/ 8 w 27"/>
                <a:gd name="T75" fmla="*/ 4 h 24"/>
                <a:gd name="T76" fmla="*/ 8 w 27"/>
                <a:gd name="T77" fmla="*/ 4 h 24"/>
                <a:gd name="T78" fmla="*/ 15 w 27"/>
                <a:gd name="T79" fmla="*/ 8 h 24"/>
                <a:gd name="T80" fmla="*/ 19 w 27"/>
                <a:gd name="T81" fmla="*/ 0 h 24"/>
                <a:gd name="T82" fmla="*/ 19 w 27"/>
                <a:gd name="T83" fmla="*/ 0 h 24"/>
                <a:gd name="T84" fmla="*/ 19 w 27"/>
                <a:gd name="T85" fmla="*/ 0 h 24"/>
                <a:gd name="T86" fmla="*/ 23 w 27"/>
                <a:gd name="T87" fmla="*/ 4 h 24"/>
                <a:gd name="T88" fmla="*/ 23 w 27"/>
                <a:gd name="T89" fmla="*/ 4 h 24"/>
                <a:gd name="T90" fmla="*/ 23 w 27"/>
                <a:gd name="T91" fmla="*/ 4 h 24"/>
                <a:gd name="T92" fmla="*/ 19 w 27"/>
                <a:gd name="T93" fmla="*/ 12 h 2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7"/>
                <a:gd name="T142" fmla="*/ 0 h 24"/>
                <a:gd name="T143" fmla="*/ 27 w 27"/>
                <a:gd name="T144" fmla="*/ 24 h 24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7" h="24">
                  <a:moveTo>
                    <a:pt x="19" y="12"/>
                  </a:moveTo>
                  <a:lnTo>
                    <a:pt x="27" y="8"/>
                  </a:lnTo>
                  <a:lnTo>
                    <a:pt x="27" y="12"/>
                  </a:lnTo>
                  <a:lnTo>
                    <a:pt x="27" y="16"/>
                  </a:lnTo>
                  <a:lnTo>
                    <a:pt x="23" y="16"/>
                  </a:lnTo>
                  <a:lnTo>
                    <a:pt x="15" y="12"/>
                  </a:lnTo>
                  <a:lnTo>
                    <a:pt x="19" y="20"/>
                  </a:lnTo>
                  <a:lnTo>
                    <a:pt x="15" y="20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4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2" y="12"/>
                  </a:lnTo>
                  <a:lnTo>
                    <a:pt x="4" y="8"/>
                  </a:lnTo>
                  <a:lnTo>
                    <a:pt x="8" y="4"/>
                  </a:lnTo>
                  <a:lnTo>
                    <a:pt x="15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23" y="4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60" name="Freeform 363"/>
            <p:cNvSpPr>
              <a:spLocks noEditPoints="1"/>
            </p:cNvSpPr>
            <p:nvPr/>
          </p:nvSpPr>
          <p:spPr bwMode="auto">
            <a:xfrm>
              <a:off x="4263" y="2705"/>
              <a:ext cx="36" cy="32"/>
            </a:xfrm>
            <a:custGeom>
              <a:avLst/>
              <a:gdLst>
                <a:gd name="T0" fmla="*/ 20 w 36"/>
                <a:gd name="T1" fmla="*/ 0 h 32"/>
                <a:gd name="T2" fmla="*/ 24 w 36"/>
                <a:gd name="T3" fmla="*/ 0 h 32"/>
                <a:gd name="T4" fmla="*/ 24 w 36"/>
                <a:gd name="T5" fmla="*/ 4 h 32"/>
                <a:gd name="T6" fmla="*/ 24 w 36"/>
                <a:gd name="T7" fmla="*/ 4 h 32"/>
                <a:gd name="T8" fmla="*/ 24 w 36"/>
                <a:gd name="T9" fmla="*/ 4 h 32"/>
                <a:gd name="T10" fmla="*/ 24 w 36"/>
                <a:gd name="T11" fmla="*/ 12 h 32"/>
                <a:gd name="T12" fmla="*/ 28 w 36"/>
                <a:gd name="T13" fmla="*/ 4 h 32"/>
                <a:gd name="T14" fmla="*/ 32 w 36"/>
                <a:gd name="T15" fmla="*/ 4 h 32"/>
                <a:gd name="T16" fmla="*/ 32 w 36"/>
                <a:gd name="T17" fmla="*/ 4 h 32"/>
                <a:gd name="T18" fmla="*/ 36 w 36"/>
                <a:gd name="T19" fmla="*/ 4 h 32"/>
                <a:gd name="T20" fmla="*/ 36 w 36"/>
                <a:gd name="T21" fmla="*/ 8 h 32"/>
                <a:gd name="T22" fmla="*/ 32 w 36"/>
                <a:gd name="T23" fmla="*/ 16 h 32"/>
                <a:gd name="T24" fmla="*/ 32 w 36"/>
                <a:gd name="T25" fmla="*/ 16 h 32"/>
                <a:gd name="T26" fmla="*/ 36 w 36"/>
                <a:gd name="T27" fmla="*/ 16 h 32"/>
                <a:gd name="T28" fmla="*/ 36 w 36"/>
                <a:gd name="T29" fmla="*/ 16 h 32"/>
                <a:gd name="T30" fmla="*/ 36 w 36"/>
                <a:gd name="T31" fmla="*/ 20 h 32"/>
                <a:gd name="T32" fmla="*/ 32 w 36"/>
                <a:gd name="T33" fmla="*/ 20 h 32"/>
                <a:gd name="T34" fmla="*/ 24 w 36"/>
                <a:gd name="T35" fmla="*/ 20 h 32"/>
                <a:gd name="T36" fmla="*/ 32 w 36"/>
                <a:gd name="T37" fmla="*/ 24 h 32"/>
                <a:gd name="T38" fmla="*/ 32 w 36"/>
                <a:gd name="T39" fmla="*/ 24 h 32"/>
                <a:gd name="T40" fmla="*/ 32 w 36"/>
                <a:gd name="T41" fmla="*/ 24 h 32"/>
                <a:gd name="T42" fmla="*/ 32 w 36"/>
                <a:gd name="T43" fmla="*/ 24 h 32"/>
                <a:gd name="T44" fmla="*/ 28 w 36"/>
                <a:gd name="T45" fmla="*/ 24 h 32"/>
                <a:gd name="T46" fmla="*/ 20 w 36"/>
                <a:gd name="T47" fmla="*/ 32 h 32"/>
                <a:gd name="T48" fmla="*/ 16 w 36"/>
                <a:gd name="T49" fmla="*/ 32 h 32"/>
                <a:gd name="T50" fmla="*/ 16 w 36"/>
                <a:gd name="T51" fmla="*/ 32 h 32"/>
                <a:gd name="T52" fmla="*/ 12 w 36"/>
                <a:gd name="T53" fmla="*/ 32 h 32"/>
                <a:gd name="T54" fmla="*/ 12 w 36"/>
                <a:gd name="T55" fmla="*/ 28 h 32"/>
                <a:gd name="T56" fmla="*/ 12 w 36"/>
                <a:gd name="T57" fmla="*/ 28 h 32"/>
                <a:gd name="T58" fmla="*/ 12 w 36"/>
                <a:gd name="T59" fmla="*/ 20 h 32"/>
                <a:gd name="T60" fmla="*/ 8 w 36"/>
                <a:gd name="T61" fmla="*/ 28 h 32"/>
                <a:gd name="T62" fmla="*/ 8 w 36"/>
                <a:gd name="T63" fmla="*/ 28 h 32"/>
                <a:gd name="T64" fmla="*/ 4 w 36"/>
                <a:gd name="T65" fmla="*/ 28 h 32"/>
                <a:gd name="T66" fmla="*/ 0 w 36"/>
                <a:gd name="T67" fmla="*/ 28 h 32"/>
                <a:gd name="T68" fmla="*/ 0 w 36"/>
                <a:gd name="T69" fmla="*/ 24 h 32"/>
                <a:gd name="T70" fmla="*/ 8 w 36"/>
                <a:gd name="T71" fmla="*/ 20 h 32"/>
                <a:gd name="T72" fmla="*/ 4 w 36"/>
                <a:gd name="T73" fmla="*/ 16 h 32"/>
                <a:gd name="T74" fmla="*/ 0 w 36"/>
                <a:gd name="T75" fmla="*/ 16 h 32"/>
                <a:gd name="T76" fmla="*/ 0 w 36"/>
                <a:gd name="T77" fmla="*/ 16 h 32"/>
                <a:gd name="T78" fmla="*/ 4 w 36"/>
                <a:gd name="T79" fmla="*/ 16 h 32"/>
                <a:gd name="T80" fmla="*/ 4 w 36"/>
                <a:gd name="T81" fmla="*/ 16 h 32"/>
                <a:gd name="T82" fmla="*/ 12 w 36"/>
                <a:gd name="T83" fmla="*/ 12 h 32"/>
                <a:gd name="T84" fmla="*/ 8 w 36"/>
                <a:gd name="T85" fmla="*/ 12 h 32"/>
                <a:gd name="T86" fmla="*/ 4 w 36"/>
                <a:gd name="T87" fmla="*/ 8 h 32"/>
                <a:gd name="T88" fmla="*/ 4 w 36"/>
                <a:gd name="T89" fmla="*/ 8 h 32"/>
                <a:gd name="T90" fmla="*/ 4 w 36"/>
                <a:gd name="T91" fmla="*/ 8 h 32"/>
                <a:gd name="T92" fmla="*/ 8 w 36"/>
                <a:gd name="T93" fmla="*/ 8 h 32"/>
                <a:gd name="T94" fmla="*/ 20 w 36"/>
                <a:gd name="T95" fmla="*/ 0 h 32"/>
                <a:gd name="T96" fmla="*/ 20 w 36"/>
                <a:gd name="T97" fmla="*/ 20 h 32"/>
                <a:gd name="T98" fmla="*/ 16 w 36"/>
                <a:gd name="T99" fmla="*/ 12 h 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"/>
                <a:gd name="T151" fmla="*/ 0 h 32"/>
                <a:gd name="T152" fmla="*/ 36 w 36"/>
                <a:gd name="T153" fmla="*/ 32 h 3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" h="32">
                  <a:moveTo>
                    <a:pt x="20" y="0"/>
                  </a:move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12"/>
                  </a:lnTo>
                  <a:lnTo>
                    <a:pt x="24" y="12"/>
                  </a:lnTo>
                  <a:lnTo>
                    <a:pt x="28" y="4"/>
                  </a:lnTo>
                  <a:lnTo>
                    <a:pt x="32" y="4"/>
                  </a:lnTo>
                  <a:lnTo>
                    <a:pt x="36" y="4"/>
                  </a:lnTo>
                  <a:lnTo>
                    <a:pt x="36" y="8"/>
                  </a:lnTo>
                  <a:lnTo>
                    <a:pt x="32" y="16"/>
                  </a:lnTo>
                  <a:lnTo>
                    <a:pt x="36" y="16"/>
                  </a:lnTo>
                  <a:lnTo>
                    <a:pt x="36" y="20"/>
                  </a:lnTo>
                  <a:lnTo>
                    <a:pt x="32" y="20"/>
                  </a:lnTo>
                  <a:lnTo>
                    <a:pt x="28" y="16"/>
                  </a:lnTo>
                  <a:lnTo>
                    <a:pt x="24" y="20"/>
                  </a:lnTo>
                  <a:lnTo>
                    <a:pt x="32" y="24"/>
                  </a:lnTo>
                  <a:lnTo>
                    <a:pt x="28" y="24"/>
                  </a:lnTo>
                  <a:lnTo>
                    <a:pt x="24" y="24"/>
                  </a:lnTo>
                  <a:lnTo>
                    <a:pt x="20" y="32"/>
                  </a:lnTo>
                  <a:lnTo>
                    <a:pt x="16" y="32"/>
                  </a:lnTo>
                  <a:lnTo>
                    <a:pt x="12" y="32"/>
                  </a:lnTo>
                  <a:lnTo>
                    <a:pt x="12" y="2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28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8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20" y="0"/>
                  </a:lnTo>
                  <a:close/>
                  <a:moveTo>
                    <a:pt x="16" y="16"/>
                  </a:moveTo>
                  <a:lnTo>
                    <a:pt x="20" y="20"/>
                  </a:lnTo>
                  <a:lnTo>
                    <a:pt x="24" y="16"/>
                  </a:lnTo>
                  <a:lnTo>
                    <a:pt x="16" y="12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61" name="Freeform 364"/>
            <p:cNvSpPr>
              <a:spLocks/>
            </p:cNvSpPr>
            <p:nvPr/>
          </p:nvSpPr>
          <p:spPr bwMode="auto">
            <a:xfrm>
              <a:off x="3365" y="2760"/>
              <a:ext cx="1111" cy="323"/>
            </a:xfrm>
            <a:custGeom>
              <a:avLst/>
              <a:gdLst>
                <a:gd name="T0" fmla="*/ 0 w 1111"/>
                <a:gd name="T1" fmla="*/ 32 h 323"/>
                <a:gd name="T2" fmla="*/ 12 w 1111"/>
                <a:gd name="T3" fmla="*/ 0 h 323"/>
                <a:gd name="T4" fmla="*/ 12 w 1111"/>
                <a:gd name="T5" fmla="*/ 0 h 323"/>
                <a:gd name="T6" fmla="*/ 16 w 1111"/>
                <a:gd name="T7" fmla="*/ 8 h 323"/>
                <a:gd name="T8" fmla="*/ 36 w 1111"/>
                <a:gd name="T9" fmla="*/ 24 h 323"/>
                <a:gd name="T10" fmla="*/ 51 w 1111"/>
                <a:gd name="T11" fmla="*/ 32 h 323"/>
                <a:gd name="T12" fmla="*/ 67 w 1111"/>
                <a:gd name="T13" fmla="*/ 40 h 323"/>
                <a:gd name="T14" fmla="*/ 91 w 1111"/>
                <a:gd name="T15" fmla="*/ 48 h 323"/>
                <a:gd name="T16" fmla="*/ 118 w 1111"/>
                <a:gd name="T17" fmla="*/ 48 h 323"/>
                <a:gd name="T18" fmla="*/ 118 w 1111"/>
                <a:gd name="T19" fmla="*/ 48 h 323"/>
                <a:gd name="T20" fmla="*/ 174 w 1111"/>
                <a:gd name="T21" fmla="*/ 48 h 323"/>
                <a:gd name="T22" fmla="*/ 225 w 1111"/>
                <a:gd name="T23" fmla="*/ 40 h 323"/>
                <a:gd name="T24" fmla="*/ 272 w 1111"/>
                <a:gd name="T25" fmla="*/ 32 h 323"/>
                <a:gd name="T26" fmla="*/ 1111 w 1111"/>
                <a:gd name="T27" fmla="*/ 276 h 323"/>
                <a:gd name="T28" fmla="*/ 1111 w 1111"/>
                <a:gd name="T29" fmla="*/ 323 h 323"/>
                <a:gd name="T30" fmla="*/ 0 w 1111"/>
                <a:gd name="T31" fmla="*/ 32 h 32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11"/>
                <a:gd name="T49" fmla="*/ 0 h 323"/>
                <a:gd name="T50" fmla="*/ 1111 w 1111"/>
                <a:gd name="T51" fmla="*/ 323 h 32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11" h="323">
                  <a:moveTo>
                    <a:pt x="0" y="32"/>
                  </a:moveTo>
                  <a:lnTo>
                    <a:pt x="12" y="0"/>
                  </a:lnTo>
                  <a:lnTo>
                    <a:pt x="16" y="8"/>
                  </a:lnTo>
                  <a:lnTo>
                    <a:pt x="36" y="24"/>
                  </a:lnTo>
                  <a:lnTo>
                    <a:pt x="51" y="32"/>
                  </a:lnTo>
                  <a:lnTo>
                    <a:pt x="67" y="40"/>
                  </a:lnTo>
                  <a:lnTo>
                    <a:pt x="91" y="48"/>
                  </a:lnTo>
                  <a:lnTo>
                    <a:pt x="118" y="48"/>
                  </a:lnTo>
                  <a:lnTo>
                    <a:pt x="174" y="48"/>
                  </a:lnTo>
                  <a:lnTo>
                    <a:pt x="225" y="40"/>
                  </a:lnTo>
                  <a:lnTo>
                    <a:pt x="272" y="32"/>
                  </a:lnTo>
                  <a:lnTo>
                    <a:pt x="1111" y="276"/>
                  </a:lnTo>
                  <a:lnTo>
                    <a:pt x="1111" y="323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262" name="Freeform 365"/>
            <p:cNvSpPr>
              <a:spLocks/>
            </p:cNvSpPr>
            <p:nvPr/>
          </p:nvSpPr>
          <p:spPr bwMode="auto">
            <a:xfrm>
              <a:off x="2936" y="2611"/>
              <a:ext cx="524" cy="401"/>
            </a:xfrm>
            <a:custGeom>
              <a:avLst/>
              <a:gdLst>
                <a:gd name="T0" fmla="*/ 476 w 524"/>
                <a:gd name="T1" fmla="*/ 157 h 401"/>
                <a:gd name="T2" fmla="*/ 433 w 524"/>
                <a:gd name="T3" fmla="*/ 216 h 401"/>
                <a:gd name="T4" fmla="*/ 386 w 524"/>
                <a:gd name="T5" fmla="*/ 268 h 401"/>
                <a:gd name="T6" fmla="*/ 319 w 524"/>
                <a:gd name="T7" fmla="*/ 315 h 401"/>
                <a:gd name="T8" fmla="*/ 248 w 524"/>
                <a:gd name="T9" fmla="*/ 335 h 401"/>
                <a:gd name="T10" fmla="*/ 177 w 524"/>
                <a:gd name="T11" fmla="*/ 331 h 401"/>
                <a:gd name="T12" fmla="*/ 98 w 524"/>
                <a:gd name="T13" fmla="*/ 311 h 401"/>
                <a:gd name="T14" fmla="*/ 79 w 524"/>
                <a:gd name="T15" fmla="*/ 299 h 401"/>
                <a:gd name="T16" fmla="*/ 59 w 524"/>
                <a:gd name="T17" fmla="*/ 279 h 401"/>
                <a:gd name="T18" fmla="*/ 63 w 524"/>
                <a:gd name="T19" fmla="*/ 252 h 401"/>
                <a:gd name="T20" fmla="*/ 94 w 524"/>
                <a:gd name="T21" fmla="*/ 216 h 401"/>
                <a:gd name="T22" fmla="*/ 165 w 524"/>
                <a:gd name="T23" fmla="*/ 169 h 401"/>
                <a:gd name="T24" fmla="*/ 224 w 524"/>
                <a:gd name="T25" fmla="*/ 142 h 401"/>
                <a:gd name="T26" fmla="*/ 323 w 524"/>
                <a:gd name="T27" fmla="*/ 90 h 401"/>
                <a:gd name="T28" fmla="*/ 382 w 524"/>
                <a:gd name="T29" fmla="*/ 71 h 401"/>
                <a:gd name="T30" fmla="*/ 433 w 524"/>
                <a:gd name="T31" fmla="*/ 67 h 401"/>
                <a:gd name="T32" fmla="*/ 441 w 524"/>
                <a:gd name="T33" fmla="*/ 67 h 401"/>
                <a:gd name="T34" fmla="*/ 449 w 524"/>
                <a:gd name="T35" fmla="*/ 51 h 401"/>
                <a:gd name="T36" fmla="*/ 445 w 524"/>
                <a:gd name="T37" fmla="*/ 27 h 401"/>
                <a:gd name="T38" fmla="*/ 429 w 524"/>
                <a:gd name="T39" fmla="*/ 8 h 401"/>
                <a:gd name="T40" fmla="*/ 417 w 524"/>
                <a:gd name="T41" fmla="*/ 4 h 401"/>
                <a:gd name="T42" fmla="*/ 347 w 524"/>
                <a:gd name="T43" fmla="*/ 8 h 401"/>
                <a:gd name="T44" fmla="*/ 268 w 524"/>
                <a:gd name="T45" fmla="*/ 35 h 401"/>
                <a:gd name="T46" fmla="*/ 130 w 524"/>
                <a:gd name="T47" fmla="*/ 106 h 401"/>
                <a:gd name="T48" fmla="*/ 102 w 524"/>
                <a:gd name="T49" fmla="*/ 126 h 401"/>
                <a:gd name="T50" fmla="*/ 47 w 524"/>
                <a:gd name="T51" fmla="*/ 165 h 401"/>
                <a:gd name="T52" fmla="*/ 8 w 524"/>
                <a:gd name="T53" fmla="*/ 220 h 401"/>
                <a:gd name="T54" fmla="*/ 0 w 524"/>
                <a:gd name="T55" fmla="*/ 248 h 401"/>
                <a:gd name="T56" fmla="*/ 4 w 524"/>
                <a:gd name="T57" fmla="*/ 279 h 401"/>
                <a:gd name="T58" fmla="*/ 20 w 524"/>
                <a:gd name="T59" fmla="*/ 311 h 401"/>
                <a:gd name="T60" fmla="*/ 51 w 524"/>
                <a:gd name="T61" fmla="*/ 342 h 401"/>
                <a:gd name="T62" fmla="*/ 126 w 524"/>
                <a:gd name="T63" fmla="*/ 382 h 401"/>
                <a:gd name="T64" fmla="*/ 213 w 524"/>
                <a:gd name="T65" fmla="*/ 401 h 401"/>
                <a:gd name="T66" fmla="*/ 295 w 524"/>
                <a:gd name="T67" fmla="*/ 398 h 401"/>
                <a:gd name="T68" fmla="*/ 335 w 524"/>
                <a:gd name="T69" fmla="*/ 386 h 401"/>
                <a:gd name="T70" fmla="*/ 390 w 524"/>
                <a:gd name="T71" fmla="*/ 358 h 401"/>
                <a:gd name="T72" fmla="*/ 441 w 524"/>
                <a:gd name="T73" fmla="*/ 315 h 401"/>
                <a:gd name="T74" fmla="*/ 520 w 524"/>
                <a:gd name="T75" fmla="*/ 209 h 401"/>
                <a:gd name="T76" fmla="*/ 524 w 524"/>
                <a:gd name="T77" fmla="*/ 201 h 401"/>
                <a:gd name="T78" fmla="*/ 516 w 524"/>
                <a:gd name="T79" fmla="*/ 177 h 401"/>
                <a:gd name="T80" fmla="*/ 500 w 524"/>
                <a:gd name="T81" fmla="*/ 157 h 401"/>
                <a:gd name="T82" fmla="*/ 484 w 524"/>
                <a:gd name="T83" fmla="*/ 149 h 401"/>
                <a:gd name="T84" fmla="*/ 476 w 524"/>
                <a:gd name="T85" fmla="*/ 157 h 40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24"/>
                <a:gd name="T130" fmla="*/ 0 h 401"/>
                <a:gd name="T131" fmla="*/ 524 w 524"/>
                <a:gd name="T132" fmla="*/ 401 h 40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24" h="401">
                  <a:moveTo>
                    <a:pt x="476" y="157"/>
                  </a:moveTo>
                  <a:lnTo>
                    <a:pt x="476" y="157"/>
                  </a:lnTo>
                  <a:lnTo>
                    <a:pt x="457" y="189"/>
                  </a:lnTo>
                  <a:lnTo>
                    <a:pt x="433" y="216"/>
                  </a:lnTo>
                  <a:lnTo>
                    <a:pt x="386" y="268"/>
                  </a:lnTo>
                  <a:lnTo>
                    <a:pt x="354" y="295"/>
                  </a:lnTo>
                  <a:lnTo>
                    <a:pt x="319" y="315"/>
                  </a:lnTo>
                  <a:lnTo>
                    <a:pt x="283" y="327"/>
                  </a:lnTo>
                  <a:lnTo>
                    <a:pt x="248" y="335"/>
                  </a:lnTo>
                  <a:lnTo>
                    <a:pt x="213" y="335"/>
                  </a:lnTo>
                  <a:lnTo>
                    <a:pt x="177" y="331"/>
                  </a:lnTo>
                  <a:lnTo>
                    <a:pt x="138" y="323"/>
                  </a:lnTo>
                  <a:lnTo>
                    <a:pt x="98" y="311"/>
                  </a:lnTo>
                  <a:lnTo>
                    <a:pt x="79" y="299"/>
                  </a:lnTo>
                  <a:lnTo>
                    <a:pt x="67" y="287"/>
                  </a:lnTo>
                  <a:lnTo>
                    <a:pt x="59" y="279"/>
                  </a:lnTo>
                  <a:lnTo>
                    <a:pt x="59" y="268"/>
                  </a:lnTo>
                  <a:lnTo>
                    <a:pt x="63" y="252"/>
                  </a:lnTo>
                  <a:lnTo>
                    <a:pt x="71" y="240"/>
                  </a:lnTo>
                  <a:lnTo>
                    <a:pt x="94" y="216"/>
                  </a:lnTo>
                  <a:lnTo>
                    <a:pt x="130" y="193"/>
                  </a:lnTo>
                  <a:lnTo>
                    <a:pt x="165" y="169"/>
                  </a:lnTo>
                  <a:lnTo>
                    <a:pt x="224" y="142"/>
                  </a:lnTo>
                  <a:lnTo>
                    <a:pt x="268" y="114"/>
                  </a:lnTo>
                  <a:lnTo>
                    <a:pt x="323" y="90"/>
                  </a:lnTo>
                  <a:lnTo>
                    <a:pt x="350" y="79"/>
                  </a:lnTo>
                  <a:lnTo>
                    <a:pt x="382" y="71"/>
                  </a:lnTo>
                  <a:lnTo>
                    <a:pt x="406" y="67"/>
                  </a:lnTo>
                  <a:lnTo>
                    <a:pt x="433" y="67"/>
                  </a:lnTo>
                  <a:lnTo>
                    <a:pt x="441" y="67"/>
                  </a:lnTo>
                  <a:lnTo>
                    <a:pt x="449" y="59"/>
                  </a:lnTo>
                  <a:lnTo>
                    <a:pt x="449" y="51"/>
                  </a:lnTo>
                  <a:lnTo>
                    <a:pt x="449" y="39"/>
                  </a:lnTo>
                  <a:lnTo>
                    <a:pt x="445" y="27"/>
                  </a:lnTo>
                  <a:lnTo>
                    <a:pt x="437" y="16"/>
                  </a:lnTo>
                  <a:lnTo>
                    <a:pt x="429" y="8"/>
                  </a:lnTo>
                  <a:lnTo>
                    <a:pt x="417" y="4"/>
                  </a:lnTo>
                  <a:lnTo>
                    <a:pt x="382" y="0"/>
                  </a:lnTo>
                  <a:lnTo>
                    <a:pt x="347" y="8"/>
                  </a:lnTo>
                  <a:lnTo>
                    <a:pt x="307" y="20"/>
                  </a:lnTo>
                  <a:lnTo>
                    <a:pt x="268" y="35"/>
                  </a:lnTo>
                  <a:lnTo>
                    <a:pt x="193" y="71"/>
                  </a:lnTo>
                  <a:lnTo>
                    <a:pt x="130" y="106"/>
                  </a:lnTo>
                  <a:lnTo>
                    <a:pt x="102" y="126"/>
                  </a:lnTo>
                  <a:lnTo>
                    <a:pt x="75" y="142"/>
                  </a:lnTo>
                  <a:lnTo>
                    <a:pt x="47" y="165"/>
                  </a:lnTo>
                  <a:lnTo>
                    <a:pt x="24" y="193"/>
                  </a:lnTo>
                  <a:lnTo>
                    <a:pt x="8" y="220"/>
                  </a:lnTo>
                  <a:lnTo>
                    <a:pt x="0" y="232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4" y="279"/>
                  </a:lnTo>
                  <a:lnTo>
                    <a:pt x="8" y="295"/>
                  </a:lnTo>
                  <a:lnTo>
                    <a:pt x="20" y="311"/>
                  </a:lnTo>
                  <a:lnTo>
                    <a:pt x="51" y="342"/>
                  </a:lnTo>
                  <a:lnTo>
                    <a:pt x="87" y="366"/>
                  </a:lnTo>
                  <a:lnTo>
                    <a:pt x="126" y="382"/>
                  </a:lnTo>
                  <a:lnTo>
                    <a:pt x="169" y="394"/>
                  </a:lnTo>
                  <a:lnTo>
                    <a:pt x="213" y="401"/>
                  </a:lnTo>
                  <a:lnTo>
                    <a:pt x="256" y="401"/>
                  </a:lnTo>
                  <a:lnTo>
                    <a:pt x="295" y="398"/>
                  </a:lnTo>
                  <a:lnTo>
                    <a:pt x="335" y="386"/>
                  </a:lnTo>
                  <a:lnTo>
                    <a:pt x="366" y="374"/>
                  </a:lnTo>
                  <a:lnTo>
                    <a:pt x="390" y="358"/>
                  </a:lnTo>
                  <a:lnTo>
                    <a:pt x="417" y="338"/>
                  </a:lnTo>
                  <a:lnTo>
                    <a:pt x="441" y="315"/>
                  </a:lnTo>
                  <a:lnTo>
                    <a:pt x="484" y="264"/>
                  </a:lnTo>
                  <a:lnTo>
                    <a:pt x="520" y="209"/>
                  </a:lnTo>
                  <a:lnTo>
                    <a:pt x="524" y="201"/>
                  </a:lnTo>
                  <a:lnTo>
                    <a:pt x="524" y="189"/>
                  </a:lnTo>
                  <a:lnTo>
                    <a:pt x="516" y="177"/>
                  </a:lnTo>
                  <a:lnTo>
                    <a:pt x="508" y="165"/>
                  </a:lnTo>
                  <a:lnTo>
                    <a:pt x="500" y="157"/>
                  </a:lnTo>
                  <a:lnTo>
                    <a:pt x="492" y="149"/>
                  </a:lnTo>
                  <a:lnTo>
                    <a:pt x="484" y="149"/>
                  </a:lnTo>
                  <a:lnTo>
                    <a:pt x="476" y="1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732" name="Text Box 366"/>
          <p:cNvSpPr txBox="1">
            <a:spLocks noChangeArrowheads="1"/>
          </p:cNvSpPr>
          <p:nvPr/>
        </p:nvSpPr>
        <p:spPr bwMode="auto">
          <a:xfrm flipH="1">
            <a:off x="7777163" y="5300663"/>
            <a:ext cx="430212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POTS</a:t>
            </a:r>
          </a:p>
          <a:p>
            <a:r>
              <a:rPr lang="en-US" altLang="ru-RU" sz="1000">
                <a:latin typeface="Times New Roman" pitchFamily="18" charset="0"/>
              </a:rPr>
              <a:t>ISDN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33" name="Line 367"/>
          <p:cNvSpPr>
            <a:spLocks noChangeShapeType="1"/>
          </p:cNvSpPr>
          <p:nvPr/>
        </p:nvSpPr>
        <p:spPr bwMode="auto">
          <a:xfrm>
            <a:off x="7200900" y="4724400"/>
            <a:ext cx="504825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34" name="Line 368"/>
          <p:cNvSpPr>
            <a:spLocks noChangeShapeType="1"/>
          </p:cNvSpPr>
          <p:nvPr/>
        </p:nvSpPr>
        <p:spPr bwMode="auto">
          <a:xfrm>
            <a:off x="7200900" y="4724400"/>
            <a:ext cx="360363" cy="576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35" name="Line 369"/>
          <p:cNvSpPr>
            <a:spLocks noChangeShapeType="1"/>
          </p:cNvSpPr>
          <p:nvPr/>
        </p:nvSpPr>
        <p:spPr bwMode="auto">
          <a:xfrm flipV="1">
            <a:off x="7634288" y="5013325"/>
            <a:ext cx="142875" cy="287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grpSp>
        <p:nvGrpSpPr>
          <p:cNvPr id="9" name="Group 370"/>
          <p:cNvGrpSpPr>
            <a:grpSpLocks/>
          </p:cNvGrpSpPr>
          <p:nvPr/>
        </p:nvGrpSpPr>
        <p:grpSpPr bwMode="auto">
          <a:xfrm>
            <a:off x="6986588" y="5588000"/>
            <a:ext cx="431800" cy="273050"/>
            <a:chOff x="2936" y="1784"/>
            <a:chExt cx="2040" cy="1370"/>
          </a:xfrm>
        </p:grpSpPr>
        <p:sp>
          <p:nvSpPr>
            <p:cNvPr id="28097" name="Freeform 371"/>
            <p:cNvSpPr>
              <a:spLocks/>
            </p:cNvSpPr>
            <p:nvPr/>
          </p:nvSpPr>
          <p:spPr bwMode="auto">
            <a:xfrm>
              <a:off x="3314" y="1784"/>
              <a:ext cx="1662" cy="1370"/>
            </a:xfrm>
            <a:custGeom>
              <a:avLst/>
              <a:gdLst>
                <a:gd name="T0" fmla="*/ 1650 w 1662"/>
                <a:gd name="T1" fmla="*/ 319 h 1370"/>
                <a:gd name="T2" fmla="*/ 1631 w 1662"/>
                <a:gd name="T3" fmla="*/ 315 h 1370"/>
                <a:gd name="T4" fmla="*/ 1627 w 1662"/>
                <a:gd name="T5" fmla="*/ 299 h 1370"/>
                <a:gd name="T6" fmla="*/ 1615 w 1662"/>
                <a:gd name="T7" fmla="*/ 279 h 1370"/>
                <a:gd name="T8" fmla="*/ 1599 w 1662"/>
                <a:gd name="T9" fmla="*/ 272 h 1370"/>
                <a:gd name="T10" fmla="*/ 1595 w 1662"/>
                <a:gd name="T11" fmla="*/ 272 h 1370"/>
                <a:gd name="T12" fmla="*/ 1583 w 1662"/>
                <a:gd name="T13" fmla="*/ 248 h 1370"/>
                <a:gd name="T14" fmla="*/ 1576 w 1662"/>
                <a:gd name="T15" fmla="*/ 248 h 1370"/>
                <a:gd name="T16" fmla="*/ 1320 w 1662"/>
                <a:gd name="T17" fmla="*/ 209 h 1370"/>
                <a:gd name="T18" fmla="*/ 1150 w 1662"/>
                <a:gd name="T19" fmla="*/ 173 h 1370"/>
                <a:gd name="T20" fmla="*/ 1028 w 1662"/>
                <a:gd name="T21" fmla="*/ 157 h 1370"/>
                <a:gd name="T22" fmla="*/ 985 w 1662"/>
                <a:gd name="T23" fmla="*/ 157 h 1370"/>
                <a:gd name="T24" fmla="*/ 957 w 1662"/>
                <a:gd name="T25" fmla="*/ 165 h 1370"/>
                <a:gd name="T26" fmla="*/ 898 w 1662"/>
                <a:gd name="T27" fmla="*/ 197 h 1370"/>
                <a:gd name="T28" fmla="*/ 874 w 1662"/>
                <a:gd name="T29" fmla="*/ 216 h 1370"/>
                <a:gd name="T30" fmla="*/ 874 w 1662"/>
                <a:gd name="T31" fmla="*/ 216 h 1370"/>
                <a:gd name="T32" fmla="*/ 882 w 1662"/>
                <a:gd name="T33" fmla="*/ 201 h 1370"/>
                <a:gd name="T34" fmla="*/ 890 w 1662"/>
                <a:gd name="T35" fmla="*/ 102 h 1370"/>
                <a:gd name="T36" fmla="*/ 867 w 1662"/>
                <a:gd name="T37" fmla="*/ 87 h 1370"/>
                <a:gd name="T38" fmla="*/ 855 w 1662"/>
                <a:gd name="T39" fmla="*/ 71 h 1370"/>
                <a:gd name="T40" fmla="*/ 831 w 1662"/>
                <a:gd name="T41" fmla="*/ 51 h 1370"/>
                <a:gd name="T42" fmla="*/ 741 w 1662"/>
                <a:gd name="T43" fmla="*/ 12 h 1370"/>
                <a:gd name="T44" fmla="*/ 693 w 1662"/>
                <a:gd name="T45" fmla="*/ 0 h 1370"/>
                <a:gd name="T46" fmla="*/ 642 w 1662"/>
                <a:gd name="T47" fmla="*/ 4 h 1370"/>
                <a:gd name="T48" fmla="*/ 618 w 1662"/>
                <a:gd name="T49" fmla="*/ 8 h 1370"/>
                <a:gd name="T50" fmla="*/ 567 w 1662"/>
                <a:gd name="T51" fmla="*/ 31 h 1370"/>
                <a:gd name="T52" fmla="*/ 500 w 1662"/>
                <a:gd name="T53" fmla="*/ 79 h 1370"/>
                <a:gd name="T54" fmla="*/ 461 w 1662"/>
                <a:gd name="T55" fmla="*/ 114 h 1370"/>
                <a:gd name="T56" fmla="*/ 390 w 1662"/>
                <a:gd name="T57" fmla="*/ 189 h 1370"/>
                <a:gd name="T58" fmla="*/ 327 w 1662"/>
                <a:gd name="T59" fmla="*/ 268 h 1370"/>
                <a:gd name="T60" fmla="*/ 221 w 1662"/>
                <a:gd name="T61" fmla="*/ 445 h 1370"/>
                <a:gd name="T62" fmla="*/ 130 w 1662"/>
                <a:gd name="T63" fmla="*/ 630 h 1370"/>
                <a:gd name="T64" fmla="*/ 55 w 1662"/>
                <a:gd name="T65" fmla="*/ 823 h 1370"/>
                <a:gd name="T66" fmla="*/ 39 w 1662"/>
                <a:gd name="T67" fmla="*/ 854 h 1370"/>
                <a:gd name="T68" fmla="*/ 39 w 1662"/>
                <a:gd name="T69" fmla="*/ 858 h 1370"/>
                <a:gd name="T70" fmla="*/ 39 w 1662"/>
                <a:gd name="T71" fmla="*/ 866 h 1370"/>
                <a:gd name="T72" fmla="*/ 39 w 1662"/>
                <a:gd name="T73" fmla="*/ 874 h 1370"/>
                <a:gd name="T74" fmla="*/ 20 w 1662"/>
                <a:gd name="T75" fmla="*/ 890 h 1370"/>
                <a:gd name="T76" fmla="*/ 4 w 1662"/>
                <a:gd name="T77" fmla="*/ 917 h 1370"/>
                <a:gd name="T78" fmla="*/ 0 w 1662"/>
                <a:gd name="T79" fmla="*/ 957 h 1370"/>
                <a:gd name="T80" fmla="*/ 12 w 1662"/>
                <a:gd name="T81" fmla="*/ 1028 h 1370"/>
                <a:gd name="T82" fmla="*/ 20 w 1662"/>
                <a:gd name="T83" fmla="*/ 1043 h 1370"/>
                <a:gd name="T84" fmla="*/ 32 w 1662"/>
                <a:gd name="T85" fmla="*/ 1051 h 1370"/>
                <a:gd name="T86" fmla="*/ 55 w 1662"/>
                <a:gd name="T87" fmla="*/ 1059 h 1370"/>
                <a:gd name="T88" fmla="*/ 59 w 1662"/>
                <a:gd name="T89" fmla="*/ 1067 h 1370"/>
                <a:gd name="T90" fmla="*/ 71 w 1662"/>
                <a:gd name="T91" fmla="*/ 1106 h 1370"/>
                <a:gd name="T92" fmla="*/ 95 w 1662"/>
                <a:gd name="T93" fmla="*/ 1118 h 1370"/>
                <a:gd name="T94" fmla="*/ 256 w 1662"/>
                <a:gd name="T95" fmla="*/ 1201 h 1370"/>
                <a:gd name="T96" fmla="*/ 386 w 1662"/>
                <a:gd name="T97" fmla="*/ 1252 h 1370"/>
                <a:gd name="T98" fmla="*/ 540 w 1662"/>
                <a:gd name="T99" fmla="*/ 1303 h 1370"/>
                <a:gd name="T100" fmla="*/ 717 w 1662"/>
                <a:gd name="T101" fmla="*/ 1343 h 1370"/>
                <a:gd name="T102" fmla="*/ 910 w 1662"/>
                <a:gd name="T103" fmla="*/ 1370 h 1370"/>
                <a:gd name="T104" fmla="*/ 1111 w 1662"/>
                <a:gd name="T105" fmla="*/ 1370 h 1370"/>
                <a:gd name="T106" fmla="*/ 1170 w 1662"/>
                <a:gd name="T107" fmla="*/ 1362 h 1370"/>
                <a:gd name="T108" fmla="*/ 1241 w 1662"/>
                <a:gd name="T109" fmla="*/ 1347 h 1370"/>
                <a:gd name="T110" fmla="*/ 1615 w 1662"/>
                <a:gd name="T111" fmla="*/ 693 h 1370"/>
                <a:gd name="T112" fmla="*/ 1639 w 1662"/>
                <a:gd name="T113" fmla="*/ 547 h 1370"/>
                <a:gd name="T114" fmla="*/ 1650 w 1662"/>
                <a:gd name="T115" fmla="*/ 441 h 137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62"/>
                <a:gd name="T175" fmla="*/ 0 h 1370"/>
                <a:gd name="T176" fmla="*/ 1662 w 1662"/>
                <a:gd name="T177" fmla="*/ 1370 h 137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62" h="1370">
                  <a:moveTo>
                    <a:pt x="1650" y="441"/>
                  </a:moveTo>
                  <a:lnTo>
                    <a:pt x="1650" y="319"/>
                  </a:lnTo>
                  <a:lnTo>
                    <a:pt x="1631" y="315"/>
                  </a:lnTo>
                  <a:lnTo>
                    <a:pt x="1627" y="299"/>
                  </a:lnTo>
                  <a:lnTo>
                    <a:pt x="1623" y="287"/>
                  </a:lnTo>
                  <a:lnTo>
                    <a:pt x="1615" y="279"/>
                  </a:lnTo>
                  <a:lnTo>
                    <a:pt x="1603" y="272"/>
                  </a:lnTo>
                  <a:lnTo>
                    <a:pt x="1599" y="272"/>
                  </a:lnTo>
                  <a:lnTo>
                    <a:pt x="1595" y="272"/>
                  </a:lnTo>
                  <a:lnTo>
                    <a:pt x="1587" y="256"/>
                  </a:lnTo>
                  <a:lnTo>
                    <a:pt x="1583" y="248"/>
                  </a:lnTo>
                  <a:lnTo>
                    <a:pt x="1576" y="248"/>
                  </a:lnTo>
                  <a:lnTo>
                    <a:pt x="1320" y="209"/>
                  </a:lnTo>
                  <a:lnTo>
                    <a:pt x="1237" y="193"/>
                  </a:lnTo>
                  <a:lnTo>
                    <a:pt x="1150" y="173"/>
                  </a:lnTo>
                  <a:lnTo>
                    <a:pt x="1067" y="161"/>
                  </a:lnTo>
                  <a:lnTo>
                    <a:pt x="1028" y="157"/>
                  </a:lnTo>
                  <a:lnTo>
                    <a:pt x="985" y="157"/>
                  </a:lnTo>
                  <a:lnTo>
                    <a:pt x="973" y="161"/>
                  </a:lnTo>
                  <a:lnTo>
                    <a:pt x="957" y="165"/>
                  </a:lnTo>
                  <a:lnTo>
                    <a:pt x="926" y="177"/>
                  </a:lnTo>
                  <a:lnTo>
                    <a:pt x="898" y="197"/>
                  </a:lnTo>
                  <a:lnTo>
                    <a:pt x="874" y="216"/>
                  </a:lnTo>
                  <a:lnTo>
                    <a:pt x="874" y="213"/>
                  </a:lnTo>
                  <a:lnTo>
                    <a:pt x="882" y="201"/>
                  </a:lnTo>
                  <a:lnTo>
                    <a:pt x="898" y="185"/>
                  </a:lnTo>
                  <a:lnTo>
                    <a:pt x="890" y="102"/>
                  </a:lnTo>
                  <a:lnTo>
                    <a:pt x="867" y="87"/>
                  </a:lnTo>
                  <a:lnTo>
                    <a:pt x="855" y="71"/>
                  </a:lnTo>
                  <a:lnTo>
                    <a:pt x="831" y="51"/>
                  </a:lnTo>
                  <a:lnTo>
                    <a:pt x="788" y="27"/>
                  </a:lnTo>
                  <a:lnTo>
                    <a:pt x="741" y="12"/>
                  </a:lnTo>
                  <a:lnTo>
                    <a:pt x="717" y="4"/>
                  </a:lnTo>
                  <a:lnTo>
                    <a:pt x="693" y="0"/>
                  </a:lnTo>
                  <a:lnTo>
                    <a:pt x="670" y="0"/>
                  </a:lnTo>
                  <a:lnTo>
                    <a:pt x="642" y="4"/>
                  </a:lnTo>
                  <a:lnTo>
                    <a:pt x="618" y="8"/>
                  </a:lnTo>
                  <a:lnTo>
                    <a:pt x="591" y="20"/>
                  </a:lnTo>
                  <a:lnTo>
                    <a:pt x="567" y="31"/>
                  </a:lnTo>
                  <a:lnTo>
                    <a:pt x="544" y="47"/>
                  </a:lnTo>
                  <a:lnTo>
                    <a:pt x="500" y="79"/>
                  </a:lnTo>
                  <a:lnTo>
                    <a:pt x="461" y="114"/>
                  </a:lnTo>
                  <a:lnTo>
                    <a:pt x="425" y="150"/>
                  </a:lnTo>
                  <a:lnTo>
                    <a:pt x="390" y="189"/>
                  </a:lnTo>
                  <a:lnTo>
                    <a:pt x="358" y="228"/>
                  </a:lnTo>
                  <a:lnTo>
                    <a:pt x="327" y="268"/>
                  </a:lnTo>
                  <a:lnTo>
                    <a:pt x="272" y="354"/>
                  </a:lnTo>
                  <a:lnTo>
                    <a:pt x="221" y="445"/>
                  </a:lnTo>
                  <a:lnTo>
                    <a:pt x="173" y="535"/>
                  </a:lnTo>
                  <a:lnTo>
                    <a:pt x="130" y="630"/>
                  </a:lnTo>
                  <a:lnTo>
                    <a:pt x="55" y="823"/>
                  </a:lnTo>
                  <a:lnTo>
                    <a:pt x="39" y="854"/>
                  </a:lnTo>
                  <a:lnTo>
                    <a:pt x="39" y="858"/>
                  </a:lnTo>
                  <a:lnTo>
                    <a:pt x="39" y="866"/>
                  </a:lnTo>
                  <a:lnTo>
                    <a:pt x="39" y="874"/>
                  </a:lnTo>
                  <a:lnTo>
                    <a:pt x="20" y="890"/>
                  </a:lnTo>
                  <a:lnTo>
                    <a:pt x="8" y="902"/>
                  </a:lnTo>
                  <a:lnTo>
                    <a:pt x="4" y="917"/>
                  </a:lnTo>
                  <a:lnTo>
                    <a:pt x="0" y="937"/>
                  </a:lnTo>
                  <a:lnTo>
                    <a:pt x="0" y="957"/>
                  </a:lnTo>
                  <a:lnTo>
                    <a:pt x="4" y="992"/>
                  </a:lnTo>
                  <a:lnTo>
                    <a:pt x="12" y="1028"/>
                  </a:lnTo>
                  <a:lnTo>
                    <a:pt x="20" y="1043"/>
                  </a:lnTo>
                  <a:lnTo>
                    <a:pt x="24" y="1047"/>
                  </a:lnTo>
                  <a:lnTo>
                    <a:pt x="32" y="1051"/>
                  </a:lnTo>
                  <a:lnTo>
                    <a:pt x="55" y="1059"/>
                  </a:lnTo>
                  <a:lnTo>
                    <a:pt x="59" y="1067"/>
                  </a:lnTo>
                  <a:lnTo>
                    <a:pt x="63" y="1067"/>
                  </a:lnTo>
                  <a:lnTo>
                    <a:pt x="71" y="1106"/>
                  </a:lnTo>
                  <a:lnTo>
                    <a:pt x="95" y="1118"/>
                  </a:lnTo>
                  <a:lnTo>
                    <a:pt x="158" y="1154"/>
                  </a:lnTo>
                  <a:lnTo>
                    <a:pt x="256" y="1201"/>
                  </a:lnTo>
                  <a:lnTo>
                    <a:pt x="319" y="1225"/>
                  </a:lnTo>
                  <a:lnTo>
                    <a:pt x="386" y="1252"/>
                  </a:lnTo>
                  <a:lnTo>
                    <a:pt x="461" y="1280"/>
                  </a:lnTo>
                  <a:lnTo>
                    <a:pt x="540" y="1303"/>
                  </a:lnTo>
                  <a:lnTo>
                    <a:pt x="626" y="1327"/>
                  </a:lnTo>
                  <a:lnTo>
                    <a:pt x="717" y="1343"/>
                  </a:lnTo>
                  <a:lnTo>
                    <a:pt x="811" y="1358"/>
                  </a:lnTo>
                  <a:lnTo>
                    <a:pt x="910" y="1370"/>
                  </a:lnTo>
                  <a:lnTo>
                    <a:pt x="1008" y="1370"/>
                  </a:lnTo>
                  <a:lnTo>
                    <a:pt x="1111" y="1370"/>
                  </a:lnTo>
                  <a:lnTo>
                    <a:pt x="1170" y="1362"/>
                  </a:lnTo>
                  <a:lnTo>
                    <a:pt x="1213" y="1354"/>
                  </a:lnTo>
                  <a:lnTo>
                    <a:pt x="1241" y="1347"/>
                  </a:lnTo>
                  <a:lnTo>
                    <a:pt x="1615" y="728"/>
                  </a:lnTo>
                  <a:lnTo>
                    <a:pt x="1615" y="693"/>
                  </a:lnTo>
                  <a:lnTo>
                    <a:pt x="1639" y="622"/>
                  </a:lnTo>
                  <a:lnTo>
                    <a:pt x="1639" y="547"/>
                  </a:lnTo>
                  <a:lnTo>
                    <a:pt x="1662" y="496"/>
                  </a:lnTo>
                  <a:lnTo>
                    <a:pt x="1650" y="4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98" name="Freeform 372"/>
            <p:cNvSpPr>
              <a:spLocks/>
            </p:cNvSpPr>
            <p:nvPr/>
          </p:nvSpPr>
          <p:spPr bwMode="auto">
            <a:xfrm>
              <a:off x="2983" y="2697"/>
              <a:ext cx="465" cy="339"/>
            </a:xfrm>
            <a:custGeom>
              <a:avLst/>
              <a:gdLst>
                <a:gd name="T0" fmla="*/ 465 w 465"/>
                <a:gd name="T1" fmla="*/ 197 h 339"/>
                <a:gd name="T2" fmla="*/ 465 w 465"/>
                <a:gd name="T3" fmla="*/ 197 h 339"/>
                <a:gd name="T4" fmla="*/ 445 w 465"/>
                <a:gd name="T5" fmla="*/ 225 h 339"/>
                <a:gd name="T6" fmla="*/ 422 w 465"/>
                <a:gd name="T7" fmla="*/ 249 h 339"/>
                <a:gd name="T8" fmla="*/ 386 w 465"/>
                <a:gd name="T9" fmla="*/ 276 h 339"/>
                <a:gd name="T10" fmla="*/ 347 w 465"/>
                <a:gd name="T11" fmla="*/ 304 h 339"/>
                <a:gd name="T12" fmla="*/ 323 w 465"/>
                <a:gd name="T13" fmla="*/ 315 h 339"/>
                <a:gd name="T14" fmla="*/ 300 w 465"/>
                <a:gd name="T15" fmla="*/ 327 h 339"/>
                <a:gd name="T16" fmla="*/ 276 w 465"/>
                <a:gd name="T17" fmla="*/ 335 h 339"/>
                <a:gd name="T18" fmla="*/ 248 w 465"/>
                <a:gd name="T19" fmla="*/ 339 h 339"/>
                <a:gd name="T20" fmla="*/ 221 w 465"/>
                <a:gd name="T21" fmla="*/ 339 h 339"/>
                <a:gd name="T22" fmla="*/ 189 w 465"/>
                <a:gd name="T23" fmla="*/ 335 h 339"/>
                <a:gd name="T24" fmla="*/ 189 w 465"/>
                <a:gd name="T25" fmla="*/ 335 h 339"/>
                <a:gd name="T26" fmla="*/ 134 w 465"/>
                <a:gd name="T27" fmla="*/ 323 h 339"/>
                <a:gd name="T28" fmla="*/ 87 w 465"/>
                <a:gd name="T29" fmla="*/ 312 h 339"/>
                <a:gd name="T30" fmla="*/ 51 w 465"/>
                <a:gd name="T31" fmla="*/ 292 h 339"/>
                <a:gd name="T32" fmla="*/ 24 w 465"/>
                <a:gd name="T33" fmla="*/ 276 h 339"/>
                <a:gd name="T34" fmla="*/ 12 w 465"/>
                <a:gd name="T35" fmla="*/ 264 h 339"/>
                <a:gd name="T36" fmla="*/ 8 w 465"/>
                <a:gd name="T37" fmla="*/ 252 h 339"/>
                <a:gd name="T38" fmla="*/ 4 w 465"/>
                <a:gd name="T39" fmla="*/ 241 h 339"/>
                <a:gd name="T40" fmla="*/ 0 w 465"/>
                <a:gd name="T41" fmla="*/ 229 h 339"/>
                <a:gd name="T42" fmla="*/ 4 w 465"/>
                <a:gd name="T43" fmla="*/ 217 h 339"/>
                <a:gd name="T44" fmla="*/ 8 w 465"/>
                <a:gd name="T45" fmla="*/ 205 h 339"/>
                <a:gd name="T46" fmla="*/ 16 w 465"/>
                <a:gd name="T47" fmla="*/ 193 h 339"/>
                <a:gd name="T48" fmla="*/ 24 w 465"/>
                <a:gd name="T49" fmla="*/ 178 h 339"/>
                <a:gd name="T50" fmla="*/ 24 w 465"/>
                <a:gd name="T51" fmla="*/ 178 h 339"/>
                <a:gd name="T52" fmla="*/ 55 w 465"/>
                <a:gd name="T53" fmla="*/ 150 h 339"/>
                <a:gd name="T54" fmla="*/ 95 w 465"/>
                <a:gd name="T55" fmla="*/ 123 h 339"/>
                <a:gd name="T56" fmla="*/ 142 w 465"/>
                <a:gd name="T57" fmla="*/ 95 h 339"/>
                <a:gd name="T58" fmla="*/ 189 w 465"/>
                <a:gd name="T59" fmla="*/ 71 h 339"/>
                <a:gd name="T60" fmla="*/ 280 w 465"/>
                <a:gd name="T61" fmla="*/ 32 h 339"/>
                <a:gd name="T62" fmla="*/ 339 w 465"/>
                <a:gd name="T63" fmla="*/ 8 h 339"/>
                <a:gd name="T64" fmla="*/ 339 w 465"/>
                <a:gd name="T65" fmla="*/ 8 h 339"/>
                <a:gd name="T66" fmla="*/ 374 w 465"/>
                <a:gd name="T67" fmla="*/ 4 h 339"/>
                <a:gd name="T68" fmla="*/ 398 w 465"/>
                <a:gd name="T69" fmla="*/ 0 h 339"/>
                <a:gd name="T70" fmla="*/ 422 w 465"/>
                <a:gd name="T71" fmla="*/ 4 h 33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5"/>
                <a:gd name="T109" fmla="*/ 0 h 339"/>
                <a:gd name="T110" fmla="*/ 465 w 465"/>
                <a:gd name="T111" fmla="*/ 339 h 33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5" h="339">
                  <a:moveTo>
                    <a:pt x="465" y="197"/>
                  </a:moveTo>
                  <a:lnTo>
                    <a:pt x="465" y="197"/>
                  </a:lnTo>
                  <a:lnTo>
                    <a:pt x="445" y="225"/>
                  </a:lnTo>
                  <a:lnTo>
                    <a:pt x="422" y="249"/>
                  </a:lnTo>
                  <a:lnTo>
                    <a:pt x="386" y="276"/>
                  </a:lnTo>
                  <a:lnTo>
                    <a:pt x="347" y="304"/>
                  </a:lnTo>
                  <a:lnTo>
                    <a:pt x="323" y="315"/>
                  </a:lnTo>
                  <a:lnTo>
                    <a:pt x="300" y="327"/>
                  </a:lnTo>
                  <a:lnTo>
                    <a:pt x="276" y="335"/>
                  </a:lnTo>
                  <a:lnTo>
                    <a:pt x="248" y="339"/>
                  </a:lnTo>
                  <a:lnTo>
                    <a:pt x="221" y="339"/>
                  </a:lnTo>
                  <a:lnTo>
                    <a:pt x="189" y="335"/>
                  </a:lnTo>
                  <a:lnTo>
                    <a:pt x="134" y="323"/>
                  </a:lnTo>
                  <a:lnTo>
                    <a:pt x="87" y="312"/>
                  </a:lnTo>
                  <a:lnTo>
                    <a:pt x="51" y="292"/>
                  </a:lnTo>
                  <a:lnTo>
                    <a:pt x="24" y="276"/>
                  </a:lnTo>
                  <a:lnTo>
                    <a:pt x="12" y="264"/>
                  </a:lnTo>
                  <a:lnTo>
                    <a:pt x="8" y="252"/>
                  </a:lnTo>
                  <a:lnTo>
                    <a:pt x="4" y="241"/>
                  </a:lnTo>
                  <a:lnTo>
                    <a:pt x="0" y="229"/>
                  </a:lnTo>
                  <a:lnTo>
                    <a:pt x="4" y="217"/>
                  </a:lnTo>
                  <a:lnTo>
                    <a:pt x="8" y="205"/>
                  </a:lnTo>
                  <a:lnTo>
                    <a:pt x="16" y="193"/>
                  </a:lnTo>
                  <a:lnTo>
                    <a:pt x="24" y="178"/>
                  </a:lnTo>
                  <a:lnTo>
                    <a:pt x="55" y="150"/>
                  </a:lnTo>
                  <a:lnTo>
                    <a:pt x="95" y="123"/>
                  </a:lnTo>
                  <a:lnTo>
                    <a:pt x="142" y="95"/>
                  </a:lnTo>
                  <a:lnTo>
                    <a:pt x="189" y="71"/>
                  </a:lnTo>
                  <a:lnTo>
                    <a:pt x="280" y="32"/>
                  </a:lnTo>
                  <a:lnTo>
                    <a:pt x="339" y="8"/>
                  </a:lnTo>
                  <a:lnTo>
                    <a:pt x="374" y="4"/>
                  </a:lnTo>
                  <a:lnTo>
                    <a:pt x="398" y="0"/>
                  </a:lnTo>
                  <a:lnTo>
                    <a:pt x="422" y="4"/>
                  </a:lnTo>
                </a:path>
              </a:pathLst>
            </a:custGeom>
            <a:noFill/>
            <a:ln w="68263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99" name="Freeform 373"/>
            <p:cNvSpPr>
              <a:spLocks/>
            </p:cNvSpPr>
            <p:nvPr/>
          </p:nvSpPr>
          <p:spPr bwMode="auto">
            <a:xfrm>
              <a:off x="3373" y="2071"/>
              <a:ext cx="1603" cy="1083"/>
            </a:xfrm>
            <a:custGeom>
              <a:avLst/>
              <a:gdLst>
                <a:gd name="T0" fmla="*/ 808 w 1603"/>
                <a:gd name="T1" fmla="*/ 8 h 1083"/>
                <a:gd name="T2" fmla="*/ 808 w 1603"/>
                <a:gd name="T3" fmla="*/ 8 h 1083"/>
                <a:gd name="T4" fmla="*/ 886 w 1603"/>
                <a:gd name="T5" fmla="*/ 4 h 1083"/>
                <a:gd name="T6" fmla="*/ 953 w 1603"/>
                <a:gd name="T7" fmla="*/ 0 h 1083"/>
                <a:gd name="T8" fmla="*/ 1012 w 1603"/>
                <a:gd name="T9" fmla="*/ 4 h 1083"/>
                <a:gd name="T10" fmla="*/ 1012 w 1603"/>
                <a:gd name="T11" fmla="*/ 4 h 1083"/>
                <a:gd name="T12" fmla="*/ 1103 w 1603"/>
                <a:gd name="T13" fmla="*/ 8 h 1083"/>
                <a:gd name="T14" fmla="*/ 1142 w 1603"/>
                <a:gd name="T15" fmla="*/ 12 h 1083"/>
                <a:gd name="T16" fmla="*/ 1186 w 1603"/>
                <a:gd name="T17" fmla="*/ 24 h 1083"/>
                <a:gd name="T18" fmla="*/ 1186 w 1603"/>
                <a:gd name="T19" fmla="*/ 24 h 1083"/>
                <a:gd name="T20" fmla="*/ 1276 w 1603"/>
                <a:gd name="T21" fmla="*/ 40 h 1083"/>
                <a:gd name="T22" fmla="*/ 1406 w 1603"/>
                <a:gd name="T23" fmla="*/ 63 h 1083"/>
                <a:gd name="T24" fmla="*/ 1576 w 1603"/>
                <a:gd name="T25" fmla="*/ 91 h 1083"/>
                <a:gd name="T26" fmla="*/ 1603 w 1603"/>
                <a:gd name="T27" fmla="*/ 209 h 1083"/>
                <a:gd name="T28" fmla="*/ 1580 w 1603"/>
                <a:gd name="T29" fmla="*/ 260 h 1083"/>
                <a:gd name="T30" fmla="*/ 1580 w 1603"/>
                <a:gd name="T31" fmla="*/ 335 h 1083"/>
                <a:gd name="T32" fmla="*/ 1556 w 1603"/>
                <a:gd name="T33" fmla="*/ 406 h 1083"/>
                <a:gd name="T34" fmla="*/ 1556 w 1603"/>
                <a:gd name="T35" fmla="*/ 441 h 1083"/>
                <a:gd name="T36" fmla="*/ 1182 w 1603"/>
                <a:gd name="T37" fmla="*/ 1060 h 1083"/>
                <a:gd name="T38" fmla="*/ 1182 w 1603"/>
                <a:gd name="T39" fmla="*/ 1060 h 1083"/>
                <a:gd name="T40" fmla="*/ 1154 w 1603"/>
                <a:gd name="T41" fmla="*/ 1067 h 1083"/>
                <a:gd name="T42" fmla="*/ 1111 w 1603"/>
                <a:gd name="T43" fmla="*/ 1075 h 1083"/>
                <a:gd name="T44" fmla="*/ 1052 w 1603"/>
                <a:gd name="T45" fmla="*/ 1083 h 1083"/>
                <a:gd name="T46" fmla="*/ 1052 w 1603"/>
                <a:gd name="T47" fmla="*/ 1083 h 1083"/>
                <a:gd name="T48" fmla="*/ 949 w 1603"/>
                <a:gd name="T49" fmla="*/ 1083 h 1083"/>
                <a:gd name="T50" fmla="*/ 851 w 1603"/>
                <a:gd name="T51" fmla="*/ 1083 h 1083"/>
                <a:gd name="T52" fmla="*/ 752 w 1603"/>
                <a:gd name="T53" fmla="*/ 1071 h 1083"/>
                <a:gd name="T54" fmla="*/ 658 w 1603"/>
                <a:gd name="T55" fmla="*/ 1056 h 1083"/>
                <a:gd name="T56" fmla="*/ 567 w 1603"/>
                <a:gd name="T57" fmla="*/ 1040 h 1083"/>
                <a:gd name="T58" fmla="*/ 481 w 1603"/>
                <a:gd name="T59" fmla="*/ 1016 h 1083"/>
                <a:gd name="T60" fmla="*/ 402 w 1603"/>
                <a:gd name="T61" fmla="*/ 993 h 1083"/>
                <a:gd name="T62" fmla="*/ 327 w 1603"/>
                <a:gd name="T63" fmla="*/ 965 h 1083"/>
                <a:gd name="T64" fmla="*/ 260 w 1603"/>
                <a:gd name="T65" fmla="*/ 938 h 1083"/>
                <a:gd name="T66" fmla="*/ 197 w 1603"/>
                <a:gd name="T67" fmla="*/ 914 h 1083"/>
                <a:gd name="T68" fmla="*/ 99 w 1603"/>
                <a:gd name="T69" fmla="*/ 867 h 1083"/>
                <a:gd name="T70" fmla="*/ 36 w 1603"/>
                <a:gd name="T71" fmla="*/ 831 h 1083"/>
                <a:gd name="T72" fmla="*/ 12 w 1603"/>
                <a:gd name="T73" fmla="*/ 819 h 1083"/>
                <a:gd name="T74" fmla="*/ 0 w 1603"/>
                <a:gd name="T75" fmla="*/ 768 h 1083"/>
                <a:gd name="T76" fmla="*/ 8 w 1603"/>
                <a:gd name="T77" fmla="*/ 709 h 1083"/>
                <a:gd name="T78" fmla="*/ 808 w 1603"/>
                <a:gd name="T79" fmla="*/ 8 h 108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03"/>
                <a:gd name="T121" fmla="*/ 0 h 1083"/>
                <a:gd name="T122" fmla="*/ 1603 w 1603"/>
                <a:gd name="T123" fmla="*/ 1083 h 108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03" h="1083">
                  <a:moveTo>
                    <a:pt x="808" y="8"/>
                  </a:moveTo>
                  <a:lnTo>
                    <a:pt x="808" y="8"/>
                  </a:lnTo>
                  <a:lnTo>
                    <a:pt x="886" y="4"/>
                  </a:lnTo>
                  <a:lnTo>
                    <a:pt x="953" y="0"/>
                  </a:lnTo>
                  <a:lnTo>
                    <a:pt x="1012" y="4"/>
                  </a:lnTo>
                  <a:lnTo>
                    <a:pt x="1103" y="8"/>
                  </a:lnTo>
                  <a:lnTo>
                    <a:pt x="1142" y="12"/>
                  </a:lnTo>
                  <a:lnTo>
                    <a:pt x="1186" y="24"/>
                  </a:lnTo>
                  <a:lnTo>
                    <a:pt x="1276" y="40"/>
                  </a:lnTo>
                  <a:lnTo>
                    <a:pt x="1406" y="63"/>
                  </a:lnTo>
                  <a:lnTo>
                    <a:pt x="1576" y="91"/>
                  </a:lnTo>
                  <a:lnTo>
                    <a:pt x="1603" y="209"/>
                  </a:lnTo>
                  <a:lnTo>
                    <a:pt x="1580" y="260"/>
                  </a:lnTo>
                  <a:lnTo>
                    <a:pt x="1580" y="335"/>
                  </a:lnTo>
                  <a:lnTo>
                    <a:pt x="1556" y="406"/>
                  </a:lnTo>
                  <a:lnTo>
                    <a:pt x="1556" y="441"/>
                  </a:lnTo>
                  <a:lnTo>
                    <a:pt x="1182" y="1060"/>
                  </a:lnTo>
                  <a:lnTo>
                    <a:pt x="1154" y="1067"/>
                  </a:lnTo>
                  <a:lnTo>
                    <a:pt x="1111" y="1075"/>
                  </a:lnTo>
                  <a:lnTo>
                    <a:pt x="1052" y="1083"/>
                  </a:lnTo>
                  <a:lnTo>
                    <a:pt x="949" y="1083"/>
                  </a:lnTo>
                  <a:lnTo>
                    <a:pt x="851" y="1083"/>
                  </a:lnTo>
                  <a:lnTo>
                    <a:pt x="752" y="1071"/>
                  </a:lnTo>
                  <a:lnTo>
                    <a:pt x="658" y="1056"/>
                  </a:lnTo>
                  <a:lnTo>
                    <a:pt x="567" y="1040"/>
                  </a:lnTo>
                  <a:lnTo>
                    <a:pt x="481" y="1016"/>
                  </a:lnTo>
                  <a:lnTo>
                    <a:pt x="402" y="993"/>
                  </a:lnTo>
                  <a:lnTo>
                    <a:pt x="327" y="965"/>
                  </a:lnTo>
                  <a:lnTo>
                    <a:pt x="260" y="938"/>
                  </a:lnTo>
                  <a:lnTo>
                    <a:pt x="197" y="914"/>
                  </a:lnTo>
                  <a:lnTo>
                    <a:pt x="99" y="867"/>
                  </a:lnTo>
                  <a:lnTo>
                    <a:pt x="36" y="831"/>
                  </a:lnTo>
                  <a:lnTo>
                    <a:pt x="12" y="819"/>
                  </a:lnTo>
                  <a:lnTo>
                    <a:pt x="0" y="768"/>
                  </a:lnTo>
                  <a:lnTo>
                    <a:pt x="8" y="709"/>
                  </a:lnTo>
                  <a:lnTo>
                    <a:pt x="808" y="8"/>
                  </a:lnTo>
                  <a:close/>
                </a:path>
              </a:pathLst>
            </a:custGeom>
            <a:solidFill>
              <a:srgbClr val="CCCCCC"/>
            </a:solidFill>
            <a:ln w="31750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0" name="Freeform 374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1571 w 1603"/>
                <a:gd name="T75" fmla="*/ 129 h 10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03"/>
                <a:gd name="T115" fmla="*/ 0 h 1078"/>
                <a:gd name="T116" fmla="*/ 1603 w 1603"/>
                <a:gd name="T117" fmla="*/ 1078 h 107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  <a:lnTo>
                    <a:pt x="1571" y="1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1" name="Freeform 375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03"/>
                <a:gd name="T112" fmla="*/ 0 h 1078"/>
                <a:gd name="T113" fmla="*/ 1603 w 1603"/>
                <a:gd name="T114" fmla="*/ 1078 h 107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2" name="Freeform 376"/>
            <p:cNvSpPr>
              <a:spLocks/>
            </p:cNvSpPr>
            <p:nvPr/>
          </p:nvSpPr>
          <p:spPr bwMode="auto">
            <a:xfrm>
              <a:off x="3361" y="1997"/>
              <a:ext cx="1603" cy="1130"/>
            </a:xfrm>
            <a:custGeom>
              <a:avLst/>
              <a:gdLst>
                <a:gd name="T0" fmla="*/ 1603 w 1603"/>
                <a:gd name="T1" fmla="*/ 106 h 1130"/>
                <a:gd name="T2" fmla="*/ 1603 w 1603"/>
                <a:gd name="T3" fmla="*/ 244 h 1130"/>
                <a:gd name="T4" fmla="*/ 1580 w 1603"/>
                <a:gd name="T5" fmla="*/ 370 h 1130"/>
                <a:gd name="T6" fmla="*/ 1556 w 1603"/>
                <a:gd name="T7" fmla="*/ 441 h 1130"/>
                <a:gd name="T8" fmla="*/ 1556 w 1603"/>
                <a:gd name="T9" fmla="*/ 476 h 1130"/>
                <a:gd name="T10" fmla="*/ 1182 w 1603"/>
                <a:gd name="T11" fmla="*/ 1094 h 1130"/>
                <a:gd name="T12" fmla="*/ 1123 w 1603"/>
                <a:gd name="T13" fmla="*/ 1130 h 1130"/>
                <a:gd name="T14" fmla="*/ 1123 w 1603"/>
                <a:gd name="T15" fmla="*/ 1130 h 1130"/>
                <a:gd name="T16" fmla="*/ 1091 w 1603"/>
                <a:gd name="T17" fmla="*/ 1130 h 1130"/>
                <a:gd name="T18" fmla="*/ 1052 w 1603"/>
                <a:gd name="T19" fmla="*/ 1126 h 1130"/>
                <a:gd name="T20" fmla="*/ 993 w 1603"/>
                <a:gd name="T21" fmla="*/ 1114 h 1130"/>
                <a:gd name="T22" fmla="*/ 993 w 1603"/>
                <a:gd name="T23" fmla="*/ 1114 h 1130"/>
                <a:gd name="T24" fmla="*/ 914 w 1603"/>
                <a:gd name="T25" fmla="*/ 1094 h 1130"/>
                <a:gd name="T26" fmla="*/ 784 w 1603"/>
                <a:gd name="T27" fmla="*/ 1063 h 1130"/>
                <a:gd name="T28" fmla="*/ 453 w 1603"/>
                <a:gd name="T29" fmla="*/ 976 h 1130"/>
                <a:gd name="T30" fmla="*/ 12 w 1603"/>
                <a:gd name="T31" fmla="*/ 854 h 1130"/>
                <a:gd name="T32" fmla="*/ 0 w 1603"/>
                <a:gd name="T33" fmla="*/ 803 h 1130"/>
                <a:gd name="T34" fmla="*/ 20 w 1603"/>
                <a:gd name="T35" fmla="*/ 740 h 1130"/>
                <a:gd name="T36" fmla="*/ 737 w 1603"/>
                <a:gd name="T37" fmla="*/ 106 h 1130"/>
                <a:gd name="T38" fmla="*/ 812 w 1603"/>
                <a:gd name="T39" fmla="*/ 51 h 1130"/>
                <a:gd name="T40" fmla="*/ 812 w 1603"/>
                <a:gd name="T41" fmla="*/ 51 h 1130"/>
                <a:gd name="T42" fmla="*/ 879 w 1603"/>
                <a:gd name="T43" fmla="*/ 23 h 1130"/>
                <a:gd name="T44" fmla="*/ 934 w 1603"/>
                <a:gd name="T45" fmla="*/ 7 h 1130"/>
                <a:gd name="T46" fmla="*/ 961 w 1603"/>
                <a:gd name="T47" fmla="*/ 3 h 1130"/>
                <a:gd name="T48" fmla="*/ 981 w 1603"/>
                <a:gd name="T49" fmla="*/ 0 h 1130"/>
                <a:gd name="T50" fmla="*/ 981 w 1603"/>
                <a:gd name="T51" fmla="*/ 0 h 1130"/>
                <a:gd name="T52" fmla="*/ 1036 w 1603"/>
                <a:gd name="T53" fmla="*/ 3 h 1130"/>
                <a:gd name="T54" fmla="*/ 1091 w 1603"/>
                <a:gd name="T55" fmla="*/ 11 h 1130"/>
                <a:gd name="T56" fmla="*/ 1194 w 1603"/>
                <a:gd name="T57" fmla="*/ 31 h 1130"/>
                <a:gd name="T58" fmla="*/ 1194 w 1603"/>
                <a:gd name="T59" fmla="*/ 31 h 1130"/>
                <a:gd name="T60" fmla="*/ 1395 w 1603"/>
                <a:gd name="T61" fmla="*/ 66 h 1130"/>
                <a:gd name="T62" fmla="*/ 1544 w 1603"/>
                <a:gd name="T63" fmla="*/ 94 h 1130"/>
                <a:gd name="T64" fmla="*/ 1603 w 1603"/>
                <a:gd name="T65" fmla="*/ 106 h 11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03"/>
                <a:gd name="T100" fmla="*/ 0 h 1130"/>
                <a:gd name="T101" fmla="*/ 1603 w 1603"/>
                <a:gd name="T102" fmla="*/ 1130 h 11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03" h="1130">
                  <a:moveTo>
                    <a:pt x="1603" y="106"/>
                  </a:moveTo>
                  <a:lnTo>
                    <a:pt x="1603" y="244"/>
                  </a:lnTo>
                  <a:lnTo>
                    <a:pt x="1580" y="370"/>
                  </a:lnTo>
                  <a:lnTo>
                    <a:pt x="1556" y="441"/>
                  </a:lnTo>
                  <a:lnTo>
                    <a:pt x="1556" y="476"/>
                  </a:lnTo>
                  <a:lnTo>
                    <a:pt x="1182" y="1094"/>
                  </a:lnTo>
                  <a:lnTo>
                    <a:pt x="1123" y="1130"/>
                  </a:lnTo>
                  <a:lnTo>
                    <a:pt x="1091" y="1130"/>
                  </a:lnTo>
                  <a:lnTo>
                    <a:pt x="1052" y="1126"/>
                  </a:lnTo>
                  <a:lnTo>
                    <a:pt x="993" y="1114"/>
                  </a:lnTo>
                  <a:lnTo>
                    <a:pt x="914" y="1094"/>
                  </a:lnTo>
                  <a:lnTo>
                    <a:pt x="784" y="1063"/>
                  </a:lnTo>
                  <a:lnTo>
                    <a:pt x="453" y="976"/>
                  </a:lnTo>
                  <a:lnTo>
                    <a:pt x="12" y="854"/>
                  </a:lnTo>
                  <a:lnTo>
                    <a:pt x="0" y="803"/>
                  </a:lnTo>
                  <a:lnTo>
                    <a:pt x="20" y="740"/>
                  </a:lnTo>
                  <a:lnTo>
                    <a:pt x="737" y="106"/>
                  </a:lnTo>
                  <a:lnTo>
                    <a:pt x="812" y="51"/>
                  </a:lnTo>
                  <a:lnTo>
                    <a:pt x="879" y="23"/>
                  </a:lnTo>
                  <a:lnTo>
                    <a:pt x="934" y="7"/>
                  </a:lnTo>
                  <a:lnTo>
                    <a:pt x="961" y="3"/>
                  </a:lnTo>
                  <a:lnTo>
                    <a:pt x="981" y="0"/>
                  </a:lnTo>
                  <a:lnTo>
                    <a:pt x="1036" y="3"/>
                  </a:lnTo>
                  <a:lnTo>
                    <a:pt x="1091" y="11"/>
                  </a:lnTo>
                  <a:lnTo>
                    <a:pt x="1194" y="31"/>
                  </a:lnTo>
                  <a:lnTo>
                    <a:pt x="1395" y="66"/>
                  </a:lnTo>
                  <a:lnTo>
                    <a:pt x="1544" y="94"/>
                  </a:lnTo>
                  <a:lnTo>
                    <a:pt x="1603" y="106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3" name="Freeform 377"/>
            <p:cNvSpPr>
              <a:spLocks/>
            </p:cNvSpPr>
            <p:nvPr/>
          </p:nvSpPr>
          <p:spPr bwMode="auto">
            <a:xfrm>
              <a:off x="3314" y="1941"/>
              <a:ext cx="1635" cy="1190"/>
            </a:xfrm>
            <a:custGeom>
              <a:avLst/>
              <a:gdLst>
                <a:gd name="T0" fmla="*/ 1595 w 1635"/>
                <a:gd name="T1" fmla="*/ 233 h 1190"/>
                <a:gd name="T2" fmla="*/ 1580 w 1635"/>
                <a:gd name="T3" fmla="*/ 390 h 1190"/>
                <a:gd name="T4" fmla="*/ 1524 w 1635"/>
                <a:gd name="T5" fmla="*/ 536 h 1190"/>
                <a:gd name="T6" fmla="*/ 1201 w 1635"/>
                <a:gd name="T7" fmla="*/ 1111 h 1190"/>
                <a:gd name="T8" fmla="*/ 1182 w 1635"/>
                <a:gd name="T9" fmla="*/ 1146 h 1190"/>
                <a:gd name="T10" fmla="*/ 1186 w 1635"/>
                <a:gd name="T11" fmla="*/ 1146 h 1190"/>
                <a:gd name="T12" fmla="*/ 989 w 1635"/>
                <a:gd name="T13" fmla="*/ 1107 h 1190"/>
                <a:gd name="T14" fmla="*/ 693 w 1635"/>
                <a:gd name="T15" fmla="*/ 1032 h 1190"/>
                <a:gd name="T16" fmla="*/ 35 w 1635"/>
                <a:gd name="T17" fmla="*/ 855 h 1190"/>
                <a:gd name="T18" fmla="*/ 43 w 1635"/>
                <a:gd name="T19" fmla="*/ 879 h 1190"/>
                <a:gd name="T20" fmla="*/ 39 w 1635"/>
                <a:gd name="T21" fmla="*/ 776 h 1190"/>
                <a:gd name="T22" fmla="*/ 47 w 1635"/>
                <a:gd name="T23" fmla="*/ 776 h 1190"/>
                <a:gd name="T24" fmla="*/ 225 w 1635"/>
                <a:gd name="T25" fmla="*/ 623 h 1190"/>
                <a:gd name="T26" fmla="*/ 662 w 1635"/>
                <a:gd name="T27" fmla="*/ 260 h 1190"/>
                <a:gd name="T28" fmla="*/ 772 w 1635"/>
                <a:gd name="T29" fmla="*/ 170 h 1190"/>
                <a:gd name="T30" fmla="*/ 867 w 1635"/>
                <a:gd name="T31" fmla="*/ 122 h 1190"/>
                <a:gd name="T32" fmla="*/ 965 w 1635"/>
                <a:gd name="T33" fmla="*/ 56 h 1190"/>
                <a:gd name="T34" fmla="*/ 1001 w 1635"/>
                <a:gd name="T35" fmla="*/ 44 h 1190"/>
                <a:gd name="T36" fmla="*/ 1123 w 1635"/>
                <a:gd name="T37" fmla="*/ 52 h 1190"/>
                <a:gd name="T38" fmla="*/ 1327 w 1635"/>
                <a:gd name="T39" fmla="*/ 91 h 1190"/>
                <a:gd name="T40" fmla="*/ 1583 w 1635"/>
                <a:gd name="T41" fmla="*/ 130 h 1190"/>
                <a:gd name="T42" fmla="*/ 1595 w 1635"/>
                <a:gd name="T43" fmla="*/ 122 h 1190"/>
                <a:gd name="T44" fmla="*/ 1583 w 1635"/>
                <a:gd name="T45" fmla="*/ 91 h 1190"/>
                <a:gd name="T46" fmla="*/ 1320 w 1635"/>
                <a:gd name="T47" fmla="*/ 52 h 1190"/>
                <a:gd name="T48" fmla="*/ 1150 w 1635"/>
                <a:gd name="T49" fmla="*/ 16 h 1190"/>
                <a:gd name="T50" fmla="*/ 985 w 1635"/>
                <a:gd name="T51" fmla="*/ 0 h 1190"/>
                <a:gd name="T52" fmla="*/ 953 w 1635"/>
                <a:gd name="T53" fmla="*/ 8 h 1190"/>
                <a:gd name="T54" fmla="*/ 863 w 1635"/>
                <a:gd name="T55" fmla="*/ 67 h 1190"/>
                <a:gd name="T56" fmla="*/ 796 w 1635"/>
                <a:gd name="T57" fmla="*/ 111 h 1190"/>
                <a:gd name="T58" fmla="*/ 697 w 1635"/>
                <a:gd name="T59" fmla="*/ 166 h 1190"/>
                <a:gd name="T60" fmla="*/ 626 w 1635"/>
                <a:gd name="T61" fmla="*/ 229 h 1190"/>
                <a:gd name="T62" fmla="*/ 20 w 1635"/>
                <a:gd name="T63" fmla="*/ 733 h 1190"/>
                <a:gd name="T64" fmla="*/ 4 w 1635"/>
                <a:gd name="T65" fmla="*/ 760 h 1190"/>
                <a:gd name="T66" fmla="*/ 4 w 1635"/>
                <a:gd name="T67" fmla="*/ 835 h 1190"/>
                <a:gd name="T68" fmla="*/ 20 w 1635"/>
                <a:gd name="T69" fmla="*/ 886 h 1190"/>
                <a:gd name="T70" fmla="*/ 32 w 1635"/>
                <a:gd name="T71" fmla="*/ 894 h 1190"/>
                <a:gd name="T72" fmla="*/ 729 w 1635"/>
                <a:gd name="T73" fmla="*/ 1083 h 1190"/>
                <a:gd name="T74" fmla="*/ 1119 w 1635"/>
                <a:gd name="T75" fmla="*/ 1178 h 1190"/>
                <a:gd name="T76" fmla="*/ 1205 w 1635"/>
                <a:gd name="T77" fmla="*/ 1190 h 1190"/>
                <a:gd name="T78" fmla="*/ 1536 w 1635"/>
                <a:gd name="T79" fmla="*/ 603 h 1190"/>
                <a:gd name="T80" fmla="*/ 1583 w 1635"/>
                <a:gd name="T81" fmla="*/ 516 h 1190"/>
                <a:gd name="T82" fmla="*/ 1587 w 1635"/>
                <a:gd name="T83" fmla="*/ 489 h 1190"/>
                <a:gd name="T84" fmla="*/ 1611 w 1635"/>
                <a:gd name="T85" fmla="*/ 414 h 1190"/>
                <a:gd name="T86" fmla="*/ 1627 w 1635"/>
                <a:gd name="T87" fmla="*/ 347 h 1190"/>
                <a:gd name="T88" fmla="*/ 1631 w 1635"/>
                <a:gd name="T89" fmla="*/ 213 h 1190"/>
                <a:gd name="T90" fmla="*/ 1623 w 1635"/>
                <a:gd name="T91" fmla="*/ 130 h 1190"/>
                <a:gd name="T92" fmla="*/ 1599 w 1635"/>
                <a:gd name="T93" fmla="*/ 115 h 1190"/>
                <a:gd name="T94" fmla="*/ 1595 w 1635"/>
                <a:gd name="T95" fmla="*/ 126 h 1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35"/>
                <a:gd name="T145" fmla="*/ 0 h 1190"/>
                <a:gd name="T146" fmla="*/ 1635 w 1635"/>
                <a:gd name="T147" fmla="*/ 1190 h 1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35" h="1190">
                  <a:moveTo>
                    <a:pt x="1595" y="126"/>
                  </a:moveTo>
                  <a:lnTo>
                    <a:pt x="1595" y="126"/>
                  </a:lnTo>
                  <a:lnTo>
                    <a:pt x="1595" y="233"/>
                  </a:lnTo>
                  <a:lnTo>
                    <a:pt x="1591" y="284"/>
                  </a:lnTo>
                  <a:lnTo>
                    <a:pt x="1587" y="339"/>
                  </a:lnTo>
                  <a:lnTo>
                    <a:pt x="1580" y="390"/>
                  </a:lnTo>
                  <a:lnTo>
                    <a:pt x="1564" y="441"/>
                  </a:lnTo>
                  <a:lnTo>
                    <a:pt x="1548" y="489"/>
                  </a:lnTo>
                  <a:lnTo>
                    <a:pt x="1524" y="536"/>
                  </a:lnTo>
                  <a:lnTo>
                    <a:pt x="1201" y="1111"/>
                  </a:lnTo>
                  <a:lnTo>
                    <a:pt x="1186" y="1142"/>
                  </a:lnTo>
                  <a:lnTo>
                    <a:pt x="1182" y="1146"/>
                  </a:lnTo>
                  <a:lnTo>
                    <a:pt x="1182" y="1150"/>
                  </a:lnTo>
                  <a:lnTo>
                    <a:pt x="1186" y="1146"/>
                  </a:lnTo>
                  <a:lnTo>
                    <a:pt x="1087" y="1131"/>
                  </a:lnTo>
                  <a:lnTo>
                    <a:pt x="989" y="1107"/>
                  </a:lnTo>
                  <a:lnTo>
                    <a:pt x="839" y="1071"/>
                  </a:lnTo>
                  <a:lnTo>
                    <a:pt x="693" y="1032"/>
                  </a:lnTo>
                  <a:lnTo>
                    <a:pt x="35" y="855"/>
                  </a:lnTo>
                  <a:lnTo>
                    <a:pt x="24" y="851"/>
                  </a:lnTo>
                  <a:lnTo>
                    <a:pt x="43" y="879"/>
                  </a:lnTo>
                  <a:lnTo>
                    <a:pt x="39" y="827"/>
                  </a:lnTo>
                  <a:lnTo>
                    <a:pt x="39" y="776"/>
                  </a:lnTo>
                  <a:lnTo>
                    <a:pt x="39" y="780"/>
                  </a:lnTo>
                  <a:lnTo>
                    <a:pt x="47" y="776"/>
                  </a:lnTo>
                  <a:lnTo>
                    <a:pt x="59" y="760"/>
                  </a:lnTo>
                  <a:lnTo>
                    <a:pt x="225" y="623"/>
                  </a:lnTo>
                  <a:lnTo>
                    <a:pt x="662" y="260"/>
                  </a:lnTo>
                  <a:lnTo>
                    <a:pt x="744" y="189"/>
                  </a:lnTo>
                  <a:lnTo>
                    <a:pt x="772" y="170"/>
                  </a:lnTo>
                  <a:lnTo>
                    <a:pt x="804" y="154"/>
                  </a:lnTo>
                  <a:lnTo>
                    <a:pt x="835" y="138"/>
                  </a:lnTo>
                  <a:lnTo>
                    <a:pt x="867" y="122"/>
                  </a:lnTo>
                  <a:lnTo>
                    <a:pt x="930" y="75"/>
                  </a:lnTo>
                  <a:lnTo>
                    <a:pt x="965" y="56"/>
                  </a:lnTo>
                  <a:lnTo>
                    <a:pt x="985" y="48"/>
                  </a:lnTo>
                  <a:lnTo>
                    <a:pt x="1001" y="44"/>
                  </a:lnTo>
                  <a:lnTo>
                    <a:pt x="1040" y="44"/>
                  </a:lnTo>
                  <a:lnTo>
                    <a:pt x="1083" y="44"/>
                  </a:lnTo>
                  <a:lnTo>
                    <a:pt x="1123" y="52"/>
                  </a:lnTo>
                  <a:lnTo>
                    <a:pt x="1166" y="59"/>
                  </a:lnTo>
                  <a:lnTo>
                    <a:pt x="1249" y="75"/>
                  </a:lnTo>
                  <a:lnTo>
                    <a:pt x="1327" y="91"/>
                  </a:lnTo>
                  <a:lnTo>
                    <a:pt x="1583" y="130"/>
                  </a:lnTo>
                  <a:lnTo>
                    <a:pt x="1591" y="130"/>
                  </a:lnTo>
                  <a:lnTo>
                    <a:pt x="1595" y="126"/>
                  </a:lnTo>
                  <a:lnTo>
                    <a:pt x="1595" y="122"/>
                  </a:lnTo>
                  <a:lnTo>
                    <a:pt x="1595" y="115"/>
                  </a:lnTo>
                  <a:lnTo>
                    <a:pt x="1587" y="99"/>
                  </a:lnTo>
                  <a:lnTo>
                    <a:pt x="1583" y="91"/>
                  </a:lnTo>
                  <a:lnTo>
                    <a:pt x="1576" y="91"/>
                  </a:lnTo>
                  <a:lnTo>
                    <a:pt x="1320" y="52"/>
                  </a:lnTo>
                  <a:lnTo>
                    <a:pt x="1237" y="36"/>
                  </a:lnTo>
                  <a:lnTo>
                    <a:pt x="1150" y="16"/>
                  </a:lnTo>
                  <a:lnTo>
                    <a:pt x="1067" y="4"/>
                  </a:lnTo>
                  <a:lnTo>
                    <a:pt x="1028" y="0"/>
                  </a:lnTo>
                  <a:lnTo>
                    <a:pt x="985" y="0"/>
                  </a:lnTo>
                  <a:lnTo>
                    <a:pt x="969" y="4"/>
                  </a:lnTo>
                  <a:lnTo>
                    <a:pt x="953" y="8"/>
                  </a:lnTo>
                  <a:lnTo>
                    <a:pt x="922" y="24"/>
                  </a:lnTo>
                  <a:lnTo>
                    <a:pt x="886" y="48"/>
                  </a:lnTo>
                  <a:lnTo>
                    <a:pt x="863" y="67"/>
                  </a:lnTo>
                  <a:lnTo>
                    <a:pt x="831" y="91"/>
                  </a:lnTo>
                  <a:lnTo>
                    <a:pt x="796" y="111"/>
                  </a:lnTo>
                  <a:lnTo>
                    <a:pt x="721" y="150"/>
                  </a:lnTo>
                  <a:lnTo>
                    <a:pt x="697" y="166"/>
                  </a:lnTo>
                  <a:lnTo>
                    <a:pt x="674" y="185"/>
                  </a:lnTo>
                  <a:lnTo>
                    <a:pt x="626" y="229"/>
                  </a:lnTo>
                  <a:lnTo>
                    <a:pt x="169" y="607"/>
                  </a:lnTo>
                  <a:lnTo>
                    <a:pt x="20" y="733"/>
                  </a:lnTo>
                  <a:lnTo>
                    <a:pt x="8" y="745"/>
                  </a:lnTo>
                  <a:lnTo>
                    <a:pt x="4" y="760"/>
                  </a:lnTo>
                  <a:lnTo>
                    <a:pt x="0" y="780"/>
                  </a:lnTo>
                  <a:lnTo>
                    <a:pt x="0" y="800"/>
                  </a:lnTo>
                  <a:lnTo>
                    <a:pt x="4" y="835"/>
                  </a:lnTo>
                  <a:lnTo>
                    <a:pt x="12" y="871"/>
                  </a:lnTo>
                  <a:lnTo>
                    <a:pt x="20" y="886"/>
                  </a:lnTo>
                  <a:lnTo>
                    <a:pt x="24" y="890"/>
                  </a:lnTo>
                  <a:lnTo>
                    <a:pt x="32" y="894"/>
                  </a:lnTo>
                  <a:lnTo>
                    <a:pt x="571" y="1040"/>
                  </a:lnTo>
                  <a:lnTo>
                    <a:pt x="729" y="1083"/>
                  </a:lnTo>
                  <a:lnTo>
                    <a:pt x="882" y="1127"/>
                  </a:lnTo>
                  <a:lnTo>
                    <a:pt x="1040" y="1162"/>
                  </a:lnTo>
                  <a:lnTo>
                    <a:pt x="1119" y="1178"/>
                  </a:lnTo>
                  <a:lnTo>
                    <a:pt x="1197" y="1190"/>
                  </a:lnTo>
                  <a:lnTo>
                    <a:pt x="1205" y="1190"/>
                  </a:lnTo>
                  <a:lnTo>
                    <a:pt x="1209" y="1186"/>
                  </a:lnTo>
                  <a:lnTo>
                    <a:pt x="1536" y="603"/>
                  </a:lnTo>
                  <a:lnTo>
                    <a:pt x="1583" y="516"/>
                  </a:lnTo>
                  <a:lnTo>
                    <a:pt x="1587" y="504"/>
                  </a:lnTo>
                  <a:lnTo>
                    <a:pt x="1587" y="489"/>
                  </a:lnTo>
                  <a:lnTo>
                    <a:pt x="1591" y="469"/>
                  </a:lnTo>
                  <a:lnTo>
                    <a:pt x="1595" y="449"/>
                  </a:lnTo>
                  <a:lnTo>
                    <a:pt x="1611" y="414"/>
                  </a:lnTo>
                  <a:lnTo>
                    <a:pt x="1619" y="382"/>
                  </a:lnTo>
                  <a:lnTo>
                    <a:pt x="1627" y="347"/>
                  </a:lnTo>
                  <a:lnTo>
                    <a:pt x="1631" y="315"/>
                  </a:lnTo>
                  <a:lnTo>
                    <a:pt x="1635" y="280"/>
                  </a:lnTo>
                  <a:lnTo>
                    <a:pt x="1631" y="213"/>
                  </a:lnTo>
                  <a:lnTo>
                    <a:pt x="1627" y="142"/>
                  </a:lnTo>
                  <a:lnTo>
                    <a:pt x="1623" y="130"/>
                  </a:lnTo>
                  <a:lnTo>
                    <a:pt x="1611" y="119"/>
                  </a:lnTo>
                  <a:lnTo>
                    <a:pt x="1603" y="115"/>
                  </a:lnTo>
                  <a:lnTo>
                    <a:pt x="1599" y="115"/>
                  </a:lnTo>
                  <a:lnTo>
                    <a:pt x="1595" y="119"/>
                  </a:lnTo>
                  <a:lnTo>
                    <a:pt x="1595" y="1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4" name="Freeform 378"/>
            <p:cNvSpPr>
              <a:spLocks/>
            </p:cNvSpPr>
            <p:nvPr/>
          </p:nvSpPr>
          <p:spPr bwMode="auto">
            <a:xfrm>
              <a:off x="3369" y="1804"/>
              <a:ext cx="804" cy="1000"/>
            </a:xfrm>
            <a:custGeom>
              <a:avLst/>
              <a:gdLst>
                <a:gd name="T0" fmla="*/ 0 w 804"/>
                <a:gd name="T1" fmla="*/ 854 h 1000"/>
                <a:gd name="T2" fmla="*/ 0 w 804"/>
                <a:gd name="T3" fmla="*/ 854 h 1000"/>
                <a:gd name="T4" fmla="*/ 28 w 804"/>
                <a:gd name="T5" fmla="*/ 783 h 1000"/>
                <a:gd name="T6" fmla="*/ 59 w 804"/>
                <a:gd name="T7" fmla="*/ 708 h 1000"/>
                <a:gd name="T8" fmla="*/ 99 w 804"/>
                <a:gd name="T9" fmla="*/ 618 h 1000"/>
                <a:gd name="T10" fmla="*/ 146 w 804"/>
                <a:gd name="T11" fmla="*/ 511 h 1000"/>
                <a:gd name="T12" fmla="*/ 205 w 804"/>
                <a:gd name="T13" fmla="*/ 405 h 1000"/>
                <a:gd name="T14" fmla="*/ 268 w 804"/>
                <a:gd name="T15" fmla="*/ 299 h 1000"/>
                <a:gd name="T16" fmla="*/ 300 w 804"/>
                <a:gd name="T17" fmla="*/ 252 h 1000"/>
                <a:gd name="T18" fmla="*/ 335 w 804"/>
                <a:gd name="T19" fmla="*/ 208 h 1000"/>
                <a:gd name="T20" fmla="*/ 335 w 804"/>
                <a:gd name="T21" fmla="*/ 208 h 1000"/>
                <a:gd name="T22" fmla="*/ 410 w 804"/>
                <a:gd name="T23" fmla="*/ 118 h 1000"/>
                <a:gd name="T24" fmla="*/ 520 w 804"/>
                <a:gd name="T25" fmla="*/ 23 h 1000"/>
                <a:gd name="T26" fmla="*/ 520 w 804"/>
                <a:gd name="T27" fmla="*/ 23 h 1000"/>
                <a:gd name="T28" fmla="*/ 532 w 804"/>
                <a:gd name="T29" fmla="*/ 19 h 1000"/>
                <a:gd name="T30" fmla="*/ 563 w 804"/>
                <a:gd name="T31" fmla="*/ 7 h 1000"/>
                <a:gd name="T32" fmla="*/ 583 w 804"/>
                <a:gd name="T33" fmla="*/ 4 h 1000"/>
                <a:gd name="T34" fmla="*/ 607 w 804"/>
                <a:gd name="T35" fmla="*/ 0 h 1000"/>
                <a:gd name="T36" fmla="*/ 634 w 804"/>
                <a:gd name="T37" fmla="*/ 0 h 1000"/>
                <a:gd name="T38" fmla="*/ 662 w 804"/>
                <a:gd name="T39" fmla="*/ 4 h 1000"/>
                <a:gd name="T40" fmla="*/ 662 w 804"/>
                <a:gd name="T41" fmla="*/ 4 h 1000"/>
                <a:gd name="T42" fmla="*/ 686 w 804"/>
                <a:gd name="T43" fmla="*/ 11 h 1000"/>
                <a:gd name="T44" fmla="*/ 713 w 804"/>
                <a:gd name="T45" fmla="*/ 19 h 1000"/>
                <a:gd name="T46" fmla="*/ 756 w 804"/>
                <a:gd name="T47" fmla="*/ 39 h 1000"/>
                <a:gd name="T48" fmla="*/ 800 w 804"/>
                <a:gd name="T49" fmla="*/ 67 h 1000"/>
                <a:gd name="T50" fmla="*/ 804 w 804"/>
                <a:gd name="T51" fmla="*/ 145 h 1000"/>
                <a:gd name="T52" fmla="*/ 788 w 804"/>
                <a:gd name="T53" fmla="*/ 161 h 1000"/>
                <a:gd name="T54" fmla="*/ 772 w 804"/>
                <a:gd name="T55" fmla="*/ 224 h 1000"/>
                <a:gd name="T56" fmla="*/ 749 w 804"/>
                <a:gd name="T57" fmla="*/ 244 h 1000"/>
                <a:gd name="T58" fmla="*/ 737 w 804"/>
                <a:gd name="T59" fmla="*/ 240 h 1000"/>
                <a:gd name="T60" fmla="*/ 737 w 804"/>
                <a:gd name="T61" fmla="*/ 240 h 1000"/>
                <a:gd name="T62" fmla="*/ 705 w 804"/>
                <a:gd name="T63" fmla="*/ 267 h 1000"/>
                <a:gd name="T64" fmla="*/ 626 w 804"/>
                <a:gd name="T65" fmla="*/ 346 h 1000"/>
                <a:gd name="T66" fmla="*/ 579 w 804"/>
                <a:gd name="T67" fmla="*/ 397 h 1000"/>
                <a:gd name="T68" fmla="*/ 532 w 804"/>
                <a:gd name="T69" fmla="*/ 456 h 1000"/>
                <a:gd name="T70" fmla="*/ 489 w 804"/>
                <a:gd name="T71" fmla="*/ 519 h 1000"/>
                <a:gd name="T72" fmla="*/ 449 w 804"/>
                <a:gd name="T73" fmla="*/ 586 h 1000"/>
                <a:gd name="T74" fmla="*/ 449 w 804"/>
                <a:gd name="T75" fmla="*/ 586 h 1000"/>
                <a:gd name="T76" fmla="*/ 272 w 804"/>
                <a:gd name="T77" fmla="*/ 960 h 1000"/>
                <a:gd name="T78" fmla="*/ 181 w 804"/>
                <a:gd name="T79" fmla="*/ 1000 h 1000"/>
                <a:gd name="T80" fmla="*/ 91 w 804"/>
                <a:gd name="T81" fmla="*/ 984 h 1000"/>
                <a:gd name="T82" fmla="*/ 91 w 804"/>
                <a:gd name="T83" fmla="*/ 984 h 1000"/>
                <a:gd name="T84" fmla="*/ 59 w 804"/>
                <a:gd name="T85" fmla="*/ 976 h 1000"/>
                <a:gd name="T86" fmla="*/ 36 w 804"/>
                <a:gd name="T87" fmla="*/ 964 h 1000"/>
                <a:gd name="T88" fmla="*/ 20 w 804"/>
                <a:gd name="T89" fmla="*/ 953 h 1000"/>
                <a:gd name="T90" fmla="*/ 8 w 804"/>
                <a:gd name="T91" fmla="*/ 937 h 1000"/>
                <a:gd name="T92" fmla="*/ 4 w 804"/>
                <a:gd name="T93" fmla="*/ 921 h 1000"/>
                <a:gd name="T94" fmla="*/ 0 w 804"/>
                <a:gd name="T95" fmla="*/ 909 h 1000"/>
                <a:gd name="T96" fmla="*/ 0 w 804"/>
                <a:gd name="T97" fmla="*/ 901 h 1000"/>
                <a:gd name="T98" fmla="*/ 0 w 804"/>
                <a:gd name="T99" fmla="*/ 854 h 10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4"/>
                <a:gd name="T151" fmla="*/ 0 h 1000"/>
                <a:gd name="T152" fmla="*/ 804 w 804"/>
                <a:gd name="T153" fmla="*/ 1000 h 100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4" h="1000">
                  <a:moveTo>
                    <a:pt x="0" y="854"/>
                  </a:moveTo>
                  <a:lnTo>
                    <a:pt x="0" y="854"/>
                  </a:lnTo>
                  <a:lnTo>
                    <a:pt x="28" y="783"/>
                  </a:lnTo>
                  <a:lnTo>
                    <a:pt x="59" y="708"/>
                  </a:lnTo>
                  <a:lnTo>
                    <a:pt x="99" y="618"/>
                  </a:lnTo>
                  <a:lnTo>
                    <a:pt x="146" y="511"/>
                  </a:lnTo>
                  <a:lnTo>
                    <a:pt x="205" y="405"/>
                  </a:lnTo>
                  <a:lnTo>
                    <a:pt x="268" y="299"/>
                  </a:lnTo>
                  <a:lnTo>
                    <a:pt x="300" y="252"/>
                  </a:lnTo>
                  <a:lnTo>
                    <a:pt x="335" y="208"/>
                  </a:lnTo>
                  <a:lnTo>
                    <a:pt x="410" y="118"/>
                  </a:lnTo>
                  <a:lnTo>
                    <a:pt x="520" y="23"/>
                  </a:lnTo>
                  <a:lnTo>
                    <a:pt x="532" y="19"/>
                  </a:lnTo>
                  <a:lnTo>
                    <a:pt x="563" y="7"/>
                  </a:lnTo>
                  <a:lnTo>
                    <a:pt x="583" y="4"/>
                  </a:lnTo>
                  <a:lnTo>
                    <a:pt x="607" y="0"/>
                  </a:lnTo>
                  <a:lnTo>
                    <a:pt x="634" y="0"/>
                  </a:lnTo>
                  <a:lnTo>
                    <a:pt x="662" y="4"/>
                  </a:lnTo>
                  <a:lnTo>
                    <a:pt x="686" y="11"/>
                  </a:lnTo>
                  <a:lnTo>
                    <a:pt x="713" y="19"/>
                  </a:lnTo>
                  <a:lnTo>
                    <a:pt x="756" y="39"/>
                  </a:lnTo>
                  <a:lnTo>
                    <a:pt x="800" y="67"/>
                  </a:lnTo>
                  <a:lnTo>
                    <a:pt x="804" y="145"/>
                  </a:lnTo>
                  <a:lnTo>
                    <a:pt x="788" y="161"/>
                  </a:lnTo>
                  <a:lnTo>
                    <a:pt x="772" y="224"/>
                  </a:lnTo>
                  <a:lnTo>
                    <a:pt x="749" y="244"/>
                  </a:lnTo>
                  <a:lnTo>
                    <a:pt x="737" y="240"/>
                  </a:lnTo>
                  <a:lnTo>
                    <a:pt x="705" y="267"/>
                  </a:lnTo>
                  <a:lnTo>
                    <a:pt x="626" y="346"/>
                  </a:lnTo>
                  <a:lnTo>
                    <a:pt x="579" y="397"/>
                  </a:lnTo>
                  <a:lnTo>
                    <a:pt x="532" y="456"/>
                  </a:lnTo>
                  <a:lnTo>
                    <a:pt x="489" y="519"/>
                  </a:lnTo>
                  <a:lnTo>
                    <a:pt x="449" y="586"/>
                  </a:lnTo>
                  <a:lnTo>
                    <a:pt x="272" y="960"/>
                  </a:lnTo>
                  <a:lnTo>
                    <a:pt x="181" y="1000"/>
                  </a:lnTo>
                  <a:lnTo>
                    <a:pt x="91" y="984"/>
                  </a:lnTo>
                  <a:lnTo>
                    <a:pt x="59" y="976"/>
                  </a:lnTo>
                  <a:lnTo>
                    <a:pt x="36" y="964"/>
                  </a:lnTo>
                  <a:lnTo>
                    <a:pt x="20" y="953"/>
                  </a:lnTo>
                  <a:lnTo>
                    <a:pt x="8" y="937"/>
                  </a:lnTo>
                  <a:lnTo>
                    <a:pt x="4" y="921"/>
                  </a:lnTo>
                  <a:lnTo>
                    <a:pt x="0" y="909"/>
                  </a:lnTo>
                  <a:lnTo>
                    <a:pt x="0" y="901"/>
                  </a:lnTo>
                  <a:lnTo>
                    <a:pt x="0" y="85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5" name="Freeform 379"/>
            <p:cNvSpPr>
              <a:spLocks/>
            </p:cNvSpPr>
            <p:nvPr/>
          </p:nvSpPr>
          <p:spPr bwMode="auto">
            <a:xfrm>
              <a:off x="3405" y="1823"/>
              <a:ext cx="807" cy="997"/>
            </a:xfrm>
            <a:custGeom>
              <a:avLst/>
              <a:gdLst>
                <a:gd name="T0" fmla="*/ 0 w 807"/>
                <a:gd name="T1" fmla="*/ 835 h 997"/>
                <a:gd name="T2" fmla="*/ 0 w 807"/>
                <a:gd name="T3" fmla="*/ 835 h 997"/>
                <a:gd name="T4" fmla="*/ 27 w 807"/>
                <a:gd name="T5" fmla="*/ 768 h 997"/>
                <a:gd name="T6" fmla="*/ 59 w 807"/>
                <a:gd name="T7" fmla="*/ 693 h 997"/>
                <a:gd name="T8" fmla="*/ 98 w 807"/>
                <a:gd name="T9" fmla="*/ 603 h 997"/>
                <a:gd name="T10" fmla="*/ 149 w 807"/>
                <a:gd name="T11" fmla="*/ 500 h 997"/>
                <a:gd name="T12" fmla="*/ 204 w 807"/>
                <a:gd name="T13" fmla="*/ 394 h 997"/>
                <a:gd name="T14" fmla="*/ 267 w 807"/>
                <a:gd name="T15" fmla="*/ 288 h 997"/>
                <a:gd name="T16" fmla="*/ 299 w 807"/>
                <a:gd name="T17" fmla="*/ 240 h 997"/>
                <a:gd name="T18" fmla="*/ 334 w 807"/>
                <a:gd name="T19" fmla="*/ 197 h 997"/>
                <a:gd name="T20" fmla="*/ 334 w 807"/>
                <a:gd name="T21" fmla="*/ 197 h 997"/>
                <a:gd name="T22" fmla="*/ 413 w 807"/>
                <a:gd name="T23" fmla="*/ 114 h 997"/>
                <a:gd name="T24" fmla="*/ 523 w 807"/>
                <a:gd name="T25" fmla="*/ 24 h 997"/>
                <a:gd name="T26" fmla="*/ 523 w 807"/>
                <a:gd name="T27" fmla="*/ 24 h 997"/>
                <a:gd name="T28" fmla="*/ 535 w 807"/>
                <a:gd name="T29" fmla="*/ 16 h 997"/>
                <a:gd name="T30" fmla="*/ 567 w 807"/>
                <a:gd name="T31" fmla="*/ 8 h 997"/>
                <a:gd name="T32" fmla="*/ 587 w 807"/>
                <a:gd name="T33" fmla="*/ 4 h 997"/>
                <a:gd name="T34" fmla="*/ 610 w 807"/>
                <a:gd name="T35" fmla="*/ 0 h 997"/>
                <a:gd name="T36" fmla="*/ 638 w 807"/>
                <a:gd name="T37" fmla="*/ 0 h 997"/>
                <a:gd name="T38" fmla="*/ 661 w 807"/>
                <a:gd name="T39" fmla="*/ 4 h 997"/>
                <a:gd name="T40" fmla="*/ 661 w 807"/>
                <a:gd name="T41" fmla="*/ 4 h 997"/>
                <a:gd name="T42" fmla="*/ 689 w 807"/>
                <a:gd name="T43" fmla="*/ 8 h 997"/>
                <a:gd name="T44" fmla="*/ 716 w 807"/>
                <a:gd name="T45" fmla="*/ 20 h 997"/>
                <a:gd name="T46" fmla="*/ 760 w 807"/>
                <a:gd name="T47" fmla="*/ 40 h 997"/>
                <a:gd name="T48" fmla="*/ 799 w 807"/>
                <a:gd name="T49" fmla="*/ 63 h 997"/>
                <a:gd name="T50" fmla="*/ 807 w 807"/>
                <a:gd name="T51" fmla="*/ 146 h 997"/>
                <a:gd name="T52" fmla="*/ 791 w 807"/>
                <a:gd name="T53" fmla="*/ 162 h 997"/>
                <a:gd name="T54" fmla="*/ 772 w 807"/>
                <a:gd name="T55" fmla="*/ 189 h 997"/>
                <a:gd name="T56" fmla="*/ 744 w 807"/>
                <a:gd name="T57" fmla="*/ 213 h 997"/>
                <a:gd name="T58" fmla="*/ 661 w 807"/>
                <a:gd name="T59" fmla="*/ 272 h 997"/>
                <a:gd name="T60" fmla="*/ 661 w 807"/>
                <a:gd name="T61" fmla="*/ 272 h 997"/>
                <a:gd name="T62" fmla="*/ 642 w 807"/>
                <a:gd name="T63" fmla="*/ 296 h 997"/>
                <a:gd name="T64" fmla="*/ 590 w 807"/>
                <a:gd name="T65" fmla="*/ 363 h 997"/>
                <a:gd name="T66" fmla="*/ 559 w 807"/>
                <a:gd name="T67" fmla="*/ 410 h 997"/>
                <a:gd name="T68" fmla="*/ 523 w 807"/>
                <a:gd name="T69" fmla="*/ 461 h 997"/>
                <a:gd name="T70" fmla="*/ 488 w 807"/>
                <a:gd name="T71" fmla="*/ 520 h 997"/>
                <a:gd name="T72" fmla="*/ 453 w 807"/>
                <a:gd name="T73" fmla="*/ 587 h 997"/>
                <a:gd name="T74" fmla="*/ 453 w 807"/>
                <a:gd name="T75" fmla="*/ 587 h 997"/>
                <a:gd name="T76" fmla="*/ 275 w 807"/>
                <a:gd name="T77" fmla="*/ 957 h 997"/>
                <a:gd name="T78" fmla="*/ 185 w 807"/>
                <a:gd name="T79" fmla="*/ 997 h 997"/>
                <a:gd name="T80" fmla="*/ 90 w 807"/>
                <a:gd name="T81" fmla="*/ 985 h 997"/>
                <a:gd name="T82" fmla="*/ 90 w 807"/>
                <a:gd name="T83" fmla="*/ 985 h 997"/>
                <a:gd name="T84" fmla="*/ 63 w 807"/>
                <a:gd name="T85" fmla="*/ 977 h 997"/>
                <a:gd name="T86" fmla="*/ 39 w 807"/>
                <a:gd name="T87" fmla="*/ 965 h 997"/>
                <a:gd name="T88" fmla="*/ 23 w 807"/>
                <a:gd name="T89" fmla="*/ 949 h 997"/>
                <a:gd name="T90" fmla="*/ 11 w 807"/>
                <a:gd name="T91" fmla="*/ 934 h 997"/>
                <a:gd name="T92" fmla="*/ 7 w 807"/>
                <a:gd name="T93" fmla="*/ 922 h 997"/>
                <a:gd name="T94" fmla="*/ 4 w 807"/>
                <a:gd name="T95" fmla="*/ 910 h 997"/>
                <a:gd name="T96" fmla="*/ 4 w 807"/>
                <a:gd name="T97" fmla="*/ 898 h 997"/>
                <a:gd name="T98" fmla="*/ 0 w 807"/>
                <a:gd name="T99" fmla="*/ 835 h 9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7"/>
                <a:gd name="T151" fmla="*/ 0 h 997"/>
                <a:gd name="T152" fmla="*/ 807 w 807"/>
                <a:gd name="T153" fmla="*/ 997 h 9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7" h="997">
                  <a:moveTo>
                    <a:pt x="0" y="835"/>
                  </a:moveTo>
                  <a:lnTo>
                    <a:pt x="0" y="835"/>
                  </a:lnTo>
                  <a:lnTo>
                    <a:pt x="27" y="768"/>
                  </a:lnTo>
                  <a:lnTo>
                    <a:pt x="59" y="693"/>
                  </a:lnTo>
                  <a:lnTo>
                    <a:pt x="98" y="603"/>
                  </a:lnTo>
                  <a:lnTo>
                    <a:pt x="149" y="500"/>
                  </a:lnTo>
                  <a:lnTo>
                    <a:pt x="204" y="394"/>
                  </a:lnTo>
                  <a:lnTo>
                    <a:pt x="267" y="288"/>
                  </a:lnTo>
                  <a:lnTo>
                    <a:pt x="299" y="240"/>
                  </a:lnTo>
                  <a:lnTo>
                    <a:pt x="334" y="197"/>
                  </a:lnTo>
                  <a:lnTo>
                    <a:pt x="413" y="114"/>
                  </a:lnTo>
                  <a:lnTo>
                    <a:pt x="523" y="24"/>
                  </a:lnTo>
                  <a:lnTo>
                    <a:pt x="535" y="16"/>
                  </a:lnTo>
                  <a:lnTo>
                    <a:pt x="567" y="8"/>
                  </a:lnTo>
                  <a:lnTo>
                    <a:pt x="587" y="4"/>
                  </a:lnTo>
                  <a:lnTo>
                    <a:pt x="610" y="0"/>
                  </a:lnTo>
                  <a:lnTo>
                    <a:pt x="638" y="0"/>
                  </a:lnTo>
                  <a:lnTo>
                    <a:pt x="661" y="4"/>
                  </a:lnTo>
                  <a:lnTo>
                    <a:pt x="689" y="8"/>
                  </a:lnTo>
                  <a:lnTo>
                    <a:pt x="716" y="20"/>
                  </a:lnTo>
                  <a:lnTo>
                    <a:pt x="760" y="40"/>
                  </a:lnTo>
                  <a:lnTo>
                    <a:pt x="799" y="63"/>
                  </a:lnTo>
                  <a:lnTo>
                    <a:pt x="807" y="146"/>
                  </a:lnTo>
                  <a:lnTo>
                    <a:pt x="791" y="162"/>
                  </a:lnTo>
                  <a:lnTo>
                    <a:pt x="772" y="189"/>
                  </a:lnTo>
                  <a:lnTo>
                    <a:pt x="744" y="213"/>
                  </a:lnTo>
                  <a:lnTo>
                    <a:pt x="661" y="272"/>
                  </a:lnTo>
                  <a:lnTo>
                    <a:pt x="642" y="296"/>
                  </a:lnTo>
                  <a:lnTo>
                    <a:pt x="590" y="363"/>
                  </a:lnTo>
                  <a:lnTo>
                    <a:pt x="559" y="410"/>
                  </a:lnTo>
                  <a:lnTo>
                    <a:pt x="523" y="461"/>
                  </a:lnTo>
                  <a:lnTo>
                    <a:pt x="488" y="520"/>
                  </a:lnTo>
                  <a:lnTo>
                    <a:pt x="453" y="587"/>
                  </a:lnTo>
                  <a:lnTo>
                    <a:pt x="275" y="957"/>
                  </a:lnTo>
                  <a:lnTo>
                    <a:pt x="185" y="997"/>
                  </a:lnTo>
                  <a:lnTo>
                    <a:pt x="90" y="985"/>
                  </a:lnTo>
                  <a:lnTo>
                    <a:pt x="63" y="977"/>
                  </a:lnTo>
                  <a:lnTo>
                    <a:pt x="39" y="965"/>
                  </a:lnTo>
                  <a:lnTo>
                    <a:pt x="23" y="949"/>
                  </a:lnTo>
                  <a:lnTo>
                    <a:pt x="11" y="934"/>
                  </a:lnTo>
                  <a:lnTo>
                    <a:pt x="7" y="922"/>
                  </a:lnTo>
                  <a:lnTo>
                    <a:pt x="4" y="910"/>
                  </a:lnTo>
                  <a:lnTo>
                    <a:pt x="4" y="898"/>
                  </a:lnTo>
                  <a:lnTo>
                    <a:pt x="0" y="835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6" name="Freeform 380"/>
            <p:cNvSpPr>
              <a:spLocks/>
            </p:cNvSpPr>
            <p:nvPr/>
          </p:nvSpPr>
          <p:spPr bwMode="auto">
            <a:xfrm>
              <a:off x="3353" y="1784"/>
              <a:ext cx="835" cy="1036"/>
            </a:xfrm>
            <a:custGeom>
              <a:avLst/>
              <a:gdLst>
                <a:gd name="T0" fmla="*/ 91 w 835"/>
                <a:gd name="T1" fmla="*/ 740 h 1036"/>
                <a:gd name="T2" fmla="*/ 225 w 835"/>
                <a:gd name="T3" fmla="*/ 461 h 1036"/>
                <a:gd name="T4" fmla="*/ 304 w 835"/>
                <a:gd name="T5" fmla="*/ 331 h 1036"/>
                <a:gd name="T6" fmla="*/ 434 w 835"/>
                <a:gd name="T7" fmla="*/ 165 h 1036"/>
                <a:gd name="T8" fmla="*/ 520 w 835"/>
                <a:gd name="T9" fmla="*/ 94 h 1036"/>
                <a:gd name="T10" fmla="*/ 639 w 835"/>
                <a:gd name="T11" fmla="*/ 43 h 1036"/>
                <a:gd name="T12" fmla="*/ 682 w 835"/>
                <a:gd name="T13" fmla="*/ 43 h 1036"/>
                <a:gd name="T14" fmla="*/ 772 w 835"/>
                <a:gd name="T15" fmla="*/ 79 h 1036"/>
                <a:gd name="T16" fmla="*/ 796 w 835"/>
                <a:gd name="T17" fmla="*/ 75 h 1036"/>
                <a:gd name="T18" fmla="*/ 800 w 835"/>
                <a:gd name="T19" fmla="*/ 193 h 1036"/>
                <a:gd name="T20" fmla="*/ 788 w 835"/>
                <a:gd name="T21" fmla="*/ 197 h 1036"/>
                <a:gd name="T22" fmla="*/ 757 w 835"/>
                <a:gd name="T23" fmla="*/ 224 h 1036"/>
                <a:gd name="T24" fmla="*/ 650 w 835"/>
                <a:gd name="T25" fmla="*/ 323 h 1036"/>
                <a:gd name="T26" fmla="*/ 540 w 835"/>
                <a:gd name="T27" fmla="*/ 449 h 1036"/>
                <a:gd name="T28" fmla="*/ 453 w 835"/>
                <a:gd name="T29" fmla="*/ 591 h 1036"/>
                <a:gd name="T30" fmla="*/ 316 w 835"/>
                <a:gd name="T31" fmla="*/ 870 h 1036"/>
                <a:gd name="T32" fmla="*/ 288 w 835"/>
                <a:gd name="T33" fmla="*/ 933 h 1036"/>
                <a:gd name="T34" fmla="*/ 260 w 835"/>
                <a:gd name="T35" fmla="*/ 965 h 1036"/>
                <a:gd name="T36" fmla="*/ 209 w 835"/>
                <a:gd name="T37" fmla="*/ 988 h 1036"/>
                <a:gd name="T38" fmla="*/ 111 w 835"/>
                <a:gd name="T39" fmla="*/ 984 h 1036"/>
                <a:gd name="T40" fmla="*/ 67 w 835"/>
                <a:gd name="T41" fmla="*/ 973 h 1036"/>
                <a:gd name="T42" fmla="*/ 40 w 835"/>
                <a:gd name="T43" fmla="*/ 937 h 1036"/>
                <a:gd name="T44" fmla="*/ 36 w 835"/>
                <a:gd name="T45" fmla="*/ 882 h 1036"/>
                <a:gd name="T46" fmla="*/ 16 w 835"/>
                <a:gd name="T47" fmla="*/ 854 h 1036"/>
                <a:gd name="T48" fmla="*/ 0 w 835"/>
                <a:gd name="T49" fmla="*/ 854 h 1036"/>
                <a:gd name="T50" fmla="*/ 0 w 835"/>
                <a:gd name="T51" fmla="*/ 894 h 1036"/>
                <a:gd name="T52" fmla="*/ 20 w 835"/>
                <a:gd name="T53" fmla="*/ 969 h 1036"/>
                <a:gd name="T54" fmla="*/ 79 w 835"/>
                <a:gd name="T55" fmla="*/ 1020 h 1036"/>
                <a:gd name="T56" fmla="*/ 166 w 835"/>
                <a:gd name="T57" fmla="*/ 1036 h 1036"/>
                <a:gd name="T58" fmla="*/ 252 w 835"/>
                <a:gd name="T59" fmla="*/ 1028 h 1036"/>
                <a:gd name="T60" fmla="*/ 312 w 835"/>
                <a:gd name="T61" fmla="*/ 976 h 1036"/>
                <a:gd name="T62" fmla="*/ 434 w 835"/>
                <a:gd name="T63" fmla="*/ 713 h 1036"/>
                <a:gd name="T64" fmla="*/ 544 w 835"/>
                <a:gd name="T65" fmla="*/ 524 h 1036"/>
                <a:gd name="T66" fmla="*/ 639 w 835"/>
                <a:gd name="T67" fmla="*/ 402 h 1036"/>
                <a:gd name="T68" fmla="*/ 828 w 835"/>
                <a:gd name="T69" fmla="*/ 224 h 1036"/>
                <a:gd name="T70" fmla="*/ 835 w 835"/>
                <a:gd name="T71" fmla="*/ 205 h 1036"/>
                <a:gd name="T72" fmla="*/ 832 w 835"/>
                <a:gd name="T73" fmla="*/ 126 h 1036"/>
                <a:gd name="T74" fmla="*/ 816 w 835"/>
                <a:gd name="T75" fmla="*/ 67 h 1036"/>
                <a:gd name="T76" fmla="*/ 749 w 835"/>
                <a:gd name="T77" fmla="*/ 27 h 1036"/>
                <a:gd name="T78" fmla="*/ 654 w 835"/>
                <a:gd name="T79" fmla="*/ 0 h 1036"/>
                <a:gd name="T80" fmla="*/ 603 w 835"/>
                <a:gd name="T81" fmla="*/ 4 h 1036"/>
                <a:gd name="T82" fmla="*/ 528 w 835"/>
                <a:gd name="T83" fmla="*/ 31 h 1036"/>
                <a:gd name="T84" fmla="*/ 422 w 835"/>
                <a:gd name="T85" fmla="*/ 114 h 1036"/>
                <a:gd name="T86" fmla="*/ 351 w 835"/>
                <a:gd name="T87" fmla="*/ 189 h 1036"/>
                <a:gd name="T88" fmla="*/ 233 w 835"/>
                <a:gd name="T89" fmla="*/ 354 h 1036"/>
                <a:gd name="T90" fmla="*/ 91 w 835"/>
                <a:gd name="T91" fmla="*/ 630 h 1036"/>
                <a:gd name="T92" fmla="*/ 0 w 835"/>
                <a:gd name="T93" fmla="*/ 858 h 1036"/>
                <a:gd name="T94" fmla="*/ 0 w 835"/>
                <a:gd name="T95" fmla="*/ 874 h 1036"/>
                <a:gd name="T96" fmla="*/ 24 w 835"/>
                <a:gd name="T97" fmla="*/ 894 h 1036"/>
                <a:gd name="T98" fmla="*/ 32 w 835"/>
                <a:gd name="T99" fmla="*/ 886 h 10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35"/>
                <a:gd name="T151" fmla="*/ 0 h 1036"/>
                <a:gd name="T152" fmla="*/ 835 w 835"/>
                <a:gd name="T153" fmla="*/ 1036 h 10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35" h="1036">
                  <a:moveTo>
                    <a:pt x="32" y="886"/>
                  </a:moveTo>
                  <a:lnTo>
                    <a:pt x="32" y="886"/>
                  </a:lnTo>
                  <a:lnTo>
                    <a:pt x="91" y="740"/>
                  </a:lnTo>
                  <a:lnTo>
                    <a:pt x="154" y="598"/>
                  </a:lnTo>
                  <a:lnTo>
                    <a:pt x="186" y="531"/>
                  </a:lnTo>
                  <a:lnTo>
                    <a:pt x="225" y="461"/>
                  </a:lnTo>
                  <a:lnTo>
                    <a:pt x="264" y="394"/>
                  </a:lnTo>
                  <a:lnTo>
                    <a:pt x="304" y="331"/>
                  </a:lnTo>
                  <a:lnTo>
                    <a:pt x="343" y="272"/>
                  </a:lnTo>
                  <a:lnTo>
                    <a:pt x="386" y="216"/>
                  </a:lnTo>
                  <a:lnTo>
                    <a:pt x="434" y="165"/>
                  </a:lnTo>
                  <a:lnTo>
                    <a:pt x="485" y="118"/>
                  </a:lnTo>
                  <a:lnTo>
                    <a:pt x="520" y="94"/>
                  </a:lnTo>
                  <a:lnTo>
                    <a:pt x="556" y="71"/>
                  </a:lnTo>
                  <a:lnTo>
                    <a:pt x="595" y="55"/>
                  </a:lnTo>
                  <a:lnTo>
                    <a:pt x="639" y="43"/>
                  </a:lnTo>
                  <a:lnTo>
                    <a:pt x="658" y="39"/>
                  </a:lnTo>
                  <a:lnTo>
                    <a:pt x="682" y="43"/>
                  </a:lnTo>
                  <a:lnTo>
                    <a:pt x="705" y="51"/>
                  </a:lnTo>
                  <a:lnTo>
                    <a:pt x="729" y="59"/>
                  </a:lnTo>
                  <a:lnTo>
                    <a:pt x="772" y="79"/>
                  </a:lnTo>
                  <a:lnTo>
                    <a:pt x="816" y="102"/>
                  </a:lnTo>
                  <a:lnTo>
                    <a:pt x="796" y="75"/>
                  </a:lnTo>
                  <a:lnTo>
                    <a:pt x="800" y="193"/>
                  </a:lnTo>
                  <a:lnTo>
                    <a:pt x="800" y="185"/>
                  </a:lnTo>
                  <a:lnTo>
                    <a:pt x="796" y="189"/>
                  </a:lnTo>
                  <a:lnTo>
                    <a:pt x="788" y="197"/>
                  </a:lnTo>
                  <a:lnTo>
                    <a:pt x="757" y="224"/>
                  </a:lnTo>
                  <a:lnTo>
                    <a:pt x="733" y="244"/>
                  </a:lnTo>
                  <a:lnTo>
                    <a:pt x="650" y="323"/>
                  </a:lnTo>
                  <a:lnTo>
                    <a:pt x="615" y="362"/>
                  </a:lnTo>
                  <a:lnTo>
                    <a:pt x="575" y="405"/>
                  </a:lnTo>
                  <a:lnTo>
                    <a:pt x="540" y="449"/>
                  </a:lnTo>
                  <a:lnTo>
                    <a:pt x="509" y="492"/>
                  </a:lnTo>
                  <a:lnTo>
                    <a:pt x="477" y="539"/>
                  </a:lnTo>
                  <a:lnTo>
                    <a:pt x="453" y="591"/>
                  </a:lnTo>
                  <a:lnTo>
                    <a:pt x="382" y="728"/>
                  </a:lnTo>
                  <a:lnTo>
                    <a:pt x="316" y="870"/>
                  </a:lnTo>
                  <a:lnTo>
                    <a:pt x="304" y="906"/>
                  </a:lnTo>
                  <a:lnTo>
                    <a:pt x="288" y="933"/>
                  </a:lnTo>
                  <a:lnTo>
                    <a:pt x="280" y="945"/>
                  </a:lnTo>
                  <a:lnTo>
                    <a:pt x="272" y="957"/>
                  </a:lnTo>
                  <a:lnTo>
                    <a:pt x="260" y="965"/>
                  </a:lnTo>
                  <a:lnTo>
                    <a:pt x="245" y="973"/>
                  </a:lnTo>
                  <a:lnTo>
                    <a:pt x="209" y="988"/>
                  </a:lnTo>
                  <a:lnTo>
                    <a:pt x="182" y="992"/>
                  </a:lnTo>
                  <a:lnTo>
                    <a:pt x="150" y="992"/>
                  </a:lnTo>
                  <a:lnTo>
                    <a:pt x="111" y="984"/>
                  </a:lnTo>
                  <a:lnTo>
                    <a:pt x="87" y="980"/>
                  </a:lnTo>
                  <a:lnTo>
                    <a:pt x="67" y="973"/>
                  </a:lnTo>
                  <a:lnTo>
                    <a:pt x="56" y="965"/>
                  </a:lnTo>
                  <a:lnTo>
                    <a:pt x="44" y="953"/>
                  </a:lnTo>
                  <a:lnTo>
                    <a:pt x="40" y="937"/>
                  </a:lnTo>
                  <a:lnTo>
                    <a:pt x="36" y="921"/>
                  </a:lnTo>
                  <a:lnTo>
                    <a:pt x="36" y="882"/>
                  </a:lnTo>
                  <a:lnTo>
                    <a:pt x="32" y="874"/>
                  </a:lnTo>
                  <a:lnTo>
                    <a:pt x="28" y="866"/>
                  </a:lnTo>
                  <a:lnTo>
                    <a:pt x="16" y="854"/>
                  </a:lnTo>
                  <a:lnTo>
                    <a:pt x="12" y="850"/>
                  </a:lnTo>
                  <a:lnTo>
                    <a:pt x="4" y="850"/>
                  </a:lnTo>
                  <a:lnTo>
                    <a:pt x="0" y="854"/>
                  </a:lnTo>
                  <a:lnTo>
                    <a:pt x="0" y="862"/>
                  </a:lnTo>
                  <a:lnTo>
                    <a:pt x="0" y="894"/>
                  </a:lnTo>
                  <a:lnTo>
                    <a:pt x="4" y="921"/>
                  </a:lnTo>
                  <a:lnTo>
                    <a:pt x="8" y="949"/>
                  </a:lnTo>
                  <a:lnTo>
                    <a:pt x="20" y="969"/>
                  </a:lnTo>
                  <a:lnTo>
                    <a:pt x="36" y="988"/>
                  </a:lnTo>
                  <a:lnTo>
                    <a:pt x="56" y="1008"/>
                  </a:lnTo>
                  <a:lnTo>
                    <a:pt x="79" y="1020"/>
                  </a:lnTo>
                  <a:lnTo>
                    <a:pt x="111" y="1028"/>
                  </a:lnTo>
                  <a:lnTo>
                    <a:pt x="166" y="1036"/>
                  </a:lnTo>
                  <a:lnTo>
                    <a:pt x="193" y="1036"/>
                  </a:lnTo>
                  <a:lnTo>
                    <a:pt x="225" y="1036"/>
                  </a:lnTo>
                  <a:lnTo>
                    <a:pt x="252" y="1028"/>
                  </a:lnTo>
                  <a:lnTo>
                    <a:pt x="276" y="1020"/>
                  </a:lnTo>
                  <a:lnTo>
                    <a:pt x="296" y="1000"/>
                  </a:lnTo>
                  <a:lnTo>
                    <a:pt x="312" y="976"/>
                  </a:lnTo>
                  <a:lnTo>
                    <a:pt x="375" y="847"/>
                  </a:lnTo>
                  <a:lnTo>
                    <a:pt x="434" y="713"/>
                  </a:lnTo>
                  <a:lnTo>
                    <a:pt x="469" y="650"/>
                  </a:lnTo>
                  <a:lnTo>
                    <a:pt x="505" y="587"/>
                  </a:lnTo>
                  <a:lnTo>
                    <a:pt x="544" y="524"/>
                  </a:lnTo>
                  <a:lnTo>
                    <a:pt x="583" y="468"/>
                  </a:lnTo>
                  <a:lnTo>
                    <a:pt x="639" y="402"/>
                  </a:lnTo>
                  <a:lnTo>
                    <a:pt x="702" y="339"/>
                  </a:lnTo>
                  <a:lnTo>
                    <a:pt x="761" y="283"/>
                  </a:lnTo>
                  <a:lnTo>
                    <a:pt x="828" y="224"/>
                  </a:lnTo>
                  <a:lnTo>
                    <a:pt x="832" y="216"/>
                  </a:lnTo>
                  <a:lnTo>
                    <a:pt x="835" y="205"/>
                  </a:lnTo>
                  <a:lnTo>
                    <a:pt x="835" y="177"/>
                  </a:lnTo>
                  <a:lnTo>
                    <a:pt x="832" y="126"/>
                  </a:lnTo>
                  <a:lnTo>
                    <a:pt x="832" y="98"/>
                  </a:lnTo>
                  <a:lnTo>
                    <a:pt x="824" y="83"/>
                  </a:lnTo>
                  <a:lnTo>
                    <a:pt x="816" y="67"/>
                  </a:lnTo>
                  <a:lnTo>
                    <a:pt x="792" y="51"/>
                  </a:lnTo>
                  <a:lnTo>
                    <a:pt x="749" y="27"/>
                  </a:lnTo>
                  <a:lnTo>
                    <a:pt x="702" y="12"/>
                  </a:lnTo>
                  <a:lnTo>
                    <a:pt x="678" y="4"/>
                  </a:lnTo>
                  <a:lnTo>
                    <a:pt x="654" y="0"/>
                  </a:lnTo>
                  <a:lnTo>
                    <a:pt x="631" y="0"/>
                  </a:lnTo>
                  <a:lnTo>
                    <a:pt x="603" y="4"/>
                  </a:lnTo>
                  <a:lnTo>
                    <a:pt x="579" y="8"/>
                  </a:lnTo>
                  <a:lnTo>
                    <a:pt x="552" y="20"/>
                  </a:lnTo>
                  <a:lnTo>
                    <a:pt x="528" y="31"/>
                  </a:lnTo>
                  <a:lnTo>
                    <a:pt x="505" y="47"/>
                  </a:lnTo>
                  <a:lnTo>
                    <a:pt x="461" y="79"/>
                  </a:lnTo>
                  <a:lnTo>
                    <a:pt x="422" y="114"/>
                  </a:lnTo>
                  <a:lnTo>
                    <a:pt x="386" y="150"/>
                  </a:lnTo>
                  <a:lnTo>
                    <a:pt x="351" y="189"/>
                  </a:lnTo>
                  <a:lnTo>
                    <a:pt x="319" y="228"/>
                  </a:lnTo>
                  <a:lnTo>
                    <a:pt x="288" y="268"/>
                  </a:lnTo>
                  <a:lnTo>
                    <a:pt x="233" y="354"/>
                  </a:lnTo>
                  <a:lnTo>
                    <a:pt x="182" y="445"/>
                  </a:lnTo>
                  <a:lnTo>
                    <a:pt x="134" y="535"/>
                  </a:lnTo>
                  <a:lnTo>
                    <a:pt x="91" y="630"/>
                  </a:lnTo>
                  <a:lnTo>
                    <a:pt x="16" y="823"/>
                  </a:lnTo>
                  <a:lnTo>
                    <a:pt x="0" y="858"/>
                  </a:lnTo>
                  <a:lnTo>
                    <a:pt x="0" y="866"/>
                  </a:lnTo>
                  <a:lnTo>
                    <a:pt x="0" y="874"/>
                  </a:lnTo>
                  <a:lnTo>
                    <a:pt x="12" y="886"/>
                  </a:lnTo>
                  <a:lnTo>
                    <a:pt x="16" y="894"/>
                  </a:lnTo>
                  <a:lnTo>
                    <a:pt x="24" y="894"/>
                  </a:lnTo>
                  <a:lnTo>
                    <a:pt x="28" y="894"/>
                  </a:lnTo>
                  <a:lnTo>
                    <a:pt x="32" y="8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7" name="Freeform 381"/>
            <p:cNvSpPr>
              <a:spLocks/>
            </p:cNvSpPr>
            <p:nvPr/>
          </p:nvSpPr>
          <p:spPr bwMode="auto">
            <a:xfrm>
              <a:off x="4488" y="2075"/>
              <a:ext cx="437" cy="1004"/>
            </a:xfrm>
            <a:custGeom>
              <a:avLst/>
              <a:gdLst>
                <a:gd name="T0" fmla="*/ 8 w 437"/>
                <a:gd name="T1" fmla="*/ 1004 h 1004"/>
                <a:gd name="T2" fmla="*/ 8 w 437"/>
                <a:gd name="T3" fmla="*/ 1004 h 1004"/>
                <a:gd name="T4" fmla="*/ 4 w 437"/>
                <a:gd name="T5" fmla="*/ 1004 h 1004"/>
                <a:gd name="T6" fmla="*/ 0 w 437"/>
                <a:gd name="T7" fmla="*/ 993 h 1004"/>
                <a:gd name="T8" fmla="*/ 0 w 437"/>
                <a:gd name="T9" fmla="*/ 981 h 1004"/>
                <a:gd name="T10" fmla="*/ 0 w 437"/>
                <a:gd name="T11" fmla="*/ 969 h 1004"/>
                <a:gd name="T12" fmla="*/ 4 w 437"/>
                <a:gd name="T13" fmla="*/ 945 h 1004"/>
                <a:gd name="T14" fmla="*/ 12 w 437"/>
                <a:gd name="T15" fmla="*/ 922 h 1004"/>
                <a:gd name="T16" fmla="*/ 12 w 437"/>
                <a:gd name="T17" fmla="*/ 922 h 1004"/>
                <a:gd name="T18" fmla="*/ 106 w 437"/>
                <a:gd name="T19" fmla="*/ 682 h 1004"/>
                <a:gd name="T20" fmla="*/ 228 w 437"/>
                <a:gd name="T21" fmla="*/ 386 h 1004"/>
                <a:gd name="T22" fmla="*/ 291 w 437"/>
                <a:gd name="T23" fmla="*/ 248 h 1004"/>
                <a:gd name="T24" fmla="*/ 346 w 437"/>
                <a:gd name="T25" fmla="*/ 130 h 1004"/>
                <a:gd name="T26" fmla="*/ 390 w 437"/>
                <a:gd name="T27" fmla="*/ 44 h 1004"/>
                <a:gd name="T28" fmla="*/ 406 w 437"/>
                <a:gd name="T29" fmla="*/ 16 h 1004"/>
                <a:gd name="T30" fmla="*/ 421 w 437"/>
                <a:gd name="T31" fmla="*/ 0 h 1004"/>
                <a:gd name="T32" fmla="*/ 421 w 437"/>
                <a:gd name="T33" fmla="*/ 0 h 1004"/>
                <a:gd name="T34" fmla="*/ 421 w 437"/>
                <a:gd name="T35" fmla="*/ 0 h 1004"/>
                <a:gd name="T36" fmla="*/ 425 w 437"/>
                <a:gd name="T37" fmla="*/ 4 h 1004"/>
                <a:gd name="T38" fmla="*/ 429 w 437"/>
                <a:gd name="T39" fmla="*/ 16 h 1004"/>
                <a:gd name="T40" fmla="*/ 433 w 437"/>
                <a:gd name="T41" fmla="*/ 55 h 1004"/>
                <a:gd name="T42" fmla="*/ 437 w 437"/>
                <a:gd name="T43" fmla="*/ 118 h 1004"/>
                <a:gd name="T44" fmla="*/ 425 w 437"/>
                <a:gd name="T45" fmla="*/ 177 h 1004"/>
                <a:gd name="T46" fmla="*/ 382 w 437"/>
                <a:gd name="T47" fmla="*/ 351 h 1004"/>
                <a:gd name="T48" fmla="*/ 8 w 437"/>
                <a:gd name="T49" fmla="*/ 1004 h 100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37"/>
                <a:gd name="T76" fmla="*/ 0 h 1004"/>
                <a:gd name="T77" fmla="*/ 437 w 437"/>
                <a:gd name="T78" fmla="*/ 1004 h 100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37" h="1004">
                  <a:moveTo>
                    <a:pt x="8" y="1004"/>
                  </a:moveTo>
                  <a:lnTo>
                    <a:pt x="8" y="1004"/>
                  </a:lnTo>
                  <a:lnTo>
                    <a:pt x="4" y="1004"/>
                  </a:lnTo>
                  <a:lnTo>
                    <a:pt x="0" y="993"/>
                  </a:lnTo>
                  <a:lnTo>
                    <a:pt x="0" y="981"/>
                  </a:lnTo>
                  <a:lnTo>
                    <a:pt x="0" y="969"/>
                  </a:lnTo>
                  <a:lnTo>
                    <a:pt x="4" y="945"/>
                  </a:lnTo>
                  <a:lnTo>
                    <a:pt x="12" y="922"/>
                  </a:lnTo>
                  <a:lnTo>
                    <a:pt x="106" y="682"/>
                  </a:lnTo>
                  <a:lnTo>
                    <a:pt x="228" y="386"/>
                  </a:lnTo>
                  <a:lnTo>
                    <a:pt x="291" y="248"/>
                  </a:lnTo>
                  <a:lnTo>
                    <a:pt x="346" y="130"/>
                  </a:lnTo>
                  <a:lnTo>
                    <a:pt x="390" y="44"/>
                  </a:lnTo>
                  <a:lnTo>
                    <a:pt x="406" y="16"/>
                  </a:lnTo>
                  <a:lnTo>
                    <a:pt x="421" y="0"/>
                  </a:lnTo>
                  <a:lnTo>
                    <a:pt x="425" y="4"/>
                  </a:lnTo>
                  <a:lnTo>
                    <a:pt x="429" y="16"/>
                  </a:lnTo>
                  <a:lnTo>
                    <a:pt x="433" y="55"/>
                  </a:lnTo>
                  <a:lnTo>
                    <a:pt x="437" y="118"/>
                  </a:lnTo>
                  <a:lnTo>
                    <a:pt x="425" y="177"/>
                  </a:lnTo>
                  <a:lnTo>
                    <a:pt x="382" y="351"/>
                  </a:lnTo>
                  <a:lnTo>
                    <a:pt x="8" y="1004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8" name="Freeform 382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w 342"/>
                <a:gd name="T23" fmla="*/ 83 h 1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2"/>
                <a:gd name="T37" fmla="*/ 0 h 153"/>
                <a:gd name="T38" fmla="*/ 342 w 342"/>
                <a:gd name="T39" fmla="*/ 153 h 15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7E9FA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09" name="Freeform 383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2"/>
                <a:gd name="T34" fmla="*/ 0 h 153"/>
                <a:gd name="T35" fmla="*/ 342 w 342"/>
                <a:gd name="T36" fmla="*/ 153 h 1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0" name="Freeform 384"/>
            <p:cNvSpPr>
              <a:spLocks/>
            </p:cNvSpPr>
            <p:nvPr/>
          </p:nvSpPr>
          <p:spPr bwMode="auto">
            <a:xfrm>
              <a:off x="4267" y="2245"/>
              <a:ext cx="292" cy="114"/>
            </a:xfrm>
            <a:custGeom>
              <a:avLst/>
              <a:gdLst>
                <a:gd name="T0" fmla="*/ 32 w 292"/>
                <a:gd name="T1" fmla="*/ 0 h 114"/>
                <a:gd name="T2" fmla="*/ 292 w 292"/>
                <a:gd name="T3" fmla="*/ 55 h 114"/>
                <a:gd name="T4" fmla="*/ 252 w 292"/>
                <a:gd name="T5" fmla="*/ 114 h 114"/>
                <a:gd name="T6" fmla="*/ 252 w 292"/>
                <a:gd name="T7" fmla="*/ 114 h 114"/>
                <a:gd name="T8" fmla="*/ 209 w 292"/>
                <a:gd name="T9" fmla="*/ 102 h 114"/>
                <a:gd name="T10" fmla="*/ 83 w 292"/>
                <a:gd name="T11" fmla="*/ 74 h 114"/>
                <a:gd name="T12" fmla="*/ 83 w 292"/>
                <a:gd name="T13" fmla="*/ 74 h 114"/>
                <a:gd name="T14" fmla="*/ 0 w 292"/>
                <a:gd name="T15" fmla="*/ 55 h 114"/>
                <a:gd name="T16" fmla="*/ 32 w 292"/>
                <a:gd name="T17" fmla="*/ 0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2"/>
                <a:gd name="T28" fmla="*/ 0 h 114"/>
                <a:gd name="T29" fmla="*/ 292 w 292"/>
                <a:gd name="T30" fmla="*/ 114 h 1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2" h="114">
                  <a:moveTo>
                    <a:pt x="32" y="0"/>
                  </a:moveTo>
                  <a:lnTo>
                    <a:pt x="292" y="55"/>
                  </a:lnTo>
                  <a:lnTo>
                    <a:pt x="252" y="114"/>
                  </a:lnTo>
                  <a:lnTo>
                    <a:pt x="209" y="102"/>
                  </a:lnTo>
                  <a:lnTo>
                    <a:pt x="83" y="74"/>
                  </a:lnTo>
                  <a:lnTo>
                    <a:pt x="0" y="5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BFBFA2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1" name="Freeform 385"/>
            <p:cNvSpPr>
              <a:spLocks/>
            </p:cNvSpPr>
            <p:nvPr/>
          </p:nvSpPr>
          <p:spPr bwMode="auto">
            <a:xfrm>
              <a:off x="4240" y="2233"/>
              <a:ext cx="59" cy="79"/>
            </a:xfrm>
            <a:custGeom>
              <a:avLst/>
              <a:gdLst>
                <a:gd name="T0" fmla="*/ 0 w 59"/>
                <a:gd name="T1" fmla="*/ 79 h 79"/>
                <a:gd name="T2" fmla="*/ 27 w 59"/>
                <a:gd name="T3" fmla="*/ 67 h 79"/>
                <a:gd name="T4" fmla="*/ 59 w 59"/>
                <a:gd name="T5" fmla="*/ 12 h 79"/>
                <a:gd name="T6" fmla="*/ 47 w 59"/>
                <a:gd name="T7" fmla="*/ 0 h 79"/>
                <a:gd name="T8" fmla="*/ 0 w 59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79"/>
                <a:gd name="T17" fmla="*/ 59 w 5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79">
                  <a:moveTo>
                    <a:pt x="0" y="79"/>
                  </a:moveTo>
                  <a:lnTo>
                    <a:pt x="27" y="67"/>
                  </a:lnTo>
                  <a:lnTo>
                    <a:pt x="59" y="12"/>
                  </a:lnTo>
                  <a:lnTo>
                    <a:pt x="47" y="0"/>
                  </a:lnTo>
                  <a:lnTo>
                    <a:pt x="0" y="79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2" name="Freeform 386"/>
            <p:cNvSpPr>
              <a:spLocks/>
            </p:cNvSpPr>
            <p:nvPr/>
          </p:nvSpPr>
          <p:spPr bwMode="auto">
            <a:xfrm>
              <a:off x="4519" y="2284"/>
              <a:ext cx="59" cy="91"/>
            </a:xfrm>
            <a:custGeom>
              <a:avLst/>
              <a:gdLst>
                <a:gd name="T0" fmla="*/ 40 w 59"/>
                <a:gd name="T1" fmla="*/ 8 h 91"/>
                <a:gd name="T2" fmla="*/ 59 w 59"/>
                <a:gd name="T3" fmla="*/ 0 h 91"/>
                <a:gd name="T4" fmla="*/ 4 w 59"/>
                <a:gd name="T5" fmla="*/ 91 h 91"/>
                <a:gd name="T6" fmla="*/ 0 w 59"/>
                <a:gd name="T7" fmla="*/ 75 h 91"/>
                <a:gd name="T8" fmla="*/ 40 w 59"/>
                <a:gd name="T9" fmla="*/ 8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91"/>
                <a:gd name="T17" fmla="*/ 59 w 59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91">
                  <a:moveTo>
                    <a:pt x="40" y="8"/>
                  </a:moveTo>
                  <a:lnTo>
                    <a:pt x="59" y="0"/>
                  </a:lnTo>
                  <a:lnTo>
                    <a:pt x="4" y="91"/>
                  </a:lnTo>
                  <a:lnTo>
                    <a:pt x="0" y="75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ABC3C9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3" name="Freeform 387"/>
            <p:cNvSpPr>
              <a:spLocks/>
            </p:cNvSpPr>
            <p:nvPr/>
          </p:nvSpPr>
          <p:spPr bwMode="auto">
            <a:xfrm>
              <a:off x="3732" y="2060"/>
              <a:ext cx="319" cy="523"/>
            </a:xfrm>
            <a:custGeom>
              <a:avLst/>
              <a:gdLst>
                <a:gd name="T0" fmla="*/ 3 w 319"/>
                <a:gd name="T1" fmla="*/ 523 h 523"/>
                <a:gd name="T2" fmla="*/ 3 w 319"/>
                <a:gd name="T3" fmla="*/ 523 h 523"/>
                <a:gd name="T4" fmla="*/ 23 w 319"/>
                <a:gd name="T5" fmla="*/ 445 h 523"/>
                <a:gd name="T6" fmla="*/ 47 w 319"/>
                <a:gd name="T7" fmla="*/ 370 h 523"/>
                <a:gd name="T8" fmla="*/ 78 w 319"/>
                <a:gd name="T9" fmla="*/ 299 h 523"/>
                <a:gd name="T10" fmla="*/ 114 w 319"/>
                <a:gd name="T11" fmla="*/ 228 h 523"/>
                <a:gd name="T12" fmla="*/ 114 w 319"/>
                <a:gd name="T13" fmla="*/ 228 h 523"/>
                <a:gd name="T14" fmla="*/ 161 w 319"/>
                <a:gd name="T15" fmla="*/ 149 h 523"/>
                <a:gd name="T16" fmla="*/ 185 w 319"/>
                <a:gd name="T17" fmla="*/ 110 h 523"/>
                <a:gd name="T18" fmla="*/ 212 w 319"/>
                <a:gd name="T19" fmla="*/ 70 h 523"/>
                <a:gd name="T20" fmla="*/ 212 w 319"/>
                <a:gd name="T21" fmla="*/ 70 h 523"/>
                <a:gd name="T22" fmla="*/ 224 w 319"/>
                <a:gd name="T23" fmla="*/ 55 h 523"/>
                <a:gd name="T24" fmla="*/ 240 w 319"/>
                <a:gd name="T25" fmla="*/ 47 h 523"/>
                <a:gd name="T26" fmla="*/ 252 w 319"/>
                <a:gd name="T27" fmla="*/ 39 h 523"/>
                <a:gd name="T28" fmla="*/ 263 w 319"/>
                <a:gd name="T29" fmla="*/ 39 h 523"/>
                <a:gd name="T30" fmla="*/ 275 w 319"/>
                <a:gd name="T31" fmla="*/ 43 h 523"/>
                <a:gd name="T32" fmla="*/ 287 w 319"/>
                <a:gd name="T33" fmla="*/ 47 h 523"/>
                <a:gd name="T34" fmla="*/ 319 w 319"/>
                <a:gd name="T35" fmla="*/ 66 h 523"/>
                <a:gd name="T36" fmla="*/ 319 w 319"/>
                <a:gd name="T37" fmla="*/ 66 h 523"/>
                <a:gd name="T38" fmla="*/ 319 w 319"/>
                <a:gd name="T39" fmla="*/ 63 h 523"/>
                <a:gd name="T40" fmla="*/ 319 w 319"/>
                <a:gd name="T41" fmla="*/ 51 h 523"/>
                <a:gd name="T42" fmla="*/ 319 w 319"/>
                <a:gd name="T43" fmla="*/ 35 h 523"/>
                <a:gd name="T44" fmla="*/ 319 w 319"/>
                <a:gd name="T45" fmla="*/ 27 h 523"/>
                <a:gd name="T46" fmla="*/ 319 w 319"/>
                <a:gd name="T47" fmla="*/ 27 h 523"/>
                <a:gd name="T48" fmla="*/ 287 w 319"/>
                <a:gd name="T49" fmla="*/ 7 h 523"/>
                <a:gd name="T50" fmla="*/ 271 w 319"/>
                <a:gd name="T51" fmla="*/ 3 h 523"/>
                <a:gd name="T52" fmla="*/ 260 w 319"/>
                <a:gd name="T53" fmla="*/ 0 h 523"/>
                <a:gd name="T54" fmla="*/ 248 w 319"/>
                <a:gd name="T55" fmla="*/ 3 h 523"/>
                <a:gd name="T56" fmla="*/ 236 w 319"/>
                <a:gd name="T57" fmla="*/ 11 h 523"/>
                <a:gd name="T58" fmla="*/ 220 w 319"/>
                <a:gd name="T59" fmla="*/ 23 h 523"/>
                <a:gd name="T60" fmla="*/ 204 w 319"/>
                <a:gd name="T61" fmla="*/ 39 h 523"/>
                <a:gd name="T62" fmla="*/ 204 w 319"/>
                <a:gd name="T63" fmla="*/ 39 h 523"/>
                <a:gd name="T64" fmla="*/ 181 w 319"/>
                <a:gd name="T65" fmla="*/ 74 h 523"/>
                <a:gd name="T66" fmla="*/ 157 w 319"/>
                <a:gd name="T67" fmla="*/ 114 h 523"/>
                <a:gd name="T68" fmla="*/ 114 w 319"/>
                <a:gd name="T69" fmla="*/ 189 h 523"/>
                <a:gd name="T70" fmla="*/ 114 w 319"/>
                <a:gd name="T71" fmla="*/ 189 h 523"/>
                <a:gd name="T72" fmla="*/ 74 w 319"/>
                <a:gd name="T73" fmla="*/ 263 h 523"/>
                <a:gd name="T74" fmla="*/ 47 w 319"/>
                <a:gd name="T75" fmla="*/ 334 h 523"/>
                <a:gd name="T76" fmla="*/ 19 w 319"/>
                <a:gd name="T77" fmla="*/ 409 h 523"/>
                <a:gd name="T78" fmla="*/ 0 w 319"/>
                <a:gd name="T79" fmla="*/ 488 h 523"/>
                <a:gd name="T80" fmla="*/ 0 w 319"/>
                <a:gd name="T81" fmla="*/ 488 h 523"/>
                <a:gd name="T82" fmla="*/ 0 w 319"/>
                <a:gd name="T83" fmla="*/ 508 h 523"/>
                <a:gd name="T84" fmla="*/ 3 w 319"/>
                <a:gd name="T85" fmla="*/ 523 h 523"/>
                <a:gd name="T86" fmla="*/ 3 w 319"/>
                <a:gd name="T87" fmla="*/ 523 h 52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9"/>
                <a:gd name="T133" fmla="*/ 0 h 523"/>
                <a:gd name="T134" fmla="*/ 319 w 319"/>
                <a:gd name="T135" fmla="*/ 523 h 52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9" h="523">
                  <a:moveTo>
                    <a:pt x="3" y="523"/>
                  </a:moveTo>
                  <a:lnTo>
                    <a:pt x="3" y="523"/>
                  </a:lnTo>
                  <a:lnTo>
                    <a:pt x="23" y="445"/>
                  </a:lnTo>
                  <a:lnTo>
                    <a:pt x="47" y="370"/>
                  </a:lnTo>
                  <a:lnTo>
                    <a:pt x="78" y="299"/>
                  </a:lnTo>
                  <a:lnTo>
                    <a:pt x="114" y="228"/>
                  </a:lnTo>
                  <a:lnTo>
                    <a:pt x="161" y="149"/>
                  </a:lnTo>
                  <a:lnTo>
                    <a:pt x="185" y="110"/>
                  </a:lnTo>
                  <a:lnTo>
                    <a:pt x="212" y="70"/>
                  </a:lnTo>
                  <a:lnTo>
                    <a:pt x="224" y="55"/>
                  </a:lnTo>
                  <a:lnTo>
                    <a:pt x="240" y="47"/>
                  </a:lnTo>
                  <a:lnTo>
                    <a:pt x="252" y="39"/>
                  </a:lnTo>
                  <a:lnTo>
                    <a:pt x="263" y="39"/>
                  </a:lnTo>
                  <a:lnTo>
                    <a:pt x="275" y="43"/>
                  </a:lnTo>
                  <a:lnTo>
                    <a:pt x="287" y="47"/>
                  </a:lnTo>
                  <a:lnTo>
                    <a:pt x="319" y="66"/>
                  </a:lnTo>
                  <a:lnTo>
                    <a:pt x="319" y="63"/>
                  </a:lnTo>
                  <a:lnTo>
                    <a:pt x="319" y="51"/>
                  </a:lnTo>
                  <a:lnTo>
                    <a:pt x="319" y="35"/>
                  </a:lnTo>
                  <a:lnTo>
                    <a:pt x="319" y="27"/>
                  </a:lnTo>
                  <a:lnTo>
                    <a:pt x="287" y="7"/>
                  </a:lnTo>
                  <a:lnTo>
                    <a:pt x="271" y="3"/>
                  </a:lnTo>
                  <a:lnTo>
                    <a:pt x="260" y="0"/>
                  </a:lnTo>
                  <a:lnTo>
                    <a:pt x="248" y="3"/>
                  </a:lnTo>
                  <a:lnTo>
                    <a:pt x="236" y="11"/>
                  </a:lnTo>
                  <a:lnTo>
                    <a:pt x="220" y="23"/>
                  </a:lnTo>
                  <a:lnTo>
                    <a:pt x="204" y="39"/>
                  </a:lnTo>
                  <a:lnTo>
                    <a:pt x="181" y="74"/>
                  </a:lnTo>
                  <a:lnTo>
                    <a:pt x="157" y="114"/>
                  </a:lnTo>
                  <a:lnTo>
                    <a:pt x="114" y="189"/>
                  </a:lnTo>
                  <a:lnTo>
                    <a:pt x="74" y="263"/>
                  </a:lnTo>
                  <a:lnTo>
                    <a:pt x="47" y="334"/>
                  </a:lnTo>
                  <a:lnTo>
                    <a:pt x="19" y="409"/>
                  </a:lnTo>
                  <a:lnTo>
                    <a:pt x="0" y="488"/>
                  </a:lnTo>
                  <a:lnTo>
                    <a:pt x="0" y="508"/>
                  </a:lnTo>
                  <a:lnTo>
                    <a:pt x="3" y="5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4" name="Freeform 388"/>
            <p:cNvSpPr>
              <a:spLocks/>
            </p:cNvSpPr>
            <p:nvPr/>
          </p:nvSpPr>
          <p:spPr bwMode="auto">
            <a:xfrm>
              <a:off x="3397" y="2646"/>
              <a:ext cx="165" cy="91"/>
            </a:xfrm>
            <a:custGeom>
              <a:avLst/>
              <a:gdLst>
                <a:gd name="T0" fmla="*/ 4 w 165"/>
                <a:gd name="T1" fmla="*/ 79 h 91"/>
                <a:gd name="T2" fmla="*/ 4 w 165"/>
                <a:gd name="T3" fmla="*/ 79 h 91"/>
                <a:gd name="T4" fmla="*/ 23 w 165"/>
                <a:gd name="T5" fmla="*/ 63 h 91"/>
                <a:gd name="T6" fmla="*/ 43 w 165"/>
                <a:gd name="T7" fmla="*/ 51 h 91"/>
                <a:gd name="T8" fmla="*/ 67 w 165"/>
                <a:gd name="T9" fmla="*/ 44 h 91"/>
                <a:gd name="T10" fmla="*/ 86 w 165"/>
                <a:gd name="T11" fmla="*/ 40 h 91"/>
                <a:gd name="T12" fmla="*/ 110 w 165"/>
                <a:gd name="T13" fmla="*/ 44 h 91"/>
                <a:gd name="T14" fmla="*/ 130 w 165"/>
                <a:gd name="T15" fmla="*/ 51 h 91"/>
                <a:gd name="T16" fmla="*/ 145 w 165"/>
                <a:gd name="T17" fmla="*/ 67 h 91"/>
                <a:gd name="T18" fmla="*/ 161 w 165"/>
                <a:gd name="T19" fmla="*/ 91 h 91"/>
                <a:gd name="T20" fmla="*/ 161 w 165"/>
                <a:gd name="T21" fmla="*/ 91 h 91"/>
                <a:gd name="T22" fmla="*/ 165 w 165"/>
                <a:gd name="T23" fmla="*/ 71 h 91"/>
                <a:gd name="T24" fmla="*/ 165 w 165"/>
                <a:gd name="T25" fmla="*/ 59 h 91"/>
                <a:gd name="T26" fmla="*/ 165 w 165"/>
                <a:gd name="T27" fmla="*/ 51 h 91"/>
                <a:gd name="T28" fmla="*/ 165 w 165"/>
                <a:gd name="T29" fmla="*/ 51 h 91"/>
                <a:gd name="T30" fmla="*/ 149 w 165"/>
                <a:gd name="T31" fmla="*/ 28 h 91"/>
                <a:gd name="T32" fmla="*/ 130 w 165"/>
                <a:gd name="T33" fmla="*/ 16 h 91"/>
                <a:gd name="T34" fmla="*/ 110 w 165"/>
                <a:gd name="T35" fmla="*/ 4 h 91"/>
                <a:gd name="T36" fmla="*/ 90 w 165"/>
                <a:gd name="T37" fmla="*/ 0 h 91"/>
                <a:gd name="T38" fmla="*/ 67 w 165"/>
                <a:gd name="T39" fmla="*/ 4 h 91"/>
                <a:gd name="T40" fmla="*/ 43 w 165"/>
                <a:gd name="T41" fmla="*/ 12 h 91"/>
                <a:gd name="T42" fmla="*/ 23 w 165"/>
                <a:gd name="T43" fmla="*/ 24 h 91"/>
                <a:gd name="T44" fmla="*/ 4 w 165"/>
                <a:gd name="T45" fmla="*/ 40 h 91"/>
                <a:gd name="T46" fmla="*/ 4 w 165"/>
                <a:gd name="T47" fmla="*/ 40 h 91"/>
                <a:gd name="T48" fmla="*/ 0 w 165"/>
                <a:gd name="T49" fmla="*/ 48 h 91"/>
                <a:gd name="T50" fmla="*/ 4 w 165"/>
                <a:gd name="T51" fmla="*/ 59 h 91"/>
                <a:gd name="T52" fmla="*/ 4 w 165"/>
                <a:gd name="T53" fmla="*/ 71 h 91"/>
                <a:gd name="T54" fmla="*/ 4 w 165"/>
                <a:gd name="T55" fmla="*/ 79 h 91"/>
                <a:gd name="T56" fmla="*/ 4 w 165"/>
                <a:gd name="T57" fmla="*/ 79 h 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5"/>
                <a:gd name="T88" fmla="*/ 0 h 91"/>
                <a:gd name="T89" fmla="*/ 165 w 165"/>
                <a:gd name="T90" fmla="*/ 91 h 9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5" h="91">
                  <a:moveTo>
                    <a:pt x="4" y="79"/>
                  </a:moveTo>
                  <a:lnTo>
                    <a:pt x="4" y="79"/>
                  </a:lnTo>
                  <a:lnTo>
                    <a:pt x="23" y="63"/>
                  </a:lnTo>
                  <a:lnTo>
                    <a:pt x="43" y="51"/>
                  </a:lnTo>
                  <a:lnTo>
                    <a:pt x="67" y="44"/>
                  </a:lnTo>
                  <a:lnTo>
                    <a:pt x="86" y="40"/>
                  </a:lnTo>
                  <a:lnTo>
                    <a:pt x="110" y="44"/>
                  </a:lnTo>
                  <a:lnTo>
                    <a:pt x="130" y="51"/>
                  </a:lnTo>
                  <a:lnTo>
                    <a:pt x="145" y="67"/>
                  </a:lnTo>
                  <a:lnTo>
                    <a:pt x="161" y="91"/>
                  </a:lnTo>
                  <a:lnTo>
                    <a:pt x="165" y="71"/>
                  </a:lnTo>
                  <a:lnTo>
                    <a:pt x="165" y="59"/>
                  </a:lnTo>
                  <a:lnTo>
                    <a:pt x="165" y="51"/>
                  </a:lnTo>
                  <a:lnTo>
                    <a:pt x="149" y="28"/>
                  </a:lnTo>
                  <a:lnTo>
                    <a:pt x="130" y="16"/>
                  </a:lnTo>
                  <a:lnTo>
                    <a:pt x="110" y="4"/>
                  </a:lnTo>
                  <a:lnTo>
                    <a:pt x="90" y="0"/>
                  </a:lnTo>
                  <a:lnTo>
                    <a:pt x="67" y="4"/>
                  </a:lnTo>
                  <a:lnTo>
                    <a:pt x="43" y="12"/>
                  </a:lnTo>
                  <a:lnTo>
                    <a:pt x="23" y="24"/>
                  </a:lnTo>
                  <a:lnTo>
                    <a:pt x="4" y="40"/>
                  </a:lnTo>
                  <a:lnTo>
                    <a:pt x="0" y="48"/>
                  </a:lnTo>
                  <a:lnTo>
                    <a:pt x="4" y="59"/>
                  </a:lnTo>
                  <a:lnTo>
                    <a:pt x="4" y="71"/>
                  </a:lnTo>
                  <a:lnTo>
                    <a:pt x="4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5" name="Freeform 389"/>
            <p:cNvSpPr>
              <a:spLocks/>
            </p:cNvSpPr>
            <p:nvPr/>
          </p:nvSpPr>
          <p:spPr bwMode="auto">
            <a:xfrm>
              <a:off x="4003" y="265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3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3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6" name="Freeform 390"/>
            <p:cNvSpPr>
              <a:spLocks/>
            </p:cNvSpPr>
            <p:nvPr/>
          </p:nvSpPr>
          <p:spPr bwMode="auto">
            <a:xfrm>
              <a:off x="4118" y="267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7" name="Freeform 391"/>
            <p:cNvSpPr>
              <a:spLocks/>
            </p:cNvSpPr>
            <p:nvPr/>
          </p:nvSpPr>
          <p:spPr bwMode="auto">
            <a:xfrm>
              <a:off x="4228" y="2701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8" name="Freeform 392"/>
            <p:cNvSpPr>
              <a:spLocks/>
            </p:cNvSpPr>
            <p:nvPr/>
          </p:nvSpPr>
          <p:spPr bwMode="auto">
            <a:xfrm>
              <a:off x="4062" y="2556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19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19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19" name="Freeform 393"/>
            <p:cNvSpPr>
              <a:spLocks/>
            </p:cNvSpPr>
            <p:nvPr/>
          </p:nvSpPr>
          <p:spPr bwMode="auto">
            <a:xfrm>
              <a:off x="4177" y="2579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0" name="Freeform 394"/>
            <p:cNvSpPr>
              <a:spLocks/>
            </p:cNvSpPr>
            <p:nvPr/>
          </p:nvSpPr>
          <p:spPr bwMode="auto">
            <a:xfrm>
              <a:off x="4287" y="260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1" name="Freeform 395"/>
            <p:cNvSpPr>
              <a:spLocks/>
            </p:cNvSpPr>
            <p:nvPr/>
          </p:nvSpPr>
          <p:spPr bwMode="auto">
            <a:xfrm>
              <a:off x="4121" y="2461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20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2" name="Freeform 396"/>
            <p:cNvSpPr>
              <a:spLocks/>
            </p:cNvSpPr>
            <p:nvPr/>
          </p:nvSpPr>
          <p:spPr bwMode="auto">
            <a:xfrm>
              <a:off x="4236" y="2485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3" name="Freeform 397"/>
            <p:cNvSpPr>
              <a:spLocks/>
            </p:cNvSpPr>
            <p:nvPr/>
          </p:nvSpPr>
          <p:spPr bwMode="auto">
            <a:xfrm>
              <a:off x="4346" y="2512"/>
              <a:ext cx="118" cy="79"/>
            </a:xfrm>
            <a:custGeom>
              <a:avLst/>
              <a:gdLst>
                <a:gd name="T0" fmla="*/ 0 w 118"/>
                <a:gd name="T1" fmla="*/ 56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6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6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4" name="Freeform 398"/>
            <p:cNvSpPr>
              <a:spLocks/>
            </p:cNvSpPr>
            <p:nvPr/>
          </p:nvSpPr>
          <p:spPr bwMode="auto">
            <a:xfrm>
              <a:off x="4181" y="2367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2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2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5" name="Freeform 399"/>
            <p:cNvSpPr>
              <a:spLocks/>
            </p:cNvSpPr>
            <p:nvPr/>
          </p:nvSpPr>
          <p:spPr bwMode="auto">
            <a:xfrm>
              <a:off x="4295" y="239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6" name="Freeform 400"/>
            <p:cNvSpPr>
              <a:spLocks/>
            </p:cNvSpPr>
            <p:nvPr/>
          </p:nvSpPr>
          <p:spPr bwMode="auto">
            <a:xfrm>
              <a:off x="4405" y="2418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7" name="Freeform 401"/>
            <p:cNvSpPr>
              <a:spLocks/>
            </p:cNvSpPr>
            <p:nvPr/>
          </p:nvSpPr>
          <p:spPr bwMode="auto">
            <a:xfrm>
              <a:off x="3992" y="2631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2 w 118"/>
                <a:gd name="T3" fmla="*/ 78 h 78"/>
                <a:gd name="T4" fmla="*/ 118 w 118"/>
                <a:gd name="T5" fmla="*/ 19 h 78"/>
                <a:gd name="T6" fmla="*/ 39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2" y="78"/>
                  </a:lnTo>
                  <a:lnTo>
                    <a:pt x="118" y="19"/>
                  </a:lnTo>
                  <a:lnTo>
                    <a:pt x="3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8" name="Freeform 402"/>
            <p:cNvSpPr>
              <a:spLocks/>
            </p:cNvSpPr>
            <p:nvPr/>
          </p:nvSpPr>
          <p:spPr bwMode="auto">
            <a:xfrm>
              <a:off x="4106" y="265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29" name="Freeform 403"/>
            <p:cNvSpPr>
              <a:spLocks/>
            </p:cNvSpPr>
            <p:nvPr/>
          </p:nvSpPr>
          <p:spPr bwMode="auto">
            <a:xfrm>
              <a:off x="4216" y="2686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0" name="Freeform 404"/>
            <p:cNvSpPr>
              <a:spLocks/>
            </p:cNvSpPr>
            <p:nvPr/>
          </p:nvSpPr>
          <p:spPr bwMode="auto">
            <a:xfrm>
              <a:off x="4051" y="2536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2 w 118"/>
                <a:gd name="T3" fmla="*/ 79 h 79"/>
                <a:gd name="T4" fmla="*/ 118 w 118"/>
                <a:gd name="T5" fmla="*/ 20 h 79"/>
                <a:gd name="T6" fmla="*/ 39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9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1" name="Freeform 405"/>
            <p:cNvSpPr>
              <a:spLocks/>
            </p:cNvSpPr>
            <p:nvPr/>
          </p:nvSpPr>
          <p:spPr bwMode="auto">
            <a:xfrm>
              <a:off x="4165" y="2560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5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2" name="Freeform 406"/>
            <p:cNvSpPr>
              <a:spLocks/>
            </p:cNvSpPr>
            <p:nvPr/>
          </p:nvSpPr>
          <p:spPr bwMode="auto">
            <a:xfrm>
              <a:off x="4275" y="258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3" name="Freeform 407"/>
            <p:cNvSpPr>
              <a:spLocks/>
            </p:cNvSpPr>
            <p:nvPr/>
          </p:nvSpPr>
          <p:spPr bwMode="auto">
            <a:xfrm>
              <a:off x="4110" y="2441"/>
              <a:ext cx="118" cy="75"/>
            </a:xfrm>
            <a:custGeom>
              <a:avLst/>
              <a:gdLst>
                <a:gd name="T0" fmla="*/ 0 w 118"/>
                <a:gd name="T1" fmla="*/ 56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6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6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4" name="Freeform 408"/>
            <p:cNvSpPr>
              <a:spLocks/>
            </p:cNvSpPr>
            <p:nvPr/>
          </p:nvSpPr>
          <p:spPr bwMode="auto">
            <a:xfrm>
              <a:off x="4224" y="2465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5" name="Freeform 409"/>
            <p:cNvSpPr>
              <a:spLocks/>
            </p:cNvSpPr>
            <p:nvPr/>
          </p:nvSpPr>
          <p:spPr bwMode="auto">
            <a:xfrm>
              <a:off x="4334" y="2493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6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6" name="Freeform 410"/>
            <p:cNvSpPr>
              <a:spLocks/>
            </p:cNvSpPr>
            <p:nvPr/>
          </p:nvSpPr>
          <p:spPr bwMode="auto">
            <a:xfrm>
              <a:off x="4169" y="2347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7" name="Freeform 411"/>
            <p:cNvSpPr>
              <a:spLocks/>
            </p:cNvSpPr>
            <p:nvPr/>
          </p:nvSpPr>
          <p:spPr bwMode="auto">
            <a:xfrm>
              <a:off x="4283" y="2371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8" name="Freeform 412"/>
            <p:cNvSpPr>
              <a:spLocks/>
            </p:cNvSpPr>
            <p:nvPr/>
          </p:nvSpPr>
          <p:spPr bwMode="auto">
            <a:xfrm>
              <a:off x="4393" y="2398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39" name="Freeform 413"/>
            <p:cNvSpPr>
              <a:spLocks/>
            </p:cNvSpPr>
            <p:nvPr/>
          </p:nvSpPr>
          <p:spPr bwMode="auto">
            <a:xfrm>
              <a:off x="4208" y="2378"/>
              <a:ext cx="16" cy="12"/>
            </a:xfrm>
            <a:custGeom>
              <a:avLst/>
              <a:gdLst>
                <a:gd name="T0" fmla="*/ 12 w 16"/>
                <a:gd name="T1" fmla="*/ 12 h 12"/>
                <a:gd name="T2" fmla="*/ 12 w 16"/>
                <a:gd name="T3" fmla="*/ 12 h 12"/>
                <a:gd name="T4" fmla="*/ 12 w 16"/>
                <a:gd name="T5" fmla="*/ 12 h 12"/>
                <a:gd name="T6" fmla="*/ 12 w 16"/>
                <a:gd name="T7" fmla="*/ 12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4 w 16"/>
                <a:gd name="T15" fmla="*/ 12 h 12"/>
                <a:gd name="T16" fmla="*/ 4 w 16"/>
                <a:gd name="T17" fmla="*/ 12 h 12"/>
                <a:gd name="T18" fmla="*/ 0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4 w 16"/>
                <a:gd name="T25" fmla="*/ 8 h 12"/>
                <a:gd name="T26" fmla="*/ 4 w 16"/>
                <a:gd name="T27" fmla="*/ 8 h 12"/>
                <a:gd name="T28" fmla="*/ 8 w 16"/>
                <a:gd name="T29" fmla="*/ 8 h 12"/>
                <a:gd name="T30" fmla="*/ 12 w 16"/>
                <a:gd name="T31" fmla="*/ 0 h 12"/>
                <a:gd name="T32" fmla="*/ 12 w 16"/>
                <a:gd name="T33" fmla="*/ 0 h 12"/>
                <a:gd name="T34" fmla="*/ 12 w 16"/>
                <a:gd name="T35" fmla="*/ 0 h 12"/>
                <a:gd name="T36" fmla="*/ 12 w 16"/>
                <a:gd name="T37" fmla="*/ 0 h 12"/>
                <a:gd name="T38" fmla="*/ 12 w 16"/>
                <a:gd name="T39" fmla="*/ 0 h 12"/>
                <a:gd name="T40" fmla="*/ 12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2 w 16"/>
                <a:gd name="T49" fmla="*/ 0 h 12"/>
                <a:gd name="T50" fmla="*/ 12 w 16"/>
                <a:gd name="T51" fmla="*/ 0 h 12"/>
                <a:gd name="T52" fmla="*/ 16 w 16"/>
                <a:gd name="T53" fmla="*/ 0 h 12"/>
                <a:gd name="T54" fmla="*/ 16 w 16"/>
                <a:gd name="T55" fmla="*/ 0 h 12"/>
                <a:gd name="T56" fmla="*/ 16 w 16"/>
                <a:gd name="T57" fmla="*/ 0 h 12"/>
                <a:gd name="T58" fmla="*/ 16 w 16"/>
                <a:gd name="T59" fmla="*/ 0 h 12"/>
                <a:gd name="T60" fmla="*/ 16 w 16"/>
                <a:gd name="T61" fmla="*/ 0 h 12"/>
                <a:gd name="T62" fmla="*/ 16 w 16"/>
                <a:gd name="T63" fmla="*/ 0 h 12"/>
                <a:gd name="T64" fmla="*/ 16 w 16"/>
                <a:gd name="T65" fmla="*/ 0 h 12"/>
                <a:gd name="T66" fmla="*/ 8 w 16"/>
                <a:gd name="T67" fmla="*/ 12 h 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"/>
                <a:gd name="T103" fmla="*/ 0 h 12"/>
                <a:gd name="T104" fmla="*/ 16 w 16"/>
                <a:gd name="T105" fmla="*/ 12 h 1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" h="12">
                  <a:moveTo>
                    <a:pt x="8" y="12"/>
                  </a:move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0" name="Freeform 414"/>
            <p:cNvSpPr>
              <a:spLocks/>
            </p:cNvSpPr>
            <p:nvPr/>
          </p:nvSpPr>
          <p:spPr bwMode="auto">
            <a:xfrm>
              <a:off x="4338" y="2394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12 w 20"/>
                <a:gd name="T5" fmla="*/ 12 h 16"/>
                <a:gd name="T6" fmla="*/ 12 w 20"/>
                <a:gd name="T7" fmla="*/ 12 h 16"/>
                <a:gd name="T8" fmla="*/ 16 w 20"/>
                <a:gd name="T9" fmla="*/ 12 h 16"/>
                <a:gd name="T10" fmla="*/ 16 w 20"/>
                <a:gd name="T11" fmla="*/ 12 h 16"/>
                <a:gd name="T12" fmla="*/ 16 w 20"/>
                <a:gd name="T13" fmla="*/ 12 h 16"/>
                <a:gd name="T14" fmla="*/ 16 w 20"/>
                <a:gd name="T15" fmla="*/ 16 h 16"/>
                <a:gd name="T16" fmla="*/ 16 w 20"/>
                <a:gd name="T17" fmla="*/ 16 h 16"/>
                <a:gd name="T18" fmla="*/ 16 w 20"/>
                <a:gd name="T19" fmla="*/ 16 h 16"/>
                <a:gd name="T20" fmla="*/ 16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0 w 20"/>
                <a:gd name="T27" fmla="*/ 16 h 16"/>
                <a:gd name="T28" fmla="*/ 0 w 20"/>
                <a:gd name="T29" fmla="*/ 16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12 w 20"/>
                <a:gd name="T41" fmla="*/ 8 h 16"/>
                <a:gd name="T42" fmla="*/ 12 w 20"/>
                <a:gd name="T43" fmla="*/ 8 h 16"/>
                <a:gd name="T44" fmla="*/ 16 w 20"/>
                <a:gd name="T45" fmla="*/ 8 h 16"/>
                <a:gd name="T46" fmla="*/ 16 w 20"/>
                <a:gd name="T47" fmla="*/ 4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4 h 16"/>
                <a:gd name="T56" fmla="*/ 12 w 20"/>
                <a:gd name="T57" fmla="*/ 4 h 16"/>
                <a:gd name="T58" fmla="*/ 12 w 20"/>
                <a:gd name="T59" fmla="*/ 4 h 16"/>
                <a:gd name="T60" fmla="*/ 12 w 20"/>
                <a:gd name="T61" fmla="*/ 4 h 16"/>
                <a:gd name="T62" fmla="*/ 12 w 20"/>
                <a:gd name="T63" fmla="*/ 4 h 16"/>
                <a:gd name="T64" fmla="*/ 8 w 20"/>
                <a:gd name="T65" fmla="*/ 4 h 16"/>
                <a:gd name="T66" fmla="*/ 8 w 20"/>
                <a:gd name="T67" fmla="*/ 4 h 16"/>
                <a:gd name="T68" fmla="*/ 8 w 20"/>
                <a:gd name="T69" fmla="*/ 4 h 16"/>
                <a:gd name="T70" fmla="*/ 8 w 20"/>
                <a:gd name="T71" fmla="*/ 4 h 16"/>
                <a:gd name="T72" fmla="*/ 8 w 20"/>
                <a:gd name="T73" fmla="*/ 4 h 16"/>
                <a:gd name="T74" fmla="*/ 8 w 20"/>
                <a:gd name="T75" fmla="*/ 0 h 16"/>
                <a:gd name="T76" fmla="*/ 12 w 20"/>
                <a:gd name="T77" fmla="*/ 0 h 16"/>
                <a:gd name="T78" fmla="*/ 12 w 20"/>
                <a:gd name="T79" fmla="*/ 0 h 16"/>
                <a:gd name="T80" fmla="*/ 12 w 20"/>
                <a:gd name="T81" fmla="*/ 0 h 16"/>
                <a:gd name="T82" fmla="*/ 16 w 20"/>
                <a:gd name="T83" fmla="*/ 0 h 16"/>
                <a:gd name="T84" fmla="*/ 16 w 20"/>
                <a:gd name="T85" fmla="*/ 0 h 16"/>
                <a:gd name="T86" fmla="*/ 20 w 20"/>
                <a:gd name="T87" fmla="*/ 4 h 16"/>
                <a:gd name="T88" fmla="*/ 20 w 20"/>
                <a:gd name="T89" fmla="*/ 8 h 16"/>
                <a:gd name="T90" fmla="*/ 20 w 20"/>
                <a:gd name="T91" fmla="*/ 8 h 16"/>
                <a:gd name="T92" fmla="*/ 16 w 20"/>
                <a:gd name="T93" fmla="*/ 8 h 16"/>
                <a:gd name="T94" fmla="*/ 12 w 20"/>
                <a:gd name="T95" fmla="*/ 12 h 16"/>
                <a:gd name="T96" fmla="*/ 8 w 20"/>
                <a:gd name="T97" fmla="*/ 12 h 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16"/>
                <a:gd name="T149" fmla="*/ 20 w 20"/>
                <a:gd name="T150" fmla="*/ 16 h 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16">
                  <a:moveTo>
                    <a:pt x="8" y="12"/>
                  </a:move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1" name="Freeform 415"/>
            <p:cNvSpPr>
              <a:spLocks noEditPoints="1"/>
            </p:cNvSpPr>
            <p:nvPr/>
          </p:nvSpPr>
          <p:spPr bwMode="auto">
            <a:xfrm>
              <a:off x="4315" y="2410"/>
              <a:ext cx="15" cy="12"/>
            </a:xfrm>
            <a:custGeom>
              <a:avLst/>
              <a:gdLst>
                <a:gd name="T0" fmla="*/ 15 w 15"/>
                <a:gd name="T1" fmla="*/ 12 h 12"/>
                <a:gd name="T2" fmla="*/ 15 w 15"/>
                <a:gd name="T3" fmla="*/ 12 h 12"/>
                <a:gd name="T4" fmla="*/ 15 w 15"/>
                <a:gd name="T5" fmla="*/ 12 h 12"/>
                <a:gd name="T6" fmla="*/ 15 w 15"/>
                <a:gd name="T7" fmla="*/ 12 h 12"/>
                <a:gd name="T8" fmla="*/ 15 w 15"/>
                <a:gd name="T9" fmla="*/ 12 h 12"/>
                <a:gd name="T10" fmla="*/ 15 w 15"/>
                <a:gd name="T11" fmla="*/ 12 h 12"/>
                <a:gd name="T12" fmla="*/ 11 w 15"/>
                <a:gd name="T13" fmla="*/ 12 h 12"/>
                <a:gd name="T14" fmla="*/ 11 w 15"/>
                <a:gd name="T15" fmla="*/ 12 h 12"/>
                <a:gd name="T16" fmla="*/ 11 w 15"/>
                <a:gd name="T17" fmla="*/ 12 h 12"/>
                <a:gd name="T18" fmla="*/ 7 w 15"/>
                <a:gd name="T19" fmla="*/ 12 h 12"/>
                <a:gd name="T20" fmla="*/ 7 w 15"/>
                <a:gd name="T21" fmla="*/ 12 h 12"/>
                <a:gd name="T22" fmla="*/ 7 w 15"/>
                <a:gd name="T23" fmla="*/ 12 h 12"/>
                <a:gd name="T24" fmla="*/ 11 w 15"/>
                <a:gd name="T25" fmla="*/ 8 h 12"/>
                <a:gd name="T26" fmla="*/ 11 w 15"/>
                <a:gd name="T27" fmla="*/ 8 h 12"/>
                <a:gd name="T28" fmla="*/ 11 w 15"/>
                <a:gd name="T29" fmla="*/ 8 h 12"/>
                <a:gd name="T30" fmla="*/ 11 w 15"/>
                <a:gd name="T31" fmla="*/ 8 h 12"/>
                <a:gd name="T32" fmla="*/ 7 w 15"/>
                <a:gd name="T33" fmla="*/ 8 h 12"/>
                <a:gd name="T34" fmla="*/ 3 w 15"/>
                <a:gd name="T35" fmla="*/ 8 h 12"/>
                <a:gd name="T36" fmla="*/ 7 w 15"/>
                <a:gd name="T37" fmla="*/ 8 h 12"/>
                <a:gd name="T38" fmla="*/ 7 w 15"/>
                <a:gd name="T39" fmla="*/ 8 h 12"/>
                <a:gd name="T40" fmla="*/ 7 w 15"/>
                <a:gd name="T41" fmla="*/ 8 h 12"/>
                <a:gd name="T42" fmla="*/ 7 w 15"/>
                <a:gd name="T43" fmla="*/ 8 h 12"/>
                <a:gd name="T44" fmla="*/ 7 w 15"/>
                <a:gd name="T45" fmla="*/ 8 h 12"/>
                <a:gd name="T46" fmla="*/ 7 w 15"/>
                <a:gd name="T47" fmla="*/ 12 h 12"/>
                <a:gd name="T48" fmla="*/ 3 w 15"/>
                <a:gd name="T49" fmla="*/ 12 h 12"/>
                <a:gd name="T50" fmla="*/ 3 w 15"/>
                <a:gd name="T51" fmla="*/ 12 h 12"/>
                <a:gd name="T52" fmla="*/ 3 w 15"/>
                <a:gd name="T53" fmla="*/ 12 h 12"/>
                <a:gd name="T54" fmla="*/ 0 w 15"/>
                <a:gd name="T55" fmla="*/ 8 h 12"/>
                <a:gd name="T56" fmla="*/ 0 w 15"/>
                <a:gd name="T57" fmla="*/ 8 h 12"/>
                <a:gd name="T58" fmla="*/ 0 w 15"/>
                <a:gd name="T59" fmla="*/ 8 h 12"/>
                <a:gd name="T60" fmla="*/ 3 w 15"/>
                <a:gd name="T61" fmla="*/ 8 h 12"/>
                <a:gd name="T62" fmla="*/ 3 w 15"/>
                <a:gd name="T63" fmla="*/ 8 h 12"/>
                <a:gd name="T64" fmla="*/ 3 w 15"/>
                <a:gd name="T65" fmla="*/ 8 h 12"/>
                <a:gd name="T66" fmla="*/ 11 w 15"/>
                <a:gd name="T67" fmla="*/ 4 h 12"/>
                <a:gd name="T68" fmla="*/ 7 w 15"/>
                <a:gd name="T69" fmla="*/ 4 h 12"/>
                <a:gd name="T70" fmla="*/ 7 w 15"/>
                <a:gd name="T71" fmla="*/ 4 h 12"/>
                <a:gd name="T72" fmla="*/ 7 w 15"/>
                <a:gd name="T73" fmla="*/ 0 h 12"/>
                <a:gd name="T74" fmla="*/ 7 w 15"/>
                <a:gd name="T75" fmla="*/ 0 h 12"/>
                <a:gd name="T76" fmla="*/ 7 w 15"/>
                <a:gd name="T77" fmla="*/ 0 h 12"/>
                <a:gd name="T78" fmla="*/ 7 w 15"/>
                <a:gd name="T79" fmla="*/ 0 h 12"/>
                <a:gd name="T80" fmla="*/ 11 w 15"/>
                <a:gd name="T81" fmla="*/ 0 h 12"/>
                <a:gd name="T82" fmla="*/ 15 w 15"/>
                <a:gd name="T83" fmla="*/ 0 h 12"/>
                <a:gd name="T84" fmla="*/ 15 w 15"/>
                <a:gd name="T85" fmla="*/ 0 h 12"/>
                <a:gd name="T86" fmla="*/ 15 w 15"/>
                <a:gd name="T87" fmla="*/ 4 h 12"/>
                <a:gd name="T88" fmla="*/ 15 w 15"/>
                <a:gd name="T89" fmla="*/ 4 h 12"/>
                <a:gd name="T90" fmla="*/ 11 w 15"/>
                <a:gd name="T91" fmla="*/ 4 h 12"/>
                <a:gd name="T92" fmla="*/ 7 w 15"/>
                <a:gd name="T93" fmla="*/ 8 h 12"/>
                <a:gd name="T94" fmla="*/ 11 w 15"/>
                <a:gd name="T95" fmla="*/ 8 h 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5"/>
                <a:gd name="T145" fmla="*/ 0 h 12"/>
                <a:gd name="T146" fmla="*/ 15 w 15"/>
                <a:gd name="T147" fmla="*/ 12 h 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5" h="12">
                  <a:moveTo>
                    <a:pt x="15" y="12"/>
                  </a:move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11" y="8"/>
                  </a:lnTo>
                  <a:lnTo>
                    <a:pt x="7" y="8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12"/>
                  </a:lnTo>
                  <a:close/>
                  <a:moveTo>
                    <a:pt x="11" y="4"/>
                  </a:move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2" name="Freeform 416"/>
            <p:cNvSpPr>
              <a:spLocks noEditPoints="1"/>
            </p:cNvSpPr>
            <p:nvPr/>
          </p:nvSpPr>
          <p:spPr bwMode="auto">
            <a:xfrm>
              <a:off x="4330" y="2414"/>
              <a:ext cx="16" cy="12"/>
            </a:xfrm>
            <a:custGeom>
              <a:avLst/>
              <a:gdLst>
                <a:gd name="T0" fmla="*/ 12 w 16"/>
                <a:gd name="T1" fmla="*/ 4 h 12"/>
                <a:gd name="T2" fmla="*/ 16 w 16"/>
                <a:gd name="T3" fmla="*/ 8 h 12"/>
                <a:gd name="T4" fmla="*/ 16 w 16"/>
                <a:gd name="T5" fmla="*/ 8 h 12"/>
                <a:gd name="T6" fmla="*/ 16 w 16"/>
                <a:gd name="T7" fmla="*/ 8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8 w 16"/>
                <a:gd name="T15" fmla="*/ 12 h 12"/>
                <a:gd name="T16" fmla="*/ 8 w 16"/>
                <a:gd name="T17" fmla="*/ 12 h 12"/>
                <a:gd name="T18" fmla="*/ 8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4 w 16"/>
                <a:gd name="T33" fmla="*/ 8 h 12"/>
                <a:gd name="T34" fmla="*/ 4 w 16"/>
                <a:gd name="T35" fmla="*/ 8 h 12"/>
                <a:gd name="T36" fmla="*/ 8 w 16"/>
                <a:gd name="T37" fmla="*/ 0 h 12"/>
                <a:gd name="T38" fmla="*/ 8 w 16"/>
                <a:gd name="T39" fmla="*/ 0 h 12"/>
                <a:gd name="T40" fmla="*/ 8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4 w 16"/>
                <a:gd name="T47" fmla="*/ 0 h 12"/>
                <a:gd name="T48" fmla="*/ 8 w 16"/>
                <a:gd name="T49" fmla="*/ 0 h 12"/>
                <a:gd name="T50" fmla="*/ 8 w 16"/>
                <a:gd name="T51" fmla="*/ 0 h 12"/>
                <a:gd name="T52" fmla="*/ 12 w 16"/>
                <a:gd name="T53" fmla="*/ 0 h 12"/>
                <a:gd name="T54" fmla="*/ 12 w 16"/>
                <a:gd name="T55" fmla="*/ 0 h 12"/>
                <a:gd name="T56" fmla="*/ 16 w 16"/>
                <a:gd name="T57" fmla="*/ 0 h 12"/>
                <a:gd name="T58" fmla="*/ 16 w 16"/>
                <a:gd name="T59" fmla="*/ 4 h 12"/>
                <a:gd name="T60" fmla="*/ 16 w 16"/>
                <a:gd name="T61" fmla="*/ 4 h 12"/>
                <a:gd name="T62" fmla="*/ 16 w 16"/>
                <a:gd name="T63" fmla="*/ 4 h 12"/>
                <a:gd name="T64" fmla="*/ 12 w 16"/>
                <a:gd name="T65" fmla="*/ 4 h 12"/>
                <a:gd name="T66" fmla="*/ 8 w 16"/>
                <a:gd name="T67" fmla="*/ 0 h 12"/>
                <a:gd name="T68" fmla="*/ 8 w 16"/>
                <a:gd name="T69" fmla="*/ 4 h 12"/>
                <a:gd name="T70" fmla="*/ 8 w 16"/>
                <a:gd name="T71" fmla="*/ 4 h 12"/>
                <a:gd name="T72" fmla="*/ 12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0 h 12"/>
                <a:gd name="T84" fmla="*/ 8 w 16"/>
                <a:gd name="T85" fmla="*/ 4 h 12"/>
                <a:gd name="T86" fmla="*/ 4 w 16"/>
                <a:gd name="T87" fmla="*/ 8 h 12"/>
                <a:gd name="T88" fmla="*/ 8 w 16"/>
                <a:gd name="T89" fmla="*/ 8 h 12"/>
                <a:gd name="T90" fmla="*/ 8 w 16"/>
                <a:gd name="T91" fmla="*/ 8 h 12"/>
                <a:gd name="T92" fmla="*/ 8 w 16"/>
                <a:gd name="T93" fmla="*/ 8 h 12"/>
                <a:gd name="T94" fmla="*/ 12 w 16"/>
                <a:gd name="T95" fmla="*/ 8 h 12"/>
                <a:gd name="T96" fmla="*/ 12 w 16"/>
                <a:gd name="T97" fmla="*/ 8 h 12"/>
                <a:gd name="T98" fmla="*/ 12 w 16"/>
                <a:gd name="T99" fmla="*/ 8 h 12"/>
                <a:gd name="T100" fmla="*/ 8 w 16"/>
                <a:gd name="T101" fmla="*/ 4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2"/>
                <a:gd name="T155" fmla="*/ 16 w 16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2">
                  <a:moveTo>
                    <a:pt x="12" y="4"/>
                  </a:moveTo>
                  <a:lnTo>
                    <a:pt x="12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  <a:moveTo>
                    <a:pt x="8" y="0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close/>
                  <a:moveTo>
                    <a:pt x="8" y="4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3" name="Freeform 417"/>
            <p:cNvSpPr>
              <a:spLocks/>
            </p:cNvSpPr>
            <p:nvPr/>
          </p:nvSpPr>
          <p:spPr bwMode="auto">
            <a:xfrm>
              <a:off x="4346" y="2418"/>
              <a:ext cx="16" cy="12"/>
            </a:xfrm>
            <a:custGeom>
              <a:avLst/>
              <a:gdLst>
                <a:gd name="T0" fmla="*/ 16 w 16"/>
                <a:gd name="T1" fmla="*/ 0 h 12"/>
                <a:gd name="T2" fmla="*/ 16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6 w 16"/>
                <a:gd name="T13" fmla="*/ 4 h 12"/>
                <a:gd name="T14" fmla="*/ 16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12 w 16"/>
                <a:gd name="T31" fmla="*/ 0 h 12"/>
                <a:gd name="T32" fmla="*/ 12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8 w 16"/>
                <a:gd name="T43" fmla="*/ 8 h 12"/>
                <a:gd name="T44" fmla="*/ 8 w 16"/>
                <a:gd name="T45" fmla="*/ 8 h 12"/>
                <a:gd name="T46" fmla="*/ 8 w 16"/>
                <a:gd name="T47" fmla="*/ 8 h 12"/>
                <a:gd name="T48" fmla="*/ 12 w 16"/>
                <a:gd name="T49" fmla="*/ 8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8 h 12"/>
                <a:gd name="T56" fmla="*/ 12 w 16"/>
                <a:gd name="T57" fmla="*/ 8 h 12"/>
                <a:gd name="T58" fmla="*/ 8 w 16"/>
                <a:gd name="T59" fmla="*/ 12 h 12"/>
                <a:gd name="T60" fmla="*/ 4 w 16"/>
                <a:gd name="T61" fmla="*/ 8 h 12"/>
                <a:gd name="T62" fmla="*/ 4 w 16"/>
                <a:gd name="T63" fmla="*/ 8 h 12"/>
                <a:gd name="T64" fmla="*/ 0 w 16"/>
                <a:gd name="T65" fmla="*/ 8 h 12"/>
                <a:gd name="T66" fmla="*/ 0 w 16"/>
                <a:gd name="T67" fmla="*/ 4 h 12"/>
                <a:gd name="T68" fmla="*/ 0 w 16"/>
                <a:gd name="T69" fmla="*/ 4 h 12"/>
                <a:gd name="T70" fmla="*/ 4 w 16"/>
                <a:gd name="T71" fmla="*/ 0 h 12"/>
                <a:gd name="T72" fmla="*/ 12 w 16"/>
                <a:gd name="T73" fmla="*/ 0 h 12"/>
                <a:gd name="T74" fmla="*/ 12 w 16"/>
                <a:gd name="T75" fmla="*/ 0 h 12"/>
                <a:gd name="T76" fmla="*/ 12 w 16"/>
                <a:gd name="T77" fmla="*/ 0 h 12"/>
                <a:gd name="T78" fmla="*/ 16 w 16"/>
                <a:gd name="T79" fmla="*/ 0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4" name="Freeform 418"/>
            <p:cNvSpPr>
              <a:spLocks/>
            </p:cNvSpPr>
            <p:nvPr/>
          </p:nvSpPr>
          <p:spPr bwMode="auto">
            <a:xfrm>
              <a:off x="4448" y="2426"/>
              <a:ext cx="20" cy="15"/>
            </a:xfrm>
            <a:custGeom>
              <a:avLst/>
              <a:gdLst>
                <a:gd name="T0" fmla="*/ 12 w 20"/>
                <a:gd name="T1" fmla="*/ 8 h 15"/>
                <a:gd name="T2" fmla="*/ 16 w 20"/>
                <a:gd name="T3" fmla="*/ 12 h 15"/>
                <a:gd name="T4" fmla="*/ 16 w 20"/>
                <a:gd name="T5" fmla="*/ 12 h 15"/>
                <a:gd name="T6" fmla="*/ 16 w 20"/>
                <a:gd name="T7" fmla="*/ 12 h 15"/>
                <a:gd name="T8" fmla="*/ 12 w 20"/>
                <a:gd name="T9" fmla="*/ 15 h 15"/>
                <a:gd name="T10" fmla="*/ 4 w 20"/>
                <a:gd name="T11" fmla="*/ 15 h 15"/>
                <a:gd name="T12" fmla="*/ 4 w 20"/>
                <a:gd name="T13" fmla="*/ 15 h 15"/>
                <a:gd name="T14" fmla="*/ 0 w 20"/>
                <a:gd name="T15" fmla="*/ 15 h 15"/>
                <a:gd name="T16" fmla="*/ 0 w 20"/>
                <a:gd name="T17" fmla="*/ 12 h 15"/>
                <a:gd name="T18" fmla="*/ 0 w 20"/>
                <a:gd name="T19" fmla="*/ 12 h 15"/>
                <a:gd name="T20" fmla="*/ 0 w 20"/>
                <a:gd name="T21" fmla="*/ 12 h 15"/>
                <a:gd name="T22" fmla="*/ 0 w 20"/>
                <a:gd name="T23" fmla="*/ 12 h 15"/>
                <a:gd name="T24" fmla="*/ 0 w 20"/>
                <a:gd name="T25" fmla="*/ 12 h 15"/>
                <a:gd name="T26" fmla="*/ 4 w 20"/>
                <a:gd name="T27" fmla="*/ 12 h 15"/>
                <a:gd name="T28" fmla="*/ 8 w 20"/>
                <a:gd name="T29" fmla="*/ 12 h 15"/>
                <a:gd name="T30" fmla="*/ 8 w 20"/>
                <a:gd name="T31" fmla="*/ 12 h 15"/>
                <a:gd name="T32" fmla="*/ 8 w 20"/>
                <a:gd name="T33" fmla="*/ 12 h 15"/>
                <a:gd name="T34" fmla="*/ 12 w 20"/>
                <a:gd name="T35" fmla="*/ 12 h 15"/>
                <a:gd name="T36" fmla="*/ 12 w 20"/>
                <a:gd name="T37" fmla="*/ 12 h 15"/>
                <a:gd name="T38" fmla="*/ 12 w 20"/>
                <a:gd name="T39" fmla="*/ 12 h 15"/>
                <a:gd name="T40" fmla="*/ 8 w 20"/>
                <a:gd name="T41" fmla="*/ 8 h 15"/>
                <a:gd name="T42" fmla="*/ 8 w 20"/>
                <a:gd name="T43" fmla="*/ 8 h 15"/>
                <a:gd name="T44" fmla="*/ 8 w 20"/>
                <a:gd name="T45" fmla="*/ 8 h 15"/>
                <a:gd name="T46" fmla="*/ 8 w 20"/>
                <a:gd name="T47" fmla="*/ 8 h 15"/>
                <a:gd name="T48" fmla="*/ 8 w 20"/>
                <a:gd name="T49" fmla="*/ 8 h 15"/>
                <a:gd name="T50" fmla="*/ 8 w 20"/>
                <a:gd name="T51" fmla="*/ 8 h 15"/>
                <a:gd name="T52" fmla="*/ 8 w 20"/>
                <a:gd name="T53" fmla="*/ 8 h 15"/>
                <a:gd name="T54" fmla="*/ 8 w 20"/>
                <a:gd name="T55" fmla="*/ 8 h 15"/>
                <a:gd name="T56" fmla="*/ 12 w 20"/>
                <a:gd name="T57" fmla="*/ 8 h 15"/>
                <a:gd name="T58" fmla="*/ 12 w 20"/>
                <a:gd name="T59" fmla="*/ 4 h 15"/>
                <a:gd name="T60" fmla="*/ 12 w 20"/>
                <a:gd name="T61" fmla="*/ 4 h 15"/>
                <a:gd name="T62" fmla="*/ 12 w 20"/>
                <a:gd name="T63" fmla="*/ 4 h 15"/>
                <a:gd name="T64" fmla="*/ 12 w 20"/>
                <a:gd name="T65" fmla="*/ 4 h 15"/>
                <a:gd name="T66" fmla="*/ 12 w 20"/>
                <a:gd name="T67" fmla="*/ 4 h 15"/>
                <a:gd name="T68" fmla="*/ 8 w 20"/>
                <a:gd name="T69" fmla="*/ 4 h 15"/>
                <a:gd name="T70" fmla="*/ 8 w 20"/>
                <a:gd name="T71" fmla="*/ 4 h 15"/>
                <a:gd name="T72" fmla="*/ 8 w 20"/>
                <a:gd name="T73" fmla="*/ 4 h 15"/>
                <a:gd name="T74" fmla="*/ 8 w 20"/>
                <a:gd name="T75" fmla="*/ 4 h 15"/>
                <a:gd name="T76" fmla="*/ 8 w 20"/>
                <a:gd name="T77" fmla="*/ 0 h 15"/>
                <a:gd name="T78" fmla="*/ 8 w 20"/>
                <a:gd name="T79" fmla="*/ 0 h 15"/>
                <a:gd name="T80" fmla="*/ 8 w 20"/>
                <a:gd name="T81" fmla="*/ 0 h 15"/>
                <a:gd name="T82" fmla="*/ 16 w 20"/>
                <a:gd name="T83" fmla="*/ 0 h 15"/>
                <a:gd name="T84" fmla="*/ 16 w 20"/>
                <a:gd name="T85" fmla="*/ 0 h 15"/>
                <a:gd name="T86" fmla="*/ 16 w 20"/>
                <a:gd name="T87" fmla="*/ 4 h 15"/>
                <a:gd name="T88" fmla="*/ 20 w 20"/>
                <a:gd name="T89" fmla="*/ 4 h 15"/>
                <a:gd name="T90" fmla="*/ 20 w 20"/>
                <a:gd name="T91" fmla="*/ 4 h 15"/>
                <a:gd name="T92" fmla="*/ 16 w 20"/>
                <a:gd name="T93" fmla="*/ 8 h 15"/>
                <a:gd name="T94" fmla="*/ 12 w 20"/>
                <a:gd name="T95" fmla="*/ 8 h 1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"/>
                <a:gd name="T145" fmla="*/ 0 h 15"/>
                <a:gd name="T146" fmla="*/ 20 w 20"/>
                <a:gd name="T147" fmla="*/ 15 h 15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" h="15">
                  <a:moveTo>
                    <a:pt x="12" y="8"/>
                  </a:moveTo>
                  <a:lnTo>
                    <a:pt x="12" y="8"/>
                  </a:lnTo>
                  <a:lnTo>
                    <a:pt x="16" y="12"/>
                  </a:lnTo>
                  <a:lnTo>
                    <a:pt x="12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8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5" name="Freeform 419"/>
            <p:cNvSpPr>
              <a:spLocks noEditPoints="1"/>
            </p:cNvSpPr>
            <p:nvPr/>
          </p:nvSpPr>
          <p:spPr bwMode="auto">
            <a:xfrm>
              <a:off x="4425" y="2441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4 w 16"/>
                <a:gd name="T3" fmla="*/ 4 h 12"/>
                <a:gd name="T4" fmla="*/ 4 w 16"/>
                <a:gd name="T5" fmla="*/ 4 h 12"/>
                <a:gd name="T6" fmla="*/ 4 w 16"/>
                <a:gd name="T7" fmla="*/ 4 h 12"/>
                <a:gd name="T8" fmla="*/ 4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8 w 16"/>
                <a:gd name="T15" fmla="*/ 0 h 12"/>
                <a:gd name="T16" fmla="*/ 8 w 16"/>
                <a:gd name="T17" fmla="*/ 0 h 12"/>
                <a:gd name="T18" fmla="*/ 8 w 16"/>
                <a:gd name="T19" fmla="*/ 0 h 12"/>
                <a:gd name="T20" fmla="*/ 8 w 16"/>
                <a:gd name="T21" fmla="*/ 0 h 12"/>
                <a:gd name="T22" fmla="*/ 12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6 w 16"/>
                <a:gd name="T31" fmla="*/ 8 h 12"/>
                <a:gd name="T32" fmla="*/ 16 w 16"/>
                <a:gd name="T33" fmla="*/ 8 h 12"/>
                <a:gd name="T34" fmla="*/ 12 w 16"/>
                <a:gd name="T35" fmla="*/ 12 h 12"/>
                <a:gd name="T36" fmla="*/ 8 w 16"/>
                <a:gd name="T37" fmla="*/ 12 h 12"/>
                <a:gd name="T38" fmla="*/ 8 w 16"/>
                <a:gd name="T39" fmla="*/ 12 h 12"/>
                <a:gd name="T40" fmla="*/ 8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12 h 12"/>
                <a:gd name="T52" fmla="*/ 0 w 16"/>
                <a:gd name="T53" fmla="*/ 8 h 12"/>
                <a:gd name="T54" fmla="*/ 0 w 16"/>
                <a:gd name="T55" fmla="*/ 8 h 12"/>
                <a:gd name="T56" fmla="*/ 0 w 16"/>
                <a:gd name="T57" fmla="*/ 8 h 12"/>
                <a:gd name="T58" fmla="*/ 0 w 16"/>
                <a:gd name="T59" fmla="*/ 8 h 12"/>
                <a:gd name="T60" fmla="*/ 4 w 16"/>
                <a:gd name="T61" fmla="*/ 8 h 12"/>
                <a:gd name="T62" fmla="*/ 4 w 16"/>
                <a:gd name="T63" fmla="*/ 12 h 12"/>
                <a:gd name="T64" fmla="*/ 4 w 16"/>
                <a:gd name="T65" fmla="*/ 12 h 12"/>
                <a:gd name="T66" fmla="*/ 4 w 16"/>
                <a:gd name="T67" fmla="*/ 12 h 12"/>
                <a:gd name="T68" fmla="*/ 8 w 16"/>
                <a:gd name="T69" fmla="*/ 12 h 12"/>
                <a:gd name="T70" fmla="*/ 12 w 16"/>
                <a:gd name="T71" fmla="*/ 8 h 12"/>
                <a:gd name="T72" fmla="*/ 12 w 16"/>
                <a:gd name="T73" fmla="*/ 8 h 12"/>
                <a:gd name="T74" fmla="*/ 12 w 16"/>
                <a:gd name="T75" fmla="*/ 4 h 12"/>
                <a:gd name="T76" fmla="*/ 8 w 16"/>
                <a:gd name="T77" fmla="*/ 4 h 12"/>
                <a:gd name="T78" fmla="*/ 8 w 16"/>
                <a:gd name="T79" fmla="*/ 4 h 12"/>
                <a:gd name="T80" fmla="*/ 8 w 16"/>
                <a:gd name="T81" fmla="*/ 4 h 12"/>
                <a:gd name="T82" fmla="*/ 8 w 16"/>
                <a:gd name="T83" fmla="*/ 4 h 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2"/>
                <a:gd name="T128" fmla="*/ 16 w 16"/>
                <a:gd name="T129" fmla="*/ 12 h 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2">
                  <a:moveTo>
                    <a:pt x="4" y="8"/>
                  </a:move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close/>
                  <a:moveTo>
                    <a:pt x="8" y="4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6" name="Freeform 420"/>
            <p:cNvSpPr>
              <a:spLocks/>
            </p:cNvSpPr>
            <p:nvPr/>
          </p:nvSpPr>
          <p:spPr bwMode="auto">
            <a:xfrm>
              <a:off x="4441" y="2445"/>
              <a:ext cx="15" cy="12"/>
            </a:xfrm>
            <a:custGeom>
              <a:avLst/>
              <a:gdLst>
                <a:gd name="T0" fmla="*/ 11 w 15"/>
                <a:gd name="T1" fmla="*/ 4 h 12"/>
                <a:gd name="T2" fmla="*/ 11 w 15"/>
                <a:gd name="T3" fmla="*/ 4 h 12"/>
                <a:gd name="T4" fmla="*/ 11 w 15"/>
                <a:gd name="T5" fmla="*/ 4 h 12"/>
                <a:gd name="T6" fmla="*/ 11 w 15"/>
                <a:gd name="T7" fmla="*/ 4 h 12"/>
                <a:gd name="T8" fmla="*/ 15 w 15"/>
                <a:gd name="T9" fmla="*/ 4 h 12"/>
                <a:gd name="T10" fmla="*/ 15 w 15"/>
                <a:gd name="T11" fmla="*/ 4 h 12"/>
                <a:gd name="T12" fmla="*/ 15 w 15"/>
                <a:gd name="T13" fmla="*/ 4 h 12"/>
                <a:gd name="T14" fmla="*/ 15 w 15"/>
                <a:gd name="T15" fmla="*/ 4 h 12"/>
                <a:gd name="T16" fmla="*/ 15 w 15"/>
                <a:gd name="T17" fmla="*/ 4 h 12"/>
                <a:gd name="T18" fmla="*/ 15 w 15"/>
                <a:gd name="T19" fmla="*/ 0 h 12"/>
                <a:gd name="T20" fmla="*/ 3 w 15"/>
                <a:gd name="T21" fmla="*/ 0 h 12"/>
                <a:gd name="T22" fmla="*/ 3 w 15"/>
                <a:gd name="T23" fmla="*/ 0 h 12"/>
                <a:gd name="T24" fmla="*/ 3 w 15"/>
                <a:gd name="T25" fmla="*/ 0 h 12"/>
                <a:gd name="T26" fmla="*/ 3 w 15"/>
                <a:gd name="T27" fmla="*/ 0 h 12"/>
                <a:gd name="T28" fmla="*/ 3 w 15"/>
                <a:gd name="T29" fmla="*/ 0 h 12"/>
                <a:gd name="T30" fmla="*/ 3 w 15"/>
                <a:gd name="T31" fmla="*/ 0 h 12"/>
                <a:gd name="T32" fmla="*/ 3 w 15"/>
                <a:gd name="T33" fmla="*/ 0 h 12"/>
                <a:gd name="T34" fmla="*/ 3 w 15"/>
                <a:gd name="T35" fmla="*/ 0 h 12"/>
                <a:gd name="T36" fmla="*/ 0 w 15"/>
                <a:gd name="T37" fmla="*/ 8 h 12"/>
                <a:gd name="T38" fmla="*/ 0 w 15"/>
                <a:gd name="T39" fmla="*/ 8 h 12"/>
                <a:gd name="T40" fmla="*/ 0 w 15"/>
                <a:gd name="T41" fmla="*/ 8 h 12"/>
                <a:gd name="T42" fmla="*/ 0 w 15"/>
                <a:gd name="T43" fmla="*/ 8 h 12"/>
                <a:gd name="T44" fmla="*/ 0 w 15"/>
                <a:gd name="T45" fmla="*/ 8 h 12"/>
                <a:gd name="T46" fmla="*/ 0 w 15"/>
                <a:gd name="T47" fmla="*/ 8 h 12"/>
                <a:gd name="T48" fmla="*/ 0 w 15"/>
                <a:gd name="T49" fmla="*/ 12 h 12"/>
                <a:gd name="T50" fmla="*/ 0 w 15"/>
                <a:gd name="T51" fmla="*/ 12 h 12"/>
                <a:gd name="T52" fmla="*/ 11 w 15"/>
                <a:gd name="T53" fmla="*/ 12 h 12"/>
                <a:gd name="T54" fmla="*/ 11 w 15"/>
                <a:gd name="T55" fmla="*/ 12 h 12"/>
                <a:gd name="T56" fmla="*/ 11 w 15"/>
                <a:gd name="T57" fmla="*/ 12 h 12"/>
                <a:gd name="T58" fmla="*/ 11 w 15"/>
                <a:gd name="T59" fmla="*/ 12 h 12"/>
                <a:gd name="T60" fmla="*/ 11 w 15"/>
                <a:gd name="T61" fmla="*/ 12 h 12"/>
                <a:gd name="T62" fmla="*/ 11 w 15"/>
                <a:gd name="T63" fmla="*/ 12 h 12"/>
                <a:gd name="T64" fmla="*/ 11 w 15"/>
                <a:gd name="T65" fmla="*/ 8 h 12"/>
                <a:gd name="T66" fmla="*/ 11 w 15"/>
                <a:gd name="T67" fmla="*/ 8 h 12"/>
                <a:gd name="T68" fmla="*/ 11 w 15"/>
                <a:gd name="T69" fmla="*/ 8 h 12"/>
                <a:gd name="T70" fmla="*/ 11 w 15"/>
                <a:gd name="T71" fmla="*/ 8 h 12"/>
                <a:gd name="T72" fmla="*/ 11 w 15"/>
                <a:gd name="T73" fmla="*/ 8 h 12"/>
                <a:gd name="T74" fmla="*/ 7 w 15"/>
                <a:gd name="T75" fmla="*/ 12 h 12"/>
                <a:gd name="T76" fmla="*/ 3 w 15"/>
                <a:gd name="T77" fmla="*/ 8 h 12"/>
                <a:gd name="T78" fmla="*/ 3 w 15"/>
                <a:gd name="T79" fmla="*/ 8 h 12"/>
                <a:gd name="T80" fmla="*/ 7 w 15"/>
                <a:gd name="T81" fmla="*/ 8 h 12"/>
                <a:gd name="T82" fmla="*/ 7 w 15"/>
                <a:gd name="T83" fmla="*/ 8 h 12"/>
                <a:gd name="T84" fmla="*/ 7 w 15"/>
                <a:gd name="T85" fmla="*/ 8 h 12"/>
                <a:gd name="T86" fmla="*/ 7 w 15"/>
                <a:gd name="T87" fmla="*/ 8 h 12"/>
                <a:gd name="T88" fmla="*/ 7 w 15"/>
                <a:gd name="T89" fmla="*/ 8 h 12"/>
                <a:gd name="T90" fmla="*/ 7 w 15"/>
                <a:gd name="T91" fmla="*/ 8 h 12"/>
                <a:gd name="T92" fmla="*/ 7 w 15"/>
                <a:gd name="T93" fmla="*/ 8 h 12"/>
                <a:gd name="T94" fmla="*/ 11 w 15"/>
                <a:gd name="T95" fmla="*/ 8 h 12"/>
                <a:gd name="T96" fmla="*/ 11 w 15"/>
                <a:gd name="T97" fmla="*/ 4 h 12"/>
                <a:gd name="T98" fmla="*/ 11 w 15"/>
                <a:gd name="T99" fmla="*/ 4 h 12"/>
                <a:gd name="T100" fmla="*/ 11 w 15"/>
                <a:gd name="T101" fmla="*/ 4 h 12"/>
                <a:gd name="T102" fmla="*/ 11 w 15"/>
                <a:gd name="T103" fmla="*/ 4 h 12"/>
                <a:gd name="T104" fmla="*/ 11 w 15"/>
                <a:gd name="T105" fmla="*/ 4 h 12"/>
                <a:gd name="T106" fmla="*/ 11 w 15"/>
                <a:gd name="T107" fmla="*/ 4 h 12"/>
                <a:gd name="T108" fmla="*/ 11 w 15"/>
                <a:gd name="T109" fmla="*/ 4 h 12"/>
                <a:gd name="T110" fmla="*/ 11 w 15"/>
                <a:gd name="T111" fmla="*/ 4 h 12"/>
                <a:gd name="T112" fmla="*/ 7 w 15"/>
                <a:gd name="T113" fmla="*/ 4 h 12"/>
                <a:gd name="T114" fmla="*/ 7 w 15"/>
                <a:gd name="T115" fmla="*/ 4 h 12"/>
                <a:gd name="T116" fmla="*/ 7 w 15"/>
                <a:gd name="T117" fmla="*/ 4 h 12"/>
                <a:gd name="T118" fmla="*/ 7 w 15"/>
                <a:gd name="T119" fmla="*/ 4 h 12"/>
                <a:gd name="T120" fmla="*/ 7 w 15"/>
                <a:gd name="T121" fmla="*/ 4 h 12"/>
                <a:gd name="T122" fmla="*/ 11 w 15"/>
                <a:gd name="T123" fmla="*/ 4 h 12"/>
                <a:gd name="T124" fmla="*/ 11 w 15"/>
                <a:gd name="T125" fmla="*/ 4 h 1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2"/>
                <a:gd name="T191" fmla="*/ 15 w 15"/>
                <a:gd name="T192" fmla="*/ 12 h 1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2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3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7" y="12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7" name="Freeform 421"/>
            <p:cNvSpPr>
              <a:spLocks/>
            </p:cNvSpPr>
            <p:nvPr/>
          </p:nvSpPr>
          <p:spPr bwMode="auto">
            <a:xfrm>
              <a:off x="4456" y="2449"/>
              <a:ext cx="16" cy="12"/>
            </a:xfrm>
            <a:custGeom>
              <a:avLst/>
              <a:gdLst>
                <a:gd name="T0" fmla="*/ 8 w 16"/>
                <a:gd name="T1" fmla="*/ 0 h 12"/>
                <a:gd name="T2" fmla="*/ 4 w 16"/>
                <a:gd name="T3" fmla="*/ 4 h 12"/>
                <a:gd name="T4" fmla="*/ 8 w 16"/>
                <a:gd name="T5" fmla="*/ 4 h 12"/>
                <a:gd name="T6" fmla="*/ 8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8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8 w 16"/>
                <a:gd name="T23" fmla="*/ 8 h 12"/>
                <a:gd name="T24" fmla="*/ 8 w 16"/>
                <a:gd name="T25" fmla="*/ 8 h 12"/>
                <a:gd name="T26" fmla="*/ 8 w 16"/>
                <a:gd name="T27" fmla="*/ 8 h 12"/>
                <a:gd name="T28" fmla="*/ 8 w 16"/>
                <a:gd name="T29" fmla="*/ 8 h 12"/>
                <a:gd name="T30" fmla="*/ 8 w 16"/>
                <a:gd name="T31" fmla="*/ 8 h 12"/>
                <a:gd name="T32" fmla="*/ 8 w 16"/>
                <a:gd name="T33" fmla="*/ 8 h 12"/>
                <a:gd name="T34" fmla="*/ 8 w 16"/>
                <a:gd name="T35" fmla="*/ 8 h 12"/>
                <a:gd name="T36" fmla="*/ 8 w 16"/>
                <a:gd name="T37" fmla="*/ 8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4 w 16"/>
                <a:gd name="T49" fmla="*/ 12 h 12"/>
                <a:gd name="T50" fmla="*/ 4 w 16"/>
                <a:gd name="T51" fmla="*/ 12 h 12"/>
                <a:gd name="T52" fmla="*/ 4 w 16"/>
                <a:gd name="T53" fmla="*/ 12 h 12"/>
                <a:gd name="T54" fmla="*/ 4 w 16"/>
                <a:gd name="T55" fmla="*/ 12 h 12"/>
                <a:gd name="T56" fmla="*/ 0 w 16"/>
                <a:gd name="T57" fmla="*/ 8 h 12"/>
                <a:gd name="T58" fmla="*/ 0 w 16"/>
                <a:gd name="T59" fmla="*/ 8 h 12"/>
                <a:gd name="T60" fmla="*/ 0 w 16"/>
                <a:gd name="T61" fmla="*/ 8 h 12"/>
                <a:gd name="T62" fmla="*/ 0 w 16"/>
                <a:gd name="T63" fmla="*/ 8 h 12"/>
                <a:gd name="T64" fmla="*/ 0 w 16"/>
                <a:gd name="T65" fmla="*/ 8 h 12"/>
                <a:gd name="T66" fmla="*/ 0 w 16"/>
                <a:gd name="T67" fmla="*/ 8 h 12"/>
                <a:gd name="T68" fmla="*/ 0 w 16"/>
                <a:gd name="T69" fmla="*/ 8 h 12"/>
                <a:gd name="T70" fmla="*/ 0 w 16"/>
                <a:gd name="T71" fmla="*/ 8 h 12"/>
                <a:gd name="T72" fmla="*/ 4 w 16"/>
                <a:gd name="T73" fmla="*/ 0 h 12"/>
                <a:gd name="T74" fmla="*/ 4 w 16"/>
                <a:gd name="T75" fmla="*/ 0 h 12"/>
                <a:gd name="T76" fmla="*/ 4 w 16"/>
                <a:gd name="T77" fmla="*/ 0 h 12"/>
                <a:gd name="T78" fmla="*/ 4 w 16"/>
                <a:gd name="T79" fmla="*/ 0 h 12"/>
                <a:gd name="T80" fmla="*/ 4 w 16"/>
                <a:gd name="T81" fmla="*/ 0 h 12"/>
                <a:gd name="T82" fmla="*/ 4 w 16"/>
                <a:gd name="T83" fmla="*/ 0 h 12"/>
                <a:gd name="T84" fmla="*/ 4 w 16"/>
                <a:gd name="T85" fmla="*/ 0 h 12"/>
                <a:gd name="T86" fmla="*/ 4 w 16"/>
                <a:gd name="T87" fmla="*/ 0 h 12"/>
                <a:gd name="T88" fmla="*/ 16 w 16"/>
                <a:gd name="T89" fmla="*/ 0 h 12"/>
                <a:gd name="T90" fmla="*/ 16 w 16"/>
                <a:gd name="T91" fmla="*/ 0 h 12"/>
                <a:gd name="T92" fmla="*/ 16 w 16"/>
                <a:gd name="T93" fmla="*/ 0 h 12"/>
                <a:gd name="T94" fmla="*/ 16 w 16"/>
                <a:gd name="T95" fmla="*/ 4 h 12"/>
                <a:gd name="T96" fmla="*/ 16 w 16"/>
                <a:gd name="T97" fmla="*/ 4 h 12"/>
                <a:gd name="T98" fmla="*/ 16 w 16"/>
                <a:gd name="T99" fmla="*/ 4 h 12"/>
                <a:gd name="T100" fmla="*/ 16 w 16"/>
                <a:gd name="T101" fmla="*/ 4 h 12"/>
                <a:gd name="T102" fmla="*/ 12 w 16"/>
                <a:gd name="T103" fmla="*/ 4 h 12"/>
                <a:gd name="T104" fmla="*/ 12 w 16"/>
                <a:gd name="T105" fmla="*/ 4 h 12"/>
                <a:gd name="T106" fmla="*/ 12 w 16"/>
                <a:gd name="T107" fmla="*/ 4 h 12"/>
                <a:gd name="T108" fmla="*/ 12 w 16"/>
                <a:gd name="T109" fmla="*/ 4 h 12"/>
                <a:gd name="T110" fmla="*/ 12 w 16"/>
                <a:gd name="T111" fmla="*/ 4 h 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6"/>
                <a:gd name="T169" fmla="*/ 0 h 12"/>
                <a:gd name="T170" fmla="*/ 16 w 16"/>
                <a:gd name="T171" fmla="*/ 12 h 1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6" h="12">
                  <a:moveTo>
                    <a:pt x="12" y="4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12"/>
                  </a:lnTo>
                  <a:lnTo>
                    <a:pt x="0" y="8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8" name="Freeform 422"/>
            <p:cNvSpPr>
              <a:spLocks noEditPoints="1"/>
            </p:cNvSpPr>
            <p:nvPr/>
          </p:nvSpPr>
          <p:spPr bwMode="auto">
            <a:xfrm>
              <a:off x="4173" y="2469"/>
              <a:ext cx="15" cy="16"/>
            </a:xfrm>
            <a:custGeom>
              <a:avLst/>
              <a:gdLst>
                <a:gd name="T0" fmla="*/ 12 w 15"/>
                <a:gd name="T1" fmla="*/ 8 h 16"/>
                <a:gd name="T2" fmla="*/ 12 w 15"/>
                <a:gd name="T3" fmla="*/ 8 h 16"/>
                <a:gd name="T4" fmla="*/ 12 w 15"/>
                <a:gd name="T5" fmla="*/ 8 h 16"/>
                <a:gd name="T6" fmla="*/ 12 w 15"/>
                <a:gd name="T7" fmla="*/ 8 h 16"/>
                <a:gd name="T8" fmla="*/ 12 w 15"/>
                <a:gd name="T9" fmla="*/ 8 h 16"/>
                <a:gd name="T10" fmla="*/ 12 w 15"/>
                <a:gd name="T11" fmla="*/ 8 h 16"/>
                <a:gd name="T12" fmla="*/ 12 w 15"/>
                <a:gd name="T13" fmla="*/ 8 h 16"/>
                <a:gd name="T14" fmla="*/ 12 w 15"/>
                <a:gd name="T15" fmla="*/ 8 h 16"/>
                <a:gd name="T16" fmla="*/ 12 w 15"/>
                <a:gd name="T17" fmla="*/ 8 h 16"/>
                <a:gd name="T18" fmla="*/ 12 w 15"/>
                <a:gd name="T19" fmla="*/ 8 h 16"/>
                <a:gd name="T20" fmla="*/ 12 w 15"/>
                <a:gd name="T21" fmla="*/ 8 h 16"/>
                <a:gd name="T22" fmla="*/ 12 w 15"/>
                <a:gd name="T23" fmla="*/ 8 h 16"/>
                <a:gd name="T24" fmla="*/ 12 w 15"/>
                <a:gd name="T25" fmla="*/ 12 h 16"/>
                <a:gd name="T26" fmla="*/ 12 w 15"/>
                <a:gd name="T27" fmla="*/ 12 h 16"/>
                <a:gd name="T28" fmla="*/ 12 w 15"/>
                <a:gd name="T29" fmla="*/ 12 h 16"/>
                <a:gd name="T30" fmla="*/ 12 w 15"/>
                <a:gd name="T31" fmla="*/ 12 h 16"/>
                <a:gd name="T32" fmla="*/ 8 w 15"/>
                <a:gd name="T33" fmla="*/ 12 h 16"/>
                <a:gd name="T34" fmla="*/ 8 w 15"/>
                <a:gd name="T35" fmla="*/ 12 h 16"/>
                <a:gd name="T36" fmla="*/ 8 w 15"/>
                <a:gd name="T37" fmla="*/ 12 h 16"/>
                <a:gd name="T38" fmla="*/ 8 w 15"/>
                <a:gd name="T39" fmla="*/ 12 h 16"/>
                <a:gd name="T40" fmla="*/ 8 w 15"/>
                <a:gd name="T41" fmla="*/ 12 h 16"/>
                <a:gd name="T42" fmla="*/ 8 w 15"/>
                <a:gd name="T43" fmla="*/ 12 h 16"/>
                <a:gd name="T44" fmla="*/ 8 w 15"/>
                <a:gd name="T45" fmla="*/ 12 h 16"/>
                <a:gd name="T46" fmla="*/ 12 w 15"/>
                <a:gd name="T47" fmla="*/ 12 h 16"/>
                <a:gd name="T48" fmla="*/ 12 w 15"/>
                <a:gd name="T49" fmla="*/ 12 h 16"/>
                <a:gd name="T50" fmla="*/ 12 w 15"/>
                <a:gd name="T51" fmla="*/ 12 h 16"/>
                <a:gd name="T52" fmla="*/ 8 w 15"/>
                <a:gd name="T53" fmla="*/ 16 h 16"/>
                <a:gd name="T54" fmla="*/ 8 w 15"/>
                <a:gd name="T55" fmla="*/ 16 h 16"/>
                <a:gd name="T56" fmla="*/ 0 w 15"/>
                <a:gd name="T57" fmla="*/ 12 h 16"/>
                <a:gd name="T58" fmla="*/ 0 w 15"/>
                <a:gd name="T59" fmla="*/ 12 h 16"/>
                <a:gd name="T60" fmla="*/ 0 w 15"/>
                <a:gd name="T61" fmla="*/ 12 h 16"/>
                <a:gd name="T62" fmla="*/ 0 w 15"/>
                <a:gd name="T63" fmla="*/ 12 h 16"/>
                <a:gd name="T64" fmla="*/ 0 w 15"/>
                <a:gd name="T65" fmla="*/ 12 h 16"/>
                <a:gd name="T66" fmla="*/ 0 w 15"/>
                <a:gd name="T67" fmla="*/ 12 h 16"/>
                <a:gd name="T68" fmla="*/ 4 w 15"/>
                <a:gd name="T69" fmla="*/ 12 h 16"/>
                <a:gd name="T70" fmla="*/ 4 w 15"/>
                <a:gd name="T71" fmla="*/ 12 h 16"/>
                <a:gd name="T72" fmla="*/ 8 w 15"/>
                <a:gd name="T73" fmla="*/ 8 h 16"/>
                <a:gd name="T74" fmla="*/ 0 w 15"/>
                <a:gd name="T75" fmla="*/ 8 h 16"/>
                <a:gd name="T76" fmla="*/ 0 w 15"/>
                <a:gd name="T77" fmla="*/ 8 h 16"/>
                <a:gd name="T78" fmla="*/ 0 w 15"/>
                <a:gd name="T79" fmla="*/ 8 h 16"/>
                <a:gd name="T80" fmla="*/ 0 w 15"/>
                <a:gd name="T81" fmla="*/ 8 h 16"/>
                <a:gd name="T82" fmla="*/ 0 w 15"/>
                <a:gd name="T83" fmla="*/ 8 h 16"/>
                <a:gd name="T84" fmla="*/ 0 w 15"/>
                <a:gd name="T85" fmla="*/ 8 h 16"/>
                <a:gd name="T86" fmla="*/ 0 w 15"/>
                <a:gd name="T87" fmla="*/ 4 h 16"/>
                <a:gd name="T88" fmla="*/ 0 w 15"/>
                <a:gd name="T89" fmla="*/ 4 h 16"/>
                <a:gd name="T90" fmla="*/ 12 w 15"/>
                <a:gd name="T91" fmla="*/ 0 h 16"/>
                <a:gd name="T92" fmla="*/ 12 w 15"/>
                <a:gd name="T93" fmla="*/ 0 h 16"/>
                <a:gd name="T94" fmla="*/ 12 w 15"/>
                <a:gd name="T95" fmla="*/ 0 h 16"/>
                <a:gd name="T96" fmla="*/ 12 w 15"/>
                <a:gd name="T97" fmla="*/ 0 h 16"/>
                <a:gd name="T98" fmla="*/ 12 w 15"/>
                <a:gd name="T99" fmla="*/ 0 h 16"/>
                <a:gd name="T100" fmla="*/ 15 w 15"/>
                <a:gd name="T101" fmla="*/ 0 h 16"/>
                <a:gd name="T102" fmla="*/ 15 w 15"/>
                <a:gd name="T103" fmla="*/ 0 h 16"/>
                <a:gd name="T104" fmla="*/ 15 w 15"/>
                <a:gd name="T105" fmla="*/ 0 h 16"/>
                <a:gd name="T106" fmla="*/ 15 w 15"/>
                <a:gd name="T107" fmla="*/ 0 h 16"/>
                <a:gd name="T108" fmla="*/ 15 w 15"/>
                <a:gd name="T109" fmla="*/ 0 h 16"/>
                <a:gd name="T110" fmla="*/ 15 w 15"/>
                <a:gd name="T111" fmla="*/ 0 h 16"/>
                <a:gd name="T112" fmla="*/ 12 w 15"/>
                <a:gd name="T113" fmla="*/ 8 h 16"/>
                <a:gd name="T114" fmla="*/ 4 w 15"/>
                <a:gd name="T115" fmla="*/ 8 h 16"/>
                <a:gd name="T116" fmla="*/ 8 w 15"/>
                <a:gd name="T117" fmla="*/ 8 h 16"/>
                <a:gd name="T118" fmla="*/ 12 w 15"/>
                <a:gd name="T119" fmla="*/ 0 h 1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5"/>
                <a:gd name="T181" fmla="*/ 0 h 16"/>
                <a:gd name="T182" fmla="*/ 15 w 15"/>
                <a:gd name="T183" fmla="*/ 16 h 1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5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2" y="8"/>
                  </a:lnTo>
                  <a:close/>
                  <a:moveTo>
                    <a:pt x="12" y="0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49" name="Freeform 423"/>
            <p:cNvSpPr>
              <a:spLocks/>
            </p:cNvSpPr>
            <p:nvPr/>
          </p:nvSpPr>
          <p:spPr bwMode="auto">
            <a:xfrm>
              <a:off x="4149" y="2485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2 w 16"/>
                <a:gd name="T13" fmla="*/ 4 h 12"/>
                <a:gd name="T14" fmla="*/ 12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8 w 16"/>
                <a:gd name="T31" fmla="*/ 0 h 12"/>
                <a:gd name="T32" fmla="*/ 8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8 w 16"/>
                <a:gd name="T49" fmla="*/ 8 h 12"/>
                <a:gd name="T50" fmla="*/ 8 w 16"/>
                <a:gd name="T51" fmla="*/ 8 h 12"/>
                <a:gd name="T52" fmla="*/ 8 w 16"/>
                <a:gd name="T53" fmla="*/ 8 h 12"/>
                <a:gd name="T54" fmla="*/ 8 w 16"/>
                <a:gd name="T55" fmla="*/ 8 h 12"/>
                <a:gd name="T56" fmla="*/ 4 w 16"/>
                <a:gd name="T57" fmla="*/ 4 h 12"/>
                <a:gd name="T58" fmla="*/ 4 w 16"/>
                <a:gd name="T59" fmla="*/ 4 h 12"/>
                <a:gd name="T60" fmla="*/ 4 w 16"/>
                <a:gd name="T61" fmla="*/ 4 h 12"/>
                <a:gd name="T62" fmla="*/ 8 w 16"/>
                <a:gd name="T63" fmla="*/ 4 h 12"/>
                <a:gd name="T64" fmla="*/ 8 w 16"/>
                <a:gd name="T65" fmla="*/ 4 h 12"/>
                <a:gd name="T66" fmla="*/ 12 w 16"/>
                <a:gd name="T67" fmla="*/ 4 h 12"/>
                <a:gd name="T68" fmla="*/ 12 w 16"/>
                <a:gd name="T69" fmla="*/ 4 h 12"/>
                <a:gd name="T70" fmla="*/ 12 w 16"/>
                <a:gd name="T71" fmla="*/ 4 h 12"/>
                <a:gd name="T72" fmla="*/ 12 w 16"/>
                <a:gd name="T73" fmla="*/ 8 h 12"/>
                <a:gd name="T74" fmla="*/ 12 w 16"/>
                <a:gd name="T75" fmla="*/ 8 h 12"/>
                <a:gd name="T76" fmla="*/ 12 w 16"/>
                <a:gd name="T77" fmla="*/ 8 h 12"/>
                <a:gd name="T78" fmla="*/ 12 w 16"/>
                <a:gd name="T79" fmla="*/ 8 h 12"/>
                <a:gd name="T80" fmla="*/ 12 w 16"/>
                <a:gd name="T81" fmla="*/ 8 h 12"/>
                <a:gd name="T82" fmla="*/ 8 w 16"/>
                <a:gd name="T83" fmla="*/ 8 h 12"/>
                <a:gd name="T84" fmla="*/ 8 w 16"/>
                <a:gd name="T85" fmla="*/ 8 h 12"/>
                <a:gd name="T86" fmla="*/ 8 w 16"/>
                <a:gd name="T87" fmla="*/ 8 h 12"/>
                <a:gd name="T88" fmla="*/ 8 w 16"/>
                <a:gd name="T89" fmla="*/ 8 h 12"/>
                <a:gd name="T90" fmla="*/ 8 w 16"/>
                <a:gd name="T91" fmla="*/ 12 h 12"/>
                <a:gd name="T92" fmla="*/ 8 w 16"/>
                <a:gd name="T93" fmla="*/ 12 h 12"/>
                <a:gd name="T94" fmla="*/ 4 w 16"/>
                <a:gd name="T95" fmla="*/ 12 h 12"/>
                <a:gd name="T96" fmla="*/ 4 w 16"/>
                <a:gd name="T97" fmla="*/ 8 h 12"/>
                <a:gd name="T98" fmla="*/ 4 w 16"/>
                <a:gd name="T99" fmla="*/ 8 h 12"/>
                <a:gd name="T100" fmla="*/ 0 w 16"/>
                <a:gd name="T101" fmla="*/ 8 h 12"/>
                <a:gd name="T102" fmla="*/ 0 w 16"/>
                <a:gd name="T103" fmla="*/ 4 h 12"/>
                <a:gd name="T104" fmla="*/ 0 w 16"/>
                <a:gd name="T105" fmla="*/ 4 h 12"/>
                <a:gd name="T106" fmla="*/ 4 w 16"/>
                <a:gd name="T107" fmla="*/ 0 h 12"/>
                <a:gd name="T108" fmla="*/ 12 w 16"/>
                <a:gd name="T109" fmla="*/ 0 h 12"/>
                <a:gd name="T110" fmla="*/ 12 w 16"/>
                <a:gd name="T111" fmla="*/ 0 h 12"/>
                <a:gd name="T112" fmla="*/ 12 w 16"/>
                <a:gd name="T113" fmla="*/ 0 h 12"/>
                <a:gd name="T114" fmla="*/ 12 w 16"/>
                <a:gd name="T115" fmla="*/ 0 h 1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"/>
                <a:gd name="T175" fmla="*/ 0 h 12"/>
                <a:gd name="T176" fmla="*/ 16 w 16"/>
                <a:gd name="T177" fmla="*/ 12 h 1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0" name="Freeform 424"/>
            <p:cNvSpPr>
              <a:spLocks/>
            </p:cNvSpPr>
            <p:nvPr/>
          </p:nvSpPr>
          <p:spPr bwMode="auto">
            <a:xfrm>
              <a:off x="4161" y="2485"/>
              <a:ext cx="16" cy="12"/>
            </a:xfrm>
            <a:custGeom>
              <a:avLst/>
              <a:gdLst>
                <a:gd name="T0" fmla="*/ 8 w 16"/>
                <a:gd name="T1" fmla="*/ 4 h 12"/>
                <a:gd name="T2" fmla="*/ 12 w 16"/>
                <a:gd name="T3" fmla="*/ 4 h 12"/>
                <a:gd name="T4" fmla="*/ 12 w 16"/>
                <a:gd name="T5" fmla="*/ 4 h 12"/>
                <a:gd name="T6" fmla="*/ 8 w 16"/>
                <a:gd name="T7" fmla="*/ 0 h 12"/>
                <a:gd name="T8" fmla="*/ 8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4 w 16"/>
                <a:gd name="T15" fmla="*/ 4 h 12"/>
                <a:gd name="T16" fmla="*/ 4 w 16"/>
                <a:gd name="T17" fmla="*/ 4 h 12"/>
                <a:gd name="T18" fmla="*/ 0 w 16"/>
                <a:gd name="T19" fmla="*/ 8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12 h 12"/>
                <a:gd name="T26" fmla="*/ 0 w 16"/>
                <a:gd name="T27" fmla="*/ 12 h 12"/>
                <a:gd name="T28" fmla="*/ 0 w 16"/>
                <a:gd name="T29" fmla="*/ 12 h 12"/>
                <a:gd name="T30" fmla="*/ 4 w 16"/>
                <a:gd name="T31" fmla="*/ 12 h 12"/>
                <a:gd name="T32" fmla="*/ 4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8 h 12"/>
                <a:gd name="T42" fmla="*/ 8 w 16"/>
                <a:gd name="T43" fmla="*/ 12 h 12"/>
                <a:gd name="T44" fmla="*/ 8 w 16"/>
                <a:gd name="T45" fmla="*/ 12 h 12"/>
                <a:gd name="T46" fmla="*/ 8 w 16"/>
                <a:gd name="T47" fmla="*/ 12 h 12"/>
                <a:gd name="T48" fmla="*/ 4 w 16"/>
                <a:gd name="T49" fmla="*/ 12 h 12"/>
                <a:gd name="T50" fmla="*/ 4 w 16"/>
                <a:gd name="T51" fmla="*/ 12 h 12"/>
                <a:gd name="T52" fmla="*/ 8 w 16"/>
                <a:gd name="T53" fmla="*/ 12 h 12"/>
                <a:gd name="T54" fmla="*/ 8 w 16"/>
                <a:gd name="T55" fmla="*/ 12 h 12"/>
                <a:gd name="T56" fmla="*/ 12 w 16"/>
                <a:gd name="T57" fmla="*/ 12 h 12"/>
                <a:gd name="T58" fmla="*/ 12 w 16"/>
                <a:gd name="T59" fmla="*/ 12 h 12"/>
                <a:gd name="T60" fmla="*/ 12 w 16"/>
                <a:gd name="T61" fmla="*/ 12 h 12"/>
                <a:gd name="T62" fmla="*/ 12 w 16"/>
                <a:gd name="T63" fmla="*/ 12 h 12"/>
                <a:gd name="T64" fmla="*/ 16 w 16"/>
                <a:gd name="T65" fmla="*/ 4 h 12"/>
                <a:gd name="T66" fmla="*/ 16 w 16"/>
                <a:gd name="T67" fmla="*/ 4 h 12"/>
                <a:gd name="T68" fmla="*/ 16 w 16"/>
                <a:gd name="T69" fmla="*/ 4 h 12"/>
                <a:gd name="T70" fmla="*/ 16 w 16"/>
                <a:gd name="T71" fmla="*/ 4 h 12"/>
                <a:gd name="T72" fmla="*/ 16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4 h 12"/>
                <a:gd name="T84" fmla="*/ 12 w 16"/>
                <a:gd name="T85" fmla="*/ 4 h 12"/>
                <a:gd name="T86" fmla="*/ 8 w 16"/>
                <a:gd name="T87" fmla="*/ 4 h 12"/>
                <a:gd name="T88" fmla="*/ 8 w 16"/>
                <a:gd name="T89" fmla="*/ 4 h 1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2"/>
                <a:gd name="T137" fmla="*/ 16 w 16"/>
                <a:gd name="T138" fmla="*/ 12 h 1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2">
                  <a:moveTo>
                    <a:pt x="8" y="4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1" name="Freeform 425"/>
            <p:cNvSpPr>
              <a:spLocks/>
            </p:cNvSpPr>
            <p:nvPr/>
          </p:nvSpPr>
          <p:spPr bwMode="auto">
            <a:xfrm>
              <a:off x="4173" y="2489"/>
              <a:ext cx="15" cy="12"/>
            </a:xfrm>
            <a:custGeom>
              <a:avLst/>
              <a:gdLst>
                <a:gd name="T0" fmla="*/ 8 w 15"/>
                <a:gd name="T1" fmla="*/ 12 h 12"/>
                <a:gd name="T2" fmla="*/ 12 w 15"/>
                <a:gd name="T3" fmla="*/ 12 h 12"/>
                <a:gd name="T4" fmla="*/ 12 w 15"/>
                <a:gd name="T5" fmla="*/ 12 h 12"/>
                <a:gd name="T6" fmla="*/ 12 w 15"/>
                <a:gd name="T7" fmla="*/ 12 h 12"/>
                <a:gd name="T8" fmla="*/ 12 w 15"/>
                <a:gd name="T9" fmla="*/ 12 h 12"/>
                <a:gd name="T10" fmla="*/ 12 w 15"/>
                <a:gd name="T11" fmla="*/ 12 h 12"/>
                <a:gd name="T12" fmla="*/ 12 w 15"/>
                <a:gd name="T13" fmla="*/ 12 h 12"/>
                <a:gd name="T14" fmla="*/ 8 w 15"/>
                <a:gd name="T15" fmla="*/ 12 h 12"/>
                <a:gd name="T16" fmla="*/ 4 w 15"/>
                <a:gd name="T17" fmla="*/ 12 h 12"/>
                <a:gd name="T18" fmla="*/ 4 w 15"/>
                <a:gd name="T19" fmla="*/ 12 h 12"/>
                <a:gd name="T20" fmla="*/ 0 w 15"/>
                <a:gd name="T21" fmla="*/ 12 h 12"/>
                <a:gd name="T22" fmla="*/ 0 w 15"/>
                <a:gd name="T23" fmla="*/ 8 h 12"/>
                <a:gd name="T24" fmla="*/ 0 w 15"/>
                <a:gd name="T25" fmla="*/ 8 h 12"/>
                <a:gd name="T26" fmla="*/ 4 w 15"/>
                <a:gd name="T27" fmla="*/ 8 h 12"/>
                <a:gd name="T28" fmla="*/ 4 w 15"/>
                <a:gd name="T29" fmla="*/ 8 h 12"/>
                <a:gd name="T30" fmla="*/ 4 w 15"/>
                <a:gd name="T31" fmla="*/ 8 h 12"/>
                <a:gd name="T32" fmla="*/ 12 w 15"/>
                <a:gd name="T33" fmla="*/ 4 h 12"/>
                <a:gd name="T34" fmla="*/ 8 w 15"/>
                <a:gd name="T35" fmla="*/ 4 h 12"/>
                <a:gd name="T36" fmla="*/ 8 w 15"/>
                <a:gd name="T37" fmla="*/ 4 h 12"/>
                <a:gd name="T38" fmla="*/ 8 w 15"/>
                <a:gd name="T39" fmla="*/ 0 h 12"/>
                <a:gd name="T40" fmla="*/ 8 w 15"/>
                <a:gd name="T41" fmla="*/ 0 h 12"/>
                <a:gd name="T42" fmla="*/ 8 w 15"/>
                <a:gd name="T43" fmla="*/ 0 h 12"/>
                <a:gd name="T44" fmla="*/ 8 w 15"/>
                <a:gd name="T45" fmla="*/ 0 h 12"/>
                <a:gd name="T46" fmla="*/ 8 w 15"/>
                <a:gd name="T47" fmla="*/ 0 h 12"/>
                <a:gd name="T48" fmla="*/ 15 w 15"/>
                <a:gd name="T49" fmla="*/ 4 h 12"/>
                <a:gd name="T50" fmla="*/ 15 w 15"/>
                <a:gd name="T51" fmla="*/ 4 h 12"/>
                <a:gd name="T52" fmla="*/ 15 w 15"/>
                <a:gd name="T53" fmla="*/ 4 h 12"/>
                <a:gd name="T54" fmla="*/ 15 w 15"/>
                <a:gd name="T55" fmla="*/ 4 h 12"/>
                <a:gd name="T56" fmla="*/ 15 w 15"/>
                <a:gd name="T57" fmla="*/ 4 h 12"/>
                <a:gd name="T58" fmla="*/ 15 w 15"/>
                <a:gd name="T59" fmla="*/ 4 h 12"/>
                <a:gd name="T60" fmla="*/ 15 w 15"/>
                <a:gd name="T61" fmla="*/ 4 h 12"/>
                <a:gd name="T62" fmla="*/ 12 w 15"/>
                <a:gd name="T63" fmla="*/ 4 h 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5"/>
                <a:gd name="T97" fmla="*/ 0 h 12"/>
                <a:gd name="T98" fmla="*/ 15 w 15"/>
                <a:gd name="T99" fmla="*/ 12 h 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5" h="12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2" name="Freeform 426"/>
            <p:cNvSpPr>
              <a:spLocks/>
            </p:cNvSpPr>
            <p:nvPr/>
          </p:nvSpPr>
          <p:spPr bwMode="auto">
            <a:xfrm>
              <a:off x="4283" y="2485"/>
              <a:ext cx="20" cy="20"/>
            </a:xfrm>
            <a:custGeom>
              <a:avLst/>
              <a:gdLst>
                <a:gd name="T0" fmla="*/ 8 w 20"/>
                <a:gd name="T1" fmla="*/ 8 h 20"/>
                <a:gd name="T2" fmla="*/ 8 w 20"/>
                <a:gd name="T3" fmla="*/ 8 h 20"/>
                <a:gd name="T4" fmla="*/ 12 w 20"/>
                <a:gd name="T5" fmla="*/ 8 h 20"/>
                <a:gd name="T6" fmla="*/ 12 w 20"/>
                <a:gd name="T7" fmla="*/ 8 h 20"/>
                <a:gd name="T8" fmla="*/ 12 w 20"/>
                <a:gd name="T9" fmla="*/ 8 h 20"/>
                <a:gd name="T10" fmla="*/ 16 w 20"/>
                <a:gd name="T11" fmla="*/ 12 h 20"/>
                <a:gd name="T12" fmla="*/ 16 w 20"/>
                <a:gd name="T13" fmla="*/ 16 h 20"/>
                <a:gd name="T14" fmla="*/ 16 w 20"/>
                <a:gd name="T15" fmla="*/ 16 h 20"/>
                <a:gd name="T16" fmla="*/ 12 w 20"/>
                <a:gd name="T17" fmla="*/ 20 h 20"/>
                <a:gd name="T18" fmla="*/ 4 w 20"/>
                <a:gd name="T19" fmla="*/ 20 h 20"/>
                <a:gd name="T20" fmla="*/ 4 w 20"/>
                <a:gd name="T21" fmla="*/ 20 h 20"/>
                <a:gd name="T22" fmla="*/ 0 w 20"/>
                <a:gd name="T23" fmla="*/ 16 h 20"/>
                <a:gd name="T24" fmla="*/ 0 w 20"/>
                <a:gd name="T25" fmla="*/ 16 h 20"/>
                <a:gd name="T26" fmla="*/ 0 w 20"/>
                <a:gd name="T27" fmla="*/ 16 h 20"/>
                <a:gd name="T28" fmla="*/ 0 w 20"/>
                <a:gd name="T29" fmla="*/ 12 h 20"/>
                <a:gd name="T30" fmla="*/ 4 w 20"/>
                <a:gd name="T31" fmla="*/ 12 h 20"/>
                <a:gd name="T32" fmla="*/ 4 w 20"/>
                <a:gd name="T33" fmla="*/ 12 h 20"/>
                <a:gd name="T34" fmla="*/ 4 w 20"/>
                <a:gd name="T35" fmla="*/ 16 h 20"/>
                <a:gd name="T36" fmla="*/ 8 w 20"/>
                <a:gd name="T37" fmla="*/ 16 h 20"/>
                <a:gd name="T38" fmla="*/ 8 w 20"/>
                <a:gd name="T39" fmla="*/ 16 h 20"/>
                <a:gd name="T40" fmla="*/ 8 w 20"/>
                <a:gd name="T41" fmla="*/ 16 h 20"/>
                <a:gd name="T42" fmla="*/ 12 w 20"/>
                <a:gd name="T43" fmla="*/ 12 h 20"/>
                <a:gd name="T44" fmla="*/ 12 w 20"/>
                <a:gd name="T45" fmla="*/ 12 h 20"/>
                <a:gd name="T46" fmla="*/ 12 w 20"/>
                <a:gd name="T47" fmla="*/ 12 h 20"/>
                <a:gd name="T48" fmla="*/ 12 w 20"/>
                <a:gd name="T49" fmla="*/ 12 h 20"/>
                <a:gd name="T50" fmla="*/ 12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2 h 20"/>
                <a:gd name="T58" fmla="*/ 4 w 20"/>
                <a:gd name="T59" fmla="*/ 8 h 20"/>
                <a:gd name="T60" fmla="*/ 4 w 20"/>
                <a:gd name="T61" fmla="*/ 8 h 20"/>
                <a:gd name="T62" fmla="*/ 8 w 20"/>
                <a:gd name="T63" fmla="*/ 0 h 20"/>
                <a:gd name="T64" fmla="*/ 8 w 20"/>
                <a:gd name="T65" fmla="*/ 0 h 20"/>
                <a:gd name="T66" fmla="*/ 8 w 20"/>
                <a:gd name="T67" fmla="*/ 0 h 20"/>
                <a:gd name="T68" fmla="*/ 12 w 20"/>
                <a:gd name="T69" fmla="*/ 0 h 20"/>
                <a:gd name="T70" fmla="*/ 20 w 20"/>
                <a:gd name="T71" fmla="*/ 4 h 20"/>
                <a:gd name="T72" fmla="*/ 20 w 20"/>
                <a:gd name="T73" fmla="*/ 4 h 20"/>
                <a:gd name="T74" fmla="*/ 20 w 20"/>
                <a:gd name="T75" fmla="*/ 4 h 20"/>
                <a:gd name="T76" fmla="*/ 20 w 20"/>
                <a:gd name="T77" fmla="*/ 4 h 20"/>
                <a:gd name="T78" fmla="*/ 20 w 20"/>
                <a:gd name="T79" fmla="*/ 4 h 20"/>
                <a:gd name="T80" fmla="*/ 20 w 20"/>
                <a:gd name="T81" fmla="*/ 8 h 20"/>
                <a:gd name="T82" fmla="*/ 20 w 20"/>
                <a:gd name="T83" fmla="*/ 8 h 20"/>
                <a:gd name="T84" fmla="*/ 12 w 20"/>
                <a:gd name="T85" fmla="*/ 4 h 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20"/>
                <a:gd name="T131" fmla="*/ 20 w 20"/>
                <a:gd name="T132" fmla="*/ 20 h 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20"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12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3" name="Freeform 427"/>
            <p:cNvSpPr>
              <a:spLocks/>
            </p:cNvSpPr>
            <p:nvPr/>
          </p:nvSpPr>
          <p:spPr bwMode="auto">
            <a:xfrm>
              <a:off x="4259" y="2505"/>
              <a:ext cx="20" cy="11"/>
            </a:xfrm>
            <a:custGeom>
              <a:avLst/>
              <a:gdLst>
                <a:gd name="T0" fmla="*/ 12 w 20"/>
                <a:gd name="T1" fmla="*/ 7 h 11"/>
                <a:gd name="T2" fmla="*/ 12 w 20"/>
                <a:gd name="T3" fmla="*/ 7 h 11"/>
                <a:gd name="T4" fmla="*/ 12 w 20"/>
                <a:gd name="T5" fmla="*/ 7 h 11"/>
                <a:gd name="T6" fmla="*/ 12 w 20"/>
                <a:gd name="T7" fmla="*/ 7 h 11"/>
                <a:gd name="T8" fmla="*/ 8 w 20"/>
                <a:gd name="T9" fmla="*/ 11 h 11"/>
                <a:gd name="T10" fmla="*/ 8 w 20"/>
                <a:gd name="T11" fmla="*/ 11 h 11"/>
                <a:gd name="T12" fmla="*/ 8 w 20"/>
                <a:gd name="T13" fmla="*/ 11 h 11"/>
                <a:gd name="T14" fmla="*/ 4 w 20"/>
                <a:gd name="T15" fmla="*/ 11 h 11"/>
                <a:gd name="T16" fmla="*/ 4 w 20"/>
                <a:gd name="T17" fmla="*/ 11 h 11"/>
                <a:gd name="T18" fmla="*/ 4 w 20"/>
                <a:gd name="T19" fmla="*/ 11 h 11"/>
                <a:gd name="T20" fmla="*/ 0 w 20"/>
                <a:gd name="T21" fmla="*/ 7 h 11"/>
                <a:gd name="T22" fmla="*/ 0 w 20"/>
                <a:gd name="T23" fmla="*/ 7 h 11"/>
                <a:gd name="T24" fmla="*/ 0 w 20"/>
                <a:gd name="T25" fmla="*/ 7 h 11"/>
                <a:gd name="T26" fmla="*/ 0 w 20"/>
                <a:gd name="T27" fmla="*/ 7 h 11"/>
                <a:gd name="T28" fmla="*/ 0 w 20"/>
                <a:gd name="T29" fmla="*/ 3 h 11"/>
                <a:gd name="T30" fmla="*/ 0 w 20"/>
                <a:gd name="T31" fmla="*/ 3 h 11"/>
                <a:gd name="T32" fmla="*/ 4 w 20"/>
                <a:gd name="T33" fmla="*/ 3 h 11"/>
                <a:gd name="T34" fmla="*/ 4 w 20"/>
                <a:gd name="T35" fmla="*/ 3 h 11"/>
                <a:gd name="T36" fmla="*/ 4 w 20"/>
                <a:gd name="T37" fmla="*/ 3 h 11"/>
                <a:gd name="T38" fmla="*/ 4 w 20"/>
                <a:gd name="T39" fmla="*/ 3 h 11"/>
                <a:gd name="T40" fmla="*/ 4 w 20"/>
                <a:gd name="T41" fmla="*/ 7 h 11"/>
                <a:gd name="T42" fmla="*/ 4 w 20"/>
                <a:gd name="T43" fmla="*/ 7 h 11"/>
                <a:gd name="T44" fmla="*/ 4 w 20"/>
                <a:gd name="T45" fmla="*/ 7 h 11"/>
                <a:gd name="T46" fmla="*/ 4 w 20"/>
                <a:gd name="T47" fmla="*/ 7 h 11"/>
                <a:gd name="T48" fmla="*/ 4 w 20"/>
                <a:gd name="T49" fmla="*/ 7 h 11"/>
                <a:gd name="T50" fmla="*/ 8 w 20"/>
                <a:gd name="T51" fmla="*/ 7 h 11"/>
                <a:gd name="T52" fmla="*/ 8 w 20"/>
                <a:gd name="T53" fmla="*/ 7 h 11"/>
                <a:gd name="T54" fmla="*/ 12 w 20"/>
                <a:gd name="T55" fmla="*/ 0 h 11"/>
                <a:gd name="T56" fmla="*/ 12 w 20"/>
                <a:gd name="T57" fmla="*/ 0 h 11"/>
                <a:gd name="T58" fmla="*/ 12 w 20"/>
                <a:gd name="T59" fmla="*/ 0 h 11"/>
                <a:gd name="T60" fmla="*/ 8 w 20"/>
                <a:gd name="T61" fmla="*/ 0 h 11"/>
                <a:gd name="T62" fmla="*/ 8 w 20"/>
                <a:gd name="T63" fmla="*/ 0 h 11"/>
                <a:gd name="T64" fmla="*/ 8 w 20"/>
                <a:gd name="T65" fmla="*/ 0 h 11"/>
                <a:gd name="T66" fmla="*/ 12 w 20"/>
                <a:gd name="T67" fmla="*/ 0 h 11"/>
                <a:gd name="T68" fmla="*/ 12 w 20"/>
                <a:gd name="T69" fmla="*/ 0 h 11"/>
                <a:gd name="T70" fmla="*/ 16 w 20"/>
                <a:gd name="T71" fmla="*/ 0 h 11"/>
                <a:gd name="T72" fmla="*/ 16 w 20"/>
                <a:gd name="T73" fmla="*/ 0 h 11"/>
                <a:gd name="T74" fmla="*/ 20 w 20"/>
                <a:gd name="T75" fmla="*/ 0 h 11"/>
                <a:gd name="T76" fmla="*/ 20 w 20"/>
                <a:gd name="T77" fmla="*/ 3 h 11"/>
                <a:gd name="T78" fmla="*/ 20 w 20"/>
                <a:gd name="T79" fmla="*/ 3 h 11"/>
                <a:gd name="T80" fmla="*/ 16 w 20"/>
                <a:gd name="T81" fmla="*/ 3 h 11"/>
                <a:gd name="T82" fmla="*/ 16 w 20"/>
                <a:gd name="T83" fmla="*/ 3 h 11"/>
                <a:gd name="T84" fmla="*/ 16 w 20"/>
                <a:gd name="T85" fmla="*/ 3 h 1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11"/>
                <a:gd name="T131" fmla="*/ 20 w 20"/>
                <a:gd name="T132" fmla="*/ 11 h 1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11">
                  <a:moveTo>
                    <a:pt x="16" y="3"/>
                  </a:moveTo>
                  <a:lnTo>
                    <a:pt x="12" y="7"/>
                  </a:lnTo>
                  <a:lnTo>
                    <a:pt x="8" y="11"/>
                  </a:lnTo>
                  <a:lnTo>
                    <a:pt x="4" y="11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3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0" y="3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4" name="Freeform 428"/>
            <p:cNvSpPr>
              <a:spLocks/>
            </p:cNvSpPr>
            <p:nvPr/>
          </p:nvSpPr>
          <p:spPr bwMode="auto">
            <a:xfrm>
              <a:off x="4275" y="2505"/>
              <a:ext cx="16" cy="15"/>
            </a:xfrm>
            <a:custGeom>
              <a:avLst/>
              <a:gdLst>
                <a:gd name="T0" fmla="*/ 4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6 w 16"/>
                <a:gd name="T11" fmla="*/ 3 h 15"/>
                <a:gd name="T12" fmla="*/ 16 w 16"/>
                <a:gd name="T13" fmla="*/ 3 h 15"/>
                <a:gd name="T14" fmla="*/ 16 w 16"/>
                <a:gd name="T15" fmla="*/ 3 h 15"/>
                <a:gd name="T16" fmla="*/ 16 w 16"/>
                <a:gd name="T17" fmla="*/ 7 h 15"/>
                <a:gd name="T18" fmla="*/ 16 w 16"/>
                <a:gd name="T19" fmla="*/ 7 h 15"/>
                <a:gd name="T20" fmla="*/ 16 w 16"/>
                <a:gd name="T21" fmla="*/ 7 h 15"/>
                <a:gd name="T22" fmla="*/ 8 w 16"/>
                <a:gd name="T23" fmla="*/ 7 h 15"/>
                <a:gd name="T24" fmla="*/ 12 w 16"/>
                <a:gd name="T25" fmla="*/ 11 h 15"/>
                <a:gd name="T26" fmla="*/ 12 w 16"/>
                <a:gd name="T27" fmla="*/ 11 h 15"/>
                <a:gd name="T28" fmla="*/ 12 w 16"/>
                <a:gd name="T29" fmla="*/ 11 h 15"/>
                <a:gd name="T30" fmla="*/ 12 w 16"/>
                <a:gd name="T31" fmla="*/ 11 h 15"/>
                <a:gd name="T32" fmla="*/ 12 w 16"/>
                <a:gd name="T33" fmla="*/ 15 h 15"/>
                <a:gd name="T34" fmla="*/ 12 w 16"/>
                <a:gd name="T35" fmla="*/ 15 h 15"/>
                <a:gd name="T36" fmla="*/ 8 w 16"/>
                <a:gd name="T37" fmla="*/ 15 h 15"/>
                <a:gd name="T38" fmla="*/ 8 w 16"/>
                <a:gd name="T39" fmla="*/ 15 h 15"/>
                <a:gd name="T40" fmla="*/ 8 w 16"/>
                <a:gd name="T41" fmla="*/ 11 h 15"/>
                <a:gd name="T42" fmla="*/ 8 w 16"/>
                <a:gd name="T43" fmla="*/ 11 h 15"/>
                <a:gd name="T44" fmla="*/ 8 w 16"/>
                <a:gd name="T45" fmla="*/ 11 h 15"/>
                <a:gd name="T46" fmla="*/ 4 w 16"/>
                <a:gd name="T47" fmla="*/ 7 h 15"/>
                <a:gd name="T48" fmla="*/ 4 w 16"/>
                <a:gd name="T49" fmla="*/ 11 h 15"/>
                <a:gd name="T50" fmla="*/ 4 w 16"/>
                <a:gd name="T51" fmla="*/ 11 h 15"/>
                <a:gd name="T52" fmla="*/ 4 w 16"/>
                <a:gd name="T53" fmla="*/ 11 h 15"/>
                <a:gd name="T54" fmla="*/ 4 w 16"/>
                <a:gd name="T55" fmla="*/ 11 h 15"/>
                <a:gd name="T56" fmla="*/ 4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0 w 16"/>
                <a:gd name="T65" fmla="*/ 11 h 15"/>
                <a:gd name="T66" fmla="*/ 0 w 16"/>
                <a:gd name="T67" fmla="*/ 11 h 15"/>
                <a:gd name="T68" fmla="*/ 0 w 16"/>
                <a:gd name="T69" fmla="*/ 11 h 15"/>
                <a:gd name="T70" fmla="*/ 4 w 16"/>
                <a:gd name="T71" fmla="*/ 3 h 15"/>
                <a:gd name="T72" fmla="*/ 4 w 16"/>
                <a:gd name="T73" fmla="*/ 3 h 15"/>
                <a:gd name="T74" fmla="*/ 4 w 16"/>
                <a:gd name="T75" fmla="*/ 3 h 15"/>
                <a:gd name="T76" fmla="*/ 4 w 16"/>
                <a:gd name="T77" fmla="*/ 0 h 15"/>
                <a:gd name="T78" fmla="*/ 4 w 16"/>
                <a:gd name="T79" fmla="*/ 0 h 15"/>
                <a:gd name="T80" fmla="*/ 8 w 16"/>
                <a:gd name="T81" fmla="*/ 3 h 15"/>
                <a:gd name="T82" fmla="*/ 12 w 16"/>
                <a:gd name="T83" fmla="*/ 3 h 15"/>
                <a:gd name="T84" fmla="*/ 8 w 16"/>
                <a:gd name="T85" fmla="*/ 3 h 15"/>
                <a:gd name="T86" fmla="*/ 8 w 16"/>
                <a:gd name="T87" fmla="*/ 3 h 15"/>
                <a:gd name="T88" fmla="*/ 8 w 16"/>
                <a:gd name="T89" fmla="*/ 3 h 1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5"/>
                <a:gd name="T137" fmla="*/ 16 w 16"/>
                <a:gd name="T138" fmla="*/ 15 h 1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5">
                  <a:moveTo>
                    <a:pt x="8" y="3"/>
                  </a:moveTo>
                  <a:lnTo>
                    <a:pt x="4" y="7"/>
                  </a:lnTo>
                  <a:lnTo>
                    <a:pt x="12" y="3"/>
                  </a:lnTo>
                  <a:lnTo>
                    <a:pt x="16" y="3"/>
                  </a:lnTo>
                  <a:lnTo>
                    <a:pt x="16" y="7"/>
                  </a:lnTo>
                  <a:lnTo>
                    <a:pt x="8" y="7"/>
                  </a:lnTo>
                  <a:lnTo>
                    <a:pt x="12" y="11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12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5" name="Freeform 429"/>
            <p:cNvSpPr>
              <a:spLocks/>
            </p:cNvSpPr>
            <p:nvPr/>
          </p:nvSpPr>
          <p:spPr bwMode="auto">
            <a:xfrm>
              <a:off x="4287" y="2508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12 w 16"/>
                <a:gd name="T3" fmla="*/ 12 h 16"/>
                <a:gd name="T4" fmla="*/ 12 w 16"/>
                <a:gd name="T5" fmla="*/ 12 h 16"/>
                <a:gd name="T6" fmla="*/ 12 w 16"/>
                <a:gd name="T7" fmla="*/ 12 h 16"/>
                <a:gd name="T8" fmla="*/ 16 w 16"/>
                <a:gd name="T9" fmla="*/ 12 h 16"/>
                <a:gd name="T10" fmla="*/ 16 w 16"/>
                <a:gd name="T11" fmla="*/ 12 h 16"/>
                <a:gd name="T12" fmla="*/ 16 w 16"/>
                <a:gd name="T13" fmla="*/ 12 h 16"/>
                <a:gd name="T14" fmla="*/ 16 w 16"/>
                <a:gd name="T15" fmla="*/ 12 h 16"/>
                <a:gd name="T16" fmla="*/ 16 w 16"/>
                <a:gd name="T17" fmla="*/ 12 h 16"/>
                <a:gd name="T18" fmla="*/ 16 w 16"/>
                <a:gd name="T19" fmla="*/ 16 h 16"/>
                <a:gd name="T20" fmla="*/ 16 w 16"/>
                <a:gd name="T21" fmla="*/ 16 h 16"/>
                <a:gd name="T22" fmla="*/ 12 w 16"/>
                <a:gd name="T23" fmla="*/ 16 h 16"/>
                <a:gd name="T24" fmla="*/ 12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4 w 16"/>
                <a:gd name="T39" fmla="*/ 12 h 16"/>
                <a:gd name="T40" fmla="*/ 4 w 16"/>
                <a:gd name="T41" fmla="*/ 12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8 w 16"/>
                <a:gd name="T49" fmla="*/ 4 h 16"/>
                <a:gd name="T50" fmla="*/ 8 w 16"/>
                <a:gd name="T51" fmla="*/ 0 h 16"/>
                <a:gd name="T52" fmla="*/ 8 w 16"/>
                <a:gd name="T53" fmla="*/ 0 h 16"/>
                <a:gd name="T54" fmla="*/ 8 w 16"/>
                <a:gd name="T55" fmla="*/ 0 h 16"/>
                <a:gd name="T56" fmla="*/ 8 w 16"/>
                <a:gd name="T57" fmla="*/ 0 h 16"/>
                <a:gd name="T58" fmla="*/ 12 w 16"/>
                <a:gd name="T59" fmla="*/ 4 h 16"/>
                <a:gd name="T60" fmla="*/ 12 w 16"/>
                <a:gd name="T61" fmla="*/ 4 h 16"/>
                <a:gd name="T62" fmla="*/ 16 w 16"/>
                <a:gd name="T63" fmla="*/ 4 h 16"/>
                <a:gd name="T64" fmla="*/ 16 w 16"/>
                <a:gd name="T65" fmla="*/ 4 h 16"/>
                <a:gd name="T66" fmla="*/ 16 w 16"/>
                <a:gd name="T67" fmla="*/ 4 h 16"/>
                <a:gd name="T68" fmla="*/ 12 w 16"/>
                <a:gd name="T69" fmla="*/ 4 h 16"/>
                <a:gd name="T70" fmla="*/ 12 w 16"/>
                <a:gd name="T71" fmla="*/ 4 h 16"/>
                <a:gd name="T72" fmla="*/ 12 w 16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"/>
                <a:gd name="T112" fmla="*/ 0 h 16"/>
                <a:gd name="T113" fmla="*/ 16 w 16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" h="16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6" name="Freeform 430"/>
            <p:cNvSpPr>
              <a:spLocks noEditPoints="1"/>
            </p:cNvSpPr>
            <p:nvPr/>
          </p:nvSpPr>
          <p:spPr bwMode="auto">
            <a:xfrm>
              <a:off x="4393" y="2512"/>
              <a:ext cx="24" cy="16"/>
            </a:xfrm>
            <a:custGeom>
              <a:avLst/>
              <a:gdLst>
                <a:gd name="T0" fmla="*/ 8 w 24"/>
                <a:gd name="T1" fmla="*/ 8 h 16"/>
                <a:gd name="T2" fmla="*/ 12 w 24"/>
                <a:gd name="T3" fmla="*/ 8 h 16"/>
                <a:gd name="T4" fmla="*/ 12 w 24"/>
                <a:gd name="T5" fmla="*/ 8 h 16"/>
                <a:gd name="T6" fmla="*/ 12 w 24"/>
                <a:gd name="T7" fmla="*/ 8 h 16"/>
                <a:gd name="T8" fmla="*/ 16 w 24"/>
                <a:gd name="T9" fmla="*/ 8 h 16"/>
                <a:gd name="T10" fmla="*/ 16 w 24"/>
                <a:gd name="T11" fmla="*/ 12 h 16"/>
                <a:gd name="T12" fmla="*/ 16 w 24"/>
                <a:gd name="T13" fmla="*/ 12 h 16"/>
                <a:gd name="T14" fmla="*/ 12 w 24"/>
                <a:gd name="T15" fmla="*/ 16 h 16"/>
                <a:gd name="T16" fmla="*/ 8 w 24"/>
                <a:gd name="T17" fmla="*/ 16 h 16"/>
                <a:gd name="T18" fmla="*/ 8 w 24"/>
                <a:gd name="T19" fmla="*/ 16 h 16"/>
                <a:gd name="T20" fmla="*/ 0 w 24"/>
                <a:gd name="T21" fmla="*/ 12 h 16"/>
                <a:gd name="T22" fmla="*/ 4 w 24"/>
                <a:gd name="T23" fmla="*/ 8 h 16"/>
                <a:gd name="T24" fmla="*/ 4 w 24"/>
                <a:gd name="T25" fmla="*/ 8 h 16"/>
                <a:gd name="T26" fmla="*/ 8 w 24"/>
                <a:gd name="T27" fmla="*/ 0 h 16"/>
                <a:gd name="T28" fmla="*/ 20 w 24"/>
                <a:gd name="T29" fmla="*/ 0 h 16"/>
                <a:gd name="T30" fmla="*/ 20 w 24"/>
                <a:gd name="T31" fmla="*/ 0 h 16"/>
                <a:gd name="T32" fmla="*/ 24 w 24"/>
                <a:gd name="T33" fmla="*/ 0 h 16"/>
                <a:gd name="T34" fmla="*/ 24 w 24"/>
                <a:gd name="T35" fmla="*/ 4 h 16"/>
                <a:gd name="T36" fmla="*/ 24 w 24"/>
                <a:gd name="T37" fmla="*/ 4 h 16"/>
                <a:gd name="T38" fmla="*/ 20 w 24"/>
                <a:gd name="T39" fmla="*/ 4 h 16"/>
                <a:gd name="T40" fmla="*/ 16 w 24"/>
                <a:gd name="T41" fmla="*/ 4 h 16"/>
                <a:gd name="T42" fmla="*/ 16 w 24"/>
                <a:gd name="T43" fmla="*/ 4 h 16"/>
                <a:gd name="T44" fmla="*/ 12 w 24"/>
                <a:gd name="T45" fmla="*/ 4 h 16"/>
                <a:gd name="T46" fmla="*/ 8 w 24"/>
                <a:gd name="T47" fmla="*/ 8 h 16"/>
                <a:gd name="T48" fmla="*/ 12 w 24"/>
                <a:gd name="T49" fmla="*/ 12 h 16"/>
                <a:gd name="T50" fmla="*/ 12 w 24"/>
                <a:gd name="T51" fmla="*/ 12 h 16"/>
                <a:gd name="T52" fmla="*/ 12 w 24"/>
                <a:gd name="T53" fmla="*/ 12 h 16"/>
                <a:gd name="T54" fmla="*/ 12 w 24"/>
                <a:gd name="T55" fmla="*/ 8 h 16"/>
                <a:gd name="T56" fmla="*/ 8 w 24"/>
                <a:gd name="T57" fmla="*/ 8 h 16"/>
                <a:gd name="T58" fmla="*/ 8 w 24"/>
                <a:gd name="T59" fmla="*/ 8 h 16"/>
                <a:gd name="T60" fmla="*/ 8 w 24"/>
                <a:gd name="T61" fmla="*/ 12 h 16"/>
                <a:gd name="T62" fmla="*/ 8 w 24"/>
                <a:gd name="T63" fmla="*/ 12 h 16"/>
                <a:gd name="T64" fmla="*/ 8 w 24"/>
                <a:gd name="T65" fmla="*/ 12 h 16"/>
                <a:gd name="T66" fmla="*/ 8 w 24"/>
                <a:gd name="T67" fmla="*/ 16 h 16"/>
                <a:gd name="T68" fmla="*/ 12 w 24"/>
                <a:gd name="T69" fmla="*/ 16 h 16"/>
                <a:gd name="T70" fmla="*/ 12 w 24"/>
                <a:gd name="T71" fmla="*/ 16 h 16"/>
                <a:gd name="T72" fmla="*/ 12 w 24"/>
                <a:gd name="T73" fmla="*/ 12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"/>
                <a:gd name="T112" fmla="*/ 0 h 16"/>
                <a:gd name="T113" fmla="*/ 24 w 24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" h="16">
                  <a:moveTo>
                    <a:pt x="8" y="8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close/>
                  <a:moveTo>
                    <a:pt x="12" y="12"/>
                  </a:moveTo>
                  <a:lnTo>
                    <a:pt x="12" y="12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7" name="Freeform 431"/>
            <p:cNvSpPr>
              <a:spLocks/>
            </p:cNvSpPr>
            <p:nvPr/>
          </p:nvSpPr>
          <p:spPr bwMode="auto">
            <a:xfrm>
              <a:off x="4370" y="2528"/>
              <a:ext cx="19" cy="16"/>
            </a:xfrm>
            <a:custGeom>
              <a:avLst/>
              <a:gdLst>
                <a:gd name="T0" fmla="*/ 15 w 19"/>
                <a:gd name="T1" fmla="*/ 4 h 16"/>
                <a:gd name="T2" fmla="*/ 15 w 19"/>
                <a:gd name="T3" fmla="*/ 4 h 16"/>
                <a:gd name="T4" fmla="*/ 15 w 19"/>
                <a:gd name="T5" fmla="*/ 4 h 16"/>
                <a:gd name="T6" fmla="*/ 19 w 19"/>
                <a:gd name="T7" fmla="*/ 4 h 16"/>
                <a:gd name="T8" fmla="*/ 19 w 19"/>
                <a:gd name="T9" fmla="*/ 4 h 16"/>
                <a:gd name="T10" fmla="*/ 19 w 19"/>
                <a:gd name="T11" fmla="*/ 4 h 16"/>
                <a:gd name="T12" fmla="*/ 19 w 19"/>
                <a:gd name="T13" fmla="*/ 8 h 16"/>
                <a:gd name="T14" fmla="*/ 15 w 19"/>
                <a:gd name="T15" fmla="*/ 4 h 16"/>
                <a:gd name="T16" fmla="*/ 11 w 19"/>
                <a:gd name="T17" fmla="*/ 12 h 16"/>
                <a:gd name="T18" fmla="*/ 11 w 19"/>
                <a:gd name="T19" fmla="*/ 12 h 16"/>
                <a:gd name="T20" fmla="*/ 15 w 19"/>
                <a:gd name="T21" fmla="*/ 16 h 16"/>
                <a:gd name="T22" fmla="*/ 15 w 19"/>
                <a:gd name="T23" fmla="*/ 16 h 16"/>
                <a:gd name="T24" fmla="*/ 11 w 19"/>
                <a:gd name="T25" fmla="*/ 16 h 16"/>
                <a:gd name="T26" fmla="*/ 8 w 19"/>
                <a:gd name="T27" fmla="*/ 16 h 16"/>
                <a:gd name="T28" fmla="*/ 8 w 19"/>
                <a:gd name="T29" fmla="*/ 16 h 16"/>
                <a:gd name="T30" fmla="*/ 8 w 19"/>
                <a:gd name="T31" fmla="*/ 12 h 16"/>
                <a:gd name="T32" fmla="*/ 8 w 19"/>
                <a:gd name="T33" fmla="*/ 12 h 16"/>
                <a:gd name="T34" fmla="*/ 11 w 19"/>
                <a:gd name="T35" fmla="*/ 12 h 16"/>
                <a:gd name="T36" fmla="*/ 11 w 19"/>
                <a:gd name="T37" fmla="*/ 12 h 16"/>
                <a:gd name="T38" fmla="*/ 8 w 19"/>
                <a:gd name="T39" fmla="*/ 12 h 16"/>
                <a:gd name="T40" fmla="*/ 8 w 19"/>
                <a:gd name="T41" fmla="*/ 12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8 h 16"/>
                <a:gd name="T48" fmla="*/ 8 w 19"/>
                <a:gd name="T49" fmla="*/ 4 h 16"/>
                <a:gd name="T50" fmla="*/ 4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4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12 h 16"/>
                <a:gd name="T68" fmla="*/ 0 w 19"/>
                <a:gd name="T69" fmla="*/ 12 h 16"/>
                <a:gd name="T70" fmla="*/ 4 w 19"/>
                <a:gd name="T71" fmla="*/ 4 h 16"/>
                <a:gd name="T72" fmla="*/ 4 w 19"/>
                <a:gd name="T73" fmla="*/ 4 h 16"/>
                <a:gd name="T74" fmla="*/ 4 w 19"/>
                <a:gd name="T75" fmla="*/ 4 h 16"/>
                <a:gd name="T76" fmla="*/ 4 w 19"/>
                <a:gd name="T77" fmla="*/ 0 h 16"/>
                <a:gd name="T78" fmla="*/ 4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8 h 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9"/>
                <a:gd name="T133" fmla="*/ 0 h 16"/>
                <a:gd name="T134" fmla="*/ 19 w 19"/>
                <a:gd name="T135" fmla="*/ 16 h 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9" h="16">
                  <a:moveTo>
                    <a:pt x="8" y="8"/>
                  </a:move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8" name="Freeform 432"/>
            <p:cNvSpPr>
              <a:spLocks/>
            </p:cNvSpPr>
            <p:nvPr/>
          </p:nvSpPr>
          <p:spPr bwMode="auto">
            <a:xfrm>
              <a:off x="4385" y="2532"/>
              <a:ext cx="20" cy="16"/>
            </a:xfrm>
            <a:custGeom>
              <a:avLst/>
              <a:gdLst>
                <a:gd name="T0" fmla="*/ 8 w 20"/>
                <a:gd name="T1" fmla="*/ 4 h 16"/>
                <a:gd name="T2" fmla="*/ 8 w 20"/>
                <a:gd name="T3" fmla="*/ 0 h 16"/>
                <a:gd name="T4" fmla="*/ 8 w 20"/>
                <a:gd name="T5" fmla="*/ 0 h 16"/>
                <a:gd name="T6" fmla="*/ 8 w 20"/>
                <a:gd name="T7" fmla="*/ 0 h 16"/>
                <a:gd name="T8" fmla="*/ 8 w 20"/>
                <a:gd name="T9" fmla="*/ 0 h 16"/>
                <a:gd name="T10" fmla="*/ 4 w 20"/>
                <a:gd name="T11" fmla="*/ 0 h 16"/>
                <a:gd name="T12" fmla="*/ 4 w 20"/>
                <a:gd name="T13" fmla="*/ 0 h 16"/>
                <a:gd name="T14" fmla="*/ 4 w 20"/>
                <a:gd name="T15" fmla="*/ 0 h 16"/>
                <a:gd name="T16" fmla="*/ 4 w 20"/>
                <a:gd name="T17" fmla="*/ 4 h 16"/>
                <a:gd name="T18" fmla="*/ 4 w 20"/>
                <a:gd name="T19" fmla="*/ 4 h 16"/>
                <a:gd name="T20" fmla="*/ 4 w 20"/>
                <a:gd name="T21" fmla="*/ 4 h 16"/>
                <a:gd name="T22" fmla="*/ 0 w 20"/>
                <a:gd name="T23" fmla="*/ 12 h 16"/>
                <a:gd name="T24" fmla="*/ 0 w 20"/>
                <a:gd name="T25" fmla="*/ 12 h 16"/>
                <a:gd name="T26" fmla="*/ 0 w 20"/>
                <a:gd name="T27" fmla="*/ 12 h 16"/>
                <a:gd name="T28" fmla="*/ 0 w 20"/>
                <a:gd name="T29" fmla="*/ 12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4 w 20"/>
                <a:gd name="T41" fmla="*/ 12 h 16"/>
                <a:gd name="T42" fmla="*/ 4 w 20"/>
                <a:gd name="T43" fmla="*/ 12 h 16"/>
                <a:gd name="T44" fmla="*/ 4 w 20"/>
                <a:gd name="T45" fmla="*/ 12 h 16"/>
                <a:gd name="T46" fmla="*/ 4 w 20"/>
                <a:gd name="T47" fmla="*/ 12 h 16"/>
                <a:gd name="T48" fmla="*/ 4 w 20"/>
                <a:gd name="T49" fmla="*/ 12 h 16"/>
                <a:gd name="T50" fmla="*/ 4 w 20"/>
                <a:gd name="T51" fmla="*/ 12 h 16"/>
                <a:gd name="T52" fmla="*/ 4 w 20"/>
                <a:gd name="T53" fmla="*/ 12 h 16"/>
                <a:gd name="T54" fmla="*/ 8 w 20"/>
                <a:gd name="T55" fmla="*/ 4 h 16"/>
                <a:gd name="T56" fmla="*/ 8 w 20"/>
                <a:gd name="T57" fmla="*/ 16 h 16"/>
                <a:gd name="T58" fmla="*/ 8 w 20"/>
                <a:gd name="T59" fmla="*/ 16 h 16"/>
                <a:gd name="T60" fmla="*/ 8 w 20"/>
                <a:gd name="T61" fmla="*/ 16 h 16"/>
                <a:gd name="T62" fmla="*/ 8 w 20"/>
                <a:gd name="T63" fmla="*/ 16 h 16"/>
                <a:gd name="T64" fmla="*/ 12 w 20"/>
                <a:gd name="T65" fmla="*/ 16 h 16"/>
                <a:gd name="T66" fmla="*/ 12 w 20"/>
                <a:gd name="T67" fmla="*/ 16 h 16"/>
                <a:gd name="T68" fmla="*/ 12 w 20"/>
                <a:gd name="T69" fmla="*/ 16 h 16"/>
                <a:gd name="T70" fmla="*/ 12 w 20"/>
                <a:gd name="T71" fmla="*/ 16 h 16"/>
                <a:gd name="T72" fmla="*/ 16 w 20"/>
                <a:gd name="T73" fmla="*/ 4 h 16"/>
                <a:gd name="T74" fmla="*/ 16 w 20"/>
                <a:gd name="T75" fmla="*/ 4 h 16"/>
                <a:gd name="T76" fmla="*/ 16 w 20"/>
                <a:gd name="T77" fmla="*/ 4 h 16"/>
                <a:gd name="T78" fmla="*/ 16 w 20"/>
                <a:gd name="T79" fmla="*/ 4 h 16"/>
                <a:gd name="T80" fmla="*/ 20 w 20"/>
                <a:gd name="T81" fmla="*/ 4 h 16"/>
                <a:gd name="T82" fmla="*/ 20 w 20"/>
                <a:gd name="T83" fmla="*/ 4 h 16"/>
                <a:gd name="T84" fmla="*/ 20 w 20"/>
                <a:gd name="T85" fmla="*/ 4 h 16"/>
                <a:gd name="T86" fmla="*/ 16 w 20"/>
                <a:gd name="T87" fmla="*/ 4 h 16"/>
                <a:gd name="T88" fmla="*/ 16 w 20"/>
                <a:gd name="T89" fmla="*/ 4 h 16"/>
                <a:gd name="T90" fmla="*/ 16 w 20"/>
                <a:gd name="T91" fmla="*/ 4 h 16"/>
                <a:gd name="T92" fmla="*/ 12 w 20"/>
                <a:gd name="T93" fmla="*/ 4 h 16"/>
                <a:gd name="T94" fmla="*/ 12 w 20"/>
                <a:gd name="T95" fmla="*/ 4 h 16"/>
                <a:gd name="T96" fmla="*/ 12 w 20"/>
                <a:gd name="T97" fmla="*/ 4 h 16"/>
                <a:gd name="T98" fmla="*/ 12 w 20"/>
                <a:gd name="T99" fmla="*/ 4 h 16"/>
                <a:gd name="T100" fmla="*/ 12 w 20"/>
                <a:gd name="T101" fmla="*/ 4 h 16"/>
                <a:gd name="T102" fmla="*/ 12 w 20"/>
                <a:gd name="T103" fmla="*/ 4 h 16"/>
                <a:gd name="T104" fmla="*/ 12 w 20"/>
                <a:gd name="T105" fmla="*/ 12 h 16"/>
                <a:gd name="T106" fmla="*/ 8 w 20"/>
                <a:gd name="T107" fmla="*/ 4 h 1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0"/>
                <a:gd name="T163" fmla="*/ 0 h 16"/>
                <a:gd name="T164" fmla="*/ 20 w 20"/>
                <a:gd name="T165" fmla="*/ 16 h 1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0" h="16">
                  <a:moveTo>
                    <a:pt x="8" y="4"/>
                  </a:move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1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59" name="Freeform 433"/>
            <p:cNvSpPr>
              <a:spLocks noEditPoints="1"/>
            </p:cNvSpPr>
            <p:nvPr/>
          </p:nvSpPr>
          <p:spPr bwMode="auto">
            <a:xfrm>
              <a:off x="4401" y="2536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4 h 12"/>
                <a:gd name="T6" fmla="*/ 16 w 16"/>
                <a:gd name="T7" fmla="*/ 4 h 12"/>
                <a:gd name="T8" fmla="*/ 16 w 16"/>
                <a:gd name="T9" fmla="*/ 4 h 12"/>
                <a:gd name="T10" fmla="*/ 16 w 16"/>
                <a:gd name="T11" fmla="*/ 8 h 12"/>
                <a:gd name="T12" fmla="*/ 16 w 16"/>
                <a:gd name="T13" fmla="*/ 8 h 12"/>
                <a:gd name="T14" fmla="*/ 16 w 16"/>
                <a:gd name="T15" fmla="*/ 8 h 12"/>
                <a:gd name="T16" fmla="*/ 12 w 16"/>
                <a:gd name="T17" fmla="*/ 12 h 12"/>
                <a:gd name="T18" fmla="*/ 12 w 16"/>
                <a:gd name="T19" fmla="*/ 12 h 12"/>
                <a:gd name="T20" fmla="*/ 12 w 16"/>
                <a:gd name="T21" fmla="*/ 12 h 12"/>
                <a:gd name="T22" fmla="*/ 4 w 16"/>
                <a:gd name="T23" fmla="*/ 12 h 12"/>
                <a:gd name="T24" fmla="*/ 4 w 16"/>
                <a:gd name="T25" fmla="*/ 12 h 12"/>
                <a:gd name="T26" fmla="*/ 4 w 16"/>
                <a:gd name="T27" fmla="*/ 12 h 12"/>
                <a:gd name="T28" fmla="*/ 0 w 16"/>
                <a:gd name="T29" fmla="*/ 12 h 12"/>
                <a:gd name="T30" fmla="*/ 0 w 16"/>
                <a:gd name="T31" fmla="*/ 12 h 12"/>
                <a:gd name="T32" fmla="*/ 0 w 16"/>
                <a:gd name="T33" fmla="*/ 12 h 12"/>
                <a:gd name="T34" fmla="*/ 0 w 16"/>
                <a:gd name="T35" fmla="*/ 4 h 12"/>
                <a:gd name="T36" fmla="*/ 0 w 16"/>
                <a:gd name="T37" fmla="*/ 4 h 12"/>
                <a:gd name="T38" fmla="*/ 0 w 16"/>
                <a:gd name="T39" fmla="*/ 4 h 12"/>
                <a:gd name="T40" fmla="*/ 4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12 w 16"/>
                <a:gd name="T47" fmla="*/ 0 h 12"/>
                <a:gd name="T48" fmla="*/ 12 w 16"/>
                <a:gd name="T49" fmla="*/ 0 h 12"/>
                <a:gd name="T50" fmla="*/ 12 w 16"/>
                <a:gd name="T51" fmla="*/ 4 h 12"/>
                <a:gd name="T52" fmla="*/ 12 w 16"/>
                <a:gd name="T53" fmla="*/ 4 h 12"/>
                <a:gd name="T54" fmla="*/ 8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4 w 16"/>
                <a:gd name="T61" fmla="*/ 8 h 12"/>
                <a:gd name="T62" fmla="*/ 4 w 16"/>
                <a:gd name="T63" fmla="*/ 8 h 12"/>
                <a:gd name="T64" fmla="*/ 4 w 16"/>
                <a:gd name="T65" fmla="*/ 8 h 12"/>
                <a:gd name="T66" fmla="*/ 4 w 16"/>
                <a:gd name="T67" fmla="*/ 8 h 12"/>
                <a:gd name="T68" fmla="*/ 4 w 16"/>
                <a:gd name="T69" fmla="*/ 8 h 12"/>
                <a:gd name="T70" fmla="*/ 4 w 16"/>
                <a:gd name="T71" fmla="*/ 8 h 12"/>
                <a:gd name="T72" fmla="*/ 8 w 16"/>
                <a:gd name="T73" fmla="*/ 12 h 12"/>
                <a:gd name="T74" fmla="*/ 8 w 16"/>
                <a:gd name="T75" fmla="*/ 12 h 12"/>
                <a:gd name="T76" fmla="*/ 8 w 16"/>
                <a:gd name="T77" fmla="*/ 12 h 12"/>
                <a:gd name="T78" fmla="*/ 8 w 16"/>
                <a:gd name="T79" fmla="*/ 12 h 12"/>
                <a:gd name="T80" fmla="*/ 8 w 16"/>
                <a:gd name="T81" fmla="*/ 12 h 12"/>
                <a:gd name="T82" fmla="*/ 8 w 16"/>
                <a:gd name="T83" fmla="*/ 12 h 12"/>
                <a:gd name="T84" fmla="*/ 12 w 16"/>
                <a:gd name="T85" fmla="*/ 8 h 12"/>
                <a:gd name="T86" fmla="*/ 12 w 16"/>
                <a:gd name="T87" fmla="*/ 8 h 12"/>
                <a:gd name="T88" fmla="*/ 12 w 16"/>
                <a:gd name="T89" fmla="*/ 8 h 12"/>
                <a:gd name="T90" fmla="*/ 12 w 16"/>
                <a:gd name="T91" fmla="*/ 4 h 12"/>
                <a:gd name="T92" fmla="*/ 12 w 16"/>
                <a:gd name="T93" fmla="*/ 4 h 12"/>
                <a:gd name="T94" fmla="*/ 12 w 16"/>
                <a:gd name="T95" fmla="*/ 4 h 12"/>
                <a:gd name="T96" fmla="*/ 12 w 16"/>
                <a:gd name="T97" fmla="*/ 4 h 12"/>
                <a:gd name="T98" fmla="*/ 12 w 16"/>
                <a:gd name="T99" fmla="*/ 4 h 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6"/>
                <a:gd name="T151" fmla="*/ 0 h 12"/>
                <a:gd name="T152" fmla="*/ 16 w 16"/>
                <a:gd name="T153" fmla="*/ 12 h 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0" name="Freeform 434"/>
            <p:cNvSpPr>
              <a:spLocks/>
            </p:cNvSpPr>
            <p:nvPr/>
          </p:nvSpPr>
          <p:spPr bwMode="auto">
            <a:xfrm>
              <a:off x="4114" y="2556"/>
              <a:ext cx="19" cy="19"/>
            </a:xfrm>
            <a:custGeom>
              <a:avLst/>
              <a:gdLst>
                <a:gd name="T0" fmla="*/ 4 w 19"/>
                <a:gd name="T1" fmla="*/ 19 h 19"/>
                <a:gd name="T2" fmla="*/ 4 w 19"/>
                <a:gd name="T3" fmla="*/ 19 h 19"/>
                <a:gd name="T4" fmla="*/ 4 w 19"/>
                <a:gd name="T5" fmla="*/ 19 h 19"/>
                <a:gd name="T6" fmla="*/ 0 w 19"/>
                <a:gd name="T7" fmla="*/ 19 h 19"/>
                <a:gd name="T8" fmla="*/ 0 w 19"/>
                <a:gd name="T9" fmla="*/ 15 h 19"/>
                <a:gd name="T10" fmla="*/ 0 w 19"/>
                <a:gd name="T11" fmla="*/ 15 h 19"/>
                <a:gd name="T12" fmla="*/ 0 w 19"/>
                <a:gd name="T13" fmla="*/ 15 h 19"/>
                <a:gd name="T14" fmla="*/ 0 w 19"/>
                <a:gd name="T15" fmla="*/ 15 h 19"/>
                <a:gd name="T16" fmla="*/ 0 w 19"/>
                <a:gd name="T17" fmla="*/ 15 h 19"/>
                <a:gd name="T18" fmla="*/ 0 w 19"/>
                <a:gd name="T19" fmla="*/ 15 h 19"/>
                <a:gd name="T20" fmla="*/ 0 w 19"/>
                <a:gd name="T21" fmla="*/ 15 h 19"/>
                <a:gd name="T22" fmla="*/ 11 w 19"/>
                <a:gd name="T23" fmla="*/ 4 h 19"/>
                <a:gd name="T24" fmla="*/ 7 w 19"/>
                <a:gd name="T25" fmla="*/ 4 h 19"/>
                <a:gd name="T26" fmla="*/ 7 w 19"/>
                <a:gd name="T27" fmla="*/ 4 h 19"/>
                <a:gd name="T28" fmla="*/ 7 w 19"/>
                <a:gd name="T29" fmla="*/ 4 h 19"/>
                <a:gd name="T30" fmla="*/ 4 w 19"/>
                <a:gd name="T31" fmla="*/ 4 h 19"/>
                <a:gd name="T32" fmla="*/ 4 w 19"/>
                <a:gd name="T33" fmla="*/ 4 h 19"/>
                <a:gd name="T34" fmla="*/ 4 w 19"/>
                <a:gd name="T35" fmla="*/ 4 h 19"/>
                <a:gd name="T36" fmla="*/ 4 w 19"/>
                <a:gd name="T37" fmla="*/ 4 h 19"/>
                <a:gd name="T38" fmla="*/ 4 w 19"/>
                <a:gd name="T39" fmla="*/ 4 h 19"/>
                <a:gd name="T40" fmla="*/ 4 w 19"/>
                <a:gd name="T41" fmla="*/ 4 h 19"/>
                <a:gd name="T42" fmla="*/ 4 w 19"/>
                <a:gd name="T43" fmla="*/ 4 h 19"/>
                <a:gd name="T44" fmla="*/ 4 w 19"/>
                <a:gd name="T45" fmla="*/ 4 h 19"/>
                <a:gd name="T46" fmla="*/ 4 w 19"/>
                <a:gd name="T47" fmla="*/ 0 h 19"/>
                <a:gd name="T48" fmla="*/ 4 w 19"/>
                <a:gd name="T49" fmla="*/ 0 h 19"/>
                <a:gd name="T50" fmla="*/ 7 w 19"/>
                <a:gd name="T51" fmla="*/ 0 h 19"/>
                <a:gd name="T52" fmla="*/ 7 w 19"/>
                <a:gd name="T53" fmla="*/ 0 h 19"/>
                <a:gd name="T54" fmla="*/ 19 w 19"/>
                <a:gd name="T55" fmla="*/ 4 h 19"/>
                <a:gd name="T56" fmla="*/ 19 w 19"/>
                <a:gd name="T57" fmla="*/ 4 h 19"/>
                <a:gd name="T58" fmla="*/ 19 w 19"/>
                <a:gd name="T59" fmla="*/ 4 h 19"/>
                <a:gd name="T60" fmla="*/ 19 w 19"/>
                <a:gd name="T61" fmla="*/ 4 h 19"/>
                <a:gd name="T62" fmla="*/ 19 w 19"/>
                <a:gd name="T63" fmla="*/ 4 h 1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"/>
                <a:gd name="T97" fmla="*/ 0 h 19"/>
                <a:gd name="T98" fmla="*/ 19 w 19"/>
                <a:gd name="T99" fmla="*/ 19 h 1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" h="19">
                  <a:moveTo>
                    <a:pt x="19" y="4"/>
                  </a:move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11" y="4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7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1" name="Freeform 435"/>
            <p:cNvSpPr>
              <a:spLocks noEditPoints="1"/>
            </p:cNvSpPr>
            <p:nvPr/>
          </p:nvSpPr>
          <p:spPr bwMode="auto">
            <a:xfrm>
              <a:off x="4078" y="2571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8 w 16"/>
                <a:gd name="T3" fmla="*/ 12 h 12"/>
                <a:gd name="T4" fmla="*/ 8 w 16"/>
                <a:gd name="T5" fmla="*/ 12 h 12"/>
                <a:gd name="T6" fmla="*/ 8 w 16"/>
                <a:gd name="T7" fmla="*/ 12 h 12"/>
                <a:gd name="T8" fmla="*/ 8 w 16"/>
                <a:gd name="T9" fmla="*/ 12 h 12"/>
                <a:gd name="T10" fmla="*/ 8 w 16"/>
                <a:gd name="T11" fmla="*/ 12 h 12"/>
                <a:gd name="T12" fmla="*/ 8 w 16"/>
                <a:gd name="T13" fmla="*/ 12 h 12"/>
                <a:gd name="T14" fmla="*/ 4 w 16"/>
                <a:gd name="T15" fmla="*/ 12 h 12"/>
                <a:gd name="T16" fmla="*/ 0 w 16"/>
                <a:gd name="T17" fmla="*/ 12 h 12"/>
                <a:gd name="T18" fmla="*/ 0 w 16"/>
                <a:gd name="T19" fmla="*/ 12 h 12"/>
                <a:gd name="T20" fmla="*/ 0 w 16"/>
                <a:gd name="T21" fmla="*/ 12 h 12"/>
                <a:gd name="T22" fmla="*/ 0 w 16"/>
                <a:gd name="T23" fmla="*/ 12 h 12"/>
                <a:gd name="T24" fmla="*/ 0 w 16"/>
                <a:gd name="T25" fmla="*/ 12 h 12"/>
                <a:gd name="T26" fmla="*/ 0 w 16"/>
                <a:gd name="T27" fmla="*/ 12 h 12"/>
                <a:gd name="T28" fmla="*/ 4 w 16"/>
                <a:gd name="T29" fmla="*/ 12 h 12"/>
                <a:gd name="T30" fmla="*/ 4 w 16"/>
                <a:gd name="T31" fmla="*/ 12 h 12"/>
                <a:gd name="T32" fmla="*/ 8 w 16"/>
                <a:gd name="T33" fmla="*/ 4 h 12"/>
                <a:gd name="T34" fmla="*/ 8 w 16"/>
                <a:gd name="T35" fmla="*/ 4 h 12"/>
                <a:gd name="T36" fmla="*/ 8 w 16"/>
                <a:gd name="T37" fmla="*/ 4 h 12"/>
                <a:gd name="T38" fmla="*/ 8 w 16"/>
                <a:gd name="T39" fmla="*/ 4 h 12"/>
                <a:gd name="T40" fmla="*/ 8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8 h 12"/>
                <a:gd name="T56" fmla="*/ 16 w 16"/>
                <a:gd name="T57" fmla="*/ 8 h 12"/>
                <a:gd name="T58" fmla="*/ 16 w 16"/>
                <a:gd name="T59" fmla="*/ 8 h 12"/>
                <a:gd name="T60" fmla="*/ 8 w 16"/>
                <a:gd name="T61" fmla="*/ 8 h 12"/>
                <a:gd name="T62" fmla="*/ 8 w 16"/>
                <a:gd name="T63" fmla="*/ 8 h 12"/>
                <a:gd name="T64" fmla="*/ 8 w 16"/>
                <a:gd name="T65" fmla="*/ 8 h 12"/>
                <a:gd name="T66" fmla="*/ 12 w 16"/>
                <a:gd name="T67" fmla="*/ 8 h 12"/>
                <a:gd name="T68" fmla="*/ 12 w 16"/>
                <a:gd name="T69" fmla="*/ 8 h 12"/>
                <a:gd name="T70" fmla="*/ 12 w 16"/>
                <a:gd name="T71" fmla="*/ 8 h 12"/>
                <a:gd name="T72" fmla="*/ 16 w 16"/>
                <a:gd name="T73" fmla="*/ 8 h 12"/>
                <a:gd name="T74" fmla="*/ 16 w 16"/>
                <a:gd name="T75" fmla="*/ 8 h 12"/>
                <a:gd name="T76" fmla="*/ 16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6"/>
                <a:gd name="T124" fmla="*/ 0 h 12"/>
                <a:gd name="T125" fmla="*/ 16 w 16"/>
                <a:gd name="T126" fmla="*/ 12 h 1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6" h="12">
                  <a:moveTo>
                    <a:pt x="8" y="8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8" y="8"/>
                  </a:lnTo>
                  <a:close/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2" name="Freeform 436"/>
            <p:cNvSpPr>
              <a:spLocks noEditPoints="1"/>
            </p:cNvSpPr>
            <p:nvPr/>
          </p:nvSpPr>
          <p:spPr bwMode="auto">
            <a:xfrm>
              <a:off x="4090" y="2575"/>
              <a:ext cx="20" cy="16"/>
            </a:xfrm>
            <a:custGeom>
              <a:avLst/>
              <a:gdLst>
                <a:gd name="T0" fmla="*/ 4 w 20"/>
                <a:gd name="T1" fmla="*/ 12 h 16"/>
                <a:gd name="T2" fmla="*/ 4 w 20"/>
                <a:gd name="T3" fmla="*/ 12 h 16"/>
                <a:gd name="T4" fmla="*/ 8 w 20"/>
                <a:gd name="T5" fmla="*/ 12 h 16"/>
                <a:gd name="T6" fmla="*/ 8 w 20"/>
                <a:gd name="T7" fmla="*/ 16 h 16"/>
                <a:gd name="T8" fmla="*/ 8 w 20"/>
                <a:gd name="T9" fmla="*/ 16 h 16"/>
                <a:gd name="T10" fmla="*/ 8 w 20"/>
                <a:gd name="T11" fmla="*/ 16 h 16"/>
                <a:gd name="T12" fmla="*/ 12 w 20"/>
                <a:gd name="T13" fmla="*/ 16 h 16"/>
                <a:gd name="T14" fmla="*/ 12 w 20"/>
                <a:gd name="T15" fmla="*/ 16 h 16"/>
                <a:gd name="T16" fmla="*/ 12 w 20"/>
                <a:gd name="T17" fmla="*/ 16 h 16"/>
                <a:gd name="T18" fmla="*/ 12 w 20"/>
                <a:gd name="T19" fmla="*/ 16 h 16"/>
                <a:gd name="T20" fmla="*/ 12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12 w 20"/>
                <a:gd name="T27" fmla="*/ 16 h 16"/>
                <a:gd name="T28" fmla="*/ 12 w 20"/>
                <a:gd name="T29" fmla="*/ 16 h 16"/>
                <a:gd name="T30" fmla="*/ 8 w 20"/>
                <a:gd name="T31" fmla="*/ 16 h 16"/>
                <a:gd name="T32" fmla="*/ 8 w 20"/>
                <a:gd name="T33" fmla="*/ 16 h 16"/>
                <a:gd name="T34" fmla="*/ 8 w 20"/>
                <a:gd name="T35" fmla="*/ 16 h 16"/>
                <a:gd name="T36" fmla="*/ 8 w 20"/>
                <a:gd name="T37" fmla="*/ 16 h 16"/>
                <a:gd name="T38" fmla="*/ 8 w 20"/>
                <a:gd name="T39" fmla="*/ 16 h 16"/>
                <a:gd name="T40" fmla="*/ 4 w 20"/>
                <a:gd name="T41" fmla="*/ 16 h 16"/>
                <a:gd name="T42" fmla="*/ 4 w 20"/>
                <a:gd name="T43" fmla="*/ 16 h 16"/>
                <a:gd name="T44" fmla="*/ 4 w 20"/>
                <a:gd name="T45" fmla="*/ 16 h 16"/>
                <a:gd name="T46" fmla="*/ 0 w 20"/>
                <a:gd name="T47" fmla="*/ 16 h 16"/>
                <a:gd name="T48" fmla="*/ 4 w 20"/>
                <a:gd name="T49" fmla="*/ 16 h 16"/>
                <a:gd name="T50" fmla="*/ 4 w 20"/>
                <a:gd name="T51" fmla="*/ 16 h 16"/>
                <a:gd name="T52" fmla="*/ 4 w 20"/>
                <a:gd name="T53" fmla="*/ 12 h 16"/>
                <a:gd name="T54" fmla="*/ 4 w 20"/>
                <a:gd name="T55" fmla="*/ 12 h 16"/>
                <a:gd name="T56" fmla="*/ 4 w 20"/>
                <a:gd name="T57" fmla="*/ 12 h 16"/>
                <a:gd name="T58" fmla="*/ 4 w 20"/>
                <a:gd name="T59" fmla="*/ 12 h 16"/>
                <a:gd name="T60" fmla="*/ 4 w 20"/>
                <a:gd name="T61" fmla="*/ 8 h 16"/>
                <a:gd name="T62" fmla="*/ 4 w 20"/>
                <a:gd name="T63" fmla="*/ 4 h 16"/>
                <a:gd name="T64" fmla="*/ 4 w 20"/>
                <a:gd name="T65" fmla="*/ 4 h 16"/>
                <a:gd name="T66" fmla="*/ 12 w 20"/>
                <a:gd name="T67" fmla="*/ 0 h 16"/>
                <a:gd name="T68" fmla="*/ 16 w 20"/>
                <a:gd name="T69" fmla="*/ 0 h 16"/>
                <a:gd name="T70" fmla="*/ 16 w 20"/>
                <a:gd name="T71" fmla="*/ 0 h 16"/>
                <a:gd name="T72" fmla="*/ 20 w 20"/>
                <a:gd name="T73" fmla="*/ 4 h 16"/>
                <a:gd name="T74" fmla="*/ 20 w 20"/>
                <a:gd name="T75" fmla="*/ 8 h 16"/>
                <a:gd name="T76" fmla="*/ 20 w 20"/>
                <a:gd name="T77" fmla="*/ 8 h 16"/>
                <a:gd name="T78" fmla="*/ 12 w 20"/>
                <a:gd name="T79" fmla="*/ 12 h 16"/>
                <a:gd name="T80" fmla="*/ 8 w 20"/>
                <a:gd name="T81" fmla="*/ 12 h 16"/>
                <a:gd name="T82" fmla="*/ 8 w 20"/>
                <a:gd name="T83" fmla="*/ 12 h 16"/>
                <a:gd name="T84" fmla="*/ 8 w 20"/>
                <a:gd name="T85" fmla="*/ 12 h 16"/>
                <a:gd name="T86" fmla="*/ 8 w 20"/>
                <a:gd name="T87" fmla="*/ 12 h 16"/>
                <a:gd name="T88" fmla="*/ 16 w 20"/>
                <a:gd name="T89" fmla="*/ 4 h 16"/>
                <a:gd name="T90" fmla="*/ 12 w 20"/>
                <a:gd name="T91" fmla="*/ 4 h 16"/>
                <a:gd name="T92" fmla="*/ 12 w 20"/>
                <a:gd name="T93" fmla="*/ 4 h 16"/>
                <a:gd name="T94" fmla="*/ 8 w 20"/>
                <a:gd name="T95" fmla="*/ 8 h 16"/>
                <a:gd name="T96" fmla="*/ 8 w 20"/>
                <a:gd name="T97" fmla="*/ 8 h 16"/>
                <a:gd name="T98" fmla="*/ 8 w 20"/>
                <a:gd name="T99" fmla="*/ 8 h 16"/>
                <a:gd name="T100" fmla="*/ 8 w 20"/>
                <a:gd name="T101" fmla="*/ 12 h 16"/>
                <a:gd name="T102" fmla="*/ 12 w 20"/>
                <a:gd name="T103" fmla="*/ 12 h 16"/>
                <a:gd name="T104" fmla="*/ 12 w 20"/>
                <a:gd name="T105" fmla="*/ 12 h 16"/>
                <a:gd name="T106" fmla="*/ 16 w 20"/>
                <a:gd name="T107" fmla="*/ 8 h 16"/>
                <a:gd name="T108" fmla="*/ 16 w 20"/>
                <a:gd name="T109" fmla="*/ 4 h 16"/>
                <a:gd name="T110" fmla="*/ 16 w 20"/>
                <a:gd name="T111" fmla="*/ 4 h 16"/>
                <a:gd name="T112" fmla="*/ 16 w 20"/>
                <a:gd name="T113" fmla="*/ 4 h 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"/>
                <a:gd name="T172" fmla="*/ 0 h 16"/>
                <a:gd name="T173" fmla="*/ 20 w 20"/>
                <a:gd name="T174" fmla="*/ 16 h 1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" h="16">
                  <a:moveTo>
                    <a:pt x="8" y="12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3" name="Freeform 437"/>
            <p:cNvSpPr>
              <a:spLocks noEditPoints="1"/>
            </p:cNvSpPr>
            <p:nvPr/>
          </p:nvSpPr>
          <p:spPr bwMode="auto">
            <a:xfrm>
              <a:off x="4106" y="2579"/>
              <a:ext cx="19" cy="16"/>
            </a:xfrm>
            <a:custGeom>
              <a:avLst/>
              <a:gdLst>
                <a:gd name="T0" fmla="*/ 12 w 19"/>
                <a:gd name="T1" fmla="*/ 8 h 16"/>
                <a:gd name="T2" fmla="*/ 12 w 19"/>
                <a:gd name="T3" fmla="*/ 8 h 16"/>
                <a:gd name="T4" fmla="*/ 12 w 19"/>
                <a:gd name="T5" fmla="*/ 8 h 16"/>
                <a:gd name="T6" fmla="*/ 12 w 19"/>
                <a:gd name="T7" fmla="*/ 12 h 16"/>
                <a:gd name="T8" fmla="*/ 12 w 19"/>
                <a:gd name="T9" fmla="*/ 12 h 16"/>
                <a:gd name="T10" fmla="*/ 12 w 19"/>
                <a:gd name="T11" fmla="*/ 12 h 16"/>
                <a:gd name="T12" fmla="*/ 12 w 19"/>
                <a:gd name="T13" fmla="*/ 12 h 16"/>
                <a:gd name="T14" fmla="*/ 15 w 19"/>
                <a:gd name="T15" fmla="*/ 12 h 16"/>
                <a:gd name="T16" fmla="*/ 15 w 19"/>
                <a:gd name="T17" fmla="*/ 12 h 16"/>
                <a:gd name="T18" fmla="*/ 15 w 19"/>
                <a:gd name="T19" fmla="*/ 12 h 16"/>
                <a:gd name="T20" fmla="*/ 12 w 19"/>
                <a:gd name="T21" fmla="*/ 16 h 16"/>
                <a:gd name="T22" fmla="*/ 12 w 19"/>
                <a:gd name="T23" fmla="*/ 16 h 16"/>
                <a:gd name="T24" fmla="*/ 12 w 19"/>
                <a:gd name="T25" fmla="*/ 16 h 16"/>
                <a:gd name="T26" fmla="*/ 12 w 19"/>
                <a:gd name="T27" fmla="*/ 16 h 16"/>
                <a:gd name="T28" fmla="*/ 8 w 19"/>
                <a:gd name="T29" fmla="*/ 12 h 16"/>
                <a:gd name="T30" fmla="*/ 8 w 19"/>
                <a:gd name="T31" fmla="*/ 12 h 16"/>
                <a:gd name="T32" fmla="*/ 8 w 19"/>
                <a:gd name="T33" fmla="*/ 8 h 16"/>
                <a:gd name="T34" fmla="*/ 8 w 19"/>
                <a:gd name="T35" fmla="*/ 8 h 16"/>
                <a:gd name="T36" fmla="*/ 8 w 19"/>
                <a:gd name="T37" fmla="*/ 8 h 16"/>
                <a:gd name="T38" fmla="*/ 8 w 19"/>
                <a:gd name="T39" fmla="*/ 8 h 16"/>
                <a:gd name="T40" fmla="*/ 8 w 19"/>
                <a:gd name="T41" fmla="*/ 8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12 h 16"/>
                <a:gd name="T48" fmla="*/ 8 w 19"/>
                <a:gd name="T49" fmla="*/ 12 h 16"/>
                <a:gd name="T50" fmla="*/ 8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0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8 h 16"/>
                <a:gd name="T68" fmla="*/ 0 w 19"/>
                <a:gd name="T69" fmla="*/ 8 h 16"/>
                <a:gd name="T70" fmla="*/ 4 w 19"/>
                <a:gd name="T71" fmla="*/ 8 h 16"/>
                <a:gd name="T72" fmla="*/ 4 w 19"/>
                <a:gd name="T73" fmla="*/ 8 h 16"/>
                <a:gd name="T74" fmla="*/ 8 w 19"/>
                <a:gd name="T75" fmla="*/ 4 h 16"/>
                <a:gd name="T76" fmla="*/ 8 w 19"/>
                <a:gd name="T77" fmla="*/ 4 h 16"/>
                <a:gd name="T78" fmla="*/ 8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0 h 16"/>
                <a:gd name="T88" fmla="*/ 8 w 19"/>
                <a:gd name="T89" fmla="*/ 0 h 16"/>
                <a:gd name="T90" fmla="*/ 15 w 19"/>
                <a:gd name="T91" fmla="*/ 0 h 16"/>
                <a:gd name="T92" fmla="*/ 19 w 19"/>
                <a:gd name="T93" fmla="*/ 4 h 16"/>
                <a:gd name="T94" fmla="*/ 19 w 19"/>
                <a:gd name="T95" fmla="*/ 4 h 16"/>
                <a:gd name="T96" fmla="*/ 15 w 19"/>
                <a:gd name="T97" fmla="*/ 8 h 16"/>
                <a:gd name="T98" fmla="*/ 15 w 19"/>
                <a:gd name="T99" fmla="*/ 8 h 16"/>
                <a:gd name="T100" fmla="*/ 15 w 19"/>
                <a:gd name="T101" fmla="*/ 8 h 16"/>
                <a:gd name="T102" fmla="*/ 12 w 19"/>
                <a:gd name="T103" fmla="*/ 8 h 16"/>
                <a:gd name="T104" fmla="*/ 8 w 19"/>
                <a:gd name="T105" fmla="*/ 4 h 16"/>
                <a:gd name="T106" fmla="*/ 12 w 19"/>
                <a:gd name="T107" fmla="*/ 8 h 16"/>
                <a:gd name="T108" fmla="*/ 12 w 19"/>
                <a:gd name="T109" fmla="*/ 8 h 16"/>
                <a:gd name="T110" fmla="*/ 12 w 19"/>
                <a:gd name="T111" fmla="*/ 8 h 16"/>
                <a:gd name="T112" fmla="*/ 15 w 19"/>
                <a:gd name="T113" fmla="*/ 4 h 16"/>
                <a:gd name="T114" fmla="*/ 15 w 19"/>
                <a:gd name="T115" fmla="*/ 4 h 16"/>
                <a:gd name="T116" fmla="*/ 15 w 19"/>
                <a:gd name="T117" fmla="*/ 4 h 16"/>
                <a:gd name="T118" fmla="*/ 12 w 19"/>
                <a:gd name="T119" fmla="*/ 4 h 16"/>
                <a:gd name="T120" fmla="*/ 12 w 19"/>
                <a:gd name="T121" fmla="*/ 4 h 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"/>
                <a:gd name="T184" fmla="*/ 0 h 16"/>
                <a:gd name="T185" fmla="*/ 19 w 19"/>
                <a:gd name="T186" fmla="*/ 16 h 1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15" y="12"/>
                  </a:lnTo>
                  <a:lnTo>
                    <a:pt x="12" y="16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5" y="8"/>
                  </a:lnTo>
                  <a:lnTo>
                    <a:pt x="12" y="8"/>
                  </a:lnTo>
                  <a:close/>
                  <a:moveTo>
                    <a:pt x="12" y="4"/>
                  </a:moveTo>
                  <a:lnTo>
                    <a:pt x="8" y="4"/>
                  </a:lnTo>
                  <a:lnTo>
                    <a:pt x="12" y="8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4" name="Freeform 438"/>
            <p:cNvSpPr>
              <a:spLocks/>
            </p:cNvSpPr>
            <p:nvPr/>
          </p:nvSpPr>
          <p:spPr bwMode="auto">
            <a:xfrm>
              <a:off x="4121" y="2583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8 w 16"/>
                <a:gd name="T3" fmla="*/ 0 h 12"/>
                <a:gd name="T4" fmla="*/ 4 w 16"/>
                <a:gd name="T5" fmla="*/ 4 h 12"/>
                <a:gd name="T6" fmla="*/ 4 w 16"/>
                <a:gd name="T7" fmla="*/ 4 h 12"/>
                <a:gd name="T8" fmla="*/ 8 w 16"/>
                <a:gd name="T9" fmla="*/ 8 h 12"/>
                <a:gd name="T10" fmla="*/ 8 w 16"/>
                <a:gd name="T11" fmla="*/ 8 h 12"/>
                <a:gd name="T12" fmla="*/ 8 w 16"/>
                <a:gd name="T13" fmla="*/ 12 h 12"/>
                <a:gd name="T14" fmla="*/ 8 w 16"/>
                <a:gd name="T15" fmla="*/ 12 h 12"/>
                <a:gd name="T16" fmla="*/ 4 w 16"/>
                <a:gd name="T17" fmla="*/ 12 h 12"/>
                <a:gd name="T18" fmla="*/ 4 w 16"/>
                <a:gd name="T19" fmla="*/ 12 h 12"/>
                <a:gd name="T20" fmla="*/ 4 w 16"/>
                <a:gd name="T21" fmla="*/ 8 h 12"/>
                <a:gd name="T22" fmla="*/ 4 w 16"/>
                <a:gd name="T23" fmla="*/ 8 h 12"/>
                <a:gd name="T24" fmla="*/ 4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0 w 16"/>
                <a:gd name="T35" fmla="*/ 12 h 12"/>
                <a:gd name="T36" fmla="*/ 0 w 16"/>
                <a:gd name="T37" fmla="*/ 12 h 12"/>
                <a:gd name="T38" fmla="*/ 0 w 16"/>
                <a:gd name="T39" fmla="*/ 12 h 12"/>
                <a:gd name="T40" fmla="*/ 0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8 w 16"/>
                <a:gd name="T47" fmla="*/ 12 h 12"/>
                <a:gd name="T48" fmla="*/ 12 w 16"/>
                <a:gd name="T49" fmla="*/ 12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12 w 16"/>
                <a:gd name="T61" fmla="*/ 4 h 12"/>
                <a:gd name="T62" fmla="*/ 12 w 16"/>
                <a:gd name="T63" fmla="*/ 4 h 12"/>
                <a:gd name="T64" fmla="*/ 12 w 16"/>
                <a:gd name="T65" fmla="*/ 4 h 12"/>
                <a:gd name="T66" fmla="*/ 12 w 16"/>
                <a:gd name="T67" fmla="*/ 4 h 12"/>
                <a:gd name="T68" fmla="*/ 12 w 16"/>
                <a:gd name="T69" fmla="*/ 8 h 12"/>
                <a:gd name="T70" fmla="*/ 16 w 16"/>
                <a:gd name="T71" fmla="*/ 8 h 12"/>
                <a:gd name="T72" fmla="*/ 16 w 16"/>
                <a:gd name="T73" fmla="*/ 4 h 12"/>
                <a:gd name="T74" fmla="*/ 16 w 16"/>
                <a:gd name="T75" fmla="*/ 4 h 12"/>
                <a:gd name="T76" fmla="*/ 16 w 16"/>
                <a:gd name="T77" fmla="*/ 4 h 12"/>
                <a:gd name="T78" fmla="*/ 16 w 16"/>
                <a:gd name="T79" fmla="*/ 0 h 12"/>
                <a:gd name="T80" fmla="*/ 16 w 16"/>
                <a:gd name="T81" fmla="*/ 0 h 12"/>
                <a:gd name="T82" fmla="*/ 16 w 16"/>
                <a:gd name="T83" fmla="*/ 4 h 12"/>
                <a:gd name="T84" fmla="*/ 16 w 16"/>
                <a:gd name="T85" fmla="*/ 0 h 1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6"/>
                <a:gd name="T130" fmla="*/ 0 h 12"/>
                <a:gd name="T131" fmla="*/ 16 w 16"/>
                <a:gd name="T132" fmla="*/ 12 h 1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5" name="Freeform 439"/>
            <p:cNvSpPr>
              <a:spLocks noEditPoints="1"/>
            </p:cNvSpPr>
            <p:nvPr/>
          </p:nvSpPr>
          <p:spPr bwMode="auto">
            <a:xfrm>
              <a:off x="4224" y="2579"/>
              <a:ext cx="20" cy="20"/>
            </a:xfrm>
            <a:custGeom>
              <a:avLst/>
              <a:gdLst>
                <a:gd name="T0" fmla="*/ 12 w 20"/>
                <a:gd name="T1" fmla="*/ 12 h 20"/>
                <a:gd name="T2" fmla="*/ 16 w 20"/>
                <a:gd name="T3" fmla="*/ 16 h 20"/>
                <a:gd name="T4" fmla="*/ 16 w 20"/>
                <a:gd name="T5" fmla="*/ 16 h 20"/>
                <a:gd name="T6" fmla="*/ 16 w 20"/>
                <a:gd name="T7" fmla="*/ 16 h 20"/>
                <a:gd name="T8" fmla="*/ 12 w 20"/>
                <a:gd name="T9" fmla="*/ 20 h 20"/>
                <a:gd name="T10" fmla="*/ 4 w 20"/>
                <a:gd name="T11" fmla="*/ 20 h 20"/>
                <a:gd name="T12" fmla="*/ 4 w 20"/>
                <a:gd name="T13" fmla="*/ 20 h 20"/>
                <a:gd name="T14" fmla="*/ 0 w 20"/>
                <a:gd name="T15" fmla="*/ 16 h 20"/>
                <a:gd name="T16" fmla="*/ 0 w 20"/>
                <a:gd name="T17" fmla="*/ 12 h 20"/>
                <a:gd name="T18" fmla="*/ 0 w 20"/>
                <a:gd name="T19" fmla="*/ 12 h 20"/>
                <a:gd name="T20" fmla="*/ 4 w 20"/>
                <a:gd name="T21" fmla="*/ 12 h 20"/>
                <a:gd name="T22" fmla="*/ 8 w 20"/>
                <a:gd name="T23" fmla="*/ 8 h 20"/>
                <a:gd name="T24" fmla="*/ 8 w 20"/>
                <a:gd name="T25" fmla="*/ 8 h 20"/>
                <a:gd name="T26" fmla="*/ 4 w 20"/>
                <a:gd name="T27" fmla="*/ 8 h 20"/>
                <a:gd name="T28" fmla="*/ 4 w 20"/>
                <a:gd name="T29" fmla="*/ 4 h 20"/>
                <a:gd name="T30" fmla="*/ 4 w 20"/>
                <a:gd name="T31" fmla="*/ 4 h 20"/>
                <a:gd name="T32" fmla="*/ 8 w 20"/>
                <a:gd name="T33" fmla="*/ 0 h 20"/>
                <a:gd name="T34" fmla="*/ 16 w 20"/>
                <a:gd name="T35" fmla="*/ 4 h 20"/>
                <a:gd name="T36" fmla="*/ 16 w 20"/>
                <a:gd name="T37" fmla="*/ 4 h 20"/>
                <a:gd name="T38" fmla="*/ 20 w 20"/>
                <a:gd name="T39" fmla="*/ 4 h 20"/>
                <a:gd name="T40" fmla="*/ 20 w 20"/>
                <a:gd name="T41" fmla="*/ 8 h 20"/>
                <a:gd name="T42" fmla="*/ 20 w 20"/>
                <a:gd name="T43" fmla="*/ 8 h 20"/>
                <a:gd name="T44" fmla="*/ 16 w 20"/>
                <a:gd name="T45" fmla="*/ 12 h 20"/>
                <a:gd name="T46" fmla="*/ 12 w 20"/>
                <a:gd name="T47" fmla="*/ 12 h 20"/>
                <a:gd name="T48" fmla="*/ 8 w 20"/>
                <a:gd name="T49" fmla="*/ 12 h 20"/>
                <a:gd name="T50" fmla="*/ 8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6 h 20"/>
                <a:gd name="T58" fmla="*/ 4 w 20"/>
                <a:gd name="T59" fmla="*/ 16 h 20"/>
                <a:gd name="T60" fmla="*/ 8 w 20"/>
                <a:gd name="T61" fmla="*/ 16 h 20"/>
                <a:gd name="T62" fmla="*/ 8 w 20"/>
                <a:gd name="T63" fmla="*/ 16 h 20"/>
                <a:gd name="T64" fmla="*/ 8 w 20"/>
                <a:gd name="T65" fmla="*/ 16 h 20"/>
                <a:gd name="T66" fmla="*/ 12 w 20"/>
                <a:gd name="T67" fmla="*/ 16 h 20"/>
                <a:gd name="T68" fmla="*/ 12 w 20"/>
                <a:gd name="T69" fmla="*/ 12 h 20"/>
                <a:gd name="T70" fmla="*/ 12 w 20"/>
                <a:gd name="T71" fmla="*/ 12 h 20"/>
                <a:gd name="T72" fmla="*/ 8 w 20"/>
                <a:gd name="T73" fmla="*/ 12 h 20"/>
                <a:gd name="T74" fmla="*/ 16 w 20"/>
                <a:gd name="T75" fmla="*/ 4 h 20"/>
                <a:gd name="T76" fmla="*/ 12 w 20"/>
                <a:gd name="T77" fmla="*/ 4 h 20"/>
                <a:gd name="T78" fmla="*/ 8 w 20"/>
                <a:gd name="T79" fmla="*/ 8 h 20"/>
                <a:gd name="T80" fmla="*/ 8 w 20"/>
                <a:gd name="T81" fmla="*/ 8 h 20"/>
                <a:gd name="T82" fmla="*/ 8 w 20"/>
                <a:gd name="T83" fmla="*/ 8 h 20"/>
                <a:gd name="T84" fmla="*/ 12 w 20"/>
                <a:gd name="T85" fmla="*/ 8 h 20"/>
                <a:gd name="T86" fmla="*/ 12 w 20"/>
                <a:gd name="T87" fmla="*/ 8 h 20"/>
                <a:gd name="T88" fmla="*/ 12 w 20"/>
                <a:gd name="T89" fmla="*/ 8 h 20"/>
                <a:gd name="T90" fmla="*/ 16 w 20"/>
                <a:gd name="T91" fmla="*/ 8 h 20"/>
                <a:gd name="T92" fmla="*/ 16 w 20"/>
                <a:gd name="T93" fmla="*/ 8 h 20"/>
                <a:gd name="T94" fmla="*/ 16 w 20"/>
                <a:gd name="T95" fmla="*/ 4 h 20"/>
                <a:gd name="T96" fmla="*/ 16 w 20"/>
                <a:gd name="T97" fmla="*/ 4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20"/>
                <a:gd name="T149" fmla="*/ 20 w 20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20">
                  <a:moveTo>
                    <a:pt x="12" y="12"/>
                  </a:moveTo>
                  <a:lnTo>
                    <a:pt x="12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12"/>
                  </a:lnTo>
                  <a:lnTo>
                    <a:pt x="12" y="12"/>
                  </a:lnTo>
                  <a:close/>
                  <a:moveTo>
                    <a:pt x="8" y="12"/>
                  </a:moveTo>
                  <a:lnTo>
                    <a:pt x="8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6" name="Freeform 440"/>
            <p:cNvSpPr>
              <a:spLocks/>
            </p:cNvSpPr>
            <p:nvPr/>
          </p:nvSpPr>
          <p:spPr bwMode="auto">
            <a:xfrm>
              <a:off x="4200" y="2599"/>
              <a:ext cx="16" cy="16"/>
            </a:xfrm>
            <a:custGeom>
              <a:avLst/>
              <a:gdLst>
                <a:gd name="T0" fmla="*/ 12 w 16"/>
                <a:gd name="T1" fmla="*/ 8 h 16"/>
                <a:gd name="T2" fmla="*/ 12 w 16"/>
                <a:gd name="T3" fmla="*/ 8 h 16"/>
                <a:gd name="T4" fmla="*/ 12 w 16"/>
                <a:gd name="T5" fmla="*/ 8 h 16"/>
                <a:gd name="T6" fmla="*/ 12 w 16"/>
                <a:gd name="T7" fmla="*/ 8 h 16"/>
                <a:gd name="T8" fmla="*/ 12 w 16"/>
                <a:gd name="T9" fmla="*/ 8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4 h 16"/>
                <a:gd name="T16" fmla="*/ 16 w 16"/>
                <a:gd name="T17" fmla="*/ 4 h 16"/>
                <a:gd name="T18" fmla="*/ 16 w 16"/>
                <a:gd name="T19" fmla="*/ 4 h 16"/>
                <a:gd name="T20" fmla="*/ 16 w 16"/>
                <a:gd name="T21" fmla="*/ 4 h 16"/>
                <a:gd name="T22" fmla="*/ 4 w 16"/>
                <a:gd name="T23" fmla="*/ 0 h 16"/>
                <a:gd name="T24" fmla="*/ 4 w 16"/>
                <a:gd name="T25" fmla="*/ 0 h 16"/>
                <a:gd name="T26" fmla="*/ 4 w 16"/>
                <a:gd name="T27" fmla="*/ 0 h 16"/>
                <a:gd name="T28" fmla="*/ 4 w 16"/>
                <a:gd name="T29" fmla="*/ 0 h 16"/>
                <a:gd name="T30" fmla="*/ 0 w 16"/>
                <a:gd name="T31" fmla="*/ 4 h 16"/>
                <a:gd name="T32" fmla="*/ 0 w 16"/>
                <a:gd name="T33" fmla="*/ 4 h 16"/>
                <a:gd name="T34" fmla="*/ 0 w 16"/>
                <a:gd name="T35" fmla="*/ 4 h 16"/>
                <a:gd name="T36" fmla="*/ 0 w 16"/>
                <a:gd name="T37" fmla="*/ 4 h 16"/>
                <a:gd name="T38" fmla="*/ 0 w 16"/>
                <a:gd name="T39" fmla="*/ 4 h 16"/>
                <a:gd name="T40" fmla="*/ 0 w 16"/>
                <a:gd name="T41" fmla="*/ 4 h 16"/>
                <a:gd name="T42" fmla="*/ 4 w 16"/>
                <a:gd name="T43" fmla="*/ 4 h 16"/>
                <a:gd name="T44" fmla="*/ 4 w 16"/>
                <a:gd name="T45" fmla="*/ 4 h 16"/>
                <a:gd name="T46" fmla="*/ 4 w 16"/>
                <a:gd name="T47" fmla="*/ 4 h 16"/>
                <a:gd name="T48" fmla="*/ 4 w 16"/>
                <a:gd name="T49" fmla="*/ 4 h 16"/>
                <a:gd name="T50" fmla="*/ 8 w 16"/>
                <a:gd name="T51" fmla="*/ 4 h 16"/>
                <a:gd name="T52" fmla="*/ 4 w 16"/>
                <a:gd name="T53" fmla="*/ 12 h 16"/>
                <a:gd name="T54" fmla="*/ 0 w 16"/>
                <a:gd name="T55" fmla="*/ 8 h 16"/>
                <a:gd name="T56" fmla="*/ 0 w 16"/>
                <a:gd name="T57" fmla="*/ 8 h 16"/>
                <a:gd name="T58" fmla="*/ 0 w 16"/>
                <a:gd name="T59" fmla="*/ 8 h 16"/>
                <a:gd name="T60" fmla="*/ 0 w 16"/>
                <a:gd name="T61" fmla="*/ 12 h 16"/>
                <a:gd name="T62" fmla="*/ 0 w 16"/>
                <a:gd name="T63" fmla="*/ 12 h 16"/>
                <a:gd name="T64" fmla="*/ 0 w 16"/>
                <a:gd name="T65" fmla="*/ 12 h 16"/>
                <a:gd name="T66" fmla="*/ 0 w 16"/>
                <a:gd name="T67" fmla="*/ 12 h 16"/>
                <a:gd name="T68" fmla="*/ 8 w 16"/>
                <a:gd name="T69" fmla="*/ 16 h 16"/>
                <a:gd name="T70" fmla="*/ 8 w 16"/>
                <a:gd name="T71" fmla="*/ 16 h 16"/>
                <a:gd name="T72" fmla="*/ 8 w 16"/>
                <a:gd name="T73" fmla="*/ 16 h 16"/>
                <a:gd name="T74" fmla="*/ 8 w 16"/>
                <a:gd name="T75" fmla="*/ 12 h 16"/>
                <a:gd name="T76" fmla="*/ 8 w 16"/>
                <a:gd name="T77" fmla="*/ 12 h 16"/>
                <a:gd name="T78" fmla="*/ 8 w 16"/>
                <a:gd name="T79" fmla="*/ 12 h 16"/>
                <a:gd name="T80" fmla="*/ 8 w 16"/>
                <a:gd name="T81" fmla="*/ 12 h 16"/>
                <a:gd name="T82" fmla="*/ 8 w 16"/>
                <a:gd name="T83" fmla="*/ 12 h 16"/>
                <a:gd name="T84" fmla="*/ 12 w 16"/>
                <a:gd name="T85" fmla="*/ 4 h 16"/>
                <a:gd name="T86" fmla="*/ 12 w 16"/>
                <a:gd name="T87" fmla="*/ 4 h 16"/>
                <a:gd name="T88" fmla="*/ 12 w 16"/>
                <a:gd name="T89" fmla="*/ 8 h 1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6"/>
                <a:gd name="T137" fmla="*/ 16 w 16"/>
                <a:gd name="T138" fmla="*/ 16 h 1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6">
                  <a:moveTo>
                    <a:pt x="12" y="8"/>
                  </a:move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4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0" y="12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2" y="4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7" name="Freeform 441"/>
            <p:cNvSpPr>
              <a:spLocks/>
            </p:cNvSpPr>
            <p:nvPr/>
          </p:nvSpPr>
          <p:spPr bwMode="auto">
            <a:xfrm>
              <a:off x="4216" y="2603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8 w 16"/>
                <a:gd name="T3" fmla="*/ 4 h 12"/>
                <a:gd name="T4" fmla="*/ 8 w 16"/>
                <a:gd name="T5" fmla="*/ 0 h 12"/>
                <a:gd name="T6" fmla="*/ 8 w 16"/>
                <a:gd name="T7" fmla="*/ 0 h 12"/>
                <a:gd name="T8" fmla="*/ 8 w 16"/>
                <a:gd name="T9" fmla="*/ 0 h 12"/>
                <a:gd name="T10" fmla="*/ 8 w 16"/>
                <a:gd name="T11" fmla="*/ 0 h 12"/>
                <a:gd name="T12" fmla="*/ 4 w 16"/>
                <a:gd name="T13" fmla="*/ 0 h 12"/>
                <a:gd name="T14" fmla="*/ 4 w 16"/>
                <a:gd name="T15" fmla="*/ 0 h 12"/>
                <a:gd name="T16" fmla="*/ 4 w 16"/>
                <a:gd name="T17" fmla="*/ 0 h 12"/>
                <a:gd name="T18" fmla="*/ 0 w 16"/>
                <a:gd name="T19" fmla="*/ 0 h 12"/>
                <a:gd name="T20" fmla="*/ 0 w 16"/>
                <a:gd name="T21" fmla="*/ 0 h 12"/>
                <a:gd name="T22" fmla="*/ 0 w 16"/>
                <a:gd name="T23" fmla="*/ 0 h 12"/>
                <a:gd name="T24" fmla="*/ 4 w 16"/>
                <a:gd name="T25" fmla="*/ 0 h 12"/>
                <a:gd name="T26" fmla="*/ 4 w 16"/>
                <a:gd name="T27" fmla="*/ 0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8 w 16"/>
                <a:gd name="T39" fmla="*/ 12 h 12"/>
                <a:gd name="T40" fmla="*/ 12 w 16"/>
                <a:gd name="T41" fmla="*/ 8 h 12"/>
                <a:gd name="T42" fmla="*/ 16 w 16"/>
                <a:gd name="T43" fmla="*/ 4 h 12"/>
                <a:gd name="T44" fmla="*/ 16 w 16"/>
                <a:gd name="T45" fmla="*/ 4 h 12"/>
                <a:gd name="T46" fmla="*/ 16 w 16"/>
                <a:gd name="T47" fmla="*/ 4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4 h 12"/>
                <a:gd name="T56" fmla="*/ 16 w 16"/>
                <a:gd name="T57" fmla="*/ 4 h 12"/>
                <a:gd name="T58" fmla="*/ 12 w 16"/>
                <a:gd name="T59" fmla="*/ 0 h 12"/>
                <a:gd name="T60" fmla="*/ 12 w 16"/>
                <a:gd name="T61" fmla="*/ 0 h 12"/>
                <a:gd name="T62" fmla="*/ 12 w 16"/>
                <a:gd name="T63" fmla="*/ 0 h 12"/>
                <a:gd name="T64" fmla="*/ 12 w 16"/>
                <a:gd name="T65" fmla="*/ 4 h 12"/>
                <a:gd name="T66" fmla="*/ 12 w 16"/>
                <a:gd name="T67" fmla="*/ 4 h 12"/>
                <a:gd name="T68" fmla="*/ 8 w 16"/>
                <a:gd name="T69" fmla="*/ 4 h 12"/>
                <a:gd name="T70" fmla="*/ 12 w 16"/>
                <a:gd name="T71" fmla="*/ 4 h 12"/>
                <a:gd name="T72" fmla="*/ 12 w 16"/>
                <a:gd name="T73" fmla="*/ 4 h 12"/>
                <a:gd name="T74" fmla="*/ 8 w 16"/>
                <a:gd name="T75" fmla="*/ 8 h 12"/>
                <a:gd name="T76" fmla="*/ 8 w 16"/>
                <a:gd name="T77" fmla="*/ 8 h 12"/>
                <a:gd name="T78" fmla="*/ 4 w 16"/>
                <a:gd name="T79" fmla="*/ 12 h 12"/>
                <a:gd name="T80" fmla="*/ 4 w 16"/>
                <a:gd name="T81" fmla="*/ 12 h 12"/>
                <a:gd name="T82" fmla="*/ 4 w 16"/>
                <a:gd name="T83" fmla="*/ 12 h 12"/>
                <a:gd name="T84" fmla="*/ 0 w 16"/>
                <a:gd name="T85" fmla="*/ 12 h 12"/>
                <a:gd name="T86" fmla="*/ 4 w 16"/>
                <a:gd name="T87" fmla="*/ 8 h 12"/>
                <a:gd name="T88" fmla="*/ 4 w 16"/>
                <a:gd name="T89" fmla="*/ 4 h 12"/>
                <a:gd name="T90" fmla="*/ 4 w 16"/>
                <a:gd name="T91" fmla="*/ 4 h 1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12"/>
                <a:gd name="T140" fmla="*/ 16 w 16"/>
                <a:gd name="T141" fmla="*/ 12 h 1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12">
                  <a:moveTo>
                    <a:pt x="4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8" name="Freeform 442"/>
            <p:cNvSpPr>
              <a:spLocks/>
            </p:cNvSpPr>
            <p:nvPr/>
          </p:nvSpPr>
          <p:spPr bwMode="auto">
            <a:xfrm>
              <a:off x="4232" y="2607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12 w 16"/>
                <a:gd name="T3" fmla="*/ 4 h 12"/>
                <a:gd name="T4" fmla="*/ 12 w 16"/>
                <a:gd name="T5" fmla="*/ 4 h 12"/>
                <a:gd name="T6" fmla="*/ 12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12 w 16"/>
                <a:gd name="T15" fmla="*/ 0 h 12"/>
                <a:gd name="T16" fmla="*/ 12 w 16"/>
                <a:gd name="T17" fmla="*/ 0 h 12"/>
                <a:gd name="T18" fmla="*/ 16 w 16"/>
                <a:gd name="T19" fmla="*/ 4 h 12"/>
                <a:gd name="T20" fmla="*/ 16 w 16"/>
                <a:gd name="T21" fmla="*/ 4 h 12"/>
                <a:gd name="T22" fmla="*/ 16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2 w 16"/>
                <a:gd name="T31" fmla="*/ 4 h 12"/>
                <a:gd name="T32" fmla="*/ 12 w 16"/>
                <a:gd name="T33" fmla="*/ 4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12 h 12"/>
                <a:gd name="T42" fmla="*/ 0 w 16"/>
                <a:gd name="T43" fmla="*/ 12 h 12"/>
                <a:gd name="T44" fmla="*/ 0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0 h 12"/>
                <a:gd name="T52" fmla="*/ 0 w 16"/>
                <a:gd name="T53" fmla="*/ 0 h 12"/>
                <a:gd name="T54" fmla="*/ 0 w 16"/>
                <a:gd name="T55" fmla="*/ 0 h 12"/>
                <a:gd name="T56" fmla="*/ 0 w 16"/>
                <a:gd name="T57" fmla="*/ 0 h 12"/>
                <a:gd name="T58" fmla="*/ 0 w 16"/>
                <a:gd name="T59" fmla="*/ 0 h 12"/>
                <a:gd name="T60" fmla="*/ 0 w 16"/>
                <a:gd name="T61" fmla="*/ 0 h 12"/>
                <a:gd name="T62" fmla="*/ 0 w 16"/>
                <a:gd name="T63" fmla="*/ 0 h 12"/>
                <a:gd name="T64" fmla="*/ 4 w 16"/>
                <a:gd name="T65" fmla="*/ 0 h 12"/>
                <a:gd name="T66" fmla="*/ 8 w 16"/>
                <a:gd name="T67" fmla="*/ 0 h 12"/>
                <a:gd name="T68" fmla="*/ 8 w 16"/>
                <a:gd name="T69" fmla="*/ 0 h 12"/>
                <a:gd name="T70" fmla="*/ 8 w 16"/>
                <a:gd name="T71" fmla="*/ 0 h 12"/>
                <a:gd name="T72" fmla="*/ 8 w 16"/>
                <a:gd name="T73" fmla="*/ 0 h 12"/>
                <a:gd name="T74" fmla="*/ 8 w 16"/>
                <a:gd name="T75" fmla="*/ 4 h 12"/>
                <a:gd name="T76" fmla="*/ 8 w 16"/>
                <a:gd name="T77" fmla="*/ 4 h 12"/>
                <a:gd name="T78" fmla="*/ 4 w 16"/>
                <a:gd name="T79" fmla="*/ 4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4" y="4"/>
                  </a:moveTo>
                  <a:lnTo>
                    <a:pt x="4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69" name="Freeform 443"/>
            <p:cNvSpPr>
              <a:spLocks noEditPoints="1"/>
            </p:cNvSpPr>
            <p:nvPr/>
          </p:nvSpPr>
          <p:spPr bwMode="auto">
            <a:xfrm>
              <a:off x="4330" y="2607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8 w 20"/>
                <a:gd name="T5" fmla="*/ 12 h 16"/>
                <a:gd name="T6" fmla="*/ 8 w 20"/>
                <a:gd name="T7" fmla="*/ 12 h 16"/>
                <a:gd name="T8" fmla="*/ 4 w 20"/>
                <a:gd name="T9" fmla="*/ 8 h 16"/>
                <a:gd name="T10" fmla="*/ 4 w 20"/>
                <a:gd name="T11" fmla="*/ 4 h 16"/>
                <a:gd name="T12" fmla="*/ 4 w 20"/>
                <a:gd name="T13" fmla="*/ 4 h 16"/>
                <a:gd name="T14" fmla="*/ 8 w 20"/>
                <a:gd name="T15" fmla="*/ 0 h 16"/>
                <a:gd name="T16" fmla="*/ 16 w 20"/>
                <a:gd name="T17" fmla="*/ 0 h 16"/>
                <a:gd name="T18" fmla="*/ 16 w 20"/>
                <a:gd name="T19" fmla="*/ 0 h 16"/>
                <a:gd name="T20" fmla="*/ 20 w 20"/>
                <a:gd name="T21" fmla="*/ 4 h 16"/>
                <a:gd name="T22" fmla="*/ 20 w 20"/>
                <a:gd name="T23" fmla="*/ 8 h 16"/>
                <a:gd name="T24" fmla="*/ 20 w 20"/>
                <a:gd name="T25" fmla="*/ 8 h 16"/>
                <a:gd name="T26" fmla="*/ 12 w 20"/>
                <a:gd name="T27" fmla="*/ 16 h 16"/>
                <a:gd name="T28" fmla="*/ 4 w 20"/>
                <a:gd name="T29" fmla="*/ 16 h 16"/>
                <a:gd name="T30" fmla="*/ 4 w 20"/>
                <a:gd name="T31" fmla="*/ 16 h 16"/>
                <a:gd name="T32" fmla="*/ 0 w 20"/>
                <a:gd name="T33" fmla="*/ 16 h 16"/>
                <a:gd name="T34" fmla="*/ 0 w 20"/>
                <a:gd name="T35" fmla="*/ 16 h 16"/>
                <a:gd name="T36" fmla="*/ 0 w 20"/>
                <a:gd name="T37" fmla="*/ 16 h 16"/>
                <a:gd name="T38" fmla="*/ 4 w 20"/>
                <a:gd name="T39" fmla="*/ 12 h 16"/>
                <a:gd name="T40" fmla="*/ 4 w 20"/>
                <a:gd name="T41" fmla="*/ 16 h 16"/>
                <a:gd name="T42" fmla="*/ 4 w 20"/>
                <a:gd name="T43" fmla="*/ 16 h 16"/>
                <a:gd name="T44" fmla="*/ 8 w 20"/>
                <a:gd name="T45" fmla="*/ 12 h 16"/>
                <a:gd name="T46" fmla="*/ 12 w 20"/>
                <a:gd name="T47" fmla="*/ 12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0 h 16"/>
                <a:gd name="T56" fmla="*/ 12 w 20"/>
                <a:gd name="T57" fmla="*/ 0 h 16"/>
                <a:gd name="T58" fmla="*/ 12 w 20"/>
                <a:gd name="T59" fmla="*/ 0 h 16"/>
                <a:gd name="T60" fmla="*/ 8 w 20"/>
                <a:gd name="T61" fmla="*/ 4 h 16"/>
                <a:gd name="T62" fmla="*/ 8 w 20"/>
                <a:gd name="T63" fmla="*/ 8 h 16"/>
                <a:gd name="T64" fmla="*/ 8 w 20"/>
                <a:gd name="T65" fmla="*/ 8 h 16"/>
                <a:gd name="T66" fmla="*/ 12 w 20"/>
                <a:gd name="T67" fmla="*/ 8 h 16"/>
                <a:gd name="T68" fmla="*/ 16 w 20"/>
                <a:gd name="T69" fmla="*/ 8 h 16"/>
                <a:gd name="T70" fmla="*/ 16 w 20"/>
                <a:gd name="T71" fmla="*/ 8 h 16"/>
                <a:gd name="T72" fmla="*/ 16 w 20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0"/>
                <a:gd name="T112" fmla="*/ 0 h 16"/>
                <a:gd name="T113" fmla="*/ 20 w 20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0" h="16">
                  <a:moveTo>
                    <a:pt x="12" y="12"/>
                  </a:move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2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0" name="Freeform 444"/>
            <p:cNvSpPr>
              <a:spLocks/>
            </p:cNvSpPr>
            <p:nvPr/>
          </p:nvSpPr>
          <p:spPr bwMode="auto">
            <a:xfrm>
              <a:off x="4299" y="2623"/>
              <a:ext cx="19" cy="15"/>
            </a:xfrm>
            <a:custGeom>
              <a:avLst/>
              <a:gdLst>
                <a:gd name="T0" fmla="*/ 4 w 19"/>
                <a:gd name="T1" fmla="*/ 8 h 15"/>
                <a:gd name="T2" fmla="*/ 8 w 19"/>
                <a:gd name="T3" fmla="*/ 4 h 15"/>
                <a:gd name="T4" fmla="*/ 8 w 19"/>
                <a:gd name="T5" fmla="*/ 4 h 15"/>
                <a:gd name="T6" fmla="*/ 8 w 19"/>
                <a:gd name="T7" fmla="*/ 4 h 15"/>
                <a:gd name="T8" fmla="*/ 8 w 19"/>
                <a:gd name="T9" fmla="*/ 4 h 15"/>
                <a:gd name="T10" fmla="*/ 8 w 19"/>
                <a:gd name="T11" fmla="*/ 4 h 15"/>
                <a:gd name="T12" fmla="*/ 12 w 19"/>
                <a:gd name="T13" fmla="*/ 4 h 15"/>
                <a:gd name="T14" fmla="*/ 12 w 19"/>
                <a:gd name="T15" fmla="*/ 4 h 15"/>
                <a:gd name="T16" fmla="*/ 12 w 19"/>
                <a:gd name="T17" fmla="*/ 11 h 15"/>
                <a:gd name="T18" fmla="*/ 12 w 19"/>
                <a:gd name="T19" fmla="*/ 4 h 15"/>
                <a:gd name="T20" fmla="*/ 12 w 19"/>
                <a:gd name="T21" fmla="*/ 4 h 15"/>
                <a:gd name="T22" fmla="*/ 12 w 19"/>
                <a:gd name="T23" fmla="*/ 4 h 15"/>
                <a:gd name="T24" fmla="*/ 12 w 19"/>
                <a:gd name="T25" fmla="*/ 4 h 15"/>
                <a:gd name="T26" fmla="*/ 12 w 19"/>
                <a:gd name="T27" fmla="*/ 4 h 15"/>
                <a:gd name="T28" fmla="*/ 12 w 19"/>
                <a:gd name="T29" fmla="*/ 4 h 15"/>
                <a:gd name="T30" fmla="*/ 12 w 19"/>
                <a:gd name="T31" fmla="*/ 0 h 15"/>
                <a:gd name="T32" fmla="*/ 16 w 19"/>
                <a:gd name="T33" fmla="*/ 0 h 15"/>
                <a:gd name="T34" fmla="*/ 19 w 19"/>
                <a:gd name="T35" fmla="*/ 4 h 15"/>
                <a:gd name="T36" fmla="*/ 19 w 19"/>
                <a:gd name="T37" fmla="*/ 4 h 15"/>
                <a:gd name="T38" fmla="*/ 19 w 19"/>
                <a:gd name="T39" fmla="*/ 4 h 15"/>
                <a:gd name="T40" fmla="*/ 19 w 19"/>
                <a:gd name="T41" fmla="*/ 4 h 15"/>
                <a:gd name="T42" fmla="*/ 19 w 19"/>
                <a:gd name="T43" fmla="*/ 4 h 15"/>
                <a:gd name="T44" fmla="*/ 19 w 19"/>
                <a:gd name="T45" fmla="*/ 4 h 15"/>
                <a:gd name="T46" fmla="*/ 16 w 19"/>
                <a:gd name="T47" fmla="*/ 4 h 15"/>
                <a:gd name="T48" fmla="*/ 16 w 19"/>
                <a:gd name="T49" fmla="*/ 4 h 15"/>
                <a:gd name="T50" fmla="*/ 12 w 19"/>
                <a:gd name="T51" fmla="*/ 11 h 15"/>
                <a:gd name="T52" fmla="*/ 12 w 19"/>
                <a:gd name="T53" fmla="*/ 11 h 15"/>
                <a:gd name="T54" fmla="*/ 8 w 19"/>
                <a:gd name="T55" fmla="*/ 15 h 15"/>
                <a:gd name="T56" fmla="*/ 8 w 19"/>
                <a:gd name="T57" fmla="*/ 15 h 15"/>
                <a:gd name="T58" fmla="*/ 8 w 19"/>
                <a:gd name="T59" fmla="*/ 15 h 15"/>
                <a:gd name="T60" fmla="*/ 8 w 19"/>
                <a:gd name="T61" fmla="*/ 15 h 15"/>
                <a:gd name="T62" fmla="*/ 8 w 19"/>
                <a:gd name="T63" fmla="*/ 11 h 15"/>
                <a:gd name="T64" fmla="*/ 8 w 19"/>
                <a:gd name="T65" fmla="*/ 11 h 15"/>
                <a:gd name="T66" fmla="*/ 8 w 19"/>
                <a:gd name="T67" fmla="*/ 4 h 15"/>
                <a:gd name="T68" fmla="*/ 4 w 19"/>
                <a:gd name="T69" fmla="*/ 11 h 15"/>
                <a:gd name="T70" fmla="*/ 4 w 19"/>
                <a:gd name="T71" fmla="*/ 11 h 15"/>
                <a:gd name="T72" fmla="*/ 0 w 19"/>
                <a:gd name="T73" fmla="*/ 11 h 15"/>
                <a:gd name="T74" fmla="*/ 0 w 19"/>
                <a:gd name="T75" fmla="*/ 11 h 15"/>
                <a:gd name="T76" fmla="*/ 0 w 19"/>
                <a:gd name="T77" fmla="*/ 11 h 15"/>
                <a:gd name="T78" fmla="*/ 0 w 19"/>
                <a:gd name="T79" fmla="*/ 11 h 15"/>
                <a:gd name="T80" fmla="*/ 0 w 19"/>
                <a:gd name="T81" fmla="*/ 11 h 15"/>
                <a:gd name="T82" fmla="*/ 0 w 19"/>
                <a:gd name="T83" fmla="*/ 11 h 15"/>
                <a:gd name="T84" fmla="*/ 4 w 19"/>
                <a:gd name="T85" fmla="*/ 0 h 15"/>
                <a:gd name="T86" fmla="*/ 4 w 19"/>
                <a:gd name="T87" fmla="*/ 0 h 15"/>
                <a:gd name="T88" fmla="*/ 4 w 19"/>
                <a:gd name="T89" fmla="*/ 0 h 15"/>
                <a:gd name="T90" fmla="*/ 4 w 19"/>
                <a:gd name="T91" fmla="*/ 0 h 15"/>
                <a:gd name="T92" fmla="*/ 4 w 19"/>
                <a:gd name="T93" fmla="*/ 0 h 15"/>
                <a:gd name="T94" fmla="*/ 4 w 19"/>
                <a:gd name="T95" fmla="*/ 0 h 15"/>
                <a:gd name="T96" fmla="*/ 4 w 19"/>
                <a:gd name="T97" fmla="*/ 0 h 15"/>
                <a:gd name="T98" fmla="*/ 4 w 19"/>
                <a:gd name="T99" fmla="*/ 0 h 15"/>
                <a:gd name="T100" fmla="*/ 8 w 19"/>
                <a:gd name="T101" fmla="*/ 0 h 15"/>
                <a:gd name="T102" fmla="*/ 8 w 19"/>
                <a:gd name="T103" fmla="*/ 0 h 15"/>
                <a:gd name="T104" fmla="*/ 8 w 19"/>
                <a:gd name="T105" fmla="*/ 0 h 15"/>
                <a:gd name="T106" fmla="*/ 8 w 19"/>
                <a:gd name="T107" fmla="*/ 0 h 15"/>
                <a:gd name="T108" fmla="*/ 8 w 19"/>
                <a:gd name="T109" fmla="*/ 0 h 15"/>
                <a:gd name="T110" fmla="*/ 8 w 19"/>
                <a:gd name="T111" fmla="*/ 4 h 15"/>
                <a:gd name="T112" fmla="*/ 8 w 19"/>
                <a:gd name="T113" fmla="*/ 4 h 15"/>
                <a:gd name="T114" fmla="*/ 8 w 19"/>
                <a:gd name="T115" fmla="*/ 0 h 1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9"/>
                <a:gd name="T175" fmla="*/ 0 h 15"/>
                <a:gd name="T176" fmla="*/ 19 w 19"/>
                <a:gd name="T177" fmla="*/ 15 h 1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9" h="15">
                  <a:moveTo>
                    <a:pt x="8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11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4"/>
                  </a:lnTo>
                  <a:lnTo>
                    <a:pt x="16" y="4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4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1" name="Freeform 445"/>
            <p:cNvSpPr>
              <a:spLocks/>
            </p:cNvSpPr>
            <p:nvPr/>
          </p:nvSpPr>
          <p:spPr bwMode="auto">
            <a:xfrm>
              <a:off x="4311" y="2627"/>
              <a:ext cx="19" cy="15"/>
            </a:xfrm>
            <a:custGeom>
              <a:avLst/>
              <a:gdLst>
                <a:gd name="T0" fmla="*/ 11 w 19"/>
                <a:gd name="T1" fmla="*/ 4 h 15"/>
                <a:gd name="T2" fmla="*/ 15 w 19"/>
                <a:gd name="T3" fmla="*/ 4 h 15"/>
                <a:gd name="T4" fmla="*/ 15 w 19"/>
                <a:gd name="T5" fmla="*/ 4 h 15"/>
                <a:gd name="T6" fmla="*/ 15 w 19"/>
                <a:gd name="T7" fmla="*/ 4 h 15"/>
                <a:gd name="T8" fmla="*/ 15 w 19"/>
                <a:gd name="T9" fmla="*/ 0 h 15"/>
                <a:gd name="T10" fmla="*/ 19 w 19"/>
                <a:gd name="T11" fmla="*/ 4 h 15"/>
                <a:gd name="T12" fmla="*/ 19 w 19"/>
                <a:gd name="T13" fmla="*/ 4 h 15"/>
                <a:gd name="T14" fmla="*/ 19 w 19"/>
                <a:gd name="T15" fmla="*/ 4 h 15"/>
                <a:gd name="T16" fmla="*/ 19 w 19"/>
                <a:gd name="T17" fmla="*/ 4 h 15"/>
                <a:gd name="T18" fmla="*/ 19 w 19"/>
                <a:gd name="T19" fmla="*/ 4 h 15"/>
                <a:gd name="T20" fmla="*/ 19 w 19"/>
                <a:gd name="T21" fmla="*/ 4 h 15"/>
                <a:gd name="T22" fmla="*/ 11 w 19"/>
                <a:gd name="T23" fmla="*/ 7 h 15"/>
                <a:gd name="T24" fmla="*/ 15 w 19"/>
                <a:gd name="T25" fmla="*/ 11 h 15"/>
                <a:gd name="T26" fmla="*/ 15 w 19"/>
                <a:gd name="T27" fmla="*/ 11 h 15"/>
                <a:gd name="T28" fmla="*/ 15 w 19"/>
                <a:gd name="T29" fmla="*/ 11 h 15"/>
                <a:gd name="T30" fmla="*/ 15 w 19"/>
                <a:gd name="T31" fmla="*/ 15 h 15"/>
                <a:gd name="T32" fmla="*/ 15 w 19"/>
                <a:gd name="T33" fmla="*/ 15 h 15"/>
                <a:gd name="T34" fmla="*/ 11 w 19"/>
                <a:gd name="T35" fmla="*/ 15 h 15"/>
                <a:gd name="T36" fmla="*/ 7 w 19"/>
                <a:gd name="T37" fmla="*/ 11 h 15"/>
                <a:gd name="T38" fmla="*/ 7 w 19"/>
                <a:gd name="T39" fmla="*/ 11 h 15"/>
                <a:gd name="T40" fmla="*/ 11 w 19"/>
                <a:gd name="T41" fmla="*/ 11 h 15"/>
                <a:gd name="T42" fmla="*/ 11 w 19"/>
                <a:gd name="T43" fmla="*/ 11 h 15"/>
                <a:gd name="T44" fmla="*/ 11 w 19"/>
                <a:gd name="T45" fmla="*/ 7 h 15"/>
                <a:gd name="T46" fmla="*/ 7 w 19"/>
                <a:gd name="T47" fmla="*/ 11 h 15"/>
                <a:gd name="T48" fmla="*/ 7 w 19"/>
                <a:gd name="T49" fmla="*/ 11 h 15"/>
                <a:gd name="T50" fmla="*/ 7 w 19"/>
                <a:gd name="T51" fmla="*/ 11 h 15"/>
                <a:gd name="T52" fmla="*/ 7 w 19"/>
                <a:gd name="T53" fmla="*/ 11 h 15"/>
                <a:gd name="T54" fmla="*/ 4 w 19"/>
                <a:gd name="T55" fmla="*/ 11 h 15"/>
                <a:gd name="T56" fmla="*/ 0 w 19"/>
                <a:gd name="T57" fmla="*/ 11 h 15"/>
                <a:gd name="T58" fmla="*/ 4 w 19"/>
                <a:gd name="T59" fmla="*/ 11 h 15"/>
                <a:gd name="T60" fmla="*/ 4 w 19"/>
                <a:gd name="T61" fmla="*/ 7 h 15"/>
                <a:gd name="T62" fmla="*/ 4 w 19"/>
                <a:gd name="T63" fmla="*/ 7 h 15"/>
                <a:gd name="T64" fmla="*/ 4 w 19"/>
                <a:gd name="T65" fmla="*/ 7 h 15"/>
                <a:gd name="T66" fmla="*/ 7 w 19"/>
                <a:gd name="T67" fmla="*/ 0 h 15"/>
                <a:gd name="T68" fmla="*/ 7 w 19"/>
                <a:gd name="T69" fmla="*/ 0 h 15"/>
                <a:gd name="T70" fmla="*/ 7 w 19"/>
                <a:gd name="T71" fmla="*/ 0 h 15"/>
                <a:gd name="T72" fmla="*/ 7 w 19"/>
                <a:gd name="T73" fmla="*/ 0 h 15"/>
                <a:gd name="T74" fmla="*/ 7 w 19"/>
                <a:gd name="T75" fmla="*/ 0 h 15"/>
                <a:gd name="T76" fmla="*/ 11 w 19"/>
                <a:gd name="T77" fmla="*/ 0 h 15"/>
                <a:gd name="T78" fmla="*/ 11 w 19"/>
                <a:gd name="T79" fmla="*/ 0 h 15"/>
                <a:gd name="T80" fmla="*/ 15 w 19"/>
                <a:gd name="T81" fmla="*/ 0 h 15"/>
                <a:gd name="T82" fmla="*/ 15 w 19"/>
                <a:gd name="T83" fmla="*/ 0 h 15"/>
                <a:gd name="T84" fmla="*/ 11 w 19"/>
                <a:gd name="T85" fmla="*/ 4 h 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9"/>
                <a:gd name="T130" fmla="*/ 0 h 15"/>
                <a:gd name="T131" fmla="*/ 19 w 19"/>
                <a:gd name="T132" fmla="*/ 15 h 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9" h="15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1" y="7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11" y="7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2" name="Freeform 446"/>
            <p:cNvSpPr>
              <a:spLocks/>
            </p:cNvSpPr>
            <p:nvPr/>
          </p:nvSpPr>
          <p:spPr bwMode="auto">
            <a:xfrm>
              <a:off x="4330" y="2631"/>
              <a:ext cx="16" cy="15"/>
            </a:xfrm>
            <a:custGeom>
              <a:avLst/>
              <a:gdLst>
                <a:gd name="T0" fmla="*/ 8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2 w 16"/>
                <a:gd name="T11" fmla="*/ 3 h 15"/>
                <a:gd name="T12" fmla="*/ 12 w 16"/>
                <a:gd name="T13" fmla="*/ 3 h 15"/>
                <a:gd name="T14" fmla="*/ 12 w 16"/>
                <a:gd name="T15" fmla="*/ 0 h 15"/>
                <a:gd name="T16" fmla="*/ 12 w 16"/>
                <a:gd name="T17" fmla="*/ 0 h 15"/>
                <a:gd name="T18" fmla="*/ 16 w 16"/>
                <a:gd name="T19" fmla="*/ 3 h 15"/>
                <a:gd name="T20" fmla="*/ 16 w 16"/>
                <a:gd name="T21" fmla="*/ 3 h 15"/>
                <a:gd name="T22" fmla="*/ 16 w 16"/>
                <a:gd name="T23" fmla="*/ 3 h 15"/>
                <a:gd name="T24" fmla="*/ 16 w 16"/>
                <a:gd name="T25" fmla="*/ 3 h 15"/>
                <a:gd name="T26" fmla="*/ 16 w 16"/>
                <a:gd name="T27" fmla="*/ 3 h 15"/>
                <a:gd name="T28" fmla="*/ 16 w 16"/>
                <a:gd name="T29" fmla="*/ 3 h 15"/>
                <a:gd name="T30" fmla="*/ 16 w 16"/>
                <a:gd name="T31" fmla="*/ 3 h 15"/>
                <a:gd name="T32" fmla="*/ 16 w 16"/>
                <a:gd name="T33" fmla="*/ 3 h 15"/>
                <a:gd name="T34" fmla="*/ 8 w 16"/>
                <a:gd name="T35" fmla="*/ 7 h 15"/>
                <a:gd name="T36" fmla="*/ 8 w 16"/>
                <a:gd name="T37" fmla="*/ 11 h 15"/>
                <a:gd name="T38" fmla="*/ 8 w 16"/>
                <a:gd name="T39" fmla="*/ 11 h 15"/>
                <a:gd name="T40" fmla="*/ 8 w 16"/>
                <a:gd name="T41" fmla="*/ 11 h 15"/>
                <a:gd name="T42" fmla="*/ 12 w 16"/>
                <a:gd name="T43" fmla="*/ 11 h 15"/>
                <a:gd name="T44" fmla="*/ 12 w 16"/>
                <a:gd name="T45" fmla="*/ 11 h 15"/>
                <a:gd name="T46" fmla="*/ 12 w 16"/>
                <a:gd name="T47" fmla="*/ 11 h 15"/>
                <a:gd name="T48" fmla="*/ 8 w 16"/>
                <a:gd name="T49" fmla="*/ 15 h 15"/>
                <a:gd name="T50" fmla="*/ 8 w 16"/>
                <a:gd name="T51" fmla="*/ 15 h 15"/>
                <a:gd name="T52" fmla="*/ 0 w 16"/>
                <a:gd name="T53" fmla="*/ 11 h 15"/>
                <a:gd name="T54" fmla="*/ 0 w 16"/>
                <a:gd name="T55" fmla="*/ 11 h 15"/>
                <a:gd name="T56" fmla="*/ 0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4 w 16"/>
                <a:gd name="T65" fmla="*/ 11 h 15"/>
                <a:gd name="T66" fmla="*/ 4 w 16"/>
                <a:gd name="T67" fmla="*/ 11 h 15"/>
                <a:gd name="T68" fmla="*/ 4 w 16"/>
                <a:gd name="T69" fmla="*/ 7 h 15"/>
                <a:gd name="T70" fmla="*/ 4 w 16"/>
                <a:gd name="T71" fmla="*/ 0 h 15"/>
                <a:gd name="T72" fmla="*/ 4 w 16"/>
                <a:gd name="T73" fmla="*/ 0 h 15"/>
                <a:gd name="T74" fmla="*/ 4 w 16"/>
                <a:gd name="T75" fmla="*/ 0 h 15"/>
                <a:gd name="T76" fmla="*/ 4 w 16"/>
                <a:gd name="T77" fmla="*/ 0 h 15"/>
                <a:gd name="T78" fmla="*/ 4 w 16"/>
                <a:gd name="T79" fmla="*/ 0 h 15"/>
                <a:gd name="T80" fmla="*/ 4 w 16"/>
                <a:gd name="T81" fmla="*/ 0 h 15"/>
                <a:gd name="T82" fmla="*/ 4 w 16"/>
                <a:gd name="T83" fmla="*/ 0 h 15"/>
                <a:gd name="T84" fmla="*/ 8 w 16"/>
                <a:gd name="T85" fmla="*/ 0 h 15"/>
                <a:gd name="T86" fmla="*/ 8 w 16"/>
                <a:gd name="T87" fmla="*/ 0 h 15"/>
                <a:gd name="T88" fmla="*/ 8 w 16"/>
                <a:gd name="T89" fmla="*/ 0 h 15"/>
                <a:gd name="T90" fmla="*/ 12 w 16"/>
                <a:gd name="T91" fmla="*/ 0 h 15"/>
                <a:gd name="T92" fmla="*/ 12 w 16"/>
                <a:gd name="T93" fmla="*/ 0 h 15"/>
                <a:gd name="T94" fmla="*/ 12 w 16"/>
                <a:gd name="T95" fmla="*/ 0 h 15"/>
                <a:gd name="T96" fmla="*/ 8 w 16"/>
                <a:gd name="T97" fmla="*/ 3 h 15"/>
                <a:gd name="T98" fmla="*/ 8 w 16"/>
                <a:gd name="T99" fmla="*/ 3 h 15"/>
                <a:gd name="T100" fmla="*/ 8 w 16"/>
                <a:gd name="T101" fmla="*/ 3 h 1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5"/>
                <a:gd name="T155" fmla="*/ 16 w 16"/>
                <a:gd name="T156" fmla="*/ 15 h 1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5">
                  <a:moveTo>
                    <a:pt x="8" y="3"/>
                  </a:moveTo>
                  <a:lnTo>
                    <a:pt x="8" y="7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1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3" name="Freeform 447"/>
            <p:cNvSpPr>
              <a:spLocks/>
            </p:cNvSpPr>
            <p:nvPr/>
          </p:nvSpPr>
          <p:spPr bwMode="auto">
            <a:xfrm>
              <a:off x="4346" y="2634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8 w 16"/>
                <a:gd name="T3" fmla="*/ 12 h 16"/>
                <a:gd name="T4" fmla="*/ 8 w 16"/>
                <a:gd name="T5" fmla="*/ 12 h 16"/>
                <a:gd name="T6" fmla="*/ 12 w 16"/>
                <a:gd name="T7" fmla="*/ 8 h 16"/>
                <a:gd name="T8" fmla="*/ 12 w 16"/>
                <a:gd name="T9" fmla="*/ 8 h 16"/>
                <a:gd name="T10" fmla="*/ 12 w 16"/>
                <a:gd name="T11" fmla="*/ 8 h 16"/>
                <a:gd name="T12" fmla="*/ 12 w 16"/>
                <a:gd name="T13" fmla="*/ 12 h 16"/>
                <a:gd name="T14" fmla="*/ 12 w 16"/>
                <a:gd name="T15" fmla="*/ 12 h 16"/>
                <a:gd name="T16" fmla="*/ 12 w 16"/>
                <a:gd name="T17" fmla="*/ 12 h 16"/>
                <a:gd name="T18" fmla="*/ 12 w 16"/>
                <a:gd name="T19" fmla="*/ 16 h 16"/>
                <a:gd name="T20" fmla="*/ 12 w 16"/>
                <a:gd name="T21" fmla="*/ 16 h 16"/>
                <a:gd name="T22" fmla="*/ 8 w 16"/>
                <a:gd name="T23" fmla="*/ 16 h 16"/>
                <a:gd name="T24" fmla="*/ 8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0 w 16"/>
                <a:gd name="T39" fmla="*/ 12 h 16"/>
                <a:gd name="T40" fmla="*/ 12 w 16"/>
                <a:gd name="T41" fmla="*/ 4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4 w 16"/>
                <a:gd name="T49" fmla="*/ 4 h 16"/>
                <a:gd name="T50" fmla="*/ 4 w 16"/>
                <a:gd name="T51" fmla="*/ 4 h 16"/>
                <a:gd name="T52" fmla="*/ 4 w 16"/>
                <a:gd name="T53" fmla="*/ 4 h 16"/>
                <a:gd name="T54" fmla="*/ 4 w 16"/>
                <a:gd name="T55" fmla="*/ 4 h 16"/>
                <a:gd name="T56" fmla="*/ 4 w 16"/>
                <a:gd name="T57" fmla="*/ 4 h 16"/>
                <a:gd name="T58" fmla="*/ 4 w 16"/>
                <a:gd name="T59" fmla="*/ 4 h 16"/>
                <a:gd name="T60" fmla="*/ 4 w 16"/>
                <a:gd name="T61" fmla="*/ 0 h 16"/>
                <a:gd name="T62" fmla="*/ 4 w 16"/>
                <a:gd name="T63" fmla="*/ 0 h 16"/>
                <a:gd name="T64" fmla="*/ 8 w 16"/>
                <a:gd name="T65" fmla="*/ 0 h 16"/>
                <a:gd name="T66" fmla="*/ 8 w 16"/>
                <a:gd name="T67" fmla="*/ 0 h 16"/>
                <a:gd name="T68" fmla="*/ 16 w 16"/>
                <a:gd name="T69" fmla="*/ 4 h 16"/>
                <a:gd name="T70" fmla="*/ 16 w 16"/>
                <a:gd name="T71" fmla="*/ 4 h 16"/>
                <a:gd name="T72" fmla="*/ 16 w 16"/>
                <a:gd name="T73" fmla="*/ 4 h 16"/>
                <a:gd name="T74" fmla="*/ 16 w 16"/>
                <a:gd name="T75" fmla="*/ 4 h 16"/>
                <a:gd name="T76" fmla="*/ 16 w 16"/>
                <a:gd name="T77" fmla="*/ 4 h 16"/>
                <a:gd name="T78" fmla="*/ 16 w 16"/>
                <a:gd name="T79" fmla="*/ 4 h 16"/>
                <a:gd name="T80" fmla="*/ 16 w 16"/>
                <a:gd name="T81" fmla="*/ 4 h 16"/>
                <a:gd name="T82" fmla="*/ 4 w 16"/>
                <a:gd name="T83" fmla="*/ 12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6"/>
                <a:gd name="T128" fmla="*/ 16 w 16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6">
                  <a:moveTo>
                    <a:pt x="4" y="12"/>
                  </a:moveTo>
                  <a:lnTo>
                    <a:pt x="8" y="12"/>
                  </a:lnTo>
                  <a:lnTo>
                    <a:pt x="12" y="8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6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4" name="Freeform 448"/>
            <p:cNvSpPr>
              <a:spLocks noEditPoints="1"/>
            </p:cNvSpPr>
            <p:nvPr/>
          </p:nvSpPr>
          <p:spPr bwMode="auto">
            <a:xfrm>
              <a:off x="4153" y="2686"/>
              <a:ext cx="20" cy="19"/>
            </a:xfrm>
            <a:custGeom>
              <a:avLst/>
              <a:gdLst>
                <a:gd name="T0" fmla="*/ 16 w 20"/>
                <a:gd name="T1" fmla="*/ 0 h 19"/>
                <a:gd name="T2" fmla="*/ 16 w 20"/>
                <a:gd name="T3" fmla="*/ 0 h 19"/>
                <a:gd name="T4" fmla="*/ 20 w 20"/>
                <a:gd name="T5" fmla="*/ 4 h 19"/>
                <a:gd name="T6" fmla="*/ 20 w 20"/>
                <a:gd name="T7" fmla="*/ 4 h 19"/>
                <a:gd name="T8" fmla="*/ 20 w 20"/>
                <a:gd name="T9" fmla="*/ 4 h 19"/>
                <a:gd name="T10" fmla="*/ 20 w 20"/>
                <a:gd name="T11" fmla="*/ 11 h 19"/>
                <a:gd name="T12" fmla="*/ 20 w 20"/>
                <a:gd name="T13" fmla="*/ 11 h 19"/>
                <a:gd name="T14" fmla="*/ 20 w 20"/>
                <a:gd name="T15" fmla="*/ 11 h 19"/>
                <a:gd name="T16" fmla="*/ 12 w 20"/>
                <a:gd name="T17" fmla="*/ 15 h 19"/>
                <a:gd name="T18" fmla="*/ 12 w 20"/>
                <a:gd name="T19" fmla="*/ 15 h 19"/>
                <a:gd name="T20" fmla="*/ 12 w 20"/>
                <a:gd name="T21" fmla="*/ 15 h 19"/>
                <a:gd name="T22" fmla="*/ 4 w 20"/>
                <a:gd name="T23" fmla="*/ 19 h 19"/>
                <a:gd name="T24" fmla="*/ 4 w 20"/>
                <a:gd name="T25" fmla="*/ 19 h 19"/>
                <a:gd name="T26" fmla="*/ 4 w 20"/>
                <a:gd name="T27" fmla="*/ 19 h 19"/>
                <a:gd name="T28" fmla="*/ 0 w 20"/>
                <a:gd name="T29" fmla="*/ 11 h 19"/>
                <a:gd name="T30" fmla="*/ 0 w 20"/>
                <a:gd name="T31" fmla="*/ 11 h 19"/>
                <a:gd name="T32" fmla="*/ 0 w 20"/>
                <a:gd name="T33" fmla="*/ 11 h 19"/>
                <a:gd name="T34" fmla="*/ 4 w 20"/>
                <a:gd name="T35" fmla="*/ 4 h 19"/>
                <a:gd name="T36" fmla="*/ 4 w 20"/>
                <a:gd name="T37" fmla="*/ 4 h 19"/>
                <a:gd name="T38" fmla="*/ 4 w 20"/>
                <a:gd name="T39" fmla="*/ 4 h 19"/>
                <a:gd name="T40" fmla="*/ 8 w 20"/>
                <a:gd name="T41" fmla="*/ 0 h 19"/>
                <a:gd name="T42" fmla="*/ 8 w 20"/>
                <a:gd name="T43" fmla="*/ 0 h 19"/>
                <a:gd name="T44" fmla="*/ 8 w 20"/>
                <a:gd name="T45" fmla="*/ 0 h 19"/>
                <a:gd name="T46" fmla="*/ 16 w 20"/>
                <a:gd name="T47" fmla="*/ 0 h 19"/>
                <a:gd name="T48" fmla="*/ 16 w 20"/>
                <a:gd name="T49" fmla="*/ 0 h 19"/>
                <a:gd name="T50" fmla="*/ 16 w 20"/>
                <a:gd name="T51" fmla="*/ 0 h 19"/>
                <a:gd name="T52" fmla="*/ 16 w 20"/>
                <a:gd name="T53" fmla="*/ 0 h 19"/>
                <a:gd name="T54" fmla="*/ 12 w 20"/>
                <a:gd name="T55" fmla="*/ 4 h 19"/>
                <a:gd name="T56" fmla="*/ 12 w 20"/>
                <a:gd name="T57" fmla="*/ 4 h 19"/>
                <a:gd name="T58" fmla="*/ 12 w 20"/>
                <a:gd name="T59" fmla="*/ 4 h 19"/>
                <a:gd name="T60" fmla="*/ 8 w 20"/>
                <a:gd name="T61" fmla="*/ 8 h 19"/>
                <a:gd name="T62" fmla="*/ 8 w 20"/>
                <a:gd name="T63" fmla="*/ 8 h 19"/>
                <a:gd name="T64" fmla="*/ 8 w 20"/>
                <a:gd name="T65" fmla="*/ 8 h 19"/>
                <a:gd name="T66" fmla="*/ 4 w 20"/>
                <a:gd name="T67" fmla="*/ 11 h 19"/>
                <a:gd name="T68" fmla="*/ 4 w 20"/>
                <a:gd name="T69" fmla="*/ 11 h 19"/>
                <a:gd name="T70" fmla="*/ 4 w 20"/>
                <a:gd name="T71" fmla="*/ 11 h 19"/>
                <a:gd name="T72" fmla="*/ 8 w 20"/>
                <a:gd name="T73" fmla="*/ 15 h 19"/>
                <a:gd name="T74" fmla="*/ 8 w 20"/>
                <a:gd name="T75" fmla="*/ 15 h 19"/>
                <a:gd name="T76" fmla="*/ 8 w 20"/>
                <a:gd name="T77" fmla="*/ 15 h 19"/>
                <a:gd name="T78" fmla="*/ 12 w 20"/>
                <a:gd name="T79" fmla="*/ 11 h 19"/>
                <a:gd name="T80" fmla="*/ 12 w 20"/>
                <a:gd name="T81" fmla="*/ 11 h 19"/>
                <a:gd name="T82" fmla="*/ 12 w 20"/>
                <a:gd name="T83" fmla="*/ 11 h 19"/>
                <a:gd name="T84" fmla="*/ 16 w 20"/>
                <a:gd name="T85" fmla="*/ 8 h 19"/>
                <a:gd name="T86" fmla="*/ 16 w 20"/>
                <a:gd name="T87" fmla="*/ 8 h 19"/>
                <a:gd name="T88" fmla="*/ 16 w 20"/>
                <a:gd name="T89" fmla="*/ 8 h 19"/>
                <a:gd name="T90" fmla="*/ 16 w 20"/>
                <a:gd name="T91" fmla="*/ 4 h 19"/>
                <a:gd name="T92" fmla="*/ 16 w 20"/>
                <a:gd name="T93" fmla="*/ 4 h 19"/>
                <a:gd name="T94" fmla="*/ 16 w 20"/>
                <a:gd name="T95" fmla="*/ 4 h 19"/>
                <a:gd name="T96" fmla="*/ 16 w 20"/>
                <a:gd name="T97" fmla="*/ 0 h 19"/>
                <a:gd name="T98" fmla="*/ 16 w 20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0"/>
                <a:gd name="T151" fmla="*/ 0 h 19"/>
                <a:gd name="T152" fmla="*/ 20 w 20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0" h="19">
                  <a:moveTo>
                    <a:pt x="16" y="0"/>
                  </a:moveTo>
                  <a:lnTo>
                    <a:pt x="16" y="0"/>
                  </a:lnTo>
                  <a:lnTo>
                    <a:pt x="20" y="4"/>
                  </a:lnTo>
                  <a:lnTo>
                    <a:pt x="20" y="11"/>
                  </a:lnTo>
                  <a:lnTo>
                    <a:pt x="12" y="15"/>
                  </a:lnTo>
                  <a:lnTo>
                    <a:pt x="4" y="19"/>
                  </a:lnTo>
                  <a:lnTo>
                    <a:pt x="0" y="11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close/>
                  <a:moveTo>
                    <a:pt x="16" y="0"/>
                  </a:moveTo>
                  <a:lnTo>
                    <a:pt x="16" y="0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1"/>
                  </a:lnTo>
                  <a:lnTo>
                    <a:pt x="8" y="15"/>
                  </a:lnTo>
                  <a:lnTo>
                    <a:pt x="12" y="11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5" name="Freeform 449"/>
            <p:cNvSpPr>
              <a:spLocks/>
            </p:cNvSpPr>
            <p:nvPr/>
          </p:nvSpPr>
          <p:spPr bwMode="auto">
            <a:xfrm>
              <a:off x="4177" y="2690"/>
              <a:ext cx="15" cy="19"/>
            </a:xfrm>
            <a:custGeom>
              <a:avLst/>
              <a:gdLst>
                <a:gd name="T0" fmla="*/ 11 w 15"/>
                <a:gd name="T1" fmla="*/ 7 h 19"/>
                <a:gd name="T2" fmla="*/ 15 w 15"/>
                <a:gd name="T3" fmla="*/ 11 h 19"/>
                <a:gd name="T4" fmla="*/ 15 w 15"/>
                <a:gd name="T5" fmla="*/ 11 h 19"/>
                <a:gd name="T6" fmla="*/ 15 w 15"/>
                <a:gd name="T7" fmla="*/ 11 h 19"/>
                <a:gd name="T8" fmla="*/ 15 w 15"/>
                <a:gd name="T9" fmla="*/ 11 h 19"/>
                <a:gd name="T10" fmla="*/ 15 w 15"/>
                <a:gd name="T11" fmla="*/ 11 h 19"/>
                <a:gd name="T12" fmla="*/ 15 w 15"/>
                <a:gd name="T13" fmla="*/ 11 h 19"/>
                <a:gd name="T14" fmla="*/ 15 w 15"/>
                <a:gd name="T15" fmla="*/ 11 h 19"/>
                <a:gd name="T16" fmla="*/ 15 w 15"/>
                <a:gd name="T17" fmla="*/ 11 h 19"/>
                <a:gd name="T18" fmla="*/ 15 w 15"/>
                <a:gd name="T19" fmla="*/ 11 h 19"/>
                <a:gd name="T20" fmla="*/ 15 w 15"/>
                <a:gd name="T21" fmla="*/ 11 h 19"/>
                <a:gd name="T22" fmla="*/ 15 w 15"/>
                <a:gd name="T23" fmla="*/ 11 h 19"/>
                <a:gd name="T24" fmla="*/ 15 w 15"/>
                <a:gd name="T25" fmla="*/ 11 h 19"/>
                <a:gd name="T26" fmla="*/ 15 w 15"/>
                <a:gd name="T27" fmla="*/ 11 h 19"/>
                <a:gd name="T28" fmla="*/ 15 w 15"/>
                <a:gd name="T29" fmla="*/ 11 h 19"/>
                <a:gd name="T30" fmla="*/ 8 w 15"/>
                <a:gd name="T31" fmla="*/ 11 h 19"/>
                <a:gd name="T32" fmla="*/ 8 w 15"/>
                <a:gd name="T33" fmla="*/ 11 h 19"/>
                <a:gd name="T34" fmla="*/ 4 w 15"/>
                <a:gd name="T35" fmla="*/ 15 h 19"/>
                <a:gd name="T36" fmla="*/ 4 w 15"/>
                <a:gd name="T37" fmla="*/ 15 h 19"/>
                <a:gd name="T38" fmla="*/ 4 w 15"/>
                <a:gd name="T39" fmla="*/ 15 h 19"/>
                <a:gd name="T40" fmla="*/ 4 w 15"/>
                <a:gd name="T41" fmla="*/ 19 h 19"/>
                <a:gd name="T42" fmla="*/ 4 w 15"/>
                <a:gd name="T43" fmla="*/ 19 h 19"/>
                <a:gd name="T44" fmla="*/ 4 w 15"/>
                <a:gd name="T45" fmla="*/ 19 h 19"/>
                <a:gd name="T46" fmla="*/ 4 w 15"/>
                <a:gd name="T47" fmla="*/ 19 h 19"/>
                <a:gd name="T48" fmla="*/ 4 w 15"/>
                <a:gd name="T49" fmla="*/ 19 h 19"/>
                <a:gd name="T50" fmla="*/ 4 w 15"/>
                <a:gd name="T51" fmla="*/ 19 h 19"/>
                <a:gd name="T52" fmla="*/ 0 w 15"/>
                <a:gd name="T53" fmla="*/ 15 h 19"/>
                <a:gd name="T54" fmla="*/ 0 w 15"/>
                <a:gd name="T55" fmla="*/ 15 h 19"/>
                <a:gd name="T56" fmla="*/ 0 w 15"/>
                <a:gd name="T57" fmla="*/ 15 h 19"/>
                <a:gd name="T58" fmla="*/ 0 w 15"/>
                <a:gd name="T59" fmla="*/ 15 h 19"/>
                <a:gd name="T60" fmla="*/ 0 w 15"/>
                <a:gd name="T61" fmla="*/ 15 h 19"/>
                <a:gd name="T62" fmla="*/ 4 w 15"/>
                <a:gd name="T63" fmla="*/ 11 h 19"/>
                <a:gd name="T64" fmla="*/ 4 w 15"/>
                <a:gd name="T65" fmla="*/ 11 h 19"/>
                <a:gd name="T66" fmla="*/ 0 w 15"/>
                <a:gd name="T67" fmla="*/ 7 h 19"/>
                <a:gd name="T68" fmla="*/ 0 w 15"/>
                <a:gd name="T69" fmla="*/ 7 h 19"/>
                <a:gd name="T70" fmla="*/ 0 w 15"/>
                <a:gd name="T71" fmla="*/ 7 h 19"/>
                <a:gd name="T72" fmla="*/ 0 w 15"/>
                <a:gd name="T73" fmla="*/ 7 h 19"/>
                <a:gd name="T74" fmla="*/ 0 w 15"/>
                <a:gd name="T75" fmla="*/ 7 h 19"/>
                <a:gd name="T76" fmla="*/ 0 w 15"/>
                <a:gd name="T77" fmla="*/ 7 h 19"/>
                <a:gd name="T78" fmla="*/ 0 w 15"/>
                <a:gd name="T79" fmla="*/ 7 h 19"/>
                <a:gd name="T80" fmla="*/ 0 w 15"/>
                <a:gd name="T81" fmla="*/ 7 h 19"/>
                <a:gd name="T82" fmla="*/ 0 w 15"/>
                <a:gd name="T83" fmla="*/ 7 h 19"/>
                <a:gd name="T84" fmla="*/ 0 w 15"/>
                <a:gd name="T85" fmla="*/ 7 h 19"/>
                <a:gd name="T86" fmla="*/ 0 w 15"/>
                <a:gd name="T87" fmla="*/ 7 h 19"/>
                <a:gd name="T88" fmla="*/ 0 w 15"/>
                <a:gd name="T89" fmla="*/ 7 h 19"/>
                <a:gd name="T90" fmla="*/ 0 w 15"/>
                <a:gd name="T91" fmla="*/ 7 h 19"/>
                <a:gd name="T92" fmla="*/ 8 w 15"/>
                <a:gd name="T93" fmla="*/ 7 h 19"/>
                <a:gd name="T94" fmla="*/ 8 w 15"/>
                <a:gd name="T95" fmla="*/ 7 h 19"/>
                <a:gd name="T96" fmla="*/ 8 w 15"/>
                <a:gd name="T97" fmla="*/ 4 h 19"/>
                <a:gd name="T98" fmla="*/ 8 w 15"/>
                <a:gd name="T99" fmla="*/ 4 h 19"/>
                <a:gd name="T100" fmla="*/ 8 w 15"/>
                <a:gd name="T101" fmla="*/ 4 h 19"/>
                <a:gd name="T102" fmla="*/ 11 w 15"/>
                <a:gd name="T103" fmla="*/ 0 h 19"/>
                <a:gd name="T104" fmla="*/ 11 w 15"/>
                <a:gd name="T105" fmla="*/ 0 h 19"/>
                <a:gd name="T106" fmla="*/ 11 w 15"/>
                <a:gd name="T107" fmla="*/ 0 h 19"/>
                <a:gd name="T108" fmla="*/ 11 w 15"/>
                <a:gd name="T109" fmla="*/ 0 h 19"/>
                <a:gd name="T110" fmla="*/ 11 w 15"/>
                <a:gd name="T111" fmla="*/ 0 h 19"/>
                <a:gd name="T112" fmla="*/ 11 w 15"/>
                <a:gd name="T113" fmla="*/ 0 h 19"/>
                <a:gd name="T114" fmla="*/ 11 w 15"/>
                <a:gd name="T115" fmla="*/ 4 h 19"/>
                <a:gd name="T116" fmla="*/ 11 w 15"/>
                <a:gd name="T117" fmla="*/ 4 h 19"/>
                <a:gd name="T118" fmla="*/ 11 w 15"/>
                <a:gd name="T119" fmla="*/ 4 h 19"/>
                <a:gd name="T120" fmla="*/ 11 w 15"/>
                <a:gd name="T121" fmla="*/ 4 h 19"/>
                <a:gd name="T122" fmla="*/ 11 w 15"/>
                <a:gd name="T123" fmla="*/ 4 h 19"/>
                <a:gd name="T124" fmla="*/ 11 w 15"/>
                <a:gd name="T125" fmla="*/ 7 h 1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9"/>
                <a:gd name="T191" fmla="*/ 15 w 15"/>
                <a:gd name="T192" fmla="*/ 19 h 1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9">
                  <a:moveTo>
                    <a:pt x="11" y="7"/>
                  </a:moveTo>
                  <a:lnTo>
                    <a:pt x="15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0" y="7"/>
                  </a:lnTo>
                  <a:lnTo>
                    <a:pt x="8" y="7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6" name="Freeform 450"/>
            <p:cNvSpPr>
              <a:spLocks/>
            </p:cNvSpPr>
            <p:nvPr/>
          </p:nvSpPr>
          <p:spPr bwMode="auto">
            <a:xfrm>
              <a:off x="4043" y="2658"/>
              <a:ext cx="27" cy="24"/>
            </a:xfrm>
            <a:custGeom>
              <a:avLst/>
              <a:gdLst>
                <a:gd name="T0" fmla="*/ 27 w 27"/>
                <a:gd name="T1" fmla="*/ 8 h 24"/>
                <a:gd name="T2" fmla="*/ 27 w 27"/>
                <a:gd name="T3" fmla="*/ 8 h 24"/>
                <a:gd name="T4" fmla="*/ 27 w 27"/>
                <a:gd name="T5" fmla="*/ 8 h 24"/>
                <a:gd name="T6" fmla="*/ 27 w 27"/>
                <a:gd name="T7" fmla="*/ 8 h 24"/>
                <a:gd name="T8" fmla="*/ 27 w 27"/>
                <a:gd name="T9" fmla="*/ 12 h 24"/>
                <a:gd name="T10" fmla="*/ 27 w 27"/>
                <a:gd name="T11" fmla="*/ 12 h 24"/>
                <a:gd name="T12" fmla="*/ 27 w 27"/>
                <a:gd name="T13" fmla="*/ 12 h 24"/>
                <a:gd name="T14" fmla="*/ 27 w 27"/>
                <a:gd name="T15" fmla="*/ 16 h 24"/>
                <a:gd name="T16" fmla="*/ 27 w 27"/>
                <a:gd name="T17" fmla="*/ 16 h 24"/>
                <a:gd name="T18" fmla="*/ 15 w 27"/>
                <a:gd name="T19" fmla="*/ 12 h 24"/>
                <a:gd name="T20" fmla="*/ 19 w 27"/>
                <a:gd name="T21" fmla="*/ 20 h 24"/>
                <a:gd name="T22" fmla="*/ 19 w 27"/>
                <a:gd name="T23" fmla="*/ 20 h 24"/>
                <a:gd name="T24" fmla="*/ 19 w 27"/>
                <a:gd name="T25" fmla="*/ 20 h 24"/>
                <a:gd name="T26" fmla="*/ 19 w 27"/>
                <a:gd name="T27" fmla="*/ 20 h 24"/>
                <a:gd name="T28" fmla="*/ 15 w 27"/>
                <a:gd name="T29" fmla="*/ 20 h 24"/>
                <a:gd name="T30" fmla="*/ 15 w 27"/>
                <a:gd name="T31" fmla="*/ 24 h 24"/>
                <a:gd name="T32" fmla="*/ 12 w 27"/>
                <a:gd name="T33" fmla="*/ 24 h 24"/>
                <a:gd name="T34" fmla="*/ 12 w 27"/>
                <a:gd name="T35" fmla="*/ 24 h 24"/>
                <a:gd name="T36" fmla="*/ 12 w 27"/>
                <a:gd name="T37" fmla="*/ 24 h 24"/>
                <a:gd name="T38" fmla="*/ 12 w 27"/>
                <a:gd name="T39" fmla="*/ 16 h 24"/>
                <a:gd name="T40" fmla="*/ 4 w 27"/>
                <a:gd name="T41" fmla="*/ 20 h 24"/>
                <a:gd name="T42" fmla="*/ 4 w 27"/>
                <a:gd name="T43" fmla="*/ 20 h 24"/>
                <a:gd name="T44" fmla="*/ 4 w 27"/>
                <a:gd name="T45" fmla="*/ 20 h 24"/>
                <a:gd name="T46" fmla="*/ 4 w 27"/>
                <a:gd name="T47" fmla="*/ 20 h 24"/>
                <a:gd name="T48" fmla="*/ 4 w 27"/>
                <a:gd name="T49" fmla="*/ 20 h 24"/>
                <a:gd name="T50" fmla="*/ 4 w 27"/>
                <a:gd name="T51" fmla="*/ 16 h 24"/>
                <a:gd name="T52" fmla="*/ 0 w 27"/>
                <a:gd name="T53" fmla="*/ 16 h 24"/>
                <a:gd name="T54" fmla="*/ 0 w 27"/>
                <a:gd name="T55" fmla="*/ 16 h 24"/>
                <a:gd name="T56" fmla="*/ 4 w 27"/>
                <a:gd name="T57" fmla="*/ 16 h 24"/>
                <a:gd name="T58" fmla="*/ 12 w 27"/>
                <a:gd name="T59" fmla="*/ 12 h 24"/>
                <a:gd name="T60" fmla="*/ 4 w 27"/>
                <a:gd name="T61" fmla="*/ 8 h 24"/>
                <a:gd name="T62" fmla="*/ 4 w 27"/>
                <a:gd name="T63" fmla="*/ 8 h 24"/>
                <a:gd name="T64" fmla="*/ 4 w 27"/>
                <a:gd name="T65" fmla="*/ 8 h 24"/>
                <a:gd name="T66" fmla="*/ 4 w 27"/>
                <a:gd name="T67" fmla="*/ 8 h 24"/>
                <a:gd name="T68" fmla="*/ 4 w 27"/>
                <a:gd name="T69" fmla="*/ 8 h 24"/>
                <a:gd name="T70" fmla="*/ 8 w 27"/>
                <a:gd name="T71" fmla="*/ 4 h 24"/>
                <a:gd name="T72" fmla="*/ 8 w 27"/>
                <a:gd name="T73" fmla="*/ 4 h 24"/>
                <a:gd name="T74" fmla="*/ 8 w 27"/>
                <a:gd name="T75" fmla="*/ 4 h 24"/>
                <a:gd name="T76" fmla="*/ 8 w 27"/>
                <a:gd name="T77" fmla="*/ 4 h 24"/>
                <a:gd name="T78" fmla="*/ 15 w 27"/>
                <a:gd name="T79" fmla="*/ 8 h 24"/>
                <a:gd name="T80" fmla="*/ 19 w 27"/>
                <a:gd name="T81" fmla="*/ 0 h 24"/>
                <a:gd name="T82" fmla="*/ 19 w 27"/>
                <a:gd name="T83" fmla="*/ 0 h 24"/>
                <a:gd name="T84" fmla="*/ 19 w 27"/>
                <a:gd name="T85" fmla="*/ 0 h 24"/>
                <a:gd name="T86" fmla="*/ 23 w 27"/>
                <a:gd name="T87" fmla="*/ 4 h 24"/>
                <a:gd name="T88" fmla="*/ 23 w 27"/>
                <a:gd name="T89" fmla="*/ 4 h 24"/>
                <a:gd name="T90" fmla="*/ 23 w 27"/>
                <a:gd name="T91" fmla="*/ 4 h 24"/>
                <a:gd name="T92" fmla="*/ 19 w 27"/>
                <a:gd name="T93" fmla="*/ 12 h 2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7"/>
                <a:gd name="T142" fmla="*/ 0 h 24"/>
                <a:gd name="T143" fmla="*/ 27 w 27"/>
                <a:gd name="T144" fmla="*/ 24 h 24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7" h="24">
                  <a:moveTo>
                    <a:pt x="19" y="12"/>
                  </a:moveTo>
                  <a:lnTo>
                    <a:pt x="27" y="8"/>
                  </a:lnTo>
                  <a:lnTo>
                    <a:pt x="27" y="12"/>
                  </a:lnTo>
                  <a:lnTo>
                    <a:pt x="27" y="16"/>
                  </a:lnTo>
                  <a:lnTo>
                    <a:pt x="23" y="16"/>
                  </a:lnTo>
                  <a:lnTo>
                    <a:pt x="15" y="12"/>
                  </a:lnTo>
                  <a:lnTo>
                    <a:pt x="19" y="20"/>
                  </a:lnTo>
                  <a:lnTo>
                    <a:pt x="15" y="20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4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2" y="12"/>
                  </a:lnTo>
                  <a:lnTo>
                    <a:pt x="4" y="8"/>
                  </a:lnTo>
                  <a:lnTo>
                    <a:pt x="8" y="4"/>
                  </a:lnTo>
                  <a:lnTo>
                    <a:pt x="15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23" y="4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7" name="Freeform 451"/>
            <p:cNvSpPr>
              <a:spLocks noEditPoints="1"/>
            </p:cNvSpPr>
            <p:nvPr/>
          </p:nvSpPr>
          <p:spPr bwMode="auto">
            <a:xfrm>
              <a:off x="4263" y="2705"/>
              <a:ext cx="36" cy="32"/>
            </a:xfrm>
            <a:custGeom>
              <a:avLst/>
              <a:gdLst>
                <a:gd name="T0" fmla="*/ 20 w 36"/>
                <a:gd name="T1" fmla="*/ 0 h 32"/>
                <a:gd name="T2" fmla="*/ 24 w 36"/>
                <a:gd name="T3" fmla="*/ 0 h 32"/>
                <a:gd name="T4" fmla="*/ 24 w 36"/>
                <a:gd name="T5" fmla="*/ 4 h 32"/>
                <a:gd name="T6" fmla="*/ 24 w 36"/>
                <a:gd name="T7" fmla="*/ 4 h 32"/>
                <a:gd name="T8" fmla="*/ 24 w 36"/>
                <a:gd name="T9" fmla="*/ 4 h 32"/>
                <a:gd name="T10" fmla="*/ 24 w 36"/>
                <a:gd name="T11" fmla="*/ 12 h 32"/>
                <a:gd name="T12" fmla="*/ 28 w 36"/>
                <a:gd name="T13" fmla="*/ 4 h 32"/>
                <a:gd name="T14" fmla="*/ 32 w 36"/>
                <a:gd name="T15" fmla="*/ 4 h 32"/>
                <a:gd name="T16" fmla="*/ 32 w 36"/>
                <a:gd name="T17" fmla="*/ 4 h 32"/>
                <a:gd name="T18" fmla="*/ 36 w 36"/>
                <a:gd name="T19" fmla="*/ 4 h 32"/>
                <a:gd name="T20" fmla="*/ 36 w 36"/>
                <a:gd name="T21" fmla="*/ 8 h 32"/>
                <a:gd name="T22" fmla="*/ 32 w 36"/>
                <a:gd name="T23" fmla="*/ 16 h 32"/>
                <a:gd name="T24" fmla="*/ 32 w 36"/>
                <a:gd name="T25" fmla="*/ 16 h 32"/>
                <a:gd name="T26" fmla="*/ 36 w 36"/>
                <a:gd name="T27" fmla="*/ 16 h 32"/>
                <a:gd name="T28" fmla="*/ 36 w 36"/>
                <a:gd name="T29" fmla="*/ 16 h 32"/>
                <a:gd name="T30" fmla="*/ 36 w 36"/>
                <a:gd name="T31" fmla="*/ 20 h 32"/>
                <a:gd name="T32" fmla="*/ 32 w 36"/>
                <a:gd name="T33" fmla="*/ 20 h 32"/>
                <a:gd name="T34" fmla="*/ 24 w 36"/>
                <a:gd name="T35" fmla="*/ 20 h 32"/>
                <a:gd name="T36" fmla="*/ 32 w 36"/>
                <a:gd name="T37" fmla="*/ 24 h 32"/>
                <a:gd name="T38" fmla="*/ 32 w 36"/>
                <a:gd name="T39" fmla="*/ 24 h 32"/>
                <a:gd name="T40" fmla="*/ 32 w 36"/>
                <a:gd name="T41" fmla="*/ 24 h 32"/>
                <a:gd name="T42" fmla="*/ 32 w 36"/>
                <a:gd name="T43" fmla="*/ 24 h 32"/>
                <a:gd name="T44" fmla="*/ 28 w 36"/>
                <a:gd name="T45" fmla="*/ 24 h 32"/>
                <a:gd name="T46" fmla="*/ 20 w 36"/>
                <a:gd name="T47" fmla="*/ 32 h 32"/>
                <a:gd name="T48" fmla="*/ 16 w 36"/>
                <a:gd name="T49" fmla="*/ 32 h 32"/>
                <a:gd name="T50" fmla="*/ 16 w 36"/>
                <a:gd name="T51" fmla="*/ 32 h 32"/>
                <a:gd name="T52" fmla="*/ 12 w 36"/>
                <a:gd name="T53" fmla="*/ 32 h 32"/>
                <a:gd name="T54" fmla="*/ 12 w 36"/>
                <a:gd name="T55" fmla="*/ 28 h 32"/>
                <a:gd name="T56" fmla="*/ 12 w 36"/>
                <a:gd name="T57" fmla="*/ 28 h 32"/>
                <a:gd name="T58" fmla="*/ 12 w 36"/>
                <a:gd name="T59" fmla="*/ 20 h 32"/>
                <a:gd name="T60" fmla="*/ 8 w 36"/>
                <a:gd name="T61" fmla="*/ 28 h 32"/>
                <a:gd name="T62" fmla="*/ 8 w 36"/>
                <a:gd name="T63" fmla="*/ 28 h 32"/>
                <a:gd name="T64" fmla="*/ 4 w 36"/>
                <a:gd name="T65" fmla="*/ 28 h 32"/>
                <a:gd name="T66" fmla="*/ 0 w 36"/>
                <a:gd name="T67" fmla="*/ 28 h 32"/>
                <a:gd name="T68" fmla="*/ 0 w 36"/>
                <a:gd name="T69" fmla="*/ 24 h 32"/>
                <a:gd name="T70" fmla="*/ 8 w 36"/>
                <a:gd name="T71" fmla="*/ 20 h 32"/>
                <a:gd name="T72" fmla="*/ 4 w 36"/>
                <a:gd name="T73" fmla="*/ 16 h 32"/>
                <a:gd name="T74" fmla="*/ 0 w 36"/>
                <a:gd name="T75" fmla="*/ 16 h 32"/>
                <a:gd name="T76" fmla="*/ 0 w 36"/>
                <a:gd name="T77" fmla="*/ 16 h 32"/>
                <a:gd name="T78" fmla="*/ 4 w 36"/>
                <a:gd name="T79" fmla="*/ 16 h 32"/>
                <a:gd name="T80" fmla="*/ 4 w 36"/>
                <a:gd name="T81" fmla="*/ 16 h 32"/>
                <a:gd name="T82" fmla="*/ 12 w 36"/>
                <a:gd name="T83" fmla="*/ 12 h 32"/>
                <a:gd name="T84" fmla="*/ 8 w 36"/>
                <a:gd name="T85" fmla="*/ 12 h 32"/>
                <a:gd name="T86" fmla="*/ 4 w 36"/>
                <a:gd name="T87" fmla="*/ 8 h 32"/>
                <a:gd name="T88" fmla="*/ 4 w 36"/>
                <a:gd name="T89" fmla="*/ 8 h 32"/>
                <a:gd name="T90" fmla="*/ 4 w 36"/>
                <a:gd name="T91" fmla="*/ 8 h 32"/>
                <a:gd name="T92" fmla="*/ 8 w 36"/>
                <a:gd name="T93" fmla="*/ 8 h 32"/>
                <a:gd name="T94" fmla="*/ 20 w 36"/>
                <a:gd name="T95" fmla="*/ 0 h 32"/>
                <a:gd name="T96" fmla="*/ 20 w 36"/>
                <a:gd name="T97" fmla="*/ 20 h 32"/>
                <a:gd name="T98" fmla="*/ 16 w 36"/>
                <a:gd name="T99" fmla="*/ 12 h 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"/>
                <a:gd name="T151" fmla="*/ 0 h 32"/>
                <a:gd name="T152" fmla="*/ 36 w 36"/>
                <a:gd name="T153" fmla="*/ 32 h 3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" h="32">
                  <a:moveTo>
                    <a:pt x="20" y="0"/>
                  </a:move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12"/>
                  </a:lnTo>
                  <a:lnTo>
                    <a:pt x="24" y="12"/>
                  </a:lnTo>
                  <a:lnTo>
                    <a:pt x="28" y="4"/>
                  </a:lnTo>
                  <a:lnTo>
                    <a:pt x="32" y="4"/>
                  </a:lnTo>
                  <a:lnTo>
                    <a:pt x="36" y="4"/>
                  </a:lnTo>
                  <a:lnTo>
                    <a:pt x="36" y="8"/>
                  </a:lnTo>
                  <a:lnTo>
                    <a:pt x="32" y="16"/>
                  </a:lnTo>
                  <a:lnTo>
                    <a:pt x="36" y="16"/>
                  </a:lnTo>
                  <a:lnTo>
                    <a:pt x="36" y="20"/>
                  </a:lnTo>
                  <a:lnTo>
                    <a:pt x="32" y="20"/>
                  </a:lnTo>
                  <a:lnTo>
                    <a:pt x="28" y="16"/>
                  </a:lnTo>
                  <a:lnTo>
                    <a:pt x="24" y="20"/>
                  </a:lnTo>
                  <a:lnTo>
                    <a:pt x="32" y="24"/>
                  </a:lnTo>
                  <a:lnTo>
                    <a:pt x="28" y="24"/>
                  </a:lnTo>
                  <a:lnTo>
                    <a:pt x="24" y="24"/>
                  </a:lnTo>
                  <a:lnTo>
                    <a:pt x="20" y="32"/>
                  </a:lnTo>
                  <a:lnTo>
                    <a:pt x="16" y="32"/>
                  </a:lnTo>
                  <a:lnTo>
                    <a:pt x="12" y="32"/>
                  </a:lnTo>
                  <a:lnTo>
                    <a:pt x="12" y="2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28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8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20" y="0"/>
                  </a:lnTo>
                  <a:close/>
                  <a:moveTo>
                    <a:pt x="16" y="16"/>
                  </a:moveTo>
                  <a:lnTo>
                    <a:pt x="20" y="20"/>
                  </a:lnTo>
                  <a:lnTo>
                    <a:pt x="24" y="16"/>
                  </a:lnTo>
                  <a:lnTo>
                    <a:pt x="16" y="12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8" name="Freeform 452"/>
            <p:cNvSpPr>
              <a:spLocks/>
            </p:cNvSpPr>
            <p:nvPr/>
          </p:nvSpPr>
          <p:spPr bwMode="auto">
            <a:xfrm>
              <a:off x="3365" y="2760"/>
              <a:ext cx="1111" cy="323"/>
            </a:xfrm>
            <a:custGeom>
              <a:avLst/>
              <a:gdLst>
                <a:gd name="T0" fmla="*/ 0 w 1111"/>
                <a:gd name="T1" fmla="*/ 32 h 323"/>
                <a:gd name="T2" fmla="*/ 12 w 1111"/>
                <a:gd name="T3" fmla="*/ 0 h 323"/>
                <a:gd name="T4" fmla="*/ 12 w 1111"/>
                <a:gd name="T5" fmla="*/ 0 h 323"/>
                <a:gd name="T6" fmla="*/ 16 w 1111"/>
                <a:gd name="T7" fmla="*/ 8 h 323"/>
                <a:gd name="T8" fmla="*/ 36 w 1111"/>
                <a:gd name="T9" fmla="*/ 24 h 323"/>
                <a:gd name="T10" fmla="*/ 51 w 1111"/>
                <a:gd name="T11" fmla="*/ 32 h 323"/>
                <a:gd name="T12" fmla="*/ 67 w 1111"/>
                <a:gd name="T13" fmla="*/ 40 h 323"/>
                <a:gd name="T14" fmla="*/ 91 w 1111"/>
                <a:gd name="T15" fmla="*/ 48 h 323"/>
                <a:gd name="T16" fmla="*/ 118 w 1111"/>
                <a:gd name="T17" fmla="*/ 48 h 323"/>
                <a:gd name="T18" fmla="*/ 118 w 1111"/>
                <a:gd name="T19" fmla="*/ 48 h 323"/>
                <a:gd name="T20" fmla="*/ 174 w 1111"/>
                <a:gd name="T21" fmla="*/ 48 h 323"/>
                <a:gd name="T22" fmla="*/ 225 w 1111"/>
                <a:gd name="T23" fmla="*/ 40 h 323"/>
                <a:gd name="T24" fmla="*/ 272 w 1111"/>
                <a:gd name="T25" fmla="*/ 32 h 323"/>
                <a:gd name="T26" fmla="*/ 1111 w 1111"/>
                <a:gd name="T27" fmla="*/ 276 h 323"/>
                <a:gd name="T28" fmla="*/ 1111 w 1111"/>
                <a:gd name="T29" fmla="*/ 323 h 323"/>
                <a:gd name="T30" fmla="*/ 0 w 1111"/>
                <a:gd name="T31" fmla="*/ 32 h 32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11"/>
                <a:gd name="T49" fmla="*/ 0 h 323"/>
                <a:gd name="T50" fmla="*/ 1111 w 1111"/>
                <a:gd name="T51" fmla="*/ 323 h 32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11" h="323">
                  <a:moveTo>
                    <a:pt x="0" y="32"/>
                  </a:moveTo>
                  <a:lnTo>
                    <a:pt x="12" y="0"/>
                  </a:lnTo>
                  <a:lnTo>
                    <a:pt x="16" y="8"/>
                  </a:lnTo>
                  <a:lnTo>
                    <a:pt x="36" y="24"/>
                  </a:lnTo>
                  <a:lnTo>
                    <a:pt x="51" y="32"/>
                  </a:lnTo>
                  <a:lnTo>
                    <a:pt x="67" y="40"/>
                  </a:lnTo>
                  <a:lnTo>
                    <a:pt x="91" y="48"/>
                  </a:lnTo>
                  <a:lnTo>
                    <a:pt x="118" y="48"/>
                  </a:lnTo>
                  <a:lnTo>
                    <a:pt x="174" y="48"/>
                  </a:lnTo>
                  <a:lnTo>
                    <a:pt x="225" y="40"/>
                  </a:lnTo>
                  <a:lnTo>
                    <a:pt x="272" y="32"/>
                  </a:lnTo>
                  <a:lnTo>
                    <a:pt x="1111" y="276"/>
                  </a:lnTo>
                  <a:lnTo>
                    <a:pt x="1111" y="323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179" name="Freeform 453"/>
            <p:cNvSpPr>
              <a:spLocks/>
            </p:cNvSpPr>
            <p:nvPr/>
          </p:nvSpPr>
          <p:spPr bwMode="auto">
            <a:xfrm>
              <a:off x="2936" y="2611"/>
              <a:ext cx="524" cy="401"/>
            </a:xfrm>
            <a:custGeom>
              <a:avLst/>
              <a:gdLst>
                <a:gd name="T0" fmla="*/ 476 w 524"/>
                <a:gd name="T1" fmla="*/ 157 h 401"/>
                <a:gd name="T2" fmla="*/ 433 w 524"/>
                <a:gd name="T3" fmla="*/ 216 h 401"/>
                <a:gd name="T4" fmla="*/ 386 w 524"/>
                <a:gd name="T5" fmla="*/ 268 h 401"/>
                <a:gd name="T6" fmla="*/ 319 w 524"/>
                <a:gd name="T7" fmla="*/ 315 h 401"/>
                <a:gd name="T8" fmla="*/ 248 w 524"/>
                <a:gd name="T9" fmla="*/ 335 h 401"/>
                <a:gd name="T10" fmla="*/ 177 w 524"/>
                <a:gd name="T11" fmla="*/ 331 h 401"/>
                <a:gd name="T12" fmla="*/ 98 w 524"/>
                <a:gd name="T13" fmla="*/ 311 h 401"/>
                <a:gd name="T14" fmla="*/ 79 w 524"/>
                <a:gd name="T15" fmla="*/ 299 h 401"/>
                <a:gd name="T16" fmla="*/ 59 w 524"/>
                <a:gd name="T17" fmla="*/ 279 h 401"/>
                <a:gd name="T18" fmla="*/ 63 w 524"/>
                <a:gd name="T19" fmla="*/ 252 h 401"/>
                <a:gd name="T20" fmla="*/ 94 w 524"/>
                <a:gd name="T21" fmla="*/ 216 h 401"/>
                <a:gd name="T22" fmla="*/ 165 w 524"/>
                <a:gd name="T23" fmla="*/ 169 h 401"/>
                <a:gd name="T24" fmla="*/ 224 w 524"/>
                <a:gd name="T25" fmla="*/ 142 h 401"/>
                <a:gd name="T26" fmla="*/ 323 w 524"/>
                <a:gd name="T27" fmla="*/ 90 h 401"/>
                <a:gd name="T28" fmla="*/ 382 w 524"/>
                <a:gd name="T29" fmla="*/ 71 h 401"/>
                <a:gd name="T30" fmla="*/ 433 w 524"/>
                <a:gd name="T31" fmla="*/ 67 h 401"/>
                <a:gd name="T32" fmla="*/ 441 w 524"/>
                <a:gd name="T33" fmla="*/ 67 h 401"/>
                <a:gd name="T34" fmla="*/ 449 w 524"/>
                <a:gd name="T35" fmla="*/ 51 h 401"/>
                <a:gd name="T36" fmla="*/ 445 w 524"/>
                <a:gd name="T37" fmla="*/ 27 h 401"/>
                <a:gd name="T38" fmla="*/ 429 w 524"/>
                <a:gd name="T39" fmla="*/ 8 h 401"/>
                <a:gd name="T40" fmla="*/ 417 w 524"/>
                <a:gd name="T41" fmla="*/ 4 h 401"/>
                <a:gd name="T42" fmla="*/ 347 w 524"/>
                <a:gd name="T43" fmla="*/ 8 h 401"/>
                <a:gd name="T44" fmla="*/ 268 w 524"/>
                <a:gd name="T45" fmla="*/ 35 h 401"/>
                <a:gd name="T46" fmla="*/ 130 w 524"/>
                <a:gd name="T47" fmla="*/ 106 h 401"/>
                <a:gd name="T48" fmla="*/ 102 w 524"/>
                <a:gd name="T49" fmla="*/ 126 h 401"/>
                <a:gd name="T50" fmla="*/ 47 w 524"/>
                <a:gd name="T51" fmla="*/ 165 h 401"/>
                <a:gd name="T52" fmla="*/ 8 w 524"/>
                <a:gd name="T53" fmla="*/ 220 h 401"/>
                <a:gd name="T54" fmla="*/ 0 w 524"/>
                <a:gd name="T55" fmla="*/ 248 h 401"/>
                <a:gd name="T56" fmla="*/ 4 w 524"/>
                <a:gd name="T57" fmla="*/ 279 h 401"/>
                <a:gd name="T58" fmla="*/ 20 w 524"/>
                <a:gd name="T59" fmla="*/ 311 h 401"/>
                <a:gd name="T60" fmla="*/ 51 w 524"/>
                <a:gd name="T61" fmla="*/ 342 h 401"/>
                <a:gd name="T62" fmla="*/ 126 w 524"/>
                <a:gd name="T63" fmla="*/ 382 h 401"/>
                <a:gd name="T64" fmla="*/ 213 w 524"/>
                <a:gd name="T65" fmla="*/ 401 h 401"/>
                <a:gd name="T66" fmla="*/ 295 w 524"/>
                <a:gd name="T67" fmla="*/ 398 h 401"/>
                <a:gd name="T68" fmla="*/ 335 w 524"/>
                <a:gd name="T69" fmla="*/ 386 h 401"/>
                <a:gd name="T70" fmla="*/ 390 w 524"/>
                <a:gd name="T71" fmla="*/ 358 h 401"/>
                <a:gd name="T72" fmla="*/ 441 w 524"/>
                <a:gd name="T73" fmla="*/ 315 h 401"/>
                <a:gd name="T74" fmla="*/ 520 w 524"/>
                <a:gd name="T75" fmla="*/ 209 h 401"/>
                <a:gd name="T76" fmla="*/ 524 w 524"/>
                <a:gd name="T77" fmla="*/ 201 h 401"/>
                <a:gd name="T78" fmla="*/ 516 w 524"/>
                <a:gd name="T79" fmla="*/ 177 h 401"/>
                <a:gd name="T80" fmla="*/ 500 w 524"/>
                <a:gd name="T81" fmla="*/ 157 h 401"/>
                <a:gd name="T82" fmla="*/ 484 w 524"/>
                <a:gd name="T83" fmla="*/ 149 h 401"/>
                <a:gd name="T84" fmla="*/ 476 w 524"/>
                <a:gd name="T85" fmla="*/ 157 h 40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24"/>
                <a:gd name="T130" fmla="*/ 0 h 401"/>
                <a:gd name="T131" fmla="*/ 524 w 524"/>
                <a:gd name="T132" fmla="*/ 401 h 40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24" h="401">
                  <a:moveTo>
                    <a:pt x="476" y="157"/>
                  </a:moveTo>
                  <a:lnTo>
                    <a:pt x="476" y="157"/>
                  </a:lnTo>
                  <a:lnTo>
                    <a:pt x="457" y="189"/>
                  </a:lnTo>
                  <a:lnTo>
                    <a:pt x="433" y="216"/>
                  </a:lnTo>
                  <a:lnTo>
                    <a:pt x="386" y="268"/>
                  </a:lnTo>
                  <a:lnTo>
                    <a:pt x="354" y="295"/>
                  </a:lnTo>
                  <a:lnTo>
                    <a:pt x="319" y="315"/>
                  </a:lnTo>
                  <a:lnTo>
                    <a:pt x="283" y="327"/>
                  </a:lnTo>
                  <a:lnTo>
                    <a:pt x="248" y="335"/>
                  </a:lnTo>
                  <a:lnTo>
                    <a:pt x="213" y="335"/>
                  </a:lnTo>
                  <a:lnTo>
                    <a:pt x="177" y="331"/>
                  </a:lnTo>
                  <a:lnTo>
                    <a:pt x="138" y="323"/>
                  </a:lnTo>
                  <a:lnTo>
                    <a:pt x="98" y="311"/>
                  </a:lnTo>
                  <a:lnTo>
                    <a:pt x="79" y="299"/>
                  </a:lnTo>
                  <a:lnTo>
                    <a:pt x="67" y="287"/>
                  </a:lnTo>
                  <a:lnTo>
                    <a:pt x="59" y="279"/>
                  </a:lnTo>
                  <a:lnTo>
                    <a:pt x="59" y="268"/>
                  </a:lnTo>
                  <a:lnTo>
                    <a:pt x="63" y="252"/>
                  </a:lnTo>
                  <a:lnTo>
                    <a:pt x="71" y="240"/>
                  </a:lnTo>
                  <a:lnTo>
                    <a:pt x="94" y="216"/>
                  </a:lnTo>
                  <a:lnTo>
                    <a:pt x="130" y="193"/>
                  </a:lnTo>
                  <a:lnTo>
                    <a:pt x="165" y="169"/>
                  </a:lnTo>
                  <a:lnTo>
                    <a:pt x="224" y="142"/>
                  </a:lnTo>
                  <a:lnTo>
                    <a:pt x="268" y="114"/>
                  </a:lnTo>
                  <a:lnTo>
                    <a:pt x="323" y="90"/>
                  </a:lnTo>
                  <a:lnTo>
                    <a:pt x="350" y="79"/>
                  </a:lnTo>
                  <a:lnTo>
                    <a:pt x="382" y="71"/>
                  </a:lnTo>
                  <a:lnTo>
                    <a:pt x="406" y="67"/>
                  </a:lnTo>
                  <a:lnTo>
                    <a:pt x="433" y="67"/>
                  </a:lnTo>
                  <a:lnTo>
                    <a:pt x="441" y="67"/>
                  </a:lnTo>
                  <a:lnTo>
                    <a:pt x="449" y="59"/>
                  </a:lnTo>
                  <a:lnTo>
                    <a:pt x="449" y="51"/>
                  </a:lnTo>
                  <a:lnTo>
                    <a:pt x="449" y="39"/>
                  </a:lnTo>
                  <a:lnTo>
                    <a:pt x="445" y="27"/>
                  </a:lnTo>
                  <a:lnTo>
                    <a:pt x="437" y="16"/>
                  </a:lnTo>
                  <a:lnTo>
                    <a:pt x="429" y="8"/>
                  </a:lnTo>
                  <a:lnTo>
                    <a:pt x="417" y="4"/>
                  </a:lnTo>
                  <a:lnTo>
                    <a:pt x="382" y="0"/>
                  </a:lnTo>
                  <a:lnTo>
                    <a:pt x="347" y="8"/>
                  </a:lnTo>
                  <a:lnTo>
                    <a:pt x="307" y="20"/>
                  </a:lnTo>
                  <a:lnTo>
                    <a:pt x="268" y="35"/>
                  </a:lnTo>
                  <a:lnTo>
                    <a:pt x="193" y="71"/>
                  </a:lnTo>
                  <a:lnTo>
                    <a:pt x="130" y="106"/>
                  </a:lnTo>
                  <a:lnTo>
                    <a:pt x="102" y="126"/>
                  </a:lnTo>
                  <a:lnTo>
                    <a:pt x="75" y="142"/>
                  </a:lnTo>
                  <a:lnTo>
                    <a:pt x="47" y="165"/>
                  </a:lnTo>
                  <a:lnTo>
                    <a:pt x="24" y="193"/>
                  </a:lnTo>
                  <a:lnTo>
                    <a:pt x="8" y="220"/>
                  </a:lnTo>
                  <a:lnTo>
                    <a:pt x="0" y="232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4" y="279"/>
                  </a:lnTo>
                  <a:lnTo>
                    <a:pt x="8" y="295"/>
                  </a:lnTo>
                  <a:lnTo>
                    <a:pt x="20" y="311"/>
                  </a:lnTo>
                  <a:lnTo>
                    <a:pt x="51" y="342"/>
                  </a:lnTo>
                  <a:lnTo>
                    <a:pt x="87" y="366"/>
                  </a:lnTo>
                  <a:lnTo>
                    <a:pt x="126" y="382"/>
                  </a:lnTo>
                  <a:lnTo>
                    <a:pt x="169" y="394"/>
                  </a:lnTo>
                  <a:lnTo>
                    <a:pt x="213" y="401"/>
                  </a:lnTo>
                  <a:lnTo>
                    <a:pt x="256" y="401"/>
                  </a:lnTo>
                  <a:lnTo>
                    <a:pt x="295" y="398"/>
                  </a:lnTo>
                  <a:lnTo>
                    <a:pt x="335" y="386"/>
                  </a:lnTo>
                  <a:lnTo>
                    <a:pt x="366" y="374"/>
                  </a:lnTo>
                  <a:lnTo>
                    <a:pt x="390" y="358"/>
                  </a:lnTo>
                  <a:lnTo>
                    <a:pt x="417" y="338"/>
                  </a:lnTo>
                  <a:lnTo>
                    <a:pt x="441" y="315"/>
                  </a:lnTo>
                  <a:lnTo>
                    <a:pt x="484" y="264"/>
                  </a:lnTo>
                  <a:lnTo>
                    <a:pt x="520" y="209"/>
                  </a:lnTo>
                  <a:lnTo>
                    <a:pt x="524" y="201"/>
                  </a:lnTo>
                  <a:lnTo>
                    <a:pt x="524" y="189"/>
                  </a:lnTo>
                  <a:lnTo>
                    <a:pt x="516" y="177"/>
                  </a:lnTo>
                  <a:lnTo>
                    <a:pt x="508" y="165"/>
                  </a:lnTo>
                  <a:lnTo>
                    <a:pt x="500" y="157"/>
                  </a:lnTo>
                  <a:lnTo>
                    <a:pt x="492" y="149"/>
                  </a:lnTo>
                  <a:lnTo>
                    <a:pt x="484" y="149"/>
                  </a:lnTo>
                  <a:lnTo>
                    <a:pt x="476" y="1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737" name="Text Box 454"/>
          <p:cNvSpPr txBox="1">
            <a:spLocks noChangeArrowheads="1"/>
          </p:cNvSpPr>
          <p:nvPr/>
        </p:nvSpPr>
        <p:spPr bwMode="auto">
          <a:xfrm flipH="1">
            <a:off x="7418388" y="5588000"/>
            <a:ext cx="430212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POTS</a:t>
            </a:r>
          </a:p>
          <a:p>
            <a:r>
              <a:rPr lang="en-US" altLang="ru-RU" sz="1000">
                <a:latin typeface="Times New Roman" pitchFamily="18" charset="0"/>
              </a:rPr>
              <a:t>ISDN</a:t>
            </a:r>
            <a:endParaRPr lang="ru-RU" altLang="ru-RU" sz="1000">
              <a:latin typeface="Times New Roman" pitchFamily="18" charset="0"/>
            </a:endParaRPr>
          </a:p>
        </p:txBody>
      </p:sp>
      <p:grpSp>
        <p:nvGrpSpPr>
          <p:cNvPr id="10" name="Group 455"/>
          <p:cNvGrpSpPr>
            <a:grpSpLocks/>
          </p:cNvGrpSpPr>
          <p:nvPr/>
        </p:nvGrpSpPr>
        <p:grpSpPr bwMode="auto">
          <a:xfrm>
            <a:off x="6770688" y="6164263"/>
            <a:ext cx="431800" cy="273050"/>
            <a:chOff x="2936" y="1784"/>
            <a:chExt cx="2040" cy="1370"/>
          </a:xfrm>
        </p:grpSpPr>
        <p:sp>
          <p:nvSpPr>
            <p:cNvPr id="28014" name="Freeform 456"/>
            <p:cNvSpPr>
              <a:spLocks/>
            </p:cNvSpPr>
            <p:nvPr/>
          </p:nvSpPr>
          <p:spPr bwMode="auto">
            <a:xfrm>
              <a:off x="3314" y="1784"/>
              <a:ext cx="1662" cy="1370"/>
            </a:xfrm>
            <a:custGeom>
              <a:avLst/>
              <a:gdLst>
                <a:gd name="T0" fmla="*/ 1650 w 1662"/>
                <a:gd name="T1" fmla="*/ 319 h 1370"/>
                <a:gd name="T2" fmla="*/ 1631 w 1662"/>
                <a:gd name="T3" fmla="*/ 315 h 1370"/>
                <a:gd name="T4" fmla="*/ 1627 w 1662"/>
                <a:gd name="T5" fmla="*/ 299 h 1370"/>
                <a:gd name="T6" fmla="*/ 1615 w 1662"/>
                <a:gd name="T7" fmla="*/ 279 h 1370"/>
                <a:gd name="T8" fmla="*/ 1599 w 1662"/>
                <a:gd name="T9" fmla="*/ 272 h 1370"/>
                <a:gd name="T10" fmla="*/ 1595 w 1662"/>
                <a:gd name="T11" fmla="*/ 272 h 1370"/>
                <a:gd name="T12" fmla="*/ 1583 w 1662"/>
                <a:gd name="T13" fmla="*/ 248 h 1370"/>
                <a:gd name="T14" fmla="*/ 1576 w 1662"/>
                <a:gd name="T15" fmla="*/ 248 h 1370"/>
                <a:gd name="T16" fmla="*/ 1320 w 1662"/>
                <a:gd name="T17" fmla="*/ 209 h 1370"/>
                <a:gd name="T18" fmla="*/ 1150 w 1662"/>
                <a:gd name="T19" fmla="*/ 173 h 1370"/>
                <a:gd name="T20" fmla="*/ 1028 w 1662"/>
                <a:gd name="T21" fmla="*/ 157 h 1370"/>
                <a:gd name="T22" fmla="*/ 985 w 1662"/>
                <a:gd name="T23" fmla="*/ 157 h 1370"/>
                <a:gd name="T24" fmla="*/ 957 w 1662"/>
                <a:gd name="T25" fmla="*/ 165 h 1370"/>
                <a:gd name="T26" fmla="*/ 898 w 1662"/>
                <a:gd name="T27" fmla="*/ 197 h 1370"/>
                <a:gd name="T28" fmla="*/ 874 w 1662"/>
                <a:gd name="T29" fmla="*/ 216 h 1370"/>
                <a:gd name="T30" fmla="*/ 874 w 1662"/>
                <a:gd name="T31" fmla="*/ 216 h 1370"/>
                <a:gd name="T32" fmla="*/ 882 w 1662"/>
                <a:gd name="T33" fmla="*/ 201 h 1370"/>
                <a:gd name="T34" fmla="*/ 890 w 1662"/>
                <a:gd name="T35" fmla="*/ 102 h 1370"/>
                <a:gd name="T36" fmla="*/ 867 w 1662"/>
                <a:gd name="T37" fmla="*/ 87 h 1370"/>
                <a:gd name="T38" fmla="*/ 855 w 1662"/>
                <a:gd name="T39" fmla="*/ 71 h 1370"/>
                <a:gd name="T40" fmla="*/ 831 w 1662"/>
                <a:gd name="T41" fmla="*/ 51 h 1370"/>
                <a:gd name="T42" fmla="*/ 741 w 1662"/>
                <a:gd name="T43" fmla="*/ 12 h 1370"/>
                <a:gd name="T44" fmla="*/ 693 w 1662"/>
                <a:gd name="T45" fmla="*/ 0 h 1370"/>
                <a:gd name="T46" fmla="*/ 642 w 1662"/>
                <a:gd name="T47" fmla="*/ 4 h 1370"/>
                <a:gd name="T48" fmla="*/ 618 w 1662"/>
                <a:gd name="T49" fmla="*/ 8 h 1370"/>
                <a:gd name="T50" fmla="*/ 567 w 1662"/>
                <a:gd name="T51" fmla="*/ 31 h 1370"/>
                <a:gd name="T52" fmla="*/ 500 w 1662"/>
                <a:gd name="T53" fmla="*/ 79 h 1370"/>
                <a:gd name="T54" fmla="*/ 461 w 1662"/>
                <a:gd name="T55" fmla="*/ 114 h 1370"/>
                <a:gd name="T56" fmla="*/ 390 w 1662"/>
                <a:gd name="T57" fmla="*/ 189 h 1370"/>
                <a:gd name="T58" fmla="*/ 327 w 1662"/>
                <a:gd name="T59" fmla="*/ 268 h 1370"/>
                <a:gd name="T60" fmla="*/ 221 w 1662"/>
                <a:gd name="T61" fmla="*/ 445 h 1370"/>
                <a:gd name="T62" fmla="*/ 130 w 1662"/>
                <a:gd name="T63" fmla="*/ 630 h 1370"/>
                <a:gd name="T64" fmla="*/ 55 w 1662"/>
                <a:gd name="T65" fmla="*/ 823 h 1370"/>
                <a:gd name="T66" fmla="*/ 39 w 1662"/>
                <a:gd name="T67" fmla="*/ 854 h 1370"/>
                <a:gd name="T68" fmla="*/ 39 w 1662"/>
                <a:gd name="T69" fmla="*/ 858 h 1370"/>
                <a:gd name="T70" fmla="*/ 39 w 1662"/>
                <a:gd name="T71" fmla="*/ 866 h 1370"/>
                <a:gd name="T72" fmla="*/ 39 w 1662"/>
                <a:gd name="T73" fmla="*/ 874 h 1370"/>
                <a:gd name="T74" fmla="*/ 20 w 1662"/>
                <a:gd name="T75" fmla="*/ 890 h 1370"/>
                <a:gd name="T76" fmla="*/ 4 w 1662"/>
                <a:gd name="T77" fmla="*/ 917 h 1370"/>
                <a:gd name="T78" fmla="*/ 0 w 1662"/>
                <a:gd name="T79" fmla="*/ 957 h 1370"/>
                <a:gd name="T80" fmla="*/ 12 w 1662"/>
                <a:gd name="T81" fmla="*/ 1028 h 1370"/>
                <a:gd name="T82" fmla="*/ 20 w 1662"/>
                <a:gd name="T83" fmla="*/ 1043 h 1370"/>
                <a:gd name="T84" fmla="*/ 32 w 1662"/>
                <a:gd name="T85" fmla="*/ 1051 h 1370"/>
                <a:gd name="T86" fmla="*/ 55 w 1662"/>
                <a:gd name="T87" fmla="*/ 1059 h 1370"/>
                <a:gd name="T88" fmla="*/ 59 w 1662"/>
                <a:gd name="T89" fmla="*/ 1067 h 1370"/>
                <a:gd name="T90" fmla="*/ 71 w 1662"/>
                <a:gd name="T91" fmla="*/ 1106 h 1370"/>
                <a:gd name="T92" fmla="*/ 95 w 1662"/>
                <a:gd name="T93" fmla="*/ 1118 h 1370"/>
                <a:gd name="T94" fmla="*/ 256 w 1662"/>
                <a:gd name="T95" fmla="*/ 1201 h 1370"/>
                <a:gd name="T96" fmla="*/ 386 w 1662"/>
                <a:gd name="T97" fmla="*/ 1252 h 1370"/>
                <a:gd name="T98" fmla="*/ 540 w 1662"/>
                <a:gd name="T99" fmla="*/ 1303 h 1370"/>
                <a:gd name="T100" fmla="*/ 717 w 1662"/>
                <a:gd name="T101" fmla="*/ 1343 h 1370"/>
                <a:gd name="T102" fmla="*/ 910 w 1662"/>
                <a:gd name="T103" fmla="*/ 1370 h 1370"/>
                <a:gd name="T104" fmla="*/ 1111 w 1662"/>
                <a:gd name="T105" fmla="*/ 1370 h 1370"/>
                <a:gd name="T106" fmla="*/ 1170 w 1662"/>
                <a:gd name="T107" fmla="*/ 1362 h 1370"/>
                <a:gd name="T108" fmla="*/ 1241 w 1662"/>
                <a:gd name="T109" fmla="*/ 1347 h 1370"/>
                <a:gd name="T110" fmla="*/ 1615 w 1662"/>
                <a:gd name="T111" fmla="*/ 693 h 1370"/>
                <a:gd name="T112" fmla="*/ 1639 w 1662"/>
                <a:gd name="T113" fmla="*/ 547 h 1370"/>
                <a:gd name="T114" fmla="*/ 1650 w 1662"/>
                <a:gd name="T115" fmla="*/ 441 h 137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62"/>
                <a:gd name="T175" fmla="*/ 0 h 1370"/>
                <a:gd name="T176" fmla="*/ 1662 w 1662"/>
                <a:gd name="T177" fmla="*/ 1370 h 137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62" h="1370">
                  <a:moveTo>
                    <a:pt x="1650" y="441"/>
                  </a:moveTo>
                  <a:lnTo>
                    <a:pt x="1650" y="319"/>
                  </a:lnTo>
                  <a:lnTo>
                    <a:pt x="1631" y="315"/>
                  </a:lnTo>
                  <a:lnTo>
                    <a:pt x="1627" y="299"/>
                  </a:lnTo>
                  <a:lnTo>
                    <a:pt x="1623" y="287"/>
                  </a:lnTo>
                  <a:lnTo>
                    <a:pt x="1615" y="279"/>
                  </a:lnTo>
                  <a:lnTo>
                    <a:pt x="1603" y="272"/>
                  </a:lnTo>
                  <a:lnTo>
                    <a:pt x="1599" y="272"/>
                  </a:lnTo>
                  <a:lnTo>
                    <a:pt x="1595" y="272"/>
                  </a:lnTo>
                  <a:lnTo>
                    <a:pt x="1587" y="256"/>
                  </a:lnTo>
                  <a:lnTo>
                    <a:pt x="1583" y="248"/>
                  </a:lnTo>
                  <a:lnTo>
                    <a:pt x="1576" y="248"/>
                  </a:lnTo>
                  <a:lnTo>
                    <a:pt x="1320" y="209"/>
                  </a:lnTo>
                  <a:lnTo>
                    <a:pt x="1237" y="193"/>
                  </a:lnTo>
                  <a:lnTo>
                    <a:pt x="1150" y="173"/>
                  </a:lnTo>
                  <a:lnTo>
                    <a:pt x="1067" y="161"/>
                  </a:lnTo>
                  <a:lnTo>
                    <a:pt x="1028" y="157"/>
                  </a:lnTo>
                  <a:lnTo>
                    <a:pt x="985" y="157"/>
                  </a:lnTo>
                  <a:lnTo>
                    <a:pt x="973" y="161"/>
                  </a:lnTo>
                  <a:lnTo>
                    <a:pt x="957" y="165"/>
                  </a:lnTo>
                  <a:lnTo>
                    <a:pt x="926" y="177"/>
                  </a:lnTo>
                  <a:lnTo>
                    <a:pt x="898" y="197"/>
                  </a:lnTo>
                  <a:lnTo>
                    <a:pt x="874" y="216"/>
                  </a:lnTo>
                  <a:lnTo>
                    <a:pt x="874" y="213"/>
                  </a:lnTo>
                  <a:lnTo>
                    <a:pt x="882" y="201"/>
                  </a:lnTo>
                  <a:lnTo>
                    <a:pt x="898" y="185"/>
                  </a:lnTo>
                  <a:lnTo>
                    <a:pt x="890" y="102"/>
                  </a:lnTo>
                  <a:lnTo>
                    <a:pt x="867" y="87"/>
                  </a:lnTo>
                  <a:lnTo>
                    <a:pt x="855" y="71"/>
                  </a:lnTo>
                  <a:lnTo>
                    <a:pt x="831" y="51"/>
                  </a:lnTo>
                  <a:lnTo>
                    <a:pt x="788" y="27"/>
                  </a:lnTo>
                  <a:lnTo>
                    <a:pt x="741" y="12"/>
                  </a:lnTo>
                  <a:lnTo>
                    <a:pt x="717" y="4"/>
                  </a:lnTo>
                  <a:lnTo>
                    <a:pt x="693" y="0"/>
                  </a:lnTo>
                  <a:lnTo>
                    <a:pt x="670" y="0"/>
                  </a:lnTo>
                  <a:lnTo>
                    <a:pt x="642" y="4"/>
                  </a:lnTo>
                  <a:lnTo>
                    <a:pt x="618" y="8"/>
                  </a:lnTo>
                  <a:lnTo>
                    <a:pt x="591" y="20"/>
                  </a:lnTo>
                  <a:lnTo>
                    <a:pt x="567" y="31"/>
                  </a:lnTo>
                  <a:lnTo>
                    <a:pt x="544" y="47"/>
                  </a:lnTo>
                  <a:lnTo>
                    <a:pt x="500" y="79"/>
                  </a:lnTo>
                  <a:lnTo>
                    <a:pt x="461" y="114"/>
                  </a:lnTo>
                  <a:lnTo>
                    <a:pt x="425" y="150"/>
                  </a:lnTo>
                  <a:lnTo>
                    <a:pt x="390" y="189"/>
                  </a:lnTo>
                  <a:lnTo>
                    <a:pt x="358" y="228"/>
                  </a:lnTo>
                  <a:lnTo>
                    <a:pt x="327" y="268"/>
                  </a:lnTo>
                  <a:lnTo>
                    <a:pt x="272" y="354"/>
                  </a:lnTo>
                  <a:lnTo>
                    <a:pt x="221" y="445"/>
                  </a:lnTo>
                  <a:lnTo>
                    <a:pt x="173" y="535"/>
                  </a:lnTo>
                  <a:lnTo>
                    <a:pt x="130" y="630"/>
                  </a:lnTo>
                  <a:lnTo>
                    <a:pt x="55" y="823"/>
                  </a:lnTo>
                  <a:lnTo>
                    <a:pt x="39" y="854"/>
                  </a:lnTo>
                  <a:lnTo>
                    <a:pt x="39" y="858"/>
                  </a:lnTo>
                  <a:lnTo>
                    <a:pt x="39" y="866"/>
                  </a:lnTo>
                  <a:lnTo>
                    <a:pt x="39" y="874"/>
                  </a:lnTo>
                  <a:lnTo>
                    <a:pt x="20" y="890"/>
                  </a:lnTo>
                  <a:lnTo>
                    <a:pt x="8" y="902"/>
                  </a:lnTo>
                  <a:lnTo>
                    <a:pt x="4" y="917"/>
                  </a:lnTo>
                  <a:lnTo>
                    <a:pt x="0" y="937"/>
                  </a:lnTo>
                  <a:lnTo>
                    <a:pt x="0" y="957"/>
                  </a:lnTo>
                  <a:lnTo>
                    <a:pt x="4" y="992"/>
                  </a:lnTo>
                  <a:lnTo>
                    <a:pt x="12" y="1028"/>
                  </a:lnTo>
                  <a:lnTo>
                    <a:pt x="20" y="1043"/>
                  </a:lnTo>
                  <a:lnTo>
                    <a:pt x="24" y="1047"/>
                  </a:lnTo>
                  <a:lnTo>
                    <a:pt x="32" y="1051"/>
                  </a:lnTo>
                  <a:lnTo>
                    <a:pt x="55" y="1059"/>
                  </a:lnTo>
                  <a:lnTo>
                    <a:pt x="59" y="1067"/>
                  </a:lnTo>
                  <a:lnTo>
                    <a:pt x="63" y="1067"/>
                  </a:lnTo>
                  <a:lnTo>
                    <a:pt x="71" y="1106"/>
                  </a:lnTo>
                  <a:lnTo>
                    <a:pt x="95" y="1118"/>
                  </a:lnTo>
                  <a:lnTo>
                    <a:pt x="158" y="1154"/>
                  </a:lnTo>
                  <a:lnTo>
                    <a:pt x="256" y="1201"/>
                  </a:lnTo>
                  <a:lnTo>
                    <a:pt x="319" y="1225"/>
                  </a:lnTo>
                  <a:lnTo>
                    <a:pt x="386" y="1252"/>
                  </a:lnTo>
                  <a:lnTo>
                    <a:pt x="461" y="1280"/>
                  </a:lnTo>
                  <a:lnTo>
                    <a:pt x="540" y="1303"/>
                  </a:lnTo>
                  <a:lnTo>
                    <a:pt x="626" y="1327"/>
                  </a:lnTo>
                  <a:lnTo>
                    <a:pt x="717" y="1343"/>
                  </a:lnTo>
                  <a:lnTo>
                    <a:pt x="811" y="1358"/>
                  </a:lnTo>
                  <a:lnTo>
                    <a:pt x="910" y="1370"/>
                  </a:lnTo>
                  <a:lnTo>
                    <a:pt x="1008" y="1370"/>
                  </a:lnTo>
                  <a:lnTo>
                    <a:pt x="1111" y="1370"/>
                  </a:lnTo>
                  <a:lnTo>
                    <a:pt x="1170" y="1362"/>
                  </a:lnTo>
                  <a:lnTo>
                    <a:pt x="1213" y="1354"/>
                  </a:lnTo>
                  <a:lnTo>
                    <a:pt x="1241" y="1347"/>
                  </a:lnTo>
                  <a:lnTo>
                    <a:pt x="1615" y="728"/>
                  </a:lnTo>
                  <a:lnTo>
                    <a:pt x="1615" y="693"/>
                  </a:lnTo>
                  <a:lnTo>
                    <a:pt x="1639" y="622"/>
                  </a:lnTo>
                  <a:lnTo>
                    <a:pt x="1639" y="547"/>
                  </a:lnTo>
                  <a:lnTo>
                    <a:pt x="1662" y="496"/>
                  </a:lnTo>
                  <a:lnTo>
                    <a:pt x="1650" y="4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15" name="Freeform 457"/>
            <p:cNvSpPr>
              <a:spLocks/>
            </p:cNvSpPr>
            <p:nvPr/>
          </p:nvSpPr>
          <p:spPr bwMode="auto">
            <a:xfrm>
              <a:off x="2983" y="2697"/>
              <a:ext cx="465" cy="339"/>
            </a:xfrm>
            <a:custGeom>
              <a:avLst/>
              <a:gdLst>
                <a:gd name="T0" fmla="*/ 465 w 465"/>
                <a:gd name="T1" fmla="*/ 197 h 339"/>
                <a:gd name="T2" fmla="*/ 465 w 465"/>
                <a:gd name="T3" fmla="*/ 197 h 339"/>
                <a:gd name="T4" fmla="*/ 445 w 465"/>
                <a:gd name="T5" fmla="*/ 225 h 339"/>
                <a:gd name="T6" fmla="*/ 422 w 465"/>
                <a:gd name="T7" fmla="*/ 249 h 339"/>
                <a:gd name="T8" fmla="*/ 386 w 465"/>
                <a:gd name="T9" fmla="*/ 276 h 339"/>
                <a:gd name="T10" fmla="*/ 347 w 465"/>
                <a:gd name="T11" fmla="*/ 304 h 339"/>
                <a:gd name="T12" fmla="*/ 323 w 465"/>
                <a:gd name="T13" fmla="*/ 315 h 339"/>
                <a:gd name="T14" fmla="*/ 300 w 465"/>
                <a:gd name="T15" fmla="*/ 327 h 339"/>
                <a:gd name="T16" fmla="*/ 276 w 465"/>
                <a:gd name="T17" fmla="*/ 335 h 339"/>
                <a:gd name="T18" fmla="*/ 248 w 465"/>
                <a:gd name="T19" fmla="*/ 339 h 339"/>
                <a:gd name="T20" fmla="*/ 221 w 465"/>
                <a:gd name="T21" fmla="*/ 339 h 339"/>
                <a:gd name="T22" fmla="*/ 189 w 465"/>
                <a:gd name="T23" fmla="*/ 335 h 339"/>
                <a:gd name="T24" fmla="*/ 189 w 465"/>
                <a:gd name="T25" fmla="*/ 335 h 339"/>
                <a:gd name="T26" fmla="*/ 134 w 465"/>
                <a:gd name="T27" fmla="*/ 323 h 339"/>
                <a:gd name="T28" fmla="*/ 87 w 465"/>
                <a:gd name="T29" fmla="*/ 312 h 339"/>
                <a:gd name="T30" fmla="*/ 51 w 465"/>
                <a:gd name="T31" fmla="*/ 292 h 339"/>
                <a:gd name="T32" fmla="*/ 24 w 465"/>
                <a:gd name="T33" fmla="*/ 276 h 339"/>
                <a:gd name="T34" fmla="*/ 12 w 465"/>
                <a:gd name="T35" fmla="*/ 264 h 339"/>
                <a:gd name="T36" fmla="*/ 8 w 465"/>
                <a:gd name="T37" fmla="*/ 252 h 339"/>
                <a:gd name="T38" fmla="*/ 4 w 465"/>
                <a:gd name="T39" fmla="*/ 241 h 339"/>
                <a:gd name="T40" fmla="*/ 0 w 465"/>
                <a:gd name="T41" fmla="*/ 229 h 339"/>
                <a:gd name="T42" fmla="*/ 4 w 465"/>
                <a:gd name="T43" fmla="*/ 217 h 339"/>
                <a:gd name="T44" fmla="*/ 8 w 465"/>
                <a:gd name="T45" fmla="*/ 205 h 339"/>
                <a:gd name="T46" fmla="*/ 16 w 465"/>
                <a:gd name="T47" fmla="*/ 193 h 339"/>
                <a:gd name="T48" fmla="*/ 24 w 465"/>
                <a:gd name="T49" fmla="*/ 178 h 339"/>
                <a:gd name="T50" fmla="*/ 24 w 465"/>
                <a:gd name="T51" fmla="*/ 178 h 339"/>
                <a:gd name="T52" fmla="*/ 55 w 465"/>
                <a:gd name="T53" fmla="*/ 150 h 339"/>
                <a:gd name="T54" fmla="*/ 95 w 465"/>
                <a:gd name="T55" fmla="*/ 123 h 339"/>
                <a:gd name="T56" fmla="*/ 142 w 465"/>
                <a:gd name="T57" fmla="*/ 95 h 339"/>
                <a:gd name="T58" fmla="*/ 189 w 465"/>
                <a:gd name="T59" fmla="*/ 71 h 339"/>
                <a:gd name="T60" fmla="*/ 280 w 465"/>
                <a:gd name="T61" fmla="*/ 32 h 339"/>
                <a:gd name="T62" fmla="*/ 339 w 465"/>
                <a:gd name="T63" fmla="*/ 8 h 339"/>
                <a:gd name="T64" fmla="*/ 339 w 465"/>
                <a:gd name="T65" fmla="*/ 8 h 339"/>
                <a:gd name="T66" fmla="*/ 374 w 465"/>
                <a:gd name="T67" fmla="*/ 4 h 339"/>
                <a:gd name="T68" fmla="*/ 398 w 465"/>
                <a:gd name="T69" fmla="*/ 0 h 339"/>
                <a:gd name="T70" fmla="*/ 422 w 465"/>
                <a:gd name="T71" fmla="*/ 4 h 33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5"/>
                <a:gd name="T109" fmla="*/ 0 h 339"/>
                <a:gd name="T110" fmla="*/ 465 w 465"/>
                <a:gd name="T111" fmla="*/ 339 h 33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5" h="339">
                  <a:moveTo>
                    <a:pt x="465" y="197"/>
                  </a:moveTo>
                  <a:lnTo>
                    <a:pt x="465" y="197"/>
                  </a:lnTo>
                  <a:lnTo>
                    <a:pt x="445" y="225"/>
                  </a:lnTo>
                  <a:lnTo>
                    <a:pt x="422" y="249"/>
                  </a:lnTo>
                  <a:lnTo>
                    <a:pt x="386" y="276"/>
                  </a:lnTo>
                  <a:lnTo>
                    <a:pt x="347" y="304"/>
                  </a:lnTo>
                  <a:lnTo>
                    <a:pt x="323" y="315"/>
                  </a:lnTo>
                  <a:lnTo>
                    <a:pt x="300" y="327"/>
                  </a:lnTo>
                  <a:lnTo>
                    <a:pt x="276" y="335"/>
                  </a:lnTo>
                  <a:lnTo>
                    <a:pt x="248" y="339"/>
                  </a:lnTo>
                  <a:lnTo>
                    <a:pt x="221" y="339"/>
                  </a:lnTo>
                  <a:lnTo>
                    <a:pt x="189" y="335"/>
                  </a:lnTo>
                  <a:lnTo>
                    <a:pt x="134" y="323"/>
                  </a:lnTo>
                  <a:lnTo>
                    <a:pt x="87" y="312"/>
                  </a:lnTo>
                  <a:lnTo>
                    <a:pt x="51" y="292"/>
                  </a:lnTo>
                  <a:lnTo>
                    <a:pt x="24" y="276"/>
                  </a:lnTo>
                  <a:lnTo>
                    <a:pt x="12" y="264"/>
                  </a:lnTo>
                  <a:lnTo>
                    <a:pt x="8" y="252"/>
                  </a:lnTo>
                  <a:lnTo>
                    <a:pt x="4" y="241"/>
                  </a:lnTo>
                  <a:lnTo>
                    <a:pt x="0" y="229"/>
                  </a:lnTo>
                  <a:lnTo>
                    <a:pt x="4" y="217"/>
                  </a:lnTo>
                  <a:lnTo>
                    <a:pt x="8" y="205"/>
                  </a:lnTo>
                  <a:lnTo>
                    <a:pt x="16" y="193"/>
                  </a:lnTo>
                  <a:lnTo>
                    <a:pt x="24" y="178"/>
                  </a:lnTo>
                  <a:lnTo>
                    <a:pt x="55" y="150"/>
                  </a:lnTo>
                  <a:lnTo>
                    <a:pt x="95" y="123"/>
                  </a:lnTo>
                  <a:lnTo>
                    <a:pt x="142" y="95"/>
                  </a:lnTo>
                  <a:lnTo>
                    <a:pt x="189" y="71"/>
                  </a:lnTo>
                  <a:lnTo>
                    <a:pt x="280" y="32"/>
                  </a:lnTo>
                  <a:lnTo>
                    <a:pt x="339" y="8"/>
                  </a:lnTo>
                  <a:lnTo>
                    <a:pt x="374" y="4"/>
                  </a:lnTo>
                  <a:lnTo>
                    <a:pt x="398" y="0"/>
                  </a:lnTo>
                  <a:lnTo>
                    <a:pt x="422" y="4"/>
                  </a:lnTo>
                </a:path>
              </a:pathLst>
            </a:custGeom>
            <a:noFill/>
            <a:ln w="68263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16" name="Freeform 458"/>
            <p:cNvSpPr>
              <a:spLocks/>
            </p:cNvSpPr>
            <p:nvPr/>
          </p:nvSpPr>
          <p:spPr bwMode="auto">
            <a:xfrm>
              <a:off x="3373" y="2071"/>
              <a:ext cx="1603" cy="1083"/>
            </a:xfrm>
            <a:custGeom>
              <a:avLst/>
              <a:gdLst>
                <a:gd name="T0" fmla="*/ 808 w 1603"/>
                <a:gd name="T1" fmla="*/ 8 h 1083"/>
                <a:gd name="T2" fmla="*/ 808 w 1603"/>
                <a:gd name="T3" fmla="*/ 8 h 1083"/>
                <a:gd name="T4" fmla="*/ 886 w 1603"/>
                <a:gd name="T5" fmla="*/ 4 h 1083"/>
                <a:gd name="T6" fmla="*/ 953 w 1603"/>
                <a:gd name="T7" fmla="*/ 0 h 1083"/>
                <a:gd name="T8" fmla="*/ 1012 w 1603"/>
                <a:gd name="T9" fmla="*/ 4 h 1083"/>
                <a:gd name="T10" fmla="*/ 1012 w 1603"/>
                <a:gd name="T11" fmla="*/ 4 h 1083"/>
                <a:gd name="T12" fmla="*/ 1103 w 1603"/>
                <a:gd name="T13" fmla="*/ 8 h 1083"/>
                <a:gd name="T14" fmla="*/ 1142 w 1603"/>
                <a:gd name="T15" fmla="*/ 12 h 1083"/>
                <a:gd name="T16" fmla="*/ 1186 w 1603"/>
                <a:gd name="T17" fmla="*/ 24 h 1083"/>
                <a:gd name="T18" fmla="*/ 1186 w 1603"/>
                <a:gd name="T19" fmla="*/ 24 h 1083"/>
                <a:gd name="T20" fmla="*/ 1276 w 1603"/>
                <a:gd name="T21" fmla="*/ 40 h 1083"/>
                <a:gd name="T22" fmla="*/ 1406 w 1603"/>
                <a:gd name="T23" fmla="*/ 63 h 1083"/>
                <a:gd name="T24" fmla="*/ 1576 w 1603"/>
                <a:gd name="T25" fmla="*/ 91 h 1083"/>
                <a:gd name="T26" fmla="*/ 1603 w 1603"/>
                <a:gd name="T27" fmla="*/ 209 h 1083"/>
                <a:gd name="T28" fmla="*/ 1580 w 1603"/>
                <a:gd name="T29" fmla="*/ 260 h 1083"/>
                <a:gd name="T30" fmla="*/ 1580 w 1603"/>
                <a:gd name="T31" fmla="*/ 335 h 1083"/>
                <a:gd name="T32" fmla="*/ 1556 w 1603"/>
                <a:gd name="T33" fmla="*/ 406 h 1083"/>
                <a:gd name="T34" fmla="*/ 1556 w 1603"/>
                <a:gd name="T35" fmla="*/ 441 h 1083"/>
                <a:gd name="T36" fmla="*/ 1182 w 1603"/>
                <a:gd name="T37" fmla="*/ 1060 h 1083"/>
                <a:gd name="T38" fmla="*/ 1182 w 1603"/>
                <a:gd name="T39" fmla="*/ 1060 h 1083"/>
                <a:gd name="T40" fmla="*/ 1154 w 1603"/>
                <a:gd name="T41" fmla="*/ 1067 h 1083"/>
                <a:gd name="T42" fmla="*/ 1111 w 1603"/>
                <a:gd name="T43" fmla="*/ 1075 h 1083"/>
                <a:gd name="T44" fmla="*/ 1052 w 1603"/>
                <a:gd name="T45" fmla="*/ 1083 h 1083"/>
                <a:gd name="T46" fmla="*/ 1052 w 1603"/>
                <a:gd name="T47" fmla="*/ 1083 h 1083"/>
                <a:gd name="T48" fmla="*/ 949 w 1603"/>
                <a:gd name="T49" fmla="*/ 1083 h 1083"/>
                <a:gd name="T50" fmla="*/ 851 w 1603"/>
                <a:gd name="T51" fmla="*/ 1083 h 1083"/>
                <a:gd name="T52" fmla="*/ 752 w 1603"/>
                <a:gd name="T53" fmla="*/ 1071 h 1083"/>
                <a:gd name="T54" fmla="*/ 658 w 1603"/>
                <a:gd name="T55" fmla="*/ 1056 h 1083"/>
                <a:gd name="T56" fmla="*/ 567 w 1603"/>
                <a:gd name="T57" fmla="*/ 1040 h 1083"/>
                <a:gd name="T58" fmla="*/ 481 w 1603"/>
                <a:gd name="T59" fmla="*/ 1016 h 1083"/>
                <a:gd name="T60" fmla="*/ 402 w 1603"/>
                <a:gd name="T61" fmla="*/ 993 h 1083"/>
                <a:gd name="T62" fmla="*/ 327 w 1603"/>
                <a:gd name="T63" fmla="*/ 965 h 1083"/>
                <a:gd name="T64" fmla="*/ 260 w 1603"/>
                <a:gd name="T65" fmla="*/ 938 h 1083"/>
                <a:gd name="T66" fmla="*/ 197 w 1603"/>
                <a:gd name="T67" fmla="*/ 914 h 1083"/>
                <a:gd name="T68" fmla="*/ 99 w 1603"/>
                <a:gd name="T69" fmla="*/ 867 h 1083"/>
                <a:gd name="T70" fmla="*/ 36 w 1603"/>
                <a:gd name="T71" fmla="*/ 831 h 1083"/>
                <a:gd name="T72" fmla="*/ 12 w 1603"/>
                <a:gd name="T73" fmla="*/ 819 h 1083"/>
                <a:gd name="T74" fmla="*/ 0 w 1603"/>
                <a:gd name="T75" fmla="*/ 768 h 1083"/>
                <a:gd name="T76" fmla="*/ 8 w 1603"/>
                <a:gd name="T77" fmla="*/ 709 h 1083"/>
                <a:gd name="T78" fmla="*/ 808 w 1603"/>
                <a:gd name="T79" fmla="*/ 8 h 108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03"/>
                <a:gd name="T121" fmla="*/ 0 h 1083"/>
                <a:gd name="T122" fmla="*/ 1603 w 1603"/>
                <a:gd name="T123" fmla="*/ 1083 h 108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03" h="1083">
                  <a:moveTo>
                    <a:pt x="808" y="8"/>
                  </a:moveTo>
                  <a:lnTo>
                    <a:pt x="808" y="8"/>
                  </a:lnTo>
                  <a:lnTo>
                    <a:pt x="886" y="4"/>
                  </a:lnTo>
                  <a:lnTo>
                    <a:pt x="953" y="0"/>
                  </a:lnTo>
                  <a:lnTo>
                    <a:pt x="1012" y="4"/>
                  </a:lnTo>
                  <a:lnTo>
                    <a:pt x="1103" y="8"/>
                  </a:lnTo>
                  <a:lnTo>
                    <a:pt x="1142" y="12"/>
                  </a:lnTo>
                  <a:lnTo>
                    <a:pt x="1186" y="24"/>
                  </a:lnTo>
                  <a:lnTo>
                    <a:pt x="1276" y="40"/>
                  </a:lnTo>
                  <a:lnTo>
                    <a:pt x="1406" y="63"/>
                  </a:lnTo>
                  <a:lnTo>
                    <a:pt x="1576" y="91"/>
                  </a:lnTo>
                  <a:lnTo>
                    <a:pt x="1603" y="209"/>
                  </a:lnTo>
                  <a:lnTo>
                    <a:pt x="1580" y="260"/>
                  </a:lnTo>
                  <a:lnTo>
                    <a:pt x="1580" y="335"/>
                  </a:lnTo>
                  <a:lnTo>
                    <a:pt x="1556" y="406"/>
                  </a:lnTo>
                  <a:lnTo>
                    <a:pt x="1556" y="441"/>
                  </a:lnTo>
                  <a:lnTo>
                    <a:pt x="1182" y="1060"/>
                  </a:lnTo>
                  <a:lnTo>
                    <a:pt x="1154" y="1067"/>
                  </a:lnTo>
                  <a:lnTo>
                    <a:pt x="1111" y="1075"/>
                  </a:lnTo>
                  <a:lnTo>
                    <a:pt x="1052" y="1083"/>
                  </a:lnTo>
                  <a:lnTo>
                    <a:pt x="949" y="1083"/>
                  </a:lnTo>
                  <a:lnTo>
                    <a:pt x="851" y="1083"/>
                  </a:lnTo>
                  <a:lnTo>
                    <a:pt x="752" y="1071"/>
                  </a:lnTo>
                  <a:lnTo>
                    <a:pt x="658" y="1056"/>
                  </a:lnTo>
                  <a:lnTo>
                    <a:pt x="567" y="1040"/>
                  </a:lnTo>
                  <a:lnTo>
                    <a:pt x="481" y="1016"/>
                  </a:lnTo>
                  <a:lnTo>
                    <a:pt x="402" y="993"/>
                  </a:lnTo>
                  <a:lnTo>
                    <a:pt x="327" y="965"/>
                  </a:lnTo>
                  <a:lnTo>
                    <a:pt x="260" y="938"/>
                  </a:lnTo>
                  <a:lnTo>
                    <a:pt x="197" y="914"/>
                  </a:lnTo>
                  <a:lnTo>
                    <a:pt x="99" y="867"/>
                  </a:lnTo>
                  <a:lnTo>
                    <a:pt x="36" y="831"/>
                  </a:lnTo>
                  <a:lnTo>
                    <a:pt x="12" y="819"/>
                  </a:lnTo>
                  <a:lnTo>
                    <a:pt x="0" y="768"/>
                  </a:lnTo>
                  <a:lnTo>
                    <a:pt x="8" y="709"/>
                  </a:lnTo>
                  <a:lnTo>
                    <a:pt x="808" y="8"/>
                  </a:lnTo>
                  <a:close/>
                </a:path>
              </a:pathLst>
            </a:custGeom>
            <a:solidFill>
              <a:srgbClr val="CCCCCC"/>
            </a:solidFill>
            <a:ln w="31750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17" name="Freeform 459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1571 w 1603"/>
                <a:gd name="T75" fmla="*/ 129 h 10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03"/>
                <a:gd name="T115" fmla="*/ 0 h 1078"/>
                <a:gd name="T116" fmla="*/ 1603 w 1603"/>
                <a:gd name="T117" fmla="*/ 1078 h 107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  <a:lnTo>
                    <a:pt x="1571" y="1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18" name="Freeform 460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03"/>
                <a:gd name="T112" fmla="*/ 0 h 1078"/>
                <a:gd name="T113" fmla="*/ 1603 w 1603"/>
                <a:gd name="T114" fmla="*/ 1078 h 107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19" name="Freeform 461"/>
            <p:cNvSpPr>
              <a:spLocks/>
            </p:cNvSpPr>
            <p:nvPr/>
          </p:nvSpPr>
          <p:spPr bwMode="auto">
            <a:xfrm>
              <a:off x="3361" y="1997"/>
              <a:ext cx="1603" cy="1130"/>
            </a:xfrm>
            <a:custGeom>
              <a:avLst/>
              <a:gdLst>
                <a:gd name="T0" fmla="*/ 1603 w 1603"/>
                <a:gd name="T1" fmla="*/ 106 h 1130"/>
                <a:gd name="T2" fmla="*/ 1603 w 1603"/>
                <a:gd name="T3" fmla="*/ 244 h 1130"/>
                <a:gd name="T4" fmla="*/ 1580 w 1603"/>
                <a:gd name="T5" fmla="*/ 370 h 1130"/>
                <a:gd name="T6" fmla="*/ 1556 w 1603"/>
                <a:gd name="T7" fmla="*/ 441 h 1130"/>
                <a:gd name="T8" fmla="*/ 1556 w 1603"/>
                <a:gd name="T9" fmla="*/ 476 h 1130"/>
                <a:gd name="T10" fmla="*/ 1182 w 1603"/>
                <a:gd name="T11" fmla="*/ 1094 h 1130"/>
                <a:gd name="T12" fmla="*/ 1123 w 1603"/>
                <a:gd name="T13" fmla="*/ 1130 h 1130"/>
                <a:gd name="T14" fmla="*/ 1123 w 1603"/>
                <a:gd name="T15" fmla="*/ 1130 h 1130"/>
                <a:gd name="T16" fmla="*/ 1091 w 1603"/>
                <a:gd name="T17" fmla="*/ 1130 h 1130"/>
                <a:gd name="T18" fmla="*/ 1052 w 1603"/>
                <a:gd name="T19" fmla="*/ 1126 h 1130"/>
                <a:gd name="T20" fmla="*/ 993 w 1603"/>
                <a:gd name="T21" fmla="*/ 1114 h 1130"/>
                <a:gd name="T22" fmla="*/ 993 w 1603"/>
                <a:gd name="T23" fmla="*/ 1114 h 1130"/>
                <a:gd name="T24" fmla="*/ 914 w 1603"/>
                <a:gd name="T25" fmla="*/ 1094 h 1130"/>
                <a:gd name="T26" fmla="*/ 784 w 1603"/>
                <a:gd name="T27" fmla="*/ 1063 h 1130"/>
                <a:gd name="T28" fmla="*/ 453 w 1603"/>
                <a:gd name="T29" fmla="*/ 976 h 1130"/>
                <a:gd name="T30" fmla="*/ 12 w 1603"/>
                <a:gd name="T31" fmla="*/ 854 h 1130"/>
                <a:gd name="T32" fmla="*/ 0 w 1603"/>
                <a:gd name="T33" fmla="*/ 803 h 1130"/>
                <a:gd name="T34" fmla="*/ 20 w 1603"/>
                <a:gd name="T35" fmla="*/ 740 h 1130"/>
                <a:gd name="T36" fmla="*/ 737 w 1603"/>
                <a:gd name="T37" fmla="*/ 106 h 1130"/>
                <a:gd name="T38" fmla="*/ 812 w 1603"/>
                <a:gd name="T39" fmla="*/ 51 h 1130"/>
                <a:gd name="T40" fmla="*/ 812 w 1603"/>
                <a:gd name="T41" fmla="*/ 51 h 1130"/>
                <a:gd name="T42" fmla="*/ 879 w 1603"/>
                <a:gd name="T43" fmla="*/ 23 h 1130"/>
                <a:gd name="T44" fmla="*/ 934 w 1603"/>
                <a:gd name="T45" fmla="*/ 7 h 1130"/>
                <a:gd name="T46" fmla="*/ 961 w 1603"/>
                <a:gd name="T47" fmla="*/ 3 h 1130"/>
                <a:gd name="T48" fmla="*/ 981 w 1603"/>
                <a:gd name="T49" fmla="*/ 0 h 1130"/>
                <a:gd name="T50" fmla="*/ 981 w 1603"/>
                <a:gd name="T51" fmla="*/ 0 h 1130"/>
                <a:gd name="T52" fmla="*/ 1036 w 1603"/>
                <a:gd name="T53" fmla="*/ 3 h 1130"/>
                <a:gd name="T54" fmla="*/ 1091 w 1603"/>
                <a:gd name="T55" fmla="*/ 11 h 1130"/>
                <a:gd name="T56" fmla="*/ 1194 w 1603"/>
                <a:gd name="T57" fmla="*/ 31 h 1130"/>
                <a:gd name="T58" fmla="*/ 1194 w 1603"/>
                <a:gd name="T59" fmla="*/ 31 h 1130"/>
                <a:gd name="T60" fmla="*/ 1395 w 1603"/>
                <a:gd name="T61" fmla="*/ 66 h 1130"/>
                <a:gd name="T62" fmla="*/ 1544 w 1603"/>
                <a:gd name="T63" fmla="*/ 94 h 1130"/>
                <a:gd name="T64" fmla="*/ 1603 w 1603"/>
                <a:gd name="T65" fmla="*/ 106 h 11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03"/>
                <a:gd name="T100" fmla="*/ 0 h 1130"/>
                <a:gd name="T101" fmla="*/ 1603 w 1603"/>
                <a:gd name="T102" fmla="*/ 1130 h 11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03" h="1130">
                  <a:moveTo>
                    <a:pt x="1603" y="106"/>
                  </a:moveTo>
                  <a:lnTo>
                    <a:pt x="1603" y="244"/>
                  </a:lnTo>
                  <a:lnTo>
                    <a:pt x="1580" y="370"/>
                  </a:lnTo>
                  <a:lnTo>
                    <a:pt x="1556" y="441"/>
                  </a:lnTo>
                  <a:lnTo>
                    <a:pt x="1556" y="476"/>
                  </a:lnTo>
                  <a:lnTo>
                    <a:pt x="1182" y="1094"/>
                  </a:lnTo>
                  <a:lnTo>
                    <a:pt x="1123" y="1130"/>
                  </a:lnTo>
                  <a:lnTo>
                    <a:pt x="1091" y="1130"/>
                  </a:lnTo>
                  <a:lnTo>
                    <a:pt x="1052" y="1126"/>
                  </a:lnTo>
                  <a:lnTo>
                    <a:pt x="993" y="1114"/>
                  </a:lnTo>
                  <a:lnTo>
                    <a:pt x="914" y="1094"/>
                  </a:lnTo>
                  <a:lnTo>
                    <a:pt x="784" y="1063"/>
                  </a:lnTo>
                  <a:lnTo>
                    <a:pt x="453" y="976"/>
                  </a:lnTo>
                  <a:lnTo>
                    <a:pt x="12" y="854"/>
                  </a:lnTo>
                  <a:lnTo>
                    <a:pt x="0" y="803"/>
                  </a:lnTo>
                  <a:lnTo>
                    <a:pt x="20" y="740"/>
                  </a:lnTo>
                  <a:lnTo>
                    <a:pt x="737" y="106"/>
                  </a:lnTo>
                  <a:lnTo>
                    <a:pt x="812" y="51"/>
                  </a:lnTo>
                  <a:lnTo>
                    <a:pt x="879" y="23"/>
                  </a:lnTo>
                  <a:lnTo>
                    <a:pt x="934" y="7"/>
                  </a:lnTo>
                  <a:lnTo>
                    <a:pt x="961" y="3"/>
                  </a:lnTo>
                  <a:lnTo>
                    <a:pt x="981" y="0"/>
                  </a:lnTo>
                  <a:lnTo>
                    <a:pt x="1036" y="3"/>
                  </a:lnTo>
                  <a:lnTo>
                    <a:pt x="1091" y="11"/>
                  </a:lnTo>
                  <a:lnTo>
                    <a:pt x="1194" y="31"/>
                  </a:lnTo>
                  <a:lnTo>
                    <a:pt x="1395" y="66"/>
                  </a:lnTo>
                  <a:lnTo>
                    <a:pt x="1544" y="94"/>
                  </a:lnTo>
                  <a:lnTo>
                    <a:pt x="1603" y="106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0" name="Freeform 462"/>
            <p:cNvSpPr>
              <a:spLocks/>
            </p:cNvSpPr>
            <p:nvPr/>
          </p:nvSpPr>
          <p:spPr bwMode="auto">
            <a:xfrm>
              <a:off x="3314" y="1941"/>
              <a:ext cx="1635" cy="1190"/>
            </a:xfrm>
            <a:custGeom>
              <a:avLst/>
              <a:gdLst>
                <a:gd name="T0" fmla="*/ 1595 w 1635"/>
                <a:gd name="T1" fmla="*/ 233 h 1190"/>
                <a:gd name="T2" fmla="*/ 1580 w 1635"/>
                <a:gd name="T3" fmla="*/ 390 h 1190"/>
                <a:gd name="T4" fmla="*/ 1524 w 1635"/>
                <a:gd name="T5" fmla="*/ 536 h 1190"/>
                <a:gd name="T6" fmla="*/ 1201 w 1635"/>
                <a:gd name="T7" fmla="*/ 1111 h 1190"/>
                <a:gd name="T8" fmla="*/ 1182 w 1635"/>
                <a:gd name="T9" fmla="*/ 1146 h 1190"/>
                <a:gd name="T10" fmla="*/ 1186 w 1635"/>
                <a:gd name="T11" fmla="*/ 1146 h 1190"/>
                <a:gd name="T12" fmla="*/ 989 w 1635"/>
                <a:gd name="T13" fmla="*/ 1107 h 1190"/>
                <a:gd name="T14" fmla="*/ 693 w 1635"/>
                <a:gd name="T15" fmla="*/ 1032 h 1190"/>
                <a:gd name="T16" fmla="*/ 35 w 1635"/>
                <a:gd name="T17" fmla="*/ 855 h 1190"/>
                <a:gd name="T18" fmla="*/ 43 w 1635"/>
                <a:gd name="T19" fmla="*/ 879 h 1190"/>
                <a:gd name="T20" fmla="*/ 39 w 1635"/>
                <a:gd name="T21" fmla="*/ 776 h 1190"/>
                <a:gd name="T22" fmla="*/ 47 w 1635"/>
                <a:gd name="T23" fmla="*/ 776 h 1190"/>
                <a:gd name="T24" fmla="*/ 225 w 1635"/>
                <a:gd name="T25" fmla="*/ 623 h 1190"/>
                <a:gd name="T26" fmla="*/ 662 w 1635"/>
                <a:gd name="T27" fmla="*/ 260 h 1190"/>
                <a:gd name="T28" fmla="*/ 772 w 1635"/>
                <a:gd name="T29" fmla="*/ 170 h 1190"/>
                <a:gd name="T30" fmla="*/ 867 w 1635"/>
                <a:gd name="T31" fmla="*/ 122 h 1190"/>
                <a:gd name="T32" fmla="*/ 965 w 1635"/>
                <a:gd name="T33" fmla="*/ 56 h 1190"/>
                <a:gd name="T34" fmla="*/ 1001 w 1635"/>
                <a:gd name="T35" fmla="*/ 44 h 1190"/>
                <a:gd name="T36" fmla="*/ 1123 w 1635"/>
                <a:gd name="T37" fmla="*/ 52 h 1190"/>
                <a:gd name="T38" fmla="*/ 1327 w 1635"/>
                <a:gd name="T39" fmla="*/ 91 h 1190"/>
                <a:gd name="T40" fmla="*/ 1583 w 1635"/>
                <a:gd name="T41" fmla="*/ 130 h 1190"/>
                <a:gd name="T42" fmla="*/ 1595 w 1635"/>
                <a:gd name="T43" fmla="*/ 122 h 1190"/>
                <a:gd name="T44" fmla="*/ 1583 w 1635"/>
                <a:gd name="T45" fmla="*/ 91 h 1190"/>
                <a:gd name="T46" fmla="*/ 1320 w 1635"/>
                <a:gd name="T47" fmla="*/ 52 h 1190"/>
                <a:gd name="T48" fmla="*/ 1150 w 1635"/>
                <a:gd name="T49" fmla="*/ 16 h 1190"/>
                <a:gd name="T50" fmla="*/ 985 w 1635"/>
                <a:gd name="T51" fmla="*/ 0 h 1190"/>
                <a:gd name="T52" fmla="*/ 953 w 1635"/>
                <a:gd name="T53" fmla="*/ 8 h 1190"/>
                <a:gd name="T54" fmla="*/ 863 w 1635"/>
                <a:gd name="T55" fmla="*/ 67 h 1190"/>
                <a:gd name="T56" fmla="*/ 796 w 1635"/>
                <a:gd name="T57" fmla="*/ 111 h 1190"/>
                <a:gd name="T58" fmla="*/ 697 w 1635"/>
                <a:gd name="T59" fmla="*/ 166 h 1190"/>
                <a:gd name="T60" fmla="*/ 626 w 1635"/>
                <a:gd name="T61" fmla="*/ 229 h 1190"/>
                <a:gd name="T62" fmla="*/ 20 w 1635"/>
                <a:gd name="T63" fmla="*/ 733 h 1190"/>
                <a:gd name="T64" fmla="*/ 4 w 1635"/>
                <a:gd name="T65" fmla="*/ 760 h 1190"/>
                <a:gd name="T66" fmla="*/ 4 w 1635"/>
                <a:gd name="T67" fmla="*/ 835 h 1190"/>
                <a:gd name="T68" fmla="*/ 20 w 1635"/>
                <a:gd name="T69" fmla="*/ 886 h 1190"/>
                <a:gd name="T70" fmla="*/ 32 w 1635"/>
                <a:gd name="T71" fmla="*/ 894 h 1190"/>
                <a:gd name="T72" fmla="*/ 729 w 1635"/>
                <a:gd name="T73" fmla="*/ 1083 h 1190"/>
                <a:gd name="T74" fmla="*/ 1119 w 1635"/>
                <a:gd name="T75" fmla="*/ 1178 h 1190"/>
                <a:gd name="T76" fmla="*/ 1205 w 1635"/>
                <a:gd name="T77" fmla="*/ 1190 h 1190"/>
                <a:gd name="T78" fmla="*/ 1536 w 1635"/>
                <a:gd name="T79" fmla="*/ 603 h 1190"/>
                <a:gd name="T80" fmla="*/ 1583 w 1635"/>
                <a:gd name="T81" fmla="*/ 516 h 1190"/>
                <a:gd name="T82" fmla="*/ 1587 w 1635"/>
                <a:gd name="T83" fmla="*/ 489 h 1190"/>
                <a:gd name="T84" fmla="*/ 1611 w 1635"/>
                <a:gd name="T85" fmla="*/ 414 h 1190"/>
                <a:gd name="T86" fmla="*/ 1627 w 1635"/>
                <a:gd name="T87" fmla="*/ 347 h 1190"/>
                <a:gd name="T88" fmla="*/ 1631 w 1635"/>
                <a:gd name="T89" fmla="*/ 213 h 1190"/>
                <a:gd name="T90" fmla="*/ 1623 w 1635"/>
                <a:gd name="T91" fmla="*/ 130 h 1190"/>
                <a:gd name="T92" fmla="*/ 1599 w 1635"/>
                <a:gd name="T93" fmla="*/ 115 h 1190"/>
                <a:gd name="T94" fmla="*/ 1595 w 1635"/>
                <a:gd name="T95" fmla="*/ 126 h 1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35"/>
                <a:gd name="T145" fmla="*/ 0 h 1190"/>
                <a:gd name="T146" fmla="*/ 1635 w 1635"/>
                <a:gd name="T147" fmla="*/ 1190 h 1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35" h="1190">
                  <a:moveTo>
                    <a:pt x="1595" y="126"/>
                  </a:moveTo>
                  <a:lnTo>
                    <a:pt x="1595" y="126"/>
                  </a:lnTo>
                  <a:lnTo>
                    <a:pt x="1595" y="233"/>
                  </a:lnTo>
                  <a:lnTo>
                    <a:pt x="1591" y="284"/>
                  </a:lnTo>
                  <a:lnTo>
                    <a:pt x="1587" y="339"/>
                  </a:lnTo>
                  <a:lnTo>
                    <a:pt x="1580" y="390"/>
                  </a:lnTo>
                  <a:lnTo>
                    <a:pt x="1564" y="441"/>
                  </a:lnTo>
                  <a:lnTo>
                    <a:pt x="1548" y="489"/>
                  </a:lnTo>
                  <a:lnTo>
                    <a:pt x="1524" y="536"/>
                  </a:lnTo>
                  <a:lnTo>
                    <a:pt x="1201" y="1111"/>
                  </a:lnTo>
                  <a:lnTo>
                    <a:pt x="1186" y="1142"/>
                  </a:lnTo>
                  <a:lnTo>
                    <a:pt x="1182" y="1146"/>
                  </a:lnTo>
                  <a:lnTo>
                    <a:pt x="1182" y="1150"/>
                  </a:lnTo>
                  <a:lnTo>
                    <a:pt x="1186" y="1146"/>
                  </a:lnTo>
                  <a:lnTo>
                    <a:pt x="1087" y="1131"/>
                  </a:lnTo>
                  <a:lnTo>
                    <a:pt x="989" y="1107"/>
                  </a:lnTo>
                  <a:lnTo>
                    <a:pt x="839" y="1071"/>
                  </a:lnTo>
                  <a:lnTo>
                    <a:pt x="693" y="1032"/>
                  </a:lnTo>
                  <a:lnTo>
                    <a:pt x="35" y="855"/>
                  </a:lnTo>
                  <a:lnTo>
                    <a:pt x="24" y="851"/>
                  </a:lnTo>
                  <a:lnTo>
                    <a:pt x="43" y="879"/>
                  </a:lnTo>
                  <a:lnTo>
                    <a:pt x="39" y="827"/>
                  </a:lnTo>
                  <a:lnTo>
                    <a:pt x="39" y="776"/>
                  </a:lnTo>
                  <a:lnTo>
                    <a:pt x="39" y="780"/>
                  </a:lnTo>
                  <a:lnTo>
                    <a:pt x="47" y="776"/>
                  </a:lnTo>
                  <a:lnTo>
                    <a:pt x="59" y="760"/>
                  </a:lnTo>
                  <a:lnTo>
                    <a:pt x="225" y="623"/>
                  </a:lnTo>
                  <a:lnTo>
                    <a:pt x="662" y="260"/>
                  </a:lnTo>
                  <a:lnTo>
                    <a:pt x="744" y="189"/>
                  </a:lnTo>
                  <a:lnTo>
                    <a:pt x="772" y="170"/>
                  </a:lnTo>
                  <a:lnTo>
                    <a:pt x="804" y="154"/>
                  </a:lnTo>
                  <a:lnTo>
                    <a:pt x="835" y="138"/>
                  </a:lnTo>
                  <a:lnTo>
                    <a:pt x="867" y="122"/>
                  </a:lnTo>
                  <a:lnTo>
                    <a:pt x="930" y="75"/>
                  </a:lnTo>
                  <a:lnTo>
                    <a:pt x="965" y="56"/>
                  </a:lnTo>
                  <a:lnTo>
                    <a:pt x="985" y="48"/>
                  </a:lnTo>
                  <a:lnTo>
                    <a:pt x="1001" y="44"/>
                  </a:lnTo>
                  <a:lnTo>
                    <a:pt x="1040" y="44"/>
                  </a:lnTo>
                  <a:lnTo>
                    <a:pt x="1083" y="44"/>
                  </a:lnTo>
                  <a:lnTo>
                    <a:pt x="1123" y="52"/>
                  </a:lnTo>
                  <a:lnTo>
                    <a:pt x="1166" y="59"/>
                  </a:lnTo>
                  <a:lnTo>
                    <a:pt x="1249" y="75"/>
                  </a:lnTo>
                  <a:lnTo>
                    <a:pt x="1327" y="91"/>
                  </a:lnTo>
                  <a:lnTo>
                    <a:pt x="1583" y="130"/>
                  </a:lnTo>
                  <a:lnTo>
                    <a:pt x="1591" y="130"/>
                  </a:lnTo>
                  <a:lnTo>
                    <a:pt x="1595" y="126"/>
                  </a:lnTo>
                  <a:lnTo>
                    <a:pt x="1595" y="122"/>
                  </a:lnTo>
                  <a:lnTo>
                    <a:pt x="1595" y="115"/>
                  </a:lnTo>
                  <a:lnTo>
                    <a:pt x="1587" y="99"/>
                  </a:lnTo>
                  <a:lnTo>
                    <a:pt x="1583" y="91"/>
                  </a:lnTo>
                  <a:lnTo>
                    <a:pt x="1576" y="91"/>
                  </a:lnTo>
                  <a:lnTo>
                    <a:pt x="1320" y="52"/>
                  </a:lnTo>
                  <a:lnTo>
                    <a:pt x="1237" y="36"/>
                  </a:lnTo>
                  <a:lnTo>
                    <a:pt x="1150" y="16"/>
                  </a:lnTo>
                  <a:lnTo>
                    <a:pt x="1067" y="4"/>
                  </a:lnTo>
                  <a:lnTo>
                    <a:pt x="1028" y="0"/>
                  </a:lnTo>
                  <a:lnTo>
                    <a:pt x="985" y="0"/>
                  </a:lnTo>
                  <a:lnTo>
                    <a:pt x="969" y="4"/>
                  </a:lnTo>
                  <a:lnTo>
                    <a:pt x="953" y="8"/>
                  </a:lnTo>
                  <a:lnTo>
                    <a:pt x="922" y="24"/>
                  </a:lnTo>
                  <a:lnTo>
                    <a:pt x="886" y="48"/>
                  </a:lnTo>
                  <a:lnTo>
                    <a:pt x="863" y="67"/>
                  </a:lnTo>
                  <a:lnTo>
                    <a:pt x="831" y="91"/>
                  </a:lnTo>
                  <a:lnTo>
                    <a:pt x="796" y="111"/>
                  </a:lnTo>
                  <a:lnTo>
                    <a:pt x="721" y="150"/>
                  </a:lnTo>
                  <a:lnTo>
                    <a:pt x="697" y="166"/>
                  </a:lnTo>
                  <a:lnTo>
                    <a:pt x="674" y="185"/>
                  </a:lnTo>
                  <a:lnTo>
                    <a:pt x="626" y="229"/>
                  </a:lnTo>
                  <a:lnTo>
                    <a:pt x="169" y="607"/>
                  </a:lnTo>
                  <a:lnTo>
                    <a:pt x="20" y="733"/>
                  </a:lnTo>
                  <a:lnTo>
                    <a:pt x="8" y="745"/>
                  </a:lnTo>
                  <a:lnTo>
                    <a:pt x="4" y="760"/>
                  </a:lnTo>
                  <a:lnTo>
                    <a:pt x="0" y="780"/>
                  </a:lnTo>
                  <a:lnTo>
                    <a:pt x="0" y="800"/>
                  </a:lnTo>
                  <a:lnTo>
                    <a:pt x="4" y="835"/>
                  </a:lnTo>
                  <a:lnTo>
                    <a:pt x="12" y="871"/>
                  </a:lnTo>
                  <a:lnTo>
                    <a:pt x="20" y="886"/>
                  </a:lnTo>
                  <a:lnTo>
                    <a:pt x="24" y="890"/>
                  </a:lnTo>
                  <a:lnTo>
                    <a:pt x="32" y="894"/>
                  </a:lnTo>
                  <a:lnTo>
                    <a:pt x="571" y="1040"/>
                  </a:lnTo>
                  <a:lnTo>
                    <a:pt x="729" y="1083"/>
                  </a:lnTo>
                  <a:lnTo>
                    <a:pt x="882" y="1127"/>
                  </a:lnTo>
                  <a:lnTo>
                    <a:pt x="1040" y="1162"/>
                  </a:lnTo>
                  <a:lnTo>
                    <a:pt x="1119" y="1178"/>
                  </a:lnTo>
                  <a:lnTo>
                    <a:pt x="1197" y="1190"/>
                  </a:lnTo>
                  <a:lnTo>
                    <a:pt x="1205" y="1190"/>
                  </a:lnTo>
                  <a:lnTo>
                    <a:pt x="1209" y="1186"/>
                  </a:lnTo>
                  <a:lnTo>
                    <a:pt x="1536" y="603"/>
                  </a:lnTo>
                  <a:lnTo>
                    <a:pt x="1583" y="516"/>
                  </a:lnTo>
                  <a:lnTo>
                    <a:pt x="1587" y="504"/>
                  </a:lnTo>
                  <a:lnTo>
                    <a:pt x="1587" y="489"/>
                  </a:lnTo>
                  <a:lnTo>
                    <a:pt x="1591" y="469"/>
                  </a:lnTo>
                  <a:lnTo>
                    <a:pt x="1595" y="449"/>
                  </a:lnTo>
                  <a:lnTo>
                    <a:pt x="1611" y="414"/>
                  </a:lnTo>
                  <a:lnTo>
                    <a:pt x="1619" y="382"/>
                  </a:lnTo>
                  <a:lnTo>
                    <a:pt x="1627" y="347"/>
                  </a:lnTo>
                  <a:lnTo>
                    <a:pt x="1631" y="315"/>
                  </a:lnTo>
                  <a:lnTo>
                    <a:pt x="1635" y="280"/>
                  </a:lnTo>
                  <a:lnTo>
                    <a:pt x="1631" y="213"/>
                  </a:lnTo>
                  <a:lnTo>
                    <a:pt x="1627" y="142"/>
                  </a:lnTo>
                  <a:lnTo>
                    <a:pt x="1623" y="130"/>
                  </a:lnTo>
                  <a:lnTo>
                    <a:pt x="1611" y="119"/>
                  </a:lnTo>
                  <a:lnTo>
                    <a:pt x="1603" y="115"/>
                  </a:lnTo>
                  <a:lnTo>
                    <a:pt x="1599" y="115"/>
                  </a:lnTo>
                  <a:lnTo>
                    <a:pt x="1595" y="119"/>
                  </a:lnTo>
                  <a:lnTo>
                    <a:pt x="1595" y="1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1" name="Freeform 463"/>
            <p:cNvSpPr>
              <a:spLocks/>
            </p:cNvSpPr>
            <p:nvPr/>
          </p:nvSpPr>
          <p:spPr bwMode="auto">
            <a:xfrm>
              <a:off x="3369" y="1804"/>
              <a:ext cx="804" cy="1000"/>
            </a:xfrm>
            <a:custGeom>
              <a:avLst/>
              <a:gdLst>
                <a:gd name="T0" fmla="*/ 0 w 804"/>
                <a:gd name="T1" fmla="*/ 854 h 1000"/>
                <a:gd name="T2" fmla="*/ 0 w 804"/>
                <a:gd name="T3" fmla="*/ 854 h 1000"/>
                <a:gd name="T4" fmla="*/ 28 w 804"/>
                <a:gd name="T5" fmla="*/ 783 h 1000"/>
                <a:gd name="T6" fmla="*/ 59 w 804"/>
                <a:gd name="T7" fmla="*/ 708 h 1000"/>
                <a:gd name="T8" fmla="*/ 99 w 804"/>
                <a:gd name="T9" fmla="*/ 618 h 1000"/>
                <a:gd name="T10" fmla="*/ 146 w 804"/>
                <a:gd name="T11" fmla="*/ 511 h 1000"/>
                <a:gd name="T12" fmla="*/ 205 w 804"/>
                <a:gd name="T13" fmla="*/ 405 h 1000"/>
                <a:gd name="T14" fmla="*/ 268 w 804"/>
                <a:gd name="T15" fmla="*/ 299 h 1000"/>
                <a:gd name="T16" fmla="*/ 300 w 804"/>
                <a:gd name="T17" fmla="*/ 252 h 1000"/>
                <a:gd name="T18" fmla="*/ 335 w 804"/>
                <a:gd name="T19" fmla="*/ 208 h 1000"/>
                <a:gd name="T20" fmla="*/ 335 w 804"/>
                <a:gd name="T21" fmla="*/ 208 h 1000"/>
                <a:gd name="T22" fmla="*/ 410 w 804"/>
                <a:gd name="T23" fmla="*/ 118 h 1000"/>
                <a:gd name="T24" fmla="*/ 520 w 804"/>
                <a:gd name="T25" fmla="*/ 23 h 1000"/>
                <a:gd name="T26" fmla="*/ 520 w 804"/>
                <a:gd name="T27" fmla="*/ 23 h 1000"/>
                <a:gd name="T28" fmla="*/ 532 w 804"/>
                <a:gd name="T29" fmla="*/ 19 h 1000"/>
                <a:gd name="T30" fmla="*/ 563 w 804"/>
                <a:gd name="T31" fmla="*/ 7 h 1000"/>
                <a:gd name="T32" fmla="*/ 583 w 804"/>
                <a:gd name="T33" fmla="*/ 4 h 1000"/>
                <a:gd name="T34" fmla="*/ 607 w 804"/>
                <a:gd name="T35" fmla="*/ 0 h 1000"/>
                <a:gd name="T36" fmla="*/ 634 w 804"/>
                <a:gd name="T37" fmla="*/ 0 h 1000"/>
                <a:gd name="T38" fmla="*/ 662 w 804"/>
                <a:gd name="T39" fmla="*/ 4 h 1000"/>
                <a:gd name="T40" fmla="*/ 662 w 804"/>
                <a:gd name="T41" fmla="*/ 4 h 1000"/>
                <a:gd name="T42" fmla="*/ 686 w 804"/>
                <a:gd name="T43" fmla="*/ 11 h 1000"/>
                <a:gd name="T44" fmla="*/ 713 w 804"/>
                <a:gd name="T45" fmla="*/ 19 h 1000"/>
                <a:gd name="T46" fmla="*/ 756 w 804"/>
                <a:gd name="T47" fmla="*/ 39 h 1000"/>
                <a:gd name="T48" fmla="*/ 800 w 804"/>
                <a:gd name="T49" fmla="*/ 67 h 1000"/>
                <a:gd name="T50" fmla="*/ 804 w 804"/>
                <a:gd name="T51" fmla="*/ 145 h 1000"/>
                <a:gd name="T52" fmla="*/ 788 w 804"/>
                <a:gd name="T53" fmla="*/ 161 h 1000"/>
                <a:gd name="T54" fmla="*/ 772 w 804"/>
                <a:gd name="T55" fmla="*/ 224 h 1000"/>
                <a:gd name="T56" fmla="*/ 749 w 804"/>
                <a:gd name="T57" fmla="*/ 244 h 1000"/>
                <a:gd name="T58" fmla="*/ 737 w 804"/>
                <a:gd name="T59" fmla="*/ 240 h 1000"/>
                <a:gd name="T60" fmla="*/ 737 w 804"/>
                <a:gd name="T61" fmla="*/ 240 h 1000"/>
                <a:gd name="T62" fmla="*/ 705 w 804"/>
                <a:gd name="T63" fmla="*/ 267 h 1000"/>
                <a:gd name="T64" fmla="*/ 626 w 804"/>
                <a:gd name="T65" fmla="*/ 346 h 1000"/>
                <a:gd name="T66" fmla="*/ 579 w 804"/>
                <a:gd name="T67" fmla="*/ 397 h 1000"/>
                <a:gd name="T68" fmla="*/ 532 w 804"/>
                <a:gd name="T69" fmla="*/ 456 h 1000"/>
                <a:gd name="T70" fmla="*/ 489 w 804"/>
                <a:gd name="T71" fmla="*/ 519 h 1000"/>
                <a:gd name="T72" fmla="*/ 449 w 804"/>
                <a:gd name="T73" fmla="*/ 586 h 1000"/>
                <a:gd name="T74" fmla="*/ 449 w 804"/>
                <a:gd name="T75" fmla="*/ 586 h 1000"/>
                <a:gd name="T76" fmla="*/ 272 w 804"/>
                <a:gd name="T77" fmla="*/ 960 h 1000"/>
                <a:gd name="T78" fmla="*/ 181 w 804"/>
                <a:gd name="T79" fmla="*/ 1000 h 1000"/>
                <a:gd name="T80" fmla="*/ 91 w 804"/>
                <a:gd name="T81" fmla="*/ 984 h 1000"/>
                <a:gd name="T82" fmla="*/ 91 w 804"/>
                <a:gd name="T83" fmla="*/ 984 h 1000"/>
                <a:gd name="T84" fmla="*/ 59 w 804"/>
                <a:gd name="T85" fmla="*/ 976 h 1000"/>
                <a:gd name="T86" fmla="*/ 36 w 804"/>
                <a:gd name="T87" fmla="*/ 964 h 1000"/>
                <a:gd name="T88" fmla="*/ 20 w 804"/>
                <a:gd name="T89" fmla="*/ 953 h 1000"/>
                <a:gd name="T90" fmla="*/ 8 w 804"/>
                <a:gd name="T91" fmla="*/ 937 h 1000"/>
                <a:gd name="T92" fmla="*/ 4 w 804"/>
                <a:gd name="T93" fmla="*/ 921 h 1000"/>
                <a:gd name="T94" fmla="*/ 0 w 804"/>
                <a:gd name="T95" fmla="*/ 909 h 1000"/>
                <a:gd name="T96" fmla="*/ 0 w 804"/>
                <a:gd name="T97" fmla="*/ 901 h 1000"/>
                <a:gd name="T98" fmla="*/ 0 w 804"/>
                <a:gd name="T99" fmla="*/ 854 h 10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4"/>
                <a:gd name="T151" fmla="*/ 0 h 1000"/>
                <a:gd name="T152" fmla="*/ 804 w 804"/>
                <a:gd name="T153" fmla="*/ 1000 h 100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4" h="1000">
                  <a:moveTo>
                    <a:pt x="0" y="854"/>
                  </a:moveTo>
                  <a:lnTo>
                    <a:pt x="0" y="854"/>
                  </a:lnTo>
                  <a:lnTo>
                    <a:pt x="28" y="783"/>
                  </a:lnTo>
                  <a:lnTo>
                    <a:pt x="59" y="708"/>
                  </a:lnTo>
                  <a:lnTo>
                    <a:pt x="99" y="618"/>
                  </a:lnTo>
                  <a:lnTo>
                    <a:pt x="146" y="511"/>
                  </a:lnTo>
                  <a:lnTo>
                    <a:pt x="205" y="405"/>
                  </a:lnTo>
                  <a:lnTo>
                    <a:pt x="268" y="299"/>
                  </a:lnTo>
                  <a:lnTo>
                    <a:pt x="300" y="252"/>
                  </a:lnTo>
                  <a:lnTo>
                    <a:pt x="335" y="208"/>
                  </a:lnTo>
                  <a:lnTo>
                    <a:pt x="410" y="118"/>
                  </a:lnTo>
                  <a:lnTo>
                    <a:pt x="520" y="23"/>
                  </a:lnTo>
                  <a:lnTo>
                    <a:pt x="532" y="19"/>
                  </a:lnTo>
                  <a:lnTo>
                    <a:pt x="563" y="7"/>
                  </a:lnTo>
                  <a:lnTo>
                    <a:pt x="583" y="4"/>
                  </a:lnTo>
                  <a:lnTo>
                    <a:pt x="607" y="0"/>
                  </a:lnTo>
                  <a:lnTo>
                    <a:pt x="634" y="0"/>
                  </a:lnTo>
                  <a:lnTo>
                    <a:pt x="662" y="4"/>
                  </a:lnTo>
                  <a:lnTo>
                    <a:pt x="686" y="11"/>
                  </a:lnTo>
                  <a:lnTo>
                    <a:pt x="713" y="19"/>
                  </a:lnTo>
                  <a:lnTo>
                    <a:pt x="756" y="39"/>
                  </a:lnTo>
                  <a:lnTo>
                    <a:pt x="800" y="67"/>
                  </a:lnTo>
                  <a:lnTo>
                    <a:pt x="804" y="145"/>
                  </a:lnTo>
                  <a:lnTo>
                    <a:pt x="788" y="161"/>
                  </a:lnTo>
                  <a:lnTo>
                    <a:pt x="772" y="224"/>
                  </a:lnTo>
                  <a:lnTo>
                    <a:pt x="749" y="244"/>
                  </a:lnTo>
                  <a:lnTo>
                    <a:pt x="737" y="240"/>
                  </a:lnTo>
                  <a:lnTo>
                    <a:pt x="705" y="267"/>
                  </a:lnTo>
                  <a:lnTo>
                    <a:pt x="626" y="346"/>
                  </a:lnTo>
                  <a:lnTo>
                    <a:pt x="579" y="397"/>
                  </a:lnTo>
                  <a:lnTo>
                    <a:pt x="532" y="456"/>
                  </a:lnTo>
                  <a:lnTo>
                    <a:pt x="489" y="519"/>
                  </a:lnTo>
                  <a:lnTo>
                    <a:pt x="449" y="586"/>
                  </a:lnTo>
                  <a:lnTo>
                    <a:pt x="272" y="960"/>
                  </a:lnTo>
                  <a:lnTo>
                    <a:pt x="181" y="1000"/>
                  </a:lnTo>
                  <a:lnTo>
                    <a:pt x="91" y="984"/>
                  </a:lnTo>
                  <a:lnTo>
                    <a:pt x="59" y="976"/>
                  </a:lnTo>
                  <a:lnTo>
                    <a:pt x="36" y="964"/>
                  </a:lnTo>
                  <a:lnTo>
                    <a:pt x="20" y="953"/>
                  </a:lnTo>
                  <a:lnTo>
                    <a:pt x="8" y="937"/>
                  </a:lnTo>
                  <a:lnTo>
                    <a:pt x="4" y="921"/>
                  </a:lnTo>
                  <a:lnTo>
                    <a:pt x="0" y="909"/>
                  </a:lnTo>
                  <a:lnTo>
                    <a:pt x="0" y="901"/>
                  </a:lnTo>
                  <a:lnTo>
                    <a:pt x="0" y="85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2" name="Freeform 464"/>
            <p:cNvSpPr>
              <a:spLocks/>
            </p:cNvSpPr>
            <p:nvPr/>
          </p:nvSpPr>
          <p:spPr bwMode="auto">
            <a:xfrm>
              <a:off x="3405" y="1823"/>
              <a:ext cx="807" cy="997"/>
            </a:xfrm>
            <a:custGeom>
              <a:avLst/>
              <a:gdLst>
                <a:gd name="T0" fmla="*/ 0 w 807"/>
                <a:gd name="T1" fmla="*/ 835 h 997"/>
                <a:gd name="T2" fmla="*/ 0 w 807"/>
                <a:gd name="T3" fmla="*/ 835 h 997"/>
                <a:gd name="T4" fmla="*/ 27 w 807"/>
                <a:gd name="T5" fmla="*/ 768 h 997"/>
                <a:gd name="T6" fmla="*/ 59 w 807"/>
                <a:gd name="T7" fmla="*/ 693 h 997"/>
                <a:gd name="T8" fmla="*/ 98 w 807"/>
                <a:gd name="T9" fmla="*/ 603 h 997"/>
                <a:gd name="T10" fmla="*/ 149 w 807"/>
                <a:gd name="T11" fmla="*/ 500 h 997"/>
                <a:gd name="T12" fmla="*/ 204 w 807"/>
                <a:gd name="T13" fmla="*/ 394 h 997"/>
                <a:gd name="T14" fmla="*/ 267 w 807"/>
                <a:gd name="T15" fmla="*/ 288 h 997"/>
                <a:gd name="T16" fmla="*/ 299 w 807"/>
                <a:gd name="T17" fmla="*/ 240 h 997"/>
                <a:gd name="T18" fmla="*/ 334 w 807"/>
                <a:gd name="T19" fmla="*/ 197 h 997"/>
                <a:gd name="T20" fmla="*/ 334 w 807"/>
                <a:gd name="T21" fmla="*/ 197 h 997"/>
                <a:gd name="T22" fmla="*/ 413 w 807"/>
                <a:gd name="T23" fmla="*/ 114 h 997"/>
                <a:gd name="T24" fmla="*/ 523 w 807"/>
                <a:gd name="T25" fmla="*/ 24 h 997"/>
                <a:gd name="T26" fmla="*/ 523 w 807"/>
                <a:gd name="T27" fmla="*/ 24 h 997"/>
                <a:gd name="T28" fmla="*/ 535 w 807"/>
                <a:gd name="T29" fmla="*/ 16 h 997"/>
                <a:gd name="T30" fmla="*/ 567 w 807"/>
                <a:gd name="T31" fmla="*/ 8 h 997"/>
                <a:gd name="T32" fmla="*/ 587 w 807"/>
                <a:gd name="T33" fmla="*/ 4 h 997"/>
                <a:gd name="T34" fmla="*/ 610 w 807"/>
                <a:gd name="T35" fmla="*/ 0 h 997"/>
                <a:gd name="T36" fmla="*/ 638 w 807"/>
                <a:gd name="T37" fmla="*/ 0 h 997"/>
                <a:gd name="T38" fmla="*/ 661 w 807"/>
                <a:gd name="T39" fmla="*/ 4 h 997"/>
                <a:gd name="T40" fmla="*/ 661 w 807"/>
                <a:gd name="T41" fmla="*/ 4 h 997"/>
                <a:gd name="T42" fmla="*/ 689 w 807"/>
                <a:gd name="T43" fmla="*/ 8 h 997"/>
                <a:gd name="T44" fmla="*/ 716 w 807"/>
                <a:gd name="T45" fmla="*/ 20 h 997"/>
                <a:gd name="T46" fmla="*/ 760 w 807"/>
                <a:gd name="T47" fmla="*/ 40 h 997"/>
                <a:gd name="T48" fmla="*/ 799 w 807"/>
                <a:gd name="T49" fmla="*/ 63 h 997"/>
                <a:gd name="T50" fmla="*/ 807 w 807"/>
                <a:gd name="T51" fmla="*/ 146 h 997"/>
                <a:gd name="T52" fmla="*/ 791 w 807"/>
                <a:gd name="T53" fmla="*/ 162 h 997"/>
                <a:gd name="T54" fmla="*/ 772 w 807"/>
                <a:gd name="T55" fmla="*/ 189 h 997"/>
                <a:gd name="T56" fmla="*/ 744 w 807"/>
                <a:gd name="T57" fmla="*/ 213 h 997"/>
                <a:gd name="T58" fmla="*/ 661 w 807"/>
                <a:gd name="T59" fmla="*/ 272 h 997"/>
                <a:gd name="T60" fmla="*/ 661 w 807"/>
                <a:gd name="T61" fmla="*/ 272 h 997"/>
                <a:gd name="T62" fmla="*/ 642 w 807"/>
                <a:gd name="T63" fmla="*/ 296 h 997"/>
                <a:gd name="T64" fmla="*/ 590 w 807"/>
                <a:gd name="T65" fmla="*/ 363 h 997"/>
                <a:gd name="T66" fmla="*/ 559 w 807"/>
                <a:gd name="T67" fmla="*/ 410 h 997"/>
                <a:gd name="T68" fmla="*/ 523 w 807"/>
                <a:gd name="T69" fmla="*/ 461 h 997"/>
                <a:gd name="T70" fmla="*/ 488 w 807"/>
                <a:gd name="T71" fmla="*/ 520 h 997"/>
                <a:gd name="T72" fmla="*/ 453 w 807"/>
                <a:gd name="T73" fmla="*/ 587 h 997"/>
                <a:gd name="T74" fmla="*/ 453 w 807"/>
                <a:gd name="T75" fmla="*/ 587 h 997"/>
                <a:gd name="T76" fmla="*/ 275 w 807"/>
                <a:gd name="T77" fmla="*/ 957 h 997"/>
                <a:gd name="T78" fmla="*/ 185 w 807"/>
                <a:gd name="T79" fmla="*/ 997 h 997"/>
                <a:gd name="T80" fmla="*/ 90 w 807"/>
                <a:gd name="T81" fmla="*/ 985 h 997"/>
                <a:gd name="T82" fmla="*/ 90 w 807"/>
                <a:gd name="T83" fmla="*/ 985 h 997"/>
                <a:gd name="T84" fmla="*/ 63 w 807"/>
                <a:gd name="T85" fmla="*/ 977 h 997"/>
                <a:gd name="T86" fmla="*/ 39 w 807"/>
                <a:gd name="T87" fmla="*/ 965 h 997"/>
                <a:gd name="T88" fmla="*/ 23 w 807"/>
                <a:gd name="T89" fmla="*/ 949 h 997"/>
                <a:gd name="T90" fmla="*/ 11 w 807"/>
                <a:gd name="T91" fmla="*/ 934 h 997"/>
                <a:gd name="T92" fmla="*/ 7 w 807"/>
                <a:gd name="T93" fmla="*/ 922 h 997"/>
                <a:gd name="T94" fmla="*/ 4 w 807"/>
                <a:gd name="T95" fmla="*/ 910 h 997"/>
                <a:gd name="T96" fmla="*/ 4 w 807"/>
                <a:gd name="T97" fmla="*/ 898 h 997"/>
                <a:gd name="T98" fmla="*/ 0 w 807"/>
                <a:gd name="T99" fmla="*/ 835 h 9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7"/>
                <a:gd name="T151" fmla="*/ 0 h 997"/>
                <a:gd name="T152" fmla="*/ 807 w 807"/>
                <a:gd name="T153" fmla="*/ 997 h 9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7" h="997">
                  <a:moveTo>
                    <a:pt x="0" y="835"/>
                  </a:moveTo>
                  <a:lnTo>
                    <a:pt x="0" y="835"/>
                  </a:lnTo>
                  <a:lnTo>
                    <a:pt x="27" y="768"/>
                  </a:lnTo>
                  <a:lnTo>
                    <a:pt x="59" y="693"/>
                  </a:lnTo>
                  <a:lnTo>
                    <a:pt x="98" y="603"/>
                  </a:lnTo>
                  <a:lnTo>
                    <a:pt x="149" y="500"/>
                  </a:lnTo>
                  <a:lnTo>
                    <a:pt x="204" y="394"/>
                  </a:lnTo>
                  <a:lnTo>
                    <a:pt x="267" y="288"/>
                  </a:lnTo>
                  <a:lnTo>
                    <a:pt x="299" y="240"/>
                  </a:lnTo>
                  <a:lnTo>
                    <a:pt x="334" y="197"/>
                  </a:lnTo>
                  <a:lnTo>
                    <a:pt x="413" y="114"/>
                  </a:lnTo>
                  <a:lnTo>
                    <a:pt x="523" y="24"/>
                  </a:lnTo>
                  <a:lnTo>
                    <a:pt x="535" y="16"/>
                  </a:lnTo>
                  <a:lnTo>
                    <a:pt x="567" y="8"/>
                  </a:lnTo>
                  <a:lnTo>
                    <a:pt x="587" y="4"/>
                  </a:lnTo>
                  <a:lnTo>
                    <a:pt x="610" y="0"/>
                  </a:lnTo>
                  <a:lnTo>
                    <a:pt x="638" y="0"/>
                  </a:lnTo>
                  <a:lnTo>
                    <a:pt x="661" y="4"/>
                  </a:lnTo>
                  <a:lnTo>
                    <a:pt x="689" y="8"/>
                  </a:lnTo>
                  <a:lnTo>
                    <a:pt x="716" y="20"/>
                  </a:lnTo>
                  <a:lnTo>
                    <a:pt x="760" y="40"/>
                  </a:lnTo>
                  <a:lnTo>
                    <a:pt x="799" y="63"/>
                  </a:lnTo>
                  <a:lnTo>
                    <a:pt x="807" y="146"/>
                  </a:lnTo>
                  <a:lnTo>
                    <a:pt x="791" y="162"/>
                  </a:lnTo>
                  <a:lnTo>
                    <a:pt x="772" y="189"/>
                  </a:lnTo>
                  <a:lnTo>
                    <a:pt x="744" y="213"/>
                  </a:lnTo>
                  <a:lnTo>
                    <a:pt x="661" y="272"/>
                  </a:lnTo>
                  <a:lnTo>
                    <a:pt x="642" y="296"/>
                  </a:lnTo>
                  <a:lnTo>
                    <a:pt x="590" y="363"/>
                  </a:lnTo>
                  <a:lnTo>
                    <a:pt x="559" y="410"/>
                  </a:lnTo>
                  <a:lnTo>
                    <a:pt x="523" y="461"/>
                  </a:lnTo>
                  <a:lnTo>
                    <a:pt x="488" y="520"/>
                  </a:lnTo>
                  <a:lnTo>
                    <a:pt x="453" y="587"/>
                  </a:lnTo>
                  <a:lnTo>
                    <a:pt x="275" y="957"/>
                  </a:lnTo>
                  <a:lnTo>
                    <a:pt x="185" y="997"/>
                  </a:lnTo>
                  <a:lnTo>
                    <a:pt x="90" y="985"/>
                  </a:lnTo>
                  <a:lnTo>
                    <a:pt x="63" y="977"/>
                  </a:lnTo>
                  <a:lnTo>
                    <a:pt x="39" y="965"/>
                  </a:lnTo>
                  <a:lnTo>
                    <a:pt x="23" y="949"/>
                  </a:lnTo>
                  <a:lnTo>
                    <a:pt x="11" y="934"/>
                  </a:lnTo>
                  <a:lnTo>
                    <a:pt x="7" y="922"/>
                  </a:lnTo>
                  <a:lnTo>
                    <a:pt x="4" y="910"/>
                  </a:lnTo>
                  <a:lnTo>
                    <a:pt x="4" y="898"/>
                  </a:lnTo>
                  <a:lnTo>
                    <a:pt x="0" y="835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3" name="Freeform 465"/>
            <p:cNvSpPr>
              <a:spLocks/>
            </p:cNvSpPr>
            <p:nvPr/>
          </p:nvSpPr>
          <p:spPr bwMode="auto">
            <a:xfrm>
              <a:off x="3353" y="1784"/>
              <a:ext cx="835" cy="1036"/>
            </a:xfrm>
            <a:custGeom>
              <a:avLst/>
              <a:gdLst>
                <a:gd name="T0" fmla="*/ 91 w 835"/>
                <a:gd name="T1" fmla="*/ 740 h 1036"/>
                <a:gd name="T2" fmla="*/ 225 w 835"/>
                <a:gd name="T3" fmla="*/ 461 h 1036"/>
                <a:gd name="T4" fmla="*/ 304 w 835"/>
                <a:gd name="T5" fmla="*/ 331 h 1036"/>
                <a:gd name="T6" fmla="*/ 434 w 835"/>
                <a:gd name="T7" fmla="*/ 165 h 1036"/>
                <a:gd name="T8" fmla="*/ 520 w 835"/>
                <a:gd name="T9" fmla="*/ 94 h 1036"/>
                <a:gd name="T10" fmla="*/ 639 w 835"/>
                <a:gd name="T11" fmla="*/ 43 h 1036"/>
                <a:gd name="T12" fmla="*/ 682 w 835"/>
                <a:gd name="T13" fmla="*/ 43 h 1036"/>
                <a:gd name="T14" fmla="*/ 772 w 835"/>
                <a:gd name="T15" fmla="*/ 79 h 1036"/>
                <a:gd name="T16" fmla="*/ 796 w 835"/>
                <a:gd name="T17" fmla="*/ 75 h 1036"/>
                <a:gd name="T18" fmla="*/ 800 w 835"/>
                <a:gd name="T19" fmla="*/ 193 h 1036"/>
                <a:gd name="T20" fmla="*/ 788 w 835"/>
                <a:gd name="T21" fmla="*/ 197 h 1036"/>
                <a:gd name="T22" fmla="*/ 757 w 835"/>
                <a:gd name="T23" fmla="*/ 224 h 1036"/>
                <a:gd name="T24" fmla="*/ 650 w 835"/>
                <a:gd name="T25" fmla="*/ 323 h 1036"/>
                <a:gd name="T26" fmla="*/ 540 w 835"/>
                <a:gd name="T27" fmla="*/ 449 h 1036"/>
                <a:gd name="T28" fmla="*/ 453 w 835"/>
                <a:gd name="T29" fmla="*/ 591 h 1036"/>
                <a:gd name="T30" fmla="*/ 316 w 835"/>
                <a:gd name="T31" fmla="*/ 870 h 1036"/>
                <a:gd name="T32" fmla="*/ 288 w 835"/>
                <a:gd name="T33" fmla="*/ 933 h 1036"/>
                <a:gd name="T34" fmla="*/ 260 w 835"/>
                <a:gd name="T35" fmla="*/ 965 h 1036"/>
                <a:gd name="T36" fmla="*/ 209 w 835"/>
                <a:gd name="T37" fmla="*/ 988 h 1036"/>
                <a:gd name="T38" fmla="*/ 111 w 835"/>
                <a:gd name="T39" fmla="*/ 984 h 1036"/>
                <a:gd name="T40" fmla="*/ 67 w 835"/>
                <a:gd name="T41" fmla="*/ 973 h 1036"/>
                <a:gd name="T42" fmla="*/ 40 w 835"/>
                <a:gd name="T43" fmla="*/ 937 h 1036"/>
                <a:gd name="T44" fmla="*/ 36 w 835"/>
                <a:gd name="T45" fmla="*/ 882 h 1036"/>
                <a:gd name="T46" fmla="*/ 16 w 835"/>
                <a:gd name="T47" fmla="*/ 854 h 1036"/>
                <a:gd name="T48" fmla="*/ 0 w 835"/>
                <a:gd name="T49" fmla="*/ 854 h 1036"/>
                <a:gd name="T50" fmla="*/ 0 w 835"/>
                <a:gd name="T51" fmla="*/ 894 h 1036"/>
                <a:gd name="T52" fmla="*/ 20 w 835"/>
                <a:gd name="T53" fmla="*/ 969 h 1036"/>
                <a:gd name="T54" fmla="*/ 79 w 835"/>
                <a:gd name="T55" fmla="*/ 1020 h 1036"/>
                <a:gd name="T56" fmla="*/ 166 w 835"/>
                <a:gd name="T57" fmla="*/ 1036 h 1036"/>
                <a:gd name="T58" fmla="*/ 252 w 835"/>
                <a:gd name="T59" fmla="*/ 1028 h 1036"/>
                <a:gd name="T60" fmla="*/ 312 w 835"/>
                <a:gd name="T61" fmla="*/ 976 h 1036"/>
                <a:gd name="T62" fmla="*/ 434 w 835"/>
                <a:gd name="T63" fmla="*/ 713 h 1036"/>
                <a:gd name="T64" fmla="*/ 544 w 835"/>
                <a:gd name="T65" fmla="*/ 524 h 1036"/>
                <a:gd name="T66" fmla="*/ 639 w 835"/>
                <a:gd name="T67" fmla="*/ 402 h 1036"/>
                <a:gd name="T68" fmla="*/ 828 w 835"/>
                <a:gd name="T69" fmla="*/ 224 h 1036"/>
                <a:gd name="T70" fmla="*/ 835 w 835"/>
                <a:gd name="T71" fmla="*/ 205 h 1036"/>
                <a:gd name="T72" fmla="*/ 832 w 835"/>
                <a:gd name="T73" fmla="*/ 126 h 1036"/>
                <a:gd name="T74" fmla="*/ 816 w 835"/>
                <a:gd name="T75" fmla="*/ 67 h 1036"/>
                <a:gd name="T76" fmla="*/ 749 w 835"/>
                <a:gd name="T77" fmla="*/ 27 h 1036"/>
                <a:gd name="T78" fmla="*/ 654 w 835"/>
                <a:gd name="T79" fmla="*/ 0 h 1036"/>
                <a:gd name="T80" fmla="*/ 603 w 835"/>
                <a:gd name="T81" fmla="*/ 4 h 1036"/>
                <a:gd name="T82" fmla="*/ 528 w 835"/>
                <a:gd name="T83" fmla="*/ 31 h 1036"/>
                <a:gd name="T84" fmla="*/ 422 w 835"/>
                <a:gd name="T85" fmla="*/ 114 h 1036"/>
                <a:gd name="T86" fmla="*/ 351 w 835"/>
                <a:gd name="T87" fmla="*/ 189 h 1036"/>
                <a:gd name="T88" fmla="*/ 233 w 835"/>
                <a:gd name="T89" fmla="*/ 354 h 1036"/>
                <a:gd name="T90" fmla="*/ 91 w 835"/>
                <a:gd name="T91" fmla="*/ 630 h 1036"/>
                <a:gd name="T92" fmla="*/ 0 w 835"/>
                <a:gd name="T93" fmla="*/ 858 h 1036"/>
                <a:gd name="T94" fmla="*/ 0 w 835"/>
                <a:gd name="T95" fmla="*/ 874 h 1036"/>
                <a:gd name="T96" fmla="*/ 24 w 835"/>
                <a:gd name="T97" fmla="*/ 894 h 1036"/>
                <a:gd name="T98" fmla="*/ 32 w 835"/>
                <a:gd name="T99" fmla="*/ 886 h 10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35"/>
                <a:gd name="T151" fmla="*/ 0 h 1036"/>
                <a:gd name="T152" fmla="*/ 835 w 835"/>
                <a:gd name="T153" fmla="*/ 1036 h 10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35" h="1036">
                  <a:moveTo>
                    <a:pt x="32" y="886"/>
                  </a:moveTo>
                  <a:lnTo>
                    <a:pt x="32" y="886"/>
                  </a:lnTo>
                  <a:lnTo>
                    <a:pt x="91" y="740"/>
                  </a:lnTo>
                  <a:lnTo>
                    <a:pt x="154" y="598"/>
                  </a:lnTo>
                  <a:lnTo>
                    <a:pt x="186" y="531"/>
                  </a:lnTo>
                  <a:lnTo>
                    <a:pt x="225" y="461"/>
                  </a:lnTo>
                  <a:lnTo>
                    <a:pt x="264" y="394"/>
                  </a:lnTo>
                  <a:lnTo>
                    <a:pt x="304" y="331"/>
                  </a:lnTo>
                  <a:lnTo>
                    <a:pt x="343" y="272"/>
                  </a:lnTo>
                  <a:lnTo>
                    <a:pt x="386" y="216"/>
                  </a:lnTo>
                  <a:lnTo>
                    <a:pt x="434" y="165"/>
                  </a:lnTo>
                  <a:lnTo>
                    <a:pt x="485" y="118"/>
                  </a:lnTo>
                  <a:lnTo>
                    <a:pt x="520" y="94"/>
                  </a:lnTo>
                  <a:lnTo>
                    <a:pt x="556" y="71"/>
                  </a:lnTo>
                  <a:lnTo>
                    <a:pt x="595" y="55"/>
                  </a:lnTo>
                  <a:lnTo>
                    <a:pt x="639" y="43"/>
                  </a:lnTo>
                  <a:lnTo>
                    <a:pt x="658" y="39"/>
                  </a:lnTo>
                  <a:lnTo>
                    <a:pt x="682" y="43"/>
                  </a:lnTo>
                  <a:lnTo>
                    <a:pt x="705" y="51"/>
                  </a:lnTo>
                  <a:lnTo>
                    <a:pt x="729" y="59"/>
                  </a:lnTo>
                  <a:lnTo>
                    <a:pt x="772" y="79"/>
                  </a:lnTo>
                  <a:lnTo>
                    <a:pt x="816" y="102"/>
                  </a:lnTo>
                  <a:lnTo>
                    <a:pt x="796" y="75"/>
                  </a:lnTo>
                  <a:lnTo>
                    <a:pt x="800" y="193"/>
                  </a:lnTo>
                  <a:lnTo>
                    <a:pt x="800" y="185"/>
                  </a:lnTo>
                  <a:lnTo>
                    <a:pt x="796" y="189"/>
                  </a:lnTo>
                  <a:lnTo>
                    <a:pt x="788" y="197"/>
                  </a:lnTo>
                  <a:lnTo>
                    <a:pt x="757" y="224"/>
                  </a:lnTo>
                  <a:lnTo>
                    <a:pt x="733" y="244"/>
                  </a:lnTo>
                  <a:lnTo>
                    <a:pt x="650" y="323"/>
                  </a:lnTo>
                  <a:lnTo>
                    <a:pt x="615" y="362"/>
                  </a:lnTo>
                  <a:lnTo>
                    <a:pt x="575" y="405"/>
                  </a:lnTo>
                  <a:lnTo>
                    <a:pt x="540" y="449"/>
                  </a:lnTo>
                  <a:lnTo>
                    <a:pt x="509" y="492"/>
                  </a:lnTo>
                  <a:lnTo>
                    <a:pt x="477" y="539"/>
                  </a:lnTo>
                  <a:lnTo>
                    <a:pt x="453" y="591"/>
                  </a:lnTo>
                  <a:lnTo>
                    <a:pt x="382" y="728"/>
                  </a:lnTo>
                  <a:lnTo>
                    <a:pt x="316" y="870"/>
                  </a:lnTo>
                  <a:lnTo>
                    <a:pt x="304" y="906"/>
                  </a:lnTo>
                  <a:lnTo>
                    <a:pt x="288" y="933"/>
                  </a:lnTo>
                  <a:lnTo>
                    <a:pt x="280" y="945"/>
                  </a:lnTo>
                  <a:lnTo>
                    <a:pt x="272" y="957"/>
                  </a:lnTo>
                  <a:lnTo>
                    <a:pt x="260" y="965"/>
                  </a:lnTo>
                  <a:lnTo>
                    <a:pt x="245" y="973"/>
                  </a:lnTo>
                  <a:lnTo>
                    <a:pt x="209" y="988"/>
                  </a:lnTo>
                  <a:lnTo>
                    <a:pt x="182" y="992"/>
                  </a:lnTo>
                  <a:lnTo>
                    <a:pt x="150" y="992"/>
                  </a:lnTo>
                  <a:lnTo>
                    <a:pt x="111" y="984"/>
                  </a:lnTo>
                  <a:lnTo>
                    <a:pt x="87" y="980"/>
                  </a:lnTo>
                  <a:lnTo>
                    <a:pt x="67" y="973"/>
                  </a:lnTo>
                  <a:lnTo>
                    <a:pt x="56" y="965"/>
                  </a:lnTo>
                  <a:lnTo>
                    <a:pt x="44" y="953"/>
                  </a:lnTo>
                  <a:lnTo>
                    <a:pt x="40" y="937"/>
                  </a:lnTo>
                  <a:lnTo>
                    <a:pt x="36" y="921"/>
                  </a:lnTo>
                  <a:lnTo>
                    <a:pt x="36" y="882"/>
                  </a:lnTo>
                  <a:lnTo>
                    <a:pt x="32" y="874"/>
                  </a:lnTo>
                  <a:lnTo>
                    <a:pt x="28" y="866"/>
                  </a:lnTo>
                  <a:lnTo>
                    <a:pt x="16" y="854"/>
                  </a:lnTo>
                  <a:lnTo>
                    <a:pt x="12" y="850"/>
                  </a:lnTo>
                  <a:lnTo>
                    <a:pt x="4" y="850"/>
                  </a:lnTo>
                  <a:lnTo>
                    <a:pt x="0" y="854"/>
                  </a:lnTo>
                  <a:lnTo>
                    <a:pt x="0" y="862"/>
                  </a:lnTo>
                  <a:lnTo>
                    <a:pt x="0" y="894"/>
                  </a:lnTo>
                  <a:lnTo>
                    <a:pt x="4" y="921"/>
                  </a:lnTo>
                  <a:lnTo>
                    <a:pt x="8" y="949"/>
                  </a:lnTo>
                  <a:lnTo>
                    <a:pt x="20" y="969"/>
                  </a:lnTo>
                  <a:lnTo>
                    <a:pt x="36" y="988"/>
                  </a:lnTo>
                  <a:lnTo>
                    <a:pt x="56" y="1008"/>
                  </a:lnTo>
                  <a:lnTo>
                    <a:pt x="79" y="1020"/>
                  </a:lnTo>
                  <a:lnTo>
                    <a:pt x="111" y="1028"/>
                  </a:lnTo>
                  <a:lnTo>
                    <a:pt x="166" y="1036"/>
                  </a:lnTo>
                  <a:lnTo>
                    <a:pt x="193" y="1036"/>
                  </a:lnTo>
                  <a:lnTo>
                    <a:pt x="225" y="1036"/>
                  </a:lnTo>
                  <a:lnTo>
                    <a:pt x="252" y="1028"/>
                  </a:lnTo>
                  <a:lnTo>
                    <a:pt x="276" y="1020"/>
                  </a:lnTo>
                  <a:lnTo>
                    <a:pt x="296" y="1000"/>
                  </a:lnTo>
                  <a:lnTo>
                    <a:pt x="312" y="976"/>
                  </a:lnTo>
                  <a:lnTo>
                    <a:pt x="375" y="847"/>
                  </a:lnTo>
                  <a:lnTo>
                    <a:pt x="434" y="713"/>
                  </a:lnTo>
                  <a:lnTo>
                    <a:pt x="469" y="650"/>
                  </a:lnTo>
                  <a:lnTo>
                    <a:pt x="505" y="587"/>
                  </a:lnTo>
                  <a:lnTo>
                    <a:pt x="544" y="524"/>
                  </a:lnTo>
                  <a:lnTo>
                    <a:pt x="583" y="468"/>
                  </a:lnTo>
                  <a:lnTo>
                    <a:pt x="639" y="402"/>
                  </a:lnTo>
                  <a:lnTo>
                    <a:pt x="702" y="339"/>
                  </a:lnTo>
                  <a:lnTo>
                    <a:pt x="761" y="283"/>
                  </a:lnTo>
                  <a:lnTo>
                    <a:pt x="828" y="224"/>
                  </a:lnTo>
                  <a:lnTo>
                    <a:pt x="832" y="216"/>
                  </a:lnTo>
                  <a:lnTo>
                    <a:pt x="835" y="205"/>
                  </a:lnTo>
                  <a:lnTo>
                    <a:pt x="835" y="177"/>
                  </a:lnTo>
                  <a:lnTo>
                    <a:pt x="832" y="126"/>
                  </a:lnTo>
                  <a:lnTo>
                    <a:pt x="832" y="98"/>
                  </a:lnTo>
                  <a:lnTo>
                    <a:pt x="824" y="83"/>
                  </a:lnTo>
                  <a:lnTo>
                    <a:pt x="816" y="67"/>
                  </a:lnTo>
                  <a:lnTo>
                    <a:pt x="792" y="51"/>
                  </a:lnTo>
                  <a:lnTo>
                    <a:pt x="749" y="27"/>
                  </a:lnTo>
                  <a:lnTo>
                    <a:pt x="702" y="12"/>
                  </a:lnTo>
                  <a:lnTo>
                    <a:pt x="678" y="4"/>
                  </a:lnTo>
                  <a:lnTo>
                    <a:pt x="654" y="0"/>
                  </a:lnTo>
                  <a:lnTo>
                    <a:pt x="631" y="0"/>
                  </a:lnTo>
                  <a:lnTo>
                    <a:pt x="603" y="4"/>
                  </a:lnTo>
                  <a:lnTo>
                    <a:pt x="579" y="8"/>
                  </a:lnTo>
                  <a:lnTo>
                    <a:pt x="552" y="20"/>
                  </a:lnTo>
                  <a:lnTo>
                    <a:pt x="528" y="31"/>
                  </a:lnTo>
                  <a:lnTo>
                    <a:pt x="505" y="47"/>
                  </a:lnTo>
                  <a:lnTo>
                    <a:pt x="461" y="79"/>
                  </a:lnTo>
                  <a:lnTo>
                    <a:pt x="422" y="114"/>
                  </a:lnTo>
                  <a:lnTo>
                    <a:pt x="386" y="150"/>
                  </a:lnTo>
                  <a:lnTo>
                    <a:pt x="351" y="189"/>
                  </a:lnTo>
                  <a:lnTo>
                    <a:pt x="319" y="228"/>
                  </a:lnTo>
                  <a:lnTo>
                    <a:pt x="288" y="268"/>
                  </a:lnTo>
                  <a:lnTo>
                    <a:pt x="233" y="354"/>
                  </a:lnTo>
                  <a:lnTo>
                    <a:pt x="182" y="445"/>
                  </a:lnTo>
                  <a:lnTo>
                    <a:pt x="134" y="535"/>
                  </a:lnTo>
                  <a:lnTo>
                    <a:pt x="91" y="630"/>
                  </a:lnTo>
                  <a:lnTo>
                    <a:pt x="16" y="823"/>
                  </a:lnTo>
                  <a:lnTo>
                    <a:pt x="0" y="858"/>
                  </a:lnTo>
                  <a:lnTo>
                    <a:pt x="0" y="866"/>
                  </a:lnTo>
                  <a:lnTo>
                    <a:pt x="0" y="874"/>
                  </a:lnTo>
                  <a:lnTo>
                    <a:pt x="12" y="886"/>
                  </a:lnTo>
                  <a:lnTo>
                    <a:pt x="16" y="894"/>
                  </a:lnTo>
                  <a:lnTo>
                    <a:pt x="24" y="894"/>
                  </a:lnTo>
                  <a:lnTo>
                    <a:pt x="28" y="894"/>
                  </a:lnTo>
                  <a:lnTo>
                    <a:pt x="32" y="8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4" name="Freeform 466"/>
            <p:cNvSpPr>
              <a:spLocks/>
            </p:cNvSpPr>
            <p:nvPr/>
          </p:nvSpPr>
          <p:spPr bwMode="auto">
            <a:xfrm>
              <a:off x="4488" y="2075"/>
              <a:ext cx="437" cy="1004"/>
            </a:xfrm>
            <a:custGeom>
              <a:avLst/>
              <a:gdLst>
                <a:gd name="T0" fmla="*/ 8 w 437"/>
                <a:gd name="T1" fmla="*/ 1004 h 1004"/>
                <a:gd name="T2" fmla="*/ 8 w 437"/>
                <a:gd name="T3" fmla="*/ 1004 h 1004"/>
                <a:gd name="T4" fmla="*/ 4 w 437"/>
                <a:gd name="T5" fmla="*/ 1004 h 1004"/>
                <a:gd name="T6" fmla="*/ 0 w 437"/>
                <a:gd name="T7" fmla="*/ 993 h 1004"/>
                <a:gd name="T8" fmla="*/ 0 w 437"/>
                <a:gd name="T9" fmla="*/ 981 h 1004"/>
                <a:gd name="T10" fmla="*/ 0 w 437"/>
                <a:gd name="T11" fmla="*/ 969 h 1004"/>
                <a:gd name="T12" fmla="*/ 4 w 437"/>
                <a:gd name="T13" fmla="*/ 945 h 1004"/>
                <a:gd name="T14" fmla="*/ 12 w 437"/>
                <a:gd name="T15" fmla="*/ 922 h 1004"/>
                <a:gd name="T16" fmla="*/ 12 w 437"/>
                <a:gd name="T17" fmla="*/ 922 h 1004"/>
                <a:gd name="T18" fmla="*/ 106 w 437"/>
                <a:gd name="T19" fmla="*/ 682 h 1004"/>
                <a:gd name="T20" fmla="*/ 228 w 437"/>
                <a:gd name="T21" fmla="*/ 386 h 1004"/>
                <a:gd name="T22" fmla="*/ 291 w 437"/>
                <a:gd name="T23" fmla="*/ 248 h 1004"/>
                <a:gd name="T24" fmla="*/ 346 w 437"/>
                <a:gd name="T25" fmla="*/ 130 h 1004"/>
                <a:gd name="T26" fmla="*/ 390 w 437"/>
                <a:gd name="T27" fmla="*/ 44 h 1004"/>
                <a:gd name="T28" fmla="*/ 406 w 437"/>
                <a:gd name="T29" fmla="*/ 16 h 1004"/>
                <a:gd name="T30" fmla="*/ 421 w 437"/>
                <a:gd name="T31" fmla="*/ 0 h 1004"/>
                <a:gd name="T32" fmla="*/ 421 w 437"/>
                <a:gd name="T33" fmla="*/ 0 h 1004"/>
                <a:gd name="T34" fmla="*/ 421 w 437"/>
                <a:gd name="T35" fmla="*/ 0 h 1004"/>
                <a:gd name="T36" fmla="*/ 425 w 437"/>
                <a:gd name="T37" fmla="*/ 4 h 1004"/>
                <a:gd name="T38" fmla="*/ 429 w 437"/>
                <a:gd name="T39" fmla="*/ 16 h 1004"/>
                <a:gd name="T40" fmla="*/ 433 w 437"/>
                <a:gd name="T41" fmla="*/ 55 h 1004"/>
                <a:gd name="T42" fmla="*/ 437 w 437"/>
                <a:gd name="T43" fmla="*/ 118 h 1004"/>
                <a:gd name="T44" fmla="*/ 425 w 437"/>
                <a:gd name="T45" fmla="*/ 177 h 1004"/>
                <a:gd name="T46" fmla="*/ 382 w 437"/>
                <a:gd name="T47" fmla="*/ 351 h 1004"/>
                <a:gd name="T48" fmla="*/ 8 w 437"/>
                <a:gd name="T49" fmla="*/ 1004 h 100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37"/>
                <a:gd name="T76" fmla="*/ 0 h 1004"/>
                <a:gd name="T77" fmla="*/ 437 w 437"/>
                <a:gd name="T78" fmla="*/ 1004 h 100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37" h="1004">
                  <a:moveTo>
                    <a:pt x="8" y="1004"/>
                  </a:moveTo>
                  <a:lnTo>
                    <a:pt x="8" y="1004"/>
                  </a:lnTo>
                  <a:lnTo>
                    <a:pt x="4" y="1004"/>
                  </a:lnTo>
                  <a:lnTo>
                    <a:pt x="0" y="993"/>
                  </a:lnTo>
                  <a:lnTo>
                    <a:pt x="0" y="981"/>
                  </a:lnTo>
                  <a:lnTo>
                    <a:pt x="0" y="969"/>
                  </a:lnTo>
                  <a:lnTo>
                    <a:pt x="4" y="945"/>
                  </a:lnTo>
                  <a:lnTo>
                    <a:pt x="12" y="922"/>
                  </a:lnTo>
                  <a:lnTo>
                    <a:pt x="106" y="682"/>
                  </a:lnTo>
                  <a:lnTo>
                    <a:pt x="228" y="386"/>
                  </a:lnTo>
                  <a:lnTo>
                    <a:pt x="291" y="248"/>
                  </a:lnTo>
                  <a:lnTo>
                    <a:pt x="346" y="130"/>
                  </a:lnTo>
                  <a:lnTo>
                    <a:pt x="390" y="44"/>
                  </a:lnTo>
                  <a:lnTo>
                    <a:pt x="406" y="16"/>
                  </a:lnTo>
                  <a:lnTo>
                    <a:pt x="421" y="0"/>
                  </a:lnTo>
                  <a:lnTo>
                    <a:pt x="425" y="4"/>
                  </a:lnTo>
                  <a:lnTo>
                    <a:pt x="429" y="16"/>
                  </a:lnTo>
                  <a:lnTo>
                    <a:pt x="433" y="55"/>
                  </a:lnTo>
                  <a:lnTo>
                    <a:pt x="437" y="118"/>
                  </a:lnTo>
                  <a:lnTo>
                    <a:pt x="425" y="177"/>
                  </a:lnTo>
                  <a:lnTo>
                    <a:pt x="382" y="351"/>
                  </a:lnTo>
                  <a:lnTo>
                    <a:pt x="8" y="1004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5" name="Freeform 467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w 342"/>
                <a:gd name="T23" fmla="*/ 83 h 1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2"/>
                <a:gd name="T37" fmla="*/ 0 h 153"/>
                <a:gd name="T38" fmla="*/ 342 w 342"/>
                <a:gd name="T39" fmla="*/ 153 h 15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7E9FA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6" name="Freeform 468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2"/>
                <a:gd name="T34" fmla="*/ 0 h 153"/>
                <a:gd name="T35" fmla="*/ 342 w 342"/>
                <a:gd name="T36" fmla="*/ 153 h 1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7" name="Freeform 469"/>
            <p:cNvSpPr>
              <a:spLocks/>
            </p:cNvSpPr>
            <p:nvPr/>
          </p:nvSpPr>
          <p:spPr bwMode="auto">
            <a:xfrm>
              <a:off x="4267" y="2245"/>
              <a:ext cx="292" cy="114"/>
            </a:xfrm>
            <a:custGeom>
              <a:avLst/>
              <a:gdLst>
                <a:gd name="T0" fmla="*/ 32 w 292"/>
                <a:gd name="T1" fmla="*/ 0 h 114"/>
                <a:gd name="T2" fmla="*/ 292 w 292"/>
                <a:gd name="T3" fmla="*/ 55 h 114"/>
                <a:gd name="T4" fmla="*/ 252 w 292"/>
                <a:gd name="T5" fmla="*/ 114 h 114"/>
                <a:gd name="T6" fmla="*/ 252 w 292"/>
                <a:gd name="T7" fmla="*/ 114 h 114"/>
                <a:gd name="T8" fmla="*/ 209 w 292"/>
                <a:gd name="T9" fmla="*/ 102 h 114"/>
                <a:gd name="T10" fmla="*/ 83 w 292"/>
                <a:gd name="T11" fmla="*/ 74 h 114"/>
                <a:gd name="T12" fmla="*/ 83 w 292"/>
                <a:gd name="T13" fmla="*/ 74 h 114"/>
                <a:gd name="T14" fmla="*/ 0 w 292"/>
                <a:gd name="T15" fmla="*/ 55 h 114"/>
                <a:gd name="T16" fmla="*/ 32 w 292"/>
                <a:gd name="T17" fmla="*/ 0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2"/>
                <a:gd name="T28" fmla="*/ 0 h 114"/>
                <a:gd name="T29" fmla="*/ 292 w 292"/>
                <a:gd name="T30" fmla="*/ 114 h 1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2" h="114">
                  <a:moveTo>
                    <a:pt x="32" y="0"/>
                  </a:moveTo>
                  <a:lnTo>
                    <a:pt x="292" y="55"/>
                  </a:lnTo>
                  <a:lnTo>
                    <a:pt x="252" y="114"/>
                  </a:lnTo>
                  <a:lnTo>
                    <a:pt x="209" y="102"/>
                  </a:lnTo>
                  <a:lnTo>
                    <a:pt x="83" y="74"/>
                  </a:lnTo>
                  <a:lnTo>
                    <a:pt x="0" y="5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BFBFA2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8" name="Freeform 470"/>
            <p:cNvSpPr>
              <a:spLocks/>
            </p:cNvSpPr>
            <p:nvPr/>
          </p:nvSpPr>
          <p:spPr bwMode="auto">
            <a:xfrm>
              <a:off x="4240" y="2233"/>
              <a:ext cx="59" cy="79"/>
            </a:xfrm>
            <a:custGeom>
              <a:avLst/>
              <a:gdLst>
                <a:gd name="T0" fmla="*/ 0 w 59"/>
                <a:gd name="T1" fmla="*/ 79 h 79"/>
                <a:gd name="T2" fmla="*/ 27 w 59"/>
                <a:gd name="T3" fmla="*/ 67 h 79"/>
                <a:gd name="T4" fmla="*/ 59 w 59"/>
                <a:gd name="T5" fmla="*/ 12 h 79"/>
                <a:gd name="T6" fmla="*/ 47 w 59"/>
                <a:gd name="T7" fmla="*/ 0 h 79"/>
                <a:gd name="T8" fmla="*/ 0 w 59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79"/>
                <a:gd name="T17" fmla="*/ 59 w 5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79">
                  <a:moveTo>
                    <a:pt x="0" y="79"/>
                  </a:moveTo>
                  <a:lnTo>
                    <a:pt x="27" y="67"/>
                  </a:lnTo>
                  <a:lnTo>
                    <a:pt x="59" y="12"/>
                  </a:lnTo>
                  <a:lnTo>
                    <a:pt x="47" y="0"/>
                  </a:lnTo>
                  <a:lnTo>
                    <a:pt x="0" y="79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29" name="Freeform 471"/>
            <p:cNvSpPr>
              <a:spLocks/>
            </p:cNvSpPr>
            <p:nvPr/>
          </p:nvSpPr>
          <p:spPr bwMode="auto">
            <a:xfrm>
              <a:off x="4519" y="2284"/>
              <a:ext cx="59" cy="91"/>
            </a:xfrm>
            <a:custGeom>
              <a:avLst/>
              <a:gdLst>
                <a:gd name="T0" fmla="*/ 40 w 59"/>
                <a:gd name="T1" fmla="*/ 8 h 91"/>
                <a:gd name="T2" fmla="*/ 59 w 59"/>
                <a:gd name="T3" fmla="*/ 0 h 91"/>
                <a:gd name="T4" fmla="*/ 4 w 59"/>
                <a:gd name="T5" fmla="*/ 91 h 91"/>
                <a:gd name="T6" fmla="*/ 0 w 59"/>
                <a:gd name="T7" fmla="*/ 75 h 91"/>
                <a:gd name="T8" fmla="*/ 40 w 59"/>
                <a:gd name="T9" fmla="*/ 8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91"/>
                <a:gd name="T17" fmla="*/ 59 w 59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91">
                  <a:moveTo>
                    <a:pt x="40" y="8"/>
                  </a:moveTo>
                  <a:lnTo>
                    <a:pt x="59" y="0"/>
                  </a:lnTo>
                  <a:lnTo>
                    <a:pt x="4" y="91"/>
                  </a:lnTo>
                  <a:lnTo>
                    <a:pt x="0" y="75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ABC3C9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0" name="Freeform 472"/>
            <p:cNvSpPr>
              <a:spLocks/>
            </p:cNvSpPr>
            <p:nvPr/>
          </p:nvSpPr>
          <p:spPr bwMode="auto">
            <a:xfrm>
              <a:off x="3732" y="2060"/>
              <a:ext cx="319" cy="523"/>
            </a:xfrm>
            <a:custGeom>
              <a:avLst/>
              <a:gdLst>
                <a:gd name="T0" fmla="*/ 3 w 319"/>
                <a:gd name="T1" fmla="*/ 523 h 523"/>
                <a:gd name="T2" fmla="*/ 3 w 319"/>
                <a:gd name="T3" fmla="*/ 523 h 523"/>
                <a:gd name="T4" fmla="*/ 23 w 319"/>
                <a:gd name="T5" fmla="*/ 445 h 523"/>
                <a:gd name="T6" fmla="*/ 47 w 319"/>
                <a:gd name="T7" fmla="*/ 370 h 523"/>
                <a:gd name="T8" fmla="*/ 78 w 319"/>
                <a:gd name="T9" fmla="*/ 299 h 523"/>
                <a:gd name="T10" fmla="*/ 114 w 319"/>
                <a:gd name="T11" fmla="*/ 228 h 523"/>
                <a:gd name="T12" fmla="*/ 114 w 319"/>
                <a:gd name="T13" fmla="*/ 228 h 523"/>
                <a:gd name="T14" fmla="*/ 161 w 319"/>
                <a:gd name="T15" fmla="*/ 149 h 523"/>
                <a:gd name="T16" fmla="*/ 185 w 319"/>
                <a:gd name="T17" fmla="*/ 110 h 523"/>
                <a:gd name="T18" fmla="*/ 212 w 319"/>
                <a:gd name="T19" fmla="*/ 70 h 523"/>
                <a:gd name="T20" fmla="*/ 212 w 319"/>
                <a:gd name="T21" fmla="*/ 70 h 523"/>
                <a:gd name="T22" fmla="*/ 224 w 319"/>
                <a:gd name="T23" fmla="*/ 55 h 523"/>
                <a:gd name="T24" fmla="*/ 240 w 319"/>
                <a:gd name="T25" fmla="*/ 47 h 523"/>
                <a:gd name="T26" fmla="*/ 252 w 319"/>
                <a:gd name="T27" fmla="*/ 39 h 523"/>
                <a:gd name="T28" fmla="*/ 263 w 319"/>
                <a:gd name="T29" fmla="*/ 39 h 523"/>
                <a:gd name="T30" fmla="*/ 275 w 319"/>
                <a:gd name="T31" fmla="*/ 43 h 523"/>
                <a:gd name="T32" fmla="*/ 287 w 319"/>
                <a:gd name="T33" fmla="*/ 47 h 523"/>
                <a:gd name="T34" fmla="*/ 319 w 319"/>
                <a:gd name="T35" fmla="*/ 66 h 523"/>
                <a:gd name="T36" fmla="*/ 319 w 319"/>
                <a:gd name="T37" fmla="*/ 66 h 523"/>
                <a:gd name="T38" fmla="*/ 319 w 319"/>
                <a:gd name="T39" fmla="*/ 63 h 523"/>
                <a:gd name="T40" fmla="*/ 319 w 319"/>
                <a:gd name="T41" fmla="*/ 51 h 523"/>
                <a:gd name="T42" fmla="*/ 319 w 319"/>
                <a:gd name="T43" fmla="*/ 35 h 523"/>
                <a:gd name="T44" fmla="*/ 319 w 319"/>
                <a:gd name="T45" fmla="*/ 27 h 523"/>
                <a:gd name="T46" fmla="*/ 319 w 319"/>
                <a:gd name="T47" fmla="*/ 27 h 523"/>
                <a:gd name="T48" fmla="*/ 287 w 319"/>
                <a:gd name="T49" fmla="*/ 7 h 523"/>
                <a:gd name="T50" fmla="*/ 271 w 319"/>
                <a:gd name="T51" fmla="*/ 3 h 523"/>
                <a:gd name="T52" fmla="*/ 260 w 319"/>
                <a:gd name="T53" fmla="*/ 0 h 523"/>
                <a:gd name="T54" fmla="*/ 248 w 319"/>
                <a:gd name="T55" fmla="*/ 3 h 523"/>
                <a:gd name="T56" fmla="*/ 236 w 319"/>
                <a:gd name="T57" fmla="*/ 11 h 523"/>
                <a:gd name="T58" fmla="*/ 220 w 319"/>
                <a:gd name="T59" fmla="*/ 23 h 523"/>
                <a:gd name="T60" fmla="*/ 204 w 319"/>
                <a:gd name="T61" fmla="*/ 39 h 523"/>
                <a:gd name="T62" fmla="*/ 204 w 319"/>
                <a:gd name="T63" fmla="*/ 39 h 523"/>
                <a:gd name="T64" fmla="*/ 181 w 319"/>
                <a:gd name="T65" fmla="*/ 74 h 523"/>
                <a:gd name="T66" fmla="*/ 157 w 319"/>
                <a:gd name="T67" fmla="*/ 114 h 523"/>
                <a:gd name="T68" fmla="*/ 114 w 319"/>
                <a:gd name="T69" fmla="*/ 189 h 523"/>
                <a:gd name="T70" fmla="*/ 114 w 319"/>
                <a:gd name="T71" fmla="*/ 189 h 523"/>
                <a:gd name="T72" fmla="*/ 74 w 319"/>
                <a:gd name="T73" fmla="*/ 263 h 523"/>
                <a:gd name="T74" fmla="*/ 47 w 319"/>
                <a:gd name="T75" fmla="*/ 334 h 523"/>
                <a:gd name="T76" fmla="*/ 19 w 319"/>
                <a:gd name="T77" fmla="*/ 409 h 523"/>
                <a:gd name="T78" fmla="*/ 0 w 319"/>
                <a:gd name="T79" fmla="*/ 488 h 523"/>
                <a:gd name="T80" fmla="*/ 0 w 319"/>
                <a:gd name="T81" fmla="*/ 488 h 523"/>
                <a:gd name="T82" fmla="*/ 0 w 319"/>
                <a:gd name="T83" fmla="*/ 508 h 523"/>
                <a:gd name="T84" fmla="*/ 3 w 319"/>
                <a:gd name="T85" fmla="*/ 523 h 523"/>
                <a:gd name="T86" fmla="*/ 3 w 319"/>
                <a:gd name="T87" fmla="*/ 523 h 52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9"/>
                <a:gd name="T133" fmla="*/ 0 h 523"/>
                <a:gd name="T134" fmla="*/ 319 w 319"/>
                <a:gd name="T135" fmla="*/ 523 h 52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9" h="523">
                  <a:moveTo>
                    <a:pt x="3" y="523"/>
                  </a:moveTo>
                  <a:lnTo>
                    <a:pt x="3" y="523"/>
                  </a:lnTo>
                  <a:lnTo>
                    <a:pt x="23" y="445"/>
                  </a:lnTo>
                  <a:lnTo>
                    <a:pt x="47" y="370"/>
                  </a:lnTo>
                  <a:lnTo>
                    <a:pt x="78" y="299"/>
                  </a:lnTo>
                  <a:lnTo>
                    <a:pt x="114" y="228"/>
                  </a:lnTo>
                  <a:lnTo>
                    <a:pt x="161" y="149"/>
                  </a:lnTo>
                  <a:lnTo>
                    <a:pt x="185" y="110"/>
                  </a:lnTo>
                  <a:lnTo>
                    <a:pt x="212" y="70"/>
                  </a:lnTo>
                  <a:lnTo>
                    <a:pt x="224" y="55"/>
                  </a:lnTo>
                  <a:lnTo>
                    <a:pt x="240" y="47"/>
                  </a:lnTo>
                  <a:lnTo>
                    <a:pt x="252" y="39"/>
                  </a:lnTo>
                  <a:lnTo>
                    <a:pt x="263" y="39"/>
                  </a:lnTo>
                  <a:lnTo>
                    <a:pt x="275" y="43"/>
                  </a:lnTo>
                  <a:lnTo>
                    <a:pt x="287" y="47"/>
                  </a:lnTo>
                  <a:lnTo>
                    <a:pt x="319" y="66"/>
                  </a:lnTo>
                  <a:lnTo>
                    <a:pt x="319" y="63"/>
                  </a:lnTo>
                  <a:lnTo>
                    <a:pt x="319" y="51"/>
                  </a:lnTo>
                  <a:lnTo>
                    <a:pt x="319" y="35"/>
                  </a:lnTo>
                  <a:lnTo>
                    <a:pt x="319" y="27"/>
                  </a:lnTo>
                  <a:lnTo>
                    <a:pt x="287" y="7"/>
                  </a:lnTo>
                  <a:lnTo>
                    <a:pt x="271" y="3"/>
                  </a:lnTo>
                  <a:lnTo>
                    <a:pt x="260" y="0"/>
                  </a:lnTo>
                  <a:lnTo>
                    <a:pt x="248" y="3"/>
                  </a:lnTo>
                  <a:lnTo>
                    <a:pt x="236" y="11"/>
                  </a:lnTo>
                  <a:lnTo>
                    <a:pt x="220" y="23"/>
                  </a:lnTo>
                  <a:lnTo>
                    <a:pt x="204" y="39"/>
                  </a:lnTo>
                  <a:lnTo>
                    <a:pt x="181" y="74"/>
                  </a:lnTo>
                  <a:lnTo>
                    <a:pt x="157" y="114"/>
                  </a:lnTo>
                  <a:lnTo>
                    <a:pt x="114" y="189"/>
                  </a:lnTo>
                  <a:lnTo>
                    <a:pt x="74" y="263"/>
                  </a:lnTo>
                  <a:lnTo>
                    <a:pt x="47" y="334"/>
                  </a:lnTo>
                  <a:lnTo>
                    <a:pt x="19" y="409"/>
                  </a:lnTo>
                  <a:lnTo>
                    <a:pt x="0" y="488"/>
                  </a:lnTo>
                  <a:lnTo>
                    <a:pt x="0" y="508"/>
                  </a:lnTo>
                  <a:lnTo>
                    <a:pt x="3" y="5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1" name="Freeform 473"/>
            <p:cNvSpPr>
              <a:spLocks/>
            </p:cNvSpPr>
            <p:nvPr/>
          </p:nvSpPr>
          <p:spPr bwMode="auto">
            <a:xfrm>
              <a:off x="3397" y="2646"/>
              <a:ext cx="165" cy="91"/>
            </a:xfrm>
            <a:custGeom>
              <a:avLst/>
              <a:gdLst>
                <a:gd name="T0" fmla="*/ 4 w 165"/>
                <a:gd name="T1" fmla="*/ 79 h 91"/>
                <a:gd name="T2" fmla="*/ 4 w 165"/>
                <a:gd name="T3" fmla="*/ 79 h 91"/>
                <a:gd name="T4" fmla="*/ 23 w 165"/>
                <a:gd name="T5" fmla="*/ 63 h 91"/>
                <a:gd name="T6" fmla="*/ 43 w 165"/>
                <a:gd name="T7" fmla="*/ 51 h 91"/>
                <a:gd name="T8" fmla="*/ 67 w 165"/>
                <a:gd name="T9" fmla="*/ 44 h 91"/>
                <a:gd name="T10" fmla="*/ 86 w 165"/>
                <a:gd name="T11" fmla="*/ 40 h 91"/>
                <a:gd name="T12" fmla="*/ 110 w 165"/>
                <a:gd name="T13" fmla="*/ 44 h 91"/>
                <a:gd name="T14" fmla="*/ 130 w 165"/>
                <a:gd name="T15" fmla="*/ 51 h 91"/>
                <a:gd name="T16" fmla="*/ 145 w 165"/>
                <a:gd name="T17" fmla="*/ 67 h 91"/>
                <a:gd name="T18" fmla="*/ 161 w 165"/>
                <a:gd name="T19" fmla="*/ 91 h 91"/>
                <a:gd name="T20" fmla="*/ 161 w 165"/>
                <a:gd name="T21" fmla="*/ 91 h 91"/>
                <a:gd name="T22" fmla="*/ 165 w 165"/>
                <a:gd name="T23" fmla="*/ 71 h 91"/>
                <a:gd name="T24" fmla="*/ 165 w 165"/>
                <a:gd name="T25" fmla="*/ 59 h 91"/>
                <a:gd name="T26" fmla="*/ 165 w 165"/>
                <a:gd name="T27" fmla="*/ 51 h 91"/>
                <a:gd name="T28" fmla="*/ 165 w 165"/>
                <a:gd name="T29" fmla="*/ 51 h 91"/>
                <a:gd name="T30" fmla="*/ 149 w 165"/>
                <a:gd name="T31" fmla="*/ 28 h 91"/>
                <a:gd name="T32" fmla="*/ 130 w 165"/>
                <a:gd name="T33" fmla="*/ 16 h 91"/>
                <a:gd name="T34" fmla="*/ 110 w 165"/>
                <a:gd name="T35" fmla="*/ 4 h 91"/>
                <a:gd name="T36" fmla="*/ 90 w 165"/>
                <a:gd name="T37" fmla="*/ 0 h 91"/>
                <a:gd name="T38" fmla="*/ 67 w 165"/>
                <a:gd name="T39" fmla="*/ 4 h 91"/>
                <a:gd name="T40" fmla="*/ 43 w 165"/>
                <a:gd name="T41" fmla="*/ 12 h 91"/>
                <a:gd name="T42" fmla="*/ 23 w 165"/>
                <a:gd name="T43" fmla="*/ 24 h 91"/>
                <a:gd name="T44" fmla="*/ 4 w 165"/>
                <a:gd name="T45" fmla="*/ 40 h 91"/>
                <a:gd name="T46" fmla="*/ 4 w 165"/>
                <a:gd name="T47" fmla="*/ 40 h 91"/>
                <a:gd name="T48" fmla="*/ 0 w 165"/>
                <a:gd name="T49" fmla="*/ 48 h 91"/>
                <a:gd name="T50" fmla="*/ 4 w 165"/>
                <a:gd name="T51" fmla="*/ 59 h 91"/>
                <a:gd name="T52" fmla="*/ 4 w 165"/>
                <a:gd name="T53" fmla="*/ 71 h 91"/>
                <a:gd name="T54" fmla="*/ 4 w 165"/>
                <a:gd name="T55" fmla="*/ 79 h 91"/>
                <a:gd name="T56" fmla="*/ 4 w 165"/>
                <a:gd name="T57" fmla="*/ 79 h 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5"/>
                <a:gd name="T88" fmla="*/ 0 h 91"/>
                <a:gd name="T89" fmla="*/ 165 w 165"/>
                <a:gd name="T90" fmla="*/ 91 h 9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5" h="91">
                  <a:moveTo>
                    <a:pt x="4" y="79"/>
                  </a:moveTo>
                  <a:lnTo>
                    <a:pt x="4" y="79"/>
                  </a:lnTo>
                  <a:lnTo>
                    <a:pt x="23" y="63"/>
                  </a:lnTo>
                  <a:lnTo>
                    <a:pt x="43" y="51"/>
                  </a:lnTo>
                  <a:lnTo>
                    <a:pt x="67" y="44"/>
                  </a:lnTo>
                  <a:lnTo>
                    <a:pt x="86" y="40"/>
                  </a:lnTo>
                  <a:lnTo>
                    <a:pt x="110" y="44"/>
                  </a:lnTo>
                  <a:lnTo>
                    <a:pt x="130" y="51"/>
                  </a:lnTo>
                  <a:lnTo>
                    <a:pt x="145" y="67"/>
                  </a:lnTo>
                  <a:lnTo>
                    <a:pt x="161" y="91"/>
                  </a:lnTo>
                  <a:lnTo>
                    <a:pt x="165" y="71"/>
                  </a:lnTo>
                  <a:lnTo>
                    <a:pt x="165" y="59"/>
                  </a:lnTo>
                  <a:lnTo>
                    <a:pt x="165" y="51"/>
                  </a:lnTo>
                  <a:lnTo>
                    <a:pt x="149" y="28"/>
                  </a:lnTo>
                  <a:lnTo>
                    <a:pt x="130" y="16"/>
                  </a:lnTo>
                  <a:lnTo>
                    <a:pt x="110" y="4"/>
                  </a:lnTo>
                  <a:lnTo>
                    <a:pt x="90" y="0"/>
                  </a:lnTo>
                  <a:lnTo>
                    <a:pt x="67" y="4"/>
                  </a:lnTo>
                  <a:lnTo>
                    <a:pt x="43" y="12"/>
                  </a:lnTo>
                  <a:lnTo>
                    <a:pt x="23" y="24"/>
                  </a:lnTo>
                  <a:lnTo>
                    <a:pt x="4" y="40"/>
                  </a:lnTo>
                  <a:lnTo>
                    <a:pt x="0" y="48"/>
                  </a:lnTo>
                  <a:lnTo>
                    <a:pt x="4" y="59"/>
                  </a:lnTo>
                  <a:lnTo>
                    <a:pt x="4" y="71"/>
                  </a:lnTo>
                  <a:lnTo>
                    <a:pt x="4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2" name="Freeform 474"/>
            <p:cNvSpPr>
              <a:spLocks/>
            </p:cNvSpPr>
            <p:nvPr/>
          </p:nvSpPr>
          <p:spPr bwMode="auto">
            <a:xfrm>
              <a:off x="4003" y="265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3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3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3" name="Freeform 475"/>
            <p:cNvSpPr>
              <a:spLocks/>
            </p:cNvSpPr>
            <p:nvPr/>
          </p:nvSpPr>
          <p:spPr bwMode="auto">
            <a:xfrm>
              <a:off x="4118" y="267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4" name="Freeform 476"/>
            <p:cNvSpPr>
              <a:spLocks/>
            </p:cNvSpPr>
            <p:nvPr/>
          </p:nvSpPr>
          <p:spPr bwMode="auto">
            <a:xfrm>
              <a:off x="4228" y="2701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5" name="Freeform 477"/>
            <p:cNvSpPr>
              <a:spLocks/>
            </p:cNvSpPr>
            <p:nvPr/>
          </p:nvSpPr>
          <p:spPr bwMode="auto">
            <a:xfrm>
              <a:off x="4062" y="2556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19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19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6" name="Freeform 478"/>
            <p:cNvSpPr>
              <a:spLocks/>
            </p:cNvSpPr>
            <p:nvPr/>
          </p:nvSpPr>
          <p:spPr bwMode="auto">
            <a:xfrm>
              <a:off x="4177" y="2579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7" name="Freeform 479"/>
            <p:cNvSpPr>
              <a:spLocks/>
            </p:cNvSpPr>
            <p:nvPr/>
          </p:nvSpPr>
          <p:spPr bwMode="auto">
            <a:xfrm>
              <a:off x="4287" y="260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8" name="Freeform 480"/>
            <p:cNvSpPr>
              <a:spLocks/>
            </p:cNvSpPr>
            <p:nvPr/>
          </p:nvSpPr>
          <p:spPr bwMode="auto">
            <a:xfrm>
              <a:off x="4121" y="2461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20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39" name="Freeform 481"/>
            <p:cNvSpPr>
              <a:spLocks/>
            </p:cNvSpPr>
            <p:nvPr/>
          </p:nvSpPr>
          <p:spPr bwMode="auto">
            <a:xfrm>
              <a:off x="4236" y="2485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0" name="Freeform 482"/>
            <p:cNvSpPr>
              <a:spLocks/>
            </p:cNvSpPr>
            <p:nvPr/>
          </p:nvSpPr>
          <p:spPr bwMode="auto">
            <a:xfrm>
              <a:off x="4346" y="2512"/>
              <a:ext cx="118" cy="79"/>
            </a:xfrm>
            <a:custGeom>
              <a:avLst/>
              <a:gdLst>
                <a:gd name="T0" fmla="*/ 0 w 118"/>
                <a:gd name="T1" fmla="*/ 56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6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6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1" name="Freeform 483"/>
            <p:cNvSpPr>
              <a:spLocks/>
            </p:cNvSpPr>
            <p:nvPr/>
          </p:nvSpPr>
          <p:spPr bwMode="auto">
            <a:xfrm>
              <a:off x="4181" y="2367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2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2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2" name="Freeform 484"/>
            <p:cNvSpPr>
              <a:spLocks/>
            </p:cNvSpPr>
            <p:nvPr/>
          </p:nvSpPr>
          <p:spPr bwMode="auto">
            <a:xfrm>
              <a:off x="4295" y="239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3" name="Freeform 485"/>
            <p:cNvSpPr>
              <a:spLocks/>
            </p:cNvSpPr>
            <p:nvPr/>
          </p:nvSpPr>
          <p:spPr bwMode="auto">
            <a:xfrm>
              <a:off x="4405" y="2418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4" name="Freeform 486"/>
            <p:cNvSpPr>
              <a:spLocks/>
            </p:cNvSpPr>
            <p:nvPr/>
          </p:nvSpPr>
          <p:spPr bwMode="auto">
            <a:xfrm>
              <a:off x="3992" y="2631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2 w 118"/>
                <a:gd name="T3" fmla="*/ 78 h 78"/>
                <a:gd name="T4" fmla="*/ 118 w 118"/>
                <a:gd name="T5" fmla="*/ 19 h 78"/>
                <a:gd name="T6" fmla="*/ 39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2" y="78"/>
                  </a:lnTo>
                  <a:lnTo>
                    <a:pt x="118" y="19"/>
                  </a:lnTo>
                  <a:lnTo>
                    <a:pt x="3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5" name="Freeform 487"/>
            <p:cNvSpPr>
              <a:spLocks/>
            </p:cNvSpPr>
            <p:nvPr/>
          </p:nvSpPr>
          <p:spPr bwMode="auto">
            <a:xfrm>
              <a:off x="4106" y="265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6" name="Freeform 488"/>
            <p:cNvSpPr>
              <a:spLocks/>
            </p:cNvSpPr>
            <p:nvPr/>
          </p:nvSpPr>
          <p:spPr bwMode="auto">
            <a:xfrm>
              <a:off x="4216" y="2686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7" name="Freeform 489"/>
            <p:cNvSpPr>
              <a:spLocks/>
            </p:cNvSpPr>
            <p:nvPr/>
          </p:nvSpPr>
          <p:spPr bwMode="auto">
            <a:xfrm>
              <a:off x="4051" y="2536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2 w 118"/>
                <a:gd name="T3" fmla="*/ 79 h 79"/>
                <a:gd name="T4" fmla="*/ 118 w 118"/>
                <a:gd name="T5" fmla="*/ 20 h 79"/>
                <a:gd name="T6" fmla="*/ 39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9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8" name="Freeform 490"/>
            <p:cNvSpPr>
              <a:spLocks/>
            </p:cNvSpPr>
            <p:nvPr/>
          </p:nvSpPr>
          <p:spPr bwMode="auto">
            <a:xfrm>
              <a:off x="4165" y="2560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5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49" name="Freeform 491"/>
            <p:cNvSpPr>
              <a:spLocks/>
            </p:cNvSpPr>
            <p:nvPr/>
          </p:nvSpPr>
          <p:spPr bwMode="auto">
            <a:xfrm>
              <a:off x="4275" y="258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0" name="Freeform 492"/>
            <p:cNvSpPr>
              <a:spLocks/>
            </p:cNvSpPr>
            <p:nvPr/>
          </p:nvSpPr>
          <p:spPr bwMode="auto">
            <a:xfrm>
              <a:off x="4110" y="2441"/>
              <a:ext cx="118" cy="75"/>
            </a:xfrm>
            <a:custGeom>
              <a:avLst/>
              <a:gdLst>
                <a:gd name="T0" fmla="*/ 0 w 118"/>
                <a:gd name="T1" fmla="*/ 56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6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6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1" name="Freeform 493"/>
            <p:cNvSpPr>
              <a:spLocks/>
            </p:cNvSpPr>
            <p:nvPr/>
          </p:nvSpPr>
          <p:spPr bwMode="auto">
            <a:xfrm>
              <a:off x="4224" y="2465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2" name="Freeform 494"/>
            <p:cNvSpPr>
              <a:spLocks/>
            </p:cNvSpPr>
            <p:nvPr/>
          </p:nvSpPr>
          <p:spPr bwMode="auto">
            <a:xfrm>
              <a:off x="4334" y="2493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6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3" name="Freeform 495"/>
            <p:cNvSpPr>
              <a:spLocks/>
            </p:cNvSpPr>
            <p:nvPr/>
          </p:nvSpPr>
          <p:spPr bwMode="auto">
            <a:xfrm>
              <a:off x="4169" y="2347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4" name="Freeform 496"/>
            <p:cNvSpPr>
              <a:spLocks/>
            </p:cNvSpPr>
            <p:nvPr/>
          </p:nvSpPr>
          <p:spPr bwMode="auto">
            <a:xfrm>
              <a:off x="4283" y="2371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5" name="Freeform 497"/>
            <p:cNvSpPr>
              <a:spLocks/>
            </p:cNvSpPr>
            <p:nvPr/>
          </p:nvSpPr>
          <p:spPr bwMode="auto">
            <a:xfrm>
              <a:off x="4393" y="2398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6" name="Freeform 498"/>
            <p:cNvSpPr>
              <a:spLocks/>
            </p:cNvSpPr>
            <p:nvPr/>
          </p:nvSpPr>
          <p:spPr bwMode="auto">
            <a:xfrm>
              <a:off x="4208" y="2378"/>
              <a:ext cx="16" cy="12"/>
            </a:xfrm>
            <a:custGeom>
              <a:avLst/>
              <a:gdLst>
                <a:gd name="T0" fmla="*/ 12 w 16"/>
                <a:gd name="T1" fmla="*/ 12 h 12"/>
                <a:gd name="T2" fmla="*/ 12 w 16"/>
                <a:gd name="T3" fmla="*/ 12 h 12"/>
                <a:gd name="T4" fmla="*/ 12 w 16"/>
                <a:gd name="T5" fmla="*/ 12 h 12"/>
                <a:gd name="T6" fmla="*/ 12 w 16"/>
                <a:gd name="T7" fmla="*/ 12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4 w 16"/>
                <a:gd name="T15" fmla="*/ 12 h 12"/>
                <a:gd name="T16" fmla="*/ 4 w 16"/>
                <a:gd name="T17" fmla="*/ 12 h 12"/>
                <a:gd name="T18" fmla="*/ 0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4 w 16"/>
                <a:gd name="T25" fmla="*/ 8 h 12"/>
                <a:gd name="T26" fmla="*/ 4 w 16"/>
                <a:gd name="T27" fmla="*/ 8 h 12"/>
                <a:gd name="T28" fmla="*/ 8 w 16"/>
                <a:gd name="T29" fmla="*/ 8 h 12"/>
                <a:gd name="T30" fmla="*/ 12 w 16"/>
                <a:gd name="T31" fmla="*/ 0 h 12"/>
                <a:gd name="T32" fmla="*/ 12 w 16"/>
                <a:gd name="T33" fmla="*/ 0 h 12"/>
                <a:gd name="T34" fmla="*/ 12 w 16"/>
                <a:gd name="T35" fmla="*/ 0 h 12"/>
                <a:gd name="T36" fmla="*/ 12 w 16"/>
                <a:gd name="T37" fmla="*/ 0 h 12"/>
                <a:gd name="T38" fmla="*/ 12 w 16"/>
                <a:gd name="T39" fmla="*/ 0 h 12"/>
                <a:gd name="T40" fmla="*/ 12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2 w 16"/>
                <a:gd name="T49" fmla="*/ 0 h 12"/>
                <a:gd name="T50" fmla="*/ 12 w 16"/>
                <a:gd name="T51" fmla="*/ 0 h 12"/>
                <a:gd name="T52" fmla="*/ 16 w 16"/>
                <a:gd name="T53" fmla="*/ 0 h 12"/>
                <a:gd name="T54" fmla="*/ 16 w 16"/>
                <a:gd name="T55" fmla="*/ 0 h 12"/>
                <a:gd name="T56" fmla="*/ 16 w 16"/>
                <a:gd name="T57" fmla="*/ 0 h 12"/>
                <a:gd name="T58" fmla="*/ 16 w 16"/>
                <a:gd name="T59" fmla="*/ 0 h 12"/>
                <a:gd name="T60" fmla="*/ 16 w 16"/>
                <a:gd name="T61" fmla="*/ 0 h 12"/>
                <a:gd name="T62" fmla="*/ 16 w 16"/>
                <a:gd name="T63" fmla="*/ 0 h 12"/>
                <a:gd name="T64" fmla="*/ 16 w 16"/>
                <a:gd name="T65" fmla="*/ 0 h 12"/>
                <a:gd name="T66" fmla="*/ 8 w 16"/>
                <a:gd name="T67" fmla="*/ 12 h 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"/>
                <a:gd name="T103" fmla="*/ 0 h 12"/>
                <a:gd name="T104" fmla="*/ 16 w 16"/>
                <a:gd name="T105" fmla="*/ 12 h 1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" h="12">
                  <a:moveTo>
                    <a:pt x="8" y="12"/>
                  </a:move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7" name="Freeform 499"/>
            <p:cNvSpPr>
              <a:spLocks/>
            </p:cNvSpPr>
            <p:nvPr/>
          </p:nvSpPr>
          <p:spPr bwMode="auto">
            <a:xfrm>
              <a:off x="4338" y="2394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12 w 20"/>
                <a:gd name="T5" fmla="*/ 12 h 16"/>
                <a:gd name="T6" fmla="*/ 12 w 20"/>
                <a:gd name="T7" fmla="*/ 12 h 16"/>
                <a:gd name="T8" fmla="*/ 16 w 20"/>
                <a:gd name="T9" fmla="*/ 12 h 16"/>
                <a:gd name="T10" fmla="*/ 16 w 20"/>
                <a:gd name="T11" fmla="*/ 12 h 16"/>
                <a:gd name="T12" fmla="*/ 16 w 20"/>
                <a:gd name="T13" fmla="*/ 12 h 16"/>
                <a:gd name="T14" fmla="*/ 16 w 20"/>
                <a:gd name="T15" fmla="*/ 16 h 16"/>
                <a:gd name="T16" fmla="*/ 16 w 20"/>
                <a:gd name="T17" fmla="*/ 16 h 16"/>
                <a:gd name="T18" fmla="*/ 16 w 20"/>
                <a:gd name="T19" fmla="*/ 16 h 16"/>
                <a:gd name="T20" fmla="*/ 16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0 w 20"/>
                <a:gd name="T27" fmla="*/ 16 h 16"/>
                <a:gd name="T28" fmla="*/ 0 w 20"/>
                <a:gd name="T29" fmla="*/ 16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12 w 20"/>
                <a:gd name="T41" fmla="*/ 8 h 16"/>
                <a:gd name="T42" fmla="*/ 12 w 20"/>
                <a:gd name="T43" fmla="*/ 8 h 16"/>
                <a:gd name="T44" fmla="*/ 16 w 20"/>
                <a:gd name="T45" fmla="*/ 8 h 16"/>
                <a:gd name="T46" fmla="*/ 16 w 20"/>
                <a:gd name="T47" fmla="*/ 4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4 h 16"/>
                <a:gd name="T56" fmla="*/ 12 w 20"/>
                <a:gd name="T57" fmla="*/ 4 h 16"/>
                <a:gd name="T58" fmla="*/ 12 w 20"/>
                <a:gd name="T59" fmla="*/ 4 h 16"/>
                <a:gd name="T60" fmla="*/ 12 w 20"/>
                <a:gd name="T61" fmla="*/ 4 h 16"/>
                <a:gd name="T62" fmla="*/ 12 w 20"/>
                <a:gd name="T63" fmla="*/ 4 h 16"/>
                <a:gd name="T64" fmla="*/ 8 w 20"/>
                <a:gd name="T65" fmla="*/ 4 h 16"/>
                <a:gd name="T66" fmla="*/ 8 w 20"/>
                <a:gd name="T67" fmla="*/ 4 h 16"/>
                <a:gd name="T68" fmla="*/ 8 w 20"/>
                <a:gd name="T69" fmla="*/ 4 h 16"/>
                <a:gd name="T70" fmla="*/ 8 w 20"/>
                <a:gd name="T71" fmla="*/ 4 h 16"/>
                <a:gd name="T72" fmla="*/ 8 w 20"/>
                <a:gd name="T73" fmla="*/ 4 h 16"/>
                <a:gd name="T74" fmla="*/ 8 w 20"/>
                <a:gd name="T75" fmla="*/ 0 h 16"/>
                <a:gd name="T76" fmla="*/ 12 w 20"/>
                <a:gd name="T77" fmla="*/ 0 h 16"/>
                <a:gd name="T78" fmla="*/ 12 w 20"/>
                <a:gd name="T79" fmla="*/ 0 h 16"/>
                <a:gd name="T80" fmla="*/ 12 w 20"/>
                <a:gd name="T81" fmla="*/ 0 h 16"/>
                <a:gd name="T82" fmla="*/ 16 w 20"/>
                <a:gd name="T83" fmla="*/ 0 h 16"/>
                <a:gd name="T84" fmla="*/ 16 w 20"/>
                <a:gd name="T85" fmla="*/ 0 h 16"/>
                <a:gd name="T86" fmla="*/ 20 w 20"/>
                <a:gd name="T87" fmla="*/ 4 h 16"/>
                <a:gd name="T88" fmla="*/ 20 w 20"/>
                <a:gd name="T89" fmla="*/ 8 h 16"/>
                <a:gd name="T90" fmla="*/ 20 w 20"/>
                <a:gd name="T91" fmla="*/ 8 h 16"/>
                <a:gd name="T92" fmla="*/ 16 w 20"/>
                <a:gd name="T93" fmla="*/ 8 h 16"/>
                <a:gd name="T94" fmla="*/ 12 w 20"/>
                <a:gd name="T95" fmla="*/ 12 h 16"/>
                <a:gd name="T96" fmla="*/ 8 w 20"/>
                <a:gd name="T97" fmla="*/ 12 h 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16"/>
                <a:gd name="T149" fmla="*/ 20 w 20"/>
                <a:gd name="T150" fmla="*/ 16 h 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16">
                  <a:moveTo>
                    <a:pt x="8" y="12"/>
                  </a:move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8" name="Freeform 500"/>
            <p:cNvSpPr>
              <a:spLocks noEditPoints="1"/>
            </p:cNvSpPr>
            <p:nvPr/>
          </p:nvSpPr>
          <p:spPr bwMode="auto">
            <a:xfrm>
              <a:off x="4315" y="2410"/>
              <a:ext cx="15" cy="12"/>
            </a:xfrm>
            <a:custGeom>
              <a:avLst/>
              <a:gdLst>
                <a:gd name="T0" fmla="*/ 15 w 15"/>
                <a:gd name="T1" fmla="*/ 12 h 12"/>
                <a:gd name="T2" fmla="*/ 15 w 15"/>
                <a:gd name="T3" fmla="*/ 12 h 12"/>
                <a:gd name="T4" fmla="*/ 15 w 15"/>
                <a:gd name="T5" fmla="*/ 12 h 12"/>
                <a:gd name="T6" fmla="*/ 15 w 15"/>
                <a:gd name="T7" fmla="*/ 12 h 12"/>
                <a:gd name="T8" fmla="*/ 15 w 15"/>
                <a:gd name="T9" fmla="*/ 12 h 12"/>
                <a:gd name="T10" fmla="*/ 15 w 15"/>
                <a:gd name="T11" fmla="*/ 12 h 12"/>
                <a:gd name="T12" fmla="*/ 11 w 15"/>
                <a:gd name="T13" fmla="*/ 12 h 12"/>
                <a:gd name="T14" fmla="*/ 11 w 15"/>
                <a:gd name="T15" fmla="*/ 12 h 12"/>
                <a:gd name="T16" fmla="*/ 11 w 15"/>
                <a:gd name="T17" fmla="*/ 12 h 12"/>
                <a:gd name="T18" fmla="*/ 7 w 15"/>
                <a:gd name="T19" fmla="*/ 12 h 12"/>
                <a:gd name="T20" fmla="*/ 7 w 15"/>
                <a:gd name="T21" fmla="*/ 12 h 12"/>
                <a:gd name="T22" fmla="*/ 7 w 15"/>
                <a:gd name="T23" fmla="*/ 12 h 12"/>
                <a:gd name="T24" fmla="*/ 11 w 15"/>
                <a:gd name="T25" fmla="*/ 8 h 12"/>
                <a:gd name="T26" fmla="*/ 11 w 15"/>
                <a:gd name="T27" fmla="*/ 8 h 12"/>
                <a:gd name="T28" fmla="*/ 11 w 15"/>
                <a:gd name="T29" fmla="*/ 8 h 12"/>
                <a:gd name="T30" fmla="*/ 11 w 15"/>
                <a:gd name="T31" fmla="*/ 8 h 12"/>
                <a:gd name="T32" fmla="*/ 7 w 15"/>
                <a:gd name="T33" fmla="*/ 8 h 12"/>
                <a:gd name="T34" fmla="*/ 3 w 15"/>
                <a:gd name="T35" fmla="*/ 8 h 12"/>
                <a:gd name="T36" fmla="*/ 7 w 15"/>
                <a:gd name="T37" fmla="*/ 8 h 12"/>
                <a:gd name="T38" fmla="*/ 7 w 15"/>
                <a:gd name="T39" fmla="*/ 8 h 12"/>
                <a:gd name="T40" fmla="*/ 7 w 15"/>
                <a:gd name="T41" fmla="*/ 8 h 12"/>
                <a:gd name="T42" fmla="*/ 7 w 15"/>
                <a:gd name="T43" fmla="*/ 8 h 12"/>
                <a:gd name="T44" fmla="*/ 7 w 15"/>
                <a:gd name="T45" fmla="*/ 8 h 12"/>
                <a:gd name="T46" fmla="*/ 7 w 15"/>
                <a:gd name="T47" fmla="*/ 12 h 12"/>
                <a:gd name="T48" fmla="*/ 3 w 15"/>
                <a:gd name="T49" fmla="*/ 12 h 12"/>
                <a:gd name="T50" fmla="*/ 3 w 15"/>
                <a:gd name="T51" fmla="*/ 12 h 12"/>
                <a:gd name="T52" fmla="*/ 3 w 15"/>
                <a:gd name="T53" fmla="*/ 12 h 12"/>
                <a:gd name="T54" fmla="*/ 0 w 15"/>
                <a:gd name="T55" fmla="*/ 8 h 12"/>
                <a:gd name="T56" fmla="*/ 0 w 15"/>
                <a:gd name="T57" fmla="*/ 8 h 12"/>
                <a:gd name="T58" fmla="*/ 0 w 15"/>
                <a:gd name="T59" fmla="*/ 8 h 12"/>
                <a:gd name="T60" fmla="*/ 3 w 15"/>
                <a:gd name="T61" fmla="*/ 8 h 12"/>
                <a:gd name="T62" fmla="*/ 3 w 15"/>
                <a:gd name="T63" fmla="*/ 8 h 12"/>
                <a:gd name="T64" fmla="*/ 3 w 15"/>
                <a:gd name="T65" fmla="*/ 8 h 12"/>
                <a:gd name="T66" fmla="*/ 11 w 15"/>
                <a:gd name="T67" fmla="*/ 4 h 12"/>
                <a:gd name="T68" fmla="*/ 7 w 15"/>
                <a:gd name="T69" fmla="*/ 4 h 12"/>
                <a:gd name="T70" fmla="*/ 7 w 15"/>
                <a:gd name="T71" fmla="*/ 4 h 12"/>
                <a:gd name="T72" fmla="*/ 7 w 15"/>
                <a:gd name="T73" fmla="*/ 0 h 12"/>
                <a:gd name="T74" fmla="*/ 7 w 15"/>
                <a:gd name="T75" fmla="*/ 0 h 12"/>
                <a:gd name="T76" fmla="*/ 7 w 15"/>
                <a:gd name="T77" fmla="*/ 0 h 12"/>
                <a:gd name="T78" fmla="*/ 7 w 15"/>
                <a:gd name="T79" fmla="*/ 0 h 12"/>
                <a:gd name="T80" fmla="*/ 11 w 15"/>
                <a:gd name="T81" fmla="*/ 0 h 12"/>
                <a:gd name="T82" fmla="*/ 15 w 15"/>
                <a:gd name="T83" fmla="*/ 0 h 12"/>
                <a:gd name="T84" fmla="*/ 15 w 15"/>
                <a:gd name="T85" fmla="*/ 0 h 12"/>
                <a:gd name="T86" fmla="*/ 15 w 15"/>
                <a:gd name="T87" fmla="*/ 4 h 12"/>
                <a:gd name="T88" fmla="*/ 15 w 15"/>
                <a:gd name="T89" fmla="*/ 4 h 12"/>
                <a:gd name="T90" fmla="*/ 11 w 15"/>
                <a:gd name="T91" fmla="*/ 4 h 12"/>
                <a:gd name="T92" fmla="*/ 7 w 15"/>
                <a:gd name="T93" fmla="*/ 8 h 12"/>
                <a:gd name="T94" fmla="*/ 11 w 15"/>
                <a:gd name="T95" fmla="*/ 8 h 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5"/>
                <a:gd name="T145" fmla="*/ 0 h 12"/>
                <a:gd name="T146" fmla="*/ 15 w 15"/>
                <a:gd name="T147" fmla="*/ 12 h 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5" h="12">
                  <a:moveTo>
                    <a:pt x="15" y="12"/>
                  </a:move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11" y="8"/>
                  </a:lnTo>
                  <a:lnTo>
                    <a:pt x="7" y="8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12"/>
                  </a:lnTo>
                  <a:close/>
                  <a:moveTo>
                    <a:pt x="11" y="4"/>
                  </a:move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59" name="Freeform 501"/>
            <p:cNvSpPr>
              <a:spLocks noEditPoints="1"/>
            </p:cNvSpPr>
            <p:nvPr/>
          </p:nvSpPr>
          <p:spPr bwMode="auto">
            <a:xfrm>
              <a:off x="4330" y="2414"/>
              <a:ext cx="16" cy="12"/>
            </a:xfrm>
            <a:custGeom>
              <a:avLst/>
              <a:gdLst>
                <a:gd name="T0" fmla="*/ 12 w 16"/>
                <a:gd name="T1" fmla="*/ 4 h 12"/>
                <a:gd name="T2" fmla="*/ 16 w 16"/>
                <a:gd name="T3" fmla="*/ 8 h 12"/>
                <a:gd name="T4" fmla="*/ 16 w 16"/>
                <a:gd name="T5" fmla="*/ 8 h 12"/>
                <a:gd name="T6" fmla="*/ 16 w 16"/>
                <a:gd name="T7" fmla="*/ 8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8 w 16"/>
                <a:gd name="T15" fmla="*/ 12 h 12"/>
                <a:gd name="T16" fmla="*/ 8 w 16"/>
                <a:gd name="T17" fmla="*/ 12 h 12"/>
                <a:gd name="T18" fmla="*/ 8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4 w 16"/>
                <a:gd name="T33" fmla="*/ 8 h 12"/>
                <a:gd name="T34" fmla="*/ 4 w 16"/>
                <a:gd name="T35" fmla="*/ 8 h 12"/>
                <a:gd name="T36" fmla="*/ 8 w 16"/>
                <a:gd name="T37" fmla="*/ 0 h 12"/>
                <a:gd name="T38" fmla="*/ 8 w 16"/>
                <a:gd name="T39" fmla="*/ 0 h 12"/>
                <a:gd name="T40" fmla="*/ 8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4 w 16"/>
                <a:gd name="T47" fmla="*/ 0 h 12"/>
                <a:gd name="T48" fmla="*/ 8 w 16"/>
                <a:gd name="T49" fmla="*/ 0 h 12"/>
                <a:gd name="T50" fmla="*/ 8 w 16"/>
                <a:gd name="T51" fmla="*/ 0 h 12"/>
                <a:gd name="T52" fmla="*/ 12 w 16"/>
                <a:gd name="T53" fmla="*/ 0 h 12"/>
                <a:gd name="T54" fmla="*/ 12 w 16"/>
                <a:gd name="T55" fmla="*/ 0 h 12"/>
                <a:gd name="T56" fmla="*/ 16 w 16"/>
                <a:gd name="T57" fmla="*/ 0 h 12"/>
                <a:gd name="T58" fmla="*/ 16 w 16"/>
                <a:gd name="T59" fmla="*/ 4 h 12"/>
                <a:gd name="T60" fmla="*/ 16 w 16"/>
                <a:gd name="T61" fmla="*/ 4 h 12"/>
                <a:gd name="T62" fmla="*/ 16 w 16"/>
                <a:gd name="T63" fmla="*/ 4 h 12"/>
                <a:gd name="T64" fmla="*/ 12 w 16"/>
                <a:gd name="T65" fmla="*/ 4 h 12"/>
                <a:gd name="T66" fmla="*/ 8 w 16"/>
                <a:gd name="T67" fmla="*/ 0 h 12"/>
                <a:gd name="T68" fmla="*/ 8 w 16"/>
                <a:gd name="T69" fmla="*/ 4 h 12"/>
                <a:gd name="T70" fmla="*/ 8 w 16"/>
                <a:gd name="T71" fmla="*/ 4 h 12"/>
                <a:gd name="T72" fmla="*/ 12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0 h 12"/>
                <a:gd name="T84" fmla="*/ 8 w 16"/>
                <a:gd name="T85" fmla="*/ 4 h 12"/>
                <a:gd name="T86" fmla="*/ 4 w 16"/>
                <a:gd name="T87" fmla="*/ 8 h 12"/>
                <a:gd name="T88" fmla="*/ 8 w 16"/>
                <a:gd name="T89" fmla="*/ 8 h 12"/>
                <a:gd name="T90" fmla="*/ 8 w 16"/>
                <a:gd name="T91" fmla="*/ 8 h 12"/>
                <a:gd name="T92" fmla="*/ 8 w 16"/>
                <a:gd name="T93" fmla="*/ 8 h 12"/>
                <a:gd name="T94" fmla="*/ 12 w 16"/>
                <a:gd name="T95" fmla="*/ 8 h 12"/>
                <a:gd name="T96" fmla="*/ 12 w 16"/>
                <a:gd name="T97" fmla="*/ 8 h 12"/>
                <a:gd name="T98" fmla="*/ 12 w 16"/>
                <a:gd name="T99" fmla="*/ 8 h 12"/>
                <a:gd name="T100" fmla="*/ 8 w 16"/>
                <a:gd name="T101" fmla="*/ 4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2"/>
                <a:gd name="T155" fmla="*/ 16 w 16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2">
                  <a:moveTo>
                    <a:pt x="12" y="4"/>
                  </a:moveTo>
                  <a:lnTo>
                    <a:pt x="12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  <a:moveTo>
                    <a:pt x="8" y="0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close/>
                  <a:moveTo>
                    <a:pt x="8" y="4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0" name="Freeform 502"/>
            <p:cNvSpPr>
              <a:spLocks/>
            </p:cNvSpPr>
            <p:nvPr/>
          </p:nvSpPr>
          <p:spPr bwMode="auto">
            <a:xfrm>
              <a:off x="4346" y="2418"/>
              <a:ext cx="16" cy="12"/>
            </a:xfrm>
            <a:custGeom>
              <a:avLst/>
              <a:gdLst>
                <a:gd name="T0" fmla="*/ 16 w 16"/>
                <a:gd name="T1" fmla="*/ 0 h 12"/>
                <a:gd name="T2" fmla="*/ 16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6 w 16"/>
                <a:gd name="T13" fmla="*/ 4 h 12"/>
                <a:gd name="T14" fmla="*/ 16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12 w 16"/>
                <a:gd name="T31" fmla="*/ 0 h 12"/>
                <a:gd name="T32" fmla="*/ 12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8 w 16"/>
                <a:gd name="T43" fmla="*/ 8 h 12"/>
                <a:gd name="T44" fmla="*/ 8 w 16"/>
                <a:gd name="T45" fmla="*/ 8 h 12"/>
                <a:gd name="T46" fmla="*/ 8 w 16"/>
                <a:gd name="T47" fmla="*/ 8 h 12"/>
                <a:gd name="T48" fmla="*/ 12 w 16"/>
                <a:gd name="T49" fmla="*/ 8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8 h 12"/>
                <a:gd name="T56" fmla="*/ 12 w 16"/>
                <a:gd name="T57" fmla="*/ 8 h 12"/>
                <a:gd name="T58" fmla="*/ 8 w 16"/>
                <a:gd name="T59" fmla="*/ 12 h 12"/>
                <a:gd name="T60" fmla="*/ 4 w 16"/>
                <a:gd name="T61" fmla="*/ 8 h 12"/>
                <a:gd name="T62" fmla="*/ 4 w 16"/>
                <a:gd name="T63" fmla="*/ 8 h 12"/>
                <a:gd name="T64" fmla="*/ 0 w 16"/>
                <a:gd name="T65" fmla="*/ 8 h 12"/>
                <a:gd name="T66" fmla="*/ 0 w 16"/>
                <a:gd name="T67" fmla="*/ 4 h 12"/>
                <a:gd name="T68" fmla="*/ 0 w 16"/>
                <a:gd name="T69" fmla="*/ 4 h 12"/>
                <a:gd name="T70" fmla="*/ 4 w 16"/>
                <a:gd name="T71" fmla="*/ 0 h 12"/>
                <a:gd name="T72" fmla="*/ 12 w 16"/>
                <a:gd name="T73" fmla="*/ 0 h 12"/>
                <a:gd name="T74" fmla="*/ 12 w 16"/>
                <a:gd name="T75" fmla="*/ 0 h 12"/>
                <a:gd name="T76" fmla="*/ 12 w 16"/>
                <a:gd name="T77" fmla="*/ 0 h 12"/>
                <a:gd name="T78" fmla="*/ 16 w 16"/>
                <a:gd name="T79" fmla="*/ 0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1" name="Freeform 503"/>
            <p:cNvSpPr>
              <a:spLocks/>
            </p:cNvSpPr>
            <p:nvPr/>
          </p:nvSpPr>
          <p:spPr bwMode="auto">
            <a:xfrm>
              <a:off x="4448" y="2426"/>
              <a:ext cx="20" cy="15"/>
            </a:xfrm>
            <a:custGeom>
              <a:avLst/>
              <a:gdLst>
                <a:gd name="T0" fmla="*/ 12 w 20"/>
                <a:gd name="T1" fmla="*/ 8 h 15"/>
                <a:gd name="T2" fmla="*/ 16 w 20"/>
                <a:gd name="T3" fmla="*/ 12 h 15"/>
                <a:gd name="T4" fmla="*/ 16 w 20"/>
                <a:gd name="T5" fmla="*/ 12 h 15"/>
                <a:gd name="T6" fmla="*/ 16 w 20"/>
                <a:gd name="T7" fmla="*/ 12 h 15"/>
                <a:gd name="T8" fmla="*/ 12 w 20"/>
                <a:gd name="T9" fmla="*/ 15 h 15"/>
                <a:gd name="T10" fmla="*/ 4 w 20"/>
                <a:gd name="T11" fmla="*/ 15 h 15"/>
                <a:gd name="T12" fmla="*/ 4 w 20"/>
                <a:gd name="T13" fmla="*/ 15 h 15"/>
                <a:gd name="T14" fmla="*/ 0 w 20"/>
                <a:gd name="T15" fmla="*/ 15 h 15"/>
                <a:gd name="T16" fmla="*/ 0 w 20"/>
                <a:gd name="T17" fmla="*/ 12 h 15"/>
                <a:gd name="T18" fmla="*/ 0 w 20"/>
                <a:gd name="T19" fmla="*/ 12 h 15"/>
                <a:gd name="T20" fmla="*/ 0 w 20"/>
                <a:gd name="T21" fmla="*/ 12 h 15"/>
                <a:gd name="T22" fmla="*/ 0 w 20"/>
                <a:gd name="T23" fmla="*/ 12 h 15"/>
                <a:gd name="T24" fmla="*/ 0 w 20"/>
                <a:gd name="T25" fmla="*/ 12 h 15"/>
                <a:gd name="T26" fmla="*/ 4 w 20"/>
                <a:gd name="T27" fmla="*/ 12 h 15"/>
                <a:gd name="T28" fmla="*/ 8 w 20"/>
                <a:gd name="T29" fmla="*/ 12 h 15"/>
                <a:gd name="T30" fmla="*/ 8 w 20"/>
                <a:gd name="T31" fmla="*/ 12 h 15"/>
                <a:gd name="T32" fmla="*/ 8 w 20"/>
                <a:gd name="T33" fmla="*/ 12 h 15"/>
                <a:gd name="T34" fmla="*/ 12 w 20"/>
                <a:gd name="T35" fmla="*/ 12 h 15"/>
                <a:gd name="T36" fmla="*/ 12 w 20"/>
                <a:gd name="T37" fmla="*/ 12 h 15"/>
                <a:gd name="T38" fmla="*/ 12 w 20"/>
                <a:gd name="T39" fmla="*/ 12 h 15"/>
                <a:gd name="T40" fmla="*/ 8 w 20"/>
                <a:gd name="T41" fmla="*/ 8 h 15"/>
                <a:gd name="T42" fmla="*/ 8 w 20"/>
                <a:gd name="T43" fmla="*/ 8 h 15"/>
                <a:gd name="T44" fmla="*/ 8 w 20"/>
                <a:gd name="T45" fmla="*/ 8 h 15"/>
                <a:gd name="T46" fmla="*/ 8 w 20"/>
                <a:gd name="T47" fmla="*/ 8 h 15"/>
                <a:gd name="T48" fmla="*/ 8 w 20"/>
                <a:gd name="T49" fmla="*/ 8 h 15"/>
                <a:gd name="T50" fmla="*/ 8 w 20"/>
                <a:gd name="T51" fmla="*/ 8 h 15"/>
                <a:gd name="T52" fmla="*/ 8 w 20"/>
                <a:gd name="T53" fmla="*/ 8 h 15"/>
                <a:gd name="T54" fmla="*/ 8 w 20"/>
                <a:gd name="T55" fmla="*/ 8 h 15"/>
                <a:gd name="T56" fmla="*/ 12 w 20"/>
                <a:gd name="T57" fmla="*/ 8 h 15"/>
                <a:gd name="T58" fmla="*/ 12 w 20"/>
                <a:gd name="T59" fmla="*/ 4 h 15"/>
                <a:gd name="T60" fmla="*/ 12 w 20"/>
                <a:gd name="T61" fmla="*/ 4 h 15"/>
                <a:gd name="T62" fmla="*/ 12 w 20"/>
                <a:gd name="T63" fmla="*/ 4 h 15"/>
                <a:gd name="T64" fmla="*/ 12 w 20"/>
                <a:gd name="T65" fmla="*/ 4 h 15"/>
                <a:gd name="T66" fmla="*/ 12 w 20"/>
                <a:gd name="T67" fmla="*/ 4 h 15"/>
                <a:gd name="T68" fmla="*/ 8 w 20"/>
                <a:gd name="T69" fmla="*/ 4 h 15"/>
                <a:gd name="T70" fmla="*/ 8 w 20"/>
                <a:gd name="T71" fmla="*/ 4 h 15"/>
                <a:gd name="T72" fmla="*/ 8 w 20"/>
                <a:gd name="T73" fmla="*/ 4 h 15"/>
                <a:gd name="T74" fmla="*/ 8 w 20"/>
                <a:gd name="T75" fmla="*/ 4 h 15"/>
                <a:gd name="T76" fmla="*/ 8 w 20"/>
                <a:gd name="T77" fmla="*/ 0 h 15"/>
                <a:gd name="T78" fmla="*/ 8 w 20"/>
                <a:gd name="T79" fmla="*/ 0 h 15"/>
                <a:gd name="T80" fmla="*/ 8 w 20"/>
                <a:gd name="T81" fmla="*/ 0 h 15"/>
                <a:gd name="T82" fmla="*/ 16 w 20"/>
                <a:gd name="T83" fmla="*/ 0 h 15"/>
                <a:gd name="T84" fmla="*/ 16 w 20"/>
                <a:gd name="T85" fmla="*/ 0 h 15"/>
                <a:gd name="T86" fmla="*/ 16 w 20"/>
                <a:gd name="T87" fmla="*/ 4 h 15"/>
                <a:gd name="T88" fmla="*/ 20 w 20"/>
                <a:gd name="T89" fmla="*/ 4 h 15"/>
                <a:gd name="T90" fmla="*/ 20 w 20"/>
                <a:gd name="T91" fmla="*/ 4 h 15"/>
                <a:gd name="T92" fmla="*/ 16 w 20"/>
                <a:gd name="T93" fmla="*/ 8 h 15"/>
                <a:gd name="T94" fmla="*/ 12 w 20"/>
                <a:gd name="T95" fmla="*/ 8 h 1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"/>
                <a:gd name="T145" fmla="*/ 0 h 15"/>
                <a:gd name="T146" fmla="*/ 20 w 20"/>
                <a:gd name="T147" fmla="*/ 15 h 15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" h="15">
                  <a:moveTo>
                    <a:pt x="12" y="8"/>
                  </a:moveTo>
                  <a:lnTo>
                    <a:pt x="12" y="8"/>
                  </a:lnTo>
                  <a:lnTo>
                    <a:pt x="16" y="12"/>
                  </a:lnTo>
                  <a:lnTo>
                    <a:pt x="12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8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2" name="Freeform 504"/>
            <p:cNvSpPr>
              <a:spLocks noEditPoints="1"/>
            </p:cNvSpPr>
            <p:nvPr/>
          </p:nvSpPr>
          <p:spPr bwMode="auto">
            <a:xfrm>
              <a:off x="4425" y="2441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4 w 16"/>
                <a:gd name="T3" fmla="*/ 4 h 12"/>
                <a:gd name="T4" fmla="*/ 4 w 16"/>
                <a:gd name="T5" fmla="*/ 4 h 12"/>
                <a:gd name="T6" fmla="*/ 4 w 16"/>
                <a:gd name="T7" fmla="*/ 4 h 12"/>
                <a:gd name="T8" fmla="*/ 4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8 w 16"/>
                <a:gd name="T15" fmla="*/ 0 h 12"/>
                <a:gd name="T16" fmla="*/ 8 w 16"/>
                <a:gd name="T17" fmla="*/ 0 h 12"/>
                <a:gd name="T18" fmla="*/ 8 w 16"/>
                <a:gd name="T19" fmla="*/ 0 h 12"/>
                <a:gd name="T20" fmla="*/ 8 w 16"/>
                <a:gd name="T21" fmla="*/ 0 h 12"/>
                <a:gd name="T22" fmla="*/ 12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6 w 16"/>
                <a:gd name="T31" fmla="*/ 8 h 12"/>
                <a:gd name="T32" fmla="*/ 16 w 16"/>
                <a:gd name="T33" fmla="*/ 8 h 12"/>
                <a:gd name="T34" fmla="*/ 12 w 16"/>
                <a:gd name="T35" fmla="*/ 12 h 12"/>
                <a:gd name="T36" fmla="*/ 8 w 16"/>
                <a:gd name="T37" fmla="*/ 12 h 12"/>
                <a:gd name="T38" fmla="*/ 8 w 16"/>
                <a:gd name="T39" fmla="*/ 12 h 12"/>
                <a:gd name="T40" fmla="*/ 8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12 h 12"/>
                <a:gd name="T52" fmla="*/ 0 w 16"/>
                <a:gd name="T53" fmla="*/ 8 h 12"/>
                <a:gd name="T54" fmla="*/ 0 w 16"/>
                <a:gd name="T55" fmla="*/ 8 h 12"/>
                <a:gd name="T56" fmla="*/ 0 w 16"/>
                <a:gd name="T57" fmla="*/ 8 h 12"/>
                <a:gd name="T58" fmla="*/ 0 w 16"/>
                <a:gd name="T59" fmla="*/ 8 h 12"/>
                <a:gd name="T60" fmla="*/ 4 w 16"/>
                <a:gd name="T61" fmla="*/ 8 h 12"/>
                <a:gd name="T62" fmla="*/ 4 w 16"/>
                <a:gd name="T63" fmla="*/ 12 h 12"/>
                <a:gd name="T64" fmla="*/ 4 w 16"/>
                <a:gd name="T65" fmla="*/ 12 h 12"/>
                <a:gd name="T66" fmla="*/ 4 w 16"/>
                <a:gd name="T67" fmla="*/ 12 h 12"/>
                <a:gd name="T68" fmla="*/ 8 w 16"/>
                <a:gd name="T69" fmla="*/ 12 h 12"/>
                <a:gd name="T70" fmla="*/ 12 w 16"/>
                <a:gd name="T71" fmla="*/ 8 h 12"/>
                <a:gd name="T72" fmla="*/ 12 w 16"/>
                <a:gd name="T73" fmla="*/ 8 h 12"/>
                <a:gd name="T74" fmla="*/ 12 w 16"/>
                <a:gd name="T75" fmla="*/ 4 h 12"/>
                <a:gd name="T76" fmla="*/ 8 w 16"/>
                <a:gd name="T77" fmla="*/ 4 h 12"/>
                <a:gd name="T78" fmla="*/ 8 w 16"/>
                <a:gd name="T79" fmla="*/ 4 h 12"/>
                <a:gd name="T80" fmla="*/ 8 w 16"/>
                <a:gd name="T81" fmla="*/ 4 h 12"/>
                <a:gd name="T82" fmla="*/ 8 w 16"/>
                <a:gd name="T83" fmla="*/ 4 h 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2"/>
                <a:gd name="T128" fmla="*/ 16 w 16"/>
                <a:gd name="T129" fmla="*/ 12 h 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2">
                  <a:moveTo>
                    <a:pt x="4" y="8"/>
                  </a:move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close/>
                  <a:moveTo>
                    <a:pt x="8" y="4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3" name="Freeform 505"/>
            <p:cNvSpPr>
              <a:spLocks/>
            </p:cNvSpPr>
            <p:nvPr/>
          </p:nvSpPr>
          <p:spPr bwMode="auto">
            <a:xfrm>
              <a:off x="4441" y="2445"/>
              <a:ext cx="15" cy="12"/>
            </a:xfrm>
            <a:custGeom>
              <a:avLst/>
              <a:gdLst>
                <a:gd name="T0" fmla="*/ 11 w 15"/>
                <a:gd name="T1" fmla="*/ 4 h 12"/>
                <a:gd name="T2" fmla="*/ 11 w 15"/>
                <a:gd name="T3" fmla="*/ 4 h 12"/>
                <a:gd name="T4" fmla="*/ 11 w 15"/>
                <a:gd name="T5" fmla="*/ 4 h 12"/>
                <a:gd name="T6" fmla="*/ 11 w 15"/>
                <a:gd name="T7" fmla="*/ 4 h 12"/>
                <a:gd name="T8" fmla="*/ 15 w 15"/>
                <a:gd name="T9" fmla="*/ 4 h 12"/>
                <a:gd name="T10" fmla="*/ 15 w 15"/>
                <a:gd name="T11" fmla="*/ 4 h 12"/>
                <a:gd name="T12" fmla="*/ 15 w 15"/>
                <a:gd name="T13" fmla="*/ 4 h 12"/>
                <a:gd name="T14" fmla="*/ 15 w 15"/>
                <a:gd name="T15" fmla="*/ 4 h 12"/>
                <a:gd name="T16" fmla="*/ 15 w 15"/>
                <a:gd name="T17" fmla="*/ 4 h 12"/>
                <a:gd name="T18" fmla="*/ 15 w 15"/>
                <a:gd name="T19" fmla="*/ 0 h 12"/>
                <a:gd name="T20" fmla="*/ 3 w 15"/>
                <a:gd name="T21" fmla="*/ 0 h 12"/>
                <a:gd name="T22" fmla="*/ 3 w 15"/>
                <a:gd name="T23" fmla="*/ 0 h 12"/>
                <a:gd name="T24" fmla="*/ 3 w 15"/>
                <a:gd name="T25" fmla="*/ 0 h 12"/>
                <a:gd name="T26" fmla="*/ 3 w 15"/>
                <a:gd name="T27" fmla="*/ 0 h 12"/>
                <a:gd name="T28" fmla="*/ 3 w 15"/>
                <a:gd name="T29" fmla="*/ 0 h 12"/>
                <a:gd name="T30" fmla="*/ 3 w 15"/>
                <a:gd name="T31" fmla="*/ 0 h 12"/>
                <a:gd name="T32" fmla="*/ 3 w 15"/>
                <a:gd name="T33" fmla="*/ 0 h 12"/>
                <a:gd name="T34" fmla="*/ 3 w 15"/>
                <a:gd name="T35" fmla="*/ 0 h 12"/>
                <a:gd name="T36" fmla="*/ 0 w 15"/>
                <a:gd name="T37" fmla="*/ 8 h 12"/>
                <a:gd name="T38" fmla="*/ 0 w 15"/>
                <a:gd name="T39" fmla="*/ 8 h 12"/>
                <a:gd name="T40" fmla="*/ 0 w 15"/>
                <a:gd name="T41" fmla="*/ 8 h 12"/>
                <a:gd name="T42" fmla="*/ 0 w 15"/>
                <a:gd name="T43" fmla="*/ 8 h 12"/>
                <a:gd name="T44" fmla="*/ 0 w 15"/>
                <a:gd name="T45" fmla="*/ 8 h 12"/>
                <a:gd name="T46" fmla="*/ 0 w 15"/>
                <a:gd name="T47" fmla="*/ 8 h 12"/>
                <a:gd name="T48" fmla="*/ 0 w 15"/>
                <a:gd name="T49" fmla="*/ 12 h 12"/>
                <a:gd name="T50" fmla="*/ 0 w 15"/>
                <a:gd name="T51" fmla="*/ 12 h 12"/>
                <a:gd name="T52" fmla="*/ 11 w 15"/>
                <a:gd name="T53" fmla="*/ 12 h 12"/>
                <a:gd name="T54" fmla="*/ 11 w 15"/>
                <a:gd name="T55" fmla="*/ 12 h 12"/>
                <a:gd name="T56" fmla="*/ 11 w 15"/>
                <a:gd name="T57" fmla="*/ 12 h 12"/>
                <a:gd name="T58" fmla="*/ 11 w 15"/>
                <a:gd name="T59" fmla="*/ 12 h 12"/>
                <a:gd name="T60" fmla="*/ 11 w 15"/>
                <a:gd name="T61" fmla="*/ 12 h 12"/>
                <a:gd name="T62" fmla="*/ 11 w 15"/>
                <a:gd name="T63" fmla="*/ 12 h 12"/>
                <a:gd name="T64" fmla="*/ 11 w 15"/>
                <a:gd name="T65" fmla="*/ 8 h 12"/>
                <a:gd name="T66" fmla="*/ 11 w 15"/>
                <a:gd name="T67" fmla="*/ 8 h 12"/>
                <a:gd name="T68" fmla="*/ 11 w 15"/>
                <a:gd name="T69" fmla="*/ 8 h 12"/>
                <a:gd name="T70" fmla="*/ 11 w 15"/>
                <a:gd name="T71" fmla="*/ 8 h 12"/>
                <a:gd name="T72" fmla="*/ 11 w 15"/>
                <a:gd name="T73" fmla="*/ 8 h 12"/>
                <a:gd name="T74" fmla="*/ 7 w 15"/>
                <a:gd name="T75" fmla="*/ 12 h 12"/>
                <a:gd name="T76" fmla="*/ 3 w 15"/>
                <a:gd name="T77" fmla="*/ 8 h 12"/>
                <a:gd name="T78" fmla="*/ 3 w 15"/>
                <a:gd name="T79" fmla="*/ 8 h 12"/>
                <a:gd name="T80" fmla="*/ 7 w 15"/>
                <a:gd name="T81" fmla="*/ 8 h 12"/>
                <a:gd name="T82" fmla="*/ 7 w 15"/>
                <a:gd name="T83" fmla="*/ 8 h 12"/>
                <a:gd name="T84" fmla="*/ 7 w 15"/>
                <a:gd name="T85" fmla="*/ 8 h 12"/>
                <a:gd name="T86" fmla="*/ 7 w 15"/>
                <a:gd name="T87" fmla="*/ 8 h 12"/>
                <a:gd name="T88" fmla="*/ 7 w 15"/>
                <a:gd name="T89" fmla="*/ 8 h 12"/>
                <a:gd name="T90" fmla="*/ 7 w 15"/>
                <a:gd name="T91" fmla="*/ 8 h 12"/>
                <a:gd name="T92" fmla="*/ 7 w 15"/>
                <a:gd name="T93" fmla="*/ 8 h 12"/>
                <a:gd name="T94" fmla="*/ 11 w 15"/>
                <a:gd name="T95" fmla="*/ 8 h 12"/>
                <a:gd name="T96" fmla="*/ 11 w 15"/>
                <a:gd name="T97" fmla="*/ 4 h 12"/>
                <a:gd name="T98" fmla="*/ 11 w 15"/>
                <a:gd name="T99" fmla="*/ 4 h 12"/>
                <a:gd name="T100" fmla="*/ 11 w 15"/>
                <a:gd name="T101" fmla="*/ 4 h 12"/>
                <a:gd name="T102" fmla="*/ 11 w 15"/>
                <a:gd name="T103" fmla="*/ 4 h 12"/>
                <a:gd name="T104" fmla="*/ 11 w 15"/>
                <a:gd name="T105" fmla="*/ 4 h 12"/>
                <a:gd name="T106" fmla="*/ 11 w 15"/>
                <a:gd name="T107" fmla="*/ 4 h 12"/>
                <a:gd name="T108" fmla="*/ 11 w 15"/>
                <a:gd name="T109" fmla="*/ 4 h 12"/>
                <a:gd name="T110" fmla="*/ 11 w 15"/>
                <a:gd name="T111" fmla="*/ 4 h 12"/>
                <a:gd name="T112" fmla="*/ 7 w 15"/>
                <a:gd name="T113" fmla="*/ 4 h 12"/>
                <a:gd name="T114" fmla="*/ 7 w 15"/>
                <a:gd name="T115" fmla="*/ 4 h 12"/>
                <a:gd name="T116" fmla="*/ 7 w 15"/>
                <a:gd name="T117" fmla="*/ 4 h 12"/>
                <a:gd name="T118" fmla="*/ 7 w 15"/>
                <a:gd name="T119" fmla="*/ 4 h 12"/>
                <a:gd name="T120" fmla="*/ 7 w 15"/>
                <a:gd name="T121" fmla="*/ 4 h 12"/>
                <a:gd name="T122" fmla="*/ 11 w 15"/>
                <a:gd name="T123" fmla="*/ 4 h 12"/>
                <a:gd name="T124" fmla="*/ 11 w 15"/>
                <a:gd name="T125" fmla="*/ 4 h 1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2"/>
                <a:gd name="T191" fmla="*/ 15 w 15"/>
                <a:gd name="T192" fmla="*/ 12 h 1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2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3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7" y="12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4" name="Freeform 506"/>
            <p:cNvSpPr>
              <a:spLocks/>
            </p:cNvSpPr>
            <p:nvPr/>
          </p:nvSpPr>
          <p:spPr bwMode="auto">
            <a:xfrm>
              <a:off x="4456" y="2449"/>
              <a:ext cx="16" cy="12"/>
            </a:xfrm>
            <a:custGeom>
              <a:avLst/>
              <a:gdLst>
                <a:gd name="T0" fmla="*/ 8 w 16"/>
                <a:gd name="T1" fmla="*/ 0 h 12"/>
                <a:gd name="T2" fmla="*/ 4 w 16"/>
                <a:gd name="T3" fmla="*/ 4 h 12"/>
                <a:gd name="T4" fmla="*/ 8 w 16"/>
                <a:gd name="T5" fmla="*/ 4 h 12"/>
                <a:gd name="T6" fmla="*/ 8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8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8 w 16"/>
                <a:gd name="T23" fmla="*/ 8 h 12"/>
                <a:gd name="T24" fmla="*/ 8 w 16"/>
                <a:gd name="T25" fmla="*/ 8 h 12"/>
                <a:gd name="T26" fmla="*/ 8 w 16"/>
                <a:gd name="T27" fmla="*/ 8 h 12"/>
                <a:gd name="T28" fmla="*/ 8 w 16"/>
                <a:gd name="T29" fmla="*/ 8 h 12"/>
                <a:gd name="T30" fmla="*/ 8 w 16"/>
                <a:gd name="T31" fmla="*/ 8 h 12"/>
                <a:gd name="T32" fmla="*/ 8 w 16"/>
                <a:gd name="T33" fmla="*/ 8 h 12"/>
                <a:gd name="T34" fmla="*/ 8 w 16"/>
                <a:gd name="T35" fmla="*/ 8 h 12"/>
                <a:gd name="T36" fmla="*/ 8 w 16"/>
                <a:gd name="T37" fmla="*/ 8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4 w 16"/>
                <a:gd name="T49" fmla="*/ 12 h 12"/>
                <a:gd name="T50" fmla="*/ 4 w 16"/>
                <a:gd name="T51" fmla="*/ 12 h 12"/>
                <a:gd name="T52" fmla="*/ 4 w 16"/>
                <a:gd name="T53" fmla="*/ 12 h 12"/>
                <a:gd name="T54" fmla="*/ 4 w 16"/>
                <a:gd name="T55" fmla="*/ 12 h 12"/>
                <a:gd name="T56" fmla="*/ 0 w 16"/>
                <a:gd name="T57" fmla="*/ 8 h 12"/>
                <a:gd name="T58" fmla="*/ 0 w 16"/>
                <a:gd name="T59" fmla="*/ 8 h 12"/>
                <a:gd name="T60" fmla="*/ 0 w 16"/>
                <a:gd name="T61" fmla="*/ 8 h 12"/>
                <a:gd name="T62" fmla="*/ 0 w 16"/>
                <a:gd name="T63" fmla="*/ 8 h 12"/>
                <a:gd name="T64" fmla="*/ 0 w 16"/>
                <a:gd name="T65" fmla="*/ 8 h 12"/>
                <a:gd name="T66" fmla="*/ 0 w 16"/>
                <a:gd name="T67" fmla="*/ 8 h 12"/>
                <a:gd name="T68" fmla="*/ 0 w 16"/>
                <a:gd name="T69" fmla="*/ 8 h 12"/>
                <a:gd name="T70" fmla="*/ 0 w 16"/>
                <a:gd name="T71" fmla="*/ 8 h 12"/>
                <a:gd name="T72" fmla="*/ 4 w 16"/>
                <a:gd name="T73" fmla="*/ 0 h 12"/>
                <a:gd name="T74" fmla="*/ 4 w 16"/>
                <a:gd name="T75" fmla="*/ 0 h 12"/>
                <a:gd name="T76" fmla="*/ 4 w 16"/>
                <a:gd name="T77" fmla="*/ 0 h 12"/>
                <a:gd name="T78" fmla="*/ 4 w 16"/>
                <a:gd name="T79" fmla="*/ 0 h 12"/>
                <a:gd name="T80" fmla="*/ 4 w 16"/>
                <a:gd name="T81" fmla="*/ 0 h 12"/>
                <a:gd name="T82" fmla="*/ 4 w 16"/>
                <a:gd name="T83" fmla="*/ 0 h 12"/>
                <a:gd name="T84" fmla="*/ 4 w 16"/>
                <a:gd name="T85" fmla="*/ 0 h 12"/>
                <a:gd name="T86" fmla="*/ 4 w 16"/>
                <a:gd name="T87" fmla="*/ 0 h 12"/>
                <a:gd name="T88" fmla="*/ 16 w 16"/>
                <a:gd name="T89" fmla="*/ 0 h 12"/>
                <a:gd name="T90" fmla="*/ 16 w 16"/>
                <a:gd name="T91" fmla="*/ 0 h 12"/>
                <a:gd name="T92" fmla="*/ 16 w 16"/>
                <a:gd name="T93" fmla="*/ 0 h 12"/>
                <a:gd name="T94" fmla="*/ 16 w 16"/>
                <a:gd name="T95" fmla="*/ 4 h 12"/>
                <a:gd name="T96" fmla="*/ 16 w 16"/>
                <a:gd name="T97" fmla="*/ 4 h 12"/>
                <a:gd name="T98" fmla="*/ 16 w 16"/>
                <a:gd name="T99" fmla="*/ 4 h 12"/>
                <a:gd name="T100" fmla="*/ 16 w 16"/>
                <a:gd name="T101" fmla="*/ 4 h 12"/>
                <a:gd name="T102" fmla="*/ 12 w 16"/>
                <a:gd name="T103" fmla="*/ 4 h 12"/>
                <a:gd name="T104" fmla="*/ 12 w 16"/>
                <a:gd name="T105" fmla="*/ 4 h 12"/>
                <a:gd name="T106" fmla="*/ 12 w 16"/>
                <a:gd name="T107" fmla="*/ 4 h 12"/>
                <a:gd name="T108" fmla="*/ 12 w 16"/>
                <a:gd name="T109" fmla="*/ 4 h 12"/>
                <a:gd name="T110" fmla="*/ 12 w 16"/>
                <a:gd name="T111" fmla="*/ 4 h 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6"/>
                <a:gd name="T169" fmla="*/ 0 h 12"/>
                <a:gd name="T170" fmla="*/ 16 w 16"/>
                <a:gd name="T171" fmla="*/ 12 h 1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6" h="12">
                  <a:moveTo>
                    <a:pt x="12" y="4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12"/>
                  </a:lnTo>
                  <a:lnTo>
                    <a:pt x="0" y="8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5" name="Freeform 507"/>
            <p:cNvSpPr>
              <a:spLocks noEditPoints="1"/>
            </p:cNvSpPr>
            <p:nvPr/>
          </p:nvSpPr>
          <p:spPr bwMode="auto">
            <a:xfrm>
              <a:off x="4173" y="2469"/>
              <a:ext cx="15" cy="16"/>
            </a:xfrm>
            <a:custGeom>
              <a:avLst/>
              <a:gdLst>
                <a:gd name="T0" fmla="*/ 12 w 15"/>
                <a:gd name="T1" fmla="*/ 8 h 16"/>
                <a:gd name="T2" fmla="*/ 12 w 15"/>
                <a:gd name="T3" fmla="*/ 8 h 16"/>
                <a:gd name="T4" fmla="*/ 12 w 15"/>
                <a:gd name="T5" fmla="*/ 8 h 16"/>
                <a:gd name="T6" fmla="*/ 12 w 15"/>
                <a:gd name="T7" fmla="*/ 8 h 16"/>
                <a:gd name="T8" fmla="*/ 12 w 15"/>
                <a:gd name="T9" fmla="*/ 8 h 16"/>
                <a:gd name="T10" fmla="*/ 12 w 15"/>
                <a:gd name="T11" fmla="*/ 8 h 16"/>
                <a:gd name="T12" fmla="*/ 12 w 15"/>
                <a:gd name="T13" fmla="*/ 8 h 16"/>
                <a:gd name="T14" fmla="*/ 12 w 15"/>
                <a:gd name="T15" fmla="*/ 8 h 16"/>
                <a:gd name="T16" fmla="*/ 12 w 15"/>
                <a:gd name="T17" fmla="*/ 8 h 16"/>
                <a:gd name="T18" fmla="*/ 12 w 15"/>
                <a:gd name="T19" fmla="*/ 8 h 16"/>
                <a:gd name="T20" fmla="*/ 12 w 15"/>
                <a:gd name="T21" fmla="*/ 8 h 16"/>
                <a:gd name="T22" fmla="*/ 12 w 15"/>
                <a:gd name="T23" fmla="*/ 8 h 16"/>
                <a:gd name="T24" fmla="*/ 12 w 15"/>
                <a:gd name="T25" fmla="*/ 12 h 16"/>
                <a:gd name="T26" fmla="*/ 12 w 15"/>
                <a:gd name="T27" fmla="*/ 12 h 16"/>
                <a:gd name="T28" fmla="*/ 12 w 15"/>
                <a:gd name="T29" fmla="*/ 12 h 16"/>
                <a:gd name="T30" fmla="*/ 12 w 15"/>
                <a:gd name="T31" fmla="*/ 12 h 16"/>
                <a:gd name="T32" fmla="*/ 8 w 15"/>
                <a:gd name="T33" fmla="*/ 12 h 16"/>
                <a:gd name="T34" fmla="*/ 8 w 15"/>
                <a:gd name="T35" fmla="*/ 12 h 16"/>
                <a:gd name="T36" fmla="*/ 8 w 15"/>
                <a:gd name="T37" fmla="*/ 12 h 16"/>
                <a:gd name="T38" fmla="*/ 8 w 15"/>
                <a:gd name="T39" fmla="*/ 12 h 16"/>
                <a:gd name="T40" fmla="*/ 8 w 15"/>
                <a:gd name="T41" fmla="*/ 12 h 16"/>
                <a:gd name="T42" fmla="*/ 8 w 15"/>
                <a:gd name="T43" fmla="*/ 12 h 16"/>
                <a:gd name="T44" fmla="*/ 8 w 15"/>
                <a:gd name="T45" fmla="*/ 12 h 16"/>
                <a:gd name="T46" fmla="*/ 12 w 15"/>
                <a:gd name="T47" fmla="*/ 12 h 16"/>
                <a:gd name="T48" fmla="*/ 12 w 15"/>
                <a:gd name="T49" fmla="*/ 12 h 16"/>
                <a:gd name="T50" fmla="*/ 12 w 15"/>
                <a:gd name="T51" fmla="*/ 12 h 16"/>
                <a:gd name="T52" fmla="*/ 8 w 15"/>
                <a:gd name="T53" fmla="*/ 16 h 16"/>
                <a:gd name="T54" fmla="*/ 8 w 15"/>
                <a:gd name="T55" fmla="*/ 16 h 16"/>
                <a:gd name="T56" fmla="*/ 0 w 15"/>
                <a:gd name="T57" fmla="*/ 12 h 16"/>
                <a:gd name="T58" fmla="*/ 0 w 15"/>
                <a:gd name="T59" fmla="*/ 12 h 16"/>
                <a:gd name="T60" fmla="*/ 0 w 15"/>
                <a:gd name="T61" fmla="*/ 12 h 16"/>
                <a:gd name="T62" fmla="*/ 0 w 15"/>
                <a:gd name="T63" fmla="*/ 12 h 16"/>
                <a:gd name="T64" fmla="*/ 0 w 15"/>
                <a:gd name="T65" fmla="*/ 12 h 16"/>
                <a:gd name="T66" fmla="*/ 0 w 15"/>
                <a:gd name="T67" fmla="*/ 12 h 16"/>
                <a:gd name="T68" fmla="*/ 4 w 15"/>
                <a:gd name="T69" fmla="*/ 12 h 16"/>
                <a:gd name="T70" fmla="*/ 4 w 15"/>
                <a:gd name="T71" fmla="*/ 12 h 16"/>
                <a:gd name="T72" fmla="*/ 8 w 15"/>
                <a:gd name="T73" fmla="*/ 8 h 16"/>
                <a:gd name="T74" fmla="*/ 0 w 15"/>
                <a:gd name="T75" fmla="*/ 8 h 16"/>
                <a:gd name="T76" fmla="*/ 0 w 15"/>
                <a:gd name="T77" fmla="*/ 8 h 16"/>
                <a:gd name="T78" fmla="*/ 0 w 15"/>
                <a:gd name="T79" fmla="*/ 8 h 16"/>
                <a:gd name="T80" fmla="*/ 0 w 15"/>
                <a:gd name="T81" fmla="*/ 8 h 16"/>
                <a:gd name="T82" fmla="*/ 0 w 15"/>
                <a:gd name="T83" fmla="*/ 8 h 16"/>
                <a:gd name="T84" fmla="*/ 0 w 15"/>
                <a:gd name="T85" fmla="*/ 8 h 16"/>
                <a:gd name="T86" fmla="*/ 0 w 15"/>
                <a:gd name="T87" fmla="*/ 4 h 16"/>
                <a:gd name="T88" fmla="*/ 0 w 15"/>
                <a:gd name="T89" fmla="*/ 4 h 16"/>
                <a:gd name="T90" fmla="*/ 12 w 15"/>
                <a:gd name="T91" fmla="*/ 0 h 16"/>
                <a:gd name="T92" fmla="*/ 12 w 15"/>
                <a:gd name="T93" fmla="*/ 0 h 16"/>
                <a:gd name="T94" fmla="*/ 12 w 15"/>
                <a:gd name="T95" fmla="*/ 0 h 16"/>
                <a:gd name="T96" fmla="*/ 12 w 15"/>
                <a:gd name="T97" fmla="*/ 0 h 16"/>
                <a:gd name="T98" fmla="*/ 12 w 15"/>
                <a:gd name="T99" fmla="*/ 0 h 16"/>
                <a:gd name="T100" fmla="*/ 15 w 15"/>
                <a:gd name="T101" fmla="*/ 0 h 16"/>
                <a:gd name="T102" fmla="*/ 15 w 15"/>
                <a:gd name="T103" fmla="*/ 0 h 16"/>
                <a:gd name="T104" fmla="*/ 15 w 15"/>
                <a:gd name="T105" fmla="*/ 0 h 16"/>
                <a:gd name="T106" fmla="*/ 15 w 15"/>
                <a:gd name="T107" fmla="*/ 0 h 16"/>
                <a:gd name="T108" fmla="*/ 15 w 15"/>
                <a:gd name="T109" fmla="*/ 0 h 16"/>
                <a:gd name="T110" fmla="*/ 15 w 15"/>
                <a:gd name="T111" fmla="*/ 0 h 16"/>
                <a:gd name="T112" fmla="*/ 12 w 15"/>
                <a:gd name="T113" fmla="*/ 8 h 16"/>
                <a:gd name="T114" fmla="*/ 4 w 15"/>
                <a:gd name="T115" fmla="*/ 8 h 16"/>
                <a:gd name="T116" fmla="*/ 8 w 15"/>
                <a:gd name="T117" fmla="*/ 8 h 16"/>
                <a:gd name="T118" fmla="*/ 12 w 15"/>
                <a:gd name="T119" fmla="*/ 0 h 1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5"/>
                <a:gd name="T181" fmla="*/ 0 h 16"/>
                <a:gd name="T182" fmla="*/ 15 w 15"/>
                <a:gd name="T183" fmla="*/ 16 h 1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5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2" y="8"/>
                  </a:lnTo>
                  <a:close/>
                  <a:moveTo>
                    <a:pt x="12" y="0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6" name="Freeform 508"/>
            <p:cNvSpPr>
              <a:spLocks/>
            </p:cNvSpPr>
            <p:nvPr/>
          </p:nvSpPr>
          <p:spPr bwMode="auto">
            <a:xfrm>
              <a:off x="4149" y="2485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2 w 16"/>
                <a:gd name="T13" fmla="*/ 4 h 12"/>
                <a:gd name="T14" fmla="*/ 12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8 w 16"/>
                <a:gd name="T31" fmla="*/ 0 h 12"/>
                <a:gd name="T32" fmla="*/ 8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8 w 16"/>
                <a:gd name="T49" fmla="*/ 8 h 12"/>
                <a:gd name="T50" fmla="*/ 8 w 16"/>
                <a:gd name="T51" fmla="*/ 8 h 12"/>
                <a:gd name="T52" fmla="*/ 8 w 16"/>
                <a:gd name="T53" fmla="*/ 8 h 12"/>
                <a:gd name="T54" fmla="*/ 8 w 16"/>
                <a:gd name="T55" fmla="*/ 8 h 12"/>
                <a:gd name="T56" fmla="*/ 4 w 16"/>
                <a:gd name="T57" fmla="*/ 4 h 12"/>
                <a:gd name="T58" fmla="*/ 4 w 16"/>
                <a:gd name="T59" fmla="*/ 4 h 12"/>
                <a:gd name="T60" fmla="*/ 4 w 16"/>
                <a:gd name="T61" fmla="*/ 4 h 12"/>
                <a:gd name="T62" fmla="*/ 8 w 16"/>
                <a:gd name="T63" fmla="*/ 4 h 12"/>
                <a:gd name="T64" fmla="*/ 8 w 16"/>
                <a:gd name="T65" fmla="*/ 4 h 12"/>
                <a:gd name="T66" fmla="*/ 12 w 16"/>
                <a:gd name="T67" fmla="*/ 4 h 12"/>
                <a:gd name="T68" fmla="*/ 12 w 16"/>
                <a:gd name="T69" fmla="*/ 4 h 12"/>
                <a:gd name="T70" fmla="*/ 12 w 16"/>
                <a:gd name="T71" fmla="*/ 4 h 12"/>
                <a:gd name="T72" fmla="*/ 12 w 16"/>
                <a:gd name="T73" fmla="*/ 8 h 12"/>
                <a:gd name="T74" fmla="*/ 12 w 16"/>
                <a:gd name="T75" fmla="*/ 8 h 12"/>
                <a:gd name="T76" fmla="*/ 12 w 16"/>
                <a:gd name="T77" fmla="*/ 8 h 12"/>
                <a:gd name="T78" fmla="*/ 12 w 16"/>
                <a:gd name="T79" fmla="*/ 8 h 12"/>
                <a:gd name="T80" fmla="*/ 12 w 16"/>
                <a:gd name="T81" fmla="*/ 8 h 12"/>
                <a:gd name="T82" fmla="*/ 8 w 16"/>
                <a:gd name="T83" fmla="*/ 8 h 12"/>
                <a:gd name="T84" fmla="*/ 8 w 16"/>
                <a:gd name="T85" fmla="*/ 8 h 12"/>
                <a:gd name="T86" fmla="*/ 8 w 16"/>
                <a:gd name="T87" fmla="*/ 8 h 12"/>
                <a:gd name="T88" fmla="*/ 8 w 16"/>
                <a:gd name="T89" fmla="*/ 8 h 12"/>
                <a:gd name="T90" fmla="*/ 8 w 16"/>
                <a:gd name="T91" fmla="*/ 12 h 12"/>
                <a:gd name="T92" fmla="*/ 8 w 16"/>
                <a:gd name="T93" fmla="*/ 12 h 12"/>
                <a:gd name="T94" fmla="*/ 4 w 16"/>
                <a:gd name="T95" fmla="*/ 12 h 12"/>
                <a:gd name="T96" fmla="*/ 4 w 16"/>
                <a:gd name="T97" fmla="*/ 8 h 12"/>
                <a:gd name="T98" fmla="*/ 4 w 16"/>
                <a:gd name="T99" fmla="*/ 8 h 12"/>
                <a:gd name="T100" fmla="*/ 0 w 16"/>
                <a:gd name="T101" fmla="*/ 8 h 12"/>
                <a:gd name="T102" fmla="*/ 0 w 16"/>
                <a:gd name="T103" fmla="*/ 4 h 12"/>
                <a:gd name="T104" fmla="*/ 0 w 16"/>
                <a:gd name="T105" fmla="*/ 4 h 12"/>
                <a:gd name="T106" fmla="*/ 4 w 16"/>
                <a:gd name="T107" fmla="*/ 0 h 12"/>
                <a:gd name="T108" fmla="*/ 12 w 16"/>
                <a:gd name="T109" fmla="*/ 0 h 12"/>
                <a:gd name="T110" fmla="*/ 12 w 16"/>
                <a:gd name="T111" fmla="*/ 0 h 12"/>
                <a:gd name="T112" fmla="*/ 12 w 16"/>
                <a:gd name="T113" fmla="*/ 0 h 12"/>
                <a:gd name="T114" fmla="*/ 12 w 16"/>
                <a:gd name="T115" fmla="*/ 0 h 1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"/>
                <a:gd name="T175" fmla="*/ 0 h 12"/>
                <a:gd name="T176" fmla="*/ 16 w 16"/>
                <a:gd name="T177" fmla="*/ 12 h 1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7" name="Freeform 509"/>
            <p:cNvSpPr>
              <a:spLocks/>
            </p:cNvSpPr>
            <p:nvPr/>
          </p:nvSpPr>
          <p:spPr bwMode="auto">
            <a:xfrm>
              <a:off x="4161" y="2485"/>
              <a:ext cx="16" cy="12"/>
            </a:xfrm>
            <a:custGeom>
              <a:avLst/>
              <a:gdLst>
                <a:gd name="T0" fmla="*/ 8 w 16"/>
                <a:gd name="T1" fmla="*/ 4 h 12"/>
                <a:gd name="T2" fmla="*/ 12 w 16"/>
                <a:gd name="T3" fmla="*/ 4 h 12"/>
                <a:gd name="T4" fmla="*/ 12 w 16"/>
                <a:gd name="T5" fmla="*/ 4 h 12"/>
                <a:gd name="T6" fmla="*/ 8 w 16"/>
                <a:gd name="T7" fmla="*/ 0 h 12"/>
                <a:gd name="T8" fmla="*/ 8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4 w 16"/>
                <a:gd name="T15" fmla="*/ 4 h 12"/>
                <a:gd name="T16" fmla="*/ 4 w 16"/>
                <a:gd name="T17" fmla="*/ 4 h 12"/>
                <a:gd name="T18" fmla="*/ 0 w 16"/>
                <a:gd name="T19" fmla="*/ 8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12 h 12"/>
                <a:gd name="T26" fmla="*/ 0 w 16"/>
                <a:gd name="T27" fmla="*/ 12 h 12"/>
                <a:gd name="T28" fmla="*/ 0 w 16"/>
                <a:gd name="T29" fmla="*/ 12 h 12"/>
                <a:gd name="T30" fmla="*/ 4 w 16"/>
                <a:gd name="T31" fmla="*/ 12 h 12"/>
                <a:gd name="T32" fmla="*/ 4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8 h 12"/>
                <a:gd name="T42" fmla="*/ 8 w 16"/>
                <a:gd name="T43" fmla="*/ 12 h 12"/>
                <a:gd name="T44" fmla="*/ 8 w 16"/>
                <a:gd name="T45" fmla="*/ 12 h 12"/>
                <a:gd name="T46" fmla="*/ 8 w 16"/>
                <a:gd name="T47" fmla="*/ 12 h 12"/>
                <a:gd name="T48" fmla="*/ 4 w 16"/>
                <a:gd name="T49" fmla="*/ 12 h 12"/>
                <a:gd name="T50" fmla="*/ 4 w 16"/>
                <a:gd name="T51" fmla="*/ 12 h 12"/>
                <a:gd name="T52" fmla="*/ 8 w 16"/>
                <a:gd name="T53" fmla="*/ 12 h 12"/>
                <a:gd name="T54" fmla="*/ 8 w 16"/>
                <a:gd name="T55" fmla="*/ 12 h 12"/>
                <a:gd name="T56" fmla="*/ 12 w 16"/>
                <a:gd name="T57" fmla="*/ 12 h 12"/>
                <a:gd name="T58" fmla="*/ 12 w 16"/>
                <a:gd name="T59" fmla="*/ 12 h 12"/>
                <a:gd name="T60" fmla="*/ 12 w 16"/>
                <a:gd name="T61" fmla="*/ 12 h 12"/>
                <a:gd name="T62" fmla="*/ 12 w 16"/>
                <a:gd name="T63" fmla="*/ 12 h 12"/>
                <a:gd name="T64" fmla="*/ 16 w 16"/>
                <a:gd name="T65" fmla="*/ 4 h 12"/>
                <a:gd name="T66" fmla="*/ 16 w 16"/>
                <a:gd name="T67" fmla="*/ 4 h 12"/>
                <a:gd name="T68" fmla="*/ 16 w 16"/>
                <a:gd name="T69" fmla="*/ 4 h 12"/>
                <a:gd name="T70" fmla="*/ 16 w 16"/>
                <a:gd name="T71" fmla="*/ 4 h 12"/>
                <a:gd name="T72" fmla="*/ 16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4 h 12"/>
                <a:gd name="T84" fmla="*/ 12 w 16"/>
                <a:gd name="T85" fmla="*/ 4 h 12"/>
                <a:gd name="T86" fmla="*/ 8 w 16"/>
                <a:gd name="T87" fmla="*/ 4 h 12"/>
                <a:gd name="T88" fmla="*/ 8 w 16"/>
                <a:gd name="T89" fmla="*/ 4 h 1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2"/>
                <a:gd name="T137" fmla="*/ 16 w 16"/>
                <a:gd name="T138" fmla="*/ 12 h 1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2">
                  <a:moveTo>
                    <a:pt x="8" y="4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8" name="Freeform 510"/>
            <p:cNvSpPr>
              <a:spLocks/>
            </p:cNvSpPr>
            <p:nvPr/>
          </p:nvSpPr>
          <p:spPr bwMode="auto">
            <a:xfrm>
              <a:off x="4173" y="2489"/>
              <a:ext cx="15" cy="12"/>
            </a:xfrm>
            <a:custGeom>
              <a:avLst/>
              <a:gdLst>
                <a:gd name="T0" fmla="*/ 8 w 15"/>
                <a:gd name="T1" fmla="*/ 12 h 12"/>
                <a:gd name="T2" fmla="*/ 12 w 15"/>
                <a:gd name="T3" fmla="*/ 12 h 12"/>
                <a:gd name="T4" fmla="*/ 12 w 15"/>
                <a:gd name="T5" fmla="*/ 12 h 12"/>
                <a:gd name="T6" fmla="*/ 12 w 15"/>
                <a:gd name="T7" fmla="*/ 12 h 12"/>
                <a:gd name="T8" fmla="*/ 12 w 15"/>
                <a:gd name="T9" fmla="*/ 12 h 12"/>
                <a:gd name="T10" fmla="*/ 12 w 15"/>
                <a:gd name="T11" fmla="*/ 12 h 12"/>
                <a:gd name="T12" fmla="*/ 12 w 15"/>
                <a:gd name="T13" fmla="*/ 12 h 12"/>
                <a:gd name="T14" fmla="*/ 8 w 15"/>
                <a:gd name="T15" fmla="*/ 12 h 12"/>
                <a:gd name="T16" fmla="*/ 4 w 15"/>
                <a:gd name="T17" fmla="*/ 12 h 12"/>
                <a:gd name="T18" fmla="*/ 4 w 15"/>
                <a:gd name="T19" fmla="*/ 12 h 12"/>
                <a:gd name="T20" fmla="*/ 0 w 15"/>
                <a:gd name="T21" fmla="*/ 12 h 12"/>
                <a:gd name="T22" fmla="*/ 0 w 15"/>
                <a:gd name="T23" fmla="*/ 8 h 12"/>
                <a:gd name="T24" fmla="*/ 0 w 15"/>
                <a:gd name="T25" fmla="*/ 8 h 12"/>
                <a:gd name="T26" fmla="*/ 4 w 15"/>
                <a:gd name="T27" fmla="*/ 8 h 12"/>
                <a:gd name="T28" fmla="*/ 4 w 15"/>
                <a:gd name="T29" fmla="*/ 8 h 12"/>
                <a:gd name="T30" fmla="*/ 4 w 15"/>
                <a:gd name="T31" fmla="*/ 8 h 12"/>
                <a:gd name="T32" fmla="*/ 12 w 15"/>
                <a:gd name="T33" fmla="*/ 4 h 12"/>
                <a:gd name="T34" fmla="*/ 8 w 15"/>
                <a:gd name="T35" fmla="*/ 4 h 12"/>
                <a:gd name="T36" fmla="*/ 8 w 15"/>
                <a:gd name="T37" fmla="*/ 4 h 12"/>
                <a:gd name="T38" fmla="*/ 8 w 15"/>
                <a:gd name="T39" fmla="*/ 0 h 12"/>
                <a:gd name="T40" fmla="*/ 8 w 15"/>
                <a:gd name="T41" fmla="*/ 0 h 12"/>
                <a:gd name="T42" fmla="*/ 8 w 15"/>
                <a:gd name="T43" fmla="*/ 0 h 12"/>
                <a:gd name="T44" fmla="*/ 8 w 15"/>
                <a:gd name="T45" fmla="*/ 0 h 12"/>
                <a:gd name="T46" fmla="*/ 8 w 15"/>
                <a:gd name="T47" fmla="*/ 0 h 12"/>
                <a:gd name="T48" fmla="*/ 15 w 15"/>
                <a:gd name="T49" fmla="*/ 4 h 12"/>
                <a:gd name="T50" fmla="*/ 15 w 15"/>
                <a:gd name="T51" fmla="*/ 4 h 12"/>
                <a:gd name="T52" fmla="*/ 15 w 15"/>
                <a:gd name="T53" fmla="*/ 4 h 12"/>
                <a:gd name="T54" fmla="*/ 15 w 15"/>
                <a:gd name="T55" fmla="*/ 4 h 12"/>
                <a:gd name="T56" fmla="*/ 15 w 15"/>
                <a:gd name="T57" fmla="*/ 4 h 12"/>
                <a:gd name="T58" fmla="*/ 15 w 15"/>
                <a:gd name="T59" fmla="*/ 4 h 12"/>
                <a:gd name="T60" fmla="*/ 15 w 15"/>
                <a:gd name="T61" fmla="*/ 4 h 12"/>
                <a:gd name="T62" fmla="*/ 12 w 15"/>
                <a:gd name="T63" fmla="*/ 4 h 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5"/>
                <a:gd name="T97" fmla="*/ 0 h 12"/>
                <a:gd name="T98" fmla="*/ 15 w 15"/>
                <a:gd name="T99" fmla="*/ 12 h 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5" h="12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69" name="Freeform 511"/>
            <p:cNvSpPr>
              <a:spLocks/>
            </p:cNvSpPr>
            <p:nvPr/>
          </p:nvSpPr>
          <p:spPr bwMode="auto">
            <a:xfrm>
              <a:off x="4283" y="2485"/>
              <a:ext cx="20" cy="20"/>
            </a:xfrm>
            <a:custGeom>
              <a:avLst/>
              <a:gdLst>
                <a:gd name="T0" fmla="*/ 8 w 20"/>
                <a:gd name="T1" fmla="*/ 8 h 20"/>
                <a:gd name="T2" fmla="*/ 8 w 20"/>
                <a:gd name="T3" fmla="*/ 8 h 20"/>
                <a:gd name="T4" fmla="*/ 12 w 20"/>
                <a:gd name="T5" fmla="*/ 8 h 20"/>
                <a:gd name="T6" fmla="*/ 12 w 20"/>
                <a:gd name="T7" fmla="*/ 8 h 20"/>
                <a:gd name="T8" fmla="*/ 12 w 20"/>
                <a:gd name="T9" fmla="*/ 8 h 20"/>
                <a:gd name="T10" fmla="*/ 16 w 20"/>
                <a:gd name="T11" fmla="*/ 12 h 20"/>
                <a:gd name="T12" fmla="*/ 16 w 20"/>
                <a:gd name="T13" fmla="*/ 16 h 20"/>
                <a:gd name="T14" fmla="*/ 16 w 20"/>
                <a:gd name="T15" fmla="*/ 16 h 20"/>
                <a:gd name="T16" fmla="*/ 12 w 20"/>
                <a:gd name="T17" fmla="*/ 20 h 20"/>
                <a:gd name="T18" fmla="*/ 4 w 20"/>
                <a:gd name="T19" fmla="*/ 20 h 20"/>
                <a:gd name="T20" fmla="*/ 4 w 20"/>
                <a:gd name="T21" fmla="*/ 20 h 20"/>
                <a:gd name="T22" fmla="*/ 0 w 20"/>
                <a:gd name="T23" fmla="*/ 16 h 20"/>
                <a:gd name="T24" fmla="*/ 0 w 20"/>
                <a:gd name="T25" fmla="*/ 16 h 20"/>
                <a:gd name="T26" fmla="*/ 0 w 20"/>
                <a:gd name="T27" fmla="*/ 16 h 20"/>
                <a:gd name="T28" fmla="*/ 0 w 20"/>
                <a:gd name="T29" fmla="*/ 12 h 20"/>
                <a:gd name="T30" fmla="*/ 4 w 20"/>
                <a:gd name="T31" fmla="*/ 12 h 20"/>
                <a:gd name="T32" fmla="*/ 4 w 20"/>
                <a:gd name="T33" fmla="*/ 12 h 20"/>
                <a:gd name="T34" fmla="*/ 4 w 20"/>
                <a:gd name="T35" fmla="*/ 16 h 20"/>
                <a:gd name="T36" fmla="*/ 8 w 20"/>
                <a:gd name="T37" fmla="*/ 16 h 20"/>
                <a:gd name="T38" fmla="*/ 8 w 20"/>
                <a:gd name="T39" fmla="*/ 16 h 20"/>
                <a:gd name="T40" fmla="*/ 8 w 20"/>
                <a:gd name="T41" fmla="*/ 16 h 20"/>
                <a:gd name="T42" fmla="*/ 12 w 20"/>
                <a:gd name="T43" fmla="*/ 12 h 20"/>
                <a:gd name="T44" fmla="*/ 12 w 20"/>
                <a:gd name="T45" fmla="*/ 12 h 20"/>
                <a:gd name="T46" fmla="*/ 12 w 20"/>
                <a:gd name="T47" fmla="*/ 12 h 20"/>
                <a:gd name="T48" fmla="*/ 12 w 20"/>
                <a:gd name="T49" fmla="*/ 12 h 20"/>
                <a:gd name="T50" fmla="*/ 12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2 h 20"/>
                <a:gd name="T58" fmla="*/ 4 w 20"/>
                <a:gd name="T59" fmla="*/ 8 h 20"/>
                <a:gd name="T60" fmla="*/ 4 w 20"/>
                <a:gd name="T61" fmla="*/ 8 h 20"/>
                <a:gd name="T62" fmla="*/ 8 w 20"/>
                <a:gd name="T63" fmla="*/ 0 h 20"/>
                <a:gd name="T64" fmla="*/ 8 w 20"/>
                <a:gd name="T65" fmla="*/ 0 h 20"/>
                <a:gd name="T66" fmla="*/ 8 w 20"/>
                <a:gd name="T67" fmla="*/ 0 h 20"/>
                <a:gd name="T68" fmla="*/ 12 w 20"/>
                <a:gd name="T69" fmla="*/ 0 h 20"/>
                <a:gd name="T70" fmla="*/ 20 w 20"/>
                <a:gd name="T71" fmla="*/ 4 h 20"/>
                <a:gd name="T72" fmla="*/ 20 w 20"/>
                <a:gd name="T73" fmla="*/ 4 h 20"/>
                <a:gd name="T74" fmla="*/ 20 w 20"/>
                <a:gd name="T75" fmla="*/ 4 h 20"/>
                <a:gd name="T76" fmla="*/ 20 w 20"/>
                <a:gd name="T77" fmla="*/ 4 h 20"/>
                <a:gd name="T78" fmla="*/ 20 w 20"/>
                <a:gd name="T79" fmla="*/ 4 h 20"/>
                <a:gd name="T80" fmla="*/ 20 w 20"/>
                <a:gd name="T81" fmla="*/ 8 h 20"/>
                <a:gd name="T82" fmla="*/ 20 w 20"/>
                <a:gd name="T83" fmla="*/ 8 h 20"/>
                <a:gd name="T84" fmla="*/ 12 w 20"/>
                <a:gd name="T85" fmla="*/ 4 h 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20"/>
                <a:gd name="T131" fmla="*/ 20 w 20"/>
                <a:gd name="T132" fmla="*/ 20 h 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20"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12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0" name="Freeform 512"/>
            <p:cNvSpPr>
              <a:spLocks/>
            </p:cNvSpPr>
            <p:nvPr/>
          </p:nvSpPr>
          <p:spPr bwMode="auto">
            <a:xfrm>
              <a:off x="4259" y="2505"/>
              <a:ext cx="20" cy="11"/>
            </a:xfrm>
            <a:custGeom>
              <a:avLst/>
              <a:gdLst>
                <a:gd name="T0" fmla="*/ 12 w 20"/>
                <a:gd name="T1" fmla="*/ 7 h 11"/>
                <a:gd name="T2" fmla="*/ 12 w 20"/>
                <a:gd name="T3" fmla="*/ 7 h 11"/>
                <a:gd name="T4" fmla="*/ 12 w 20"/>
                <a:gd name="T5" fmla="*/ 7 h 11"/>
                <a:gd name="T6" fmla="*/ 12 w 20"/>
                <a:gd name="T7" fmla="*/ 7 h 11"/>
                <a:gd name="T8" fmla="*/ 8 w 20"/>
                <a:gd name="T9" fmla="*/ 11 h 11"/>
                <a:gd name="T10" fmla="*/ 8 w 20"/>
                <a:gd name="T11" fmla="*/ 11 h 11"/>
                <a:gd name="T12" fmla="*/ 8 w 20"/>
                <a:gd name="T13" fmla="*/ 11 h 11"/>
                <a:gd name="T14" fmla="*/ 4 w 20"/>
                <a:gd name="T15" fmla="*/ 11 h 11"/>
                <a:gd name="T16" fmla="*/ 4 w 20"/>
                <a:gd name="T17" fmla="*/ 11 h 11"/>
                <a:gd name="T18" fmla="*/ 4 w 20"/>
                <a:gd name="T19" fmla="*/ 11 h 11"/>
                <a:gd name="T20" fmla="*/ 0 w 20"/>
                <a:gd name="T21" fmla="*/ 7 h 11"/>
                <a:gd name="T22" fmla="*/ 0 w 20"/>
                <a:gd name="T23" fmla="*/ 7 h 11"/>
                <a:gd name="T24" fmla="*/ 0 w 20"/>
                <a:gd name="T25" fmla="*/ 7 h 11"/>
                <a:gd name="T26" fmla="*/ 0 w 20"/>
                <a:gd name="T27" fmla="*/ 7 h 11"/>
                <a:gd name="T28" fmla="*/ 0 w 20"/>
                <a:gd name="T29" fmla="*/ 3 h 11"/>
                <a:gd name="T30" fmla="*/ 0 w 20"/>
                <a:gd name="T31" fmla="*/ 3 h 11"/>
                <a:gd name="T32" fmla="*/ 4 w 20"/>
                <a:gd name="T33" fmla="*/ 3 h 11"/>
                <a:gd name="T34" fmla="*/ 4 w 20"/>
                <a:gd name="T35" fmla="*/ 3 h 11"/>
                <a:gd name="T36" fmla="*/ 4 w 20"/>
                <a:gd name="T37" fmla="*/ 3 h 11"/>
                <a:gd name="T38" fmla="*/ 4 w 20"/>
                <a:gd name="T39" fmla="*/ 3 h 11"/>
                <a:gd name="T40" fmla="*/ 4 w 20"/>
                <a:gd name="T41" fmla="*/ 7 h 11"/>
                <a:gd name="T42" fmla="*/ 4 w 20"/>
                <a:gd name="T43" fmla="*/ 7 h 11"/>
                <a:gd name="T44" fmla="*/ 4 w 20"/>
                <a:gd name="T45" fmla="*/ 7 h 11"/>
                <a:gd name="T46" fmla="*/ 4 w 20"/>
                <a:gd name="T47" fmla="*/ 7 h 11"/>
                <a:gd name="T48" fmla="*/ 4 w 20"/>
                <a:gd name="T49" fmla="*/ 7 h 11"/>
                <a:gd name="T50" fmla="*/ 8 w 20"/>
                <a:gd name="T51" fmla="*/ 7 h 11"/>
                <a:gd name="T52" fmla="*/ 8 w 20"/>
                <a:gd name="T53" fmla="*/ 7 h 11"/>
                <a:gd name="T54" fmla="*/ 12 w 20"/>
                <a:gd name="T55" fmla="*/ 0 h 11"/>
                <a:gd name="T56" fmla="*/ 12 w 20"/>
                <a:gd name="T57" fmla="*/ 0 h 11"/>
                <a:gd name="T58" fmla="*/ 12 w 20"/>
                <a:gd name="T59" fmla="*/ 0 h 11"/>
                <a:gd name="T60" fmla="*/ 8 w 20"/>
                <a:gd name="T61" fmla="*/ 0 h 11"/>
                <a:gd name="T62" fmla="*/ 8 w 20"/>
                <a:gd name="T63" fmla="*/ 0 h 11"/>
                <a:gd name="T64" fmla="*/ 8 w 20"/>
                <a:gd name="T65" fmla="*/ 0 h 11"/>
                <a:gd name="T66" fmla="*/ 12 w 20"/>
                <a:gd name="T67" fmla="*/ 0 h 11"/>
                <a:gd name="T68" fmla="*/ 12 w 20"/>
                <a:gd name="T69" fmla="*/ 0 h 11"/>
                <a:gd name="T70" fmla="*/ 16 w 20"/>
                <a:gd name="T71" fmla="*/ 0 h 11"/>
                <a:gd name="T72" fmla="*/ 16 w 20"/>
                <a:gd name="T73" fmla="*/ 0 h 11"/>
                <a:gd name="T74" fmla="*/ 20 w 20"/>
                <a:gd name="T75" fmla="*/ 0 h 11"/>
                <a:gd name="T76" fmla="*/ 20 w 20"/>
                <a:gd name="T77" fmla="*/ 3 h 11"/>
                <a:gd name="T78" fmla="*/ 20 w 20"/>
                <a:gd name="T79" fmla="*/ 3 h 11"/>
                <a:gd name="T80" fmla="*/ 16 w 20"/>
                <a:gd name="T81" fmla="*/ 3 h 11"/>
                <a:gd name="T82" fmla="*/ 16 w 20"/>
                <a:gd name="T83" fmla="*/ 3 h 11"/>
                <a:gd name="T84" fmla="*/ 16 w 20"/>
                <a:gd name="T85" fmla="*/ 3 h 1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11"/>
                <a:gd name="T131" fmla="*/ 20 w 20"/>
                <a:gd name="T132" fmla="*/ 11 h 1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11">
                  <a:moveTo>
                    <a:pt x="16" y="3"/>
                  </a:moveTo>
                  <a:lnTo>
                    <a:pt x="12" y="7"/>
                  </a:lnTo>
                  <a:lnTo>
                    <a:pt x="8" y="11"/>
                  </a:lnTo>
                  <a:lnTo>
                    <a:pt x="4" y="11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3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0" y="3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1" name="Freeform 513"/>
            <p:cNvSpPr>
              <a:spLocks/>
            </p:cNvSpPr>
            <p:nvPr/>
          </p:nvSpPr>
          <p:spPr bwMode="auto">
            <a:xfrm>
              <a:off x="4275" y="2505"/>
              <a:ext cx="16" cy="15"/>
            </a:xfrm>
            <a:custGeom>
              <a:avLst/>
              <a:gdLst>
                <a:gd name="T0" fmla="*/ 4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6 w 16"/>
                <a:gd name="T11" fmla="*/ 3 h 15"/>
                <a:gd name="T12" fmla="*/ 16 w 16"/>
                <a:gd name="T13" fmla="*/ 3 h 15"/>
                <a:gd name="T14" fmla="*/ 16 w 16"/>
                <a:gd name="T15" fmla="*/ 3 h 15"/>
                <a:gd name="T16" fmla="*/ 16 w 16"/>
                <a:gd name="T17" fmla="*/ 7 h 15"/>
                <a:gd name="T18" fmla="*/ 16 w 16"/>
                <a:gd name="T19" fmla="*/ 7 h 15"/>
                <a:gd name="T20" fmla="*/ 16 w 16"/>
                <a:gd name="T21" fmla="*/ 7 h 15"/>
                <a:gd name="T22" fmla="*/ 8 w 16"/>
                <a:gd name="T23" fmla="*/ 7 h 15"/>
                <a:gd name="T24" fmla="*/ 12 w 16"/>
                <a:gd name="T25" fmla="*/ 11 h 15"/>
                <a:gd name="T26" fmla="*/ 12 w 16"/>
                <a:gd name="T27" fmla="*/ 11 h 15"/>
                <a:gd name="T28" fmla="*/ 12 w 16"/>
                <a:gd name="T29" fmla="*/ 11 h 15"/>
                <a:gd name="T30" fmla="*/ 12 w 16"/>
                <a:gd name="T31" fmla="*/ 11 h 15"/>
                <a:gd name="T32" fmla="*/ 12 w 16"/>
                <a:gd name="T33" fmla="*/ 15 h 15"/>
                <a:gd name="T34" fmla="*/ 12 w 16"/>
                <a:gd name="T35" fmla="*/ 15 h 15"/>
                <a:gd name="T36" fmla="*/ 8 w 16"/>
                <a:gd name="T37" fmla="*/ 15 h 15"/>
                <a:gd name="T38" fmla="*/ 8 w 16"/>
                <a:gd name="T39" fmla="*/ 15 h 15"/>
                <a:gd name="T40" fmla="*/ 8 w 16"/>
                <a:gd name="T41" fmla="*/ 11 h 15"/>
                <a:gd name="T42" fmla="*/ 8 w 16"/>
                <a:gd name="T43" fmla="*/ 11 h 15"/>
                <a:gd name="T44" fmla="*/ 8 w 16"/>
                <a:gd name="T45" fmla="*/ 11 h 15"/>
                <a:gd name="T46" fmla="*/ 4 w 16"/>
                <a:gd name="T47" fmla="*/ 7 h 15"/>
                <a:gd name="T48" fmla="*/ 4 w 16"/>
                <a:gd name="T49" fmla="*/ 11 h 15"/>
                <a:gd name="T50" fmla="*/ 4 w 16"/>
                <a:gd name="T51" fmla="*/ 11 h 15"/>
                <a:gd name="T52" fmla="*/ 4 w 16"/>
                <a:gd name="T53" fmla="*/ 11 h 15"/>
                <a:gd name="T54" fmla="*/ 4 w 16"/>
                <a:gd name="T55" fmla="*/ 11 h 15"/>
                <a:gd name="T56" fmla="*/ 4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0 w 16"/>
                <a:gd name="T65" fmla="*/ 11 h 15"/>
                <a:gd name="T66" fmla="*/ 0 w 16"/>
                <a:gd name="T67" fmla="*/ 11 h 15"/>
                <a:gd name="T68" fmla="*/ 0 w 16"/>
                <a:gd name="T69" fmla="*/ 11 h 15"/>
                <a:gd name="T70" fmla="*/ 4 w 16"/>
                <a:gd name="T71" fmla="*/ 3 h 15"/>
                <a:gd name="T72" fmla="*/ 4 w 16"/>
                <a:gd name="T73" fmla="*/ 3 h 15"/>
                <a:gd name="T74" fmla="*/ 4 w 16"/>
                <a:gd name="T75" fmla="*/ 3 h 15"/>
                <a:gd name="T76" fmla="*/ 4 w 16"/>
                <a:gd name="T77" fmla="*/ 0 h 15"/>
                <a:gd name="T78" fmla="*/ 4 w 16"/>
                <a:gd name="T79" fmla="*/ 0 h 15"/>
                <a:gd name="T80" fmla="*/ 8 w 16"/>
                <a:gd name="T81" fmla="*/ 3 h 15"/>
                <a:gd name="T82" fmla="*/ 12 w 16"/>
                <a:gd name="T83" fmla="*/ 3 h 15"/>
                <a:gd name="T84" fmla="*/ 8 w 16"/>
                <a:gd name="T85" fmla="*/ 3 h 15"/>
                <a:gd name="T86" fmla="*/ 8 w 16"/>
                <a:gd name="T87" fmla="*/ 3 h 15"/>
                <a:gd name="T88" fmla="*/ 8 w 16"/>
                <a:gd name="T89" fmla="*/ 3 h 1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5"/>
                <a:gd name="T137" fmla="*/ 16 w 16"/>
                <a:gd name="T138" fmla="*/ 15 h 1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5">
                  <a:moveTo>
                    <a:pt x="8" y="3"/>
                  </a:moveTo>
                  <a:lnTo>
                    <a:pt x="4" y="7"/>
                  </a:lnTo>
                  <a:lnTo>
                    <a:pt x="12" y="3"/>
                  </a:lnTo>
                  <a:lnTo>
                    <a:pt x="16" y="3"/>
                  </a:lnTo>
                  <a:lnTo>
                    <a:pt x="16" y="7"/>
                  </a:lnTo>
                  <a:lnTo>
                    <a:pt x="8" y="7"/>
                  </a:lnTo>
                  <a:lnTo>
                    <a:pt x="12" y="11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12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2" name="Freeform 514"/>
            <p:cNvSpPr>
              <a:spLocks/>
            </p:cNvSpPr>
            <p:nvPr/>
          </p:nvSpPr>
          <p:spPr bwMode="auto">
            <a:xfrm>
              <a:off x="4287" y="2508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12 w 16"/>
                <a:gd name="T3" fmla="*/ 12 h 16"/>
                <a:gd name="T4" fmla="*/ 12 w 16"/>
                <a:gd name="T5" fmla="*/ 12 h 16"/>
                <a:gd name="T6" fmla="*/ 12 w 16"/>
                <a:gd name="T7" fmla="*/ 12 h 16"/>
                <a:gd name="T8" fmla="*/ 16 w 16"/>
                <a:gd name="T9" fmla="*/ 12 h 16"/>
                <a:gd name="T10" fmla="*/ 16 w 16"/>
                <a:gd name="T11" fmla="*/ 12 h 16"/>
                <a:gd name="T12" fmla="*/ 16 w 16"/>
                <a:gd name="T13" fmla="*/ 12 h 16"/>
                <a:gd name="T14" fmla="*/ 16 w 16"/>
                <a:gd name="T15" fmla="*/ 12 h 16"/>
                <a:gd name="T16" fmla="*/ 16 w 16"/>
                <a:gd name="T17" fmla="*/ 12 h 16"/>
                <a:gd name="T18" fmla="*/ 16 w 16"/>
                <a:gd name="T19" fmla="*/ 16 h 16"/>
                <a:gd name="T20" fmla="*/ 16 w 16"/>
                <a:gd name="T21" fmla="*/ 16 h 16"/>
                <a:gd name="T22" fmla="*/ 12 w 16"/>
                <a:gd name="T23" fmla="*/ 16 h 16"/>
                <a:gd name="T24" fmla="*/ 12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4 w 16"/>
                <a:gd name="T39" fmla="*/ 12 h 16"/>
                <a:gd name="T40" fmla="*/ 4 w 16"/>
                <a:gd name="T41" fmla="*/ 12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8 w 16"/>
                <a:gd name="T49" fmla="*/ 4 h 16"/>
                <a:gd name="T50" fmla="*/ 8 w 16"/>
                <a:gd name="T51" fmla="*/ 0 h 16"/>
                <a:gd name="T52" fmla="*/ 8 w 16"/>
                <a:gd name="T53" fmla="*/ 0 h 16"/>
                <a:gd name="T54" fmla="*/ 8 w 16"/>
                <a:gd name="T55" fmla="*/ 0 h 16"/>
                <a:gd name="T56" fmla="*/ 8 w 16"/>
                <a:gd name="T57" fmla="*/ 0 h 16"/>
                <a:gd name="T58" fmla="*/ 12 w 16"/>
                <a:gd name="T59" fmla="*/ 4 h 16"/>
                <a:gd name="T60" fmla="*/ 12 w 16"/>
                <a:gd name="T61" fmla="*/ 4 h 16"/>
                <a:gd name="T62" fmla="*/ 16 w 16"/>
                <a:gd name="T63" fmla="*/ 4 h 16"/>
                <a:gd name="T64" fmla="*/ 16 w 16"/>
                <a:gd name="T65" fmla="*/ 4 h 16"/>
                <a:gd name="T66" fmla="*/ 16 w 16"/>
                <a:gd name="T67" fmla="*/ 4 h 16"/>
                <a:gd name="T68" fmla="*/ 12 w 16"/>
                <a:gd name="T69" fmla="*/ 4 h 16"/>
                <a:gd name="T70" fmla="*/ 12 w 16"/>
                <a:gd name="T71" fmla="*/ 4 h 16"/>
                <a:gd name="T72" fmla="*/ 12 w 16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"/>
                <a:gd name="T112" fmla="*/ 0 h 16"/>
                <a:gd name="T113" fmla="*/ 16 w 16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" h="16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3" name="Freeform 515"/>
            <p:cNvSpPr>
              <a:spLocks noEditPoints="1"/>
            </p:cNvSpPr>
            <p:nvPr/>
          </p:nvSpPr>
          <p:spPr bwMode="auto">
            <a:xfrm>
              <a:off x="4393" y="2512"/>
              <a:ext cx="24" cy="16"/>
            </a:xfrm>
            <a:custGeom>
              <a:avLst/>
              <a:gdLst>
                <a:gd name="T0" fmla="*/ 8 w 24"/>
                <a:gd name="T1" fmla="*/ 8 h 16"/>
                <a:gd name="T2" fmla="*/ 12 w 24"/>
                <a:gd name="T3" fmla="*/ 8 h 16"/>
                <a:gd name="T4" fmla="*/ 12 w 24"/>
                <a:gd name="T5" fmla="*/ 8 h 16"/>
                <a:gd name="T6" fmla="*/ 12 w 24"/>
                <a:gd name="T7" fmla="*/ 8 h 16"/>
                <a:gd name="T8" fmla="*/ 16 w 24"/>
                <a:gd name="T9" fmla="*/ 8 h 16"/>
                <a:gd name="T10" fmla="*/ 16 w 24"/>
                <a:gd name="T11" fmla="*/ 12 h 16"/>
                <a:gd name="T12" fmla="*/ 16 w 24"/>
                <a:gd name="T13" fmla="*/ 12 h 16"/>
                <a:gd name="T14" fmla="*/ 12 w 24"/>
                <a:gd name="T15" fmla="*/ 16 h 16"/>
                <a:gd name="T16" fmla="*/ 8 w 24"/>
                <a:gd name="T17" fmla="*/ 16 h 16"/>
                <a:gd name="T18" fmla="*/ 8 w 24"/>
                <a:gd name="T19" fmla="*/ 16 h 16"/>
                <a:gd name="T20" fmla="*/ 0 w 24"/>
                <a:gd name="T21" fmla="*/ 12 h 16"/>
                <a:gd name="T22" fmla="*/ 4 w 24"/>
                <a:gd name="T23" fmla="*/ 8 h 16"/>
                <a:gd name="T24" fmla="*/ 4 w 24"/>
                <a:gd name="T25" fmla="*/ 8 h 16"/>
                <a:gd name="T26" fmla="*/ 8 w 24"/>
                <a:gd name="T27" fmla="*/ 0 h 16"/>
                <a:gd name="T28" fmla="*/ 20 w 24"/>
                <a:gd name="T29" fmla="*/ 0 h 16"/>
                <a:gd name="T30" fmla="*/ 20 w 24"/>
                <a:gd name="T31" fmla="*/ 0 h 16"/>
                <a:gd name="T32" fmla="*/ 24 w 24"/>
                <a:gd name="T33" fmla="*/ 0 h 16"/>
                <a:gd name="T34" fmla="*/ 24 w 24"/>
                <a:gd name="T35" fmla="*/ 4 h 16"/>
                <a:gd name="T36" fmla="*/ 24 w 24"/>
                <a:gd name="T37" fmla="*/ 4 h 16"/>
                <a:gd name="T38" fmla="*/ 20 w 24"/>
                <a:gd name="T39" fmla="*/ 4 h 16"/>
                <a:gd name="T40" fmla="*/ 16 w 24"/>
                <a:gd name="T41" fmla="*/ 4 h 16"/>
                <a:gd name="T42" fmla="*/ 16 w 24"/>
                <a:gd name="T43" fmla="*/ 4 h 16"/>
                <a:gd name="T44" fmla="*/ 12 w 24"/>
                <a:gd name="T45" fmla="*/ 4 h 16"/>
                <a:gd name="T46" fmla="*/ 8 w 24"/>
                <a:gd name="T47" fmla="*/ 8 h 16"/>
                <a:gd name="T48" fmla="*/ 12 w 24"/>
                <a:gd name="T49" fmla="*/ 12 h 16"/>
                <a:gd name="T50" fmla="*/ 12 w 24"/>
                <a:gd name="T51" fmla="*/ 12 h 16"/>
                <a:gd name="T52" fmla="*/ 12 w 24"/>
                <a:gd name="T53" fmla="*/ 12 h 16"/>
                <a:gd name="T54" fmla="*/ 12 w 24"/>
                <a:gd name="T55" fmla="*/ 8 h 16"/>
                <a:gd name="T56" fmla="*/ 8 w 24"/>
                <a:gd name="T57" fmla="*/ 8 h 16"/>
                <a:gd name="T58" fmla="*/ 8 w 24"/>
                <a:gd name="T59" fmla="*/ 8 h 16"/>
                <a:gd name="T60" fmla="*/ 8 w 24"/>
                <a:gd name="T61" fmla="*/ 12 h 16"/>
                <a:gd name="T62" fmla="*/ 8 w 24"/>
                <a:gd name="T63" fmla="*/ 12 h 16"/>
                <a:gd name="T64" fmla="*/ 8 w 24"/>
                <a:gd name="T65" fmla="*/ 12 h 16"/>
                <a:gd name="T66" fmla="*/ 8 w 24"/>
                <a:gd name="T67" fmla="*/ 16 h 16"/>
                <a:gd name="T68" fmla="*/ 12 w 24"/>
                <a:gd name="T69" fmla="*/ 16 h 16"/>
                <a:gd name="T70" fmla="*/ 12 w 24"/>
                <a:gd name="T71" fmla="*/ 16 h 16"/>
                <a:gd name="T72" fmla="*/ 12 w 24"/>
                <a:gd name="T73" fmla="*/ 12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"/>
                <a:gd name="T112" fmla="*/ 0 h 16"/>
                <a:gd name="T113" fmla="*/ 24 w 24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" h="16">
                  <a:moveTo>
                    <a:pt x="8" y="8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close/>
                  <a:moveTo>
                    <a:pt x="12" y="12"/>
                  </a:moveTo>
                  <a:lnTo>
                    <a:pt x="12" y="12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4" name="Freeform 516"/>
            <p:cNvSpPr>
              <a:spLocks/>
            </p:cNvSpPr>
            <p:nvPr/>
          </p:nvSpPr>
          <p:spPr bwMode="auto">
            <a:xfrm>
              <a:off x="4370" y="2528"/>
              <a:ext cx="19" cy="16"/>
            </a:xfrm>
            <a:custGeom>
              <a:avLst/>
              <a:gdLst>
                <a:gd name="T0" fmla="*/ 15 w 19"/>
                <a:gd name="T1" fmla="*/ 4 h 16"/>
                <a:gd name="T2" fmla="*/ 15 w 19"/>
                <a:gd name="T3" fmla="*/ 4 h 16"/>
                <a:gd name="T4" fmla="*/ 15 w 19"/>
                <a:gd name="T5" fmla="*/ 4 h 16"/>
                <a:gd name="T6" fmla="*/ 19 w 19"/>
                <a:gd name="T7" fmla="*/ 4 h 16"/>
                <a:gd name="T8" fmla="*/ 19 w 19"/>
                <a:gd name="T9" fmla="*/ 4 h 16"/>
                <a:gd name="T10" fmla="*/ 19 w 19"/>
                <a:gd name="T11" fmla="*/ 4 h 16"/>
                <a:gd name="T12" fmla="*/ 19 w 19"/>
                <a:gd name="T13" fmla="*/ 8 h 16"/>
                <a:gd name="T14" fmla="*/ 15 w 19"/>
                <a:gd name="T15" fmla="*/ 4 h 16"/>
                <a:gd name="T16" fmla="*/ 11 w 19"/>
                <a:gd name="T17" fmla="*/ 12 h 16"/>
                <a:gd name="T18" fmla="*/ 11 w 19"/>
                <a:gd name="T19" fmla="*/ 12 h 16"/>
                <a:gd name="T20" fmla="*/ 15 w 19"/>
                <a:gd name="T21" fmla="*/ 16 h 16"/>
                <a:gd name="T22" fmla="*/ 15 w 19"/>
                <a:gd name="T23" fmla="*/ 16 h 16"/>
                <a:gd name="T24" fmla="*/ 11 w 19"/>
                <a:gd name="T25" fmla="*/ 16 h 16"/>
                <a:gd name="T26" fmla="*/ 8 w 19"/>
                <a:gd name="T27" fmla="*/ 16 h 16"/>
                <a:gd name="T28" fmla="*/ 8 w 19"/>
                <a:gd name="T29" fmla="*/ 16 h 16"/>
                <a:gd name="T30" fmla="*/ 8 w 19"/>
                <a:gd name="T31" fmla="*/ 12 h 16"/>
                <a:gd name="T32" fmla="*/ 8 w 19"/>
                <a:gd name="T33" fmla="*/ 12 h 16"/>
                <a:gd name="T34" fmla="*/ 11 w 19"/>
                <a:gd name="T35" fmla="*/ 12 h 16"/>
                <a:gd name="T36" fmla="*/ 11 w 19"/>
                <a:gd name="T37" fmla="*/ 12 h 16"/>
                <a:gd name="T38" fmla="*/ 8 w 19"/>
                <a:gd name="T39" fmla="*/ 12 h 16"/>
                <a:gd name="T40" fmla="*/ 8 w 19"/>
                <a:gd name="T41" fmla="*/ 12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8 h 16"/>
                <a:gd name="T48" fmla="*/ 8 w 19"/>
                <a:gd name="T49" fmla="*/ 4 h 16"/>
                <a:gd name="T50" fmla="*/ 4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4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12 h 16"/>
                <a:gd name="T68" fmla="*/ 0 w 19"/>
                <a:gd name="T69" fmla="*/ 12 h 16"/>
                <a:gd name="T70" fmla="*/ 4 w 19"/>
                <a:gd name="T71" fmla="*/ 4 h 16"/>
                <a:gd name="T72" fmla="*/ 4 w 19"/>
                <a:gd name="T73" fmla="*/ 4 h 16"/>
                <a:gd name="T74" fmla="*/ 4 w 19"/>
                <a:gd name="T75" fmla="*/ 4 h 16"/>
                <a:gd name="T76" fmla="*/ 4 w 19"/>
                <a:gd name="T77" fmla="*/ 0 h 16"/>
                <a:gd name="T78" fmla="*/ 4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8 h 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9"/>
                <a:gd name="T133" fmla="*/ 0 h 16"/>
                <a:gd name="T134" fmla="*/ 19 w 19"/>
                <a:gd name="T135" fmla="*/ 16 h 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9" h="16">
                  <a:moveTo>
                    <a:pt x="8" y="8"/>
                  </a:move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5" name="Freeform 517"/>
            <p:cNvSpPr>
              <a:spLocks/>
            </p:cNvSpPr>
            <p:nvPr/>
          </p:nvSpPr>
          <p:spPr bwMode="auto">
            <a:xfrm>
              <a:off x="4385" y="2532"/>
              <a:ext cx="20" cy="16"/>
            </a:xfrm>
            <a:custGeom>
              <a:avLst/>
              <a:gdLst>
                <a:gd name="T0" fmla="*/ 8 w 20"/>
                <a:gd name="T1" fmla="*/ 4 h 16"/>
                <a:gd name="T2" fmla="*/ 8 w 20"/>
                <a:gd name="T3" fmla="*/ 0 h 16"/>
                <a:gd name="T4" fmla="*/ 8 w 20"/>
                <a:gd name="T5" fmla="*/ 0 h 16"/>
                <a:gd name="T6" fmla="*/ 8 w 20"/>
                <a:gd name="T7" fmla="*/ 0 h 16"/>
                <a:gd name="T8" fmla="*/ 8 w 20"/>
                <a:gd name="T9" fmla="*/ 0 h 16"/>
                <a:gd name="T10" fmla="*/ 4 w 20"/>
                <a:gd name="T11" fmla="*/ 0 h 16"/>
                <a:gd name="T12" fmla="*/ 4 w 20"/>
                <a:gd name="T13" fmla="*/ 0 h 16"/>
                <a:gd name="T14" fmla="*/ 4 w 20"/>
                <a:gd name="T15" fmla="*/ 0 h 16"/>
                <a:gd name="T16" fmla="*/ 4 w 20"/>
                <a:gd name="T17" fmla="*/ 4 h 16"/>
                <a:gd name="T18" fmla="*/ 4 w 20"/>
                <a:gd name="T19" fmla="*/ 4 h 16"/>
                <a:gd name="T20" fmla="*/ 4 w 20"/>
                <a:gd name="T21" fmla="*/ 4 h 16"/>
                <a:gd name="T22" fmla="*/ 0 w 20"/>
                <a:gd name="T23" fmla="*/ 12 h 16"/>
                <a:gd name="T24" fmla="*/ 0 w 20"/>
                <a:gd name="T25" fmla="*/ 12 h 16"/>
                <a:gd name="T26" fmla="*/ 0 w 20"/>
                <a:gd name="T27" fmla="*/ 12 h 16"/>
                <a:gd name="T28" fmla="*/ 0 w 20"/>
                <a:gd name="T29" fmla="*/ 12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4 w 20"/>
                <a:gd name="T41" fmla="*/ 12 h 16"/>
                <a:gd name="T42" fmla="*/ 4 w 20"/>
                <a:gd name="T43" fmla="*/ 12 h 16"/>
                <a:gd name="T44" fmla="*/ 4 w 20"/>
                <a:gd name="T45" fmla="*/ 12 h 16"/>
                <a:gd name="T46" fmla="*/ 4 w 20"/>
                <a:gd name="T47" fmla="*/ 12 h 16"/>
                <a:gd name="T48" fmla="*/ 4 w 20"/>
                <a:gd name="T49" fmla="*/ 12 h 16"/>
                <a:gd name="T50" fmla="*/ 4 w 20"/>
                <a:gd name="T51" fmla="*/ 12 h 16"/>
                <a:gd name="T52" fmla="*/ 4 w 20"/>
                <a:gd name="T53" fmla="*/ 12 h 16"/>
                <a:gd name="T54" fmla="*/ 8 w 20"/>
                <a:gd name="T55" fmla="*/ 4 h 16"/>
                <a:gd name="T56" fmla="*/ 8 w 20"/>
                <a:gd name="T57" fmla="*/ 16 h 16"/>
                <a:gd name="T58" fmla="*/ 8 w 20"/>
                <a:gd name="T59" fmla="*/ 16 h 16"/>
                <a:gd name="T60" fmla="*/ 8 w 20"/>
                <a:gd name="T61" fmla="*/ 16 h 16"/>
                <a:gd name="T62" fmla="*/ 8 w 20"/>
                <a:gd name="T63" fmla="*/ 16 h 16"/>
                <a:gd name="T64" fmla="*/ 12 w 20"/>
                <a:gd name="T65" fmla="*/ 16 h 16"/>
                <a:gd name="T66" fmla="*/ 12 w 20"/>
                <a:gd name="T67" fmla="*/ 16 h 16"/>
                <a:gd name="T68" fmla="*/ 12 w 20"/>
                <a:gd name="T69" fmla="*/ 16 h 16"/>
                <a:gd name="T70" fmla="*/ 12 w 20"/>
                <a:gd name="T71" fmla="*/ 16 h 16"/>
                <a:gd name="T72" fmla="*/ 16 w 20"/>
                <a:gd name="T73" fmla="*/ 4 h 16"/>
                <a:gd name="T74" fmla="*/ 16 w 20"/>
                <a:gd name="T75" fmla="*/ 4 h 16"/>
                <a:gd name="T76" fmla="*/ 16 w 20"/>
                <a:gd name="T77" fmla="*/ 4 h 16"/>
                <a:gd name="T78" fmla="*/ 16 w 20"/>
                <a:gd name="T79" fmla="*/ 4 h 16"/>
                <a:gd name="T80" fmla="*/ 20 w 20"/>
                <a:gd name="T81" fmla="*/ 4 h 16"/>
                <a:gd name="T82" fmla="*/ 20 w 20"/>
                <a:gd name="T83" fmla="*/ 4 h 16"/>
                <a:gd name="T84" fmla="*/ 20 w 20"/>
                <a:gd name="T85" fmla="*/ 4 h 16"/>
                <a:gd name="T86" fmla="*/ 16 w 20"/>
                <a:gd name="T87" fmla="*/ 4 h 16"/>
                <a:gd name="T88" fmla="*/ 16 w 20"/>
                <a:gd name="T89" fmla="*/ 4 h 16"/>
                <a:gd name="T90" fmla="*/ 16 w 20"/>
                <a:gd name="T91" fmla="*/ 4 h 16"/>
                <a:gd name="T92" fmla="*/ 12 w 20"/>
                <a:gd name="T93" fmla="*/ 4 h 16"/>
                <a:gd name="T94" fmla="*/ 12 w 20"/>
                <a:gd name="T95" fmla="*/ 4 h 16"/>
                <a:gd name="T96" fmla="*/ 12 w 20"/>
                <a:gd name="T97" fmla="*/ 4 h 16"/>
                <a:gd name="T98" fmla="*/ 12 w 20"/>
                <a:gd name="T99" fmla="*/ 4 h 16"/>
                <a:gd name="T100" fmla="*/ 12 w 20"/>
                <a:gd name="T101" fmla="*/ 4 h 16"/>
                <a:gd name="T102" fmla="*/ 12 w 20"/>
                <a:gd name="T103" fmla="*/ 4 h 16"/>
                <a:gd name="T104" fmla="*/ 12 w 20"/>
                <a:gd name="T105" fmla="*/ 12 h 16"/>
                <a:gd name="T106" fmla="*/ 8 w 20"/>
                <a:gd name="T107" fmla="*/ 4 h 1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0"/>
                <a:gd name="T163" fmla="*/ 0 h 16"/>
                <a:gd name="T164" fmla="*/ 20 w 20"/>
                <a:gd name="T165" fmla="*/ 16 h 1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0" h="16">
                  <a:moveTo>
                    <a:pt x="8" y="4"/>
                  </a:move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1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6" name="Freeform 518"/>
            <p:cNvSpPr>
              <a:spLocks noEditPoints="1"/>
            </p:cNvSpPr>
            <p:nvPr/>
          </p:nvSpPr>
          <p:spPr bwMode="auto">
            <a:xfrm>
              <a:off x="4401" y="2536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4 h 12"/>
                <a:gd name="T6" fmla="*/ 16 w 16"/>
                <a:gd name="T7" fmla="*/ 4 h 12"/>
                <a:gd name="T8" fmla="*/ 16 w 16"/>
                <a:gd name="T9" fmla="*/ 4 h 12"/>
                <a:gd name="T10" fmla="*/ 16 w 16"/>
                <a:gd name="T11" fmla="*/ 8 h 12"/>
                <a:gd name="T12" fmla="*/ 16 w 16"/>
                <a:gd name="T13" fmla="*/ 8 h 12"/>
                <a:gd name="T14" fmla="*/ 16 w 16"/>
                <a:gd name="T15" fmla="*/ 8 h 12"/>
                <a:gd name="T16" fmla="*/ 12 w 16"/>
                <a:gd name="T17" fmla="*/ 12 h 12"/>
                <a:gd name="T18" fmla="*/ 12 w 16"/>
                <a:gd name="T19" fmla="*/ 12 h 12"/>
                <a:gd name="T20" fmla="*/ 12 w 16"/>
                <a:gd name="T21" fmla="*/ 12 h 12"/>
                <a:gd name="T22" fmla="*/ 4 w 16"/>
                <a:gd name="T23" fmla="*/ 12 h 12"/>
                <a:gd name="T24" fmla="*/ 4 w 16"/>
                <a:gd name="T25" fmla="*/ 12 h 12"/>
                <a:gd name="T26" fmla="*/ 4 w 16"/>
                <a:gd name="T27" fmla="*/ 12 h 12"/>
                <a:gd name="T28" fmla="*/ 0 w 16"/>
                <a:gd name="T29" fmla="*/ 12 h 12"/>
                <a:gd name="T30" fmla="*/ 0 w 16"/>
                <a:gd name="T31" fmla="*/ 12 h 12"/>
                <a:gd name="T32" fmla="*/ 0 w 16"/>
                <a:gd name="T33" fmla="*/ 12 h 12"/>
                <a:gd name="T34" fmla="*/ 0 w 16"/>
                <a:gd name="T35" fmla="*/ 4 h 12"/>
                <a:gd name="T36" fmla="*/ 0 w 16"/>
                <a:gd name="T37" fmla="*/ 4 h 12"/>
                <a:gd name="T38" fmla="*/ 0 w 16"/>
                <a:gd name="T39" fmla="*/ 4 h 12"/>
                <a:gd name="T40" fmla="*/ 4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12 w 16"/>
                <a:gd name="T47" fmla="*/ 0 h 12"/>
                <a:gd name="T48" fmla="*/ 12 w 16"/>
                <a:gd name="T49" fmla="*/ 0 h 12"/>
                <a:gd name="T50" fmla="*/ 12 w 16"/>
                <a:gd name="T51" fmla="*/ 4 h 12"/>
                <a:gd name="T52" fmla="*/ 12 w 16"/>
                <a:gd name="T53" fmla="*/ 4 h 12"/>
                <a:gd name="T54" fmla="*/ 8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4 w 16"/>
                <a:gd name="T61" fmla="*/ 8 h 12"/>
                <a:gd name="T62" fmla="*/ 4 w 16"/>
                <a:gd name="T63" fmla="*/ 8 h 12"/>
                <a:gd name="T64" fmla="*/ 4 w 16"/>
                <a:gd name="T65" fmla="*/ 8 h 12"/>
                <a:gd name="T66" fmla="*/ 4 w 16"/>
                <a:gd name="T67" fmla="*/ 8 h 12"/>
                <a:gd name="T68" fmla="*/ 4 w 16"/>
                <a:gd name="T69" fmla="*/ 8 h 12"/>
                <a:gd name="T70" fmla="*/ 4 w 16"/>
                <a:gd name="T71" fmla="*/ 8 h 12"/>
                <a:gd name="T72" fmla="*/ 8 w 16"/>
                <a:gd name="T73" fmla="*/ 12 h 12"/>
                <a:gd name="T74" fmla="*/ 8 w 16"/>
                <a:gd name="T75" fmla="*/ 12 h 12"/>
                <a:gd name="T76" fmla="*/ 8 w 16"/>
                <a:gd name="T77" fmla="*/ 12 h 12"/>
                <a:gd name="T78" fmla="*/ 8 w 16"/>
                <a:gd name="T79" fmla="*/ 12 h 12"/>
                <a:gd name="T80" fmla="*/ 8 w 16"/>
                <a:gd name="T81" fmla="*/ 12 h 12"/>
                <a:gd name="T82" fmla="*/ 8 w 16"/>
                <a:gd name="T83" fmla="*/ 12 h 12"/>
                <a:gd name="T84" fmla="*/ 12 w 16"/>
                <a:gd name="T85" fmla="*/ 8 h 12"/>
                <a:gd name="T86" fmla="*/ 12 w 16"/>
                <a:gd name="T87" fmla="*/ 8 h 12"/>
                <a:gd name="T88" fmla="*/ 12 w 16"/>
                <a:gd name="T89" fmla="*/ 8 h 12"/>
                <a:gd name="T90" fmla="*/ 12 w 16"/>
                <a:gd name="T91" fmla="*/ 4 h 12"/>
                <a:gd name="T92" fmla="*/ 12 w 16"/>
                <a:gd name="T93" fmla="*/ 4 h 12"/>
                <a:gd name="T94" fmla="*/ 12 w 16"/>
                <a:gd name="T95" fmla="*/ 4 h 12"/>
                <a:gd name="T96" fmla="*/ 12 w 16"/>
                <a:gd name="T97" fmla="*/ 4 h 12"/>
                <a:gd name="T98" fmla="*/ 12 w 16"/>
                <a:gd name="T99" fmla="*/ 4 h 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6"/>
                <a:gd name="T151" fmla="*/ 0 h 12"/>
                <a:gd name="T152" fmla="*/ 16 w 16"/>
                <a:gd name="T153" fmla="*/ 12 h 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7" name="Freeform 519"/>
            <p:cNvSpPr>
              <a:spLocks/>
            </p:cNvSpPr>
            <p:nvPr/>
          </p:nvSpPr>
          <p:spPr bwMode="auto">
            <a:xfrm>
              <a:off x="4114" y="2556"/>
              <a:ext cx="19" cy="19"/>
            </a:xfrm>
            <a:custGeom>
              <a:avLst/>
              <a:gdLst>
                <a:gd name="T0" fmla="*/ 4 w 19"/>
                <a:gd name="T1" fmla="*/ 19 h 19"/>
                <a:gd name="T2" fmla="*/ 4 w 19"/>
                <a:gd name="T3" fmla="*/ 19 h 19"/>
                <a:gd name="T4" fmla="*/ 4 w 19"/>
                <a:gd name="T5" fmla="*/ 19 h 19"/>
                <a:gd name="T6" fmla="*/ 0 w 19"/>
                <a:gd name="T7" fmla="*/ 19 h 19"/>
                <a:gd name="T8" fmla="*/ 0 w 19"/>
                <a:gd name="T9" fmla="*/ 15 h 19"/>
                <a:gd name="T10" fmla="*/ 0 w 19"/>
                <a:gd name="T11" fmla="*/ 15 h 19"/>
                <a:gd name="T12" fmla="*/ 0 w 19"/>
                <a:gd name="T13" fmla="*/ 15 h 19"/>
                <a:gd name="T14" fmla="*/ 0 w 19"/>
                <a:gd name="T15" fmla="*/ 15 h 19"/>
                <a:gd name="T16" fmla="*/ 0 w 19"/>
                <a:gd name="T17" fmla="*/ 15 h 19"/>
                <a:gd name="T18" fmla="*/ 0 w 19"/>
                <a:gd name="T19" fmla="*/ 15 h 19"/>
                <a:gd name="T20" fmla="*/ 0 w 19"/>
                <a:gd name="T21" fmla="*/ 15 h 19"/>
                <a:gd name="T22" fmla="*/ 11 w 19"/>
                <a:gd name="T23" fmla="*/ 4 h 19"/>
                <a:gd name="T24" fmla="*/ 7 w 19"/>
                <a:gd name="T25" fmla="*/ 4 h 19"/>
                <a:gd name="T26" fmla="*/ 7 w 19"/>
                <a:gd name="T27" fmla="*/ 4 h 19"/>
                <a:gd name="T28" fmla="*/ 7 w 19"/>
                <a:gd name="T29" fmla="*/ 4 h 19"/>
                <a:gd name="T30" fmla="*/ 4 w 19"/>
                <a:gd name="T31" fmla="*/ 4 h 19"/>
                <a:gd name="T32" fmla="*/ 4 w 19"/>
                <a:gd name="T33" fmla="*/ 4 h 19"/>
                <a:gd name="T34" fmla="*/ 4 w 19"/>
                <a:gd name="T35" fmla="*/ 4 h 19"/>
                <a:gd name="T36" fmla="*/ 4 w 19"/>
                <a:gd name="T37" fmla="*/ 4 h 19"/>
                <a:gd name="T38" fmla="*/ 4 w 19"/>
                <a:gd name="T39" fmla="*/ 4 h 19"/>
                <a:gd name="T40" fmla="*/ 4 w 19"/>
                <a:gd name="T41" fmla="*/ 4 h 19"/>
                <a:gd name="T42" fmla="*/ 4 w 19"/>
                <a:gd name="T43" fmla="*/ 4 h 19"/>
                <a:gd name="T44" fmla="*/ 4 w 19"/>
                <a:gd name="T45" fmla="*/ 4 h 19"/>
                <a:gd name="T46" fmla="*/ 4 w 19"/>
                <a:gd name="T47" fmla="*/ 0 h 19"/>
                <a:gd name="T48" fmla="*/ 4 w 19"/>
                <a:gd name="T49" fmla="*/ 0 h 19"/>
                <a:gd name="T50" fmla="*/ 7 w 19"/>
                <a:gd name="T51" fmla="*/ 0 h 19"/>
                <a:gd name="T52" fmla="*/ 7 w 19"/>
                <a:gd name="T53" fmla="*/ 0 h 19"/>
                <a:gd name="T54" fmla="*/ 19 w 19"/>
                <a:gd name="T55" fmla="*/ 4 h 19"/>
                <a:gd name="T56" fmla="*/ 19 w 19"/>
                <a:gd name="T57" fmla="*/ 4 h 19"/>
                <a:gd name="T58" fmla="*/ 19 w 19"/>
                <a:gd name="T59" fmla="*/ 4 h 19"/>
                <a:gd name="T60" fmla="*/ 19 w 19"/>
                <a:gd name="T61" fmla="*/ 4 h 19"/>
                <a:gd name="T62" fmla="*/ 19 w 19"/>
                <a:gd name="T63" fmla="*/ 4 h 1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"/>
                <a:gd name="T97" fmla="*/ 0 h 19"/>
                <a:gd name="T98" fmla="*/ 19 w 19"/>
                <a:gd name="T99" fmla="*/ 19 h 1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" h="19">
                  <a:moveTo>
                    <a:pt x="19" y="4"/>
                  </a:move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11" y="4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7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8" name="Freeform 520"/>
            <p:cNvSpPr>
              <a:spLocks noEditPoints="1"/>
            </p:cNvSpPr>
            <p:nvPr/>
          </p:nvSpPr>
          <p:spPr bwMode="auto">
            <a:xfrm>
              <a:off x="4078" y="2571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8 w 16"/>
                <a:gd name="T3" fmla="*/ 12 h 12"/>
                <a:gd name="T4" fmla="*/ 8 w 16"/>
                <a:gd name="T5" fmla="*/ 12 h 12"/>
                <a:gd name="T6" fmla="*/ 8 w 16"/>
                <a:gd name="T7" fmla="*/ 12 h 12"/>
                <a:gd name="T8" fmla="*/ 8 w 16"/>
                <a:gd name="T9" fmla="*/ 12 h 12"/>
                <a:gd name="T10" fmla="*/ 8 w 16"/>
                <a:gd name="T11" fmla="*/ 12 h 12"/>
                <a:gd name="T12" fmla="*/ 8 w 16"/>
                <a:gd name="T13" fmla="*/ 12 h 12"/>
                <a:gd name="T14" fmla="*/ 4 w 16"/>
                <a:gd name="T15" fmla="*/ 12 h 12"/>
                <a:gd name="T16" fmla="*/ 0 w 16"/>
                <a:gd name="T17" fmla="*/ 12 h 12"/>
                <a:gd name="T18" fmla="*/ 0 w 16"/>
                <a:gd name="T19" fmla="*/ 12 h 12"/>
                <a:gd name="T20" fmla="*/ 0 w 16"/>
                <a:gd name="T21" fmla="*/ 12 h 12"/>
                <a:gd name="T22" fmla="*/ 0 w 16"/>
                <a:gd name="T23" fmla="*/ 12 h 12"/>
                <a:gd name="T24" fmla="*/ 0 w 16"/>
                <a:gd name="T25" fmla="*/ 12 h 12"/>
                <a:gd name="T26" fmla="*/ 0 w 16"/>
                <a:gd name="T27" fmla="*/ 12 h 12"/>
                <a:gd name="T28" fmla="*/ 4 w 16"/>
                <a:gd name="T29" fmla="*/ 12 h 12"/>
                <a:gd name="T30" fmla="*/ 4 w 16"/>
                <a:gd name="T31" fmla="*/ 12 h 12"/>
                <a:gd name="T32" fmla="*/ 8 w 16"/>
                <a:gd name="T33" fmla="*/ 4 h 12"/>
                <a:gd name="T34" fmla="*/ 8 w 16"/>
                <a:gd name="T35" fmla="*/ 4 h 12"/>
                <a:gd name="T36" fmla="*/ 8 w 16"/>
                <a:gd name="T37" fmla="*/ 4 h 12"/>
                <a:gd name="T38" fmla="*/ 8 w 16"/>
                <a:gd name="T39" fmla="*/ 4 h 12"/>
                <a:gd name="T40" fmla="*/ 8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8 h 12"/>
                <a:gd name="T56" fmla="*/ 16 w 16"/>
                <a:gd name="T57" fmla="*/ 8 h 12"/>
                <a:gd name="T58" fmla="*/ 16 w 16"/>
                <a:gd name="T59" fmla="*/ 8 h 12"/>
                <a:gd name="T60" fmla="*/ 8 w 16"/>
                <a:gd name="T61" fmla="*/ 8 h 12"/>
                <a:gd name="T62" fmla="*/ 8 w 16"/>
                <a:gd name="T63" fmla="*/ 8 h 12"/>
                <a:gd name="T64" fmla="*/ 8 w 16"/>
                <a:gd name="T65" fmla="*/ 8 h 12"/>
                <a:gd name="T66" fmla="*/ 12 w 16"/>
                <a:gd name="T67" fmla="*/ 8 h 12"/>
                <a:gd name="T68" fmla="*/ 12 w 16"/>
                <a:gd name="T69" fmla="*/ 8 h 12"/>
                <a:gd name="T70" fmla="*/ 12 w 16"/>
                <a:gd name="T71" fmla="*/ 8 h 12"/>
                <a:gd name="T72" fmla="*/ 16 w 16"/>
                <a:gd name="T73" fmla="*/ 8 h 12"/>
                <a:gd name="T74" fmla="*/ 16 w 16"/>
                <a:gd name="T75" fmla="*/ 8 h 12"/>
                <a:gd name="T76" fmla="*/ 16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6"/>
                <a:gd name="T124" fmla="*/ 0 h 12"/>
                <a:gd name="T125" fmla="*/ 16 w 16"/>
                <a:gd name="T126" fmla="*/ 12 h 1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6" h="12">
                  <a:moveTo>
                    <a:pt x="8" y="8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8" y="8"/>
                  </a:lnTo>
                  <a:close/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79" name="Freeform 521"/>
            <p:cNvSpPr>
              <a:spLocks noEditPoints="1"/>
            </p:cNvSpPr>
            <p:nvPr/>
          </p:nvSpPr>
          <p:spPr bwMode="auto">
            <a:xfrm>
              <a:off x="4090" y="2575"/>
              <a:ext cx="20" cy="16"/>
            </a:xfrm>
            <a:custGeom>
              <a:avLst/>
              <a:gdLst>
                <a:gd name="T0" fmla="*/ 4 w 20"/>
                <a:gd name="T1" fmla="*/ 12 h 16"/>
                <a:gd name="T2" fmla="*/ 4 w 20"/>
                <a:gd name="T3" fmla="*/ 12 h 16"/>
                <a:gd name="T4" fmla="*/ 8 w 20"/>
                <a:gd name="T5" fmla="*/ 12 h 16"/>
                <a:gd name="T6" fmla="*/ 8 w 20"/>
                <a:gd name="T7" fmla="*/ 16 h 16"/>
                <a:gd name="T8" fmla="*/ 8 w 20"/>
                <a:gd name="T9" fmla="*/ 16 h 16"/>
                <a:gd name="T10" fmla="*/ 8 w 20"/>
                <a:gd name="T11" fmla="*/ 16 h 16"/>
                <a:gd name="T12" fmla="*/ 12 w 20"/>
                <a:gd name="T13" fmla="*/ 16 h 16"/>
                <a:gd name="T14" fmla="*/ 12 w 20"/>
                <a:gd name="T15" fmla="*/ 16 h 16"/>
                <a:gd name="T16" fmla="*/ 12 w 20"/>
                <a:gd name="T17" fmla="*/ 16 h 16"/>
                <a:gd name="T18" fmla="*/ 12 w 20"/>
                <a:gd name="T19" fmla="*/ 16 h 16"/>
                <a:gd name="T20" fmla="*/ 12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12 w 20"/>
                <a:gd name="T27" fmla="*/ 16 h 16"/>
                <a:gd name="T28" fmla="*/ 12 w 20"/>
                <a:gd name="T29" fmla="*/ 16 h 16"/>
                <a:gd name="T30" fmla="*/ 8 w 20"/>
                <a:gd name="T31" fmla="*/ 16 h 16"/>
                <a:gd name="T32" fmla="*/ 8 w 20"/>
                <a:gd name="T33" fmla="*/ 16 h 16"/>
                <a:gd name="T34" fmla="*/ 8 w 20"/>
                <a:gd name="T35" fmla="*/ 16 h 16"/>
                <a:gd name="T36" fmla="*/ 8 w 20"/>
                <a:gd name="T37" fmla="*/ 16 h 16"/>
                <a:gd name="T38" fmla="*/ 8 w 20"/>
                <a:gd name="T39" fmla="*/ 16 h 16"/>
                <a:gd name="T40" fmla="*/ 4 w 20"/>
                <a:gd name="T41" fmla="*/ 16 h 16"/>
                <a:gd name="T42" fmla="*/ 4 w 20"/>
                <a:gd name="T43" fmla="*/ 16 h 16"/>
                <a:gd name="T44" fmla="*/ 4 w 20"/>
                <a:gd name="T45" fmla="*/ 16 h 16"/>
                <a:gd name="T46" fmla="*/ 0 w 20"/>
                <a:gd name="T47" fmla="*/ 16 h 16"/>
                <a:gd name="T48" fmla="*/ 4 w 20"/>
                <a:gd name="T49" fmla="*/ 16 h 16"/>
                <a:gd name="T50" fmla="*/ 4 w 20"/>
                <a:gd name="T51" fmla="*/ 16 h 16"/>
                <a:gd name="T52" fmla="*/ 4 w 20"/>
                <a:gd name="T53" fmla="*/ 12 h 16"/>
                <a:gd name="T54" fmla="*/ 4 w 20"/>
                <a:gd name="T55" fmla="*/ 12 h 16"/>
                <a:gd name="T56" fmla="*/ 4 w 20"/>
                <a:gd name="T57" fmla="*/ 12 h 16"/>
                <a:gd name="T58" fmla="*/ 4 w 20"/>
                <a:gd name="T59" fmla="*/ 12 h 16"/>
                <a:gd name="T60" fmla="*/ 4 w 20"/>
                <a:gd name="T61" fmla="*/ 8 h 16"/>
                <a:gd name="T62" fmla="*/ 4 w 20"/>
                <a:gd name="T63" fmla="*/ 4 h 16"/>
                <a:gd name="T64" fmla="*/ 4 w 20"/>
                <a:gd name="T65" fmla="*/ 4 h 16"/>
                <a:gd name="T66" fmla="*/ 12 w 20"/>
                <a:gd name="T67" fmla="*/ 0 h 16"/>
                <a:gd name="T68" fmla="*/ 16 w 20"/>
                <a:gd name="T69" fmla="*/ 0 h 16"/>
                <a:gd name="T70" fmla="*/ 16 w 20"/>
                <a:gd name="T71" fmla="*/ 0 h 16"/>
                <a:gd name="T72" fmla="*/ 20 w 20"/>
                <a:gd name="T73" fmla="*/ 4 h 16"/>
                <a:gd name="T74" fmla="*/ 20 w 20"/>
                <a:gd name="T75" fmla="*/ 8 h 16"/>
                <a:gd name="T76" fmla="*/ 20 w 20"/>
                <a:gd name="T77" fmla="*/ 8 h 16"/>
                <a:gd name="T78" fmla="*/ 12 w 20"/>
                <a:gd name="T79" fmla="*/ 12 h 16"/>
                <a:gd name="T80" fmla="*/ 8 w 20"/>
                <a:gd name="T81" fmla="*/ 12 h 16"/>
                <a:gd name="T82" fmla="*/ 8 w 20"/>
                <a:gd name="T83" fmla="*/ 12 h 16"/>
                <a:gd name="T84" fmla="*/ 8 w 20"/>
                <a:gd name="T85" fmla="*/ 12 h 16"/>
                <a:gd name="T86" fmla="*/ 8 w 20"/>
                <a:gd name="T87" fmla="*/ 12 h 16"/>
                <a:gd name="T88" fmla="*/ 16 w 20"/>
                <a:gd name="T89" fmla="*/ 4 h 16"/>
                <a:gd name="T90" fmla="*/ 12 w 20"/>
                <a:gd name="T91" fmla="*/ 4 h 16"/>
                <a:gd name="T92" fmla="*/ 12 w 20"/>
                <a:gd name="T93" fmla="*/ 4 h 16"/>
                <a:gd name="T94" fmla="*/ 8 w 20"/>
                <a:gd name="T95" fmla="*/ 8 h 16"/>
                <a:gd name="T96" fmla="*/ 8 w 20"/>
                <a:gd name="T97" fmla="*/ 8 h 16"/>
                <a:gd name="T98" fmla="*/ 8 w 20"/>
                <a:gd name="T99" fmla="*/ 8 h 16"/>
                <a:gd name="T100" fmla="*/ 8 w 20"/>
                <a:gd name="T101" fmla="*/ 12 h 16"/>
                <a:gd name="T102" fmla="*/ 12 w 20"/>
                <a:gd name="T103" fmla="*/ 12 h 16"/>
                <a:gd name="T104" fmla="*/ 12 w 20"/>
                <a:gd name="T105" fmla="*/ 12 h 16"/>
                <a:gd name="T106" fmla="*/ 16 w 20"/>
                <a:gd name="T107" fmla="*/ 8 h 16"/>
                <a:gd name="T108" fmla="*/ 16 w 20"/>
                <a:gd name="T109" fmla="*/ 4 h 16"/>
                <a:gd name="T110" fmla="*/ 16 w 20"/>
                <a:gd name="T111" fmla="*/ 4 h 16"/>
                <a:gd name="T112" fmla="*/ 16 w 20"/>
                <a:gd name="T113" fmla="*/ 4 h 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"/>
                <a:gd name="T172" fmla="*/ 0 h 16"/>
                <a:gd name="T173" fmla="*/ 20 w 20"/>
                <a:gd name="T174" fmla="*/ 16 h 1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" h="16">
                  <a:moveTo>
                    <a:pt x="8" y="12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0" name="Freeform 522"/>
            <p:cNvSpPr>
              <a:spLocks noEditPoints="1"/>
            </p:cNvSpPr>
            <p:nvPr/>
          </p:nvSpPr>
          <p:spPr bwMode="auto">
            <a:xfrm>
              <a:off x="4106" y="2579"/>
              <a:ext cx="19" cy="16"/>
            </a:xfrm>
            <a:custGeom>
              <a:avLst/>
              <a:gdLst>
                <a:gd name="T0" fmla="*/ 12 w 19"/>
                <a:gd name="T1" fmla="*/ 8 h 16"/>
                <a:gd name="T2" fmla="*/ 12 w 19"/>
                <a:gd name="T3" fmla="*/ 8 h 16"/>
                <a:gd name="T4" fmla="*/ 12 w 19"/>
                <a:gd name="T5" fmla="*/ 8 h 16"/>
                <a:gd name="T6" fmla="*/ 12 w 19"/>
                <a:gd name="T7" fmla="*/ 12 h 16"/>
                <a:gd name="T8" fmla="*/ 12 w 19"/>
                <a:gd name="T9" fmla="*/ 12 h 16"/>
                <a:gd name="T10" fmla="*/ 12 w 19"/>
                <a:gd name="T11" fmla="*/ 12 h 16"/>
                <a:gd name="T12" fmla="*/ 12 w 19"/>
                <a:gd name="T13" fmla="*/ 12 h 16"/>
                <a:gd name="T14" fmla="*/ 15 w 19"/>
                <a:gd name="T15" fmla="*/ 12 h 16"/>
                <a:gd name="T16" fmla="*/ 15 w 19"/>
                <a:gd name="T17" fmla="*/ 12 h 16"/>
                <a:gd name="T18" fmla="*/ 15 w 19"/>
                <a:gd name="T19" fmla="*/ 12 h 16"/>
                <a:gd name="T20" fmla="*/ 12 w 19"/>
                <a:gd name="T21" fmla="*/ 16 h 16"/>
                <a:gd name="T22" fmla="*/ 12 w 19"/>
                <a:gd name="T23" fmla="*/ 16 h 16"/>
                <a:gd name="T24" fmla="*/ 12 w 19"/>
                <a:gd name="T25" fmla="*/ 16 h 16"/>
                <a:gd name="T26" fmla="*/ 12 w 19"/>
                <a:gd name="T27" fmla="*/ 16 h 16"/>
                <a:gd name="T28" fmla="*/ 8 w 19"/>
                <a:gd name="T29" fmla="*/ 12 h 16"/>
                <a:gd name="T30" fmla="*/ 8 w 19"/>
                <a:gd name="T31" fmla="*/ 12 h 16"/>
                <a:gd name="T32" fmla="*/ 8 w 19"/>
                <a:gd name="T33" fmla="*/ 8 h 16"/>
                <a:gd name="T34" fmla="*/ 8 w 19"/>
                <a:gd name="T35" fmla="*/ 8 h 16"/>
                <a:gd name="T36" fmla="*/ 8 w 19"/>
                <a:gd name="T37" fmla="*/ 8 h 16"/>
                <a:gd name="T38" fmla="*/ 8 w 19"/>
                <a:gd name="T39" fmla="*/ 8 h 16"/>
                <a:gd name="T40" fmla="*/ 8 w 19"/>
                <a:gd name="T41" fmla="*/ 8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12 h 16"/>
                <a:gd name="T48" fmla="*/ 8 w 19"/>
                <a:gd name="T49" fmla="*/ 12 h 16"/>
                <a:gd name="T50" fmla="*/ 8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0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8 h 16"/>
                <a:gd name="T68" fmla="*/ 0 w 19"/>
                <a:gd name="T69" fmla="*/ 8 h 16"/>
                <a:gd name="T70" fmla="*/ 4 w 19"/>
                <a:gd name="T71" fmla="*/ 8 h 16"/>
                <a:gd name="T72" fmla="*/ 4 w 19"/>
                <a:gd name="T73" fmla="*/ 8 h 16"/>
                <a:gd name="T74" fmla="*/ 8 w 19"/>
                <a:gd name="T75" fmla="*/ 4 h 16"/>
                <a:gd name="T76" fmla="*/ 8 w 19"/>
                <a:gd name="T77" fmla="*/ 4 h 16"/>
                <a:gd name="T78" fmla="*/ 8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0 h 16"/>
                <a:gd name="T88" fmla="*/ 8 w 19"/>
                <a:gd name="T89" fmla="*/ 0 h 16"/>
                <a:gd name="T90" fmla="*/ 15 w 19"/>
                <a:gd name="T91" fmla="*/ 0 h 16"/>
                <a:gd name="T92" fmla="*/ 19 w 19"/>
                <a:gd name="T93" fmla="*/ 4 h 16"/>
                <a:gd name="T94" fmla="*/ 19 w 19"/>
                <a:gd name="T95" fmla="*/ 4 h 16"/>
                <a:gd name="T96" fmla="*/ 15 w 19"/>
                <a:gd name="T97" fmla="*/ 8 h 16"/>
                <a:gd name="T98" fmla="*/ 15 w 19"/>
                <a:gd name="T99" fmla="*/ 8 h 16"/>
                <a:gd name="T100" fmla="*/ 15 w 19"/>
                <a:gd name="T101" fmla="*/ 8 h 16"/>
                <a:gd name="T102" fmla="*/ 12 w 19"/>
                <a:gd name="T103" fmla="*/ 8 h 16"/>
                <a:gd name="T104" fmla="*/ 8 w 19"/>
                <a:gd name="T105" fmla="*/ 4 h 16"/>
                <a:gd name="T106" fmla="*/ 12 w 19"/>
                <a:gd name="T107" fmla="*/ 8 h 16"/>
                <a:gd name="T108" fmla="*/ 12 w 19"/>
                <a:gd name="T109" fmla="*/ 8 h 16"/>
                <a:gd name="T110" fmla="*/ 12 w 19"/>
                <a:gd name="T111" fmla="*/ 8 h 16"/>
                <a:gd name="T112" fmla="*/ 15 w 19"/>
                <a:gd name="T113" fmla="*/ 4 h 16"/>
                <a:gd name="T114" fmla="*/ 15 w 19"/>
                <a:gd name="T115" fmla="*/ 4 h 16"/>
                <a:gd name="T116" fmla="*/ 15 w 19"/>
                <a:gd name="T117" fmla="*/ 4 h 16"/>
                <a:gd name="T118" fmla="*/ 12 w 19"/>
                <a:gd name="T119" fmla="*/ 4 h 16"/>
                <a:gd name="T120" fmla="*/ 12 w 19"/>
                <a:gd name="T121" fmla="*/ 4 h 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"/>
                <a:gd name="T184" fmla="*/ 0 h 16"/>
                <a:gd name="T185" fmla="*/ 19 w 19"/>
                <a:gd name="T186" fmla="*/ 16 h 1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15" y="12"/>
                  </a:lnTo>
                  <a:lnTo>
                    <a:pt x="12" y="16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5" y="8"/>
                  </a:lnTo>
                  <a:lnTo>
                    <a:pt x="12" y="8"/>
                  </a:lnTo>
                  <a:close/>
                  <a:moveTo>
                    <a:pt x="12" y="4"/>
                  </a:moveTo>
                  <a:lnTo>
                    <a:pt x="8" y="4"/>
                  </a:lnTo>
                  <a:lnTo>
                    <a:pt x="12" y="8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1" name="Freeform 523"/>
            <p:cNvSpPr>
              <a:spLocks/>
            </p:cNvSpPr>
            <p:nvPr/>
          </p:nvSpPr>
          <p:spPr bwMode="auto">
            <a:xfrm>
              <a:off x="4121" y="2583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8 w 16"/>
                <a:gd name="T3" fmla="*/ 0 h 12"/>
                <a:gd name="T4" fmla="*/ 4 w 16"/>
                <a:gd name="T5" fmla="*/ 4 h 12"/>
                <a:gd name="T6" fmla="*/ 4 w 16"/>
                <a:gd name="T7" fmla="*/ 4 h 12"/>
                <a:gd name="T8" fmla="*/ 8 w 16"/>
                <a:gd name="T9" fmla="*/ 8 h 12"/>
                <a:gd name="T10" fmla="*/ 8 w 16"/>
                <a:gd name="T11" fmla="*/ 8 h 12"/>
                <a:gd name="T12" fmla="*/ 8 w 16"/>
                <a:gd name="T13" fmla="*/ 12 h 12"/>
                <a:gd name="T14" fmla="*/ 8 w 16"/>
                <a:gd name="T15" fmla="*/ 12 h 12"/>
                <a:gd name="T16" fmla="*/ 4 w 16"/>
                <a:gd name="T17" fmla="*/ 12 h 12"/>
                <a:gd name="T18" fmla="*/ 4 w 16"/>
                <a:gd name="T19" fmla="*/ 12 h 12"/>
                <a:gd name="T20" fmla="*/ 4 w 16"/>
                <a:gd name="T21" fmla="*/ 8 h 12"/>
                <a:gd name="T22" fmla="*/ 4 w 16"/>
                <a:gd name="T23" fmla="*/ 8 h 12"/>
                <a:gd name="T24" fmla="*/ 4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0 w 16"/>
                <a:gd name="T35" fmla="*/ 12 h 12"/>
                <a:gd name="T36" fmla="*/ 0 w 16"/>
                <a:gd name="T37" fmla="*/ 12 h 12"/>
                <a:gd name="T38" fmla="*/ 0 w 16"/>
                <a:gd name="T39" fmla="*/ 12 h 12"/>
                <a:gd name="T40" fmla="*/ 0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8 w 16"/>
                <a:gd name="T47" fmla="*/ 12 h 12"/>
                <a:gd name="T48" fmla="*/ 12 w 16"/>
                <a:gd name="T49" fmla="*/ 12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12 w 16"/>
                <a:gd name="T61" fmla="*/ 4 h 12"/>
                <a:gd name="T62" fmla="*/ 12 w 16"/>
                <a:gd name="T63" fmla="*/ 4 h 12"/>
                <a:gd name="T64" fmla="*/ 12 w 16"/>
                <a:gd name="T65" fmla="*/ 4 h 12"/>
                <a:gd name="T66" fmla="*/ 12 w 16"/>
                <a:gd name="T67" fmla="*/ 4 h 12"/>
                <a:gd name="T68" fmla="*/ 12 w 16"/>
                <a:gd name="T69" fmla="*/ 8 h 12"/>
                <a:gd name="T70" fmla="*/ 16 w 16"/>
                <a:gd name="T71" fmla="*/ 8 h 12"/>
                <a:gd name="T72" fmla="*/ 16 w 16"/>
                <a:gd name="T73" fmla="*/ 4 h 12"/>
                <a:gd name="T74" fmla="*/ 16 w 16"/>
                <a:gd name="T75" fmla="*/ 4 h 12"/>
                <a:gd name="T76" fmla="*/ 16 w 16"/>
                <a:gd name="T77" fmla="*/ 4 h 12"/>
                <a:gd name="T78" fmla="*/ 16 w 16"/>
                <a:gd name="T79" fmla="*/ 0 h 12"/>
                <a:gd name="T80" fmla="*/ 16 w 16"/>
                <a:gd name="T81" fmla="*/ 0 h 12"/>
                <a:gd name="T82" fmla="*/ 16 w 16"/>
                <a:gd name="T83" fmla="*/ 4 h 12"/>
                <a:gd name="T84" fmla="*/ 16 w 16"/>
                <a:gd name="T85" fmla="*/ 0 h 1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6"/>
                <a:gd name="T130" fmla="*/ 0 h 12"/>
                <a:gd name="T131" fmla="*/ 16 w 16"/>
                <a:gd name="T132" fmla="*/ 12 h 1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2" name="Freeform 524"/>
            <p:cNvSpPr>
              <a:spLocks noEditPoints="1"/>
            </p:cNvSpPr>
            <p:nvPr/>
          </p:nvSpPr>
          <p:spPr bwMode="auto">
            <a:xfrm>
              <a:off x="4224" y="2579"/>
              <a:ext cx="20" cy="20"/>
            </a:xfrm>
            <a:custGeom>
              <a:avLst/>
              <a:gdLst>
                <a:gd name="T0" fmla="*/ 12 w 20"/>
                <a:gd name="T1" fmla="*/ 12 h 20"/>
                <a:gd name="T2" fmla="*/ 16 w 20"/>
                <a:gd name="T3" fmla="*/ 16 h 20"/>
                <a:gd name="T4" fmla="*/ 16 w 20"/>
                <a:gd name="T5" fmla="*/ 16 h 20"/>
                <a:gd name="T6" fmla="*/ 16 w 20"/>
                <a:gd name="T7" fmla="*/ 16 h 20"/>
                <a:gd name="T8" fmla="*/ 12 w 20"/>
                <a:gd name="T9" fmla="*/ 20 h 20"/>
                <a:gd name="T10" fmla="*/ 4 w 20"/>
                <a:gd name="T11" fmla="*/ 20 h 20"/>
                <a:gd name="T12" fmla="*/ 4 w 20"/>
                <a:gd name="T13" fmla="*/ 20 h 20"/>
                <a:gd name="T14" fmla="*/ 0 w 20"/>
                <a:gd name="T15" fmla="*/ 16 h 20"/>
                <a:gd name="T16" fmla="*/ 0 w 20"/>
                <a:gd name="T17" fmla="*/ 12 h 20"/>
                <a:gd name="T18" fmla="*/ 0 w 20"/>
                <a:gd name="T19" fmla="*/ 12 h 20"/>
                <a:gd name="T20" fmla="*/ 4 w 20"/>
                <a:gd name="T21" fmla="*/ 12 h 20"/>
                <a:gd name="T22" fmla="*/ 8 w 20"/>
                <a:gd name="T23" fmla="*/ 8 h 20"/>
                <a:gd name="T24" fmla="*/ 8 w 20"/>
                <a:gd name="T25" fmla="*/ 8 h 20"/>
                <a:gd name="T26" fmla="*/ 4 w 20"/>
                <a:gd name="T27" fmla="*/ 8 h 20"/>
                <a:gd name="T28" fmla="*/ 4 w 20"/>
                <a:gd name="T29" fmla="*/ 4 h 20"/>
                <a:gd name="T30" fmla="*/ 4 w 20"/>
                <a:gd name="T31" fmla="*/ 4 h 20"/>
                <a:gd name="T32" fmla="*/ 8 w 20"/>
                <a:gd name="T33" fmla="*/ 0 h 20"/>
                <a:gd name="T34" fmla="*/ 16 w 20"/>
                <a:gd name="T35" fmla="*/ 4 h 20"/>
                <a:gd name="T36" fmla="*/ 16 w 20"/>
                <a:gd name="T37" fmla="*/ 4 h 20"/>
                <a:gd name="T38" fmla="*/ 20 w 20"/>
                <a:gd name="T39" fmla="*/ 4 h 20"/>
                <a:gd name="T40" fmla="*/ 20 w 20"/>
                <a:gd name="T41" fmla="*/ 8 h 20"/>
                <a:gd name="T42" fmla="*/ 20 w 20"/>
                <a:gd name="T43" fmla="*/ 8 h 20"/>
                <a:gd name="T44" fmla="*/ 16 w 20"/>
                <a:gd name="T45" fmla="*/ 12 h 20"/>
                <a:gd name="T46" fmla="*/ 12 w 20"/>
                <a:gd name="T47" fmla="*/ 12 h 20"/>
                <a:gd name="T48" fmla="*/ 8 w 20"/>
                <a:gd name="T49" fmla="*/ 12 h 20"/>
                <a:gd name="T50" fmla="*/ 8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6 h 20"/>
                <a:gd name="T58" fmla="*/ 4 w 20"/>
                <a:gd name="T59" fmla="*/ 16 h 20"/>
                <a:gd name="T60" fmla="*/ 8 w 20"/>
                <a:gd name="T61" fmla="*/ 16 h 20"/>
                <a:gd name="T62" fmla="*/ 8 w 20"/>
                <a:gd name="T63" fmla="*/ 16 h 20"/>
                <a:gd name="T64" fmla="*/ 8 w 20"/>
                <a:gd name="T65" fmla="*/ 16 h 20"/>
                <a:gd name="T66" fmla="*/ 12 w 20"/>
                <a:gd name="T67" fmla="*/ 16 h 20"/>
                <a:gd name="T68" fmla="*/ 12 w 20"/>
                <a:gd name="T69" fmla="*/ 12 h 20"/>
                <a:gd name="T70" fmla="*/ 12 w 20"/>
                <a:gd name="T71" fmla="*/ 12 h 20"/>
                <a:gd name="T72" fmla="*/ 8 w 20"/>
                <a:gd name="T73" fmla="*/ 12 h 20"/>
                <a:gd name="T74" fmla="*/ 16 w 20"/>
                <a:gd name="T75" fmla="*/ 4 h 20"/>
                <a:gd name="T76" fmla="*/ 12 w 20"/>
                <a:gd name="T77" fmla="*/ 4 h 20"/>
                <a:gd name="T78" fmla="*/ 8 w 20"/>
                <a:gd name="T79" fmla="*/ 8 h 20"/>
                <a:gd name="T80" fmla="*/ 8 w 20"/>
                <a:gd name="T81" fmla="*/ 8 h 20"/>
                <a:gd name="T82" fmla="*/ 8 w 20"/>
                <a:gd name="T83" fmla="*/ 8 h 20"/>
                <a:gd name="T84" fmla="*/ 12 w 20"/>
                <a:gd name="T85" fmla="*/ 8 h 20"/>
                <a:gd name="T86" fmla="*/ 12 w 20"/>
                <a:gd name="T87" fmla="*/ 8 h 20"/>
                <a:gd name="T88" fmla="*/ 12 w 20"/>
                <a:gd name="T89" fmla="*/ 8 h 20"/>
                <a:gd name="T90" fmla="*/ 16 w 20"/>
                <a:gd name="T91" fmla="*/ 8 h 20"/>
                <a:gd name="T92" fmla="*/ 16 w 20"/>
                <a:gd name="T93" fmla="*/ 8 h 20"/>
                <a:gd name="T94" fmla="*/ 16 w 20"/>
                <a:gd name="T95" fmla="*/ 4 h 20"/>
                <a:gd name="T96" fmla="*/ 16 w 20"/>
                <a:gd name="T97" fmla="*/ 4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20"/>
                <a:gd name="T149" fmla="*/ 20 w 20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20">
                  <a:moveTo>
                    <a:pt x="12" y="12"/>
                  </a:moveTo>
                  <a:lnTo>
                    <a:pt x="12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12"/>
                  </a:lnTo>
                  <a:lnTo>
                    <a:pt x="12" y="12"/>
                  </a:lnTo>
                  <a:close/>
                  <a:moveTo>
                    <a:pt x="8" y="12"/>
                  </a:moveTo>
                  <a:lnTo>
                    <a:pt x="8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3" name="Freeform 525"/>
            <p:cNvSpPr>
              <a:spLocks/>
            </p:cNvSpPr>
            <p:nvPr/>
          </p:nvSpPr>
          <p:spPr bwMode="auto">
            <a:xfrm>
              <a:off x="4200" y="2599"/>
              <a:ext cx="16" cy="16"/>
            </a:xfrm>
            <a:custGeom>
              <a:avLst/>
              <a:gdLst>
                <a:gd name="T0" fmla="*/ 12 w 16"/>
                <a:gd name="T1" fmla="*/ 8 h 16"/>
                <a:gd name="T2" fmla="*/ 12 w 16"/>
                <a:gd name="T3" fmla="*/ 8 h 16"/>
                <a:gd name="T4" fmla="*/ 12 w 16"/>
                <a:gd name="T5" fmla="*/ 8 h 16"/>
                <a:gd name="T6" fmla="*/ 12 w 16"/>
                <a:gd name="T7" fmla="*/ 8 h 16"/>
                <a:gd name="T8" fmla="*/ 12 w 16"/>
                <a:gd name="T9" fmla="*/ 8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4 h 16"/>
                <a:gd name="T16" fmla="*/ 16 w 16"/>
                <a:gd name="T17" fmla="*/ 4 h 16"/>
                <a:gd name="T18" fmla="*/ 16 w 16"/>
                <a:gd name="T19" fmla="*/ 4 h 16"/>
                <a:gd name="T20" fmla="*/ 16 w 16"/>
                <a:gd name="T21" fmla="*/ 4 h 16"/>
                <a:gd name="T22" fmla="*/ 4 w 16"/>
                <a:gd name="T23" fmla="*/ 0 h 16"/>
                <a:gd name="T24" fmla="*/ 4 w 16"/>
                <a:gd name="T25" fmla="*/ 0 h 16"/>
                <a:gd name="T26" fmla="*/ 4 w 16"/>
                <a:gd name="T27" fmla="*/ 0 h 16"/>
                <a:gd name="T28" fmla="*/ 4 w 16"/>
                <a:gd name="T29" fmla="*/ 0 h 16"/>
                <a:gd name="T30" fmla="*/ 0 w 16"/>
                <a:gd name="T31" fmla="*/ 4 h 16"/>
                <a:gd name="T32" fmla="*/ 0 w 16"/>
                <a:gd name="T33" fmla="*/ 4 h 16"/>
                <a:gd name="T34" fmla="*/ 0 w 16"/>
                <a:gd name="T35" fmla="*/ 4 h 16"/>
                <a:gd name="T36" fmla="*/ 0 w 16"/>
                <a:gd name="T37" fmla="*/ 4 h 16"/>
                <a:gd name="T38" fmla="*/ 0 w 16"/>
                <a:gd name="T39" fmla="*/ 4 h 16"/>
                <a:gd name="T40" fmla="*/ 0 w 16"/>
                <a:gd name="T41" fmla="*/ 4 h 16"/>
                <a:gd name="T42" fmla="*/ 4 w 16"/>
                <a:gd name="T43" fmla="*/ 4 h 16"/>
                <a:gd name="T44" fmla="*/ 4 w 16"/>
                <a:gd name="T45" fmla="*/ 4 h 16"/>
                <a:gd name="T46" fmla="*/ 4 w 16"/>
                <a:gd name="T47" fmla="*/ 4 h 16"/>
                <a:gd name="T48" fmla="*/ 4 w 16"/>
                <a:gd name="T49" fmla="*/ 4 h 16"/>
                <a:gd name="T50" fmla="*/ 8 w 16"/>
                <a:gd name="T51" fmla="*/ 4 h 16"/>
                <a:gd name="T52" fmla="*/ 4 w 16"/>
                <a:gd name="T53" fmla="*/ 12 h 16"/>
                <a:gd name="T54" fmla="*/ 0 w 16"/>
                <a:gd name="T55" fmla="*/ 8 h 16"/>
                <a:gd name="T56" fmla="*/ 0 w 16"/>
                <a:gd name="T57" fmla="*/ 8 h 16"/>
                <a:gd name="T58" fmla="*/ 0 w 16"/>
                <a:gd name="T59" fmla="*/ 8 h 16"/>
                <a:gd name="T60" fmla="*/ 0 w 16"/>
                <a:gd name="T61" fmla="*/ 12 h 16"/>
                <a:gd name="T62" fmla="*/ 0 w 16"/>
                <a:gd name="T63" fmla="*/ 12 h 16"/>
                <a:gd name="T64" fmla="*/ 0 w 16"/>
                <a:gd name="T65" fmla="*/ 12 h 16"/>
                <a:gd name="T66" fmla="*/ 0 w 16"/>
                <a:gd name="T67" fmla="*/ 12 h 16"/>
                <a:gd name="T68" fmla="*/ 8 w 16"/>
                <a:gd name="T69" fmla="*/ 16 h 16"/>
                <a:gd name="T70" fmla="*/ 8 w 16"/>
                <a:gd name="T71" fmla="*/ 16 h 16"/>
                <a:gd name="T72" fmla="*/ 8 w 16"/>
                <a:gd name="T73" fmla="*/ 16 h 16"/>
                <a:gd name="T74" fmla="*/ 8 w 16"/>
                <a:gd name="T75" fmla="*/ 12 h 16"/>
                <a:gd name="T76" fmla="*/ 8 w 16"/>
                <a:gd name="T77" fmla="*/ 12 h 16"/>
                <a:gd name="T78" fmla="*/ 8 w 16"/>
                <a:gd name="T79" fmla="*/ 12 h 16"/>
                <a:gd name="T80" fmla="*/ 8 w 16"/>
                <a:gd name="T81" fmla="*/ 12 h 16"/>
                <a:gd name="T82" fmla="*/ 8 w 16"/>
                <a:gd name="T83" fmla="*/ 12 h 16"/>
                <a:gd name="T84" fmla="*/ 12 w 16"/>
                <a:gd name="T85" fmla="*/ 4 h 16"/>
                <a:gd name="T86" fmla="*/ 12 w 16"/>
                <a:gd name="T87" fmla="*/ 4 h 16"/>
                <a:gd name="T88" fmla="*/ 12 w 16"/>
                <a:gd name="T89" fmla="*/ 8 h 1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6"/>
                <a:gd name="T137" fmla="*/ 16 w 16"/>
                <a:gd name="T138" fmla="*/ 16 h 1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6">
                  <a:moveTo>
                    <a:pt x="12" y="8"/>
                  </a:move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4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0" y="12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2" y="4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4" name="Freeform 526"/>
            <p:cNvSpPr>
              <a:spLocks/>
            </p:cNvSpPr>
            <p:nvPr/>
          </p:nvSpPr>
          <p:spPr bwMode="auto">
            <a:xfrm>
              <a:off x="4216" y="2603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8 w 16"/>
                <a:gd name="T3" fmla="*/ 4 h 12"/>
                <a:gd name="T4" fmla="*/ 8 w 16"/>
                <a:gd name="T5" fmla="*/ 0 h 12"/>
                <a:gd name="T6" fmla="*/ 8 w 16"/>
                <a:gd name="T7" fmla="*/ 0 h 12"/>
                <a:gd name="T8" fmla="*/ 8 w 16"/>
                <a:gd name="T9" fmla="*/ 0 h 12"/>
                <a:gd name="T10" fmla="*/ 8 w 16"/>
                <a:gd name="T11" fmla="*/ 0 h 12"/>
                <a:gd name="T12" fmla="*/ 4 w 16"/>
                <a:gd name="T13" fmla="*/ 0 h 12"/>
                <a:gd name="T14" fmla="*/ 4 w 16"/>
                <a:gd name="T15" fmla="*/ 0 h 12"/>
                <a:gd name="T16" fmla="*/ 4 w 16"/>
                <a:gd name="T17" fmla="*/ 0 h 12"/>
                <a:gd name="T18" fmla="*/ 0 w 16"/>
                <a:gd name="T19" fmla="*/ 0 h 12"/>
                <a:gd name="T20" fmla="*/ 0 w 16"/>
                <a:gd name="T21" fmla="*/ 0 h 12"/>
                <a:gd name="T22" fmla="*/ 0 w 16"/>
                <a:gd name="T23" fmla="*/ 0 h 12"/>
                <a:gd name="T24" fmla="*/ 4 w 16"/>
                <a:gd name="T25" fmla="*/ 0 h 12"/>
                <a:gd name="T26" fmla="*/ 4 w 16"/>
                <a:gd name="T27" fmla="*/ 0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8 w 16"/>
                <a:gd name="T39" fmla="*/ 12 h 12"/>
                <a:gd name="T40" fmla="*/ 12 w 16"/>
                <a:gd name="T41" fmla="*/ 8 h 12"/>
                <a:gd name="T42" fmla="*/ 16 w 16"/>
                <a:gd name="T43" fmla="*/ 4 h 12"/>
                <a:gd name="T44" fmla="*/ 16 w 16"/>
                <a:gd name="T45" fmla="*/ 4 h 12"/>
                <a:gd name="T46" fmla="*/ 16 w 16"/>
                <a:gd name="T47" fmla="*/ 4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4 h 12"/>
                <a:gd name="T56" fmla="*/ 16 w 16"/>
                <a:gd name="T57" fmla="*/ 4 h 12"/>
                <a:gd name="T58" fmla="*/ 12 w 16"/>
                <a:gd name="T59" fmla="*/ 0 h 12"/>
                <a:gd name="T60" fmla="*/ 12 w 16"/>
                <a:gd name="T61" fmla="*/ 0 h 12"/>
                <a:gd name="T62" fmla="*/ 12 w 16"/>
                <a:gd name="T63" fmla="*/ 0 h 12"/>
                <a:gd name="T64" fmla="*/ 12 w 16"/>
                <a:gd name="T65" fmla="*/ 4 h 12"/>
                <a:gd name="T66" fmla="*/ 12 w 16"/>
                <a:gd name="T67" fmla="*/ 4 h 12"/>
                <a:gd name="T68" fmla="*/ 8 w 16"/>
                <a:gd name="T69" fmla="*/ 4 h 12"/>
                <a:gd name="T70" fmla="*/ 12 w 16"/>
                <a:gd name="T71" fmla="*/ 4 h 12"/>
                <a:gd name="T72" fmla="*/ 12 w 16"/>
                <a:gd name="T73" fmla="*/ 4 h 12"/>
                <a:gd name="T74" fmla="*/ 8 w 16"/>
                <a:gd name="T75" fmla="*/ 8 h 12"/>
                <a:gd name="T76" fmla="*/ 8 w 16"/>
                <a:gd name="T77" fmla="*/ 8 h 12"/>
                <a:gd name="T78" fmla="*/ 4 w 16"/>
                <a:gd name="T79" fmla="*/ 12 h 12"/>
                <a:gd name="T80" fmla="*/ 4 w 16"/>
                <a:gd name="T81" fmla="*/ 12 h 12"/>
                <a:gd name="T82" fmla="*/ 4 w 16"/>
                <a:gd name="T83" fmla="*/ 12 h 12"/>
                <a:gd name="T84" fmla="*/ 0 w 16"/>
                <a:gd name="T85" fmla="*/ 12 h 12"/>
                <a:gd name="T86" fmla="*/ 4 w 16"/>
                <a:gd name="T87" fmla="*/ 8 h 12"/>
                <a:gd name="T88" fmla="*/ 4 w 16"/>
                <a:gd name="T89" fmla="*/ 4 h 12"/>
                <a:gd name="T90" fmla="*/ 4 w 16"/>
                <a:gd name="T91" fmla="*/ 4 h 1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12"/>
                <a:gd name="T140" fmla="*/ 16 w 16"/>
                <a:gd name="T141" fmla="*/ 12 h 1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12">
                  <a:moveTo>
                    <a:pt x="4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5" name="Freeform 527"/>
            <p:cNvSpPr>
              <a:spLocks/>
            </p:cNvSpPr>
            <p:nvPr/>
          </p:nvSpPr>
          <p:spPr bwMode="auto">
            <a:xfrm>
              <a:off x="4232" y="2607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12 w 16"/>
                <a:gd name="T3" fmla="*/ 4 h 12"/>
                <a:gd name="T4" fmla="*/ 12 w 16"/>
                <a:gd name="T5" fmla="*/ 4 h 12"/>
                <a:gd name="T6" fmla="*/ 12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12 w 16"/>
                <a:gd name="T15" fmla="*/ 0 h 12"/>
                <a:gd name="T16" fmla="*/ 12 w 16"/>
                <a:gd name="T17" fmla="*/ 0 h 12"/>
                <a:gd name="T18" fmla="*/ 16 w 16"/>
                <a:gd name="T19" fmla="*/ 4 h 12"/>
                <a:gd name="T20" fmla="*/ 16 w 16"/>
                <a:gd name="T21" fmla="*/ 4 h 12"/>
                <a:gd name="T22" fmla="*/ 16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2 w 16"/>
                <a:gd name="T31" fmla="*/ 4 h 12"/>
                <a:gd name="T32" fmla="*/ 12 w 16"/>
                <a:gd name="T33" fmla="*/ 4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12 h 12"/>
                <a:gd name="T42" fmla="*/ 0 w 16"/>
                <a:gd name="T43" fmla="*/ 12 h 12"/>
                <a:gd name="T44" fmla="*/ 0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0 h 12"/>
                <a:gd name="T52" fmla="*/ 0 w 16"/>
                <a:gd name="T53" fmla="*/ 0 h 12"/>
                <a:gd name="T54" fmla="*/ 0 w 16"/>
                <a:gd name="T55" fmla="*/ 0 h 12"/>
                <a:gd name="T56" fmla="*/ 0 w 16"/>
                <a:gd name="T57" fmla="*/ 0 h 12"/>
                <a:gd name="T58" fmla="*/ 0 w 16"/>
                <a:gd name="T59" fmla="*/ 0 h 12"/>
                <a:gd name="T60" fmla="*/ 0 w 16"/>
                <a:gd name="T61" fmla="*/ 0 h 12"/>
                <a:gd name="T62" fmla="*/ 0 w 16"/>
                <a:gd name="T63" fmla="*/ 0 h 12"/>
                <a:gd name="T64" fmla="*/ 4 w 16"/>
                <a:gd name="T65" fmla="*/ 0 h 12"/>
                <a:gd name="T66" fmla="*/ 8 w 16"/>
                <a:gd name="T67" fmla="*/ 0 h 12"/>
                <a:gd name="T68" fmla="*/ 8 w 16"/>
                <a:gd name="T69" fmla="*/ 0 h 12"/>
                <a:gd name="T70" fmla="*/ 8 w 16"/>
                <a:gd name="T71" fmla="*/ 0 h 12"/>
                <a:gd name="T72" fmla="*/ 8 w 16"/>
                <a:gd name="T73" fmla="*/ 0 h 12"/>
                <a:gd name="T74" fmla="*/ 8 w 16"/>
                <a:gd name="T75" fmla="*/ 4 h 12"/>
                <a:gd name="T76" fmla="*/ 8 w 16"/>
                <a:gd name="T77" fmla="*/ 4 h 12"/>
                <a:gd name="T78" fmla="*/ 4 w 16"/>
                <a:gd name="T79" fmla="*/ 4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4" y="4"/>
                  </a:moveTo>
                  <a:lnTo>
                    <a:pt x="4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6" name="Freeform 528"/>
            <p:cNvSpPr>
              <a:spLocks noEditPoints="1"/>
            </p:cNvSpPr>
            <p:nvPr/>
          </p:nvSpPr>
          <p:spPr bwMode="auto">
            <a:xfrm>
              <a:off x="4330" y="2607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8 w 20"/>
                <a:gd name="T5" fmla="*/ 12 h 16"/>
                <a:gd name="T6" fmla="*/ 8 w 20"/>
                <a:gd name="T7" fmla="*/ 12 h 16"/>
                <a:gd name="T8" fmla="*/ 4 w 20"/>
                <a:gd name="T9" fmla="*/ 8 h 16"/>
                <a:gd name="T10" fmla="*/ 4 w 20"/>
                <a:gd name="T11" fmla="*/ 4 h 16"/>
                <a:gd name="T12" fmla="*/ 4 w 20"/>
                <a:gd name="T13" fmla="*/ 4 h 16"/>
                <a:gd name="T14" fmla="*/ 8 w 20"/>
                <a:gd name="T15" fmla="*/ 0 h 16"/>
                <a:gd name="T16" fmla="*/ 16 w 20"/>
                <a:gd name="T17" fmla="*/ 0 h 16"/>
                <a:gd name="T18" fmla="*/ 16 w 20"/>
                <a:gd name="T19" fmla="*/ 0 h 16"/>
                <a:gd name="T20" fmla="*/ 20 w 20"/>
                <a:gd name="T21" fmla="*/ 4 h 16"/>
                <a:gd name="T22" fmla="*/ 20 w 20"/>
                <a:gd name="T23" fmla="*/ 8 h 16"/>
                <a:gd name="T24" fmla="*/ 20 w 20"/>
                <a:gd name="T25" fmla="*/ 8 h 16"/>
                <a:gd name="T26" fmla="*/ 12 w 20"/>
                <a:gd name="T27" fmla="*/ 16 h 16"/>
                <a:gd name="T28" fmla="*/ 4 w 20"/>
                <a:gd name="T29" fmla="*/ 16 h 16"/>
                <a:gd name="T30" fmla="*/ 4 w 20"/>
                <a:gd name="T31" fmla="*/ 16 h 16"/>
                <a:gd name="T32" fmla="*/ 0 w 20"/>
                <a:gd name="T33" fmla="*/ 16 h 16"/>
                <a:gd name="T34" fmla="*/ 0 w 20"/>
                <a:gd name="T35" fmla="*/ 16 h 16"/>
                <a:gd name="T36" fmla="*/ 0 w 20"/>
                <a:gd name="T37" fmla="*/ 16 h 16"/>
                <a:gd name="T38" fmla="*/ 4 w 20"/>
                <a:gd name="T39" fmla="*/ 12 h 16"/>
                <a:gd name="T40" fmla="*/ 4 w 20"/>
                <a:gd name="T41" fmla="*/ 16 h 16"/>
                <a:gd name="T42" fmla="*/ 4 w 20"/>
                <a:gd name="T43" fmla="*/ 16 h 16"/>
                <a:gd name="T44" fmla="*/ 8 w 20"/>
                <a:gd name="T45" fmla="*/ 12 h 16"/>
                <a:gd name="T46" fmla="*/ 12 w 20"/>
                <a:gd name="T47" fmla="*/ 12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0 h 16"/>
                <a:gd name="T56" fmla="*/ 12 w 20"/>
                <a:gd name="T57" fmla="*/ 0 h 16"/>
                <a:gd name="T58" fmla="*/ 12 w 20"/>
                <a:gd name="T59" fmla="*/ 0 h 16"/>
                <a:gd name="T60" fmla="*/ 8 w 20"/>
                <a:gd name="T61" fmla="*/ 4 h 16"/>
                <a:gd name="T62" fmla="*/ 8 w 20"/>
                <a:gd name="T63" fmla="*/ 8 h 16"/>
                <a:gd name="T64" fmla="*/ 8 w 20"/>
                <a:gd name="T65" fmla="*/ 8 h 16"/>
                <a:gd name="T66" fmla="*/ 12 w 20"/>
                <a:gd name="T67" fmla="*/ 8 h 16"/>
                <a:gd name="T68" fmla="*/ 16 w 20"/>
                <a:gd name="T69" fmla="*/ 8 h 16"/>
                <a:gd name="T70" fmla="*/ 16 w 20"/>
                <a:gd name="T71" fmla="*/ 8 h 16"/>
                <a:gd name="T72" fmla="*/ 16 w 20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0"/>
                <a:gd name="T112" fmla="*/ 0 h 16"/>
                <a:gd name="T113" fmla="*/ 20 w 20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0" h="16">
                  <a:moveTo>
                    <a:pt x="12" y="12"/>
                  </a:move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2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7" name="Freeform 529"/>
            <p:cNvSpPr>
              <a:spLocks/>
            </p:cNvSpPr>
            <p:nvPr/>
          </p:nvSpPr>
          <p:spPr bwMode="auto">
            <a:xfrm>
              <a:off x="4299" y="2623"/>
              <a:ext cx="19" cy="15"/>
            </a:xfrm>
            <a:custGeom>
              <a:avLst/>
              <a:gdLst>
                <a:gd name="T0" fmla="*/ 4 w 19"/>
                <a:gd name="T1" fmla="*/ 8 h 15"/>
                <a:gd name="T2" fmla="*/ 8 w 19"/>
                <a:gd name="T3" fmla="*/ 4 h 15"/>
                <a:gd name="T4" fmla="*/ 8 w 19"/>
                <a:gd name="T5" fmla="*/ 4 h 15"/>
                <a:gd name="T6" fmla="*/ 8 w 19"/>
                <a:gd name="T7" fmla="*/ 4 h 15"/>
                <a:gd name="T8" fmla="*/ 8 w 19"/>
                <a:gd name="T9" fmla="*/ 4 h 15"/>
                <a:gd name="T10" fmla="*/ 8 w 19"/>
                <a:gd name="T11" fmla="*/ 4 h 15"/>
                <a:gd name="T12" fmla="*/ 12 w 19"/>
                <a:gd name="T13" fmla="*/ 4 h 15"/>
                <a:gd name="T14" fmla="*/ 12 w 19"/>
                <a:gd name="T15" fmla="*/ 4 h 15"/>
                <a:gd name="T16" fmla="*/ 12 w 19"/>
                <a:gd name="T17" fmla="*/ 11 h 15"/>
                <a:gd name="T18" fmla="*/ 12 w 19"/>
                <a:gd name="T19" fmla="*/ 4 h 15"/>
                <a:gd name="T20" fmla="*/ 12 w 19"/>
                <a:gd name="T21" fmla="*/ 4 h 15"/>
                <a:gd name="T22" fmla="*/ 12 w 19"/>
                <a:gd name="T23" fmla="*/ 4 h 15"/>
                <a:gd name="T24" fmla="*/ 12 w 19"/>
                <a:gd name="T25" fmla="*/ 4 h 15"/>
                <a:gd name="T26" fmla="*/ 12 w 19"/>
                <a:gd name="T27" fmla="*/ 4 h 15"/>
                <a:gd name="T28" fmla="*/ 12 w 19"/>
                <a:gd name="T29" fmla="*/ 4 h 15"/>
                <a:gd name="T30" fmla="*/ 12 w 19"/>
                <a:gd name="T31" fmla="*/ 0 h 15"/>
                <a:gd name="T32" fmla="*/ 16 w 19"/>
                <a:gd name="T33" fmla="*/ 0 h 15"/>
                <a:gd name="T34" fmla="*/ 19 w 19"/>
                <a:gd name="T35" fmla="*/ 4 h 15"/>
                <a:gd name="T36" fmla="*/ 19 w 19"/>
                <a:gd name="T37" fmla="*/ 4 h 15"/>
                <a:gd name="T38" fmla="*/ 19 w 19"/>
                <a:gd name="T39" fmla="*/ 4 h 15"/>
                <a:gd name="T40" fmla="*/ 19 w 19"/>
                <a:gd name="T41" fmla="*/ 4 h 15"/>
                <a:gd name="T42" fmla="*/ 19 w 19"/>
                <a:gd name="T43" fmla="*/ 4 h 15"/>
                <a:gd name="T44" fmla="*/ 19 w 19"/>
                <a:gd name="T45" fmla="*/ 4 h 15"/>
                <a:gd name="T46" fmla="*/ 16 w 19"/>
                <a:gd name="T47" fmla="*/ 4 h 15"/>
                <a:gd name="T48" fmla="*/ 16 w 19"/>
                <a:gd name="T49" fmla="*/ 4 h 15"/>
                <a:gd name="T50" fmla="*/ 12 w 19"/>
                <a:gd name="T51" fmla="*/ 11 h 15"/>
                <a:gd name="T52" fmla="*/ 12 w 19"/>
                <a:gd name="T53" fmla="*/ 11 h 15"/>
                <a:gd name="T54" fmla="*/ 8 w 19"/>
                <a:gd name="T55" fmla="*/ 15 h 15"/>
                <a:gd name="T56" fmla="*/ 8 w 19"/>
                <a:gd name="T57" fmla="*/ 15 h 15"/>
                <a:gd name="T58" fmla="*/ 8 w 19"/>
                <a:gd name="T59" fmla="*/ 15 h 15"/>
                <a:gd name="T60" fmla="*/ 8 w 19"/>
                <a:gd name="T61" fmla="*/ 15 h 15"/>
                <a:gd name="T62" fmla="*/ 8 w 19"/>
                <a:gd name="T63" fmla="*/ 11 h 15"/>
                <a:gd name="T64" fmla="*/ 8 w 19"/>
                <a:gd name="T65" fmla="*/ 11 h 15"/>
                <a:gd name="T66" fmla="*/ 8 w 19"/>
                <a:gd name="T67" fmla="*/ 4 h 15"/>
                <a:gd name="T68" fmla="*/ 4 w 19"/>
                <a:gd name="T69" fmla="*/ 11 h 15"/>
                <a:gd name="T70" fmla="*/ 4 w 19"/>
                <a:gd name="T71" fmla="*/ 11 h 15"/>
                <a:gd name="T72" fmla="*/ 0 w 19"/>
                <a:gd name="T73" fmla="*/ 11 h 15"/>
                <a:gd name="T74" fmla="*/ 0 w 19"/>
                <a:gd name="T75" fmla="*/ 11 h 15"/>
                <a:gd name="T76" fmla="*/ 0 w 19"/>
                <a:gd name="T77" fmla="*/ 11 h 15"/>
                <a:gd name="T78" fmla="*/ 0 w 19"/>
                <a:gd name="T79" fmla="*/ 11 h 15"/>
                <a:gd name="T80" fmla="*/ 0 w 19"/>
                <a:gd name="T81" fmla="*/ 11 h 15"/>
                <a:gd name="T82" fmla="*/ 0 w 19"/>
                <a:gd name="T83" fmla="*/ 11 h 15"/>
                <a:gd name="T84" fmla="*/ 4 w 19"/>
                <a:gd name="T85" fmla="*/ 0 h 15"/>
                <a:gd name="T86" fmla="*/ 4 w 19"/>
                <a:gd name="T87" fmla="*/ 0 h 15"/>
                <a:gd name="T88" fmla="*/ 4 w 19"/>
                <a:gd name="T89" fmla="*/ 0 h 15"/>
                <a:gd name="T90" fmla="*/ 4 w 19"/>
                <a:gd name="T91" fmla="*/ 0 h 15"/>
                <a:gd name="T92" fmla="*/ 4 w 19"/>
                <a:gd name="T93" fmla="*/ 0 h 15"/>
                <a:gd name="T94" fmla="*/ 4 w 19"/>
                <a:gd name="T95" fmla="*/ 0 h 15"/>
                <a:gd name="T96" fmla="*/ 4 w 19"/>
                <a:gd name="T97" fmla="*/ 0 h 15"/>
                <a:gd name="T98" fmla="*/ 4 w 19"/>
                <a:gd name="T99" fmla="*/ 0 h 15"/>
                <a:gd name="T100" fmla="*/ 8 w 19"/>
                <a:gd name="T101" fmla="*/ 0 h 15"/>
                <a:gd name="T102" fmla="*/ 8 w 19"/>
                <a:gd name="T103" fmla="*/ 0 h 15"/>
                <a:gd name="T104" fmla="*/ 8 w 19"/>
                <a:gd name="T105" fmla="*/ 0 h 15"/>
                <a:gd name="T106" fmla="*/ 8 w 19"/>
                <a:gd name="T107" fmla="*/ 0 h 15"/>
                <a:gd name="T108" fmla="*/ 8 w 19"/>
                <a:gd name="T109" fmla="*/ 0 h 15"/>
                <a:gd name="T110" fmla="*/ 8 w 19"/>
                <a:gd name="T111" fmla="*/ 4 h 15"/>
                <a:gd name="T112" fmla="*/ 8 w 19"/>
                <a:gd name="T113" fmla="*/ 4 h 15"/>
                <a:gd name="T114" fmla="*/ 8 w 19"/>
                <a:gd name="T115" fmla="*/ 0 h 1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9"/>
                <a:gd name="T175" fmla="*/ 0 h 15"/>
                <a:gd name="T176" fmla="*/ 19 w 19"/>
                <a:gd name="T177" fmla="*/ 15 h 1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9" h="15">
                  <a:moveTo>
                    <a:pt x="8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11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4"/>
                  </a:lnTo>
                  <a:lnTo>
                    <a:pt x="16" y="4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4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8" name="Freeform 530"/>
            <p:cNvSpPr>
              <a:spLocks/>
            </p:cNvSpPr>
            <p:nvPr/>
          </p:nvSpPr>
          <p:spPr bwMode="auto">
            <a:xfrm>
              <a:off x="4311" y="2627"/>
              <a:ext cx="19" cy="15"/>
            </a:xfrm>
            <a:custGeom>
              <a:avLst/>
              <a:gdLst>
                <a:gd name="T0" fmla="*/ 11 w 19"/>
                <a:gd name="T1" fmla="*/ 4 h 15"/>
                <a:gd name="T2" fmla="*/ 15 w 19"/>
                <a:gd name="T3" fmla="*/ 4 h 15"/>
                <a:gd name="T4" fmla="*/ 15 w 19"/>
                <a:gd name="T5" fmla="*/ 4 h 15"/>
                <a:gd name="T6" fmla="*/ 15 w 19"/>
                <a:gd name="T7" fmla="*/ 4 h 15"/>
                <a:gd name="T8" fmla="*/ 15 w 19"/>
                <a:gd name="T9" fmla="*/ 0 h 15"/>
                <a:gd name="T10" fmla="*/ 19 w 19"/>
                <a:gd name="T11" fmla="*/ 4 h 15"/>
                <a:gd name="T12" fmla="*/ 19 w 19"/>
                <a:gd name="T13" fmla="*/ 4 h 15"/>
                <a:gd name="T14" fmla="*/ 19 w 19"/>
                <a:gd name="T15" fmla="*/ 4 h 15"/>
                <a:gd name="T16" fmla="*/ 19 w 19"/>
                <a:gd name="T17" fmla="*/ 4 h 15"/>
                <a:gd name="T18" fmla="*/ 19 w 19"/>
                <a:gd name="T19" fmla="*/ 4 h 15"/>
                <a:gd name="T20" fmla="*/ 19 w 19"/>
                <a:gd name="T21" fmla="*/ 4 h 15"/>
                <a:gd name="T22" fmla="*/ 11 w 19"/>
                <a:gd name="T23" fmla="*/ 7 h 15"/>
                <a:gd name="T24" fmla="*/ 15 w 19"/>
                <a:gd name="T25" fmla="*/ 11 h 15"/>
                <a:gd name="T26" fmla="*/ 15 w 19"/>
                <a:gd name="T27" fmla="*/ 11 h 15"/>
                <a:gd name="T28" fmla="*/ 15 w 19"/>
                <a:gd name="T29" fmla="*/ 11 h 15"/>
                <a:gd name="T30" fmla="*/ 15 w 19"/>
                <a:gd name="T31" fmla="*/ 15 h 15"/>
                <a:gd name="T32" fmla="*/ 15 w 19"/>
                <a:gd name="T33" fmla="*/ 15 h 15"/>
                <a:gd name="T34" fmla="*/ 11 w 19"/>
                <a:gd name="T35" fmla="*/ 15 h 15"/>
                <a:gd name="T36" fmla="*/ 7 w 19"/>
                <a:gd name="T37" fmla="*/ 11 h 15"/>
                <a:gd name="T38" fmla="*/ 7 w 19"/>
                <a:gd name="T39" fmla="*/ 11 h 15"/>
                <a:gd name="T40" fmla="*/ 11 w 19"/>
                <a:gd name="T41" fmla="*/ 11 h 15"/>
                <a:gd name="T42" fmla="*/ 11 w 19"/>
                <a:gd name="T43" fmla="*/ 11 h 15"/>
                <a:gd name="T44" fmla="*/ 11 w 19"/>
                <a:gd name="T45" fmla="*/ 7 h 15"/>
                <a:gd name="T46" fmla="*/ 7 w 19"/>
                <a:gd name="T47" fmla="*/ 11 h 15"/>
                <a:gd name="T48" fmla="*/ 7 w 19"/>
                <a:gd name="T49" fmla="*/ 11 h 15"/>
                <a:gd name="T50" fmla="*/ 7 w 19"/>
                <a:gd name="T51" fmla="*/ 11 h 15"/>
                <a:gd name="T52" fmla="*/ 7 w 19"/>
                <a:gd name="T53" fmla="*/ 11 h 15"/>
                <a:gd name="T54" fmla="*/ 4 w 19"/>
                <a:gd name="T55" fmla="*/ 11 h 15"/>
                <a:gd name="T56" fmla="*/ 0 w 19"/>
                <a:gd name="T57" fmla="*/ 11 h 15"/>
                <a:gd name="T58" fmla="*/ 4 w 19"/>
                <a:gd name="T59" fmla="*/ 11 h 15"/>
                <a:gd name="T60" fmla="*/ 4 w 19"/>
                <a:gd name="T61" fmla="*/ 7 h 15"/>
                <a:gd name="T62" fmla="*/ 4 w 19"/>
                <a:gd name="T63" fmla="*/ 7 h 15"/>
                <a:gd name="T64" fmla="*/ 4 w 19"/>
                <a:gd name="T65" fmla="*/ 7 h 15"/>
                <a:gd name="T66" fmla="*/ 7 w 19"/>
                <a:gd name="T67" fmla="*/ 0 h 15"/>
                <a:gd name="T68" fmla="*/ 7 w 19"/>
                <a:gd name="T69" fmla="*/ 0 h 15"/>
                <a:gd name="T70" fmla="*/ 7 w 19"/>
                <a:gd name="T71" fmla="*/ 0 h 15"/>
                <a:gd name="T72" fmla="*/ 7 w 19"/>
                <a:gd name="T73" fmla="*/ 0 h 15"/>
                <a:gd name="T74" fmla="*/ 7 w 19"/>
                <a:gd name="T75" fmla="*/ 0 h 15"/>
                <a:gd name="T76" fmla="*/ 11 w 19"/>
                <a:gd name="T77" fmla="*/ 0 h 15"/>
                <a:gd name="T78" fmla="*/ 11 w 19"/>
                <a:gd name="T79" fmla="*/ 0 h 15"/>
                <a:gd name="T80" fmla="*/ 15 w 19"/>
                <a:gd name="T81" fmla="*/ 0 h 15"/>
                <a:gd name="T82" fmla="*/ 15 w 19"/>
                <a:gd name="T83" fmla="*/ 0 h 15"/>
                <a:gd name="T84" fmla="*/ 11 w 19"/>
                <a:gd name="T85" fmla="*/ 4 h 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9"/>
                <a:gd name="T130" fmla="*/ 0 h 15"/>
                <a:gd name="T131" fmla="*/ 19 w 19"/>
                <a:gd name="T132" fmla="*/ 15 h 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9" h="15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1" y="7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11" y="7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89" name="Freeform 531"/>
            <p:cNvSpPr>
              <a:spLocks/>
            </p:cNvSpPr>
            <p:nvPr/>
          </p:nvSpPr>
          <p:spPr bwMode="auto">
            <a:xfrm>
              <a:off x="4330" y="2631"/>
              <a:ext cx="16" cy="15"/>
            </a:xfrm>
            <a:custGeom>
              <a:avLst/>
              <a:gdLst>
                <a:gd name="T0" fmla="*/ 8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2 w 16"/>
                <a:gd name="T11" fmla="*/ 3 h 15"/>
                <a:gd name="T12" fmla="*/ 12 w 16"/>
                <a:gd name="T13" fmla="*/ 3 h 15"/>
                <a:gd name="T14" fmla="*/ 12 w 16"/>
                <a:gd name="T15" fmla="*/ 0 h 15"/>
                <a:gd name="T16" fmla="*/ 12 w 16"/>
                <a:gd name="T17" fmla="*/ 0 h 15"/>
                <a:gd name="T18" fmla="*/ 16 w 16"/>
                <a:gd name="T19" fmla="*/ 3 h 15"/>
                <a:gd name="T20" fmla="*/ 16 w 16"/>
                <a:gd name="T21" fmla="*/ 3 h 15"/>
                <a:gd name="T22" fmla="*/ 16 w 16"/>
                <a:gd name="T23" fmla="*/ 3 h 15"/>
                <a:gd name="T24" fmla="*/ 16 w 16"/>
                <a:gd name="T25" fmla="*/ 3 h 15"/>
                <a:gd name="T26" fmla="*/ 16 w 16"/>
                <a:gd name="T27" fmla="*/ 3 h 15"/>
                <a:gd name="T28" fmla="*/ 16 w 16"/>
                <a:gd name="T29" fmla="*/ 3 h 15"/>
                <a:gd name="T30" fmla="*/ 16 w 16"/>
                <a:gd name="T31" fmla="*/ 3 h 15"/>
                <a:gd name="T32" fmla="*/ 16 w 16"/>
                <a:gd name="T33" fmla="*/ 3 h 15"/>
                <a:gd name="T34" fmla="*/ 8 w 16"/>
                <a:gd name="T35" fmla="*/ 7 h 15"/>
                <a:gd name="T36" fmla="*/ 8 w 16"/>
                <a:gd name="T37" fmla="*/ 11 h 15"/>
                <a:gd name="T38" fmla="*/ 8 w 16"/>
                <a:gd name="T39" fmla="*/ 11 h 15"/>
                <a:gd name="T40" fmla="*/ 8 w 16"/>
                <a:gd name="T41" fmla="*/ 11 h 15"/>
                <a:gd name="T42" fmla="*/ 12 w 16"/>
                <a:gd name="T43" fmla="*/ 11 h 15"/>
                <a:gd name="T44" fmla="*/ 12 w 16"/>
                <a:gd name="T45" fmla="*/ 11 h 15"/>
                <a:gd name="T46" fmla="*/ 12 w 16"/>
                <a:gd name="T47" fmla="*/ 11 h 15"/>
                <a:gd name="T48" fmla="*/ 8 w 16"/>
                <a:gd name="T49" fmla="*/ 15 h 15"/>
                <a:gd name="T50" fmla="*/ 8 w 16"/>
                <a:gd name="T51" fmla="*/ 15 h 15"/>
                <a:gd name="T52" fmla="*/ 0 w 16"/>
                <a:gd name="T53" fmla="*/ 11 h 15"/>
                <a:gd name="T54" fmla="*/ 0 w 16"/>
                <a:gd name="T55" fmla="*/ 11 h 15"/>
                <a:gd name="T56" fmla="*/ 0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4 w 16"/>
                <a:gd name="T65" fmla="*/ 11 h 15"/>
                <a:gd name="T66" fmla="*/ 4 w 16"/>
                <a:gd name="T67" fmla="*/ 11 h 15"/>
                <a:gd name="T68" fmla="*/ 4 w 16"/>
                <a:gd name="T69" fmla="*/ 7 h 15"/>
                <a:gd name="T70" fmla="*/ 4 w 16"/>
                <a:gd name="T71" fmla="*/ 0 h 15"/>
                <a:gd name="T72" fmla="*/ 4 w 16"/>
                <a:gd name="T73" fmla="*/ 0 h 15"/>
                <a:gd name="T74" fmla="*/ 4 w 16"/>
                <a:gd name="T75" fmla="*/ 0 h 15"/>
                <a:gd name="T76" fmla="*/ 4 w 16"/>
                <a:gd name="T77" fmla="*/ 0 h 15"/>
                <a:gd name="T78" fmla="*/ 4 w 16"/>
                <a:gd name="T79" fmla="*/ 0 h 15"/>
                <a:gd name="T80" fmla="*/ 4 w 16"/>
                <a:gd name="T81" fmla="*/ 0 h 15"/>
                <a:gd name="T82" fmla="*/ 4 w 16"/>
                <a:gd name="T83" fmla="*/ 0 h 15"/>
                <a:gd name="T84" fmla="*/ 8 w 16"/>
                <a:gd name="T85" fmla="*/ 0 h 15"/>
                <a:gd name="T86" fmla="*/ 8 w 16"/>
                <a:gd name="T87" fmla="*/ 0 h 15"/>
                <a:gd name="T88" fmla="*/ 8 w 16"/>
                <a:gd name="T89" fmla="*/ 0 h 15"/>
                <a:gd name="T90" fmla="*/ 12 w 16"/>
                <a:gd name="T91" fmla="*/ 0 h 15"/>
                <a:gd name="T92" fmla="*/ 12 w 16"/>
                <a:gd name="T93" fmla="*/ 0 h 15"/>
                <a:gd name="T94" fmla="*/ 12 w 16"/>
                <a:gd name="T95" fmla="*/ 0 h 15"/>
                <a:gd name="T96" fmla="*/ 8 w 16"/>
                <a:gd name="T97" fmla="*/ 3 h 15"/>
                <a:gd name="T98" fmla="*/ 8 w 16"/>
                <a:gd name="T99" fmla="*/ 3 h 15"/>
                <a:gd name="T100" fmla="*/ 8 w 16"/>
                <a:gd name="T101" fmla="*/ 3 h 1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5"/>
                <a:gd name="T155" fmla="*/ 16 w 16"/>
                <a:gd name="T156" fmla="*/ 15 h 1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5">
                  <a:moveTo>
                    <a:pt x="8" y="3"/>
                  </a:moveTo>
                  <a:lnTo>
                    <a:pt x="8" y="7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1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90" name="Freeform 532"/>
            <p:cNvSpPr>
              <a:spLocks/>
            </p:cNvSpPr>
            <p:nvPr/>
          </p:nvSpPr>
          <p:spPr bwMode="auto">
            <a:xfrm>
              <a:off x="4346" y="2634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8 w 16"/>
                <a:gd name="T3" fmla="*/ 12 h 16"/>
                <a:gd name="T4" fmla="*/ 8 w 16"/>
                <a:gd name="T5" fmla="*/ 12 h 16"/>
                <a:gd name="T6" fmla="*/ 12 w 16"/>
                <a:gd name="T7" fmla="*/ 8 h 16"/>
                <a:gd name="T8" fmla="*/ 12 w 16"/>
                <a:gd name="T9" fmla="*/ 8 h 16"/>
                <a:gd name="T10" fmla="*/ 12 w 16"/>
                <a:gd name="T11" fmla="*/ 8 h 16"/>
                <a:gd name="T12" fmla="*/ 12 w 16"/>
                <a:gd name="T13" fmla="*/ 12 h 16"/>
                <a:gd name="T14" fmla="*/ 12 w 16"/>
                <a:gd name="T15" fmla="*/ 12 h 16"/>
                <a:gd name="T16" fmla="*/ 12 w 16"/>
                <a:gd name="T17" fmla="*/ 12 h 16"/>
                <a:gd name="T18" fmla="*/ 12 w 16"/>
                <a:gd name="T19" fmla="*/ 16 h 16"/>
                <a:gd name="T20" fmla="*/ 12 w 16"/>
                <a:gd name="T21" fmla="*/ 16 h 16"/>
                <a:gd name="T22" fmla="*/ 8 w 16"/>
                <a:gd name="T23" fmla="*/ 16 h 16"/>
                <a:gd name="T24" fmla="*/ 8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0 w 16"/>
                <a:gd name="T39" fmla="*/ 12 h 16"/>
                <a:gd name="T40" fmla="*/ 12 w 16"/>
                <a:gd name="T41" fmla="*/ 4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4 w 16"/>
                <a:gd name="T49" fmla="*/ 4 h 16"/>
                <a:gd name="T50" fmla="*/ 4 w 16"/>
                <a:gd name="T51" fmla="*/ 4 h 16"/>
                <a:gd name="T52" fmla="*/ 4 w 16"/>
                <a:gd name="T53" fmla="*/ 4 h 16"/>
                <a:gd name="T54" fmla="*/ 4 w 16"/>
                <a:gd name="T55" fmla="*/ 4 h 16"/>
                <a:gd name="T56" fmla="*/ 4 w 16"/>
                <a:gd name="T57" fmla="*/ 4 h 16"/>
                <a:gd name="T58" fmla="*/ 4 w 16"/>
                <a:gd name="T59" fmla="*/ 4 h 16"/>
                <a:gd name="T60" fmla="*/ 4 w 16"/>
                <a:gd name="T61" fmla="*/ 0 h 16"/>
                <a:gd name="T62" fmla="*/ 4 w 16"/>
                <a:gd name="T63" fmla="*/ 0 h 16"/>
                <a:gd name="T64" fmla="*/ 8 w 16"/>
                <a:gd name="T65" fmla="*/ 0 h 16"/>
                <a:gd name="T66" fmla="*/ 8 w 16"/>
                <a:gd name="T67" fmla="*/ 0 h 16"/>
                <a:gd name="T68" fmla="*/ 16 w 16"/>
                <a:gd name="T69" fmla="*/ 4 h 16"/>
                <a:gd name="T70" fmla="*/ 16 w 16"/>
                <a:gd name="T71" fmla="*/ 4 h 16"/>
                <a:gd name="T72" fmla="*/ 16 w 16"/>
                <a:gd name="T73" fmla="*/ 4 h 16"/>
                <a:gd name="T74" fmla="*/ 16 w 16"/>
                <a:gd name="T75" fmla="*/ 4 h 16"/>
                <a:gd name="T76" fmla="*/ 16 w 16"/>
                <a:gd name="T77" fmla="*/ 4 h 16"/>
                <a:gd name="T78" fmla="*/ 16 w 16"/>
                <a:gd name="T79" fmla="*/ 4 h 16"/>
                <a:gd name="T80" fmla="*/ 16 w 16"/>
                <a:gd name="T81" fmla="*/ 4 h 16"/>
                <a:gd name="T82" fmla="*/ 4 w 16"/>
                <a:gd name="T83" fmla="*/ 12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6"/>
                <a:gd name="T128" fmla="*/ 16 w 16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6">
                  <a:moveTo>
                    <a:pt x="4" y="12"/>
                  </a:moveTo>
                  <a:lnTo>
                    <a:pt x="8" y="12"/>
                  </a:lnTo>
                  <a:lnTo>
                    <a:pt x="12" y="8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6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91" name="Freeform 533"/>
            <p:cNvSpPr>
              <a:spLocks noEditPoints="1"/>
            </p:cNvSpPr>
            <p:nvPr/>
          </p:nvSpPr>
          <p:spPr bwMode="auto">
            <a:xfrm>
              <a:off x="4153" y="2686"/>
              <a:ext cx="20" cy="19"/>
            </a:xfrm>
            <a:custGeom>
              <a:avLst/>
              <a:gdLst>
                <a:gd name="T0" fmla="*/ 16 w 20"/>
                <a:gd name="T1" fmla="*/ 0 h 19"/>
                <a:gd name="T2" fmla="*/ 16 w 20"/>
                <a:gd name="T3" fmla="*/ 0 h 19"/>
                <a:gd name="T4" fmla="*/ 20 w 20"/>
                <a:gd name="T5" fmla="*/ 4 h 19"/>
                <a:gd name="T6" fmla="*/ 20 w 20"/>
                <a:gd name="T7" fmla="*/ 4 h 19"/>
                <a:gd name="T8" fmla="*/ 20 w 20"/>
                <a:gd name="T9" fmla="*/ 4 h 19"/>
                <a:gd name="T10" fmla="*/ 20 w 20"/>
                <a:gd name="T11" fmla="*/ 11 h 19"/>
                <a:gd name="T12" fmla="*/ 20 w 20"/>
                <a:gd name="T13" fmla="*/ 11 h 19"/>
                <a:gd name="T14" fmla="*/ 20 w 20"/>
                <a:gd name="T15" fmla="*/ 11 h 19"/>
                <a:gd name="T16" fmla="*/ 12 w 20"/>
                <a:gd name="T17" fmla="*/ 15 h 19"/>
                <a:gd name="T18" fmla="*/ 12 w 20"/>
                <a:gd name="T19" fmla="*/ 15 h 19"/>
                <a:gd name="T20" fmla="*/ 12 w 20"/>
                <a:gd name="T21" fmla="*/ 15 h 19"/>
                <a:gd name="T22" fmla="*/ 4 w 20"/>
                <a:gd name="T23" fmla="*/ 19 h 19"/>
                <a:gd name="T24" fmla="*/ 4 w 20"/>
                <a:gd name="T25" fmla="*/ 19 h 19"/>
                <a:gd name="T26" fmla="*/ 4 w 20"/>
                <a:gd name="T27" fmla="*/ 19 h 19"/>
                <a:gd name="T28" fmla="*/ 0 w 20"/>
                <a:gd name="T29" fmla="*/ 11 h 19"/>
                <a:gd name="T30" fmla="*/ 0 w 20"/>
                <a:gd name="T31" fmla="*/ 11 h 19"/>
                <a:gd name="T32" fmla="*/ 0 w 20"/>
                <a:gd name="T33" fmla="*/ 11 h 19"/>
                <a:gd name="T34" fmla="*/ 4 w 20"/>
                <a:gd name="T35" fmla="*/ 4 h 19"/>
                <a:gd name="T36" fmla="*/ 4 w 20"/>
                <a:gd name="T37" fmla="*/ 4 h 19"/>
                <a:gd name="T38" fmla="*/ 4 w 20"/>
                <a:gd name="T39" fmla="*/ 4 h 19"/>
                <a:gd name="T40" fmla="*/ 8 w 20"/>
                <a:gd name="T41" fmla="*/ 0 h 19"/>
                <a:gd name="T42" fmla="*/ 8 w 20"/>
                <a:gd name="T43" fmla="*/ 0 h 19"/>
                <a:gd name="T44" fmla="*/ 8 w 20"/>
                <a:gd name="T45" fmla="*/ 0 h 19"/>
                <a:gd name="T46" fmla="*/ 16 w 20"/>
                <a:gd name="T47" fmla="*/ 0 h 19"/>
                <a:gd name="T48" fmla="*/ 16 w 20"/>
                <a:gd name="T49" fmla="*/ 0 h 19"/>
                <a:gd name="T50" fmla="*/ 16 w 20"/>
                <a:gd name="T51" fmla="*/ 0 h 19"/>
                <a:gd name="T52" fmla="*/ 16 w 20"/>
                <a:gd name="T53" fmla="*/ 0 h 19"/>
                <a:gd name="T54" fmla="*/ 12 w 20"/>
                <a:gd name="T55" fmla="*/ 4 h 19"/>
                <a:gd name="T56" fmla="*/ 12 w 20"/>
                <a:gd name="T57" fmla="*/ 4 h 19"/>
                <a:gd name="T58" fmla="*/ 12 w 20"/>
                <a:gd name="T59" fmla="*/ 4 h 19"/>
                <a:gd name="T60" fmla="*/ 8 w 20"/>
                <a:gd name="T61" fmla="*/ 8 h 19"/>
                <a:gd name="T62" fmla="*/ 8 w 20"/>
                <a:gd name="T63" fmla="*/ 8 h 19"/>
                <a:gd name="T64" fmla="*/ 8 w 20"/>
                <a:gd name="T65" fmla="*/ 8 h 19"/>
                <a:gd name="T66" fmla="*/ 4 w 20"/>
                <a:gd name="T67" fmla="*/ 11 h 19"/>
                <a:gd name="T68" fmla="*/ 4 w 20"/>
                <a:gd name="T69" fmla="*/ 11 h 19"/>
                <a:gd name="T70" fmla="*/ 4 w 20"/>
                <a:gd name="T71" fmla="*/ 11 h 19"/>
                <a:gd name="T72" fmla="*/ 8 w 20"/>
                <a:gd name="T73" fmla="*/ 15 h 19"/>
                <a:gd name="T74" fmla="*/ 8 w 20"/>
                <a:gd name="T75" fmla="*/ 15 h 19"/>
                <a:gd name="T76" fmla="*/ 8 w 20"/>
                <a:gd name="T77" fmla="*/ 15 h 19"/>
                <a:gd name="T78" fmla="*/ 12 w 20"/>
                <a:gd name="T79" fmla="*/ 11 h 19"/>
                <a:gd name="T80" fmla="*/ 12 w 20"/>
                <a:gd name="T81" fmla="*/ 11 h 19"/>
                <a:gd name="T82" fmla="*/ 12 w 20"/>
                <a:gd name="T83" fmla="*/ 11 h 19"/>
                <a:gd name="T84" fmla="*/ 16 w 20"/>
                <a:gd name="T85" fmla="*/ 8 h 19"/>
                <a:gd name="T86" fmla="*/ 16 w 20"/>
                <a:gd name="T87" fmla="*/ 8 h 19"/>
                <a:gd name="T88" fmla="*/ 16 w 20"/>
                <a:gd name="T89" fmla="*/ 8 h 19"/>
                <a:gd name="T90" fmla="*/ 16 w 20"/>
                <a:gd name="T91" fmla="*/ 4 h 19"/>
                <a:gd name="T92" fmla="*/ 16 w 20"/>
                <a:gd name="T93" fmla="*/ 4 h 19"/>
                <a:gd name="T94" fmla="*/ 16 w 20"/>
                <a:gd name="T95" fmla="*/ 4 h 19"/>
                <a:gd name="T96" fmla="*/ 16 w 20"/>
                <a:gd name="T97" fmla="*/ 0 h 19"/>
                <a:gd name="T98" fmla="*/ 16 w 20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0"/>
                <a:gd name="T151" fmla="*/ 0 h 19"/>
                <a:gd name="T152" fmla="*/ 20 w 20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0" h="19">
                  <a:moveTo>
                    <a:pt x="16" y="0"/>
                  </a:moveTo>
                  <a:lnTo>
                    <a:pt x="16" y="0"/>
                  </a:lnTo>
                  <a:lnTo>
                    <a:pt x="20" y="4"/>
                  </a:lnTo>
                  <a:lnTo>
                    <a:pt x="20" y="11"/>
                  </a:lnTo>
                  <a:lnTo>
                    <a:pt x="12" y="15"/>
                  </a:lnTo>
                  <a:lnTo>
                    <a:pt x="4" y="19"/>
                  </a:lnTo>
                  <a:lnTo>
                    <a:pt x="0" y="11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close/>
                  <a:moveTo>
                    <a:pt x="16" y="0"/>
                  </a:moveTo>
                  <a:lnTo>
                    <a:pt x="16" y="0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1"/>
                  </a:lnTo>
                  <a:lnTo>
                    <a:pt x="8" y="15"/>
                  </a:lnTo>
                  <a:lnTo>
                    <a:pt x="12" y="11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92" name="Freeform 534"/>
            <p:cNvSpPr>
              <a:spLocks/>
            </p:cNvSpPr>
            <p:nvPr/>
          </p:nvSpPr>
          <p:spPr bwMode="auto">
            <a:xfrm>
              <a:off x="4177" y="2690"/>
              <a:ext cx="15" cy="19"/>
            </a:xfrm>
            <a:custGeom>
              <a:avLst/>
              <a:gdLst>
                <a:gd name="T0" fmla="*/ 11 w 15"/>
                <a:gd name="T1" fmla="*/ 7 h 19"/>
                <a:gd name="T2" fmla="*/ 15 w 15"/>
                <a:gd name="T3" fmla="*/ 11 h 19"/>
                <a:gd name="T4" fmla="*/ 15 w 15"/>
                <a:gd name="T5" fmla="*/ 11 h 19"/>
                <a:gd name="T6" fmla="*/ 15 w 15"/>
                <a:gd name="T7" fmla="*/ 11 h 19"/>
                <a:gd name="T8" fmla="*/ 15 w 15"/>
                <a:gd name="T9" fmla="*/ 11 h 19"/>
                <a:gd name="T10" fmla="*/ 15 w 15"/>
                <a:gd name="T11" fmla="*/ 11 h 19"/>
                <a:gd name="T12" fmla="*/ 15 w 15"/>
                <a:gd name="T13" fmla="*/ 11 h 19"/>
                <a:gd name="T14" fmla="*/ 15 w 15"/>
                <a:gd name="T15" fmla="*/ 11 h 19"/>
                <a:gd name="T16" fmla="*/ 15 w 15"/>
                <a:gd name="T17" fmla="*/ 11 h 19"/>
                <a:gd name="T18" fmla="*/ 15 w 15"/>
                <a:gd name="T19" fmla="*/ 11 h 19"/>
                <a:gd name="T20" fmla="*/ 15 w 15"/>
                <a:gd name="T21" fmla="*/ 11 h 19"/>
                <a:gd name="T22" fmla="*/ 15 w 15"/>
                <a:gd name="T23" fmla="*/ 11 h 19"/>
                <a:gd name="T24" fmla="*/ 15 w 15"/>
                <a:gd name="T25" fmla="*/ 11 h 19"/>
                <a:gd name="T26" fmla="*/ 15 w 15"/>
                <a:gd name="T27" fmla="*/ 11 h 19"/>
                <a:gd name="T28" fmla="*/ 15 w 15"/>
                <a:gd name="T29" fmla="*/ 11 h 19"/>
                <a:gd name="T30" fmla="*/ 8 w 15"/>
                <a:gd name="T31" fmla="*/ 11 h 19"/>
                <a:gd name="T32" fmla="*/ 8 w 15"/>
                <a:gd name="T33" fmla="*/ 11 h 19"/>
                <a:gd name="T34" fmla="*/ 4 w 15"/>
                <a:gd name="T35" fmla="*/ 15 h 19"/>
                <a:gd name="T36" fmla="*/ 4 w 15"/>
                <a:gd name="T37" fmla="*/ 15 h 19"/>
                <a:gd name="T38" fmla="*/ 4 w 15"/>
                <a:gd name="T39" fmla="*/ 15 h 19"/>
                <a:gd name="T40" fmla="*/ 4 w 15"/>
                <a:gd name="T41" fmla="*/ 19 h 19"/>
                <a:gd name="T42" fmla="*/ 4 w 15"/>
                <a:gd name="T43" fmla="*/ 19 h 19"/>
                <a:gd name="T44" fmla="*/ 4 w 15"/>
                <a:gd name="T45" fmla="*/ 19 h 19"/>
                <a:gd name="T46" fmla="*/ 4 w 15"/>
                <a:gd name="T47" fmla="*/ 19 h 19"/>
                <a:gd name="T48" fmla="*/ 4 w 15"/>
                <a:gd name="T49" fmla="*/ 19 h 19"/>
                <a:gd name="T50" fmla="*/ 4 w 15"/>
                <a:gd name="T51" fmla="*/ 19 h 19"/>
                <a:gd name="T52" fmla="*/ 0 w 15"/>
                <a:gd name="T53" fmla="*/ 15 h 19"/>
                <a:gd name="T54" fmla="*/ 0 w 15"/>
                <a:gd name="T55" fmla="*/ 15 h 19"/>
                <a:gd name="T56" fmla="*/ 0 w 15"/>
                <a:gd name="T57" fmla="*/ 15 h 19"/>
                <a:gd name="T58" fmla="*/ 0 w 15"/>
                <a:gd name="T59" fmla="*/ 15 h 19"/>
                <a:gd name="T60" fmla="*/ 0 w 15"/>
                <a:gd name="T61" fmla="*/ 15 h 19"/>
                <a:gd name="T62" fmla="*/ 4 w 15"/>
                <a:gd name="T63" fmla="*/ 11 h 19"/>
                <a:gd name="T64" fmla="*/ 4 w 15"/>
                <a:gd name="T65" fmla="*/ 11 h 19"/>
                <a:gd name="T66" fmla="*/ 0 w 15"/>
                <a:gd name="T67" fmla="*/ 7 h 19"/>
                <a:gd name="T68" fmla="*/ 0 w 15"/>
                <a:gd name="T69" fmla="*/ 7 h 19"/>
                <a:gd name="T70" fmla="*/ 0 w 15"/>
                <a:gd name="T71" fmla="*/ 7 h 19"/>
                <a:gd name="T72" fmla="*/ 0 w 15"/>
                <a:gd name="T73" fmla="*/ 7 h 19"/>
                <a:gd name="T74" fmla="*/ 0 w 15"/>
                <a:gd name="T75" fmla="*/ 7 h 19"/>
                <a:gd name="T76" fmla="*/ 0 w 15"/>
                <a:gd name="T77" fmla="*/ 7 h 19"/>
                <a:gd name="T78" fmla="*/ 0 w 15"/>
                <a:gd name="T79" fmla="*/ 7 h 19"/>
                <a:gd name="T80" fmla="*/ 0 w 15"/>
                <a:gd name="T81" fmla="*/ 7 h 19"/>
                <a:gd name="T82" fmla="*/ 0 w 15"/>
                <a:gd name="T83" fmla="*/ 7 h 19"/>
                <a:gd name="T84" fmla="*/ 0 w 15"/>
                <a:gd name="T85" fmla="*/ 7 h 19"/>
                <a:gd name="T86" fmla="*/ 0 w 15"/>
                <a:gd name="T87" fmla="*/ 7 h 19"/>
                <a:gd name="T88" fmla="*/ 0 w 15"/>
                <a:gd name="T89" fmla="*/ 7 h 19"/>
                <a:gd name="T90" fmla="*/ 0 w 15"/>
                <a:gd name="T91" fmla="*/ 7 h 19"/>
                <a:gd name="T92" fmla="*/ 8 w 15"/>
                <a:gd name="T93" fmla="*/ 7 h 19"/>
                <a:gd name="T94" fmla="*/ 8 w 15"/>
                <a:gd name="T95" fmla="*/ 7 h 19"/>
                <a:gd name="T96" fmla="*/ 8 w 15"/>
                <a:gd name="T97" fmla="*/ 4 h 19"/>
                <a:gd name="T98" fmla="*/ 8 w 15"/>
                <a:gd name="T99" fmla="*/ 4 h 19"/>
                <a:gd name="T100" fmla="*/ 8 w 15"/>
                <a:gd name="T101" fmla="*/ 4 h 19"/>
                <a:gd name="T102" fmla="*/ 11 w 15"/>
                <a:gd name="T103" fmla="*/ 0 h 19"/>
                <a:gd name="T104" fmla="*/ 11 w 15"/>
                <a:gd name="T105" fmla="*/ 0 h 19"/>
                <a:gd name="T106" fmla="*/ 11 w 15"/>
                <a:gd name="T107" fmla="*/ 0 h 19"/>
                <a:gd name="T108" fmla="*/ 11 w 15"/>
                <a:gd name="T109" fmla="*/ 0 h 19"/>
                <a:gd name="T110" fmla="*/ 11 w 15"/>
                <a:gd name="T111" fmla="*/ 0 h 19"/>
                <a:gd name="T112" fmla="*/ 11 w 15"/>
                <a:gd name="T113" fmla="*/ 0 h 19"/>
                <a:gd name="T114" fmla="*/ 11 w 15"/>
                <a:gd name="T115" fmla="*/ 4 h 19"/>
                <a:gd name="T116" fmla="*/ 11 w 15"/>
                <a:gd name="T117" fmla="*/ 4 h 19"/>
                <a:gd name="T118" fmla="*/ 11 w 15"/>
                <a:gd name="T119" fmla="*/ 4 h 19"/>
                <a:gd name="T120" fmla="*/ 11 w 15"/>
                <a:gd name="T121" fmla="*/ 4 h 19"/>
                <a:gd name="T122" fmla="*/ 11 w 15"/>
                <a:gd name="T123" fmla="*/ 4 h 19"/>
                <a:gd name="T124" fmla="*/ 11 w 15"/>
                <a:gd name="T125" fmla="*/ 7 h 1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9"/>
                <a:gd name="T191" fmla="*/ 15 w 15"/>
                <a:gd name="T192" fmla="*/ 19 h 1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9">
                  <a:moveTo>
                    <a:pt x="11" y="7"/>
                  </a:moveTo>
                  <a:lnTo>
                    <a:pt x="15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0" y="7"/>
                  </a:lnTo>
                  <a:lnTo>
                    <a:pt x="8" y="7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93" name="Freeform 535"/>
            <p:cNvSpPr>
              <a:spLocks/>
            </p:cNvSpPr>
            <p:nvPr/>
          </p:nvSpPr>
          <p:spPr bwMode="auto">
            <a:xfrm>
              <a:off x="4043" y="2658"/>
              <a:ext cx="27" cy="24"/>
            </a:xfrm>
            <a:custGeom>
              <a:avLst/>
              <a:gdLst>
                <a:gd name="T0" fmla="*/ 27 w 27"/>
                <a:gd name="T1" fmla="*/ 8 h 24"/>
                <a:gd name="T2" fmla="*/ 27 w 27"/>
                <a:gd name="T3" fmla="*/ 8 h 24"/>
                <a:gd name="T4" fmla="*/ 27 w 27"/>
                <a:gd name="T5" fmla="*/ 8 h 24"/>
                <a:gd name="T6" fmla="*/ 27 w 27"/>
                <a:gd name="T7" fmla="*/ 8 h 24"/>
                <a:gd name="T8" fmla="*/ 27 w 27"/>
                <a:gd name="T9" fmla="*/ 12 h 24"/>
                <a:gd name="T10" fmla="*/ 27 w 27"/>
                <a:gd name="T11" fmla="*/ 12 h 24"/>
                <a:gd name="T12" fmla="*/ 27 w 27"/>
                <a:gd name="T13" fmla="*/ 12 h 24"/>
                <a:gd name="T14" fmla="*/ 27 w 27"/>
                <a:gd name="T15" fmla="*/ 16 h 24"/>
                <a:gd name="T16" fmla="*/ 27 w 27"/>
                <a:gd name="T17" fmla="*/ 16 h 24"/>
                <a:gd name="T18" fmla="*/ 15 w 27"/>
                <a:gd name="T19" fmla="*/ 12 h 24"/>
                <a:gd name="T20" fmla="*/ 19 w 27"/>
                <a:gd name="T21" fmla="*/ 20 h 24"/>
                <a:gd name="T22" fmla="*/ 19 w 27"/>
                <a:gd name="T23" fmla="*/ 20 h 24"/>
                <a:gd name="T24" fmla="*/ 19 w 27"/>
                <a:gd name="T25" fmla="*/ 20 h 24"/>
                <a:gd name="T26" fmla="*/ 19 w 27"/>
                <a:gd name="T27" fmla="*/ 20 h 24"/>
                <a:gd name="T28" fmla="*/ 15 w 27"/>
                <a:gd name="T29" fmla="*/ 20 h 24"/>
                <a:gd name="T30" fmla="*/ 15 w 27"/>
                <a:gd name="T31" fmla="*/ 24 h 24"/>
                <a:gd name="T32" fmla="*/ 12 w 27"/>
                <a:gd name="T33" fmla="*/ 24 h 24"/>
                <a:gd name="T34" fmla="*/ 12 w 27"/>
                <a:gd name="T35" fmla="*/ 24 h 24"/>
                <a:gd name="T36" fmla="*/ 12 w 27"/>
                <a:gd name="T37" fmla="*/ 24 h 24"/>
                <a:gd name="T38" fmla="*/ 12 w 27"/>
                <a:gd name="T39" fmla="*/ 16 h 24"/>
                <a:gd name="T40" fmla="*/ 4 w 27"/>
                <a:gd name="T41" fmla="*/ 20 h 24"/>
                <a:gd name="T42" fmla="*/ 4 w 27"/>
                <a:gd name="T43" fmla="*/ 20 h 24"/>
                <a:gd name="T44" fmla="*/ 4 w 27"/>
                <a:gd name="T45" fmla="*/ 20 h 24"/>
                <a:gd name="T46" fmla="*/ 4 w 27"/>
                <a:gd name="T47" fmla="*/ 20 h 24"/>
                <a:gd name="T48" fmla="*/ 4 w 27"/>
                <a:gd name="T49" fmla="*/ 20 h 24"/>
                <a:gd name="T50" fmla="*/ 4 w 27"/>
                <a:gd name="T51" fmla="*/ 16 h 24"/>
                <a:gd name="T52" fmla="*/ 0 w 27"/>
                <a:gd name="T53" fmla="*/ 16 h 24"/>
                <a:gd name="T54" fmla="*/ 0 w 27"/>
                <a:gd name="T55" fmla="*/ 16 h 24"/>
                <a:gd name="T56" fmla="*/ 4 w 27"/>
                <a:gd name="T57" fmla="*/ 16 h 24"/>
                <a:gd name="T58" fmla="*/ 12 w 27"/>
                <a:gd name="T59" fmla="*/ 12 h 24"/>
                <a:gd name="T60" fmla="*/ 4 w 27"/>
                <a:gd name="T61" fmla="*/ 8 h 24"/>
                <a:gd name="T62" fmla="*/ 4 w 27"/>
                <a:gd name="T63" fmla="*/ 8 h 24"/>
                <a:gd name="T64" fmla="*/ 4 w 27"/>
                <a:gd name="T65" fmla="*/ 8 h 24"/>
                <a:gd name="T66" fmla="*/ 4 w 27"/>
                <a:gd name="T67" fmla="*/ 8 h 24"/>
                <a:gd name="T68" fmla="*/ 4 w 27"/>
                <a:gd name="T69" fmla="*/ 8 h 24"/>
                <a:gd name="T70" fmla="*/ 8 w 27"/>
                <a:gd name="T71" fmla="*/ 4 h 24"/>
                <a:gd name="T72" fmla="*/ 8 w 27"/>
                <a:gd name="T73" fmla="*/ 4 h 24"/>
                <a:gd name="T74" fmla="*/ 8 w 27"/>
                <a:gd name="T75" fmla="*/ 4 h 24"/>
                <a:gd name="T76" fmla="*/ 8 w 27"/>
                <a:gd name="T77" fmla="*/ 4 h 24"/>
                <a:gd name="T78" fmla="*/ 15 w 27"/>
                <a:gd name="T79" fmla="*/ 8 h 24"/>
                <a:gd name="T80" fmla="*/ 19 w 27"/>
                <a:gd name="T81" fmla="*/ 0 h 24"/>
                <a:gd name="T82" fmla="*/ 19 w 27"/>
                <a:gd name="T83" fmla="*/ 0 h 24"/>
                <a:gd name="T84" fmla="*/ 19 w 27"/>
                <a:gd name="T85" fmla="*/ 0 h 24"/>
                <a:gd name="T86" fmla="*/ 23 w 27"/>
                <a:gd name="T87" fmla="*/ 4 h 24"/>
                <a:gd name="T88" fmla="*/ 23 w 27"/>
                <a:gd name="T89" fmla="*/ 4 h 24"/>
                <a:gd name="T90" fmla="*/ 23 w 27"/>
                <a:gd name="T91" fmla="*/ 4 h 24"/>
                <a:gd name="T92" fmla="*/ 19 w 27"/>
                <a:gd name="T93" fmla="*/ 12 h 2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7"/>
                <a:gd name="T142" fmla="*/ 0 h 24"/>
                <a:gd name="T143" fmla="*/ 27 w 27"/>
                <a:gd name="T144" fmla="*/ 24 h 24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7" h="24">
                  <a:moveTo>
                    <a:pt x="19" y="12"/>
                  </a:moveTo>
                  <a:lnTo>
                    <a:pt x="27" y="8"/>
                  </a:lnTo>
                  <a:lnTo>
                    <a:pt x="27" y="12"/>
                  </a:lnTo>
                  <a:lnTo>
                    <a:pt x="27" y="16"/>
                  </a:lnTo>
                  <a:lnTo>
                    <a:pt x="23" y="16"/>
                  </a:lnTo>
                  <a:lnTo>
                    <a:pt x="15" y="12"/>
                  </a:lnTo>
                  <a:lnTo>
                    <a:pt x="19" y="20"/>
                  </a:lnTo>
                  <a:lnTo>
                    <a:pt x="15" y="20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4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2" y="12"/>
                  </a:lnTo>
                  <a:lnTo>
                    <a:pt x="4" y="8"/>
                  </a:lnTo>
                  <a:lnTo>
                    <a:pt x="8" y="4"/>
                  </a:lnTo>
                  <a:lnTo>
                    <a:pt x="15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23" y="4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94" name="Freeform 536"/>
            <p:cNvSpPr>
              <a:spLocks noEditPoints="1"/>
            </p:cNvSpPr>
            <p:nvPr/>
          </p:nvSpPr>
          <p:spPr bwMode="auto">
            <a:xfrm>
              <a:off x="4263" y="2705"/>
              <a:ext cx="36" cy="32"/>
            </a:xfrm>
            <a:custGeom>
              <a:avLst/>
              <a:gdLst>
                <a:gd name="T0" fmla="*/ 20 w 36"/>
                <a:gd name="T1" fmla="*/ 0 h 32"/>
                <a:gd name="T2" fmla="*/ 24 w 36"/>
                <a:gd name="T3" fmla="*/ 0 h 32"/>
                <a:gd name="T4" fmla="*/ 24 w 36"/>
                <a:gd name="T5" fmla="*/ 4 h 32"/>
                <a:gd name="T6" fmla="*/ 24 w 36"/>
                <a:gd name="T7" fmla="*/ 4 h 32"/>
                <a:gd name="T8" fmla="*/ 24 w 36"/>
                <a:gd name="T9" fmla="*/ 4 h 32"/>
                <a:gd name="T10" fmla="*/ 24 w 36"/>
                <a:gd name="T11" fmla="*/ 12 h 32"/>
                <a:gd name="T12" fmla="*/ 28 w 36"/>
                <a:gd name="T13" fmla="*/ 4 h 32"/>
                <a:gd name="T14" fmla="*/ 32 w 36"/>
                <a:gd name="T15" fmla="*/ 4 h 32"/>
                <a:gd name="T16" fmla="*/ 32 w 36"/>
                <a:gd name="T17" fmla="*/ 4 h 32"/>
                <a:gd name="T18" fmla="*/ 36 w 36"/>
                <a:gd name="T19" fmla="*/ 4 h 32"/>
                <a:gd name="T20" fmla="*/ 36 w 36"/>
                <a:gd name="T21" fmla="*/ 8 h 32"/>
                <a:gd name="T22" fmla="*/ 32 w 36"/>
                <a:gd name="T23" fmla="*/ 16 h 32"/>
                <a:gd name="T24" fmla="*/ 32 w 36"/>
                <a:gd name="T25" fmla="*/ 16 h 32"/>
                <a:gd name="T26" fmla="*/ 36 w 36"/>
                <a:gd name="T27" fmla="*/ 16 h 32"/>
                <a:gd name="T28" fmla="*/ 36 w 36"/>
                <a:gd name="T29" fmla="*/ 16 h 32"/>
                <a:gd name="T30" fmla="*/ 36 w 36"/>
                <a:gd name="T31" fmla="*/ 20 h 32"/>
                <a:gd name="T32" fmla="*/ 32 w 36"/>
                <a:gd name="T33" fmla="*/ 20 h 32"/>
                <a:gd name="T34" fmla="*/ 24 w 36"/>
                <a:gd name="T35" fmla="*/ 20 h 32"/>
                <a:gd name="T36" fmla="*/ 32 w 36"/>
                <a:gd name="T37" fmla="*/ 24 h 32"/>
                <a:gd name="T38" fmla="*/ 32 w 36"/>
                <a:gd name="T39" fmla="*/ 24 h 32"/>
                <a:gd name="T40" fmla="*/ 32 w 36"/>
                <a:gd name="T41" fmla="*/ 24 h 32"/>
                <a:gd name="T42" fmla="*/ 32 w 36"/>
                <a:gd name="T43" fmla="*/ 24 h 32"/>
                <a:gd name="T44" fmla="*/ 28 w 36"/>
                <a:gd name="T45" fmla="*/ 24 h 32"/>
                <a:gd name="T46" fmla="*/ 20 w 36"/>
                <a:gd name="T47" fmla="*/ 32 h 32"/>
                <a:gd name="T48" fmla="*/ 16 w 36"/>
                <a:gd name="T49" fmla="*/ 32 h 32"/>
                <a:gd name="T50" fmla="*/ 16 w 36"/>
                <a:gd name="T51" fmla="*/ 32 h 32"/>
                <a:gd name="T52" fmla="*/ 12 w 36"/>
                <a:gd name="T53" fmla="*/ 32 h 32"/>
                <a:gd name="T54" fmla="*/ 12 w 36"/>
                <a:gd name="T55" fmla="*/ 28 h 32"/>
                <a:gd name="T56" fmla="*/ 12 w 36"/>
                <a:gd name="T57" fmla="*/ 28 h 32"/>
                <a:gd name="T58" fmla="*/ 12 w 36"/>
                <a:gd name="T59" fmla="*/ 20 h 32"/>
                <a:gd name="T60" fmla="*/ 8 w 36"/>
                <a:gd name="T61" fmla="*/ 28 h 32"/>
                <a:gd name="T62" fmla="*/ 8 w 36"/>
                <a:gd name="T63" fmla="*/ 28 h 32"/>
                <a:gd name="T64" fmla="*/ 4 w 36"/>
                <a:gd name="T65" fmla="*/ 28 h 32"/>
                <a:gd name="T66" fmla="*/ 0 w 36"/>
                <a:gd name="T67" fmla="*/ 28 h 32"/>
                <a:gd name="T68" fmla="*/ 0 w 36"/>
                <a:gd name="T69" fmla="*/ 24 h 32"/>
                <a:gd name="T70" fmla="*/ 8 w 36"/>
                <a:gd name="T71" fmla="*/ 20 h 32"/>
                <a:gd name="T72" fmla="*/ 4 w 36"/>
                <a:gd name="T73" fmla="*/ 16 h 32"/>
                <a:gd name="T74" fmla="*/ 0 w 36"/>
                <a:gd name="T75" fmla="*/ 16 h 32"/>
                <a:gd name="T76" fmla="*/ 0 w 36"/>
                <a:gd name="T77" fmla="*/ 16 h 32"/>
                <a:gd name="T78" fmla="*/ 4 w 36"/>
                <a:gd name="T79" fmla="*/ 16 h 32"/>
                <a:gd name="T80" fmla="*/ 4 w 36"/>
                <a:gd name="T81" fmla="*/ 16 h 32"/>
                <a:gd name="T82" fmla="*/ 12 w 36"/>
                <a:gd name="T83" fmla="*/ 12 h 32"/>
                <a:gd name="T84" fmla="*/ 8 w 36"/>
                <a:gd name="T85" fmla="*/ 12 h 32"/>
                <a:gd name="T86" fmla="*/ 4 w 36"/>
                <a:gd name="T87" fmla="*/ 8 h 32"/>
                <a:gd name="T88" fmla="*/ 4 w 36"/>
                <a:gd name="T89" fmla="*/ 8 h 32"/>
                <a:gd name="T90" fmla="*/ 4 w 36"/>
                <a:gd name="T91" fmla="*/ 8 h 32"/>
                <a:gd name="T92" fmla="*/ 8 w 36"/>
                <a:gd name="T93" fmla="*/ 8 h 32"/>
                <a:gd name="T94" fmla="*/ 20 w 36"/>
                <a:gd name="T95" fmla="*/ 0 h 32"/>
                <a:gd name="T96" fmla="*/ 20 w 36"/>
                <a:gd name="T97" fmla="*/ 20 h 32"/>
                <a:gd name="T98" fmla="*/ 16 w 36"/>
                <a:gd name="T99" fmla="*/ 12 h 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"/>
                <a:gd name="T151" fmla="*/ 0 h 32"/>
                <a:gd name="T152" fmla="*/ 36 w 36"/>
                <a:gd name="T153" fmla="*/ 32 h 3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" h="32">
                  <a:moveTo>
                    <a:pt x="20" y="0"/>
                  </a:move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12"/>
                  </a:lnTo>
                  <a:lnTo>
                    <a:pt x="24" y="12"/>
                  </a:lnTo>
                  <a:lnTo>
                    <a:pt x="28" y="4"/>
                  </a:lnTo>
                  <a:lnTo>
                    <a:pt x="32" y="4"/>
                  </a:lnTo>
                  <a:lnTo>
                    <a:pt x="36" y="4"/>
                  </a:lnTo>
                  <a:lnTo>
                    <a:pt x="36" y="8"/>
                  </a:lnTo>
                  <a:lnTo>
                    <a:pt x="32" y="16"/>
                  </a:lnTo>
                  <a:lnTo>
                    <a:pt x="36" y="16"/>
                  </a:lnTo>
                  <a:lnTo>
                    <a:pt x="36" y="20"/>
                  </a:lnTo>
                  <a:lnTo>
                    <a:pt x="32" y="20"/>
                  </a:lnTo>
                  <a:lnTo>
                    <a:pt x="28" y="16"/>
                  </a:lnTo>
                  <a:lnTo>
                    <a:pt x="24" y="20"/>
                  </a:lnTo>
                  <a:lnTo>
                    <a:pt x="32" y="24"/>
                  </a:lnTo>
                  <a:lnTo>
                    <a:pt x="28" y="24"/>
                  </a:lnTo>
                  <a:lnTo>
                    <a:pt x="24" y="24"/>
                  </a:lnTo>
                  <a:lnTo>
                    <a:pt x="20" y="32"/>
                  </a:lnTo>
                  <a:lnTo>
                    <a:pt x="16" y="32"/>
                  </a:lnTo>
                  <a:lnTo>
                    <a:pt x="12" y="32"/>
                  </a:lnTo>
                  <a:lnTo>
                    <a:pt x="12" y="2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28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8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20" y="0"/>
                  </a:lnTo>
                  <a:close/>
                  <a:moveTo>
                    <a:pt x="16" y="16"/>
                  </a:moveTo>
                  <a:lnTo>
                    <a:pt x="20" y="20"/>
                  </a:lnTo>
                  <a:lnTo>
                    <a:pt x="24" y="16"/>
                  </a:lnTo>
                  <a:lnTo>
                    <a:pt x="16" y="12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95" name="Freeform 537"/>
            <p:cNvSpPr>
              <a:spLocks/>
            </p:cNvSpPr>
            <p:nvPr/>
          </p:nvSpPr>
          <p:spPr bwMode="auto">
            <a:xfrm>
              <a:off x="3365" y="2760"/>
              <a:ext cx="1111" cy="323"/>
            </a:xfrm>
            <a:custGeom>
              <a:avLst/>
              <a:gdLst>
                <a:gd name="T0" fmla="*/ 0 w 1111"/>
                <a:gd name="T1" fmla="*/ 32 h 323"/>
                <a:gd name="T2" fmla="*/ 12 w 1111"/>
                <a:gd name="T3" fmla="*/ 0 h 323"/>
                <a:gd name="T4" fmla="*/ 12 w 1111"/>
                <a:gd name="T5" fmla="*/ 0 h 323"/>
                <a:gd name="T6" fmla="*/ 16 w 1111"/>
                <a:gd name="T7" fmla="*/ 8 h 323"/>
                <a:gd name="T8" fmla="*/ 36 w 1111"/>
                <a:gd name="T9" fmla="*/ 24 h 323"/>
                <a:gd name="T10" fmla="*/ 51 w 1111"/>
                <a:gd name="T11" fmla="*/ 32 h 323"/>
                <a:gd name="T12" fmla="*/ 67 w 1111"/>
                <a:gd name="T13" fmla="*/ 40 h 323"/>
                <a:gd name="T14" fmla="*/ 91 w 1111"/>
                <a:gd name="T15" fmla="*/ 48 h 323"/>
                <a:gd name="T16" fmla="*/ 118 w 1111"/>
                <a:gd name="T17" fmla="*/ 48 h 323"/>
                <a:gd name="T18" fmla="*/ 118 w 1111"/>
                <a:gd name="T19" fmla="*/ 48 h 323"/>
                <a:gd name="T20" fmla="*/ 174 w 1111"/>
                <a:gd name="T21" fmla="*/ 48 h 323"/>
                <a:gd name="T22" fmla="*/ 225 w 1111"/>
                <a:gd name="T23" fmla="*/ 40 h 323"/>
                <a:gd name="T24" fmla="*/ 272 w 1111"/>
                <a:gd name="T25" fmla="*/ 32 h 323"/>
                <a:gd name="T26" fmla="*/ 1111 w 1111"/>
                <a:gd name="T27" fmla="*/ 276 h 323"/>
                <a:gd name="T28" fmla="*/ 1111 w 1111"/>
                <a:gd name="T29" fmla="*/ 323 h 323"/>
                <a:gd name="T30" fmla="*/ 0 w 1111"/>
                <a:gd name="T31" fmla="*/ 32 h 32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11"/>
                <a:gd name="T49" fmla="*/ 0 h 323"/>
                <a:gd name="T50" fmla="*/ 1111 w 1111"/>
                <a:gd name="T51" fmla="*/ 323 h 32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11" h="323">
                  <a:moveTo>
                    <a:pt x="0" y="32"/>
                  </a:moveTo>
                  <a:lnTo>
                    <a:pt x="12" y="0"/>
                  </a:lnTo>
                  <a:lnTo>
                    <a:pt x="16" y="8"/>
                  </a:lnTo>
                  <a:lnTo>
                    <a:pt x="36" y="24"/>
                  </a:lnTo>
                  <a:lnTo>
                    <a:pt x="51" y="32"/>
                  </a:lnTo>
                  <a:lnTo>
                    <a:pt x="67" y="40"/>
                  </a:lnTo>
                  <a:lnTo>
                    <a:pt x="91" y="48"/>
                  </a:lnTo>
                  <a:lnTo>
                    <a:pt x="118" y="48"/>
                  </a:lnTo>
                  <a:lnTo>
                    <a:pt x="174" y="48"/>
                  </a:lnTo>
                  <a:lnTo>
                    <a:pt x="225" y="40"/>
                  </a:lnTo>
                  <a:lnTo>
                    <a:pt x="272" y="32"/>
                  </a:lnTo>
                  <a:lnTo>
                    <a:pt x="1111" y="276"/>
                  </a:lnTo>
                  <a:lnTo>
                    <a:pt x="1111" y="323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96" name="Freeform 538"/>
            <p:cNvSpPr>
              <a:spLocks/>
            </p:cNvSpPr>
            <p:nvPr/>
          </p:nvSpPr>
          <p:spPr bwMode="auto">
            <a:xfrm>
              <a:off x="2936" y="2611"/>
              <a:ext cx="524" cy="401"/>
            </a:xfrm>
            <a:custGeom>
              <a:avLst/>
              <a:gdLst>
                <a:gd name="T0" fmla="*/ 476 w 524"/>
                <a:gd name="T1" fmla="*/ 157 h 401"/>
                <a:gd name="T2" fmla="*/ 433 w 524"/>
                <a:gd name="T3" fmla="*/ 216 h 401"/>
                <a:gd name="T4" fmla="*/ 386 w 524"/>
                <a:gd name="T5" fmla="*/ 268 h 401"/>
                <a:gd name="T6" fmla="*/ 319 w 524"/>
                <a:gd name="T7" fmla="*/ 315 h 401"/>
                <a:gd name="T8" fmla="*/ 248 w 524"/>
                <a:gd name="T9" fmla="*/ 335 h 401"/>
                <a:gd name="T10" fmla="*/ 177 w 524"/>
                <a:gd name="T11" fmla="*/ 331 h 401"/>
                <a:gd name="T12" fmla="*/ 98 w 524"/>
                <a:gd name="T13" fmla="*/ 311 h 401"/>
                <a:gd name="T14" fmla="*/ 79 w 524"/>
                <a:gd name="T15" fmla="*/ 299 h 401"/>
                <a:gd name="T16" fmla="*/ 59 w 524"/>
                <a:gd name="T17" fmla="*/ 279 h 401"/>
                <a:gd name="T18" fmla="*/ 63 w 524"/>
                <a:gd name="T19" fmla="*/ 252 h 401"/>
                <a:gd name="T20" fmla="*/ 94 w 524"/>
                <a:gd name="T21" fmla="*/ 216 h 401"/>
                <a:gd name="T22" fmla="*/ 165 w 524"/>
                <a:gd name="T23" fmla="*/ 169 h 401"/>
                <a:gd name="T24" fmla="*/ 224 w 524"/>
                <a:gd name="T25" fmla="*/ 142 h 401"/>
                <a:gd name="T26" fmla="*/ 323 w 524"/>
                <a:gd name="T27" fmla="*/ 90 h 401"/>
                <a:gd name="T28" fmla="*/ 382 w 524"/>
                <a:gd name="T29" fmla="*/ 71 h 401"/>
                <a:gd name="T30" fmla="*/ 433 w 524"/>
                <a:gd name="T31" fmla="*/ 67 h 401"/>
                <a:gd name="T32" fmla="*/ 441 w 524"/>
                <a:gd name="T33" fmla="*/ 67 h 401"/>
                <a:gd name="T34" fmla="*/ 449 w 524"/>
                <a:gd name="T35" fmla="*/ 51 h 401"/>
                <a:gd name="T36" fmla="*/ 445 w 524"/>
                <a:gd name="T37" fmla="*/ 27 h 401"/>
                <a:gd name="T38" fmla="*/ 429 w 524"/>
                <a:gd name="T39" fmla="*/ 8 h 401"/>
                <a:gd name="T40" fmla="*/ 417 w 524"/>
                <a:gd name="T41" fmla="*/ 4 h 401"/>
                <a:gd name="T42" fmla="*/ 347 w 524"/>
                <a:gd name="T43" fmla="*/ 8 h 401"/>
                <a:gd name="T44" fmla="*/ 268 w 524"/>
                <a:gd name="T45" fmla="*/ 35 h 401"/>
                <a:gd name="T46" fmla="*/ 130 w 524"/>
                <a:gd name="T47" fmla="*/ 106 h 401"/>
                <a:gd name="T48" fmla="*/ 102 w 524"/>
                <a:gd name="T49" fmla="*/ 126 h 401"/>
                <a:gd name="T50" fmla="*/ 47 w 524"/>
                <a:gd name="T51" fmla="*/ 165 h 401"/>
                <a:gd name="T52" fmla="*/ 8 w 524"/>
                <a:gd name="T53" fmla="*/ 220 h 401"/>
                <a:gd name="T54" fmla="*/ 0 w 524"/>
                <a:gd name="T55" fmla="*/ 248 h 401"/>
                <a:gd name="T56" fmla="*/ 4 w 524"/>
                <a:gd name="T57" fmla="*/ 279 h 401"/>
                <a:gd name="T58" fmla="*/ 20 w 524"/>
                <a:gd name="T59" fmla="*/ 311 h 401"/>
                <a:gd name="T60" fmla="*/ 51 w 524"/>
                <a:gd name="T61" fmla="*/ 342 h 401"/>
                <a:gd name="T62" fmla="*/ 126 w 524"/>
                <a:gd name="T63" fmla="*/ 382 h 401"/>
                <a:gd name="T64" fmla="*/ 213 w 524"/>
                <a:gd name="T65" fmla="*/ 401 h 401"/>
                <a:gd name="T66" fmla="*/ 295 w 524"/>
                <a:gd name="T67" fmla="*/ 398 h 401"/>
                <a:gd name="T68" fmla="*/ 335 w 524"/>
                <a:gd name="T69" fmla="*/ 386 h 401"/>
                <a:gd name="T70" fmla="*/ 390 w 524"/>
                <a:gd name="T71" fmla="*/ 358 h 401"/>
                <a:gd name="T72" fmla="*/ 441 w 524"/>
                <a:gd name="T73" fmla="*/ 315 h 401"/>
                <a:gd name="T74" fmla="*/ 520 w 524"/>
                <a:gd name="T75" fmla="*/ 209 h 401"/>
                <a:gd name="T76" fmla="*/ 524 w 524"/>
                <a:gd name="T77" fmla="*/ 201 h 401"/>
                <a:gd name="T78" fmla="*/ 516 w 524"/>
                <a:gd name="T79" fmla="*/ 177 h 401"/>
                <a:gd name="T80" fmla="*/ 500 w 524"/>
                <a:gd name="T81" fmla="*/ 157 h 401"/>
                <a:gd name="T82" fmla="*/ 484 w 524"/>
                <a:gd name="T83" fmla="*/ 149 h 401"/>
                <a:gd name="T84" fmla="*/ 476 w 524"/>
                <a:gd name="T85" fmla="*/ 157 h 40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24"/>
                <a:gd name="T130" fmla="*/ 0 h 401"/>
                <a:gd name="T131" fmla="*/ 524 w 524"/>
                <a:gd name="T132" fmla="*/ 401 h 40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24" h="401">
                  <a:moveTo>
                    <a:pt x="476" y="157"/>
                  </a:moveTo>
                  <a:lnTo>
                    <a:pt x="476" y="157"/>
                  </a:lnTo>
                  <a:lnTo>
                    <a:pt x="457" y="189"/>
                  </a:lnTo>
                  <a:lnTo>
                    <a:pt x="433" y="216"/>
                  </a:lnTo>
                  <a:lnTo>
                    <a:pt x="386" y="268"/>
                  </a:lnTo>
                  <a:lnTo>
                    <a:pt x="354" y="295"/>
                  </a:lnTo>
                  <a:lnTo>
                    <a:pt x="319" y="315"/>
                  </a:lnTo>
                  <a:lnTo>
                    <a:pt x="283" y="327"/>
                  </a:lnTo>
                  <a:lnTo>
                    <a:pt x="248" y="335"/>
                  </a:lnTo>
                  <a:lnTo>
                    <a:pt x="213" y="335"/>
                  </a:lnTo>
                  <a:lnTo>
                    <a:pt x="177" y="331"/>
                  </a:lnTo>
                  <a:lnTo>
                    <a:pt x="138" y="323"/>
                  </a:lnTo>
                  <a:lnTo>
                    <a:pt x="98" y="311"/>
                  </a:lnTo>
                  <a:lnTo>
                    <a:pt x="79" y="299"/>
                  </a:lnTo>
                  <a:lnTo>
                    <a:pt x="67" y="287"/>
                  </a:lnTo>
                  <a:lnTo>
                    <a:pt x="59" y="279"/>
                  </a:lnTo>
                  <a:lnTo>
                    <a:pt x="59" y="268"/>
                  </a:lnTo>
                  <a:lnTo>
                    <a:pt x="63" y="252"/>
                  </a:lnTo>
                  <a:lnTo>
                    <a:pt x="71" y="240"/>
                  </a:lnTo>
                  <a:lnTo>
                    <a:pt x="94" y="216"/>
                  </a:lnTo>
                  <a:lnTo>
                    <a:pt x="130" y="193"/>
                  </a:lnTo>
                  <a:lnTo>
                    <a:pt x="165" y="169"/>
                  </a:lnTo>
                  <a:lnTo>
                    <a:pt x="224" y="142"/>
                  </a:lnTo>
                  <a:lnTo>
                    <a:pt x="268" y="114"/>
                  </a:lnTo>
                  <a:lnTo>
                    <a:pt x="323" y="90"/>
                  </a:lnTo>
                  <a:lnTo>
                    <a:pt x="350" y="79"/>
                  </a:lnTo>
                  <a:lnTo>
                    <a:pt x="382" y="71"/>
                  </a:lnTo>
                  <a:lnTo>
                    <a:pt x="406" y="67"/>
                  </a:lnTo>
                  <a:lnTo>
                    <a:pt x="433" y="67"/>
                  </a:lnTo>
                  <a:lnTo>
                    <a:pt x="441" y="67"/>
                  </a:lnTo>
                  <a:lnTo>
                    <a:pt x="449" y="59"/>
                  </a:lnTo>
                  <a:lnTo>
                    <a:pt x="449" y="51"/>
                  </a:lnTo>
                  <a:lnTo>
                    <a:pt x="449" y="39"/>
                  </a:lnTo>
                  <a:lnTo>
                    <a:pt x="445" y="27"/>
                  </a:lnTo>
                  <a:lnTo>
                    <a:pt x="437" y="16"/>
                  </a:lnTo>
                  <a:lnTo>
                    <a:pt x="429" y="8"/>
                  </a:lnTo>
                  <a:lnTo>
                    <a:pt x="417" y="4"/>
                  </a:lnTo>
                  <a:lnTo>
                    <a:pt x="382" y="0"/>
                  </a:lnTo>
                  <a:lnTo>
                    <a:pt x="347" y="8"/>
                  </a:lnTo>
                  <a:lnTo>
                    <a:pt x="307" y="20"/>
                  </a:lnTo>
                  <a:lnTo>
                    <a:pt x="268" y="35"/>
                  </a:lnTo>
                  <a:lnTo>
                    <a:pt x="193" y="71"/>
                  </a:lnTo>
                  <a:lnTo>
                    <a:pt x="130" y="106"/>
                  </a:lnTo>
                  <a:lnTo>
                    <a:pt x="102" y="126"/>
                  </a:lnTo>
                  <a:lnTo>
                    <a:pt x="75" y="142"/>
                  </a:lnTo>
                  <a:lnTo>
                    <a:pt x="47" y="165"/>
                  </a:lnTo>
                  <a:lnTo>
                    <a:pt x="24" y="193"/>
                  </a:lnTo>
                  <a:lnTo>
                    <a:pt x="8" y="220"/>
                  </a:lnTo>
                  <a:lnTo>
                    <a:pt x="0" y="232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4" y="279"/>
                  </a:lnTo>
                  <a:lnTo>
                    <a:pt x="8" y="295"/>
                  </a:lnTo>
                  <a:lnTo>
                    <a:pt x="20" y="311"/>
                  </a:lnTo>
                  <a:lnTo>
                    <a:pt x="51" y="342"/>
                  </a:lnTo>
                  <a:lnTo>
                    <a:pt x="87" y="366"/>
                  </a:lnTo>
                  <a:lnTo>
                    <a:pt x="126" y="382"/>
                  </a:lnTo>
                  <a:lnTo>
                    <a:pt x="169" y="394"/>
                  </a:lnTo>
                  <a:lnTo>
                    <a:pt x="213" y="401"/>
                  </a:lnTo>
                  <a:lnTo>
                    <a:pt x="256" y="401"/>
                  </a:lnTo>
                  <a:lnTo>
                    <a:pt x="295" y="398"/>
                  </a:lnTo>
                  <a:lnTo>
                    <a:pt x="335" y="386"/>
                  </a:lnTo>
                  <a:lnTo>
                    <a:pt x="366" y="374"/>
                  </a:lnTo>
                  <a:lnTo>
                    <a:pt x="390" y="358"/>
                  </a:lnTo>
                  <a:lnTo>
                    <a:pt x="417" y="338"/>
                  </a:lnTo>
                  <a:lnTo>
                    <a:pt x="441" y="315"/>
                  </a:lnTo>
                  <a:lnTo>
                    <a:pt x="484" y="264"/>
                  </a:lnTo>
                  <a:lnTo>
                    <a:pt x="520" y="209"/>
                  </a:lnTo>
                  <a:lnTo>
                    <a:pt x="524" y="201"/>
                  </a:lnTo>
                  <a:lnTo>
                    <a:pt x="524" y="189"/>
                  </a:lnTo>
                  <a:lnTo>
                    <a:pt x="516" y="177"/>
                  </a:lnTo>
                  <a:lnTo>
                    <a:pt x="508" y="165"/>
                  </a:lnTo>
                  <a:lnTo>
                    <a:pt x="500" y="157"/>
                  </a:lnTo>
                  <a:lnTo>
                    <a:pt x="492" y="149"/>
                  </a:lnTo>
                  <a:lnTo>
                    <a:pt x="484" y="149"/>
                  </a:lnTo>
                  <a:lnTo>
                    <a:pt x="476" y="1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739" name="Text Box 539"/>
          <p:cNvSpPr txBox="1">
            <a:spLocks noChangeArrowheads="1"/>
          </p:cNvSpPr>
          <p:nvPr/>
        </p:nvSpPr>
        <p:spPr bwMode="auto">
          <a:xfrm flipH="1">
            <a:off x="7202488" y="6164263"/>
            <a:ext cx="430212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POTS</a:t>
            </a:r>
          </a:p>
          <a:p>
            <a:r>
              <a:rPr lang="en-US" altLang="ru-RU" sz="1000">
                <a:latin typeface="Times New Roman" pitchFamily="18" charset="0"/>
              </a:rPr>
              <a:t>ISDN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40" name="Line 540"/>
          <p:cNvSpPr>
            <a:spLocks noChangeShapeType="1"/>
          </p:cNvSpPr>
          <p:nvPr/>
        </p:nvSpPr>
        <p:spPr bwMode="auto">
          <a:xfrm>
            <a:off x="6626225" y="5588000"/>
            <a:ext cx="504825" cy="144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41" name="Line 541"/>
          <p:cNvSpPr>
            <a:spLocks noChangeShapeType="1"/>
          </p:cNvSpPr>
          <p:nvPr/>
        </p:nvSpPr>
        <p:spPr bwMode="auto">
          <a:xfrm>
            <a:off x="6626225" y="5588000"/>
            <a:ext cx="360363" cy="576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endParaRPr lang="ru-RU"/>
          </a:p>
        </p:txBody>
      </p:sp>
      <p:sp>
        <p:nvSpPr>
          <p:cNvPr id="27742" name="Line 542"/>
          <p:cNvSpPr>
            <a:spLocks noChangeShapeType="1"/>
          </p:cNvSpPr>
          <p:nvPr/>
        </p:nvSpPr>
        <p:spPr bwMode="auto">
          <a:xfrm flipV="1">
            <a:off x="7059613" y="5876925"/>
            <a:ext cx="142875" cy="287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pic>
        <p:nvPicPr>
          <p:cNvPr id="27743" name="Picture 543" descr="comp05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7938" y="2132013"/>
            <a:ext cx="300037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744" name="Text Box 544"/>
          <p:cNvSpPr txBox="1">
            <a:spLocks noChangeArrowheads="1"/>
          </p:cNvSpPr>
          <p:nvPr/>
        </p:nvSpPr>
        <p:spPr bwMode="auto">
          <a:xfrm>
            <a:off x="3529013" y="1916113"/>
            <a:ext cx="7191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SIP-Proxy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45" name="Freeform 545"/>
          <p:cNvSpPr>
            <a:spLocks/>
          </p:cNvSpPr>
          <p:nvPr/>
        </p:nvSpPr>
        <p:spPr bwMode="auto">
          <a:xfrm>
            <a:off x="4043363" y="2420938"/>
            <a:ext cx="854075" cy="630237"/>
          </a:xfrm>
          <a:custGeom>
            <a:avLst/>
            <a:gdLst>
              <a:gd name="T0" fmla="*/ 1355843844 w 538"/>
              <a:gd name="T1" fmla="*/ 0 h 397"/>
              <a:gd name="T2" fmla="*/ 0 w 538"/>
              <a:gd name="T3" fmla="*/ 289816955 h 397"/>
              <a:gd name="T4" fmla="*/ 0 60000 65536"/>
              <a:gd name="T5" fmla="*/ 0 60000 65536"/>
              <a:gd name="T6" fmla="*/ 0 w 538"/>
              <a:gd name="T7" fmla="*/ 0 h 397"/>
              <a:gd name="T8" fmla="*/ 538 w 538"/>
              <a:gd name="T9" fmla="*/ 397 h 39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38" h="397">
                <a:moveTo>
                  <a:pt x="538" y="0"/>
                </a:moveTo>
                <a:cubicBezTo>
                  <a:pt x="327" y="397"/>
                  <a:pt x="192" y="259"/>
                  <a:pt x="0" y="115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pic>
        <p:nvPicPr>
          <p:cNvPr id="27746" name="Picture 546" descr="PC_phone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9375" y="5084763"/>
            <a:ext cx="50323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747" name="Picture 547" descr="CAGE40-front-door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17713" y="4292600"/>
            <a:ext cx="647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548"/>
          <p:cNvGrpSpPr>
            <a:grpSpLocks/>
          </p:cNvGrpSpPr>
          <p:nvPr/>
        </p:nvGrpSpPr>
        <p:grpSpPr bwMode="auto">
          <a:xfrm>
            <a:off x="2378075" y="5084763"/>
            <a:ext cx="431800" cy="273050"/>
            <a:chOff x="2936" y="1784"/>
            <a:chExt cx="2040" cy="1370"/>
          </a:xfrm>
        </p:grpSpPr>
        <p:sp>
          <p:nvSpPr>
            <p:cNvPr id="27931" name="Freeform 549"/>
            <p:cNvSpPr>
              <a:spLocks/>
            </p:cNvSpPr>
            <p:nvPr/>
          </p:nvSpPr>
          <p:spPr bwMode="auto">
            <a:xfrm>
              <a:off x="3314" y="1784"/>
              <a:ext cx="1662" cy="1370"/>
            </a:xfrm>
            <a:custGeom>
              <a:avLst/>
              <a:gdLst>
                <a:gd name="T0" fmla="*/ 1650 w 1662"/>
                <a:gd name="T1" fmla="*/ 319 h 1370"/>
                <a:gd name="T2" fmla="*/ 1631 w 1662"/>
                <a:gd name="T3" fmla="*/ 315 h 1370"/>
                <a:gd name="T4" fmla="*/ 1627 w 1662"/>
                <a:gd name="T5" fmla="*/ 299 h 1370"/>
                <a:gd name="T6" fmla="*/ 1615 w 1662"/>
                <a:gd name="T7" fmla="*/ 279 h 1370"/>
                <a:gd name="T8" fmla="*/ 1599 w 1662"/>
                <a:gd name="T9" fmla="*/ 272 h 1370"/>
                <a:gd name="T10" fmla="*/ 1595 w 1662"/>
                <a:gd name="T11" fmla="*/ 272 h 1370"/>
                <a:gd name="T12" fmla="*/ 1583 w 1662"/>
                <a:gd name="T13" fmla="*/ 248 h 1370"/>
                <a:gd name="T14" fmla="*/ 1576 w 1662"/>
                <a:gd name="T15" fmla="*/ 248 h 1370"/>
                <a:gd name="T16" fmla="*/ 1320 w 1662"/>
                <a:gd name="T17" fmla="*/ 209 h 1370"/>
                <a:gd name="T18" fmla="*/ 1150 w 1662"/>
                <a:gd name="T19" fmla="*/ 173 h 1370"/>
                <a:gd name="T20" fmla="*/ 1028 w 1662"/>
                <a:gd name="T21" fmla="*/ 157 h 1370"/>
                <a:gd name="T22" fmla="*/ 985 w 1662"/>
                <a:gd name="T23" fmla="*/ 157 h 1370"/>
                <a:gd name="T24" fmla="*/ 957 w 1662"/>
                <a:gd name="T25" fmla="*/ 165 h 1370"/>
                <a:gd name="T26" fmla="*/ 898 w 1662"/>
                <a:gd name="T27" fmla="*/ 197 h 1370"/>
                <a:gd name="T28" fmla="*/ 874 w 1662"/>
                <a:gd name="T29" fmla="*/ 216 h 1370"/>
                <a:gd name="T30" fmla="*/ 874 w 1662"/>
                <a:gd name="T31" fmla="*/ 216 h 1370"/>
                <a:gd name="T32" fmla="*/ 882 w 1662"/>
                <a:gd name="T33" fmla="*/ 201 h 1370"/>
                <a:gd name="T34" fmla="*/ 890 w 1662"/>
                <a:gd name="T35" fmla="*/ 102 h 1370"/>
                <a:gd name="T36" fmla="*/ 867 w 1662"/>
                <a:gd name="T37" fmla="*/ 87 h 1370"/>
                <a:gd name="T38" fmla="*/ 855 w 1662"/>
                <a:gd name="T39" fmla="*/ 71 h 1370"/>
                <a:gd name="T40" fmla="*/ 831 w 1662"/>
                <a:gd name="T41" fmla="*/ 51 h 1370"/>
                <a:gd name="T42" fmla="*/ 741 w 1662"/>
                <a:gd name="T43" fmla="*/ 12 h 1370"/>
                <a:gd name="T44" fmla="*/ 693 w 1662"/>
                <a:gd name="T45" fmla="*/ 0 h 1370"/>
                <a:gd name="T46" fmla="*/ 642 w 1662"/>
                <a:gd name="T47" fmla="*/ 4 h 1370"/>
                <a:gd name="T48" fmla="*/ 618 w 1662"/>
                <a:gd name="T49" fmla="*/ 8 h 1370"/>
                <a:gd name="T50" fmla="*/ 567 w 1662"/>
                <a:gd name="T51" fmla="*/ 31 h 1370"/>
                <a:gd name="T52" fmla="*/ 500 w 1662"/>
                <a:gd name="T53" fmla="*/ 79 h 1370"/>
                <a:gd name="T54" fmla="*/ 461 w 1662"/>
                <a:gd name="T55" fmla="*/ 114 h 1370"/>
                <a:gd name="T56" fmla="*/ 390 w 1662"/>
                <a:gd name="T57" fmla="*/ 189 h 1370"/>
                <a:gd name="T58" fmla="*/ 327 w 1662"/>
                <a:gd name="T59" fmla="*/ 268 h 1370"/>
                <a:gd name="T60" fmla="*/ 221 w 1662"/>
                <a:gd name="T61" fmla="*/ 445 h 1370"/>
                <a:gd name="T62" fmla="*/ 130 w 1662"/>
                <a:gd name="T63" fmla="*/ 630 h 1370"/>
                <a:gd name="T64" fmla="*/ 55 w 1662"/>
                <a:gd name="T65" fmla="*/ 823 h 1370"/>
                <a:gd name="T66" fmla="*/ 39 w 1662"/>
                <a:gd name="T67" fmla="*/ 854 h 1370"/>
                <a:gd name="T68" fmla="*/ 39 w 1662"/>
                <a:gd name="T69" fmla="*/ 858 h 1370"/>
                <a:gd name="T70" fmla="*/ 39 w 1662"/>
                <a:gd name="T71" fmla="*/ 866 h 1370"/>
                <a:gd name="T72" fmla="*/ 39 w 1662"/>
                <a:gd name="T73" fmla="*/ 874 h 1370"/>
                <a:gd name="T74" fmla="*/ 20 w 1662"/>
                <a:gd name="T75" fmla="*/ 890 h 1370"/>
                <a:gd name="T76" fmla="*/ 4 w 1662"/>
                <a:gd name="T77" fmla="*/ 917 h 1370"/>
                <a:gd name="T78" fmla="*/ 0 w 1662"/>
                <a:gd name="T79" fmla="*/ 957 h 1370"/>
                <a:gd name="T80" fmla="*/ 12 w 1662"/>
                <a:gd name="T81" fmla="*/ 1028 h 1370"/>
                <a:gd name="T82" fmla="*/ 20 w 1662"/>
                <a:gd name="T83" fmla="*/ 1043 h 1370"/>
                <a:gd name="T84" fmla="*/ 32 w 1662"/>
                <a:gd name="T85" fmla="*/ 1051 h 1370"/>
                <a:gd name="T86" fmla="*/ 55 w 1662"/>
                <a:gd name="T87" fmla="*/ 1059 h 1370"/>
                <a:gd name="T88" fmla="*/ 59 w 1662"/>
                <a:gd name="T89" fmla="*/ 1067 h 1370"/>
                <a:gd name="T90" fmla="*/ 71 w 1662"/>
                <a:gd name="T91" fmla="*/ 1106 h 1370"/>
                <a:gd name="T92" fmla="*/ 95 w 1662"/>
                <a:gd name="T93" fmla="*/ 1118 h 1370"/>
                <a:gd name="T94" fmla="*/ 256 w 1662"/>
                <a:gd name="T95" fmla="*/ 1201 h 1370"/>
                <a:gd name="T96" fmla="*/ 386 w 1662"/>
                <a:gd name="T97" fmla="*/ 1252 h 1370"/>
                <a:gd name="T98" fmla="*/ 540 w 1662"/>
                <a:gd name="T99" fmla="*/ 1303 h 1370"/>
                <a:gd name="T100" fmla="*/ 717 w 1662"/>
                <a:gd name="T101" fmla="*/ 1343 h 1370"/>
                <a:gd name="T102" fmla="*/ 910 w 1662"/>
                <a:gd name="T103" fmla="*/ 1370 h 1370"/>
                <a:gd name="T104" fmla="*/ 1111 w 1662"/>
                <a:gd name="T105" fmla="*/ 1370 h 1370"/>
                <a:gd name="T106" fmla="*/ 1170 w 1662"/>
                <a:gd name="T107" fmla="*/ 1362 h 1370"/>
                <a:gd name="T108" fmla="*/ 1241 w 1662"/>
                <a:gd name="T109" fmla="*/ 1347 h 1370"/>
                <a:gd name="T110" fmla="*/ 1615 w 1662"/>
                <a:gd name="T111" fmla="*/ 693 h 1370"/>
                <a:gd name="T112" fmla="*/ 1639 w 1662"/>
                <a:gd name="T113" fmla="*/ 547 h 1370"/>
                <a:gd name="T114" fmla="*/ 1650 w 1662"/>
                <a:gd name="T115" fmla="*/ 441 h 137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62"/>
                <a:gd name="T175" fmla="*/ 0 h 1370"/>
                <a:gd name="T176" fmla="*/ 1662 w 1662"/>
                <a:gd name="T177" fmla="*/ 1370 h 137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62" h="1370">
                  <a:moveTo>
                    <a:pt x="1650" y="441"/>
                  </a:moveTo>
                  <a:lnTo>
                    <a:pt x="1650" y="319"/>
                  </a:lnTo>
                  <a:lnTo>
                    <a:pt x="1631" y="315"/>
                  </a:lnTo>
                  <a:lnTo>
                    <a:pt x="1627" y="299"/>
                  </a:lnTo>
                  <a:lnTo>
                    <a:pt x="1623" y="287"/>
                  </a:lnTo>
                  <a:lnTo>
                    <a:pt x="1615" y="279"/>
                  </a:lnTo>
                  <a:lnTo>
                    <a:pt x="1603" y="272"/>
                  </a:lnTo>
                  <a:lnTo>
                    <a:pt x="1599" y="272"/>
                  </a:lnTo>
                  <a:lnTo>
                    <a:pt x="1595" y="272"/>
                  </a:lnTo>
                  <a:lnTo>
                    <a:pt x="1587" y="256"/>
                  </a:lnTo>
                  <a:lnTo>
                    <a:pt x="1583" y="248"/>
                  </a:lnTo>
                  <a:lnTo>
                    <a:pt x="1576" y="248"/>
                  </a:lnTo>
                  <a:lnTo>
                    <a:pt x="1320" y="209"/>
                  </a:lnTo>
                  <a:lnTo>
                    <a:pt x="1237" y="193"/>
                  </a:lnTo>
                  <a:lnTo>
                    <a:pt x="1150" y="173"/>
                  </a:lnTo>
                  <a:lnTo>
                    <a:pt x="1067" y="161"/>
                  </a:lnTo>
                  <a:lnTo>
                    <a:pt x="1028" y="157"/>
                  </a:lnTo>
                  <a:lnTo>
                    <a:pt x="985" y="157"/>
                  </a:lnTo>
                  <a:lnTo>
                    <a:pt x="973" y="161"/>
                  </a:lnTo>
                  <a:lnTo>
                    <a:pt x="957" y="165"/>
                  </a:lnTo>
                  <a:lnTo>
                    <a:pt x="926" y="177"/>
                  </a:lnTo>
                  <a:lnTo>
                    <a:pt x="898" y="197"/>
                  </a:lnTo>
                  <a:lnTo>
                    <a:pt x="874" y="216"/>
                  </a:lnTo>
                  <a:lnTo>
                    <a:pt x="874" y="213"/>
                  </a:lnTo>
                  <a:lnTo>
                    <a:pt x="882" y="201"/>
                  </a:lnTo>
                  <a:lnTo>
                    <a:pt x="898" y="185"/>
                  </a:lnTo>
                  <a:lnTo>
                    <a:pt x="890" y="102"/>
                  </a:lnTo>
                  <a:lnTo>
                    <a:pt x="867" y="87"/>
                  </a:lnTo>
                  <a:lnTo>
                    <a:pt x="855" y="71"/>
                  </a:lnTo>
                  <a:lnTo>
                    <a:pt x="831" y="51"/>
                  </a:lnTo>
                  <a:lnTo>
                    <a:pt x="788" y="27"/>
                  </a:lnTo>
                  <a:lnTo>
                    <a:pt x="741" y="12"/>
                  </a:lnTo>
                  <a:lnTo>
                    <a:pt x="717" y="4"/>
                  </a:lnTo>
                  <a:lnTo>
                    <a:pt x="693" y="0"/>
                  </a:lnTo>
                  <a:lnTo>
                    <a:pt x="670" y="0"/>
                  </a:lnTo>
                  <a:lnTo>
                    <a:pt x="642" y="4"/>
                  </a:lnTo>
                  <a:lnTo>
                    <a:pt x="618" y="8"/>
                  </a:lnTo>
                  <a:lnTo>
                    <a:pt x="591" y="20"/>
                  </a:lnTo>
                  <a:lnTo>
                    <a:pt x="567" y="31"/>
                  </a:lnTo>
                  <a:lnTo>
                    <a:pt x="544" y="47"/>
                  </a:lnTo>
                  <a:lnTo>
                    <a:pt x="500" y="79"/>
                  </a:lnTo>
                  <a:lnTo>
                    <a:pt x="461" y="114"/>
                  </a:lnTo>
                  <a:lnTo>
                    <a:pt x="425" y="150"/>
                  </a:lnTo>
                  <a:lnTo>
                    <a:pt x="390" y="189"/>
                  </a:lnTo>
                  <a:lnTo>
                    <a:pt x="358" y="228"/>
                  </a:lnTo>
                  <a:lnTo>
                    <a:pt x="327" y="268"/>
                  </a:lnTo>
                  <a:lnTo>
                    <a:pt x="272" y="354"/>
                  </a:lnTo>
                  <a:lnTo>
                    <a:pt x="221" y="445"/>
                  </a:lnTo>
                  <a:lnTo>
                    <a:pt x="173" y="535"/>
                  </a:lnTo>
                  <a:lnTo>
                    <a:pt x="130" y="630"/>
                  </a:lnTo>
                  <a:lnTo>
                    <a:pt x="55" y="823"/>
                  </a:lnTo>
                  <a:lnTo>
                    <a:pt x="39" y="854"/>
                  </a:lnTo>
                  <a:lnTo>
                    <a:pt x="39" y="858"/>
                  </a:lnTo>
                  <a:lnTo>
                    <a:pt x="39" y="866"/>
                  </a:lnTo>
                  <a:lnTo>
                    <a:pt x="39" y="874"/>
                  </a:lnTo>
                  <a:lnTo>
                    <a:pt x="20" y="890"/>
                  </a:lnTo>
                  <a:lnTo>
                    <a:pt x="8" y="902"/>
                  </a:lnTo>
                  <a:lnTo>
                    <a:pt x="4" y="917"/>
                  </a:lnTo>
                  <a:lnTo>
                    <a:pt x="0" y="937"/>
                  </a:lnTo>
                  <a:lnTo>
                    <a:pt x="0" y="957"/>
                  </a:lnTo>
                  <a:lnTo>
                    <a:pt x="4" y="992"/>
                  </a:lnTo>
                  <a:lnTo>
                    <a:pt x="12" y="1028"/>
                  </a:lnTo>
                  <a:lnTo>
                    <a:pt x="20" y="1043"/>
                  </a:lnTo>
                  <a:lnTo>
                    <a:pt x="24" y="1047"/>
                  </a:lnTo>
                  <a:lnTo>
                    <a:pt x="32" y="1051"/>
                  </a:lnTo>
                  <a:lnTo>
                    <a:pt x="55" y="1059"/>
                  </a:lnTo>
                  <a:lnTo>
                    <a:pt x="59" y="1067"/>
                  </a:lnTo>
                  <a:lnTo>
                    <a:pt x="63" y="1067"/>
                  </a:lnTo>
                  <a:lnTo>
                    <a:pt x="71" y="1106"/>
                  </a:lnTo>
                  <a:lnTo>
                    <a:pt x="95" y="1118"/>
                  </a:lnTo>
                  <a:lnTo>
                    <a:pt x="158" y="1154"/>
                  </a:lnTo>
                  <a:lnTo>
                    <a:pt x="256" y="1201"/>
                  </a:lnTo>
                  <a:lnTo>
                    <a:pt x="319" y="1225"/>
                  </a:lnTo>
                  <a:lnTo>
                    <a:pt x="386" y="1252"/>
                  </a:lnTo>
                  <a:lnTo>
                    <a:pt x="461" y="1280"/>
                  </a:lnTo>
                  <a:lnTo>
                    <a:pt x="540" y="1303"/>
                  </a:lnTo>
                  <a:lnTo>
                    <a:pt x="626" y="1327"/>
                  </a:lnTo>
                  <a:lnTo>
                    <a:pt x="717" y="1343"/>
                  </a:lnTo>
                  <a:lnTo>
                    <a:pt x="811" y="1358"/>
                  </a:lnTo>
                  <a:lnTo>
                    <a:pt x="910" y="1370"/>
                  </a:lnTo>
                  <a:lnTo>
                    <a:pt x="1008" y="1370"/>
                  </a:lnTo>
                  <a:lnTo>
                    <a:pt x="1111" y="1370"/>
                  </a:lnTo>
                  <a:lnTo>
                    <a:pt x="1170" y="1362"/>
                  </a:lnTo>
                  <a:lnTo>
                    <a:pt x="1213" y="1354"/>
                  </a:lnTo>
                  <a:lnTo>
                    <a:pt x="1241" y="1347"/>
                  </a:lnTo>
                  <a:lnTo>
                    <a:pt x="1615" y="728"/>
                  </a:lnTo>
                  <a:lnTo>
                    <a:pt x="1615" y="693"/>
                  </a:lnTo>
                  <a:lnTo>
                    <a:pt x="1639" y="622"/>
                  </a:lnTo>
                  <a:lnTo>
                    <a:pt x="1639" y="547"/>
                  </a:lnTo>
                  <a:lnTo>
                    <a:pt x="1662" y="496"/>
                  </a:lnTo>
                  <a:lnTo>
                    <a:pt x="1650" y="4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32" name="Freeform 550"/>
            <p:cNvSpPr>
              <a:spLocks/>
            </p:cNvSpPr>
            <p:nvPr/>
          </p:nvSpPr>
          <p:spPr bwMode="auto">
            <a:xfrm>
              <a:off x="2983" y="2697"/>
              <a:ext cx="465" cy="339"/>
            </a:xfrm>
            <a:custGeom>
              <a:avLst/>
              <a:gdLst>
                <a:gd name="T0" fmla="*/ 465 w 465"/>
                <a:gd name="T1" fmla="*/ 197 h 339"/>
                <a:gd name="T2" fmla="*/ 465 w 465"/>
                <a:gd name="T3" fmla="*/ 197 h 339"/>
                <a:gd name="T4" fmla="*/ 445 w 465"/>
                <a:gd name="T5" fmla="*/ 225 h 339"/>
                <a:gd name="T6" fmla="*/ 422 w 465"/>
                <a:gd name="T7" fmla="*/ 249 h 339"/>
                <a:gd name="T8" fmla="*/ 386 w 465"/>
                <a:gd name="T9" fmla="*/ 276 h 339"/>
                <a:gd name="T10" fmla="*/ 347 w 465"/>
                <a:gd name="T11" fmla="*/ 304 h 339"/>
                <a:gd name="T12" fmla="*/ 323 w 465"/>
                <a:gd name="T13" fmla="*/ 315 h 339"/>
                <a:gd name="T14" fmla="*/ 300 w 465"/>
                <a:gd name="T15" fmla="*/ 327 h 339"/>
                <a:gd name="T16" fmla="*/ 276 w 465"/>
                <a:gd name="T17" fmla="*/ 335 h 339"/>
                <a:gd name="T18" fmla="*/ 248 w 465"/>
                <a:gd name="T19" fmla="*/ 339 h 339"/>
                <a:gd name="T20" fmla="*/ 221 w 465"/>
                <a:gd name="T21" fmla="*/ 339 h 339"/>
                <a:gd name="T22" fmla="*/ 189 w 465"/>
                <a:gd name="T23" fmla="*/ 335 h 339"/>
                <a:gd name="T24" fmla="*/ 189 w 465"/>
                <a:gd name="T25" fmla="*/ 335 h 339"/>
                <a:gd name="T26" fmla="*/ 134 w 465"/>
                <a:gd name="T27" fmla="*/ 323 h 339"/>
                <a:gd name="T28" fmla="*/ 87 w 465"/>
                <a:gd name="T29" fmla="*/ 312 h 339"/>
                <a:gd name="T30" fmla="*/ 51 w 465"/>
                <a:gd name="T31" fmla="*/ 292 h 339"/>
                <a:gd name="T32" fmla="*/ 24 w 465"/>
                <a:gd name="T33" fmla="*/ 276 h 339"/>
                <a:gd name="T34" fmla="*/ 12 w 465"/>
                <a:gd name="T35" fmla="*/ 264 h 339"/>
                <a:gd name="T36" fmla="*/ 8 w 465"/>
                <a:gd name="T37" fmla="*/ 252 h 339"/>
                <a:gd name="T38" fmla="*/ 4 w 465"/>
                <a:gd name="T39" fmla="*/ 241 h 339"/>
                <a:gd name="T40" fmla="*/ 0 w 465"/>
                <a:gd name="T41" fmla="*/ 229 h 339"/>
                <a:gd name="T42" fmla="*/ 4 w 465"/>
                <a:gd name="T43" fmla="*/ 217 h 339"/>
                <a:gd name="T44" fmla="*/ 8 w 465"/>
                <a:gd name="T45" fmla="*/ 205 h 339"/>
                <a:gd name="T46" fmla="*/ 16 w 465"/>
                <a:gd name="T47" fmla="*/ 193 h 339"/>
                <a:gd name="T48" fmla="*/ 24 w 465"/>
                <a:gd name="T49" fmla="*/ 178 h 339"/>
                <a:gd name="T50" fmla="*/ 24 w 465"/>
                <a:gd name="T51" fmla="*/ 178 h 339"/>
                <a:gd name="T52" fmla="*/ 55 w 465"/>
                <a:gd name="T53" fmla="*/ 150 h 339"/>
                <a:gd name="T54" fmla="*/ 95 w 465"/>
                <a:gd name="T55" fmla="*/ 123 h 339"/>
                <a:gd name="T56" fmla="*/ 142 w 465"/>
                <a:gd name="T57" fmla="*/ 95 h 339"/>
                <a:gd name="T58" fmla="*/ 189 w 465"/>
                <a:gd name="T59" fmla="*/ 71 h 339"/>
                <a:gd name="T60" fmla="*/ 280 w 465"/>
                <a:gd name="T61" fmla="*/ 32 h 339"/>
                <a:gd name="T62" fmla="*/ 339 w 465"/>
                <a:gd name="T63" fmla="*/ 8 h 339"/>
                <a:gd name="T64" fmla="*/ 339 w 465"/>
                <a:gd name="T65" fmla="*/ 8 h 339"/>
                <a:gd name="T66" fmla="*/ 374 w 465"/>
                <a:gd name="T67" fmla="*/ 4 h 339"/>
                <a:gd name="T68" fmla="*/ 398 w 465"/>
                <a:gd name="T69" fmla="*/ 0 h 339"/>
                <a:gd name="T70" fmla="*/ 422 w 465"/>
                <a:gd name="T71" fmla="*/ 4 h 33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5"/>
                <a:gd name="T109" fmla="*/ 0 h 339"/>
                <a:gd name="T110" fmla="*/ 465 w 465"/>
                <a:gd name="T111" fmla="*/ 339 h 33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5" h="339">
                  <a:moveTo>
                    <a:pt x="465" y="197"/>
                  </a:moveTo>
                  <a:lnTo>
                    <a:pt x="465" y="197"/>
                  </a:lnTo>
                  <a:lnTo>
                    <a:pt x="445" y="225"/>
                  </a:lnTo>
                  <a:lnTo>
                    <a:pt x="422" y="249"/>
                  </a:lnTo>
                  <a:lnTo>
                    <a:pt x="386" y="276"/>
                  </a:lnTo>
                  <a:lnTo>
                    <a:pt x="347" y="304"/>
                  </a:lnTo>
                  <a:lnTo>
                    <a:pt x="323" y="315"/>
                  </a:lnTo>
                  <a:lnTo>
                    <a:pt x="300" y="327"/>
                  </a:lnTo>
                  <a:lnTo>
                    <a:pt x="276" y="335"/>
                  </a:lnTo>
                  <a:lnTo>
                    <a:pt x="248" y="339"/>
                  </a:lnTo>
                  <a:lnTo>
                    <a:pt x="221" y="339"/>
                  </a:lnTo>
                  <a:lnTo>
                    <a:pt x="189" y="335"/>
                  </a:lnTo>
                  <a:lnTo>
                    <a:pt x="134" y="323"/>
                  </a:lnTo>
                  <a:lnTo>
                    <a:pt x="87" y="312"/>
                  </a:lnTo>
                  <a:lnTo>
                    <a:pt x="51" y="292"/>
                  </a:lnTo>
                  <a:lnTo>
                    <a:pt x="24" y="276"/>
                  </a:lnTo>
                  <a:lnTo>
                    <a:pt x="12" y="264"/>
                  </a:lnTo>
                  <a:lnTo>
                    <a:pt x="8" y="252"/>
                  </a:lnTo>
                  <a:lnTo>
                    <a:pt x="4" y="241"/>
                  </a:lnTo>
                  <a:lnTo>
                    <a:pt x="0" y="229"/>
                  </a:lnTo>
                  <a:lnTo>
                    <a:pt x="4" y="217"/>
                  </a:lnTo>
                  <a:lnTo>
                    <a:pt x="8" y="205"/>
                  </a:lnTo>
                  <a:lnTo>
                    <a:pt x="16" y="193"/>
                  </a:lnTo>
                  <a:lnTo>
                    <a:pt x="24" y="178"/>
                  </a:lnTo>
                  <a:lnTo>
                    <a:pt x="55" y="150"/>
                  </a:lnTo>
                  <a:lnTo>
                    <a:pt x="95" y="123"/>
                  </a:lnTo>
                  <a:lnTo>
                    <a:pt x="142" y="95"/>
                  </a:lnTo>
                  <a:lnTo>
                    <a:pt x="189" y="71"/>
                  </a:lnTo>
                  <a:lnTo>
                    <a:pt x="280" y="32"/>
                  </a:lnTo>
                  <a:lnTo>
                    <a:pt x="339" y="8"/>
                  </a:lnTo>
                  <a:lnTo>
                    <a:pt x="374" y="4"/>
                  </a:lnTo>
                  <a:lnTo>
                    <a:pt x="398" y="0"/>
                  </a:lnTo>
                  <a:lnTo>
                    <a:pt x="422" y="4"/>
                  </a:lnTo>
                </a:path>
              </a:pathLst>
            </a:custGeom>
            <a:noFill/>
            <a:ln w="68263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33" name="Freeform 551"/>
            <p:cNvSpPr>
              <a:spLocks/>
            </p:cNvSpPr>
            <p:nvPr/>
          </p:nvSpPr>
          <p:spPr bwMode="auto">
            <a:xfrm>
              <a:off x="3373" y="2071"/>
              <a:ext cx="1603" cy="1083"/>
            </a:xfrm>
            <a:custGeom>
              <a:avLst/>
              <a:gdLst>
                <a:gd name="T0" fmla="*/ 808 w 1603"/>
                <a:gd name="T1" fmla="*/ 8 h 1083"/>
                <a:gd name="T2" fmla="*/ 808 w 1603"/>
                <a:gd name="T3" fmla="*/ 8 h 1083"/>
                <a:gd name="T4" fmla="*/ 886 w 1603"/>
                <a:gd name="T5" fmla="*/ 4 h 1083"/>
                <a:gd name="T6" fmla="*/ 953 w 1603"/>
                <a:gd name="T7" fmla="*/ 0 h 1083"/>
                <a:gd name="T8" fmla="*/ 1012 w 1603"/>
                <a:gd name="T9" fmla="*/ 4 h 1083"/>
                <a:gd name="T10" fmla="*/ 1012 w 1603"/>
                <a:gd name="T11" fmla="*/ 4 h 1083"/>
                <a:gd name="T12" fmla="*/ 1103 w 1603"/>
                <a:gd name="T13" fmla="*/ 8 h 1083"/>
                <a:gd name="T14" fmla="*/ 1142 w 1603"/>
                <a:gd name="T15" fmla="*/ 12 h 1083"/>
                <a:gd name="T16" fmla="*/ 1186 w 1603"/>
                <a:gd name="T17" fmla="*/ 24 h 1083"/>
                <a:gd name="T18" fmla="*/ 1186 w 1603"/>
                <a:gd name="T19" fmla="*/ 24 h 1083"/>
                <a:gd name="T20" fmla="*/ 1276 w 1603"/>
                <a:gd name="T21" fmla="*/ 40 h 1083"/>
                <a:gd name="T22" fmla="*/ 1406 w 1603"/>
                <a:gd name="T23" fmla="*/ 63 h 1083"/>
                <a:gd name="T24" fmla="*/ 1576 w 1603"/>
                <a:gd name="T25" fmla="*/ 91 h 1083"/>
                <a:gd name="T26" fmla="*/ 1603 w 1603"/>
                <a:gd name="T27" fmla="*/ 209 h 1083"/>
                <a:gd name="T28" fmla="*/ 1580 w 1603"/>
                <a:gd name="T29" fmla="*/ 260 h 1083"/>
                <a:gd name="T30" fmla="*/ 1580 w 1603"/>
                <a:gd name="T31" fmla="*/ 335 h 1083"/>
                <a:gd name="T32" fmla="*/ 1556 w 1603"/>
                <a:gd name="T33" fmla="*/ 406 h 1083"/>
                <a:gd name="T34" fmla="*/ 1556 w 1603"/>
                <a:gd name="T35" fmla="*/ 441 h 1083"/>
                <a:gd name="T36" fmla="*/ 1182 w 1603"/>
                <a:gd name="T37" fmla="*/ 1060 h 1083"/>
                <a:gd name="T38" fmla="*/ 1182 w 1603"/>
                <a:gd name="T39" fmla="*/ 1060 h 1083"/>
                <a:gd name="T40" fmla="*/ 1154 w 1603"/>
                <a:gd name="T41" fmla="*/ 1067 h 1083"/>
                <a:gd name="T42" fmla="*/ 1111 w 1603"/>
                <a:gd name="T43" fmla="*/ 1075 h 1083"/>
                <a:gd name="T44" fmla="*/ 1052 w 1603"/>
                <a:gd name="T45" fmla="*/ 1083 h 1083"/>
                <a:gd name="T46" fmla="*/ 1052 w 1603"/>
                <a:gd name="T47" fmla="*/ 1083 h 1083"/>
                <a:gd name="T48" fmla="*/ 949 w 1603"/>
                <a:gd name="T49" fmla="*/ 1083 h 1083"/>
                <a:gd name="T50" fmla="*/ 851 w 1603"/>
                <a:gd name="T51" fmla="*/ 1083 h 1083"/>
                <a:gd name="T52" fmla="*/ 752 w 1603"/>
                <a:gd name="T53" fmla="*/ 1071 h 1083"/>
                <a:gd name="T54" fmla="*/ 658 w 1603"/>
                <a:gd name="T55" fmla="*/ 1056 h 1083"/>
                <a:gd name="T56" fmla="*/ 567 w 1603"/>
                <a:gd name="T57" fmla="*/ 1040 h 1083"/>
                <a:gd name="T58" fmla="*/ 481 w 1603"/>
                <a:gd name="T59" fmla="*/ 1016 h 1083"/>
                <a:gd name="T60" fmla="*/ 402 w 1603"/>
                <a:gd name="T61" fmla="*/ 993 h 1083"/>
                <a:gd name="T62" fmla="*/ 327 w 1603"/>
                <a:gd name="T63" fmla="*/ 965 h 1083"/>
                <a:gd name="T64" fmla="*/ 260 w 1603"/>
                <a:gd name="T65" fmla="*/ 938 h 1083"/>
                <a:gd name="T66" fmla="*/ 197 w 1603"/>
                <a:gd name="T67" fmla="*/ 914 h 1083"/>
                <a:gd name="T68" fmla="*/ 99 w 1603"/>
                <a:gd name="T69" fmla="*/ 867 h 1083"/>
                <a:gd name="T70" fmla="*/ 36 w 1603"/>
                <a:gd name="T71" fmla="*/ 831 h 1083"/>
                <a:gd name="T72" fmla="*/ 12 w 1603"/>
                <a:gd name="T73" fmla="*/ 819 h 1083"/>
                <a:gd name="T74" fmla="*/ 0 w 1603"/>
                <a:gd name="T75" fmla="*/ 768 h 1083"/>
                <a:gd name="T76" fmla="*/ 8 w 1603"/>
                <a:gd name="T77" fmla="*/ 709 h 1083"/>
                <a:gd name="T78" fmla="*/ 808 w 1603"/>
                <a:gd name="T79" fmla="*/ 8 h 108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03"/>
                <a:gd name="T121" fmla="*/ 0 h 1083"/>
                <a:gd name="T122" fmla="*/ 1603 w 1603"/>
                <a:gd name="T123" fmla="*/ 1083 h 108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03" h="1083">
                  <a:moveTo>
                    <a:pt x="808" y="8"/>
                  </a:moveTo>
                  <a:lnTo>
                    <a:pt x="808" y="8"/>
                  </a:lnTo>
                  <a:lnTo>
                    <a:pt x="886" y="4"/>
                  </a:lnTo>
                  <a:lnTo>
                    <a:pt x="953" y="0"/>
                  </a:lnTo>
                  <a:lnTo>
                    <a:pt x="1012" y="4"/>
                  </a:lnTo>
                  <a:lnTo>
                    <a:pt x="1103" y="8"/>
                  </a:lnTo>
                  <a:lnTo>
                    <a:pt x="1142" y="12"/>
                  </a:lnTo>
                  <a:lnTo>
                    <a:pt x="1186" y="24"/>
                  </a:lnTo>
                  <a:lnTo>
                    <a:pt x="1276" y="40"/>
                  </a:lnTo>
                  <a:lnTo>
                    <a:pt x="1406" y="63"/>
                  </a:lnTo>
                  <a:lnTo>
                    <a:pt x="1576" y="91"/>
                  </a:lnTo>
                  <a:lnTo>
                    <a:pt x="1603" y="209"/>
                  </a:lnTo>
                  <a:lnTo>
                    <a:pt x="1580" y="260"/>
                  </a:lnTo>
                  <a:lnTo>
                    <a:pt x="1580" y="335"/>
                  </a:lnTo>
                  <a:lnTo>
                    <a:pt x="1556" y="406"/>
                  </a:lnTo>
                  <a:lnTo>
                    <a:pt x="1556" y="441"/>
                  </a:lnTo>
                  <a:lnTo>
                    <a:pt x="1182" y="1060"/>
                  </a:lnTo>
                  <a:lnTo>
                    <a:pt x="1154" y="1067"/>
                  </a:lnTo>
                  <a:lnTo>
                    <a:pt x="1111" y="1075"/>
                  </a:lnTo>
                  <a:lnTo>
                    <a:pt x="1052" y="1083"/>
                  </a:lnTo>
                  <a:lnTo>
                    <a:pt x="949" y="1083"/>
                  </a:lnTo>
                  <a:lnTo>
                    <a:pt x="851" y="1083"/>
                  </a:lnTo>
                  <a:lnTo>
                    <a:pt x="752" y="1071"/>
                  </a:lnTo>
                  <a:lnTo>
                    <a:pt x="658" y="1056"/>
                  </a:lnTo>
                  <a:lnTo>
                    <a:pt x="567" y="1040"/>
                  </a:lnTo>
                  <a:lnTo>
                    <a:pt x="481" y="1016"/>
                  </a:lnTo>
                  <a:lnTo>
                    <a:pt x="402" y="993"/>
                  </a:lnTo>
                  <a:lnTo>
                    <a:pt x="327" y="965"/>
                  </a:lnTo>
                  <a:lnTo>
                    <a:pt x="260" y="938"/>
                  </a:lnTo>
                  <a:lnTo>
                    <a:pt x="197" y="914"/>
                  </a:lnTo>
                  <a:lnTo>
                    <a:pt x="99" y="867"/>
                  </a:lnTo>
                  <a:lnTo>
                    <a:pt x="36" y="831"/>
                  </a:lnTo>
                  <a:lnTo>
                    <a:pt x="12" y="819"/>
                  </a:lnTo>
                  <a:lnTo>
                    <a:pt x="0" y="768"/>
                  </a:lnTo>
                  <a:lnTo>
                    <a:pt x="8" y="709"/>
                  </a:lnTo>
                  <a:lnTo>
                    <a:pt x="808" y="8"/>
                  </a:lnTo>
                  <a:close/>
                </a:path>
              </a:pathLst>
            </a:custGeom>
            <a:solidFill>
              <a:srgbClr val="CCCCCC"/>
            </a:solidFill>
            <a:ln w="31750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34" name="Freeform 552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1571 w 1603"/>
                <a:gd name="T75" fmla="*/ 129 h 10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03"/>
                <a:gd name="T115" fmla="*/ 0 h 1078"/>
                <a:gd name="T116" fmla="*/ 1603 w 1603"/>
                <a:gd name="T117" fmla="*/ 1078 h 107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  <a:lnTo>
                    <a:pt x="1571" y="1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35" name="Freeform 553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03"/>
                <a:gd name="T112" fmla="*/ 0 h 1078"/>
                <a:gd name="T113" fmla="*/ 1603 w 1603"/>
                <a:gd name="T114" fmla="*/ 1078 h 107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36" name="Freeform 554"/>
            <p:cNvSpPr>
              <a:spLocks/>
            </p:cNvSpPr>
            <p:nvPr/>
          </p:nvSpPr>
          <p:spPr bwMode="auto">
            <a:xfrm>
              <a:off x="3361" y="1997"/>
              <a:ext cx="1603" cy="1130"/>
            </a:xfrm>
            <a:custGeom>
              <a:avLst/>
              <a:gdLst>
                <a:gd name="T0" fmla="*/ 1603 w 1603"/>
                <a:gd name="T1" fmla="*/ 106 h 1130"/>
                <a:gd name="T2" fmla="*/ 1603 w 1603"/>
                <a:gd name="T3" fmla="*/ 244 h 1130"/>
                <a:gd name="T4" fmla="*/ 1580 w 1603"/>
                <a:gd name="T5" fmla="*/ 370 h 1130"/>
                <a:gd name="T6" fmla="*/ 1556 w 1603"/>
                <a:gd name="T7" fmla="*/ 441 h 1130"/>
                <a:gd name="T8" fmla="*/ 1556 w 1603"/>
                <a:gd name="T9" fmla="*/ 476 h 1130"/>
                <a:gd name="T10" fmla="*/ 1182 w 1603"/>
                <a:gd name="T11" fmla="*/ 1094 h 1130"/>
                <a:gd name="T12" fmla="*/ 1123 w 1603"/>
                <a:gd name="T13" fmla="*/ 1130 h 1130"/>
                <a:gd name="T14" fmla="*/ 1123 w 1603"/>
                <a:gd name="T15" fmla="*/ 1130 h 1130"/>
                <a:gd name="T16" fmla="*/ 1091 w 1603"/>
                <a:gd name="T17" fmla="*/ 1130 h 1130"/>
                <a:gd name="T18" fmla="*/ 1052 w 1603"/>
                <a:gd name="T19" fmla="*/ 1126 h 1130"/>
                <a:gd name="T20" fmla="*/ 993 w 1603"/>
                <a:gd name="T21" fmla="*/ 1114 h 1130"/>
                <a:gd name="T22" fmla="*/ 993 w 1603"/>
                <a:gd name="T23" fmla="*/ 1114 h 1130"/>
                <a:gd name="T24" fmla="*/ 914 w 1603"/>
                <a:gd name="T25" fmla="*/ 1094 h 1130"/>
                <a:gd name="T26" fmla="*/ 784 w 1603"/>
                <a:gd name="T27" fmla="*/ 1063 h 1130"/>
                <a:gd name="T28" fmla="*/ 453 w 1603"/>
                <a:gd name="T29" fmla="*/ 976 h 1130"/>
                <a:gd name="T30" fmla="*/ 12 w 1603"/>
                <a:gd name="T31" fmla="*/ 854 h 1130"/>
                <a:gd name="T32" fmla="*/ 0 w 1603"/>
                <a:gd name="T33" fmla="*/ 803 h 1130"/>
                <a:gd name="T34" fmla="*/ 20 w 1603"/>
                <a:gd name="T35" fmla="*/ 740 h 1130"/>
                <a:gd name="T36" fmla="*/ 737 w 1603"/>
                <a:gd name="T37" fmla="*/ 106 h 1130"/>
                <a:gd name="T38" fmla="*/ 812 w 1603"/>
                <a:gd name="T39" fmla="*/ 51 h 1130"/>
                <a:gd name="T40" fmla="*/ 812 w 1603"/>
                <a:gd name="T41" fmla="*/ 51 h 1130"/>
                <a:gd name="T42" fmla="*/ 879 w 1603"/>
                <a:gd name="T43" fmla="*/ 23 h 1130"/>
                <a:gd name="T44" fmla="*/ 934 w 1603"/>
                <a:gd name="T45" fmla="*/ 7 h 1130"/>
                <a:gd name="T46" fmla="*/ 961 w 1603"/>
                <a:gd name="T47" fmla="*/ 3 h 1130"/>
                <a:gd name="T48" fmla="*/ 981 w 1603"/>
                <a:gd name="T49" fmla="*/ 0 h 1130"/>
                <a:gd name="T50" fmla="*/ 981 w 1603"/>
                <a:gd name="T51" fmla="*/ 0 h 1130"/>
                <a:gd name="T52" fmla="*/ 1036 w 1603"/>
                <a:gd name="T53" fmla="*/ 3 h 1130"/>
                <a:gd name="T54" fmla="*/ 1091 w 1603"/>
                <a:gd name="T55" fmla="*/ 11 h 1130"/>
                <a:gd name="T56" fmla="*/ 1194 w 1603"/>
                <a:gd name="T57" fmla="*/ 31 h 1130"/>
                <a:gd name="T58" fmla="*/ 1194 w 1603"/>
                <a:gd name="T59" fmla="*/ 31 h 1130"/>
                <a:gd name="T60" fmla="*/ 1395 w 1603"/>
                <a:gd name="T61" fmla="*/ 66 h 1130"/>
                <a:gd name="T62" fmla="*/ 1544 w 1603"/>
                <a:gd name="T63" fmla="*/ 94 h 1130"/>
                <a:gd name="T64" fmla="*/ 1603 w 1603"/>
                <a:gd name="T65" fmla="*/ 106 h 11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03"/>
                <a:gd name="T100" fmla="*/ 0 h 1130"/>
                <a:gd name="T101" fmla="*/ 1603 w 1603"/>
                <a:gd name="T102" fmla="*/ 1130 h 11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03" h="1130">
                  <a:moveTo>
                    <a:pt x="1603" y="106"/>
                  </a:moveTo>
                  <a:lnTo>
                    <a:pt x="1603" y="244"/>
                  </a:lnTo>
                  <a:lnTo>
                    <a:pt x="1580" y="370"/>
                  </a:lnTo>
                  <a:lnTo>
                    <a:pt x="1556" y="441"/>
                  </a:lnTo>
                  <a:lnTo>
                    <a:pt x="1556" y="476"/>
                  </a:lnTo>
                  <a:lnTo>
                    <a:pt x="1182" y="1094"/>
                  </a:lnTo>
                  <a:lnTo>
                    <a:pt x="1123" y="1130"/>
                  </a:lnTo>
                  <a:lnTo>
                    <a:pt x="1091" y="1130"/>
                  </a:lnTo>
                  <a:lnTo>
                    <a:pt x="1052" y="1126"/>
                  </a:lnTo>
                  <a:lnTo>
                    <a:pt x="993" y="1114"/>
                  </a:lnTo>
                  <a:lnTo>
                    <a:pt x="914" y="1094"/>
                  </a:lnTo>
                  <a:lnTo>
                    <a:pt x="784" y="1063"/>
                  </a:lnTo>
                  <a:lnTo>
                    <a:pt x="453" y="976"/>
                  </a:lnTo>
                  <a:lnTo>
                    <a:pt x="12" y="854"/>
                  </a:lnTo>
                  <a:lnTo>
                    <a:pt x="0" y="803"/>
                  </a:lnTo>
                  <a:lnTo>
                    <a:pt x="20" y="740"/>
                  </a:lnTo>
                  <a:lnTo>
                    <a:pt x="737" y="106"/>
                  </a:lnTo>
                  <a:lnTo>
                    <a:pt x="812" y="51"/>
                  </a:lnTo>
                  <a:lnTo>
                    <a:pt x="879" y="23"/>
                  </a:lnTo>
                  <a:lnTo>
                    <a:pt x="934" y="7"/>
                  </a:lnTo>
                  <a:lnTo>
                    <a:pt x="961" y="3"/>
                  </a:lnTo>
                  <a:lnTo>
                    <a:pt x="981" y="0"/>
                  </a:lnTo>
                  <a:lnTo>
                    <a:pt x="1036" y="3"/>
                  </a:lnTo>
                  <a:lnTo>
                    <a:pt x="1091" y="11"/>
                  </a:lnTo>
                  <a:lnTo>
                    <a:pt x="1194" y="31"/>
                  </a:lnTo>
                  <a:lnTo>
                    <a:pt x="1395" y="66"/>
                  </a:lnTo>
                  <a:lnTo>
                    <a:pt x="1544" y="94"/>
                  </a:lnTo>
                  <a:lnTo>
                    <a:pt x="1603" y="106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37" name="Freeform 555"/>
            <p:cNvSpPr>
              <a:spLocks/>
            </p:cNvSpPr>
            <p:nvPr/>
          </p:nvSpPr>
          <p:spPr bwMode="auto">
            <a:xfrm>
              <a:off x="3314" y="1941"/>
              <a:ext cx="1635" cy="1190"/>
            </a:xfrm>
            <a:custGeom>
              <a:avLst/>
              <a:gdLst>
                <a:gd name="T0" fmla="*/ 1595 w 1635"/>
                <a:gd name="T1" fmla="*/ 233 h 1190"/>
                <a:gd name="T2" fmla="*/ 1580 w 1635"/>
                <a:gd name="T3" fmla="*/ 390 h 1190"/>
                <a:gd name="T4" fmla="*/ 1524 w 1635"/>
                <a:gd name="T5" fmla="*/ 536 h 1190"/>
                <a:gd name="T6" fmla="*/ 1201 w 1635"/>
                <a:gd name="T7" fmla="*/ 1111 h 1190"/>
                <a:gd name="T8" fmla="*/ 1182 w 1635"/>
                <a:gd name="T9" fmla="*/ 1146 h 1190"/>
                <a:gd name="T10" fmla="*/ 1186 w 1635"/>
                <a:gd name="T11" fmla="*/ 1146 h 1190"/>
                <a:gd name="T12" fmla="*/ 989 w 1635"/>
                <a:gd name="T13" fmla="*/ 1107 h 1190"/>
                <a:gd name="T14" fmla="*/ 693 w 1635"/>
                <a:gd name="T15" fmla="*/ 1032 h 1190"/>
                <a:gd name="T16" fmla="*/ 35 w 1635"/>
                <a:gd name="T17" fmla="*/ 855 h 1190"/>
                <a:gd name="T18" fmla="*/ 43 w 1635"/>
                <a:gd name="T19" fmla="*/ 879 h 1190"/>
                <a:gd name="T20" fmla="*/ 39 w 1635"/>
                <a:gd name="T21" fmla="*/ 776 h 1190"/>
                <a:gd name="T22" fmla="*/ 47 w 1635"/>
                <a:gd name="T23" fmla="*/ 776 h 1190"/>
                <a:gd name="T24" fmla="*/ 225 w 1635"/>
                <a:gd name="T25" fmla="*/ 623 h 1190"/>
                <a:gd name="T26" fmla="*/ 662 w 1635"/>
                <a:gd name="T27" fmla="*/ 260 h 1190"/>
                <a:gd name="T28" fmla="*/ 772 w 1635"/>
                <a:gd name="T29" fmla="*/ 170 h 1190"/>
                <a:gd name="T30" fmla="*/ 867 w 1635"/>
                <a:gd name="T31" fmla="*/ 122 h 1190"/>
                <a:gd name="T32" fmla="*/ 965 w 1635"/>
                <a:gd name="T33" fmla="*/ 56 h 1190"/>
                <a:gd name="T34" fmla="*/ 1001 w 1635"/>
                <a:gd name="T35" fmla="*/ 44 h 1190"/>
                <a:gd name="T36" fmla="*/ 1123 w 1635"/>
                <a:gd name="T37" fmla="*/ 52 h 1190"/>
                <a:gd name="T38" fmla="*/ 1327 w 1635"/>
                <a:gd name="T39" fmla="*/ 91 h 1190"/>
                <a:gd name="T40" fmla="*/ 1583 w 1635"/>
                <a:gd name="T41" fmla="*/ 130 h 1190"/>
                <a:gd name="T42" fmla="*/ 1595 w 1635"/>
                <a:gd name="T43" fmla="*/ 122 h 1190"/>
                <a:gd name="T44" fmla="*/ 1583 w 1635"/>
                <a:gd name="T45" fmla="*/ 91 h 1190"/>
                <a:gd name="T46" fmla="*/ 1320 w 1635"/>
                <a:gd name="T47" fmla="*/ 52 h 1190"/>
                <a:gd name="T48" fmla="*/ 1150 w 1635"/>
                <a:gd name="T49" fmla="*/ 16 h 1190"/>
                <a:gd name="T50" fmla="*/ 985 w 1635"/>
                <a:gd name="T51" fmla="*/ 0 h 1190"/>
                <a:gd name="T52" fmla="*/ 953 w 1635"/>
                <a:gd name="T53" fmla="*/ 8 h 1190"/>
                <a:gd name="T54" fmla="*/ 863 w 1635"/>
                <a:gd name="T55" fmla="*/ 67 h 1190"/>
                <a:gd name="T56" fmla="*/ 796 w 1635"/>
                <a:gd name="T57" fmla="*/ 111 h 1190"/>
                <a:gd name="T58" fmla="*/ 697 w 1635"/>
                <a:gd name="T59" fmla="*/ 166 h 1190"/>
                <a:gd name="T60" fmla="*/ 626 w 1635"/>
                <a:gd name="T61" fmla="*/ 229 h 1190"/>
                <a:gd name="T62" fmla="*/ 20 w 1635"/>
                <a:gd name="T63" fmla="*/ 733 h 1190"/>
                <a:gd name="T64" fmla="*/ 4 w 1635"/>
                <a:gd name="T65" fmla="*/ 760 h 1190"/>
                <a:gd name="T66" fmla="*/ 4 w 1635"/>
                <a:gd name="T67" fmla="*/ 835 h 1190"/>
                <a:gd name="T68" fmla="*/ 20 w 1635"/>
                <a:gd name="T69" fmla="*/ 886 h 1190"/>
                <a:gd name="T70" fmla="*/ 32 w 1635"/>
                <a:gd name="T71" fmla="*/ 894 h 1190"/>
                <a:gd name="T72" fmla="*/ 729 w 1635"/>
                <a:gd name="T73" fmla="*/ 1083 h 1190"/>
                <a:gd name="T74" fmla="*/ 1119 w 1635"/>
                <a:gd name="T75" fmla="*/ 1178 h 1190"/>
                <a:gd name="T76" fmla="*/ 1205 w 1635"/>
                <a:gd name="T77" fmla="*/ 1190 h 1190"/>
                <a:gd name="T78" fmla="*/ 1536 w 1635"/>
                <a:gd name="T79" fmla="*/ 603 h 1190"/>
                <a:gd name="T80" fmla="*/ 1583 w 1635"/>
                <a:gd name="T81" fmla="*/ 516 h 1190"/>
                <a:gd name="T82" fmla="*/ 1587 w 1635"/>
                <a:gd name="T83" fmla="*/ 489 h 1190"/>
                <a:gd name="T84" fmla="*/ 1611 w 1635"/>
                <a:gd name="T85" fmla="*/ 414 h 1190"/>
                <a:gd name="T86" fmla="*/ 1627 w 1635"/>
                <a:gd name="T87" fmla="*/ 347 h 1190"/>
                <a:gd name="T88" fmla="*/ 1631 w 1635"/>
                <a:gd name="T89" fmla="*/ 213 h 1190"/>
                <a:gd name="T90" fmla="*/ 1623 w 1635"/>
                <a:gd name="T91" fmla="*/ 130 h 1190"/>
                <a:gd name="T92" fmla="*/ 1599 w 1635"/>
                <a:gd name="T93" fmla="*/ 115 h 1190"/>
                <a:gd name="T94" fmla="*/ 1595 w 1635"/>
                <a:gd name="T95" fmla="*/ 126 h 1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35"/>
                <a:gd name="T145" fmla="*/ 0 h 1190"/>
                <a:gd name="T146" fmla="*/ 1635 w 1635"/>
                <a:gd name="T147" fmla="*/ 1190 h 1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35" h="1190">
                  <a:moveTo>
                    <a:pt x="1595" y="126"/>
                  </a:moveTo>
                  <a:lnTo>
                    <a:pt x="1595" y="126"/>
                  </a:lnTo>
                  <a:lnTo>
                    <a:pt x="1595" y="233"/>
                  </a:lnTo>
                  <a:lnTo>
                    <a:pt x="1591" y="284"/>
                  </a:lnTo>
                  <a:lnTo>
                    <a:pt x="1587" y="339"/>
                  </a:lnTo>
                  <a:lnTo>
                    <a:pt x="1580" y="390"/>
                  </a:lnTo>
                  <a:lnTo>
                    <a:pt x="1564" y="441"/>
                  </a:lnTo>
                  <a:lnTo>
                    <a:pt x="1548" y="489"/>
                  </a:lnTo>
                  <a:lnTo>
                    <a:pt x="1524" y="536"/>
                  </a:lnTo>
                  <a:lnTo>
                    <a:pt x="1201" y="1111"/>
                  </a:lnTo>
                  <a:lnTo>
                    <a:pt x="1186" y="1142"/>
                  </a:lnTo>
                  <a:lnTo>
                    <a:pt x="1182" y="1146"/>
                  </a:lnTo>
                  <a:lnTo>
                    <a:pt x="1182" y="1150"/>
                  </a:lnTo>
                  <a:lnTo>
                    <a:pt x="1186" y="1146"/>
                  </a:lnTo>
                  <a:lnTo>
                    <a:pt x="1087" y="1131"/>
                  </a:lnTo>
                  <a:lnTo>
                    <a:pt x="989" y="1107"/>
                  </a:lnTo>
                  <a:lnTo>
                    <a:pt x="839" y="1071"/>
                  </a:lnTo>
                  <a:lnTo>
                    <a:pt x="693" y="1032"/>
                  </a:lnTo>
                  <a:lnTo>
                    <a:pt x="35" y="855"/>
                  </a:lnTo>
                  <a:lnTo>
                    <a:pt x="24" y="851"/>
                  </a:lnTo>
                  <a:lnTo>
                    <a:pt x="43" y="879"/>
                  </a:lnTo>
                  <a:lnTo>
                    <a:pt x="39" y="827"/>
                  </a:lnTo>
                  <a:lnTo>
                    <a:pt x="39" y="776"/>
                  </a:lnTo>
                  <a:lnTo>
                    <a:pt x="39" y="780"/>
                  </a:lnTo>
                  <a:lnTo>
                    <a:pt x="47" y="776"/>
                  </a:lnTo>
                  <a:lnTo>
                    <a:pt x="59" y="760"/>
                  </a:lnTo>
                  <a:lnTo>
                    <a:pt x="225" y="623"/>
                  </a:lnTo>
                  <a:lnTo>
                    <a:pt x="662" y="260"/>
                  </a:lnTo>
                  <a:lnTo>
                    <a:pt x="744" y="189"/>
                  </a:lnTo>
                  <a:lnTo>
                    <a:pt x="772" y="170"/>
                  </a:lnTo>
                  <a:lnTo>
                    <a:pt x="804" y="154"/>
                  </a:lnTo>
                  <a:lnTo>
                    <a:pt x="835" y="138"/>
                  </a:lnTo>
                  <a:lnTo>
                    <a:pt x="867" y="122"/>
                  </a:lnTo>
                  <a:lnTo>
                    <a:pt x="930" y="75"/>
                  </a:lnTo>
                  <a:lnTo>
                    <a:pt x="965" y="56"/>
                  </a:lnTo>
                  <a:lnTo>
                    <a:pt x="985" y="48"/>
                  </a:lnTo>
                  <a:lnTo>
                    <a:pt x="1001" y="44"/>
                  </a:lnTo>
                  <a:lnTo>
                    <a:pt x="1040" y="44"/>
                  </a:lnTo>
                  <a:lnTo>
                    <a:pt x="1083" y="44"/>
                  </a:lnTo>
                  <a:lnTo>
                    <a:pt x="1123" y="52"/>
                  </a:lnTo>
                  <a:lnTo>
                    <a:pt x="1166" y="59"/>
                  </a:lnTo>
                  <a:lnTo>
                    <a:pt x="1249" y="75"/>
                  </a:lnTo>
                  <a:lnTo>
                    <a:pt x="1327" y="91"/>
                  </a:lnTo>
                  <a:lnTo>
                    <a:pt x="1583" y="130"/>
                  </a:lnTo>
                  <a:lnTo>
                    <a:pt x="1591" y="130"/>
                  </a:lnTo>
                  <a:lnTo>
                    <a:pt x="1595" y="126"/>
                  </a:lnTo>
                  <a:lnTo>
                    <a:pt x="1595" y="122"/>
                  </a:lnTo>
                  <a:lnTo>
                    <a:pt x="1595" y="115"/>
                  </a:lnTo>
                  <a:lnTo>
                    <a:pt x="1587" y="99"/>
                  </a:lnTo>
                  <a:lnTo>
                    <a:pt x="1583" y="91"/>
                  </a:lnTo>
                  <a:lnTo>
                    <a:pt x="1576" y="91"/>
                  </a:lnTo>
                  <a:lnTo>
                    <a:pt x="1320" y="52"/>
                  </a:lnTo>
                  <a:lnTo>
                    <a:pt x="1237" y="36"/>
                  </a:lnTo>
                  <a:lnTo>
                    <a:pt x="1150" y="16"/>
                  </a:lnTo>
                  <a:lnTo>
                    <a:pt x="1067" y="4"/>
                  </a:lnTo>
                  <a:lnTo>
                    <a:pt x="1028" y="0"/>
                  </a:lnTo>
                  <a:lnTo>
                    <a:pt x="985" y="0"/>
                  </a:lnTo>
                  <a:lnTo>
                    <a:pt x="969" y="4"/>
                  </a:lnTo>
                  <a:lnTo>
                    <a:pt x="953" y="8"/>
                  </a:lnTo>
                  <a:lnTo>
                    <a:pt x="922" y="24"/>
                  </a:lnTo>
                  <a:lnTo>
                    <a:pt x="886" y="48"/>
                  </a:lnTo>
                  <a:lnTo>
                    <a:pt x="863" y="67"/>
                  </a:lnTo>
                  <a:lnTo>
                    <a:pt x="831" y="91"/>
                  </a:lnTo>
                  <a:lnTo>
                    <a:pt x="796" y="111"/>
                  </a:lnTo>
                  <a:lnTo>
                    <a:pt x="721" y="150"/>
                  </a:lnTo>
                  <a:lnTo>
                    <a:pt x="697" y="166"/>
                  </a:lnTo>
                  <a:lnTo>
                    <a:pt x="674" y="185"/>
                  </a:lnTo>
                  <a:lnTo>
                    <a:pt x="626" y="229"/>
                  </a:lnTo>
                  <a:lnTo>
                    <a:pt x="169" y="607"/>
                  </a:lnTo>
                  <a:lnTo>
                    <a:pt x="20" y="733"/>
                  </a:lnTo>
                  <a:lnTo>
                    <a:pt x="8" y="745"/>
                  </a:lnTo>
                  <a:lnTo>
                    <a:pt x="4" y="760"/>
                  </a:lnTo>
                  <a:lnTo>
                    <a:pt x="0" y="780"/>
                  </a:lnTo>
                  <a:lnTo>
                    <a:pt x="0" y="800"/>
                  </a:lnTo>
                  <a:lnTo>
                    <a:pt x="4" y="835"/>
                  </a:lnTo>
                  <a:lnTo>
                    <a:pt x="12" y="871"/>
                  </a:lnTo>
                  <a:lnTo>
                    <a:pt x="20" y="886"/>
                  </a:lnTo>
                  <a:lnTo>
                    <a:pt x="24" y="890"/>
                  </a:lnTo>
                  <a:lnTo>
                    <a:pt x="32" y="894"/>
                  </a:lnTo>
                  <a:lnTo>
                    <a:pt x="571" y="1040"/>
                  </a:lnTo>
                  <a:lnTo>
                    <a:pt x="729" y="1083"/>
                  </a:lnTo>
                  <a:lnTo>
                    <a:pt x="882" y="1127"/>
                  </a:lnTo>
                  <a:lnTo>
                    <a:pt x="1040" y="1162"/>
                  </a:lnTo>
                  <a:lnTo>
                    <a:pt x="1119" y="1178"/>
                  </a:lnTo>
                  <a:lnTo>
                    <a:pt x="1197" y="1190"/>
                  </a:lnTo>
                  <a:lnTo>
                    <a:pt x="1205" y="1190"/>
                  </a:lnTo>
                  <a:lnTo>
                    <a:pt x="1209" y="1186"/>
                  </a:lnTo>
                  <a:lnTo>
                    <a:pt x="1536" y="603"/>
                  </a:lnTo>
                  <a:lnTo>
                    <a:pt x="1583" y="516"/>
                  </a:lnTo>
                  <a:lnTo>
                    <a:pt x="1587" y="504"/>
                  </a:lnTo>
                  <a:lnTo>
                    <a:pt x="1587" y="489"/>
                  </a:lnTo>
                  <a:lnTo>
                    <a:pt x="1591" y="469"/>
                  </a:lnTo>
                  <a:lnTo>
                    <a:pt x="1595" y="449"/>
                  </a:lnTo>
                  <a:lnTo>
                    <a:pt x="1611" y="414"/>
                  </a:lnTo>
                  <a:lnTo>
                    <a:pt x="1619" y="382"/>
                  </a:lnTo>
                  <a:lnTo>
                    <a:pt x="1627" y="347"/>
                  </a:lnTo>
                  <a:lnTo>
                    <a:pt x="1631" y="315"/>
                  </a:lnTo>
                  <a:lnTo>
                    <a:pt x="1635" y="280"/>
                  </a:lnTo>
                  <a:lnTo>
                    <a:pt x="1631" y="213"/>
                  </a:lnTo>
                  <a:lnTo>
                    <a:pt x="1627" y="142"/>
                  </a:lnTo>
                  <a:lnTo>
                    <a:pt x="1623" y="130"/>
                  </a:lnTo>
                  <a:lnTo>
                    <a:pt x="1611" y="119"/>
                  </a:lnTo>
                  <a:lnTo>
                    <a:pt x="1603" y="115"/>
                  </a:lnTo>
                  <a:lnTo>
                    <a:pt x="1599" y="115"/>
                  </a:lnTo>
                  <a:lnTo>
                    <a:pt x="1595" y="119"/>
                  </a:lnTo>
                  <a:lnTo>
                    <a:pt x="1595" y="1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38" name="Freeform 556"/>
            <p:cNvSpPr>
              <a:spLocks/>
            </p:cNvSpPr>
            <p:nvPr/>
          </p:nvSpPr>
          <p:spPr bwMode="auto">
            <a:xfrm>
              <a:off x="3369" y="1804"/>
              <a:ext cx="804" cy="1000"/>
            </a:xfrm>
            <a:custGeom>
              <a:avLst/>
              <a:gdLst>
                <a:gd name="T0" fmla="*/ 0 w 804"/>
                <a:gd name="T1" fmla="*/ 854 h 1000"/>
                <a:gd name="T2" fmla="*/ 0 w 804"/>
                <a:gd name="T3" fmla="*/ 854 h 1000"/>
                <a:gd name="T4" fmla="*/ 28 w 804"/>
                <a:gd name="T5" fmla="*/ 783 h 1000"/>
                <a:gd name="T6" fmla="*/ 59 w 804"/>
                <a:gd name="T7" fmla="*/ 708 h 1000"/>
                <a:gd name="T8" fmla="*/ 99 w 804"/>
                <a:gd name="T9" fmla="*/ 618 h 1000"/>
                <a:gd name="T10" fmla="*/ 146 w 804"/>
                <a:gd name="T11" fmla="*/ 511 h 1000"/>
                <a:gd name="T12" fmla="*/ 205 w 804"/>
                <a:gd name="T13" fmla="*/ 405 h 1000"/>
                <a:gd name="T14" fmla="*/ 268 w 804"/>
                <a:gd name="T15" fmla="*/ 299 h 1000"/>
                <a:gd name="T16" fmla="*/ 300 w 804"/>
                <a:gd name="T17" fmla="*/ 252 h 1000"/>
                <a:gd name="T18" fmla="*/ 335 w 804"/>
                <a:gd name="T19" fmla="*/ 208 h 1000"/>
                <a:gd name="T20" fmla="*/ 335 w 804"/>
                <a:gd name="T21" fmla="*/ 208 h 1000"/>
                <a:gd name="T22" fmla="*/ 410 w 804"/>
                <a:gd name="T23" fmla="*/ 118 h 1000"/>
                <a:gd name="T24" fmla="*/ 520 w 804"/>
                <a:gd name="T25" fmla="*/ 23 h 1000"/>
                <a:gd name="T26" fmla="*/ 520 w 804"/>
                <a:gd name="T27" fmla="*/ 23 h 1000"/>
                <a:gd name="T28" fmla="*/ 532 w 804"/>
                <a:gd name="T29" fmla="*/ 19 h 1000"/>
                <a:gd name="T30" fmla="*/ 563 w 804"/>
                <a:gd name="T31" fmla="*/ 7 h 1000"/>
                <a:gd name="T32" fmla="*/ 583 w 804"/>
                <a:gd name="T33" fmla="*/ 4 h 1000"/>
                <a:gd name="T34" fmla="*/ 607 w 804"/>
                <a:gd name="T35" fmla="*/ 0 h 1000"/>
                <a:gd name="T36" fmla="*/ 634 w 804"/>
                <a:gd name="T37" fmla="*/ 0 h 1000"/>
                <a:gd name="T38" fmla="*/ 662 w 804"/>
                <a:gd name="T39" fmla="*/ 4 h 1000"/>
                <a:gd name="T40" fmla="*/ 662 w 804"/>
                <a:gd name="T41" fmla="*/ 4 h 1000"/>
                <a:gd name="T42" fmla="*/ 686 w 804"/>
                <a:gd name="T43" fmla="*/ 11 h 1000"/>
                <a:gd name="T44" fmla="*/ 713 w 804"/>
                <a:gd name="T45" fmla="*/ 19 h 1000"/>
                <a:gd name="T46" fmla="*/ 756 w 804"/>
                <a:gd name="T47" fmla="*/ 39 h 1000"/>
                <a:gd name="T48" fmla="*/ 800 w 804"/>
                <a:gd name="T49" fmla="*/ 67 h 1000"/>
                <a:gd name="T50" fmla="*/ 804 w 804"/>
                <a:gd name="T51" fmla="*/ 145 h 1000"/>
                <a:gd name="T52" fmla="*/ 788 w 804"/>
                <a:gd name="T53" fmla="*/ 161 h 1000"/>
                <a:gd name="T54" fmla="*/ 772 w 804"/>
                <a:gd name="T55" fmla="*/ 224 h 1000"/>
                <a:gd name="T56" fmla="*/ 749 w 804"/>
                <a:gd name="T57" fmla="*/ 244 h 1000"/>
                <a:gd name="T58" fmla="*/ 737 w 804"/>
                <a:gd name="T59" fmla="*/ 240 h 1000"/>
                <a:gd name="T60" fmla="*/ 737 w 804"/>
                <a:gd name="T61" fmla="*/ 240 h 1000"/>
                <a:gd name="T62" fmla="*/ 705 w 804"/>
                <a:gd name="T63" fmla="*/ 267 h 1000"/>
                <a:gd name="T64" fmla="*/ 626 w 804"/>
                <a:gd name="T65" fmla="*/ 346 h 1000"/>
                <a:gd name="T66" fmla="*/ 579 w 804"/>
                <a:gd name="T67" fmla="*/ 397 h 1000"/>
                <a:gd name="T68" fmla="*/ 532 w 804"/>
                <a:gd name="T69" fmla="*/ 456 h 1000"/>
                <a:gd name="T70" fmla="*/ 489 w 804"/>
                <a:gd name="T71" fmla="*/ 519 h 1000"/>
                <a:gd name="T72" fmla="*/ 449 w 804"/>
                <a:gd name="T73" fmla="*/ 586 h 1000"/>
                <a:gd name="T74" fmla="*/ 449 w 804"/>
                <a:gd name="T75" fmla="*/ 586 h 1000"/>
                <a:gd name="T76" fmla="*/ 272 w 804"/>
                <a:gd name="T77" fmla="*/ 960 h 1000"/>
                <a:gd name="T78" fmla="*/ 181 w 804"/>
                <a:gd name="T79" fmla="*/ 1000 h 1000"/>
                <a:gd name="T80" fmla="*/ 91 w 804"/>
                <a:gd name="T81" fmla="*/ 984 h 1000"/>
                <a:gd name="T82" fmla="*/ 91 w 804"/>
                <a:gd name="T83" fmla="*/ 984 h 1000"/>
                <a:gd name="T84" fmla="*/ 59 w 804"/>
                <a:gd name="T85" fmla="*/ 976 h 1000"/>
                <a:gd name="T86" fmla="*/ 36 w 804"/>
                <a:gd name="T87" fmla="*/ 964 h 1000"/>
                <a:gd name="T88" fmla="*/ 20 w 804"/>
                <a:gd name="T89" fmla="*/ 953 h 1000"/>
                <a:gd name="T90" fmla="*/ 8 w 804"/>
                <a:gd name="T91" fmla="*/ 937 h 1000"/>
                <a:gd name="T92" fmla="*/ 4 w 804"/>
                <a:gd name="T93" fmla="*/ 921 h 1000"/>
                <a:gd name="T94" fmla="*/ 0 w 804"/>
                <a:gd name="T95" fmla="*/ 909 h 1000"/>
                <a:gd name="T96" fmla="*/ 0 w 804"/>
                <a:gd name="T97" fmla="*/ 901 h 1000"/>
                <a:gd name="T98" fmla="*/ 0 w 804"/>
                <a:gd name="T99" fmla="*/ 854 h 10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4"/>
                <a:gd name="T151" fmla="*/ 0 h 1000"/>
                <a:gd name="T152" fmla="*/ 804 w 804"/>
                <a:gd name="T153" fmla="*/ 1000 h 100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4" h="1000">
                  <a:moveTo>
                    <a:pt x="0" y="854"/>
                  </a:moveTo>
                  <a:lnTo>
                    <a:pt x="0" y="854"/>
                  </a:lnTo>
                  <a:lnTo>
                    <a:pt x="28" y="783"/>
                  </a:lnTo>
                  <a:lnTo>
                    <a:pt x="59" y="708"/>
                  </a:lnTo>
                  <a:lnTo>
                    <a:pt x="99" y="618"/>
                  </a:lnTo>
                  <a:lnTo>
                    <a:pt x="146" y="511"/>
                  </a:lnTo>
                  <a:lnTo>
                    <a:pt x="205" y="405"/>
                  </a:lnTo>
                  <a:lnTo>
                    <a:pt x="268" y="299"/>
                  </a:lnTo>
                  <a:lnTo>
                    <a:pt x="300" y="252"/>
                  </a:lnTo>
                  <a:lnTo>
                    <a:pt x="335" y="208"/>
                  </a:lnTo>
                  <a:lnTo>
                    <a:pt x="410" y="118"/>
                  </a:lnTo>
                  <a:lnTo>
                    <a:pt x="520" y="23"/>
                  </a:lnTo>
                  <a:lnTo>
                    <a:pt x="532" y="19"/>
                  </a:lnTo>
                  <a:lnTo>
                    <a:pt x="563" y="7"/>
                  </a:lnTo>
                  <a:lnTo>
                    <a:pt x="583" y="4"/>
                  </a:lnTo>
                  <a:lnTo>
                    <a:pt x="607" y="0"/>
                  </a:lnTo>
                  <a:lnTo>
                    <a:pt x="634" y="0"/>
                  </a:lnTo>
                  <a:lnTo>
                    <a:pt x="662" y="4"/>
                  </a:lnTo>
                  <a:lnTo>
                    <a:pt x="686" y="11"/>
                  </a:lnTo>
                  <a:lnTo>
                    <a:pt x="713" y="19"/>
                  </a:lnTo>
                  <a:lnTo>
                    <a:pt x="756" y="39"/>
                  </a:lnTo>
                  <a:lnTo>
                    <a:pt x="800" y="67"/>
                  </a:lnTo>
                  <a:lnTo>
                    <a:pt x="804" y="145"/>
                  </a:lnTo>
                  <a:lnTo>
                    <a:pt x="788" y="161"/>
                  </a:lnTo>
                  <a:lnTo>
                    <a:pt x="772" y="224"/>
                  </a:lnTo>
                  <a:lnTo>
                    <a:pt x="749" y="244"/>
                  </a:lnTo>
                  <a:lnTo>
                    <a:pt x="737" y="240"/>
                  </a:lnTo>
                  <a:lnTo>
                    <a:pt x="705" y="267"/>
                  </a:lnTo>
                  <a:lnTo>
                    <a:pt x="626" y="346"/>
                  </a:lnTo>
                  <a:lnTo>
                    <a:pt x="579" y="397"/>
                  </a:lnTo>
                  <a:lnTo>
                    <a:pt x="532" y="456"/>
                  </a:lnTo>
                  <a:lnTo>
                    <a:pt x="489" y="519"/>
                  </a:lnTo>
                  <a:lnTo>
                    <a:pt x="449" y="586"/>
                  </a:lnTo>
                  <a:lnTo>
                    <a:pt x="272" y="960"/>
                  </a:lnTo>
                  <a:lnTo>
                    <a:pt x="181" y="1000"/>
                  </a:lnTo>
                  <a:lnTo>
                    <a:pt x="91" y="984"/>
                  </a:lnTo>
                  <a:lnTo>
                    <a:pt x="59" y="976"/>
                  </a:lnTo>
                  <a:lnTo>
                    <a:pt x="36" y="964"/>
                  </a:lnTo>
                  <a:lnTo>
                    <a:pt x="20" y="953"/>
                  </a:lnTo>
                  <a:lnTo>
                    <a:pt x="8" y="937"/>
                  </a:lnTo>
                  <a:lnTo>
                    <a:pt x="4" y="921"/>
                  </a:lnTo>
                  <a:lnTo>
                    <a:pt x="0" y="909"/>
                  </a:lnTo>
                  <a:lnTo>
                    <a:pt x="0" y="901"/>
                  </a:lnTo>
                  <a:lnTo>
                    <a:pt x="0" y="85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39" name="Freeform 557"/>
            <p:cNvSpPr>
              <a:spLocks/>
            </p:cNvSpPr>
            <p:nvPr/>
          </p:nvSpPr>
          <p:spPr bwMode="auto">
            <a:xfrm>
              <a:off x="3405" y="1823"/>
              <a:ext cx="807" cy="997"/>
            </a:xfrm>
            <a:custGeom>
              <a:avLst/>
              <a:gdLst>
                <a:gd name="T0" fmla="*/ 0 w 807"/>
                <a:gd name="T1" fmla="*/ 835 h 997"/>
                <a:gd name="T2" fmla="*/ 0 w 807"/>
                <a:gd name="T3" fmla="*/ 835 h 997"/>
                <a:gd name="T4" fmla="*/ 27 w 807"/>
                <a:gd name="T5" fmla="*/ 768 h 997"/>
                <a:gd name="T6" fmla="*/ 59 w 807"/>
                <a:gd name="T7" fmla="*/ 693 h 997"/>
                <a:gd name="T8" fmla="*/ 98 w 807"/>
                <a:gd name="T9" fmla="*/ 603 h 997"/>
                <a:gd name="T10" fmla="*/ 149 w 807"/>
                <a:gd name="T11" fmla="*/ 500 h 997"/>
                <a:gd name="T12" fmla="*/ 204 w 807"/>
                <a:gd name="T13" fmla="*/ 394 h 997"/>
                <a:gd name="T14" fmla="*/ 267 w 807"/>
                <a:gd name="T15" fmla="*/ 288 h 997"/>
                <a:gd name="T16" fmla="*/ 299 w 807"/>
                <a:gd name="T17" fmla="*/ 240 h 997"/>
                <a:gd name="T18" fmla="*/ 334 w 807"/>
                <a:gd name="T19" fmla="*/ 197 h 997"/>
                <a:gd name="T20" fmla="*/ 334 w 807"/>
                <a:gd name="T21" fmla="*/ 197 h 997"/>
                <a:gd name="T22" fmla="*/ 413 w 807"/>
                <a:gd name="T23" fmla="*/ 114 h 997"/>
                <a:gd name="T24" fmla="*/ 523 w 807"/>
                <a:gd name="T25" fmla="*/ 24 h 997"/>
                <a:gd name="T26" fmla="*/ 523 w 807"/>
                <a:gd name="T27" fmla="*/ 24 h 997"/>
                <a:gd name="T28" fmla="*/ 535 w 807"/>
                <a:gd name="T29" fmla="*/ 16 h 997"/>
                <a:gd name="T30" fmla="*/ 567 w 807"/>
                <a:gd name="T31" fmla="*/ 8 h 997"/>
                <a:gd name="T32" fmla="*/ 587 w 807"/>
                <a:gd name="T33" fmla="*/ 4 h 997"/>
                <a:gd name="T34" fmla="*/ 610 w 807"/>
                <a:gd name="T35" fmla="*/ 0 h 997"/>
                <a:gd name="T36" fmla="*/ 638 w 807"/>
                <a:gd name="T37" fmla="*/ 0 h 997"/>
                <a:gd name="T38" fmla="*/ 661 w 807"/>
                <a:gd name="T39" fmla="*/ 4 h 997"/>
                <a:gd name="T40" fmla="*/ 661 w 807"/>
                <a:gd name="T41" fmla="*/ 4 h 997"/>
                <a:gd name="T42" fmla="*/ 689 w 807"/>
                <a:gd name="T43" fmla="*/ 8 h 997"/>
                <a:gd name="T44" fmla="*/ 716 w 807"/>
                <a:gd name="T45" fmla="*/ 20 h 997"/>
                <a:gd name="T46" fmla="*/ 760 w 807"/>
                <a:gd name="T47" fmla="*/ 40 h 997"/>
                <a:gd name="T48" fmla="*/ 799 w 807"/>
                <a:gd name="T49" fmla="*/ 63 h 997"/>
                <a:gd name="T50" fmla="*/ 807 w 807"/>
                <a:gd name="T51" fmla="*/ 146 h 997"/>
                <a:gd name="T52" fmla="*/ 791 w 807"/>
                <a:gd name="T53" fmla="*/ 162 h 997"/>
                <a:gd name="T54" fmla="*/ 772 w 807"/>
                <a:gd name="T55" fmla="*/ 189 h 997"/>
                <a:gd name="T56" fmla="*/ 744 w 807"/>
                <a:gd name="T57" fmla="*/ 213 h 997"/>
                <a:gd name="T58" fmla="*/ 661 w 807"/>
                <a:gd name="T59" fmla="*/ 272 h 997"/>
                <a:gd name="T60" fmla="*/ 661 w 807"/>
                <a:gd name="T61" fmla="*/ 272 h 997"/>
                <a:gd name="T62" fmla="*/ 642 w 807"/>
                <a:gd name="T63" fmla="*/ 296 h 997"/>
                <a:gd name="T64" fmla="*/ 590 w 807"/>
                <a:gd name="T65" fmla="*/ 363 h 997"/>
                <a:gd name="T66" fmla="*/ 559 w 807"/>
                <a:gd name="T67" fmla="*/ 410 h 997"/>
                <a:gd name="T68" fmla="*/ 523 w 807"/>
                <a:gd name="T69" fmla="*/ 461 h 997"/>
                <a:gd name="T70" fmla="*/ 488 w 807"/>
                <a:gd name="T71" fmla="*/ 520 h 997"/>
                <a:gd name="T72" fmla="*/ 453 w 807"/>
                <a:gd name="T73" fmla="*/ 587 h 997"/>
                <a:gd name="T74" fmla="*/ 453 w 807"/>
                <a:gd name="T75" fmla="*/ 587 h 997"/>
                <a:gd name="T76" fmla="*/ 275 w 807"/>
                <a:gd name="T77" fmla="*/ 957 h 997"/>
                <a:gd name="T78" fmla="*/ 185 w 807"/>
                <a:gd name="T79" fmla="*/ 997 h 997"/>
                <a:gd name="T80" fmla="*/ 90 w 807"/>
                <a:gd name="T81" fmla="*/ 985 h 997"/>
                <a:gd name="T82" fmla="*/ 90 w 807"/>
                <a:gd name="T83" fmla="*/ 985 h 997"/>
                <a:gd name="T84" fmla="*/ 63 w 807"/>
                <a:gd name="T85" fmla="*/ 977 h 997"/>
                <a:gd name="T86" fmla="*/ 39 w 807"/>
                <a:gd name="T87" fmla="*/ 965 h 997"/>
                <a:gd name="T88" fmla="*/ 23 w 807"/>
                <a:gd name="T89" fmla="*/ 949 h 997"/>
                <a:gd name="T90" fmla="*/ 11 w 807"/>
                <a:gd name="T91" fmla="*/ 934 h 997"/>
                <a:gd name="T92" fmla="*/ 7 w 807"/>
                <a:gd name="T93" fmla="*/ 922 h 997"/>
                <a:gd name="T94" fmla="*/ 4 w 807"/>
                <a:gd name="T95" fmla="*/ 910 h 997"/>
                <a:gd name="T96" fmla="*/ 4 w 807"/>
                <a:gd name="T97" fmla="*/ 898 h 997"/>
                <a:gd name="T98" fmla="*/ 0 w 807"/>
                <a:gd name="T99" fmla="*/ 835 h 9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7"/>
                <a:gd name="T151" fmla="*/ 0 h 997"/>
                <a:gd name="T152" fmla="*/ 807 w 807"/>
                <a:gd name="T153" fmla="*/ 997 h 9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7" h="997">
                  <a:moveTo>
                    <a:pt x="0" y="835"/>
                  </a:moveTo>
                  <a:lnTo>
                    <a:pt x="0" y="835"/>
                  </a:lnTo>
                  <a:lnTo>
                    <a:pt x="27" y="768"/>
                  </a:lnTo>
                  <a:lnTo>
                    <a:pt x="59" y="693"/>
                  </a:lnTo>
                  <a:lnTo>
                    <a:pt x="98" y="603"/>
                  </a:lnTo>
                  <a:lnTo>
                    <a:pt x="149" y="500"/>
                  </a:lnTo>
                  <a:lnTo>
                    <a:pt x="204" y="394"/>
                  </a:lnTo>
                  <a:lnTo>
                    <a:pt x="267" y="288"/>
                  </a:lnTo>
                  <a:lnTo>
                    <a:pt x="299" y="240"/>
                  </a:lnTo>
                  <a:lnTo>
                    <a:pt x="334" y="197"/>
                  </a:lnTo>
                  <a:lnTo>
                    <a:pt x="413" y="114"/>
                  </a:lnTo>
                  <a:lnTo>
                    <a:pt x="523" y="24"/>
                  </a:lnTo>
                  <a:lnTo>
                    <a:pt x="535" y="16"/>
                  </a:lnTo>
                  <a:lnTo>
                    <a:pt x="567" y="8"/>
                  </a:lnTo>
                  <a:lnTo>
                    <a:pt x="587" y="4"/>
                  </a:lnTo>
                  <a:lnTo>
                    <a:pt x="610" y="0"/>
                  </a:lnTo>
                  <a:lnTo>
                    <a:pt x="638" y="0"/>
                  </a:lnTo>
                  <a:lnTo>
                    <a:pt x="661" y="4"/>
                  </a:lnTo>
                  <a:lnTo>
                    <a:pt x="689" y="8"/>
                  </a:lnTo>
                  <a:lnTo>
                    <a:pt x="716" y="20"/>
                  </a:lnTo>
                  <a:lnTo>
                    <a:pt x="760" y="40"/>
                  </a:lnTo>
                  <a:lnTo>
                    <a:pt x="799" y="63"/>
                  </a:lnTo>
                  <a:lnTo>
                    <a:pt x="807" y="146"/>
                  </a:lnTo>
                  <a:lnTo>
                    <a:pt x="791" y="162"/>
                  </a:lnTo>
                  <a:lnTo>
                    <a:pt x="772" y="189"/>
                  </a:lnTo>
                  <a:lnTo>
                    <a:pt x="744" y="213"/>
                  </a:lnTo>
                  <a:lnTo>
                    <a:pt x="661" y="272"/>
                  </a:lnTo>
                  <a:lnTo>
                    <a:pt x="642" y="296"/>
                  </a:lnTo>
                  <a:lnTo>
                    <a:pt x="590" y="363"/>
                  </a:lnTo>
                  <a:lnTo>
                    <a:pt x="559" y="410"/>
                  </a:lnTo>
                  <a:lnTo>
                    <a:pt x="523" y="461"/>
                  </a:lnTo>
                  <a:lnTo>
                    <a:pt x="488" y="520"/>
                  </a:lnTo>
                  <a:lnTo>
                    <a:pt x="453" y="587"/>
                  </a:lnTo>
                  <a:lnTo>
                    <a:pt x="275" y="957"/>
                  </a:lnTo>
                  <a:lnTo>
                    <a:pt x="185" y="997"/>
                  </a:lnTo>
                  <a:lnTo>
                    <a:pt x="90" y="985"/>
                  </a:lnTo>
                  <a:lnTo>
                    <a:pt x="63" y="977"/>
                  </a:lnTo>
                  <a:lnTo>
                    <a:pt x="39" y="965"/>
                  </a:lnTo>
                  <a:lnTo>
                    <a:pt x="23" y="949"/>
                  </a:lnTo>
                  <a:lnTo>
                    <a:pt x="11" y="934"/>
                  </a:lnTo>
                  <a:lnTo>
                    <a:pt x="7" y="922"/>
                  </a:lnTo>
                  <a:lnTo>
                    <a:pt x="4" y="910"/>
                  </a:lnTo>
                  <a:lnTo>
                    <a:pt x="4" y="898"/>
                  </a:lnTo>
                  <a:lnTo>
                    <a:pt x="0" y="835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0" name="Freeform 558"/>
            <p:cNvSpPr>
              <a:spLocks/>
            </p:cNvSpPr>
            <p:nvPr/>
          </p:nvSpPr>
          <p:spPr bwMode="auto">
            <a:xfrm>
              <a:off x="3353" y="1784"/>
              <a:ext cx="835" cy="1036"/>
            </a:xfrm>
            <a:custGeom>
              <a:avLst/>
              <a:gdLst>
                <a:gd name="T0" fmla="*/ 91 w 835"/>
                <a:gd name="T1" fmla="*/ 740 h 1036"/>
                <a:gd name="T2" fmla="*/ 225 w 835"/>
                <a:gd name="T3" fmla="*/ 461 h 1036"/>
                <a:gd name="T4" fmla="*/ 304 w 835"/>
                <a:gd name="T5" fmla="*/ 331 h 1036"/>
                <a:gd name="T6" fmla="*/ 434 w 835"/>
                <a:gd name="T7" fmla="*/ 165 h 1036"/>
                <a:gd name="T8" fmla="*/ 520 w 835"/>
                <a:gd name="T9" fmla="*/ 94 h 1036"/>
                <a:gd name="T10" fmla="*/ 639 w 835"/>
                <a:gd name="T11" fmla="*/ 43 h 1036"/>
                <a:gd name="T12" fmla="*/ 682 w 835"/>
                <a:gd name="T13" fmla="*/ 43 h 1036"/>
                <a:gd name="T14" fmla="*/ 772 w 835"/>
                <a:gd name="T15" fmla="*/ 79 h 1036"/>
                <a:gd name="T16" fmla="*/ 796 w 835"/>
                <a:gd name="T17" fmla="*/ 75 h 1036"/>
                <a:gd name="T18" fmla="*/ 800 w 835"/>
                <a:gd name="T19" fmla="*/ 193 h 1036"/>
                <a:gd name="T20" fmla="*/ 788 w 835"/>
                <a:gd name="T21" fmla="*/ 197 h 1036"/>
                <a:gd name="T22" fmla="*/ 757 w 835"/>
                <a:gd name="T23" fmla="*/ 224 h 1036"/>
                <a:gd name="T24" fmla="*/ 650 w 835"/>
                <a:gd name="T25" fmla="*/ 323 h 1036"/>
                <a:gd name="T26" fmla="*/ 540 w 835"/>
                <a:gd name="T27" fmla="*/ 449 h 1036"/>
                <a:gd name="T28" fmla="*/ 453 w 835"/>
                <a:gd name="T29" fmla="*/ 591 h 1036"/>
                <a:gd name="T30" fmla="*/ 316 w 835"/>
                <a:gd name="T31" fmla="*/ 870 h 1036"/>
                <a:gd name="T32" fmla="*/ 288 w 835"/>
                <a:gd name="T33" fmla="*/ 933 h 1036"/>
                <a:gd name="T34" fmla="*/ 260 w 835"/>
                <a:gd name="T35" fmla="*/ 965 h 1036"/>
                <a:gd name="T36" fmla="*/ 209 w 835"/>
                <a:gd name="T37" fmla="*/ 988 h 1036"/>
                <a:gd name="T38" fmla="*/ 111 w 835"/>
                <a:gd name="T39" fmla="*/ 984 h 1036"/>
                <a:gd name="T40" fmla="*/ 67 w 835"/>
                <a:gd name="T41" fmla="*/ 973 h 1036"/>
                <a:gd name="T42" fmla="*/ 40 w 835"/>
                <a:gd name="T43" fmla="*/ 937 h 1036"/>
                <a:gd name="T44" fmla="*/ 36 w 835"/>
                <a:gd name="T45" fmla="*/ 882 h 1036"/>
                <a:gd name="T46" fmla="*/ 16 w 835"/>
                <a:gd name="T47" fmla="*/ 854 h 1036"/>
                <a:gd name="T48" fmla="*/ 0 w 835"/>
                <a:gd name="T49" fmla="*/ 854 h 1036"/>
                <a:gd name="T50" fmla="*/ 0 w 835"/>
                <a:gd name="T51" fmla="*/ 894 h 1036"/>
                <a:gd name="T52" fmla="*/ 20 w 835"/>
                <a:gd name="T53" fmla="*/ 969 h 1036"/>
                <a:gd name="T54" fmla="*/ 79 w 835"/>
                <a:gd name="T55" fmla="*/ 1020 h 1036"/>
                <a:gd name="T56" fmla="*/ 166 w 835"/>
                <a:gd name="T57" fmla="*/ 1036 h 1036"/>
                <a:gd name="T58" fmla="*/ 252 w 835"/>
                <a:gd name="T59" fmla="*/ 1028 h 1036"/>
                <a:gd name="T60" fmla="*/ 312 w 835"/>
                <a:gd name="T61" fmla="*/ 976 h 1036"/>
                <a:gd name="T62" fmla="*/ 434 w 835"/>
                <a:gd name="T63" fmla="*/ 713 h 1036"/>
                <a:gd name="T64" fmla="*/ 544 w 835"/>
                <a:gd name="T65" fmla="*/ 524 h 1036"/>
                <a:gd name="T66" fmla="*/ 639 w 835"/>
                <a:gd name="T67" fmla="*/ 402 h 1036"/>
                <a:gd name="T68" fmla="*/ 828 w 835"/>
                <a:gd name="T69" fmla="*/ 224 h 1036"/>
                <a:gd name="T70" fmla="*/ 835 w 835"/>
                <a:gd name="T71" fmla="*/ 205 h 1036"/>
                <a:gd name="T72" fmla="*/ 832 w 835"/>
                <a:gd name="T73" fmla="*/ 126 h 1036"/>
                <a:gd name="T74" fmla="*/ 816 w 835"/>
                <a:gd name="T75" fmla="*/ 67 h 1036"/>
                <a:gd name="T76" fmla="*/ 749 w 835"/>
                <a:gd name="T77" fmla="*/ 27 h 1036"/>
                <a:gd name="T78" fmla="*/ 654 w 835"/>
                <a:gd name="T79" fmla="*/ 0 h 1036"/>
                <a:gd name="T80" fmla="*/ 603 w 835"/>
                <a:gd name="T81" fmla="*/ 4 h 1036"/>
                <a:gd name="T82" fmla="*/ 528 w 835"/>
                <a:gd name="T83" fmla="*/ 31 h 1036"/>
                <a:gd name="T84" fmla="*/ 422 w 835"/>
                <a:gd name="T85" fmla="*/ 114 h 1036"/>
                <a:gd name="T86" fmla="*/ 351 w 835"/>
                <a:gd name="T87" fmla="*/ 189 h 1036"/>
                <a:gd name="T88" fmla="*/ 233 w 835"/>
                <a:gd name="T89" fmla="*/ 354 h 1036"/>
                <a:gd name="T90" fmla="*/ 91 w 835"/>
                <a:gd name="T91" fmla="*/ 630 h 1036"/>
                <a:gd name="T92" fmla="*/ 0 w 835"/>
                <a:gd name="T93" fmla="*/ 858 h 1036"/>
                <a:gd name="T94" fmla="*/ 0 w 835"/>
                <a:gd name="T95" fmla="*/ 874 h 1036"/>
                <a:gd name="T96" fmla="*/ 24 w 835"/>
                <a:gd name="T97" fmla="*/ 894 h 1036"/>
                <a:gd name="T98" fmla="*/ 32 w 835"/>
                <a:gd name="T99" fmla="*/ 886 h 10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35"/>
                <a:gd name="T151" fmla="*/ 0 h 1036"/>
                <a:gd name="T152" fmla="*/ 835 w 835"/>
                <a:gd name="T153" fmla="*/ 1036 h 10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35" h="1036">
                  <a:moveTo>
                    <a:pt x="32" y="886"/>
                  </a:moveTo>
                  <a:lnTo>
                    <a:pt x="32" y="886"/>
                  </a:lnTo>
                  <a:lnTo>
                    <a:pt x="91" y="740"/>
                  </a:lnTo>
                  <a:lnTo>
                    <a:pt x="154" y="598"/>
                  </a:lnTo>
                  <a:lnTo>
                    <a:pt x="186" y="531"/>
                  </a:lnTo>
                  <a:lnTo>
                    <a:pt x="225" y="461"/>
                  </a:lnTo>
                  <a:lnTo>
                    <a:pt x="264" y="394"/>
                  </a:lnTo>
                  <a:lnTo>
                    <a:pt x="304" y="331"/>
                  </a:lnTo>
                  <a:lnTo>
                    <a:pt x="343" y="272"/>
                  </a:lnTo>
                  <a:lnTo>
                    <a:pt x="386" y="216"/>
                  </a:lnTo>
                  <a:lnTo>
                    <a:pt x="434" y="165"/>
                  </a:lnTo>
                  <a:lnTo>
                    <a:pt x="485" y="118"/>
                  </a:lnTo>
                  <a:lnTo>
                    <a:pt x="520" y="94"/>
                  </a:lnTo>
                  <a:lnTo>
                    <a:pt x="556" y="71"/>
                  </a:lnTo>
                  <a:lnTo>
                    <a:pt x="595" y="55"/>
                  </a:lnTo>
                  <a:lnTo>
                    <a:pt x="639" y="43"/>
                  </a:lnTo>
                  <a:lnTo>
                    <a:pt x="658" y="39"/>
                  </a:lnTo>
                  <a:lnTo>
                    <a:pt x="682" y="43"/>
                  </a:lnTo>
                  <a:lnTo>
                    <a:pt x="705" y="51"/>
                  </a:lnTo>
                  <a:lnTo>
                    <a:pt x="729" y="59"/>
                  </a:lnTo>
                  <a:lnTo>
                    <a:pt x="772" y="79"/>
                  </a:lnTo>
                  <a:lnTo>
                    <a:pt x="816" y="102"/>
                  </a:lnTo>
                  <a:lnTo>
                    <a:pt x="796" y="75"/>
                  </a:lnTo>
                  <a:lnTo>
                    <a:pt x="800" y="193"/>
                  </a:lnTo>
                  <a:lnTo>
                    <a:pt x="800" y="185"/>
                  </a:lnTo>
                  <a:lnTo>
                    <a:pt x="796" y="189"/>
                  </a:lnTo>
                  <a:lnTo>
                    <a:pt x="788" y="197"/>
                  </a:lnTo>
                  <a:lnTo>
                    <a:pt x="757" y="224"/>
                  </a:lnTo>
                  <a:lnTo>
                    <a:pt x="733" y="244"/>
                  </a:lnTo>
                  <a:lnTo>
                    <a:pt x="650" y="323"/>
                  </a:lnTo>
                  <a:lnTo>
                    <a:pt x="615" y="362"/>
                  </a:lnTo>
                  <a:lnTo>
                    <a:pt x="575" y="405"/>
                  </a:lnTo>
                  <a:lnTo>
                    <a:pt x="540" y="449"/>
                  </a:lnTo>
                  <a:lnTo>
                    <a:pt x="509" y="492"/>
                  </a:lnTo>
                  <a:lnTo>
                    <a:pt x="477" y="539"/>
                  </a:lnTo>
                  <a:lnTo>
                    <a:pt x="453" y="591"/>
                  </a:lnTo>
                  <a:lnTo>
                    <a:pt x="382" y="728"/>
                  </a:lnTo>
                  <a:lnTo>
                    <a:pt x="316" y="870"/>
                  </a:lnTo>
                  <a:lnTo>
                    <a:pt x="304" y="906"/>
                  </a:lnTo>
                  <a:lnTo>
                    <a:pt x="288" y="933"/>
                  </a:lnTo>
                  <a:lnTo>
                    <a:pt x="280" y="945"/>
                  </a:lnTo>
                  <a:lnTo>
                    <a:pt x="272" y="957"/>
                  </a:lnTo>
                  <a:lnTo>
                    <a:pt x="260" y="965"/>
                  </a:lnTo>
                  <a:lnTo>
                    <a:pt x="245" y="973"/>
                  </a:lnTo>
                  <a:lnTo>
                    <a:pt x="209" y="988"/>
                  </a:lnTo>
                  <a:lnTo>
                    <a:pt x="182" y="992"/>
                  </a:lnTo>
                  <a:lnTo>
                    <a:pt x="150" y="992"/>
                  </a:lnTo>
                  <a:lnTo>
                    <a:pt x="111" y="984"/>
                  </a:lnTo>
                  <a:lnTo>
                    <a:pt x="87" y="980"/>
                  </a:lnTo>
                  <a:lnTo>
                    <a:pt x="67" y="973"/>
                  </a:lnTo>
                  <a:lnTo>
                    <a:pt x="56" y="965"/>
                  </a:lnTo>
                  <a:lnTo>
                    <a:pt x="44" y="953"/>
                  </a:lnTo>
                  <a:lnTo>
                    <a:pt x="40" y="937"/>
                  </a:lnTo>
                  <a:lnTo>
                    <a:pt x="36" y="921"/>
                  </a:lnTo>
                  <a:lnTo>
                    <a:pt x="36" y="882"/>
                  </a:lnTo>
                  <a:lnTo>
                    <a:pt x="32" y="874"/>
                  </a:lnTo>
                  <a:lnTo>
                    <a:pt x="28" y="866"/>
                  </a:lnTo>
                  <a:lnTo>
                    <a:pt x="16" y="854"/>
                  </a:lnTo>
                  <a:lnTo>
                    <a:pt x="12" y="850"/>
                  </a:lnTo>
                  <a:lnTo>
                    <a:pt x="4" y="850"/>
                  </a:lnTo>
                  <a:lnTo>
                    <a:pt x="0" y="854"/>
                  </a:lnTo>
                  <a:lnTo>
                    <a:pt x="0" y="862"/>
                  </a:lnTo>
                  <a:lnTo>
                    <a:pt x="0" y="894"/>
                  </a:lnTo>
                  <a:lnTo>
                    <a:pt x="4" y="921"/>
                  </a:lnTo>
                  <a:lnTo>
                    <a:pt x="8" y="949"/>
                  </a:lnTo>
                  <a:lnTo>
                    <a:pt x="20" y="969"/>
                  </a:lnTo>
                  <a:lnTo>
                    <a:pt x="36" y="988"/>
                  </a:lnTo>
                  <a:lnTo>
                    <a:pt x="56" y="1008"/>
                  </a:lnTo>
                  <a:lnTo>
                    <a:pt x="79" y="1020"/>
                  </a:lnTo>
                  <a:lnTo>
                    <a:pt x="111" y="1028"/>
                  </a:lnTo>
                  <a:lnTo>
                    <a:pt x="166" y="1036"/>
                  </a:lnTo>
                  <a:lnTo>
                    <a:pt x="193" y="1036"/>
                  </a:lnTo>
                  <a:lnTo>
                    <a:pt x="225" y="1036"/>
                  </a:lnTo>
                  <a:lnTo>
                    <a:pt x="252" y="1028"/>
                  </a:lnTo>
                  <a:lnTo>
                    <a:pt x="276" y="1020"/>
                  </a:lnTo>
                  <a:lnTo>
                    <a:pt x="296" y="1000"/>
                  </a:lnTo>
                  <a:lnTo>
                    <a:pt x="312" y="976"/>
                  </a:lnTo>
                  <a:lnTo>
                    <a:pt x="375" y="847"/>
                  </a:lnTo>
                  <a:lnTo>
                    <a:pt x="434" y="713"/>
                  </a:lnTo>
                  <a:lnTo>
                    <a:pt x="469" y="650"/>
                  </a:lnTo>
                  <a:lnTo>
                    <a:pt x="505" y="587"/>
                  </a:lnTo>
                  <a:lnTo>
                    <a:pt x="544" y="524"/>
                  </a:lnTo>
                  <a:lnTo>
                    <a:pt x="583" y="468"/>
                  </a:lnTo>
                  <a:lnTo>
                    <a:pt x="639" y="402"/>
                  </a:lnTo>
                  <a:lnTo>
                    <a:pt x="702" y="339"/>
                  </a:lnTo>
                  <a:lnTo>
                    <a:pt x="761" y="283"/>
                  </a:lnTo>
                  <a:lnTo>
                    <a:pt x="828" y="224"/>
                  </a:lnTo>
                  <a:lnTo>
                    <a:pt x="832" y="216"/>
                  </a:lnTo>
                  <a:lnTo>
                    <a:pt x="835" y="205"/>
                  </a:lnTo>
                  <a:lnTo>
                    <a:pt x="835" y="177"/>
                  </a:lnTo>
                  <a:lnTo>
                    <a:pt x="832" y="126"/>
                  </a:lnTo>
                  <a:lnTo>
                    <a:pt x="832" y="98"/>
                  </a:lnTo>
                  <a:lnTo>
                    <a:pt x="824" y="83"/>
                  </a:lnTo>
                  <a:lnTo>
                    <a:pt x="816" y="67"/>
                  </a:lnTo>
                  <a:lnTo>
                    <a:pt x="792" y="51"/>
                  </a:lnTo>
                  <a:lnTo>
                    <a:pt x="749" y="27"/>
                  </a:lnTo>
                  <a:lnTo>
                    <a:pt x="702" y="12"/>
                  </a:lnTo>
                  <a:lnTo>
                    <a:pt x="678" y="4"/>
                  </a:lnTo>
                  <a:lnTo>
                    <a:pt x="654" y="0"/>
                  </a:lnTo>
                  <a:lnTo>
                    <a:pt x="631" y="0"/>
                  </a:lnTo>
                  <a:lnTo>
                    <a:pt x="603" y="4"/>
                  </a:lnTo>
                  <a:lnTo>
                    <a:pt x="579" y="8"/>
                  </a:lnTo>
                  <a:lnTo>
                    <a:pt x="552" y="20"/>
                  </a:lnTo>
                  <a:lnTo>
                    <a:pt x="528" y="31"/>
                  </a:lnTo>
                  <a:lnTo>
                    <a:pt x="505" y="47"/>
                  </a:lnTo>
                  <a:lnTo>
                    <a:pt x="461" y="79"/>
                  </a:lnTo>
                  <a:lnTo>
                    <a:pt x="422" y="114"/>
                  </a:lnTo>
                  <a:lnTo>
                    <a:pt x="386" y="150"/>
                  </a:lnTo>
                  <a:lnTo>
                    <a:pt x="351" y="189"/>
                  </a:lnTo>
                  <a:lnTo>
                    <a:pt x="319" y="228"/>
                  </a:lnTo>
                  <a:lnTo>
                    <a:pt x="288" y="268"/>
                  </a:lnTo>
                  <a:lnTo>
                    <a:pt x="233" y="354"/>
                  </a:lnTo>
                  <a:lnTo>
                    <a:pt x="182" y="445"/>
                  </a:lnTo>
                  <a:lnTo>
                    <a:pt x="134" y="535"/>
                  </a:lnTo>
                  <a:lnTo>
                    <a:pt x="91" y="630"/>
                  </a:lnTo>
                  <a:lnTo>
                    <a:pt x="16" y="823"/>
                  </a:lnTo>
                  <a:lnTo>
                    <a:pt x="0" y="858"/>
                  </a:lnTo>
                  <a:lnTo>
                    <a:pt x="0" y="866"/>
                  </a:lnTo>
                  <a:lnTo>
                    <a:pt x="0" y="874"/>
                  </a:lnTo>
                  <a:lnTo>
                    <a:pt x="12" y="886"/>
                  </a:lnTo>
                  <a:lnTo>
                    <a:pt x="16" y="894"/>
                  </a:lnTo>
                  <a:lnTo>
                    <a:pt x="24" y="894"/>
                  </a:lnTo>
                  <a:lnTo>
                    <a:pt x="28" y="894"/>
                  </a:lnTo>
                  <a:lnTo>
                    <a:pt x="32" y="8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1" name="Freeform 559"/>
            <p:cNvSpPr>
              <a:spLocks/>
            </p:cNvSpPr>
            <p:nvPr/>
          </p:nvSpPr>
          <p:spPr bwMode="auto">
            <a:xfrm>
              <a:off x="4488" y="2075"/>
              <a:ext cx="437" cy="1004"/>
            </a:xfrm>
            <a:custGeom>
              <a:avLst/>
              <a:gdLst>
                <a:gd name="T0" fmla="*/ 8 w 437"/>
                <a:gd name="T1" fmla="*/ 1004 h 1004"/>
                <a:gd name="T2" fmla="*/ 8 w 437"/>
                <a:gd name="T3" fmla="*/ 1004 h 1004"/>
                <a:gd name="T4" fmla="*/ 4 w 437"/>
                <a:gd name="T5" fmla="*/ 1004 h 1004"/>
                <a:gd name="T6" fmla="*/ 0 w 437"/>
                <a:gd name="T7" fmla="*/ 993 h 1004"/>
                <a:gd name="T8" fmla="*/ 0 w 437"/>
                <a:gd name="T9" fmla="*/ 981 h 1004"/>
                <a:gd name="T10" fmla="*/ 0 w 437"/>
                <a:gd name="T11" fmla="*/ 969 h 1004"/>
                <a:gd name="T12" fmla="*/ 4 w 437"/>
                <a:gd name="T13" fmla="*/ 945 h 1004"/>
                <a:gd name="T14" fmla="*/ 12 w 437"/>
                <a:gd name="T15" fmla="*/ 922 h 1004"/>
                <a:gd name="T16" fmla="*/ 12 w 437"/>
                <a:gd name="T17" fmla="*/ 922 h 1004"/>
                <a:gd name="T18" fmla="*/ 106 w 437"/>
                <a:gd name="T19" fmla="*/ 682 h 1004"/>
                <a:gd name="T20" fmla="*/ 228 w 437"/>
                <a:gd name="T21" fmla="*/ 386 h 1004"/>
                <a:gd name="T22" fmla="*/ 291 w 437"/>
                <a:gd name="T23" fmla="*/ 248 h 1004"/>
                <a:gd name="T24" fmla="*/ 346 w 437"/>
                <a:gd name="T25" fmla="*/ 130 h 1004"/>
                <a:gd name="T26" fmla="*/ 390 w 437"/>
                <a:gd name="T27" fmla="*/ 44 h 1004"/>
                <a:gd name="T28" fmla="*/ 406 w 437"/>
                <a:gd name="T29" fmla="*/ 16 h 1004"/>
                <a:gd name="T30" fmla="*/ 421 w 437"/>
                <a:gd name="T31" fmla="*/ 0 h 1004"/>
                <a:gd name="T32" fmla="*/ 421 w 437"/>
                <a:gd name="T33" fmla="*/ 0 h 1004"/>
                <a:gd name="T34" fmla="*/ 421 w 437"/>
                <a:gd name="T35" fmla="*/ 0 h 1004"/>
                <a:gd name="T36" fmla="*/ 425 w 437"/>
                <a:gd name="T37" fmla="*/ 4 h 1004"/>
                <a:gd name="T38" fmla="*/ 429 w 437"/>
                <a:gd name="T39" fmla="*/ 16 h 1004"/>
                <a:gd name="T40" fmla="*/ 433 w 437"/>
                <a:gd name="T41" fmla="*/ 55 h 1004"/>
                <a:gd name="T42" fmla="*/ 437 w 437"/>
                <a:gd name="T43" fmla="*/ 118 h 1004"/>
                <a:gd name="T44" fmla="*/ 425 w 437"/>
                <a:gd name="T45" fmla="*/ 177 h 1004"/>
                <a:gd name="T46" fmla="*/ 382 w 437"/>
                <a:gd name="T47" fmla="*/ 351 h 1004"/>
                <a:gd name="T48" fmla="*/ 8 w 437"/>
                <a:gd name="T49" fmla="*/ 1004 h 100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37"/>
                <a:gd name="T76" fmla="*/ 0 h 1004"/>
                <a:gd name="T77" fmla="*/ 437 w 437"/>
                <a:gd name="T78" fmla="*/ 1004 h 100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37" h="1004">
                  <a:moveTo>
                    <a:pt x="8" y="1004"/>
                  </a:moveTo>
                  <a:lnTo>
                    <a:pt x="8" y="1004"/>
                  </a:lnTo>
                  <a:lnTo>
                    <a:pt x="4" y="1004"/>
                  </a:lnTo>
                  <a:lnTo>
                    <a:pt x="0" y="993"/>
                  </a:lnTo>
                  <a:lnTo>
                    <a:pt x="0" y="981"/>
                  </a:lnTo>
                  <a:lnTo>
                    <a:pt x="0" y="969"/>
                  </a:lnTo>
                  <a:lnTo>
                    <a:pt x="4" y="945"/>
                  </a:lnTo>
                  <a:lnTo>
                    <a:pt x="12" y="922"/>
                  </a:lnTo>
                  <a:lnTo>
                    <a:pt x="106" y="682"/>
                  </a:lnTo>
                  <a:lnTo>
                    <a:pt x="228" y="386"/>
                  </a:lnTo>
                  <a:lnTo>
                    <a:pt x="291" y="248"/>
                  </a:lnTo>
                  <a:lnTo>
                    <a:pt x="346" y="130"/>
                  </a:lnTo>
                  <a:lnTo>
                    <a:pt x="390" y="44"/>
                  </a:lnTo>
                  <a:lnTo>
                    <a:pt x="406" y="16"/>
                  </a:lnTo>
                  <a:lnTo>
                    <a:pt x="421" y="0"/>
                  </a:lnTo>
                  <a:lnTo>
                    <a:pt x="425" y="4"/>
                  </a:lnTo>
                  <a:lnTo>
                    <a:pt x="429" y="16"/>
                  </a:lnTo>
                  <a:lnTo>
                    <a:pt x="433" y="55"/>
                  </a:lnTo>
                  <a:lnTo>
                    <a:pt x="437" y="118"/>
                  </a:lnTo>
                  <a:lnTo>
                    <a:pt x="425" y="177"/>
                  </a:lnTo>
                  <a:lnTo>
                    <a:pt x="382" y="351"/>
                  </a:lnTo>
                  <a:lnTo>
                    <a:pt x="8" y="1004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2" name="Freeform 560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w 342"/>
                <a:gd name="T23" fmla="*/ 83 h 1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2"/>
                <a:gd name="T37" fmla="*/ 0 h 153"/>
                <a:gd name="T38" fmla="*/ 342 w 342"/>
                <a:gd name="T39" fmla="*/ 153 h 15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7E9FA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3" name="Freeform 561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2"/>
                <a:gd name="T34" fmla="*/ 0 h 153"/>
                <a:gd name="T35" fmla="*/ 342 w 342"/>
                <a:gd name="T36" fmla="*/ 153 h 1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4" name="Freeform 562"/>
            <p:cNvSpPr>
              <a:spLocks/>
            </p:cNvSpPr>
            <p:nvPr/>
          </p:nvSpPr>
          <p:spPr bwMode="auto">
            <a:xfrm>
              <a:off x="4267" y="2245"/>
              <a:ext cx="292" cy="114"/>
            </a:xfrm>
            <a:custGeom>
              <a:avLst/>
              <a:gdLst>
                <a:gd name="T0" fmla="*/ 32 w 292"/>
                <a:gd name="T1" fmla="*/ 0 h 114"/>
                <a:gd name="T2" fmla="*/ 292 w 292"/>
                <a:gd name="T3" fmla="*/ 55 h 114"/>
                <a:gd name="T4" fmla="*/ 252 w 292"/>
                <a:gd name="T5" fmla="*/ 114 h 114"/>
                <a:gd name="T6" fmla="*/ 252 w 292"/>
                <a:gd name="T7" fmla="*/ 114 h 114"/>
                <a:gd name="T8" fmla="*/ 209 w 292"/>
                <a:gd name="T9" fmla="*/ 102 h 114"/>
                <a:gd name="T10" fmla="*/ 83 w 292"/>
                <a:gd name="T11" fmla="*/ 74 h 114"/>
                <a:gd name="T12" fmla="*/ 83 w 292"/>
                <a:gd name="T13" fmla="*/ 74 h 114"/>
                <a:gd name="T14" fmla="*/ 0 w 292"/>
                <a:gd name="T15" fmla="*/ 55 h 114"/>
                <a:gd name="T16" fmla="*/ 32 w 292"/>
                <a:gd name="T17" fmla="*/ 0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2"/>
                <a:gd name="T28" fmla="*/ 0 h 114"/>
                <a:gd name="T29" fmla="*/ 292 w 292"/>
                <a:gd name="T30" fmla="*/ 114 h 1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2" h="114">
                  <a:moveTo>
                    <a:pt x="32" y="0"/>
                  </a:moveTo>
                  <a:lnTo>
                    <a:pt x="292" y="55"/>
                  </a:lnTo>
                  <a:lnTo>
                    <a:pt x="252" y="114"/>
                  </a:lnTo>
                  <a:lnTo>
                    <a:pt x="209" y="102"/>
                  </a:lnTo>
                  <a:lnTo>
                    <a:pt x="83" y="74"/>
                  </a:lnTo>
                  <a:lnTo>
                    <a:pt x="0" y="5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BFBFA2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5" name="Freeform 563"/>
            <p:cNvSpPr>
              <a:spLocks/>
            </p:cNvSpPr>
            <p:nvPr/>
          </p:nvSpPr>
          <p:spPr bwMode="auto">
            <a:xfrm>
              <a:off x="4240" y="2233"/>
              <a:ext cx="59" cy="79"/>
            </a:xfrm>
            <a:custGeom>
              <a:avLst/>
              <a:gdLst>
                <a:gd name="T0" fmla="*/ 0 w 59"/>
                <a:gd name="T1" fmla="*/ 79 h 79"/>
                <a:gd name="T2" fmla="*/ 27 w 59"/>
                <a:gd name="T3" fmla="*/ 67 h 79"/>
                <a:gd name="T4" fmla="*/ 59 w 59"/>
                <a:gd name="T5" fmla="*/ 12 h 79"/>
                <a:gd name="T6" fmla="*/ 47 w 59"/>
                <a:gd name="T7" fmla="*/ 0 h 79"/>
                <a:gd name="T8" fmla="*/ 0 w 59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79"/>
                <a:gd name="T17" fmla="*/ 59 w 5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79">
                  <a:moveTo>
                    <a:pt x="0" y="79"/>
                  </a:moveTo>
                  <a:lnTo>
                    <a:pt x="27" y="67"/>
                  </a:lnTo>
                  <a:lnTo>
                    <a:pt x="59" y="12"/>
                  </a:lnTo>
                  <a:lnTo>
                    <a:pt x="47" y="0"/>
                  </a:lnTo>
                  <a:lnTo>
                    <a:pt x="0" y="79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6" name="Freeform 564"/>
            <p:cNvSpPr>
              <a:spLocks/>
            </p:cNvSpPr>
            <p:nvPr/>
          </p:nvSpPr>
          <p:spPr bwMode="auto">
            <a:xfrm>
              <a:off x="4519" y="2284"/>
              <a:ext cx="59" cy="91"/>
            </a:xfrm>
            <a:custGeom>
              <a:avLst/>
              <a:gdLst>
                <a:gd name="T0" fmla="*/ 40 w 59"/>
                <a:gd name="T1" fmla="*/ 8 h 91"/>
                <a:gd name="T2" fmla="*/ 59 w 59"/>
                <a:gd name="T3" fmla="*/ 0 h 91"/>
                <a:gd name="T4" fmla="*/ 4 w 59"/>
                <a:gd name="T5" fmla="*/ 91 h 91"/>
                <a:gd name="T6" fmla="*/ 0 w 59"/>
                <a:gd name="T7" fmla="*/ 75 h 91"/>
                <a:gd name="T8" fmla="*/ 40 w 59"/>
                <a:gd name="T9" fmla="*/ 8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91"/>
                <a:gd name="T17" fmla="*/ 59 w 59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91">
                  <a:moveTo>
                    <a:pt x="40" y="8"/>
                  </a:moveTo>
                  <a:lnTo>
                    <a:pt x="59" y="0"/>
                  </a:lnTo>
                  <a:lnTo>
                    <a:pt x="4" y="91"/>
                  </a:lnTo>
                  <a:lnTo>
                    <a:pt x="0" y="75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ABC3C9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7" name="Freeform 565"/>
            <p:cNvSpPr>
              <a:spLocks/>
            </p:cNvSpPr>
            <p:nvPr/>
          </p:nvSpPr>
          <p:spPr bwMode="auto">
            <a:xfrm>
              <a:off x="3732" y="2060"/>
              <a:ext cx="319" cy="523"/>
            </a:xfrm>
            <a:custGeom>
              <a:avLst/>
              <a:gdLst>
                <a:gd name="T0" fmla="*/ 3 w 319"/>
                <a:gd name="T1" fmla="*/ 523 h 523"/>
                <a:gd name="T2" fmla="*/ 3 w 319"/>
                <a:gd name="T3" fmla="*/ 523 h 523"/>
                <a:gd name="T4" fmla="*/ 23 w 319"/>
                <a:gd name="T5" fmla="*/ 445 h 523"/>
                <a:gd name="T6" fmla="*/ 47 w 319"/>
                <a:gd name="T7" fmla="*/ 370 h 523"/>
                <a:gd name="T8" fmla="*/ 78 w 319"/>
                <a:gd name="T9" fmla="*/ 299 h 523"/>
                <a:gd name="T10" fmla="*/ 114 w 319"/>
                <a:gd name="T11" fmla="*/ 228 h 523"/>
                <a:gd name="T12" fmla="*/ 114 w 319"/>
                <a:gd name="T13" fmla="*/ 228 h 523"/>
                <a:gd name="T14" fmla="*/ 161 w 319"/>
                <a:gd name="T15" fmla="*/ 149 h 523"/>
                <a:gd name="T16" fmla="*/ 185 w 319"/>
                <a:gd name="T17" fmla="*/ 110 h 523"/>
                <a:gd name="T18" fmla="*/ 212 w 319"/>
                <a:gd name="T19" fmla="*/ 70 h 523"/>
                <a:gd name="T20" fmla="*/ 212 w 319"/>
                <a:gd name="T21" fmla="*/ 70 h 523"/>
                <a:gd name="T22" fmla="*/ 224 w 319"/>
                <a:gd name="T23" fmla="*/ 55 h 523"/>
                <a:gd name="T24" fmla="*/ 240 w 319"/>
                <a:gd name="T25" fmla="*/ 47 h 523"/>
                <a:gd name="T26" fmla="*/ 252 w 319"/>
                <a:gd name="T27" fmla="*/ 39 h 523"/>
                <a:gd name="T28" fmla="*/ 263 w 319"/>
                <a:gd name="T29" fmla="*/ 39 h 523"/>
                <a:gd name="T30" fmla="*/ 275 w 319"/>
                <a:gd name="T31" fmla="*/ 43 h 523"/>
                <a:gd name="T32" fmla="*/ 287 w 319"/>
                <a:gd name="T33" fmla="*/ 47 h 523"/>
                <a:gd name="T34" fmla="*/ 319 w 319"/>
                <a:gd name="T35" fmla="*/ 66 h 523"/>
                <a:gd name="T36" fmla="*/ 319 w 319"/>
                <a:gd name="T37" fmla="*/ 66 h 523"/>
                <a:gd name="T38" fmla="*/ 319 w 319"/>
                <a:gd name="T39" fmla="*/ 63 h 523"/>
                <a:gd name="T40" fmla="*/ 319 w 319"/>
                <a:gd name="T41" fmla="*/ 51 h 523"/>
                <a:gd name="T42" fmla="*/ 319 w 319"/>
                <a:gd name="T43" fmla="*/ 35 h 523"/>
                <a:gd name="T44" fmla="*/ 319 w 319"/>
                <a:gd name="T45" fmla="*/ 27 h 523"/>
                <a:gd name="T46" fmla="*/ 319 w 319"/>
                <a:gd name="T47" fmla="*/ 27 h 523"/>
                <a:gd name="T48" fmla="*/ 287 w 319"/>
                <a:gd name="T49" fmla="*/ 7 h 523"/>
                <a:gd name="T50" fmla="*/ 271 w 319"/>
                <a:gd name="T51" fmla="*/ 3 h 523"/>
                <a:gd name="T52" fmla="*/ 260 w 319"/>
                <a:gd name="T53" fmla="*/ 0 h 523"/>
                <a:gd name="T54" fmla="*/ 248 w 319"/>
                <a:gd name="T55" fmla="*/ 3 h 523"/>
                <a:gd name="T56" fmla="*/ 236 w 319"/>
                <a:gd name="T57" fmla="*/ 11 h 523"/>
                <a:gd name="T58" fmla="*/ 220 w 319"/>
                <a:gd name="T59" fmla="*/ 23 h 523"/>
                <a:gd name="T60" fmla="*/ 204 w 319"/>
                <a:gd name="T61" fmla="*/ 39 h 523"/>
                <a:gd name="T62" fmla="*/ 204 w 319"/>
                <a:gd name="T63" fmla="*/ 39 h 523"/>
                <a:gd name="T64" fmla="*/ 181 w 319"/>
                <a:gd name="T65" fmla="*/ 74 h 523"/>
                <a:gd name="T66" fmla="*/ 157 w 319"/>
                <a:gd name="T67" fmla="*/ 114 h 523"/>
                <a:gd name="T68" fmla="*/ 114 w 319"/>
                <a:gd name="T69" fmla="*/ 189 h 523"/>
                <a:gd name="T70" fmla="*/ 114 w 319"/>
                <a:gd name="T71" fmla="*/ 189 h 523"/>
                <a:gd name="T72" fmla="*/ 74 w 319"/>
                <a:gd name="T73" fmla="*/ 263 h 523"/>
                <a:gd name="T74" fmla="*/ 47 w 319"/>
                <a:gd name="T75" fmla="*/ 334 h 523"/>
                <a:gd name="T76" fmla="*/ 19 w 319"/>
                <a:gd name="T77" fmla="*/ 409 h 523"/>
                <a:gd name="T78" fmla="*/ 0 w 319"/>
                <a:gd name="T79" fmla="*/ 488 h 523"/>
                <a:gd name="T80" fmla="*/ 0 w 319"/>
                <a:gd name="T81" fmla="*/ 488 h 523"/>
                <a:gd name="T82" fmla="*/ 0 w 319"/>
                <a:gd name="T83" fmla="*/ 508 h 523"/>
                <a:gd name="T84" fmla="*/ 3 w 319"/>
                <a:gd name="T85" fmla="*/ 523 h 523"/>
                <a:gd name="T86" fmla="*/ 3 w 319"/>
                <a:gd name="T87" fmla="*/ 523 h 52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9"/>
                <a:gd name="T133" fmla="*/ 0 h 523"/>
                <a:gd name="T134" fmla="*/ 319 w 319"/>
                <a:gd name="T135" fmla="*/ 523 h 52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9" h="523">
                  <a:moveTo>
                    <a:pt x="3" y="523"/>
                  </a:moveTo>
                  <a:lnTo>
                    <a:pt x="3" y="523"/>
                  </a:lnTo>
                  <a:lnTo>
                    <a:pt x="23" y="445"/>
                  </a:lnTo>
                  <a:lnTo>
                    <a:pt x="47" y="370"/>
                  </a:lnTo>
                  <a:lnTo>
                    <a:pt x="78" y="299"/>
                  </a:lnTo>
                  <a:lnTo>
                    <a:pt x="114" y="228"/>
                  </a:lnTo>
                  <a:lnTo>
                    <a:pt x="161" y="149"/>
                  </a:lnTo>
                  <a:lnTo>
                    <a:pt x="185" y="110"/>
                  </a:lnTo>
                  <a:lnTo>
                    <a:pt x="212" y="70"/>
                  </a:lnTo>
                  <a:lnTo>
                    <a:pt x="224" y="55"/>
                  </a:lnTo>
                  <a:lnTo>
                    <a:pt x="240" y="47"/>
                  </a:lnTo>
                  <a:lnTo>
                    <a:pt x="252" y="39"/>
                  </a:lnTo>
                  <a:lnTo>
                    <a:pt x="263" y="39"/>
                  </a:lnTo>
                  <a:lnTo>
                    <a:pt x="275" y="43"/>
                  </a:lnTo>
                  <a:lnTo>
                    <a:pt x="287" y="47"/>
                  </a:lnTo>
                  <a:lnTo>
                    <a:pt x="319" y="66"/>
                  </a:lnTo>
                  <a:lnTo>
                    <a:pt x="319" y="63"/>
                  </a:lnTo>
                  <a:lnTo>
                    <a:pt x="319" y="51"/>
                  </a:lnTo>
                  <a:lnTo>
                    <a:pt x="319" y="35"/>
                  </a:lnTo>
                  <a:lnTo>
                    <a:pt x="319" y="27"/>
                  </a:lnTo>
                  <a:lnTo>
                    <a:pt x="287" y="7"/>
                  </a:lnTo>
                  <a:lnTo>
                    <a:pt x="271" y="3"/>
                  </a:lnTo>
                  <a:lnTo>
                    <a:pt x="260" y="0"/>
                  </a:lnTo>
                  <a:lnTo>
                    <a:pt x="248" y="3"/>
                  </a:lnTo>
                  <a:lnTo>
                    <a:pt x="236" y="11"/>
                  </a:lnTo>
                  <a:lnTo>
                    <a:pt x="220" y="23"/>
                  </a:lnTo>
                  <a:lnTo>
                    <a:pt x="204" y="39"/>
                  </a:lnTo>
                  <a:lnTo>
                    <a:pt x="181" y="74"/>
                  </a:lnTo>
                  <a:lnTo>
                    <a:pt x="157" y="114"/>
                  </a:lnTo>
                  <a:lnTo>
                    <a:pt x="114" y="189"/>
                  </a:lnTo>
                  <a:lnTo>
                    <a:pt x="74" y="263"/>
                  </a:lnTo>
                  <a:lnTo>
                    <a:pt x="47" y="334"/>
                  </a:lnTo>
                  <a:lnTo>
                    <a:pt x="19" y="409"/>
                  </a:lnTo>
                  <a:lnTo>
                    <a:pt x="0" y="488"/>
                  </a:lnTo>
                  <a:lnTo>
                    <a:pt x="0" y="508"/>
                  </a:lnTo>
                  <a:lnTo>
                    <a:pt x="3" y="5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8" name="Freeform 566"/>
            <p:cNvSpPr>
              <a:spLocks/>
            </p:cNvSpPr>
            <p:nvPr/>
          </p:nvSpPr>
          <p:spPr bwMode="auto">
            <a:xfrm>
              <a:off x="3397" y="2646"/>
              <a:ext cx="165" cy="91"/>
            </a:xfrm>
            <a:custGeom>
              <a:avLst/>
              <a:gdLst>
                <a:gd name="T0" fmla="*/ 4 w 165"/>
                <a:gd name="T1" fmla="*/ 79 h 91"/>
                <a:gd name="T2" fmla="*/ 4 w 165"/>
                <a:gd name="T3" fmla="*/ 79 h 91"/>
                <a:gd name="T4" fmla="*/ 23 w 165"/>
                <a:gd name="T5" fmla="*/ 63 h 91"/>
                <a:gd name="T6" fmla="*/ 43 w 165"/>
                <a:gd name="T7" fmla="*/ 51 h 91"/>
                <a:gd name="T8" fmla="*/ 67 w 165"/>
                <a:gd name="T9" fmla="*/ 44 h 91"/>
                <a:gd name="T10" fmla="*/ 86 w 165"/>
                <a:gd name="T11" fmla="*/ 40 h 91"/>
                <a:gd name="T12" fmla="*/ 110 w 165"/>
                <a:gd name="T13" fmla="*/ 44 h 91"/>
                <a:gd name="T14" fmla="*/ 130 w 165"/>
                <a:gd name="T15" fmla="*/ 51 h 91"/>
                <a:gd name="T16" fmla="*/ 145 w 165"/>
                <a:gd name="T17" fmla="*/ 67 h 91"/>
                <a:gd name="T18" fmla="*/ 161 w 165"/>
                <a:gd name="T19" fmla="*/ 91 h 91"/>
                <a:gd name="T20" fmla="*/ 161 w 165"/>
                <a:gd name="T21" fmla="*/ 91 h 91"/>
                <a:gd name="T22" fmla="*/ 165 w 165"/>
                <a:gd name="T23" fmla="*/ 71 h 91"/>
                <a:gd name="T24" fmla="*/ 165 w 165"/>
                <a:gd name="T25" fmla="*/ 59 h 91"/>
                <a:gd name="T26" fmla="*/ 165 w 165"/>
                <a:gd name="T27" fmla="*/ 51 h 91"/>
                <a:gd name="T28" fmla="*/ 165 w 165"/>
                <a:gd name="T29" fmla="*/ 51 h 91"/>
                <a:gd name="T30" fmla="*/ 149 w 165"/>
                <a:gd name="T31" fmla="*/ 28 h 91"/>
                <a:gd name="T32" fmla="*/ 130 w 165"/>
                <a:gd name="T33" fmla="*/ 16 h 91"/>
                <a:gd name="T34" fmla="*/ 110 w 165"/>
                <a:gd name="T35" fmla="*/ 4 h 91"/>
                <a:gd name="T36" fmla="*/ 90 w 165"/>
                <a:gd name="T37" fmla="*/ 0 h 91"/>
                <a:gd name="T38" fmla="*/ 67 w 165"/>
                <a:gd name="T39" fmla="*/ 4 h 91"/>
                <a:gd name="T40" fmla="*/ 43 w 165"/>
                <a:gd name="T41" fmla="*/ 12 h 91"/>
                <a:gd name="T42" fmla="*/ 23 w 165"/>
                <a:gd name="T43" fmla="*/ 24 h 91"/>
                <a:gd name="T44" fmla="*/ 4 w 165"/>
                <a:gd name="T45" fmla="*/ 40 h 91"/>
                <a:gd name="T46" fmla="*/ 4 w 165"/>
                <a:gd name="T47" fmla="*/ 40 h 91"/>
                <a:gd name="T48" fmla="*/ 0 w 165"/>
                <a:gd name="T49" fmla="*/ 48 h 91"/>
                <a:gd name="T50" fmla="*/ 4 w 165"/>
                <a:gd name="T51" fmla="*/ 59 h 91"/>
                <a:gd name="T52" fmla="*/ 4 w 165"/>
                <a:gd name="T53" fmla="*/ 71 h 91"/>
                <a:gd name="T54" fmla="*/ 4 w 165"/>
                <a:gd name="T55" fmla="*/ 79 h 91"/>
                <a:gd name="T56" fmla="*/ 4 w 165"/>
                <a:gd name="T57" fmla="*/ 79 h 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5"/>
                <a:gd name="T88" fmla="*/ 0 h 91"/>
                <a:gd name="T89" fmla="*/ 165 w 165"/>
                <a:gd name="T90" fmla="*/ 91 h 9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5" h="91">
                  <a:moveTo>
                    <a:pt x="4" y="79"/>
                  </a:moveTo>
                  <a:lnTo>
                    <a:pt x="4" y="79"/>
                  </a:lnTo>
                  <a:lnTo>
                    <a:pt x="23" y="63"/>
                  </a:lnTo>
                  <a:lnTo>
                    <a:pt x="43" y="51"/>
                  </a:lnTo>
                  <a:lnTo>
                    <a:pt x="67" y="44"/>
                  </a:lnTo>
                  <a:lnTo>
                    <a:pt x="86" y="40"/>
                  </a:lnTo>
                  <a:lnTo>
                    <a:pt x="110" y="44"/>
                  </a:lnTo>
                  <a:lnTo>
                    <a:pt x="130" y="51"/>
                  </a:lnTo>
                  <a:lnTo>
                    <a:pt x="145" y="67"/>
                  </a:lnTo>
                  <a:lnTo>
                    <a:pt x="161" y="91"/>
                  </a:lnTo>
                  <a:lnTo>
                    <a:pt x="165" y="71"/>
                  </a:lnTo>
                  <a:lnTo>
                    <a:pt x="165" y="59"/>
                  </a:lnTo>
                  <a:lnTo>
                    <a:pt x="165" y="51"/>
                  </a:lnTo>
                  <a:lnTo>
                    <a:pt x="149" y="28"/>
                  </a:lnTo>
                  <a:lnTo>
                    <a:pt x="130" y="16"/>
                  </a:lnTo>
                  <a:lnTo>
                    <a:pt x="110" y="4"/>
                  </a:lnTo>
                  <a:lnTo>
                    <a:pt x="90" y="0"/>
                  </a:lnTo>
                  <a:lnTo>
                    <a:pt x="67" y="4"/>
                  </a:lnTo>
                  <a:lnTo>
                    <a:pt x="43" y="12"/>
                  </a:lnTo>
                  <a:lnTo>
                    <a:pt x="23" y="24"/>
                  </a:lnTo>
                  <a:lnTo>
                    <a:pt x="4" y="40"/>
                  </a:lnTo>
                  <a:lnTo>
                    <a:pt x="0" y="48"/>
                  </a:lnTo>
                  <a:lnTo>
                    <a:pt x="4" y="59"/>
                  </a:lnTo>
                  <a:lnTo>
                    <a:pt x="4" y="71"/>
                  </a:lnTo>
                  <a:lnTo>
                    <a:pt x="4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49" name="Freeform 567"/>
            <p:cNvSpPr>
              <a:spLocks/>
            </p:cNvSpPr>
            <p:nvPr/>
          </p:nvSpPr>
          <p:spPr bwMode="auto">
            <a:xfrm>
              <a:off x="4003" y="265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3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3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0" name="Freeform 568"/>
            <p:cNvSpPr>
              <a:spLocks/>
            </p:cNvSpPr>
            <p:nvPr/>
          </p:nvSpPr>
          <p:spPr bwMode="auto">
            <a:xfrm>
              <a:off x="4118" y="267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1" name="Freeform 569"/>
            <p:cNvSpPr>
              <a:spLocks/>
            </p:cNvSpPr>
            <p:nvPr/>
          </p:nvSpPr>
          <p:spPr bwMode="auto">
            <a:xfrm>
              <a:off x="4228" y="2701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2" name="Freeform 570"/>
            <p:cNvSpPr>
              <a:spLocks/>
            </p:cNvSpPr>
            <p:nvPr/>
          </p:nvSpPr>
          <p:spPr bwMode="auto">
            <a:xfrm>
              <a:off x="4062" y="2556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19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19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3" name="Freeform 571"/>
            <p:cNvSpPr>
              <a:spLocks/>
            </p:cNvSpPr>
            <p:nvPr/>
          </p:nvSpPr>
          <p:spPr bwMode="auto">
            <a:xfrm>
              <a:off x="4177" y="2579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4" name="Freeform 572"/>
            <p:cNvSpPr>
              <a:spLocks/>
            </p:cNvSpPr>
            <p:nvPr/>
          </p:nvSpPr>
          <p:spPr bwMode="auto">
            <a:xfrm>
              <a:off x="4287" y="260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5" name="Freeform 573"/>
            <p:cNvSpPr>
              <a:spLocks/>
            </p:cNvSpPr>
            <p:nvPr/>
          </p:nvSpPr>
          <p:spPr bwMode="auto">
            <a:xfrm>
              <a:off x="4121" y="2461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20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6" name="Freeform 574"/>
            <p:cNvSpPr>
              <a:spLocks/>
            </p:cNvSpPr>
            <p:nvPr/>
          </p:nvSpPr>
          <p:spPr bwMode="auto">
            <a:xfrm>
              <a:off x="4236" y="2485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7" name="Freeform 575"/>
            <p:cNvSpPr>
              <a:spLocks/>
            </p:cNvSpPr>
            <p:nvPr/>
          </p:nvSpPr>
          <p:spPr bwMode="auto">
            <a:xfrm>
              <a:off x="4346" y="2512"/>
              <a:ext cx="118" cy="79"/>
            </a:xfrm>
            <a:custGeom>
              <a:avLst/>
              <a:gdLst>
                <a:gd name="T0" fmla="*/ 0 w 118"/>
                <a:gd name="T1" fmla="*/ 56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6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6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8" name="Freeform 576"/>
            <p:cNvSpPr>
              <a:spLocks/>
            </p:cNvSpPr>
            <p:nvPr/>
          </p:nvSpPr>
          <p:spPr bwMode="auto">
            <a:xfrm>
              <a:off x="4181" y="2367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2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2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59" name="Freeform 577"/>
            <p:cNvSpPr>
              <a:spLocks/>
            </p:cNvSpPr>
            <p:nvPr/>
          </p:nvSpPr>
          <p:spPr bwMode="auto">
            <a:xfrm>
              <a:off x="4295" y="239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0" name="Freeform 578"/>
            <p:cNvSpPr>
              <a:spLocks/>
            </p:cNvSpPr>
            <p:nvPr/>
          </p:nvSpPr>
          <p:spPr bwMode="auto">
            <a:xfrm>
              <a:off x="4405" y="2418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1" name="Freeform 579"/>
            <p:cNvSpPr>
              <a:spLocks/>
            </p:cNvSpPr>
            <p:nvPr/>
          </p:nvSpPr>
          <p:spPr bwMode="auto">
            <a:xfrm>
              <a:off x="3992" y="2631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2 w 118"/>
                <a:gd name="T3" fmla="*/ 78 h 78"/>
                <a:gd name="T4" fmla="*/ 118 w 118"/>
                <a:gd name="T5" fmla="*/ 19 h 78"/>
                <a:gd name="T6" fmla="*/ 39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2" y="78"/>
                  </a:lnTo>
                  <a:lnTo>
                    <a:pt x="118" y="19"/>
                  </a:lnTo>
                  <a:lnTo>
                    <a:pt x="3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2" name="Freeform 580"/>
            <p:cNvSpPr>
              <a:spLocks/>
            </p:cNvSpPr>
            <p:nvPr/>
          </p:nvSpPr>
          <p:spPr bwMode="auto">
            <a:xfrm>
              <a:off x="4106" y="265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3" name="Freeform 581"/>
            <p:cNvSpPr>
              <a:spLocks/>
            </p:cNvSpPr>
            <p:nvPr/>
          </p:nvSpPr>
          <p:spPr bwMode="auto">
            <a:xfrm>
              <a:off x="4216" y="2686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4" name="Freeform 582"/>
            <p:cNvSpPr>
              <a:spLocks/>
            </p:cNvSpPr>
            <p:nvPr/>
          </p:nvSpPr>
          <p:spPr bwMode="auto">
            <a:xfrm>
              <a:off x="4051" y="2536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2 w 118"/>
                <a:gd name="T3" fmla="*/ 79 h 79"/>
                <a:gd name="T4" fmla="*/ 118 w 118"/>
                <a:gd name="T5" fmla="*/ 20 h 79"/>
                <a:gd name="T6" fmla="*/ 39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9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5" name="Freeform 583"/>
            <p:cNvSpPr>
              <a:spLocks/>
            </p:cNvSpPr>
            <p:nvPr/>
          </p:nvSpPr>
          <p:spPr bwMode="auto">
            <a:xfrm>
              <a:off x="4165" y="2560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5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6" name="Freeform 584"/>
            <p:cNvSpPr>
              <a:spLocks/>
            </p:cNvSpPr>
            <p:nvPr/>
          </p:nvSpPr>
          <p:spPr bwMode="auto">
            <a:xfrm>
              <a:off x="4275" y="258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7" name="Freeform 585"/>
            <p:cNvSpPr>
              <a:spLocks/>
            </p:cNvSpPr>
            <p:nvPr/>
          </p:nvSpPr>
          <p:spPr bwMode="auto">
            <a:xfrm>
              <a:off x="4110" y="2441"/>
              <a:ext cx="118" cy="75"/>
            </a:xfrm>
            <a:custGeom>
              <a:avLst/>
              <a:gdLst>
                <a:gd name="T0" fmla="*/ 0 w 118"/>
                <a:gd name="T1" fmla="*/ 56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6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6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8" name="Freeform 586"/>
            <p:cNvSpPr>
              <a:spLocks/>
            </p:cNvSpPr>
            <p:nvPr/>
          </p:nvSpPr>
          <p:spPr bwMode="auto">
            <a:xfrm>
              <a:off x="4224" y="2465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69" name="Freeform 587"/>
            <p:cNvSpPr>
              <a:spLocks/>
            </p:cNvSpPr>
            <p:nvPr/>
          </p:nvSpPr>
          <p:spPr bwMode="auto">
            <a:xfrm>
              <a:off x="4334" y="2493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6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0" name="Freeform 588"/>
            <p:cNvSpPr>
              <a:spLocks/>
            </p:cNvSpPr>
            <p:nvPr/>
          </p:nvSpPr>
          <p:spPr bwMode="auto">
            <a:xfrm>
              <a:off x="4169" y="2347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1" name="Freeform 589"/>
            <p:cNvSpPr>
              <a:spLocks/>
            </p:cNvSpPr>
            <p:nvPr/>
          </p:nvSpPr>
          <p:spPr bwMode="auto">
            <a:xfrm>
              <a:off x="4283" y="2371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2" name="Freeform 590"/>
            <p:cNvSpPr>
              <a:spLocks/>
            </p:cNvSpPr>
            <p:nvPr/>
          </p:nvSpPr>
          <p:spPr bwMode="auto">
            <a:xfrm>
              <a:off x="4393" y="2398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3" name="Freeform 591"/>
            <p:cNvSpPr>
              <a:spLocks/>
            </p:cNvSpPr>
            <p:nvPr/>
          </p:nvSpPr>
          <p:spPr bwMode="auto">
            <a:xfrm>
              <a:off x="4208" y="2378"/>
              <a:ext cx="16" cy="12"/>
            </a:xfrm>
            <a:custGeom>
              <a:avLst/>
              <a:gdLst>
                <a:gd name="T0" fmla="*/ 12 w 16"/>
                <a:gd name="T1" fmla="*/ 12 h 12"/>
                <a:gd name="T2" fmla="*/ 12 w 16"/>
                <a:gd name="T3" fmla="*/ 12 h 12"/>
                <a:gd name="T4" fmla="*/ 12 w 16"/>
                <a:gd name="T5" fmla="*/ 12 h 12"/>
                <a:gd name="T6" fmla="*/ 12 w 16"/>
                <a:gd name="T7" fmla="*/ 12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4 w 16"/>
                <a:gd name="T15" fmla="*/ 12 h 12"/>
                <a:gd name="T16" fmla="*/ 4 w 16"/>
                <a:gd name="T17" fmla="*/ 12 h 12"/>
                <a:gd name="T18" fmla="*/ 0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4 w 16"/>
                <a:gd name="T25" fmla="*/ 8 h 12"/>
                <a:gd name="T26" fmla="*/ 4 w 16"/>
                <a:gd name="T27" fmla="*/ 8 h 12"/>
                <a:gd name="T28" fmla="*/ 8 w 16"/>
                <a:gd name="T29" fmla="*/ 8 h 12"/>
                <a:gd name="T30" fmla="*/ 12 w 16"/>
                <a:gd name="T31" fmla="*/ 0 h 12"/>
                <a:gd name="T32" fmla="*/ 12 w 16"/>
                <a:gd name="T33" fmla="*/ 0 h 12"/>
                <a:gd name="T34" fmla="*/ 12 w 16"/>
                <a:gd name="T35" fmla="*/ 0 h 12"/>
                <a:gd name="T36" fmla="*/ 12 w 16"/>
                <a:gd name="T37" fmla="*/ 0 h 12"/>
                <a:gd name="T38" fmla="*/ 12 w 16"/>
                <a:gd name="T39" fmla="*/ 0 h 12"/>
                <a:gd name="T40" fmla="*/ 12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2 w 16"/>
                <a:gd name="T49" fmla="*/ 0 h 12"/>
                <a:gd name="T50" fmla="*/ 12 w 16"/>
                <a:gd name="T51" fmla="*/ 0 h 12"/>
                <a:gd name="T52" fmla="*/ 16 w 16"/>
                <a:gd name="T53" fmla="*/ 0 h 12"/>
                <a:gd name="T54" fmla="*/ 16 w 16"/>
                <a:gd name="T55" fmla="*/ 0 h 12"/>
                <a:gd name="T56" fmla="*/ 16 w 16"/>
                <a:gd name="T57" fmla="*/ 0 h 12"/>
                <a:gd name="T58" fmla="*/ 16 w 16"/>
                <a:gd name="T59" fmla="*/ 0 h 12"/>
                <a:gd name="T60" fmla="*/ 16 w 16"/>
                <a:gd name="T61" fmla="*/ 0 h 12"/>
                <a:gd name="T62" fmla="*/ 16 w 16"/>
                <a:gd name="T63" fmla="*/ 0 h 12"/>
                <a:gd name="T64" fmla="*/ 16 w 16"/>
                <a:gd name="T65" fmla="*/ 0 h 12"/>
                <a:gd name="T66" fmla="*/ 8 w 16"/>
                <a:gd name="T67" fmla="*/ 12 h 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"/>
                <a:gd name="T103" fmla="*/ 0 h 12"/>
                <a:gd name="T104" fmla="*/ 16 w 16"/>
                <a:gd name="T105" fmla="*/ 12 h 1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" h="12">
                  <a:moveTo>
                    <a:pt x="8" y="12"/>
                  </a:move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4" name="Freeform 592"/>
            <p:cNvSpPr>
              <a:spLocks/>
            </p:cNvSpPr>
            <p:nvPr/>
          </p:nvSpPr>
          <p:spPr bwMode="auto">
            <a:xfrm>
              <a:off x="4338" y="2394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12 w 20"/>
                <a:gd name="T5" fmla="*/ 12 h 16"/>
                <a:gd name="T6" fmla="*/ 12 w 20"/>
                <a:gd name="T7" fmla="*/ 12 h 16"/>
                <a:gd name="T8" fmla="*/ 16 w 20"/>
                <a:gd name="T9" fmla="*/ 12 h 16"/>
                <a:gd name="T10" fmla="*/ 16 w 20"/>
                <a:gd name="T11" fmla="*/ 12 h 16"/>
                <a:gd name="T12" fmla="*/ 16 w 20"/>
                <a:gd name="T13" fmla="*/ 12 h 16"/>
                <a:gd name="T14" fmla="*/ 16 w 20"/>
                <a:gd name="T15" fmla="*/ 16 h 16"/>
                <a:gd name="T16" fmla="*/ 16 w 20"/>
                <a:gd name="T17" fmla="*/ 16 h 16"/>
                <a:gd name="T18" fmla="*/ 16 w 20"/>
                <a:gd name="T19" fmla="*/ 16 h 16"/>
                <a:gd name="T20" fmla="*/ 16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0 w 20"/>
                <a:gd name="T27" fmla="*/ 16 h 16"/>
                <a:gd name="T28" fmla="*/ 0 w 20"/>
                <a:gd name="T29" fmla="*/ 16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12 w 20"/>
                <a:gd name="T41" fmla="*/ 8 h 16"/>
                <a:gd name="T42" fmla="*/ 12 w 20"/>
                <a:gd name="T43" fmla="*/ 8 h 16"/>
                <a:gd name="T44" fmla="*/ 16 w 20"/>
                <a:gd name="T45" fmla="*/ 8 h 16"/>
                <a:gd name="T46" fmla="*/ 16 w 20"/>
                <a:gd name="T47" fmla="*/ 4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4 h 16"/>
                <a:gd name="T56" fmla="*/ 12 w 20"/>
                <a:gd name="T57" fmla="*/ 4 h 16"/>
                <a:gd name="T58" fmla="*/ 12 w 20"/>
                <a:gd name="T59" fmla="*/ 4 h 16"/>
                <a:gd name="T60" fmla="*/ 12 w 20"/>
                <a:gd name="T61" fmla="*/ 4 h 16"/>
                <a:gd name="T62" fmla="*/ 12 w 20"/>
                <a:gd name="T63" fmla="*/ 4 h 16"/>
                <a:gd name="T64" fmla="*/ 8 w 20"/>
                <a:gd name="T65" fmla="*/ 4 h 16"/>
                <a:gd name="T66" fmla="*/ 8 w 20"/>
                <a:gd name="T67" fmla="*/ 4 h 16"/>
                <a:gd name="T68" fmla="*/ 8 w 20"/>
                <a:gd name="T69" fmla="*/ 4 h 16"/>
                <a:gd name="T70" fmla="*/ 8 w 20"/>
                <a:gd name="T71" fmla="*/ 4 h 16"/>
                <a:gd name="T72" fmla="*/ 8 w 20"/>
                <a:gd name="T73" fmla="*/ 4 h 16"/>
                <a:gd name="T74" fmla="*/ 8 w 20"/>
                <a:gd name="T75" fmla="*/ 0 h 16"/>
                <a:gd name="T76" fmla="*/ 12 w 20"/>
                <a:gd name="T77" fmla="*/ 0 h 16"/>
                <a:gd name="T78" fmla="*/ 12 w 20"/>
                <a:gd name="T79" fmla="*/ 0 h 16"/>
                <a:gd name="T80" fmla="*/ 12 w 20"/>
                <a:gd name="T81" fmla="*/ 0 h 16"/>
                <a:gd name="T82" fmla="*/ 16 w 20"/>
                <a:gd name="T83" fmla="*/ 0 h 16"/>
                <a:gd name="T84" fmla="*/ 16 w 20"/>
                <a:gd name="T85" fmla="*/ 0 h 16"/>
                <a:gd name="T86" fmla="*/ 20 w 20"/>
                <a:gd name="T87" fmla="*/ 4 h 16"/>
                <a:gd name="T88" fmla="*/ 20 w 20"/>
                <a:gd name="T89" fmla="*/ 8 h 16"/>
                <a:gd name="T90" fmla="*/ 20 w 20"/>
                <a:gd name="T91" fmla="*/ 8 h 16"/>
                <a:gd name="T92" fmla="*/ 16 w 20"/>
                <a:gd name="T93" fmla="*/ 8 h 16"/>
                <a:gd name="T94" fmla="*/ 12 w 20"/>
                <a:gd name="T95" fmla="*/ 12 h 16"/>
                <a:gd name="T96" fmla="*/ 8 w 20"/>
                <a:gd name="T97" fmla="*/ 12 h 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16"/>
                <a:gd name="T149" fmla="*/ 20 w 20"/>
                <a:gd name="T150" fmla="*/ 16 h 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16">
                  <a:moveTo>
                    <a:pt x="8" y="12"/>
                  </a:move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5" name="Freeform 593"/>
            <p:cNvSpPr>
              <a:spLocks noEditPoints="1"/>
            </p:cNvSpPr>
            <p:nvPr/>
          </p:nvSpPr>
          <p:spPr bwMode="auto">
            <a:xfrm>
              <a:off x="4315" y="2410"/>
              <a:ext cx="15" cy="12"/>
            </a:xfrm>
            <a:custGeom>
              <a:avLst/>
              <a:gdLst>
                <a:gd name="T0" fmla="*/ 15 w 15"/>
                <a:gd name="T1" fmla="*/ 12 h 12"/>
                <a:gd name="T2" fmla="*/ 15 w 15"/>
                <a:gd name="T3" fmla="*/ 12 h 12"/>
                <a:gd name="T4" fmla="*/ 15 w 15"/>
                <a:gd name="T5" fmla="*/ 12 h 12"/>
                <a:gd name="T6" fmla="*/ 15 w 15"/>
                <a:gd name="T7" fmla="*/ 12 h 12"/>
                <a:gd name="T8" fmla="*/ 15 w 15"/>
                <a:gd name="T9" fmla="*/ 12 h 12"/>
                <a:gd name="T10" fmla="*/ 15 w 15"/>
                <a:gd name="T11" fmla="*/ 12 h 12"/>
                <a:gd name="T12" fmla="*/ 11 w 15"/>
                <a:gd name="T13" fmla="*/ 12 h 12"/>
                <a:gd name="T14" fmla="*/ 11 w 15"/>
                <a:gd name="T15" fmla="*/ 12 h 12"/>
                <a:gd name="T16" fmla="*/ 11 w 15"/>
                <a:gd name="T17" fmla="*/ 12 h 12"/>
                <a:gd name="T18" fmla="*/ 7 w 15"/>
                <a:gd name="T19" fmla="*/ 12 h 12"/>
                <a:gd name="T20" fmla="*/ 7 w 15"/>
                <a:gd name="T21" fmla="*/ 12 h 12"/>
                <a:gd name="T22" fmla="*/ 7 w 15"/>
                <a:gd name="T23" fmla="*/ 12 h 12"/>
                <a:gd name="T24" fmla="*/ 11 w 15"/>
                <a:gd name="T25" fmla="*/ 8 h 12"/>
                <a:gd name="T26" fmla="*/ 11 w 15"/>
                <a:gd name="T27" fmla="*/ 8 h 12"/>
                <a:gd name="T28" fmla="*/ 11 w 15"/>
                <a:gd name="T29" fmla="*/ 8 h 12"/>
                <a:gd name="T30" fmla="*/ 11 w 15"/>
                <a:gd name="T31" fmla="*/ 8 h 12"/>
                <a:gd name="T32" fmla="*/ 7 w 15"/>
                <a:gd name="T33" fmla="*/ 8 h 12"/>
                <a:gd name="T34" fmla="*/ 3 w 15"/>
                <a:gd name="T35" fmla="*/ 8 h 12"/>
                <a:gd name="T36" fmla="*/ 7 w 15"/>
                <a:gd name="T37" fmla="*/ 8 h 12"/>
                <a:gd name="T38" fmla="*/ 7 w 15"/>
                <a:gd name="T39" fmla="*/ 8 h 12"/>
                <a:gd name="T40" fmla="*/ 7 w 15"/>
                <a:gd name="T41" fmla="*/ 8 h 12"/>
                <a:gd name="T42" fmla="*/ 7 w 15"/>
                <a:gd name="T43" fmla="*/ 8 h 12"/>
                <a:gd name="T44" fmla="*/ 7 w 15"/>
                <a:gd name="T45" fmla="*/ 8 h 12"/>
                <a:gd name="T46" fmla="*/ 7 w 15"/>
                <a:gd name="T47" fmla="*/ 12 h 12"/>
                <a:gd name="T48" fmla="*/ 3 w 15"/>
                <a:gd name="T49" fmla="*/ 12 h 12"/>
                <a:gd name="T50" fmla="*/ 3 w 15"/>
                <a:gd name="T51" fmla="*/ 12 h 12"/>
                <a:gd name="T52" fmla="*/ 3 w 15"/>
                <a:gd name="T53" fmla="*/ 12 h 12"/>
                <a:gd name="T54" fmla="*/ 0 w 15"/>
                <a:gd name="T55" fmla="*/ 8 h 12"/>
                <a:gd name="T56" fmla="*/ 0 w 15"/>
                <a:gd name="T57" fmla="*/ 8 h 12"/>
                <a:gd name="T58" fmla="*/ 0 w 15"/>
                <a:gd name="T59" fmla="*/ 8 h 12"/>
                <a:gd name="T60" fmla="*/ 3 w 15"/>
                <a:gd name="T61" fmla="*/ 8 h 12"/>
                <a:gd name="T62" fmla="*/ 3 w 15"/>
                <a:gd name="T63" fmla="*/ 8 h 12"/>
                <a:gd name="T64" fmla="*/ 3 w 15"/>
                <a:gd name="T65" fmla="*/ 8 h 12"/>
                <a:gd name="T66" fmla="*/ 11 w 15"/>
                <a:gd name="T67" fmla="*/ 4 h 12"/>
                <a:gd name="T68" fmla="*/ 7 w 15"/>
                <a:gd name="T69" fmla="*/ 4 h 12"/>
                <a:gd name="T70" fmla="*/ 7 w 15"/>
                <a:gd name="T71" fmla="*/ 4 h 12"/>
                <a:gd name="T72" fmla="*/ 7 w 15"/>
                <a:gd name="T73" fmla="*/ 0 h 12"/>
                <a:gd name="T74" fmla="*/ 7 w 15"/>
                <a:gd name="T75" fmla="*/ 0 h 12"/>
                <a:gd name="T76" fmla="*/ 7 w 15"/>
                <a:gd name="T77" fmla="*/ 0 h 12"/>
                <a:gd name="T78" fmla="*/ 7 w 15"/>
                <a:gd name="T79" fmla="*/ 0 h 12"/>
                <a:gd name="T80" fmla="*/ 11 w 15"/>
                <a:gd name="T81" fmla="*/ 0 h 12"/>
                <a:gd name="T82" fmla="*/ 15 w 15"/>
                <a:gd name="T83" fmla="*/ 0 h 12"/>
                <a:gd name="T84" fmla="*/ 15 w 15"/>
                <a:gd name="T85" fmla="*/ 0 h 12"/>
                <a:gd name="T86" fmla="*/ 15 w 15"/>
                <a:gd name="T87" fmla="*/ 4 h 12"/>
                <a:gd name="T88" fmla="*/ 15 w 15"/>
                <a:gd name="T89" fmla="*/ 4 h 12"/>
                <a:gd name="T90" fmla="*/ 11 w 15"/>
                <a:gd name="T91" fmla="*/ 4 h 12"/>
                <a:gd name="T92" fmla="*/ 7 w 15"/>
                <a:gd name="T93" fmla="*/ 8 h 12"/>
                <a:gd name="T94" fmla="*/ 11 w 15"/>
                <a:gd name="T95" fmla="*/ 8 h 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5"/>
                <a:gd name="T145" fmla="*/ 0 h 12"/>
                <a:gd name="T146" fmla="*/ 15 w 15"/>
                <a:gd name="T147" fmla="*/ 12 h 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5" h="12">
                  <a:moveTo>
                    <a:pt x="15" y="12"/>
                  </a:move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11" y="8"/>
                  </a:lnTo>
                  <a:lnTo>
                    <a:pt x="7" y="8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12"/>
                  </a:lnTo>
                  <a:close/>
                  <a:moveTo>
                    <a:pt x="11" y="4"/>
                  </a:move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6" name="Freeform 594"/>
            <p:cNvSpPr>
              <a:spLocks noEditPoints="1"/>
            </p:cNvSpPr>
            <p:nvPr/>
          </p:nvSpPr>
          <p:spPr bwMode="auto">
            <a:xfrm>
              <a:off x="4330" y="2414"/>
              <a:ext cx="16" cy="12"/>
            </a:xfrm>
            <a:custGeom>
              <a:avLst/>
              <a:gdLst>
                <a:gd name="T0" fmla="*/ 12 w 16"/>
                <a:gd name="T1" fmla="*/ 4 h 12"/>
                <a:gd name="T2" fmla="*/ 16 w 16"/>
                <a:gd name="T3" fmla="*/ 8 h 12"/>
                <a:gd name="T4" fmla="*/ 16 w 16"/>
                <a:gd name="T5" fmla="*/ 8 h 12"/>
                <a:gd name="T6" fmla="*/ 16 w 16"/>
                <a:gd name="T7" fmla="*/ 8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8 w 16"/>
                <a:gd name="T15" fmla="*/ 12 h 12"/>
                <a:gd name="T16" fmla="*/ 8 w 16"/>
                <a:gd name="T17" fmla="*/ 12 h 12"/>
                <a:gd name="T18" fmla="*/ 8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4 w 16"/>
                <a:gd name="T33" fmla="*/ 8 h 12"/>
                <a:gd name="T34" fmla="*/ 4 w 16"/>
                <a:gd name="T35" fmla="*/ 8 h 12"/>
                <a:gd name="T36" fmla="*/ 8 w 16"/>
                <a:gd name="T37" fmla="*/ 0 h 12"/>
                <a:gd name="T38" fmla="*/ 8 w 16"/>
                <a:gd name="T39" fmla="*/ 0 h 12"/>
                <a:gd name="T40" fmla="*/ 8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4 w 16"/>
                <a:gd name="T47" fmla="*/ 0 h 12"/>
                <a:gd name="T48" fmla="*/ 8 w 16"/>
                <a:gd name="T49" fmla="*/ 0 h 12"/>
                <a:gd name="T50" fmla="*/ 8 w 16"/>
                <a:gd name="T51" fmla="*/ 0 h 12"/>
                <a:gd name="T52" fmla="*/ 12 w 16"/>
                <a:gd name="T53" fmla="*/ 0 h 12"/>
                <a:gd name="T54" fmla="*/ 12 w 16"/>
                <a:gd name="T55" fmla="*/ 0 h 12"/>
                <a:gd name="T56" fmla="*/ 16 w 16"/>
                <a:gd name="T57" fmla="*/ 0 h 12"/>
                <a:gd name="T58" fmla="*/ 16 w 16"/>
                <a:gd name="T59" fmla="*/ 4 h 12"/>
                <a:gd name="T60" fmla="*/ 16 w 16"/>
                <a:gd name="T61" fmla="*/ 4 h 12"/>
                <a:gd name="T62" fmla="*/ 16 w 16"/>
                <a:gd name="T63" fmla="*/ 4 h 12"/>
                <a:gd name="T64" fmla="*/ 12 w 16"/>
                <a:gd name="T65" fmla="*/ 4 h 12"/>
                <a:gd name="T66" fmla="*/ 8 w 16"/>
                <a:gd name="T67" fmla="*/ 0 h 12"/>
                <a:gd name="T68" fmla="*/ 8 w 16"/>
                <a:gd name="T69" fmla="*/ 4 h 12"/>
                <a:gd name="T70" fmla="*/ 8 w 16"/>
                <a:gd name="T71" fmla="*/ 4 h 12"/>
                <a:gd name="T72" fmla="*/ 12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0 h 12"/>
                <a:gd name="T84" fmla="*/ 8 w 16"/>
                <a:gd name="T85" fmla="*/ 4 h 12"/>
                <a:gd name="T86" fmla="*/ 4 w 16"/>
                <a:gd name="T87" fmla="*/ 8 h 12"/>
                <a:gd name="T88" fmla="*/ 8 w 16"/>
                <a:gd name="T89" fmla="*/ 8 h 12"/>
                <a:gd name="T90" fmla="*/ 8 w 16"/>
                <a:gd name="T91" fmla="*/ 8 h 12"/>
                <a:gd name="T92" fmla="*/ 8 w 16"/>
                <a:gd name="T93" fmla="*/ 8 h 12"/>
                <a:gd name="T94" fmla="*/ 12 w 16"/>
                <a:gd name="T95" fmla="*/ 8 h 12"/>
                <a:gd name="T96" fmla="*/ 12 w 16"/>
                <a:gd name="T97" fmla="*/ 8 h 12"/>
                <a:gd name="T98" fmla="*/ 12 w 16"/>
                <a:gd name="T99" fmla="*/ 8 h 12"/>
                <a:gd name="T100" fmla="*/ 8 w 16"/>
                <a:gd name="T101" fmla="*/ 4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2"/>
                <a:gd name="T155" fmla="*/ 16 w 16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2">
                  <a:moveTo>
                    <a:pt x="12" y="4"/>
                  </a:moveTo>
                  <a:lnTo>
                    <a:pt x="12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  <a:moveTo>
                    <a:pt x="8" y="0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close/>
                  <a:moveTo>
                    <a:pt x="8" y="4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7" name="Freeform 595"/>
            <p:cNvSpPr>
              <a:spLocks/>
            </p:cNvSpPr>
            <p:nvPr/>
          </p:nvSpPr>
          <p:spPr bwMode="auto">
            <a:xfrm>
              <a:off x="4346" y="2418"/>
              <a:ext cx="16" cy="12"/>
            </a:xfrm>
            <a:custGeom>
              <a:avLst/>
              <a:gdLst>
                <a:gd name="T0" fmla="*/ 16 w 16"/>
                <a:gd name="T1" fmla="*/ 0 h 12"/>
                <a:gd name="T2" fmla="*/ 16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6 w 16"/>
                <a:gd name="T13" fmla="*/ 4 h 12"/>
                <a:gd name="T14" fmla="*/ 16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12 w 16"/>
                <a:gd name="T31" fmla="*/ 0 h 12"/>
                <a:gd name="T32" fmla="*/ 12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8 w 16"/>
                <a:gd name="T43" fmla="*/ 8 h 12"/>
                <a:gd name="T44" fmla="*/ 8 w 16"/>
                <a:gd name="T45" fmla="*/ 8 h 12"/>
                <a:gd name="T46" fmla="*/ 8 w 16"/>
                <a:gd name="T47" fmla="*/ 8 h 12"/>
                <a:gd name="T48" fmla="*/ 12 w 16"/>
                <a:gd name="T49" fmla="*/ 8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8 h 12"/>
                <a:gd name="T56" fmla="*/ 12 w 16"/>
                <a:gd name="T57" fmla="*/ 8 h 12"/>
                <a:gd name="T58" fmla="*/ 8 w 16"/>
                <a:gd name="T59" fmla="*/ 12 h 12"/>
                <a:gd name="T60" fmla="*/ 4 w 16"/>
                <a:gd name="T61" fmla="*/ 8 h 12"/>
                <a:gd name="T62" fmla="*/ 4 w 16"/>
                <a:gd name="T63" fmla="*/ 8 h 12"/>
                <a:gd name="T64" fmla="*/ 0 w 16"/>
                <a:gd name="T65" fmla="*/ 8 h 12"/>
                <a:gd name="T66" fmla="*/ 0 w 16"/>
                <a:gd name="T67" fmla="*/ 4 h 12"/>
                <a:gd name="T68" fmla="*/ 0 w 16"/>
                <a:gd name="T69" fmla="*/ 4 h 12"/>
                <a:gd name="T70" fmla="*/ 4 w 16"/>
                <a:gd name="T71" fmla="*/ 0 h 12"/>
                <a:gd name="T72" fmla="*/ 12 w 16"/>
                <a:gd name="T73" fmla="*/ 0 h 12"/>
                <a:gd name="T74" fmla="*/ 12 w 16"/>
                <a:gd name="T75" fmla="*/ 0 h 12"/>
                <a:gd name="T76" fmla="*/ 12 w 16"/>
                <a:gd name="T77" fmla="*/ 0 h 12"/>
                <a:gd name="T78" fmla="*/ 16 w 16"/>
                <a:gd name="T79" fmla="*/ 0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8" name="Freeform 596"/>
            <p:cNvSpPr>
              <a:spLocks/>
            </p:cNvSpPr>
            <p:nvPr/>
          </p:nvSpPr>
          <p:spPr bwMode="auto">
            <a:xfrm>
              <a:off x="4448" y="2426"/>
              <a:ext cx="20" cy="15"/>
            </a:xfrm>
            <a:custGeom>
              <a:avLst/>
              <a:gdLst>
                <a:gd name="T0" fmla="*/ 12 w 20"/>
                <a:gd name="T1" fmla="*/ 8 h 15"/>
                <a:gd name="T2" fmla="*/ 16 w 20"/>
                <a:gd name="T3" fmla="*/ 12 h 15"/>
                <a:gd name="T4" fmla="*/ 16 w 20"/>
                <a:gd name="T5" fmla="*/ 12 h 15"/>
                <a:gd name="T6" fmla="*/ 16 w 20"/>
                <a:gd name="T7" fmla="*/ 12 h 15"/>
                <a:gd name="T8" fmla="*/ 12 w 20"/>
                <a:gd name="T9" fmla="*/ 15 h 15"/>
                <a:gd name="T10" fmla="*/ 4 w 20"/>
                <a:gd name="T11" fmla="*/ 15 h 15"/>
                <a:gd name="T12" fmla="*/ 4 w 20"/>
                <a:gd name="T13" fmla="*/ 15 h 15"/>
                <a:gd name="T14" fmla="*/ 0 w 20"/>
                <a:gd name="T15" fmla="*/ 15 h 15"/>
                <a:gd name="T16" fmla="*/ 0 w 20"/>
                <a:gd name="T17" fmla="*/ 12 h 15"/>
                <a:gd name="T18" fmla="*/ 0 w 20"/>
                <a:gd name="T19" fmla="*/ 12 h 15"/>
                <a:gd name="T20" fmla="*/ 0 w 20"/>
                <a:gd name="T21" fmla="*/ 12 h 15"/>
                <a:gd name="T22" fmla="*/ 0 w 20"/>
                <a:gd name="T23" fmla="*/ 12 h 15"/>
                <a:gd name="T24" fmla="*/ 0 w 20"/>
                <a:gd name="T25" fmla="*/ 12 h 15"/>
                <a:gd name="T26" fmla="*/ 4 w 20"/>
                <a:gd name="T27" fmla="*/ 12 h 15"/>
                <a:gd name="T28" fmla="*/ 8 w 20"/>
                <a:gd name="T29" fmla="*/ 12 h 15"/>
                <a:gd name="T30" fmla="*/ 8 w 20"/>
                <a:gd name="T31" fmla="*/ 12 h 15"/>
                <a:gd name="T32" fmla="*/ 8 w 20"/>
                <a:gd name="T33" fmla="*/ 12 h 15"/>
                <a:gd name="T34" fmla="*/ 12 w 20"/>
                <a:gd name="T35" fmla="*/ 12 h 15"/>
                <a:gd name="T36" fmla="*/ 12 w 20"/>
                <a:gd name="T37" fmla="*/ 12 h 15"/>
                <a:gd name="T38" fmla="*/ 12 w 20"/>
                <a:gd name="T39" fmla="*/ 12 h 15"/>
                <a:gd name="T40" fmla="*/ 8 w 20"/>
                <a:gd name="T41" fmla="*/ 8 h 15"/>
                <a:gd name="T42" fmla="*/ 8 w 20"/>
                <a:gd name="T43" fmla="*/ 8 h 15"/>
                <a:gd name="T44" fmla="*/ 8 w 20"/>
                <a:gd name="T45" fmla="*/ 8 h 15"/>
                <a:gd name="T46" fmla="*/ 8 w 20"/>
                <a:gd name="T47" fmla="*/ 8 h 15"/>
                <a:gd name="T48" fmla="*/ 8 w 20"/>
                <a:gd name="T49" fmla="*/ 8 h 15"/>
                <a:gd name="T50" fmla="*/ 8 w 20"/>
                <a:gd name="T51" fmla="*/ 8 h 15"/>
                <a:gd name="T52" fmla="*/ 8 w 20"/>
                <a:gd name="T53" fmla="*/ 8 h 15"/>
                <a:gd name="T54" fmla="*/ 8 w 20"/>
                <a:gd name="T55" fmla="*/ 8 h 15"/>
                <a:gd name="T56" fmla="*/ 12 w 20"/>
                <a:gd name="T57" fmla="*/ 8 h 15"/>
                <a:gd name="T58" fmla="*/ 12 w 20"/>
                <a:gd name="T59" fmla="*/ 4 h 15"/>
                <a:gd name="T60" fmla="*/ 12 w 20"/>
                <a:gd name="T61" fmla="*/ 4 h 15"/>
                <a:gd name="T62" fmla="*/ 12 w 20"/>
                <a:gd name="T63" fmla="*/ 4 h 15"/>
                <a:gd name="T64" fmla="*/ 12 w 20"/>
                <a:gd name="T65" fmla="*/ 4 h 15"/>
                <a:gd name="T66" fmla="*/ 12 w 20"/>
                <a:gd name="T67" fmla="*/ 4 h 15"/>
                <a:gd name="T68" fmla="*/ 8 w 20"/>
                <a:gd name="T69" fmla="*/ 4 h 15"/>
                <a:gd name="T70" fmla="*/ 8 w 20"/>
                <a:gd name="T71" fmla="*/ 4 h 15"/>
                <a:gd name="T72" fmla="*/ 8 w 20"/>
                <a:gd name="T73" fmla="*/ 4 h 15"/>
                <a:gd name="T74" fmla="*/ 8 w 20"/>
                <a:gd name="T75" fmla="*/ 4 h 15"/>
                <a:gd name="T76" fmla="*/ 8 w 20"/>
                <a:gd name="T77" fmla="*/ 0 h 15"/>
                <a:gd name="T78" fmla="*/ 8 w 20"/>
                <a:gd name="T79" fmla="*/ 0 h 15"/>
                <a:gd name="T80" fmla="*/ 8 w 20"/>
                <a:gd name="T81" fmla="*/ 0 h 15"/>
                <a:gd name="T82" fmla="*/ 16 w 20"/>
                <a:gd name="T83" fmla="*/ 0 h 15"/>
                <a:gd name="T84" fmla="*/ 16 w 20"/>
                <a:gd name="T85" fmla="*/ 0 h 15"/>
                <a:gd name="T86" fmla="*/ 16 w 20"/>
                <a:gd name="T87" fmla="*/ 4 h 15"/>
                <a:gd name="T88" fmla="*/ 20 w 20"/>
                <a:gd name="T89" fmla="*/ 4 h 15"/>
                <a:gd name="T90" fmla="*/ 20 w 20"/>
                <a:gd name="T91" fmla="*/ 4 h 15"/>
                <a:gd name="T92" fmla="*/ 16 w 20"/>
                <a:gd name="T93" fmla="*/ 8 h 15"/>
                <a:gd name="T94" fmla="*/ 12 w 20"/>
                <a:gd name="T95" fmla="*/ 8 h 1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"/>
                <a:gd name="T145" fmla="*/ 0 h 15"/>
                <a:gd name="T146" fmla="*/ 20 w 20"/>
                <a:gd name="T147" fmla="*/ 15 h 15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" h="15">
                  <a:moveTo>
                    <a:pt x="12" y="8"/>
                  </a:moveTo>
                  <a:lnTo>
                    <a:pt x="12" y="8"/>
                  </a:lnTo>
                  <a:lnTo>
                    <a:pt x="16" y="12"/>
                  </a:lnTo>
                  <a:lnTo>
                    <a:pt x="12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8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79" name="Freeform 597"/>
            <p:cNvSpPr>
              <a:spLocks noEditPoints="1"/>
            </p:cNvSpPr>
            <p:nvPr/>
          </p:nvSpPr>
          <p:spPr bwMode="auto">
            <a:xfrm>
              <a:off x="4425" y="2441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4 w 16"/>
                <a:gd name="T3" fmla="*/ 4 h 12"/>
                <a:gd name="T4" fmla="*/ 4 w 16"/>
                <a:gd name="T5" fmla="*/ 4 h 12"/>
                <a:gd name="T6" fmla="*/ 4 w 16"/>
                <a:gd name="T7" fmla="*/ 4 h 12"/>
                <a:gd name="T8" fmla="*/ 4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8 w 16"/>
                <a:gd name="T15" fmla="*/ 0 h 12"/>
                <a:gd name="T16" fmla="*/ 8 w 16"/>
                <a:gd name="T17" fmla="*/ 0 h 12"/>
                <a:gd name="T18" fmla="*/ 8 w 16"/>
                <a:gd name="T19" fmla="*/ 0 h 12"/>
                <a:gd name="T20" fmla="*/ 8 w 16"/>
                <a:gd name="T21" fmla="*/ 0 h 12"/>
                <a:gd name="T22" fmla="*/ 12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6 w 16"/>
                <a:gd name="T31" fmla="*/ 8 h 12"/>
                <a:gd name="T32" fmla="*/ 16 w 16"/>
                <a:gd name="T33" fmla="*/ 8 h 12"/>
                <a:gd name="T34" fmla="*/ 12 w 16"/>
                <a:gd name="T35" fmla="*/ 12 h 12"/>
                <a:gd name="T36" fmla="*/ 8 w 16"/>
                <a:gd name="T37" fmla="*/ 12 h 12"/>
                <a:gd name="T38" fmla="*/ 8 w 16"/>
                <a:gd name="T39" fmla="*/ 12 h 12"/>
                <a:gd name="T40" fmla="*/ 8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12 h 12"/>
                <a:gd name="T52" fmla="*/ 0 w 16"/>
                <a:gd name="T53" fmla="*/ 8 h 12"/>
                <a:gd name="T54" fmla="*/ 0 w 16"/>
                <a:gd name="T55" fmla="*/ 8 h 12"/>
                <a:gd name="T56" fmla="*/ 0 w 16"/>
                <a:gd name="T57" fmla="*/ 8 h 12"/>
                <a:gd name="T58" fmla="*/ 0 w 16"/>
                <a:gd name="T59" fmla="*/ 8 h 12"/>
                <a:gd name="T60" fmla="*/ 4 w 16"/>
                <a:gd name="T61" fmla="*/ 8 h 12"/>
                <a:gd name="T62" fmla="*/ 4 w 16"/>
                <a:gd name="T63" fmla="*/ 12 h 12"/>
                <a:gd name="T64" fmla="*/ 4 w 16"/>
                <a:gd name="T65" fmla="*/ 12 h 12"/>
                <a:gd name="T66" fmla="*/ 4 w 16"/>
                <a:gd name="T67" fmla="*/ 12 h 12"/>
                <a:gd name="T68" fmla="*/ 8 w 16"/>
                <a:gd name="T69" fmla="*/ 12 h 12"/>
                <a:gd name="T70" fmla="*/ 12 w 16"/>
                <a:gd name="T71" fmla="*/ 8 h 12"/>
                <a:gd name="T72" fmla="*/ 12 w 16"/>
                <a:gd name="T73" fmla="*/ 8 h 12"/>
                <a:gd name="T74" fmla="*/ 12 w 16"/>
                <a:gd name="T75" fmla="*/ 4 h 12"/>
                <a:gd name="T76" fmla="*/ 8 w 16"/>
                <a:gd name="T77" fmla="*/ 4 h 12"/>
                <a:gd name="T78" fmla="*/ 8 w 16"/>
                <a:gd name="T79" fmla="*/ 4 h 12"/>
                <a:gd name="T80" fmla="*/ 8 w 16"/>
                <a:gd name="T81" fmla="*/ 4 h 12"/>
                <a:gd name="T82" fmla="*/ 8 w 16"/>
                <a:gd name="T83" fmla="*/ 4 h 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2"/>
                <a:gd name="T128" fmla="*/ 16 w 16"/>
                <a:gd name="T129" fmla="*/ 12 h 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2">
                  <a:moveTo>
                    <a:pt x="4" y="8"/>
                  </a:move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close/>
                  <a:moveTo>
                    <a:pt x="8" y="4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0" name="Freeform 598"/>
            <p:cNvSpPr>
              <a:spLocks/>
            </p:cNvSpPr>
            <p:nvPr/>
          </p:nvSpPr>
          <p:spPr bwMode="auto">
            <a:xfrm>
              <a:off x="4441" y="2445"/>
              <a:ext cx="15" cy="12"/>
            </a:xfrm>
            <a:custGeom>
              <a:avLst/>
              <a:gdLst>
                <a:gd name="T0" fmla="*/ 11 w 15"/>
                <a:gd name="T1" fmla="*/ 4 h 12"/>
                <a:gd name="T2" fmla="*/ 11 w 15"/>
                <a:gd name="T3" fmla="*/ 4 h 12"/>
                <a:gd name="T4" fmla="*/ 11 w 15"/>
                <a:gd name="T5" fmla="*/ 4 h 12"/>
                <a:gd name="T6" fmla="*/ 11 w 15"/>
                <a:gd name="T7" fmla="*/ 4 h 12"/>
                <a:gd name="T8" fmla="*/ 15 w 15"/>
                <a:gd name="T9" fmla="*/ 4 h 12"/>
                <a:gd name="T10" fmla="*/ 15 w 15"/>
                <a:gd name="T11" fmla="*/ 4 h 12"/>
                <a:gd name="T12" fmla="*/ 15 w 15"/>
                <a:gd name="T13" fmla="*/ 4 h 12"/>
                <a:gd name="T14" fmla="*/ 15 w 15"/>
                <a:gd name="T15" fmla="*/ 4 h 12"/>
                <a:gd name="T16" fmla="*/ 15 w 15"/>
                <a:gd name="T17" fmla="*/ 4 h 12"/>
                <a:gd name="T18" fmla="*/ 15 w 15"/>
                <a:gd name="T19" fmla="*/ 0 h 12"/>
                <a:gd name="T20" fmla="*/ 3 w 15"/>
                <a:gd name="T21" fmla="*/ 0 h 12"/>
                <a:gd name="T22" fmla="*/ 3 w 15"/>
                <a:gd name="T23" fmla="*/ 0 h 12"/>
                <a:gd name="T24" fmla="*/ 3 w 15"/>
                <a:gd name="T25" fmla="*/ 0 h 12"/>
                <a:gd name="T26" fmla="*/ 3 w 15"/>
                <a:gd name="T27" fmla="*/ 0 h 12"/>
                <a:gd name="T28" fmla="*/ 3 w 15"/>
                <a:gd name="T29" fmla="*/ 0 h 12"/>
                <a:gd name="T30" fmla="*/ 3 w 15"/>
                <a:gd name="T31" fmla="*/ 0 h 12"/>
                <a:gd name="T32" fmla="*/ 3 w 15"/>
                <a:gd name="T33" fmla="*/ 0 h 12"/>
                <a:gd name="T34" fmla="*/ 3 w 15"/>
                <a:gd name="T35" fmla="*/ 0 h 12"/>
                <a:gd name="T36" fmla="*/ 0 w 15"/>
                <a:gd name="T37" fmla="*/ 8 h 12"/>
                <a:gd name="T38" fmla="*/ 0 w 15"/>
                <a:gd name="T39" fmla="*/ 8 h 12"/>
                <a:gd name="T40" fmla="*/ 0 w 15"/>
                <a:gd name="T41" fmla="*/ 8 h 12"/>
                <a:gd name="T42" fmla="*/ 0 w 15"/>
                <a:gd name="T43" fmla="*/ 8 h 12"/>
                <a:gd name="T44" fmla="*/ 0 w 15"/>
                <a:gd name="T45" fmla="*/ 8 h 12"/>
                <a:gd name="T46" fmla="*/ 0 w 15"/>
                <a:gd name="T47" fmla="*/ 8 h 12"/>
                <a:gd name="T48" fmla="*/ 0 w 15"/>
                <a:gd name="T49" fmla="*/ 12 h 12"/>
                <a:gd name="T50" fmla="*/ 0 w 15"/>
                <a:gd name="T51" fmla="*/ 12 h 12"/>
                <a:gd name="T52" fmla="*/ 11 w 15"/>
                <a:gd name="T53" fmla="*/ 12 h 12"/>
                <a:gd name="T54" fmla="*/ 11 w 15"/>
                <a:gd name="T55" fmla="*/ 12 h 12"/>
                <a:gd name="T56" fmla="*/ 11 w 15"/>
                <a:gd name="T57" fmla="*/ 12 h 12"/>
                <a:gd name="T58" fmla="*/ 11 w 15"/>
                <a:gd name="T59" fmla="*/ 12 h 12"/>
                <a:gd name="T60" fmla="*/ 11 w 15"/>
                <a:gd name="T61" fmla="*/ 12 h 12"/>
                <a:gd name="T62" fmla="*/ 11 w 15"/>
                <a:gd name="T63" fmla="*/ 12 h 12"/>
                <a:gd name="T64" fmla="*/ 11 w 15"/>
                <a:gd name="T65" fmla="*/ 8 h 12"/>
                <a:gd name="T66" fmla="*/ 11 w 15"/>
                <a:gd name="T67" fmla="*/ 8 h 12"/>
                <a:gd name="T68" fmla="*/ 11 w 15"/>
                <a:gd name="T69" fmla="*/ 8 h 12"/>
                <a:gd name="T70" fmla="*/ 11 w 15"/>
                <a:gd name="T71" fmla="*/ 8 h 12"/>
                <a:gd name="T72" fmla="*/ 11 w 15"/>
                <a:gd name="T73" fmla="*/ 8 h 12"/>
                <a:gd name="T74" fmla="*/ 7 w 15"/>
                <a:gd name="T75" fmla="*/ 12 h 12"/>
                <a:gd name="T76" fmla="*/ 3 w 15"/>
                <a:gd name="T77" fmla="*/ 8 h 12"/>
                <a:gd name="T78" fmla="*/ 3 w 15"/>
                <a:gd name="T79" fmla="*/ 8 h 12"/>
                <a:gd name="T80" fmla="*/ 7 w 15"/>
                <a:gd name="T81" fmla="*/ 8 h 12"/>
                <a:gd name="T82" fmla="*/ 7 w 15"/>
                <a:gd name="T83" fmla="*/ 8 h 12"/>
                <a:gd name="T84" fmla="*/ 7 w 15"/>
                <a:gd name="T85" fmla="*/ 8 h 12"/>
                <a:gd name="T86" fmla="*/ 7 w 15"/>
                <a:gd name="T87" fmla="*/ 8 h 12"/>
                <a:gd name="T88" fmla="*/ 7 w 15"/>
                <a:gd name="T89" fmla="*/ 8 h 12"/>
                <a:gd name="T90" fmla="*/ 7 w 15"/>
                <a:gd name="T91" fmla="*/ 8 h 12"/>
                <a:gd name="T92" fmla="*/ 7 w 15"/>
                <a:gd name="T93" fmla="*/ 8 h 12"/>
                <a:gd name="T94" fmla="*/ 11 w 15"/>
                <a:gd name="T95" fmla="*/ 8 h 12"/>
                <a:gd name="T96" fmla="*/ 11 w 15"/>
                <a:gd name="T97" fmla="*/ 4 h 12"/>
                <a:gd name="T98" fmla="*/ 11 w 15"/>
                <a:gd name="T99" fmla="*/ 4 h 12"/>
                <a:gd name="T100" fmla="*/ 11 w 15"/>
                <a:gd name="T101" fmla="*/ 4 h 12"/>
                <a:gd name="T102" fmla="*/ 11 w 15"/>
                <a:gd name="T103" fmla="*/ 4 h 12"/>
                <a:gd name="T104" fmla="*/ 11 w 15"/>
                <a:gd name="T105" fmla="*/ 4 h 12"/>
                <a:gd name="T106" fmla="*/ 11 w 15"/>
                <a:gd name="T107" fmla="*/ 4 h 12"/>
                <a:gd name="T108" fmla="*/ 11 w 15"/>
                <a:gd name="T109" fmla="*/ 4 h 12"/>
                <a:gd name="T110" fmla="*/ 11 w 15"/>
                <a:gd name="T111" fmla="*/ 4 h 12"/>
                <a:gd name="T112" fmla="*/ 7 w 15"/>
                <a:gd name="T113" fmla="*/ 4 h 12"/>
                <a:gd name="T114" fmla="*/ 7 w 15"/>
                <a:gd name="T115" fmla="*/ 4 h 12"/>
                <a:gd name="T116" fmla="*/ 7 w 15"/>
                <a:gd name="T117" fmla="*/ 4 h 12"/>
                <a:gd name="T118" fmla="*/ 7 w 15"/>
                <a:gd name="T119" fmla="*/ 4 h 12"/>
                <a:gd name="T120" fmla="*/ 7 w 15"/>
                <a:gd name="T121" fmla="*/ 4 h 12"/>
                <a:gd name="T122" fmla="*/ 11 w 15"/>
                <a:gd name="T123" fmla="*/ 4 h 12"/>
                <a:gd name="T124" fmla="*/ 11 w 15"/>
                <a:gd name="T125" fmla="*/ 4 h 1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2"/>
                <a:gd name="T191" fmla="*/ 15 w 15"/>
                <a:gd name="T192" fmla="*/ 12 h 1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2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3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7" y="12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1" name="Freeform 599"/>
            <p:cNvSpPr>
              <a:spLocks/>
            </p:cNvSpPr>
            <p:nvPr/>
          </p:nvSpPr>
          <p:spPr bwMode="auto">
            <a:xfrm>
              <a:off x="4456" y="2449"/>
              <a:ext cx="16" cy="12"/>
            </a:xfrm>
            <a:custGeom>
              <a:avLst/>
              <a:gdLst>
                <a:gd name="T0" fmla="*/ 8 w 16"/>
                <a:gd name="T1" fmla="*/ 0 h 12"/>
                <a:gd name="T2" fmla="*/ 4 w 16"/>
                <a:gd name="T3" fmla="*/ 4 h 12"/>
                <a:gd name="T4" fmla="*/ 8 w 16"/>
                <a:gd name="T5" fmla="*/ 4 h 12"/>
                <a:gd name="T6" fmla="*/ 8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8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8 w 16"/>
                <a:gd name="T23" fmla="*/ 8 h 12"/>
                <a:gd name="T24" fmla="*/ 8 w 16"/>
                <a:gd name="T25" fmla="*/ 8 h 12"/>
                <a:gd name="T26" fmla="*/ 8 w 16"/>
                <a:gd name="T27" fmla="*/ 8 h 12"/>
                <a:gd name="T28" fmla="*/ 8 w 16"/>
                <a:gd name="T29" fmla="*/ 8 h 12"/>
                <a:gd name="T30" fmla="*/ 8 w 16"/>
                <a:gd name="T31" fmla="*/ 8 h 12"/>
                <a:gd name="T32" fmla="*/ 8 w 16"/>
                <a:gd name="T33" fmla="*/ 8 h 12"/>
                <a:gd name="T34" fmla="*/ 8 w 16"/>
                <a:gd name="T35" fmla="*/ 8 h 12"/>
                <a:gd name="T36" fmla="*/ 8 w 16"/>
                <a:gd name="T37" fmla="*/ 8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4 w 16"/>
                <a:gd name="T49" fmla="*/ 12 h 12"/>
                <a:gd name="T50" fmla="*/ 4 w 16"/>
                <a:gd name="T51" fmla="*/ 12 h 12"/>
                <a:gd name="T52" fmla="*/ 4 w 16"/>
                <a:gd name="T53" fmla="*/ 12 h 12"/>
                <a:gd name="T54" fmla="*/ 4 w 16"/>
                <a:gd name="T55" fmla="*/ 12 h 12"/>
                <a:gd name="T56" fmla="*/ 0 w 16"/>
                <a:gd name="T57" fmla="*/ 8 h 12"/>
                <a:gd name="T58" fmla="*/ 0 w 16"/>
                <a:gd name="T59" fmla="*/ 8 h 12"/>
                <a:gd name="T60" fmla="*/ 0 w 16"/>
                <a:gd name="T61" fmla="*/ 8 h 12"/>
                <a:gd name="T62" fmla="*/ 0 w 16"/>
                <a:gd name="T63" fmla="*/ 8 h 12"/>
                <a:gd name="T64" fmla="*/ 0 w 16"/>
                <a:gd name="T65" fmla="*/ 8 h 12"/>
                <a:gd name="T66" fmla="*/ 0 w 16"/>
                <a:gd name="T67" fmla="*/ 8 h 12"/>
                <a:gd name="T68" fmla="*/ 0 w 16"/>
                <a:gd name="T69" fmla="*/ 8 h 12"/>
                <a:gd name="T70" fmla="*/ 0 w 16"/>
                <a:gd name="T71" fmla="*/ 8 h 12"/>
                <a:gd name="T72" fmla="*/ 4 w 16"/>
                <a:gd name="T73" fmla="*/ 0 h 12"/>
                <a:gd name="T74" fmla="*/ 4 w 16"/>
                <a:gd name="T75" fmla="*/ 0 h 12"/>
                <a:gd name="T76" fmla="*/ 4 w 16"/>
                <a:gd name="T77" fmla="*/ 0 h 12"/>
                <a:gd name="T78" fmla="*/ 4 w 16"/>
                <a:gd name="T79" fmla="*/ 0 h 12"/>
                <a:gd name="T80" fmla="*/ 4 w 16"/>
                <a:gd name="T81" fmla="*/ 0 h 12"/>
                <a:gd name="T82" fmla="*/ 4 w 16"/>
                <a:gd name="T83" fmla="*/ 0 h 12"/>
                <a:gd name="T84" fmla="*/ 4 w 16"/>
                <a:gd name="T85" fmla="*/ 0 h 12"/>
                <a:gd name="T86" fmla="*/ 4 w 16"/>
                <a:gd name="T87" fmla="*/ 0 h 12"/>
                <a:gd name="T88" fmla="*/ 16 w 16"/>
                <a:gd name="T89" fmla="*/ 0 h 12"/>
                <a:gd name="T90" fmla="*/ 16 w 16"/>
                <a:gd name="T91" fmla="*/ 0 h 12"/>
                <a:gd name="T92" fmla="*/ 16 w 16"/>
                <a:gd name="T93" fmla="*/ 0 h 12"/>
                <a:gd name="T94" fmla="*/ 16 w 16"/>
                <a:gd name="T95" fmla="*/ 4 h 12"/>
                <a:gd name="T96" fmla="*/ 16 w 16"/>
                <a:gd name="T97" fmla="*/ 4 h 12"/>
                <a:gd name="T98" fmla="*/ 16 w 16"/>
                <a:gd name="T99" fmla="*/ 4 h 12"/>
                <a:gd name="T100" fmla="*/ 16 w 16"/>
                <a:gd name="T101" fmla="*/ 4 h 12"/>
                <a:gd name="T102" fmla="*/ 12 w 16"/>
                <a:gd name="T103" fmla="*/ 4 h 12"/>
                <a:gd name="T104" fmla="*/ 12 w 16"/>
                <a:gd name="T105" fmla="*/ 4 h 12"/>
                <a:gd name="T106" fmla="*/ 12 w 16"/>
                <a:gd name="T107" fmla="*/ 4 h 12"/>
                <a:gd name="T108" fmla="*/ 12 w 16"/>
                <a:gd name="T109" fmla="*/ 4 h 12"/>
                <a:gd name="T110" fmla="*/ 12 w 16"/>
                <a:gd name="T111" fmla="*/ 4 h 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6"/>
                <a:gd name="T169" fmla="*/ 0 h 12"/>
                <a:gd name="T170" fmla="*/ 16 w 16"/>
                <a:gd name="T171" fmla="*/ 12 h 1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6" h="12">
                  <a:moveTo>
                    <a:pt x="12" y="4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12"/>
                  </a:lnTo>
                  <a:lnTo>
                    <a:pt x="0" y="8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2" name="Freeform 600"/>
            <p:cNvSpPr>
              <a:spLocks noEditPoints="1"/>
            </p:cNvSpPr>
            <p:nvPr/>
          </p:nvSpPr>
          <p:spPr bwMode="auto">
            <a:xfrm>
              <a:off x="4173" y="2469"/>
              <a:ext cx="15" cy="16"/>
            </a:xfrm>
            <a:custGeom>
              <a:avLst/>
              <a:gdLst>
                <a:gd name="T0" fmla="*/ 12 w 15"/>
                <a:gd name="T1" fmla="*/ 8 h 16"/>
                <a:gd name="T2" fmla="*/ 12 w 15"/>
                <a:gd name="T3" fmla="*/ 8 h 16"/>
                <a:gd name="T4" fmla="*/ 12 w 15"/>
                <a:gd name="T5" fmla="*/ 8 h 16"/>
                <a:gd name="T6" fmla="*/ 12 w 15"/>
                <a:gd name="T7" fmla="*/ 8 h 16"/>
                <a:gd name="T8" fmla="*/ 12 w 15"/>
                <a:gd name="T9" fmla="*/ 8 h 16"/>
                <a:gd name="T10" fmla="*/ 12 w 15"/>
                <a:gd name="T11" fmla="*/ 8 h 16"/>
                <a:gd name="T12" fmla="*/ 12 w 15"/>
                <a:gd name="T13" fmla="*/ 8 h 16"/>
                <a:gd name="T14" fmla="*/ 12 w 15"/>
                <a:gd name="T15" fmla="*/ 8 h 16"/>
                <a:gd name="T16" fmla="*/ 12 w 15"/>
                <a:gd name="T17" fmla="*/ 8 h 16"/>
                <a:gd name="T18" fmla="*/ 12 w 15"/>
                <a:gd name="T19" fmla="*/ 8 h 16"/>
                <a:gd name="T20" fmla="*/ 12 w 15"/>
                <a:gd name="T21" fmla="*/ 8 h 16"/>
                <a:gd name="T22" fmla="*/ 12 w 15"/>
                <a:gd name="T23" fmla="*/ 8 h 16"/>
                <a:gd name="T24" fmla="*/ 12 w 15"/>
                <a:gd name="T25" fmla="*/ 12 h 16"/>
                <a:gd name="T26" fmla="*/ 12 w 15"/>
                <a:gd name="T27" fmla="*/ 12 h 16"/>
                <a:gd name="T28" fmla="*/ 12 w 15"/>
                <a:gd name="T29" fmla="*/ 12 h 16"/>
                <a:gd name="T30" fmla="*/ 12 w 15"/>
                <a:gd name="T31" fmla="*/ 12 h 16"/>
                <a:gd name="T32" fmla="*/ 8 w 15"/>
                <a:gd name="T33" fmla="*/ 12 h 16"/>
                <a:gd name="T34" fmla="*/ 8 w 15"/>
                <a:gd name="T35" fmla="*/ 12 h 16"/>
                <a:gd name="T36" fmla="*/ 8 w 15"/>
                <a:gd name="T37" fmla="*/ 12 h 16"/>
                <a:gd name="T38" fmla="*/ 8 w 15"/>
                <a:gd name="T39" fmla="*/ 12 h 16"/>
                <a:gd name="T40" fmla="*/ 8 w 15"/>
                <a:gd name="T41" fmla="*/ 12 h 16"/>
                <a:gd name="T42" fmla="*/ 8 w 15"/>
                <a:gd name="T43" fmla="*/ 12 h 16"/>
                <a:gd name="T44" fmla="*/ 8 w 15"/>
                <a:gd name="T45" fmla="*/ 12 h 16"/>
                <a:gd name="T46" fmla="*/ 12 w 15"/>
                <a:gd name="T47" fmla="*/ 12 h 16"/>
                <a:gd name="T48" fmla="*/ 12 w 15"/>
                <a:gd name="T49" fmla="*/ 12 h 16"/>
                <a:gd name="T50" fmla="*/ 12 w 15"/>
                <a:gd name="T51" fmla="*/ 12 h 16"/>
                <a:gd name="T52" fmla="*/ 8 w 15"/>
                <a:gd name="T53" fmla="*/ 16 h 16"/>
                <a:gd name="T54" fmla="*/ 8 w 15"/>
                <a:gd name="T55" fmla="*/ 16 h 16"/>
                <a:gd name="T56" fmla="*/ 0 w 15"/>
                <a:gd name="T57" fmla="*/ 12 h 16"/>
                <a:gd name="T58" fmla="*/ 0 w 15"/>
                <a:gd name="T59" fmla="*/ 12 h 16"/>
                <a:gd name="T60" fmla="*/ 0 w 15"/>
                <a:gd name="T61" fmla="*/ 12 h 16"/>
                <a:gd name="T62" fmla="*/ 0 w 15"/>
                <a:gd name="T63" fmla="*/ 12 h 16"/>
                <a:gd name="T64" fmla="*/ 0 w 15"/>
                <a:gd name="T65" fmla="*/ 12 h 16"/>
                <a:gd name="T66" fmla="*/ 0 w 15"/>
                <a:gd name="T67" fmla="*/ 12 h 16"/>
                <a:gd name="T68" fmla="*/ 4 w 15"/>
                <a:gd name="T69" fmla="*/ 12 h 16"/>
                <a:gd name="T70" fmla="*/ 4 w 15"/>
                <a:gd name="T71" fmla="*/ 12 h 16"/>
                <a:gd name="T72" fmla="*/ 8 w 15"/>
                <a:gd name="T73" fmla="*/ 8 h 16"/>
                <a:gd name="T74" fmla="*/ 0 w 15"/>
                <a:gd name="T75" fmla="*/ 8 h 16"/>
                <a:gd name="T76" fmla="*/ 0 w 15"/>
                <a:gd name="T77" fmla="*/ 8 h 16"/>
                <a:gd name="T78" fmla="*/ 0 w 15"/>
                <a:gd name="T79" fmla="*/ 8 h 16"/>
                <a:gd name="T80" fmla="*/ 0 w 15"/>
                <a:gd name="T81" fmla="*/ 8 h 16"/>
                <a:gd name="T82" fmla="*/ 0 w 15"/>
                <a:gd name="T83" fmla="*/ 8 h 16"/>
                <a:gd name="T84" fmla="*/ 0 w 15"/>
                <a:gd name="T85" fmla="*/ 8 h 16"/>
                <a:gd name="T86" fmla="*/ 0 w 15"/>
                <a:gd name="T87" fmla="*/ 4 h 16"/>
                <a:gd name="T88" fmla="*/ 0 w 15"/>
                <a:gd name="T89" fmla="*/ 4 h 16"/>
                <a:gd name="T90" fmla="*/ 12 w 15"/>
                <a:gd name="T91" fmla="*/ 0 h 16"/>
                <a:gd name="T92" fmla="*/ 12 w 15"/>
                <a:gd name="T93" fmla="*/ 0 h 16"/>
                <a:gd name="T94" fmla="*/ 12 w 15"/>
                <a:gd name="T95" fmla="*/ 0 h 16"/>
                <a:gd name="T96" fmla="*/ 12 w 15"/>
                <a:gd name="T97" fmla="*/ 0 h 16"/>
                <a:gd name="T98" fmla="*/ 12 w 15"/>
                <a:gd name="T99" fmla="*/ 0 h 16"/>
                <a:gd name="T100" fmla="*/ 15 w 15"/>
                <a:gd name="T101" fmla="*/ 0 h 16"/>
                <a:gd name="T102" fmla="*/ 15 w 15"/>
                <a:gd name="T103" fmla="*/ 0 h 16"/>
                <a:gd name="T104" fmla="*/ 15 w 15"/>
                <a:gd name="T105" fmla="*/ 0 h 16"/>
                <a:gd name="T106" fmla="*/ 15 w 15"/>
                <a:gd name="T107" fmla="*/ 0 h 16"/>
                <a:gd name="T108" fmla="*/ 15 w 15"/>
                <a:gd name="T109" fmla="*/ 0 h 16"/>
                <a:gd name="T110" fmla="*/ 15 w 15"/>
                <a:gd name="T111" fmla="*/ 0 h 16"/>
                <a:gd name="T112" fmla="*/ 12 w 15"/>
                <a:gd name="T113" fmla="*/ 8 h 16"/>
                <a:gd name="T114" fmla="*/ 4 w 15"/>
                <a:gd name="T115" fmla="*/ 8 h 16"/>
                <a:gd name="T116" fmla="*/ 8 w 15"/>
                <a:gd name="T117" fmla="*/ 8 h 16"/>
                <a:gd name="T118" fmla="*/ 12 w 15"/>
                <a:gd name="T119" fmla="*/ 0 h 1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5"/>
                <a:gd name="T181" fmla="*/ 0 h 16"/>
                <a:gd name="T182" fmla="*/ 15 w 15"/>
                <a:gd name="T183" fmla="*/ 16 h 1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5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2" y="8"/>
                  </a:lnTo>
                  <a:close/>
                  <a:moveTo>
                    <a:pt x="12" y="0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3" name="Freeform 601"/>
            <p:cNvSpPr>
              <a:spLocks/>
            </p:cNvSpPr>
            <p:nvPr/>
          </p:nvSpPr>
          <p:spPr bwMode="auto">
            <a:xfrm>
              <a:off x="4149" y="2485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2 w 16"/>
                <a:gd name="T13" fmla="*/ 4 h 12"/>
                <a:gd name="T14" fmla="*/ 12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8 w 16"/>
                <a:gd name="T31" fmla="*/ 0 h 12"/>
                <a:gd name="T32" fmla="*/ 8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8 w 16"/>
                <a:gd name="T49" fmla="*/ 8 h 12"/>
                <a:gd name="T50" fmla="*/ 8 w 16"/>
                <a:gd name="T51" fmla="*/ 8 h 12"/>
                <a:gd name="T52" fmla="*/ 8 w 16"/>
                <a:gd name="T53" fmla="*/ 8 h 12"/>
                <a:gd name="T54" fmla="*/ 8 w 16"/>
                <a:gd name="T55" fmla="*/ 8 h 12"/>
                <a:gd name="T56" fmla="*/ 4 w 16"/>
                <a:gd name="T57" fmla="*/ 4 h 12"/>
                <a:gd name="T58" fmla="*/ 4 w 16"/>
                <a:gd name="T59" fmla="*/ 4 h 12"/>
                <a:gd name="T60" fmla="*/ 4 w 16"/>
                <a:gd name="T61" fmla="*/ 4 h 12"/>
                <a:gd name="T62" fmla="*/ 8 w 16"/>
                <a:gd name="T63" fmla="*/ 4 h 12"/>
                <a:gd name="T64" fmla="*/ 8 w 16"/>
                <a:gd name="T65" fmla="*/ 4 h 12"/>
                <a:gd name="T66" fmla="*/ 12 w 16"/>
                <a:gd name="T67" fmla="*/ 4 h 12"/>
                <a:gd name="T68" fmla="*/ 12 w 16"/>
                <a:gd name="T69" fmla="*/ 4 h 12"/>
                <a:gd name="T70" fmla="*/ 12 w 16"/>
                <a:gd name="T71" fmla="*/ 4 h 12"/>
                <a:gd name="T72" fmla="*/ 12 w 16"/>
                <a:gd name="T73" fmla="*/ 8 h 12"/>
                <a:gd name="T74" fmla="*/ 12 w 16"/>
                <a:gd name="T75" fmla="*/ 8 h 12"/>
                <a:gd name="T76" fmla="*/ 12 w 16"/>
                <a:gd name="T77" fmla="*/ 8 h 12"/>
                <a:gd name="T78" fmla="*/ 12 w 16"/>
                <a:gd name="T79" fmla="*/ 8 h 12"/>
                <a:gd name="T80" fmla="*/ 12 w 16"/>
                <a:gd name="T81" fmla="*/ 8 h 12"/>
                <a:gd name="T82" fmla="*/ 8 w 16"/>
                <a:gd name="T83" fmla="*/ 8 h 12"/>
                <a:gd name="T84" fmla="*/ 8 w 16"/>
                <a:gd name="T85" fmla="*/ 8 h 12"/>
                <a:gd name="T86" fmla="*/ 8 w 16"/>
                <a:gd name="T87" fmla="*/ 8 h 12"/>
                <a:gd name="T88" fmla="*/ 8 w 16"/>
                <a:gd name="T89" fmla="*/ 8 h 12"/>
                <a:gd name="T90" fmla="*/ 8 w 16"/>
                <a:gd name="T91" fmla="*/ 12 h 12"/>
                <a:gd name="T92" fmla="*/ 8 w 16"/>
                <a:gd name="T93" fmla="*/ 12 h 12"/>
                <a:gd name="T94" fmla="*/ 4 w 16"/>
                <a:gd name="T95" fmla="*/ 12 h 12"/>
                <a:gd name="T96" fmla="*/ 4 w 16"/>
                <a:gd name="T97" fmla="*/ 8 h 12"/>
                <a:gd name="T98" fmla="*/ 4 w 16"/>
                <a:gd name="T99" fmla="*/ 8 h 12"/>
                <a:gd name="T100" fmla="*/ 0 w 16"/>
                <a:gd name="T101" fmla="*/ 8 h 12"/>
                <a:gd name="T102" fmla="*/ 0 w 16"/>
                <a:gd name="T103" fmla="*/ 4 h 12"/>
                <a:gd name="T104" fmla="*/ 0 w 16"/>
                <a:gd name="T105" fmla="*/ 4 h 12"/>
                <a:gd name="T106" fmla="*/ 4 w 16"/>
                <a:gd name="T107" fmla="*/ 0 h 12"/>
                <a:gd name="T108" fmla="*/ 12 w 16"/>
                <a:gd name="T109" fmla="*/ 0 h 12"/>
                <a:gd name="T110" fmla="*/ 12 w 16"/>
                <a:gd name="T111" fmla="*/ 0 h 12"/>
                <a:gd name="T112" fmla="*/ 12 w 16"/>
                <a:gd name="T113" fmla="*/ 0 h 12"/>
                <a:gd name="T114" fmla="*/ 12 w 16"/>
                <a:gd name="T115" fmla="*/ 0 h 1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"/>
                <a:gd name="T175" fmla="*/ 0 h 12"/>
                <a:gd name="T176" fmla="*/ 16 w 16"/>
                <a:gd name="T177" fmla="*/ 12 h 1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4" name="Freeform 602"/>
            <p:cNvSpPr>
              <a:spLocks/>
            </p:cNvSpPr>
            <p:nvPr/>
          </p:nvSpPr>
          <p:spPr bwMode="auto">
            <a:xfrm>
              <a:off x="4161" y="2485"/>
              <a:ext cx="16" cy="12"/>
            </a:xfrm>
            <a:custGeom>
              <a:avLst/>
              <a:gdLst>
                <a:gd name="T0" fmla="*/ 8 w 16"/>
                <a:gd name="T1" fmla="*/ 4 h 12"/>
                <a:gd name="T2" fmla="*/ 12 w 16"/>
                <a:gd name="T3" fmla="*/ 4 h 12"/>
                <a:gd name="T4" fmla="*/ 12 w 16"/>
                <a:gd name="T5" fmla="*/ 4 h 12"/>
                <a:gd name="T6" fmla="*/ 8 w 16"/>
                <a:gd name="T7" fmla="*/ 0 h 12"/>
                <a:gd name="T8" fmla="*/ 8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4 w 16"/>
                <a:gd name="T15" fmla="*/ 4 h 12"/>
                <a:gd name="T16" fmla="*/ 4 w 16"/>
                <a:gd name="T17" fmla="*/ 4 h 12"/>
                <a:gd name="T18" fmla="*/ 0 w 16"/>
                <a:gd name="T19" fmla="*/ 8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12 h 12"/>
                <a:gd name="T26" fmla="*/ 0 w 16"/>
                <a:gd name="T27" fmla="*/ 12 h 12"/>
                <a:gd name="T28" fmla="*/ 0 w 16"/>
                <a:gd name="T29" fmla="*/ 12 h 12"/>
                <a:gd name="T30" fmla="*/ 4 w 16"/>
                <a:gd name="T31" fmla="*/ 12 h 12"/>
                <a:gd name="T32" fmla="*/ 4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8 h 12"/>
                <a:gd name="T42" fmla="*/ 8 w 16"/>
                <a:gd name="T43" fmla="*/ 12 h 12"/>
                <a:gd name="T44" fmla="*/ 8 w 16"/>
                <a:gd name="T45" fmla="*/ 12 h 12"/>
                <a:gd name="T46" fmla="*/ 8 w 16"/>
                <a:gd name="T47" fmla="*/ 12 h 12"/>
                <a:gd name="T48" fmla="*/ 4 w 16"/>
                <a:gd name="T49" fmla="*/ 12 h 12"/>
                <a:gd name="T50" fmla="*/ 4 w 16"/>
                <a:gd name="T51" fmla="*/ 12 h 12"/>
                <a:gd name="T52" fmla="*/ 8 w 16"/>
                <a:gd name="T53" fmla="*/ 12 h 12"/>
                <a:gd name="T54" fmla="*/ 8 w 16"/>
                <a:gd name="T55" fmla="*/ 12 h 12"/>
                <a:gd name="T56" fmla="*/ 12 w 16"/>
                <a:gd name="T57" fmla="*/ 12 h 12"/>
                <a:gd name="T58" fmla="*/ 12 w 16"/>
                <a:gd name="T59" fmla="*/ 12 h 12"/>
                <a:gd name="T60" fmla="*/ 12 w 16"/>
                <a:gd name="T61" fmla="*/ 12 h 12"/>
                <a:gd name="T62" fmla="*/ 12 w 16"/>
                <a:gd name="T63" fmla="*/ 12 h 12"/>
                <a:gd name="T64" fmla="*/ 16 w 16"/>
                <a:gd name="T65" fmla="*/ 4 h 12"/>
                <a:gd name="T66" fmla="*/ 16 w 16"/>
                <a:gd name="T67" fmla="*/ 4 h 12"/>
                <a:gd name="T68" fmla="*/ 16 w 16"/>
                <a:gd name="T69" fmla="*/ 4 h 12"/>
                <a:gd name="T70" fmla="*/ 16 w 16"/>
                <a:gd name="T71" fmla="*/ 4 h 12"/>
                <a:gd name="T72" fmla="*/ 16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4 h 12"/>
                <a:gd name="T84" fmla="*/ 12 w 16"/>
                <a:gd name="T85" fmla="*/ 4 h 12"/>
                <a:gd name="T86" fmla="*/ 8 w 16"/>
                <a:gd name="T87" fmla="*/ 4 h 12"/>
                <a:gd name="T88" fmla="*/ 8 w 16"/>
                <a:gd name="T89" fmla="*/ 4 h 1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2"/>
                <a:gd name="T137" fmla="*/ 16 w 16"/>
                <a:gd name="T138" fmla="*/ 12 h 1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2">
                  <a:moveTo>
                    <a:pt x="8" y="4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5" name="Freeform 603"/>
            <p:cNvSpPr>
              <a:spLocks/>
            </p:cNvSpPr>
            <p:nvPr/>
          </p:nvSpPr>
          <p:spPr bwMode="auto">
            <a:xfrm>
              <a:off x="4173" y="2489"/>
              <a:ext cx="15" cy="12"/>
            </a:xfrm>
            <a:custGeom>
              <a:avLst/>
              <a:gdLst>
                <a:gd name="T0" fmla="*/ 8 w 15"/>
                <a:gd name="T1" fmla="*/ 12 h 12"/>
                <a:gd name="T2" fmla="*/ 12 w 15"/>
                <a:gd name="T3" fmla="*/ 12 h 12"/>
                <a:gd name="T4" fmla="*/ 12 w 15"/>
                <a:gd name="T5" fmla="*/ 12 h 12"/>
                <a:gd name="T6" fmla="*/ 12 w 15"/>
                <a:gd name="T7" fmla="*/ 12 h 12"/>
                <a:gd name="T8" fmla="*/ 12 w 15"/>
                <a:gd name="T9" fmla="*/ 12 h 12"/>
                <a:gd name="T10" fmla="*/ 12 w 15"/>
                <a:gd name="T11" fmla="*/ 12 h 12"/>
                <a:gd name="T12" fmla="*/ 12 w 15"/>
                <a:gd name="T13" fmla="*/ 12 h 12"/>
                <a:gd name="T14" fmla="*/ 8 w 15"/>
                <a:gd name="T15" fmla="*/ 12 h 12"/>
                <a:gd name="T16" fmla="*/ 4 w 15"/>
                <a:gd name="T17" fmla="*/ 12 h 12"/>
                <a:gd name="T18" fmla="*/ 4 w 15"/>
                <a:gd name="T19" fmla="*/ 12 h 12"/>
                <a:gd name="T20" fmla="*/ 0 w 15"/>
                <a:gd name="T21" fmla="*/ 12 h 12"/>
                <a:gd name="T22" fmla="*/ 0 w 15"/>
                <a:gd name="T23" fmla="*/ 8 h 12"/>
                <a:gd name="T24" fmla="*/ 0 w 15"/>
                <a:gd name="T25" fmla="*/ 8 h 12"/>
                <a:gd name="T26" fmla="*/ 4 w 15"/>
                <a:gd name="T27" fmla="*/ 8 h 12"/>
                <a:gd name="T28" fmla="*/ 4 w 15"/>
                <a:gd name="T29" fmla="*/ 8 h 12"/>
                <a:gd name="T30" fmla="*/ 4 w 15"/>
                <a:gd name="T31" fmla="*/ 8 h 12"/>
                <a:gd name="T32" fmla="*/ 12 w 15"/>
                <a:gd name="T33" fmla="*/ 4 h 12"/>
                <a:gd name="T34" fmla="*/ 8 w 15"/>
                <a:gd name="T35" fmla="*/ 4 h 12"/>
                <a:gd name="T36" fmla="*/ 8 w 15"/>
                <a:gd name="T37" fmla="*/ 4 h 12"/>
                <a:gd name="T38" fmla="*/ 8 w 15"/>
                <a:gd name="T39" fmla="*/ 0 h 12"/>
                <a:gd name="T40" fmla="*/ 8 w 15"/>
                <a:gd name="T41" fmla="*/ 0 h 12"/>
                <a:gd name="T42" fmla="*/ 8 w 15"/>
                <a:gd name="T43" fmla="*/ 0 h 12"/>
                <a:gd name="T44" fmla="*/ 8 w 15"/>
                <a:gd name="T45" fmla="*/ 0 h 12"/>
                <a:gd name="T46" fmla="*/ 8 w 15"/>
                <a:gd name="T47" fmla="*/ 0 h 12"/>
                <a:gd name="T48" fmla="*/ 15 w 15"/>
                <a:gd name="T49" fmla="*/ 4 h 12"/>
                <a:gd name="T50" fmla="*/ 15 w 15"/>
                <a:gd name="T51" fmla="*/ 4 h 12"/>
                <a:gd name="T52" fmla="*/ 15 w 15"/>
                <a:gd name="T53" fmla="*/ 4 h 12"/>
                <a:gd name="T54" fmla="*/ 15 w 15"/>
                <a:gd name="T55" fmla="*/ 4 h 12"/>
                <a:gd name="T56" fmla="*/ 15 w 15"/>
                <a:gd name="T57" fmla="*/ 4 h 12"/>
                <a:gd name="T58" fmla="*/ 15 w 15"/>
                <a:gd name="T59" fmla="*/ 4 h 12"/>
                <a:gd name="T60" fmla="*/ 15 w 15"/>
                <a:gd name="T61" fmla="*/ 4 h 12"/>
                <a:gd name="T62" fmla="*/ 12 w 15"/>
                <a:gd name="T63" fmla="*/ 4 h 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5"/>
                <a:gd name="T97" fmla="*/ 0 h 12"/>
                <a:gd name="T98" fmla="*/ 15 w 15"/>
                <a:gd name="T99" fmla="*/ 12 h 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5" h="12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6" name="Freeform 604"/>
            <p:cNvSpPr>
              <a:spLocks/>
            </p:cNvSpPr>
            <p:nvPr/>
          </p:nvSpPr>
          <p:spPr bwMode="auto">
            <a:xfrm>
              <a:off x="4283" y="2485"/>
              <a:ext cx="20" cy="20"/>
            </a:xfrm>
            <a:custGeom>
              <a:avLst/>
              <a:gdLst>
                <a:gd name="T0" fmla="*/ 8 w 20"/>
                <a:gd name="T1" fmla="*/ 8 h 20"/>
                <a:gd name="T2" fmla="*/ 8 w 20"/>
                <a:gd name="T3" fmla="*/ 8 h 20"/>
                <a:gd name="T4" fmla="*/ 12 w 20"/>
                <a:gd name="T5" fmla="*/ 8 h 20"/>
                <a:gd name="T6" fmla="*/ 12 w 20"/>
                <a:gd name="T7" fmla="*/ 8 h 20"/>
                <a:gd name="T8" fmla="*/ 12 w 20"/>
                <a:gd name="T9" fmla="*/ 8 h 20"/>
                <a:gd name="T10" fmla="*/ 16 w 20"/>
                <a:gd name="T11" fmla="*/ 12 h 20"/>
                <a:gd name="T12" fmla="*/ 16 w 20"/>
                <a:gd name="T13" fmla="*/ 16 h 20"/>
                <a:gd name="T14" fmla="*/ 16 w 20"/>
                <a:gd name="T15" fmla="*/ 16 h 20"/>
                <a:gd name="T16" fmla="*/ 12 w 20"/>
                <a:gd name="T17" fmla="*/ 20 h 20"/>
                <a:gd name="T18" fmla="*/ 4 w 20"/>
                <a:gd name="T19" fmla="*/ 20 h 20"/>
                <a:gd name="T20" fmla="*/ 4 w 20"/>
                <a:gd name="T21" fmla="*/ 20 h 20"/>
                <a:gd name="T22" fmla="*/ 0 w 20"/>
                <a:gd name="T23" fmla="*/ 16 h 20"/>
                <a:gd name="T24" fmla="*/ 0 w 20"/>
                <a:gd name="T25" fmla="*/ 16 h 20"/>
                <a:gd name="T26" fmla="*/ 0 w 20"/>
                <a:gd name="T27" fmla="*/ 16 h 20"/>
                <a:gd name="T28" fmla="*/ 0 w 20"/>
                <a:gd name="T29" fmla="*/ 12 h 20"/>
                <a:gd name="T30" fmla="*/ 4 w 20"/>
                <a:gd name="T31" fmla="*/ 12 h 20"/>
                <a:gd name="T32" fmla="*/ 4 w 20"/>
                <a:gd name="T33" fmla="*/ 12 h 20"/>
                <a:gd name="T34" fmla="*/ 4 w 20"/>
                <a:gd name="T35" fmla="*/ 16 h 20"/>
                <a:gd name="T36" fmla="*/ 8 w 20"/>
                <a:gd name="T37" fmla="*/ 16 h 20"/>
                <a:gd name="T38" fmla="*/ 8 w 20"/>
                <a:gd name="T39" fmla="*/ 16 h 20"/>
                <a:gd name="T40" fmla="*/ 8 w 20"/>
                <a:gd name="T41" fmla="*/ 16 h 20"/>
                <a:gd name="T42" fmla="*/ 12 w 20"/>
                <a:gd name="T43" fmla="*/ 12 h 20"/>
                <a:gd name="T44" fmla="*/ 12 w 20"/>
                <a:gd name="T45" fmla="*/ 12 h 20"/>
                <a:gd name="T46" fmla="*/ 12 w 20"/>
                <a:gd name="T47" fmla="*/ 12 h 20"/>
                <a:gd name="T48" fmla="*/ 12 w 20"/>
                <a:gd name="T49" fmla="*/ 12 h 20"/>
                <a:gd name="T50" fmla="*/ 12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2 h 20"/>
                <a:gd name="T58" fmla="*/ 4 w 20"/>
                <a:gd name="T59" fmla="*/ 8 h 20"/>
                <a:gd name="T60" fmla="*/ 4 w 20"/>
                <a:gd name="T61" fmla="*/ 8 h 20"/>
                <a:gd name="T62" fmla="*/ 8 w 20"/>
                <a:gd name="T63" fmla="*/ 0 h 20"/>
                <a:gd name="T64" fmla="*/ 8 w 20"/>
                <a:gd name="T65" fmla="*/ 0 h 20"/>
                <a:gd name="T66" fmla="*/ 8 w 20"/>
                <a:gd name="T67" fmla="*/ 0 h 20"/>
                <a:gd name="T68" fmla="*/ 12 w 20"/>
                <a:gd name="T69" fmla="*/ 0 h 20"/>
                <a:gd name="T70" fmla="*/ 20 w 20"/>
                <a:gd name="T71" fmla="*/ 4 h 20"/>
                <a:gd name="T72" fmla="*/ 20 w 20"/>
                <a:gd name="T73" fmla="*/ 4 h 20"/>
                <a:gd name="T74" fmla="*/ 20 w 20"/>
                <a:gd name="T75" fmla="*/ 4 h 20"/>
                <a:gd name="T76" fmla="*/ 20 w 20"/>
                <a:gd name="T77" fmla="*/ 4 h 20"/>
                <a:gd name="T78" fmla="*/ 20 w 20"/>
                <a:gd name="T79" fmla="*/ 4 h 20"/>
                <a:gd name="T80" fmla="*/ 20 w 20"/>
                <a:gd name="T81" fmla="*/ 8 h 20"/>
                <a:gd name="T82" fmla="*/ 20 w 20"/>
                <a:gd name="T83" fmla="*/ 8 h 20"/>
                <a:gd name="T84" fmla="*/ 12 w 20"/>
                <a:gd name="T85" fmla="*/ 4 h 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20"/>
                <a:gd name="T131" fmla="*/ 20 w 20"/>
                <a:gd name="T132" fmla="*/ 20 h 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20"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12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7" name="Freeform 605"/>
            <p:cNvSpPr>
              <a:spLocks/>
            </p:cNvSpPr>
            <p:nvPr/>
          </p:nvSpPr>
          <p:spPr bwMode="auto">
            <a:xfrm>
              <a:off x="4259" y="2505"/>
              <a:ext cx="20" cy="11"/>
            </a:xfrm>
            <a:custGeom>
              <a:avLst/>
              <a:gdLst>
                <a:gd name="T0" fmla="*/ 12 w 20"/>
                <a:gd name="T1" fmla="*/ 7 h 11"/>
                <a:gd name="T2" fmla="*/ 12 w 20"/>
                <a:gd name="T3" fmla="*/ 7 h 11"/>
                <a:gd name="T4" fmla="*/ 12 w 20"/>
                <a:gd name="T5" fmla="*/ 7 h 11"/>
                <a:gd name="T6" fmla="*/ 12 w 20"/>
                <a:gd name="T7" fmla="*/ 7 h 11"/>
                <a:gd name="T8" fmla="*/ 8 w 20"/>
                <a:gd name="T9" fmla="*/ 11 h 11"/>
                <a:gd name="T10" fmla="*/ 8 w 20"/>
                <a:gd name="T11" fmla="*/ 11 h 11"/>
                <a:gd name="T12" fmla="*/ 8 w 20"/>
                <a:gd name="T13" fmla="*/ 11 h 11"/>
                <a:gd name="T14" fmla="*/ 4 w 20"/>
                <a:gd name="T15" fmla="*/ 11 h 11"/>
                <a:gd name="T16" fmla="*/ 4 w 20"/>
                <a:gd name="T17" fmla="*/ 11 h 11"/>
                <a:gd name="T18" fmla="*/ 4 w 20"/>
                <a:gd name="T19" fmla="*/ 11 h 11"/>
                <a:gd name="T20" fmla="*/ 0 w 20"/>
                <a:gd name="T21" fmla="*/ 7 h 11"/>
                <a:gd name="T22" fmla="*/ 0 w 20"/>
                <a:gd name="T23" fmla="*/ 7 h 11"/>
                <a:gd name="T24" fmla="*/ 0 w 20"/>
                <a:gd name="T25" fmla="*/ 7 h 11"/>
                <a:gd name="T26" fmla="*/ 0 w 20"/>
                <a:gd name="T27" fmla="*/ 7 h 11"/>
                <a:gd name="T28" fmla="*/ 0 w 20"/>
                <a:gd name="T29" fmla="*/ 3 h 11"/>
                <a:gd name="T30" fmla="*/ 0 w 20"/>
                <a:gd name="T31" fmla="*/ 3 h 11"/>
                <a:gd name="T32" fmla="*/ 4 w 20"/>
                <a:gd name="T33" fmla="*/ 3 h 11"/>
                <a:gd name="T34" fmla="*/ 4 w 20"/>
                <a:gd name="T35" fmla="*/ 3 h 11"/>
                <a:gd name="T36" fmla="*/ 4 w 20"/>
                <a:gd name="T37" fmla="*/ 3 h 11"/>
                <a:gd name="T38" fmla="*/ 4 w 20"/>
                <a:gd name="T39" fmla="*/ 3 h 11"/>
                <a:gd name="T40" fmla="*/ 4 w 20"/>
                <a:gd name="T41" fmla="*/ 7 h 11"/>
                <a:gd name="T42" fmla="*/ 4 w 20"/>
                <a:gd name="T43" fmla="*/ 7 h 11"/>
                <a:gd name="T44" fmla="*/ 4 w 20"/>
                <a:gd name="T45" fmla="*/ 7 h 11"/>
                <a:gd name="T46" fmla="*/ 4 w 20"/>
                <a:gd name="T47" fmla="*/ 7 h 11"/>
                <a:gd name="T48" fmla="*/ 4 w 20"/>
                <a:gd name="T49" fmla="*/ 7 h 11"/>
                <a:gd name="T50" fmla="*/ 8 w 20"/>
                <a:gd name="T51" fmla="*/ 7 h 11"/>
                <a:gd name="T52" fmla="*/ 8 w 20"/>
                <a:gd name="T53" fmla="*/ 7 h 11"/>
                <a:gd name="T54" fmla="*/ 12 w 20"/>
                <a:gd name="T55" fmla="*/ 0 h 11"/>
                <a:gd name="T56" fmla="*/ 12 w 20"/>
                <a:gd name="T57" fmla="*/ 0 h 11"/>
                <a:gd name="T58" fmla="*/ 12 w 20"/>
                <a:gd name="T59" fmla="*/ 0 h 11"/>
                <a:gd name="T60" fmla="*/ 8 w 20"/>
                <a:gd name="T61" fmla="*/ 0 h 11"/>
                <a:gd name="T62" fmla="*/ 8 w 20"/>
                <a:gd name="T63" fmla="*/ 0 h 11"/>
                <a:gd name="T64" fmla="*/ 8 w 20"/>
                <a:gd name="T65" fmla="*/ 0 h 11"/>
                <a:gd name="T66" fmla="*/ 12 w 20"/>
                <a:gd name="T67" fmla="*/ 0 h 11"/>
                <a:gd name="T68" fmla="*/ 12 w 20"/>
                <a:gd name="T69" fmla="*/ 0 h 11"/>
                <a:gd name="T70" fmla="*/ 16 w 20"/>
                <a:gd name="T71" fmla="*/ 0 h 11"/>
                <a:gd name="T72" fmla="*/ 16 w 20"/>
                <a:gd name="T73" fmla="*/ 0 h 11"/>
                <a:gd name="T74" fmla="*/ 20 w 20"/>
                <a:gd name="T75" fmla="*/ 0 h 11"/>
                <a:gd name="T76" fmla="*/ 20 w 20"/>
                <a:gd name="T77" fmla="*/ 3 h 11"/>
                <a:gd name="T78" fmla="*/ 20 w 20"/>
                <a:gd name="T79" fmla="*/ 3 h 11"/>
                <a:gd name="T80" fmla="*/ 16 w 20"/>
                <a:gd name="T81" fmla="*/ 3 h 11"/>
                <a:gd name="T82" fmla="*/ 16 w 20"/>
                <a:gd name="T83" fmla="*/ 3 h 11"/>
                <a:gd name="T84" fmla="*/ 16 w 20"/>
                <a:gd name="T85" fmla="*/ 3 h 1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11"/>
                <a:gd name="T131" fmla="*/ 20 w 20"/>
                <a:gd name="T132" fmla="*/ 11 h 1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11">
                  <a:moveTo>
                    <a:pt x="16" y="3"/>
                  </a:moveTo>
                  <a:lnTo>
                    <a:pt x="12" y="7"/>
                  </a:lnTo>
                  <a:lnTo>
                    <a:pt x="8" y="11"/>
                  </a:lnTo>
                  <a:lnTo>
                    <a:pt x="4" y="11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3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0" y="3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8" name="Freeform 606"/>
            <p:cNvSpPr>
              <a:spLocks/>
            </p:cNvSpPr>
            <p:nvPr/>
          </p:nvSpPr>
          <p:spPr bwMode="auto">
            <a:xfrm>
              <a:off x="4275" y="2505"/>
              <a:ext cx="16" cy="15"/>
            </a:xfrm>
            <a:custGeom>
              <a:avLst/>
              <a:gdLst>
                <a:gd name="T0" fmla="*/ 4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6 w 16"/>
                <a:gd name="T11" fmla="*/ 3 h 15"/>
                <a:gd name="T12" fmla="*/ 16 w 16"/>
                <a:gd name="T13" fmla="*/ 3 h 15"/>
                <a:gd name="T14" fmla="*/ 16 w 16"/>
                <a:gd name="T15" fmla="*/ 3 h 15"/>
                <a:gd name="T16" fmla="*/ 16 w 16"/>
                <a:gd name="T17" fmla="*/ 7 h 15"/>
                <a:gd name="T18" fmla="*/ 16 w 16"/>
                <a:gd name="T19" fmla="*/ 7 h 15"/>
                <a:gd name="T20" fmla="*/ 16 w 16"/>
                <a:gd name="T21" fmla="*/ 7 h 15"/>
                <a:gd name="T22" fmla="*/ 8 w 16"/>
                <a:gd name="T23" fmla="*/ 7 h 15"/>
                <a:gd name="T24" fmla="*/ 12 w 16"/>
                <a:gd name="T25" fmla="*/ 11 h 15"/>
                <a:gd name="T26" fmla="*/ 12 w 16"/>
                <a:gd name="T27" fmla="*/ 11 h 15"/>
                <a:gd name="T28" fmla="*/ 12 w 16"/>
                <a:gd name="T29" fmla="*/ 11 h 15"/>
                <a:gd name="T30" fmla="*/ 12 w 16"/>
                <a:gd name="T31" fmla="*/ 11 h 15"/>
                <a:gd name="T32" fmla="*/ 12 w 16"/>
                <a:gd name="T33" fmla="*/ 15 h 15"/>
                <a:gd name="T34" fmla="*/ 12 w 16"/>
                <a:gd name="T35" fmla="*/ 15 h 15"/>
                <a:gd name="T36" fmla="*/ 8 w 16"/>
                <a:gd name="T37" fmla="*/ 15 h 15"/>
                <a:gd name="T38" fmla="*/ 8 w 16"/>
                <a:gd name="T39" fmla="*/ 15 h 15"/>
                <a:gd name="T40" fmla="*/ 8 w 16"/>
                <a:gd name="T41" fmla="*/ 11 h 15"/>
                <a:gd name="T42" fmla="*/ 8 w 16"/>
                <a:gd name="T43" fmla="*/ 11 h 15"/>
                <a:gd name="T44" fmla="*/ 8 w 16"/>
                <a:gd name="T45" fmla="*/ 11 h 15"/>
                <a:gd name="T46" fmla="*/ 4 w 16"/>
                <a:gd name="T47" fmla="*/ 7 h 15"/>
                <a:gd name="T48" fmla="*/ 4 w 16"/>
                <a:gd name="T49" fmla="*/ 11 h 15"/>
                <a:gd name="T50" fmla="*/ 4 w 16"/>
                <a:gd name="T51" fmla="*/ 11 h 15"/>
                <a:gd name="T52" fmla="*/ 4 w 16"/>
                <a:gd name="T53" fmla="*/ 11 h 15"/>
                <a:gd name="T54" fmla="*/ 4 w 16"/>
                <a:gd name="T55" fmla="*/ 11 h 15"/>
                <a:gd name="T56" fmla="*/ 4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0 w 16"/>
                <a:gd name="T65" fmla="*/ 11 h 15"/>
                <a:gd name="T66" fmla="*/ 0 w 16"/>
                <a:gd name="T67" fmla="*/ 11 h 15"/>
                <a:gd name="T68" fmla="*/ 0 w 16"/>
                <a:gd name="T69" fmla="*/ 11 h 15"/>
                <a:gd name="T70" fmla="*/ 4 w 16"/>
                <a:gd name="T71" fmla="*/ 3 h 15"/>
                <a:gd name="T72" fmla="*/ 4 w 16"/>
                <a:gd name="T73" fmla="*/ 3 h 15"/>
                <a:gd name="T74" fmla="*/ 4 w 16"/>
                <a:gd name="T75" fmla="*/ 3 h 15"/>
                <a:gd name="T76" fmla="*/ 4 w 16"/>
                <a:gd name="T77" fmla="*/ 0 h 15"/>
                <a:gd name="T78" fmla="*/ 4 w 16"/>
                <a:gd name="T79" fmla="*/ 0 h 15"/>
                <a:gd name="T80" fmla="*/ 8 w 16"/>
                <a:gd name="T81" fmla="*/ 3 h 15"/>
                <a:gd name="T82" fmla="*/ 12 w 16"/>
                <a:gd name="T83" fmla="*/ 3 h 15"/>
                <a:gd name="T84" fmla="*/ 8 w 16"/>
                <a:gd name="T85" fmla="*/ 3 h 15"/>
                <a:gd name="T86" fmla="*/ 8 w 16"/>
                <a:gd name="T87" fmla="*/ 3 h 15"/>
                <a:gd name="T88" fmla="*/ 8 w 16"/>
                <a:gd name="T89" fmla="*/ 3 h 1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5"/>
                <a:gd name="T137" fmla="*/ 16 w 16"/>
                <a:gd name="T138" fmla="*/ 15 h 1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5">
                  <a:moveTo>
                    <a:pt x="8" y="3"/>
                  </a:moveTo>
                  <a:lnTo>
                    <a:pt x="4" y="7"/>
                  </a:lnTo>
                  <a:lnTo>
                    <a:pt x="12" y="3"/>
                  </a:lnTo>
                  <a:lnTo>
                    <a:pt x="16" y="3"/>
                  </a:lnTo>
                  <a:lnTo>
                    <a:pt x="16" y="7"/>
                  </a:lnTo>
                  <a:lnTo>
                    <a:pt x="8" y="7"/>
                  </a:lnTo>
                  <a:lnTo>
                    <a:pt x="12" y="11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12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89" name="Freeform 607"/>
            <p:cNvSpPr>
              <a:spLocks/>
            </p:cNvSpPr>
            <p:nvPr/>
          </p:nvSpPr>
          <p:spPr bwMode="auto">
            <a:xfrm>
              <a:off x="4287" y="2508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12 w 16"/>
                <a:gd name="T3" fmla="*/ 12 h 16"/>
                <a:gd name="T4" fmla="*/ 12 w 16"/>
                <a:gd name="T5" fmla="*/ 12 h 16"/>
                <a:gd name="T6" fmla="*/ 12 w 16"/>
                <a:gd name="T7" fmla="*/ 12 h 16"/>
                <a:gd name="T8" fmla="*/ 16 w 16"/>
                <a:gd name="T9" fmla="*/ 12 h 16"/>
                <a:gd name="T10" fmla="*/ 16 w 16"/>
                <a:gd name="T11" fmla="*/ 12 h 16"/>
                <a:gd name="T12" fmla="*/ 16 w 16"/>
                <a:gd name="T13" fmla="*/ 12 h 16"/>
                <a:gd name="T14" fmla="*/ 16 w 16"/>
                <a:gd name="T15" fmla="*/ 12 h 16"/>
                <a:gd name="T16" fmla="*/ 16 w 16"/>
                <a:gd name="T17" fmla="*/ 12 h 16"/>
                <a:gd name="T18" fmla="*/ 16 w 16"/>
                <a:gd name="T19" fmla="*/ 16 h 16"/>
                <a:gd name="T20" fmla="*/ 16 w 16"/>
                <a:gd name="T21" fmla="*/ 16 h 16"/>
                <a:gd name="T22" fmla="*/ 12 w 16"/>
                <a:gd name="T23" fmla="*/ 16 h 16"/>
                <a:gd name="T24" fmla="*/ 12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4 w 16"/>
                <a:gd name="T39" fmla="*/ 12 h 16"/>
                <a:gd name="T40" fmla="*/ 4 w 16"/>
                <a:gd name="T41" fmla="*/ 12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8 w 16"/>
                <a:gd name="T49" fmla="*/ 4 h 16"/>
                <a:gd name="T50" fmla="*/ 8 w 16"/>
                <a:gd name="T51" fmla="*/ 0 h 16"/>
                <a:gd name="T52" fmla="*/ 8 w 16"/>
                <a:gd name="T53" fmla="*/ 0 h 16"/>
                <a:gd name="T54" fmla="*/ 8 w 16"/>
                <a:gd name="T55" fmla="*/ 0 h 16"/>
                <a:gd name="T56" fmla="*/ 8 w 16"/>
                <a:gd name="T57" fmla="*/ 0 h 16"/>
                <a:gd name="T58" fmla="*/ 12 w 16"/>
                <a:gd name="T59" fmla="*/ 4 h 16"/>
                <a:gd name="T60" fmla="*/ 12 w 16"/>
                <a:gd name="T61" fmla="*/ 4 h 16"/>
                <a:gd name="T62" fmla="*/ 16 w 16"/>
                <a:gd name="T63" fmla="*/ 4 h 16"/>
                <a:gd name="T64" fmla="*/ 16 w 16"/>
                <a:gd name="T65" fmla="*/ 4 h 16"/>
                <a:gd name="T66" fmla="*/ 16 w 16"/>
                <a:gd name="T67" fmla="*/ 4 h 16"/>
                <a:gd name="T68" fmla="*/ 12 w 16"/>
                <a:gd name="T69" fmla="*/ 4 h 16"/>
                <a:gd name="T70" fmla="*/ 12 w 16"/>
                <a:gd name="T71" fmla="*/ 4 h 16"/>
                <a:gd name="T72" fmla="*/ 12 w 16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"/>
                <a:gd name="T112" fmla="*/ 0 h 16"/>
                <a:gd name="T113" fmla="*/ 16 w 16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" h="16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0" name="Freeform 608"/>
            <p:cNvSpPr>
              <a:spLocks noEditPoints="1"/>
            </p:cNvSpPr>
            <p:nvPr/>
          </p:nvSpPr>
          <p:spPr bwMode="auto">
            <a:xfrm>
              <a:off x="4393" y="2512"/>
              <a:ext cx="24" cy="16"/>
            </a:xfrm>
            <a:custGeom>
              <a:avLst/>
              <a:gdLst>
                <a:gd name="T0" fmla="*/ 8 w 24"/>
                <a:gd name="T1" fmla="*/ 8 h 16"/>
                <a:gd name="T2" fmla="*/ 12 w 24"/>
                <a:gd name="T3" fmla="*/ 8 h 16"/>
                <a:gd name="T4" fmla="*/ 12 w 24"/>
                <a:gd name="T5" fmla="*/ 8 h 16"/>
                <a:gd name="T6" fmla="*/ 12 w 24"/>
                <a:gd name="T7" fmla="*/ 8 h 16"/>
                <a:gd name="T8" fmla="*/ 16 w 24"/>
                <a:gd name="T9" fmla="*/ 8 h 16"/>
                <a:gd name="T10" fmla="*/ 16 w 24"/>
                <a:gd name="T11" fmla="*/ 12 h 16"/>
                <a:gd name="T12" fmla="*/ 16 w 24"/>
                <a:gd name="T13" fmla="*/ 12 h 16"/>
                <a:gd name="T14" fmla="*/ 12 w 24"/>
                <a:gd name="T15" fmla="*/ 16 h 16"/>
                <a:gd name="T16" fmla="*/ 8 w 24"/>
                <a:gd name="T17" fmla="*/ 16 h 16"/>
                <a:gd name="T18" fmla="*/ 8 w 24"/>
                <a:gd name="T19" fmla="*/ 16 h 16"/>
                <a:gd name="T20" fmla="*/ 0 w 24"/>
                <a:gd name="T21" fmla="*/ 12 h 16"/>
                <a:gd name="T22" fmla="*/ 4 w 24"/>
                <a:gd name="T23" fmla="*/ 8 h 16"/>
                <a:gd name="T24" fmla="*/ 4 w 24"/>
                <a:gd name="T25" fmla="*/ 8 h 16"/>
                <a:gd name="T26" fmla="*/ 8 w 24"/>
                <a:gd name="T27" fmla="*/ 0 h 16"/>
                <a:gd name="T28" fmla="*/ 20 w 24"/>
                <a:gd name="T29" fmla="*/ 0 h 16"/>
                <a:gd name="T30" fmla="*/ 20 w 24"/>
                <a:gd name="T31" fmla="*/ 0 h 16"/>
                <a:gd name="T32" fmla="*/ 24 w 24"/>
                <a:gd name="T33" fmla="*/ 0 h 16"/>
                <a:gd name="T34" fmla="*/ 24 w 24"/>
                <a:gd name="T35" fmla="*/ 4 h 16"/>
                <a:gd name="T36" fmla="*/ 24 w 24"/>
                <a:gd name="T37" fmla="*/ 4 h 16"/>
                <a:gd name="T38" fmla="*/ 20 w 24"/>
                <a:gd name="T39" fmla="*/ 4 h 16"/>
                <a:gd name="T40" fmla="*/ 16 w 24"/>
                <a:gd name="T41" fmla="*/ 4 h 16"/>
                <a:gd name="T42" fmla="*/ 16 w 24"/>
                <a:gd name="T43" fmla="*/ 4 h 16"/>
                <a:gd name="T44" fmla="*/ 12 w 24"/>
                <a:gd name="T45" fmla="*/ 4 h 16"/>
                <a:gd name="T46" fmla="*/ 8 w 24"/>
                <a:gd name="T47" fmla="*/ 8 h 16"/>
                <a:gd name="T48" fmla="*/ 12 w 24"/>
                <a:gd name="T49" fmla="*/ 12 h 16"/>
                <a:gd name="T50" fmla="*/ 12 w 24"/>
                <a:gd name="T51" fmla="*/ 12 h 16"/>
                <a:gd name="T52" fmla="*/ 12 w 24"/>
                <a:gd name="T53" fmla="*/ 12 h 16"/>
                <a:gd name="T54" fmla="*/ 12 w 24"/>
                <a:gd name="T55" fmla="*/ 8 h 16"/>
                <a:gd name="T56" fmla="*/ 8 w 24"/>
                <a:gd name="T57" fmla="*/ 8 h 16"/>
                <a:gd name="T58" fmla="*/ 8 w 24"/>
                <a:gd name="T59" fmla="*/ 8 h 16"/>
                <a:gd name="T60" fmla="*/ 8 w 24"/>
                <a:gd name="T61" fmla="*/ 12 h 16"/>
                <a:gd name="T62" fmla="*/ 8 w 24"/>
                <a:gd name="T63" fmla="*/ 12 h 16"/>
                <a:gd name="T64" fmla="*/ 8 w 24"/>
                <a:gd name="T65" fmla="*/ 12 h 16"/>
                <a:gd name="T66" fmla="*/ 8 w 24"/>
                <a:gd name="T67" fmla="*/ 16 h 16"/>
                <a:gd name="T68" fmla="*/ 12 w 24"/>
                <a:gd name="T69" fmla="*/ 16 h 16"/>
                <a:gd name="T70" fmla="*/ 12 w 24"/>
                <a:gd name="T71" fmla="*/ 16 h 16"/>
                <a:gd name="T72" fmla="*/ 12 w 24"/>
                <a:gd name="T73" fmla="*/ 12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"/>
                <a:gd name="T112" fmla="*/ 0 h 16"/>
                <a:gd name="T113" fmla="*/ 24 w 24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" h="16">
                  <a:moveTo>
                    <a:pt x="8" y="8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close/>
                  <a:moveTo>
                    <a:pt x="12" y="12"/>
                  </a:moveTo>
                  <a:lnTo>
                    <a:pt x="12" y="12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1" name="Freeform 609"/>
            <p:cNvSpPr>
              <a:spLocks/>
            </p:cNvSpPr>
            <p:nvPr/>
          </p:nvSpPr>
          <p:spPr bwMode="auto">
            <a:xfrm>
              <a:off x="4370" y="2528"/>
              <a:ext cx="19" cy="16"/>
            </a:xfrm>
            <a:custGeom>
              <a:avLst/>
              <a:gdLst>
                <a:gd name="T0" fmla="*/ 15 w 19"/>
                <a:gd name="T1" fmla="*/ 4 h 16"/>
                <a:gd name="T2" fmla="*/ 15 w 19"/>
                <a:gd name="T3" fmla="*/ 4 h 16"/>
                <a:gd name="T4" fmla="*/ 15 w 19"/>
                <a:gd name="T5" fmla="*/ 4 h 16"/>
                <a:gd name="T6" fmla="*/ 19 w 19"/>
                <a:gd name="T7" fmla="*/ 4 h 16"/>
                <a:gd name="T8" fmla="*/ 19 w 19"/>
                <a:gd name="T9" fmla="*/ 4 h 16"/>
                <a:gd name="T10" fmla="*/ 19 w 19"/>
                <a:gd name="T11" fmla="*/ 4 h 16"/>
                <a:gd name="T12" fmla="*/ 19 w 19"/>
                <a:gd name="T13" fmla="*/ 8 h 16"/>
                <a:gd name="T14" fmla="*/ 15 w 19"/>
                <a:gd name="T15" fmla="*/ 4 h 16"/>
                <a:gd name="T16" fmla="*/ 11 w 19"/>
                <a:gd name="T17" fmla="*/ 12 h 16"/>
                <a:gd name="T18" fmla="*/ 11 w 19"/>
                <a:gd name="T19" fmla="*/ 12 h 16"/>
                <a:gd name="T20" fmla="*/ 15 w 19"/>
                <a:gd name="T21" fmla="*/ 16 h 16"/>
                <a:gd name="T22" fmla="*/ 15 w 19"/>
                <a:gd name="T23" fmla="*/ 16 h 16"/>
                <a:gd name="T24" fmla="*/ 11 w 19"/>
                <a:gd name="T25" fmla="*/ 16 h 16"/>
                <a:gd name="T26" fmla="*/ 8 w 19"/>
                <a:gd name="T27" fmla="*/ 16 h 16"/>
                <a:gd name="T28" fmla="*/ 8 w 19"/>
                <a:gd name="T29" fmla="*/ 16 h 16"/>
                <a:gd name="T30" fmla="*/ 8 w 19"/>
                <a:gd name="T31" fmla="*/ 12 h 16"/>
                <a:gd name="T32" fmla="*/ 8 w 19"/>
                <a:gd name="T33" fmla="*/ 12 h 16"/>
                <a:gd name="T34" fmla="*/ 11 w 19"/>
                <a:gd name="T35" fmla="*/ 12 h 16"/>
                <a:gd name="T36" fmla="*/ 11 w 19"/>
                <a:gd name="T37" fmla="*/ 12 h 16"/>
                <a:gd name="T38" fmla="*/ 8 w 19"/>
                <a:gd name="T39" fmla="*/ 12 h 16"/>
                <a:gd name="T40" fmla="*/ 8 w 19"/>
                <a:gd name="T41" fmla="*/ 12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8 h 16"/>
                <a:gd name="T48" fmla="*/ 8 w 19"/>
                <a:gd name="T49" fmla="*/ 4 h 16"/>
                <a:gd name="T50" fmla="*/ 4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4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12 h 16"/>
                <a:gd name="T68" fmla="*/ 0 w 19"/>
                <a:gd name="T69" fmla="*/ 12 h 16"/>
                <a:gd name="T70" fmla="*/ 4 w 19"/>
                <a:gd name="T71" fmla="*/ 4 h 16"/>
                <a:gd name="T72" fmla="*/ 4 w 19"/>
                <a:gd name="T73" fmla="*/ 4 h 16"/>
                <a:gd name="T74" fmla="*/ 4 w 19"/>
                <a:gd name="T75" fmla="*/ 4 h 16"/>
                <a:gd name="T76" fmla="*/ 4 w 19"/>
                <a:gd name="T77" fmla="*/ 0 h 16"/>
                <a:gd name="T78" fmla="*/ 4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8 h 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9"/>
                <a:gd name="T133" fmla="*/ 0 h 16"/>
                <a:gd name="T134" fmla="*/ 19 w 19"/>
                <a:gd name="T135" fmla="*/ 16 h 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9" h="16">
                  <a:moveTo>
                    <a:pt x="8" y="8"/>
                  </a:move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2" name="Freeform 610"/>
            <p:cNvSpPr>
              <a:spLocks/>
            </p:cNvSpPr>
            <p:nvPr/>
          </p:nvSpPr>
          <p:spPr bwMode="auto">
            <a:xfrm>
              <a:off x="4385" y="2532"/>
              <a:ext cx="20" cy="16"/>
            </a:xfrm>
            <a:custGeom>
              <a:avLst/>
              <a:gdLst>
                <a:gd name="T0" fmla="*/ 8 w 20"/>
                <a:gd name="T1" fmla="*/ 4 h 16"/>
                <a:gd name="T2" fmla="*/ 8 w 20"/>
                <a:gd name="T3" fmla="*/ 0 h 16"/>
                <a:gd name="T4" fmla="*/ 8 w 20"/>
                <a:gd name="T5" fmla="*/ 0 h 16"/>
                <a:gd name="T6" fmla="*/ 8 w 20"/>
                <a:gd name="T7" fmla="*/ 0 h 16"/>
                <a:gd name="T8" fmla="*/ 8 w 20"/>
                <a:gd name="T9" fmla="*/ 0 h 16"/>
                <a:gd name="T10" fmla="*/ 4 w 20"/>
                <a:gd name="T11" fmla="*/ 0 h 16"/>
                <a:gd name="T12" fmla="*/ 4 w 20"/>
                <a:gd name="T13" fmla="*/ 0 h 16"/>
                <a:gd name="T14" fmla="*/ 4 w 20"/>
                <a:gd name="T15" fmla="*/ 0 h 16"/>
                <a:gd name="T16" fmla="*/ 4 w 20"/>
                <a:gd name="T17" fmla="*/ 4 h 16"/>
                <a:gd name="T18" fmla="*/ 4 w 20"/>
                <a:gd name="T19" fmla="*/ 4 h 16"/>
                <a:gd name="T20" fmla="*/ 4 w 20"/>
                <a:gd name="T21" fmla="*/ 4 h 16"/>
                <a:gd name="T22" fmla="*/ 0 w 20"/>
                <a:gd name="T23" fmla="*/ 12 h 16"/>
                <a:gd name="T24" fmla="*/ 0 w 20"/>
                <a:gd name="T25" fmla="*/ 12 h 16"/>
                <a:gd name="T26" fmla="*/ 0 w 20"/>
                <a:gd name="T27" fmla="*/ 12 h 16"/>
                <a:gd name="T28" fmla="*/ 0 w 20"/>
                <a:gd name="T29" fmla="*/ 12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4 w 20"/>
                <a:gd name="T41" fmla="*/ 12 h 16"/>
                <a:gd name="T42" fmla="*/ 4 w 20"/>
                <a:gd name="T43" fmla="*/ 12 h 16"/>
                <a:gd name="T44" fmla="*/ 4 w 20"/>
                <a:gd name="T45" fmla="*/ 12 h 16"/>
                <a:gd name="T46" fmla="*/ 4 w 20"/>
                <a:gd name="T47" fmla="*/ 12 h 16"/>
                <a:gd name="T48" fmla="*/ 4 w 20"/>
                <a:gd name="T49" fmla="*/ 12 h 16"/>
                <a:gd name="T50" fmla="*/ 4 w 20"/>
                <a:gd name="T51" fmla="*/ 12 h 16"/>
                <a:gd name="T52" fmla="*/ 4 w 20"/>
                <a:gd name="T53" fmla="*/ 12 h 16"/>
                <a:gd name="T54" fmla="*/ 8 w 20"/>
                <a:gd name="T55" fmla="*/ 4 h 16"/>
                <a:gd name="T56" fmla="*/ 8 w 20"/>
                <a:gd name="T57" fmla="*/ 16 h 16"/>
                <a:gd name="T58" fmla="*/ 8 w 20"/>
                <a:gd name="T59" fmla="*/ 16 h 16"/>
                <a:gd name="T60" fmla="*/ 8 w 20"/>
                <a:gd name="T61" fmla="*/ 16 h 16"/>
                <a:gd name="T62" fmla="*/ 8 w 20"/>
                <a:gd name="T63" fmla="*/ 16 h 16"/>
                <a:gd name="T64" fmla="*/ 12 w 20"/>
                <a:gd name="T65" fmla="*/ 16 h 16"/>
                <a:gd name="T66" fmla="*/ 12 w 20"/>
                <a:gd name="T67" fmla="*/ 16 h 16"/>
                <a:gd name="T68" fmla="*/ 12 w 20"/>
                <a:gd name="T69" fmla="*/ 16 h 16"/>
                <a:gd name="T70" fmla="*/ 12 w 20"/>
                <a:gd name="T71" fmla="*/ 16 h 16"/>
                <a:gd name="T72" fmla="*/ 16 w 20"/>
                <a:gd name="T73" fmla="*/ 4 h 16"/>
                <a:gd name="T74" fmla="*/ 16 w 20"/>
                <a:gd name="T75" fmla="*/ 4 h 16"/>
                <a:gd name="T76" fmla="*/ 16 w 20"/>
                <a:gd name="T77" fmla="*/ 4 h 16"/>
                <a:gd name="T78" fmla="*/ 16 w 20"/>
                <a:gd name="T79" fmla="*/ 4 h 16"/>
                <a:gd name="T80" fmla="*/ 20 w 20"/>
                <a:gd name="T81" fmla="*/ 4 h 16"/>
                <a:gd name="T82" fmla="*/ 20 w 20"/>
                <a:gd name="T83" fmla="*/ 4 h 16"/>
                <a:gd name="T84" fmla="*/ 20 w 20"/>
                <a:gd name="T85" fmla="*/ 4 h 16"/>
                <a:gd name="T86" fmla="*/ 16 w 20"/>
                <a:gd name="T87" fmla="*/ 4 h 16"/>
                <a:gd name="T88" fmla="*/ 16 w 20"/>
                <a:gd name="T89" fmla="*/ 4 h 16"/>
                <a:gd name="T90" fmla="*/ 16 w 20"/>
                <a:gd name="T91" fmla="*/ 4 h 16"/>
                <a:gd name="T92" fmla="*/ 12 w 20"/>
                <a:gd name="T93" fmla="*/ 4 h 16"/>
                <a:gd name="T94" fmla="*/ 12 w 20"/>
                <a:gd name="T95" fmla="*/ 4 h 16"/>
                <a:gd name="T96" fmla="*/ 12 w 20"/>
                <a:gd name="T97" fmla="*/ 4 h 16"/>
                <a:gd name="T98" fmla="*/ 12 w 20"/>
                <a:gd name="T99" fmla="*/ 4 h 16"/>
                <a:gd name="T100" fmla="*/ 12 w 20"/>
                <a:gd name="T101" fmla="*/ 4 h 16"/>
                <a:gd name="T102" fmla="*/ 12 w 20"/>
                <a:gd name="T103" fmla="*/ 4 h 16"/>
                <a:gd name="T104" fmla="*/ 12 w 20"/>
                <a:gd name="T105" fmla="*/ 12 h 16"/>
                <a:gd name="T106" fmla="*/ 8 w 20"/>
                <a:gd name="T107" fmla="*/ 4 h 1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0"/>
                <a:gd name="T163" fmla="*/ 0 h 16"/>
                <a:gd name="T164" fmla="*/ 20 w 20"/>
                <a:gd name="T165" fmla="*/ 16 h 1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0" h="16">
                  <a:moveTo>
                    <a:pt x="8" y="4"/>
                  </a:move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1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3" name="Freeform 611"/>
            <p:cNvSpPr>
              <a:spLocks noEditPoints="1"/>
            </p:cNvSpPr>
            <p:nvPr/>
          </p:nvSpPr>
          <p:spPr bwMode="auto">
            <a:xfrm>
              <a:off x="4401" y="2536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4 h 12"/>
                <a:gd name="T6" fmla="*/ 16 w 16"/>
                <a:gd name="T7" fmla="*/ 4 h 12"/>
                <a:gd name="T8" fmla="*/ 16 w 16"/>
                <a:gd name="T9" fmla="*/ 4 h 12"/>
                <a:gd name="T10" fmla="*/ 16 w 16"/>
                <a:gd name="T11" fmla="*/ 8 h 12"/>
                <a:gd name="T12" fmla="*/ 16 w 16"/>
                <a:gd name="T13" fmla="*/ 8 h 12"/>
                <a:gd name="T14" fmla="*/ 16 w 16"/>
                <a:gd name="T15" fmla="*/ 8 h 12"/>
                <a:gd name="T16" fmla="*/ 12 w 16"/>
                <a:gd name="T17" fmla="*/ 12 h 12"/>
                <a:gd name="T18" fmla="*/ 12 w 16"/>
                <a:gd name="T19" fmla="*/ 12 h 12"/>
                <a:gd name="T20" fmla="*/ 12 w 16"/>
                <a:gd name="T21" fmla="*/ 12 h 12"/>
                <a:gd name="T22" fmla="*/ 4 w 16"/>
                <a:gd name="T23" fmla="*/ 12 h 12"/>
                <a:gd name="T24" fmla="*/ 4 w 16"/>
                <a:gd name="T25" fmla="*/ 12 h 12"/>
                <a:gd name="T26" fmla="*/ 4 w 16"/>
                <a:gd name="T27" fmla="*/ 12 h 12"/>
                <a:gd name="T28" fmla="*/ 0 w 16"/>
                <a:gd name="T29" fmla="*/ 12 h 12"/>
                <a:gd name="T30" fmla="*/ 0 w 16"/>
                <a:gd name="T31" fmla="*/ 12 h 12"/>
                <a:gd name="T32" fmla="*/ 0 w 16"/>
                <a:gd name="T33" fmla="*/ 12 h 12"/>
                <a:gd name="T34" fmla="*/ 0 w 16"/>
                <a:gd name="T35" fmla="*/ 4 h 12"/>
                <a:gd name="T36" fmla="*/ 0 w 16"/>
                <a:gd name="T37" fmla="*/ 4 h 12"/>
                <a:gd name="T38" fmla="*/ 0 w 16"/>
                <a:gd name="T39" fmla="*/ 4 h 12"/>
                <a:gd name="T40" fmla="*/ 4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12 w 16"/>
                <a:gd name="T47" fmla="*/ 0 h 12"/>
                <a:gd name="T48" fmla="*/ 12 w 16"/>
                <a:gd name="T49" fmla="*/ 0 h 12"/>
                <a:gd name="T50" fmla="*/ 12 w 16"/>
                <a:gd name="T51" fmla="*/ 4 h 12"/>
                <a:gd name="T52" fmla="*/ 12 w 16"/>
                <a:gd name="T53" fmla="*/ 4 h 12"/>
                <a:gd name="T54" fmla="*/ 8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4 w 16"/>
                <a:gd name="T61" fmla="*/ 8 h 12"/>
                <a:gd name="T62" fmla="*/ 4 w 16"/>
                <a:gd name="T63" fmla="*/ 8 h 12"/>
                <a:gd name="T64" fmla="*/ 4 w 16"/>
                <a:gd name="T65" fmla="*/ 8 h 12"/>
                <a:gd name="T66" fmla="*/ 4 w 16"/>
                <a:gd name="T67" fmla="*/ 8 h 12"/>
                <a:gd name="T68" fmla="*/ 4 w 16"/>
                <a:gd name="T69" fmla="*/ 8 h 12"/>
                <a:gd name="T70" fmla="*/ 4 w 16"/>
                <a:gd name="T71" fmla="*/ 8 h 12"/>
                <a:gd name="T72" fmla="*/ 8 w 16"/>
                <a:gd name="T73" fmla="*/ 12 h 12"/>
                <a:gd name="T74" fmla="*/ 8 w 16"/>
                <a:gd name="T75" fmla="*/ 12 h 12"/>
                <a:gd name="T76" fmla="*/ 8 w 16"/>
                <a:gd name="T77" fmla="*/ 12 h 12"/>
                <a:gd name="T78" fmla="*/ 8 w 16"/>
                <a:gd name="T79" fmla="*/ 12 h 12"/>
                <a:gd name="T80" fmla="*/ 8 w 16"/>
                <a:gd name="T81" fmla="*/ 12 h 12"/>
                <a:gd name="T82" fmla="*/ 8 w 16"/>
                <a:gd name="T83" fmla="*/ 12 h 12"/>
                <a:gd name="T84" fmla="*/ 12 w 16"/>
                <a:gd name="T85" fmla="*/ 8 h 12"/>
                <a:gd name="T86" fmla="*/ 12 w 16"/>
                <a:gd name="T87" fmla="*/ 8 h 12"/>
                <a:gd name="T88" fmla="*/ 12 w 16"/>
                <a:gd name="T89" fmla="*/ 8 h 12"/>
                <a:gd name="T90" fmla="*/ 12 w 16"/>
                <a:gd name="T91" fmla="*/ 4 h 12"/>
                <a:gd name="T92" fmla="*/ 12 w 16"/>
                <a:gd name="T93" fmla="*/ 4 h 12"/>
                <a:gd name="T94" fmla="*/ 12 w 16"/>
                <a:gd name="T95" fmla="*/ 4 h 12"/>
                <a:gd name="T96" fmla="*/ 12 w 16"/>
                <a:gd name="T97" fmla="*/ 4 h 12"/>
                <a:gd name="T98" fmla="*/ 12 w 16"/>
                <a:gd name="T99" fmla="*/ 4 h 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6"/>
                <a:gd name="T151" fmla="*/ 0 h 12"/>
                <a:gd name="T152" fmla="*/ 16 w 16"/>
                <a:gd name="T153" fmla="*/ 12 h 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4" name="Freeform 612"/>
            <p:cNvSpPr>
              <a:spLocks/>
            </p:cNvSpPr>
            <p:nvPr/>
          </p:nvSpPr>
          <p:spPr bwMode="auto">
            <a:xfrm>
              <a:off x="4114" y="2556"/>
              <a:ext cx="19" cy="19"/>
            </a:xfrm>
            <a:custGeom>
              <a:avLst/>
              <a:gdLst>
                <a:gd name="T0" fmla="*/ 4 w 19"/>
                <a:gd name="T1" fmla="*/ 19 h 19"/>
                <a:gd name="T2" fmla="*/ 4 w 19"/>
                <a:gd name="T3" fmla="*/ 19 h 19"/>
                <a:gd name="T4" fmla="*/ 4 w 19"/>
                <a:gd name="T5" fmla="*/ 19 h 19"/>
                <a:gd name="T6" fmla="*/ 0 w 19"/>
                <a:gd name="T7" fmla="*/ 19 h 19"/>
                <a:gd name="T8" fmla="*/ 0 w 19"/>
                <a:gd name="T9" fmla="*/ 15 h 19"/>
                <a:gd name="T10" fmla="*/ 0 w 19"/>
                <a:gd name="T11" fmla="*/ 15 h 19"/>
                <a:gd name="T12" fmla="*/ 0 w 19"/>
                <a:gd name="T13" fmla="*/ 15 h 19"/>
                <a:gd name="T14" fmla="*/ 0 w 19"/>
                <a:gd name="T15" fmla="*/ 15 h 19"/>
                <a:gd name="T16" fmla="*/ 0 w 19"/>
                <a:gd name="T17" fmla="*/ 15 h 19"/>
                <a:gd name="T18" fmla="*/ 0 w 19"/>
                <a:gd name="T19" fmla="*/ 15 h 19"/>
                <a:gd name="T20" fmla="*/ 0 w 19"/>
                <a:gd name="T21" fmla="*/ 15 h 19"/>
                <a:gd name="T22" fmla="*/ 11 w 19"/>
                <a:gd name="T23" fmla="*/ 4 h 19"/>
                <a:gd name="T24" fmla="*/ 7 w 19"/>
                <a:gd name="T25" fmla="*/ 4 h 19"/>
                <a:gd name="T26" fmla="*/ 7 w 19"/>
                <a:gd name="T27" fmla="*/ 4 h 19"/>
                <a:gd name="T28" fmla="*/ 7 w 19"/>
                <a:gd name="T29" fmla="*/ 4 h 19"/>
                <a:gd name="T30" fmla="*/ 4 w 19"/>
                <a:gd name="T31" fmla="*/ 4 h 19"/>
                <a:gd name="T32" fmla="*/ 4 w 19"/>
                <a:gd name="T33" fmla="*/ 4 h 19"/>
                <a:gd name="T34" fmla="*/ 4 w 19"/>
                <a:gd name="T35" fmla="*/ 4 h 19"/>
                <a:gd name="T36" fmla="*/ 4 w 19"/>
                <a:gd name="T37" fmla="*/ 4 h 19"/>
                <a:gd name="T38" fmla="*/ 4 w 19"/>
                <a:gd name="T39" fmla="*/ 4 h 19"/>
                <a:gd name="T40" fmla="*/ 4 w 19"/>
                <a:gd name="T41" fmla="*/ 4 h 19"/>
                <a:gd name="T42" fmla="*/ 4 w 19"/>
                <a:gd name="T43" fmla="*/ 4 h 19"/>
                <a:gd name="T44" fmla="*/ 4 w 19"/>
                <a:gd name="T45" fmla="*/ 4 h 19"/>
                <a:gd name="T46" fmla="*/ 4 w 19"/>
                <a:gd name="T47" fmla="*/ 0 h 19"/>
                <a:gd name="T48" fmla="*/ 4 w 19"/>
                <a:gd name="T49" fmla="*/ 0 h 19"/>
                <a:gd name="T50" fmla="*/ 7 w 19"/>
                <a:gd name="T51" fmla="*/ 0 h 19"/>
                <a:gd name="T52" fmla="*/ 7 w 19"/>
                <a:gd name="T53" fmla="*/ 0 h 19"/>
                <a:gd name="T54" fmla="*/ 19 w 19"/>
                <a:gd name="T55" fmla="*/ 4 h 19"/>
                <a:gd name="T56" fmla="*/ 19 w 19"/>
                <a:gd name="T57" fmla="*/ 4 h 19"/>
                <a:gd name="T58" fmla="*/ 19 w 19"/>
                <a:gd name="T59" fmla="*/ 4 h 19"/>
                <a:gd name="T60" fmla="*/ 19 w 19"/>
                <a:gd name="T61" fmla="*/ 4 h 19"/>
                <a:gd name="T62" fmla="*/ 19 w 19"/>
                <a:gd name="T63" fmla="*/ 4 h 1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"/>
                <a:gd name="T97" fmla="*/ 0 h 19"/>
                <a:gd name="T98" fmla="*/ 19 w 19"/>
                <a:gd name="T99" fmla="*/ 19 h 1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" h="19">
                  <a:moveTo>
                    <a:pt x="19" y="4"/>
                  </a:move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11" y="4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7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5" name="Freeform 613"/>
            <p:cNvSpPr>
              <a:spLocks noEditPoints="1"/>
            </p:cNvSpPr>
            <p:nvPr/>
          </p:nvSpPr>
          <p:spPr bwMode="auto">
            <a:xfrm>
              <a:off x="4078" y="2571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8 w 16"/>
                <a:gd name="T3" fmla="*/ 12 h 12"/>
                <a:gd name="T4" fmla="*/ 8 w 16"/>
                <a:gd name="T5" fmla="*/ 12 h 12"/>
                <a:gd name="T6" fmla="*/ 8 w 16"/>
                <a:gd name="T7" fmla="*/ 12 h 12"/>
                <a:gd name="T8" fmla="*/ 8 w 16"/>
                <a:gd name="T9" fmla="*/ 12 h 12"/>
                <a:gd name="T10" fmla="*/ 8 w 16"/>
                <a:gd name="T11" fmla="*/ 12 h 12"/>
                <a:gd name="T12" fmla="*/ 8 w 16"/>
                <a:gd name="T13" fmla="*/ 12 h 12"/>
                <a:gd name="T14" fmla="*/ 4 w 16"/>
                <a:gd name="T15" fmla="*/ 12 h 12"/>
                <a:gd name="T16" fmla="*/ 0 w 16"/>
                <a:gd name="T17" fmla="*/ 12 h 12"/>
                <a:gd name="T18" fmla="*/ 0 w 16"/>
                <a:gd name="T19" fmla="*/ 12 h 12"/>
                <a:gd name="T20" fmla="*/ 0 w 16"/>
                <a:gd name="T21" fmla="*/ 12 h 12"/>
                <a:gd name="T22" fmla="*/ 0 w 16"/>
                <a:gd name="T23" fmla="*/ 12 h 12"/>
                <a:gd name="T24" fmla="*/ 0 w 16"/>
                <a:gd name="T25" fmla="*/ 12 h 12"/>
                <a:gd name="T26" fmla="*/ 0 w 16"/>
                <a:gd name="T27" fmla="*/ 12 h 12"/>
                <a:gd name="T28" fmla="*/ 4 w 16"/>
                <a:gd name="T29" fmla="*/ 12 h 12"/>
                <a:gd name="T30" fmla="*/ 4 w 16"/>
                <a:gd name="T31" fmla="*/ 12 h 12"/>
                <a:gd name="T32" fmla="*/ 8 w 16"/>
                <a:gd name="T33" fmla="*/ 4 h 12"/>
                <a:gd name="T34" fmla="*/ 8 w 16"/>
                <a:gd name="T35" fmla="*/ 4 h 12"/>
                <a:gd name="T36" fmla="*/ 8 w 16"/>
                <a:gd name="T37" fmla="*/ 4 h 12"/>
                <a:gd name="T38" fmla="*/ 8 w 16"/>
                <a:gd name="T39" fmla="*/ 4 h 12"/>
                <a:gd name="T40" fmla="*/ 8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8 h 12"/>
                <a:gd name="T56" fmla="*/ 16 w 16"/>
                <a:gd name="T57" fmla="*/ 8 h 12"/>
                <a:gd name="T58" fmla="*/ 16 w 16"/>
                <a:gd name="T59" fmla="*/ 8 h 12"/>
                <a:gd name="T60" fmla="*/ 8 w 16"/>
                <a:gd name="T61" fmla="*/ 8 h 12"/>
                <a:gd name="T62" fmla="*/ 8 w 16"/>
                <a:gd name="T63" fmla="*/ 8 h 12"/>
                <a:gd name="T64" fmla="*/ 8 w 16"/>
                <a:gd name="T65" fmla="*/ 8 h 12"/>
                <a:gd name="T66" fmla="*/ 12 w 16"/>
                <a:gd name="T67" fmla="*/ 8 h 12"/>
                <a:gd name="T68" fmla="*/ 12 w 16"/>
                <a:gd name="T69" fmla="*/ 8 h 12"/>
                <a:gd name="T70" fmla="*/ 12 w 16"/>
                <a:gd name="T71" fmla="*/ 8 h 12"/>
                <a:gd name="T72" fmla="*/ 16 w 16"/>
                <a:gd name="T73" fmla="*/ 8 h 12"/>
                <a:gd name="T74" fmla="*/ 16 w 16"/>
                <a:gd name="T75" fmla="*/ 8 h 12"/>
                <a:gd name="T76" fmla="*/ 16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6"/>
                <a:gd name="T124" fmla="*/ 0 h 12"/>
                <a:gd name="T125" fmla="*/ 16 w 16"/>
                <a:gd name="T126" fmla="*/ 12 h 1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6" h="12">
                  <a:moveTo>
                    <a:pt x="8" y="8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8" y="8"/>
                  </a:lnTo>
                  <a:close/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6" name="Freeform 614"/>
            <p:cNvSpPr>
              <a:spLocks noEditPoints="1"/>
            </p:cNvSpPr>
            <p:nvPr/>
          </p:nvSpPr>
          <p:spPr bwMode="auto">
            <a:xfrm>
              <a:off x="4090" y="2575"/>
              <a:ext cx="20" cy="16"/>
            </a:xfrm>
            <a:custGeom>
              <a:avLst/>
              <a:gdLst>
                <a:gd name="T0" fmla="*/ 4 w 20"/>
                <a:gd name="T1" fmla="*/ 12 h 16"/>
                <a:gd name="T2" fmla="*/ 4 w 20"/>
                <a:gd name="T3" fmla="*/ 12 h 16"/>
                <a:gd name="T4" fmla="*/ 8 w 20"/>
                <a:gd name="T5" fmla="*/ 12 h 16"/>
                <a:gd name="T6" fmla="*/ 8 w 20"/>
                <a:gd name="T7" fmla="*/ 16 h 16"/>
                <a:gd name="T8" fmla="*/ 8 w 20"/>
                <a:gd name="T9" fmla="*/ 16 h 16"/>
                <a:gd name="T10" fmla="*/ 8 w 20"/>
                <a:gd name="T11" fmla="*/ 16 h 16"/>
                <a:gd name="T12" fmla="*/ 12 w 20"/>
                <a:gd name="T13" fmla="*/ 16 h 16"/>
                <a:gd name="T14" fmla="*/ 12 w 20"/>
                <a:gd name="T15" fmla="*/ 16 h 16"/>
                <a:gd name="T16" fmla="*/ 12 w 20"/>
                <a:gd name="T17" fmla="*/ 16 h 16"/>
                <a:gd name="T18" fmla="*/ 12 w 20"/>
                <a:gd name="T19" fmla="*/ 16 h 16"/>
                <a:gd name="T20" fmla="*/ 12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12 w 20"/>
                <a:gd name="T27" fmla="*/ 16 h 16"/>
                <a:gd name="T28" fmla="*/ 12 w 20"/>
                <a:gd name="T29" fmla="*/ 16 h 16"/>
                <a:gd name="T30" fmla="*/ 8 w 20"/>
                <a:gd name="T31" fmla="*/ 16 h 16"/>
                <a:gd name="T32" fmla="*/ 8 w 20"/>
                <a:gd name="T33" fmla="*/ 16 h 16"/>
                <a:gd name="T34" fmla="*/ 8 w 20"/>
                <a:gd name="T35" fmla="*/ 16 h 16"/>
                <a:gd name="T36" fmla="*/ 8 w 20"/>
                <a:gd name="T37" fmla="*/ 16 h 16"/>
                <a:gd name="T38" fmla="*/ 8 w 20"/>
                <a:gd name="T39" fmla="*/ 16 h 16"/>
                <a:gd name="T40" fmla="*/ 4 w 20"/>
                <a:gd name="T41" fmla="*/ 16 h 16"/>
                <a:gd name="T42" fmla="*/ 4 w 20"/>
                <a:gd name="T43" fmla="*/ 16 h 16"/>
                <a:gd name="T44" fmla="*/ 4 w 20"/>
                <a:gd name="T45" fmla="*/ 16 h 16"/>
                <a:gd name="T46" fmla="*/ 0 w 20"/>
                <a:gd name="T47" fmla="*/ 16 h 16"/>
                <a:gd name="T48" fmla="*/ 4 w 20"/>
                <a:gd name="T49" fmla="*/ 16 h 16"/>
                <a:gd name="T50" fmla="*/ 4 w 20"/>
                <a:gd name="T51" fmla="*/ 16 h 16"/>
                <a:gd name="T52" fmla="*/ 4 w 20"/>
                <a:gd name="T53" fmla="*/ 12 h 16"/>
                <a:gd name="T54" fmla="*/ 4 w 20"/>
                <a:gd name="T55" fmla="*/ 12 h 16"/>
                <a:gd name="T56" fmla="*/ 4 w 20"/>
                <a:gd name="T57" fmla="*/ 12 h 16"/>
                <a:gd name="T58" fmla="*/ 4 w 20"/>
                <a:gd name="T59" fmla="*/ 12 h 16"/>
                <a:gd name="T60" fmla="*/ 4 w 20"/>
                <a:gd name="T61" fmla="*/ 8 h 16"/>
                <a:gd name="T62" fmla="*/ 4 w 20"/>
                <a:gd name="T63" fmla="*/ 4 h 16"/>
                <a:gd name="T64" fmla="*/ 4 w 20"/>
                <a:gd name="T65" fmla="*/ 4 h 16"/>
                <a:gd name="T66" fmla="*/ 12 w 20"/>
                <a:gd name="T67" fmla="*/ 0 h 16"/>
                <a:gd name="T68" fmla="*/ 16 w 20"/>
                <a:gd name="T69" fmla="*/ 0 h 16"/>
                <a:gd name="T70" fmla="*/ 16 w 20"/>
                <a:gd name="T71" fmla="*/ 0 h 16"/>
                <a:gd name="T72" fmla="*/ 20 w 20"/>
                <a:gd name="T73" fmla="*/ 4 h 16"/>
                <a:gd name="T74" fmla="*/ 20 w 20"/>
                <a:gd name="T75" fmla="*/ 8 h 16"/>
                <a:gd name="T76" fmla="*/ 20 w 20"/>
                <a:gd name="T77" fmla="*/ 8 h 16"/>
                <a:gd name="T78" fmla="*/ 12 w 20"/>
                <a:gd name="T79" fmla="*/ 12 h 16"/>
                <a:gd name="T80" fmla="*/ 8 w 20"/>
                <a:gd name="T81" fmla="*/ 12 h 16"/>
                <a:gd name="T82" fmla="*/ 8 w 20"/>
                <a:gd name="T83" fmla="*/ 12 h 16"/>
                <a:gd name="T84" fmla="*/ 8 w 20"/>
                <a:gd name="T85" fmla="*/ 12 h 16"/>
                <a:gd name="T86" fmla="*/ 8 w 20"/>
                <a:gd name="T87" fmla="*/ 12 h 16"/>
                <a:gd name="T88" fmla="*/ 16 w 20"/>
                <a:gd name="T89" fmla="*/ 4 h 16"/>
                <a:gd name="T90" fmla="*/ 12 w 20"/>
                <a:gd name="T91" fmla="*/ 4 h 16"/>
                <a:gd name="T92" fmla="*/ 12 w 20"/>
                <a:gd name="T93" fmla="*/ 4 h 16"/>
                <a:gd name="T94" fmla="*/ 8 w 20"/>
                <a:gd name="T95" fmla="*/ 8 h 16"/>
                <a:gd name="T96" fmla="*/ 8 w 20"/>
                <a:gd name="T97" fmla="*/ 8 h 16"/>
                <a:gd name="T98" fmla="*/ 8 w 20"/>
                <a:gd name="T99" fmla="*/ 8 h 16"/>
                <a:gd name="T100" fmla="*/ 8 w 20"/>
                <a:gd name="T101" fmla="*/ 12 h 16"/>
                <a:gd name="T102" fmla="*/ 12 w 20"/>
                <a:gd name="T103" fmla="*/ 12 h 16"/>
                <a:gd name="T104" fmla="*/ 12 w 20"/>
                <a:gd name="T105" fmla="*/ 12 h 16"/>
                <a:gd name="T106" fmla="*/ 16 w 20"/>
                <a:gd name="T107" fmla="*/ 8 h 16"/>
                <a:gd name="T108" fmla="*/ 16 w 20"/>
                <a:gd name="T109" fmla="*/ 4 h 16"/>
                <a:gd name="T110" fmla="*/ 16 w 20"/>
                <a:gd name="T111" fmla="*/ 4 h 16"/>
                <a:gd name="T112" fmla="*/ 16 w 20"/>
                <a:gd name="T113" fmla="*/ 4 h 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"/>
                <a:gd name="T172" fmla="*/ 0 h 16"/>
                <a:gd name="T173" fmla="*/ 20 w 20"/>
                <a:gd name="T174" fmla="*/ 16 h 1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" h="16">
                  <a:moveTo>
                    <a:pt x="8" y="12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7" name="Freeform 615"/>
            <p:cNvSpPr>
              <a:spLocks noEditPoints="1"/>
            </p:cNvSpPr>
            <p:nvPr/>
          </p:nvSpPr>
          <p:spPr bwMode="auto">
            <a:xfrm>
              <a:off x="4106" y="2579"/>
              <a:ext cx="19" cy="16"/>
            </a:xfrm>
            <a:custGeom>
              <a:avLst/>
              <a:gdLst>
                <a:gd name="T0" fmla="*/ 12 w 19"/>
                <a:gd name="T1" fmla="*/ 8 h 16"/>
                <a:gd name="T2" fmla="*/ 12 w 19"/>
                <a:gd name="T3" fmla="*/ 8 h 16"/>
                <a:gd name="T4" fmla="*/ 12 w 19"/>
                <a:gd name="T5" fmla="*/ 8 h 16"/>
                <a:gd name="T6" fmla="*/ 12 w 19"/>
                <a:gd name="T7" fmla="*/ 12 h 16"/>
                <a:gd name="T8" fmla="*/ 12 w 19"/>
                <a:gd name="T9" fmla="*/ 12 h 16"/>
                <a:gd name="T10" fmla="*/ 12 w 19"/>
                <a:gd name="T11" fmla="*/ 12 h 16"/>
                <a:gd name="T12" fmla="*/ 12 w 19"/>
                <a:gd name="T13" fmla="*/ 12 h 16"/>
                <a:gd name="T14" fmla="*/ 15 w 19"/>
                <a:gd name="T15" fmla="*/ 12 h 16"/>
                <a:gd name="T16" fmla="*/ 15 w 19"/>
                <a:gd name="T17" fmla="*/ 12 h 16"/>
                <a:gd name="T18" fmla="*/ 15 w 19"/>
                <a:gd name="T19" fmla="*/ 12 h 16"/>
                <a:gd name="T20" fmla="*/ 12 w 19"/>
                <a:gd name="T21" fmla="*/ 16 h 16"/>
                <a:gd name="T22" fmla="*/ 12 w 19"/>
                <a:gd name="T23" fmla="*/ 16 h 16"/>
                <a:gd name="T24" fmla="*/ 12 w 19"/>
                <a:gd name="T25" fmla="*/ 16 h 16"/>
                <a:gd name="T26" fmla="*/ 12 w 19"/>
                <a:gd name="T27" fmla="*/ 16 h 16"/>
                <a:gd name="T28" fmla="*/ 8 w 19"/>
                <a:gd name="T29" fmla="*/ 12 h 16"/>
                <a:gd name="T30" fmla="*/ 8 w 19"/>
                <a:gd name="T31" fmla="*/ 12 h 16"/>
                <a:gd name="T32" fmla="*/ 8 w 19"/>
                <a:gd name="T33" fmla="*/ 8 h 16"/>
                <a:gd name="T34" fmla="*/ 8 w 19"/>
                <a:gd name="T35" fmla="*/ 8 h 16"/>
                <a:gd name="T36" fmla="*/ 8 w 19"/>
                <a:gd name="T37" fmla="*/ 8 h 16"/>
                <a:gd name="T38" fmla="*/ 8 w 19"/>
                <a:gd name="T39" fmla="*/ 8 h 16"/>
                <a:gd name="T40" fmla="*/ 8 w 19"/>
                <a:gd name="T41" fmla="*/ 8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12 h 16"/>
                <a:gd name="T48" fmla="*/ 8 w 19"/>
                <a:gd name="T49" fmla="*/ 12 h 16"/>
                <a:gd name="T50" fmla="*/ 8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0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8 h 16"/>
                <a:gd name="T68" fmla="*/ 0 w 19"/>
                <a:gd name="T69" fmla="*/ 8 h 16"/>
                <a:gd name="T70" fmla="*/ 4 w 19"/>
                <a:gd name="T71" fmla="*/ 8 h 16"/>
                <a:gd name="T72" fmla="*/ 4 w 19"/>
                <a:gd name="T73" fmla="*/ 8 h 16"/>
                <a:gd name="T74" fmla="*/ 8 w 19"/>
                <a:gd name="T75" fmla="*/ 4 h 16"/>
                <a:gd name="T76" fmla="*/ 8 w 19"/>
                <a:gd name="T77" fmla="*/ 4 h 16"/>
                <a:gd name="T78" fmla="*/ 8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0 h 16"/>
                <a:gd name="T88" fmla="*/ 8 w 19"/>
                <a:gd name="T89" fmla="*/ 0 h 16"/>
                <a:gd name="T90" fmla="*/ 15 w 19"/>
                <a:gd name="T91" fmla="*/ 0 h 16"/>
                <a:gd name="T92" fmla="*/ 19 w 19"/>
                <a:gd name="T93" fmla="*/ 4 h 16"/>
                <a:gd name="T94" fmla="*/ 19 w 19"/>
                <a:gd name="T95" fmla="*/ 4 h 16"/>
                <a:gd name="T96" fmla="*/ 15 w 19"/>
                <a:gd name="T97" fmla="*/ 8 h 16"/>
                <a:gd name="T98" fmla="*/ 15 w 19"/>
                <a:gd name="T99" fmla="*/ 8 h 16"/>
                <a:gd name="T100" fmla="*/ 15 w 19"/>
                <a:gd name="T101" fmla="*/ 8 h 16"/>
                <a:gd name="T102" fmla="*/ 12 w 19"/>
                <a:gd name="T103" fmla="*/ 8 h 16"/>
                <a:gd name="T104" fmla="*/ 8 w 19"/>
                <a:gd name="T105" fmla="*/ 4 h 16"/>
                <a:gd name="T106" fmla="*/ 12 w 19"/>
                <a:gd name="T107" fmla="*/ 8 h 16"/>
                <a:gd name="T108" fmla="*/ 12 w 19"/>
                <a:gd name="T109" fmla="*/ 8 h 16"/>
                <a:gd name="T110" fmla="*/ 12 w 19"/>
                <a:gd name="T111" fmla="*/ 8 h 16"/>
                <a:gd name="T112" fmla="*/ 15 w 19"/>
                <a:gd name="T113" fmla="*/ 4 h 16"/>
                <a:gd name="T114" fmla="*/ 15 w 19"/>
                <a:gd name="T115" fmla="*/ 4 h 16"/>
                <a:gd name="T116" fmla="*/ 15 w 19"/>
                <a:gd name="T117" fmla="*/ 4 h 16"/>
                <a:gd name="T118" fmla="*/ 12 w 19"/>
                <a:gd name="T119" fmla="*/ 4 h 16"/>
                <a:gd name="T120" fmla="*/ 12 w 19"/>
                <a:gd name="T121" fmla="*/ 4 h 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"/>
                <a:gd name="T184" fmla="*/ 0 h 16"/>
                <a:gd name="T185" fmla="*/ 19 w 19"/>
                <a:gd name="T186" fmla="*/ 16 h 1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15" y="12"/>
                  </a:lnTo>
                  <a:lnTo>
                    <a:pt x="12" y="16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5" y="8"/>
                  </a:lnTo>
                  <a:lnTo>
                    <a:pt x="12" y="8"/>
                  </a:lnTo>
                  <a:close/>
                  <a:moveTo>
                    <a:pt x="12" y="4"/>
                  </a:moveTo>
                  <a:lnTo>
                    <a:pt x="8" y="4"/>
                  </a:lnTo>
                  <a:lnTo>
                    <a:pt x="12" y="8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8" name="Freeform 616"/>
            <p:cNvSpPr>
              <a:spLocks/>
            </p:cNvSpPr>
            <p:nvPr/>
          </p:nvSpPr>
          <p:spPr bwMode="auto">
            <a:xfrm>
              <a:off x="4121" y="2583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8 w 16"/>
                <a:gd name="T3" fmla="*/ 0 h 12"/>
                <a:gd name="T4" fmla="*/ 4 w 16"/>
                <a:gd name="T5" fmla="*/ 4 h 12"/>
                <a:gd name="T6" fmla="*/ 4 w 16"/>
                <a:gd name="T7" fmla="*/ 4 h 12"/>
                <a:gd name="T8" fmla="*/ 8 w 16"/>
                <a:gd name="T9" fmla="*/ 8 h 12"/>
                <a:gd name="T10" fmla="*/ 8 w 16"/>
                <a:gd name="T11" fmla="*/ 8 h 12"/>
                <a:gd name="T12" fmla="*/ 8 w 16"/>
                <a:gd name="T13" fmla="*/ 12 h 12"/>
                <a:gd name="T14" fmla="*/ 8 w 16"/>
                <a:gd name="T15" fmla="*/ 12 h 12"/>
                <a:gd name="T16" fmla="*/ 4 w 16"/>
                <a:gd name="T17" fmla="*/ 12 h 12"/>
                <a:gd name="T18" fmla="*/ 4 w 16"/>
                <a:gd name="T19" fmla="*/ 12 h 12"/>
                <a:gd name="T20" fmla="*/ 4 w 16"/>
                <a:gd name="T21" fmla="*/ 8 h 12"/>
                <a:gd name="T22" fmla="*/ 4 w 16"/>
                <a:gd name="T23" fmla="*/ 8 h 12"/>
                <a:gd name="T24" fmla="*/ 4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0 w 16"/>
                <a:gd name="T35" fmla="*/ 12 h 12"/>
                <a:gd name="T36" fmla="*/ 0 w 16"/>
                <a:gd name="T37" fmla="*/ 12 h 12"/>
                <a:gd name="T38" fmla="*/ 0 w 16"/>
                <a:gd name="T39" fmla="*/ 12 h 12"/>
                <a:gd name="T40" fmla="*/ 0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8 w 16"/>
                <a:gd name="T47" fmla="*/ 12 h 12"/>
                <a:gd name="T48" fmla="*/ 12 w 16"/>
                <a:gd name="T49" fmla="*/ 12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12 w 16"/>
                <a:gd name="T61" fmla="*/ 4 h 12"/>
                <a:gd name="T62" fmla="*/ 12 w 16"/>
                <a:gd name="T63" fmla="*/ 4 h 12"/>
                <a:gd name="T64" fmla="*/ 12 w 16"/>
                <a:gd name="T65" fmla="*/ 4 h 12"/>
                <a:gd name="T66" fmla="*/ 12 w 16"/>
                <a:gd name="T67" fmla="*/ 4 h 12"/>
                <a:gd name="T68" fmla="*/ 12 w 16"/>
                <a:gd name="T69" fmla="*/ 8 h 12"/>
                <a:gd name="T70" fmla="*/ 16 w 16"/>
                <a:gd name="T71" fmla="*/ 8 h 12"/>
                <a:gd name="T72" fmla="*/ 16 w 16"/>
                <a:gd name="T73" fmla="*/ 4 h 12"/>
                <a:gd name="T74" fmla="*/ 16 w 16"/>
                <a:gd name="T75" fmla="*/ 4 h 12"/>
                <a:gd name="T76" fmla="*/ 16 w 16"/>
                <a:gd name="T77" fmla="*/ 4 h 12"/>
                <a:gd name="T78" fmla="*/ 16 w 16"/>
                <a:gd name="T79" fmla="*/ 0 h 12"/>
                <a:gd name="T80" fmla="*/ 16 w 16"/>
                <a:gd name="T81" fmla="*/ 0 h 12"/>
                <a:gd name="T82" fmla="*/ 16 w 16"/>
                <a:gd name="T83" fmla="*/ 4 h 12"/>
                <a:gd name="T84" fmla="*/ 16 w 16"/>
                <a:gd name="T85" fmla="*/ 0 h 1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6"/>
                <a:gd name="T130" fmla="*/ 0 h 12"/>
                <a:gd name="T131" fmla="*/ 16 w 16"/>
                <a:gd name="T132" fmla="*/ 12 h 1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99" name="Freeform 617"/>
            <p:cNvSpPr>
              <a:spLocks noEditPoints="1"/>
            </p:cNvSpPr>
            <p:nvPr/>
          </p:nvSpPr>
          <p:spPr bwMode="auto">
            <a:xfrm>
              <a:off x="4224" y="2579"/>
              <a:ext cx="20" cy="20"/>
            </a:xfrm>
            <a:custGeom>
              <a:avLst/>
              <a:gdLst>
                <a:gd name="T0" fmla="*/ 12 w 20"/>
                <a:gd name="T1" fmla="*/ 12 h 20"/>
                <a:gd name="T2" fmla="*/ 16 w 20"/>
                <a:gd name="T3" fmla="*/ 16 h 20"/>
                <a:gd name="T4" fmla="*/ 16 w 20"/>
                <a:gd name="T5" fmla="*/ 16 h 20"/>
                <a:gd name="T6" fmla="*/ 16 w 20"/>
                <a:gd name="T7" fmla="*/ 16 h 20"/>
                <a:gd name="T8" fmla="*/ 12 w 20"/>
                <a:gd name="T9" fmla="*/ 20 h 20"/>
                <a:gd name="T10" fmla="*/ 4 w 20"/>
                <a:gd name="T11" fmla="*/ 20 h 20"/>
                <a:gd name="T12" fmla="*/ 4 w 20"/>
                <a:gd name="T13" fmla="*/ 20 h 20"/>
                <a:gd name="T14" fmla="*/ 0 w 20"/>
                <a:gd name="T15" fmla="*/ 16 h 20"/>
                <a:gd name="T16" fmla="*/ 0 w 20"/>
                <a:gd name="T17" fmla="*/ 12 h 20"/>
                <a:gd name="T18" fmla="*/ 0 w 20"/>
                <a:gd name="T19" fmla="*/ 12 h 20"/>
                <a:gd name="T20" fmla="*/ 4 w 20"/>
                <a:gd name="T21" fmla="*/ 12 h 20"/>
                <a:gd name="T22" fmla="*/ 8 w 20"/>
                <a:gd name="T23" fmla="*/ 8 h 20"/>
                <a:gd name="T24" fmla="*/ 8 w 20"/>
                <a:gd name="T25" fmla="*/ 8 h 20"/>
                <a:gd name="T26" fmla="*/ 4 w 20"/>
                <a:gd name="T27" fmla="*/ 8 h 20"/>
                <a:gd name="T28" fmla="*/ 4 w 20"/>
                <a:gd name="T29" fmla="*/ 4 h 20"/>
                <a:gd name="T30" fmla="*/ 4 w 20"/>
                <a:gd name="T31" fmla="*/ 4 h 20"/>
                <a:gd name="T32" fmla="*/ 8 w 20"/>
                <a:gd name="T33" fmla="*/ 0 h 20"/>
                <a:gd name="T34" fmla="*/ 16 w 20"/>
                <a:gd name="T35" fmla="*/ 4 h 20"/>
                <a:gd name="T36" fmla="*/ 16 w 20"/>
                <a:gd name="T37" fmla="*/ 4 h 20"/>
                <a:gd name="T38" fmla="*/ 20 w 20"/>
                <a:gd name="T39" fmla="*/ 4 h 20"/>
                <a:gd name="T40" fmla="*/ 20 w 20"/>
                <a:gd name="T41" fmla="*/ 8 h 20"/>
                <a:gd name="T42" fmla="*/ 20 w 20"/>
                <a:gd name="T43" fmla="*/ 8 h 20"/>
                <a:gd name="T44" fmla="*/ 16 w 20"/>
                <a:gd name="T45" fmla="*/ 12 h 20"/>
                <a:gd name="T46" fmla="*/ 12 w 20"/>
                <a:gd name="T47" fmla="*/ 12 h 20"/>
                <a:gd name="T48" fmla="*/ 8 w 20"/>
                <a:gd name="T49" fmla="*/ 12 h 20"/>
                <a:gd name="T50" fmla="*/ 8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6 h 20"/>
                <a:gd name="T58" fmla="*/ 4 w 20"/>
                <a:gd name="T59" fmla="*/ 16 h 20"/>
                <a:gd name="T60" fmla="*/ 8 w 20"/>
                <a:gd name="T61" fmla="*/ 16 h 20"/>
                <a:gd name="T62" fmla="*/ 8 w 20"/>
                <a:gd name="T63" fmla="*/ 16 h 20"/>
                <a:gd name="T64" fmla="*/ 8 w 20"/>
                <a:gd name="T65" fmla="*/ 16 h 20"/>
                <a:gd name="T66" fmla="*/ 12 w 20"/>
                <a:gd name="T67" fmla="*/ 16 h 20"/>
                <a:gd name="T68" fmla="*/ 12 w 20"/>
                <a:gd name="T69" fmla="*/ 12 h 20"/>
                <a:gd name="T70" fmla="*/ 12 w 20"/>
                <a:gd name="T71" fmla="*/ 12 h 20"/>
                <a:gd name="T72" fmla="*/ 8 w 20"/>
                <a:gd name="T73" fmla="*/ 12 h 20"/>
                <a:gd name="T74" fmla="*/ 16 w 20"/>
                <a:gd name="T75" fmla="*/ 4 h 20"/>
                <a:gd name="T76" fmla="*/ 12 w 20"/>
                <a:gd name="T77" fmla="*/ 4 h 20"/>
                <a:gd name="T78" fmla="*/ 8 w 20"/>
                <a:gd name="T79" fmla="*/ 8 h 20"/>
                <a:gd name="T80" fmla="*/ 8 w 20"/>
                <a:gd name="T81" fmla="*/ 8 h 20"/>
                <a:gd name="T82" fmla="*/ 8 w 20"/>
                <a:gd name="T83" fmla="*/ 8 h 20"/>
                <a:gd name="T84" fmla="*/ 12 w 20"/>
                <a:gd name="T85" fmla="*/ 8 h 20"/>
                <a:gd name="T86" fmla="*/ 12 w 20"/>
                <a:gd name="T87" fmla="*/ 8 h 20"/>
                <a:gd name="T88" fmla="*/ 12 w 20"/>
                <a:gd name="T89" fmla="*/ 8 h 20"/>
                <a:gd name="T90" fmla="*/ 16 w 20"/>
                <a:gd name="T91" fmla="*/ 8 h 20"/>
                <a:gd name="T92" fmla="*/ 16 w 20"/>
                <a:gd name="T93" fmla="*/ 8 h 20"/>
                <a:gd name="T94" fmla="*/ 16 w 20"/>
                <a:gd name="T95" fmla="*/ 4 h 20"/>
                <a:gd name="T96" fmla="*/ 16 w 20"/>
                <a:gd name="T97" fmla="*/ 4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20"/>
                <a:gd name="T149" fmla="*/ 20 w 20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20">
                  <a:moveTo>
                    <a:pt x="12" y="12"/>
                  </a:moveTo>
                  <a:lnTo>
                    <a:pt x="12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12"/>
                  </a:lnTo>
                  <a:lnTo>
                    <a:pt x="12" y="12"/>
                  </a:lnTo>
                  <a:close/>
                  <a:moveTo>
                    <a:pt x="8" y="12"/>
                  </a:moveTo>
                  <a:lnTo>
                    <a:pt x="8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0" name="Freeform 618"/>
            <p:cNvSpPr>
              <a:spLocks/>
            </p:cNvSpPr>
            <p:nvPr/>
          </p:nvSpPr>
          <p:spPr bwMode="auto">
            <a:xfrm>
              <a:off x="4200" y="2599"/>
              <a:ext cx="16" cy="16"/>
            </a:xfrm>
            <a:custGeom>
              <a:avLst/>
              <a:gdLst>
                <a:gd name="T0" fmla="*/ 12 w 16"/>
                <a:gd name="T1" fmla="*/ 8 h 16"/>
                <a:gd name="T2" fmla="*/ 12 w 16"/>
                <a:gd name="T3" fmla="*/ 8 h 16"/>
                <a:gd name="T4" fmla="*/ 12 w 16"/>
                <a:gd name="T5" fmla="*/ 8 h 16"/>
                <a:gd name="T6" fmla="*/ 12 w 16"/>
                <a:gd name="T7" fmla="*/ 8 h 16"/>
                <a:gd name="T8" fmla="*/ 12 w 16"/>
                <a:gd name="T9" fmla="*/ 8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4 h 16"/>
                <a:gd name="T16" fmla="*/ 16 w 16"/>
                <a:gd name="T17" fmla="*/ 4 h 16"/>
                <a:gd name="T18" fmla="*/ 16 w 16"/>
                <a:gd name="T19" fmla="*/ 4 h 16"/>
                <a:gd name="T20" fmla="*/ 16 w 16"/>
                <a:gd name="T21" fmla="*/ 4 h 16"/>
                <a:gd name="T22" fmla="*/ 4 w 16"/>
                <a:gd name="T23" fmla="*/ 0 h 16"/>
                <a:gd name="T24" fmla="*/ 4 w 16"/>
                <a:gd name="T25" fmla="*/ 0 h 16"/>
                <a:gd name="T26" fmla="*/ 4 w 16"/>
                <a:gd name="T27" fmla="*/ 0 h 16"/>
                <a:gd name="T28" fmla="*/ 4 w 16"/>
                <a:gd name="T29" fmla="*/ 0 h 16"/>
                <a:gd name="T30" fmla="*/ 0 w 16"/>
                <a:gd name="T31" fmla="*/ 4 h 16"/>
                <a:gd name="T32" fmla="*/ 0 w 16"/>
                <a:gd name="T33" fmla="*/ 4 h 16"/>
                <a:gd name="T34" fmla="*/ 0 w 16"/>
                <a:gd name="T35" fmla="*/ 4 h 16"/>
                <a:gd name="T36" fmla="*/ 0 w 16"/>
                <a:gd name="T37" fmla="*/ 4 h 16"/>
                <a:gd name="T38" fmla="*/ 0 w 16"/>
                <a:gd name="T39" fmla="*/ 4 h 16"/>
                <a:gd name="T40" fmla="*/ 0 w 16"/>
                <a:gd name="T41" fmla="*/ 4 h 16"/>
                <a:gd name="T42" fmla="*/ 4 w 16"/>
                <a:gd name="T43" fmla="*/ 4 h 16"/>
                <a:gd name="T44" fmla="*/ 4 w 16"/>
                <a:gd name="T45" fmla="*/ 4 h 16"/>
                <a:gd name="T46" fmla="*/ 4 w 16"/>
                <a:gd name="T47" fmla="*/ 4 h 16"/>
                <a:gd name="T48" fmla="*/ 4 w 16"/>
                <a:gd name="T49" fmla="*/ 4 h 16"/>
                <a:gd name="T50" fmla="*/ 8 w 16"/>
                <a:gd name="T51" fmla="*/ 4 h 16"/>
                <a:gd name="T52" fmla="*/ 4 w 16"/>
                <a:gd name="T53" fmla="*/ 12 h 16"/>
                <a:gd name="T54" fmla="*/ 0 w 16"/>
                <a:gd name="T55" fmla="*/ 8 h 16"/>
                <a:gd name="T56" fmla="*/ 0 w 16"/>
                <a:gd name="T57" fmla="*/ 8 h 16"/>
                <a:gd name="T58" fmla="*/ 0 w 16"/>
                <a:gd name="T59" fmla="*/ 8 h 16"/>
                <a:gd name="T60" fmla="*/ 0 w 16"/>
                <a:gd name="T61" fmla="*/ 12 h 16"/>
                <a:gd name="T62" fmla="*/ 0 w 16"/>
                <a:gd name="T63" fmla="*/ 12 h 16"/>
                <a:gd name="T64" fmla="*/ 0 w 16"/>
                <a:gd name="T65" fmla="*/ 12 h 16"/>
                <a:gd name="T66" fmla="*/ 0 w 16"/>
                <a:gd name="T67" fmla="*/ 12 h 16"/>
                <a:gd name="T68" fmla="*/ 8 w 16"/>
                <a:gd name="T69" fmla="*/ 16 h 16"/>
                <a:gd name="T70" fmla="*/ 8 w 16"/>
                <a:gd name="T71" fmla="*/ 16 h 16"/>
                <a:gd name="T72" fmla="*/ 8 w 16"/>
                <a:gd name="T73" fmla="*/ 16 h 16"/>
                <a:gd name="T74" fmla="*/ 8 w 16"/>
                <a:gd name="T75" fmla="*/ 12 h 16"/>
                <a:gd name="T76" fmla="*/ 8 w 16"/>
                <a:gd name="T77" fmla="*/ 12 h 16"/>
                <a:gd name="T78" fmla="*/ 8 w 16"/>
                <a:gd name="T79" fmla="*/ 12 h 16"/>
                <a:gd name="T80" fmla="*/ 8 w 16"/>
                <a:gd name="T81" fmla="*/ 12 h 16"/>
                <a:gd name="T82" fmla="*/ 8 w 16"/>
                <a:gd name="T83" fmla="*/ 12 h 16"/>
                <a:gd name="T84" fmla="*/ 12 w 16"/>
                <a:gd name="T85" fmla="*/ 4 h 16"/>
                <a:gd name="T86" fmla="*/ 12 w 16"/>
                <a:gd name="T87" fmla="*/ 4 h 16"/>
                <a:gd name="T88" fmla="*/ 12 w 16"/>
                <a:gd name="T89" fmla="*/ 8 h 1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6"/>
                <a:gd name="T137" fmla="*/ 16 w 16"/>
                <a:gd name="T138" fmla="*/ 16 h 1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6">
                  <a:moveTo>
                    <a:pt x="12" y="8"/>
                  </a:move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4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0" y="12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2" y="4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1" name="Freeform 619"/>
            <p:cNvSpPr>
              <a:spLocks/>
            </p:cNvSpPr>
            <p:nvPr/>
          </p:nvSpPr>
          <p:spPr bwMode="auto">
            <a:xfrm>
              <a:off x="4216" y="2603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8 w 16"/>
                <a:gd name="T3" fmla="*/ 4 h 12"/>
                <a:gd name="T4" fmla="*/ 8 w 16"/>
                <a:gd name="T5" fmla="*/ 0 h 12"/>
                <a:gd name="T6" fmla="*/ 8 w 16"/>
                <a:gd name="T7" fmla="*/ 0 h 12"/>
                <a:gd name="T8" fmla="*/ 8 w 16"/>
                <a:gd name="T9" fmla="*/ 0 h 12"/>
                <a:gd name="T10" fmla="*/ 8 w 16"/>
                <a:gd name="T11" fmla="*/ 0 h 12"/>
                <a:gd name="T12" fmla="*/ 4 w 16"/>
                <a:gd name="T13" fmla="*/ 0 h 12"/>
                <a:gd name="T14" fmla="*/ 4 w 16"/>
                <a:gd name="T15" fmla="*/ 0 h 12"/>
                <a:gd name="T16" fmla="*/ 4 w 16"/>
                <a:gd name="T17" fmla="*/ 0 h 12"/>
                <a:gd name="T18" fmla="*/ 0 w 16"/>
                <a:gd name="T19" fmla="*/ 0 h 12"/>
                <a:gd name="T20" fmla="*/ 0 w 16"/>
                <a:gd name="T21" fmla="*/ 0 h 12"/>
                <a:gd name="T22" fmla="*/ 0 w 16"/>
                <a:gd name="T23" fmla="*/ 0 h 12"/>
                <a:gd name="T24" fmla="*/ 4 w 16"/>
                <a:gd name="T25" fmla="*/ 0 h 12"/>
                <a:gd name="T26" fmla="*/ 4 w 16"/>
                <a:gd name="T27" fmla="*/ 0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8 w 16"/>
                <a:gd name="T39" fmla="*/ 12 h 12"/>
                <a:gd name="T40" fmla="*/ 12 w 16"/>
                <a:gd name="T41" fmla="*/ 8 h 12"/>
                <a:gd name="T42" fmla="*/ 16 w 16"/>
                <a:gd name="T43" fmla="*/ 4 h 12"/>
                <a:gd name="T44" fmla="*/ 16 w 16"/>
                <a:gd name="T45" fmla="*/ 4 h 12"/>
                <a:gd name="T46" fmla="*/ 16 w 16"/>
                <a:gd name="T47" fmla="*/ 4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4 h 12"/>
                <a:gd name="T56" fmla="*/ 16 w 16"/>
                <a:gd name="T57" fmla="*/ 4 h 12"/>
                <a:gd name="T58" fmla="*/ 12 w 16"/>
                <a:gd name="T59" fmla="*/ 0 h 12"/>
                <a:gd name="T60" fmla="*/ 12 w 16"/>
                <a:gd name="T61" fmla="*/ 0 h 12"/>
                <a:gd name="T62" fmla="*/ 12 w 16"/>
                <a:gd name="T63" fmla="*/ 0 h 12"/>
                <a:gd name="T64" fmla="*/ 12 w 16"/>
                <a:gd name="T65" fmla="*/ 4 h 12"/>
                <a:gd name="T66" fmla="*/ 12 w 16"/>
                <a:gd name="T67" fmla="*/ 4 h 12"/>
                <a:gd name="T68" fmla="*/ 8 w 16"/>
                <a:gd name="T69" fmla="*/ 4 h 12"/>
                <a:gd name="T70" fmla="*/ 12 w 16"/>
                <a:gd name="T71" fmla="*/ 4 h 12"/>
                <a:gd name="T72" fmla="*/ 12 w 16"/>
                <a:gd name="T73" fmla="*/ 4 h 12"/>
                <a:gd name="T74" fmla="*/ 8 w 16"/>
                <a:gd name="T75" fmla="*/ 8 h 12"/>
                <a:gd name="T76" fmla="*/ 8 w 16"/>
                <a:gd name="T77" fmla="*/ 8 h 12"/>
                <a:gd name="T78" fmla="*/ 4 w 16"/>
                <a:gd name="T79" fmla="*/ 12 h 12"/>
                <a:gd name="T80" fmla="*/ 4 w 16"/>
                <a:gd name="T81" fmla="*/ 12 h 12"/>
                <a:gd name="T82" fmla="*/ 4 w 16"/>
                <a:gd name="T83" fmla="*/ 12 h 12"/>
                <a:gd name="T84" fmla="*/ 0 w 16"/>
                <a:gd name="T85" fmla="*/ 12 h 12"/>
                <a:gd name="T86" fmla="*/ 4 w 16"/>
                <a:gd name="T87" fmla="*/ 8 h 12"/>
                <a:gd name="T88" fmla="*/ 4 w 16"/>
                <a:gd name="T89" fmla="*/ 4 h 12"/>
                <a:gd name="T90" fmla="*/ 4 w 16"/>
                <a:gd name="T91" fmla="*/ 4 h 1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12"/>
                <a:gd name="T140" fmla="*/ 16 w 16"/>
                <a:gd name="T141" fmla="*/ 12 h 1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12">
                  <a:moveTo>
                    <a:pt x="4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2" name="Freeform 620"/>
            <p:cNvSpPr>
              <a:spLocks/>
            </p:cNvSpPr>
            <p:nvPr/>
          </p:nvSpPr>
          <p:spPr bwMode="auto">
            <a:xfrm>
              <a:off x="4232" y="2607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12 w 16"/>
                <a:gd name="T3" fmla="*/ 4 h 12"/>
                <a:gd name="T4" fmla="*/ 12 w 16"/>
                <a:gd name="T5" fmla="*/ 4 h 12"/>
                <a:gd name="T6" fmla="*/ 12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12 w 16"/>
                <a:gd name="T15" fmla="*/ 0 h 12"/>
                <a:gd name="T16" fmla="*/ 12 w 16"/>
                <a:gd name="T17" fmla="*/ 0 h 12"/>
                <a:gd name="T18" fmla="*/ 16 w 16"/>
                <a:gd name="T19" fmla="*/ 4 h 12"/>
                <a:gd name="T20" fmla="*/ 16 w 16"/>
                <a:gd name="T21" fmla="*/ 4 h 12"/>
                <a:gd name="T22" fmla="*/ 16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2 w 16"/>
                <a:gd name="T31" fmla="*/ 4 h 12"/>
                <a:gd name="T32" fmla="*/ 12 w 16"/>
                <a:gd name="T33" fmla="*/ 4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12 h 12"/>
                <a:gd name="T42" fmla="*/ 0 w 16"/>
                <a:gd name="T43" fmla="*/ 12 h 12"/>
                <a:gd name="T44" fmla="*/ 0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0 h 12"/>
                <a:gd name="T52" fmla="*/ 0 w 16"/>
                <a:gd name="T53" fmla="*/ 0 h 12"/>
                <a:gd name="T54" fmla="*/ 0 w 16"/>
                <a:gd name="T55" fmla="*/ 0 h 12"/>
                <a:gd name="T56" fmla="*/ 0 w 16"/>
                <a:gd name="T57" fmla="*/ 0 h 12"/>
                <a:gd name="T58" fmla="*/ 0 w 16"/>
                <a:gd name="T59" fmla="*/ 0 h 12"/>
                <a:gd name="T60" fmla="*/ 0 w 16"/>
                <a:gd name="T61" fmla="*/ 0 h 12"/>
                <a:gd name="T62" fmla="*/ 0 w 16"/>
                <a:gd name="T63" fmla="*/ 0 h 12"/>
                <a:gd name="T64" fmla="*/ 4 w 16"/>
                <a:gd name="T65" fmla="*/ 0 h 12"/>
                <a:gd name="T66" fmla="*/ 8 w 16"/>
                <a:gd name="T67" fmla="*/ 0 h 12"/>
                <a:gd name="T68" fmla="*/ 8 w 16"/>
                <a:gd name="T69" fmla="*/ 0 h 12"/>
                <a:gd name="T70" fmla="*/ 8 w 16"/>
                <a:gd name="T71" fmla="*/ 0 h 12"/>
                <a:gd name="T72" fmla="*/ 8 w 16"/>
                <a:gd name="T73" fmla="*/ 0 h 12"/>
                <a:gd name="T74" fmla="*/ 8 w 16"/>
                <a:gd name="T75" fmla="*/ 4 h 12"/>
                <a:gd name="T76" fmla="*/ 8 w 16"/>
                <a:gd name="T77" fmla="*/ 4 h 12"/>
                <a:gd name="T78" fmla="*/ 4 w 16"/>
                <a:gd name="T79" fmla="*/ 4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4" y="4"/>
                  </a:moveTo>
                  <a:lnTo>
                    <a:pt x="4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3" name="Freeform 621"/>
            <p:cNvSpPr>
              <a:spLocks noEditPoints="1"/>
            </p:cNvSpPr>
            <p:nvPr/>
          </p:nvSpPr>
          <p:spPr bwMode="auto">
            <a:xfrm>
              <a:off x="4330" y="2607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8 w 20"/>
                <a:gd name="T5" fmla="*/ 12 h 16"/>
                <a:gd name="T6" fmla="*/ 8 w 20"/>
                <a:gd name="T7" fmla="*/ 12 h 16"/>
                <a:gd name="T8" fmla="*/ 4 w 20"/>
                <a:gd name="T9" fmla="*/ 8 h 16"/>
                <a:gd name="T10" fmla="*/ 4 w 20"/>
                <a:gd name="T11" fmla="*/ 4 h 16"/>
                <a:gd name="T12" fmla="*/ 4 w 20"/>
                <a:gd name="T13" fmla="*/ 4 h 16"/>
                <a:gd name="T14" fmla="*/ 8 w 20"/>
                <a:gd name="T15" fmla="*/ 0 h 16"/>
                <a:gd name="T16" fmla="*/ 16 w 20"/>
                <a:gd name="T17" fmla="*/ 0 h 16"/>
                <a:gd name="T18" fmla="*/ 16 w 20"/>
                <a:gd name="T19" fmla="*/ 0 h 16"/>
                <a:gd name="T20" fmla="*/ 20 w 20"/>
                <a:gd name="T21" fmla="*/ 4 h 16"/>
                <a:gd name="T22" fmla="*/ 20 w 20"/>
                <a:gd name="T23" fmla="*/ 8 h 16"/>
                <a:gd name="T24" fmla="*/ 20 w 20"/>
                <a:gd name="T25" fmla="*/ 8 h 16"/>
                <a:gd name="T26" fmla="*/ 12 w 20"/>
                <a:gd name="T27" fmla="*/ 16 h 16"/>
                <a:gd name="T28" fmla="*/ 4 w 20"/>
                <a:gd name="T29" fmla="*/ 16 h 16"/>
                <a:gd name="T30" fmla="*/ 4 w 20"/>
                <a:gd name="T31" fmla="*/ 16 h 16"/>
                <a:gd name="T32" fmla="*/ 0 w 20"/>
                <a:gd name="T33" fmla="*/ 16 h 16"/>
                <a:gd name="T34" fmla="*/ 0 w 20"/>
                <a:gd name="T35" fmla="*/ 16 h 16"/>
                <a:gd name="T36" fmla="*/ 0 w 20"/>
                <a:gd name="T37" fmla="*/ 16 h 16"/>
                <a:gd name="T38" fmla="*/ 4 w 20"/>
                <a:gd name="T39" fmla="*/ 12 h 16"/>
                <a:gd name="T40" fmla="*/ 4 w 20"/>
                <a:gd name="T41" fmla="*/ 16 h 16"/>
                <a:gd name="T42" fmla="*/ 4 w 20"/>
                <a:gd name="T43" fmla="*/ 16 h 16"/>
                <a:gd name="T44" fmla="*/ 8 w 20"/>
                <a:gd name="T45" fmla="*/ 12 h 16"/>
                <a:gd name="T46" fmla="*/ 12 w 20"/>
                <a:gd name="T47" fmla="*/ 12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0 h 16"/>
                <a:gd name="T56" fmla="*/ 12 w 20"/>
                <a:gd name="T57" fmla="*/ 0 h 16"/>
                <a:gd name="T58" fmla="*/ 12 w 20"/>
                <a:gd name="T59" fmla="*/ 0 h 16"/>
                <a:gd name="T60" fmla="*/ 8 w 20"/>
                <a:gd name="T61" fmla="*/ 4 h 16"/>
                <a:gd name="T62" fmla="*/ 8 w 20"/>
                <a:gd name="T63" fmla="*/ 8 h 16"/>
                <a:gd name="T64" fmla="*/ 8 w 20"/>
                <a:gd name="T65" fmla="*/ 8 h 16"/>
                <a:gd name="T66" fmla="*/ 12 w 20"/>
                <a:gd name="T67" fmla="*/ 8 h 16"/>
                <a:gd name="T68" fmla="*/ 16 w 20"/>
                <a:gd name="T69" fmla="*/ 8 h 16"/>
                <a:gd name="T70" fmla="*/ 16 w 20"/>
                <a:gd name="T71" fmla="*/ 8 h 16"/>
                <a:gd name="T72" fmla="*/ 16 w 20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0"/>
                <a:gd name="T112" fmla="*/ 0 h 16"/>
                <a:gd name="T113" fmla="*/ 20 w 20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0" h="16">
                  <a:moveTo>
                    <a:pt x="12" y="12"/>
                  </a:move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2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4" name="Freeform 622"/>
            <p:cNvSpPr>
              <a:spLocks/>
            </p:cNvSpPr>
            <p:nvPr/>
          </p:nvSpPr>
          <p:spPr bwMode="auto">
            <a:xfrm>
              <a:off x="4299" y="2623"/>
              <a:ext cx="19" cy="15"/>
            </a:xfrm>
            <a:custGeom>
              <a:avLst/>
              <a:gdLst>
                <a:gd name="T0" fmla="*/ 4 w 19"/>
                <a:gd name="T1" fmla="*/ 8 h 15"/>
                <a:gd name="T2" fmla="*/ 8 w 19"/>
                <a:gd name="T3" fmla="*/ 4 h 15"/>
                <a:gd name="T4" fmla="*/ 8 w 19"/>
                <a:gd name="T5" fmla="*/ 4 h 15"/>
                <a:gd name="T6" fmla="*/ 8 w 19"/>
                <a:gd name="T7" fmla="*/ 4 h 15"/>
                <a:gd name="T8" fmla="*/ 8 w 19"/>
                <a:gd name="T9" fmla="*/ 4 h 15"/>
                <a:gd name="T10" fmla="*/ 8 w 19"/>
                <a:gd name="T11" fmla="*/ 4 h 15"/>
                <a:gd name="T12" fmla="*/ 12 w 19"/>
                <a:gd name="T13" fmla="*/ 4 h 15"/>
                <a:gd name="T14" fmla="*/ 12 w 19"/>
                <a:gd name="T15" fmla="*/ 4 h 15"/>
                <a:gd name="T16" fmla="*/ 12 w 19"/>
                <a:gd name="T17" fmla="*/ 11 h 15"/>
                <a:gd name="T18" fmla="*/ 12 w 19"/>
                <a:gd name="T19" fmla="*/ 4 h 15"/>
                <a:gd name="T20" fmla="*/ 12 w 19"/>
                <a:gd name="T21" fmla="*/ 4 h 15"/>
                <a:gd name="T22" fmla="*/ 12 w 19"/>
                <a:gd name="T23" fmla="*/ 4 h 15"/>
                <a:gd name="T24" fmla="*/ 12 w 19"/>
                <a:gd name="T25" fmla="*/ 4 h 15"/>
                <a:gd name="T26" fmla="*/ 12 w 19"/>
                <a:gd name="T27" fmla="*/ 4 h 15"/>
                <a:gd name="T28" fmla="*/ 12 w 19"/>
                <a:gd name="T29" fmla="*/ 4 h 15"/>
                <a:gd name="T30" fmla="*/ 12 w 19"/>
                <a:gd name="T31" fmla="*/ 0 h 15"/>
                <a:gd name="T32" fmla="*/ 16 w 19"/>
                <a:gd name="T33" fmla="*/ 0 h 15"/>
                <a:gd name="T34" fmla="*/ 19 w 19"/>
                <a:gd name="T35" fmla="*/ 4 h 15"/>
                <a:gd name="T36" fmla="*/ 19 w 19"/>
                <a:gd name="T37" fmla="*/ 4 h 15"/>
                <a:gd name="T38" fmla="*/ 19 w 19"/>
                <a:gd name="T39" fmla="*/ 4 h 15"/>
                <a:gd name="T40" fmla="*/ 19 w 19"/>
                <a:gd name="T41" fmla="*/ 4 h 15"/>
                <a:gd name="T42" fmla="*/ 19 w 19"/>
                <a:gd name="T43" fmla="*/ 4 h 15"/>
                <a:gd name="T44" fmla="*/ 19 w 19"/>
                <a:gd name="T45" fmla="*/ 4 h 15"/>
                <a:gd name="T46" fmla="*/ 16 w 19"/>
                <a:gd name="T47" fmla="*/ 4 h 15"/>
                <a:gd name="T48" fmla="*/ 16 w 19"/>
                <a:gd name="T49" fmla="*/ 4 h 15"/>
                <a:gd name="T50" fmla="*/ 12 w 19"/>
                <a:gd name="T51" fmla="*/ 11 h 15"/>
                <a:gd name="T52" fmla="*/ 12 w 19"/>
                <a:gd name="T53" fmla="*/ 11 h 15"/>
                <a:gd name="T54" fmla="*/ 8 w 19"/>
                <a:gd name="T55" fmla="*/ 15 h 15"/>
                <a:gd name="T56" fmla="*/ 8 w 19"/>
                <a:gd name="T57" fmla="*/ 15 h 15"/>
                <a:gd name="T58" fmla="*/ 8 w 19"/>
                <a:gd name="T59" fmla="*/ 15 h 15"/>
                <a:gd name="T60" fmla="*/ 8 w 19"/>
                <a:gd name="T61" fmla="*/ 15 h 15"/>
                <a:gd name="T62" fmla="*/ 8 w 19"/>
                <a:gd name="T63" fmla="*/ 11 h 15"/>
                <a:gd name="T64" fmla="*/ 8 w 19"/>
                <a:gd name="T65" fmla="*/ 11 h 15"/>
                <a:gd name="T66" fmla="*/ 8 w 19"/>
                <a:gd name="T67" fmla="*/ 4 h 15"/>
                <a:gd name="T68" fmla="*/ 4 w 19"/>
                <a:gd name="T69" fmla="*/ 11 h 15"/>
                <a:gd name="T70" fmla="*/ 4 w 19"/>
                <a:gd name="T71" fmla="*/ 11 h 15"/>
                <a:gd name="T72" fmla="*/ 0 w 19"/>
                <a:gd name="T73" fmla="*/ 11 h 15"/>
                <a:gd name="T74" fmla="*/ 0 w 19"/>
                <a:gd name="T75" fmla="*/ 11 h 15"/>
                <a:gd name="T76" fmla="*/ 0 w 19"/>
                <a:gd name="T77" fmla="*/ 11 h 15"/>
                <a:gd name="T78" fmla="*/ 0 w 19"/>
                <a:gd name="T79" fmla="*/ 11 h 15"/>
                <a:gd name="T80" fmla="*/ 0 w 19"/>
                <a:gd name="T81" fmla="*/ 11 h 15"/>
                <a:gd name="T82" fmla="*/ 0 w 19"/>
                <a:gd name="T83" fmla="*/ 11 h 15"/>
                <a:gd name="T84" fmla="*/ 4 w 19"/>
                <a:gd name="T85" fmla="*/ 0 h 15"/>
                <a:gd name="T86" fmla="*/ 4 w 19"/>
                <a:gd name="T87" fmla="*/ 0 h 15"/>
                <a:gd name="T88" fmla="*/ 4 w 19"/>
                <a:gd name="T89" fmla="*/ 0 h 15"/>
                <a:gd name="T90" fmla="*/ 4 w 19"/>
                <a:gd name="T91" fmla="*/ 0 h 15"/>
                <a:gd name="T92" fmla="*/ 4 w 19"/>
                <a:gd name="T93" fmla="*/ 0 h 15"/>
                <a:gd name="T94" fmla="*/ 4 w 19"/>
                <a:gd name="T95" fmla="*/ 0 h 15"/>
                <a:gd name="T96" fmla="*/ 4 w 19"/>
                <a:gd name="T97" fmla="*/ 0 h 15"/>
                <a:gd name="T98" fmla="*/ 4 w 19"/>
                <a:gd name="T99" fmla="*/ 0 h 15"/>
                <a:gd name="T100" fmla="*/ 8 w 19"/>
                <a:gd name="T101" fmla="*/ 0 h 15"/>
                <a:gd name="T102" fmla="*/ 8 w 19"/>
                <a:gd name="T103" fmla="*/ 0 h 15"/>
                <a:gd name="T104" fmla="*/ 8 w 19"/>
                <a:gd name="T105" fmla="*/ 0 h 15"/>
                <a:gd name="T106" fmla="*/ 8 w 19"/>
                <a:gd name="T107" fmla="*/ 0 h 15"/>
                <a:gd name="T108" fmla="*/ 8 w 19"/>
                <a:gd name="T109" fmla="*/ 0 h 15"/>
                <a:gd name="T110" fmla="*/ 8 w 19"/>
                <a:gd name="T111" fmla="*/ 4 h 15"/>
                <a:gd name="T112" fmla="*/ 8 w 19"/>
                <a:gd name="T113" fmla="*/ 4 h 15"/>
                <a:gd name="T114" fmla="*/ 8 w 19"/>
                <a:gd name="T115" fmla="*/ 0 h 1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9"/>
                <a:gd name="T175" fmla="*/ 0 h 15"/>
                <a:gd name="T176" fmla="*/ 19 w 19"/>
                <a:gd name="T177" fmla="*/ 15 h 1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9" h="15">
                  <a:moveTo>
                    <a:pt x="8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11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4"/>
                  </a:lnTo>
                  <a:lnTo>
                    <a:pt x="16" y="4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4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5" name="Freeform 623"/>
            <p:cNvSpPr>
              <a:spLocks/>
            </p:cNvSpPr>
            <p:nvPr/>
          </p:nvSpPr>
          <p:spPr bwMode="auto">
            <a:xfrm>
              <a:off x="4311" y="2627"/>
              <a:ext cx="19" cy="15"/>
            </a:xfrm>
            <a:custGeom>
              <a:avLst/>
              <a:gdLst>
                <a:gd name="T0" fmla="*/ 11 w 19"/>
                <a:gd name="T1" fmla="*/ 4 h 15"/>
                <a:gd name="T2" fmla="*/ 15 w 19"/>
                <a:gd name="T3" fmla="*/ 4 h 15"/>
                <a:gd name="T4" fmla="*/ 15 w 19"/>
                <a:gd name="T5" fmla="*/ 4 h 15"/>
                <a:gd name="T6" fmla="*/ 15 w 19"/>
                <a:gd name="T7" fmla="*/ 4 h 15"/>
                <a:gd name="T8" fmla="*/ 15 w 19"/>
                <a:gd name="T9" fmla="*/ 0 h 15"/>
                <a:gd name="T10" fmla="*/ 19 w 19"/>
                <a:gd name="T11" fmla="*/ 4 h 15"/>
                <a:gd name="T12" fmla="*/ 19 w 19"/>
                <a:gd name="T13" fmla="*/ 4 h 15"/>
                <a:gd name="T14" fmla="*/ 19 w 19"/>
                <a:gd name="T15" fmla="*/ 4 h 15"/>
                <a:gd name="T16" fmla="*/ 19 w 19"/>
                <a:gd name="T17" fmla="*/ 4 h 15"/>
                <a:gd name="T18" fmla="*/ 19 w 19"/>
                <a:gd name="T19" fmla="*/ 4 h 15"/>
                <a:gd name="T20" fmla="*/ 19 w 19"/>
                <a:gd name="T21" fmla="*/ 4 h 15"/>
                <a:gd name="T22" fmla="*/ 11 w 19"/>
                <a:gd name="T23" fmla="*/ 7 h 15"/>
                <a:gd name="T24" fmla="*/ 15 w 19"/>
                <a:gd name="T25" fmla="*/ 11 h 15"/>
                <a:gd name="T26" fmla="*/ 15 w 19"/>
                <a:gd name="T27" fmla="*/ 11 h 15"/>
                <a:gd name="T28" fmla="*/ 15 w 19"/>
                <a:gd name="T29" fmla="*/ 11 h 15"/>
                <a:gd name="T30" fmla="*/ 15 w 19"/>
                <a:gd name="T31" fmla="*/ 15 h 15"/>
                <a:gd name="T32" fmla="*/ 15 w 19"/>
                <a:gd name="T33" fmla="*/ 15 h 15"/>
                <a:gd name="T34" fmla="*/ 11 w 19"/>
                <a:gd name="T35" fmla="*/ 15 h 15"/>
                <a:gd name="T36" fmla="*/ 7 w 19"/>
                <a:gd name="T37" fmla="*/ 11 h 15"/>
                <a:gd name="T38" fmla="*/ 7 w 19"/>
                <a:gd name="T39" fmla="*/ 11 h 15"/>
                <a:gd name="T40" fmla="*/ 11 w 19"/>
                <a:gd name="T41" fmla="*/ 11 h 15"/>
                <a:gd name="T42" fmla="*/ 11 w 19"/>
                <a:gd name="T43" fmla="*/ 11 h 15"/>
                <a:gd name="T44" fmla="*/ 11 w 19"/>
                <a:gd name="T45" fmla="*/ 7 h 15"/>
                <a:gd name="T46" fmla="*/ 7 w 19"/>
                <a:gd name="T47" fmla="*/ 11 h 15"/>
                <a:gd name="T48" fmla="*/ 7 w 19"/>
                <a:gd name="T49" fmla="*/ 11 h 15"/>
                <a:gd name="T50" fmla="*/ 7 w 19"/>
                <a:gd name="T51" fmla="*/ 11 h 15"/>
                <a:gd name="T52" fmla="*/ 7 w 19"/>
                <a:gd name="T53" fmla="*/ 11 h 15"/>
                <a:gd name="T54" fmla="*/ 4 w 19"/>
                <a:gd name="T55" fmla="*/ 11 h 15"/>
                <a:gd name="T56" fmla="*/ 0 w 19"/>
                <a:gd name="T57" fmla="*/ 11 h 15"/>
                <a:gd name="T58" fmla="*/ 4 w 19"/>
                <a:gd name="T59" fmla="*/ 11 h 15"/>
                <a:gd name="T60" fmla="*/ 4 w 19"/>
                <a:gd name="T61" fmla="*/ 7 h 15"/>
                <a:gd name="T62" fmla="*/ 4 w 19"/>
                <a:gd name="T63" fmla="*/ 7 h 15"/>
                <a:gd name="T64" fmla="*/ 4 w 19"/>
                <a:gd name="T65" fmla="*/ 7 h 15"/>
                <a:gd name="T66" fmla="*/ 7 w 19"/>
                <a:gd name="T67" fmla="*/ 0 h 15"/>
                <a:gd name="T68" fmla="*/ 7 w 19"/>
                <a:gd name="T69" fmla="*/ 0 h 15"/>
                <a:gd name="T70" fmla="*/ 7 w 19"/>
                <a:gd name="T71" fmla="*/ 0 h 15"/>
                <a:gd name="T72" fmla="*/ 7 w 19"/>
                <a:gd name="T73" fmla="*/ 0 h 15"/>
                <a:gd name="T74" fmla="*/ 7 w 19"/>
                <a:gd name="T75" fmla="*/ 0 h 15"/>
                <a:gd name="T76" fmla="*/ 11 w 19"/>
                <a:gd name="T77" fmla="*/ 0 h 15"/>
                <a:gd name="T78" fmla="*/ 11 w 19"/>
                <a:gd name="T79" fmla="*/ 0 h 15"/>
                <a:gd name="T80" fmla="*/ 15 w 19"/>
                <a:gd name="T81" fmla="*/ 0 h 15"/>
                <a:gd name="T82" fmla="*/ 15 w 19"/>
                <a:gd name="T83" fmla="*/ 0 h 15"/>
                <a:gd name="T84" fmla="*/ 11 w 19"/>
                <a:gd name="T85" fmla="*/ 4 h 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9"/>
                <a:gd name="T130" fmla="*/ 0 h 15"/>
                <a:gd name="T131" fmla="*/ 19 w 19"/>
                <a:gd name="T132" fmla="*/ 15 h 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9" h="15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1" y="7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11" y="7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6" name="Freeform 624"/>
            <p:cNvSpPr>
              <a:spLocks/>
            </p:cNvSpPr>
            <p:nvPr/>
          </p:nvSpPr>
          <p:spPr bwMode="auto">
            <a:xfrm>
              <a:off x="4330" y="2631"/>
              <a:ext cx="16" cy="15"/>
            </a:xfrm>
            <a:custGeom>
              <a:avLst/>
              <a:gdLst>
                <a:gd name="T0" fmla="*/ 8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2 w 16"/>
                <a:gd name="T11" fmla="*/ 3 h 15"/>
                <a:gd name="T12" fmla="*/ 12 w 16"/>
                <a:gd name="T13" fmla="*/ 3 h 15"/>
                <a:gd name="T14" fmla="*/ 12 w 16"/>
                <a:gd name="T15" fmla="*/ 0 h 15"/>
                <a:gd name="T16" fmla="*/ 12 w 16"/>
                <a:gd name="T17" fmla="*/ 0 h 15"/>
                <a:gd name="T18" fmla="*/ 16 w 16"/>
                <a:gd name="T19" fmla="*/ 3 h 15"/>
                <a:gd name="T20" fmla="*/ 16 w 16"/>
                <a:gd name="T21" fmla="*/ 3 h 15"/>
                <a:gd name="T22" fmla="*/ 16 w 16"/>
                <a:gd name="T23" fmla="*/ 3 h 15"/>
                <a:gd name="T24" fmla="*/ 16 w 16"/>
                <a:gd name="T25" fmla="*/ 3 h 15"/>
                <a:gd name="T26" fmla="*/ 16 w 16"/>
                <a:gd name="T27" fmla="*/ 3 h 15"/>
                <a:gd name="T28" fmla="*/ 16 w 16"/>
                <a:gd name="T29" fmla="*/ 3 h 15"/>
                <a:gd name="T30" fmla="*/ 16 w 16"/>
                <a:gd name="T31" fmla="*/ 3 h 15"/>
                <a:gd name="T32" fmla="*/ 16 w 16"/>
                <a:gd name="T33" fmla="*/ 3 h 15"/>
                <a:gd name="T34" fmla="*/ 8 w 16"/>
                <a:gd name="T35" fmla="*/ 7 h 15"/>
                <a:gd name="T36" fmla="*/ 8 w 16"/>
                <a:gd name="T37" fmla="*/ 11 h 15"/>
                <a:gd name="T38" fmla="*/ 8 w 16"/>
                <a:gd name="T39" fmla="*/ 11 h 15"/>
                <a:gd name="T40" fmla="*/ 8 w 16"/>
                <a:gd name="T41" fmla="*/ 11 h 15"/>
                <a:gd name="T42" fmla="*/ 12 w 16"/>
                <a:gd name="T43" fmla="*/ 11 h 15"/>
                <a:gd name="T44" fmla="*/ 12 w 16"/>
                <a:gd name="T45" fmla="*/ 11 h 15"/>
                <a:gd name="T46" fmla="*/ 12 w 16"/>
                <a:gd name="T47" fmla="*/ 11 h 15"/>
                <a:gd name="T48" fmla="*/ 8 w 16"/>
                <a:gd name="T49" fmla="*/ 15 h 15"/>
                <a:gd name="T50" fmla="*/ 8 w 16"/>
                <a:gd name="T51" fmla="*/ 15 h 15"/>
                <a:gd name="T52" fmla="*/ 0 w 16"/>
                <a:gd name="T53" fmla="*/ 11 h 15"/>
                <a:gd name="T54" fmla="*/ 0 w 16"/>
                <a:gd name="T55" fmla="*/ 11 h 15"/>
                <a:gd name="T56" fmla="*/ 0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4 w 16"/>
                <a:gd name="T65" fmla="*/ 11 h 15"/>
                <a:gd name="T66" fmla="*/ 4 w 16"/>
                <a:gd name="T67" fmla="*/ 11 h 15"/>
                <a:gd name="T68" fmla="*/ 4 w 16"/>
                <a:gd name="T69" fmla="*/ 7 h 15"/>
                <a:gd name="T70" fmla="*/ 4 w 16"/>
                <a:gd name="T71" fmla="*/ 0 h 15"/>
                <a:gd name="T72" fmla="*/ 4 w 16"/>
                <a:gd name="T73" fmla="*/ 0 h 15"/>
                <a:gd name="T74" fmla="*/ 4 w 16"/>
                <a:gd name="T75" fmla="*/ 0 h 15"/>
                <a:gd name="T76" fmla="*/ 4 w 16"/>
                <a:gd name="T77" fmla="*/ 0 h 15"/>
                <a:gd name="T78" fmla="*/ 4 w 16"/>
                <a:gd name="T79" fmla="*/ 0 h 15"/>
                <a:gd name="T80" fmla="*/ 4 w 16"/>
                <a:gd name="T81" fmla="*/ 0 h 15"/>
                <a:gd name="T82" fmla="*/ 4 w 16"/>
                <a:gd name="T83" fmla="*/ 0 h 15"/>
                <a:gd name="T84" fmla="*/ 8 w 16"/>
                <a:gd name="T85" fmla="*/ 0 h 15"/>
                <a:gd name="T86" fmla="*/ 8 w 16"/>
                <a:gd name="T87" fmla="*/ 0 h 15"/>
                <a:gd name="T88" fmla="*/ 8 w 16"/>
                <a:gd name="T89" fmla="*/ 0 h 15"/>
                <a:gd name="T90" fmla="*/ 12 w 16"/>
                <a:gd name="T91" fmla="*/ 0 h 15"/>
                <a:gd name="T92" fmla="*/ 12 w 16"/>
                <a:gd name="T93" fmla="*/ 0 h 15"/>
                <a:gd name="T94" fmla="*/ 12 w 16"/>
                <a:gd name="T95" fmla="*/ 0 h 15"/>
                <a:gd name="T96" fmla="*/ 8 w 16"/>
                <a:gd name="T97" fmla="*/ 3 h 15"/>
                <a:gd name="T98" fmla="*/ 8 w 16"/>
                <a:gd name="T99" fmla="*/ 3 h 15"/>
                <a:gd name="T100" fmla="*/ 8 w 16"/>
                <a:gd name="T101" fmla="*/ 3 h 1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5"/>
                <a:gd name="T155" fmla="*/ 16 w 16"/>
                <a:gd name="T156" fmla="*/ 15 h 1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5">
                  <a:moveTo>
                    <a:pt x="8" y="3"/>
                  </a:moveTo>
                  <a:lnTo>
                    <a:pt x="8" y="7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1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7" name="Freeform 625"/>
            <p:cNvSpPr>
              <a:spLocks/>
            </p:cNvSpPr>
            <p:nvPr/>
          </p:nvSpPr>
          <p:spPr bwMode="auto">
            <a:xfrm>
              <a:off x="4346" y="2634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8 w 16"/>
                <a:gd name="T3" fmla="*/ 12 h 16"/>
                <a:gd name="T4" fmla="*/ 8 w 16"/>
                <a:gd name="T5" fmla="*/ 12 h 16"/>
                <a:gd name="T6" fmla="*/ 12 w 16"/>
                <a:gd name="T7" fmla="*/ 8 h 16"/>
                <a:gd name="T8" fmla="*/ 12 w 16"/>
                <a:gd name="T9" fmla="*/ 8 h 16"/>
                <a:gd name="T10" fmla="*/ 12 w 16"/>
                <a:gd name="T11" fmla="*/ 8 h 16"/>
                <a:gd name="T12" fmla="*/ 12 w 16"/>
                <a:gd name="T13" fmla="*/ 12 h 16"/>
                <a:gd name="T14" fmla="*/ 12 w 16"/>
                <a:gd name="T15" fmla="*/ 12 h 16"/>
                <a:gd name="T16" fmla="*/ 12 w 16"/>
                <a:gd name="T17" fmla="*/ 12 h 16"/>
                <a:gd name="T18" fmla="*/ 12 w 16"/>
                <a:gd name="T19" fmla="*/ 16 h 16"/>
                <a:gd name="T20" fmla="*/ 12 w 16"/>
                <a:gd name="T21" fmla="*/ 16 h 16"/>
                <a:gd name="T22" fmla="*/ 8 w 16"/>
                <a:gd name="T23" fmla="*/ 16 h 16"/>
                <a:gd name="T24" fmla="*/ 8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0 w 16"/>
                <a:gd name="T39" fmla="*/ 12 h 16"/>
                <a:gd name="T40" fmla="*/ 12 w 16"/>
                <a:gd name="T41" fmla="*/ 4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4 w 16"/>
                <a:gd name="T49" fmla="*/ 4 h 16"/>
                <a:gd name="T50" fmla="*/ 4 w 16"/>
                <a:gd name="T51" fmla="*/ 4 h 16"/>
                <a:gd name="T52" fmla="*/ 4 w 16"/>
                <a:gd name="T53" fmla="*/ 4 h 16"/>
                <a:gd name="T54" fmla="*/ 4 w 16"/>
                <a:gd name="T55" fmla="*/ 4 h 16"/>
                <a:gd name="T56" fmla="*/ 4 w 16"/>
                <a:gd name="T57" fmla="*/ 4 h 16"/>
                <a:gd name="T58" fmla="*/ 4 w 16"/>
                <a:gd name="T59" fmla="*/ 4 h 16"/>
                <a:gd name="T60" fmla="*/ 4 w 16"/>
                <a:gd name="T61" fmla="*/ 0 h 16"/>
                <a:gd name="T62" fmla="*/ 4 w 16"/>
                <a:gd name="T63" fmla="*/ 0 h 16"/>
                <a:gd name="T64" fmla="*/ 8 w 16"/>
                <a:gd name="T65" fmla="*/ 0 h 16"/>
                <a:gd name="T66" fmla="*/ 8 w 16"/>
                <a:gd name="T67" fmla="*/ 0 h 16"/>
                <a:gd name="T68" fmla="*/ 16 w 16"/>
                <a:gd name="T69" fmla="*/ 4 h 16"/>
                <a:gd name="T70" fmla="*/ 16 w 16"/>
                <a:gd name="T71" fmla="*/ 4 h 16"/>
                <a:gd name="T72" fmla="*/ 16 w 16"/>
                <a:gd name="T73" fmla="*/ 4 h 16"/>
                <a:gd name="T74" fmla="*/ 16 w 16"/>
                <a:gd name="T75" fmla="*/ 4 h 16"/>
                <a:gd name="T76" fmla="*/ 16 w 16"/>
                <a:gd name="T77" fmla="*/ 4 h 16"/>
                <a:gd name="T78" fmla="*/ 16 w 16"/>
                <a:gd name="T79" fmla="*/ 4 h 16"/>
                <a:gd name="T80" fmla="*/ 16 w 16"/>
                <a:gd name="T81" fmla="*/ 4 h 16"/>
                <a:gd name="T82" fmla="*/ 4 w 16"/>
                <a:gd name="T83" fmla="*/ 12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6"/>
                <a:gd name="T128" fmla="*/ 16 w 16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6">
                  <a:moveTo>
                    <a:pt x="4" y="12"/>
                  </a:moveTo>
                  <a:lnTo>
                    <a:pt x="8" y="12"/>
                  </a:lnTo>
                  <a:lnTo>
                    <a:pt x="12" y="8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6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8" name="Freeform 626"/>
            <p:cNvSpPr>
              <a:spLocks noEditPoints="1"/>
            </p:cNvSpPr>
            <p:nvPr/>
          </p:nvSpPr>
          <p:spPr bwMode="auto">
            <a:xfrm>
              <a:off x="4153" y="2686"/>
              <a:ext cx="20" cy="19"/>
            </a:xfrm>
            <a:custGeom>
              <a:avLst/>
              <a:gdLst>
                <a:gd name="T0" fmla="*/ 16 w 20"/>
                <a:gd name="T1" fmla="*/ 0 h 19"/>
                <a:gd name="T2" fmla="*/ 16 w 20"/>
                <a:gd name="T3" fmla="*/ 0 h 19"/>
                <a:gd name="T4" fmla="*/ 20 w 20"/>
                <a:gd name="T5" fmla="*/ 4 h 19"/>
                <a:gd name="T6" fmla="*/ 20 w 20"/>
                <a:gd name="T7" fmla="*/ 4 h 19"/>
                <a:gd name="T8" fmla="*/ 20 w 20"/>
                <a:gd name="T9" fmla="*/ 4 h 19"/>
                <a:gd name="T10" fmla="*/ 20 w 20"/>
                <a:gd name="T11" fmla="*/ 11 h 19"/>
                <a:gd name="T12" fmla="*/ 20 w 20"/>
                <a:gd name="T13" fmla="*/ 11 h 19"/>
                <a:gd name="T14" fmla="*/ 20 w 20"/>
                <a:gd name="T15" fmla="*/ 11 h 19"/>
                <a:gd name="T16" fmla="*/ 12 w 20"/>
                <a:gd name="T17" fmla="*/ 15 h 19"/>
                <a:gd name="T18" fmla="*/ 12 w 20"/>
                <a:gd name="T19" fmla="*/ 15 h 19"/>
                <a:gd name="T20" fmla="*/ 12 w 20"/>
                <a:gd name="T21" fmla="*/ 15 h 19"/>
                <a:gd name="T22" fmla="*/ 4 w 20"/>
                <a:gd name="T23" fmla="*/ 19 h 19"/>
                <a:gd name="T24" fmla="*/ 4 w 20"/>
                <a:gd name="T25" fmla="*/ 19 h 19"/>
                <a:gd name="T26" fmla="*/ 4 w 20"/>
                <a:gd name="T27" fmla="*/ 19 h 19"/>
                <a:gd name="T28" fmla="*/ 0 w 20"/>
                <a:gd name="T29" fmla="*/ 11 h 19"/>
                <a:gd name="T30" fmla="*/ 0 w 20"/>
                <a:gd name="T31" fmla="*/ 11 h 19"/>
                <a:gd name="T32" fmla="*/ 0 w 20"/>
                <a:gd name="T33" fmla="*/ 11 h 19"/>
                <a:gd name="T34" fmla="*/ 4 w 20"/>
                <a:gd name="T35" fmla="*/ 4 h 19"/>
                <a:gd name="T36" fmla="*/ 4 w 20"/>
                <a:gd name="T37" fmla="*/ 4 h 19"/>
                <a:gd name="T38" fmla="*/ 4 w 20"/>
                <a:gd name="T39" fmla="*/ 4 h 19"/>
                <a:gd name="T40" fmla="*/ 8 w 20"/>
                <a:gd name="T41" fmla="*/ 0 h 19"/>
                <a:gd name="T42" fmla="*/ 8 w 20"/>
                <a:gd name="T43" fmla="*/ 0 h 19"/>
                <a:gd name="T44" fmla="*/ 8 w 20"/>
                <a:gd name="T45" fmla="*/ 0 h 19"/>
                <a:gd name="T46" fmla="*/ 16 w 20"/>
                <a:gd name="T47" fmla="*/ 0 h 19"/>
                <a:gd name="T48" fmla="*/ 16 w 20"/>
                <a:gd name="T49" fmla="*/ 0 h 19"/>
                <a:gd name="T50" fmla="*/ 16 w 20"/>
                <a:gd name="T51" fmla="*/ 0 h 19"/>
                <a:gd name="T52" fmla="*/ 16 w 20"/>
                <a:gd name="T53" fmla="*/ 0 h 19"/>
                <a:gd name="T54" fmla="*/ 12 w 20"/>
                <a:gd name="T55" fmla="*/ 4 h 19"/>
                <a:gd name="T56" fmla="*/ 12 w 20"/>
                <a:gd name="T57" fmla="*/ 4 h 19"/>
                <a:gd name="T58" fmla="*/ 12 w 20"/>
                <a:gd name="T59" fmla="*/ 4 h 19"/>
                <a:gd name="T60" fmla="*/ 8 w 20"/>
                <a:gd name="T61" fmla="*/ 8 h 19"/>
                <a:gd name="T62" fmla="*/ 8 w 20"/>
                <a:gd name="T63" fmla="*/ 8 h 19"/>
                <a:gd name="T64" fmla="*/ 8 w 20"/>
                <a:gd name="T65" fmla="*/ 8 h 19"/>
                <a:gd name="T66" fmla="*/ 4 w 20"/>
                <a:gd name="T67" fmla="*/ 11 h 19"/>
                <a:gd name="T68" fmla="*/ 4 w 20"/>
                <a:gd name="T69" fmla="*/ 11 h 19"/>
                <a:gd name="T70" fmla="*/ 4 w 20"/>
                <a:gd name="T71" fmla="*/ 11 h 19"/>
                <a:gd name="T72" fmla="*/ 8 w 20"/>
                <a:gd name="T73" fmla="*/ 15 h 19"/>
                <a:gd name="T74" fmla="*/ 8 w 20"/>
                <a:gd name="T75" fmla="*/ 15 h 19"/>
                <a:gd name="T76" fmla="*/ 8 w 20"/>
                <a:gd name="T77" fmla="*/ 15 h 19"/>
                <a:gd name="T78" fmla="*/ 12 w 20"/>
                <a:gd name="T79" fmla="*/ 11 h 19"/>
                <a:gd name="T80" fmla="*/ 12 w 20"/>
                <a:gd name="T81" fmla="*/ 11 h 19"/>
                <a:gd name="T82" fmla="*/ 12 w 20"/>
                <a:gd name="T83" fmla="*/ 11 h 19"/>
                <a:gd name="T84" fmla="*/ 16 w 20"/>
                <a:gd name="T85" fmla="*/ 8 h 19"/>
                <a:gd name="T86" fmla="*/ 16 w 20"/>
                <a:gd name="T87" fmla="*/ 8 h 19"/>
                <a:gd name="T88" fmla="*/ 16 w 20"/>
                <a:gd name="T89" fmla="*/ 8 h 19"/>
                <a:gd name="T90" fmla="*/ 16 w 20"/>
                <a:gd name="T91" fmla="*/ 4 h 19"/>
                <a:gd name="T92" fmla="*/ 16 w 20"/>
                <a:gd name="T93" fmla="*/ 4 h 19"/>
                <a:gd name="T94" fmla="*/ 16 w 20"/>
                <a:gd name="T95" fmla="*/ 4 h 19"/>
                <a:gd name="T96" fmla="*/ 16 w 20"/>
                <a:gd name="T97" fmla="*/ 0 h 19"/>
                <a:gd name="T98" fmla="*/ 16 w 20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0"/>
                <a:gd name="T151" fmla="*/ 0 h 19"/>
                <a:gd name="T152" fmla="*/ 20 w 20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0" h="19">
                  <a:moveTo>
                    <a:pt x="16" y="0"/>
                  </a:moveTo>
                  <a:lnTo>
                    <a:pt x="16" y="0"/>
                  </a:lnTo>
                  <a:lnTo>
                    <a:pt x="20" y="4"/>
                  </a:lnTo>
                  <a:lnTo>
                    <a:pt x="20" y="11"/>
                  </a:lnTo>
                  <a:lnTo>
                    <a:pt x="12" y="15"/>
                  </a:lnTo>
                  <a:lnTo>
                    <a:pt x="4" y="19"/>
                  </a:lnTo>
                  <a:lnTo>
                    <a:pt x="0" y="11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close/>
                  <a:moveTo>
                    <a:pt x="16" y="0"/>
                  </a:moveTo>
                  <a:lnTo>
                    <a:pt x="16" y="0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1"/>
                  </a:lnTo>
                  <a:lnTo>
                    <a:pt x="8" y="15"/>
                  </a:lnTo>
                  <a:lnTo>
                    <a:pt x="12" y="11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09" name="Freeform 627"/>
            <p:cNvSpPr>
              <a:spLocks/>
            </p:cNvSpPr>
            <p:nvPr/>
          </p:nvSpPr>
          <p:spPr bwMode="auto">
            <a:xfrm>
              <a:off x="4177" y="2690"/>
              <a:ext cx="15" cy="19"/>
            </a:xfrm>
            <a:custGeom>
              <a:avLst/>
              <a:gdLst>
                <a:gd name="T0" fmla="*/ 11 w 15"/>
                <a:gd name="T1" fmla="*/ 7 h 19"/>
                <a:gd name="T2" fmla="*/ 15 w 15"/>
                <a:gd name="T3" fmla="*/ 11 h 19"/>
                <a:gd name="T4" fmla="*/ 15 w 15"/>
                <a:gd name="T5" fmla="*/ 11 h 19"/>
                <a:gd name="T6" fmla="*/ 15 w 15"/>
                <a:gd name="T7" fmla="*/ 11 h 19"/>
                <a:gd name="T8" fmla="*/ 15 w 15"/>
                <a:gd name="T9" fmla="*/ 11 h 19"/>
                <a:gd name="T10" fmla="*/ 15 w 15"/>
                <a:gd name="T11" fmla="*/ 11 h 19"/>
                <a:gd name="T12" fmla="*/ 15 w 15"/>
                <a:gd name="T13" fmla="*/ 11 h 19"/>
                <a:gd name="T14" fmla="*/ 15 w 15"/>
                <a:gd name="T15" fmla="*/ 11 h 19"/>
                <a:gd name="T16" fmla="*/ 15 w 15"/>
                <a:gd name="T17" fmla="*/ 11 h 19"/>
                <a:gd name="T18" fmla="*/ 15 w 15"/>
                <a:gd name="T19" fmla="*/ 11 h 19"/>
                <a:gd name="T20" fmla="*/ 15 w 15"/>
                <a:gd name="T21" fmla="*/ 11 h 19"/>
                <a:gd name="T22" fmla="*/ 15 w 15"/>
                <a:gd name="T23" fmla="*/ 11 h 19"/>
                <a:gd name="T24" fmla="*/ 15 w 15"/>
                <a:gd name="T25" fmla="*/ 11 h 19"/>
                <a:gd name="T26" fmla="*/ 15 w 15"/>
                <a:gd name="T27" fmla="*/ 11 h 19"/>
                <a:gd name="T28" fmla="*/ 15 w 15"/>
                <a:gd name="T29" fmla="*/ 11 h 19"/>
                <a:gd name="T30" fmla="*/ 8 w 15"/>
                <a:gd name="T31" fmla="*/ 11 h 19"/>
                <a:gd name="T32" fmla="*/ 8 w 15"/>
                <a:gd name="T33" fmla="*/ 11 h 19"/>
                <a:gd name="T34" fmla="*/ 4 w 15"/>
                <a:gd name="T35" fmla="*/ 15 h 19"/>
                <a:gd name="T36" fmla="*/ 4 w 15"/>
                <a:gd name="T37" fmla="*/ 15 h 19"/>
                <a:gd name="T38" fmla="*/ 4 w 15"/>
                <a:gd name="T39" fmla="*/ 15 h 19"/>
                <a:gd name="T40" fmla="*/ 4 w 15"/>
                <a:gd name="T41" fmla="*/ 19 h 19"/>
                <a:gd name="T42" fmla="*/ 4 w 15"/>
                <a:gd name="T43" fmla="*/ 19 h 19"/>
                <a:gd name="T44" fmla="*/ 4 w 15"/>
                <a:gd name="T45" fmla="*/ 19 h 19"/>
                <a:gd name="T46" fmla="*/ 4 w 15"/>
                <a:gd name="T47" fmla="*/ 19 h 19"/>
                <a:gd name="T48" fmla="*/ 4 w 15"/>
                <a:gd name="T49" fmla="*/ 19 h 19"/>
                <a:gd name="T50" fmla="*/ 4 w 15"/>
                <a:gd name="T51" fmla="*/ 19 h 19"/>
                <a:gd name="T52" fmla="*/ 0 w 15"/>
                <a:gd name="T53" fmla="*/ 15 h 19"/>
                <a:gd name="T54" fmla="*/ 0 w 15"/>
                <a:gd name="T55" fmla="*/ 15 h 19"/>
                <a:gd name="T56" fmla="*/ 0 w 15"/>
                <a:gd name="T57" fmla="*/ 15 h 19"/>
                <a:gd name="T58" fmla="*/ 0 w 15"/>
                <a:gd name="T59" fmla="*/ 15 h 19"/>
                <a:gd name="T60" fmla="*/ 0 w 15"/>
                <a:gd name="T61" fmla="*/ 15 h 19"/>
                <a:gd name="T62" fmla="*/ 4 w 15"/>
                <a:gd name="T63" fmla="*/ 11 h 19"/>
                <a:gd name="T64" fmla="*/ 4 w 15"/>
                <a:gd name="T65" fmla="*/ 11 h 19"/>
                <a:gd name="T66" fmla="*/ 0 w 15"/>
                <a:gd name="T67" fmla="*/ 7 h 19"/>
                <a:gd name="T68" fmla="*/ 0 w 15"/>
                <a:gd name="T69" fmla="*/ 7 h 19"/>
                <a:gd name="T70" fmla="*/ 0 w 15"/>
                <a:gd name="T71" fmla="*/ 7 h 19"/>
                <a:gd name="T72" fmla="*/ 0 w 15"/>
                <a:gd name="T73" fmla="*/ 7 h 19"/>
                <a:gd name="T74" fmla="*/ 0 w 15"/>
                <a:gd name="T75" fmla="*/ 7 h 19"/>
                <a:gd name="T76" fmla="*/ 0 w 15"/>
                <a:gd name="T77" fmla="*/ 7 h 19"/>
                <a:gd name="T78" fmla="*/ 0 w 15"/>
                <a:gd name="T79" fmla="*/ 7 h 19"/>
                <a:gd name="T80" fmla="*/ 0 w 15"/>
                <a:gd name="T81" fmla="*/ 7 h 19"/>
                <a:gd name="T82" fmla="*/ 0 w 15"/>
                <a:gd name="T83" fmla="*/ 7 h 19"/>
                <a:gd name="T84" fmla="*/ 0 w 15"/>
                <a:gd name="T85" fmla="*/ 7 h 19"/>
                <a:gd name="T86" fmla="*/ 0 w 15"/>
                <a:gd name="T87" fmla="*/ 7 h 19"/>
                <a:gd name="T88" fmla="*/ 0 w 15"/>
                <a:gd name="T89" fmla="*/ 7 h 19"/>
                <a:gd name="T90" fmla="*/ 0 w 15"/>
                <a:gd name="T91" fmla="*/ 7 h 19"/>
                <a:gd name="T92" fmla="*/ 8 w 15"/>
                <a:gd name="T93" fmla="*/ 7 h 19"/>
                <a:gd name="T94" fmla="*/ 8 w 15"/>
                <a:gd name="T95" fmla="*/ 7 h 19"/>
                <a:gd name="T96" fmla="*/ 8 w 15"/>
                <a:gd name="T97" fmla="*/ 4 h 19"/>
                <a:gd name="T98" fmla="*/ 8 w 15"/>
                <a:gd name="T99" fmla="*/ 4 h 19"/>
                <a:gd name="T100" fmla="*/ 8 w 15"/>
                <a:gd name="T101" fmla="*/ 4 h 19"/>
                <a:gd name="T102" fmla="*/ 11 w 15"/>
                <a:gd name="T103" fmla="*/ 0 h 19"/>
                <a:gd name="T104" fmla="*/ 11 w 15"/>
                <a:gd name="T105" fmla="*/ 0 h 19"/>
                <a:gd name="T106" fmla="*/ 11 w 15"/>
                <a:gd name="T107" fmla="*/ 0 h 19"/>
                <a:gd name="T108" fmla="*/ 11 w 15"/>
                <a:gd name="T109" fmla="*/ 0 h 19"/>
                <a:gd name="T110" fmla="*/ 11 w 15"/>
                <a:gd name="T111" fmla="*/ 0 h 19"/>
                <a:gd name="T112" fmla="*/ 11 w 15"/>
                <a:gd name="T113" fmla="*/ 0 h 19"/>
                <a:gd name="T114" fmla="*/ 11 w 15"/>
                <a:gd name="T115" fmla="*/ 4 h 19"/>
                <a:gd name="T116" fmla="*/ 11 w 15"/>
                <a:gd name="T117" fmla="*/ 4 h 19"/>
                <a:gd name="T118" fmla="*/ 11 w 15"/>
                <a:gd name="T119" fmla="*/ 4 h 19"/>
                <a:gd name="T120" fmla="*/ 11 w 15"/>
                <a:gd name="T121" fmla="*/ 4 h 19"/>
                <a:gd name="T122" fmla="*/ 11 w 15"/>
                <a:gd name="T123" fmla="*/ 4 h 19"/>
                <a:gd name="T124" fmla="*/ 11 w 15"/>
                <a:gd name="T125" fmla="*/ 7 h 1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9"/>
                <a:gd name="T191" fmla="*/ 15 w 15"/>
                <a:gd name="T192" fmla="*/ 19 h 1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9">
                  <a:moveTo>
                    <a:pt x="11" y="7"/>
                  </a:moveTo>
                  <a:lnTo>
                    <a:pt x="15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0" y="7"/>
                  </a:lnTo>
                  <a:lnTo>
                    <a:pt x="8" y="7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10" name="Freeform 628"/>
            <p:cNvSpPr>
              <a:spLocks/>
            </p:cNvSpPr>
            <p:nvPr/>
          </p:nvSpPr>
          <p:spPr bwMode="auto">
            <a:xfrm>
              <a:off x="4043" y="2658"/>
              <a:ext cx="27" cy="24"/>
            </a:xfrm>
            <a:custGeom>
              <a:avLst/>
              <a:gdLst>
                <a:gd name="T0" fmla="*/ 27 w 27"/>
                <a:gd name="T1" fmla="*/ 8 h 24"/>
                <a:gd name="T2" fmla="*/ 27 w 27"/>
                <a:gd name="T3" fmla="*/ 8 h 24"/>
                <a:gd name="T4" fmla="*/ 27 w 27"/>
                <a:gd name="T5" fmla="*/ 8 h 24"/>
                <a:gd name="T6" fmla="*/ 27 w 27"/>
                <a:gd name="T7" fmla="*/ 8 h 24"/>
                <a:gd name="T8" fmla="*/ 27 w 27"/>
                <a:gd name="T9" fmla="*/ 12 h 24"/>
                <a:gd name="T10" fmla="*/ 27 w 27"/>
                <a:gd name="T11" fmla="*/ 12 h 24"/>
                <a:gd name="T12" fmla="*/ 27 w 27"/>
                <a:gd name="T13" fmla="*/ 12 h 24"/>
                <a:gd name="T14" fmla="*/ 27 w 27"/>
                <a:gd name="T15" fmla="*/ 16 h 24"/>
                <a:gd name="T16" fmla="*/ 27 w 27"/>
                <a:gd name="T17" fmla="*/ 16 h 24"/>
                <a:gd name="T18" fmla="*/ 15 w 27"/>
                <a:gd name="T19" fmla="*/ 12 h 24"/>
                <a:gd name="T20" fmla="*/ 19 w 27"/>
                <a:gd name="T21" fmla="*/ 20 h 24"/>
                <a:gd name="T22" fmla="*/ 19 w 27"/>
                <a:gd name="T23" fmla="*/ 20 h 24"/>
                <a:gd name="T24" fmla="*/ 19 w 27"/>
                <a:gd name="T25" fmla="*/ 20 h 24"/>
                <a:gd name="T26" fmla="*/ 19 w 27"/>
                <a:gd name="T27" fmla="*/ 20 h 24"/>
                <a:gd name="T28" fmla="*/ 15 w 27"/>
                <a:gd name="T29" fmla="*/ 20 h 24"/>
                <a:gd name="T30" fmla="*/ 15 w 27"/>
                <a:gd name="T31" fmla="*/ 24 h 24"/>
                <a:gd name="T32" fmla="*/ 12 w 27"/>
                <a:gd name="T33" fmla="*/ 24 h 24"/>
                <a:gd name="T34" fmla="*/ 12 w 27"/>
                <a:gd name="T35" fmla="*/ 24 h 24"/>
                <a:gd name="T36" fmla="*/ 12 w 27"/>
                <a:gd name="T37" fmla="*/ 24 h 24"/>
                <a:gd name="T38" fmla="*/ 12 w 27"/>
                <a:gd name="T39" fmla="*/ 16 h 24"/>
                <a:gd name="T40" fmla="*/ 4 w 27"/>
                <a:gd name="T41" fmla="*/ 20 h 24"/>
                <a:gd name="T42" fmla="*/ 4 w 27"/>
                <a:gd name="T43" fmla="*/ 20 h 24"/>
                <a:gd name="T44" fmla="*/ 4 w 27"/>
                <a:gd name="T45" fmla="*/ 20 h 24"/>
                <a:gd name="T46" fmla="*/ 4 w 27"/>
                <a:gd name="T47" fmla="*/ 20 h 24"/>
                <a:gd name="T48" fmla="*/ 4 w 27"/>
                <a:gd name="T49" fmla="*/ 20 h 24"/>
                <a:gd name="T50" fmla="*/ 4 w 27"/>
                <a:gd name="T51" fmla="*/ 16 h 24"/>
                <a:gd name="T52" fmla="*/ 0 w 27"/>
                <a:gd name="T53" fmla="*/ 16 h 24"/>
                <a:gd name="T54" fmla="*/ 0 w 27"/>
                <a:gd name="T55" fmla="*/ 16 h 24"/>
                <a:gd name="T56" fmla="*/ 4 w 27"/>
                <a:gd name="T57" fmla="*/ 16 h 24"/>
                <a:gd name="T58" fmla="*/ 12 w 27"/>
                <a:gd name="T59" fmla="*/ 12 h 24"/>
                <a:gd name="T60" fmla="*/ 4 w 27"/>
                <a:gd name="T61" fmla="*/ 8 h 24"/>
                <a:gd name="T62" fmla="*/ 4 w 27"/>
                <a:gd name="T63" fmla="*/ 8 h 24"/>
                <a:gd name="T64" fmla="*/ 4 w 27"/>
                <a:gd name="T65" fmla="*/ 8 h 24"/>
                <a:gd name="T66" fmla="*/ 4 w 27"/>
                <a:gd name="T67" fmla="*/ 8 h 24"/>
                <a:gd name="T68" fmla="*/ 4 w 27"/>
                <a:gd name="T69" fmla="*/ 8 h 24"/>
                <a:gd name="T70" fmla="*/ 8 w 27"/>
                <a:gd name="T71" fmla="*/ 4 h 24"/>
                <a:gd name="T72" fmla="*/ 8 w 27"/>
                <a:gd name="T73" fmla="*/ 4 h 24"/>
                <a:gd name="T74" fmla="*/ 8 w 27"/>
                <a:gd name="T75" fmla="*/ 4 h 24"/>
                <a:gd name="T76" fmla="*/ 8 w 27"/>
                <a:gd name="T77" fmla="*/ 4 h 24"/>
                <a:gd name="T78" fmla="*/ 15 w 27"/>
                <a:gd name="T79" fmla="*/ 8 h 24"/>
                <a:gd name="T80" fmla="*/ 19 w 27"/>
                <a:gd name="T81" fmla="*/ 0 h 24"/>
                <a:gd name="T82" fmla="*/ 19 w 27"/>
                <a:gd name="T83" fmla="*/ 0 h 24"/>
                <a:gd name="T84" fmla="*/ 19 w 27"/>
                <a:gd name="T85" fmla="*/ 0 h 24"/>
                <a:gd name="T86" fmla="*/ 23 w 27"/>
                <a:gd name="T87" fmla="*/ 4 h 24"/>
                <a:gd name="T88" fmla="*/ 23 w 27"/>
                <a:gd name="T89" fmla="*/ 4 h 24"/>
                <a:gd name="T90" fmla="*/ 23 w 27"/>
                <a:gd name="T91" fmla="*/ 4 h 24"/>
                <a:gd name="T92" fmla="*/ 19 w 27"/>
                <a:gd name="T93" fmla="*/ 12 h 2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7"/>
                <a:gd name="T142" fmla="*/ 0 h 24"/>
                <a:gd name="T143" fmla="*/ 27 w 27"/>
                <a:gd name="T144" fmla="*/ 24 h 24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7" h="24">
                  <a:moveTo>
                    <a:pt x="19" y="12"/>
                  </a:moveTo>
                  <a:lnTo>
                    <a:pt x="27" y="8"/>
                  </a:lnTo>
                  <a:lnTo>
                    <a:pt x="27" y="12"/>
                  </a:lnTo>
                  <a:lnTo>
                    <a:pt x="27" y="16"/>
                  </a:lnTo>
                  <a:lnTo>
                    <a:pt x="23" y="16"/>
                  </a:lnTo>
                  <a:lnTo>
                    <a:pt x="15" y="12"/>
                  </a:lnTo>
                  <a:lnTo>
                    <a:pt x="19" y="20"/>
                  </a:lnTo>
                  <a:lnTo>
                    <a:pt x="15" y="20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4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2" y="12"/>
                  </a:lnTo>
                  <a:lnTo>
                    <a:pt x="4" y="8"/>
                  </a:lnTo>
                  <a:lnTo>
                    <a:pt x="8" y="4"/>
                  </a:lnTo>
                  <a:lnTo>
                    <a:pt x="15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23" y="4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11" name="Freeform 629"/>
            <p:cNvSpPr>
              <a:spLocks noEditPoints="1"/>
            </p:cNvSpPr>
            <p:nvPr/>
          </p:nvSpPr>
          <p:spPr bwMode="auto">
            <a:xfrm>
              <a:off x="4263" y="2705"/>
              <a:ext cx="36" cy="32"/>
            </a:xfrm>
            <a:custGeom>
              <a:avLst/>
              <a:gdLst>
                <a:gd name="T0" fmla="*/ 20 w 36"/>
                <a:gd name="T1" fmla="*/ 0 h 32"/>
                <a:gd name="T2" fmla="*/ 24 w 36"/>
                <a:gd name="T3" fmla="*/ 0 h 32"/>
                <a:gd name="T4" fmla="*/ 24 w 36"/>
                <a:gd name="T5" fmla="*/ 4 h 32"/>
                <a:gd name="T6" fmla="*/ 24 w 36"/>
                <a:gd name="T7" fmla="*/ 4 h 32"/>
                <a:gd name="T8" fmla="*/ 24 w 36"/>
                <a:gd name="T9" fmla="*/ 4 h 32"/>
                <a:gd name="T10" fmla="*/ 24 w 36"/>
                <a:gd name="T11" fmla="*/ 12 h 32"/>
                <a:gd name="T12" fmla="*/ 28 w 36"/>
                <a:gd name="T13" fmla="*/ 4 h 32"/>
                <a:gd name="T14" fmla="*/ 32 w 36"/>
                <a:gd name="T15" fmla="*/ 4 h 32"/>
                <a:gd name="T16" fmla="*/ 32 w 36"/>
                <a:gd name="T17" fmla="*/ 4 h 32"/>
                <a:gd name="T18" fmla="*/ 36 w 36"/>
                <a:gd name="T19" fmla="*/ 4 h 32"/>
                <a:gd name="T20" fmla="*/ 36 w 36"/>
                <a:gd name="T21" fmla="*/ 8 h 32"/>
                <a:gd name="T22" fmla="*/ 32 w 36"/>
                <a:gd name="T23" fmla="*/ 16 h 32"/>
                <a:gd name="T24" fmla="*/ 32 w 36"/>
                <a:gd name="T25" fmla="*/ 16 h 32"/>
                <a:gd name="T26" fmla="*/ 36 w 36"/>
                <a:gd name="T27" fmla="*/ 16 h 32"/>
                <a:gd name="T28" fmla="*/ 36 w 36"/>
                <a:gd name="T29" fmla="*/ 16 h 32"/>
                <a:gd name="T30" fmla="*/ 36 w 36"/>
                <a:gd name="T31" fmla="*/ 20 h 32"/>
                <a:gd name="T32" fmla="*/ 32 w 36"/>
                <a:gd name="T33" fmla="*/ 20 h 32"/>
                <a:gd name="T34" fmla="*/ 24 w 36"/>
                <a:gd name="T35" fmla="*/ 20 h 32"/>
                <a:gd name="T36" fmla="*/ 32 w 36"/>
                <a:gd name="T37" fmla="*/ 24 h 32"/>
                <a:gd name="T38" fmla="*/ 32 w 36"/>
                <a:gd name="T39" fmla="*/ 24 h 32"/>
                <a:gd name="T40" fmla="*/ 32 w 36"/>
                <a:gd name="T41" fmla="*/ 24 h 32"/>
                <a:gd name="T42" fmla="*/ 32 w 36"/>
                <a:gd name="T43" fmla="*/ 24 h 32"/>
                <a:gd name="T44" fmla="*/ 28 w 36"/>
                <a:gd name="T45" fmla="*/ 24 h 32"/>
                <a:gd name="T46" fmla="*/ 20 w 36"/>
                <a:gd name="T47" fmla="*/ 32 h 32"/>
                <a:gd name="T48" fmla="*/ 16 w 36"/>
                <a:gd name="T49" fmla="*/ 32 h 32"/>
                <a:gd name="T50" fmla="*/ 16 w 36"/>
                <a:gd name="T51" fmla="*/ 32 h 32"/>
                <a:gd name="T52" fmla="*/ 12 w 36"/>
                <a:gd name="T53" fmla="*/ 32 h 32"/>
                <a:gd name="T54" fmla="*/ 12 w 36"/>
                <a:gd name="T55" fmla="*/ 28 h 32"/>
                <a:gd name="T56" fmla="*/ 12 w 36"/>
                <a:gd name="T57" fmla="*/ 28 h 32"/>
                <a:gd name="T58" fmla="*/ 12 w 36"/>
                <a:gd name="T59" fmla="*/ 20 h 32"/>
                <a:gd name="T60" fmla="*/ 8 w 36"/>
                <a:gd name="T61" fmla="*/ 28 h 32"/>
                <a:gd name="T62" fmla="*/ 8 w 36"/>
                <a:gd name="T63" fmla="*/ 28 h 32"/>
                <a:gd name="T64" fmla="*/ 4 w 36"/>
                <a:gd name="T65" fmla="*/ 28 h 32"/>
                <a:gd name="T66" fmla="*/ 0 w 36"/>
                <a:gd name="T67" fmla="*/ 28 h 32"/>
                <a:gd name="T68" fmla="*/ 0 w 36"/>
                <a:gd name="T69" fmla="*/ 24 h 32"/>
                <a:gd name="T70" fmla="*/ 8 w 36"/>
                <a:gd name="T71" fmla="*/ 20 h 32"/>
                <a:gd name="T72" fmla="*/ 4 w 36"/>
                <a:gd name="T73" fmla="*/ 16 h 32"/>
                <a:gd name="T74" fmla="*/ 0 w 36"/>
                <a:gd name="T75" fmla="*/ 16 h 32"/>
                <a:gd name="T76" fmla="*/ 0 w 36"/>
                <a:gd name="T77" fmla="*/ 16 h 32"/>
                <a:gd name="T78" fmla="*/ 4 w 36"/>
                <a:gd name="T79" fmla="*/ 16 h 32"/>
                <a:gd name="T80" fmla="*/ 4 w 36"/>
                <a:gd name="T81" fmla="*/ 16 h 32"/>
                <a:gd name="T82" fmla="*/ 12 w 36"/>
                <a:gd name="T83" fmla="*/ 12 h 32"/>
                <a:gd name="T84" fmla="*/ 8 w 36"/>
                <a:gd name="T85" fmla="*/ 12 h 32"/>
                <a:gd name="T86" fmla="*/ 4 w 36"/>
                <a:gd name="T87" fmla="*/ 8 h 32"/>
                <a:gd name="T88" fmla="*/ 4 w 36"/>
                <a:gd name="T89" fmla="*/ 8 h 32"/>
                <a:gd name="T90" fmla="*/ 4 w 36"/>
                <a:gd name="T91" fmla="*/ 8 h 32"/>
                <a:gd name="T92" fmla="*/ 8 w 36"/>
                <a:gd name="T93" fmla="*/ 8 h 32"/>
                <a:gd name="T94" fmla="*/ 20 w 36"/>
                <a:gd name="T95" fmla="*/ 0 h 32"/>
                <a:gd name="T96" fmla="*/ 20 w 36"/>
                <a:gd name="T97" fmla="*/ 20 h 32"/>
                <a:gd name="T98" fmla="*/ 16 w 36"/>
                <a:gd name="T99" fmla="*/ 12 h 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"/>
                <a:gd name="T151" fmla="*/ 0 h 32"/>
                <a:gd name="T152" fmla="*/ 36 w 36"/>
                <a:gd name="T153" fmla="*/ 32 h 3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" h="32">
                  <a:moveTo>
                    <a:pt x="20" y="0"/>
                  </a:move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12"/>
                  </a:lnTo>
                  <a:lnTo>
                    <a:pt x="24" y="12"/>
                  </a:lnTo>
                  <a:lnTo>
                    <a:pt x="28" y="4"/>
                  </a:lnTo>
                  <a:lnTo>
                    <a:pt x="32" y="4"/>
                  </a:lnTo>
                  <a:lnTo>
                    <a:pt x="36" y="4"/>
                  </a:lnTo>
                  <a:lnTo>
                    <a:pt x="36" y="8"/>
                  </a:lnTo>
                  <a:lnTo>
                    <a:pt x="32" y="16"/>
                  </a:lnTo>
                  <a:lnTo>
                    <a:pt x="36" y="16"/>
                  </a:lnTo>
                  <a:lnTo>
                    <a:pt x="36" y="20"/>
                  </a:lnTo>
                  <a:lnTo>
                    <a:pt x="32" y="20"/>
                  </a:lnTo>
                  <a:lnTo>
                    <a:pt x="28" y="16"/>
                  </a:lnTo>
                  <a:lnTo>
                    <a:pt x="24" y="20"/>
                  </a:lnTo>
                  <a:lnTo>
                    <a:pt x="32" y="24"/>
                  </a:lnTo>
                  <a:lnTo>
                    <a:pt x="28" y="24"/>
                  </a:lnTo>
                  <a:lnTo>
                    <a:pt x="24" y="24"/>
                  </a:lnTo>
                  <a:lnTo>
                    <a:pt x="20" y="32"/>
                  </a:lnTo>
                  <a:lnTo>
                    <a:pt x="16" y="32"/>
                  </a:lnTo>
                  <a:lnTo>
                    <a:pt x="12" y="32"/>
                  </a:lnTo>
                  <a:lnTo>
                    <a:pt x="12" y="2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28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8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20" y="0"/>
                  </a:lnTo>
                  <a:close/>
                  <a:moveTo>
                    <a:pt x="16" y="16"/>
                  </a:moveTo>
                  <a:lnTo>
                    <a:pt x="20" y="20"/>
                  </a:lnTo>
                  <a:lnTo>
                    <a:pt x="24" y="16"/>
                  </a:lnTo>
                  <a:lnTo>
                    <a:pt x="16" y="12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12" name="Freeform 630"/>
            <p:cNvSpPr>
              <a:spLocks/>
            </p:cNvSpPr>
            <p:nvPr/>
          </p:nvSpPr>
          <p:spPr bwMode="auto">
            <a:xfrm>
              <a:off x="3365" y="2760"/>
              <a:ext cx="1111" cy="323"/>
            </a:xfrm>
            <a:custGeom>
              <a:avLst/>
              <a:gdLst>
                <a:gd name="T0" fmla="*/ 0 w 1111"/>
                <a:gd name="T1" fmla="*/ 32 h 323"/>
                <a:gd name="T2" fmla="*/ 12 w 1111"/>
                <a:gd name="T3" fmla="*/ 0 h 323"/>
                <a:gd name="T4" fmla="*/ 12 w 1111"/>
                <a:gd name="T5" fmla="*/ 0 h 323"/>
                <a:gd name="T6" fmla="*/ 16 w 1111"/>
                <a:gd name="T7" fmla="*/ 8 h 323"/>
                <a:gd name="T8" fmla="*/ 36 w 1111"/>
                <a:gd name="T9" fmla="*/ 24 h 323"/>
                <a:gd name="T10" fmla="*/ 51 w 1111"/>
                <a:gd name="T11" fmla="*/ 32 h 323"/>
                <a:gd name="T12" fmla="*/ 67 w 1111"/>
                <a:gd name="T13" fmla="*/ 40 h 323"/>
                <a:gd name="T14" fmla="*/ 91 w 1111"/>
                <a:gd name="T15" fmla="*/ 48 h 323"/>
                <a:gd name="T16" fmla="*/ 118 w 1111"/>
                <a:gd name="T17" fmla="*/ 48 h 323"/>
                <a:gd name="T18" fmla="*/ 118 w 1111"/>
                <a:gd name="T19" fmla="*/ 48 h 323"/>
                <a:gd name="T20" fmla="*/ 174 w 1111"/>
                <a:gd name="T21" fmla="*/ 48 h 323"/>
                <a:gd name="T22" fmla="*/ 225 w 1111"/>
                <a:gd name="T23" fmla="*/ 40 h 323"/>
                <a:gd name="T24" fmla="*/ 272 w 1111"/>
                <a:gd name="T25" fmla="*/ 32 h 323"/>
                <a:gd name="T26" fmla="*/ 1111 w 1111"/>
                <a:gd name="T27" fmla="*/ 276 h 323"/>
                <a:gd name="T28" fmla="*/ 1111 w 1111"/>
                <a:gd name="T29" fmla="*/ 323 h 323"/>
                <a:gd name="T30" fmla="*/ 0 w 1111"/>
                <a:gd name="T31" fmla="*/ 32 h 32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11"/>
                <a:gd name="T49" fmla="*/ 0 h 323"/>
                <a:gd name="T50" fmla="*/ 1111 w 1111"/>
                <a:gd name="T51" fmla="*/ 323 h 32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11" h="323">
                  <a:moveTo>
                    <a:pt x="0" y="32"/>
                  </a:moveTo>
                  <a:lnTo>
                    <a:pt x="12" y="0"/>
                  </a:lnTo>
                  <a:lnTo>
                    <a:pt x="16" y="8"/>
                  </a:lnTo>
                  <a:lnTo>
                    <a:pt x="36" y="24"/>
                  </a:lnTo>
                  <a:lnTo>
                    <a:pt x="51" y="32"/>
                  </a:lnTo>
                  <a:lnTo>
                    <a:pt x="67" y="40"/>
                  </a:lnTo>
                  <a:lnTo>
                    <a:pt x="91" y="48"/>
                  </a:lnTo>
                  <a:lnTo>
                    <a:pt x="118" y="48"/>
                  </a:lnTo>
                  <a:lnTo>
                    <a:pt x="174" y="48"/>
                  </a:lnTo>
                  <a:lnTo>
                    <a:pt x="225" y="40"/>
                  </a:lnTo>
                  <a:lnTo>
                    <a:pt x="272" y="32"/>
                  </a:lnTo>
                  <a:lnTo>
                    <a:pt x="1111" y="276"/>
                  </a:lnTo>
                  <a:lnTo>
                    <a:pt x="1111" y="323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013" name="Freeform 631"/>
            <p:cNvSpPr>
              <a:spLocks/>
            </p:cNvSpPr>
            <p:nvPr/>
          </p:nvSpPr>
          <p:spPr bwMode="auto">
            <a:xfrm>
              <a:off x="2936" y="2611"/>
              <a:ext cx="524" cy="401"/>
            </a:xfrm>
            <a:custGeom>
              <a:avLst/>
              <a:gdLst>
                <a:gd name="T0" fmla="*/ 476 w 524"/>
                <a:gd name="T1" fmla="*/ 157 h 401"/>
                <a:gd name="T2" fmla="*/ 433 w 524"/>
                <a:gd name="T3" fmla="*/ 216 h 401"/>
                <a:gd name="T4" fmla="*/ 386 w 524"/>
                <a:gd name="T5" fmla="*/ 268 h 401"/>
                <a:gd name="T6" fmla="*/ 319 w 524"/>
                <a:gd name="T7" fmla="*/ 315 h 401"/>
                <a:gd name="T8" fmla="*/ 248 w 524"/>
                <a:gd name="T9" fmla="*/ 335 h 401"/>
                <a:gd name="T10" fmla="*/ 177 w 524"/>
                <a:gd name="T11" fmla="*/ 331 h 401"/>
                <a:gd name="T12" fmla="*/ 98 w 524"/>
                <a:gd name="T13" fmla="*/ 311 h 401"/>
                <a:gd name="T14" fmla="*/ 79 w 524"/>
                <a:gd name="T15" fmla="*/ 299 h 401"/>
                <a:gd name="T16" fmla="*/ 59 w 524"/>
                <a:gd name="T17" fmla="*/ 279 h 401"/>
                <a:gd name="T18" fmla="*/ 63 w 524"/>
                <a:gd name="T19" fmla="*/ 252 h 401"/>
                <a:gd name="T20" fmla="*/ 94 w 524"/>
                <a:gd name="T21" fmla="*/ 216 h 401"/>
                <a:gd name="T22" fmla="*/ 165 w 524"/>
                <a:gd name="T23" fmla="*/ 169 h 401"/>
                <a:gd name="T24" fmla="*/ 224 w 524"/>
                <a:gd name="T25" fmla="*/ 142 h 401"/>
                <a:gd name="T26" fmla="*/ 323 w 524"/>
                <a:gd name="T27" fmla="*/ 90 h 401"/>
                <a:gd name="T28" fmla="*/ 382 w 524"/>
                <a:gd name="T29" fmla="*/ 71 h 401"/>
                <a:gd name="T30" fmla="*/ 433 w 524"/>
                <a:gd name="T31" fmla="*/ 67 h 401"/>
                <a:gd name="T32" fmla="*/ 441 w 524"/>
                <a:gd name="T33" fmla="*/ 67 h 401"/>
                <a:gd name="T34" fmla="*/ 449 w 524"/>
                <a:gd name="T35" fmla="*/ 51 h 401"/>
                <a:gd name="T36" fmla="*/ 445 w 524"/>
                <a:gd name="T37" fmla="*/ 27 h 401"/>
                <a:gd name="T38" fmla="*/ 429 w 524"/>
                <a:gd name="T39" fmla="*/ 8 h 401"/>
                <a:gd name="T40" fmla="*/ 417 w 524"/>
                <a:gd name="T41" fmla="*/ 4 h 401"/>
                <a:gd name="T42" fmla="*/ 347 w 524"/>
                <a:gd name="T43" fmla="*/ 8 h 401"/>
                <a:gd name="T44" fmla="*/ 268 w 524"/>
                <a:gd name="T45" fmla="*/ 35 h 401"/>
                <a:gd name="T46" fmla="*/ 130 w 524"/>
                <a:gd name="T47" fmla="*/ 106 h 401"/>
                <a:gd name="T48" fmla="*/ 102 w 524"/>
                <a:gd name="T49" fmla="*/ 126 h 401"/>
                <a:gd name="T50" fmla="*/ 47 w 524"/>
                <a:gd name="T51" fmla="*/ 165 h 401"/>
                <a:gd name="T52" fmla="*/ 8 w 524"/>
                <a:gd name="T53" fmla="*/ 220 h 401"/>
                <a:gd name="T54" fmla="*/ 0 w 524"/>
                <a:gd name="T55" fmla="*/ 248 h 401"/>
                <a:gd name="T56" fmla="*/ 4 w 524"/>
                <a:gd name="T57" fmla="*/ 279 h 401"/>
                <a:gd name="T58" fmla="*/ 20 w 524"/>
                <a:gd name="T59" fmla="*/ 311 h 401"/>
                <a:gd name="T60" fmla="*/ 51 w 524"/>
                <a:gd name="T61" fmla="*/ 342 h 401"/>
                <a:gd name="T62" fmla="*/ 126 w 524"/>
                <a:gd name="T63" fmla="*/ 382 h 401"/>
                <a:gd name="T64" fmla="*/ 213 w 524"/>
                <a:gd name="T65" fmla="*/ 401 h 401"/>
                <a:gd name="T66" fmla="*/ 295 w 524"/>
                <a:gd name="T67" fmla="*/ 398 h 401"/>
                <a:gd name="T68" fmla="*/ 335 w 524"/>
                <a:gd name="T69" fmla="*/ 386 h 401"/>
                <a:gd name="T70" fmla="*/ 390 w 524"/>
                <a:gd name="T71" fmla="*/ 358 h 401"/>
                <a:gd name="T72" fmla="*/ 441 w 524"/>
                <a:gd name="T73" fmla="*/ 315 h 401"/>
                <a:gd name="T74" fmla="*/ 520 w 524"/>
                <a:gd name="T75" fmla="*/ 209 h 401"/>
                <a:gd name="T76" fmla="*/ 524 w 524"/>
                <a:gd name="T77" fmla="*/ 201 h 401"/>
                <a:gd name="T78" fmla="*/ 516 w 524"/>
                <a:gd name="T79" fmla="*/ 177 h 401"/>
                <a:gd name="T80" fmla="*/ 500 w 524"/>
                <a:gd name="T81" fmla="*/ 157 h 401"/>
                <a:gd name="T82" fmla="*/ 484 w 524"/>
                <a:gd name="T83" fmla="*/ 149 h 401"/>
                <a:gd name="T84" fmla="*/ 476 w 524"/>
                <a:gd name="T85" fmla="*/ 157 h 40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24"/>
                <a:gd name="T130" fmla="*/ 0 h 401"/>
                <a:gd name="T131" fmla="*/ 524 w 524"/>
                <a:gd name="T132" fmla="*/ 401 h 40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24" h="401">
                  <a:moveTo>
                    <a:pt x="476" y="157"/>
                  </a:moveTo>
                  <a:lnTo>
                    <a:pt x="476" y="157"/>
                  </a:lnTo>
                  <a:lnTo>
                    <a:pt x="457" y="189"/>
                  </a:lnTo>
                  <a:lnTo>
                    <a:pt x="433" y="216"/>
                  </a:lnTo>
                  <a:lnTo>
                    <a:pt x="386" y="268"/>
                  </a:lnTo>
                  <a:lnTo>
                    <a:pt x="354" y="295"/>
                  </a:lnTo>
                  <a:lnTo>
                    <a:pt x="319" y="315"/>
                  </a:lnTo>
                  <a:lnTo>
                    <a:pt x="283" y="327"/>
                  </a:lnTo>
                  <a:lnTo>
                    <a:pt x="248" y="335"/>
                  </a:lnTo>
                  <a:lnTo>
                    <a:pt x="213" y="335"/>
                  </a:lnTo>
                  <a:lnTo>
                    <a:pt x="177" y="331"/>
                  </a:lnTo>
                  <a:lnTo>
                    <a:pt x="138" y="323"/>
                  </a:lnTo>
                  <a:lnTo>
                    <a:pt x="98" y="311"/>
                  </a:lnTo>
                  <a:lnTo>
                    <a:pt x="79" y="299"/>
                  </a:lnTo>
                  <a:lnTo>
                    <a:pt x="67" y="287"/>
                  </a:lnTo>
                  <a:lnTo>
                    <a:pt x="59" y="279"/>
                  </a:lnTo>
                  <a:lnTo>
                    <a:pt x="59" y="268"/>
                  </a:lnTo>
                  <a:lnTo>
                    <a:pt x="63" y="252"/>
                  </a:lnTo>
                  <a:lnTo>
                    <a:pt x="71" y="240"/>
                  </a:lnTo>
                  <a:lnTo>
                    <a:pt x="94" y="216"/>
                  </a:lnTo>
                  <a:lnTo>
                    <a:pt x="130" y="193"/>
                  </a:lnTo>
                  <a:lnTo>
                    <a:pt x="165" y="169"/>
                  </a:lnTo>
                  <a:lnTo>
                    <a:pt x="224" y="142"/>
                  </a:lnTo>
                  <a:lnTo>
                    <a:pt x="268" y="114"/>
                  </a:lnTo>
                  <a:lnTo>
                    <a:pt x="323" y="90"/>
                  </a:lnTo>
                  <a:lnTo>
                    <a:pt x="350" y="79"/>
                  </a:lnTo>
                  <a:lnTo>
                    <a:pt x="382" y="71"/>
                  </a:lnTo>
                  <a:lnTo>
                    <a:pt x="406" y="67"/>
                  </a:lnTo>
                  <a:lnTo>
                    <a:pt x="433" y="67"/>
                  </a:lnTo>
                  <a:lnTo>
                    <a:pt x="441" y="67"/>
                  </a:lnTo>
                  <a:lnTo>
                    <a:pt x="449" y="59"/>
                  </a:lnTo>
                  <a:lnTo>
                    <a:pt x="449" y="51"/>
                  </a:lnTo>
                  <a:lnTo>
                    <a:pt x="449" y="39"/>
                  </a:lnTo>
                  <a:lnTo>
                    <a:pt x="445" y="27"/>
                  </a:lnTo>
                  <a:lnTo>
                    <a:pt x="437" y="16"/>
                  </a:lnTo>
                  <a:lnTo>
                    <a:pt x="429" y="8"/>
                  </a:lnTo>
                  <a:lnTo>
                    <a:pt x="417" y="4"/>
                  </a:lnTo>
                  <a:lnTo>
                    <a:pt x="382" y="0"/>
                  </a:lnTo>
                  <a:lnTo>
                    <a:pt x="347" y="8"/>
                  </a:lnTo>
                  <a:lnTo>
                    <a:pt x="307" y="20"/>
                  </a:lnTo>
                  <a:lnTo>
                    <a:pt x="268" y="35"/>
                  </a:lnTo>
                  <a:lnTo>
                    <a:pt x="193" y="71"/>
                  </a:lnTo>
                  <a:lnTo>
                    <a:pt x="130" y="106"/>
                  </a:lnTo>
                  <a:lnTo>
                    <a:pt x="102" y="126"/>
                  </a:lnTo>
                  <a:lnTo>
                    <a:pt x="75" y="142"/>
                  </a:lnTo>
                  <a:lnTo>
                    <a:pt x="47" y="165"/>
                  </a:lnTo>
                  <a:lnTo>
                    <a:pt x="24" y="193"/>
                  </a:lnTo>
                  <a:lnTo>
                    <a:pt x="8" y="220"/>
                  </a:lnTo>
                  <a:lnTo>
                    <a:pt x="0" y="232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4" y="279"/>
                  </a:lnTo>
                  <a:lnTo>
                    <a:pt x="8" y="295"/>
                  </a:lnTo>
                  <a:lnTo>
                    <a:pt x="20" y="311"/>
                  </a:lnTo>
                  <a:lnTo>
                    <a:pt x="51" y="342"/>
                  </a:lnTo>
                  <a:lnTo>
                    <a:pt x="87" y="366"/>
                  </a:lnTo>
                  <a:lnTo>
                    <a:pt x="126" y="382"/>
                  </a:lnTo>
                  <a:lnTo>
                    <a:pt x="169" y="394"/>
                  </a:lnTo>
                  <a:lnTo>
                    <a:pt x="213" y="401"/>
                  </a:lnTo>
                  <a:lnTo>
                    <a:pt x="256" y="401"/>
                  </a:lnTo>
                  <a:lnTo>
                    <a:pt x="295" y="398"/>
                  </a:lnTo>
                  <a:lnTo>
                    <a:pt x="335" y="386"/>
                  </a:lnTo>
                  <a:lnTo>
                    <a:pt x="366" y="374"/>
                  </a:lnTo>
                  <a:lnTo>
                    <a:pt x="390" y="358"/>
                  </a:lnTo>
                  <a:lnTo>
                    <a:pt x="417" y="338"/>
                  </a:lnTo>
                  <a:lnTo>
                    <a:pt x="441" y="315"/>
                  </a:lnTo>
                  <a:lnTo>
                    <a:pt x="484" y="264"/>
                  </a:lnTo>
                  <a:lnTo>
                    <a:pt x="520" y="209"/>
                  </a:lnTo>
                  <a:lnTo>
                    <a:pt x="524" y="201"/>
                  </a:lnTo>
                  <a:lnTo>
                    <a:pt x="524" y="189"/>
                  </a:lnTo>
                  <a:lnTo>
                    <a:pt x="516" y="177"/>
                  </a:lnTo>
                  <a:lnTo>
                    <a:pt x="508" y="165"/>
                  </a:lnTo>
                  <a:lnTo>
                    <a:pt x="500" y="157"/>
                  </a:lnTo>
                  <a:lnTo>
                    <a:pt x="492" y="149"/>
                  </a:lnTo>
                  <a:lnTo>
                    <a:pt x="484" y="149"/>
                  </a:lnTo>
                  <a:lnTo>
                    <a:pt x="476" y="1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749" name="Text Box 632"/>
          <p:cNvSpPr txBox="1">
            <a:spLocks noChangeArrowheads="1"/>
          </p:cNvSpPr>
          <p:nvPr/>
        </p:nvSpPr>
        <p:spPr bwMode="auto">
          <a:xfrm flipH="1">
            <a:off x="2378075" y="5372100"/>
            <a:ext cx="430213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POTS</a:t>
            </a:r>
          </a:p>
          <a:p>
            <a:r>
              <a:rPr lang="en-US" altLang="ru-RU" sz="1000">
                <a:latin typeface="Times New Roman" pitchFamily="18" charset="0"/>
              </a:rPr>
              <a:t>ISDN</a:t>
            </a:r>
            <a:endParaRPr lang="ru-RU" altLang="ru-RU" sz="1000">
              <a:latin typeface="Times New Roman" pitchFamily="18" charset="0"/>
            </a:endParaRPr>
          </a:p>
        </p:txBody>
      </p:sp>
      <p:grpSp>
        <p:nvGrpSpPr>
          <p:cNvPr id="12" name="Group 633"/>
          <p:cNvGrpSpPr>
            <a:grpSpLocks/>
          </p:cNvGrpSpPr>
          <p:nvPr/>
        </p:nvGrpSpPr>
        <p:grpSpPr bwMode="auto">
          <a:xfrm>
            <a:off x="1585913" y="5084763"/>
            <a:ext cx="431800" cy="273050"/>
            <a:chOff x="2936" y="1784"/>
            <a:chExt cx="2040" cy="1370"/>
          </a:xfrm>
        </p:grpSpPr>
        <p:sp>
          <p:nvSpPr>
            <p:cNvPr id="27848" name="Freeform 634"/>
            <p:cNvSpPr>
              <a:spLocks/>
            </p:cNvSpPr>
            <p:nvPr/>
          </p:nvSpPr>
          <p:spPr bwMode="auto">
            <a:xfrm>
              <a:off x="3314" y="1784"/>
              <a:ext cx="1662" cy="1370"/>
            </a:xfrm>
            <a:custGeom>
              <a:avLst/>
              <a:gdLst>
                <a:gd name="T0" fmla="*/ 1650 w 1662"/>
                <a:gd name="T1" fmla="*/ 319 h 1370"/>
                <a:gd name="T2" fmla="*/ 1631 w 1662"/>
                <a:gd name="T3" fmla="*/ 315 h 1370"/>
                <a:gd name="T4" fmla="*/ 1627 w 1662"/>
                <a:gd name="T5" fmla="*/ 299 h 1370"/>
                <a:gd name="T6" fmla="*/ 1615 w 1662"/>
                <a:gd name="T7" fmla="*/ 279 h 1370"/>
                <a:gd name="T8" fmla="*/ 1599 w 1662"/>
                <a:gd name="T9" fmla="*/ 272 h 1370"/>
                <a:gd name="T10" fmla="*/ 1595 w 1662"/>
                <a:gd name="T11" fmla="*/ 272 h 1370"/>
                <a:gd name="T12" fmla="*/ 1583 w 1662"/>
                <a:gd name="T13" fmla="*/ 248 h 1370"/>
                <a:gd name="T14" fmla="*/ 1576 w 1662"/>
                <a:gd name="T15" fmla="*/ 248 h 1370"/>
                <a:gd name="T16" fmla="*/ 1320 w 1662"/>
                <a:gd name="T17" fmla="*/ 209 h 1370"/>
                <a:gd name="T18" fmla="*/ 1150 w 1662"/>
                <a:gd name="T19" fmla="*/ 173 h 1370"/>
                <a:gd name="T20" fmla="*/ 1028 w 1662"/>
                <a:gd name="T21" fmla="*/ 157 h 1370"/>
                <a:gd name="T22" fmla="*/ 985 w 1662"/>
                <a:gd name="T23" fmla="*/ 157 h 1370"/>
                <a:gd name="T24" fmla="*/ 957 w 1662"/>
                <a:gd name="T25" fmla="*/ 165 h 1370"/>
                <a:gd name="T26" fmla="*/ 898 w 1662"/>
                <a:gd name="T27" fmla="*/ 197 h 1370"/>
                <a:gd name="T28" fmla="*/ 874 w 1662"/>
                <a:gd name="T29" fmla="*/ 216 h 1370"/>
                <a:gd name="T30" fmla="*/ 874 w 1662"/>
                <a:gd name="T31" fmla="*/ 216 h 1370"/>
                <a:gd name="T32" fmla="*/ 882 w 1662"/>
                <a:gd name="T33" fmla="*/ 201 h 1370"/>
                <a:gd name="T34" fmla="*/ 890 w 1662"/>
                <a:gd name="T35" fmla="*/ 102 h 1370"/>
                <a:gd name="T36" fmla="*/ 867 w 1662"/>
                <a:gd name="T37" fmla="*/ 87 h 1370"/>
                <a:gd name="T38" fmla="*/ 855 w 1662"/>
                <a:gd name="T39" fmla="*/ 71 h 1370"/>
                <a:gd name="T40" fmla="*/ 831 w 1662"/>
                <a:gd name="T41" fmla="*/ 51 h 1370"/>
                <a:gd name="T42" fmla="*/ 741 w 1662"/>
                <a:gd name="T43" fmla="*/ 12 h 1370"/>
                <a:gd name="T44" fmla="*/ 693 w 1662"/>
                <a:gd name="T45" fmla="*/ 0 h 1370"/>
                <a:gd name="T46" fmla="*/ 642 w 1662"/>
                <a:gd name="T47" fmla="*/ 4 h 1370"/>
                <a:gd name="T48" fmla="*/ 618 w 1662"/>
                <a:gd name="T49" fmla="*/ 8 h 1370"/>
                <a:gd name="T50" fmla="*/ 567 w 1662"/>
                <a:gd name="T51" fmla="*/ 31 h 1370"/>
                <a:gd name="T52" fmla="*/ 500 w 1662"/>
                <a:gd name="T53" fmla="*/ 79 h 1370"/>
                <a:gd name="T54" fmla="*/ 461 w 1662"/>
                <a:gd name="T55" fmla="*/ 114 h 1370"/>
                <a:gd name="T56" fmla="*/ 390 w 1662"/>
                <a:gd name="T57" fmla="*/ 189 h 1370"/>
                <a:gd name="T58" fmla="*/ 327 w 1662"/>
                <a:gd name="T59" fmla="*/ 268 h 1370"/>
                <a:gd name="T60" fmla="*/ 221 w 1662"/>
                <a:gd name="T61" fmla="*/ 445 h 1370"/>
                <a:gd name="T62" fmla="*/ 130 w 1662"/>
                <a:gd name="T63" fmla="*/ 630 h 1370"/>
                <a:gd name="T64" fmla="*/ 55 w 1662"/>
                <a:gd name="T65" fmla="*/ 823 h 1370"/>
                <a:gd name="T66" fmla="*/ 39 w 1662"/>
                <a:gd name="T67" fmla="*/ 854 h 1370"/>
                <a:gd name="T68" fmla="*/ 39 w 1662"/>
                <a:gd name="T69" fmla="*/ 858 h 1370"/>
                <a:gd name="T70" fmla="*/ 39 w 1662"/>
                <a:gd name="T71" fmla="*/ 866 h 1370"/>
                <a:gd name="T72" fmla="*/ 39 w 1662"/>
                <a:gd name="T73" fmla="*/ 874 h 1370"/>
                <a:gd name="T74" fmla="*/ 20 w 1662"/>
                <a:gd name="T75" fmla="*/ 890 h 1370"/>
                <a:gd name="T76" fmla="*/ 4 w 1662"/>
                <a:gd name="T77" fmla="*/ 917 h 1370"/>
                <a:gd name="T78" fmla="*/ 0 w 1662"/>
                <a:gd name="T79" fmla="*/ 957 h 1370"/>
                <a:gd name="T80" fmla="*/ 12 w 1662"/>
                <a:gd name="T81" fmla="*/ 1028 h 1370"/>
                <a:gd name="T82" fmla="*/ 20 w 1662"/>
                <a:gd name="T83" fmla="*/ 1043 h 1370"/>
                <a:gd name="T84" fmla="*/ 32 w 1662"/>
                <a:gd name="T85" fmla="*/ 1051 h 1370"/>
                <a:gd name="T86" fmla="*/ 55 w 1662"/>
                <a:gd name="T87" fmla="*/ 1059 h 1370"/>
                <a:gd name="T88" fmla="*/ 59 w 1662"/>
                <a:gd name="T89" fmla="*/ 1067 h 1370"/>
                <a:gd name="T90" fmla="*/ 71 w 1662"/>
                <a:gd name="T91" fmla="*/ 1106 h 1370"/>
                <a:gd name="T92" fmla="*/ 95 w 1662"/>
                <a:gd name="T93" fmla="*/ 1118 h 1370"/>
                <a:gd name="T94" fmla="*/ 256 w 1662"/>
                <a:gd name="T95" fmla="*/ 1201 h 1370"/>
                <a:gd name="T96" fmla="*/ 386 w 1662"/>
                <a:gd name="T97" fmla="*/ 1252 h 1370"/>
                <a:gd name="T98" fmla="*/ 540 w 1662"/>
                <a:gd name="T99" fmla="*/ 1303 h 1370"/>
                <a:gd name="T100" fmla="*/ 717 w 1662"/>
                <a:gd name="T101" fmla="*/ 1343 h 1370"/>
                <a:gd name="T102" fmla="*/ 910 w 1662"/>
                <a:gd name="T103" fmla="*/ 1370 h 1370"/>
                <a:gd name="T104" fmla="*/ 1111 w 1662"/>
                <a:gd name="T105" fmla="*/ 1370 h 1370"/>
                <a:gd name="T106" fmla="*/ 1170 w 1662"/>
                <a:gd name="T107" fmla="*/ 1362 h 1370"/>
                <a:gd name="T108" fmla="*/ 1241 w 1662"/>
                <a:gd name="T109" fmla="*/ 1347 h 1370"/>
                <a:gd name="T110" fmla="*/ 1615 w 1662"/>
                <a:gd name="T111" fmla="*/ 693 h 1370"/>
                <a:gd name="T112" fmla="*/ 1639 w 1662"/>
                <a:gd name="T113" fmla="*/ 547 h 1370"/>
                <a:gd name="T114" fmla="*/ 1650 w 1662"/>
                <a:gd name="T115" fmla="*/ 441 h 137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62"/>
                <a:gd name="T175" fmla="*/ 0 h 1370"/>
                <a:gd name="T176" fmla="*/ 1662 w 1662"/>
                <a:gd name="T177" fmla="*/ 1370 h 137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62" h="1370">
                  <a:moveTo>
                    <a:pt x="1650" y="441"/>
                  </a:moveTo>
                  <a:lnTo>
                    <a:pt x="1650" y="319"/>
                  </a:lnTo>
                  <a:lnTo>
                    <a:pt x="1631" y="315"/>
                  </a:lnTo>
                  <a:lnTo>
                    <a:pt x="1627" y="299"/>
                  </a:lnTo>
                  <a:lnTo>
                    <a:pt x="1623" y="287"/>
                  </a:lnTo>
                  <a:lnTo>
                    <a:pt x="1615" y="279"/>
                  </a:lnTo>
                  <a:lnTo>
                    <a:pt x="1603" y="272"/>
                  </a:lnTo>
                  <a:lnTo>
                    <a:pt x="1599" y="272"/>
                  </a:lnTo>
                  <a:lnTo>
                    <a:pt x="1595" y="272"/>
                  </a:lnTo>
                  <a:lnTo>
                    <a:pt x="1587" y="256"/>
                  </a:lnTo>
                  <a:lnTo>
                    <a:pt x="1583" y="248"/>
                  </a:lnTo>
                  <a:lnTo>
                    <a:pt x="1576" y="248"/>
                  </a:lnTo>
                  <a:lnTo>
                    <a:pt x="1320" y="209"/>
                  </a:lnTo>
                  <a:lnTo>
                    <a:pt x="1237" y="193"/>
                  </a:lnTo>
                  <a:lnTo>
                    <a:pt x="1150" y="173"/>
                  </a:lnTo>
                  <a:lnTo>
                    <a:pt x="1067" y="161"/>
                  </a:lnTo>
                  <a:lnTo>
                    <a:pt x="1028" y="157"/>
                  </a:lnTo>
                  <a:lnTo>
                    <a:pt x="985" y="157"/>
                  </a:lnTo>
                  <a:lnTo>
                    <a:pt x="973" y="161"/>
                  </a:lnTo>
                  <a:lnTo>
                    <a:pt x="957" y="165"/>
                  </a:lnTo>
                  <a:lnTo>
                    <a:pt x="926" y="177"/>
                  </a:lnTo>
                  <a:lnTo>
                    <a:pt x="898" y="197"/>
                  </a:lnTo>
                  <a:lnTo>
                    <a:pt x="874" y="216"/>
                  </a:lnTo>
                  <a:lnTo>
                    <a:pt x="874" y="213"/>
                  </a:lnTo>
                  <a:lnTo>
                    <a:pt x="882" y="201"/>
                  </a:lnTo>
                  <a:lnTo>
                    <a:pt x="898" y="185"/>
                  </a:lnTo>
                  <a:lnTo>
                    <a:pt x="890" y="102"/>
                  </a:lnTo>
                  <a:lnTo>
                    <a:pt x="867" y="87"/>
                  </a:lnTo>
                  <a:lnTo>
                    <a:pt x="855" y="71"/>
                  </a:lnTo>
                  <a:lnTo>
                    <a:pt x="831" y="51"/>
                  </a:lnTo>
                  <a:lnTo>
                    <a:pt x="788" y="27"/>
                  </a:lnTo>
                  <a:lnTo>
                    <a:pt x="741" y="12"/>
                  </a:lnTo>
                  <a:lnTo>
                    <a:pt x="717" y="4"/>
                  </a:lnTo>
                  <a:lnTo>
                    <a:pt x="693" y="0"/>
                  </a:lnTo>
                  <a:lnTo>
                    <a:pt x="670" y="0"/>
                  </a:lnTo>
                  <a:lnTo>
                    <a:pt x="642" y="4"/>
                  </a:lnTo>
                  <a:lnTo>
                    <a:pt x="618" y="8"/>
                  </a:lnTo>
                  <a:lnTo>
                    <a:pt x="591" y="20"/>
                  </a:lnTo>
                  <a:lnTo>
                    <a:pt x="567" y="31"/>
                  </a:lnTo>
                  <a:lnTo>
                    <a:pt x="544" y="47"/>
                  </a:lnTo>
                  <a:lnTo>
                    <a:pt x="500" y="79"/>
                  </a:lnTo>
                  <a:lnTo>
                    <a:pt x="461" y="114"/>
                  </a:lnTo>
                  <a:lnTo>
                    <a:pt x="425" y="150"/>
                  </a:lnTo>
                  <a:lnTo>
                    <a:pt x="390" y="189"/>
                  </a:lnTo>
                  <a:lnTo>
                    <a:pt x="358" y="228"/>
                  </a:lnTo>
                  <a:lnTo>
                    <a:pt x="327" y="268"/>
                  </a:lnTo>
                  <a:lnTo>
                    <a:pt x="272" y="354"/>
                  </a:lnTo>
                  <a:lnTo>
                    <a:pt x="221" y="445"/>
                  </a:lnTo>
                  <a:lnTo>
                    <a:pt x="173" y="535"/>
                  </a:lnTo>
                  <a:lnTo>
                    <a:pt x="130" y="630"/>
                  </a:lnTo>
                  <a:lnTo>
                    <a:pt x="55" y="823"/>
                  </a:lnTo>
                  <a:lnTo>
                    <a:pt x="39" y="854"/>
                  </a:lnTo>
                  <a:lnTo>
                    <a:pt x="39" y="858"/>
                  </a:lnTo>
                  <a:lnTo>
                    <a:pt x="39" y="866"/>
                  </a:lnTo>
                  <a:lnTo>
                    <a:pt x="39" y="874"/>
                  </a:lnTo>
                  <a:lnTo>
                    <a:pt x="20" y="890"/>
                  </a:lnTo>
                  <a:lnTo>
                    <a:pt x="8" y="902"/>
                  </a:lnTo>
                  <a:lnTo>
                    <a:pt x="4" y="917"/>
                  </a:lnTo>
                  <a:lnTo>
                    <a:pt x="0" y="937"/>
                  </a:lnTo>
                  <a:lnTo>
                    <a:pt x="0" y="957"/>
                  </a:lnTo>
                  <a:lnTo>
                    <a:pt x="4" y="992"/>
                  </a:lnTo>
                  <a:lnTo>
                    <a:pt x="12" y="1028"/>
                  </a:lnTo>
                  <a:lnTo>
                    <a:pt x="20" y="1043"/>
                  </a:lnTo>
                  <a:lnTo>
                    <a:pt x="24" y="1047"/>
                  </a:lnTo>
                  <a:lnTo>
                    <a:pt x="32" y="1051"/>
                  </a:lnTo>
                  <a:lnTo>
                    <a:pt x="55" y="1059"/>
                  </a:lnTo>
                  <a:lnTo>
                    <a:pt x="59" y="1067"/>
                  </a:lnTo>
                  <a:lnTo>
                    <a:pt x="63" y="1067"/>
                  </a:lnTo>
                  <a:lnTo>
                    <a:pt x="71" y="1106"/>
                  </a:lnTo>
                  <a:lnTo>
                    <a:pt x="95" y="1118"/>
                  </a:lnTo>
                  <a:lnTo>
                    <a:pt x="158" y="1154"/>
                  </a:lnTo>
                  <a:lnTo>
                    <a:pt x="256" y="1201"/>
                  </a:lnTo>
                  <a:lnTo>
                    <a:pt x="319" y="1225"/>
                  </a:lnTo>
                  <a:lnTo>
                    <a:pt x="386" y="1252"/>
                  </a:lnTo>
                  <a:lnTo>
                    <a:pt x="461" y="1280"/>
                  </a:lnTo>
                  <a:lnTo>
                    <a:pt x="540" y="1303"/>
                  </a:lnTo>
                  <a:lnTo>
                    <a:pt x="626" y="1327"/>
                  </a:lnTo>
                  <a:lnTo>
                    <a:pt x="717" y="1343"/>
                  </a:lnTo>
                  <a:lnTo>
                    <a:pt x="811" y="1358"/>
                  </a:lnTo>
                  <a:lnTo>
                    <a:pt x="910" y="1370"/>
                  </a:lnTo>
                  <a:lnTo>
                    <a:pt x="1008" y="1370"/>
                  </a:lnTo>
                  <a:lnTo>
                    <a:pt x="1111" y="1370"/>
                  </a:lnTo>
                  <a:lnTo>
                    <a:pt x="1170" y="1362"/>
                  </a:lnTo>
                  <a:lnTo>
                    <a:pt x="1213" y="1354"/>
                  </a:lnTo>
                  <a:lnTo>
                    <a:pt x="1241" y="1347"/>
                  </a:lnTo>
                  <a:lnTo>
                    <a:pt x="1615" y="728"/>
                  </a:lnTo>
                  <a:lnTo>
                    <a:pt x="1615" y="693"/>
                  </a:lnTo>
                  <a:lnTo>
                    <a:pt x="1639" y="622"/>
                  </a:lnTo>
                  <a:lnTo>
                    <a:pt x="1639" y="547"/>
                  </a:lnTo>
                  <a:lnTo>
                    <a:pt x="1662" y="496"/>
                  </a:lnTo>
                  <a:lnTo>
                    <a:pt x="1650" y="44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49" name="Freeform 635"/>
            <p:cNvSpPr>
              <a:spLocks/>
            </p:cNvSpPr>
            <p:nvPr/>
          </p:nvSpPr>
          <p:spPr bwMode="auto">
            <a:xfrm>
              <a:off x="2983" y="2697"/>
              <a:ext cx="465" cy="339"/>
            </a:xfrm>
            <a:custGeom>
              <a:avLst/>
              <a:gdLst>
                <a:gd name="T0" fmla="*/ 465 w 465"/>
                <a:gd name="T1" fmla="*/ 197 h 339"/>
                <a:gd name="T2" fmla="*/ 465 w 465"/>
                <a:gd name="T3" fmla="*/ 197 h 339"/>
                <a:gd name="T4" fmla="*/ 445 w 465"/>
                <a:gd name="T5" fmla="*/ 225 h 339"/>
                <a:gd name="T6" fmla="*/ 422 w 465"/>
                <a:gd name="T7" fmla="*/ 249 h 339"/>
                <a:gd name="T8" fmla="*/ 386 w 465"/>
                <a:gd name="T9" fmla="*/ 276 h 339"/>
                <a:gd name="T10" fmla="*/ 347 w 465"/>
                <a:gd name="T11" fmla="*/ 304 h 339"/>
                <a:gd name="T12" fmla="*/ 323 w 465"/>
                <a:gd name="T13" fmla="*/ 315 h 339"/>
                <a:gd name="T14" fmla="*/ 300 w 465"/>
                <a:gd name="T15" fmla="*/ 327 h 339"/>
                <a:gd name="T16" fmla="*/ 276 w 465"/>
                <a:gd name="T17" fmla="*/ 335 h 339"/>
                <a:gd name="T18" fmla="*/ 248 w 465"/>
                <a:gd name="T19" fmla="*/ 339 h 339"/>
                <a:gd name="T20" fmla="*/ 221 w 465"/>
                <a:gd name="T21" fmla="*/ 339 h 339"/>
                <a:gd name="T22" fmla="*/ 189 w 465"/>
                <a:gd name="T23" fmla="*/ 335 h 339"/>
                <a:gd name="T24" fmla="*/ 189 w 465"/>
                <a:gd name="T25" fmla="*/ 335 h 339"/>
                <a:gd name="T26" fmla="*/ 134 w 465"/>
                <a:gd name="T27" fmla="*/ 323 h 339"/>
                <a:gd name="T28" fmla="*/ 87 w 465"/>
                <a:gd name="T29" fmla="*/ 312 h 339"/>
                <a:gd name="T30" fmla="*/ 51 w 465"/>
                <a:gd name="T31" fmla="*/ 292 h 339"/>
                <a:gd name="T32" fmla="*/ 24 w 465"/>
                <a:gd name="T33" fmla="*/ 276 h 339"/>
                <a:gd name="T34" fmla="*/ 12 w 465"/>
                <a:gd name="T35" fmla="*/ 264 h 339"/>
                <a:gd name="T36" fmla="*/ 8 w 465"/>
                <a:gd name="T37" fmla="*/ 252 h 339"/>
                <a:gd name="T38" fmla="*/ 4 w 465"/>
                <a:gd name="T39" fmla="*/ 241 h 339"/>
                <a:gd name="T40" fmla="*/ 0 w 465"/>
                <a:gd name="T41" fmla="*/ 229 h 339"/>
                <a:gd name="T42" fmla="*/ 4 w 465"/>
                <a:gd name="T43" fmla="*/ 217 h 339"/>
                <a:gd name="T44" fmla="*/ 8 w 465"/>
                <a:gd name="T45" fmla="*/ 205 h 339"/>
                <a:gd name="T46" fmla="*/ 16 w 465"/>
                <a:gd name="T47" fmla="*/ 193 h 339"/>
                <a:gd name="T48" fmla="*/ 24 w 465"/>
                <a:gd name="T49" fmla="*/ 178 h 339"/>
                <a:gd name="T50" fmla="*/ 24 w 465"/>
                <a:gd name="T51" fmla="*/ 178 h 339"/>
                <a:gd name="T52" fmla="*/ 55 w 465"/>
                <a:gd name="T53" fmla="*/ 150 h 339"/>
                <a:gd name="T54" fmla="*/ 95 w 465"/>
                <a:gd name="T55" fmla="*/ 123 h 339"/>
                <a:gd name="T56" fmla="*/ 142 w 465"/>
                <a:gd name="T57" fmla="*/ 95 h 339"/>
                <a:gd name="T58" fmla="*/ 189 w 465"/>
                <a:gd name="T59" fmla="*/ 71 h 339"/>
                <a:gd name="T60" fmla="*/ 280 w 465"/>
                <a:gd name="T61" fmla="*/ 32 h 339"/>
                <a:gd name="T62" fmla="*/ 339 w 465"/>
                <a:gd name="T63" fmla="*/ 8 h 339"/>
                <a:gd name="T64" fmla="*/ 339 w 465"/>
                <a:gd name="T65" fmla="*/ 8 h 339"/>
                <a:gd name="T66" fmla="*/ 374 w 465"/>
                <a:gd name="T67" fmla="*/ 4 h 339"/>
                <a:gd name="T68" fmla="*/ 398 w 465"/>
                <a:gd name="T69" fmla="*/ 0 h 339"/>
                <a:gd name="T70" fmla="*/ 422 w 465"/>
                <a:gd name="T71" fmla="*/ 4 h 33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465"/>
                <a:gd name="T109" fmla="*/ 0 h 339"/>
                <a:gd name="T110" fmla="*/ 465 w 465"/>
                <a:gd name="T111" fmla="*/ 339 h 339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465" h="339">
                  <a:moveTo>
                    <a:pt x="465" y="197"/>
                  </a:moveTo>
                  <a:lnTo>
                    <a:pt x="465" y="197"/>
                  </a:lnTo>
                  <a:lnTo>
                    <a:pt x="445" y="225"/>
                  </a:lnTo>
                  <a:lnTo>
                    <a:pt x="422" y="249"/>
                  </a:lnTo>
                  <a:lnTo>
                    <a:pt x="386" y="276"/>
                  </a:lnTo>
                  <a:lnTo>
                    <a:pt x="347" y="304"/>
                  </a:lnTo>
                  <a:lnTo>
                    <a:pt x="323" y="315"/>
                  </a:lnTo>
                  <a:lnTo>
                    <a:pt x="300" y="327"/>
                  </a:lnTo>
                  <a:lnTo>
                    <a:pt x="276" y="335"/>
                  </a:lnTo>
                  <a:lnTo>
                    <a:pt x="248" y="339"/>
                  </a:lnTo>
                  <a:lnTo>
                    <a:pt x="221" y="339"/>
                  </a:lnTo>
                  <a:lnTo>
                    <a:pt x="189" y="335"/>
                  </a:lnTo>
                  <a:lnTo>
                    <a:pt x="134" y="323"/>
                  </a:lnTo>
                  <a:lnTo>
                    <a:pt x="87" y="312"/>
                  </a:lnTo>
                  <a:lnTo>
                    <a:pt x="51" y="292"/>
                  </a:lnTo>
                  <a:lnTo>
                    <a:pt x="24" y="276"/>
                  </a:lnTo>
                  <a:lnTo>
                    <a:pt x="12" y="264"/>
                  </a:lnTo>
                  <a:lnTo>
                    <a:pt x="8" y="252"/>
                  </a:lnTo>
                  <a:lnTo>
                    <a:pt x="4" y="241"/>
                  </a:lnTo>
                  <a:lnTo>
                    <a:pt x="0" y="229"/>
                  </a:lnTo>
                  <a:lnTo>
                    <a:pt x="4" y="217"/>
                  </a:lnTo>
                  <a:lnTo>
                    <a:pt x="8" y="205"/>
                  </a:lnTo>
                  <a:lnTo>
                    <a:pt x="16" y="193"/>
                  </a:lnTo>
                  <a:lnTo>
                    <a:pt x="24" y="178"/>
                  </a:lnTo>
                  <a:lnTo>
                    <a:pt x="55" y="150"/>
                  </a:lnTo>
                  <a:lnTo>
                    <a:pt x="95" y="123"/>
                  </a:lnTo>
                  <a:lnTo>
                    <a:pt x="142" y="95"/>
                  </a:lnTo>
                  <a:lnTo>
                    <a:pt x="189" y="71"/>
                  </a:lnTo>
                  <a:lnTo>
                    <a:pt x="280" y="32"/>
                  </a:lnTo>
                  <a:lnTo>
                    <a:pt x="339" y="8"/>
                  </a:lnTo>
                  <a:lnTo>
                    <a:pt x="374" y="4"/>
                  </a:lnTo>
                  <a:lnTo>
                    <a:pt x="398" y="0"/>
                  </a:lnTo>
                  <a:lnTo>
                    <a:pt x="422" y="4"/>
                  </a:lnTo>
                </a:path>
              </a:pathLst>
            </a:custGeom>
            <a:noFill/>
            <a:ln w="68263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0" name="Freeform 636"/>
            <p:cNvSpPr>
              <a:spLocks/>
            </p:cNvSpPr>
            <p:nvPr/>
          </p:nvSpPr>
          <p:spPr bwMode="auto">
            <a:xfrm>
              <a:off x="3373" y="2071"/>
              <a:ext cx="1603" cy="1083"/>
            </a:xfrm>
            <a:custGeom>
              <a:avLst/>
              <a:gdLst>
                <a:gd name="T0" fmla="*/ 808 w 1603"/>
                <a:gd name="T1" fmla="*/ 8 h 1083"/>
                <a:gd name="T2" fmla="*/ 808 w 1603"/>
                <a:gd name="T3" fmla="*/ 8 h 1083"/>
                <a:gd name="T4" fmla="*/ 886 w 1603"/>
                <a:gd name="T5" fmla="*/ 4 h 1083"/>
                <a:gd name="T6" fmla="*/ 953 w 1603"/>
                <a:gd name="T7" fmla="*/ 0 h 1083"/>
                <a:gd name="T8" fmla="*/ 1012 w 1603"/>
                <a:gd name="T9" fmla="*/ 4 h 1083"/>
                <a:gd name="T10" fmla="*/ 1012 w 1603"/>
                <a:gd name="T11" fmla="*/ 4 h 1083"/>
                <a:gd name="T12" fmla="*/ 1103 w 1603"/>
                <a:gd name="T13" fmla="*/ 8 h 1083"/>
                <a:gd name="T14" fmla="*/ 1142 w 1603"/>
                <a:gd name="T15" fmla="*/ 12 h 1083"/>
                <a:gd name="T16" fmla="*/ 1186 w 1603"/>
                <a:gd name="T17" fmla="*/ 24 h 1083"/>
                <a:gd name="T18" fmla="*/ 1186 w 1603"/>
                <a:gd name="T19" fmla="*/ 24 h 1083"/>
                <a:gd name="T20" fmla="*/ 1276 w 1603"/>
                <a:gd name="T21" fmla="*/ 40 h 1083"/>
                <a:gd name="T22" fmla="*/ 1406 w 1603"/>
                <a:gd name="T23" fmla="*/ 63 h 1083"/>
                <a:gd name="T24" fmla="*/ 1576 w 1603"/>
                <a:gd name="T25" fmla="*/ 91 h 1083"/>
                <a:gd name="T26" fmla="*/ 1603 w 1603"/>
                <a:gd name="T27" fmla="*/ 209 h 1083"/>
                <a:gd name="T28" fmla="*/ 1580 w 1603"/>
                <a:gd name="T29" fmla="*/ 260 h 1083"/>
                <a:gd name="T30" fmla="*/ 1580 w 1603"/>
                <a:gd name="T31" fmla="*/ 335 h 1083"/>
                <a:gd name="T32" fmla="*/ 1556 w 1603"/>
                <a:gd name="T33" fmla="*/ 406 h 1083"/>
                <a:gd name="T34" fmla="*/ 1556 w 1603"/>
                <a:gd name="T35" fmla="*/ 441 h 1083"/>
                <a:gd name="T36" fmla="*/ 1182 w 1603"/>
                <a:gd name="T37" fmla="*/ 1060 h 1083"/>
                <a:gd name="T38" fmla="*/ 1182 w 1603"/>
                <a:gd name="T39" fmla="*/ 1060 h 1083"/>
                <a:gd name="T40" fmla="*/ 1154 w 1603"/>
                <a:gd name="T41" fmla="*/ 1067 h 1083"/>
                <a:gd name="T42" fmla="*/ 1111 w 1603"/>
                <a:gd name="T43" fmla="*/ 1075 h 1083"/>
                <a:gd name="T44" fmla="*/ 1052 w 1603"/>
                <a:gd name="T45" fmla="*/ 1083 h 1083"/>
                <a:gd name="T46" fmla="*/ 1052 w 1603"/>
                <a:gd name="T47" fmla="*/ 1083 h 1083"/>
                <a:gd name="T48" fmla="*/ 949 w 1603"/>
                <a:gd name="T49" fmla="*/ 1083 h 1083"/>
                <a:gd name="T50" fmla="*/ 851 w 1603"/>
                <a:gd name="T51" fmla="*/ 1083 h 1083"/>
                <a:gd name="T52" fmla="*/ 752 w 1603"/>
                <a:gd name="T53" fmla="*/ 1071 h 1083"/>
                <a:gd name="T54" fmla="*/ 658 w 1603"/>
                <a:gd name="T55" fmla="*/ 1056 h 1083"/>
                <a:gd name="T56" fmla="*/ 567 w 1603"/>
                <a:gd name="T57" fmla="*/ 1040 h 1083"/>
                <a:gd name="T58" fmla="*/ 481 w 1603"/>
                <a:gd name="T59" fmla="*/ 1016 h 1083"/>
                <a:gd name="T60" fmla="*/ 402 w 1603"/>
                <a:gd name="T61" fmla="*/ 993 h 1083"/>
                <a:gd name="T62" fmla="*/ 327 w 1603"/>
                <a:gd name="T63" fmla="*/ 965 h 1083"/>
                <a:gd name="T64" fmla="*/ 260 w 1603"/>
                <a:gd name="T65" fmla="*/ 938 h 1083"/>
                <a:gd name="T66" fmla="*/ 197 w 1603"/>
                <a:gd name="T67" fmla="*/ 914 h 1083"/>
                <a:gd name="T68" fmla="*/ 99 w 1603"/>
                <a:gd name="T69" fmla="*/ 867 h 1083"/>
                <a:gd name="T70" fmla="*/ 36 w 1603"/>
                <a:gd name="T71" fmla="*/ 831 h 1083"/>
                <a:gd name="T72" fmla="*/ 12 w 1603"/>
                <a:gd name="T73" fmla="*/ 819 h 1083"/>
                <a:gd name="T74" fmla="*/ 0 w 1603"/>
                <a:gd name="T75" fmla="*/ 768 h 1083"/>
                <a:gd name="T76" fmla="*/ 8 w 1603"/>
                <a:gd name="T77" fmla="*/ 709 h 1083"/>
                <a:gd name="T78" fmla="*/ 808 w 1603"/>
                <a:gd name="T79" fmla="*/ 8 h 108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03"/>
                <a:gd name="T121" fmla="*/ 0 h 1083"/>
                <a:gd name="T122" fmla="*/ 1603 w 1603"/>
                <a:gd name="T123" fmla="*/ 1083 h 108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03" h="1083">
                  <a:moveTo>
                    <a:pt x="808" y="8"/>
                  </a:moveTo>
                  <a:lnTo>
                    <a:pt x="808" y="8"/>
                  </a:lnTo>
                  <a:lnTo>
                    <a:pt x="886" y="4"/>
                  </a:lnTo>
                  <a:lnTo>
                    <a:pt x="953" y="0"/>
                  </a:lnTo>
                  <a:lnTo>
                    <a:pt x="1012" y="4"/>
                  </a:lnTo>
                  <a:lnTo>
                    <a:pt x="1103" y="8"/>
                  </a:lnTo>
                  <a:lnTo>
                    <a:pt x="1142" y="12"/>
                  </a:lnTo>
                  <a:lnTo>
                    <a:pt x="1186" y="24"/>
                  </a:lnTo>
                  <a:lnTo>
                    <a:pt x="1276" y="40"/>
                  </a:lnTo>
                  <a:lnTo>
                    <a:pt x="1406" y="63"/>
                  </a:lnTo>
                  <a:lnTo>
                    <a:pt x="1576" y="91"/>
                  </a:lnTo>
                  <a:lnTo>
                    <a:pt x="1603" y="209"/>
                  </a:lnTo>
                  <a:lnTo>
                    <a:pt x="1580" y="260"/>
                  </a:lnTo>
                  <a:lnTo>
                    <a:pt x="1580" y="335"/>
                  </a:lnTo>
                  <a:lnTo>
                    <a:pt x="1556" y="406"/>
                  </a:lnTo>
                  <a:lnTo>
                    <a:pt x="1556" y="441"/>
                  </a:lnTo>
                  <a:lnTo>
                    <a:pt x="1182" y="1060"/>
                  </a:lnTo>
                  <a:lnTo>
                    <a:pt x="1154" y="1067"/>
                  </a:lnTo>
                  <a:lnTo>
                    <a:pt x="1111" y="1075"/>
                  </a:lnTo>
                  <a:lnTo>
                    <a:pt x="1052" y="1083"/>
                  </a:lnTo>
                  <a:lnTo>
                    <a:pt x="949" y="1083"/>
                  </a:lnTo>
                  <a:lnTo>
                    <a:pt x="851" y="1083"/>
                  </a:lnTo>
                  <a:lnTo>
                    <a:pt x="752" y="1071"/>
                  </a:lnTo>
                  <a:lnTo>
                    <a:pt x="658" y="1056"/>
                  </a:lnTo>
                  <a:lnTo>
                    <a:pt x="567" y="1040"/>
                  </a:lnTo>
                  <a:lnTo>
                    <a:pt x="481" y="1016"/>
                  </a:lnTo>
                  <a:lnTo>
                    <a:pt x="402" y="993"/>
                  </a:lnTo>
                  <a:lnTo>
                    <a:pt x="327" y="965"/>
                  </a:lnTo>
                  <a:lnTo>
                    <a:pt x="260" y="938"/>
                  </a:lnTo>
                  <a:lnTo>
                    <a:pt x="197" y="914"/>
                  </a:lnTo>
                  <a:lnTo>
                    <a:pt x="99" y="867"/>
                  </a:lnTo>
                  <a:lnTo>
                    <a:pt x="36" y="831"/>
                  </a:lnTo>
                  <a:lnTo>
                    <a:pt x="12" y="819"/>
                  </a:lnTo>
                  <a:lnTo>
                    <a:pt x="0" y="768"/>
                  </a:lnTo>
                  <a:lnTo>
                    <a:pt x="8" y="709"/>
                  </a:lnTo>
                  <a:lnTo>
                    <a:pt x="808" y="8"/>
                  </a:lnTo>
                  <a:close/>
                </a:path>
              </a:pathLst>
            </a:custGeom>
            <a:solidFill>
              <a:srgbClr val="CCCCCC"/>
            </a:solidFill>
            <a:ln w="31750">
              <a:solidFill>
                <a:srgbClr val="CCCCC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1" name="Freeform 637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1571 w 1603"/>
                <a:gd name="T75" fmla="*/ 129 h 10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03"/>
                <a:gd name="T115" fmla="*/ 0 h 1078"/>
                <a:gd name="T116" fmla="*/ 1603 w 1603"/>
                <a:gd name="T117" fmla="*/ 1078 h 107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  <a:lnTo>
                    <a:pt x="1571" y="1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2" name="Freeform 638"/>
            <p:cNvSpPr>
              <a:spLocks/>
            </p:cNvSpPr>
            <p:nvPr/>
          </p:nvSpPr>
          <p:spPr bwMode="auto">
            <a:xfrm>
              <a:off x="3330" y="1997"/>
              <a:ext cx="1603" cy="1078"/>
            </a:xfrm>
            <a:custGeom>
              <a:avLst/>
              <a:gdLst>
                <a:gd name="T0" fmla="*/ 1571 w 1603"/>
                <a:gd name="T1" fmla="*/ 129 h 1078"/>
                <a:gd name="T2" fmla="*/ 1603 w 1603"/>
                <a:gd name="T3" fmla="*/ 204 h 1078"/>
                <a:gd name="T4" fmla="*/ 1583 w 1603"/>
                <a:gd name="T5" fmla="*/ 255 h 1078"/>
                <a:gd name="T6" fmla="*/ 1583 w 1603"/>
                <a:gd name="T7" fmla="*/ 334 h 1078"/>
                <a:gd name="T8" fmla="*/ 1556 w 1603"/>
                <a:gd name="T9" fmla="*/ 405 h 1078"/>
                <a:gd name="T10" fmla="*/ 1556 w 1603"/>
                <a:gd name="T11" fmla="*/ 441 h 1078"/>
                <a:gd name="T12" fmla="*/ 1181 w 1603"/>
                <a:gd name="T13" fmla="*/ 1059 h 1078"/>
                <a:gd name="T14" fmla="*/ 1158 w 1603"/>
                <a:gd name="T15" fmla="*/ 1075 h 1078"/>
                <a:gd name="T16" fmla="*/ 1103 w 1603"/>
                <a:gd name="T17" fmla="*/ 1059 h 1078"/>
                <a:gd name="T18" fmla="*/ 1103 w 1603"/>
                <a:gd name="T19" fmla="*/ 1059 h 1078"/>
                <a:gd name="T20" fmla="*/ 1103 w 1603"/>
                <a:gd name="T21" fmla="*/ 1063 h 1078"/>
                <a:gd name="T22" fmla="*/ 1103 w 1603"/>
                <a:gd name="T23" fmla="*/ 1063 h 1078"/>
                <a:gd name="T24" fmla="*/ 1095 w 1603"/>
                <a:gd name="T25" fmla="*/ 1067 h 1078"/>
                <a:gd name="T26" fmla="*/ 1067 w 1603"/>
                <a:gd name="T27" fmla="*/ 1071 h 1078"/>
                <a:gd name="T28" fmla="*/ 992 w 1603"/>
                <a:gd name="T29" fmla="*/ 1078 h 1078"/>
                <a:gd name="T30" fmla="*/ 992 w 1603"/>
                <a:gd name="T31" fmla="*/ 1078 h 1078"/>
                <a:gd name="T32" fmla="*/ 961 w 1603"/>
                <a:gd name="T33" fmla="*/ 1075 h 1078"/>
                <a:gd name="T34" fmla="*/ 914 w 1603"/>
                <a:gd name="T35" fmla="*/ 1071 h 1078"/>
                <a:gd name="T36" fmla="*/ 784 w 1603"/>
                <a:gd name="T37" fmla="*/ 1039 h 1078"/>
                <a:gd name="T38" fmla="*/ 622 w 1603"/>
                <a:gd name="T39" fmla="*/ 1000 h 1078"/>
                <a:gd name="T40" fmla="*/ 453 w 1603"/>
                <a:gd name="T41" fmla="*/ 952 h 1078"/>
                <a:gd name="T42" fmla="*/ 146 w 1603"/>
                <a:gd name="T43" fmla="*/ 858 h 1078"/>
                <a:gd name="T44" fmla="*/ 12 w 1603"/>
                <a:gd name="T45" fmla="*/ 819 h 1078"/>
                <a:gd name="T46" fmla="*/ 0 w 1603"/>
                <a:gd name="T47" fmla="*/ 767 h 1078"/>
                <a:gd name="T48" fmla="*/ 8 w 1603"/>
                <a:gd name="T49" fmla="*/ 704 h 1078"/>
                <a:gd name="T50" fmla="*/ 811 w 1603"/>
                <a:gd name="T51" fmla="*/ 3 h 1078"/>
                <a:gd name="T52" fmla="*/ 811 w 1603"/>
                <a:gd name="T53" fmla="*/ 3 h 1078"/>
                <a:gd name="T54" fmla="*/ 886 w 1603"/>
                <a:gd name="T55" fmla="*/ 0 h 1078"/>
                <a:gd name="T56" fmla="*/ 953 w 1603"/>
                <a:gd name="T57" fmla="*/ 0 h 1078"/>
                <a:gd name="T58" fmla="*/ 1012 w 1603"/>
                <a:gd name="T59" fmla="*/ 0 h 1078"/>
                <a:gd name="T60" fmla="*/ 1012 w 1603"/>
                <a:gd name="T61" fmla="*/ 0 h 1078"/>
                <a:gd name="T62" fmla="*/ 1103 w 1603"/>
                <a:gd name="T63" fmla="*/ 7 h 1078"/>
                <a:gd name="T64" fmla="*/ 1142 w 1603"/>
                <a:gd name="T65" fmla="*/ 11 h 1078"/>
                <a:gd name="T66" fmla="*/ 1189 w 1603"/>
                <a:gd name="T67" fmla="*/ 19 h 1078"/>
                <a:gd name="T68" fmla="*/ 1189 w 1603"/>
                <a:gd name="T69" fmla="*/ 19 h 1078"/>
                <a:gd name="T70" fmla="*/ 1390 w 1603"/>
                <a:gd name="T71" fmla="*/ 59 h 1078"/>
                <a:gd name="T72" fmla="*/ 1544 w 1603"/>
                <a:gd name="T73" fmla="*/ 86 h 10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03"/>
                <a:gd name="T112" fmla="*/ 0 h 1078"/>
                <a:gd name="T113" fmla="*/ 1603 w 1603"/>
                <a:gd name="T114" fmla="*/ 1078 h 107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03" h="1078">
                  <a:moveTo>
                    <a:pt x="1571" y="129"/>
                  </a:moveTo>
                  <a:lnTo>
                    <a:pt x="1603" y="204"/>
                  </a:lnTo>
                  <a:lnTo>
                    <a:pt x="1583" y="255"/>
                  </a:lnTo>
                  <a:lnTo>
                    <a:pt x="1583" y="334"/>
                  </a:lnTo>
                  <a:lnTo>
                    <a:pt x="1556" y="405"/>
                  </a:lnTo>
                  <a:lnTo>
                    <a:pt x="1556" y="441"/>
                  </a:lnTo>
                  <a:lnTo>
                    <a:pt x="1181" y="1059"/>
                  </a:lnTo>
                  <a:lnTo>
                    <a:pt x="1158" y="1075"/>
                  </a:lnTo>
                  <a:lnTo>
                    <a:pt x="1103" y="1059"/>
                  </a:lnTo>
                  <a:lnTo>
                    <a:pt x="1103" y="1063"/>
                  </a:lnTo>
                  <a:lnTo>
                    <a:pt x="1095" y="1067"/>
                  </a:lnTo>
                  <a:lnTo>
                    <a:pt x="1067" y="1071"/>
                  </a:lnTo>
                  <a:lnTo>
                    <a:pt x="992" y="1078"/>
                  </a:lnTo>
                  <a:lnTo>
                    <a:pt x="961" y="1075"/>
                  </a:lnTo>
                  <a:lnTo>
                    <a:pt x="914" y="1071"/>
                  </a:lnTo>
                  <a:lnTo>
                    <a:pt x="784" y="1039"/>
                  </a:lnTo>
                  <a:lnTo>
                    <a:pt x="622" y="1000"/>
                  </a:lnTo>
                  <a:lnTo>
                    <a:pt x="453" y="952"/>
                  </a:lnTo>
                  <a:lnTo>
                    <a:pt x="146" y="858"/>
                  </a:lnTo>
                  <a:lnTo>
                    <a:pt x="12" y="819"/>
                  </a:lnTo>
                  <a:lnTo>
                    <a:pt x="0" y="767"/>
                  </a:lnTo>
                  <a:lnTo>
                    <a:pt x="8" y="704"/>
                  </a:lnTo>
                  <a:lnTo>
                    <a:pt x="811" y="3"/>
                  </a:lnTo>
                  <a:lnTo>
                    <a:pt x="886" y="0"/>
                  </a:lnTo>
                  <a:lnTo>
                    <a:pt x="953" y="0"/>
                  </a:lnTo>
                  <a:lnTo>
                    <a:pt x="1012" y="0"/>
                  </a:lnTo>
                  <a:lnTo>
                    <a:pt x="1103" y="7"/>
                  </a:lnTo>
                  <a:lnTo>
                    <a:pt x="1142" y="11"/>
                  </a:lnTo>
                  <a:lnTo>
                    <a:pt x="1189" y="19"/>
                  </a:lnTo>
                  <a:lnTo>
                    <a:pt x="1390" y="59"/>
                  </a:lnTo>
                  <a:lnTo>
                    <a:pt x="1544" y="8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3" name="Freeform 639"/>
            <p:cNvSpPr>
              <a:spLocks/>
            </p:cNvSpPr>
            <p:nvPr/>
          </p:nvSpPr>
          <p:spPr bwMode="auto">
            <a:xfrm>
              <a:off x="3361" y="1997"/>
              <a:ext cx="1603" cy="1130"/>
            </a:xfrm>
            <a:custGeom>
              <a:avLst/>
              <a:gdLst>
                <a:gd name="T0" fmla="*/ 1603 w 1603"/>
                <a:gd name="T1" fmla="*/ 106 h 1130"/>
                <a:gd name="T2" fmla="*/ 1603 w 1603"/>
                <a:gd name="T3" fmla="*/ 244 h 1130"/>
                <a:gd name="T4" fmla="*/ 1580 w 1603"/>
                <a:gd name="T5" fmla="*/ 370 h 1130"/>
                <a:gd name="T6" fmla="*/ 1556 w 1603"/>
                <a:gd name="T7" fmla="*/ 441 h 1130"/>
                <a:gd name="T8" fmla="*/ 1556 w 1603"/>
                <a:gd name="T9" fmla="*/ 476 h 1130"/>
                <a:gd name="T10" fmla="*/ 1182 w 1603"/>
                <a:gd name="T11" fmla="*/ 1094 h 1130"/>
                <a:gd name="T12" fmla="*/ 1123 w 1603"/>
                <a:gd name="T13" fmla="*/ 1130 h 1130"/>
                <a:gd name="T14" fmla="*/ 1123 w 1603"/>
                <a:gd name="T15" fmla="*/ 1130 h 1130"/>
                <a:gd name="T16" fmla="*/ 1091 w 1603"/>
                <a:gd name="T17" fmla="*/ 1130 h 1130"/>
                <a:gd name="T18" fmla="*/ 1052 w 1603"/>
                <a:gd name="T19" fmla="*/ 1126 h 1130"/>
                <a:gd name="T20" fmla="*/ 993 w 1603"/>
                <a:gd name="T21" fmla="*/ 1114 h 1130"/>
                <a:gd name="T22" fmla="*/ 993 w 1603"/>
                <a:gd name="T23" fmla="*/ 1114 h 1130"/>
                <a:gd name="T24" fmla="*/ 914 w 1603"/>
                <a:gd name="T25" fmla="*/ 1094 h 1130"/>
                <a:gd name="T26" fmla="*/ 784 w 1603"/>
                <a:gd name="T27" fmla="*/ 1063 h 1130"/>
                <a:gd name="T28" fmla="*/ 453 w 1603"/>
                <a:gd name="T29" fmla="*/ 976 h 1130"/>
                <a:gd name="T30" fmla="*/ 12 w 1603"/>
                <a:gd name="T31" fmla="*/ 854 h 1130"/>
                <a:gd name="T32" fmla="*/ 0 w 1603"/>
                <a:gd name="T33" fmla="*/ 803 h 1130"/>
                <a:gd name="T34" fmla="*/ 20 w 1603"/>
                <a:gd name="T35" fmla="*/ 740 h 1130"/>
                <a:gd name="T36" fmla="*/ 737 w 1603"/>
                <a:gd name="T37" fmla="*/ 106 h 1130"/>
                <a:gd name="T38" fmla="*/ 812 w 1603"/>
                <a:gd name="T39" fmla="*/ 51 h 1130"/>
                <a:gd name="T40" fmla="*/ 812 w 1603"/>
                <a:gd name="T41" fmla="*/ 51 h 1130"/>
                <a:gd name="T42" fmla="*/ 879 w 1603"/>
                <a:gd name="T43" fmla="*/ 23 h 1130"/>
                <a:gd name="T44" fmla="*/ 934 w 1603"/>
                <a:gd name="T45" fmla="*/ 7 h 1130"/>
                <a:gd name="T46" fmla="*/ 961 w 1603"/>
                <a:gd name="T47" fmla="*/ 3 h 1130"/>
                <a:gd name="T48" fmla="*/ 981 w 1603"/>
                <a:gd name="T49" fmla="*/ 0 h 1130"/>
                <a:gd name="T50" fmla="*/ 981 w 1603"/>
                <a:gd name="T51" fmla="*/ 0 h 1130"/>
                <a:gd name="T52" fmla="*/ 1036 w 1603"/>
                <a:gd name="T53" fmla="*/ 3 h 1130"/>
                <a:gd name="T54" fmla="*/ 1091 w 1603"/>
                <a:gd name="T55" fmla="*/ 11 h 1130"/>
                <a:gd name="T56" fmla="*/ 1194 w 1603"/>
                <a:gd name="T57" fmla="*/ 31 h 1130"/>
                <a:gd name="T58" fmla="*/ 1194 w 1603"/>
                <a:gd name="T59" fmla="*/ 31 h 1130"/>
                <a:gd name="T60" fmla="*/ 1395 w 1603"/>
                <a:gd name="T61" fmla="*/ 66 h 1130"/>
                <a:gd name="T62" fmla="*/ 1544 w 1603"/>
                <a:gd name="T63" fmla="*/ 94 h 1130"/>
                <a:gd name="T64" fmla="*/ 1603 w 1603"/>
                <a:gd name="T65" fmla="*/ 106 h 11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603"/>
                <a:gd name="T100" fmla="*/ 0 h 1130"/>
                <a:gd name="T101" fmla="*/ 1603 w 1603"/>
                <a:gd name="T102" fmla="*/ 1130 h 11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603" h="1130">
                  <a:moveTo>
                    <a:pt x="1603" y="106"/>
                  </a:moveTo>
                  <a:lnTo>
                    <a:pt x="1603" y="244"/>
                  </a:lnTo>
                  <a:lnTo>
                    <a:pt x="1580" y="370"/>
                  </a:lnTo>
                  <a:lnTo>
                    <a:pt x="1556" y="441"/>
                  </a:lnTo>
                  <a:lnTo>
                    <a:pt x="1556" y="476"/>
                  </a:lnTo>
                  <a:lnTo>
                    <a:pt x="1182" y="1094"/>
                  </a:lnTo>
                  <a:lnTo>
                    <a:pt x="1123" y="1130"/>
                  </a:lnTo>
                  <a:lnTo>
                    <a:pt x="1091" y="1130"/>
                  </a:lnTo>
                  <a:lnTo>
                    <a:pt x="1052" y="1126"/>
                  </a:lnTo>
                  <a:lnTo>
                    <a:pt x="993" y="1114"/>
                  </a:lnTo>
                  <a:lnTo>
                    <a:pt x="914" y="1094"/>
                  </a:lnTo>
                  <a:lnTo>
                    <a:pt x="784" y="1063"/>
                  </a:lnTo>
                  <a:lnTo>
                    <a:pt x="453" y="976"/>
                  </a:lnTo>
                  <a:lnTo>
                    <a:pt x="12" y="854"/>
                  </a:lnTo>
                  <a:lnTo>
                    <a:pt x="0" y="803"/>
                  </a:lnTo>
                  <a:lnTo>
                    <a:pt x="20" y="740"/>
                  </a:lnTo>
                  <a:lnTo>
                    <a:pt x="737" y="106"/>
                  </a:lnTo>
                  <a:lnTo>
                    <a:pt x="812" y="51"/>
                  </a:lnTo>
                  <a:lnTo>
                    <a:pt x="879" y="23"/>
                  </a:lnTo>
                  <a:lnTo>
                    <a:pt x="934" y="7"/>
                  </a:lnTo>
                  <a:lnTo>
                    <a:pt x="961" y="3"/>
                  </a:lnTo>
                  <a:lnTo>
                    <a:pt x="981" y="0"/>
                  </a:lnTo>
                  <a:lnTo>
                    <a:pt x="1036" y="3"/>
                  </a:lnTo>
                  <a:lnTo>
                    <a:pt x="1091" y="11"/>
                  </a:lnTo>
                  <a:lnTo>
                    <a:pt x="1194" y="31"/>
                  </a:lnTo>
                  <a:lnTo>
                    <a:pt x="1395" y="66"/>
                  </a:lnTo>
                  <a:lnTo>
                    <a:pt x="1544" y="94"/>
                  </a:lnTo>
                  <a:lnTo>
                    <a:pt x="1603" y="106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4" name="Freeform 640"/>
            <p:cNvSpPr>
              <a:spLocks/>
            </p:cNvSpPr>
            <p:nvPr/>
          </p:nvSpPr>
          <p:spPr bwMode="auto">
            <a:xfrm>
              <a:off x="3314" y="1941"/>
              <a:ext cx="1635" cy="1190"/>
            </a:xfrm>
            <a:custGeom>
              <a:avLst/>
              <a:gdLst>
                <a:gd name="T0" fmla="*/ 1595 w 1635"/>
                <a:gd name="T1" fmla="*/ 233 h 1190"/>
                <a:gd name="T2" fmla="*/ 1580 w 1635"/>
                <a:gd name="T3" fmla="*/ 390 h 1190"/>
                <a:gd name="T4" fmla="*/ 1524 w 1635"/>
                <a:gd name="T5" fmla="*/ 536 h 1190"/>
                <a:gd name="T6" fmla="*/ 1201 w 1635"/>
                <a:gd name="T7" fmla="*/ 1111 h 1190"/>
                <a:gd name="T8" fmla="*/ 1182 w 1635"/>
                <a:gd name="T9" fmla="*/ 1146 h 1190"/>
                <a:gd name="T10" fmla="*/ 1186 w 1635"/>
                <a:gd name="T11" fmla="*/ 1146 h 1190"/>
                <a:gd name="T12" fmla="*/ 989 w 1635"/>
                <a:gd name="T13" fmla="*/ 1107 h 1190"/>
                <a:gd name="T14" fmla="*/ 693 w 1635"/>
                <a:gd name="T15" fmla="*/ 1032 h 1190"/>
                <a:gd name="T16" fmla="*/ 35 w 1635"/>
                <a:gd name="T17" fmla="*/ 855 h 1190"/>
                <a:gd name="T18" fmla="*/ 43 w 1635"/>
                <a:gd name="T19" fmla="*/ 879 h 1190"/>
                <a:gd name="T20" fmla="*/ 39 w 1635"/>
                <a:gd name="T21" fmla="*/ 776 h 1190"/>
                <a:gd name="T22" fmla="*/ 47 w 1635"/>
                <a:gd name="T23" fmla="*/ 776 h 1190"/>
                <a:gd name="T24" fmla="*/ 225 w 1635"/>
                <a:gd name="T25" fmla="*/ 623 h 1190"/>
                <a:gd name="T26" fmla="*/ 662 w 1635"/>
                <a:gd name="T27" fmla="*/ 260 h 1190"/>
                <a:gd name="T28" fmla="*/ 772 w 1635"/>
                <a:gd name="T29" fmla="*/ 170 h 1190"/>
                <a:gd name="T30" fmla="*/ 867 w 1635"/>
                <a:gd name="T31" fmla="*/ 122 h 1190"/>
                <a:gd name="T32" fmla="*/ 965 w 1635"/>
                <a:gd name="T33" fmla="*/ 56 h 1190"/>
                <a:gd name="T34" fmla="*/ 1001 w 1635"/>
                <a:gd name="T35" fmla="*/ 44 h 1190"/>
                <a:gd name="T36" fmla="*/ 1123 w 1635"/>
                <a:gd name="T37" fmla="*/ 52 h 1190"/>
                <a:gd name="T38" fmla="*/ 1327 w 1635"/>
                <a:gd name="T39" fmla="*/ 91 h 1190"/>
                <a:gd name="T40" fmla="*/ 1583 w 1635"/>
                <a:gd name="T41" fmla="*/ 130 h 1190"/>
                <a:gd name="T42" fmla="*/ 1595 w 1635"/>
                <a:gd name="T43" fmla="*/ 122 h 1190"/>
                <a:gd name="T44" fmla="*/ 1583 w 1635"/>
                <a:gd name="T45" fmla="*/ 91 h 1190"/>
                <a:gd name="T46" fmla="*/ 1320 w 1635"/>
                <a:gd name="T47" fmla="*/ 52 h 1190"/>
                <a:gd name="T48" fmla="*/ 1150 w 1635"/>
                <a:gd name="T49" fmla="*/ 16 h 1190"/>
                <a:gd name="T50" fmla="*/ 985 w 1635"/>
                <a:gd name="T51" fmla="*/ 0 h 1190"/>
                <a:gd name="T52" fmla="*/ 953 w 1635"/>
                <a:gd name="T53" fmla="*/ 8 h 1190"/>
                <a:gd name="T54" fmla="*/ 863 w 1635"/>
                <a:gd name="T55" fmla="*/ 67 h 1190"/>
                <a:gd name="T56" fmla="*/ 796 w 1635"/>
                <a:gd name="T57" fmla="*/ 111 h 1190"/>
                <a:gd name="T58" fmla="*/ 697 w 1635"/>
                <a:gd name="T59" fmla="*/ 166 h 1190"/>
                <a:gd name="T60" fmla="*/ 626 w 1635"/>
                <a:gd name="T61" fmla="*/ 229 h 1190"/>
                <a:gd name="T62" fmla="*/ 20 w 1635"/>
                <a:gd name="T63" fmla="*/ 733 h 1190"/>
                <a:gd name="T64" fmla="*/ 4 w 1635"/>
                <a:gd name="T65" fmla="*/ 760 h 1190"/>
                <a:gd name="T66" fmla="*/ 4 w 1635"/>
                <a:gd name="T67" fmla="*/ 835 h 1190"/>
                <a:gd name="T68" fmla="*/ 20 w 1635"/>
                <a:gd name="T69" fmla="*/ 886 h 1190"/>
                <a:gd name="T70" fmla="*/ 32 w 1635"/>
                <a:gd name="T71" fmla="*/ 894 h 1190"/>
                <a:gd name="T72" fmla="*/ 729 w 1635"/>
                <a:gd name="T73" fmla="*/ 1083 h 1190"/>
                <a:gd name="T74" fmla="*/ 1119 w 1635"/>
                <a:gd name="T75" fmla="*/ 1178 h 1190"/>
                <a:gd name="T76" fmla="*/ 1205 w 1635"/>
                <a:gd name="T77" fmla="*/ 1190 h 1190"/>
                <a:gd name="T78" fmla="*/ 1536 w 1635"/>
                <a:gd name="T79" fmla="*/ 603 h 1190"/>
                <a:gd name="T80" fmla="*/ 1583 w 1635"/>
                <a:gd name="T81" fmla="*/ 516 h 1190"/>
                <a:gd name="T82" fmla="*/ 1587 w 1635"/>
                <a:gd name="T83" fmla="*/ 489 h 1190"/>
                <a:gd name="T84" fmla="*/ 1611 w 1635"/>
                <a:gd name="T85" fmla="*/ 414 h 1190"/>
                <a:gd name="T86" fmla="*/ 1627 w 1635"/>
                <a:gd name="T87" fmla="*/ 347 h 1190"/>
                <a:gd name="T88" fmla="*/ 1631 w 1635"/>
                <a:gd name="T89" fmla="*/ 213 h 1190"/>
                <a:gd name="T90" fmla="*/ 1623 w 1635"/>
                <a:gd name="T91" fmla="*/ 130 h 1190"/>
                <a:gd name="T92" fmla="*/ 1599 w 1635"/>
                <a:gd name="T93" fmla="*/ 115 h 1190"/>
                <a:gd name="T94" fmla="*/ 1595 w 1635"/>
                <a:gd name="T95" fmla="*/ 126 h 119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635"/>
                <a:gd name="T145" fmla="*/ 0 h 1190"/>
                <a:gd name="T146" fmla="*/ 1635 w 1635"/>
                <a:gd name="T147" fmla="*/ 1190 h 119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635" h="1190">
                  <a:moveTo>
                    <a:pt x="1595" y="126"/>
                  </a:moveTo>
                  <a:lnTo>
                    <a:pt x="1595" y="126"/>
                  </a:lnTo>
                  <a:lnTo>
                    <a:pt x="1595" y="233"/>
                  </a:lnTo>
                  <a:lnTo>
                    <a:pt x="1591" y="284"/>
                  </a:lnTo>
                  <a:lnTo>
                    <a:pt x="1587" y="339"/>
                  </a:lnTo>
                  <a:lnTo>
                    <a:pt x="1580" y="390"/>
                  </a:lnTo>
                  <a:lnTo>
                    <a:pt x="1564" y="441"/>
                  </a:lnTo>
                  <a:lnTo>
                    <a:pt x="1548" y="489"/>
                  </a:lnTo>
                  <a:lnTo>
                    <a:pt x="1524" y="536"/>
                  </a:lnTo>
                  <a:lnTo>
                    <a:pt x="1201" y="1111"/>
                  </a:lnTo>
                  <a:lnTo>
                    <a:pt x="1186" y="1142"/>
                  </a:lnTo>
                  <a:lnTo>
                    <a:pt x="1182" y="1146"/>
                  </a:lnTo>
                  <a:lnTo>
                    <a:pt x="1182" y="1150"/>
                  </a:lnTo>
                  <a:lnTo>
                    <a:pt x="1186" y="1146"/>
                  </a:lnTo>
                  <a:lnTo>
                    <a:pt x="1087" y="1131"/>
                  </a:lnTo>
                  <a:lnTo>
                    <a:pt x="989" y="1107"/>
                  </a:lnTo>
                  <a:lnTo>
                    <a:pt x="839" y="1071"/>
                  </a:lnTo>
                  <a:lnTo>
                    <a:pt x="693" y="1032"/>
                  </a:lnTo>
                  <a:lnTo>
                    <a:pt x="35" y="855"/>
                  </a:lnTo>
                  <a:lnTo>
                    <a:pt x="24" y="851"/>
                  </a:lnTo>
                  <a:lnTo>
                    <a:pt x="43" y="879"/>
                  </a:lnTo>
                  <a:lnTo>
                    <a:pt x="39" y="827"/>
                  </a:lnTo>
                  <a:lnTo>
                    <a:pt x="39" y="776"/>
                  </a:lnTo>
                  <a:lnTo>
                    <a:pt x="39" y="780"/>
                  </a:lnTo>
                  <a:lnTo>
                    <a:pt x="47" y="776"/>
                  </a:lnTo>
                  <a:lnTo>
                    <a:pt x="59" y="760"/>
                  </a:lnTo>
                  <a:lnTo>
                    <a:pt x="225" y="623"/>
                  </a:lnTo>
                  <a:lnTo>
                    <a:pt x="662" y="260"/>
                  </a:lnTo>
                  <a:lnTo>
                    <a:pt x="744" y="189"/>
                  </a:lnTo>
                  <a:lnTo>
                    <a:pt x="772" y="170"/>
                  </a:lnTo>
                  <a:lnTo>
                    <a:pt x="804" y="154"/>
                  </a:lnTo>
                  <a:lnTo>
                    <a:pt x="835" y="138"/>
                  </a:lnTo>
                  <a:lnTo>
                    <a:pt x="867" y="122"/>
                  </a:lnTo>
                  <a:lnTo>
                    <a:pt x="930" y="75"/>
                  </a:lnTo>
                  <a:lnTo>
                    <a:pt x="965" y="56"/>
                  </a:lnTo>
                  <a:lnTo>
                    <a:pt x="985" y="48"/>
                  </a:lnTo>
                  <a:lnTo>
                    <a:pt x="1001" y="44"/>
                  </a:lnTo>
                  <a:lnTo>
                    <a:pt x="1040" y="44"/>
                  </a:lnTo>
                  <a:lnTo>
                    <a:pt x="1083" y="44"/>
                  </a:lnTo>
                  <a:lnTo>
                    <a:pt x="1123" y="52"/>
                  </a:lnTo>
                  <a:lnTo>
                    <a:pt x="1166" y="59"/>
                  </a:lnTo>
                  <a:lnTo>
                    <a:pt x="1249" y="75"/>
                  </a:lnTo>
                  <a:lnTo>
                    <a:pt x="1327" y="91"/>
                  </a:lnTo>
                  <a:lnTo>
                    <a:pt x="1583" y="130"/>
                  </a:lnTo>
                  <a:lnTo>
                    <a:pt x="1591" y="130"/>
                  </a:lnTo>
                  <a:lnTo>
                    <a:pt x="1595" y="126"/>
                  </a:lnTo>
                  <a:lnTo>
                    <a:pt x="1595" y="122"/>
                  </a:lnTo>
                  <a:lnTo>
                    <a:pt x="1595" y="115"/>
                  </a:lnTo>
                  <a:lnTo>
                    <a:pt x="1587" y="99"/>
                  </a:lnTo>
                  <a:lnTo>
                    <a:pt x="1583" y="91"/>
                  </a:lnTo>
                  <a:lnTo>
                    <a:pt x="1576" y="91"/>
                  </a:lnTo>
                  <a:lnTo>
                    <a:pt x="1320" y="52"/>
                  </a:lnTo>
                  <a:lnTo>
                    <a:pt x="1237" y="36"/>
                  </a:lnTo>
                  <a:lnTo>
                    <a:pt x="1150" y="16"/>
                  </a:lnTo>
                  <a:lnTo>
                    <a:pt x="1067" y="4"/>
                  </a:lnTo>
                  <a:lnTo>
                    <a:pt x="1028" y="0"/>
                  </a:lnTo>
                  <a:lnTo>
                    <a:pt x="985" y="0"/>
                  </a:lnTo>
                  <a:lnTo>
                    <a:pt x="969" y="4"/>
                  </a:lnTo>
                  <a:lnTo>
                    <a:pt x="953" y="8"/>
                  </a:lnTo>
                  <a:lnTo>
                    <a:pt x="922" y="24"/>
                  </a:lnTo>
                  <a:lnTo>
                    <a:pt x="886" y="48"/>
                  </a:lnTo>
                  <a:lnTo>
                    <a:pt x="863" y="67"/>
                  </a:lnTo>
                  <a:lnTo>
                    <a:pt x="831" y="91"/>
                  </a:lnTo>
                  <a:lnTo>
                    <a:pt x="796" y="111"/>
                  </a:lnTo>
                  <a:lnTo>
                    <a:pt x="721" y="150"/>
                  </a:lnTo>
                  <a:lnTo>
                    <a:pt x="697" y="166"/>
                  </a:lnTo>
                  <a:lnTo>
                    <a:pt x="674" y="185"/>
                  </a:lnTo>
                  <a:lnTo>
                    <a:pt x="626" y="229"/>
                  </a:lnTo>
                  <a:lnTo>
                    <a:pt x="169" y="607"/>
                  </a:lnTo>
                  <a:lnTo>
                    <a:pt x="20" y="733"/>
                  </a:lnTo>
                  <a:lnTo>
                    <a:pt x="8" y="745"/>
                  </a:lnTo>
                  <a:lnTo>
                    <a:pt x="4" y="760"/>
                  </a:lnTo>
                  <a:lnTo>
                    <a:pt x="0" y="780"/>
                  </a:lnTo>
                  <a:lnTo>
                    <a:pt x="0" y="800"/>
                  </a:lnTo>
                  <a:lnTo>
                    <a:pt x="4" y="835"/>
                  </a:lnTo>
                  <a:lnTo>
                    <a:pt x="12" y="871"/>
                  </a:lnTo>
                  <a:lnTo>
                    <a:pt x="20" y="886"/>
                  </a:lnTo>
                  <a:lnTo>
                    <a:pt x="24" y="890"/>
                  </a:lnTo>
                  <a:lnTo>
                    <a:pt x="32" y="894"/>
                  </a:lnTo>
                  <a:lnTo>
                    <a:pt x="571" y="1040"/>
                  </a:lnTo>
                  <a:lnTo>
                    <a:pt x="729" y="1083"/>
                  </a:lnTo>
                  <a:lnTo>
                    <a:pt x="882" y="1127"/>
                  </a:lnTo>
                  <a:lnTo>
                    <a:pt x="1040" y="1162"/>
                  </a:lnTo>
                  <a:lnTo>
                    <a:pt x="1119" y="1178"/>
                  </a:lnTo>
                  <a:lnTo>
                    <a:pt x="1197" y="1190"/>
                  </a:lnTo>
                  <a:lnTo>
                    <a:pt x="1205" y="1190"/>
                  </a:lnTo>
                  <a:lnTo>
                    <a:pt x="1209" y="1186"/>
                  </a:lnTo>
                  <a:lnTo>
                    <a:pt x="1536" y="603"/>
                  </a:lnTo>
                  <a:lnTo>
                    <a:pt x="1583" y="516"/>
                  </a:lnTo>
                  <a:lnTo>
                    <a:pt x="1587" y="504"/>
                  </a:lnTo>
                  <a:lnTo>
                    <a:pt x="1587" y="489"/>
                  </a:lnTo>
                  <a:lnTo>
                    <a:pt x="1591" y="469"/>
                  </a:lnTo>
                  <a:lnTo>
                    <a:pt x="1595" y="449"/>
                  </a:lnTo>
                  <a:lnTo>
                    <a:pt x="1611" y="414"/>
                  </a:lnTo>
                  <a:lnTo>
                    <a:pt x="1619" y="382"/>
                  </a:lnTo>
                  <a:lnTo>
                    <a:pt x="1627" y="347"/>
                  </a:lnTo>
                  <a:lnTo>
                    <a:pt x="1631" y="315"/>
                  </a:lnTo>
                  <a:lnTo>
                    <a:pt x="1635" y="280"/>
                  </a:lnTo>
                  <a:lnTo>
                    <a:pt x="1631" y="213"/>
                  </a:lnTo>
                  <a:lnTo>
                    <a:pt x="1627" y="142"/>
                  </a:lnTo>
                  <a:lnTo>
                    <a:pt x="1623" y="130"/>
                  </a:lnTo>
                  <a:lnTo>
                    <a:pt x="1611" y="119"/>
                  </a:lnTo>
                  <a:lnTo>
                    <a:pt x="1603" y="115"/>
                  </a:lnTo>
                  <a:lnTo>
                    <a:pt x="1599" y="115"/>
                  </a:lnTo>
                  <a:lnTo>
                    <a:pt x="1595" y="119"/>
                  </a:lnTo>
                  <a:lnTo>
                    <a:pt x="1595" y="1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5" name="Freeform 641"/>
            <p:cNvSpPr>
              <a:spLocks/>
            </p:cNvSpPr>
            <p:nvPr/>
          </p:nvSpPr>
          <p:spPr bwMode="auto">
            <a:xfrm>
              <a:off x="3369" y="1804"/>
              <a:ext cx="804" cy="1000"/>
            </a:xfrm>
            <a:custGeom>
              <a:avLst/>
              <a:gdLst>
                <a:gd name="T0" fmla="*/ 0 w 804"/>
                <a:gd name="T1" fmla="*/ 854 h 1000"/>
                <a:gd name="T2" fmla="*/ 0 w 804"/>
                <a:gd name="T3" fmla="*/ 854 h 1000"/>
                <a:gd name="T4" fmla="*/ 28 w 804"/>
                <a:gd name="T5" fmla="*/ 783 h 1000"/>
                <a:gd name="T6" fmla="*/ 59 w 804"/>
                <a:gd name="T7" fmla="*/ 708 h 1000"/>
                <a:gd name="T8" fmla="*/ 99 w 804"/>
                <a:gd name="T9" fmla="*/ 618 h 1000"/>
                <a:gd name="T10" fmla="*/ 146 w 804"/>
                <a:gd name="T11" fmla="*/ 511 h 1000"/>
                <a:gd name="T12" fmla="*/ 205 w 804"/>
                <a:gd name="T13" fmla="*/ 405 h 1000"/>
                <a:gd name="T14" fmla="*/ 268 w 804"/>
                <a:gd name="T15" fmla="*/ 299 h 1000"/>
                <a:gd name="T16" fmla="*/ 300 w 804"/>
                <a:gd name="T17" fmla="*/ 252 h 1000"/>
                <a:gd name="T18" fmla="*/ 335 w 804"/>
                <a:gd name="T19" fmla="*/ 208 h 1000"/>
                <a:gd name="T20" fmla="*/ 335 w 804"/>
                <a:gd name="T21" fmla="*/ 208 h 1000"/>
                <a:gd name="T22" fmla="*/ 410 w 804"/>
                <a:gd name="T23" fmla="*/ 118 h 1000"/>
                <a:gd name="T24" fmla="*/ 520 w 804"/>
                <a:gd name="T25" fmla="*/ 23 h 1000"/>
                <a:gd name="T26" fmla="*/ 520 w 804"/>
                <a:gd name="T27" fmla="*/ 23 h 1000"/>
                <a:gd name="T28" fmla="*/ 532 w 804"/>
                <a:gd name="T29" fmla="*/ 19 h 1000"/>
                <a:gd name="T30" fmla="*/ 563 w 804"/>
                <a:gd name="T31" fmla="*/ 7 h 1000"/>
                <a:gd name="T32" fmla="*/ 583 w 804"/>
                <a:gd name="T33" fmla="*/ 4 h 1000"/>
                <a:gd name="T34" fmla="*/ 607 w 804"/>
                <a:gd name="T35" fmla="*/ 0 h 1000"/>
                <a:gd name="T36" fmla="*/ 634 w 804"/>
                <a:gd name="T37" fmla="*/ 0 h 1000"/>
                <a:gd name="T38" fmla="*/ 662 w 804"/>
                <a:gd name="T39" fmla="*/ 4 h 1000"/>
                <a:gd name="T40" fmla="*/ 662 w 804"/>
                <a:gd name="T41" fmla="*/ 4 h 1000"/>
                <a:gd name="T42" fmla="*/ 686 w 804"/>
                <a:gd name="T43" fmla="*/ 11 h 1000"/>
                <a:gd name="T44" fmla="*/ 713 w 804"/>
                <a:gd name="T45" fmla="*/ 19 h 1000"/>
                <a:gd name="T46" fmla="*/ 756 w 804"/>
                <a:gd name="T47" fmla="*/ 39 h 1000"/>
                <a:gd name="T48" fmla="*/ 800 w 804"/>
                <a:gd name="T49" fmla="*/ 67 h 1000"/>
                <a:gd name="T50" fmla="*/ 804 w 804"/>
                <a:gd name="T51" fmla="*/ 145 h 1000"/>
                <a:gd name="T52" fmla="*/ 788 w 804"/>
                <a:gd name="T53" fmla="*/ 161 h 1000"/>
                <a:gd name="T54" fmla="*/ 772 w 804"/>
                <a:gd name="T55" fmla="*/ 224 h 1000"/>
                <a:gd name="T56" fmla="*/ 749 w 804"/>
                <a:gd name="T57" fmla="*/ 244 h 1000"/>
                <a:gd name="T58" fmla="*/ 737 w 804"/>
                <a:gd name="T59" fmla="*/ 240 h 1000"/>
                <a:gd name="T60" fmla="*/ 737 w 804"/>
                <a:gd name="T61" fmla="*/ 240 h 1000"/>
                <a:gd name="T62" fmla="*/ 705 w 804"/>
                <a:gd name="T63" fmla="*/ 267 h 1000"/>
                <a:gd name="T64" fmla="*/ 626 w 804"/>
                <a:gd name="T65" fmla="*/ 346 h 1000"/>
                <a:gd name="T66" fmla="*/ 579 w 804"/>
                <a:gd name="T67" fmla="*/ 397 h 1000"/>
                <a:gd name="T68" fmla="*/ 532 w 804"/>
                <a:gd name="T69" fmla="*/ 456 h 1000"/>
                <a:gd name="T70" fmla="*/ 489 w 804"/>
                <a:gd name="T71" fmla="*/ 519 h 1000"/>
                <a:gd name="T72" fmla="*/ 449 w 804"/>
                <a:gd name="T73" fmla="*/ 586 h 1000"/>
                <a:gd name="T74" fmla="*/ 449 w 804"/>
                <a:gd name="T75" fmla="*/ 586 h 1000"/>
                <a:gd name="T76" fmla="*/ 272 w 804"/>
                <a:gd name="T77" fmla="*/ 960 h 1000"/>
                <a:gd name="T78" fmla="*/ 181 w 804"/>
                <a:gd name="T79" fmla="*/ 1000 h 1000"/>
                <a:gd name="T80" fmla="*/ 91 w 804"/>
                <a:gd name="T81" fmla="*/ 984 h 1000"/>
                <a:gd name="T82" fmla="*/ 91 w 804"/>
                <a:gd name="T83" fmla="*/ 984 h 1000"/>
                <a:gd name="T84" fmla="*/ 59 w 804"/>
                <a:gd name="T85" fmla="*/ 976 h 1000"/>
                <a:gd name="T86" fmla="*/ 36 w 804"/>
                <a:gd name="T87" fmla="*/ 964 h 1000"/>
                <a:gd name="T88" fmla="*/ 20 w 804"/>
                <a:gd name="T89" fmla="*/ 953 h 1000"/>
                <a:gd name="T90" fmla="*/ 8 w 804"/>
                <a:gd name="T91" fmla="*/ 937 h 1000"/>
                <a:gd name="T92" fmla="*/ 4 w 804"/>
                <a:gd name="T93" fmla="*/ 921 h 1000"/>
                <a:gd name="T94" fmla="*/ 0 w 804"/>
                <a:gd name="T95" fmla="*/ 909 h 1000"/>
                <a:gd name="T96" fmla="*/ 0 w 804"/>
                <a:gd name="T97" fmla="*/ 901 h 1000"/>
                <a:gd name="T98" fmla="*/ 0 w 804"/>
                <a:gd name="T99" fmla="*/ 854 h 10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4"/>
                <a:gd name="T151" fmla="*/ 0 h 1000"/>
                <a:gd name="T152" fmla="*/ 804 w 804"/>
                <a:gd name="T153" fmla="*/ 1000 h 100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4" h="1000">
                  <a:moveTo>
                    <a:pt x="0" y="854"/>
                  </a:moveTo>
                  <a:lnTo>
                    <a:pt x="0" y="854"/>
                  </a:lnTo>
                  <a:lnTo>
                    <a:pt x="28" y="783"/>
                  </a:lnTo>
                  <a:lnTo>
                    <a:pt x="59" y="708"/>
                  </a:lnTo>
                  <a:lnTo>
                    <a:pt x="99" y="618"/>
                  </a:lnTo>
                  <a:lnTo>
                    <a:pt x="146" y="511"/>
                  </a:lnTo>
                  <a:lnTo>
                    <a:pt x="205" y="405"/>
                  </a:lnTo>
                  <a:lnTo>
                    <a:pt x="268" y="299"/>
                  </a:lnTo>
                  <a:lnTo>
                    <a:pt x="300" y="252"/>
                  </a:lnTo>
                  <a:lnTo>
                    <a:pt x="335" y="208"/>
                  </a:lnTo>
                  <a:lnTo>
                    <a:pt x="410" y="118"/>
                  </a:lnTo>
                  <a:lnTo>
                    <a:pt x="520" y="23"/>
                  </a:lnTo>
                  <a:lnTo>
                    <a:pt x="532" y="19"/>
                  </a:lnTo>
                  <a:lnTo>
                    <a:pt x="563" y="7"/>
                  </a:lnTo>
                  <a:lnTo>
                    <a:pt x="583" y="4"/>
                  </a:lnTo>
                  <a:lnTo>
                    <a:pt x="607" y="0"/>
                  </a:lnTo>
                  <a:lnTo>
                    <a:pt x="634" y="0"/>
                  </a:lnTo>
                  <a:lnTo>
                    <a:pt x="662" y="4"/>
                  </a:lnTo>
                  <a:lnTo>
                    <a:pt x="686" y="11"/>
                  </a:lnTo>
                  <a:lnTo>
                    <a:pt x="713" y="19"/>
                  </a:lnTo>
                  <a:lnTo>
                    <a:pt x="756" y="39"/>
                  </a:lnTo>
                  <a:lnTo>
                    <a:pt x="800" y="67"/>
                  </a:lnTo>
                  <a:lnTo>
                    <a:pt x="804" y="145"/>
                  </a:lnTo>
                  <a:lnTo>
                    <a:pt x="788" y="161"/>
                  </a:lnTo>
                  <a:lnTo>
                    <a:pt x="772" y="224"/>
                  </a:lnTo>
                  <a:lnTo>
                    <a:pt x="749" y="244"/>
                  </a:lnTo>
                  <a:lnTo>
                    <a:pt x="737" y="240"/>
                  </a:lnTo>
                  <a:lnTo>
                    <a:pt x="705" y="267"/>
                  </a:lnTo>
                  <a:lnTo>
                    <a:pt x="626" y="346"/>
                  </a:lnTo>
                  <a:lnTo>
                    <a:pt x="579" y="397"/>
                  </a:lnTo>
                  <a:lnTo>
                    <a:pt x="532" y="456"/>
                  </a:lnTo>
                  <a:lnTo>
                    <a:pt x="489" y="519"/>
                  </a:lnTo>
                  <a:lnTo>
                    <a:pt x="449" y="586"/>
                  </a:lnTo>
                  <a:lnTo>
                    <a:pt x="272" y="960"/>
                  </a:lnTo>
                  <a:lnTo>
                    <a:pt x="181" y="1000"/>
                  </a:lnTo>
                  <a:lnTo>
                    <a:pt x="91" y="984"/>
                  </a:lnTo>
                  <a:lnTo>
                    <a:pt x="59" y="976"/>
                  </a:lnTo>
                  <a:lnTo>
                    <a:pt x="36" y="964"/>
                  </a:lnTo>
                  <a:lnTo>
                    <a:pt x="20" y="953"/>
                  </a:lnTo>
                  <a:lnTo>
                    <a:pt x="8" y="937"/>
                  </a:lnTo>
                  <a:lnTo>
                    <a:pt x="4" y="921"/>
                  </a:lnTo>
                  <a:lnTo>
                    <a:pt x="0" y="909"/>
                  </a:lnTo>
                  <a:lnTo>
                    <a:pt x="0" y="901"/>
                  </a:lnTo>
                  <a:lnTo>
                    <a:pt x="0" y="85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6" name="Freeform 642"/>
            <p:cNvSpPr>
              <a:spLocks/>
            </p:cNvSpPr>
            <p:nvPr/>
          </p:nvSpPr>
          <p:spPr bwMode="auto">
            <a:xfrm>
              <a:off x="3405" y="1823"/>
              <a:ext cx="807" cy="997"/>
            </a:xfrm>
            <a:custGeom>
              <a:avLst/>
              <a:gdLst>
                <a:gd name="T0" fmla="*/ 0 w 807"/>
                <a:gd name="T1" fmla="*/ 835 h 997"/>
                <a:gd name="T2" fmla="*/ 0 w 807"/>
                <a:gd name="T3" fmla="*/ 835 h 997"/>
                <a:gd name="T4" fmla="*/ 27 w 807"/>
                <a:gd name="T5" fmla="*/ 768 h 997"/>
                <a:gd name="T6" fmla="*/ 59 w 807"/>
                <a:gd name="T7" fmla="*/ 693 h 997"/>
                <a:gd name="T8" fmla="*/ 98 w 807"/>
                <a:gd name="T9" fmla="*/ 603 h 997"/>
                <a:gd name="T10" fmla="*/ 149 w 807"/>
                <a:gd name="T11" fmla="*/ 500 h 997"/>
                <a:gd name="T12" fmla="*/ 204 w 807"/>
                <a:gd name="T13" fmla="*/ 394 h 997"/>
                <a:gd name="T14" fmla="*/ 267 w 807"/>
                <a:gd name="T15" fmla="*/ 288 h 997"/>
                <a:gd name="T16" fmla="*/ 299 w 807"/>
                <a:gd name="T17" fmla="*/ 240 h 997"/>
                <a:gd name="T18" fmla="*/ 334 w 807"/>
                <a:gd name="T19" fmla="*/ 197 h 997"/>
                <a:gd name="T20" fmla="*/ 334 w 807"/>
                <a:gd name="T21" fmla="*/ 197 h 997"/>
                <a:gd name="T22" fmla="*/ 413 w 807"/>
                <a:gd name="T23" fmla="*/ 114 h 997"/>
                <a:gd name="T24" fmla="*/ 523 w 807"/>
                <a:gd name="T25" fmla="*/ 24 h 997"/>
                <a:gd name="T26" fmla="*/ 523 w 807"/>
                <a:gd name="T27" fmla="*/ 24 h 997"/>
                <a:gd name="T28" fmla="*/ 535 w 807"/>
                <a:gd name="T29" fmla="*/ 16 h 997"/>
                <a:gd name="T30" fmla="*/ 567 w 807"/>
                <a:gd name="T31" fmla="*/ 8 h 997"/>
                <a:gd name="T32" fmla="*/ 587 w 807"/>
                <a:gd name="T33" fmla="*/ 4 h 997"/>
                <a:gd name="T34" fmla="*/ 610 w 807"/>
                <a:gd name="T35" fmla="*/ 0 h 997"/>
                <a:gd name="T36" fmla="*/ 638 w 807"/>
                <a:gd name="T37" fmla="*/ 0 h 997"/>
                <a:gd name="T38" fmla="*/ 661 w 807"/>
                <a:gd name="T39" fmla="*/ 4 h 997"/>
                <a:gd name="T40" fmla="*/ 661 w 807"/>
                <a:gd name="T41" fmla="*/ 4 h 997"/>
                <a:gd name="T42" fmla="*/ 689 w 807"/>
                <a:gd name="T43" fmla="*/ 8 h 997"/>
                <a:gd name="T44" fmla="*/ 716 w 807"/>
                <a:gd name="T45" fmla="*/ 20 h 997"/>
                <a:gd name="T46" fmla="*/ 760 w 807"/>
                <a:gd name="T47" fmla="*/ 40 h 997"/>
                <a:gd name="T48" fmla="*/ 799 w 807"/>
                <a:gd name="T49" fmla="*/ 63 h 997"/>
                <a:gd name="T50" fmla="*/ 807 w 807"/>
                <a:gd name="T51" fmla="*/ 146 h 997"/>
                <a:gd name="T52" fmla="*/ 791 w 807"/>
                <a:gd name="T53" fmla="*/ 162 h 997"/>
                <a:gd name="T54" fmla="*/ 772 w 807"/>
                <a:gd name="T55" fmla="*/ 189 h 997"/>
                <a:gd name="T56" fmla="*/ 744 w 807"/>
                <a:gd name="T57" fmla="*/ 213 h 997"/>
                <a:gd name="T58" fmla="*/ 661 w 807"/>
                <a:gd name="T59" fmla="*/ 272 h 997"/>
                <a:gd name="T60" fmla="*/ 661 w 807"/>
                <a:gd name="T61" fmla="*/ 272 h 997"/>
                <a:gd name="T62" fmla="*/ 642 w 807"/>
                <a:gd name="T63" fmla="*/ 296 h 997"/>
                <a:gd name="T64" fmla="*/ 590 w 807"/>
                <a:gd name="T65" fmla="*/ 363 h 997"/>
                <a:gd name="T66" fmla="*/ 559 w 807"/>
                <a:gd name="T67" fmla="*/ 410 h 997"/>
                <a:gd name="T68" fmla="*/ 523 w 807"/>
                <a:gd name="T69" fmla="*/ 461 h 997"/>
                <a:gd name="T70" fmla="*/ 488 w 807"/>
                <a:gd name="T71" fmla="*/ 520 h 997"/>
                <a:gd name="T72" fmla="*/ 453 w 807"/>
                <a:gd name="T73" fmla="*/ 587 h 997"/>
                <a:gd name="T74" fmla="*/ 453 w 807"/>
                <a:gd name="T75" fmla="*/ 587 h 997"/>
                <a:gd name="T76" fmla="*/ 275 w 807"/>
                <a:gd name="T77" fmla="*/ 957 h 997"/>
                <a:gd name="T78" fmla="*/ 185 w 807"/>
                <a:gd name="T79" fmla="*/ 997 h 997"/>
                <a:gd name="T80" fmla="*/ 90 w 807"/>
                <a:gd name="T81" fmla="*/ 985 h 997"/>
                <a:gd name="T82" fmla="*/ 90 w 807"/>
                <a:gd name="T83" fmla="*/ 985 h 997"/>
                <a:gd name="T84" fmla="*/ 63 w 807"/>
                <a:gd name="T85" fmla="*/ 977 h 997"/>
                <a:gd name="T86" fmla="*/ 39 w 807"/>
                <a:gd name="T87" fmla="*/ 965 h 997"/>
                <a:gd name="T88" fmla="*/ 23 w 807"/>
                <a:gd name="T89" fmla="*/ 949 h 997"/>
                <a:gd name="T90" fmla="*/ 11 w 807"/>
                <a:gd name="T91" fmla="*/ 934 h 997"/>
                <a:gd name="T92" fmla="*/ 7 w 807"/>
                <a:gd name="T93" fmla="*/ 922 h 997"/>
                <a:gd name="T94" fmla="*/ 4 w 807"/>
                <a:gd name="T95" fmla="*/ 910 h 997"/>
                <a:gd name="T96" fmla="*/ 4 w 807"/>
                <a:gd name="T97" fmla="*/ 898 h 997"/>
                <a:gd name="T98" fmla="*/ 0 w 807"/>
                <a:gd name="T99" fmla="*/ 835 h 9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07"/>
                <a:gd name="T151" fmla="*/ 0 h 997"/>
                <a:gd name="T152" fmla="*/ 807 w 807"/>
                <a:gd name="T153" fmla="*/ 997 h 9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07" h="997">
                  <a:moveTo>
                    <a:pt x="0" y="835"/>
                  </a:moveTo>
                  <a:lnTo>
                    <a:pt x="0" y="835"/>
                  </a:lnTo>
                  <a:lnTo>
                    <a:pt x="27" y="768"/>
                  </a:lnTo>
                  <a:lnTo>
                    <a:pt x="59" y="693"/>
                  </a:lnTo>
                  <a:lnTo>
                    <a:pt x="98" y="603"/>
                  </a:lnTo>
                  <a:lnTo>
                    <a:pt x="149" y="500"/>
                  </a:lnTo>
                  <a:lnTo>
                    <a:pt x="204" y="394"/>
                  </a:lnTo>
                  <a:lnTo>
                    <a:pt x="267" y="288"/>
                  </a:lnTo>
                  <a:lnTo>
                    <a:pt x="299" y="240"/>
                  </a:lnTo>
                  <a:lnTo>
                    <a:pt x="334" y="197"/>
                  </a:lnTo>
                  <a:lnTo>
                    <a:pt x="413" y="114"/>
                  </a:lnTo>
                  <a:lnTo>
                    <a:pt x="523" y="24"/>
                  </a:lnTo>
                  <a:lnTo>
                    <a:pt x="535" y="16"/>
                  </a:lnTo>
                  <a:lnTo>
                    <a:pt x="567" y="8"/>
                  </a:lnTo>
                  <a:lnTo>
                    <a:pt x="587" y="4"/>
                  </a:lnTo>
                  <a:lnTo>
                    <a:pt x="610" y="0"/>
                  </a:lnTo>
                  <a:lnTo>
                    <a:pt x="638" y="0"/>
                  </a:lnTo>
                  <a:lnTo>
                    <a:pt x="661" y="4"/>
                  </a:lnTo>
                  <a:lnTo>
                    <a:pt x="689" y="8"/>
                  </a:lnTo>
                  <a:lnTo>
                    <a:pt x="716" y="20"/>
                  </a:lnTo>
                  <a:lnTo>
                    <a:pt x="760" y="40"/>
                  </a:lnTo>
                  <a:lnTo>
                    <a:pt x="799" y="63"/>
                  </a:lnTo>
                  <a:lnTo>
                    <a:pt x="807" y="146"/>
                  </a:lnTo>
                  <a:lnTo>
                    <a:pt x="791" y="162"/>
                  </a:lnTo>
                  <a:lnTo>
                    <a:pt x="772" y="189"/>
                  </a:lnTo>
                  <a:lnTo>
                    <a:pt x="744" y="213"/>
                  </a:lnTo>
                  <a:lnTo>
                    <a:pt x="661" y="272"/>
                  </a:lnTo>
                  <a:lnTo>
                    <a:pt x="642" y="296"/>
                  </a:lnTo>
                  <a:lnTo>
                    <a:pt x="590" y="363"/>
                  </a:lnTo>
                  <a:lnTo>
                    <a:pt x="559" y="410"/>
                  </a:lnTo>
                  <a:lnTo>
                    <a:pt x="523" y="461"/>
                  </a:lnTo>
                  <a:lnTo>
                    <a:pt x="488" y="520"/>
                  </a:lnTo>
                  <a:lnTo>
                    <a:pt x="453" y="587"/>
                  </a:lnTo>
                  <a:lnTo>
                    <a:pt x="275" y="957"/>
                  </a:lnTo>
                  <a:lnTo>
                    <a:pt x="185" y="997"/>
                  </a:lnTo>
                  <a:lnTo>
                    <a:pt x="90" y="985"/>
                  </a:lnTo>
                  <a:lnTo>
                    <a:pt x="63" y="977"/>
                  </a:lnTo>
                  <a:lnTo>
                    <a:pt x="39" y="965"/>
                  </a:lnTo>
                  <a:lnTo>
                    <a:pt x="23" y="949"/>
                  </a:lnTo>
                  <a:lnTo>
                    <a:pt x="11" y="934"/>
                  </a:lnTo>
                  <a:lnTo>
                    <a:pt x="7" y="922"/>
                  </a:lnTo>
                  <a:lnTo>
                    <a:pt x="4" y="910"/>
                  </a:lnTo>
                  <a:lnTo>
                    <a:pt x="4" y="898"/>
                  </a:lnTo>
                  <a:lnTo>
                    <a:pt x="0" y="835"/>
                  </a:lnTo>
                  <a:close/>
                </a:path>
              </a:pathLst>
            </a:custGeom>
            <a:solidFill>
              <a:srgbClr val="00506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7" name="Freeform 643"/>
            <p:cNvSpPr>
              <a:spLocks/>
            </p:cNvSpPr>
            <p:nvPr/>
          </p:nvSpPr>
          <p:spPr bwMode="auto">
            <a:xfrm>
              <a:off x="3353" y="1784"/>
              <a:ext cx="835" cy="1036"/>
            </a:xfrm>
            <a:custGeom>
              <a:avLst/>
              <a:gdLst>
                <a:gd name="T0" fmla="*/ 91 w 835"/>
                <a:gd name="T1" fmla="*/ 740 h 1036"/>
                <a:gd name="T2" fmla="*/ 225 w 835"/>
                <a:gd name="T3" fmla="*/ 461 h 1036"/>
                <a:gd name="T4" fmla="*/ 304 w 835"/>
                <a:gd name="T5" fmla="*/ 331 h 1036"/>
                <a:gd name="T6" fmla="*/ 434 w 835"/>
                <a:gd name="T7" fmla="*/ 165 h 1036"/>
                <a:gd name="T8" fmla="*/ 520 w 835"/>
                <a:gd name="T9" fmla="*/ 94 h 1036"/>
                <a:gd name="T10" fmla="*/ 639 w 835"/>
                <a:gd name="T11" fmla="*/ 43 h 1036"/>
                <a:gd name="T12" fmla="*/ 682 w 835"/>
                <a:gd name="T13" fmla="*/ 43 h 1036"/>
                <a:gd name="T14" fmla="*/ 772 w 835"/>
                <a:gd name="T15" fmla="*/ 79 h 1036"/>
                <a:gd name="T16" fmla="*/ 796 w 835"/>
                <a:gd name="T17" fmla="*/ 75 h 1036"/>
                <a:gd name="T18" fmla="*/ 800 w 835"/>
                <a:gd name="T19" fmla="*/ 193 h 1036"/>
                <a:gd name="T20" fmla="*/ 788 w 835"/>
                <a:gd name="T21" fmla="*/ 197 h 1036"/>
                <a:gd name="T22" fmla="*/ 757 w 835"/>
                <a:gd name="T23" fmla="*/ 224 h 1036"/>
                <a:gd name="T24" fmla="*/ 650 w 835"/>
                <a:gd name="T25" fmla="*/ 323 h 1036"/>
                <a:gd name="T26" fmla="*/ 540 w 835"/>
                <a:gd name="T27" fmla="*/ 449 h 1036"/>
                <a:gd name="T28" fmla="*/ 453 w 835"/>
                <a:gd name="T29" fmla="*/ 591 h 1036"/>
                <a:gd name="T30" fmla="*/ 316 w 835"/>
                <a:gd name="T31" fmla="*/ 870 h 1036"/>
                <a:gd name="T32" fmla="*/ 288 w 835"/>
                <a:gd name="T33" fmla="*/ 933 h 1036"/>
                <a:gd name="T34" fmla="*/ 260 w 835"/>
                <a:gd name="T35" fmla="*/ 965 h 1036"/>
                <a:gd name="T36" fmla="*/ 209 w 835"/>
                <a:gd name="T37" fmla="*/ 988 h 1036"/>
                <a:gd name="T38" fmla="*/ 111 w 835"/>
                <a:gd name="T39" fmla="*/ 984 h 1036"/>
                <a:gd name="T40" fmla="*/ 67 w 835"/>
                <a:gd name="T41" fmla="*/ 973 h 1036"/>
                <a:gd name="T42" fmla="*/ 40 w 835"/>
                <a:gd name="T43" fmla="*/ 937 h 1036"/>
                <a:gd name="T44" fmla="*/ 36 w 835"/>
                <a:gd name="T45" fmla="*/ 882 h 1036"/>
                <a:gd name="T46" fmla="*/ 16 w 835"/>
                <a:gd name="T47" fmla="*/ 854 h 1036"/>
                <a:gd name="T48" fmla="*/ 0 w 835"/>
                <a:gd name="T49" fmla="*/ 854 h 1036"/>
                <a:gd name="T50" fmla="*/ 0 w 835"/>
                <a:gd name="T51" fmla="*/ 894 h 1036"/>
                <a:gd name="T52" fmla="*/ 20 w 835"/>
                <a:gd name="T53" fmla="*/ 969 h 1036"/>
                <a:gd name="T54" fmla="*/ 79 w 835"/>
                <a:gd name="T55" fmla="*/ 1020 h 1036"/>
                <a:gd name="T56" fmla="*/ 166 w 835"/>
                <a:gd name="T57" fmla="*/ 1036 h 1036"/>
                <a:gd name="T58" fmla="*/ 252 w 835"/>
                <a:gd name="T59" fmla="*/ 1028 h 1036"/>
                <a:gd name="T60" fmla="*/ 312 w 835"/>
                <a:gd name="T61" fmla="*/ 976 h 1036"/>
                <a:gd name="T62" fmla="*/ 434 w 835"/>
                <a:gd name="T63" fmla="*/ 713 h 1036"/>
                <a:gd name="T64" fmla="*/ 544 w 835"/>
                <a:gd name="T65" fmla="*/ 524 h 1036"/>
                <a:gd name="T66" fmla="*/ 639 w 835"/>
                <a:gd name="T67" fmla="*/ 402 h 1036"/>
                <a:gd name="T68" fmla="*/ 828 w 835"/>
                <a:gd name="T69" fmla="*/ 224 h 1036"/>
                <a:gd name="T70" fmla="*/ 835 w 835"/>
                <a:gd name="T71" fmla="*/ 205 h 1036"/>
                <a:gd name="T72" fmla="*/ 832 w 835"/>
                <a:gd name="T73" fmla="*/ 126 h 1036"/>
                <a:gd name="T74" fmla="*/ 816 w 835"/>
                <a:gd name="T75" fmla="*/ 67 h 1036"/>
                <a:gd name="T76" fmla="*/ 749 w 835"/>
                <a:gd name="T77" fmla="*/ 27 h 1036"/>
                <a:gd name="T78" fmla="*/ 654 w 835"/>
                <a:gd name="T79" fmla="*/ 0 h 1036"/>
                <a:gd name="T80" fmla="*/ 603 w 835"/>
                <a:gd name="T81" fmla="*/ 4 h 1036"/>
                <a:gd name="T82" fmla="*/ 528 w 835"/>
                <a:gd name="T83" fmla="*/ 31 h 1036"/>
                <a:gd name="T84" fmla="*/ 422 w 835"/>
                <a:gd name="T85" fmla="*/ 114 h 1036"/>
                <a:gd name="T86" fmla="*/ 351 w 835"/>
                <a:gd name="T87" fmla="*/ 189 h 1036"/>
                <a:gd name="T88" fmla="*/ 233 w 835"/>
                <a:gd name="T89" fmla="*/ 354 h 1036"/>
                <a:gd name="T90" fmla="*/ 91 w 835"/>
                <a:gd name="T91" fmla="*/ 630 h 1036"/>
                <a:gd name="T92" fmla="*/ 0 w 835"/>
                <a:gd name="T93" fmla="*/ 858 h 1036"/>
                <a:gd name="T94" fmla="*/ 0 w 835"/>
                <a:gd name="T95" fmla="*/ 874 h 1036"/>
                <a:gd name="T96" fmla="*/ 24 w 835"/>
                <a:gd name="T97" fmla="*/ 894 h 1036"/>
                <a:gd name="T98" fmla="*/ 32 w 835"/>
                <a:gd name="T99" fmla="*/ 886 h 10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835"/>
                <a:gd name="T151" fmla="*/ 0 h 1036"/>
                <a:gd name="T152" fmla="*/ 835 w 835"/>
                <a:gd name="T153" fmla="*/ 1036 h 10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835" h="1036">
                  <a:moveTo>
                    <a:pt x="32" y="886"/>
                  </a:moveTo>
                  <a:lnTo>
                    <a:pt x="32" y="886"/>
                  </a:lnTo>
                  <a:lnTo>
                    <a:pt x="91" y="740"/>
                  </a:lnTo>
                  <a:lnTo>
                    <a:pt x="154" y="598"/>
                  </a:lnTo>
                  <a:lnTo>
                    <a:pt x="186" y="531"/>
                  </a:lnTo>
                  <a:lnTo>
                    <a:pt x="225" y="461"/>
                  </a:lnTo>
                  <a:lnTo>
                    <a:pt x="264" y="394"/>
                  </a:lnTo>
                  <a:lnTo>
                    <a:pt x="304" y="331"/>
                  </a:lnTo>
                  <a:lnTo>
                    <a:pt x="343" y="272"/>
                  </a:lnTo>
                  <a:lnTo>
                    <a:pt x="386" y="216"/>
                  </a:lnTo>
                  <a:lnTo>
                    <a:pt x="434" y="165"/>
                  </a:lnTo>
                  <a:lnTo>
                    <a:pt x="485" y="118"/>
                  </a:lnTo>
                  <a:lnTo>
                    <a:pt x="520" y="94"/>
                  </a:lnTo>
                  <a:lnTo>
                    <a:pt x="556" y="71"/>
                  </a:lnTo>
                  <a:lnTo>
                    <a:pt x="595" y="55"/>
                  </a:lnTo>
                  <a:lnTo>
                    <a:pt x="639" y="43"/>
                  </a:lnTo>
                  <a:lnTo>
                    <a:pt x="658" y="39"/>
                  </a:lnTo>
                  <a:lnTo>
                    <a:pt x="682" y="43"/>
                  </a:lnTo>
                  <a:lnTo>
                    <a:pt x="705" y="51"/>
                  </a:lnTo>
                  <a:lnTo>
                    <a:pt x="729" y="59"/>
                  </a:lnTo>
                  <a:lnTo>
                    <a:pt x="772" y="79"/>
                  </a:lnTo>
                  <a:lnTo>
                    <a:pt x="816" y="102"/>
                  </a:lnTo>
                  <a:lnTo>
                    <a:pt x="796" y="75"/>
                  </a:lnTo>
                  <a:lnTo>
                    <a:pt x="800" y="193"/>
                  </a:lnTo>
                  <a:lnTo>
                    <a:pt x="800" y="185"/>
                  </a:lnTo>
                  <a:lnTo>
                    <a:pt x="796" y="189"/>
                  </a:lnTo>
                  <a:lnTo>
                    <a:pt x="788" y="197"/>
                  </a:lnTo>
                  <a:lnTo>
                    <a:pt x="757" y="224"/>
                  </a:lnTo>
                  <a:lnTo>
                    <a:pt x="733" y="244"/>
                  </a:lnTo>
                  <a:lnTo>
                    <a:pt x="650" y="323"/>
                  </a:lnTo>
                  <a:lnTo>
                    <a:pt x="615" y="362"/>
                  </a:lnTo>
                  <a:lnTo>
                    <a:pt x="575" y="405"/>
                  </a:lnTo>
                  <a:lnTo>
                    <a:pt x="540" y="449"/>
                  </a:lnTo>
                  <a:lnTo>
                    <a:pt x="509" y="492"/>
                  </a:lnTo>
                  <a:lnTo>
                    <a:pt x="477" y="539"/>
                  </a:lnTo>
                  <a:lnTo>
                    <a:pt x="453" y="591"/>
                  </a:lnTo>
                  <a:lnTo>
                    <a:pt x="382" y="728"/>
                  </a:lnTo>
                  <a:lnTo>
                    <a:pt x="316" y="870"/>
                  </a:lnTo>
                  <a:lnTo>
                    <a:pt x="304" y="906"/>
                  </a:lnTo>
                  <a:lnTo>
                    <a:pt x="288" y="933"/>
                  </a:lnTo>
                  <a:lnTo>
                    <a:pt x="280" y="945"/>
                  </a:lnTo>
                  <a:lnTo>
                    <a:pt x="272" y="957"/>
                  </a:lnTo>
                  <a:lnTo>
                    <a:pt x="260" y="965"/>
                  </a:lnTo>
                  <a:lnTo>
                    <a:pt x="245" y="973"/>
                  </a:lnTo>
                  <a:lnTo>
                    <a:pt x="209" y="988"/>
                  </a:lnTo>
                  <a:lnTo>
                    <a:pt x="182" y="992"/>
                  </a:lnTo>
                  <a:lnTo>
                    <a:pt x="150" y="992"/>
                  </a:lnTo>
                  <a:lnTo>
                    <a:pt x="111" y="984"/>
                  </a:lnTo>
                  <a:lnTo>
                    <a:pt x="87" y="980"/>
                  </a:lnTo>
                  <a:lnTo>
                    <a:pt x="67" y="973"/>
                  </a:lnTo>
                  <a:lnTo>
                    <a:pt x="56" y="965"/>
                  </a:lnTo>
                  <a:lnTo>
                    <a:pt x="44" y="953"/>
                  </a:lnTo>
                  <a:lnTo>
                    <a:pt x="40" y="937"/>
                  </a:lnTo>
                  <a:lnTo>
                    <a:pt x="36" y="921"/>
                  </a:lnTo>
                  <a:lnTo>
                    <a:pt x="36" y="882"/>
                  </a:lnTo>
                  <a:lnTo>
                    <a:pt x="32" y="874"/>
                  </a:lnTo>
                  <a:lnTo>
                    <a:pt x="28" y="866"/>
                  </a:lnTo>
                  <a:lnTo>
                    <a:pt x="16" y="854"/>
                  </a:lnTo>
                  <a:lnTo>
                    <a:pt x="12" y="850"/>
                  </a:lnTo>
                  <a:lnTo>
                    <a:pt x="4" y="850"/>
                  </a:lnTo>
                  <a:lnTo>
                    <a:pt x="0" y="854"/>
                  </a:lnTo>
                  <a:lnTo>
                    <a:pt x="0" y="862"/>
                  </a:lnTo>
                  <a:lnTo>
                    <a:pt x="0" y="894"/>
                  </a:lnTo>
                  <a:lnTo>
                    <a:pt x="4" y="921"/>
                  </a:lnTo>
                  <a:lnTo>
                    <a:pt x="8" y="949"/>
                  </a:lnTo>
                  <a:lnTo>
                    <a:pt x="20" y="969"/>
                  </a:lnTo>
                  <a:lnTo>
                    <a:pt x="36" y="988"/>
                  </a:lnTo>
                  <a:lnTo>
                    <a:pt x="56" y="1008"/>
                  </a:lnTo>
                  <a:lnTo>
                    <a:pt x="79" y="1020"/>
                  </a:lnTo>
                  <a:lnTo>
                    <a:pt x="111" y="1028"/>
                  </a:lnTo>
                  <a:lnTo>
                    <a:pt x="166" y="1036"/>
                  </a:lnTo>
                  <a:lnTo>
                    <a:pt x="193" y="1036"/>
                  </a:lnTo>
                  <a:lnTo>
                    <a:pt x="225" y="1036"/>
                  </a:lnTo>
                  <a:lnTo>
                    <a:pt x="252" y="1028"/>
                  </a:lnTo>
                  <a:lnTo>
                    <a:pt x="276" y="1020"/>
                  </a:lnTo>
                  <a:lnTo>
                    <a:pt x="296" y="1000"/>
                  </a:lnTo>
                  <a:lnTo>
                    <a:pt x="312" y="976"/>
                  </a:lnTo>
                  <a:lnTo>
                    <a:pt x="375" y="847"/>
                  </a:lnTo>
                  <a:lnTo>
                    <a:pt x="434" y="713"/>
                  </a:lnTo>
                  <a:lnTo>
                    <a:pt x="469" y="650"/>
                  </a:lnTo>
                  <a:lnTo>
                    <a:pt x="505" y="587"/>
                  </a:lnTo>
                  <a:lnTo>
                    <a:pt x="544" y="524"/>
                  </a:lnTo>
                  <a:lnTo>
                    <a:pt x="583" y="468"/>
                  </a:lnTo>
                  <a:lnTo>
                    <a:pt x="639" y="402"/>
                  </a:lnTo>
                  <a:lnTo>
                    <a:pt x="702" y="339"/>
                  </a:lnTo>
                  <a:lnTo>
                    <a:pt x="761" y="283"/>
                  </a:lnTo>
                  <a:lnTo>
                    <a:pt x="828" y="224"/>
                  </a:lnTo>
                  <a:lnTo>
                    <a:pt x="832" y="216"/>
                  </a:lnTo>
                  <a:lnTo>
                    <a:pt x="835" y="205"/>
                  </a:lnTo>
                  <a:lnTo>
                    <a:pt x="835" y="177"/>
                  </a:lnTo>
                  <a:lnTo>
                    <a:pt x="832" y="126"/>
                  </a:lnTo>
                  <a:lnTo>
                    <a:pt x="832" y="98"/>
                  </a:lnTo>
                  <a:lnTo>
                    <a:pt x="824" y="83"/>
                  </a:lnTo>
                  <a:lnTo>
                    <a:pt x="816" y="67"/>
                  </a:lnTo>
                  <a:lnTo>
                    <a:pt x="792" y="51"/>
                  </a:lnTo>
                  <a:lnTo>
                    <a:pt x="749" y="27"/>
                  </a:lnTo>
                  <a:lnTo>
                    <a:pt x="702" y="12"/>
                  </a:lnTo>
                  <a:lnTo>
                    <a:pt x="678" y="4"/>
                  </a:lnTo>
                  <a:lnTo>
                    <a:pt x="654" y="0"/>
                  </a:lnTo>
                  <a:lnTo>
                    <a:pt x="631" y="0"/>
                  </a:lnTo>
                  <a:lnTo>
                    <a:pt x="603" y="4"/>
                  </a:lnTo>
                  <a:lnTo>
                    <a:pt x="579" y="8"/>
                  </a:lnTo>
                  <a:lnTo>
                    <a:pt x="552" y="20"/>
                  </a:lnTo>
                  <a:lnTo>
                    <a:pt x="528" y="31"/>
                  </a:lnTo>
                  <a:lnTo>
                    <a:pt x="505" y="47"/>
                  </a:lnTo>
                  <a:lnTo>
                    <a:pt x="461" y="79"/>
                  </a:lnTo>
                  <a:lnTo>
                    <a:pt x="422" y="114"/>
                  </a:lnTo>
                  <a:lnTo>
                    <a:pt x="386" y="150"/>
                  </a:lnTo>
                  <a:lnTo>
                    <a:pt x="351" y="189"/>
                  </a:lnTo>
                  <a:lnTo>
                    <a:pt x="319" y="228"/>
                  </a:lnTo>
                  <a:lnTo>
                    <a:pt x="288" y="268"/>
                  </a:lnTo>
                  <a:lnTo>
                    <a:pt x="233" y="354"/>
                  </a:lnTo>
                  <a:lnTo>
                    <a:pt x="182" y="445"/>
                  </a:lnTo>
                  <a:lnTo>
                    <a:pt x="134" y="535"/>
                  </a:lnTo>
                  <a:lnTo>
                    <a:pt x="91" y="630"/>
                  </a:lnTo>
                  <a:lnTo>
                    <a:pt x="16" y="823"/>
                  </a:lnTo>
                  <a:lnTo>
                    <a:pt x="0" y="858"/>
                  </a:lnTo>
                  <a:lnTo>
                    <a:pt x="0" y="866"/>
                  </a:lnTo>
                  <a:lnTo>
                    <a:pt x="0" y="874"/>
                  </a:lnTo>
                  <a:lnTo>
                    <a:pt x="12" y="886"/>
                  </a:lnTo>
                  <a:lnTo>
                    <a:pt x="16" y="894"/>
                  </a:lnTo>
                  <a:lnTo>
                    <a:pt x="24" y="894"/>
                  </a:lnTo>
                  <a:lnTo>
                    <a:pt x="28" y="894"/>
                  </a:lnTo>
                  <a:lnTo>
                    <a:pt x="32" y="8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8" name="Freeform 644"/>
            <p:cNvSpPr>
              <a:spLocks/>
            </p:cNvSpPr>
            <p:nvPr/>
          </p:nvSpPr>
          <p:spPr bwMode="auto">
            <a:xfrm>
              <a:off x="4488" y="2075"/>
              <a:ext cx="437" cy="1004"/>
            </a:xfrm>
            <a:custGeom>
              <a:avLst/>
              <a:gdLst>
                <a:gd name="T0" fmla="*/ 8 w 437"/>
                <a:gd name="T1" fmla="*/ 1004 h 1004"/>
                <a:gd name="T2" fmla="*/ 8 w 437"/>
                <a:gd name="T3" fmla="*/ 1004 h 1004"/>
                <a:gd name="T4" fmla="*/ 4 w 437"/>
                <a:gd name="T5" fmla="*/ 1004 h 1004"/>
                <a:gd name="T6" fmla="*/ 0 w 437"/>
                <a:gd name="T7" fmla="*/ 993 h 1004"/>
                <a:gd name="T8" fmla="*/ 0 w 437"/>
                <a:gd name="T9" fmla="*/ 981 h 1004"/>
                <a:gd name="T10" fmla="*/ 0 w 437"/>
                <a:gd name="T11" fmla="*/ 969 h 1004"/>
                <a:gd name="T12" fmla="*/ 4 w 437"/>
                <a:gd name="T13" fmla="*/ 945 h 1004"/>
                <a:gd name="T14" fmla="*/ 12 w 437"/>
                <a:gd name="T15" fmla="*/ 922 h 1004"/>
                <a:gd name="T16" fmla="*/ 12 w 437"/>
                <a:gd name="T17" fmla="*/ 922 h 1004"/>
                <a:gd name="T18" fmla="*/ 106 w 437"/>
                <a:gd name="T19" fmla="*/ 682 h 1004"/>
                <a:gd name="T20" fmla="*/ 228 w 437"/>
                <a:gd name="T21" fmla="*/ 386 h 1004"/>
                <a:gd name="T22" fmla="*/ 291 w 437"/>
                <a:gd name="T23" fmla="*/ 248 h 1004"/>
                <a:gd name="T24" fmla="*/ 346 w 437"/>
                <a:gd name="T25" fmla="*/ 130 h 1004"/>
                <a:gd name="T26" fmla="*/ 390 w 437"/>
                <a:gd name="T27" fmla="*/ 44 h 1004"/>
                <a:gd name="T28" fmla="*/ 406 w 437"/>
                <a:gd name="T29" fmla="*/ 16 h 1004"/>
                <a:gd name="T30" fmla="*/ 421 w 437"/>
                <a:gd name="T31" fmla="*/ 0 h 1004"/>
                <a:gd name="T32" fmla="*/ 421 w 437"/>
                <a:gd name="T33" fmla="*/ 0 h 1004"/>
                <a:gd name="T34" fmla="*/ 421 w 437"/>
                <a:gd name="T35" fmla="*/ 0 h 1004"/>
                <a:gd name="T36" fmla="*/ 425 w 437"/>
                <a:gd name="T37" fmla="*/ 4 h 1004"/>
                <a:gd name="T38" fmla="*/ 429 w 437"/>
                <a:gd name="T39" fmla="*/ 16 h 1004"/>
                <a:gd name="T40" fmla="*/ 433 w 437"/>
                <a:gd name="T41" fmla="*/ 55 h 1004"/>
                <a:gd name="T42" fmla="*/ 437 w 437"/>
                <a:gd name="T43" fmla="*/ 118 h 1004"/>
                <a:gd name="T44" fmla="*/ 425 w 437"/>
                <a:gd name="T45" fmla="*/ 177 h 1004"/>
                <a:gd name="T46" fmla="*/ 382 w 437"/>
                <a:gd name="T47" fmla="*/ 351 h 1004"/>
                <a:gd name="T48" fmla="*/ 8 w 437"/>
                <a:gd name="T49" fmla="*/ 1004 h 100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37"/>
                <a:gd name="T76" fmla="*/ 0 h 1004"/>
                <a:gd name="T77" fmla="*/ 437 w 437"/>
                <a:gd name="T78" fmla="*/ 1004 h 100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37" h="1004">
                  <a:moveTo>
                    <a:pt x="8" y="1004"/>
                  </a:moveTo>
                  <a:lnTo>
                    <a:pt x="8" y="1004"/>
                  </a:lnTo>
                  <a:lnTo>
                    <a:pt x="4" y="1004"/>
                  </a:lnTo>
                  <a:lnTo>
                    <a:pt x="0" y="993"/>
                  </a:lnTo>
                  <a:lnTo>
                    <a:pt x="0" y="981"/>
                  </a:lnTo>
                  <a:lnTo>
                    <a:pt x="0" y="969"/>
                  </a:lnTo>
                  <a:lnTo>
                    <a:pt x="4" y="945"/>
                  </a:lnTo>
                  <a:lnTo>
                    <a:pt x="12" y="922"/>
                  </a:lnTo>
                  <a:lnTo>
                    <a:pt x="106" y="682"/>
                  </a:lnTo>
                  <a:lnTo>
                    <a:pt x="228" y="386"/>
                  </a:lnTo>
                  <a:lnTo>
                    <a:pt x="291" y="248"/>
                  </a:lnTo>
                  <a:lnTo>
                    <a:pt x="346" y="130"/>
                  </a:lnTo>
                  <a:lnTo>
                    <a:pt x="390" y="44"/>
                  </a:lnTo>
                  <a:lnTo>
                    <a:pt x="406" y="16"/>
                  </a:lnTo>
                  <a:lnTo>
                    <a:pt x="421" y="0"/>
                  </a:lnTo>
                  <a:lnTo>
                    <a:pt x="425" y="4"/>
                  </a:lnTo>
                  <a:lnTo>
                    <a:pt x="429" y="16"/>
                  </a:lnTo>
                  <a:lnTo>
                    <a:pt x="433" y="55"/>
                  </a:lnTo>
                  <a:lnTo>
                    <a:pt x="437" y="118"/>
                  </a:lnTo>
                  <a:lnTo>
                    <a:pt x="425" y="177"/>
                  </a:lnTo>
                  <a:lnTo>
                    <a:pt x="382" y="351"/>
                  </a:lnTo>
                  <a:lnTo>
                    <a:pt x="8" y="1004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59" name="Freeform 645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w 342"/>
                <a:gd name="T23" fmla="*/ 83 h 1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2"/>
                <a:gd name="T37" fmla="*/ 0 h 153"/>
                <a:gd name="T38" fmla="*/ 342 w 342"/>
                <a:gd name="T39" fmla="*/ 153 h 15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7E9FA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0" name="Freeform 646"/>
            <p:cNvSpPr>
              <a:spLocks/>
            </p:cNvSpPr>
            <p:nvPr/>
          </p:nvSpPr>
          <p:spPr bwMode="auto">
            <a:xfrm>
              <a:off x="4236" y="2225"/>
              <a:ext cx="342" cy="153"/>
            </a:xfrm>
            <a:custGeom>
              <a:avLst/>
              <a:gdLst>
                <a:gd name="T0" fmla="*/ 0 w 342"/>
                <a:gd name="T1" fmla="*/ 83 h 153"/>
                <a:gd name="T2" fmla="*/ 0 w 342"/>
                <a:gd name="T3" fmla="*/ 83 h 153"/>
                <a:gd name="T4" fmla="*/ 27 w 342"/>
                <a:gd name="T5" fmla="*/ 39 h 153"/>
                <a:gd name="T6" fmla="*/ 47 w 342"/>
                <a:gd name="T7" fmla="*/ 0 h 153"/>
                <a:gd name="T8" fmla="*/ 342 w 342"/>
                <a:gd name="T9" fmla="*/ 59 h 153"/>
                <a:gd name="T10" fmla="*/ 295 w 342"/>
                <a:gd name="T11" fmla="*/ 153 h 153"/>
                <a:gd name="T12" fmla="*/ 295 w 342"/>
                <a:gd name="T13" fmla="*/ 153 h 153"/>
                <a:gd name="T14" fmla="*/ 145 w 342"/>
                <a:gd name="T15" fmla="*/ 118 h 153"/>
                <a:gd name="T16" fmla="*/ 43 w 342"/>
                <a:gd name="T17" fmla="*/ 94 h 153"/>
                <a:gd name="T18" fmla="*/ 12 w 342"/>
                <a:gd name="T19" fmla="*/ 87 h 153"/>
                <a:gd name="T20" fmla="*/ 0 w 342"/>
                <a:gd name="T21" fmla="*/ 87 h 1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42"/>
                <a:gd name="T34" fmla="*/ 0 h 153"/>
                <a:gd name="T35" fmla="*/ 342 w 342"/>
                <a:gd name="T36" fmla="*/ 153 h 15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42" h="153">
                  <a:moveTo>
                    <a:pt x="0" y="83"/>
                  </a:moveTo>
                  <a:lnTo>
                    <a:pt x="0" y="83"/>
                  </a:lnTo>
                  <a:lnTo>
                    <a:pt x="27" y="39"/>
                  </a:lnTo>
                  <a:lnTo>
                    <a:pt x="47" y="0"/>
                  </a:lnTo>
                  <a:lnTo>
                    <a:pt x="342" y="59"/>
                  </a:lnTo>
                  <a:lnTo>
                    <a:pt x="295" y="153"/>
                  </a:lnTo>
                  <a:lnTo>
                    <a:pt x="145" y="118"/>
                  </a:lnTo>
                  <a:lnTo>
                    <a:pt x="43" y="94"/>
                  </a:lnTo>
                  <a:lnTo>
                    <a:pt x="12" y="87"/>
                  </a:lnTo>
                  <a:lnTo>
                    <a:pt x="0" y="8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1" name="Freeform 647"/>
            <p:cNvSpPr>
              <a:spLocks/>
            </p:cNvSpPr>
            <p:nvPr/>
          </p:nvSpPr>
          <p:spPr bwMode="auto">
            <a:xfrm>
              <a:off x="4267" y="2245"/>
              <a:ext cx="292" cy="114"/>
            </a:xfrm>
            <a:custGeom>
              <a:avLst/>
              <a:gdLst>
                <a:gd name="T0" fmla="*/ 32 w 292"/>
                <a:gd name="T1" fmla="*/ 0 h 114"/>
                <a:gd name="T2" fmla="*/ 292 w 292"/>
                <a:gd name="T3" fmla="*/ 55 h 114"/>
                <a:gd name="T4" fmla="*/ 252 w 292"/>
                <a:gd name="T5" fmla="*/ 114 h 114"/>
                <a:gd name="T6" fmla="*/ 252 w 292"/>
                <a:gd name="T7" fmla="*/ 114 h 114"/>
                <a:gd name="T8" fmla="*/ 209 w 292"/>
                <a:gd name="T9" fmla="*/ 102 h 114"/>
                <a:gd name="T10" fmla="*/ 83 w 292"/>
                <a:gd name="T11" fmla="*/ 74 h 114"/>
                <a:gd name="T12" fmla="*/ 83 w 292"/>
                <a:gd name="T13" fmla="*/ 74 h 114"/>
                <a:gd name="T14" fmla="*/ 0 w 292"/>
                <a:gd name="T15" fmla="*/ 55 h 114"/>
                <a:gd name="T16" fmla="*/ 32 w 292"/>
                <a:gd name="T17" fmla="*/ 0 h 1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2"/>
                <a:gd name="T28" fmla="*/ 0 h 114"/>
                <a:gd name="T29" fmla="*/ 292 w 292"/>
                <a:gd name="T30" fmla="*/ 114 h 1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2" h="114">
                  <a:moveTo>
                    <a:pt x="32" y="0"/>
                  </a:moveTo>
                  <a:lnTo>
                    <a:pt x="292" y="55"/>
                  </a:lnTo>
                  <a:lnTo>
                    <a:pt x="252" y="114"/>
                  </a:lnTo>
                  <a:lnTo>
                    <a:pt x="209" y="102"/>
                  </a:lnTo>
                  <a:lnTo>
                    <a:pt x="83" y="74"/>
                  </a:lnTo>
                  <a:lnTo>
                    <a:pt x="0" y="55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BFBFA2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2" name="Freeform 648"/>
            <p:cNvSpPr>
              <a:spLocks/>
            </p:cNvSpPr>
            <p:nvPr/>
          </p:nvSpPr>
          <p:spPr bwMode="auto">
            <a:xfrm>
              <a:off x="4240" y="2233"/>
              <a:ext cx="59" cy="79"/>
            </a:xfrm>
            <a:custGeom>
              <a:avLst/>
              <a:gdLst>
                <a:gd name="T0" fmla="*/ 0 w 59"/>
                <a:gd name="T1" fmla="*/ 79 h 79"/>
                <a:gd name="T2" fmla="*/ 27 w 59"/>
                <a:gd name="T3" fmla="*/ 67 h 79"/>
                <a:gd name="T4" fmla="*/ 59 w 59"/>
                <a:gd name="T5" fmla="*/ 12 h 79"/>
                <a:gd name="T6" fmla="*/ 47 w 59"/>
                <a:gd name="T7" fmla="*/ 0 h 79"/>
                <a:gd name="T8" fmla="*/ 0 w 59"/>
                <a:gd name="T9" fmla="*/ 7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79"/>
                <a:gd name="T17" fmla="*/ 59 w 59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79">
                  <a:moveTo>
                    <a:pt x="0" y="79"/>
                  </a:moveTo>
                  <a:lnTo>
                    <a:pt x="27" y="67"/>
                  </a:lnTo>
                  <a:lnTo>
                    <a:pt x="59" y="12"/>
                  </a:lnTo>
                  <a:lnTo>
                    <a:pt x="47" y="0"/>
                  </a:lnTo>
                  <a:lnTo>
                    <a:pt x="0" y="79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3" name="Freeform 649"/>
            <p:cNvSpPr>
              <a:spLocks/>
            </p:cNvSpPr>
            <p:nvPr/>
          </p:nvSpPr>
          <p:spPr bwMode="auto">
            <a:xfrm>
              <a:off x="4519" y="2284"/>
              <a:ext cx="59" cy="91"/>
            </a:xfrm>
            <a:custGeom>
              <a:avLst/>
              <a:gdLst>
                <a:gd name="T0" fmla="*/ 40 w 59"/>
                <a:gd name="T1" fmla="*/ 8 h 91"/>
                <a:gd name="T2" fmla="*/ 59 w 59"/>
                <a:gd name="T3" fmla="*/ 0 h 91"/>
                <a:gd name="T4" fmla="*/ 4 w 59"/>
                <a:gd name="T5" fmla="*/ 91 h 91"/>
                <a:gd name="T6" fmla="*/ 0 w 59"/>
                <a:gd name="T7" fmla="*/ 75 h 91"/>
                <a:gd name="T8" fmla="*/ 40 w 59"/>
                <a:gd name="T9" fmla="*/ 8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"/>
                <a:gd name="T16" fmla="*/ 0 h 91"/>
                <a:gd name="T17" fmla="*/ 59 w 59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" h="91">
                  <a:moveTo>
                    <a:pt x="40" y="8"/>
                  </a:moveTo>
                  <a:lnTo>
                    <a:pt x="59" y="0"/>
                  </a:lnTo>
                  <a:lnTo>
                    <a:pt x="4" y="91"/>
                  </a:lnTo>
                  <a:lnTo>
                    <a:pt x="0" y="75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ABC3C9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4" name="Freeform 650"/>
            <p:cNvSpPr>
              <a:spLocks/>
            </p:cNvSpPr>
            <p:nvPr/>
          </p:nvSpPr>
          <p:spPr bwMode="auto">
            <a:xfrm>
              <a:off x="3732" y="2060"/>
              <a:ext cx="319" cy="523"/>
            </a:xfrm>
            <a:custGeom>
              <a:avLst/>
              <a:gdLst>
                <a:gd name="T0" fmla="*/ 3 w 319"/>
                <a:gd name="T1" fmla="*/ 523 h 523"/>
                <a:gd name="T2" fmla="*/ 3 w 319"/>
                <a:gd name="T3" fmla="*/ 523 h 523"/>
                <a:gd name="T4" fmla="*/ 23 w 319"/>
                <a:gd name="T5" fmla="*/ 445 h 523"/>
                <a:gd name="T6" fmla="*/ 47 w 319"/>
                <a:gd name="T7" fmla="*/ 370 h 523"/>
                <a:gd name="T8" fmla="*/ 78 w 319"/>
                <a:gd name="T9" fmla="*/ 299 h 523"/>
                <a:gd name="T10" fmla="*/ 114 w 319"/>
                <a:gd name="T11" fmla="*/ 228 h 523"/>
                <a:gd name="T12" fmla="*/ 114 w 319"/>
                <a:gd name="T13" fmla="*/ 228 h 523"/>
                <a:gd name="T14" fmla="*/ 161 w 319"/>
                <a:gd name="T15" fmla="*/ 149 h 523"/>
                <a:gd name="T16" fmla="*/ 185 w 319"/>
                <a:gd name="T17" fmla="*/ 110 h 523"/>
                <a:gd name="T18" fmla="*/ 212 w 319"/>
                <a:gd name="T19" fmla="*/ 70 h 523"/>
                <a:gd name="T20" fmla="*/ 212 w 319"/>
                <a:gd name="T21" fmla="*/ 70 h 523"/>
                <a:gd name="T22" fmla="*/ 224 w 319"/>
                <a:gd name="T23" fmla="*/ 55 h 523"/>
                <a:gd name="T24" fmla="*/ 240 w 319"/>
                <a:gd name="T25" fmla="*/ 47 h 523"/>
                <a:gd name="T26" fmla="*/ 252 w 319"/>
                <a:gd name="T27" fmla="*/ 39 h 523"/>
                <a:gd name="T28" fmla="*/ 263 w 319"/>
                <a:gd name="T29" fmla="*/ 39 h 523"/>
                <a:gd name="T30" fmla="*/ 275 w 319"/>
                <a:gd name="T31" fmla="*/ 43 h 523"/>
                <a:gd name="T32" fmla="*/ 287 w 319"/>
                <a:gd name="T33" fmla="*/ 47 h 523"/>
                <a:gd name="T34" fmla="*/ 319 w 319"/>
                <a:gd name="T35" fmla="*/ 66 h 523"/>
                <a:gd name="T36" fmla="*/ 319 w 319"/>
                <a:gd name="T37" fmla="*/ 66 h 523"/>
                <a:gd name="T38" fmla="*/ 319 w 319"/>
                <a:gd name="T39" fmla="*/ 63 h 523"/>
                <a:gd name="T40" fmla="*/ 319 w 319"/>
                <a:gd name="T41" fmla="*/ 51 h 523"/>
                <a:gd name="T42" fmla="*/ 319 w 319"/>
                <a:gd name="T43" fmla="*/ 35 h 523"/>
                <a:gd name="T44" fmla="*/ 319 w 319"/>
                <a:gd name="T45" fmla="*/ 27 h 523"/>
                <a:gd name="T46" fmla="*/ 319 w 319"/>
                <a:gd name="T47" fmla="*/ 27 h 523"/>
                <a:gd name="T48" fmla="*/ 287 w 319"/>
                <a:gd name="T49" fmla="*/ 7 h 523"/>
                <a:gd name="T50" fmla="*/ 271 w 319"/>
                <a:gd name="T51" fmla="*/ 3 h 523"/>
                <a:gd name="T52" fmla="*/ 260 w 319"/>
                <a:gd name="T53" fmla="*/ 0 h 523"/>
                <a:gd name="T54" fmla="*/ 248 w 319"/>
                <a:gd name="T55" fmla="*/ 3 h 523"/>
                <a:gd name="T56" fmla="*/ 236 w 319"/>
                <a:gd name="T57" fmla="*/ 11 h 523"/>
                <a:gd name="T58" fmla="*/ 220 w 319"/>
                <a:gd name="T59" fmla="*/ 23 h 523"/>
                <a:gd name="T60" fmla="*/ 204 w 319"/>
                <a:gd name="T61" fmla="*/ 39 h 523"/>
                <a:gd name="T62" fmla="*/ 204 w 319"/>
                <a:gd name="T63" fmla="*/ 39 h 523"/>
                <a:gd name="T64" fmla="*/ 181 w 319"/>
                <a:gd name="T65" fmla="*/ 74 h 523"/>
                <a:gd name="T66" fmla="*/ 157 w 319"/>
                <a:gd name="T67" fmla="*/ 114 h 523"/>
                <a:gd name="T68" fmla="*/ 114 w 319"/>
                <a:gd name="T69" fmla="*/ 189 h 523"/>
                <a:gd name="T70" fmla="*/ 114 w 319"/>
                <a:gd name="T71" fmla="*/ 189 h 523"/>
                <a:gd name="T72" fmla="*/ 74 w 319"/>
                <a:gd name="T73" fmla="*/ 263 h 523"/>
                <a:gd name="T74" fmla="*/ 47 w 319"/>
                <a:gd name="T75" fmla="*/ 334 h 523"/>
                <a:gd name="T76" fmla="*/ 19 w 319"/>
                <a:gd name="T77" fmla="*/ 409 h 523"/>
                <a:gd name="T78" fmla="*/ 0 w 319"/>
                <a:gd name="T79" fmla="*/ 488 h 523"/>
                <a:gd name="T80" fmla="*/ 0 w 319"/>
                <a:gd name="T81" fmla="*/ 488 h 523"/>
                <a:gd name="T82" fmla="*/ 0 w 319"/>
                <a:gd name="T83" fmla="*/ 508 h 523"/>
                <a:gd name="T84" fmla="*/ 3 w 319"/>
                <a:gd name="T85" fmla="*/ 523 h 523"/>
                <a:gd name="T86" fmla="*/ 3 w 319"/>
                <a:gd name="T87" fmla="*/ 523 h 52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9"/>
                <a:gd name="T133" fmla="*/ 0 h 523"/>
                <a:gd name="T134" fmla="*/ 319 w 319"/>
                <a:gd name="T135" fmla="*/ 523 h 523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9" h="523">
                  <a:moveTo>
                    <a:pt x="3" y="523"/>
                  </a:moveTo>
                  <a:lnTo>
                    <a:pt x="3" y="523"/>
                  </a:lnTo>
                  <a:lnTo>
                    <a:pt x="23" y="445"/>
                  </a:lnTo>
                  <a:lnTo>
                    <a:pt x="47" y="370"/>
                  </a:lnTo>
                  <a:lnTo>
                    <a:pt x="78" y="299"/>
                  </a:lnTo>
                  <a:lnTo>
                    <a:pt x="114" y="228"/>
                  </a:lnTo>
                  <a:lnTo>
                    <a:pt x="161" y="149"/>
                  </a:lnTo>
                  <a:lnTo>
                    <a:pt x="185" y="110"/>
                  </a:lnTo>
                  <a:lnTo>
                    <a:pt x="212" y="70"/>
                  </a:lnTo>
                  <a:lnTo>
                    <a:pt x="224" y="55"/>
                  </a:lnTo>
                  <a:lnTo>
                    <a:pt x="240" y="47"/>
                  </a:lnTo>
                  <a:lnTo>
                    <a:pt x="252" y="39"/>
                  </a:lnTo>
                  <a:lnTo>
                    <a:pt x="263" y="39"/>
                  </a:lnTo>
                  <a:lnTo>
                    <a:pt x="275" y="43"/>
                  </a:lnTo>
                  <a:lnTo>
                    <a:pt x="287" y="47"/>
                  </a:lnTo>
                  <a:lnTo>
                    <a:pt x="319" y="66"/>
                  </a:lnTo>
                  <a:lnTo>
                    <a:pt x="319" y="63"/>
                  </a:lnTo>
                  <a:lnTo>
                    <a:pt x="319" y="51"/>
                  </a:lnTo>
                  <a:lnTo>
                    <a:pt x="319" y="35"/>
                  </a:lnTo>
                  <a:lnTo>
                    <a:pt x="319" y="27"/>
                  </a:lnTo>
                  <a:lnTo>
                    <a:pt x="287" y="7"/>
                  </a:lnTo>
                  <a:lnTo>
                    <a:pt x="271" y="3"/>
                  </a:lnTo>
                  <a:lnTo>
                    <a:pt x="260" y="0"/>
                  </a:lnTo>
                  <a:lnTo>
                    <a:pt x="248" y="3"/>
                  </a:lnTo>
                  <a:lnTo>
                    <a:pt x="236" y="11"/>
                  </a:lnTo>
                  <a:lnTo>
                    <a:pt x="220" y="23"/>
                  </a:lnTo>
                  <a:lnTo>
                    <a:pt x="204" y="39"/>
                  </a:lnTo>
                  <a:lnTo>
                    <a:pt x="181" y="74"/>
                  </a:lnTo>
                  <a:lnTo>
                    <a:pt x="157" y="114"/>
                  </a:lnTo>
                  <a:lnTo>
                    <a:pt x="114" y="189"/>
                  </a:lnTo>
                  <a:lnTo>
                    <a:pt x="74" y="263"/>
                  </a:lnTo>
                  <a:lnTo>
                    <a:pt x="47" y="334"/>
                  </a:lnTo>
                  <a:lnTo>
                    <a:pt x="19" y="409"/>
                  </a:lnTo>
                  <a:lnTo>
                    <a:pt x="0" y="488"/>
                  </a:lnTo>
                  <a:lnTo>
                    <a:pt x="0" y="508"/>
                  </a:lnTo>
                  <a:lnTo>
                    <a:pt x="3" y="5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5" name="Freeform 651"/>
            <p:cNvSpPr>
              <a:spLocks/>
            </p:cNvSpPr>
            <p:nvPr/>
          </p:nvSpPr>
          <p:spPr bwMode="auto">
            <a:xfrm>
              <a:off x="3397" y="2646"/>
              <a:ext cx="165" cy="91"/>
            </a:xfrm>
            <a:custGeom>
              <a:avLst/>
              <a:gdLst>
                <a:gd name="T0" fmla="*/ 4 w 165"/>
                <a:gd name="T1" fmla="*/ 79 h 91"/>
                <a:gd name="T2" fmla="*/ 4 w 165"/>
                <a:gd name="T3" fmla="*/ 79 h 91"/>
                <a:gd name="T4" fmla="*/ 23 w 165"/>
                <a:gd name="T5" fmla="*/ 63 h 91"/>
                <a:gd name="T6" fmla="*/ 43 w 165"/>
                <a:gd name="T7" fmla="*/ 51 h 91"/>
                <a:gd name="T8" fmla="*/ 67 w 165"/>
                <a:gd name="T9" fmla="*/ 44 h 91"/>
                <a:gd name="T10" fmla="*/ 86 w 165"/>
                <a:gd name="T11" fmla="*/ 40 h 91"/>
                <a:gd name="T12" fmla="*/ 110 w 165"/>
                <a:gd name="T13" fmla="*/ 44 h 91"/>
                <a:gd name="T14" fmla="*/ 130 w 165"/>
                <a:gd name="T15" fmla="*/ 51 h 91"/>
                <a:gd name="T16" fmla="*/ 145 w 165"/>
                <a:gd name="T17" fmla="*/ 67 h 91"/>
                <a:gd name="T18" fmla="*/ 161 w 165"/>
                <a:gd name="T19" fmla="*/ 91 h 91"/>
                <a:gd name="T20" fmla="*/ 161 w 165"/>
                <a:gd name="T21" fmla="*/ 91 h 91"/>
                <a:gd name="T22" fmla="*/ 165 w 165"/>
                <a:gd name="T23" fmla="*/ 71 h 91"/>
                <a:gd name="T24" fmla="*/ 165 w 165"/>
                <a:gd name="T25" fmla="*/ 59 h 91"/>
                <a:gd name="T26" fmla="*/ 165 w 165"/>
                <a:gd name="T27" fmla="*/ 51 h 91"/>
                <a:gd name="T28" fmla="*/ 165 w 165"/>
                <a:gd name="T29" fmla="*/ 51 h 91"/>
                <a:gd name="T30" fmla="*/ 149 w 165"/>
                <a:gd name="T31" fmla="*/ 28 h 91"/>
                <a:gd name="T32" fmla="*/ 130 w 165"/>
                <a:gd name="T33" fmla="*/ 16 h 91"/>
                <a:gd name="T34" fmla="*/ 110 w 165"/>
                <a:gd name="T35" fmla="*/ 4 h 91"/>
                <a:gd name="T36" fmla="*/ 90 w 165"/>
                <a:gd name="T37" fmla="*/ 0 h 91"/>
                <a:gd name="T38" fmla="*/ 67 w 165"/>
                <a:gd name="T39" fmla="*/ 4 h 91"/>
                <a:gd name="T40" fmla="*/ 43 w 165"/>
                <a:gd name="T41" fmla="*/ 12 h 91"/>
                <a:gd name="T42" fmla="*/ 23 w 165"/>
                <a:gd name="T43" fmla="*/ 24 h 91"/>
                <a:gd name="T44" fmla="*/ 4 w 165"/>
                <a:gd name="T45" fmla="*/ 40 h 91"/>
                <a:gd name="T46" fmla="*/ 4 w 165"/>
                <a:gd name="T47" fmla="*/ 40 h 91"/>
                <a:gd name="T48" fmla="*/ 0 w 165"/>
                <a:gd name="T49" fmla="*/ 48 h 91"/>
                <a:gd name="T50" fmla="*/ 4 w 165"/>
                <a:gd name="T51" fmla="*/ 59 h 91"/>
                <a:gd name="T52" fmla="*/ 4 w 165"/>
                <a:gd name="T53" fmla="*/ 71 h 91"/>
                <a:gd name="T54" fmla="*/ 4 w 165"/>
                <a:gd name="T55" fmla="*/ 79 h 91"/>
                <a:gd name="T56" fmla="*/ 4 w 165"/>
                <a:gd name="T57" fmla="*/ 79 h 9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65"/>
                <a:gd name="T88" fmla="*/ 0 h 91"/>
                <a:gd name="T89" fmla="*/ 165 w 165"/>
                <a:gd name="T90" fmla="*/ 91 h 9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65" h="91">
                  <a:moveTo>
                    <a:pt x="4" y="79"/>
                  </a:moveTo>
                  <a:lnTo>
                    <a:pt x="4" y="79"/>
                  </a:lnTo>
                  <a:lnTo>
                    <a:pt x="23" y="63"/>
                  </a:lnTo>
                  <a:lnTo>
                    <a:pt x="43" y="51"/>
                  </a:lnTo>
                  <a:lnTo>
                    <a:pt x="67" y="44"/>
                  </a:lnTo>
                  <a:lnTo>
                    <a:pt x="86" y="40"/>
                  </a:lnTo>
                  <a:lnTo>
                    <a:pt x="110" y="44"/>
                  </a:lnTo>
                  <a:lnTo>
                    <a:pt x="130" y="51"/>
                  </a:lnTo>
                  <a:lnTo>
                    <a:pt x="145" y="67"/>
                  </a:lnTo>
                  <a:lnTo>
                    <a:pt x="161" y="91"/>
                  </a:lnTo>
                  <a:lnTo>
                    <a:pt x="165" y="71"/>
                  </a:lnTo>
                  <a:lnTo>
                    <a:pt x="165" y="59"/>
                  </a:lnTo>
                  <a:lnTo>
                    <a:pt x="165" y="51"/>
                  </a:lnTo>
                  <a:lnTo>
                    <a:pt x="149" y="28"/>
                  </a:lnTo>
                  <a:lnTo>
                    <a:pt x="130" y="16"/>
                  </a:lnTo>
                  <a:lnTo>
                    <a:pt x="110" y="4"/>
                  </a:lnTo>
                  <a:lnTo>
                    <a:pt x="90" y="0"/>
                  </a:lnTo>
                  <a:lnTo>
                    <a:pt x="67" y="4"/>
                  </a:lnTo>
                  <a:lnTo>
                    <a:pt x="43" y="12"/>
                  </a:lnTo>
                  <a:lnTo>
                    <a:pt x="23" y="24"/>
                  </a:lnTo>
                  <a:lnTo>
                    <a:pt x="4" y="40"/>
                  </a:lnTo>
                  <a:lnTo>
                    <a:pt x="0" y="48"/>
                  </a:lnTo>
                  <a:lnTo>
                    <a:pt x="4" y="59"/>
                  </a:lnTo>
                  <a:lnTo>
                    <a:pt x="4" y="71"/>
                  </a:lnTo>
                  <a:lnTo>
                    <a:pt x="4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6" name="Freeform 652"/>
            <p:cNvSpPr>
              <a:spLocks/>
            </p:cNvSpPr>
            <p:nvPr/>
          </p:nvSpPr>
          <p:spPr bwMode="auto">
            <a:xfrm>
              <a:off x="4003" y="265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3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3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7" name="Freeform 653"/>
            <p:cNvSpPr>
              <a:spLocks/>
            </p:cNvSpPr>
            <p:nvPr/>
          </p:nvSpPr>
          <p:spPr bwMode="auto">
            <a:xfrm>
              <a:off x="4118" y="267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8" name="Freeform 654"/>
            <p:cNvSpPr>
              <a:spLocks/>
            </p:cNvSpPr>
            <p:nvPr/>
          </p:nvSpPr>
          <p:spPr bwMode="auto">
            <a:xfrm>
              <a:off x="4228" y="2701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69" name="Freeform 655"/>
            <p:cNvSpPr>
              <a:spLocks/>
            </p:cNvSpPr>
            <p:nvPr/>
          </p:nvSpPr>
          <p:spPr bwMode="auto">
            <a:xfrm>
              <a:off x="4062" y="2556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19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19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0" name="Freeform 656"/>
            <p:cNvSpPr>
              <a:spLocks/>
            </p:cNvSpPr>
            <p:nvPr/>
          </p:nvSpPr>
          <p:spPr bwMode="auto">
            <a:xfrm>
              <a:off x="4177" y="2579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1" name="Freeform 657"/>
            <p:cNvSpPr>
              <a:spLocks/>
            </p:cNvSpPr>
            <p:nvPr/>
          </p:nvSpPr>
          <p:spPr bwMode="auto">
            <a:xfrm>
              <a:off x="4287" y="260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2" name="Freeform 658"/>
            <p:cNvSpPr>
              <a:spLocks/>
            </p:cNvSpPr>
            <p:nvPr/>
          </p:nvSpPr>
          <p:spPr bwMode="auto">
            <a:xfrm>
              <a:off x="4121" y="2461"/>
              <a:ext cx="119" cy="75"/>
            </a:xfrm>
            <a:custGeom>
              <a:avLst/>
              <a:gdLst>
                <a:gd name="T0" fmla="*/ 0 w 119"/>
                <a:gd name="T1" fmla="*/ 55 h 75"/>
                <a:gd name="T2" fmla="*/ 83 w 119"/>
                <a:gd name="T3" fmla="*/ 75 h 75"/>
                <a:gd name="T4" fmla="*/ 119 w 119"/>
                <a:gd name="T5" fmla="*/ 20 h 75"/>
                <a:gd name="T6" fmla="*/ 36 w 119"/>
                <a:gd name="T7" fmla="*/ 0 h 75"/>
                <a:gd name="T8" fmla="*/ 0 w 119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9"/>
                <a:gd name="T16" fmla="*/ 0 h 75"/>
                <a:gd name="T17" fmla="*/ 119 w 119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9" h="75">
                  <a:moveTo>
                    <a:pt x="0" y="55"/>
                  </a:moveTo>
                  <a:lnTo>
                    <a:pt x="83" y="75"/>
                  </a:lnTo>
                  <a:lnTo>
                    <a:pt x="119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3" name="Freeform 659"/>
            <p:cNvSpPr>
              <a:spLocks/>
            </p:cNvSpPr>
            <p:nvPr/>
          </p:nvSpPr>
          <p:spPr bwMode="auto">
            <a:xfrm>
              <a:off x="4236" y="2485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4" name="Freeform 660"/>
            <p:cNvSpPr>
              <a:spLocks/>
            </p:cNvSpPr>
            <p:nvPr/>
          </p:nvSpPr>
          <p:spPr bwMode="auto">
            <a:xfrm>
              <a:off x="4346" y="2512"/>
              <a:ext cx="118" cy="79"/>
            </a:xfrm>
            <a:custGeom>
              <a:avLst/>
              <a:gdLst>
                <a:gd name="T0" fmla="*/ 0 w 118"/>
                <a:gd name="T1" fmla="*/ 56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6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6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5" name="Freeform 661"/>
            <p:cNvSpPr>
              <a:spLocks/>
            </p:cNvSpPr>
            <p:nvPr/>
          </p:nvSpPr>
          <p:spPr bwMode="auto">
            <a:xfrm>
              <a:off x="4181" y="2367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2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2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6" name="Freeform 662"/>
            <p:cNvSpPr>
              <a:spLocks/>
            </p:cNvSpPr>
            <p:nvPr/>
          </p:nvSpPr>
          <p:spPr bwMode="auto">
            <a:xfrm>
              <a:off x="4295" y="2390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7" name="Freeform 663"/>
            <p:cNvSpPr>
              <a:spLocks/>
            </p:cNvSpPr>
            <p:nvPr/>
          </p:nvSpPr>
          <p:spPr bwMode="auto">
            <a:xfrm>
              <a:off x="4405" y="2418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79 w 118"/>
                <a:gd name="T3" fmla="*/ 75 h 75"/>
                <a:gd name="T4" fmla="*/ 118 w 118"/>
                <a:gd name="T5" fmla="*/ 20 h 75"/>
                <a:gd name="T6" fmla="*/ 36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79" y="75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333333"/>
            </a:solidFill>
            <a:ln w="19050">
              <a:solidFill>
                <a:srgbClr val="333333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8" name="Freeform 664"/>
            <p:cNvSpPr>
              <a:spLocks/>
            </p:cNvSpPr>
            <p:nvPr/>
          </p:nvSpPr>
          <p:spPr bwMode="auto">
            <a:xfrm>
              <a:off x="3992" y="2631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2 w 118"/>
                <a:gd name="T3" fmla="*/ 78 h 78"/>
                <a:gd name="T4" fmla="*/ 118 w 118"/>
                <a:gd name="T5" fmla="*/ 19 h 78"/>
                <a:gd name="T6" fmla="*/ 39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2" y="78"/>
                  </a:lnTo>
                  <a:lnTo>
                    <a:pt x="118" y="19"/>
                  </a:lnTo>
                  <a:lnTo>
                    <a:pt x="3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79" name="Freeform 665"/>
            <p:cNvSpPr>
              <a:spLocks/>
            </p:cNvSpPr>
            <p:nvPr/>
          </p:nvSpPr>
          <p:spPr bwMode="auto">
            <a:xfrm>
              <a:off x="4106" y="2654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2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0" name="Freeform 666"/>
            <p:cNvSpPr>
              <a:spLocks/>
            </p:cNvSpPr>
            <p:nvPr/>
          </p:nvSpPr>
          <p:spPr bwMode="auto">
            <a:xfrm>
              <a:off x="4216" y="2686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1" name="Freeform 667"/>
            <p:cNvSpPr>
              <a:spLocks/>
            </p:cNvSpPr>
            <p:nvPr/>
          </p:nvSpPr>
          <p:spPr bwMode="auto">
            <a:xfrm>
              <a:off x="4051" y="2536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2 w 118"/>
                <a:gd name="T3" fmla="*/ 79 h 79"/>
                <a:gd name="T4" fmla="*/ 118 w 118"/>
                <a:gd name="T5" fmla="*/ 20 h 79"/>
                <a:gd name="T6" fmla="*/ 39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2" y="79"/>
                  </a:lnTo>
                  <a:lnTo>
                    <a:pt x="118" y="20"/>
                  </a:lnTo>
                  <a:lnTo>
                    <a:pt x="39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2" name="Freeform 668"/>
            <p:cNvSpPr>
              <a:spLocks/>
            </p:cNvSpPr>
            <p:nvPr/>
          </p:nvSpPr>
          <p:spPr bwMode="auto">
            <a:xfrm>
              <a:off x="4165" y="2560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5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3" name="Freeform 669"/>
            <p:cNvSpPr>
              <a:spLocks/>
            </p:cNvSpPr>
            <p:nvPr/>
          </p:nvSpPr>
          <p:spPr bwMode="auto">
            <a:xfrm>
              <a:off x="4275" y="2587"/>
              <a:ext cx="118" cy="79"/>
            </a:xfrm>
            <a:custGeom>
              <a:avLst/>
              <a:gdLst>
                <a:gd name="T0" fmla="*/ 0 w 118"/>
                <a:gd name="T1" fmla="*/ 59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9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4" name="Freeform 670"/>
            <p:cNvSpPr>
              <a:spLocks/>
            </p:cNvSpPr>
            <p:nvPr/>
          </p:nvSpPr>
          <p:spPr bwMode="auto">
            <a:xfrm>
              <a:off x="4110" y="2441"/>
              <a:ext cx="118" cy="75"/>
            </a:xfrm>
            <a:custGeom>
              <a:avLst/>
              <a:gdLst>
                <a:gd name="T0" fmla="*/ 0 w 118"/>
                <a:gd name="T1" fmla="*/ 56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6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6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5" name="Freeform 671"/>
            <p:cNvSpPr>
              <a:spLocks/>
            </p:cNvSpPr>
            <p:nvPr/>
          </p:nvSpPr>
          <p:spPr bwMode="auto">
            <a:xfrm>
              <a:off x="4224" y="2465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5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6" name="Freeform 672"/>
            <p:cNvSpPr>
              <a:spLocks/>
            </p:cNvSpPr>
            <p:nvPr/>
          </p:nvSpPr>
          <p:spPr bwMode="auto">
            <a:xfrm>
              <a:off x="4334" y="2493"/>
              <a:ext cx="118" cy="78"/>
            </a:xfrm>
            <a:custGeom>
              <a:avLst/>
              <a:gdLst>
                <a:gd name="T0" fmla="*/ 0 w 118"/>
                <a:gd name="T1" fmla="*/ 59 h 78"/>
                <a:gd name="T2" fmla="*/ 83 w 118"/>
                <a:gd name="T3" fmla="*/ 78 h 78"/>
                <a:gd name="T4" fmla="*/ 118 w 118"/>
                <a:gd name="T5" fmla="*/ 19 h 78"/>
                <a:gd name="T6" fmla="*/ 36 w 118"/>
                <a:gd name="T7" fmla="*/ 0 h 78"/>
                <a:gd name="T8" fmla="*/ 0 w 118"/>
                <a:gd name="T9" fmla="*/ 59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8"/>
                <a:gd name="T17" fmla="*/ 118 w 11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8">
                  <a:moveTo>
                    <a:pt x="0" y="59"/>
                  </a:moveTo>
                  <a:lnTo>
                    <a:pt x="83" y="78"/>
                  </a:lnTo>
                  <a:lnTo>
                    <a:pt x="118" y="19"/>
                  </a:lnTo>
                  <a:lnTo>
                    <a:pt x="36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7" name="Freeform 673"/>
            <p:cNvSpPr>
              <a:spLocks/>
            </p:cNvSpPr>
            <p:nvPr/>
          </p:nvSpPr>
          <p:spPr bwMode="auto">
            <a:xfrm>
              <a:off x="4169" y="2347"/>
              <a:ext cx="118" cy="75"/>
            </a:xfrm>
            <a:custGeom>
              <a:avLst/>
              <a:gdLst>
                <a:gd name="T0" fmla="*/ 0 w 118"/>
                <a:gd name="T1" fmla="*/ 55 h 75"/>
                <a:gd name="T2" fmla="*/ 82 w 118"/>
                <a:gd name="T3" fmla="*/ 75 h 75"/>
                <a:gd name="T4" fmla="*/ 118 w 118"/>
                <a:gd name="T5" fmla="*/ 20 h 75"/>
                <a:gd name="T6" fmla="*/ 35 w 118"/>
                <a:gd name="T7" fmla="*/ 0 h 75"/>
                <a:gd name="T8" fmla="*/ 0 w 118"/>
                <a:gd name="T9" fmla="*/ 55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5"/>
                <a:gd name="T17" fmla="*/ 118 w 11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5">
                  <a:moveTo>
                    <a:pt x="0" y="55"/>
                  </a:moveTo>
                  <a:lnTo>
                    <a:pt x="82" y="75"/>
                  </a:lnTo>
                  <a:lnTo>
                    <a:pt x="118" y="20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8" name="Freeform 674"/>
            <p:cNvSpPr>
              <a:spLocks/>
            </p:cNvSpPr>
            <p:nvPr/>
          </p:nvSpPr>
          <p:spPr bwMode="auto">
            <a:xfrm>
              <a:off x="4283" y="2371"/>
              <a:ext cx="118" cy="74"/>
            </a:xfrm>
            <a:custGeom>
              <a:avLst/>
              <a:gdLst>
                <a:gd name="T0" fmla="*/ 0 w 118"/>
                <a:gd name="T1" fmla="*/ 55 h 74"/>
                <a:gd name="T2" fmla="*/ 83 w 118"/>
                <a:gd name="T3" fmla="*/ 74 h 74"/>
                <a:gd name="T4" fmla="*/ 118 w 118"/>
                <a:gd name="T5" fmla="*/ 19 h 74"/>
                <a:gd name="T6" fmla="*/ 35 w 118"/>
                <a:gd name="T7" fmla="*/ 0 h 74"/>
                <a:gd name="T8" fmla="*/ 0 w 118"/>
                <a:gd name="T9" fmla="*/ 55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4"/>
                <a:gd name="T17" fmla="*/ 118 w 118"/>
                <a:gd name="T18" fmla="*/ 74 h 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4">
                  <a:moveTo>
                    <a:pt x="0" y="55"/>
                  </a:moveTo>
                  <a:lnTo>
                    <a:pt x="83" y="74"/>
                  </a:lnTo>
                  <a:lnTo>
                    <a:pt x="118" y="19"/>
                  </a:lnTo>
                  <a:lnTo>
                    <a:pt x="35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89" name="Freeform 675"/>
            <p:cNvSpPr>
              <a:spLocks/>
            </p:cNvSpPr>
            <p:nvPr/>
          </p:nvSpPr>
          <p:spPr bwMode="auto">
            <a:xfrm>
              <a:off x="4393" y="2398"/>
              <a:ext cx="118" cy="79"/>
            </a:xfrm>
            <a:custGeom>
              <a:avLst/>
              <a:gdLst>
                <a:gd name="T0" fmla="*/ 0 w 118"/>
                <a:gd name="T1" fmla="*/ 55 h 79"/>
                <a:gd name="T2" fmla="*/ 83 w 118"/>
                <a:gd name="T3" fmla="*/ 79 h 79"/>
                <a:gd name="T4" fmla="*/ 118 w 118"/>
                <a:gd name="T5" fmla="*/ 20 h 79"/>
                <a:gd name="T6" fmla="*/ 36 w 118"/>
                <a:gd name="T7" fmla="*/ 0 h 79"/>
                <a:gd name="T8" fmla="*/ 0 w 118"/>
                <a:gd name="T9" fmla="*/ 55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"/>
                <a:gd name="T16" fmla="*/ 0 h 79"/>
                <a:gd name="T17" fmla="*/ 118 w 118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" h="79">
                  <a:moveTo>
                    <a:pt x="0" y="55"/>
                  </a:moveTo>
                  <a:lnTo>
                    <a:pt x="83" y="79"/>
                  </a:lnTo>
                  <a:lnTo>
                    <a:pt x="118" y="20"/>
                  </a:lnTo>
                  <a:lnTo>
                    <a:pt x="36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999999"/>
            </a:solidFill>
            <a:ln w="190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0" name="Freeform 676"/>
            <p:cNvSpPr>
              <a:spLocks/>
            </p:cNvSpPr>
            <p:nvPr/>
          </p:nvSpPr>
          <p:spPr bwMode="auto">
            <a:xfrm>
              <a:off x="4208" y="2378"/>
              <a:ext cx="16" cy="12"/>
            </a:xfrm>
            <a:custGeom>
              <a:avLst/>
              <a:gdLst>
                <a:gd name="T0" fmla="*/ 12 w 16"/>
                <a:gd name="T1" fmla="*/ 12 h 12"/>
                <a:gd name="T2" fmla="*/ 12 w 16"/>
                <a:gd name="T3" fmla="*/ 12 h 12"/>
                <a:gd name="T4" fmla="*/ 12 w 16"/>
                <a:gd name="T5" fmla="*/ 12 h 12"/>
                <a:gd name="T6" fmla="*/ 12 w 16"/>
                <a:gd name="T7" fmla="*/ 12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4 w 16"/>
                <a:gd name="T15" fmla="*/ 12 h 12"/>
                <a:gd name="T16" fmla="*/ 4 w 16"/>
                <a:gd name="T17" fmla="*/ 12 h 12"/>
                <a:gd name="T18" fmla="*/ 0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4 w 16"/>
                <a:gd name="T25" fmla="*/ 8 h 12"/>
                <a:gd name="T26" fmla="*/ 4 w 16"/>
                <a:gd name="T27" fmla="*/ 8 h 12"/>
                <a:gd name="T28" fmla="*/ 8 w 16"/>
                <a:gd name="T29" fmla="*/ 8 h 12"/>
                <a:gd name="T30" fmla="*/ 12 w 16"/>
                <a:gd name="T31" fmla="*/ 0 h 12"/>
                <a:gd name="T32" fmla="*/ 12 w 16"/>
                <a:gd name="T33" fmla="*/ 0 h 12"/>
                <a:gd name="T34" fmla="*/ 12 w 16"/>
                <a:gd name="T35" fmla="*/ 0 h 12"/>
                <a:gd name="T36" fmla="*/ 12 w 16"/>
                <a:gd name="T37" fmla="*/ 0 h 12"/>
                <a:gd name="T38" fmla="*/ 12 w 16"/>
                <a:gd name="T39" fmla="*/ 0 h 12"/>
                <a:gd name="T40" fmla="*/ 12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2 w 16"/>
                <a:gd name="T49" fmla="*/ 0 h 12"/>
                <a:gd name="T50" fmla="*/ 12 w 16"/>
                <a:gd name="T51" fmla="*/ 0 h 12"/>
                <a:gd name="T52" fmla="*/ 16 w 16"/>
                <a:gd name="T53" fmla="*/ 0 h 12"/>
                <a:gd name="T54" fmla="*/ 16 w 16"/>
                <a:gd name="T55" fmla="*/ 0 h 12"/>
                <a:gd name="T56" fmla="*/ 16 w 16"/>
                <a:gd name="T57" fmla="*/ 0 h 12"/>
                <a:gd name="T58" fmla="*/ 16 w 16"/>
                <a:gd name="T59" fmla="*/ 0 h 12"/>
                <a:gd name="T60" fmla="*/ 16 w 16"/>
                <a:gd name="T61" fmla="*/ 0 h 12"/>
                <a:gd name="T62" fmla="*/ 16 w 16"/>
                <a:gd name="T63" fmla="*/ 0 h 12"/>
                <a:gd name="T64" fmla="*/ 16 w 16"/>
                <a:gd name="T65" fmla="*/ 0 h 12"/>
                <a:gd name="T66" fmla="*/ 8 w 16"/>
                <a:gd name="T67" fmla="*/ 12 h 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"/>
                <a:gd name="T103" fmla="*/ 0 h 12"/>
                <a:gd name="T104" fmla="*/ 16 w 16"/>
                <a:gd name="T105" fmla="*/ 12 h 1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" h="12">
                  <a:moveTo>
                    <a:pt x="8" y="12"/>
                  </a:move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1" name="Freeform 677"/>
            <p:cNvSpPr>
              <a:spLocks/>
            </p:cNvSpPr>
            <p:nvPr/>
          </p:nvSpPr>
          <p:spPr bwMode="auto">
            <a:xfrm>
              <a:off x="4338" y="2394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12 w 20"/>
                <a:gd name="T5" fmla="*/ 12 h 16"/>
                <a:gd name="T6" fmla="*/ 12 w 20"/>
                <a:gd name="T7" fmla="*/ 12 h 16"/>
                <a:gd name="T8" fmla="*/ 16 w 20"/>
                <a:gd name="T9" fmla="*/ 12 h 16"/>
                <a:gd name="T10" fmla="*/ 16 w 20"/>
                <a:gd name="T11" fmla="*/ 12 h 16"/>
                <a:gd name="T12" fmla="*/ 16 w 20"/>
                <a:gd name="T13" fmla="*/ 12 h 16"/>
                <a:gd name="T14" fmla="*/ 16 w 20"/>
                <a:gd name="T15" fmla="*/ 16 h 16"/>
                <a:gd name="T16" fmla="*/ 16 w 20"/>
                <a:gd name="T17" fmla="*/ 16 h 16"/>
                <a:gd name="T18" fmla="*/ 16 w 20"/>
                <a:gd name="T19" fmla="*/ 16 h 16"/>
                <a:gd name="T20" fmla="*/ 16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0 w 20"/>
                <a:gd name="T27" fmla="*/ 16 h 16"/>
                <a:gd name="T28" fmla="*/ 0 w 20"/>
                <a:gd name="T29" fmla="*/ 16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12 w 20"/>
                <a:gd name="T41" fmla="*/ 8 h 16"/>
                <a:gd name="T42" fmla="*/ 12 w 20"/>
                <a:gd name="T43" fmla="*/ 8 h 16"/>
                <a:gd name="T44" fmla="*/ 16 w 20"/>
                <a:gd name="T45" fmla="*/ 8 h 16"/>
                <a:gd name="T46" fmla="*/ 16 w 20"/>
                <a:gd name="T47" fmla="*/ 4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4 h 16"/>
                <a:gd name="T56" fmla="*/ 12 w 20"/>
                <a:gd name="T57" fmla="*/ 4 h 16"/>
                <a:gd name="T58" fmla="*/ 12 w 20"/>
                <a:gd name="T59" fmla="*/ 4 h 16"/>
                <a:gd name="T60" fmla="*/ 12 w 20"/>
                <a:gd name="T61" fmla="*/ 4 h 16"/>
                <a:gd name="T62" fmla="*/ 12 w 20"/>
                <a:gd name="T63" fmla="*/ 4 h 16"/>
                <a:gd name="T64" fmla="*/ 8 w 20"/>
                <a:gd name="T65" fmla="*/ 4 h 16"/>
                <a:gd name="T66" fmla="*/ 8 w 20"/>
                <a:gd name="T67" fmla="*/ 4 h 16"/>
                <a:gd name="T68" fmla="*/ 8 w 20"/>
                <a:gd name="T69" fmla="*/ 4 h 16"/>
                <a:gd name="T70" fmla="*/ 8 w 20"/>
                <a:gd name="T71" fmla="*/ 4 h 16"/>
                <a:gd name="T72" fmla="*/ 8 w 20"/>
                <a:gd name="T73" fmla="*/ 4 h 16"/>
                <a:gd name="T74" fmla="*/ 8 w 20"/>
                <a:gd name="T75" fmla="*/ 0 h 16"/>
                <a:gd name="T76" fmla="*/ 12 w 20"/>
                <a:gd name="T77" fmla="*/ 0 h 16"/>
                <a:gd name="T78" fmla="*/ 12 w 20"/>
                <a:gd name="T79" fmla="*/ 0 h 16"/>
                <a:gd name="T80" fmla="*/ 12 w 20"/>
                <a:gd name="T81" fmla="*/ 0 h 16"/>
                <a:gd name="T82" fmla="*/ 16 w 20"/>
                <a:gd name="T83" fmla="*/ 0 h 16"/>
                <a:gd name="T84" fmla="*/ 16 w 20"/>
                <a:gd name="T85" fmla="*/ 0 h 16"/>
                <a:gd name="T86" fmla="*/ 20 w 20"/>
                <a:gd name="T87" fmla="*/ 4 h 16"/>
                <a:gd name="T88" fmla="*/ 20 w 20"/>
                <a:gd name="T89" fmla="*/ 8 h 16"/>
                <a:gd name="T90" fmla="*/ 20 w 20"/>
                <a:gd name="T91" fmla="*/ 8 h 16"/>
                <a:gd name="T92" fmla="*/ 16 w 20"/>
                <a:gd name="T93" fmla="*/ 8 h 16"/>
                <a:gd name="T94" fmla="*/ 12 w 20"/>
                <a:gd name="T95" fmla="*/ 12 h 16"/>
                <a:gd name="T96" fmla="*/ 8 w 20"/>
                <a:gd name="T97" fmla="*/ 12 h 1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16"/>
                <a:gd name="T149" fmla="*/ 20 w 20"/>
                <a:gd name="T150" fmla="*/ 16 h 1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16">
                  <a:moveTo>
                    <a:pt x="8" y="12"/>
                  </a:move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2" name="Freeform 678"/>
            <p:cNvSpPr>
              <a:spLocks noEditPoints="1"/>
            </p:cNvSpPr>
            <p:nvPr/>
          </p:nvSpPr>
          <p:spPr bwMode="auto">
            <a:xfrm>
              <a:off x="4315" y="2410"/>
              <a:ext cx="15" cy="12"/>
            </a:xfrm>
            <a:custGeom>
              <a:avLst/>
              <a:gdLst>
                <a:gd name="T0" fmla="*/ 15 w 15"/>
                <a:gd name="T1" fmla="*/ 12 h 12"/>
                <a:gd name="T2" fmla="*/ 15 w 15"/>
                <a:gd name="T3" fmla="*/ 12 h 12"/>
                <a:gd name="T4" fmla="*/ 15 w 15"/>
                <a:gd name="T5" fmla="*/ 12 h 12"/>
                <a:gd name="T6" fmla="*/ 15 w 15"/>
                <a:gd name="T7" fmla="*/ 12 h 12"/>
                <a:gd name="T8" fmla="*/ 15 w 15"/>
                <a:gd name="T9" fmla="*/ 12 h 12"/>
                <a:gd name="T10" fmla="*/ 15 w 15"/>
                <a:gd name="T11" fmla="*/ 12 h 12"/>
                <a:gd name="T12" fmla="*/ 11 w 15"/>
                <a:gd name="T13" fmla="*/ 12 h 12"/>
                <a:gd name="T14" fmla="*/ 11 w 15"/>
                <a:gd name="T15" fmla="*/ 12 h 12"/>
                <a:gd name="T16" fmla="*/ 11 w 15"/>
                <a:gd name="T17" fmla="*/ 12 h 12"/>
                <a:gd name="T18" fmla="*/ 7 w 15"/>
                <a:gd name="T19" fmla="*/ 12 h 12"/>
                <a:gd name="T20" fmla="*/ 7 w 15"/>
                <a:gd name="T21" fmla="*/ 12 h 12"/>
                <a:gd name="T22" fmla="*/ 7 w 15"/>
                <a:gd name="T23" fmla="*/ 12 h 12"/>
                <a:gd name="T24" fmla="*/ 11 w 15"/>
                <a:gd name="T25" fmla="*/ 8 h 12"/>
                <a:gd name="T26" fmla="*/ 11 w 15"/>
                <a:gd name="T27" fmla="*/ 8 h 12"/>
                <a:gd name="T28" fmla="*/ 11 w 15"/>
                <a:gd name="T29" fmla="*/ 8 h 12"/>
                <a:gd name="T30" fmla="*/ 11 w 15"/>
                <a:gd name="T31" fmla="*/ 8 h 12"/>
                <a:gd name="T32" fmla="*/ 7 w 15"/>
                <a:gd name="T33" fmla="*/ 8 h 12"/>
                <a:gd name="T34" fmla="*/ 3 w 15"/>
                <a:gd name="T35" fmla="*/ 8 h 12"/>
                <a:gd name="T36" fmla="*/ 7 w 15"/>
                <a:gd name="T37" fmla="*/ 8 h 12"/>
                <a:gd name="T38" fmla="*/ 7 w 15"/>
                <a:gd name="T39" fmla="*/ 8 h 12"/>
                <a:gd name="T40" fmla="*/ 7 w 15"/>
                <a:gd name="T41" fmla="*/ 8 h 12"/>
                <a:gd name="T42" fmla="*/ 7 w 15"/>
                <a:gd name="T43" fmla="*/ 8 h 12"/>
                <a:gd name="T44" fmla="*/ 7 w 15"/>
                <a:gd name="T45" fmla="*/ 8 h 12"/>
                <a:gd name="T46" fmla="*/ 7 w 15"/>
                <a:gd name="T47" fmla="*/ 12 h 12"/>
                <a:gd name="T48" fmla="*/ 3 w 15"/>
                <a:gd name="T49" fmla="*/ 12 h 12"/>
                <a:gd name="T50" fmla="*/ 3 w 15"/>
                <a:gd name="T51" fmla="*/ 12 h 12"/>
                <a:gd name="T52" fmla="*/ 3 w 15"/>
                <a:gd name="T53" fmla="*/ 12 h 12"/>
                <a:gd name="T54" fmla="*/ 0 w 15"/>
                <a:gd name="T55" fmla="*/ 8 h 12"/>
                <a:gd name="T56" fmla="*/ 0 w 15"/>
                <a:gd name="T57" fmla="*/ 8 h 12"/>
                <a:gd name="T58" fmla="*/ 0 w 15"/>
                <a:gd name="T59" fmla="*/ 8 h 12"/>
                <a:gd name="T60" fmla="*/ 3 w 15"/>
                <a:gd name="T61" fmla="*/ 8 h 12"/>
                <a:gd name="T62" fmla="*/ 3 w 15"/>
                <a:gd name="T63" fmla="*/ 8 h 12"/>
                <a:gd name="T64" fmla="*/ 3 w 15"/>
                <a:gd name="T65" fmla="*/ 8 h 12"/>
                <a:gd name="T66" fmla="*/ 11 w 15"/>
                <a:gd name="T67" fmla="*/ 4 h 12"/>
                <a:gd name="T68" fmla="*/ 7 w 15"/>
                <a:gd name="T69" fmla="*/ 4 h 12"/>
                <a:gd name="T70" fmla="*/ 7 w 15"/>
                <a:gd name="T71" fmla="*/ 4 h 12"/>
                <a:gd name="T72" fmla="*/ 7 w 15"/>
                <a:gd name="T73" fmla="*/ 0 h 12"/>
                <a:gd name="T74" fmla="*/ 7 w 15"/>
                <a:gd name="T75" fmla="*/ 0 h 12"/>
                <a:gd name="T76" fmla="*/ 7 w 15"/>
                <a:gd name="T77" fmla="*/ 0 h 12"/>
                <a:gd name="T78" fmla="*/ 7 w 15"/>
                <a:gd name="T79" fmla="*/ 0 h 12"/>
                <a:gd name="T80" fmla="*/ 11 w 15"/>
                <a:gd name="T81" fmla="*/ 0 h 12"/>
                <a:gd name="T82" fmla="*/ 15 w 15"/>
                <a:gd name="T83" fmla="*/ 0 h 12"/>
                <a:gd name="T84" fmla="*/ 15 w 15"/>
                <a:gd name="T85" fmla="*/ 0 h 12"/>
                <a:gd name="T86" fmla="*/ 15 w 15"/>
                <a:gd name="T87" fmla="*/ 4 h 12"/>
                <a:gd name="T88" fmla="*/ 15 w 15"/>
                <a:gd name="T89" fmla="*/ 4 h 12"/>
                <a:gd name="T90" fmla="*/ 11 w 15"/>
                <a:gd name="T91" fmla="*/ 4 h 12"/>
                <a:gd name="T92" fmla="*/ 7 w 15"/>
                <a:gd name="T93" fmla="*/ 8 h 12"/>
                <a:gd name="T94" fmla="*/ 11 w 15"/>
                <a:gd name="T95" fmla="*/ 8 h 1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5"/>
                <a:gd name="T145" fmla="*/ 0 h 12"/>
                <a:gd name="T146" fmla="*/ 15 w 15"/>
                <a:gd name="T147" fmla="*/ 12 h 1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5" h="12">
                  <a:moveTo>
                    <a:pt x="15" y="12"/>
                  </a:move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11" y="8"/>
                  </a:lnTo>
                  <a:lnTo>
                    <a:pt x="7" y="8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12"/>
                  </a:lnTo>
                  <a:close/>
                  <a:moveTo>
                    <a:pt x="11" y="4"/>
                  </a:move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3" name="Freeform 679"/>
            <p:cNvSpPr>
              <a:spLocks noEditPoints="1"/>
            </p:cNvSpPr>
            <p:nvPr/>
          </p:nvSpPr>
          <p:spPr bwMode="auto">
            <a:xfrm>
              <a:off x="4330" y="2414"/>
              <a:ext cx="16" cy="12"/>
            </a:xfrm>
            <a:custGeom>
              <a:avLst/>
              <a:gdLst>
                <a:gd name="T0" fmla="*/ 12 w 16"/>
                <a:gd name="T1" fmla="*/ 4 h 12"/>
                <a:gd name="T2" fmla="*/ 16 w 16"/>
                <a:gd name="T3" fmla="*/ 8 h 12"/>
                <a:gd name="T4" fmla="*/ 16 w 16"/>
                <a:gd name="T5" fmla="*/ 8 h 12"/>
                <a:gd name="T6" fmla="*/ 16 w 16"/>
                <a:gd name="T7" fmla="*/ 8 h 12"/>
                <a:gd name="T8" fmla="*/ 12 w 16"/>
                <a:gd name="T9" fmla="*/ 12 h 12"/>
                <a:gd name="T10" fmla="*/ 12 w 16"/>
                <a:gd name="T11" fmla="*/ 12 h 12"/>
                <a:gd name="T12" fmla="*/ 12 w 16"/>
                <a:gd name="T13" fmla="*/ 12 h 12"/>
                <a:gd name="T14" fmla="*/ 8 w 16"/>
                <a:gd name="T15" fmla="*/ 12 h 12"/>
                <a:gd name="T16" fmla="*/ 8 w 16"/>
                <a:gd name="T17" fmla="*/ 12 h 12"/>
                <a:gd name="T18" fmla="*/ 8 w 16"/>
                <a:gd name="T19" fmla="*/ 12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4 w 16"/>
                <a:gd name="T33" fmla="*/ 8 h 12"/>
                <a:gd name="T34" fmla="*/ 4 w 16"/>
                <a:gd name="T35" fmla="*/ 8 h 12"/>
                <a:gd name="T36" fmla="*/ 8 w 16"/>
                <a:gd name="T37" fmla="*/ 0 h 12"/>
                <a:gd name="T38" fmla="*/ 8 w 16"/>
                <a:gd name="T39" fmla="*/ 0 h 12"/>
                <a:gd name="T40" fmla="*/ 8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4 w 16"/>
                <a:gd name="T47" fmla="*/ 0 h 12"/>
                <a:gd name="T48" fmla="*/ 8 w 16"/>
                <a:gd name="T49" fmla="*/ 0 h 12"/>
                <a:gd name="T50" fmla="*/ 8 w 16"/>
                <a:gd name="T51" fmla="*/ 0 h 12"/>
                <a:gd name="T52" fmla="*/ 12 w 16"/>
                <a:gd name="T53" fmla="*/ 0 h 12"/>
                <a:gd name="T54" fmla="*/ 12 w 16"/>
                <a:gd name="T55" fmla="*/ 0 h 12"/>
                <a:gd name="T56" fmla="*/ 16 w 16"/>
                <a:gd name="T57" fmla="*/ 0 h 12"/>
                <a:gd name="T58" fmla="*/ 16 w 16"/>
                <a:gd name="T59" fmla="*/ 4 h 12"/>
                <a:gd name="T60" fmla="*/ 16 w 16"/>
                <a:gd name="T61" fmla="*/ 4 h 12"/>
                <a:gd name="T62" fmla="*/ 16 w 16"/>
                <a:gd name="T63" fmla="*/ 4 h 12"/>
                <a:gd name="T64" fmla="*/ 12 w 16"/>
                <a:gd name="T65" fmla="*/ 4 h 12"/>
                <a:gd name="T66" fmla="*/ 8 w 16"/>
                <a:gd name="T67" fmla="*/ 0 h 12"/>
                <a:gd name="T68" fmla="*/ 8 w 16"/>
                <a:gd name="T69" fmla="*/ 4 h 12"/>
                <a:gd name="T70" fmla="*/ 8 w 16"/>
                <a:gd name="T71" fmla="*/ 4 h 12"/>
                <a:gd name="T72" fmla="*/ 12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0 h 12"/>
                <a:gd name="T84" fmla="*/ 8 w 16"/>
                <a:gd name="T85" fmla="*/ 4 h 12"/>
                <a:gd name="T86" fmla="*/ 4 w 16"/>
                <a:gd name="T87" fmla="*/ 8 h 12"/>
                <a:gd name="T88" fmla="*/ 8 w 16"/>
                <a:gd name="T89" fmla="*/ 8 h 12"/>
                <a:gd name="T90" fmla="*/ 8 w 16"/>
                <a:gd name="T91" fmla="*/ 8 h 12"/>
                <a:gd name="T92" fmla="*/ 8 w 16"/>
                <a:gd name="T93" fmla="*/ 8 h 12"/>
                <a:gd name="T94" fmla="*/ 12 w 16"/>
                <a:gd name="T95" fmla="*/ 8 h 12"/>
                <a:gd name="T96" fmla="*/ 12 w 16"/>
                <a:gd name="T97" fmla="*/ 8 h 12"/>
                <a:gd name="T98" fmla="*/ 12 w 16"/>
                <a:gd name="T99" fmla="*/ 8 h 12"/>
                <a:gd name="T100" fmla="*/ 8 w 16"/>
                <a:gd name="T101" fmla="*/ 4 h 1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2"/>
                <a:gd name="T155" fmla="*/ 16 w 16"/>
                <a:gd name="T156" fmla="*/ 12 h 1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2">
                  <a:moveTo>
                    <a:pt x="12" y="4"/>
                  </a:moveTo>
                  <a:lnTo>
                    <a:pt x="12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  <a:moveTo>
                    <a:pt x="8" y="0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close/>
                  <a:moveTo>
                    <a:pt x="8" y="4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4" name="Freeform 680"/>
            <p:cNvSpPr>
              <a:spLocks/>
            </p:cNvSpPr>
            <p:nvPr/>
          </p:nvSpPr>
          <p:spPr bwMode="auto">
            <a:xfrm>
              <a:off x="4346" y="2418"/>
              <a:ext cx="16" cy="12"/>
            </a:xfrm>
            <a:custGeom>
              <a:avLst/>
              <a:gdLst>
                <a:gd name="T0" fmla="*/ 16 w 16"/>
                <a:gd name="T1" fmla="*/ 0 h 12"/>
                <a:gd name="T2" fmla="*/ 16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6 w 16"/>
                <a:gd name="T13" fmla="*/ 4 h 12"/>
                <a:gd name="T14" fmla="*/ 16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12 w 16"/>
                <a:gd name="T31" fmla="*/ 0 h 12"/>
                <a:gd name="T32" fmla="*/ 12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8 w 16"/>
                <a:gd name="T43" fmla="*/ 8 h 12"/>
                <a:gd name="T44" fmla="*/ 8 w 16"/>
                <a:gd name="T45" fmla="*/ 8 h 12"/>
                <a:gd name="T46" fmla="*/ 8 w 16"/>
                <a:gd name="T47" fmla="*/ 8 h 12"/>
                <a:gd name="T48" fmla="*/ 12 w 16"/>
                <a:gd name="T49" fmla="*/ 8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8 h 12"/>
                <a:gd name="T56" fmla="*/ 12 w 16"/>
                <a:gd name="T57" fmla="*/ 8 h 12"/>
                <a:gd name="T58" fmla="*/ 8 w 16"/>
                <a:gd name="T59" fmla="*/ 12 h 12"/>
                <a:gd name="T60" fmla="*/ 4 w 16"/>
                <a:gd name="T61" fmla="*/ 8 h 12"/>
                <a:gd name="T62" fmla="*/ 4 w 16"/>
                <a:gd name="T63" fmla="*/ 8 h 12"/>
                <a:gd name="T64" fmla="*/ 0 w 16"/>
                <a:gd name="T65" fmla="*/ 8 h 12"/>
                <a:gd name="T66" fmla="*/ 0 w 16"/>
                <a:gd name="T67" fmla="*/ 4 h 12"/>
                <a:gd name="T68" fmla="*/ 0 w 16"/>
                <a:gd name="T69" fmla="*/ 4 h 12"/>
                <a:gd name="T70" fmla="*/ 4 w 16"/>
                <a:gd name="T71" fmla="*/ 0 h 12"/>
                <a:gd name="T72" fmla="*/ 12 w 16"/>
                <a:gd name="T73" fmla="*/ 0 h 12"/>
                <a:gd name="T74" fmla="*/ 12 w 16"/>
                <a:gd name="T75" fmla="*/ 0 h 12"/>
                <a:gd name="T76" fmla="*/ 12 w 16"/>
                <a:gd name="T77" fmla="*/ 0 h 12"/>
                <a:gd name="T78" fmla="*/ 16 w 16"/>
                <a:gd name="T79" fmla="*/ 0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8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5" name="Freeform 681"/>
            <p:cNvSpPr>
              <a:spLocks/>
            </p:cNvSpPr>
            <p:nvPr/>
          </p:nvSpPr>
          <p:spPr bwMode="auto">
            <a:xfrm>
              <a:off x="4448" y="2426"/>
              <a:ext cx="20" cy="15"/>
            </a:xfrm>
            <a:custGeom>
              <a:avLst/>
              <a:gdLst>
                <a:gd name="T0" fmla="*/ 12 w 20"/>
                <a:gd name="T1" fmla="*/ 8 h 15"/>
                <a:gd name="T2" fmla="*/ 16 w 20"/>
                <a:gd name="T3" fmla="*/ 12 h 15"/>
                <a:gd name="T4" fmla="*/ 16 w 20"/>
                <a:gd name="T5" fmla="*/ 12 h 15"/>
                <a:gd name="T6" fmla="*/ 16 w 20"/>
                <a:gd name="T7" fmla="*/ 12 h 15"/>
                <a:gd name="T8" fmla="*/ 12 w 20"/>
                <a:gd name="T9" fmla="*/ 15 h 15"/>
                <a:gd name="T10" fmla="*/ 4 w 20"/>
                <a:gd name="T11" fmla="*/ 15 h 15"/>
                <a:gd name="T12" fmla="*/ 4 w 20"/>
                <a:gd name="T13" fmla="*/ 15 h 15"/>
                <a:gd name="T14" fmla="*/ 0 w 20"/>
                <a:gd name="T15" fmla="*/ 15 h 15"/>
                <a:gd name="T16" fmla="*/ 0 w 20"/>
                <a:gd name="T17" fmla="*/ 12 h 15"/>
                <a:gd name="T18" fmla="*/ 0 w 20"/>
                <a:gd name="T19" fmla="*/ 12 h 15"/>
                <a:gd name="T20" fmla="*/ 0 w 20"/>
                <a:gd name="T21" fmla="*/ 12 h 15"/>
                <a:gd name="T22" fmla="*/ 0 w 20"/>
                <a:gd name="T23" fmla="*/ 12 h 15"/>
                <a:gd name="T24" fmla="*/ 0 w 20"/>
                <a:gd name="T25" fmla="*/ 12 h 15"/>
                <a:gd name="T26" fmla="*/ 4 w 20"/>
                <a:gd name="T27" fmla="*/ 12 h 15"/>
                <a:gd name="T28" fmla="*/ 8 w 20"/>
                <a:gd name="T29" fmla="*/ 12 h 15"/>
                <a:gd name="T30" fmla="*/ 8 w 20"/>
                <a:gd name="T31" fmla="*/ 12 h 15"/>
                <a:gd name="T32" fmla="*/ 8 w 20"/>
                <a:gd name="T33" fmla="*/ 12 h 15"/>
                <a:gd name="T34" fmla="*/ 12 w 20"/>
                <a:gd name="T35" fmla="*/ 12 h 15"/>
                <a:gd name="T36" fmla="*/ 12 w 20"/>
                <a:gd name="T37" fmla="*/ 12 h 15"/>
                <a:gd name="T38" fmla="*/ 12 w 20"/>
                <a:gd name="T39" fmla="*/ 12 h 15"/>
                <a:gd name="T40" fmla="*/ 8 w 20"/>
                <a:gd name="T41" fmla="*/ 8 h 15"/>
                <a:gd name="T42" fmla="*/ 8 w 20"/>
                <a:gd name="T43" fmla="*/ 8 h 15"/>
                <a:gd name="T44" fmla="*/ 8 w 20"/>
                <a:gd name="T45" fmla="*/ 8 h 15"/>
                <a:gd name="T46" fmla="*/ 8 w 20"/>
                <a:gd name="T47" fmla="*/ 8 h 15"/>
                <a:gd name="T48" fmla="*/ 8 w 20"/>
                <a:gd name="T49" fmla="*/ 8 h 15"/>
                <a:gd name="T50" fmla="*/ 8 w 20"/>
                <a:gd name="T51" fmla="*/ 8 h 15"/>
                <a:gd name="T52" fmla="*/ 8 w 20"/>
                <a:gd name="T53" fmla="*/ 8 h 15"/>
                <a:gd name="T54" fmla="*/ 8 w 20"/>
                <a:gd name="T55" fmla="*/ 8 h 15"/>
                <a:gd name="T56" fmla="*/ 12 w 20"/>
                <a:gd name="T57" fmla="*/ 8 h 15"/>
                <a:gd name="T58" fmla="*/ 12 w 20"/>
                <a:gd name="T59" fmla="*/ 4 h 15"/>
                <a:gd name="T60" fmla="*/ 12 w 20"/>
                <a:gd name="T61" fmla="*/ 4 h 15"/>
                <a:gd name="T62" fmla="*/ 12 w 20"/>
                <a:gd name="T63" fmla="*/ 4 h 15"/>
                <a:gd name="T64" fmla="*/ 12 w 20"/>
                <a:gd name="T65" fmla="*/ 4 h 15"/>
                <a:gd name="T66" fmla="*/ 12 w 20"/>
                <a:gd name="T67" fmla="*/ 4 h 15"/>
                <a:gd name="T68" fmla="*/ 8 w 20"/>
                <a:gd name="T69" fmla="*/ 4 h 15"/>
                <a:gd name="T70" fmla="*/ 8 w 20"/>
                <a:gd name="T71" fmla="*/ 4 h 15"/>
                <a:gd name="T72" fmla="*/ 8 w 20"/>
                <a:gd name="T73" fmla="*/ 4 h 15"/>
                <a:gd name="T74" fmla="*/ 8 w 20"/>
                <a:gd name="T75" fmla="*/ 4 h 15"/>
                <a:gd name="T76" fmla="*/ 8 w 20"/>
                <a:gd name="T77" fmla="*/ 0 h 15"/>
                <a:gd name="T78" fmla="*/ 8 w 20"/>
                <a:gd name="T79" fmla="*/ 0 h 15"/>
                <a:gd name="T80" fmla="*/ 8 w 20"/>
                <a:gd name="T81" fmla="*/ 0 h 15"/>
                <a:gd name="T82" fmla="*/ 16 w 20"/>
                <a:gd name="T83" fmla="*/ 0 h 15"/>
                <a:gd name="T84" fmla="*/ 16 w 20"/>
                <a:gd name="T85" fmla="*/ 0 h 15"/>
                <a:gd name="T86" fmla="*/ 16 w 20"/>
                <a:gd name="T87" fmla="*/ 4 h 15"/>
                <a:gd name="T88" fmla="*/ 20 w 20"/>
                <a:gd name="T89" fmla="*/ 4 h 15"/>
                <a:gd name="T90" fmla="*/ 20 w 20"/>
                <a:gd name="T91" fmla="*/ 4 h 15"/>
                <a:gd name="T92" fmla="*/ 16 w 20"/>
                <a:gd name="T93" fmla="*/ 8 h 15"/>
                <a:gd name="T94" fmla="*/ 12 w 20"/>
                <a:gd name="T95" fmla="*/ 8 h 1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"/>
                <a:gd name="T145" fmla="*/ 0 h 15"/>
                <a:gd name="T146" fmla="*/ 20 w 20"/>
                <a:gd name="T147" fmla="*/ 15 h 15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" h="15">
                  <a:moveTo>
                    <a:pt x="12" y="8"/>
                  </a:moveTo>
                  <a:lnTo>
                    <a:pt x="12" y="8"/>
                  </a:lnTo>
                  <a:lnTo>
                    <a:pt x="16" y="12"/>
                  </a:lnTo>
                  <a:lnTo>
                    <a:pt x="12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8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6" name="Freeform 682"/>
            <p:cNvSpPr>
              <a:spLocks noEditPoints="1"/>
            </p:cNvSpPr>
            <p:nvPr/>
          </p:nvSpPr>
          <p:spPr bwMode="auto">
            <a:xfrm>
              <a:off x="4425" y="2441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4 w 16"/>
                <a:gd name="T3" fmla="*/ 4 h 12"/>
                <a:gd name="T4" fmla="*/ 4 w 16"/>
                <a:gd name="T5" fmla="*/ 4 h 12"/>
                <a:gd name="T6" fmla="*/ 4 w 16"/>
                <a:gd name="T7" fmla="*/ 4 h 12"/>
                <a:gd name="T8" fmla="*/ 4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8 w 16"/>
                <a:gd name="T15" fmla="*/ 0 h 12"/>
                <a:gd name="T16" fmla="*/ 8 w 16"/>
                <a:gd name="T17" fmla="*/ 0 h 12"/>
                <a:gd name="T18" fmla="*/ 8 w 16"/>
                <a:gd name="T19" fmla="*/ 0 h 12"/>
                <a:gd name="T20" fmla="*/ 8 w 16"/>
                <a:gd name="T21" fmla="*/ 0 h 12"/>
                <a:gd name="T22" fmla="*/ 12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6 w 16"/>
                <a:gd name="T31" fmla="*/ 8 h 12"/>
                <a:gd name="T32" fmla="*/ 16 w 16"/>
                <a:gd name="T33" fmla="*/ 8 h 12"/>
                <a:gd name="T34" fmla="*/ 12 w 16"/>
                <a:gd name="T35" fmla="*/ 12 h 12"/>
                <a:gd name="T36" fmla="*/ 8 w 16"/>
                <a:gd name="T37" fmla="*/ 12 h 12"/>
                <a:gd name="T38" fmla="*/ 8 w 16"/>
                <a:gd name="T39" fmla="*/ 12 h 12"/>
                <a:gd name="T40" fmla="*/ 8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12 h 12"/>
                <a:gd name="T52" fmla="*/ 0 w 16"/>
                <a:gd name="T53" fmla="*/ 8 h 12"/>
                <a:gd name="T54" fmla="*/ 0 w 16"/>
                <a:gd name="T55" fmla="*/ 8 h 12"/>
                <a:gd name="T56" fmla="*/ 0 w 16"/>
                <a:gd name="T57" fmla="*/ 8 h 12"/>
                <a:gd name="T58" fmla="*/ 0 w 16"/>
                <a:gd name="T59" fmla="*/ 8 h 12"/>
                <a:gd name="T60" fmla="*/ 4 w 16"/>
                <a:gd name="T61" fmla="*/ 8 h 12"/>
                <a:gd name="T62" fmla="*/ 4 w 16"/>
                <a:gd name="T63" fmla="*/ 12 h 12"/>
                <a:gd name="T64" fmla="*/ 4 w 16"/>
                <a:gd name="T65" fmla="*/ 12 h 12"/>
                <a:gd name="T66" fmla="*/ 4 w 16"/>
                <a:gd name="T67" fmla="*/ 12 h 12"/>
                <a:gd name="T68" fmla="*/ 8 w 16"/>
                <a:gd name="T69" fmla="*/ 12 h 12"/>
                <a:gd name="T70" fmla="*/ 12 w 16"/>
                <a:gd name="T71" fmla="*/ 8 h 12"/>
                <a:gd name="T72" fmla="*/ 12 w 16"/>
                <a:gd name="T73" fmla="*/ 8 h 12"/>
                <a:gd name="T74" fmla="*/ 12 w 16"/>
                <a:gd name="T75" fmla="*/ 4 h 12"/>
                <a:gd name="T76" fmla="*/ 8 w 16"/>
                <a:gd name="T77" fmla="*/ 4 h 12"/>
                <a:gd name="T78" fmla="*/ 8 w 16"/>
                <a:gd name="T79" fmla="*/ 4 h 12"/>
                <a:gd name="T80" fmla="*/ 8 w 16"/>
                <a:gd name="T81" fmla="*/ 4 h 12"/>
                <a:gd name="T82" fmla="*/ 8 w 16"/>
                <a:gd name="T83" fmla="*/ 4 h 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2"/>
                <a:gd name="T128" fmla="*/ 16 w 16"/>
                <a:gd name="T129" fmla="*/ 12 h 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2">
                  <a:moveTo>
                    <a:pt x="4" y="8"/>
                  </a:move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close/>
                  <a:moveTo>
                    <a:pt x="8" y="4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7" name="Freeform 683"/>
            <p:cNvSpPr>
              <a:spLocks/>
            </p:cNvSpPr>
            <p:nvPr/>
          </p:nvSpPr>
          <p:spPr bwMode="auto">
            <a:xfrm>
              <a:off x="4441" y="2445"/>
              <a:ext cx="15" cy="12"/>
            </a:xfrm>
            <a:custGeom>
              <a:avLst/>
              <a:gdLst>
                <a:gd name="T0" fmla="*/ 11 w 15"/>
                <a:gd name="T1" fmla="*/ 4 h 12"/>
                <a:gd name="T2" fmla="*/ 11 w 15"/>
                <a:gd name="T3" fmla="*/ 4 h 12"/>
                <a:gd name="T4" fmla="*/ 11 w 15"/>
                <a:gd name="T5" fmla="*/ 4 h 12"/>
                <a:gd name="T6" fmla="*/ 11 w 15"/>
                <a:gd name="T7" fmla="*/ 4 h 12"/>
                <a:gd name="T8" fmla="*/ 15 w 15"/>
                <a:gd name="T9" fmla="*/ 4 h 12"/>
                <a:gd name="T10" fmla="*/ 15 w 15"/>
                <a:gd name="T11" fmla="*/ 4 h 12"/>
                <a:gd name="T12" fmla="*/ 15 w 15"/>
                <a:gd name="T13" fmla="*/ 4 h 12"/>
                <a:gd name="T14" fmla="*/ 15 w 15"/>
                <a:gd name="T15" fmla="*/ 4 h 12"/>
                <a:gd name="T16" fmla="*/ 15 w 15"/>
                <a:gd name="T17" fmla="*/ 4 h 12"/>
                <a:gd name="T18" fmla="*/ 15 w 15"/>
                <a:gd name="T19" fmla="*/ 0 h 12"/>
                <a:gd name="T20" fmla="*/ 3 w 15"/>
                <a:gd name="T21" fmla="*/ 0 h 12"/>
                <a:gd name="T22" fmla="*/ 3 w 15"/>
                <a:gd name="T23" fmla="*/ 0 h 12"/>
                <a:gd name="T24" fmla="*/ 3 w 15"/>
                <a:gd name="T25" fmla="*/ 0 h 12"/>
                <a:gd name="T26" fmla="*/ 3 w 15"/>
                <a:gd name="T27" fmla="*/ 0 h 12"/>
                <a:gd name="T28" fmla="*/ 3 w 15"/>
                <a:gd name="T29" fmla="*/ 0 h 12"/>
                <a:gd name="T30" fmla="*/ 3 w 15"/>
                <a:gd name="T31" fmla="*/ 0 h 12"/>
                <a:gd name="T32" fmla="*/ 3 w 15"/>
                <a:gd name="T33" fmla="*/ 0 h 12"/>
                <a:gd name="T34" fmla="*/ 3 w 15"/>
                <a:gd name="T35" fmla="*/ 0 h 12"/>
                <a:gd name="T36" fmla="*/ 0 w 15"/>
                <a:gd name="T37" fmla="*/ 8 h 12"/>
                <a:gd name="T38" fmla="*/ 0 w 15"/>
                <a:gd name="T39" fmla="*/ 8 h 12"/>
                <a:gd name="T40" fmla="*/ 0 w 15"/>
                <a:gd name="T41" fmla="*/ 8 h 12"/>
                <a:gd name="T42" fmla="*/ 0 w 15"/>
                <a:gd name="T43" fmla="*/ 8 h 12"/>
                <a:gd name="T44" fmla="*/ 0 w 15"/>
                <a:gd name="T45" fmla="*/ 8 h 12"/>
                <a:gd name="T46" fmla="*/ 0 w 15"/>
                <a:gd name="T47" fmla="*/ 8 h 12"/>
                <a:gd name="T48" fmla="*/ 0 w 15"/>
                <a:gd name="T49" fmla="*/ 12 h 12"/>
                <a:gd name="T50" fmla="*/ 0 w 15"/>
                <a:gd name="T51" fmla="*/ 12 h 12"/>
                <a:gd name="T52" fmla="*/ 11 w 15"/>
                <a:gd name="T53" fmla="*/ 12 h 12"/>
                <a:gd name="T54" fmla="*/ 11 w 15"/>
                <a:gd name="T55" fmla="*/ 12 h 12"/>
                <a:gd name="T56" fmla="*/ 11 w 15"/>
                <a:gd name="T57" fmla="*/ 12 h 12"/>
                <a:gd name="T58" fmla="*/ 11 w 15"/>
                <a:gd name="T59" fmla="*/ 12 h 12"/>
                <a:gd name="T60" fmla="*/ 11 w 15"/>
                <a:gd name="T61" fmla="*/ 12 h 12"/>
                <a:gd name="T62" fmla="*/ 11 w 15"/>
                <a:gd name="T63" fmla="*/ 12 h 12"/>
                <a:gd name="T64" fmla="*/ 11 w 15"/>
                <a:gd name="T65" fmla="*/ 8 h 12"/>
                <a:gd name="T66" fmla="*/ 11 w 15"/>
                <a:gd name="T67" fmla="*/ 8 h 12"/>
                <a:gd name="T68" fmla="*/ 11 w 15"/>
                <a:gd name="T69" fmla="*/ 8 h 12"/>
                <a:gd name="T70" fmla="*/ 11 w 15"/>
                <a:gd name="T71" fmla="*/ 8 h 12"/>
                <a:gd name="T72" fmla="*/ 11 w 15"/>
                <a:gd name="T73" fmla="*/ 8 h 12"/>
                <a:gd name="T74" fmla="*/ 7 w 15"/>
                <a:gd name="T75" fmla="*/ 12 h 12"/>
                <a:gd name="T76" fmla="*/ 3 w 15"/>
                <a:gd name="T77" fmla="*/ 8 h 12"/>
                <a:gd name="T78" fmla="*/ 3 w 15"/>
                <a:gd name="T79" fmla="*/ 8 h 12"/>
                <a:gd name="T80" fmla="*/ 7 w 15"/>
                <a:gd name="T81" fmla="*/ 8 h 12"/>
                <a:gd name="T82" fmla="*/ 7 w 15"/>
                <a:gd name="T83" fmla="*/ 8 h 12"/>
                <a:gd name="T84" fmla="*/ 7 w 15"/>
                <a:gd name="T85" fmla="*/ 8 h 12"/>
                <a:gd name="T86" fmla="*/ 7 w 15"/>
                <a:gd name="T87" fmla="*/ 8 h 12"/>
                <a:gd name="T88" fmla="*/ 7 w 15"/>
                <a:gd name="T89" fmla="*/ 8 h 12"/>
                <a:gd name="T90" fmla="*/ 7 w 15"/>
                <a:gd name="T91" fmla="*/ 8 h 12"/>
                <a:gd name="T92" fmla="*/ 7 w 15"/>
                <a:gd name="T93" fmla="*/ 8 h 12"/>
                <a:gd name="T94" fmla="*/ 11 w 15"/>
                <a:gd name="T95" fmla="*/ 8 h 12"/>
                <a:gd name="T96" fmla="*/ 11 w 15"/>
                <a:gd name="T97" fmla="*/ 4 h 12"/>
                <a:gd name="T98" fmla="*/ 11 w 15"/>
                <a:gd name="T99" fmla="*/ 4 h 12"/>
                <a:gd name="T100" fmla="*/ 11 w 15"/>
                <a:gd name="T101" fmla="*/ 4 h 12"/>
                <a:gd name="T102" fmla="*/ 11 w 15"/>
                <a:gd name="T103" fmla="*/ 4 h 12"/>
                <a:gd name="T104" fmla="*/ 11 w 15"/>
                <a:gd name="T105" fmla="*/ 4 h 12"/>
                <a:gd name="T106" fmla="*/ 11 w 15"/>
                <a:gd name="T107" fmla="*/ 4 h 12"/>
                <a:gd name="T108" fmla="*/ 11 w 15"/>
                <a:gd name="T109" fmla="*/ 4 h 12"/>
                <a:gd name="T110" fmla="*/ 11 w 15"/>
                <a:gd name="T111" fmla="*/ 4 h 12"/>
                <a:gd name="T112" fmla="*/ 7 w 15"/>
                <a:gd name="T113" fmla="*/ 4 h 12"/>
                <a:gd name="T114" fmla="*/ 7 w 15"/>
                <a:gd name="T115" fmla="*/ 4 h 12"/>
                <a:gd name="T116" fmla="*/ 7 w 15"/>
                <a:gd name="T117" fmla="*/ 4 h 12"/>
                <a:gd name="T118" fmla="*/ 7 w 15"/>
                <a:gd name="T119" fmla="*/ 4 h 12"/>
                <a:gd name="T120" fmla="*/ 7 w 15"/>
                <a:gd name="T121" fmla="*/ 4 h 12"/>
                <a:gd name="T122" fmla="*/ 11 w 15"/>
                <a:gd name="T123" fmla="*/ 4 h 12"/>
                <a:gd name="T124" fmla="*/ 11 w 15"/>
                <a:gd name="T125" fmla="*/ 4 h 1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2"/>
                <a:gd name="T191" fmla="*/ 15 w 15"/>
                <a:gd name="T192" fmla="*/ 12 h 1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2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3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7" y="12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8" name="Freeform 684"/>
            <p:cNvSpPr>
              <a:spLocks/>
            </p:cNvSpPr>
            <p:nvPr/>
          </p:nvSpPr>
          <p:spPr bwMode="auto">
            <a:xfrm>
              <a:off x="4456" y="2449"/>
              <a:ext cx="16" cy="12"/>
            </a:xfrm>
            <a:custGeom>
              <a:avLst/>
              <a:gdLst>
                <a:gd name="T0" fmla="*/ 8 w 16"/>
                <a:gd name="T1" fmla="*/ 0 h 12"/>
                <a:gd name="T2" fmla="*/ 4 w 16"/>
                <a:gd name="T3" fmla="*/ 4 h 12"/>
                <a:gd name="T4" fmla="*/ 8 w 16"/>
                <a:gd name="T5" fmla="*/ 4 h 12"/>
                <a:gd name="T6" fmla="*/ 8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8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8 w 16"/>
                <a:gd name="T23" fmla="*/ 8 h 12"/>
                <a:gd name="T24" fmla="*/ 8 w 16"/>
                <a:gd name="T25" fmla="*/ 8 h 12"/>
                <a:gd name="T26" fmla="*/ 8 w 16"/>
                <a:gd name="T27" fmla="*/ 8 h 12"/>
                <a:gd name="T28" fmla="*/ 8 w 16"/>
                <a:gd name="T29" fmla="*/ 8 h 12"/>
                <a:gd name="T30" fmla="*/ 8 w 16"/>
                <a:gd name="T31" fmla="*/ 8 h 12"/>
                <a:gd name="T32" fmla="*/ 8 w 16"/>
                <a:gd name="T33" fmla="*/ 8 h 12"/>
                <a:gd name="T34" fmla="*/ 8 w 16"/>
                <a:gd name="T35" fmla="*/ 8 h 12"/>
                <a:gd name="T36" fmla="*/ 8 w 16"/>
                <a:gd name="T37" fmla="*/ 8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4 w 16"/>
                <a:gd name="T49" fmla="*/ 12 h 12"/>
                <a:gd name="T50" fmla="*/ 4 w 16"/>
                <a:gd name="T51" fmla="*/ 12 h 12"/>
                <a:gd name="T52" fmla="*/ 4 w 16"/>
                <a:gd name="T53" fmla="*/ 12 h 12"/>
                <a:gd name="T54" fmla="*/ 4 w 16"/>
                <a:gd name="T55" fmla="*/ 12 h 12"/>
                <a:gd name="T56" fmla="*/ 0 w 16"/>
                <a:gd name="T57" fmla="*/ 8 h 12"/>
                <a:gd name="T58" fmla="*/ 0 w 16"/>
                <a:gd name="T59" fmla="*/ 8 h 12"/>
                <a:gd name="T60" fmla="*/ 0 w 16"/>
                <a:gd name="T61" fmla="*/ 8 h 12"/>
                <a:gd name="T62" fmla="*/ 0 w 16"/>
                <a:gd name="T63" fmla="*/ 8 h 12"/>
                <a:gd name="T64" fmla="*/ 0 w 16"/>
                <a:gd name="T65" fmla="*/ 8 h 12"/>
                <a:gd name="T66" fmla="*/ 0 w 16"/>
                <a:gd name="T67" fmla="*/ 8 h 12"/>
                <a:gd name="T68" fmla="*/ 0 w 16"/>
                <a:gd name="T69" fmla="*/ 8 h 12"/>
                <a:gd name="T70" fmla="*/ 0 w 16"/>
                <a:gd name="T71" fmla="*/ 8 h 12"/>
                <a:gd name="T72" fmla="*/ 4 w 16"/>
                <a:gd name="T73" fmla="*/ 0 h 12"/>
                <a:gd name="T74" fmla="*/ 4 w 16"/>
                <a:gd name="T75" fmla="*/ 0 h 12"/>
                <a:gd name="T76" fmla="*/ 4 w 16"/>
                <a:gd name="T77" fmla="*/ 0 h 12"/>
                <a:gd name="T78" fmla="*/ 4 w 16"/>
                <a:gd name="T79" fmla="*/ 0 h 12"/>
                <a:gd name="T80" fmla="*/ 4 w 16"/>
                <a:gd name="T81" fmla="*/ 0 h 12"/>
                <a:gd name="T82" fmla="*/ 4 w 16"/>
                <a:gd name="T83" fmla="*/ 0 h 12"/>
                <a:gd name="T84" fmla="*/ 4 w 16"/>
                <a:gd name="T85" fmla="*/ 0 h 12"/>
                <a:gd name="T86" fmla="*/ 4 w 16"/>
                <a:gd name="T87" fmla="*/ 0 h 12"/>
                <a:gd name="T88" fmla="*/ 16 w 16"/>
                <a:gd name="T89" fmla="*/ 0 h 12"/>
                <a:gd name="T90" fmla="*/ 16 w 16"/>
                <a:gd name="T91" fmla="*/ 0 h 12"/>
                <a:gd name="T92" fmla="*/ 16 w 16"/>
                <a:gd name="T93" fmla="*/ 0 h 12"/>
                <a:gd name="T94" fmla="*/ 16 w 16"/>
                <a:gd name="T95" fmla="*/ 4 h 12"/>
                <a:gd name="T96" fmla="*/ 16 w 16"/>
                <a:gd name="T97" fmla="*/ 4 h 12"/>
                <a:gd name="T98" fmla="*/ 16 w 16"/>
                <a:gd name="T99" fmla="*/ 4 h 12"/>
                <a:gd name="T100" fmla="*/ 16 w 16"/>
                <a:gd name="T101" fmla="*/ 4 h 12"/>
                <a:gd name="T102" fmla="*/ 12 w 16"/>
                <a:gd name="T103" fmla="*/ 4 h 12"/>
                <a:gd name="T104" fmla="*/ 12 w 16"/>
                <a:gd name="T105" fmla="*/ 4 h 12"/>
                <a:gd name="T106" fmla="*/ 12 w 16"/>
                <a:gd name="T107" fmla="*/ 4 h 12"/>
                <a:gd name="T108" fmla="*/ 12 w 16"/>
                <a:gd name="T109" fmla="*/ 4 h 12"/>
                <a:gd name="T110" fmla="*/ 12 w 16"/>
                <a:gd name="T111" fmla="*/ 4 h 1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6"/>
                <a:gd name="T169" fmla="*/ 0 h 12"/>
                <a:gd name="T170" fmla="*/ 16 w 16"/>
                <a:gd name="T171" fmla="*/ 12 h 1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6" h="12">
                  <a:moveTo>
                    <a:pt x="12" y="4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12"/>
                  </a:lnTo>
                  <a:lnTo>
                    <a:pt x="0" y="8"/>
                  </a:lnTo>
                  <a:lnTo>
                    <a:pt x="4" y="0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99" name="Freeform 685"/>
            <p:cNvSpPr>
              <a:spLocks noEditPoints="1"/>
            </p:cNvSpPr>
            <p:nvPr/>
          </p:nvSpPr>
          <p:spPr bwMode="auto">
            <a:xfrm>
              <a:off x="4173" y="2469"/>
              <a:ext cx="15" cy="16"/>
            </a:xfrm>
            <a:custGeom>
              <a:avLst/>
              <a:gdLst>
                <a:gd name="T0" fmla="*/ 12 w 15"/>
                <a:gd name="T1" fmla="*/ 8 h 16"/>
                <a:gd name="T2" fmla="*/ 12 w 15"/>
                <a:gd name="T3" fmla="*/ 8 h 16"/>
                <a:gd name="T4" fmla="*/ 12 w 15"/>
                <a:gd name="T5" fmla="*/ 8 h 16"/>
                <a:gd name="T6" fmla="*/ 12 w 15"/>
                <a:gd name="T7" fmla="*/ 8 h 16"/>
                <a:gd name="T8" fmla="*/ 12 w 15"/>
                <a:gd name="T9" fmla="*/ 8 h 16"/>
                <a:gd name="T10" fmla="*/ 12 w 15"/>
                <a:gd name="T11" fmla="*/ 8 h 16"/>
                <a:gd name="T12" fmla="*/ 12 w 15"/>
                <a:gd name="T13" fmla="*/ 8 h 16"/>
                <a:gd name="T14" fmla="*/ 12 w 15"/>
                <a:gd name="T15" fmla="*/ 8 h 16"/>
                <a:gd name="T16" fmla="*/ 12 w 15"/>
                <a:gd name="T17" fmla="*/ 8 h 16"/>
                <a:gd name="T18" fmla="*/ 12 w 15"/>
                <a:gd name="T19" fmla="*/ 8 h 16"/>
                <a:gd name="T20" fmla="*/ 12 w 15"/>
                <a:gd name="T21" fmla="*/ 8 h 16"/>
                <a:gd name="T22" fmla="*/ 12 w 15"/>
                <a:gd name="T23" fmla="*/ 8 h 16"/>
                <a:gd name="T24" fmla="*/ 12 w 15"/>
                <a:gd name="T25" fmla="*/ 12 h 16"/>
                <a:gd name="T26" fmla="*/ 12 w 15"/>
                <a:gd name="T27" fmla="*/ 12 h 16"/>
                <a:gd name="T28" fmla="*/ 12 w 15"/>
                <a:gd name="T29" fmla="*/ 12 h 16"/>
                <a:gd name="T30" fmla="*/ 12 w 15"/>
                <a:gd name="T31" fmla="*/ 12 h 16"/>
                <a:gd name="T32" fmla="*/ 8 w 15"/>
                <a:gd name="T33" fmla="*/ 12 h 16"/>
                <a:gd name="T34" fmla="*/ 8 w 15"/>
                <a:gd name="T35" fmla="*/ 12 h 16"/>
                <a:gd name="T36" fmla="*/ 8 w 15"/>
                <a:gd name="T37" fmla="*/ 12 h 16"/>
                <a:gd name="T38" fmla="*/ 8 w 15"/>
                <a:gd name="T39" fmla="*/ 12 h 16"/>
                <a:gd name="T40" fmla="*/ 8 w 15"/>
                <a:gd name="T41" fmla="*/ 12 h 16"/>
                <a:gd name="T42" fmla="*/ 8 w 15"/>
                <a:gd name="T43" fmla="*/ 12 h 16"/>
                <a:gd name="T44" fmla="*/ 8 w 15"/>
                <a:gd name="T45" fmla="*/ 12 h 16"/>
                <a:gd name="T46" fmla="*/ 12 w 15"/>
                <a:gd name="T47" fmla="*/ 12 h 16"/>
                <a:gd name="T48" fmla="*/ 12 w 15"/>
                <a:gd name="T49" fmla="*/ 12 h 16"/>
                <a:gd name="T50" fmla="*/ 12 w 15"/>
                <a:gd name="T51" fmla="*/ 12 h 16"/>
                <a:gd name="T52" fmla="*/ 8 w 15"/>
                <a:gd name="T53" fmla="*/ 16 h 16"/>
                <a:gd name="T54" fmla="*/ 8 w 15"/>
                <a:gd name="T55" fmla="*/ 16 h 16"/>
                <a:gd name="T56" fmla="*/ 0 w 15"/>
                <a:gd name="T57" fmla="*/ 12 h 16"/>
                <a:gd name="T58" fmla="*/ 0 w 15"/>
                <a:gd name="T59" fmla="*/ 12 h 16"/>
                <a:gd name="T60" fmla="*/ 0 w 15"/>
                <a:gd name="T61" fmla="*/ 12 h 16"/>
                <a:gd name="T62" fmla="*/ 0 w 15"/>
                <a:gd name="T63" fmla="*/ 12 h 16"/>
                <a:gd name="T64" fmla="*/ 0 w 15"/>
                <a:gd name="T65" fmla="*/ 12 h 16"/>
                <a:gd name="T66" fmla="*/ 0 w 15"/>
                <a:gd name="T67" fmla="*/ 12 h 16"/>
                <a:gd name="T68" fmla="*/ 4 w 15"/>
                <a:gd name="T69" fmla="*/ 12 h 16"/>
                <a:gd name="T70" fmla="*/ 4 w 15"/>
                <a:gd name="T71" fmla="*/ 12 h 16"/>
                <a:gd name="T72" fmla="*/ 8 w 15"/>
                <a:gd name="T73" fmla="*/ 8 h 16"/>
                <a:gd name="T74" fmla="*/ 0 w 15"/>
                <a:gd name="T75" fmla="*/ 8 h 16"/>
                <a:gd name="T76" fmla="*/ 0 w 15"/>
                <a:gd name="T77" fmla="*/ 8 h 16"/>
                <a:gd name="T78" fmla="*/ 0 w 15"/>
                <a:gd name="T79" fmla="*/ 8 h 16"/>
                <a:gd name="T80" fmla="*/ 0 w 15"/>
                <a:gd name="T81" fmla="*/ 8 h 16"/>
                <a:gd name="T82" fmla="*/ 0 w 15"/>
                <a:gd name="T83" fmla="*/ 8 h 16"/>
                <a:gd name="T84" fmla="*/ 0 w 15"/>
                <a:gd name="T85" fmla="*/ 8 h 16"/>
                <a:gd name="T86" fmla="*/ 0 w 15"/>
                <a:gd name="T87" fmla="*/ 4 h 16"/>
                <a:gd name="T88" fmla="*/ 0 w 15"/>
                <a:gd name="T89" fmla="*/ 4 h 16"/>
                <a:gd name="T90" fmla="*/ 12 w 15"/>
                <a:gd name="T91" fmla="*/ 0 h 16"/>
                <a:gd name="T92" fmla="*/ 12 w 15"/>
                <a:gd name="T93" fmla="*/ 0 h 16"/>
                <a:gd name="T94" fmla="*/ 12 w 15"/>
                <a:gd name="T95" fmla="*/ 0 h 16"/>
                <a:gd name="T96" fmla="*/ 12 w 15"/>
                <a:gd name="T97" fmla="*/ 0 h 16"/>
                <a:gd name="T98" fmla="*/ 12 w 15"/>
                <a:gd name="T99" fmla="*/ 0 h 16"/>
                <a:gd name="T100" fmla="*/ 15 w 15"/>
                <a:gd name="T101" fmla="*/ 0 h 16"/>
                <a:gd name="T102" fmla="*/ 15 w 15"/>
                <a:gd name="T103" fmla="*/ 0 h 16"/>
                <a:gd name="T104" fmla="*/ 15 w 15"/>
                <a:gd name="T105" fmla="*/ 0 h 16"/>
                <a:gd name="T106" fmla="*/ 15 w 15"/>
                <a:gd name="T107" fmla="*/ 0 h 16"/>
                <a:gd name="T108" fmla="*/ 15 w 15"/>
                <a:gd name="T109" fmla="*/ 0 h 16"/>
                <a:gd name="T110" fmla="*/ 15 w 15"/>
                <a:gd name="T111" fmla="*/ 0 h 16"/>
                <a:gd name="T112" fmla="*/ 12 w 15"/>
                <a:gd name="T113" fmla="*/ 8 h 16"/>
                <a:gd name="T114" fmla="*/ 4 w 15"/>
                <a:gd name="T115" fmla="*/ 8 h 16"/>
                <a:gd name="T116" fmla="*/ 8 w 15"/>
                <a:gd name="T117" fmla="*/ 8 h 16"/>
                <a:gd name="T118" fmla="*/ 12 w 15"/>
                <a:gd name="T119" fmla="*/ 0 h 1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5"/>
                <a:gd name="T181" fmla="*/ 0 h 16"/>
                <a:gd name="T182" fmla="*/ 15 w 15"/>
                <a:gd name="T183" fmla="*/ 16 h 1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5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2" y="8"/>
                  </a:lnTo>
                  <a:close/>
                  <a:moveTo>
                    <a:pt x="12" y="0"/>
                  </a:moveTo>
                  <a:lnTo>
                    <a:pt x="4" y="8"/>
                  </a:lnTo>
                  <a:lnTo>
                    <a:pt x="8" y="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0" name="Freeform 686"/>
            <p:cNvSpPr>
              <a:spLocks/>
            </p:cNvSpPr>
            <p:nvPr/>
          </p:nvSpPr>
          <p:spPr bwMode="auto">
            <a:xfrm>
              <a:off x="4149" y="2485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0 h 12"/>
                <a:gd name="T6" fmla="*/ 16 w 16"/>
                <a:gd name="T7" fmla="*/ 0 h 12"/>
                <a:gd name="T8" fmla="*/ 16 w 16"/>
                <a:gd name="T9" fmla="*/ 0 h 12"/>
                <a:gd name="T10" fmla="*/ 16 w 16"/>
                <a:gd name="T11" fmla="*/ 0 h 12"/>
                <a:gd name="T12" fmla="*/ 12 w 16"/>
                <a:gd name="T13" fmla="*/ 4 h 12"/>
                <a:gd name="T14" fmla="*/ 12 w 16"/>
                <a:gd name="T15" fmla="*/ 4 h 12"/>
                <a:gd name="T16" fmla="*/ 12 w 16"/>
                <a:gd name="T17" fmla="*/ 4 h 12"/>
                <a:gd name="T18" fmla="*/ 12 w 16"/>
                <a:gd name="T19" fmla="*/ 4 h 12"/>
                <a:gd name="T20" fmla="*/ 12 w 16"/>
                <a:gd name="T21" fmla="*/ 4 h 12"/>
                <a:gd name="T22" fmla="*/ 12 w 16"/>
                <a:gd name="T23" fmla="*/ 4 h 12"/>
                <a:gd name="T24" fmla="*/ 12 w 16"/>
                <a:gd name="T25" fmla="*/ 4 h 12"/>
                <a:gd name="T26" fmla="*/ 12 w 16"/>
                <a:gd name="T27" fmla="*/ 4 h 12"/>
                <a:gd name="T28" fmla="*/ 12 w 16"/>
                <a:gd name="T29" fmla="*/ 0 h 12"/>
                <a:gd name="T30" fmla="*/ 8 w 16"/>
                <a:gd name="T31" fmla="*/ 0 h 12"/>
                <a:gd name="T32" fmla="*/ 8 w 16"/>
                <a:gd name="T33" fmla="*/ 0 h 12"/>
                <a:gd name="T34" fmla="*/ 8 w 16"/>
                <a:gd name="T35" fmla="*/ 0 h 12"/>
                <a:gd name="T36" fmla="*/ 4 w 16"/>
                <a:gd name="T37" fmla="*/ 4 h 12"/>
                <a:gd name="T38" fmla="*/ 4 w 16"/>
                <a:gd name="T39" fmla="*/ 4 h 12"/>
                <a:gd name="T40" fmla="*/ 4 w 16"/>
                <a:gd name="T41" fmla="*/ 8 h 12"/>
                <a:gd name="T42" fmla="*/ 4 w 16"/>
                <a:gd name="T43" fmla="*/ 8 h 12"/>
                <a:gd name="T44" fmla="*/ 4 w 16"/>
                <a:gd name="T45" fmla="*/ 8 h 12"/>
                <a:gd name="T46" fmla="*/ 4 w 16"/>
                <a:gd name="T47" fmla="*/ 8 h 12"/>
                <a:gd name="T48" fmla="*/ 8 w 16"/>
                <a:gd name="T49" fmla="*/ 8 h 12"/>
                <a:gd name="T50" fmla="*/ 8 w 16"/>
                <a:gd name="T51" fmla="*/ 8 h 12"/>
                <a:gd name="T52" fmla="*/ 8 w 16"/>
                <a:gd name="T53" fmla="*/ 8 h 12"/>
                <a:gd name="T54" fmla="*/ 8 w 16"/>
                <a:gd name="T55" fmla="*/ 8 h 12"/>
                <a:gd name="T56" fmla="*/ 4 w 16"/>
                <a:gd name="T57" fmla="*/ 4 h 12"/>
                <a:gd name="T58" fmla="*/ 4 w 16"/>
                <a:gd name="T59" fmla="*/ 4 h 12"/>
                <a:gd name="T60" fmla="*/ 4 w 16"/>
                <a:gd name="T61" fmla="*/ 4 h 12"/>
                <a:gd name="T62" fmla="*/ 8 w 16"/>
                <a:gd name="T63" fmla="*/ 4 h 12"/>
                <a:gd name="T64" fmla="*/ 8 w 16"/>
                <a:gd name="T65" fmla="*/ 4 h 12"/>
                <a:gd name="T66" fmla="*/ 12 w 16"/>
                <a:gd name="T67" fmla="*/ 4 h 12"/>
                <a:gd name="T68" fmla="*/ 12 w 16"/>
                <a:gd name="T69" fmla="*/ 4 h 12"/>
                <a:gd name="T70" fmla="*/ 12 w 16"/>
                <a:gd name="T71" fmla="*/ 4 h 12"/>
                <a:gd name="T72" fmla="*/ 12 w 16"/>
                <a:gd name="T73" fmla="*/ 8 h 12"/>
                <a:gd name="T74" fmla="*/ 12 w 16"/>
                <a:gd name="T75" fmla="*/ 8 h 12"/>
                <a:gd name="T76" fmla="*/ 12 w 16"/>
                <a:gd name="T77" fmla="*/ 8 h 12"/>
                <a:gd name="T78" fmla="*/ 12 w 16"/>
                <a:gd name="T79" fmla="*/ 8 h 12"/>
                <a:gd name="T80" fmla="*/ 12 w 16"/>
                <a:gd name="T81" fmla="*/ 8 h 12"/>
                <a:gd name="T82" fmla="*/ 8 w 16"/>
                <a:gd name="T83" fmla="*/ 8 h 12"/>
                <a:gd name="T84" fmla="*/ 8 w 16"/>
                <a:gd name="T85" fmla="*/ 8 h 12"/>
                <a:gd name="T86" fmla="*/ 8 w 16"/>
                <a:gd name="T87" fmla="*/ 8 h 12"/>
                <a:gd name="T88" fmla="*/ 8 w 16"/>
                <a:gd name="T89" fmla="*/ 8 h 12"/>
                <a:gd name="T90" fmla="*/ 8 w 16"/>
                <a:gd name="T91" fmla="*/ 12 h 12"/>
                <a:gd name="T92" fmla="*/ 8 w 16"/>
                <a:gd name="T93" fmla="*/ 12 h 12"/>
                <a:gd name="T94" fmla="*/ 4 w 16"/>
                <a:gd name="T95" fmla="*/ 12 h 12"/>
                <a:gd name="T96" fmla="*/ 4 w 16"/>
                <a:gd name="T97" fmla="*/ 8 h 12"/>
                <a:gd name="T98" fmla="*/ 4 w 16"/>
                <a:gd name="T99" fmla="*/ 8 h 12"/>
                <a:gd name="T100" fmla="*/ 0 w 16"/>
                <a:gd name="T101" fmla="*/ 8 h 12"/>
                <a:gd name="T102" fmla="*/ 0 w 16"/>
                <a:gd name="T103" fmla="*/ 4 h 12"/>
                <a:gd name="T104" fmla="*/ 0 w 16"/>
                <a:gd name="T105" fmla="*/ 4 h 12"/>
                <a:gd name="T106" fmla="*/ 4 w 16"/>
                <a:gd name="T107" fmla="*/ 0 h 12"/>
                <a:gd name="T108" fmla="*/ 12 w 16"/>
                <a:gd name="T109" fmla="*/ 0 h 12"/>
                <a:gd name="T110" fmla="*/ 12 w 16"/>
                <a:gd name="T111" fmla="*/ 0 h 12"/>
                <a:gd name="T112" fmla="*/ 12 w 16"/>
                <a:gd name="T113" fmla="*/ 0 h 12"/>
                <a:gd name="T114" fmla="*/ 12 w 16"/>
                <a:gd name="T115" fmla="*/ 0 h 1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"/>
                <a:gd name="T175" fmla="*/ 0 h 12"/>
                <a:gd name="T176" fmla="*/ 16 w 16"/>
                <a:gd name="T177" fmla="*/ 12 h 12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4" y="8"/>
                  </a:lnTo>
                  <a:lnTo>
                    <a:pt x="8" y="8"/>
                  </a:lnTo>
                  <a:lnTo>
                    <a:pt x="4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1" name="Freeform 687"/>
            <p:cNvSpPr>
              <a:spLocks/>
            </p:cNvSpPr>
            <p:nvPr/>
          </p:nvSpPr>
          <p:spPr bwMode="auto">
            <a:xfrm>
              <a:off x="4161" y="2485"/>
              <a:ext cx="16" cy="12"/>
            </a:xfrm>
            <a:custGeom>
              <a:avLst/>
              <a:gdLst>
                <a:gd name="T0" fmla="*/ 8 w 16"/>
                <a:gd name="T1" fmla="*/ 4 h 12"/>
                <a:gd name="T2" fmla="*/ 12 w 16"/>
                <a:gd name="T3" fmla="*/ 4 h 12"/>
                <a:gd name="T4" fmla="*/ 12 w 16"/>
                <a:gd name="T5" fmla="*/ 4 h 12"/>
                <a:gd name="T6" fmla="*/ 8 w 16"/>
                <a:gd name="T7" fmla="*/ 0 h 12"/>
                <a:gd name="T8" fmla="*/ 8 w 16"/>
                <a:gd name="T9" fmla="*/ 0 h 12"/>
                <a:gd name="T10" fmla="*/ 4 w 16"/>
                <a:gd name="T11" fmla="*/ 0 h 12"/>
                <a:gd name="T12" fmla="*/ 4 w 16"/>
                <a:gd name="T13" fmla="*/ 0 h 12"/>
                <a:gd name="T14" fmla="*/ 4 w 16"/>
                <a:gd name="T15" fmla="*/ 4 h 12"/>
                <a:gd name="T16" fmla="*/ 4 w 16"/>
                <a:gd name="T17" fmla="*/ 4 h 12"/>
                <a:gd name="T18" fmla="*/ 0 w 16"/>
                <a:gd name="T19" fmla="*/ 8 h 12"/>
                <a:gd name="T20" fmla="*/ 0 w 16"/>
                <a:gd name="T21" fmla="*/ 8 h 12"/>
                <a:gd name="T22" fmla="*/ 0 w 16"/>
                <a:gd name="T23" fmla="*/ 8 h 12"/>
                <a:gd name="T24" fmla="*/ 0 w 16"/>
                <a:gd name="T25" fmla="*/ 12 h 12"/>
                <a:gd name="T26" fmla="*/ 0 w 16"/>
                <a:gd name="T27" fmla="*/ 12 h 12"/>
                <a:gd name="T28" fmla="*/ 0 w 16"/>
                <a:gd name="T29" fmla="*/ 12 h 12"/>
                <a:gd name="T30" fmla="*/ 4 w 16"/>
                <a:gd name="T31" fmla="*/ 12 h 12"/>
                <a:gd name="T32" fmla="*/ 4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8 h 12"/>
                <a:gd name="T42" fmla="*/ 8 w 16"/>
                <a:gd name="T43" fmla="*/ 12 h 12"/>
                <a:gd name="T44" fmla="*/ 8 w 16"/>
                <a:gd name="T45" fmla="*/ 12 h 12"/>
                <a:gd name="T46" fmla="*/ 8 w 16"/>
                <a:gd name="T47" fmla="*/ 12 h 12"/>
                <a:gd name="T48" fmla="*/ 4 w 16"/>
                <a:gd name="T49" fmla="*/ 12 h 12"/>
                <a:gd name="T50" fmla="*/ 4 w 16"/>
                <a:gd name="T51" fmla="*/ 12 h 12"/>
                <a:gd name="T52" fmla="*/ 8 w 16"/>
                <a:gd name="T53" fmla="*/ 12 h 12"/>
                <a:gd name="T54" fmla="*/ 8 w 16"/>
                <a:gd name="T55" fmla="*/ 12 h 12"/>
                <a:gd name="T56" fmla="*/ 12 w 16"/>
                <a:gd name="T57" fmla="*/ 12 h 12"/>
                <a:gd name="T58" fmla="*/ 12 w 16"/>
                <a:gd name="T59" fmla="*/ 12 h 12"/>
                <a:gd name="T60" fmla="*/ 12 w 16"/>
                <a:gd name="T61" fmla="*/ 12 h 12"/>
                <a:gd name="T62" fmla="*/ 12 w 16"/>
                <a:gd name="T63" fmla="*/ 12 h 12"/>
                <a:gd name="T64" fmla="*/ 16 w 16"/>
                <a:gd name="T65" fmla="*/ 4 h 12"/>
                <a:gd name="T66" fmla="*/ 16 w 16"/>
                <a:gd name="T67" fmla="*/ 4 h 12"/>
                <a:gd name="T68" fmla="*/ 16 w 16"/>
                <a:gd name="T69" fmla="*/ 4 h 12"/>
                <a:gd name="T70" fmla="*/ 16 w 16"/>
                <a:gd name="T71" fmla="*/ 4 h 12"/>
                <a:gd name="T72" fmla="*/ 16 w 16"/>
                <a:gd name="T73" fmla="*/ 4 h 12"/>
                <a:gd name="T74" fmla="*/ 12 w 16"/>
                <a:gd name="T75" fmla="*/ 4 h 12"/>
                <a:gd name="T76" fmla="*/ 12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12 w 16"/>
                <a:gd name="T83" fmla="*/ 4 h 12"/>
                <a:gd name="T84" fmla="*/ 12 w 16"/>
                <a:gd name="T85" fmla="*/ 4 h 12"/>
                <a:gd name="T86" fmla="*/ 8 w 16"/>
                <a:gd name="T87" fmla="*/ 4 h 12"/>
                <a:gd name="T88" fmla="*/ 8 w 16"/>
                <a:gd name="T89" fmla="*/ 4 h 1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2"/>
                <a:gd name="T137" fmla="*/ 16 w 16"/>
                <a:gd name="T138" fmla="*/ 12 h 1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2">
                  <a:moveTo>
                    <a:pt x="8" y="4"/>
                  </a:moveTo>
                  <a:lnTo>
                    <a:pt x="8" y="4"/>
                  </a:lnTo>
                  <a:lnTo>
                    <a:pt x="12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2" name="Freeform 688"/>
            <p:cNvSpPr>
              <a:spLocks/>
            </p:cNvSpPr>
            <p:nvPr/>
          </p:nvSpPr>
          <p:spPr bwMode="auto">
            <a:xfrm>
              <a:off x="4173" y="2489"/>
              <a:ext cx="15" cy="12"/>
            </a:xfrm>
            <a:custGeom>
              <a:avLst/>
              <a:gdLst>
                <a:gd name="T0" fmla="*/ 8 w 15"/>
                <a:gd name="T1" fmla="*/ 12 h 12"/>
                <a:gd name="T2" fmla="*/ 12 w 15"/>
                <a:gd name="T3" fmla="*/ 12 h 12"/>
                <a:gd name="T4" fmla="*/ 12 w 15"/>
                <a:gd name="T5" fmla="*/ 12 h 12"/>
                <a:gd name="T6" fmla="*/ 12 w 15"/>
                <a:gd name="T7" fmla="*/ 12 h 12"/>
                <a:gd name="T8" fmla="*/ 12 w 15"/>
                <a:gd name="T9" fmla="*/ 12 h 12"/>
                <a:gd name="T10" fmla="*/ 12 w 15"/>
                <a:gd name="T11" fmla="*/ 12 h 12"/>
                <a:gd name="T12" fmla="*/ 12 w 15"/>
                <a:gd name="T13" fmla="*/ 12 h 12"/>
                <a:gd name="T14" fmla="*/ 8 w 15"/>
                <a:gd name="T15" fmla="*/ 12 h 12"/>
                <a:gd name="T16" fmla="*/ 4 w 15"/>
                <a:gd name="T17" fmla="*/ 12 h 12"/>
                <a:gd name="T18" fmla="*/ 4 w 15"/>
                <a:gd name="T19" fmla="*/ 12 h 12"/>
                <a:gd name="T20" fmla="*/ 0 w 15"/>
                <a:gd name="T21" fmla="*/ 12 h 12"/>
                <a:gd name="T22" fmla="*/ 0 w 15"/>
                <a:gd name="T23" fmla="*/ 8 h 12"/>
                <a:gd name="T24" fmla="*/ 0 w 15"/>
                <a:gd name="T25" fmla="*/ 8 h 12"/>
                <a:gd name="T26" fmla="*/ 4 w 15"/>
                <a:gd name="T27" fmla="*/ 8 h 12"/>
                <a:gd name="T28" fmla="*/ 4 w 15"/>
                <a:gd name="T29" fmla="*/ 8 h 12"/>
                <a:gd name="T30" fmla="*/ 4 w 15"/>
                <a:gd name="T31" fmla="*/ 8 h 12"/>
                <a:gd name="T32" fmla="*/ 12 w 15"/>
                <a:gd name="T33" fmla="*/ 4 h 12"/>
                <a:gd name="T34" fmla="*/ 8 w 15"/>
                <a:gd name="T35" fmla="*/ 4 h 12"/>
                <a:gd name="T36" fmla="*/ 8 w 15"/>
                <a:gd name="T37" fmla="*/ 4 h 12"/>
                <a:gd name="T38" fmla="*/ 8 w 15"/>
                <a:gd name="T39" fmla="*/ 0 h 12"/>
                <a:gd name="T40" fmla="*/ 8 w 15"/>
                <a:gd name="T41" fmla="*/ 0 h 12"/>
                <a:gd name="T42" fmla="*/ 8 w 15"/>
                <a:gd name="T43" fmla="*/ 0 h 12"/>
                <a:gd name="T44" fmla="*/ 8 w 15"/>
                <a:gd name="T45" fmla="*/ 0 h 12"/>
                <a:gd name="T46" fmla="*/ 8 w 15"/>
                <a:gd name="T47" fmla="*/ 0 h 12"/>
                <a:gd name="T48" fmla="*/ 15 w 15"/>
                <a:gd name="T49" fmla="*/ 4 h 12"/>
                <a:gd name="T50" fmla="*/ 15 w 15"/>
                <a:gd name="T51" fmla="*/ 4 h 12"/>
                <a:gd name="T52" fmla="*/ 15 w 15"/>
                <a:gd name="T53" fmla="*/ 4 h 12"/>
                <a:gd name="T54" fmla="*/ 15 w 15"/>
                <a:gd name="T55" fmla="*/ 4 h 12"/>
                <a:gd name="T56" fmla="*/ 15 w 15"/>
                <a:gd name="T57" fmla="*/ 4 h 12"/>
                <a:gd name="T58" fmla="*/ 15 w 15"/>
                <a:gd name="T59" fmla="*/ 4 h 12"/>
                <a:gd name="T60" fmla="*/ 15 w 15"/>
                <a:gd name="T61" fmla="*/ 4 h 12"/>
                <a:gd name="T62" fmla="*/ 12 w 15"/>
                <a:gd name="T63" fmla="*/ 4 h 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5"/>
                <a:gd name="T97" fmla="*/ 0 h 12"/>
                <a:gd name="T98" fmla="*/ 15 w 15"/>
                <a:gd name="T99" fmla="*/ 12 h 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5" h="12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3" name="Freeform 689"/>
            <p:cNvSpPr>
              <a:spLocks/>
            </p:cNvSpPr>
            <p:nvPr/>
          </p:nvSpPr>
          <p:spPr bwMode="auto">
            <a:xfrm>
              <a:off x="4283" y="2485"/>
              <a:ext cx="20" cy="20"/>
            </a:xfrm>
            <a:custGeom>
              <a:avLst/>
              <a:gdLst>
                <a:gd name="T0" fmla="*/ 8 w 20"/>
                <a:gd name="T1" fmla="*/ 8 h 20"/>
                <a:gd name="T2" fmla="*/ 8 w 20"/>
                <a:gd name="T3" fmla="*/ 8 h 20"/>
                <a:gd name="T4" fmla="*/ 12 w 20"/>
                <a:gd name="T5" fmla="*/ 8 h 20"/>
                <a:gd name="T6" fmla="*/ 12 w 20"/>
                <a:gd name="T7" fmla="*/ 8 h 20"/>
                <a:gd name="T8" fmla="*/ 12 w 20"/>
                <a:gd name="T9" fmla="*/ 8 h 20"/>
                <a:gd name="T10" fmla="*/ 16 w 20"/>
                <a:gd name="T11" fmla="*/ 12 h 20"/>
                <a:gd name="T12" fmla="*/ 16 w 20"/>
                <a:gd name="T13" fmla="*/ 16 h 20"/>
                <a:gd name="T14" fmla="*/ 16 w 20"/>
                <a:gd name="T15" fmla="*/ 16 h 20"/>
                <a:gd name="T16" fmla="*/ 12 w 20"/>
                <a:gd name="T17" fmla="*/ 20 h 20"/>
                <a:gd name="T18" fmla="*/ 4 w 20"/>
                <a:gd name="T19" fmla="*/ 20 h 20"/>
                <a:gd name="T20" fmla="*/ 4 w 20"/>
                <a:gd name="T21" fmla="*/ 20 h 20"/>
                <a:gd name="T22" fmla="*/ 0 w 20"/>
                <a:gd name="T23" fmla="*/ 16 h 20"/>
                <a:gd name="T24" fmla="*/ 0 w 20"/>
                <a:gd name="T25" fmla="*/ 16 h 20"/>
                <a:gd name="T26" fmla="*/ 0 w 20"/>
                <a:gd name="T27" fmla="*/ 16 h 20"/>
                <a:gd name="T28" fmla="*/ 0 w 20"/>
                <a:gd name="T29" fmla="*/ 12 h 20"/>
                <a:gd name="T30" fmla="*/ 4 w 20"/>
                <a:gd name="T31" fmla="*/ 12 h 20"/>
                <a:gd name="T32" fmla="*/ 4 w 20"/>
                <a:gd name="T33" fmla="*/ 12 h 20"/>
                <a:gd name="T34" fmla="*/ 4 w 20"/>
                <a:gd name="T35" fmla="*/ 16 h 20"/>
                <a:gd name="T36" fmla="*/ 8 w 20"/>
                <a:gd name="T37" fmla="*/ 16 h 20"/>
                <a:gd name="T38" fmla="*/ 8 w 20"/>
                <a:gd name="T39" fmla="*/ 16 h 20"/>
                <a:gd name="T40" fmla="*/ 8 w 20"/>
                <a:gd name="T41" fmla="*/ 16 h 20"/>
                <a:gd name="T42" fmla="*/ 12 w 20"/>
                <a:gd name="T43" fmla="*/ 12 h 20"/>
                <a:gd name="T44" fmla="*/ 12 w 20"/>
                <a:gd name="T45" fmla="*/ 12 h 20"/>
                <a:gd name="T46" fmla="*/ 12 w 20"/>
                <a:gd name="T47" fmla="*/ 12 h 20"/>
                <a:gd name="T48" fmla="*/ 12 w 20"/>
                <a:gd name="T49" fmla="*/ 12 h 20"/>
                <a:gd name="T50" fmla="*/ 12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2 h 20"/>
                <a:gd name="T58" fmla="*/ 4 w 20"/>
                <a:gd name="T59" fmla="*/ 8 h 20"/>
                <a:gd name="T60" fmla="*/ 4 w 20"/>
                <a:gd name="T61" fmla="*/ 8 h 20"/>
                <a:gd name="T62" fmla="*/ 8 w 20"/>
                <a:gd name="T63" fmla="*/ 0 h 20"/>
                <a:gd name="T64" fmla="*/ 8 w 20"/>
                <a:gd name="T65" fmla="*/ 0 h 20"/>
                <a:gd name="T66" fmla="*/ 8 w 20"/>
                <a:gd name="T67" fmla="*/ 0 h 20"/>
                <a:gd name="T68" fmla="*/ 12 w 20"/>
                <a:gd name="T69" fmla="*/ 0 h 20"/>
                <a:gd name="T70" fmla="*/ 20 w 20"/>
                <a:gd name="T71" fmla="*/ 4 h 20"/>
                <a:gd name="T72" fmla="*/ 20 w 20"/>
                <a:gd name="T73" fmla="*/ 4 h 20"/>
                <a:gd name="T74" fmla="*/ 20 w 20"/>
                <a:gd name="T75" fmla="*/ 4 h 20"/>
                <a:gd name="T76" fmla="*/ 20 w 20"/>
                <a:gd name="T77" fmla="*/ 4 h 20"/>
                <a:gd name="T78" fmla="*/ 20 w 20"/>
                <a:gd name="T79" fmla="*/ 4 h 20"/>
                <a:gd name="T80" fmla="*/ 20 w 20"/>
                <a:gd name="T81" fmla="*/ 8 h 20"/>
                <a:gd name="T82" fmla="*/ 20 w 20"/>
                <a:gd name="T83" fmla="*/ 8 h 20"/>
                <a:gd name="T84" fmla="*/ 12 w 20"/>
                <a:gd name="T85" fmla="*/ 4 h 2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20"/>
                <a:gd name="T131" fmla="*/ 20 w 20"/>
                <a:gd name="T132" fmla="*/ 20 h 2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20"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12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4" name="Freeform 690"/>
            <p:cNvSpPr>
              <a:spLocks/>
            </p:cNvSpPr>
            <p:nvPr/>
          </p:nvSpPr>
          <p:spPr bwMode="auto">
            <a:xfrm>
              <a:off x="4259" y="2505"/>
              <a:ext cx="20" cy="11"/>
            </a:xfrm>
            <a:custGeom>
              <a:avLst/>
              <a:gdLst>
                <a:gd name="T0" fmla="*/ 12 w 20"/>
                <a:gd name="T1" fmla="*/ 7 h 11"/>
                <a:gd name="T2" fmla="*/ 12 w 20"/>
                <a:gd name="T3" fmla="*/ 7 h 11"/>
                <a:gd name="T4" fmla="*/ 12 w 20"/>
                <a:gd name="T5" fmla="*/ 7 h 11"/>
                <a:gd name="T6" fmla="*/ 12 w 20"/>
                <a:gd name="T7" fmla="*/ 7 h 11"/>
                <a:gd name="T8" fmla="*/ 8 w 20"/>
                <a:gd name="T9" fmla="*/ 11 h 11"/>
                <a:gd name="T10" fmla="*/ 8 w 20"/>
                <a:gd name="T11" fmla="*/ 11 h 11"/>
                <a:gd name="T12" fmla="*/ 8 w 20"/>
                <a:gd name="T13" fmla="*/ 11 h 11"/>
                <a:gd name="T14" fmla="*/ 4 w 20"/>
                <a:gd name="T15" fmla="*/ 11 h 11"/>
                <a:gd name="T16" fmla="*/ 4 w 20"/>
                <a:gd name="T17" fmla="*/ 11 h 11"/>
                <a:gd name="T18" fmla="*/ 4 w 20"/>
                <a:gd name="T19" fmla="*/ 11 h 11"/>
                <a:gd name="T20" fmla="*/ 0 w 20"/>
                <a:gd name="T21" fmla="*/ 7 h 11"/>
                <a:gd name="T22" fmla="*/ 0 w 20"/>
                <a:gd name="T23" fmla="*/ 7 h 11"/>
                <a:gd name="T24" fmla="*/ 0 w 20"/>
                <a:gd name="T25" fmla="*/ 7 h 11"/>
                <a:gd name="T26" fmla="*/ 0 w 20"/>
                <a:gd name="T27" fmla="*/ 7 h 11"/>
                <a:gd name="T28" fmla="*/ 0 w 20"/>
                <a:gd name="T29" fmla="*/ 3 h 11"/>
                <a:gd name="T30" fmla="*/ 0 w 20"/>
                <a:gd name="T31" fmla="*/ 3 h 11"/>
                <a:gd name="T32" fmla="*/ 4 w 20"/>
                <a:gd name="T33" fmla="*/ 3 h 11"/>
                <a:gd name="T34" fmla="*/ 4 w 20"/>
                <a:gd name="T35" fmla="*/ 3 h 11"/>
                <a:gd name="T36" fmla="*/ 4 w 20"/>
                <a:gd name="T37" fmla="*/ 3 h 11"/>
                <a:gd name="T38" fmla="*/ 4 w 20"/>
                <a:gd name="T39" fmla="*/ 3 h 11"/>
                <a:gd name="T40" fmla="*/ 4 w 20"/>
                <a:gd name="T41" fmla="*/ 7 h 11"/>
                <a:gd name="T42" fmla="*/ 4 w 20"/>
                <a:gd name="T43" fmla="*/ 7 h 11"/>
                <a:gd name="T44" fmla="*/ 4 w 20"/>
                <a:gd name="T45" fmla="*/ 7 h 11"/>
                <a:gd name="T46" fmla="*/ 4 w 20"/>
                <a:gd name="T47" fmla="*/ 7 h 11"/>
                <a:gd name="T48" fmla="*/ 4 w 20"/>
                <a:gd name="T49" fmla="*/ 7 h 11"/>
                <a:gd name="T50" fmla="*/ 8 w 20"/>
                <a:gd name="T51" fmla="*/ 7 h 11"/>
                <a:gd name="T52" fmla="*/ 8 w 20"/>
                <a:gd name="T53" fmla="*/ 7 h 11"/>
                <a:gd name="T54" fmla="*/ 12 w 20"/>
                <a:gd name="T55" fmla="*/ 0 h 11"/>
                <a:gd name="T56" fmla="*/ 12 w 20"/>
                <a:gd name="T57" fmla="*/ 0 h 11"/>
                <a:gd name="T58" fmla="*/ 12 w 20"/>
                <a:gd name="T59" fmla="*/ 0 h 11"/>
                <a:gd name="T60" fmla="*/ 8 w 20"/>
                <a:gd name="T61" fmla="*/ 0 h 11"/>
                <a:gd name="T62" fmla="*/ 8 w 20"/>
                <a:gd name="T63" fmla="*/ 0 h 11"/>
                <a:gd name="T64" fmla="*/ 8 w 20"/>
                <a:gd name="T65" fmla="*/ 0 h 11"/>
                <a:gd name="T66" fmla="*/ 12 w 20"/>
                <a:gd name="T67" fmla="*/ 0 h 11"/>
                <a:gd name="T68" fmla="*/ 12 w 20"/>
                <a:gd name="T69" fmla="*/ 0 h 11"/>
                <a:gd name="T70" fmla="*/ 16 w 20"/>
                <a:gd name="T71" fmla="*/ 0 h 11"/>
                <a:gd name="T72" fmla="*/ 16 w 20"/>
                <a:gd name="T73" fmla="*/ 0 h 11"/>
                <a:gd name="T74" fmla="*/ 20 w 20"/>
                <a:gd name="T75" fmla="*/ 0 h 11"/>
                <a:gd name="T76" fmla="*/ 20 w 20"/>
                <a:gd name="T77" fmla="*/ 3 h 11"/>
                <a:gd name="T78" fmla="*/ 20 w 20"/>
                <a:gd name="T79" fmla="*/ 3 h 11"/>
                <a:gd name="T80" fmla="*/ 16 w 20"/>
                <a:gd name="T81" fmla="*/ 3 h 11"/>
                <a:gd name="T82" fmla="*/ 16 w 20"/>
                <a:gd name="T83" fmla="*/ 3 h 11"/>
                <a:gd name="T84" fmla="*/ 16 w 20"/>
                <a:gd name="T85" fmla="*/ 3 h 1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0"/>
                <a:gd name="T130" fmla="*/ 0 h 11"/>
                <a:gd name="T131" fmla="*/ 20 w 20"/>
                <a:gd name="T132" fmla="*/ 11 h 1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0" h="11">
                  <a:moveTo>
                    <a:pt x="16" y="3"/>
                  </a:moveTo>
                  <a:lnTo>
                    <a:pt x="12" y="7"/>
                  </a:lnTo>
                  <a:lnTo>
                    <a:pt x="8" y="11"/>
                  </a:lnTo>
                  <a:lnTo>
                    <a:pt x="4" y="11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3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0" y="3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5" name="Freeform 691"/>
            <p:cNvSpPr>
              <a:spLocks/>
            </p:cNvSpPr>
            <p:nvPr/>
          </p:nvSpPr>
          <p:spPr bwMode="auto">
            <a:xfrm>
              <a:off x="4275" y="2505"/>
              <a:ext cx="16" cy="15"/>
            </a:xfrm>
            <a:custGeom>
              <a:avLst/>
              <a:gdLst>
                <a:gd name="T0" fmla="*/ 4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6 w 16"/>
                <a:gd name="T11" fmla="*/ 3 h 15"/>
                <a:gd name="T12" fmla="*/ 16 w 16"/>
                <a:gd name="T13" fmla="*/ 3 h 15"/>
                <a:gd name="T14" fmla="*/ 16 w 16"/>
                <a:gd name="T15" fmla="*/ 3 h 15"/>
                <a:gd name="T16" fmla="*/ 16 w 16"/>
                <a:gd name="T17" fmla="*/ 7 h 15"/>
                <a:gd name="T18" fmla="*/ 16 w 16"/>
                <a:gd name="T19" fmla="*/ 7 h 15"/>
                <a:gd name="T20" fmla="*/ 16 w 16"/>
                <a:gd name="T21" fmla="*/ 7 h 15"/>
                <a:gd name="T22" fmla="*/ 8 w 16"/>
                <a:gd name="T23" fmla="*/ 7 h 15"/>
                <a:gd name="T24" fmla="*/ 12 w 16"/>
                <a:gd name="T25" fmla="*/ 11 h 15"/>
                <a:gd name="T26" fmla="*/ 12 w 16"/>
                <a:gd name="T27" fmla="*/ 11 h 15"/>
                <a:gd name="T28" fmla="*/ 12 w 16"/>
                <a:gd name="T29" fmla="*/ 11 h 15"/>
                <a:gd name="T30" fmla="*/ 12 w 16"/>
                <a:gd name="T31" fmla="*/ 11 h 15"/>
                <a:gd name="T32" fmla="*/ 12 w 16"/>
                <a:gd name="T33" fmla="*/ 15 h 15"/>
                <a:gd name="T34" fmla="*/ 12 w 16"/>
                <a:gd name="T35" fmla="*/ 15 h 15"/>
                <a:gd name="T36" fmla="*/ 8 w 16"/>
                <a:gd name="T37" fmla="*/ 15 h 15"/>
                <a:gd name="T38" fmla="*/ 8 w 16"/>
                <a:gd name="T39" fmla="*/ 15 h 15"/>
                <a:gd name="T40" fmla="*/ 8 w 16"/>
                <a:gd name="T41" fmla="*/ 11 h 15"/>
                <a:gd name="T42" fmla="*/ 8 w 16"/>
                <a:gd name="T43" fmla="*/ 11 h 15"/>
                <a:gd name="T44" fmla="*/ 8 w 16"/>
                <a:gd name="T45" fmla="*/ 11 h 15"/>
                <a:gd name="T46" fmla="*/ 4 w 16"/>
                <a:gd name="T47" fmla="*/ 7 h 15"/>
                <a:gd name="T48" fmla="*/ 4 w 16"/>
                <a:gd name="T49" fmla="*/ 11 h 15"/>
                <a:gd name="T50" fmla="*/ 4 w 16"/>
                <a:gd name="T51" fmla="*/ 11 h 15"/>
                <a:gd name="T52" fmla="*/ 4 w 16"/>
                <a:gd name="T53" fmla="*/ 11 h 15"/>
                <a:gd name="T54" fmla="*/ 4 w 16"/>
                <a:gd name="T55" fmla="*/ 11 h 15"/>
                <a:gd name="T56" fmla="*/ 4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0 w 16"/>
                <a:gd name="T65" fmla="*/ 11 h 15"/>
                <a:gd name="T66" fmla="*/ 0 w 16"/>
                <a:gd name="T67" fmla="*/ 11 h 15"/>
                <a:gd name="T68" fmla="*/ 0 w 16"/>
                <a:gd name="T69" fmla="*/ 11 h 15"/>
                <a:gd name="T70" fmla="*/ 4 w 16"/>
                <a:gd name="T71" fmla="*/ 3 h 15"/>
                <a:gd name="T72" fmla="*/ 4 w 16"/>
                <a:gd name="T73" fmla="*/ 3 h 15"/>
                <a:gd name="T74" fmla="*/ 4 w 16"/>
                <a:gd name="T75" fmla="*/ 3 h 15"/>
                <a:gd name="T76" fmla="*/ 4 w 16"/>
                <a:gd name="T77" fmla="*/ 0 h 15"/>
                <a:gd name="T78" fmla="*/ 4 w 16"/>
                <a:gd name="T79" fmla="*/ 0 h 15"/>
                <a:gd name="T80" fmla="*/ 8 w 16"/>
                <a:gd name="T81" fmla="*/ 3 h 15"/>
                <a:gd name="T82" fmla="*/ 12 w 16"/>
                <a:gd name="T83" fmla="*/ 3 h 15"/>
                <a:gd name="T84" fmla="*/ 8 w 16"/>
                <a:gd name="T85" fmla="*/ 3 h 15"/>
                <a:gd name="T86" fmla="*/ 8 w 16"/>
                <a:gd name="T87" fmla="*/ 3 h 15"/>
                <a:gd name="T88" fmla="*/ 8 w 16"/>
                <a:gd name="T89" fmla="*/ 3 h 1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5"/>
                <a:gd name="T137" fmla="*/ 16 w 16"/>
                <a:gd name="T138" fmla="*/ 15 h 1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5">
                  <a:moveTo>
                    <a:pt x="8" y="3"/>
                  </a:moveTo>
                  <a:lnTo>
                    <a:pt x="4" y="7"/>
                  </a:lnTo>
                  <a:lnTo>
                    <a:pt x="12" y="3"/>
                  </a:lnTo>
                  <a:lnTo>
                    <a:pt x="16" y="3"/>
                  </a:lnTo>
                  <a:lnTo>
                    <a:pt x="16" y="7"/>
                  </a:lnTo>
                  <a:lnTo>
                    <a:pt x="8" y="7"/>
                  </a:lnTo>
                  <a:lnTo>
                    <a:pt x="12" y="11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12" y="3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6" name="Freeform 692"/>
            <p:cNvSpPr>
              <a:spLocks/>
            </p:cNvSpPr>
            <p:nvPr/>
          </p:nvSpPr>
          <p:spPr bwMode="auto">
            <a:xfrm>
              <a:off x="4287" y="2508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12 w 16"/>
                <a:gd name="T3" fmla="*/ 12 h 16"/>
                <a:gd name="T4" fmla="*/ 12 w 16"/>
                <a:gd name="T5" fmla="*/ 12 h 16"/>
                <a:gd name="T6" fmla="*/ 12 w 16"/>
                <a:gd name="T7" fmla="*/ 12 h 16"/>
                <a:gd name="T8" fmla="*/ 16 w 16"/>
                <a:gd name="T9" fmla="*/ 12 h 16"/>
                <a:gd name="T10" fmla="*/ 16 w 16"/>
                <a:gd name="T11" fmla="*/ 12 h 16"/>
                <a:gd name="T12" fmla="*/ 16 w 16"/>
                <a:gd name="T13" fmla="*/ 12 h 16"/>
                <a:gd name="T14" fmla="*/ 16 w 16"/>
                <a:gd name="T15" fmla="*/ 12 h 16"/>
                <a:gd name="T16" fmla="*/ 16 w 16"/>
                <a:gd name="T17" fmla="*/ 12 h 16"/>
                <a:gd name="T18" fmla="*/ 16 w 16"/>
                <a:gd name="T19" fmla="*/ 16 h 16"/>
                <a:gd name="T20" fmla="*/ 16 w 16"/>
                <a:gd name="T21" fmla="*/ 16 h 16"/>
                <a:gd name="T22" fmla="*/ 12 w 16"/>
                <a:gd name="T23" fmla="*/ 16 h 16"/>
                <a:gd name="T24" fmla="*/ 12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4 w 16"/>
                <a:gd name="T39" fmla="*/ 12 h 16"/>
                <a:gd name="T40" fmla="*/ 4 w 16"/>
                <a:gd name="T41" fmla="*/ 12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8 w 16"/>
                <a:gd name="T49" fmla="*/ 4 h 16"/>
                <a:gd name="T50" fmla="*/ 8 w 16"/>
                <a:gd name="T51" fmla="*/ 0 h 16"/>
                <a:gd name="T52" fmla="*/ 8 w 16"/>
                <a:gd name="T53" fmla="*/ 0 h 16"/>
                <a:gd name="T54" fmla="*/ 8 w 16"/>
                <a:gd name="T55" fmla="*/ 0 h 16"/>
                <a:gd name="T56" fmla="*/ 8 w 16"/>
                <a:gd name="T57" fmla="*/ 0 h 16"/>
                <a:gd name="T58" fmla="*/ 12 w 16"/>
                <a:gd name="T59" fmla="*/ 4 h 16"/>
                <a:gd name="T60" fmla="*/ 12 w 16"/>
                <a:gd name="T61" fmla="*/ 4 h 16"/>
                <a:gd name="T62" fmla="*/ 16 w 16"/>
                <a:gd name="T63" fmla="*/ 4 h 16"/>
                <a:gd name="T64" fmla="*/ 16 w 16"/>
                <a:gd name="T65" fmla="*/ 4 h 16"/>
                <a:gd name="T66" fmla="*/ 16 w 16"/>
                <a:gd name="T67" fmla="*/ 4 h 16"/>
                <a:gd name="T68" fmla="*/ 12 w 16"/>
                <a:gd name="T69" fmla="*/ 4 h 16"/>
                <a:gd name="T70" fmla="*/ 12 w 16"/>
                <a:gd name="T71" fmla="*/ 4 h 16"/>
                <a:gd name="T72" fmla="*/ 12 w 16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"/>
                <a:gd name="T112" fmla="*/ 0 h 16"/>
                <a:gd name="T113" fmla="*/ 16 w 16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" h="16">
                  <a:moveTo>
                    <a:pt x="12" y="4"/>
                  </a:moveTo>
                  <a:lnTo>
                    <a:pt x="8" y="12"/>
                  </a:lnTo>
                  <a:lnTo>
                    <a:pt x="12" y="12"/>
                  </a:lnTo>
                  <a:lnTo>
                    <a:pt x="16" y="12"/>
                  </a:lnTo>
                  <a:lnTo>
                    <a:pt x="16" y="16"/>
                  </a:lnTo>
                  <a:lnTo>
                    <a:pt x="12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7" name="Freeform 693"/>
            <p:cNvSpPr>
              <a:spLocks noEditPoints="1"/>
            </p:cNvSpPr>
            <p:nvPr/>
          </p:nvSpPr>
          <p:spPr bwMode="auto">
            <a:xfrm>
              <a:off x="4393" y="2512"/>
              <a:ext cx="24" cy="16"/>
            </a:xfrm>
            <a:custGeom>
              <a:avLst/>
              <a:gdLst>
                <a:gd name="T0" fmla="*/ 8 w 24"/>
                <a:gd name="T1" fmla="*/ 8 h 16"/>
                <a:gd name="T2" fmla="*/ 12 w 24"/>
                <a:gd name="T3" fmla="*/ 8 h 16"/>
                <a:gd name="T4" fmla="*/ 12 w 24"/>
                <a:gd name="T5" fmla="*/ 8 h 16"/>
                <a:gd name="T6" fmla="*/ 12 w 24"/>
                <a:gd name="T7" fmla="*/ 8 h 16"/>
                <a:gd name="T8" fmla="*/ 16 w 24"/>
                <a:gd name="T9" fmla="*/ 8 h 16"/>
                <a:gd name="T10" fmla="*/ 16 w 24"/>
                <a:gd name="T11" fmla="*/ 12 h 16"/>
                <a:gd name="T12" fmla="*/ 16 w 24"/>
                <a:gd name="T13" fmla="*/ 12 h 16"/>
                <a:gd name="T14" fmla="*/ 12 w 24"/>
                <a:gd name="T15" fmla="*/ 16 h 16"/>
                <a:gd name="T16" fmla="*/ 8 w 24"/>
                <a:gd name="T17" fmla="*/ 16 h 16"/>
                <a:gd name="T18" fmla="*/ 8 w 24"/>
                <a:gd name="T19" fmla="*/ 16 h 16"/>
                <a:gd name="T20" fmla="*/ 0 w 24"/>
                <a:gd name="T21" fmla="*/ 12 h 16"/>
                <a:gd name="T22" fmla="*/ 4 w 24"/>
                <a:gd name="T23" fmla="*/ 8 h 16"/>
                <a:gd name="T24" fmla="*/ 4 w 24"/>
                <a:gd name="T25" fmla="*/ 8 h 16"/>
                <a:gd name="T26" fmla="*/ 8 w 24"/>
                <a:gd name="T27" fmla="*/ 0 h 16"/>
                <a:gd name="T28" fmla="*/ 20 w 24"/>
                <a:gd name="T29" fmla="*/ 0 h 16"/>
                <a:gd name="T30" fmla="*/ 20 w 24"/>
                <a:gd name="T31" fmla="*/ 0 h 16"/>
                <a:gd name="T32" fmla="*/ 24 w 24"/>
                <a:gd name="T33" fmla="*/ 0 h 16"/>
                <a:gd name="T34" fmla="*/ 24 w 24"/>
                <a:gd name="T35" fmla="*/ 4 h 16"/>
                <a:gd name="T36" fmla="*/ 24 w 24"/>
                <a:gd name="T37" fmla="*/ 4 h 16"/>
                <a:gd name="T38" fmla="*/ 20 w 24"/>
                <a:gd name="T39" fmla="*/ 4 h 16"/>
                <a:gd name="T40" fmla="*/ 16 w 24"/>
                <a:gd name="T41" fmla="*/ 4 h 16"/>
                <a:gd name="T42" fmla="*/ 16 w 24"/>
                <a:gd name="T43" fmla="*/ 4 h 16"/>
                <a:gd name="T44" fmla="*/ 12 w 24"/>
                <a:gd name="T45" fmla="*/ 4 h 16"/>
                <a:gd name="T46" fmla="*/ 8 w 24"/>
                <a:gd name="T47" fmla="*/ 8 h 16"/>
                <a:gd name="T48" fmla="*/ 12 w 24"/>
                <a:gd name="T49" fmla="*/ 12 h 16"/>
                <a:gd name="T50" fmla="*/ 12 w 24"/>
                <a:gd name="T51" fmla="*/ 12 h 16"/>
                <a:gd name="T52" fmla="*/ 12 w 24"/>
                <a:gd name="T53" fmla="*/ 12 h 16"/>
                <a:gd name="T54" fmla="*/ 12 w 24"/>
                <a:gd name="T55" fmla="*/ 8 h 16"/>
                <a:gd name="T56" fmla="*/ 8 w 24"/>
                <a:gd name="T57" fmla="*/ 8 h 16"/>
                <a:gd name="T58" fmla="*/ 8 w 24"/>
                <a:gd name="T59" fmla="*/ 8 h 16"/>
                <a:gd name="T60" fmla="*/ 8 w 24"/>
                <a:gd name="T61" fmla="*/ 12 h 16"/>
                <a:gd name="T62" fmla="*/ 8 w 24"/>
                <a:gd name="T63" fmla="*/ 12 h 16"/>
                <a:gd name="T64" fmla="*/ 8 w 24"/>
                <a:gd name="T65" fmla="*/ 12 h 16"/>
                <a:gd name="T66" fmla="*/ 8 w 24"/>
                <a:gd name="T67" fmla="*/ 16 h 16"/>
                <a:gd name="T68" fmla="*/ 12 w 24"/>
                <a:gd name="T69" fmla="*/ 16 h 16"/>
                <a:gd name="T70" fmla="*/ 12 w 24"/>
                <a:gd name="T71" fmla="*/ 16 h 16"/>
                <a:gd name="T72" fmla="*/ 12 w 24"/>
                <a:gd name="T73" fmla="*/ 12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4"/>
                <a:gd name="T112" fmla="*/ 0 h 16"/>
                <a:gd name="T113" fmla="*/ 24 w 24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4" h="16">
                  <a:moveTo>
                    <a:pt x="8" y="8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4" y="8"/>
                  </a:lnTo>
                  <a:lnTo>
                    <a:pt x="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close/>
                  <a:moveTo>
                    <a:pt x="12" y="12"/>
                  </a:moveTo>
                  <a:lnTo>
                    <a:pt x="12" y="12"/>
                  </a:lnTo>
                  <a:lnTo>
                    <a:pt x="12" y="8"/>
                  </a:lnTo>
                  <a:lnTo>
                    <a:pt x="8" y="8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8" name="Freeform 694"/>
            <p:cNvSpPr>
              <a:spLocks/>
            </p:cNvSpPr>
            <p:nvPr/>
          </p:nvSpPr>
          <p:spPr bwMode="auto">
            <a:xfrm>
              <a:off x="4370" y="2528"/>
              <a:ext cx="19" cy="16"/>
            </a:xfrm>
            <a:custGeom>
              <a:avLst/>
              <a:gdLst>
                <a:gd name="T0" fmla="*/ 15 w 19"/>
                <a:gd name="T1" fmla="*/ 4 h 16"/>
                <a:gd name="T2" fmla="*/ 15 w 19"/>
                <a:gd name="T3" fmla="*/ 4 h 16"/>
                <a:gd name="T4" fmla="*/ 15 w 19"/>
                <a:gd name="T5" fmla="*/ 4 h 16"/>
                <a:gd name="T6" fmla="*/ 19 w 19"/>
                <a:gd name="T7" fmla="*/ 4 h 16"/>
                <a:gd name="T8" fmla="*/ 19 w 19"/>
                <a:gd name="T9" fmla="*/ 4 h 16"/>
                <a:gd name="T10" fmla="*/ 19 w 19"/>
                <a:gd name="T11" fmla="*/ 4 h 16"/>
                <a:gd name="T12" fmla="*/ 19 w 19"/>
                <a:gd name="T13" fmla="*/ 8 h 16"/>
                <a:gd name="T14" fmla="*/ 15 w 19"/>
                <a:gd name="T15" fmla="*/ 4 h 16"/>
                <a:gd name="T16" fmla="*/ 11 w 19"/>
                <a:gd name="T17" fmla="*/ 12 h 16"/>
                <a:gd name="T18" fmla="*/ 11 w 19"/>
                <a:gd name="T19" fmla="*/ 12 h 16"/>
                <a:gd name="T20" fmla="*/ 15 w 19"/>
                <a:gd name="T21" fmla="*/ 16 h 16"/>
                <a:gd name="T22" fmla="*/ 15 w 19"/>
                <a:gd name="T23" fmla="*/ 16 h 16"/>
                <a:gd name="T24" fmla="*/ 11 w 19"/>
                <a:gd name="T25" fmla="*/ 16 h 16"/>
                <a:gd name="T26" fmla="*/ 8 w 19"/>
                <a:gd name="T27" fmla="*/ 16 h 16"/>
                <a:gd name="T28" fmla="*/ 8 w 19"/>
                <a:gd name="T29" fmla="*/ 16 h 16"/>
                <a:gd name="T30" fmla="*/ 8 w 19"/>
                <a:gd name="T31" fmla="*/ 12 h 16"/>
                <a:gd name="T32" fmla="*/ 8 w 19"/>
                <a:gd name="T33" fmla="*/ 12 h 16"/>
                <a:gd name="T34" fmla="*/ 11 w 19"/>
                <a:gd name="T35" fmla="*/ 12 h 16"/>
                <a:gd name="T36" fmla="*/ 11 w 19"/>
                <a:gd name="T37" fmla="*/ 12 h 16"/>
                <a:gd name="T38" fmla="*/ 8 w 19"/>
                <a:gd name="T39" fmla="*/ 12 h 16"/>
                <a:gd name="T40" fmla="*/ 8 w 19"/>
                <a:gd name="T41" fmla="*/ 12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8 h 16"/>
                <a:gd name="T48" fmla="*/ 8 w 19"/>
                <a:gd name="T49" fmla="*/ 4 h 16"/>
                <a:gd name="T50" fmla="*/ 4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4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12 h 16"/>
                <a:gd name="T68" fmla="*/ 0 w 19"/>
                <a:gd name="T69" fmla="*/ 12 h 16"/>
                <a:gd name="T70" fmla="*/ 4 w 19"/>
                <a:gd name="T71" fmla="*/ 4 h 16"/>
                <a:gd name="T72" fmla="*/ 4 w 19"/>
                <a:gd name="T73" fmla="*/ 4 h 16"/>
                <a:gd name="T74" fmla="*/ 4 w 19"/>
                <a:gd name="T75" fmla="*/ 4 h 16"/>
                <a:gd name="T76" fmla="*/ 4 w 19"/>
                <a:gd name="T77" fmla="*/ 0 h 16"/>
                <a:gd name="T78" fmla="*/ 4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8 h 1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9"/>
                <a:gd name="T133" fmla="*/ 0 h 16"/>
                <a:gd name="T134" fmla="*/ 19 w 19"/>
                <a:gd name="T135" fmla="*/ 16 h 1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9" h="16">
                  <a:moveTo>
                    <a:pt x="8" y="8"/>
                  </a:move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1" y="12"/>
                  </a:lnTo>
                  <a:lnTo>
                    <a:pt x="11" y="8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09" name="Freeform 695"/>
            <p:cNvSpPr>
              <a:spLocks/>
            </p:cNvSpPr>
            <p:nvPr/>
          </p:nvSpPr>
          <p:spPr bwMode="auto">
            <a:xfrm>
              <a:off x="4385" y="2532"/>
              <a:ext cx="20" cy="16"/>
            </a:xfrm>
            <a:custGeom>
              <a:avLst/>
              <a:gdLst>
                <a:gd name="T0" fmla="*/ 8 w 20"/>
                <a:gd name="T1" fmla="*/ 4 h 16"/>
                <a:gd name="T2" fmla="*/ 8 w 20"/>
                <a:gd name="T3" fmla="*/ 0 h 16"/>
                <a:gd name="T4" fmla="*/ 8 w 20"/>
                <a:gd name="T5" fmla="*/ 0 h 16"/>
                <a:gd name="T6" fmla="*/ 8 w 20"/>
                <a:gd name="T7" fmla="*/ 0 h 16"/>
                <a:gd name="T8" fmla="*/ 8 w 20"/>
                <a:gd name="T9" fmla="*/ 0 h 16"/>
                <a:gd name="T10" fmla="*/ 4 w 20"/>
                <a:gd name="T11" fmla="*/ 0 h 16"/>
                <a:gd name="T12" fmla="*/ 4 w 20"/>
                <a:gd name="T13" fmla="*/ 0 h 16"/>
                <a:gd name="T14" fmla="*/ 4 w 20"/>
                <a:gd name="T15" fmla="*/ 0 h 16"/>
                <a:gd name="T16" fmla="*/ 4 w 20"/>
                <a:gd name="T17" fmla="*/ 4 h 16"/>
                <a:gd name="T18" fmla="*/ 4 w 20"/>
                <a:gd name="T19" fmla="*/ 4 h 16"/>
                <a:gd name="T20" fmla="*/ 4 w 20"/>
                <a:gd name="T21" fmla="*/ 4 h 16"/>
                <a:gd name="T22" fmla="*/ 0 w 20"/>
                <a:gd name="T23" fmla="*/ 12 h 16"/>
                <a:gd name="T24" fmla="*/ 0 w 20"/>
                <a:gd name="T25" fmla="*/ 12 h 16"/>
                <a:gd name="T26" fmla="*/ 0 w 20"/>
                <a:gd name="T27" fmla="*/ 12 h 16"/>
                <a:gd name="T28" fmla="*/ 0 w 20"/>
                <a:gd name="T29" fmla="*/ 12 h 16"/>
                <a:gd name="T30" fmla="*/ 0 w 20"/>
                <a:gd name="T31" fmla="*/ 12 h 16"/>
                <a:gd name="T32" fmla="*/ 0 w 20"/>
                <a:gd name="T33" fmla="*/ 12 h 16"/>
                <a:gd name="T34" fmla="*/ 0 w 20"/>
                <a:gd name="T35" fmla="*/ 12 h 16"/>
                <a:gd name="T36" fmla="*/ 0 w 20"/>
                <a:gd name="T37" fmla="*/ 12 h 16"/>
                <a:gd name="T38" fmla="*/ 4 w 20"/>
                <a:gd name="T39" fmla="*/ 12 h 16"/>
                <a:gd name="T40" fmla="*/ 4 w 20"/>
                <a:gd name="T41" fmla="*/ 12 h 16"/>
                <a:gd name="T42" fmla="*/ 4 w 20"/>
                <a:gd name="T43" fmla="*/ 12 h 16"/>
                <a:gd name="T44" fmla="*/ 4 w 20"/>
                <a:gd name="T45" fmla="*/ 12 h 16"/>
                <a:gd name="T46" fmla="*/ 4 w 20"/>
                <a:gd name="T47" fmla="*/ 12 h 16"/>
                <a:gd name="T48" fmla="*/ 4 w 20"/>
                <a:gd name="T49" fmla="*/ 12 h 16"/>
                <a:gd name="T50" fmla="*/ 4 w 20"/>
                <a:gd name="T51" fmla="*/ 12 h 16"/>
                <a:gd name="T52" fmla="*/ 4 w 20"/>
                <a:gd name="T53" fmla="*/ 12 h 16"/>
                <a:gd name="T54" fmla="*/ 8 w 20"/>
                <a:gd name="T55" fmla="*/ 4 h 16"/>
                <a:gd name="T56" fmla="*/ 8 w 20"/>
                <a:gd name="T57" fmla="*/ 16 h 16"/>
                <a:gd name="T58" fmla="*/ 8 w 20"/>
                <a:gd name="T59" fmla="*/ 16 h 16"/>
                <a:gd name="T60" fmla="*/ 8 w 20"/>
                <a:gd name="T61" fmla="*/ 16 h 16"/>
                <a:gd name="T62" fmla="*/ 8 w 20"/>
                <a:gd name="T63" fmla="*/ 16 h 16"/>
                <a:gd name="T64" fmla="*/ 12 w 20"/>
                <a:gd name="T65" fmla="*/ 16 h 16"/>
                <a:gd name="T66" fmla="*/ 12 w 20"/>
                <a:gd name="T67" fmla="*/ 16 h 16"/>
                <a:gd name="T68" fmla="*/ 12 w 20"/>
                <a:gd name="T69" fmla="*/ 16 h 16"/>
                <a:gd name="T70" fmla="*/ 12 w 20"/>
                <a:gd name="T71" fmla="*/ 16 h 16"/>
                <a:gd name="T72" fmla="*/ 16 w 20"/>
                <a:gd name="T73" fmla="*/ 4 h 16"/>
                <a:gd name="T74" fmla="*/ 16 w 20"/>
                <a:gd name="T75" fmla="*/ 4 h 16"/>
                <a:gd name="T76" fmla="*/ 16 w 20"/>
                <a:gd name="T77" fmla="*/ 4 h 16"/>
                <a:gd name="T78" fmla="*/ 16 w 20"/>
                <a:gd name="T79" fmla="*/ 4 h 16"/>
                <a:gd name="T80" fmla="*/ 20 w 20"/>
                <a:gd name="T81" fmla="*/ 4 h 16"/>
                <a:gd name="T82" fmla="*/ 20 w 20"/>
                <a:gd name="T83" fmla="*/ 4 h 16"/>
                <a:gd name="T84" fmla="*/ 20 w 20"/>
                <a:gd name="T85" fmla="*/ 4 h 16"/>
                <a:gd name="T86" fmla="*/ 16 w 20"/>
                <a:gd name="T87" fmla="*/ 4 h 16"/>
                <a:gd name="T88" fmla="*/ 16 w 20"/>
                <a:gd name="T89" fmla="*/ 4 h 16"/>
                <a:gd name="T90" fmla="*/ 16 w 20"/>
                <a:gd name="T91" fmla="*/ 4 h 16"/>
                <a:gd name="T92" fmla="*/ 12 w 20"/>
                <a:gd name="T93" fmla="*/ 4 h 16"/>
                <a:gd name="T94" fmla="*/ 12 w 20"/>
                <a:gd name="T95" fmla="*/ 4 h 16"/>
                <a:gd name="T96" fmla="*/ 12 w 20"/>
                <a:gd name="T97" fmla="*/ 4 h 16"/>
                <a:gd name="T98" fmla="*/ 12 w 20"/>
                <a:gd name="T99" fmla="*/ 4 h 16"/>
                <a:gd name="T100" fmla="*/ 12 w 20"/>
                <a:gd name="T101" fmla="*/ 4 h 16"/>
                <a:gd name="T102" fmla="*/ 12 w 20"/>
                <a:gd name="T103" fmla="*/ 4 h 16"/>
                <a:gd name="T104" fmla="*/ 12 w 20"/>
                <a:gd name="T105" fmla="*/ 12 h 16"/>
                <a:gd name="T106" fmla="*/ 8 w 20"/>
                <a:gd name="T107" fmla="*/ 4 h 1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0"/>
                <a:gd name="T163" fmla="*/ 0 h 16"/>
                <a:gd name="T164" fmla="*/ 20 w 20"/>
                <a:gd name="T165" fmla="*/ 16 h 1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0" h="16">
                  <a:moveTo>
                    <a:pt x="8" y="4"/>
                  </a:move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12" y="12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0" name="Freeform 696"/>
            <p:cNvSpPr>
              <a:spLocks noEditPoints="1"/>
            </p:cNvSpPr>
            <p:nvPr/>
          </p:nvSpPr>
          <p:spPr bwMode="auto">
            <a:xfrm>
              <a:off x="4401" y="2536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12 w 16"/>
                <a:gd name="T3" fmla="*/ 0 h 12"/>
                <a:gd name="T4" fmla="*/ 16 w 16"/>
                <a:gd name="T5" fmla="*/ 4 h 12"/>
                <a:gd name="T6" fmla="*/ 16 w 16"/>
                <a:gd name="T7" fmla="*/ 4 h 12"/>
                <a:gd name="T8" fmla="*/ 16 w 16"/>
                <a:gd name="T9" fmla="*/ 4 h 12"/>
                <a:gd name="T10" fmla="*/ 16 w 16"/>
                <a:gd name="T11" fmla="*/ 8 h 12"/>
                <a:gd name="T12" fmla="*/ 16 w 16"/>
                <a:gd name="T13" fmla="*/ 8 h 12"/>
                <a:gd name="T14" fmla="*/ 16 w 16"/>
                <a:gd name="T15" fmla="*/ 8 h 12"/>
                <a:gd name="T16" fmla="*/ 12 w 16"/>
                <a:gd name="T17" fmla="*/ 12 h 12"/>
                <a:gd name="T18" fmla="*/ 12 w 16"/>
                <a:gd name="T19" fmla="*/ 12 h 12"/>
                <a:gd name="T20" fmla="*/ 12 w 16"/>
                <a:gd name="T21" fmla="*/ 12 h 12"/>
                <a:gd name="T22" fmla="*/ 4 w 16"/>
                <a:gd name="T23" fmla="*/ 12 h 12"/>
                <a:gd name="T24" fmla="*/ 4 w 16"/>
                <a:gd name="T25" fmla="*/ 12 h 12"/>
                <a:gd name="T26" fmla="*/ 4 w 16"/>
                <a:gd name="T27" fmla="*/ 12 h 12"/>
                <a:gd name="T28" fmla="*/ 0 w 16"/>
                <a:gd name="T29" fmla="*/ 12 h 12"/>
                <a:gd name="T30" fmla="*/ 0 w 16"/>
                <a:gd name="T31" fmla="*/ 12 h 12"/>
                <a:gd name="T32" fmla="*/ 0 w 16"/>
                <a:gd name="T33" fmla="*/ 12 h 12"/>
                <a:gd name="T34" fmla="*/ 0 w 16"/>
                <a:gd name="T35" fmla="*/ 4 h 12"/>
                <a:gd name="T36" fmla="*/ 0 w 16"/>
                <a:gd name="T37" fmla="*/ 4 h 12"/>
                <a:gd name="T38" fmla="*/ 0 w 16"/>
                <a:gd name="T39" fmla="*/ 4 h 12"/>
                <a:gd name="T40" fmla="*/ 4 w 16"/>
                <a:gd name="T41" fmla="*/ 0 h 12"/>
                <a:gd name="T42" fmla="*/ 4 w 16"/>
                <a:gd name="T43" fmla="*/ 0 h 12"/>
                <a:gd name="T44" fmla="*/ 4 w 16"/>
                <a:gd name="T45" fmla="*/ 0 h 12"/>
                <a:gd name="T46" fmla="*/ 12 w 16"/>
                <a:gd name="T47" fmla="*/ 0 h 12"/>
                <a:gd name="T48" fmla="*/ 12 w 16"/>
                <a:gd name="T49" fmla="*/ 0 h 12"/>
                <a:gd name="T50" fmla="*/ 12 w 16"/>
                <a:gd name="T51" fmla="*/ 4 h 12"/>
                <a:gd name="T52" fmla="*/ 12 w 16"/>
                <a:gd name="T53" fmla="*/ 4 h 12"/>
                <a:gd name="T54" fmla="*/ 8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4 w 16"/>
                <a:gd name="T61" fmla="*/ 8 h 12"/>
                <a:gd name="T62" fmla="*/ 4 w 16"/>
                <a:gd name="T63" fmla="*/ 8 h 12"/>
                <a:gd name="T64" fmla="*/ 4 w 16"/>
                <a:gd name="T65" fmla="*/ 8 h 12"/>
                <a:gd name="T66" fmla="*/ 4 w 16"/>
                <a:gd name="T67" fmla="*/ 8 h 12"/>
                <a:gd name="T68" fmla="*/ 4 w 16"/>
                <a:gd name="T69" fmla="*/ 8 h 12"/>
                <a:gd name="T70" fmla="*/ 4 w 16"/>
                <a:gd name="T71" fmla="*/ 8 h 12"/>
                <a:gd name="T72" fmla="*/ 8 w 16"/>
                <a:gd name="T73" fmla="*/ 12 h 12"/>
                <a:gd name="T74" fmla="*/ 8 w 16"/>
                <a:gd name="T75" fmla="*/ 12 h 12"/>
                <a:gd name="T76" fmla="*/ 8 w 16"/>
                <a:gd name="T77" fmla="*/ 12 h 12"/>
                <a:gd name="T78" fmla="*/ 8 w 16"/>
                <a:gd name="T79" fmla="*/ 12 h 12"/>
                <a:gd name="T80" fmla="*/ 8 w 16"/>
                <a:gd name="T81" fmla="*/ 12 h 12"/>
                <a:gd name="T82" fmla="*/ 8 w 16"/>
                <a:gd name="T83" fmla="*/ 12 h 12"/>
                <a:gd name="T84" fmla="*/ 12 w 16"/>
                <a:gd name="T85" fmla="*/ 8 h 12"/>
                <a:gd name="T86" fmla="*/ 12 w 16"/>
                <a:gd name="T87" fmla="*/ 8 h 12"/>
                <a:gd name="T88" fmla="*/ 12 w 16"/>
                <a:gd name="T89" fmla="*/ 8 h 12"/>
                <a:gd name="T90" fmla="*/ 12 w 16"/>
                <a:gd name="T91" fmla="*/ 4 h 12"/>
                <a:gd name="T92" fmla="*/ 12 w 16"/>
                <a:gd name="T93" fmla="*/ 4 h 12"/>
                <a:gd name="T94" fmla="*/ 12 w 16"/>
                <a:gd name="T95" fmla="*/ 4 h 12"/>
                <a:gd name="T96" fmla="*/ 12 w 16"/>
                <a:gd name="T97" fmla="*/ 4 h 12"/>
                <a:gd name="T98" fmla="*/ 12 w 16"/>
                <a:gd name="T99" fmla="*/ 4 h 1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6"/>
                <a:gd name="T151" fmla="*/ 0 h 12"/>
                <a:gd name="T152" fmla="*/ 16 w 16"/>
                <a:gd name="T153" fmla="*/ 12 h 1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6" h="12">
                  <a:moveTo>
                    <a:pt x="12" y="0"/>
                  </a:moveTo>
                  <a:lnTo>
                    <a:pt x="12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4"/>
                  </a:lnTo>
                  <a:lnTo>
                    <a:pt x="4" y="0"/>
                  </a:lnTo>
                  <a:lnTo>
                    <a:pt x="12" y="0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1" name="Freeform 697"/>
            <p:cNvSpPr>
              <a:spLocks/>
            </p:cNvSpPr>
            <p:nvPr/>
          </p:nvSpPr>
          <p:spPr bwMode="auto">
            <a:xfrm>
              <a:off x="4114" y="2556"/>
              <a:ext cx="19" cy="19"/>
            </a:xfrm>
            <a:custGeom>
              <a:avLst/>
              <a:gdLst>
                <a:gd name="T0" fmla="*/ 4 w 19"/>
                <a:gd name="T1" fmla="*/ 19 h 19"/>
                <a:gd name="T2" fmla="*/ 4 w 19"/>
                <a:gd name="T3" fmla="*/ 19 h 19"/>
                <a:gd name="T4" fmla="*/ 4 w 19"/>
                <a:gd name="T5" fmla="*/ 19 h 19"/>
                <a:gd name="T6" fmla="*/ 0 w 19"/>
                <a:gd name="T7" fmla="*/ 19 h 19"/>
                <a:gd name="T8" fmla="*/ 0 w 19"/>
                <a:gd name="T9" fmla="*/ 15 h 19"/>
                <a:gd name="T10" fmla="*/ 0 w 19"/>
                <a:gd name="T11" fmla="*/ 15 h 19"/>
                <a:gd name="T12" fmla="*/ 0 w 19"/>
                <a:gd name="T13" fmla="*/ 15 h 19"/>
                <a:gd name="T14" fmla="*/ 0 w 19"/>
                <a:gd name="T15" fmla="*/ 15 h 19"/>
                <a:gd name="T16" fmla="*/ 0 w 19"/>
                <a:gd name="T17" fmla="*/ 15 h 19"/>
                <a:gd name="T18" fmla="*/ 0 w 19"/>
                <a:gd name="T19" fmla="*/ 15 h 19"/>
                <a:gd name="T20" fmla="*/ 0 w 19"/>
                <a:gd name="T21" fmla="*/ 15 h 19"/>
                <a:gd name="T22" fmla="*/ 11 w 19"/>
                <a:gd name="T23" fmla="*/ 4 h 19"/>
                <a:gd name="T24" fmla="*/ 7 w 19"/>
                <a:gd name="T25" fmla="*/ 4 h 19"/>
                <a:gd name="T26" fmla="*/ 7 w 19"/>
                <a:gd name="T27" fmla="*/ 4 h 19"/>
                <a:gd name="T28" fmla="*/ 7 w 19"/>
                <a:gd name="T29" fmla="*/ 4 h 19"/>
                <a:gd name="T30" fmla="*/ 4 w 19"/>
                <a:gd name="T31" fmla="*/ 4 h 19"/>
                <a:gd name="T32" fmla="*/ 4 w 19"/>
                <a:gd name="T33" fmla="*/ 4 h 19"/>
                <a:gd name="T34" fmla="*/ 4 w 19"/>
                <a:gd name="T35" fmla="*/ 4 h 19"/>
                <a:gd name="T36" fmla="*/ 4 w 19"/>
                <a:gd name="T37" fmla="*/ 4 h 19"/>
                <a:gd name="T38" fmla="*/ 4 w 19"/>
                <a:gd name="T39" fmla="*/ 4 h 19"/>
                <a:gd name="T40" fmla="*/ 4 w 19"/>
                <a:gd name="T41" fmla="*/ 4 h 19"/>
                <a:gd name="T42" fmla="*/ 4 w 19"/>
                <a:gd name="T43" fmla="*/ 4 h 19"/>
                <a:gd name="T44" fmla="*/ 4 w 19"/>
                <a:gd name="T45" fmla="*/ 4 h 19"/>
                <a:gd name="T46" fmla="*/ 4 w 19"/>
                <a:gd name="T47" fmla="*/ 0 h 19"/>
                <a:gd name="T48" fmla="*/ 4 w 19"/>
                <a:gd name="T49" fmla="*/ 0 h 19"/>
                <a:gd name="T50" fmla="*/ 7 w 19"/>
                <a:gd name="T51" fmla="*/ 0 h 19"/>
                <a:gd name="T52" fmla="*/ 7 w 19"/>
                <a:gd name="T53" fmla="*/ 0 h 19"/>
                <a:gd name="T54" fmla="*/ 19 w 19"/>
                <a:gd name="T55" fmla="*/ 4 h 19"/>
                <a:gd name="T56" fmla="*/ 19 w 19"/>
                <a:gd name="T57" fmla="*/ 4 h 19"/>
                <a:gd name="T58" fmla="*/ 19 w 19"/>
                <a:gd name="T59" fmla="*/ 4 h 19"/>
                <a:gd name="T60" fmla="*/ 19 w 19"/>
                <a:gd name="T61" fmla="*/ 4 h 19"/>
                <a:gd name="T62" fmla="*/ 19 w 19"/>
                <a:gd name="T63" fmla="*/ 4 h 1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9"/>
                <a:gd name="T97" fmla="*/ 0 h 19"/>
                <a:gd name="T98" fmla="*/ 19 w 19"/>
                <a:gd name="T99" fmla="*/ 19 h 1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9" h="19">
                  <a:moveTo>
                    <a:pt x="19" y="4"/>
                  </a:move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11" y="4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7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2" name="Freeform 698"/>
            <p:cNvSpPr>
              <a:spLocks noEditPoints="1"/>
            </p:cNvSpPr>
            <p:nvPr/>
          </p:nvSpPr>
          <p:spPr bwMode="auto">
            <a:xfrm>
              <a:off x="4078" y="2571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8 w 16"/>
                <a:gd name="T3" fmla="*/ 12 h 12"/>
                <a:gd name="T4" fmla="*/ 8 w 16"/>
                <a:gd name="T5" fmla="*/ 12 h 12"/>
                <a:gd name="T6" fmla="*/ 8 w 16"/>
                <a:gd name="T7" fmla="*/ 12 h 12"/>
                <a:gd name="T8" fmla="*/ 8 w 16"/>
                <a:gd name="T9" fmla="*/ 12 h 12"/>
                <a:gd name="T10" fmla="*/ 8 w 16"/>
                <a:gd name="T11" fmla="*/ 12 h 12"/>
                <a:gd name="T12" fmla="*/ 8 w 16"/>
                <a:gd name="T13" fmla="*/ 12 h 12"/>
                <a:gd name="T14" fmla="*/ 4 w 16"/>
                <a:gd name="T15" fmla="*/ 12 h 12"/>
                <a:gd name="T16" fmla="*/ 0 w 16"/>
                <a:gd name="T17" fmla="*/ 12 h 12"/>
                <a:gd name="T18" fmla="*/ 0 w 16"/>
                <a:gd name="T19" fmla="*/ 12 h 12"/>
                <a:gd name="T20" fmla="*/ 0 w 16"/>
                <a:gd name="T21" fmla="*/ 12 h 12"/>
                <a:gd name="T22" fmla="*/ 0 w 16"/>
                <a:gd name="T23" fmla="*/ 12 h 12"/>
                <a:gd name="T24" fmla="*/ 0 w 16"/>
                <a:gd name="T25" fmla="*/ 12 h 12"/>
                <a:gd name="T26" fmla="*/ 0 w 16"/>
                <a:gd name="T27" fmla="*/ 12 h 12"/>
                <a:gd name="T28" fmla="*/ 4 w 16"/>
                <a:gd name="T29" fmla="*/ 12 h 12"/>
                <a:gd name="T30" fmla="*/ 4 w 16"/>
                <a:gd name="T31" fmla="*/ 12 h 12"/>
                <a:gd name="T32" fmla="*/ 8 w 16"/>
                <a:gd name="T33" fmla="*/ 4 h 12"/>
                <a:gd name="T34" fmla="*/ 8 w 16"/>
                <a:gd name="T35" fmla="*/ 4 h 12"/>
                <a:gd name="T36" fmla="*/ 8 w 16"/>
                <a:gd name="T37" fmla="*/ 4 h 12"/>
                <a:gd name="T38" fmla="*/ 8 w 16"/>
                <a:gd name="T39" fmla="*/ 4 h 12"/>
                <a:gd name="T40" fmla="*/ 8 w 16"/>
                <a:gd name="T41" fmla="*/ 0 h 12"/>
                <a:gd name="T42" fmla="*/ 8 w 16"/>
                <a:gd name="T43" fmla="*/ 0 h 12"/>
                <a:gd name="T44" fmla="*/ 8 w 16"/>
                <a:gd name="T45" fmla="*/ 0 h 12"/>
                <a:gd name="T46" fmla="*/ 8 w 16"/>
                <a:gd name="T47" fmla="*/ 0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8 h 12"/>
                <a:gd name="T56" fmla="*/ 16 w 16"/>
                <a:gd name="T57" fmla="*/ 8 h 12"/>
                <a:gd name="T58" fmla="*/ 16 w 16"/>
                <a:gd name="T59" fmla="*/ 8 h 12"/>
                <a:gd name="T60" fmla="*/ 8 w 16"/>
                <a:gd name="T61" fmla="*/ 8 h 12"/>
                <a:gd name="T62" fmla="*/ 8 w 16"/>
                <a:gd name="T63" fmla="*/ 8 h 12"/>
                <a:gd name="T64" fmla="*/ 8 w 16"/>
                <a:gd name="T65" fmla="*/ 8 h 12"/>
                <a:gd name="T66" fmla="*/ 12 w 16"/>
                <a:gd name="T67" fmla="*/ 8 h 12"/>
                <a:gd name="T68" fmla="*/ 12 w 16"/>
                <a:gd name="T69" fmla="*/ 8 h 12"/>
                <a:gd name="T70" fmla="*/ 12 w 16"/>
                <a:gd name="T71" fmla="*/ 8 h 12"/>
                <a:gd name="T72" fmla="*/ 16 w 16"/>
                <a:gd name="T73" fmla="*/ 8 h 12"/>
                <a:gd name="T74" fmla="*/ 16 w 16"/>
                <a:gd name="T75" fmla="*/ 8 h 12"/>
                <a:gd name="T76" fmla="*/ 16 w 16"/>
                <a:gd name="T77" fmla="*/ 4 h 12"/>
                <a:gd name="T78" fmla="*/ 12 w 16"/>
                <a:gd name="T79" fmla="*/ 4 h 12"/>
                <a:gd name="T80" fmla="*/ 12 w 16"/>
                <a:gd name="T81" fmla="*/ 4 h 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6"/>
                <a:gd name="T124" fmla="*/ 0 h 12"/>
                <a:gd name="T125" fmla="*/ 16 w 16"/>
                <a:gd name="T126" fmla="*/ 12 h 1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6" h="12">
                  <a:moveTo>
                    <a:pt x="8" y="8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16" y="8"/>
                  </a:lnTo>
                  <a:lnTo>
                    <a:pt x="8" y="8"/>
                  </a:lnTo>
                  <a:close/>
                  <a:moveTo>
                    <a:pt x="12" y="4"/>
                  </a:move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3" name="Freeform 699"/>
            <p:cNvSpPr>
              <a:spLocks noEditPoints="1"/>
            </p:cNvSpPr>
            <p:nvPr/>
          </p:nvSpPr>
          <p:spPr bwMode="auto">
            <a:xfrm>
              <a:off x="4090" y="2575"/>
              <a:ext cx="20" cy="16"/>
            </a:xfrm>
            <a:custGeom>
              <a:avLst/>
              <a:gdLst>
                <a:gd name="T0" fmla="*/ 4 w 20"/>
                <a:gd name="T1" fmla="*/ 12 h 16"/>
                <a:gd name="T2" fmla="*/ 4 w 20"/>
                <a:gd name="T3" fmla="*/ 12 h 16"/>
                <a:gd name="T4" fmla="*/ 8 w 20"/>
                <a:gd name="T5" fmla="*/ 12 h 16"/>
                <a:gd name="T6" fmla="*/ 8 w 20"/>
                <a:gd name="T7" fmla="*/ 16 h 16"/>
                <a:gd name="T8" fmla="*/ 8 w 20"/>
                <a:gd name="T9" fmla="*/ 16 h 16"/>
                <a:gd name="T10" fmla="*/ 8 w 20"/>
                <a:gd name="T11" fmla="*/ 16 h 16"/>
                <a:gd name="T12" fmla="*/ 12 w 20"/>
                <a:gd name="T13" fmla="*/ 16 h 16"/>
                <a:gd name="T14" fmla="*/ 12 w 20"/>
                <a:gd name="T15" fmla="*/ 16 h 16"/>
                <a:gd name="T16" fmla="*/ 12 w 20"/>
                <a:gd name="T17" fmla="*/ 16 h 16"/>
                <a:gd name="T18" fmla="*/ 12 w 20"/>
                <a:gd name="T19" fmla="*/ 16 h 16"/>
                <a:gd name="T20" fmla="*/ 12 w 20"/>
                <a:gd name="T21" fmla="*/ 16 h 16"/>
                <a:gd name="T22" fmla="*/ 12 w 20"/>
                <a:gd name="T23" fmla="*/ 16 h 16"/>
                <a:gd name="T24" fmla="*/ 12 w 20"/>
                <a:gd name="T25" fmla="*/ 16 h 16"/>
                <a:gd name="T26" fmla="*/ 12 w 20"/>
                <a:gd name="T27" fmla="*/ 16 h 16"/>
                <a:gd name="T28" fmla="*/ 12 w 20"/>
                <a:gd name="T29" fmla="*/ 16 h 16"/>
                <a:gd name="T30" fmla="*/ 8 w 20"/>
                <a:gd name="T31" fmla="*/ 16 h 16"/>
                <a:gd name="T32" fmla="*/ 8 w 20"/>
                <a:gd name="T33" fmla="*/ 16 h 16"/>
                <a:gd name="T34" fmla="*/ 8 w 20"/>
                <a:gd name="T35" fmla="*/ 16 h 16"/>
                <a:gd name="T36" fmla="*/ 8 w 20"/>
                <a:gd name="T37" fmla="*/ 16 h 16"/>
                <a:gd name="T38" fmla="*/ 8 w 20"/>
                <a:gd name="T39" fmla="*/ 16 h 16"/>
                <a:gd name="T40" fmla="*/ 4 w 20"/>
                <a:gd name="T41" fmla="*/ 16 h 16"/>
                <a:gd name="T42" fmla="*/ 4 w 20"/>
                <a:gd name="T43" fmla="*/ 16 h 16"/>
                <a:gd name="T44" fmla="*/ 4 w 20"/>
                <a:gd name="T45" fmla="*/ 16 h 16"/>
                <a:gd name="T46" fmla="*/ 0 w 20"/>
                <a:gd name="T47" fmla="*/ 16 h 16"/>
                <a:gd name="T48" fmla="*/ 4 w 20"/>
                <a:gd name="T49" fmla="*/ 16 h 16"/>
                <a:gd name="T50" fmla="*/ 4 w 20"/>
                <a:gd name="T51" fmla="*/ 16 h 16"/>
                <a:gd name="T52" fmla="*/ 4 w 20"/>
                <a:gd name="T53" fmla="*/ 12 h 16"/>
                <a:gd name="T54" fmla="*/ 4 w 20"/>
                <a:gd name="T55" fmla="*/ 12 h 16"/>
                <a:gd name="T56" fmla="*/ 4 w 20"/>
                <a:gd name="T57" fmla="*/ 12 h 16"/>
                <a:gd name="T58" fmla="*/ 4 w 20"/>
                <a:gd name="T59" fmla="*/ 12 h 16"/>
                <a:gd name="T60" fmla="*/ 4 w 20"/>
                <a:gd name="T61" fmla="*/ 8 h 16"/>
                <a:gd name="T62" fmla="*/ 4 w 20"/>
                <a:gd name="T63" fmla="*/ 4 h 16"/>
                <a:gd name="T64" fmla="*/ 4 w 20"/>
                <a:gd name="T65" fmla="*/ 4 h 16"/>
                <a:gd name="T66" fmla="*/ 12 w 20"/>
                <a:gd name="T67" fmla="*/ 0 h 16"/>
                <a:gd name="T68" fmla="*/ 16 w 20"/>
                <a:gd name="T69" fmla="*/ 0 h 16"/>
                <a:gd name="T70" fmla="*/ 16 w 20"/>
                <a:gd name="T71" fmla="*/ 0 h 16"/>
                <a:gd name="T72" fmla="*/ 20 w 20"/>
                <a:gd name="T73" fmla="*/ 4 h 16"/>
                <a:gd name="T74" fmla="*/ 20 w 20"/>
                <a:gd name="T75" fmla="*/ 8 h 16"/>
                <a:gd name="T76" fmla="*/ 20 w 20"/>
                <a:gd name="T77" fmla="*/ 8 h 16"/>
                <a:gd name="T78" fmla="*/ 12 w 20"/>
                <a:gd name="T79" fmla="*/ 12 h 16"/>
                <a:gd name="T80" fmla="*/ 8 w 20"/>
                <a:gd name="T81" fmla="*/ 12 h 16"/>
                <a:gd name="T82" fmla="*/ 8 w 20"/>
                <a:gd name="T83" fmla="*/ 12 h 16"/>
                <a:gd name="T84" fmla="*/ 8 w 20"/>
                <a:gd name="T85" fmla="*/ 12 h 16"/>
                <a:gd name="T86" fmla="*/ 8 w 20"/>
                <a:gd name="T87" fmla="*/ 12 h 16"/>
                <a:gd name="T88" fmla="*/ 16 w 20"/>
                <a:gd name="T89" fmla="*/ 4 h 16"/>
                <a:gd name="T90" fmla="*/ 12 w 20"/>
                <a:gd name="T91" fmla="*/ 4 h 16"/>
                <a:gd name="T92" fmla="*/ 12 w 20"/>
                <a:gd name="T93" fmla="*/ 4 h 16"/>
                <a:gd name="T94" fmla="*/ 8 w 20"/>
                <a:gd name="T95" fmla="*/ 8 h 16"/>
                <a:gd name="T96" fmla="*/ 8 w 20"/>
                <a:gd name="T97" fmla="*/ 8 h 16"/>
                <a:gd name="T98" fmla="*/ 8 w 20"/>
                <a:gd name="T99" fmla="*/ 8 h 16"/>
                <a:gd name="T100" fmla="*/ 8 w 20"/>
                <a:gd name="T101" fmla="*/ 12 h 16"/>
                <a:gd name="T102" fmla="*/ 12 w 20"/>
                <a:gd name="T103" fmla="*/ 12 h 16"/>
                <a:gd name="T104" fmla="*/ 12 w 20"/>
                <a:gd name="T105" fmla="*/ 12 h 16"/>
                <a:gd name="T106" fmla="*/ 16 w 20"/>
                <a:gd name="T107" fmla="*/ 8 h 16"/>
                <a:gd name="T108" fmla="*/ 16 w 20"/>
                <a:gd name="T109" fmla="*/ 4 h 16"/>
                <a:gd name="T110" fmla="*/ 16 w 20"/>
                <a:gd name="T111" fmla="*/ 4 h 16"/>
                <a:gd name="T112" fmla="*/ 16 w 20"/>
                <a:gd name="T113" fmla="*/ 4 h 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"/>
                <a:gd name="T172" fmla="*/ 0 h 16"/>
                <a:gd name="T173" fmla="*/ 20 w 20"/>
                <a:gd name="T174" fmla="*/ 16 h 1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" h="16">
                  <a:moveTo>
                    <a:pt x="8" y="12"/>
                  </a:moveTo>
                  <a:lnTo>
                    <a:pt x="4" y="12"/>
                  </a:lnTo>
                  <a:lnTo>
                    <a:pt x="8" y="12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4" name="Freeform 700"/>
            <p:cNvSpPr>
              <a:spLocks noEditPoints="1"/>
            </p:cNvSpPr>
            <p:nvPr/>
          </p:nvSpPr>
          <p:spPr bwMode="auto">
            <a:xfrm>
              <a:off x="4106" y="2579"/>
              <a:ext cx="19" cy="16"/>
            </a:xfrm>
            <a:custGeom>
              <a:avLst/>
              <a:gdLst>
                <a:gd name="T0" fmla="*/ 12 w 19"/>
                <a:gd name="T1" fmla="*/ 8 h 16"/>
                <a:gd name="T2" fmla="*/ 12 w 19"/>
                <a:gd name="T3" fmla="*/ 8 h 16"/>
                <a:gd name="T4" fmla="*/ 12 w 19"/>
                <a:gd name="T5" fmla="*/ 8 h 16"/>
                <a:gd name="T6" fmla="*/ 12 w 19"/>
                <a:gd name="T7" fmla="*/ 12 h 16"/>
                <a:gd name="T8" fmla="*/ 12 w 19"/>
                <a:gd name="T9" fmla="*/ 12 h 16"/>
                <a:gd name="T10" fmla="*/ 12 w 19"/>
                <a:gd name="T11" fmla="*/ 12 h 16"/>
                <a:gd name="T12" fmla="*/ 12 w 19"/>
                <a:gd name="T13" fmla="*/ 12 h 16"/>
                <a:gd name="T14" fmla="*/ 15 w 19"/>
                <a:gd name="T15" fmla="*/ 12 h 16"/>
                <a:gd name="T16" fmla="*/ 15 w 19"/>
                <a:gd name="T17" fmla="*/ 12 h 16"/>
                <a:gd name="T18" fmla="*/ 15 w 19"/>
                <a:gd name="T19" fmla="*/ 12 h 16"/>
                <a:gd name="T20" fmla="*/ 12 w 19"/>
                <a:gd name="T21" fmla="*/ 16 h 16"/>
                <a:gd name="T22" fmla="*/ 12 w 19"/>
                <a:gd name="T23" fmla="*/ 16 h 16"/>
                <a:gd name="T24" fmla="*/ 12 w 19"/>
                <a:gd name="T25" fmla="*/ 16 h 16"/>
                <a:gd name="T26" fmla="*/ 12 w 19"/>
                <a:gd name="T27" fmla="*/ 16 h 16"/>
                <a:gd name="T28" fmla="*/ 8 w 19"/>
                <a:gd name="T29" fmla="*/ 12 h 16"/>
                <a:gd name="T30" fmla="*/ 8 w 19"/>
                <a:gd name="T31" fmla="*/ 12 h 16"/>
                <a:gd name="T32" fmla="*/ 8 w 19"/>
                <a:gd name="T33" fmla="*/ 8 h 16"/>
                <a:gd name="T34" fmla="*/ 8 w 19"/>
                <a:gd name="T35" fmla="*/ 8 h 16"/>
                <a:gd name="T36" fmla="*/ 8 w 19"/>
                <a:gd name="T37" fmla="*/ 8 h 16"/>
                <a:gd name="T38" fmla="*/ 8 w 19"/>
                <a:gd name="T39" fmla="*/ 8 h 16"/>
                <a:gd name="T40" fmla="*/ 8 w 19"/>
                <a:gd name="T41" fmla="*/ 8 h 16"/>
                <a:gd name="T42" fmla="*/ 8 w 19"/>
                <a:gd name="T43" fmla="*/ 12 h 16"/>
                <a:gd name="T44" fmla="*/ 8 w 19"/>
                <a:gd name="T45" fmla="*/ 12 h 16"/>
                <a:gd name="T46" fmla="*/ 8 w 19"/>
                <a:gd name="T47" fmla="*/ 12 h 16"/>
                <a:gd name="T48" fmla="*/ 8 w 19"/>
                <a:gd name="T49" fmla="*/ 12 h 16"/>
                <a:gd name="T50" fmla="*/ 8 w 19"/>
                <a:gd name="T51" fmla="*/ 12 h 16"/>
                <a:gd name="T52" fmla="*/ 4 w 19"/>
                <a:gd name="T53" fmla="*/ 12 h 16"/>
                <a:gd name="T54" fmla="*/ 4 w 19"/>
                <a:gd name="T55" fmla="*/ 12 h 16"/>
                <a:gd name="T56" fmla="*/ 4 w 19"/>
                <a:gd name="T57" fmla="*/ 12 h 16"/>
                <a:gd name="T58" fmla="*/ 0 w 19"/>
                <a:gd name="T59" fmla="*/ 12 h 16"/>
                <a:gd name="T60" fmla="*/ 0 w 19"/>
                <a:gd name="T61" fmla="*/ 12 h 16"/>
                <a:gd name="T62" fmla="*/ 0 w 19"/>
                <a:gd name="T63" fmla="*/ 12 h 16"/>
                <a:gd name="T64" fmla="*/ 0 w 19"/>
                <a:gd name="T65" fmla="*/ 12 h 16"/>
                <a:gd name="T66" fmla="*/ 0 w 19"/>
                <a:gd name="T67" fmla="*/ 8 h 16"/>
                <a:gd name="T68" fmla="*/ 0 w 19"/>
                <a:gd name="T69" fmla="*/ 8 h 16"/>
                <a:gd name="T70" fmla="*/ 4 w 19"/>
                <a:gd name="T71" fmla="*/ 8 h 16"/>
                <a:gd name="T72" fmla="*/ 4 w 19"/>
                <a:gd name="T73" fmla="*/ 8 h 16"/>
                <a:gd name="T74" fmla="*/ 8 w 19"/>
                <a:gd name="T75" fmla="*/ 4 h 16"/>
                <a:gd name="T76" fmla="*/ 8 w 19"/>
                <a:gd name="T77" fmla="*/ 4 h 16"/>
                <a:gd name="T78" fmla="*/ 8 w 19"/>
                <a:gd name="T79" fmla="*/ 0 h 16"/>
                <a:gd name="T80" fmla="*/ 8 w 19"/>
                <a:gd name="T81" fmla="*/ 0 h 16"/>
                <a:gd name="T82" fmla="*/ 8 w 19"/>
                <a:gd name="T83" fmla="*/ 0 h 16"/>
                <a:gd name="T84" fmla="*/ 8 w 19"/>
                <a:gd name="T85" fmla="*/ 0 h 16"/>
                <a:gd name="T86" fmla="*/ 8 w 19"/>
                <a:gd name="T87" fmla="*/ 0 h 16"/>
                <a:gd name="T88" fmla="*/ 8 w 19"/>
                <a:gd name="T89" fmla="*/ 0 h 16"/>
                <a:gd name="T90" fmla="*/ 15 w 19"/>
                <a:gd name="T91" fmla="*/ 0 h 16"/>
                <a:gd name="T92" fmla="*/ 19 w 19"/>
                <a:gd name="T93" fmla="*/ 4 h 16"/>
                <a:gd name="T94" fmla="*/ 19 w 19"/>
                <a:gd name="T95" fmla="*/ 4 h 16"/>
                <a:gd name="T96" fmla="*/ 15 w 19"/>
                <a:gd name="T97" fmla="*/ 8 h 16"/>
                <a:gd name="T98" fmla="*/ 15 w 19"/>
                <a:gd name="T99" fmla="*/ 8 h 16"/>
                <a:gd name="T100" fmla="*/ 15 w 19"/>
                <a:gd name="T101" fmla="*/ 8 h 16"/>
                <a:gd name="T102" fmla="*/ 12 w 19"/>
                <a:gd name="T103" fmla="*/ 8 h 16"/>
                <a:gd name="T104" fmla="*/ 8 w 19"/>
                <a:gd name="T105" fmla="*/ 4 h 16"/>
                <a:gd name="T106" fmla="*/ 12 w 19"/>
                <a:gd name="T107" fmla="*/ 8 h 16"/>
                <a:gd name="T108" fmla="*/ 12 w 19"/>
                <a:gd name="T109" fmla="*/ 8 h 16"/>
                <a:gd name="T110" fmla="*/ 12 w 19"/>
                <a:gd name="T111" fmla="*/ 8 h 16"/>
                <a:gd name="T112" fmla="*/ 15 w 19"/>
                <a:gd name="T113" fmla="*/ 4 h 16"/>
                <a:gd name="T114" fmla="*/ 15 w 19"/>
                <a:gd name="T115" fmla="*/ 4 h 16"/>
                <a:gd name="T116" fmla="*/ 15 w 19"/>
                <a:gd name="T117" fmla="*/ 4 h 16"/>
                <a:gd name="T118" fmla="*/ 12 w 19"/>
                <a:gd name="T119" fmla="*/ 4 h 16"/>
                <a:gd name="T120" fmla="*/ 12 w 19"/>
                <a:gd name="T121" fmla="*/ 4 h 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"/>
                <a:gd name="T184" fmla="*/ 0 h 16"/>
                <a:gd name="T185" fmla="*/ 19 w 19"/>
                <a:gd name="T186" fmla="*/ 16 h 1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" h="16">
                  <a:moveTo>
                    <a:pt x="12" y="8"/>
                  </a:moveTo>
                  <a:lnTo>
                    <a:pt x="12" y="8"/>
                  </a:lnTo>
                  <a:lnTo>
                    <a:pt x="12" y="12"/>
                  </a:lnTo>
                  <a:lnTo>
                    <a:pt x="15" y="12"/>
                  </a:lnTo>
                  <a:lnTo>
                    <a:pt x="12" y="16"/>
                  </a:lnTo>
                  <a:lnTo>
                    <a:pt x="8" y="12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8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5" y="8"/>
                  </a:lnTo>
                  <a:lnTo>
                    <a:pt x="12" y="8"/>
                  </a:lnTo>
                  <a:close/>
                  <a:moveTo>
                    <a:pt x="12" y="4"/>
                  </a:moveTo>
                  <a:lnTo>
                    <a:pt x="8" y="4"/>
                  </a:lnTo>
                  <a:lnTo>
                    <a:pt x="12" y="8"/>
                  </a:lnTo>
                  <a:lnTo>
                    <a:pt x="15" y="4"/>
                  </a:lnTo>
                  <a:lnTo>
                    <a:pt x="12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5" name="Freeform 701"/>
            <p:cNvSpPr>
              <a:spLocks/>
            </p:cNvSpPr>
            <p:nvPr/>
          </p:nvSpPr>
          <p:spPr bwMode="auto">
            <a:xfrm>
              <a:off x="4121" y="2583"/>
              <a:ext cx="16" cy="12"/>
            </a:xfrm>
            <a:custGeom>
              <a:avLst/>
              <a:gdLst>
                <a:gd name="T0" fmla="*/ 12 w 16"/>
                <a:gd name="T1" fmla="*/ 0 h 12"/>
                <a:gd name="T2" fmla="*/ 8 w 16"/>
                <a:gd name="T3" fmla="*/ 0 h 12"/>
                <a:gd name="T4" fmla="*/ 4 w 16"/>
                <a:gd name="T5" fmla="*/ 4 h 12"/>
                <a:gd name="T6" fmla="*/ 4 w 16"/>
                <a:gd name="T7" fmla="*/ 4 h 12"/>
                <a:gd name="T8" fmla="*/ 8 w 16"/>
                <a:gd name="T9" fmla="*/ 8 h 12"/>
                <a:gd name="T10" fmla="*/ 8 w 16"/>
                <a:gd name="T11" fmla="*/ 8 h 12"/>
                <a:gd name="T12" fmla="*/ 8 w 16"/>
                <a:gd name="T13" fmla="*/ 12 h 12"/>
                <a:gd name="T14" fmla="*/ 8 w 16"/>
                <a:gd name="T15" fmla="*/ 12 h 12"/>
                <a:gd name="T16" fmla="*/ 4 w 16"/>
                <a:gd name="T17" fmla="*/ 12 h 12"/>
                <a:gd name="T18" fmla="*/ 4 w 16"/>
                <a:gd name="T19" fmla="*/ 12 h 12"/>
                <a:gd name="T20" fmla="*/ 4 w 16"/>
                <a:gd name="T21" fmla="*/ 8 h 12"/>
                <a:gd name="T22" fmla="*/ 4 w 16"/>
                <a:gd name="T23" fmla="*/ 8 h 12"/>
                <a:gd name="T24" fmla="*/ 4 w 16"/>
                <a:gd name="T25" fmla="*/ 8 h 12"/>
                <a:gd name="T26" fmla="*/ 0 w 16"/>
                <a:gd name="T27" fmla="*/ 8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0 w 16"/>
                <a:gd name="T35" fmla="*/ 12 h 12"/>
                <a:gd name="T36" fmla="*/ 0 w 16"/>
                <a:gd name="T37" fmla="*/ 12 h 12"/>
                <a:gd name="T38" fmla="*/ 0 w 16"/>
                <a:gd name="T39" fmla="*/ 12 h 12"/>
                <a:gd name="T40" fmla="*/ 0 w 16"/>
                <a:gd name="T41" fmla="*/ 12 h 12"/>
                <a:gd name="T42" fmla="*/ 4 w 16"/>
                <a:gd name="T43" fmla="*/ 12 h 12"/>
                <a:gd name="T44" fmla="*/ 4 w 16"/>
                <a:gd name="T45" fmla="*/ 12 h 12"/>
                <a:gd name="T46" fmla="*/ 8 w 16"/>
                <a:gd name="T47" fmla="*/ 12 h 12"/>
                <a:gd name="T48" fmla="*/ 12 w 16"/>
                <a:gd name="T49" fmla="*/ 12 h 12"/>
                <a:gd name="T50" fmla="*/ 12 w 16"/>
                <a:gd name="T51" fmla="*/ 8 h 12"/>
                <a:gd name="T52" fmla="*/ 12 w 16"/>
                <a:gd name="T53" fmla="*/ 8 h 12"/>
                <a:gd name="T54" fmla="*/ 12 w 16"/>
                <a:gd name="T55" fmla="*/ 4 h 12"/>
                <a:gd name="T56" fmla="*/ 8 w 16"/>
                <a:gd name="T57" fmla="*/ 4 h 12"/>
                <a:gd name="T58" fmla="*/ 8 w 16"/>
                <a:gd name="T59" fmla="*/ 4 h 12"/>
                <a:gd name="T60" fmla="*/ 12 w 16"/>
                <a:gd name="T61" fmla="*/ 4 h 12"/>
                <a:gd name="T62" fmla="*/ 12 w 16"/>
                <a:gd name="T63" fmla="*/ 4 h 12"/>
                <a:gd name="T64" fmla="*/ 12 w 16"/>
                <a:gd name="T65" fmla="*/ 4 h 12"/>
                <a:gd name="T66" fmla="*/ 12 w 16"/>
                <a:gd name="T67" fmla="*/ 4 h 12"/>
                <a:gd name="T68" fmla="*/ 12 w 16"/>
                <a:gd name="T69" fmla="*/ 8 h 12"/>
                <a:gd name="T70" fmla="*/ 16 w 16"/>
                <a:gd name="T71" fmla="*/ 8 h 12"/>
                <a:gd name="T72" fmla="*/ 16 w 16"/>
                <a:gd name="T73" fmla="*/ 4 h 12"/>
                <a:gd name="T74" fmla="*/ 16 w 16"/>
                <a:gd name="T75" fmla="*/ 4 h 12"/>
                <a:gd name="T76" fmla="*/ 16 w 16"/>
                <a:gd name="T77" fmla="*/ 4 h 12"/>
                <a:gd name="T78" fmla="*/ 16 w 16"/>
                <a:gd name="T79" fmla="*/ 0 h 12"/>
                <a:gd name="T80" fmla="*/ 16 w 16"/>
                <a:gd name="T81" fmla="*/ 0 h 12"/>
                <a:gd name="T82" fmla="*/ 16 w 16"/>
                <a:gd name="T83" fmla="*/ 4 h 12"/>
                <a:gd name="T84" fmla="*/ 16 w 16"/>
                <a:gd name="T85" fmla="*/ 0 h 1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6"/>
                <a:gd name="T130" fmla="*/ 0 h 12"/>
                <a:gd name="T131" fmla="*/ 16 w 16"/>
                <a:gd name="T132" fmla="*/ 12 h 1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6" h="12">
                  <a:moveTo>
                    <a:pt x="16" y="0"/>
                  </a:move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8" y="8"/>
                  </a:lnTo>
                  <a:lnTo>
                    <a:pt x="8" y="12"/>
                  </a:lnTo>
                  <a:lnTo>
                    <a:pt x="4" y="12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12"/>
                  </a:lnTo>
                  <a:lnTo>
                    <a:pt x="12" y="8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6" name="Freeform 702"/>
            <p:cNvSpPr>
              <a:spLocks noEditPoints="1"/>
            </p:cNvSpPr>
            <p:nvPr/>
          </p:nvSpPr>
          <p:spPr bwMode="auto">
            <a:xfrm>
              <a:off x="4224" y="2579"/>
              <a:ext cx="20" cy="20"/>
            </a:xfrm>
            <a:custGeom>
              <a:avLst/>
              <a:gdLst>
                <a:gd name="T0" fmla="*/ 12 w 20"/>
                <a:gd name="T1" fmla="*/ 12 h 20"/>
                <a:gd name="T2" fmla="*/ 16 w 20"/>
                <a:gd name="T3" fmla="*/ 16 h 20"/>
                <a:gd name="T4" fmla="*/ 16 w 20"/>
                <a:gd name="T5" fmla="*/ 16 h 20"/>
                <a:gd name="T6" fmla="*/ 16 w 20"/>
                <a:gd name="T7" fmla="*/ 16 h 20"/>
                <a:gd name="T8" fmla="*/ 12 w 20"/>
                <a:gd name="T9" fmla="*/ 20 h 20"/>
                <a:gd name="T10" fmla="*/ 4 w 20"/>
                <a:gd name="T11" fmla="*/ 20 h 20"/>
                <a:gd name="T12" fmla="*/ 4 w 20"/>
                <a:gd name="T13" fmla="*/ 20 h 20"/>
                <a:gd name="T14" fmla="*/ 0 w 20"/>
                <a:gd name="T15" fmla="*/ 16 h 20"/>
                <a:gd name="T16" fmla="*/ 0 w 20"/>
                <a:gd name="T17" fmla="*/ 12 h 20"/>
                <a:gd name="T18" fmla="*/ 0 w 20"/>
                <a:gd name="T19" fmla="*/ 12 h 20"/>
                <a:gd name="T20" fmla="*/ 4 w 20"/>
                <a:gd name="T21" fmla="*/ 12 h 20"/>
                <a:gd name="T22" fmla="*/ 8 w 20"/>
                <a:gd name="T23" fmla="*/ 8 h 20"/>
                <a:gd name="T24" fmla="*/ 8 w 20"/>
                <a:gd name="T25" fmla="*/ 8 h 20"/>
                <a:gd name="T26" fmla="*/ 4 w 20"/>
                <a:gd name="T27" fmla="*/ 8 h 20"/>
                <a:gd name="T28" fmla="*/ 4 w 20"/>
                <a:gd name="T29" fmla="*/ 4 h 20"/>
                <a:gd name="T30" fmla="*/ 4 w 20"/>
                <a:gd name="T31" fmla="*/ 4 h 20"/>
                <a:gd name="T32" fmla="*/ 8 w 20"/>
                <a:gd name="T33" fmla="*/ 0 h 20"/>
                <a:gd name="T34" fmla="*/ 16 w 20"/>
                <a:gd name="T35" fmla="*/ 4 h 20"/>
                <a:gd name="T36" fmla="*/ 16 w 20"/>
                <a:gd name="T37" fmla="*/ 4 h 20"/>
                <a:gd name="T38" fmla="*/ 20 w 20"/>
                <a:gd name="T39" fmla="*/ 4 h 20"/>
                <a:gd name="T40" fmla="*/ 20 w 20"/>
                <a:gd name="T41" fmla="*/ 8 h 20"/>
                <a:gd name="T42" fmla="*/ 20 w 20"/>
                <a:gd name="T43" fmla="*/ 8 h 20"/>
                <a:gd name="T44" fmla="*/ 16 w 20"/>
                <a:gd name="T45" fmla="*/ 12 h 20"/>
                <a:gd name="T46" fmla="*/ 12 w 20"/>
                <a:gd name="T47" fmla="*/ 12 h 20"/>
                <a:gd name="T48" fmla="*/ 8 w 20"/>
                <a:gd name="T49" fmla="*/ 12 h 20"/>
                <a:gd name="T50" fmla="*/ 8 w 20"/>
                <a:gd name="T51" fmla="*/ 12 h 20"/>
                <a:gd name="T52" fmla="*/ 8 w 20"/>
                <a:gd name="T53" fmla="*/ 12 h 20"/>
                <a:gd name="T54" fmla="*/ 4 w 20"/>
                <a:gd name="T55" fmla="*/ 12 h 20"/>
                <a:gd name="T56" fmla="*/ 4 w 20"/>
                <a:gd name="T57" fmla="*/ 16 h 20"/>
                <a:gd name="T58" fmla="*/ 4 w 20"/>
                <a:gd name="T59" fmla="*/ 16 h 20"/>
                <a:gd name="T60" fmla="*/ 8 w 20"/>
                <a:gd name="T61" fmla="*/ 16 h 20"/>
                <a:gd name="T62" fmla="*/ 8 w 20"/>
                <a:gd name="T63" fmla="*/ 16 h 20"/>
                <a:gd name="T64" fmla="*/ 8 w 20"/>
                <a:gd name="T65" fmla="*/ 16 h 20"/>
                <a:gd name="T66" fmla="*/ 12 w 20"/>
                <a:gd name="T67" fmla="*/ 16 h 20"/>
                <a:gd name="T68" fmla="*/ 12 w 20"/>
                <a:gd name="T69" fmla="*/ 12 h 20"/>
                <a:gd name="T70" fmla="*/ 12 w 20"/>
                <a:gd name="T71" fmla="*/ 12 h 20"/>
                <a:gd name="T72" fmla="*/ 8 w 20"/>
                <a:gd name="T73" fmla="*/ 12 h 20"/>
                <a:gd name="T74" fmla="*/ 16 w 20"/>
                <a:gd name="T75" fmla="*/ 4 h 20"/>
                <a:gd name="T76" fmla="*/ 12 w 20"/>
                <a:gd name="T77" fmla="*/ 4 h 20"/>
                <a:gd name="T78" fmla="*/ 8 w 20"/>
                <a:gd name="T79" fmla="*/ 8 h 20"/>
                <a:gd name="T80" fmla="*/ 8 w 20"/>
                <a:gd name="T81" fmla="*/ 8 h 20"/>
                <a:gd name="T82" fmla="*/ 8 w 20"/>
                <a:gd name="T83" fmla="*/ 8 h 20"/>
                <a:gd name="T84" fmla="*/ 12 w 20"/>
                <a:gd name="T85" fmla="*/ 8 h 20"/>
                <a:gd name="T86" fmla="*/ 12 w 20"/>
                <a:gd name="T87" fmla="*/ 8 h 20"/>
                <a:gd name="T88" fmla="*/ 12 w 20"/>
                <a:gd name="T89" fmla="*/ 8 h 20"/>
                <a:gd name="T90" fmla="*/ 16 w 20"/>
                <a:gd name="T91" fmla="*/ 8 h 20"/>
                <a:gd name="T92" fmla="*/ 16 w 20"/>
                <a:gd name="T93" fmla="*/ 8 h 20"/>
                <a:gd name="T94" fmla="*/ 16 w 20"/>
                <a:gd name="T95" fmla="*/ 4 h 20"/>
                <a:gd name="T96" fmla="*/ 16 w 20"/>
                <a:gd name="T97" fmla="*/ 4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0"/>
                <a:gd name="T148" fmla="*/ 0 h 20"/>
                <a:gd name="T149" fmla="*/ 20 w 20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0" h="20">
                  <a:moveTo>
                    <a:pt x="12" y="12"/>
                  </a:moveTo>
                  <a:lnTo>
                    <a:pt x="12" y="12"/>
                  </a:lnTo>
                  <a:lnTo>
                    <a:pt x="16" y="16"/>
                  </a:lnTo>
                  <a:lnTo>
                    <a:pt x="12" y="20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6" y="12"/>
                  </a:lnTo>
                  <a:lnTo>
                    <a:pt x="12" y="12"/>
                  </a:lnTo>
                  <a:close/>
                  <a:moveTo>
                    <a:pt x="8" y="12"/>
                  </a:moveTo>
                  <a:lnTo>
                    <a:pt x="8" y="12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7" name="Freeform 703"/>
            <p:cNvSpPr>
              <a:spLocks/>
            </p:cNvSpPr>
            <p:nvPr/>
          </p:nvSpPr>
          <p:spPr bwMode="auto">
            <a:xfrm>
              <a:off x="4200" y="2599"/>
              <a:ext cx="16" cy="16"/>
            </a:xfrm>
            <a:custGeom>
              <a:avLst/>
              <a:gdLst>
                <a:gd name="T0" fmla="*/ 12 w 16"/>
                <a:gd name="T1" fmla="*/ 8 h 16"/>
                <a:gd name="T2" fmla="*/ 12 w 16"/>
                <a:gd name="T3" fmla="*/ 8 h 16"/>
                <a:gd name="T4" fmla="*/ 12 w 16"/>
                <a:gd name="T5" fmla="*/ 8 h 16"/>
                <a:gd name="T6" fmla="*/ 12 w 16"/>
                <a:gd name="T7" fmla="*/ 8 h 16"/>
                <a:gd name="T8" fmla="*/ 12 w 16"/>
                <a:gd name="T9" fmla="*/ 8 h 16"/>
                <a:gd name="T10" fmla="*/ 16 w 16"/>
                <a:gd name="T11" fmla="*/ 8 h 16"/>
                <a:gd name="T12" fmla="*/ 16 w 16"/>
                <a:gd name="T13" fmla="*/ 8 h 16"/>
                <a:gd name="T14" fmla="*/ 16 w 16"/>
                <a:gd name="T15" fmla="*/ 4 h 16"/>
                <a:gd name="T16" fmla="*/ 16 w 16"/>
                <a:gd name="T17" fmla="*/ 4 h 16"/>
                <a:gd name="T18" fmla="*/ 16 w 16"/>
                <a:gd name="T19" fmla="*/ 4 h 16"/>
                <a:gd name="T20" fmla="*/ 16 w 16"/>
                <a:gd name="T21" fmla="*/ 4 h 16"/>
                <a:gd name="T22" fmla="*/ 4 w 16"/>
                <a:gd name="T23" fmla="*/ 0 h 16"/>
                <a:gd name="T24" fmla="*/ 4 w 16"/>
                <a:gd name="T25" fmla="*/ 0 h 16"/>
                <a:gd name="T26" fmla="*/ 4 w 16"/>
                <a:gd name="T27" fmla="*/ 0 h 16"/>
                <a:gd name="T28" fmla="*/ 4 w 16"/>
                <a:gd name="T29" fmla="*/ 0 h 16"/>
                <a:gd name="T30" fmla="*/ 0 w 16"/>
                <a:gd name="T31" fmla="*/ 4 h 16"/>
                <a:gd name="T32" fmla="*/ 0 w 16"/>
                <a:gd name="T33" fmla="*/ 4 h 16"/>
                <a:gd name="T34" fmla="*/ 0 w 16"/>
                <a:gd name="T35" fmla="*/ 4 h 16"/>
                <a:gd name="T36" fmla="*/ 0 w 16"/>
                <a:gd name="T37" fmla="*/ 4 h 16"/>
                <a:gd name="T38" fmla="*/ 0 w 16"/>
                <a:gd name="T39" fmla="*/ 4 h 16"/>
                <a:gd name="T40" fmla="*/ 0 w 16"/>
                <a:gd name="T41" fmla="*/ 4 h 16"/>
                <a:gd name="T42" fmla="*/ 4 w 16"/>
                <a:gd name="T43" fmla="*/ 4 h 16"/>
                <a:gd name="T44" fmla="*/ 4 w 16"/>
                <a:gd name="T45" fmla="*/ 4 h 16"/>
                <a:gd name="T46" fmla="*/ 4 w 16"/>
                <a:gd name="T47" fmla="*/ 4 h 16"/>
                <a:gd name="T48" fmla="*/ 4 w 16"/>
                <a:gd name="T49" fmla="*/ 4 h 16"/>
                <a:gd name="T50" fmla="*/ 8 w 16"/>
                <a:gd name="T51" fmla="*/ 4 h 16"/>
                <a:gd name="T52" fmla="*/ 4 w 16"/>
                <a:gd name="T53" fmla="*/ 12 h 16"/>
                <a:gd name="T54" fmla="*/ 0 w 16"/>
                <a:gd name="T55" fmla="*/ 8 h 16"/>
                <a:gd name="T56" fmla="*/ 0 w 16"/>
                <a:gd name="T57" fmla="*/ 8 h 16"/>
                <a:gd name="T58" fmla="*/ 0 w 16"/>
                <a:gd name="T59" fmla="*/ 8 h 16"/>
                <a:gd name="T60" fmla="*/ 0 w 16"/>
                <a:gd name="T61" fmla="*/ 12 h 16"/>
                <a:gd name="T62" fmla="*/ 0 w 16"/>
                <a:gd name="T63" fmla="*/ 12 h 16"/>
                <a:gd name="T64" fmla="*/ 0 w 16"/>
                <a:gd name="T65" fmla="*/ 12 h 16"/>
                <a:gd name="T66" fmla="*/ 0 w 16"/>
                <a:gd name="T67" fmla="*/ 12 h 16"/>
                <a:gd name="T68" fmla="*/ 8 w 16"/>
                <a:gd name="T69" fmla="*/ 16 h 16"/>
                <a:gd name="T70" fmla="*/ 8 w 16"/>
                <a:gd name="T71" fmla="*/ 16 h 16"/>
                <a:gd name="T72" fmla="*/ 8 w 16"/>
                <a:gd name="T73" fmla="*/ 16 h 16"/>
                <a:gd name="T74" fmla="*/ 8 w 16"/>
                <a:gd name="T75" fmla="*/ 12 h 16"/>
                <a:gd name="T76" fmla="*/ 8 w 16"/>
                <a:gd name="T77" fmla="*/ 12 h 16"/>
                <a:gd name="T78" fmla="*/ 8 w 16"/>
                <a:gd name="T79" fmla="*/ 12 h 16"/>
                <a:gd name="T80" fmla="*/ 8 w 16"/>
                <a:gd name="T81" fmla="*/ 12 h 16"/>
                <a:gd name="T82" fmla="*/ 8 w 16"/>
                <a:gd name="T83" fmla="*/ 12 h 16"/>
                <a:gd name="T84" fmla="*/ 12 w 16"/>
                <a:gd name="T85" fmla="*/ 4 h 16"/>
                <a:gd name="T86" fmla="*/ 12 w 16"/>
                <a:gd name="T87" fmla="*/ 4 h 16"/>
                <a:gd name="T88" fmla="*/ 12 w 16"/>
                <a:gd name="T89" fmla="*/ 8 h 1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6"/>
                <a:gd name="T136" fmla="*/ 0 h 16"/>
                <a:gd name="T137" fmla="*/ 16 w 16"/>
                <a:gd name="T138" fmla="*/ 16 h 1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6" h="16">
                  <a:moveTo>
                    <a:pt x="12" y="8"/>
                  </a:move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4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8" y="4"/>
                  </a:lnTo>
                  <a:lnTo>
                    <a:pt x="4" y="12"/>
                  </a:lnTo>
                  <a:lnTo>
                    <a:pt x="0" y="8"/>
                  </a:lnTo>
                  <a:lnTo>
                    <a:pt x="0" y="12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12" y="4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8" name="Freeform 704"/>
            <p:cNvSpPr>
              <a:spLocks/>
            </p:cNvSpPr>
            <p:nvPr/>
          </p:nvSpPr>
          <p:spPr bwMode="auto">
            <a:xfrm>
              <a:off x="4216" y="2603"/>
              <a:ext cx="16" cy="12"/>
            </a:xfrm>
            <a:custGeom>
              <a:avLst/>
              <a:gdLst>
                <a:gd name="T0" fmla="*/ 4 w 16"/>
                <a:gd name="T1" fmla="*/ 4 h 12"/>
                <a:gd name="T2" fmla="*/ 8 w 16"/>
                <a:gd name="T3" fmla="*/ 4 h 12"/>
                <a:gd name="T4" fmla="*/ 8 w 16"/>
                <a:gd name="T5" fmla="*/ 0 h 12"/>
                <a:gd name="T6" fmla="*/ 8 w 16"/>
                <a:gd name="T7" fmla="*/ 0 h 12"/>
                <a:gd name="T8" fmla="*/ 8 w 16"/>
                <a:gd name="T9" fmla="*/ 0 h 12"/>
                <a:gd name="T10" fmla="*/ 8 w 16"/>
                <a:gd name="T11" fmla="*/ 0 h 12"/>
                <a:gd name="T12" fmla="*/ 4 w 16"/>
                <a:gd name="T13" fmla="*/ 0 h 12"/>
                <a:gd name="T14" fmla="*/ 4 w 16"/>
                <a:gd name="T15" fmla="*/ 0 h 12"/>
                <a:gd name="T16" fmla="*/ 4 w 16"/>
                <a:gd name="T17" fmla="*/ 0 h 12"/>
                <a:gd name="T18" fmla="*/ 0 w 16"/>
                <a:gd name="T19" fmla="*/ 0 h 12"/>
                <a:gd name="T20" fmla="*/ 0 w 16"/>
                <a:gd name="T21" fmla="*/ 0 h 12"/>
                <a:gd name="T22" fmla="*/ 0 w 16"/>
                <a:gd name="T23" fmla="*/ 0 h 12"/>
                <a:gd name="T24" fmla="*/ 4 w 16"/>
                <a:gd name="T25" fmla="*/ 0 h 12"/>
                <a:gd name="T26" fmla="*/ 4 w 16"/>
                <a:gd name="T27" fmla="*/ 0 h 12"/>
                <a:gd name="T28" fmla="*/ 0 w 16"/>
                <a:gd name="T29" fmla="*/ 8 h 12"/>
                <a:gd name="T30" fmla="*/ 0 w 16"/>
                <a:gd name="T31" fmla="*/ 8 h 12"/>
                <a:gd name="T32" fmla="*/ 0 w 16"/>
                <a:gd name="T33" fmla="*/ 12 h 12"/>
                <a:gd name="T34" fmla="*/ 4 w 16"/>
                <a:gd name="T35" fmla="*/ 12 h 12"/>
                <a:gd name="T36" fmla="*/ 4 w 16"/>
                <a:gd name="T37" fmla="*/ 12 h 12"/>
                <a:gd name="T38" fmla="*/ 8 w 16"/>
                <a:gd name="T39" fmla="*/ 12 h 12"/>
                <a:gd name="T40" fmla="*/ 12 w 16"/>
                <a:gd name="T41" fmla="*/ 8 h 12"/>
                <a:gd name="T42" fmla="*/ 16 w 16"/>
                <a:gd name="T43" fmla="*/ 4 h 12"/>
                <a:gd name="T44" fmla="*/ 16 w 16"/>
                <a:gd name="T45" fmla="*/ 4 h 12"/>
                <a:gd name="T46" fmla="*/ 16 w 16"/>
                <a:gd name="T47" fmla="*/ 4 h 12"/>
                <a:gd name="T48" fmla="*/ 16 w 16"/>
                <a:gd name="T49" fmla="*/ 4 h 12"/>
                <a:gd name="T50" fmla="*/ 16 w 16"/>
                <a:gd name="T51" fmla="*/ 4 h 12"/>
                <a:gd name="T52" fmla="*/ 16 w 16"/>
                <a:gd name="T53" fmla="*/ 4 h 12"/>
                <a:gd name="T54" fmla="*/ 16 w 16"/>
                <a:gd name="T55" fmla="*/ 4 h 12"/>
                <a:gd name="T56" fmla="*/ 16 w 16"/>
                <a:gd name="T57" fmla="*/ 4 h 12"/>
                <a:gd name="T58" fmla="*/ 12 w 16"/>
                <a:gd name="T59" fmla="*/ 0 h 12"/>
                <a:gd name="T60" fmla="*/ 12 w 16"/>
                <a:gd name="T61" fmla="*/ 0 h 12"/>
                <a:gd name="T62" fmla="*/ 12 w 16"/>
                <a:gd name="T63" fmla="*/ 0 h 12"/>
                <a:gd name="T64" fmla="*/ 12 w 16"/>
                <a:gd name="T65" fmla="*/ 4 h 12"/>
                <a:gd name="T66" fmla="*/ 12 w 16"/>
                <a:gd name="T67" fmla="*/ 4 h 12"/>
                <a:gd name="T68" fmla="*/ 8 w 16"/>
                <a:gd name="T69" fmla="*/ 4 h 12"/>
                <a:gd name="T70" fmla="*/ 12 w 16"/>
                <a:gd name="T71" fmla="*/ 4 h 12"/>
                <a:gd name="T72" fmla="*/ 12 w 16"/>
                <a:gd name="T73" fmla="*/ 4 h 12"/>
                <a:gd name="T74" fmla="*/ 8 w 16"/>
                <a:gd name="T75" fmla="*/ 8 h 12"/>
                <a:gd name="T76" fmla="*/ 8 w 16"/>
                <a:gd name="T77" fmla="*/ 8 h 12"/>
                <a:gd name="T78" fmla="*/ 4 w 16"/>
                <a:gd name="T79" fmla="*/ 12 h 12"/>
                <a:gd name="T80" fmla="*/ 4 w 16"/>
                <a:gd name="T81" fmla="*/ 12 h 12"/>
                <a:gd name="T82" fmla="*/ 4 w 16"/>
                <a:gd name="T83" fmla="*/ 12 h 12"/>
                <a:gd name="T84" fmla="*/ 0 w 16"/>
                <a:gd name="T85" fmla="*/ 12 h 12"/>
                <a:gd name="T86" fmla="*/ 4 w 16"/>
                <a:gd name="T87" fmla="*/ 8 h 12"/>
                <a:gd name="T88" fmla="*/ 4 w 16"/>
                <a:gd name="T89" fmla="*/ 4 h 12"/>
                <a:gd name="T90" fmla="*/ 4 w 16"/>
                <a:gd name="T91" fmla="*/ 4 h 1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"/>
                <a:gd name="T139" fmla="*/ 0 h 12"/>
                <a:gd name="T140" fmla="*/ 16 w 16"/>
                <a:gd name="T141" fmla="*/ 12 h 1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" h="12">
                  <a:moveTo>
                    <a:pt x="4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0" y="8"/>
                  </a:lnTo>
                  <a:lnTo>
                    <a:pt x="0" y="12"/>
                  </a:lnTo>
                  <a:lnTo>
                    <a:pt x="4" y="12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4" y="8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19" name="Freeform 705"/>
            <p:cNvSpPr>
              <a:spLocks/>
            </p:cNvSpPr>
            <p:nvPr/>
          </p:nvSpPr>
          <p:spPr bwMode="auto">
            <a:xfrm>
              <a:off x="4232" y="2607"/>
              <a:ext cx="16" cy="12"/>
            </a:xfrm>
            <a:custGeom>
              <a:avLst/>
              <a:gdLst>
                <a:gd name="T0" fmla="*/ 4 w 16"/>
                <a:gd name="T1" fmla="*/ 12 h 12"/>
                <a:gd name="T2" fmla="*/ 12 w 16"/>
                <a:gd name="T3" fmla="*/ 4 h 12"/>
                <a:gd name="T4" fmla="*/ 12 w 16"/>
                <a:gd name="T5" fmla="*/ 4 h 12"/>
                <a:gd name="T6" fmla="*/ 12 w 16"/>
                <a:gd name="T7" fmla="*/ 4 h 12"/>
                <a:gd name="T8" fmla="*/ 8 w 16"/>
                <a:gd name="T9" fmla="*/ 4 h 12"/>
                <a:gd name="T10" fmla="*/ 8 w 16"/>
                <a:gd name="T11" fmla="*/ 4 h 12"/>
                <a:gd name="T12" fmla="*/ 8 w 16"/>
                <a:gd name="T13" fmla="*/ 4 h 12"/>
                <a:gd name="T14" fmla="*/ 12 w 16"/>
                <a:gd name="T15" fmla="*/ 0 h 12"/>
                <a:gd name="T16" fmla="*/ 12 w 16"/>
                <a:gd name="T17" fmla="*/ 0 h 12"/>
                <a:gd name="T18" fmla="*/ 16 w 16"/>
                <a:gd name="T19" fmla="*/ 4 h 12"/>
                <a:gd name="T20" fmla="*/ 16 w 16"/>
                <a:gd name="T21" fmla="*/ 4 h 12"/>
                <a:gd name="T22" fmla="*/ 16 w 16"/>
                <a:gd name="T23" fmla="*/ 4 h 12"/>
                <a:gd name="T24" fmla="*/ 16 w 16"/>
                <a:gd name="T25" fmla="*/ 4 h 12"/>
                <a:gd name="T26" fmla="*/ 16 w 16"/>
                <a:gd name="T27" fmla="*/ 4 h 12"/>
                <a:gd name="T28" fmla="*/ 16 w 16"/>
                <a:gd name="T29" fmla="*/ 4 h 12"/>
                <a:gd name="T30" fmla="*/ 12 w 16"/>
                <a:gd name="T31" fmla="*/ 4 h 12"/>
                <a:gd name="T32" fmla="*/ 12 w 16"/>
                <a:gd name="T33" fmla="*/ 4 h 12"/>
                <a:gd name="T34" fmla="*/ 4 w 16"/>
                <a:gd name="T35" fmla="*/ 12 h 12"/>
                <a:gd name="T36" fmla="*/ 4 w 16"/>
                <a:gd name="T37" fmla="*/ 12 h 12"/>
                <a:gd name="T38" fmla="*/ 4 w 16"/>
                <a:gd name="T39" fmla="*/ 12 h 12"/>
                <a:gd name="T40" fmla="*/ 4 w 16"/>
                <a:gd name="T41" fmla="*/ 12 h 12"/>
                <a:gd name="T42" fmla="*/ 0 w 16"/>
                <a:gd name="T43" fmla="*/ 12 h 12"/>
                <a:gd name="T44" fmla="*/ 0 w 16"/>
                <a:gd name="T45" fmla="*/ 12 h 12"/>
                <a:gd name="T46" fmla="*/ 0 w 16"/>
                <a:gd name="T47" fmla="*/ 12 h 12"/>
                <a:gd name="T48" fmla="*/ 0 w 16"/>
                <a:gd name="T49" fmla="*/ 12 h 12"/>
                <a:gd name="T50" fmla="*/ 0 w 16"/>
                <a:gd name="T51" fmla="*/ 0 h 12"/>
                <a:gd name="T52" fmla="*/ 0 w 16"/>
                <a:gd name="T53" fmla="*/ 0 h 12"/>
                <a:gd name="T54" fmla="*/ 0 w 16"/>
                <a:gd name="T55" fmla="*/ 0 h 12"/>
                <a:gd name="T56" fmla="*/ 0 w 16"/>
                <a:gd name="T57" fmla="*/ 0 h 12"/>
                <a:gd name="T58" fmla="*/ 0 w 16"/>
                <a:gd name="T59" fmla="*/ 0 h 12"/>
                <a:gd name="T60" fmla="*/ 0 w 16"/>
                <a:gd name="T61" fmla="*/ 0 h 12"/>
                <a:gd name="T62" fmla="*/ 0 w 16"/>
                <a:gd name="T63" fmla="*/ 0 h 12"/>
                <a:gd name="T64" fmla="*/ 4 w 16"/>
                <a:gd name="T65" fmla="*/ 0 h 12"/>
                <a:gd name="T66" fmla="*/ 8 w 16"/>
                <a:gd name="T67" fmla="*/ 0 h 12"/>
                <a:gd name="T68" fmla="*/ 8 w 16"/>
                <a:gd name="T69" fmla="*/ 0 h 12"/>
                <a:gd name="T70" fmla="*/ 8 w 16"/>
                <a:gd name="T71" fmla="*/ 0 h 12"/>
                <a:gd name="T72" fmla="*/ 8 w 16"/>
                <a:gd name="T73" fmla="*/ 0 h 12"/>
                <a:gd name="T74" fmla="*/ 8 w 16"/>
                <a:gd name="T75" fmla="*/ 4 h 12"/>
                <a:gd name="T76" fmla="*/ 8 w 16"/>
                <a:gd name="T77" fmla="*/ 4 h 12"/>
                <a:gd name="T78" fmla="*/ 4 w 16"/>
                <a:gd name="T79" fmla="*/ 4 h 1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"/>
                <a:gd name="T121" fmla="*/ 0 h 12"/>
                <a:gd name="T122" fmla="*/ 16 w 16"/>
                <a:gd name="T123" fmla="*/ 12 h 1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" h="12">
                  <a:moveTo>
                    <a:pt x="4" y="4"/>
                  </a:moveTo>
                  <a:lnTo>
                    <a:pt x="4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0"/>
                  </a:lnTo>
                  <a:lnTo>
                    <a:pt x="16" y="4"/>
                  </a:lnTo>
                  <a:lnTo>
                    <a:pt x="12" y="4"/>
                  </a:lnTo>
                  <a:lnTo>
                    <a:pt x="4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0" name="Freeform 706"/>
            <p:cNvSpPr>
              <a:spLocks noEditPoints="1"/>
            </p:cNvSpPr>
            <p:nvPr/>
          </p:nvSpPr>
          <p:spPr bwMode="auto">
            <a:xfrm>
              <a:off x="4330" y="2607"/>
              <a:ext cx="20" cy="16"/>
            </a:xfrm>
            <a:custGeom>
              <a:avLst/>
              <a:gdLst>
                <a:gd name="T0" fmla="*/ 12 w 20"/>
                <a:gd name="T1" fmla="*/ 12 h 16"/>
                <a:gd name="T2" fmla="*/ 12 w 20"/>
                <a:gd name="T3" fmla="*/ 12 h 16"/>
                <a:gd name="T4" fmla="*/ 8 w 20"/>
                <a:gd name="T5" fmla="*/ 12 h 16"/>
                <a:gd name="T6" fmla="*/ 8 w 20"/>
                <a:gd name="T7" fmla="*/ 12 h 16"/>
                <a:gd name="T8" fmla="*/ 4 w 20"/>
                <a:gd name="T9" fmla="*/ 8 h 16"/>
                <a:gd name="T10" fmla="*/ 4 w 20"/>
                <a:gd name="T11" fmla="*/ 4 h 16"/>
                <a:gd name="T12" fmla="*/ 4 w 20"/>
                <a:gd name="T13" fmla="*/ 4 h 16"/>
                <a:gd name="T14" fmla="*/ 8 w 20"/>
                <a:gd name="T15" fmla="*/ 0 h 16"/>
                <a:gd name="T16" fmla="*/ 16 w 20"/>
                <a:gd name="T17" fmla="*/ 0 h 16"/>
                <a:gd name="T18" fmla="*/ 16 w 20"/>
                <a:gd name="T19" fmla="*/ 0 h 16"/>
                <a:gd name="T20" fmla="*/ 20 w 20"/>
                <a:gd name="T21" fmla="*/ 4 h 16"/>
                <a:gd name="T22" fmla="*/ 20 w 20"/>
                <a:gd name="T23" fmla="*/ 8 h 16"/>
                <a:gd name="T24" fmla="*/ 20 w 20"/>
                <a:gd name="T25" fmla="*/ 8 h 16"/>
                <a:gd name="T26" fmla="*/ 12 w 20"/>
                <a:gd name="T27" fmla="*/ 16 h 16"/>
                <a:gd name="T28" fmla="*/ 4 w 20"/>
                <a:gd name="T29" fmla="*/ 16 h 16"/>
                <a:gd name="T30" fmla="*/ 4 w 20"/>
                <a:gd name="T31" fmla="*/ 16 h 16"/>
                <a:gd name="T32" fmla="*/ 0 w 20"/>
                <a:gd name="T33" fmla="*/ 16 h 16"/>
                <a:gd name="T34" fmla="*/ 0 w 20"/>
                <a:gd name="T35" fmla="*/ 16 h 16"/>
                <a:gd name="T36" fmla="*/ 0 w 20"/>
                <a:gd name="T37" fmla="*/ 16 h 16"/>
                <a:gd name="T38" fmla="*/ 4 w 20"/>
                <a:gd name="T39" fmla="*/ 12 h 16"/>
                <a:gd name="T40" fmla="*/ 4 w 20"/>
                <a:gd name="T41" fmla="*/ 16 h 16"/>
                <a:gd name="T42" fmla="*/ 4 w 20"/>
                <a:gd name="T43" fmla="*/ 16 h 16"/>
                <a:gd name="T44" fmla="*/ 8 w 20"/>
                <a:gd name="T45" fmla="*/ 12 h 16"/>
                <a:gd name="T46" fmla="*/ 12 w 20"/>
                <a:gd name="T47" fmla="*/ 12 h 16"/>
                <a:gd name="T48" fmla="*/ 16 w 20"/>
                <a:gd name="T49" fmla="*/ 4 h 16"/>
                <a:gd name="T50" fmla="*/ 16 w 20"/>
                <a:gd name="T51" fmla="*/ 4 h 16"/>
                <a:gd name="T52" fmla="*/ 16 w 20"/>
                <a:gd name="T53" fmla="*/ 4 h 16"/>
                <a:gd name="T54" fmla="*/ 16 w 20"/>
                <a:gd name="T55" fmla="*/ 0 h 16"/>
                <a:gd name="T56" fmla="*/ 12 w 20"/>
                <a:gd name="T57" fmla="*/ 0 h 16"/>
                <a:gd name="T58" fmla="*/ 12 w 20"/>
                <a:gd name="T59" fmla="*/ 0 h 16"/>
                <a:gd name="T60" fmla="*/ 8 w 20"/>
                <a:gd name="T61" fmla="*/ 4 h 16"/>
                <a:gd name="T62" fmla="*/ 8 w 20"/>
                <a:gd name="T63" fmla="*/ 8 h 16"/>
                <a:gd name="T64" fmla="*/ 8 w 20"/>
                <a:gd name="T65" fmla="*/ 8 h 16"/>
                <a:gd name="T66" fmla="*/ 12 w 20"/>
                <a:gd name="T67" fmla="*/ 8 h 16"/>
                <a:gd name="T68" fmla="*/ 16 w 20"/>
                <a:gd name="T69" fmla="*/ 8 h 16"/>
                <a:gd name="T70" fmla="*/ 16 w 20"/>
                <a:gd name="T71" fmla="*/ 8 h 16"/>
                <a:gd name="T72" fmla="*/ 16 w 20"/>
                <a:gd name="T73" fmla="*/ 4 h 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0"/>
                <a:gd name="T112" fmla="*/ 0 h 16"/>
                <a:gd name="T113" fmla="*/ 20 w 20"/>
                <a:gd name="T114" fmla="*/ 16 h 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0" h="16">
                  <a:moveTo>
                    <a:pt x="12" y="12"/>
                  </a:move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12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2" y="12"/>
                  </a:lnTo>
                  <a:close/>
                  <a:moveTo>
                    <a:pt x="16" y="4"/>
                  </a:moveTo>
                  <a:lnTo>
                    <a:pt x="16" y="4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4"/>
                  </a:lnTo>
                  <a:lnTo>
                    <a:pt x="8" y="8"/>
                  </a:lnTo>
                  <a:lnTo>
                    <a:pt x="12" y="8"/>
                  </a:lnTo>
                  <a:lnTo>
                    <a:pt x="16" y="8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1" name="Freeform 707"/>
            <p:cNvSpPr>
              <a:spLocks/>
            </p:cNvSpPr>
            <p:nvPr/>
          </p:nvSpPr>
          <p:spPr bwMode="auto">
            <a:xfrm>
              <a:off x="4299" y="2623"/>
              <a:ext cx="19" cy="15"/>
            </a:xfrm>
            <a:custGeom>
              <a:avLst/>
              <a:gdLst>
                <a:gd name="T0" fmla="*/ 4 w 19"/>
                <a:gd name="T1" fmla="*/ 8 h 15"/>
                <a:gd name="T2" fmla="*/ 8 w 19"/>
                <a:gd name="T3" fmla="*/ 4 h 15"/>
                <a:gd name="T4" fmla="*/ 8 w 19"/>
                <a:gd name="T5" fmla="*/ 4 h 15"/>
                <a:gd name="T6" fmla="*/ 8 w 19"/>
                <a:gd name="T7" fmla="*/ 4 h 15"/>
                <a:gd name="T8" fmla="*/ 8 w 19"/>
                <a:gd name="T9" fmla="*/ 4 h 15"/>
                <a:gd name="T10" fmla="*/ 8 w 19"/>
                <a:gd name="T11" fmla="*/ 4 h 15"/>
                <a:gd name="T12" fmla="*/ 12 w 19"/>
                <a:gd name="T13" fmla="*/ 4 h 15"/>
                <a:gd name="T14" fmla="*/ 12 w 19"/>
                <a:gd name="T15" fmla="*/ 4 h 15"/>
                <a:gd name="T16" fmla="*/ 12 w 19"/>
                <a:gd name="T17" fmla="*/ 11 h 15"/>
                <a:gd name="T18" fmla="*/ 12 w 19"/>
                <a:gd name="T19" fmla="*/ 4 h 15"/>
                <a:gd name="T20" fmla="*/ 12 w 19"/>
                <a:gd name="T21" fmla="*/ 4 h 15"/>
                <a:gd name="T22" fmla="*/ 12 w 19"/>
                <a:gd name="T23" fmla="*/ 4 h 15"/>
                <a:gd name="T24" fmla="*/ 12 w 19"/>
                <a:gd name="T25" fmla="*/ 4 h 15"/>
                <a:gd name="T26" fmla="*/ 12 w 19"/>
                <a:gd name="T27" fmla="*/ 4 h 15"/>
                <a:gd name="T28" fmla="*/ 12 w 19"/>
                <a:gd name="T29" fmla="*/ 4 h 15"/>
                <a:gd name="T30" fmla="*/ 12 w 19"/>
                <a:gd name="T31" fmla="*/ 0 h 15"/>
                <a:gd name="T32" fmla="*/ 16 w 19"/>
                <a:gd name="T33" fmla="*/ 0 h 15"/>
                <a:gd name="T34" fmla="*/ 19 w 19"/>
                <a:gd name="T35" fmla="*/ 4 h 15"/>
                <a:gd name="T36" fmla="*/ 19 w 19"/>
                <a:gd name="T37" fmla="*/ 4 h 15"/>
                <a:gd name="T38" fmla="*/ 19 w 19"/>
                <a:gd name="T39" fmla="*/ 4 h 15"/>
                <a:gd name="T40" fmla="*/ 19 w 19"/>
                <a:gd name="T41" fmla="*/ 4 h 15"/>
                <a:gd name="T42" fmla="*/ 19 w 19"/>
                <a:gd name="T43" fmla="*/ 4 h 15"/>
                <a:gd name="T44" fmla="*/ 19 w 19"/>
                <a:gd name="T45" fmla="*/ 4 h 15"/>
                <a:gd name="T46" fmla="*/ 16 w 19"/>
                <a:gd name="T47" fmla="*/ 4 h 15"/>
                <a:gd name="T48" fmla="*/ 16 w 19"/>
                <a:gd name="T49" fmla="*/ 4 h 15"/>
                <a:gd name="T50" fmla="*/ 12 w 19"/>
                <a:gd name="T51" fmla="*/ 11 h 15"/>
                <a:gd name="T52" fmla="*/ 12 w 19"/>
                <a:gd name="T53" fmla="*/ 11 h 15"/>
                <a:gd name="T54" fmla="*/ 8 w 19"/>
                <a:gd name="T55" fmla="*/ 15 h 15"/>
                <a:gd name="T56" fmla="*/ 8 w 19"/>
                <a:gd name="T57" fmla="*/ 15 h 15"/>
                <a:gd name="T58" fmla="*/ 8 w 19"/>
                <a:gd name="T59" fmla="*/ 15 h 15"/>
                <a:gd name="T60" fmla="*/ 8 w 19"/>
                <a:gd name="T61" fmla="*/ 15 h 15"/>
                <a:gd name="T62" fmla="*/ 8 w 19"/>
                <a:gd name="T63" fmla="*/ 11 h 15"/>
                <a:gd name="T64" fmla="*/ 8 w 19"/>
                <a:gd name="T65" fmla="*/ 11 h 15"/>
                <a:gd name="T66" fmla="*/ 8 w 19"/>
                <a:gd name="T67" fmla="*/ 4 h 15"/>
                <a:gd name="T68" fmla="*/ 4 w 19"/>
                <a:gd name="T69" fmla="*/ 11 h 15"/>
                <a:gd name="T70" fmla="*/ 4 w 19"/>
                <a:gd name="T71" fmla="*/ 11 h 15"/>
                <a:gd name="T72" fmla="*/ 0 w 19"/>
                <a:gd name="T73" fmla="*/ 11 h 15"/>
                <a:gd name="T74" fmla="*/ 0 w 19"/>
                <a:gd name="T75" fmla="*/ 11 h 15"/>
                <a:gd name="T76" fmla="*/ 0 w 19"/>
                <a:gd name="T77" fmla="*/ 11 h 15"/>
                <a:gd name="T78" fmla="*/ 0 w 19"/>
                <a:gd name="T79" fmla="*/ 11 h 15"/>
                <a:gd name="T80" fmla="*/ 0 w 19"/>
                <a:gd name="T81" fmla="*/ 11 h 15"/>
                <a:gd name="T82" fmla="*/ 0 w 19"/>
                <a:gd name="T83" fmla="*/ 11 h 15"/>
                <a:gd name="T84" fmla="*/ 4 w 19"/>
                <a:gd name="T85" fmla="*/ 0 h 15"/>
                <a:gd name="T86" fmla="*/ 4 w 19"/>
                <a:gd name="T87" fmla="*/ 0 h 15"/>
                <a:gd name="T88" fmla="*/ 4 w 19"/>
                <a:gd name="T89" fmla="*/ 0 h 15"/>
                <a:gd name="T90" fmla="*/ 4 w 19"/>
                <a:gd name="T91" fmla="*/ 0 h 15"/>
                <a:gd name="T92" fmla="*/ 4 w 19"/>
                <a:gd name="T93" fmla="*/ 0 h 15"/>
                <a:gd name="T94" fmla="*/ 4 w 19"/>
                <a:gd name="T95" fmla="*/ 0 h 15"/>
                <a:gd name="T96" fmla="*/ 4 w 19"/>
                <a:gd name="T97" fmla="*/ 0 h 15"/>
                <a:gd name="T98" fmla="*/ 4 w 19"/>
                <a:gd name="T99" fmla="*/ 0 h 15"/>
                <a:gd name="T100" fmla="*/ 8 w 19"/>
                <a:gd name="T101" fmla="*/ 0 h 15"/>
                <a:gd name="T102" fmla="*/ 8 w 19"/>
                <a:gd name="T103" fmla="*/ 0 h 15"/>
                <a:gd name="T104" fmla="*/ 8 w 19"/>
                <a:gd name="T105" fmla="*/ 0 h 15"/>
                <a:gd name="T106" fmla="*/ 8 w 19"/>
                <a:gd name="T107" fmla="*/ 0 h 15"/>
                <a:gd name="T108" fmla="*/ 8 w 19"/>
                <a:gd name="T109" fmla="*/ 0 h 15"/>
                <a:gd name="T110" fmla="*/ 8 w 19"/>
                <a:gd name="T111" fmla="*/ 4 h 15"/>
                <a:gd name="T112" fmla="*/ 8 w 19"/>
                <a:gd name="T113" fmla="*/ 4 h 15"/>
                <a:gd name="T114" fmla="*/ 8 w 19"/>
                <a:gd name="T115" fmla="*/ 0 h 1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9"/>
                <a:gd name="T175" fmla="*/ 0 h 15"/>
                <a:gd name="T176" fmla="*/ 19 w 19"/>
                <a:gd name="T177" fmla="*/ 15 h 1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9" h="15">
                  <a:moveTo>
                    <a:pt x="8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11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4"/>
                  </a:lnTo>
                  <a:lnTo>
                    <a:pt x="16" y="4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4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2" name="Freeform 708"/>
            <p:cNvSpPr>
              <a:spLocks/>
            </p:cNvSpPr>
            <p:nvPr/>
          </p:nvSpPr>
          <p:spPr bwMode="auto">
            <a:xfrm>
              <a:off x="4311" y="2627"/>
              <a:ext cx="19" cy="15"/>
            </a:xfrm>
            <a:custGeom>
              <a:avLst/>
              <a:gdLst>
                <a:gd name="T0" fmla="*/ 11 w 19"/>
                <a:gd name="T1" fmla="*/ 4 h 15"/>
                <a:gd name="T2" fmla="*/ 15 w 19"/>
                <a:gd name="T3" fmla="*/ 4 h 15"/>
                <a:gd name="T4" fmla="*/ 15 w 19"/>
                <a:gd name="T5" fmla="*/ 4 h 15"/>
                <a:gd name="T6" fmla="*/ 15 w 19"/>
                <a:gd name="T7" fmla="*/ 4 h 15"/>
                <a:gd name="T8" fmla="*/ 15 w 19"/>
                <a:gd name="T9" fmla="*/ 0 h 15"/>
                <a:gd name="T10" fmla="*/ 19 w 19"/>
                <a:gd name="T11" fmla="*/ 4 h 15"/>
                <a:gd name="T12" fmla="*/ 19 w 19"/>
                <a:gd name="T13" fmla="*/ 4 h 15"/>
                <a:gd name="T14" fmla="*/ 19 w 19"/>
                <a:gd name="T15" fmla="*/ 4 h 15"/>
                <a:gd name="T16" fmla="*/ 19 w 19"/>
                <a:gd name="T17" fmla="*/ 4 h 15"/>
                <a:gd name="T18" fmla="*/ 19 w 19"/>
                <a:gd name="T19" fmla="*/ 4 h 15"/>
                <a:gd name="T20" fmla="*/ 19 w 19"/>
                <a:gd name="T21" fmla="*/ 4 h 15"/>
                <a:gd name="T22" fmla="*/ 11 w 19"/>
                <a:gd name="T23" fmla="*/ 7 h 15"/>
                <a:gd name="T24" fmla="*/ 15 w 19"/>
                <a:gd name="T25" fmla="*/ 11 h 15"/>
                <a:gd name="T26" fmla="*/ 15 w 19"/>
                <a:gd name="T27" fmla="*/ 11 h 15"/>
                <a:gd name="T28" fmla="*/ 15 w 19"/>
                <a:gd name="T29" fmla="*/ 11 h 15"/>
                <a:gd name="T30" fmla="*/ 15 w 19"/>
                <a:gd name="T31" fmla="*/ 15 h 15"/>
                <a:gd name="T32" fmla="*/ 15 w 19"/>
                <a:gd name="T33" fmla="*/ 15 h 15"/>
                <a:gd name="T34" fmla="*/ 11 w 19"/>
                <a:gd name="T35" fmla="*/ 15 h 15"/>
                <a:gd name="T36" fmla="*/ 7 w 19"/>
                <a:gd name="T37" fmla="*/ 11 h 15"/>
                <a:gd name="T38" fmla="*/ 7 w 19"/>
                <a:gd name="T39" fmla="*/ 11 h 15"/>
                <a:gd name="T40" fmla="*/ 11 w 19"/>
                <a:gd name="T41" fmla="*/ 11 h 15"/>
                <a:gd name="T42" fmla="*/ 11 w 19"/>
                <a:gd name="T43" fmla="*/ 11 h 15"/>
                <a:gd name="T44" fmla="*/ 11 w 19"/>
                <a:gd name="T45" fmla="*/ 7 h 15"/>
                <a:gd name="T46" fmla="*/ 7 w 19"/>
                <a:gd name="T47" fmla="*/ 11 h 15"/>
                <a:gd name="T48" fmla="*/ 7 w 19"/>
                <a:gd name="T49" fmla="*/ 11 h 15"/>
                <a:gd name="T50" fmla="*/ 7 w 19"/>
                <a:gd name="T51" fmla="*/ 11 h 15"/>
                <a:gd name="T52" fmla="*/ 7 w 19"/>
                <a:gd name="T53" fmla="*/ 11 h 15"/>
                <a:gd name="T54" fmla="*/ 4 w 19"/>
                <a:gd name="T55" fmla="*/ 11 h 15"/>
                <a:gd name="T56" fmla="*/ 0 w 19"/>
                <a:gd name="T57" fmla="*/ 11 h 15"/>
                <a:gd name="T58" fmla="*/ 4 w 19"/>
                <a:gd name="T59" fmla="*/ 11 h 15"/>
                <a:gd name="T60" fmla="*/ 4 w 19"/>
                <a:gd name="T61" fmla="*/ 7 h 15"/>
                <a:gd name="T62" fmla="*/ 4 w 19"/>
                <a:gd name="T63" fmla="*/ 7 h 15"/>
                <a:gd name="T64" fmla="*/ 4 w 19"/>
                <a:gd name="T65" fmla="*/ 7 h 15"/>
                <a:gd name="T66" fmla="*/ 7 w 19"/>
                <a:gd name="T67" fmla="*/ 0 h 15"/>
                <a:gd name="T68" fmla="*/ 7 w 19"/>
                <a:gd name="T69" fmla="*/ 0 h 15"/>
                <a:gd name="T70" fmla="*/ 7 w 19"/>
                <a:gd name="T71" fmla="*/ 0 h 15"/>
                <a:gd name="T72" fmla="*/ 7 w 19"/>
                <a:gd name="T73" fmla="*/ 0 h 15"/>
                <a:gd name="T74" fmla="*/ 7 w 19"/>
                <a:gd name="T75" fmla="*/ 0 h 15"/>
                <a:gd name="T76" fmla="*/ 11 w 19"/>
                <a:gd name="T77" fmla="*/ 0 h 15"/>
                <a:gd name="T78" fmla="*/ 11 w 19"/>
                <a:gd name="T79" fmla="*/ 0 h 15"/>
                <a:gd name="T80" fmla="*/ 15 w 19"/>
                <a:gd name="T81" fmla="*/ 0 h 15"/>
                <a:gd name="T82" fmla="*/ 15 w 19"/>
                <a:gd name="T83" fmla="*/ 0 h 15"/>
                <a:gd name="T84" fmla="*/ 11 w 19"/>
                <a:gd name="T85" fmla="*/ 4 h 1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9"/>
                <a:gd name="T130" fmla="*/ 0 h 15"/>
                <a:gd name="T131" fmla="*/ 19 w 19"/>
                <a:gd name="T132" fmla="*/ 15 h 1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9" h="15">
                  <a:moveTo>
                    <a:pt x="11" y="4"/>
                  </a:move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1" y="7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11" y="7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3" name="Freeform 709"/>
            <p:cNvSpPr>
              <a:spLocks/>
            </p:cNvSpPr>
            <p:nvPr/>
          </p:nvSpPr>
          <p:spPr bwMode="auto">
            <a:xfrm>
              <a:off x="4330" y="2631"/>
              <a:ext cx="16" cy="15"/>
            </a:xfrm>
            <a:custGeom>
              <a:avLst/>
              <a:gdLst>
                <a:gd name="T0" fmla="*/ 8 w 16"/>
                <a:gd name="T1" fmla="*/ 7 h 15"/>
                <a:gd name="T2" fmla="*/ 12 w 16"/>
                <a:gd name="T3" fmla="*/ 3 h 15"/>
                <a:gd name="T4" fmla="*/ 12 w 16"/>
                <a:gd name="T5" fmla="*/ 3 h 15"/>
                <a:gd name="T6" fmla="*/ 12 w 16"/>
                <a:gd name="T7" fmla="*/ 3 h 15"/>
                <a:gd name="T8" fmla="*/ 12 w 16"/>
                <a:gd name="T9" fmla="*/ 3 h 15"/>
                <a:gd name="T10" fmla="*/ 12 w 16"/>
                <a:gd name="T11" fmla="*/ 3 h 15"/>
                <a:gd name="T12" fmla="*/ 12 w 16"/>
                <a:gd name="T13" fmla="*/ 3 h 15"/>
                <a:gd name="T14" fmla="*/ 12 w 16"/>
                <a:gd name="T15" fmla="*/ 0 h 15"/>
                <a:gd name="T16" fmla="*/ 12 w 16"/>
                <a:gd name="T17" fmla="*/ 0 h 15"/>
                <a:gd name="T18" fmla="*/ 16 w 16"/>
                <a:gd name="T19" fmla="*/ 3 h 15"/>
                <a:gd name="T20" fmla="*/ 16 w 16"/>
                <a:gd name="T21" fmla="*/ 3 h 15"/>
                <a:gd name="T22" fmla="*/ 16 w 16"/>
                <a:gd name="T23" fmla="*/ 3 h 15"/>
                <a:gd name="T24" fmla="*/ 16 w 16"/>
                <a:gd name="T25" fmla="*/ 3 h 15"/>
                <a:gd name="T26" fmla="*/ 16 w 16"/>
                <a:gd name="T27" fmla="*/ 3 h 15"/>
                <a:gd name="T28" fmla="*/ 16 w 16"/>
                <a:gd name="T29" fmla="*/ 3 h 15"/>
                <a:gd name="T30" fmla="*/ 16 w 16"/>
                <a:gd name="T31" fmla="*/ 3 h 15"/>
                <a:gd name="T32" fmla="*/ 16 w 16"/>
                <a:gd name="T33" fmla="*/ 3 h 15"/>
                <a:gd name="T34" fmla="*/ 8 w 16"/>
                <a:gd name="T35" fmla="*/ 7 h 15"/>
                <a:gd name="T36" fmla="*/ 8 w 16"/>
                <a:gd name="T37" fmla="*/ 11 h 15"/>
                <a:gd name="T38" fmla="*/ 8 w 16"/>
                <a:gd name="T39" fmla="*/ 11 h 15"/>
                <a:gd name="T40" fmla="*/ 8 w 16"/>
                <a:gd name="T41" fmla="*/ 11 h 15"/>
                <a:gd name="T42" fmla="*/ 12 w 16"/>
                <a:gd name="T43" fmla="*/ 11 h 15"/>
                <a:gd name="T44" fmla="*/ 12 w 16"/>
                <a:gd name="T45" fmla="*/ 11 h 15"/>
                <a:gd name="T46" fmla="*/ 12 w 16"/>
                <a:gd name="T47" fmla="*/ 11 h 15"/>
                <a:gd name="T48" fmla="*/ 8 w 16"/>
                <a:gd name="T49" fmla="*/ 15 h 15"/>
                <a:gd name="T50" fmla="*/ 8 w 16"/>
                <a:gd name="T51" fmla="*/ 15 h 15"/>
                <a:gd name="T52" fmla="*/ 0 w 16"/>
                <a:gd name="T53" fmla="*/ 11 h 15"/>
                <a:gd name="T54" fmla="*/ 0 w 16"/>
                <a:gd name="T55" fmla="*/ 11 h 15"/>
                <a:gd name="T56" fmla="*/ 0 w 16"/>
                <a:gd name="T57" fmla="*/ 11 h 15"/>
                <a:gd name="T58" fmla="*/ 0 w 16"/>
                <a:gd name="T59" fmla="*/ 11 h 15"/>
                <a:gd name="T60" fmla="*/ 0 w 16"/>
                <a:gd name="T61" fmla="*/ 11 h 15"/>
                <a:gd name="T62" fmla="*/ 0 w 16"/>
                <a:gd name="T63" fmla="*/ 11 h 15"/>
                <a:gd name="T64" fmla="*/ 4 w 16"/>
                <a:gd name="T65" fmla="*/ 11 h 15"/>
                <a:gd name="T66" fmla="*/ 4 w 16"/>
                <a:gd name="T67" fmla="*/ 11 h 15"/>
                <a:gd name="T68" fmla="*/ 4 w 16"/>
                <a:gd name="T69" fmla="*/ 7 h 15"/>
                <a:gd name="T70" fmla="*/ 4 w 16"/>
                <a:gd name="T71" fmla="*/ 0 h 15"/>
                <a:gd name="T72" fmla="*/ 4 w 16"/>
                <a:gd name="T73" fmla="*/ 0 h 15"/>
                <a:gd name="T74" fmla="*/ 4 w 16"/>
                <a:gd name="T75" fmla="*/ 0 h 15"/>
                <a:gd name="T76" fmla="*/ 4 w 16"/>
                <a:gd name="T77" fmla="*/ 0 h 15"/>
                <a:gd name="T78" fmla="*/ 4 w 16"/>
                <a:gd name="T79" fmla="*/ 0 h 15"/>
                <a:gd name="T80" fmla="*/ 4 w 16"/>
                <a:gd name="T81" fmla="*/ 0 h 15"/>
                <a:gd name="T82" fmla="*/ 4 w 16"/>
                <a:gd name="T83" fmla="*/ 0 h 15"/>
                <a:gd name="T84" fmla="*/ 8 w 16"/>
                <a:gd name="T85" fmla="*/ 0 h 15"/>
                <a:gd name="T86" fmla="*/ 8 w 16"/>
                <a:gd name="T87" fmla="*/ 0 h 15"/>
                <a:gd name="T88" fmla="*/ 8 w 16"/>
                <a:gd name="T89" fmla="*/ 0 h 15"/>
                <a:gd name="T90" fmla="*/ 12 w 16"/>
                <a:gd name="T91" fmla="*/ 0 h 15"/>
                <a:gd name="T92" fmla="*/ 12 w 16"/>
                <a:gd name="T93" fmla="*/ 0 h 15"/>
                <a:gd name="T94" fmla="*/ 12 w 16"/>
                <a:gd name="T95" fmla="*/ 0 h 15"/>
                <a:gd name="T96" fmla="*/ 8 w 16"/>
                <a:gd name="T97" fmla="*/ 3 h 15"/>
                <a:gd name="T98" fmla="*/ 8 w 16"/>
                <a:gd name="T99" fmla="*/ 3 h 15"/>
                <a:gd name="T100" fmla="*/ 8 w 16"/>
                <a:gd name="T101" fmla="*/ 3 h 1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6"/>
                <a:gd name="T154" fmla="*/ 0 h 15"/>
                <a:gd name="T155" fmla="*/ 16 w 16"/>
                <a:gd name="T156" fmla="*/ 15 h 1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6" h="15">
                  <a:moveTo>
                    <a:pt x="8" y="3"/>
                  </a:moveTo>
                  <a:lnTo>
                    <a:pt x="8" y="7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1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12" y="11"/>
                  </a:lnTo>
                  <a:lnTo>
                    <a:pt x="8" y="15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8" y="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4" name="Freeform 710"/>
            <p:cNvSpPr>
              <a:spLocks/>
            </p:cNvSpPr>
            <p:nvPr/>
          </p:nvSpPr>
          <p:spPr bwMode="auto">
            <a:xfrm>
              <a:off x="4346" y="2634"/>
              <a:ext cx="16" cy="16"/>
            </a:xfrm>
            <a:custGeom>
              <a:avLst/>
              <a:gdLst>
                <a:gd name="T0" fmla="*/ 8 w 16"/>
                <a:gd name="T1" fmla="*/ 12 h 16"/>
                <a:gd name="T2" fmla="*/ 8 w 16"/>
                <a:gd name="T3" fmla="*/ 12 h 16"/>
                <a:gd name="T4" fmla="*/ 8 w 16"/>
                <a:gd name="T5" fmla="*/ 12 h 16"/>
                <a:gd name="T6" fmla="*/ 12 w 16"/>
                <a:gd name="T7" fmla="*/ 8 h 16"/>
                <a:gd name="T8" fmla="*/ 12 w 16"/>
                <a:gd name="T9" fmla="*/ 8 h 16"/>
                <a:gd name="T10" fmla="*/ 12 w 16"/>
                <a:gd name="T11" fmla="*/ 8 h 16"/>
                <a:gd name="T12" fmla="*/ 12 w 16"/>
                <a:gd name="T13" fmla="*/ 12 h 16"/>
                <a:gd name="T14" fmla="*/ 12 w 16"/>
                <a:gd name="T15" fmla="*/ 12 h 16"/>
                <a:gd name="T16" fmla="*/ 12 w 16"/>
                <a:gd name="T17" fmla="*/ 12 h 16"/>
                <a:gd name="T18" fmla="*/ 12 w 16"/>
                <a:gd name="T19" fmla="*/ 16 h 16"/>
                <a:gd name="T20" fmla="*/ 12 w 16"/>
                <a:gd name="T21" fmla="*/ 16 h 16"/>
                <a:gd name="T22" fmla="*/ 8 w 16"/>
                <a:gd name="T23" fmla="*/ 16 h 16"/>
                <a:gd name="T24" fmla="*/ 8 w 16"/>
                <a:gd name="T25" fmla="*/ 16 h 16"/>
                <a:gd name="T26" fmla="*/ 0 w 16"/>
                <a:gd name="T27" fmla="*/ 12 h 16"/>
                <a:gd name="T28" fmla="*/ 0 w 16"/>
                <a:gd name="T29" fmla="*/ 12 h 16"/>
                <a:gd name="T30" fmla="*/ 0 w 16"/>
                <a:gd name="T31" fmla="*/ 12 h 16"/>
                <a:gd name="T32" fmla="*/ 0 w 16"/>
                <a:gd name="T33" fmla="*/ 12 h 16"/>
                <a:gd name="T34" fmla="*/ 0 w 16"/>
                <a:gd name="T35" fmla="*/ 12 h 16"/>
                <a:gd name="T36" fmla="*/ 0 w 16"/>
                <a:gd name="T37" fmla="*/ 12 h 16"/>
                <a:gd name="T38" fmla="*/ 0 w 16"/>
                <a:gd name="T39" fmla="*/ 12 h 16"/>
                <a:gd name="T40" fmla="*/ 12 w 16"/>
                <a:gd name="T41" fmla="*/ 4 h 16"/>
                <a:gd name="T42" fmla="*/ 8 w 16"/>
                <a:gd name="T43" fmla="*/ 4 h 16"/>
                <a:gd name="T44" fmla="*/ 8 w 16"/>
                <a:gd name="T45" fmla="*/ 4 h 16"/>
                <a:gd name="T46" fmla="*/ 8 w 16"/>
                <a:gd name="T47" fmla="*/ 4 h 16"/>
                <a:gd name="T48" fmla="*/ 4 w 16"/>
                <a:gd name="T49" fmla="*/ 4 h 16"/>
                <a:gd name="T50" fmla="*/ 4 w 16"/>
                <a:gd name="T51" fmla="*/ 4 h 16"/>
                <a:gd name="T52" fmla="*/ 4 w 16"/>
                <a:gd name="T53" fmla="*/ 4 h 16"/>
                <a:gd name="T54" fmla="*/ 4 w 16"/>
                <a:gd name="T55" fmla="*/ 4 h 16"/>
                <a:gd name="T56" fmla="*/ 4 w 16"/>
                <a:gd name="T57" fmla="*/ 4 h 16"/>
                <a:gd name="T58" fmla="*/ 4 w 16"/>
                <a:gd name="T59" fmla="*/ 4 h 16"/>
                <a:gd name="T60" fmla="*/ 4 w 16"/>
                <a:gd name="T61" fmla="*/ 0 h 16"/>
                <a:gd name="T62" fmla="*/ 4 w 16"/>
                <a:gd name="T63" fmla="*/ 0 h 16"/>
                <a:gd name="T64" fmla="*/ 8 w 16"/>
                <a:gd name="T65" fmla="*/ 0 h 16"/>
                <a:gd name="T66" fmla="*/ 8 w 16"/>
                <a:gd name="T67" fmla="*/ 0 h 16"/>
                <a:gd name="T68" fmla="*/ 16 w 16"/>
                <a:gd name="T69" fmla="*/ 4 h 16"/>
                <a:gd name="T70" fmla="*/ 16 w 16"/>
                <a:gd name="T71" fmla="*/ 4 h 16"/>
                <a:gd name="T72" fmla="*/ 16 w 16"/>
                <a:gd name="T73" fmla="*/ 4 h 16"/>
                <a:gd name="T74" fmla="*/ 16 w 16"/>
                <a:gd name="T75" fmla="*/ 4 h 16"/>
                <a:gd name="T76" fmla="*/ 16 w 16"/>
                <a:gd name="T77" fmla="*/ 4 h 16"/>
                <a:gd name="T78" fmla="*/ 16 w 16"/>
                <a:gd name="T79" fmla="*/ 4 h 16"/>
                <a:gd name="T80" fmla="*/ 16 w 16"/>
                <a:gd name="T81" fmla="*/ 4 h 16"/>
                <a:gd name="T82" fmla="*/ 4 w 16"/>
                <a:gd name="T83" fmla="*/ 12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6"/>
                <a:gd name="T128" fmla="*/ 16 w 16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6">
                  <a:moveTo>
                    <a:pt x="4" y="12"/>
                  </a:moveTo>
                  <a:lnTo>
                    <a:pt x="8" y="12"/>
                  </a:lnTo>
                  <a:lnTo>
                    <a:pt x="12" y="8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12" y="4"/>
                  </a:lnTo>
                  <a:lnTo>
                    <a:pt x="8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8" y="0"/>
                  </a:lnTo>
                  <a:lnTo>
                    <a:pt x="16" y="4"/>
                  </a:lnTo>
                  <a:lnTo>
                    <a:pt x="4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5" name="Freeform 711"/>
            <p:cNvSpPr>
              <a:spLocks noEditPoints="1"/>
            </p:cNvSpPr>
            <p:nvPr/>
          </p:nvSpPr>
          <p:spPr bwMode="auto">
            <a:xfrm>
              <a:off x="4153" y="2686"/>
              <a:ext cx="20" cy="19"/>
            </a:xfrm>
            <a:custGeom>
              <a:avLst/>
              <a:gdLst>
                <a:gd name="T0" fmla="*/ 16 w 20"/>
                <a:gd name="T1" fmla="*/ 0 h 19"/>
                <a:gd name="T2" fmla="*/ 16 w 20"/>
                <a:gd name="T3" fmla="*/ 0 h 19"/>
                <a:gd name="T4" fmla="*/ 20 w 20"/>
                <a:gd name="T5" fmla="*/ 4 h 19"/>
                <a:gd name="T6" fmla="*/ 20 w 20"/>
                <a:gd name="T7" fmla="*/ 4 h 19"/>
                <a:gd name="T8" fmla="*/ 20 w 20"/>
                <a:gd name="T9" fmla="*/ 4 h 19"/>
                <a:gd name="T10" fmla="*/ 20 w 20"/>
                <a:gd name="T11" fmla="*/ 11 h 19"/>
                <a:gd name="T12" fmla="*/ 20 w 20"/>
                <a:gd name="T13" fmla="*/ 11 h 19"/>
                <a:gd name="T14" fmla="*/ 20 w 20"/>
                <a:gd name="T15" fmla="*/ 11 h 19"/>
                <a:gd name="T16" fmla="*/ 12 w 20"/>
                <a:gd name="T17" fmla="*/ 15 h 19"/>
                <a:gd name="T18" fmla="*/ 12 w 20"/>
                <a:gd name="T19" fmla="*/ 15 h 19"/>
                <a:gd name="T20" fmla="*/ 12 w 20"/>
                <a:gd name="T21" fmla="*/ 15 h 19"/>
                <a:gd name="T22" fmla="*/ 4 w 20"/>
                <a:gd name="T23" fmla="*/ 19 h 19"/>
                <a:gd name="T24" fmla="*/ 4 w 20"/>
                <a:gd name="T25" fmla="*/ 19 h 19"/>
                <a:gd name="T26" fmla="*/ 4 w 20"/>
                <a:gd name="T27" fmla="*/ 19 h 19"/>
                <a:gd name="T28" fmla="*/ 0 w 20"/>
                <a:gd name="T29" fmla="*/ 11 h 19"/>
                <a:gd name="T30" fmla="*/ 0 w 20"/>
                <a:gd name="T31" fmla="*/ 11 h 19"/>
                <a:gd name="T32" fmla="*/ 0 w 20"/>
                <a:gd name="T33" fmla="*/ 11 h 19"/>
                <a:gd name="T34" fmla="*/ 4 w 20"/>
                <a:gd name="T35" fmla="*/ 4 h 19"/>
                <a:gd name="T36" fmla="*/ 4 w 20"/>
                <a:gd name="T37" fmla="*/ 4 h 19"/>
                <a:gd name="T38" fmla="*/ 4 w 20"/>
                <a:gd name="T39" fmla="*/ 4 h 19"/>
                <a:gd name="T40" fmla="*/ 8 w 20"/>
                <a:gd name="T41" fmla="*/ 0 h 19"/>
                <a:gd name="T42" fmla="*/ 8 w 20"/>
                <a:gd name="T43" fmla="*/ 0 h 19"/>
                <a:gd name="T44" fmla="*/ 8 w 20"/>
                <a:gd name="T45" fmla="*/ 0 h 19"/>
                <a:gd name="T46" fmla="*/ 16 w 20"/>
                <a:gd name="T47" fmla="*/ 0 h 19"/>
                <a:gd name="T48" fmla="*/ 16 w 20"/>
                <a:gd name="T49" fmla="*/ 0 h 19"/>
                <a:gd name="T50" fmla="*/ 16 w 20"/>
                <a:gd name="T51" fmla="*/ 0 h 19"/>
                <a:gd name="T52" fmla="*/ 16 w 20"/>
                <a:gd name="T53" fmla="*/ 0 h 19"/>
                <a:gd name="T54" fmla="*/ 12 w 20"/>
                <a:gd name="T55" fmla="*/ 4 h 19"/>
                <a:gd name="T56" fmla="*/ 12 w 20"/>
                <a:gd name="T57" fmla="*/ 4 h 19"/>
                <a:gd name="T58" fmla="*/ 12 w 20"/>
                <a:gd name="T59" fmla="*/ 4 h 19"/>
                <a:gd name="T60" fmla="*/ 8 w 20"/>
                <a:gd name="T61" fmla="*/ 8 h 19"/>
                <a:gd name="T62" fmla="*/ 8 w 20"/>
                <a:gd name="T63" fmla="*/ 8 h 19"/>
                <a:gd name="T64" fmla="*/ 8 w 20"/>
                <a:gd name="T65" fmla="*/ 8 h 19"/>
                <a:gd name="T66" fmla="*/ 4 w 20"/>
                <a:gd name="T67" fmla="*/ 11 h 19"/>
                <a:gd name="T68" fmla="*/ 4 w 20"/>
                <a:gd name="T69" fmla="*/ 11 h 19"/>
                <a:gd name="T70" fmla="*/ 4 w 20"/>
                <a:gd name="T71" fmla="*/ 11 h 19"/>
                <a:gd name="T72" fmla="*/ 8 w 20"/>
                <a:gd name="T73" fmla="*/ 15 h 19"/>
                <a:gd name="T74" fmla="*/ 8 w 20"/>
                <a:gd name="T75" fmla="*/ 15 h 19"/>
                <a:gd name="T76" fmla="*/ 8 w 20"/>
                <a:gd name="T77" fmla="*/ 15 h 19"/>
                <a:gd name="T78" fmla="*/ 12 w 20"/>
                <a:gd name="T79" fmla="*/ 11 h 19"/>
                <a:gd name="T80" fmla="*/ 12 w 20"/>
                <a:gd name="T81" fmla="*/ 11 h 19"/>
                <a:gd name="T82" fmla="*/ 12 w 20"/>
                <a:gd name="T83" fmla="*/ 11 h 19"/>
                <a:gd name="T84" fmla="*/ 16 w 20"/>
                <a:gd name="T85" fmla="*/ 8 h 19"/>
                <a:gd name="T86" fmla="*/ 16 w 20"/>
                <a:gd name="T87" fmla="*/ 8 h 19"/>
                <a:gd name="T88" fmla="*/ 16 w 20"/>
                <a:gd name="T89" fmla="*/ 8 h 19"/>
                <a:gd name="T90" fmla="*/ 16 w 20"/>
                <a:gd name="T91" fmla="*/ 4 h 19"/>
                <a:gd name="T92" fmla="*/ 16 w 20"/>
                <a:gd name="T93" fmla="*/ 4 h 19"/>
                <a:gd name="T94" fmla="*/ 16 w 20"/>
                <a:gd name="T95" fmla="*/ 4 h 19"/>
                <a:gd name="T96" fmla="*/ 16 w 20"/>
                <a:gd name="T97" fmla="*/ 0 h 19"/>
                <a:gd name="T98" fmla="*/ 16 w 20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0"/>
                <a:gd name="T151" fmla="*/ 0 h 19"/>
                <a:gd name="T152" fmla="*/ 20 w 20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0" h="19">
                  <a:moveTo>
                    <a:pt x="16" y="0"/>
                  </a:moveTo>
                  <a:lnTo>
                    <a:pt x="16" y="0"/>
                  </a:lnTo>
                  <a:lnTo>
                    <a:pt x="20" y="4"/>
                  </a:lnTo>
                  <a:lnTo>
                    <a:pt x="20" y="11"/>
                  </a:lnTo>
                  <a:lnTo>
                    <a:pt x="12" y="15"/>
                  </a:lnTo>
                  <a:lnTo>
                    <a:pt x="4" y="19"/>
                  </a:lnTo>
                  <a:lnTo>
                    <a:pt x="0" y="11"/>
                  </a:lnTo>
                  <a:lnTo>
                    <a:pt x="4" y="4"/>
                  </a:lnTo>
                  <a:lnTo>
                    <a:pt x="8" y="0"/>
                  </a:lnTo>
                  <a:lnTo>
                    <a:pt x="16" y="0"/>
                  </a:lnTo>
                  <a:close/>
                  <a:moveTo>
                    <a:pt x="16" y="0"/>
                  </a:moveTo>
                  <a:lnTo>
                    <a:pt x="16" y="0"/>
                  </a:lnTo>
                  <a:lnTo>
                    <a:pt x="12" y="4"/>
                  </a:lnTo>
                  <a:lnTo>
                    <a:pt x="8" y="8"/>
                  </a:lnTo>
                  <a:lnTo>
                    <a:pt x="4" y="11"/>
                  </a:lnTo>
                  <a:lnTo>
                    <a:pt x="8" y="15"/>
                  </a:lnTo>
                  <a:lnTo>
                    <a:pt x="12" y="11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6" name="Freeform 712"/>
            <p:cNvSpPr>
              <a:spLocks/>
            </p:cNvSpPr>
            <p:nvPr/>
          </p:nvSpPr>
          <p:spPr bwMode="auto">
            <a:xfrm>
              <a:off x="4177" y="2690"/>
              <a:ext cx="15" cy="19"/>
            </a:xfrm>
            <a:custGeom>
              <a:avLst/>
              <a:gdLst>
                <a:gd name="T0" fmla="*/ 11 w 15"/>
                <a:gd name="T1" fmla="*/ 7 h 19"/>
                <a:gd name="T2" fmla="*/ 15 w 15"/>
                <a:gd name="T3" fmla="*/ 11 h 19"/>
                <a:gd name="T4" fmla="*/ 15 w 15"/>
                <a:gd name="T5" fmla="*/ 11 h 19"/>
                <a:gd name="T6" fmla="*/ 15 w 15"/>
                <a:gd name="T7" fmla="*/ 11 h 19"/>
                <a:gd name="T8" fmla="*/ 15 w 15"/>
                <a:gd name="T9" fmla="*/ 11 h 19"/>
                <a:gd name="T10" fmla="*/ 15 w 15"/>
                <a:gd name="T11" fmla="*/ 11 h 19"/>
                <a:gd name="T12" fmla="*/ 15 w 15"/>
                <a:gd name="T13" fmla="*/ 11 h 19"/>
                <a:gd name="T14" fmla="*/ 15 w 15"/>
                <a:gd name="T15" fmla="*/ 11 h 19"/>
                <a:gd name="T16" fmla="*/ 15 w 15"/>
                <a:gd name="T17" fmla="*/ 11 h 19"/>
                <a:gd name="T18" fmla="*/ 15 w 15"/>
                <a:gd name="T19" fmla="*/ 11 h 19"/>
                <a:gd name="T20" fmla="*/ 15 w 15"/>
                <a:gd name="T21" fmla="*/ 11 h 19"/>
                <a:gd name="T22" fmla="*/ 15 w 15"/>
                <a:gd name="T23" fmla="*/ 11 h 19"/>
                <a:gd name="T24" fmla="*/ 15 w 15"/>
                <a:gd name="T25" fmla="*/ 11 h 19"/>
                <a:gd name="T26" fmla="*/ 15 w 15"/>
                <a:gd name="T27" fmla="*/ 11 h 19"/>
                <a:gd name="T28" fmla="*/ 15 w 15"/>
                <a:gd name="T29" fmla="*/ 11 h 19"/>
                <a:gd name="T30" fmla="*/ 8 w 15"/>
                <a:gd name="T31" fmla="*/ 11 h 19"/>
                <a:gd name="T32" fmla="*/ 8 w 15"/>
                <a:gd name="T33" fmla="*/ 11 h 19"/>
                <a:gd name="T34" fmla="*/ 4 w 15"/>
                <a:gd name="T35" fmla="*/ 15 h 19"/>
                <a:gd name="T36" fmla="*/ 4 w 15"/>
                <a:gd name="T37" fmla="*/ 15 h 19"/>
                <a:gd name="T38" fmla="*/ 4 w 15"/>
                <a:gd name="T39" fmla="*/ 15 h 19"/>
                <a:gd name="T40" fmla="*/ 4 w 15"/>
                <a:gd name="T41" fmla="*/ 19 h 19"/>
                <a:gd name="T42" fmla="*/ 4 w 15"/>
                <a:gd name="T43" fmla="*/ 19 h 19"/>
                <a:gd name="T44" fmla="*/ 4 w 15"/>
                <a:gd name="T45" fmla="*/ 19 h 19"/>
                <a:gd name="T46" fmla="*/ 4 w 15"/>
                <a:gd name="T47" fmla="*/ 19 h 19"/>
                <a:gd name="T48" fmla="*/ 4 w 15"/>
                <a:gd name="T49" fmla="*/ 19 h 19"/>
                <a:gd name="T50" fmla="*/ 4 w 15"/>
                <a:gd name="T51" fmla="*/ 19 h 19"/>
                <a:gd name="T52" fmla="*/ 0 w 15"/>
                <a:gd name="T53" fmla="*/ 15 h 19"/>
                <a:gd name="T54" fmla="*/ 0 w 15"/>
                <a:gd name="T55" fmla="*/ 15 h 19"/>
                <a:gd name="T56" fmla="*/ 0 w 15"/>
                <a:gd name="T57" fmla="*/ 15 h 19"/>
                <a:gd name="T58" fmla="*/ 0 w 15"/>
                <a:gd name="T59" fmla="*/ 15 h 19"/>
                <a:gd name="T60" fmla="*/ 0 w 15"/>
                <a:gd name="T61" fmla="*/ 15 h 19"/>
                <a:gd name="T62" fmla="*/ 4 w 15"/>
                <a:gd name="T63" fmla="*/ 11 h 19"/>
                <a:gd name="T64" fmla="*/ 4 w 15"/>
                <a:gd name="T65" fmla="*/ 11 h 19"/>
                <a:gd name="T66" fmla="*/ 0 w 15"/>
                <a:gd name="T67" fmla="*/ 7 h 19"/>
                <a:gd name="T68" fmla="*/ 0 w 15"/>
                <a:gd name="T69" fmla="*/ 7 h 19"/>
                <a:gd name="T70" fmla="*/ 0 w 15"/>
                <a:gd name="T71" fmla="*/ 7 h 19"/>
                <a:gd name="T72" fmla="*/ 0 w 15"/>
                <a:gd name="T73" fmla="*/ 7 h 19"/>
                <a:gd name="T74" fmla="*/ 0 w 15"/>
                <a:gd name="T75" fmla="*/ 7 h 19"/>
                <a:gd name="T76" fmla="*/ 0 w 15"/>
                <a:gd name="T77" fmla="*/ 7 h 19"/>
                <a:gd name="T78" fmla="*/ 0 w 15"/>
                <a:gd name="T79" fmla="*/ 7 h 19"/>
                <a:gd name="T80" fmla="*/ 0 w 15"/>
                <a:gd name="T81" fmla="*/ 7 h 19"/>
                <a:gd name="T82" fmla="*/ 0 w 15"/>
                <a:gd name="T83" fmla="*/ 7 h 19"/>
                <a:gd name="T84" fmla="*/ 0 w 15"/>
                <a:gd name="T85" fmla="*/ 7 h 19"/>
                <a:gd name="T86" fmla="*/ 0 w 15"/>
                <a:gd name="T87" fmla="*/ 7 h 19"/>
                <a:gd name="T88" fmla="*/ 0 w 15"/>
                <a:gd name="T89" fmla="*/ 7 h 19"/>
                <a:gd name="T90" fmla="*/ 0 w 15"/>
                <a:gd name="T91" fmla="*/ 7 h 19"/>
                <a:gd name="T92" fmla="*/ 8 w 15"/>
                <a:gd name="T93" fmla="*/ 7 h 19"/>
                <a:gd name="T94" fmla="*/ 8 w 15"/>
                <a:gd name="T95" fmla="*/ 7 h 19"/>
                <a:gd name="T96" fmla="*/ 8 w 15"/>
                <a:gd name="T97" fmla="*/ 4 h 19"/>
                <a:gd name="T98" fmla="*/ 8 w 15"/>
                <a:gd name="T99" fmla="*/ 4 h 19"/>
                <a:gd name="T100" fmla="*/ 8 w 15"/>
                <a:gd name="T101" fmla="*/ 4 h 19"/>
                <a:gd name="T102" fmla="*/ 11 w 15"/>
                <a:gd name="T103" fmla="*/ 0 h 19"/>
                <a:gd name="T104" fmla="*/ 11 w 15"/>
                <a:gd name="T105" fmla="*/ 0 h 19"/>
                <a:gd name="T106" fmla="*/ 11 w 15"/>
                <a:gd name="T107" fmla="*/ 0 h 19"/>
                <a:gd name="T108" fmla="*/ 11 w 15"/>
                <a:gd name="T109" fmla="*/ 0 h 19"/>
                <a:gd name="T110" fmla="*/ 11 w 15"/>
                <a:gd name="T111" fmla="*/ 0 h 19"/>
                <a:gd name="T112" fmla="*/ 11 w 15"/>
                <a:gd name="T113" fmla="*/ 0 h 19"/>
                <a:gd name="T114" fmla="*/ 11 w 15"/>
                <a:gd name="T115" fmla="*/ 4 h 19"/>
                <a:gd name="T116" fmla="*/ 11 w 15"/>
                <a:gd name="T117" fmla="*/ 4 h 19"/>
                <a:gd name="T118" fmla="*/ 11 w 15"/>
                <a:gd name="T119" fmla="*/ 4 h 19"/>
                <a:gd name="T120" fmla="*/ 11 w 15"/>
                <a:gd name="T121" fmla="*/ 4 h 19"/>
                <a:gd name="T122" fmla="*/ 11 w 15"/>
                <a:gd name="T123" fmla="*/ 4 h 19"/>
                <a:gd name="T124" fmla="*/ 11 w 15"/>
                <a:gd name="T125" fmla="*/ 7 h 1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5"/>
                <a:gd name="T190" fmla="*/ 0 h 19"/>
                <a:gd name="T191" fmla="*/ 15 w 15"/>
                <a:gd name="T192" fmla="*/ 19 h 1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5" h="19">
                  <a:moveTo>
                    <a:pt x="11" y="7"/>
                  </a:moveTo>
                  <a:lnTo>
                    <a:pt x="15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0" y="7"/>
                  </a:lnTo>
                  <a:lnTo>
                    <a:pt x="8" y="7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1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7" name="Freeform 713"/>
            <p:cNvSpPr>
              <a:spLocks/>
            </p:cNvSpPr>
            <p:nvPr/>
          </p:nvSpPr>
          <p:spPr bwMode="auto">
            <a:xfrm>
              <a:off x="4043" y="2658"/>
              <a:ext cx="27" cy="24"/>
            </a:xfrm>
            <a:custGeom>
              <a:avLst/>
              <a:gdLst>
                <a:gd name="T0" fmla="*/ 27 w 27"/>
                <a:gd name="T1" fmla="*/ 8 h 24"/>
                <a:gd name="T2" fmla="*/ 27 w 27"/>
                <a:gd name="T3" fmla="*/ 8 h 24"/>
                <a:gd name="T4" fmla="*/ 27 w 27"/>
                <a:gd name="T5" fmla="*/ 8 h 24"/>
                <a:gd name="T6" fmla="*/ 27 w 27"/>
                <a:gd name="T7" fmla="*/ 8 h 24"/>
                <a:gd name="T8" fmla="*/ 27 w 27"/>
                <a:gd name="T9" fmla="*/ 12 h 24"/>
                <a:gd name="T10" fmla="*/ 27 w 27"/>
                <a:gd name="T11" fmla="*/ 12 h 24"/>
                <a:gd name="T12" fmla="*/ 27 w 27"/>
                <a:gd name="T13" fmla="*/ 12 h 24"/>
                <a:gd name="T14" fmla="*/ 27 w 27"/>
                <a:gd name="T15" fmla="*/ 16 h 24"/>
                <a:gd name="T16" fmla="*/ 27 w 27"/>
                <a:gd name="T17" fmla="*/ 16 h 24"/>
                <a:gd name="T18" fmla="*/ 15 w 27"/>
                <a:gd name="T19" fmla="*/ 12 h 24"/>
                <a:gd name="T20" fmla="*/ 19 w 27"/>
                <a:gd name="T21" fmla="*/ 20 h 24"/>
                <a:gd name="T22" fmla="*/ 19 w 27"/>
                <a:gd name="T23" fmla="*/ 20 h 24"/>
                <a:gd name="T24" fmla="*/ 19 w 27"/>
                <a:gd name="T25" fmla="*/ 20 h 24"/>
                <a:gd name="T26" fmla="*/ 19 w 27"/>
                <a:gd name="T27" fmla="*/ 20 h 24"/>
                <a:gd name="T28" fmla="*/ 15 w 27"/>
                <a:gd name="T29" fmla="*/ 20 h 24"/>
                <a:gd name="T30" fmla="*/ 15 w 27"/>
                <a:gd name="T31" fmla="*/ 24 h 24"/>
                <a:gd name="T32" fmla="*/ 12 w 27"/>
                <a:gd name="T33" fmla="*/ 24 h 24"/>
                <a:gd name="T34" fmla="*/ 12 w 27"/>
                <a:gd name="T35" fmla="*/ 24 h 24"/>
                <a:gd name="T36" fmla="*/ 12 w 27"/>
                <a:gd name="T37" fmla="*/ 24 h 24"/>
                <a:gd name="T38" fmla="*/ 12 w 27"/>
                <a:gd name="T39" fmla="*/ 16 h 24"/>
                <a:gd name="T40" fmla="*/ 4 w 27"/>
                <a:gd name="T41" fmla="*/ 20 h 24"/>
                <a:gd name="T42" fmla="*/ 4 w 27"/>
                <a:gd name="T43" fmla="*/ 20 h 24"/>
                <a:gd name="T44" fmla="*/ 4 w 27"/>
                <a:gd name="T45" fmla="*/ 20 h 24"/>
                <a:gd name="T46" fmla="*/ 4 w 27"/>
                <a:gd name="T47" fmla="*/ 20 h 24"/>
                <a:gd name="T48" fmla="*/ 4 w 27"/>
                <a:gd name="T49" fmla="*/ 20 h 24"/>
                <a:gd name="T50" fmla="*/ 4 w 27"/>
                <a:gd name="T51" fmla="*/ 16 h 24"/>
                <a:gd name="T52" fmla="*/ 0 w 27"/>
                <a:gd name="T53" fmla="*/ 16 h 24"/>
                <a:gd name="T54" fmla="*/ 0 w 27"/>
                <a:gd name="T55" fmla="*/ 16 h 24"/>
                <a:gd name="T56" fmla="*/ 4 w 27"/>
                <a:gd name="T57" fmla="*/ 16 h 24"/>
                <a:gd name="T58" fmla="*/ 12 w 27"/>
                <a:gd name="T59" fmla="*/ 12 h 24"/>
                <a:gd name="T60" fmla="*/ 4 w 27"/>
                <a:gd name="T61" fmla="*/ 8 h 24"/>
                <a:gd name="T62" fmla="*/ 4 w 27"/>
                <a:gd name="T63" fmla="*/ 8 h 24"/>
                <a:gd name="T64" fmla="*/ 4 w 27"/>
                <a:gd name="T65" fmla="*/ 8 h 24"/>
                <a:gd name="T66" fmla="*/ 4 w 27"/>
                <a:gd name="T67" fmla="*/ 8 h 24"/>
                <a:gd name="T68" fmla="*/ 4 w 27"/>
                <a:gd name="T69" fmla="*/ 8 h 24"/>
                <a:gd name="T70" fmla="*/ 8 w 27"/>
                <a:gd name="T71" fmla="*/ 4 h 24"/>
                <a:gd name="T72" fmla="*/ 8 w 27"/>
                <a:gd name="T73" fmla="*/ 4 h 24"/>
                <a:gd name="T74" fmla="*/ 8 w 27"/>
                <a:gd name="T75" fmla="*/ 4 h 24"/>
                <a:gd name="T76" fmla="*/ 8 w 27"/>
                <a:gd name="T77" fmla="*/ 4 h 24"/>
                <a:gd name="T78" fmla="*/ 15 w 27"/>
                <a:gd name="T79" fmla="*/ 8 h 24"/>
                <a:gd name="T80" fmla="*/ 19 w 27"/>
                <a:gd name="T81" fmla="*/ 0 h 24"/>
                <a:gd name="T82" fmla="*/ 19 w 27"/>
                <a:gd name="T83" fmla="*/ 0 h 24"/>
                <a:gd name="T84" fmla="*/ 19 w 27"/>
                <a:gd name="T85" fmla="*/ 0 h 24"/>
                <a:gd name="T86" fmla="*/ 23 w 27"/>
                <a:gd name="T87" fmla="*/ 4 h 24"/>
                <a:gd name="T88" fmla="*/ 23 w 27"/>
                <a:gd name="T89" fmla="*/ 4 h 24"/>
                <a:gd name="T90" fmla="*/ 23 w 27"/>
                <a:gd name="T91" fmla="*/ 4 h 24"/>
                <a:gd name="T92" fmla="*/ 19 w 27"/>
                <a:gd name="T93" fmla="*/ 12 h 2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7"/>
                <a:gd name="T142" fmla="*/ 0 h 24"/>
                <a:gd name="T143" fmla="*/ 27 w 27"/>
                <a:gd name="T144" fmla="*/ 24 h 24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7" h="24">
                  <a:moveTo>
                    <a:pt x="19" y="12"/>
                  </a:moveTo>
                  <a:lnTo>
                    <a:pt x="27" y="8"/>
                  </a:lnTo>
                  <a:lnTo>
                    <a:pt x="27" y="12"/>
                  </a:lnTo>
                  <a:lnTo>
                    <a:pt x="27" y="16"/>
                  </a:lnTo>
                  <a:lnTo>
                    <a:pt x="23" y="16"/>
                  </a:lnTo>
                  <a:lnTo>
                    <a:pt x="15" y="12"/>
                  </a:lnTo>
                  <a:lnTo>
                    <a:pt x="19" y="20"/>
                  </a:lnTo>
                  <a:lnTo>
                    <a:pt x="15" y="20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12" y="20"/>
                  </a:lnTo>
                  <a:lnTo>
                    <a:pt x="12" y="16"/>
                  </a:lnTo>
                  <a:lnTo>
                    <a:pt x="4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2" y="12"/>
                  </a:lnTo>
                  <a:lnTo>
                    <a:pt x="4" y="8"/>
                  </a:lnTo>
                  <a:lnTo>
                    <a:pt x="8" y="4"/>
                  </a:lnTo>
                  <a:lnTo>
                    <a:pt x="15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23" y="4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8" name="Freeform 714"/>
            <p:cNvSpPr>
              <a:spLocks noEditPoints="1"/>
            </p:cNvSpPr>
            <p:nvPr/>
          </p:nvSpPr>
          <p:spPr bwMode="auto">
            <a:xfrm>
              <a:off x="4263" y="2705"/>
              <a:ext cx="36" cy="32"/>
            </a:xfrm>
            <a:custGeom>
              <a:avLst/>
              <a:gdLst>
                <a:gd name="T0" fmla="*/ 20 w 36"/>
                <a:gd name="T1" fmla="*/ 0 h 32"/>
                <a:gd name="T2" fmla="*/ 24 w 36"/>
                <a:gd name="T3" fmla="*/ 0 h 32"/>
                <a:gd name="T4" fmla="*/ 24 w 36"/>
                <a:gd name="T5" fmla="*/ 4 h 32"/>
                <a:gd name="T6" fmla="*/ 24 w 36"/>
                <a:gd name="T7" fmla="*/ 4 h 32"/>
                <a:gd name="T8" fmla="*/ 24 w 36"/>
                <a:gd name="T9" fmla="*/ 4 h 32"/>
                <a:gd name="T10" fmla="*/ 24 w 36"/>
                <a:gd name="T11" fmla="*/ 12 h 32"/>
                <a:gd name="T12" fmla="*/ 28 w 36"/>
                <a:gd name="T13" fmla="*/ 4 h 32"/>
                <a:gd name="T14" fmla="*/ 32 w 36"/>
                <a:gd name="T15" fmla="*/ 4 h 32"/>
                <a:gd name="T16" fmla="*/ 32 w 36"/>
                <a:gd name="T17" fmla="*/ 4 h 32"/>
                <a:gd name="T18" fmla="*/ 36 w 36"/>
                <a:gd name="T19" fmla="*/ 4 h 32"/>
                <a:gd name="T20" fmla="*/ 36 w 36"/>
                <a:gd name="T21" fmla="*/ 8 h 32"/>
                <a:gd name="T22" fmla="*/ 32 w 36"/>
                <a:gd name="T23" fmla="*/ 16 h 32"/>
                <a:gd name="T24" fmla="*/ 32 w 36"/>
                <a:gd name="T25" fmla="*/ 16 h 32"/>
                <a:gd name="T26" fmla="*/ 36 w 36"/>
                <a:gd name="T27" fmla="*/ 16 h 32"/>
                <a:gd name="T28" fmla="*/ 36 w 36"/>
                <a:gd name="T29" fmla="*/ 16 h 32"/>
                <a:gd name="T30" fmla="*/ 36 w 36"/>
                <a:gd name="T31" fmla="*/ 20 h 32"/>
                <a:gd name="T32" fmla="*/ 32 w 36"/>
                <a:gd name="T33" fmla="*/ 20 h 32"/>
                <a:gd name="T34" fmla="*/ 24 w 36"/>
                <a:gd name="T35" fmla="*/ 20 h 32"/>
                <a:gd name="T36" fmla="*/ 32 w 36"/>
                <a:gd name="T37" fmla="*/ 24 h 32"/>
                <a:gd name="T38" fmla="*/ 32 w 36"/>
                <a:gd name="T39" fmla="*/ 24 h 32"/>
                <a:gd name="T40" fmla="*/ 32 w 36"/>
                <a:gd name="T41" fmla="*/ 24 h 32"/>
                <a:gd name="T42" fmla="*/ 32 w 36"/>
                <a:gd name="T43" fmla="*/ 24 h 32"/>
                <a:gd name="T44" fmla="*/ 28 w 36"/>
                <a:gd name="T45" fmla="*/ 24 h 32"/>
                <a:gd name="T46" fmla="*/ 20 w 36"/>
                <a:gd name="T47" fmla="*/ 32 h 32"/>
                <a:gd name="T48" fmla="*/ 16 w 36"/>
                <a:gd name="T49" fmla="*/ 32 h 32"/>
                <a:gd name="T50" fmla="*/ 16 w 36"/>
                <a:gd name="T51" fmla="*/ 32 h 32"/>
                <a:gd name="T52" fmla="*/ 12 w 36"/>
                <a:gd name="T53" fmla="*/ 32 h 32"/>
                <a:gd name="T54" fmla="*/ 12 w 36"/>
                <a:gd name="T55" fmla="*/ 28 h 32"/>
                <a:gd name="T56" fmla="*/ 12 w 36"/>
                <a:gd name="T57" fmla="*/ 28 h 32"/>
                <a:gd name="T58" fmla="*/ 12 w 36"/>
                <a:gd name="T59" fmla="*/ 20 h 32"/>
                <a:gd name="T60" fmla="*/ 8 w 36"/>
                <a:gd name="T61" fmla="*/ 28 h 32"/>
                <a:gd name="T62" fmla="*/ 8 w 36"/>
                <a:gd name="T63" fmla="*/ 28 h 32"/>
                <a:gd name="T64" fmla="*/ 4 w 36"/>
                <a:gd name="T65" fmla="*/ 28 h 32"/>
                <a:gd name="T66" fmla="*/ 0 w 36"/>
                <a:gd name="T67" fmla="*/ 28 h 32"/>
                <a:gd name="T68" fmla="*/ 0 w 36"/>
                <a:gd name="T69" fmla="*/ 24 h 32"/>
                <a:gd name="T70" fmla="*/ 8 w 36"/>
                <a:gd name="T71" fmla="*/ 20 h 32"/>
                <a:gd name="T72" fmla="*/ 4 w 36"/>
                <a:gd name="T73" fmla="*/ 16 h 32"/>
                <a:gd name="T74" fmla="*/ 0 w 36"/>
                <a:gd name="T75" fmla="*/ 16 h 32"/>
                <a:gd name="T76" fmla="*/ 0 w 36"/>
                <a:gd name="T77" fmla="*/ 16 h 32"/>
                <a:gd name="T78" fmla="*/ 4 w 36"/>
                <a:gd name="T79" fmla="*/ 16 h 32"/>
                <a:gd name="T80" fmla="*/ 4 w 36"/>
                <a:gd name="T81" fmla="*/ 16 h 32"/>
                <a:gd name="T82" fmla="*/ 12 w 36"/>
                <a:gd name="T83" fmla="*/ 12 h 32"/>
                <a:gd name="T84" fmla="*/ 8 w 36"/>
                <a:gd name="T85" fmla="*/ 12 h 32"/>
                <a:gd name="T86" fmla="*/ 4 w 36"/>
                <a:gd name="T87" fmla="*/ 8 h 32"/>
                <a:gd name="T88" fmla="*/ 4 w 36"/>
                <a:gd name="T89" fmla="*/ 8 h 32"/>
                <a:gd name="T90" fmla="*/ 4 w 36"/>
                <a:gd name="T91" fmla="*/ 8 h 32"/>
                <a:gd name="T92" fmla="*/ 8 w 36"/>
                <a:gd name="T93" fmla="*/ 8 h 32"/>
                <a:gd name="T94" fmla="*/ 20 w 36"/>
                <a:gd name="T95" fmla="*/ 0 h 32"/>
                <a:gd name="T96" fmla="*/ 20 w 36"/>
                <a:gd name="T97" fmla="*/ 20 h 32"/>
                <a:gd name="T98" fmla="*/ 16 w 36"/>
                <a:gd name="T99" fmla="*/ 12 h 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"/>
                <a:gd name="T151" fmla="*/ 0 h 32"/>
                <a:gd name="T152" fmla="*/ 36 w 36"/>
                <a:gd name="T153" fmla="*/ 32 h 32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" h="32">
                  <a:moveTo>
                    <a:pt x="20" y="0"/>
                  </a:moveTo>
                  <a:lnTo>
                    <a:pt x="20" y="0"/>
                  </a:lnTo>
                  <a:lnTo>
                    <a:pt x="24" y="0"/>
                  </a:lnTo>
                  <a:lnTo>
                    <a:pt x="24" y="4"/>
                  </a:lnTo>
                  <a:lnTo>
                    <a:pt x="20" y="12"/>
                  </a:lnTo>
                  <a:lnTo>
                    <a:pt x="24" y="12"/>
                  </a:lnTo>
                  <a:lnTo>
                    <a:pt x="28" y="4"/>
                  </a:lnTo>
                  <a:lnTo>
                    <a:pt x="32" y="4"/>
                  </a:lnTo>
                  <a:lnTo>
                    <a:pt x="36" y="4"/>
                  </a:lnTo>
                  <a:lnTo>
                    <a:pt x="36" y="8"/>
                  </a:lnTo>
                  <a:lnTo>
                    <a:pt x="32" y="16"/>
                  </a:lnTo>
                  <a:lnTo>
                    <a:pt x="36" y="16"/>
                  </a:lnTo>
                  <a:lnTo>
                    <a:pt x="36" y="20"/>
                  </a:lnTo>
                  <a:lnTo>
                    <a:pt x="32" y="20"/>
                  </a:lnTo>
                  <a:lnTo>
                    <a:pt x="28" y="16"/>
                  </a:lnTo>
                  <a:lnTo>
                    <a:pt x="24" y="20"/>
                  </a:lnTo>
                  <a:lnTo>
                    <a:pt x="32" y="24"/>
                  </a:lnTo>
                  <a:lnTo>
                    <a:pt x="28" y="24"/>
                  </a:lnTo>
                  <a:lnTo>
                    <a:pt x="24" y="24"/>
                  </a:lnTo>
                  <a:lnTo>
                    <a:pt x="20" y="32"/>
                  </a:lnTo>
                  <a:lnTo>
                    <a:pt x="16" y="32"/>
                  </a:lnTo>
                  <a:lnTo>
                    <a:pt x="12" y="32"/>
                  </a:lnTo>
                  <a:lnTo>
                    <a:pt x="12" y="2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28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8" y="2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2"/>
                  </a:lnTo>
                  <a:lnTo>
                    <a:pt x="8" y="12"/>
                  </a:lnTo>
                  <a:lnTo>
                    <a:pt x="4" y="8"/>
                  </a:lnTo>
                  <a:lnTo>
                    <a:pt x="8" y="8"/>
                  </a:lnTo>
                  <a:lnTo>
                    <a:pt x="12" y="8"/>
                  </a:lnTo>
                  <a:lnTo>
                    <a:pt x="20" y="0"/>
                  </a:lnTo>
                  <a:close/>
                  <a:moveTo>
                    <a:pt x="16" y="16"/>
                  </a:moveTo>
                  <a:lnTo>
                    <a:pt x="20" y="20"/>
                  </a:lnTo>
                  <a:lnTo>
                    <a:pt x="24" y="16"/>
                  </a:lnTo>
                  <a:lnTo>
                    <a:pt x="16" y="12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29" name="Freeform 715"/>
            <p:cNvSpPr>
              <a:spLocks/>
            </p:cNvSpPr>
            <p:nvPr/>
          </p:nvSpPr>
          <p:spPr bwMode="auto">
            <a:xfrm>
              <a:off x="3365" y="2760"/>
              <a:ext cx="1111" cy="323"/>
            </a:xfrm>
            <a:custGeom>
              <a:avLst/>
              <a:gdLst>
                <a:gd name="T0" fmla="*/ 0 w 1111"/>
                <a:gd name="T1" fmla="*/ 32 h 323"/>
                <a:gd name="T2" fmla="*/ 12 w 1111"/>
                <a:gd name="T3" fmla="*/ 0 h 323"/>
                <a:gd name="T4" fmla="*/ 12 w 1111"/>
                <a:gd name="T5" fmla="*/ 0 h 323"/>
                <a:gd name="T6" fmla="*/ 16 w 1111"/>
                <a:gd name="T7" fmla="*/ 8 h 323"/>
                <a:gd name="T8" fmla="*/ 36 w 1111"/>
                <a:gd name="T9" fmla="*/ 24 h 323"/>
                <a:gd name="T10" fmla="*/ 51 w 1111"/>
                <a:gd name="T11" fmla="*/ 32 h 323"/>
                <a:gd name="T12" fmla="*/ 67 w 1111"/>
                <a:gd name="T13" fmla="*/ 40 h 323"/>
                <a:gd name="T14" fmla="*/ 91 w 1111"/>
                <a:gd name="T15" fmla="*/ 48 h 323"/>
                <a:gd name="T16" fmla="*/ 118 w 1111"/>
                <a:gd name="T17" fmla="*/ 48 h 323"/>
                <a:gd name="T18" fmla="*/ 118 w 1111"/>
                <a:gd name="T19" fmla="*/ 48 h 323"/>
                <a:gd name="T20" fmla="*/ 174 w 1111"/>
                <a:gd name="T21" fmla="*/ 48 h 323"/>
                <a:gd name="T22" fmla="*/ 225 w 1111"/>
                <a:gd name="T23" fmla="*/ 40 h 323"/>
                <a:gd name="T24" fmla="*/ 272 w 1111"/>
                <a:gd name="T25" fmla="*/ 32 h 323"/>
                <a:gd name="T26" fmla="*/ 1111 w 1111"/>
                <a:gd name="T27" fmla="*/ 276 h 323"/>
                <a:gd name="T28" fmla="*/ 1111 w 1111"/>
                <a:gd name="T29" fmla="*/ 323 h 323"/>
                <a:gd name="T30" fmla="*/ 0 w 1111"/>
                <a:gd name="T31" fmla="*/ 32 h 32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11"/>
                <a:gd name="T49" fmla="*/ 0 h 323"/>
                <a:gd name="T50" fmla="*/ 1111 w 1111"/>
                <a:gd name="T51" fmla="*/ 323 h 323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11" h="323">
                  <a:moveTo>
                    <a:pt x="0" y="32"/>
                  </a:moveTo>
                  <a:lnTo>
                    <a:pt x="12" y="0"/>
                  </a:lnTo>
                  <a:lnTo>
                    <a:pt x="16" y="8"/>
                  </a:lnTo>
                  <a:lnTo>
                    <a:pt x="36" y="24"/>
                  </a:lnTo>
                  <a:lnTo>
                    <a:pt x="51" y="32"/>
                  </a:lnTo>
                  <a:lnTo>
                    <a:pt x="67" y="40"/>
                  </a:lnTo>
                  <a:lnTo>
                    <a:pt x="91" y="48"/>
                  </a:lnTo>
                  <a:lnTo>
                    <a:pt x="118" y="48"/>
                  </a:lnTo>
                  <a:lnTo>
                    <a:pt x="174" y="48"/>
                  </a:lnTo>
                  <a:lnTo>
                    <a:pt x="225" y="40"/>
                  </a:lnTo>
                  <a:lnTo>
                    <a:pt x="272" y="32"/>
                  </a:lnTo>
                  <a:lnTo>
                    <a:pt x="1111" y="276"/>
                  </a:lnTo>
                  <a:lnTo>
                    <a:pt x="1111" y="323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21E3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930" name="Freeform 716"/>
            <p:cNvSpPr>
              <a:spLocks/>
            </p:cNvSpPr>
            <p:nvPr/>
          </p:nvSpPr>
          <p:spPr bwMode="auto">
            <a:xfrm>
              <a:off x="2936" y="2611"/>
              <a:ext cx="524" cy="401"/>
            </a:xfrm>
            <a:custGeom>
              <a:avLst/>
              <a:gdLst>
                <a:gd name="T0" fmla="*/ 476 w 524"/>
                <a:gd name="T1" fmla="*/ 157 h 401"/>
                <a:gd name="T2" fmla="*/ 433 w 524"/>
                <a:gd name="T3" fmla="*/ 216 h 401"/>
                <a:gd name="T4" fmla="*/ 386 w 524"/>
                <a:gd name="T5" fmla="*/ 268 h 401"/>
                <a:gd name="T6" fmla="*/ 319 w 524"/>
                <a:gd name="T7" fmla="*/ 315 h 401"/>
                <a:gd name="T8" fmla="*/ 248 w 524"/>
                <a:gd name="T9" fmla="*/ 335 h 401"/>
                <a:gd name="T10" fmla="*/ 177 w 524"/>
                <a:gd name="T11" fmla="*/ 331 h 401"/>
                <a:gd name="T12" fmla="*/ 98 w 524"/>
                <a:gd name="T13" fmla="*/ 311 h 401"/>
                <a:gd name="T14" fmla="*/ 79 w 524"/>
                <a:gd name="T15" fmla="*/ 299 h 401"/>
                <a:gd name="T16" fmla="*/ 59 w 524"/>
                <a:gd name="T17" fmla="*/ 279 h 401"/>
                <a:gd name="T18" fmla="*/ 63 w 524"/>
                <a:gd name="T19" fmla="*/ 252 h 401"/>
                <a:gd name="T20" fmla="*/ 94 w 524"/>
                <a:gd name="T21" fmla="*/ 216 h 401"/>
                <a:gd name="T22" fmla="*/ 165 w 524"/>
                <a:gd name="T23" fmla="*/ 169 h 401"/>
                <a:gd name="T24" fmla="*/ 224 w 524"/>
                <a:gd name="T25" fmla="*/ 142 h 401"/>
                <a:gd name="T26" fmla="*/ 323 w 524"/>
                <a:gd name="T27" fmla="*/ 90 h 401"/>
                <a:gd name="T28" fmla="*/ 382 w 524"/>
                <a:gd name="T29" fmla="*/ 71 h 401"/>
                <a:gd name="T30" fmla="*/ 433 w 524"/>
                <a:gd name="T31" fmla="*/ 67 h 401"/>
                <a:gd name="T32" fmla="*/ 441 w 524"/>
                <a:gd name="T33" fmla="*/ 67 h 401"/>
                <a:gd name="T34" fmla="*/ 449 w 524"/>
                <a:gd name="T35" fmla="*/ 51 h 401"/>
                <a:gd name="T36" fmla="*/ 445 w 524"/>
                <a:gd name="T37" fmla="*/ 27 h 401"/>
                <a:gd name="T38" fmla="*/ 429 w 524"/>
                <a:gd name="T39" fmla="*/ 8 h 401"/>
                <a:gd name="T40" fmla="*/ 417 w 524"/>
                <a:gd name="T41" fmla="*/ 4 h 401"/>
                <a:gd name="T42" fmla="*/ 347 w 524"/>
                <a:gd name="T43" fmla="*/ 8 h 401"/>
                <a:gd name="T44" fmla="*/ 268 w 524"/>
                <a:gd name="T45" fmla="*/ 35 h 401"/>
                <a:gd name="T46" fmla="*/ 130 w 524"/>
                <a:gd name="T47" fmla="*/ 106 h 401"/>
                <a:gd name="T48" fmla="*/ 102 w 524"/>
                <a:gd name="T49" fmla="*/ 126 h 401"/>
                <a:gd name="T50" fmla="*/ 47 w 524"/>
                <a:gd name="T51" fmla="*/ 165 h 401"/>
                <a:gd name="T52" fmla="*/ 8 w 524"/>
                <a:gd name="T53" fmla="*/ 220 h 401"/>
                <a:gd name="T54" fmla="*/ 0 w 524"/>
                <a:gd name="T55" fmla="*/ 248 h 401"/>
                <a:gd name="T56" fmla="*/ 4 w 524"/>
                <a:gd name="T57" fmla="*/ 279 h 401"/>
                <a:gd name="T58" fmla="*/ 20 w 524"/>
                <a:gd name="T59" fmla="*/ 311 h 401"/>
                <a:gd name="T60" fmla="*/ 51 w 524"/>
                <a:gd name="T61" fmla="*/ 342 h 401"/>
                <a:gd name="T62" fmla="*/ 126 w 524"/>
                <a:gd name="T63" fmla="*/ 382 h 401"/>
                <a:gd name="T64" fmla="*/ 213 w 524"/>
                <a:gd name="T65" fmla="*/ 401 h 401"/>
                <a:gd name="T66" fmla="*/ 295 w 524"/>
                <a:gd name="T67" fmla="*/ 398 h 401"/>
                <a:gd name="T68" fmla="*/ 335 w 524"/>
                <a:gd name="T69" fmla="*/ 386 h 401"/>
                <a:gd name="T70" fmla="*/ 390 w 524"/>
                <a:gd name="T71" fmla="*/ 358 h 401"/>
                <a:gd name="T72" fmla="*/ 441 w 524"/>
                <a:gd name="T73" fmla="*/ 315 h 401"/>
                <a:gd name="T74" fmla="*/ 520 w 524"/>
                <a:gd name="T75" fmla="*/ 209 h 401"/>
                <a:gd name="T76" fmla="*/ 524 w 524"/>
                <a:gd name="T77" fmla="*/ 201 h 401"/>
                <a:gd name="T78" fmla="*/ 516 w 524"/>
                <a:gd name="T79" fmla="*/ 177 h 401"/>
                <a:gd name="T80" fmla="*/ 500 w 524"/>
                <a:gd name="T81" fmla="*/ 157 h 401"/>
                <a:gd name="T82" fmla="*/ 484 w 524"/>
                <a:gd name="T83" fmla="*/ 149 h 401"/>
                <a:gd name="T84" fmla="*/ 476 w 524"/>
                <a:gd name="T85" fmla="*/ 157 h 40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24"/>
                <a:gd name="T130" fmla="*/ 0 h 401"/>
                <a:gd name="T131" fmla="*/ 524 w 524"/>
                <a:gd name="T132" fmla="*/ 401 h 40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24" h="401">
                  <a:moveTo>
                    <a:pt x="476" y="157"/>
                  </a:moveTo>
                  <a:lnTo>
                    <a:pt x="476" y="157"/>
                  </a:lnTo>
                  <a:lnTo>
                    <a:pt x="457" y="189"/>
                  </a:lnTo>
                  <a:lnTo>
                    <a:pt x="433" y="216"/>
                  </a:lnTo>
                  <a:lnTo>
                    <a:pt x="386" y="268"/>
                  </a:lnTo>
                  <a:lnTo>
                    <a:pt x="354" y="295"/>
                  </a:lnTo>
                  <a:lnTo>
                    <a:pt x="319" y="315"/>
                  </a:lnTo>
                  <a:lnTo>
                    <a:pt x="283" y="327"/>
                  </a:lnTo>
                  <a:lnTo>
                    <a:pt x="248" y="335"/>
                  </a:lnTo>
                  <a:lnTo>
                    <a:pt x="213" y="335"/>
                  </a:lnTo>
                  <a:lnTo>
                    <a:pt x="177" y="331"/>
                  </a:lnTo>
                  <a:lnTo>
                    <a:pt x="138" y="323"/>
                  </a:lnTo>
                  <a:lnTo>
                    <a:pt x="98" y="311"/>
                  </a:lnTo>
                  <a:lnTo>
                    <a:pt x="79" y="299"/>
                  </a:lnTo>
                  <a:lnTo>
                    <a:pt x="67" y="287"/>
                  </a:lnTo>
                  <a:lnTo>
                    <a:pt x="59" y="279"/>
                  </a:lnTo>
                  <a:lnTo>
                    <a:pt x="59" y="268"/>
                  </a:lnTo>
                  <a:lnTo>
                    <a:pt x="63" y="252"/>
                  </a:lnTo>
                  <a:lnTo>
                    <a:pt x="71" y="240"/>
                  </a:lnTo>
                  <a:lnTo>
                    <a:pt x="94" y="216"/>
                  </a:lnTo>
                  <a:lnTo>
                    <a:pt x="130" y="193"/>
                  </a:lnTo>
                  <a:lnTo>
                    <a:pt x="165" y="169"/>
                  </a:lnTo>
                  <a:lnTo>
                    <a:pt x="224" y="142"/>
                  </a:lnTo>
                  <a:lnTo>
                    <a:pt x="268" y="114"/>
                  </a:lnTo>
                  <a:lnTo>
                    <a:pt x="323" y="90"/>
                  </a:lnTo>
                  <a:lnTo>
                    <a:pt x="350" y="79"/>
                  </a:lnTo>
                  <a:lnTo>
                    <a:pt x="382" y="71"/>
                  </a:lnTo>
                  <a:lnTo>
                    <a:pt x="406" y="67"/>
                  </a:lnTo>
                  <a:lnTo>
                    <a:pt x="433" y="67"/>
                  </a:lnTo>
                  <a:lnTo>
                    <a:pt x="441" y="67"/>
                  </a:lnTo>
                  <a:lnTo>
                    <a:pt x="449" y="59"/>
                  </a:lnTo>
                  <a:lnTo>
                    <a:pt x="449" y="51"/>
                  </a:lnTo>
                  <a:lnTo>
                    <a:pt x="449" y="39"/>
                  </a:lnTo>
                  <a:lnTo>
                    <a:pt x="445" y="27"/>
                  </a:lnTo>
                  <a:lnTo>
                    <a:pt x="437" y="16"/>
                  </a:lnTo>
                  <a:lnTo>
                    <a:pt x="429" y="8"/>
                  </a:lnTo>
                  <a:lnTo>
                    <a:pt x="417" y="4"/>
                  </a:lnTo>
                  <a:lnTo>
                    <a:pt x="382" y="0"/>
                  </a:lnTo>
                  <a:lnTo>
                    <a:pt x="347" y="8"/>
                  </a:lnTo>
                  <a:lnTo>
                    <a:pt x="307" y="20"/>
                  </a:lnTo>
                  <a:lnTo>
                    <a:pt x="268" y="35"/>
                  </a:lnTo>
                  <a:lnTo>
                    <a:pt x="193" y="71"/>
                  </a:lnTo>
                  <a:lnTo>
                    <a:pt x="130" y="106"/>
                  </a:lnTo>
                  <a:lnTo>
                    <a:pt x="102" y="126"/>
                  </a:lnTo>
                  <a:lnTo>
                    <a:pt x="75" y="142"/>
                  </a:lnTo>
                  <a:lnTo>
                    <a:pt x="47" y="165"/>
                  </a:lnTo>
                  <a:lnTo>
                    <a:pt x="24" y="193"/>
                  </a:lnTo>
                  <a:lnTo>
                    <a:pt x="8" y="220"/>
                  </a:lnTo>
                  <a:lnTo>
                    <a:pt x="0" y="232"/>
                  </a:lnTo>
                  <a:lnTo>
                    <a:pt x="0" y="248"/>
                  </a:lnTo>
                  <a:lnTo>
                    <a:pt x="0" y="264"/>
                  </a:lnTo>
                  <a:lnTo>
                    <a:pt x="4" y="279"/>
                  </a:lnTo>
                  <a:lnTo>
                    <a:pt x="8" y="295"/>
                  </a:lnTo>
                  <a:lnTo>
                    <a:pt x="20" y="311"/>
                  </a:lnTo>
                  <a:lnTo>
                    <a:pt x="51" y="342"/>
                  </a:lnTo>
                  <a:lnTo>
                    <a:pt x="87" y="366"/>
                  </a:lnTo>
                  <a:lnTo>
                    <a:pt x="126" y="382"/>
                  </a:lnTo>
                  <a:lnTo>
                    <a:pt x="169" y="394"/>
                  </a:lnTo>
                  <a:lnTo>
                    <a:pt x="213" y="401"/>
                  </a:lnTo>
                  <a:lnTo>
                    <a:pt x="256" y="401"/>
                  </a:lnTo>
                  <a:lnTo>
                    <a:pt x="295" y="398"/>
                  </a:lnTo>
                  <a:lnTo>
                    <a:pt x="335" y="386"/>
                  </a:lnTo>
                  <a:lnTo>
                    <a:pt x="366" y="374"/>
                  </a:lnTo>
                  <a:lnTo>
                    <a:pt x="390" y="358"/>
                  </a:lnTo>
                  <a:lnTo>
                    <a:pt x="417" y="338"/>
                  </a:lnTo>
                  <a:lnTo>
                    <a:pt x="441" y="315"/>
                  </a:lnTo>
                  <a:lnTo>
                    <a:pt x="484" y="264"/>
                  </a:lnTo>
                  <a:lnTo>
                    <a:pt x="520" y="209"/>
                  </a:lnTo>
                  <a:lnTo>
                    <a:pt x="524" y="201"/>
                  </a:lnTo>
                  <a:lnTo>
                    <a:pt x="524" y="189"/>
                  </a:lnTo>
                  <a:lnTo>
                    <a:pt x="516" y="177"/>
                  </a:lnTo>
                  <a:lnTo>
                    <a:pt x="508" y="165"/>
                  </a:lnTo>
                  <a:lnTo>
                    <a:pt x="500" y="157"/>
                  </a:lnTo>
                  <a:lnTo>
                    <a:pt x="492" y="149"/>
                  </a:lnTo>
                  <a:lnTo>
                    <a:pt x="484" y="149"/>
                  </a:lnTo>
                  <a:lnTo>
                    <a:pt x="476" y="1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7751" name="Text Box 717"/>
          <p:cNvSpPr txBox="1">
            <a:spLocks noChangeArrowheads="1"/>
          </p:cNvSpPr>
          <p:nvPr/>
        </p:nvSpPr>
        <p:spPr bwMode="auto">
          <a:xfrm flipH="1">
            <a:off x="1585913" y="5372100"/>
            <a:ext cx="430212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POTS</a:t>
            </a:r>
          </a:p>
          <a:p>
            <a:r>
              <a:rPr lang="en-US" altLang="ru-RU" sz="1000">
                <a:latin typeface="Times New Roman" pitchFamily="18" charset="0"/>
              </a:rPr>
              <a:t>ISDN</a:t>
            </a:r>
            <a:endParaRPr lang="ru-RU" altLang="ru-RU" sz="1000">
              <a:latin typeface="Times New Roman" pitchFamily="18" charset="0"/>
            </a:endParaRPr>
          </a:p>
        </p:txBody>
      </p:sp>
      <p:pic>
        <p:nvPicPr>
          <p:cNvPr id="27752" name="Picture 718" descr="ls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265863" y="5229225"/>
            <a:ext cx="5334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753" name="Picture 719" descr="CAGE40-front-door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26225" y="4508500"/>
            <a:ext cx="647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754" name="Text Box 720"/>
          <p:cNvSpPr txBox="1">
            <a:spLocks noChangeArrowheads="1"/>
          </p:cNvSpPr>
          <p:nvPr/>
        </p:nvSpPr>
        <p:spPr bwMode="auto">
          <a:xfrm flipH="1">
            <a:off x="2378075" y="4148138"/>
            <a:ext cx="288925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r>
              <a:rPr lang="en-US" altLang="ru-RU" sz="1000">
                <a:latin typeface="Times New Roman" pitchFamily="18" charset="0"/>
              </a:rPr>
              <a:t>V5.2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55" name="Text Box 721"/>
          <p:cNvSpPr txBox="1">
            <a:spLocks noChangeArrowheads="1"/>
          </p:cNvSpPr>
          <p:nvPr/>
        </p:nvSpPr>
        <p:spPr bwMode="auto">
          <a:xfrm>
            <a:off x="1944688" y="2924175"/>
            <a:ext cx="358775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algn="ctr"/>
            <a:r>
              <a:rPr lang="en-US" altLang="ru-RU" sz="1000">
                <a:latin typeface="Times New Roman" pitchFamily="18" charset="0"/>
              </a:rPr>
              <a:t>SG</a:t>
            </a:r>
            <a:endParaRPr lang="ru-RU" altLang="ru-RU" sz="1000">
              <a:latin typeface="Times New Roman" pitchFamily="18" charset="0"/>
            </a:endParaRPr>
          </a:p>
        </p:txBody>
      </p:sp>
      <p:sp>
        <p:nvSpPr>
          <p:cNvPr id="27756" name="Freeform 722"/>
          <p:cNvSpPr>
            <a:spLocks/>
          </p:cNvSpPr>
          <p:nvPr/>
        </p:nvSpPr>
        <p:spPr bwMode="auto">
          <a:xfrm>
            <a:off x="2606675" y="2428875"/>
            <a:ext cx="2278063" cy="900113"/>
          </a:xfrm>
          <a:custGeom>
            <a:avLst/>
            <a:gdLst>
              <a:gd name="T0" fmla="*/ 2147483647 w 1435"/>
              <a:gd name="T1" fmla="*/ 0 h 567"/>
              <a:gd name="T2" fmla="*/ 0 w 1435"/>
              <a:gd name="T3" fmla="*/ 1106349923 h 567"/>
              <a:gd name="T4" fmla="*/ 0 60000 65536"/>
              <a:gd name="T5" fmla="*/ 0 60000 65536"/>
              <a:gd name="T6" fmla="*/ 0 w 1435"/>
              <a:gd name="T7" fmla="*/ 0 h 567"/>
              <a:gd name="T8" fmla="*/ 1435 w 1435"/>
              <a:gd name="T9" fmla="*/ 567 h 5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35" h="567">
                <a:moveTo>
                  <a:pt x="1435" y="0"/>
                </a:moveTo>
                <a:cubicBezTo>
                  <a:pt x="1252" y="567"/>
                  <a:pt x="310" y="540"/>
                  <a:pt x="0" y="439"/>
                </a:cubicBezTo>
              </a:path>
            </a:pathLst>
          </a:custGeom>
          <a:noFill/>
          <a:ln w="19050" cap="flat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endParaRPr lang="ru-RU"/>
          </a:p>
        </p:txBody>
      </p:sp>
      <p:pic>
        <p:nvPicPr>
          <p:cNvPr id="27757" name="Picture 723" descr="comp05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5050" y="2852738"/>
            <a:ext cx="3000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Group 725"/>
          <p:cNvGrpSpPr>
            <a:grpSpLocks/>
          </p:cNvGrpSpPr>
          <p:nvPr/>
        </p:nvGrpSpPr>
        <p:grpSpPr bwMode="auto">
          <a:xfrm>
            <a:off x="4716463" y="1773238"/>
            <a:ext cx="523875" cy="665162"/>
            <a:chOff x="4071" y="2719"/>
            <a:chExt cx="174" cy="221"/>
          </a:xfrm>
        </p:grpSpPr>
        <p:sp>
          <p:nvSpPr>
            <p:cNvPr id="27783" name="Freeform 726"/>
            <p:cNvSpPr>
              <a:spLocks/>
            </p:cNvSpPr>
            <p:nvPr/>
          </p:nvSpPr>
          <p:spPr bwMode="auto">
            <a:xfrm>
              <a:off x="4076" y="2777"/>
              <a:ext cx="26" cy="21"/>
            </a:xfrm>
            <a:custGeom>
              <a:avLst/>
              <a:gdLst>
                <a:gd name="T0" fmla="*/ 26 w 26"/>
                <a:gd name="T1" fmla="*/ 0 h 21"/>
                <a:gd name="T2" fmla="*/ 23 w 26"/>
                <a:gd name="T3" fmla="*/ 0 h 21"/>
                <a:gd name="T4" fmla="*/ 0 w 26"/>
                <a:gd name="T5" fmla="*/ 0 h 21"/>
                <a:gd name="T6" fmla="*/ 0 w 26"/>
                <a:gd name="T7" fmla="*/ 21 h 21"/>
                <a:gd name="T8" fmla="*/ 23 w 26"/>
                <a:gd name="T9" fmla="*/ 21 h 21"/>
                <a:gd name="T10" fmla="*/ 26 w 26"/>
                <a:gd name="T11" fmla="*/ 21 h 21"/>
                <a:gd name="T12" fmla="*/ 26 w 26"/>
                <a:gd name="T13" fmla="*/ 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6"/>
                <a:gd name="T22" fmla="*/ 0 h 21"/>
                <a:gd name="T23" fmla="*/ 26 w 26"/>
                <a:gd name="T24" fmla="*/ 21 h 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6" h="21">
                  <a:moveTo>
                    <a:pt x="26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0" y="21"/>
                  </a:lnTo>
                  <a:lnTo>
                    <a:pt x="23" y="21"/>
                  </a:lnTo>
                  <a:lnTo>
                    <a:pt x="26" y="2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84" name="Freeform 727"/>
            <p:cNvSpPr>
              <a:spLocks/>
            </p:cNvSpPr>
            <p:nvPr/>
          </p:nvSpPr>
          <p:spPr bwMode="auto">
            <a:xfrm>
              <a:off x="4098" y="2775"/>
              <a:ext cx="4" cy="3"/>
            </a:xfrm>
            <a:custGeom>
              <a:avLst/>
              <a:gdLst>
                <a:gd name="T0" fmla="*/ 1 w 4"/>
                <a:gd name="T1" fmla="*/ 0 h 3"/>
                <a:gd name="T2" fmla="*/ 1 w 4"/>
                <a:gd name="T3" fmla="*/ 3 h 3"/>
                <a:gd name="T4" fmla="*/ 4 w 4"/>
                <a:gd name="T5" fmla="*/ 3 h 3"/>
                <a:gd name="T6" fmla="*/ 4 w 4"/>
                <a:gd name="T7" fmla="*/ 0 h 3"/>
                <a:gd name="T8" fmla="*/ 1 w 4"/>
                <a:gd name="T9" fmla="*/ 0 h 3"/>
                <a:gd name="T10" fmla="*/ 1 w 4"/>
                <a:gd name="T11" fmla="*/ 0 h 3"/>
                <a:gd name="T12" fmla="*/ 1 w 4"/>
                <a:gd name="T13" fmla="*/ 0 h 3"/>
                <a:gd name="T14" fmla="*/ 1 w 4"/>
                <a:gd name="T15" fmla="*/ 0 h 3"/>
                <a:gd name="T16" fmla="*/ 1 w 4"/>
                <a:gd name="T17" fmla="*/ 0 h 3"/>
                <a:gd name="T18" fmla="*/ 1 w 4"/>
                <a:gd name="T19" fmla="*/ 0 h 3"/>
                <a:gd name="T20" fmla="*/ 1 w 4"/>
                <a:gd name="T21" fmla="*/ 0 h 3"/>
                <a:gd name="T22" fmla="*/ 0 w 4"/>
                <a:gd name="T23" fmla="*/ 1 h 3"/>
                <a:gd name="T24" fmla="*/ 0 w 4"/>
                <a:gd name="T25" fmla="*/ 1 h 3"/>
                <a:gd name="T26" fmla="*/ 0 w 4"/>
                <a:gd name="T27" fmla="*/ 1 h 3"/>
                <a:gd name="T28" fmla="*/ 0 w 4"/>
                <a:gd name="T29" fmla="*/ 1 h 3"/>
                <a:gd name="T30" fmla="*/ 0 w 4"/>
                <a:gd name="T31" fmla="*/ 1 h 3"/>
                <a:gd name="T32" fmla="*/ 0 w 4"/>
                <a:gd name="T33" fmla="*/ 1 h 3"/>
                <a:gd name="T34" fmla="*/ 0 w 4"/>
                <a:gd name="T35" fmla="*/ 1 h 3"/>
                <a:gd name="T36" fmla="*/ 0 w 4"/>
                <a:gd name="T37" fmla="*/ 1 h 3"/>
                <a:gd name="T38" fmla="*/ 0 w 4"/>
                <a:gd name="T39" fmla="*/ 1 h 3"/>
                <a:gd name="T40" fmla="*/ 0 w 4"/>
                <a:gd name="T41" fmla="*/ 2 h 3"/>
                <a:gd name="T42" fmla="*/ 0 w 4"/>
                <a:gd name="T43" fmla="*/ 2 h 3"/>
                <a:gd name="T44" fmla="*/ 0 w 4"/>
                <a:gd name="T45" fmla="*/ 2 h 3"/>
                <a:gd name="T46" fmla="*/ 0 w 4"/>
                <a:gd name="T47" fmla="*/ 2 h 3"/>
                <a:gd name="T48" fmla="*/ 0 w 4"/>
                <a:gd name="T49" fmla="*/ 2 h 3"/>
                <a:gd name="T50" fmla="*/ 0 w 4"/>
                <a:gd name="T51" fmla="*/ 2 h 3"/>
                <a:gd name="T52" fmla="*/ 0 w 4"/>
                <a:gd name="T53" fmla="*/ 2 h 3"/>
                <a:gd name="T54" fmla="*/ 0 w 4"/>
                <a:gd name="T55" fmla="*/ 2 h 3"/>
                <a:gd name="T56" fmla="*/ 0 w 4"/>
                <a:gd name="T57" fmla="*/ 3 h 3"/>
                <a:gd name="T58" fmla="*/ 0 w 4"/>
                <a:gd name="T59" fmla="*/ 3 h 3"/>
                <a:gd name="T60" fmla="*/ 0 w 4"/>
                <a:gd name="T61" fmla="*/ 3 h 3"/>
                <a:gd name="T62" fmla="*/ 0 w 4"/>
                <a:gd name="T63" fmla="*/ 3 h 3"/>
                <a:gd name="T64" fmla="*/ 0 w 4"/>
                <a:gd name="T65" fmla="*/ 3 h 3"/>
                <a:gd name="T66" fmla="*/ 0 w 4"/>
                <a:gd name="T67" fmla="*/ 3 h 3"/>
                <a:gd name="T68" fmla="*/ 1 w 4"/>
                <a:gd name="T69" fmla="*/ 3 h 3"/>
                <a:gd name="T70" fmla="*/ 1 w 4"/>
                <a:gd name="T71" fmla="*/ 3 h 3"/>
                <a:gd name="T72" fmla="*/ 1 w 4"/>
                <a:gd name="T73" fmla="*/ 3 h 3"/>
                <a:gd name="T74" fmla="*/ 1 w 4"/>
                <a:gd name="T75" fmla="*/ 3 h 3"/>
                <a:gd name="T76" fmla="*/ 1 w 4"/>
                <a:gd name="T77" fmla="*/ 3 h 3"/>
                <a:gd name="T78" fmla="*/ 1 w 4"/>
                <a:gd name="T79" fmla="*/ 0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"/>
                <a:gd name="T121" fmla="*/ 0 h 3"/>
                <a:gd name="T122" fmla="*/ 4 w 4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" h="3">
                  <a:moveTo>
                    <a:pt x="1" y="0"/>
                  </a:moveTo>
                  <a:lnTo>
                    <a:pt x="1" y="3"/>
                  </a:lnTo>
                  <a:lnTo>
                    <a:pt x="4" y="3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85" name="Freeform 728"/>
            <p:cNvSpPr>
              <a:spLocks/>
            </p:cNvSpPr>
            <p:nvPr/>
          </p:nvSpPr>
          <p:spPr bwMode="auto">
            <a:xfrm>
              <a:off x="4075" y="2775"/>
              <a:ext cx="24" cy="3"/>
            </a:xfrm>
            <a:custGeom>
              <a:avLst/>
              <a:gdLst>
                <a:gd name="T0" fmla="*/ 0 w 24"/>
                <a:gd name="T1" fmla="*/ 2 h 3"/>
                <a:gd name="T2" fmla="*/ 1 w 24"/>
                <a:gd name="T3" fmla="*/ 3 h 3"/>
                <a:gd name="T4" fmla="*/ 24 w 24"/>
                <a:gd name="T5" fmla="*/ 3 h 3"/>
                <a:gd name="T6" fmla="*/ 24 w 24"/>
                <a:gd name="T7" fmla="*/ 0 h 3"/>
                <a:gd name="T8" fmla="*/ 1 w 24"/>
                <a:gd name="T9" fmla="*/ 0 h 3"/>
                <a:gd name="T10" fmla="*/ 0 w 24"/>
                <a:gd name="T11" fmla="*/ 2 h 3"/>
                <a:gd name="T12" fmla="*/ 1 w 24"/>
                <a:gd name="T13" fmla="*/ 0 h 3"/>
                <a:gd name="T14" fmla="*/ 1 w 24"/>
                <a:gd name="T15" fmla="*/ 0 h 3"/>
                <a:gd name="T16" fmla="*/ 1 w 24"/>
                <a:gd name="T17" fmla="*/ 0 h 3"/>
                <a:gd name="T18" fmla="*/ 1 w 24"/>
                <a:gd name="T19" fmla="*/ 0 h 3"/>
                <a:gd name="T20" fmla="*/ 1 w 24"/>
                <a:gd name="T21" fmla="*/ 0 h 3"/>
                <a:gd name="T22" fmla="*/ 0 w 24"/>
                <a:gd name="T23" fmla="*/ 1 h 3"/>
                <a:gd name="T24" fmla="*/ 0 w 24"/>
                <a:gd name="T25" fmla="*/ 1 h 3"/>
                <a:gd name="T26" fmla="*/ 0 w 24"/>
                <a:gd name="T27" fmla="*/ 1 h 3"/>
                <a:gd name="T28" fmla="*/ 0 w 24"/>
                <a:gd name="T29" fmla="*/ 1 h 3"/>
                <a:gd name="T30" fmla="*/ 0 w 24"/>
                <a:gd name="T31" fmla="*/ 1 h 3"/>
                <a:gd name="T32" fmla="*/ 0 w 24"/>
                <a:gd name="T33" fmla="*/ 1 h 3"/>
                <a:gd name="T34" fmla="*/ 0 w 24"/>
                <a:gd name="T35" fmla="*/ 1 h 3"/>
                <a:gd name="T36" fmla="*/ 0 w 24"/>
                <a:gd name="T37" fmla="*/ 1 h 3"/>
                <a:gd name="T38" fmla="*/ 0 w 24"/>
                <a:gd name="T39" fmla="*/ 1 h 3"/>
                <a:gd name="T40" fmla="*/ 0 w 24"/>
                <a:gd name="T41" fmla="*/ 2 h 3"/>
                <a:gd name="T42" fmla="*/ 0 w 24"/>
                <a:gd name="T43" fmla="*/ 2 h 3"/>
                <a:gd name="T44" fmla="*/ 0 w 24"/>
                <a:gd name="T45" fmla="*/ 2 h 3"/>
                <a:gd name="T46" fmla="*/ 0 w 24"/>
                <a:gd name="T47" fmla="*/ 2 h 3"/>
                <a:gd name="T48" fmla="*/ 0 w 24"/>
                <a:gd name="T49" fmla="*/ 2 h 3"/>
                <a:gd name="T50" fmla="*/ 0 w 24"/>
                <a:gd name="T51" fmla="*/ 2 h 3"/>
                <a:gd name="T52" fmla="*/ 0 w 24"/>
                <a:gd name="T53" fmla="*/ 2 h 3"/>
                <a:gd name="T54" fmla="*/ 0 w 24"/>
                <a:gd name="T55" fmla="*/ 2 h 3"/>
                <a:gd name="T56" fmla="*/ 0 w 24"/>
                <a:gd name="T57" fmla="*/ 3 h 3"/>
                <a:gd name="T58" fmla="*/ 0 w 24"/>
                <a:gd name="T59" fmla="*/ 3 h 3"/>
                <a:gd name="T60" fmla="*/ 0 w 24"/>
                <a:gd name="T61" fmla="*/ 3 h 3"/>
                <a:gd name="T62" fmla="*/ 0 w 24"/>
                <a:gd name="T63" fmla="*/ 3 h 3"/>
                <a:gd name="T64" fmla="*/ 0 w 24"/>
                <a:gd name="T65" fmla="*/ 3 h 3"/>
                <a:gd name="T66" fmla="*/ 0 w 24"/>
                <a:gd name="T67" fmla="*/ 3 h 3"/>
                <a:gd name="T68" fmla="*/ 1 w 24"/>
                <a:gd name="T69" fmla="*/ 3 h 3"/>
                <a:gd name="T70" fmla="*/ 1 w 24"/>
                <a:gd name="T71" fmla="*/ 3 h 3"/>
                <a:gd name="T72" fmla="*/ 1 w 24"/>
                <a:gd name="T73" fmla="*/ 3 h 3"/>
                <a:gd name="T74" fmla="*/ 1 w 24"/>
                <a:gd name="T75" fmla="*/ 3 h 3"/>
                <a:gd name="T76" fmla="*/ 1 w 24"/>
                <a:gd name="T77" fmla="*/ 3 h 3"/>
                <a:gd name="T78" fmla="*/ 0 w 24"/>
                <a:gd name="T79" fmla="*/ 2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4"/>
                <a:gd name="T121" fmla="*/ 0 h 3"/>
                <a:gd name="T122" fmla="*/ 24 w 24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4" h="3">
                  <a:moveTo>
                    <a:pt x="0" y="2"/>
                  </a:moveTo>
                  <a:lnTo>
                    <a:pt x="1" y="3"/>
                  </a:lnTo>
                  <a:lnTo>
                    <a:pt x="24" y="3"/>
                  </a:lnTo>
                  <a:lnTo>
                    <a:pt x="24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3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86" name="Freeform 729"/>
            <p:cNvSpPr>
              <a:spLocks/>
            </p:cNvSpPr>
            <p:nvPr/>
          </p:nvSpPr>
          <p:spPr bwMode="auto">
            <a:xfrm>
              <a:off x="4075" y="2777"/>
              <a:ext cx="3" cy="23"/>
            </a:xfrm>
            <a:custGeom>
              <a:avLst/>
              <a:gdLst>
                <a:gd name="T0" fmla="*/ 1 w 3"/>
                <a:gd name="T1" fmla="*/ 23 h 23"/>
                <a:gd name="T2" fmla="*/ 3 w 3"/>
                <a:gd name="T3" fmla="*/ 21 h 23"/>
                <a:gd name="T4" fmla="*/ 3 w 3"/>
                <a:gd name="T5" fmla="*/ 0 h 23"/>
                <a:gd name="T6" fmla="*/ 0 w 3"/>
                <a:gd name="T7" fmla="*/ 0 h 23"/>
                <a:gd name="T8" fmla="*/ 0 w 3"/>
                <a:gd name="T9" fmla="*/ 21 h 23"/>
                <a:gd name="T10" fmla="*/ 1 w 3"/>
                <a:gd name="T11" fmla="*/ 23 h 23"/>
                <a:gd name="T12" fmla="*/ 0 w 3"/>
                <a:gd name="T13" fmla="*/ 21 h 23"/>
                <a:gd name="T14" fmla="*/ 0 w 3"/>
                <a:gd name="T15" fmla="*/ 22 h 23"/>
                <a:gd name="T16" fmla="*/ 0 w 3"/>
                <a:gd name="T17" fmla="*/ 22 h 23"/>
                <a:gd name="T18" fmla="*/ 0 w 3"/>
                <a:gd name="T19" fmla="*/ 22 h 23"/>
                <a:gd name="T20" fmla="*/ 0 w 3"/>
                <a:gd name="T21" fmla="*/ 22 h 23"/>
                <a:gd name="T22" fmla="*/ 0 w 3"/>
                <a:gd name="T23" fmla="*/ 22 h 23"/>
                <a:gd name="T24" fmla="*/ 0 w 3"/>
                <a:gd name="T25" fmla="*/ 22 h 23"/>
                <a:gd name="T26" fmla="*/ 0 w 3"/>
                <a:gd name="T27" fmla="*/ 22 h 23"/>
                <a:gd name="T28" fmla="*/ 0 w 3"/>
                <a:gd name="T29" fmla="*/ 22 h 23"/>
                <a:gd name="T30" fmla="*/ 0 w 3"/>
                <a:gd name="T31" fmla="*/ 23 h 23"/>
                <a:gd name="T32" fmla="*/ 0 w 3"/>
                <a:gd name="T33" fmla="*/ 23 h 23"/>
                <a:gd name="T34" fmla="*/ 1 w 3"/>
                <a:gd name="T35" fmla="*/ 23 h 23"/>
                <a:gd name="T36" fmla="*/ 1 w 3"/>
                <a:gd name="T37" fmla="*/ 23 h 23"/>
                <a:gd name="T38" fmla="*/ 1 w 3"/>
                <a:gd name="T39" fmla="*/ 23 h 23"/>
                <a:gd name="T40" fmla="*/ 1 w 3"/>
                <a:gd name="T41" fmla="*/ 23 h 23"/>
                <a:gd name="T42" fmla="*/ 1 w 3"/>
                <a:gd name="T43" fmla="*/ 23 h 23"/>
                <a:gd name="T44" fmla="*/ 1 w 3"/>
                <a:gd name="T45" fmla="*/ 23 h 23"/>
                <a:gd name="T46" fmla="*/ 1 w 3"/>
                <a:gd name="T47" fmla="*/ 23 h 23"/>
                <a:gd name="T48" fmla="*/ 1 w 3"/>
                <a:gd name="T49" fmla="*/ 23 h 23"/>
                <a:gd name="T50" fmla="*/ 2 w 3"/>
                <a:gd name="T51" fmla="*/ 23 h 23"/>
                <a:gd name="T52" fmla="*/ 2 w 3"/>
                <a:gd name="T53" fmla="*/ 23 h 23"/>
                <a:gd name="T54" fmla="*/ 2 w 3"/>
                <a:gd name="T55" fmla="*/ 23 h 23"/>
                <a:gd name="T56" fmla="*/ 2 w 3"/>
                <a:gd name="T57" fmla="*/ 23 h 23"/>
                <a:gd name="T58" fmla="*/ 2 w 3"/>
                <a:gd name="T59" fmla="*/ 23 h 23"/>
                <a:gd name="T60" fmla="*/ 2 w 3"/>
                <a:gd name="T61" fmla="*/ 22 h 23"/>
                <a:gd name="T62" fmla="*/ 2 w 3"/>
                <a:gd name="T63" fmla="*/ 22 h 23"/>
                <a:gd name="T64" fmla="*/ 2 w 3"/>
                <a:gd name="T65" fmla="*/ 22 h 23"/>
                <a:gd name="T66" fmla="*/ 2 w 3"/>
                <a:gd name="T67" fmla="*/ 22 h 23"/>
                <a:gd name="T68" fmla="*/ 2 w 3"/>
                <a:gd name="T69" fmla="*/ 22 h 23"/>
                <a:gd name="T70" fmla="*/ 3 w 3"/>
                <a:gd name="T71" fmla="*/ 22 h 23"/>
                <a:gd name="T72" fmla="*/ 3 w 3"/>
                <a:gd name="T73" fmla="*/ 22 h 23"/>
                <a:gd name="T74" fmla="*/ 3 w 3"/>
                <a:gd name="T75" fmla="*/ 22 h 23"/>
                <a:gd name="T76" fmla="*/ 3 w 3"/>
                <a:gd name="T77" fmla="*/ 21 h 23"/>
                <a:gd name="T78" fmla="*/ 1 w 3"/>
                <a:gd name="T79" fmla="*/ 23 h 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23"/>
                <a:gd name="T122" fmla="*/ 3 w 3"/>
                <a:gd name="T123" fmla="*/ 23 h 2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23">
                  <a:moveTo>
                    <a:pt x="1" y="23"/>
                  </a:moveTo>
                  <a:lnTo>
                    <a:pt x="3" y="21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21"/>
                  </a:lnTo>
                  <a:lnTo>
                    <a:pt x="1" y="23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1" y="23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87" name="Freeform 730"/>
            <p:cNvSpPr>
              <a:spLocks/>
            </p:cNvSpPr>
            <p:nvPr/>
          </p:nvSpPr>
          <p:spPr bwMode="auto">
            <a:xfrm>
              <a:off x="4076" y="2797"/>
              <a:ext cx="25" cy="3"/>
            </a:xfrm>
            <a:custGeom>
              <a:avLst/>
              <a:gdLst>
                <a:gd name="T0" fmla="*/ 23 w 25"/>
                <a:gd name="T1" fmla="*/ 3 h 3"/>
                <a:gd name="T2" fmla="*/ 23 w 25"/>
                <a:gd name="T3" fmla="*/ 0 h 3"/>
                <a:gd name="T4" fmla="*/ 0 w 25"/>
                <a:gd name="T5" fmla="*/ 0 h 3"/>
                <a:gd name="T6" fmla="*/ 0 w 25"/>
                <a:gd name="T7" fmla="*/ 3 h 3"/>
                <a:gd name="T8" fmla="*/ 23 w 25"/>
                <a:gd name="T9" fmla="*/ 3 h 3"/>
                <a:gd name="T10" fmla="*/ 23 w 25"/>
                <a:gd name="T11" fmla="*/ 3 h 3"/>
                <a:gd name="T12" fmla="*/ 23 w 25"/>
                <a:gd name="T13" fmla="*/ 3 h 3"/>
                <a:gd name="T14" fmla="*/ 23 w 25"/>
                <a:gd name="T15" fmla="*/ 3 h 3"/>
                <a:gd name="T16" fmla="*/ 24 w 25"/>
                <a:gd name="T17" fmla="*/ 3 h 3"/>
                <a:gd name="T18" fmla="*/ 24 w 25"/>
                <a:gd name="T19" fmla="*/ 3 h 3"/>
                <a:gd name="T20" fmla="*/ 24 w 25"/>
                <a:gd name="T21" fmla="*/ 3 h 3"/>
                <a:gd name="T22" fmla="*/ 24 w 25"/>
                <a:gd name="T23" fmla="*/ 3 h 3"/>
                <a:gd name="T24" fmla="*/ 24 w 25"/>
                <a:gd name="T25" fmla="*/ 2 h 3"/>
                <a:gd name="T26" fmla="*/ 24 w 25"/>
                <a:gd name="T27" fmla="*/ 2 h 3"/>
                <a:gd name="T28" fmla="*/ 24 w 25"/>
                <a:gd name="T29" fmla="*/ 2 h 3"/>
                <a:gd name="T30" fmla="*/ 24 w 25"/>
                <a:gd name="T31" fmla="*/ 2 h 3"/>
                <a:gd name="T32" fmla="*/ 24 w 25"/>
                <a:gd name="T33" fmla="*/ 2 h 3"/>
                <a:gd name="T34" fmla="*/ 24 w 25"/>
                <a:gd name="T35" fmla="*/ 2 h 3"/>
                <a:gd name="T36" fmla="*/ 25 w 25"/>
                <a:gd name="T37" fmla="*/ 2 h 3"/>
                <a:gd name="T38" fmla="*/ 25 w 25"/>
                <a:gd name="T39" fmla="*/ 2 h 3"/>
                <a:gd name="T40" fmla="*/ 25 w 25"/>
                <a:gd name="T41" fmla="*/ 2 h 3"/>
                <a:gd name="T42" fmla="*/ 25 w 25"/>
                <a:gd name="T43" fmla="*/ 1 h 3"/>
                <a:gd name="T44" fmla="*/ 25 w 25"/>
                <a:gd name="T45" fmla="*/ 1 h 3"/>
                <a:gd name="T46" fmla="*/ 25 w 25"/>
                <a:gd name="T47" fmla="*/ 1 h 3"/>
                <a:gd name="T48" fmla="*/ 25 w 25"/>
                <a:gd name="T49" fmla="*/ 1 h 3"/>
                <a:gd name="T50" fmla="*/ 25 w 25"/>
                <a:gd name="T51" fmla="*/ 1 h 3"/>
                <a:gd name="T52" fmla="*/ 25 w 25"/>
                <a:gd name="T53" fmla="*/ 1 h 3"/>
                <a:gd name="T54" fmla="*/ 24 w 25"/>
                <a:gd name="T55" fmla="*/ 1 h 3"/>
                <a:gd name="T56" fmla="*/ 24 w 25"/>
                <a:gd name="T57" fmla="*/ 1 h 3"/>
                <a:gd name="T58" fmla="*/ 24 w 25"/>
                <a:gd name="T59" fmla="*/ 0 h 3"/>
                <a:gd name="T60" fmla="*/ 24 w 25"/>
                <a:gd name="T61" fmla="*/ 0 h 3"/>
                <a:gd name="T62" fmla="*/ 24 w 25"/>
                <a:gd name="T63" fmla="*/ 0 h 3"/>
                <a:gd name="T64" fmla="*/ 24 w 25"/>
                <a:gd name="T65" fmla="*/ 0 h 3"/>
                <a:gd name="T66" fmla="*/ 24 w 25"/>
                <a:gd name="T67" fmla="*/ 0 h 3"/>
                <a:gd name="T68" fmla="*/ 24 w 25"/>
                <a:gd name="T69" fmla="*/ 0 h 3"/>
                <a:gd name="T70" fmla="*/ 24 w 25"/>
                <a:gd name="T71" fmla="*/ 0 h 3"/>
                <a:gd name="T72" fmla="*/ 24 w 25"/>
                <a:gd name="T73" fmla="*/ 0 h 3"/>
                <a:gd name="T74" fmla="*/ 23 w 25"/>
                <a:gd name="T75" fmla="*/ 0 h 3"/>
                <a:gd name="T76" fmla="*/ 23 w 25"/>
                <a:gd name="T77" fmla="*/ 0 h 3"/>
                <a:gd name="T78" fmla="*/ 23 w 25"/>
                <a:gd name="T79" fmla="*/ 3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"/>
                <a:gd name="T121" fmla="*/ 0 h 3"/>
                <a:gd name="T122" fmla="*/ 25 w 25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" h="3">
                  <a:moveTo>
                    <a:pt x="23" y="3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23" y="3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3" y="3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88" name="Freeform 731"/>
            <p:cNvSpPr>
              <a:spLocks/>
            </p:cNvSpPr>
            <p:nvPr/>
          </p:nvSpPr>
          <p:spPr bwMode="auto">
            <a:xfrm>
              <a:off x="4099" y="2797"/>
              <a:ext cx="4" cy="3"/>
            </a:xfrm>
            <a:custGeom>
              <a:avLst/>
              <a:gdLst>
                <a:gd name="T0" fmla="*/ 4 w 4"/>
                <a:gd name="T1" fmla="*/ 1 h 3"/>
                <a:gd name="T2" fmla="*/ 3 w 4"/>
                <a:gd name="T3" fmla="*/ 0 h 3"/>
                <a:gd name="T4" fmla="*/ 0 w 4"/>
                <a:gd name="T5" fmla="*/ 0 h 3"/>
                <a:gd name="T6" fmla="*/ 0 w 4"/>
                <a:gd name="T7" fmla="*/ 3 h 3"/>
                <a:gd name="T8" fmla="*/ 3 w 4"/>
                <a:gd name="T9" fmla="*/ 3 h 3"/>
                <a:gd name="T10" fmla="*/ 4 w 4"/>
                <a:gd name="T11" fmla="*/ 1 h 3"/>
                <a:gd name="T12" fmla="*/ 3 w 4"/>
                <a:gd name="T13" fmla="*/ 3 h 3"/>
                <a:gd name="T14" fmla="*/ 3 w 4"/>
                <a:gd name="T15" fmla="*/ 3 h 3"/>
                <a:gd name="T16" fmla="*/ 3 w 4"/>
                <a:gd name="T17" fmla="*/ 3 h 3"/>
                <a:gd name="T18" fmla="*/ 3 w 4"/>
                <a:gd name="T19" fmla="*/ 3 h 3"/>
                <a:gd name="T20" fmla="*/ 4 w 4"/>
                <a:gd name="T21" fmla="*/ 3 h 3"/>
                <a:gd name="T22" fmla="*/ 4 w 4"/>
                <a:gd name="T23" fmla="*/ 3 h 3"/>
                <a:gd name="T24" fmla="*/ 4 w 4"/>
                <a:gd name="T25" fmla="*/ 2 h 3"/>
                <a:gd name="T26" fmla="*/ 4 w 4"/>
                <a:gd name="T27" fmla="*/ 2 h 3"/>
                <a:gd name="T28" fmla="*/ 4 w 4"/>
                <a:gd name="T29" fmla="*/ 2 h 3"/>
                <a:gd name="T30" fmla="*/ 4 w 4"/>
                <a:gd name="T31" fmla="*/ 2 h 3"/>
                <a:gd name="T32" fmla="*/ 4 w 4"/>
                <a:gd name="T33" fmla="*/ 2 h 3"/>
                <a:gd name="T34" fmla="*/ 4 w 4"/>
                <a:gd name="T35" fmla="*/ 2 h 3"/>
                <a:gd name="T36" fmla="*/ 4 w 4"/>
                <a:gd name="T37" fmla="*/ 2 h 3"/>
                <a:gd name="T38" fmla="*/ 4 w 4"/>
                <a:gd name="T39" fmla="*/ 2 h 3"/>
                <a:gd name="T40" fmla="*/ 4 w 4"/>
                <a:gd name="T41" fmla="*/ 2 h 3"/>
                <a:gd name="T42" fmla="*/ 4 w 4"/>
                <a:gd name="T43" fmla="*/ 1 h 3"/>
                <a:gd name="T44" fmla="*/ 4 w 4"/>
                <a:gd name="T45" fmla="*/ 1 h 3"/>
                <a:gd name="T46" fmla="*/ 4 w 4"/>
                <a:gd name="T47" fmla="*/ 1 h 3"/>
                <a:gd name="T48" fmla="*/ 4 w 4"/>
                <a:gd name="T49" fmla="*/ 1 h 3"/>
                <a:gd name="T50" fmla="*/ 4 w 4"/>
                <a:gd name="T51" fmla="*/ 1 h 3"/>
                <a:gd name="T52" fmla="*/ 4 w 4"/>
                <a:gd name="T53" fmla="*/ 1 h 3"/>
                <a:gd name="T54" fmla="*/ 4 w 4"/>
                <a:gd name="T55" fmla="*/ 1 h 3"/>
                <a:gd name="T56" fmla="*/ 4 w 4"/>
                <a:gd name="T57" fmla="*/ 1 h 3"/>
                <a:gd name="T58" fmla="*/ 4 w 4"/>
                <a:gd name="T59" fmla="*/ 0 h 3"/>
                <a:gd name="T60" fmla="*/ 4 w 4"/>
                <a:gd name="T61" fmla="*/ 0 h 3"/>
                <a:gd name="T62" fmla="*/ 4 w 4"/>
                <a:gd name="T63" fmla="*/ 0 h 3"/>
                <a:gd name="T64" fmla="*/ 4 w 4"/>
                <a:gd name="T65" fmla="*/ 0 h 3"/>
                <a:gd name="T66" fmla="*/ 4 w 4"/>
                <a:gd name="T67" fmla="*/ 0 h 3"/>
                <a:gd name="T68" fmla="*/ 4 w 4"/>
                <a:gd name="T69" fmla="*/ 0 h 3"/>
                <a:gd name="T70" fmla="*/ 3 w 4"/>
                <a:gd name="T71" fmla="*/ 0 h 3"/>
                <a:gd name="T72" fmla="*/ 3 w 4"/>
                <a:gd name="T73" fmla="*/ 0 h 3"/>
                <a:gd name="T74" fmla="*/ 3 w 4"/>
                <a:gd name="T75" fmla="*/ 0 h 3"/>
                <a:gd name="T76" fmla="*/ 3 w 4"/>
                <a:gd name="T77" fmla="*/ 0 h 3"/>
                <a:gd name="T78" fmla="*/ 4 w 4"/>
                <a:gd name="T79" fmla="*/ 1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"/>
                <a:gd name="T121" fmla="*/ 0 h 3"/>
                <a:gd name="T122" fmla="*/ 4 w 4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" h="3">
                  <a:moveTo>
                    <a:pt x="4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3" y="3"/>
                  </a:lnTo>
                  <a:lnTo>
                    <a:pt x="4" y="1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0"/>
                  </a:lnTo>
                  <a:lnTo>
                    <a:pt x="3" y="0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89" name="Freeform 732"/>
            <p:cNvSpPr>
              <a:spLocks/>
            </p:cNvSpPr>
            <p:nvPr/>
          </p:nvSpPr>
          <p:spPr bwMode="auto">
            <a:xfrm>
              <a:off x="4100" y="2775"/>
              <a:ext cx="4" cy="23"/>
            </a:xfrm>
            <a:custGeom>
              <a:avLst/>
              <a:gdLst>
                <a:gd name="T0" fmla="*/ 2 w 4"/>
                <a:gd name="T1" fmla="*/ 0 h 23"/>
                <a:gd name="T2" fmla="*/ 1 w 4"/>
                <a:gd name="T3" fmla="*/ 2 h 23"/>
                <a:gd name="T4" fmla="*/ 0 w 4"/>
                <a:gd name="T5" fmla="*/ 23 h 23"/>
                <a:gd name="T6" fmla="*/ 3 w 4"/>
                <a:gd name="T7" fmla="*/ 23 h 23"/>
                <a:gd name="T8" fmla="*/ 4 w 4"/>
                <a:gd name="T9" fmla="*/ 2 h 23"/>
                <a:gd name="T10" fmla="*/ 2 w 4"/>
                <a:gd name="T11" fmla="*/ 0 h 23"/>
                <a:gd name="T12" fmla="*/ 4 w 4"/>
                <a:gd name="T13" fmla="*/ 2 h 23"/>
                <a:gd name="T14" fmla="*/ 4 w 4"/>
                <a:gd name="T15" fmla="*/ 2 h 23"/>
                <a:gd name="T16" fmla="*/ 4 w 4"/>
                <a:gd name="T17" fmla="*/ 1 h 23"/>
                <a:gd name="T18" fmla="*/ 4 w 4"/>
                <a:gd name="T19" fmla="*/ 1 h 23"/>
                <a:gd name="T20" fmla="*/ 4 w 4"/>
                <a:gd name="T21" fmla="*/ 1 h 23"/>
                <a:gd name="T22" fmla="*/ 4 w 4"/>
                <a:gd name="T23" fmla="*/ 1 h 23"/>
                <a:gd name="T24" fmla="*/ 3 w 4"/>
                <a:gd name="T25" fmla="*/ 1 h 23"/>
                <a:gd name="T26" fmla="*/ 3 w 4"/>
                <a:gd name="T27" fmla="*/ 1 h 23"/>
                <a:gd name="T28" fmla="*/ 3 w 4"/>
                <a:gd name="T29" fmla="*/ 1 h 23"/>
                <a:gd name="T30" fmla="*/ 3 w 4"/>
                <a:gd name="T31" fmla="*/ 1 h 23"/>
                <a:gd name="T32" fmla="*/ 3 w 4"/>
                <a:gd name="T33" fmla="*/ 1 h 23"/>
                <a:gd name="T34" fmla="*/ 3 w 4"/>
                <a:gd name="T35" fmla="*/ 1 h 23"/>
                <a:gd name="T36" fmla="*/ 3 w 4"/>
                <a:gd name="T37" fmla="*/ 0 h 23"/>
                <a:gd name="T38" fmla="*/ 3 w 4"/>
                <a:gd name="T39" fmla="*/ 0 h 23"/>
                <a:gd name="T40" fmla="*/ 3 w 4"/>
                <a:gd name="T41" fmla="*/ 0 h 23"/>
                <a:gd name="T42" fmla="*/ 2 w 4"/>
                <a:gd name="T43" fmla="*/ 0 h 23"/>
                <a:gd name="T44" fmla="*/ 2 w 4"/>
                <a:gd name="T45" fmla="*/ 0 h 23"/>
                <a:gd name="T46" fmla="*/ 2 w 4"/>
                <a:gd name="T47" fmla="*/ 0 h 23"/>
                <a:gd name="T48" fmla="*/ 2 w 4"/>
                <a:gd name="T49" fmla="*/ 0 h 23"/>
                <a:gd name="T50" fmla="*/ 2 w 4"/>
                <a:gd name="T51" fmla="*/ 0 h 23"/>
                <a:gd name="T52" fmla="*/ 2 w 4"/>
                <a:gd name="T53" fmla="*/ 0 h 23"/>
                <a:gd name="T54" fmla="*/ 2 w 4"/>
                <a:gd name="T55" fmla="*/ 1 h 23"/>
                <a:gd name="T56" fmla="*/ 2 w 4"/>
                <a:gd name="T57" fmla="*/ 1 h 23"/>
                <a:gd name="T58" fmla="*/ 1 w 4"/>
                <a:gd name="T59" fmla="*/ 1 h 23"/>
                <a:gd name="T60" fmla="*/ 1 w 4"/>
                <a:gd name="T61" fmla="*/ 1 h 23"/>
                <a:gd name="T62" fmla="*/ 1 w 4"/>
                <a:gd name="T63" fmla="*/ 1 h 23"/>
                <a:gd name="T64" fmla="*/ 1 w 4"/>
                <a:gd name="T65" fmla="*/ 1 h 23"/>
                <a:gd name="T66" fmla="*/ 1 w 4"/>
                <a:gd name="T67" fmla="*/ 1 h 23"/>
                <a:gd name="T68" fmla="*/ 1 w 4"/>
                <a:gd name="T69" fmla="*/ 1 h 23"/>
                <a:gd name="T70" fmla="*/ 1 w 4"/>
                <a:gd name="T71" fmla="*/ 1 h 23"/>
                <a:gd name="T72" fmla="*/ 1 w 4"/>
                <a:gd name="T73" fmla="*/ 1 h 23"/>
                <a:gd name="T74" fmla="*/ 1 w 4"/>
                <a:gd name="T75" fmla="*/ 2 h 23"/>
                <a:gd name="T76" fmla="*/ 1 w 4"/>
                <a:gd name="T77" fmla="*/ 2 h 23"/>
                <a:gd name="T78" fmla="*/ 2 w 4"/>
                <a:gd name="T79" fmla="*/ 0 h 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"/>
                <a:gd name="T121" fmla="*/ 0 h 23"/>
                <a:gd name="T122" fmla="*/ 4 w 4"/>
                <a:gd name="T123" fmla="*/ 23 h 2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" h="23">
                  <a:moveTo>
                    <a:pt x="2" y="0"/>
                  </a:moveTo>
                  <a:lnTo>
                    <a:pt x="1" y="2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"/>
                  </a:lnTo>
                  <a:lnTo>
                    <a:pt x="2" y="0"/>
                  </a:lnTo>
                  <a:lnTo>
                    <a:pt x="4" y="2"/>
                  </a:lnTo>
                  <a:lnTo>
                    <a:pt x="4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90" name="Freeform 733"/>
            <p:cNvSpPr>
              <a:spLocks/>
            </p:cNvSpPr>
            <p:nvPr/>
          </p:nvSpPr>
          <p:spPr bwMode="auto">
            <a:xfrm>
              <a:off x="4212" y="2777"/>
              <a:ext cx="31" cy="42"/>
            </a:xfrm>
            <a:custGeom>
              <a:avLst/>
              <a:gdLst>
                <a:gd name="T0" fmla="*/ 5 w 31"/>
                <a:gd name="T1" fmla="*/ 21 h 42"/>
                <a:gd name="T2" fmla="*/ 9 w 31"/>
                <a:gd name="T3" fmla="*/ 22 h 42"/>
                <a:gd name="T4" fmla="*/ 12 w 31"/>
                <a:gd name="T5" fmla="*/ 22 h 42"/>
                <a:gd name="T6" fmla="*/ 16 w 31"/>
                <a:gd name="T7" fmla="*/ 23 h 42"/>
                <a:gd name="T8" fmla="*/ 19 w 31"/>
                <a:gd name="T9" fmla="*/ 25 h 42"/>
                <a:gd name="T10" fmla="*/ 21 w 31"/>
                <a:gd name="T11" fmla="*/ 26 h 42"/>
                <a:gd name="T12" fmla="*/ 23 w 31"/>
                <a:gd name="T13" fmla="*/ 28 h 42"/>
                <a:gd name="T14" fmla="*/ 25 w 31"/>
                <a:gd name="T15" fmla="*/ 30 h 42"/>
                <a:gd name="T16" fmla="*/ 27 w 31"/>
                <a:gd name="T17" fmla="*/ 32 h 42"/>
                <a:gd name="T18" fmla="*/ 28 w 31"/>
                <a:gd name="T19" fmla="*/ 34 h 42"/>
                <a:gd name="T20" fmla="*/ 29 w 31"/>
                <a:gd name="T21" fmla="*/ 35 h 42"/>
                <a:gd name="T22" fmla="*/ 30 w 31"/>
                <a:gd name="T23" fmla="*/ 37 h 42"/>
                <a:gd name="T24" fmla="*/ 30 w 31"/>
                <a:gd name="T25" fmla="*/ 39 h 42"/>
                <a:gd name="T26" fmla="*/ 31 w 31"/>
                <a:gd name="T27" fmla="*/ 40 h 42"/>
                <a:gd name="T28" fmla="*/ 31 w 31"/>
                <a:gd name="T29" fmla="*/ 41 h 42"/>
                <a:gd name="T30" fmla="*/ 31 w 31"/>
                <a:gd name="T31" fmla="*/ 42 h 42"/>
                <a:gd name="T32" fmla="*/ 31 w 31"/>
                <a:gd name="T33" fmla="*/ 20 h 42"/>
                <a:gd name="T34" fmla="*/ 31 w 31"/>
                <a:gd name="T35" fmla="*/ 19 h 42"/>
                <a:gd name="T36" fmla="*/ 31 w 31"/>
                <a:gd name="T37" fmla="*/ 18 h 42"/>
                <a:gd name="T38" fmla="*/ 30 w 31"/>
                <a:gd name="T39" fmla="*/ 17 h 42"/>
                <a:gd name="T40" fmla="*/ 29 w 31"/>
                <a:gd name="T41" fmla="*/ 15 h 42"/>
                <a:gd name="T42" fmla="*/ 28 w 31"/>
                <a:gd name="T43" fmla="*/ 13 h 42"/>
                <a:gd name="T44" fmla="*/ 27 w 31"/>
                <a:gd name="T45" fmla="*/ 11 h 42"/>
                <a:gd name="T46" fmla="*/ 26 w 31"/>
                <a:gd name="T47" fmla="*/ 9 h 42"/>
                <a:gd name="T48" fmla="*/ 24 w 31"/>
                <a:gd name="T49" fmla="*/ 7 h 42"/>
                <a:gd name="T50" fmla="*/ 22 w 31"/>
                <a:gd name="T51" fmla="*/ 5 h 42"/>
                <a:gd name="T52" fmla="*/ 20 w 31"/>
                <a:gd name="T53" fmla="*/ 4 h 42"/>
                <a:gd name="T54" fmla="*/ 17 w 31"/>
                <a:gd name="T55" fmla="*/ 2 h 42"/>
                <a:gd name="T56" fmla="*/ 14 w 31"/>
                <a:gd name="T57" fmla="*/ 1 h 42"/>
                <a:gd name="T58" fmla="*/ 11 w 31"/>
                <a:gd name="T59" fmla="*/ 0 h 42"/>
                <a:gd name="T60" fmla="*/ 7 w 31"/>
                <a:gd name="T61" fmla="*/ 0 h 42"/>
                <a:gd name="T62" fmla="*/ 0 w 31"/>
                <a:gd name="T63" fmla="*/ 0 h 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1"/>
                <a:gd name="T97" fmla="*/ 0 h 42"/>
                <a:gd name="T98" fmla="*/ 31 w 31"/>
                <a:gd name="T99" fmla="*/ 42 h 4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1" h="42">
                  <a:moveTo>
                    <a:pt x="2" y="21"/>
                  </a:moveTo>
                  <a:lnTo>
                    <a:pt x="5" y="21"/>
                  </a:lnTo>
                  <a:lnTo>
                    <a:pt x="7" y="21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2" y="22"/>
                  </a:lnTo>
                  <a:lnTo>
                    <a:pt x="14" y="23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21" y="26"/>
                  </a:lnTo>
                  <a:lnTo>
                    <a:pt x="22" y="27"/>
                  </a:lnTo>
                  <a:lnTo>
                    <a:pt x="23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6" y="31"/>
                  </a:lnTo>
                  <a:lnTo>
                    <a:pt x="27" y="32"/>
                  </a:lnTo>
                  <a:lnTo>
                    <a:pt x="27" y="33"/>
                  </a:lnTo>
                  <a:lnTo>
                    <a:pt x="28" y="34"/>
                  </a:lnTo>
                  <a:lnTo>
                    <a:pt x="28" y="35"/>
                  </a:lnTo>
                  <a:lnTo>
                    <a:pt x="29" y="35"/>
                  </a:lnTo>
                  <a:lnTo>
                    <a:pt x="29" y="36"/>
                  </a:lnTo>
                  <a:lnTo>
                    <a:pt x="30" y="37"/>
                  </a:lnTo>
                  <a:lnTo>
                    <a:pt x="30" y="38"/>
                  </a:lnTo>
                  <a:lnTo>
                    <a:pt x="30" y="39"/>
                  </a:lnTo>
                  <a:lnTo>
                    <a:pt x="31" y="40"/>
                  </a:lnTo>
                  <a:lnTo>
                    <a:pt x="31" y="41"/>
                  </a:lnTo>
                  <a:lnTo>
                    <a:pt x="31" y="42"/>
                  </a:lnTo>
                  <a:lnTo>
                    <a:pt x="31" y="21"/>
                  </a:lnTo>
                  <a:lnTo>
                    <a:pt x="31" y="20"/>
                  </a:lnTo>
                  <a:lnTo>
                    <a:pt x="31" y="19"/>
                  </a:lnTo>
                  <a:lnTo>
                    <a:pt x="31" y="18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29" y="15"/>
                  </a:lnTo>
                  <a:lnTo>
                    <a:pt x="29" y="14"/>
                  </a:lnTo>
                  <a:lnTo>
                    <a:pt x="28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0"/>
                  </a:lnTo>
                  <a:lnTo>
                    <a:pt x="26" y="9"/>
                  </a:lnTo>
                  <a:lnTo>
                    <a:pt x="25" y="8"/>
                  </a:lnTo>
                  <a:lnTo>
                    <a:pt x="24" y="7"/>
                  </a:lnTo>
                  <a:lnTo>
                    <a:pt x="23" y="6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0" y="4"/>
                  </a:lnTo>
                  <a:lnTo>
                    <a:pt x="19" y="3"/>
                  </a:lnTo>
                  <a:lnTo>
                    <a:pt x="17" y="2"/>
                  </a:lnTo>
                  <a:lnTo>
                    <a:pt x="16" y="2"/>
                  </a:lnTo>
                  <a:lnTo>
                    <a:pt x="14" y="1"/>
                  </a:lnTo>
                  <a:lnTo>
                    <a:pt x="12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2" y="2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91" name="Freeform 734"/>
            <p:cNvSpPr>
              <a:spLocks/>
            </p:cNvSpPr>
            <p:nvPr/>
          </p:nvSpPr>
          <p:spPr bwMode="auto">
            <a:xfrm>
              <a:off x="4214" y="2797"/>
              <a:ext cx="4" cy="3"/>
            </a:xfrm>
            <a:custGeom>
              <a:avLst/>
              <a:gdLst>
                <a:gd name="T0" fmla="*/ 3 w 4"/>
                <a:gd name="T1" fmla="*/ 3 h 3"/>
                <a:gd name="T2" fmla="*/ 3 w 4"/>
                <a:gd name="T3" fmla="*/ 0 h 3"/>
                <a:gd name="T4" fmla="*/ 0 w 4"/>
                <a:gd name="T5" fmla="*/ 0 h 3"/>
                <a:gd name="T6" fmla="*/ 0 w 4"/>
                <a:gd name="T7" fmla="*/ 3 h 3"/>
                <a:gd name="T8" fmla="*/ 3 w 4"/>
                <a:gd name="T9" fmla="*/ 3 h 3"/>
                <a:gd name="T10" fmla="*/ 3 w 4"/>
                <a:gd name="T11" fmla="*/ 3 h 3"/>
                <a:gd name="T12" fmla="*/ 3 w 4"/>
                <a:gd name="T13" fmla="*/ 3 h 3"/>
                <a:gd name="T14" fmla="*/ 3 w 4"/>
                <a:gd name="T15" fmla="*/ 3 h 3"/>
                <a:gd name="T16" fmla="*/ 3 w 4"/>
                <a:gd name="T17" fmla="*/ 3 h 3"/>
                <a:gd name="T18" fmla="*/ 3 w 4"/>
                <a:gd name="T19" fmla="*/ 3 h 3"/>
                <a:gd name="T20" fmla="*/ 3 w 4"/>
                <a:gd name="T21" fmla="*/ 3 h 3"/>
                <a:gd name="T22" fmla="*/ 3 w 4"/>
                <a:gd name="T23" fmla="*/ 3 h 3"/>
                <a:gd name="T24" fmla="*/ 3 w 4"/>
                <a:gd name="T25" fmla="*/ 2 h 3"/>
                <a:gd name="T26" fmla="*/ 4 w 4"/>
                <a:gd name="T27" fmla="*/ 2 h 3"/>
                <a:gd name="T28" fmla="*/ 4 w 4"/>
                <a:gd name="T29" fmla="*/ 2 h 3"/>
                <a:gd name="T30" fmla="*/ 4 w 4"/>
                <a:gd name="T31" fmla="*/ 2 h 3"/>
                <a:gd name="T32" fmla="*/ 4 w 4"/>
                <a:gd name="T33" fmla="*/ 2 h 3"/>
                <a:gd name="T34" fmla="*/ 4 w 4"/>
                <a:gd name="T35" fmla="*/ 2 h 3"/>
                <a:gd name="T36" fmla="*/ 4 w 4"/>
                <a:gd name="T37" fmla="*/ 2 h 3"/>
                <a:gd name="T38" fmla="*/ 4 w 4"/>
                <a:gd name="T39" fmla="*/ 2 h 3"/>
                <a:gd name="T40" fmla="*/ 4 w 4"/>
                <a:gd name="T41" fmla="*/ 2 h 3"/>
                <a:gd name="T42" fmla="*/ 4 w 4"/>
                <a:gd name="T43" fmla="*/ 1 h 3"/>
                <a:gd name="T44" fmla="*/ 4 w 4"/>
                <a:gd name="T45" fmla="*/ 1 h 3"/>
                <a:gd name="T46" fmla="*/ 4 w 4"/>
                <a:gd name="T47" fmla="*/ 1 h 3"/>
                <a:gd name="T48" fmla="*/ 4 w 4"/>
                <a:gd name="T49" fmla="*/ 1 h 3"/>
                <a:gd name="T50" fmla="*/ 4 w 4"/>
                <a:gd name="T51" fmla="*/ 1 h 3"/>
                <a:gd name="T52" fmla="*/ 4 w 4"/>
                <a:gd name="T53" fmla="*/ 1 h 3"/>
                <a:gd name="T54" fmla="*/ 4 w 4"/>
                <a:gd name="T55" fmla="*/ 1 h 3"/>
                <a:gd name="T56" fmla="*/ 4 w 4"/>
                <a:gd name="T57" fmla="*/ 1 h 3"/>
                <a:gd name="T58" fmla="*/ 4 w 4"/>
                <a:gd name="T59" fmla="*/ 0 h 3"/>
                <a:gd name="T60" fmla="*/ 4 w 4"/>
                <a:gd name="T61" fmla="*/ 0 h 3"/>
                <a:gd name="T62" fmla="*/ 4 w 4"/>
                <a:gd name="T63" fmla="*/ 0 h 3"/>
                <a:gd name="T64" fmla="*/ 3 w 4"/>
                <a:gd name="T65" fmla="*/ 0 h 3"/>
                <a:gd name="T66" fmla="*/ 3 w 4"/>
                <a:gd name="T67" fmla="*/ 0 h 3"/>
                <a:gd name="T68" fmla="*/ 3 w 4"/>
                <a:gd name="T69" fmla="*/ 0 h 3"/>
                <a:gd name="T70" fmla="*/ 3 w 4"/>
                <a:gd name="T71" fmla="*/ 0 h 3"/>
                <a:gd name="T72" fmla="*/ 3 w 4"/>
                <a:gd name="T73" fmla="*/ 0 h 3"/>
                <a:gd name="T74" fmla="*/ 3 w 4"/>
                <a:gd name="T75" fmla="*/ 0 h 3"/>
                <a:gd name="T76" fmla="*/ 3 w 4"/>
                <a:gd name="T77" fmla="*/ 0 h 3"/>
                <a:gd name="T78" fmla="*/ 3 w 4"/>
                <a:gd name="T79" fmla="*/ 3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"/>
                <a:gd name="T121" fmla="*/ 0 h 3"/>
                <a:gd name="T122" fmla="*/ 4 w 4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" h="3">
                  <a:moveTo>
                    <a:pt x="3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3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92" name="Freeform 735"/>
            <p:cNvSpPr>
              <a:spLocks/>
            </p:cNvSpPr>
            <p:nvPr/>
          </p:nvSpPr>
          <p:spPr bwMode="auto">
            <a:xfrm>
              <a:off x="4217" y="2797"/>
              <a:ext cx="28" cy="23"/>
            </a:xfrm>
            <a:custGeom>
              <a:avLst/>
              <a:gdLst>
                <a:gd name="T0" fmla="*/ 28 w 28"/>
                <a:gd name="T1" fmla="*/ 21 h 23"/>
                <a:gd name="T2" fmla="*/ 27 w 28"/>
                <a:gd name="T3" fmla="*/ 20 h 23"/>
                <a:gd name="T4" fmla="*/ 26 w 28"/>
                <a:gd name="T5" fmla="*/ 18 h 23"/>
                <a:gd name="T6" fmla="*/ 26 w 28"/>
                <a:gd name="T7" fmla="*/ 16 h 23"/>
                <a:gd name="T8" fmla="*/ 25 w 28"/>
                <a:gd name="T9" fmla="*/ 14 h 23"/>
                <a:gd name="T10" fmla="*/ 24 w 28"/>
                <a:gd name="T11" fmla="*/ 13 h 23"/>
                <a:gd name="T12" fmla="*/ 23 w 28"/>
                <a:gd name="T13" fmla="*/ 11 h 23"/>
                <a:gd name="T14" fmla="*/ 22 w 28"/>
                <a:gd name="T15" fmla="*/ 10 h 23"/>
                <a:gd name="T16" fmla="*/ 21 w 28"/>
                <a:gd name="T17" fmla="*/ 8 h 23"/>
                <a:gd name="T18" fmla="*/ 19 w 28"/>
                <a:gd name="T19" fmla="*/ 7 h 23"/>
                <a:gd name="T20" fmla="*/ 17 w 28"/>
                <a:gd name="T21" fmla="*/ 5 h 23"/>
                <a:gd name="T22" fmla="*/ 16 w 28"/>
                <a:gd name="T23" fmla="*/ 4 h 23"/>
                <a:gd name="T24" fmla="*/ 13 w 28"/>
                <a:gd name="T25" fmla="*/ 3 h 23"/>
                <a:gd name="T26" fmla="*/ 11 w 28"/>
                <a:gd name="T27" fmla="*/ 2 h 23"/>
                <a:gd name="T28" fmla="*/ 9 w 28"/>
                <a:gd name="T29" fmla="*/ 1 h 23"/>
                <a:gd name="T30" fmla="*/ 6 w 28"/>
                <a:gd name="T31" fmla="*/ 0 h 23"/>
                <a:gd name="T32" fmla="*/ 4 w 28"/>
                <a:gd name="T33" fmla="*/ 0 h 23"/>
                <a:gd name="T34" fmla="*/ 3 w 28"/>
                <a:gd name="T35" fmla="*/ 0 h 23"/>
                <a:gd name="T36" fmla="*/ 1 w 28"/>
                <a:gd name="T37" fmla="*/ 0 h 23"/>
                <a:gd name="T38" fmla="*/ 0 w 28"/>
                <a:gd name="T39" fmla="*/ 0 h 23"/>
                <a:gd name="T40" fmla="*/ 1 w 28"/>
                <a:gd name="T41" fmla="*/ 3 h 23"/>
                <a:gd name="T42" fmla="*/ 2 w 28"/>
                <a:gd name="T43" fmla="*/ 3 h 23"/>
                <a:gd name="T44" fmla="*/ 4 w 28"/>
                <a:gd name="T45" fmla="*/ 3 h 23"/>
                <a:gd name="T46" fmla="*/ 5 w 28"/>
                <a:gd name="T47" fmla="*/ 3 h 23"/>
                <a:gd name="T48" fmla="*/ 7 w 28"/>
                <a:gd name="T49" fmla="*/ 4 h 23"/>
                <a:gd name="T50" fmla="*/ 9 w 28"/>
                <a:gd name="T51" fmla="*/ 4 h 23"/>
                <a:gd name="T52" fmla="*/ 12 w 28"/>
                <a:gd name="T53" fmla="*/ 5 h 23"/>
                <a:gd name="T54" fmla="*/ 13 w 28"/>
                <a:gd name="T55" fmla="*/ 6 h 23"/>
                <a:gd name="T56" fmla="*/ 15 w 28"/>
                <a:gd name="T57" fmla="*/ 7 h 23"/>
                <a:gd name="T58" fmla="*/ 17 w 28"/>
                <a:gd name="T59" fmla="*/ 9 h 23"/>
                <a:gd name="T60" fmla="*/ 18 w 28"/>
                <a:gd name="T61" fmla="*/ 10 h 23"/>
                <a:gd name="T62" fmla="*/ 19 w 28"/>
                <a:gd name="T63" fmla="*/ 11 h 23"/>
                <a:gd name="T64" fmla="*/ 20 w 28"/>
                <a:gd name="T65" fmla="*/ 13 h 23"/>
                <a:gd name="T66" fmla="*/ 21 w 28"/>
                <a:gd name="T67" fmla="*/ 14 h 23"/>
                <a:gd name="T68" fmla="*/ 22 w 28"/>
                <a:gd name="T69" fmla="*/ 15 h 23"/>
                <a:gd name="T70" fmla="*/ 23 w 28"/>
                <a:gd name="T71" fmla="*/ 17 h 23"/>
                <a:gd name="T72" fmla="*/ 23 w 28"/>
                <a:gd name="T73" fmla="*/ 18 h 23"/>
                <a:gd name="T74" fmla="*/ 24 w 28"/>
                <a:gd name="T75" fmla="*/ 20 h 23"/>
                <a:gd name="T76" fmla="*/ 25 w 28"/>
                <a:gd name="T77" fmla="*/ 22 h 23"/>
                <a:gd name="T78" fmla="*/ 28 w 28"/>
                <a:gd name="T79" fmla="*/ 22 h 23"/>
                <a:gd name="T80" fmla="*/ 25 w 28"/>
                <a:gd name="T81" fmla="*/ 23 h 23"/>
                <a:gd name="T82" fmla="*/ 25 w 28"/>
                <a:gd name="T83" fmla="*/ 23 h 23"/>
                <a:gd name="T84" fmla="*/ 26 w 28"/>
                <a:gd name="T85" fmla="*/ 23 h 23"/>
                <a:gd name="T86" fmla="*/ 26 w 28"/>
                <a:gd name="T87" fmla="*/ 23 h 23"/>
                <a:gd name="T88" fmla="*/ 26 w 28"/>
                <a:gd name="T89" fmla="*/ 23 h 23"/>
                <a:gd name="T90" fmla="*/ 27 w 28"/>
                <a:gd name="T91" fmla="*/ 23 h 23"/>
                <a:gd name="T92" fmla="*/ 27 w 28"/>
                <a:gd name="T93" fmla="*/ 23 h 23"/>
                <a:gd name="T94" fmla="*/ 27 w 28"/>
                <a:gd name="T95" fmla="*/ 23 h 23"/>
                <a:gd name="T96" fmla="*/ 28 w 28"/>
                <a:gd name="T97" fmla="*/ 23 h 23"/>
                <a:gd name="T98" fmla="*/ 28 w 28"/>
                <a:gd name="T99" fmla="*/ 22 h 23"/>
                <a:gd name="T100" fmla="*/ 28 w 28"/>
                <a:gd name="T101" fmla="*/ 22 h 2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8"/>
                <a:gd name="T154" fmla="*/ 0 h 23"/>
                <a:gd name="T155" fmla="*/ 28 w 28"/>
                <a:gd name="T156" fmla="*/ 23 h 2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8" h="23">
                  <a:moveTo>
                    <a:pt x="25" y="22"/>
                  </a:moveTo>
                  <a:lnTo>
                    <a:pt x="28" y="22"/>
                  </a:lnTo>
                  <a:lnTo>
                    <a:pt x="28" y="21"/>
                  </a:lnTo>
                  <a:lnTo>
                    <a:pt x="27" y="20"/>
                  </a:lnTo>
                  <a:lnTo>
                    <a:pt x="27" y="19"/>
                  </a:lnTo>
                  <a:lnTo>
                    <a:pt x="27" y="18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6"/>
                  </a:lnTo>
                  <a:lnTo>
                    <a:pt x="25" y="15"/>
                  </a:lnTo>
                  <a:lnTo>
                    <a:pt x="25" y="14"/>
                  </a:lnTo>
                  <a:lnTo>
                    <a:pt x="24" y="13"/>
                  </a:lnTo>
                  <a:lnTo>
                    <a:pt x="24" y="12"/>
                  </a:lnTo>
                  <a:lnTo>
                    <a:pt x="23" y="11"/>
                  </a:lnTo>
                  <a:lnTo>
                    <a:pt x="22" y="10"/>
                  </a:lnTo>
                  <a:lnTo>
                    <a:pt x="22" y="9"/>
                  </a:lnTo>
                  <a:lnTo>
                    <a:pt x="21" y="9"/>
                  </a:lnTo>
                  <a:lnTo>
                    <a:pt x="21" y="8"/>
                  </a:lnTo>
                  <a:lnTo>
                    <a:pt x="20" y="8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6"/>
                  </a:lnTo>
                  <a:lnTo>
                    <a:pt x="18" y="6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16" y="4"/>
                  </a:lnTo>
                  <a:lnTo>
                    <a:pt x="15" y="4"/>
                  </a:lnTo>
                  <a:lnTo>
                    <a:pt x="14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7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6"/>
                  </a:lnTo>
                  <a:lnTo>
                    <a:pt x="14" y="7"/>
                  </a:lnTo>
                  <a:lnTo>
                    <a:pt x="15" y="7"/>
                  </a:lnTo>
                  <a:lnTo>
                    <a:pt x="16" y="8"/>
                  </a:lnTo>
                  <a:lnTo>
                    <a:pt x="17" y="9"/>
                  </a:lnTo>
                  <a:lnTo>
                    <a:pt x="18" y="9"/>
                  </a:lnTo>
                  <a:lnTo>
                    <a:pt x="18" y="10"/>
                  </a:lnTo>
                  <a:lnTo>
                    <a:pt x="19" y="10"/>
                  </a:lnTo>
                  <a:lnTo>
                    <a:pt x="19" y="11"/>
                  </a:lnTo>
                  <a:lnTo>
                    <a:pt x="20" y="12"/>
                  </a:lnTo>
                  <a:lnTo>
                    <a:pt x="20" y="13"/>
                  </a:lnTo>
                  <a:lnTo>
                    <a:pt x="21" y="13"/>
                  </a:lnTo>
                  <a:lnTo>
                    <a:pt x="21" y="14"/>
                  </a:lnTo>
                  <a:lnTo>
                    <a:pt x="22" y="14"/>
                  </a:lnTo>
                  <a:lnTo>
                    <a:pt x="22" y="15"/>
                  </a:lnTo>
                  <a:lnTo>
                    <a:pt x="22" y="16"/>
                  </a:lnTo>
                  <a:lnTo>
                    <a:pt x="23" y="16"/>
                  </a:lnTo>
                  <a:lnTo>
                    <a:pt x="23" y="17"/>
                  </a:lnTo>
                  <a:lnTo>
                    <a:pt x="23" y="18"/>
                  </a:lnTo>
                  <a:lnTo>
                    <a:pt x="24" y="19"/>
                  </a:lnTo>
                  <a:lnTo>
                    <a:pt x="24" y="20"/>
                  </a:lnTo>
                  <a:lnTo>
                    <a:pt x="24" y="21"/>
                  </a:lnTo>
                  <a:lnTo>
                    <a:pt x="25" y="21"/>
                  </a:lnTo>
                  <a:lnTo>
                    <a:pt x="25" y="22"/>
                  </a:lnTo>
                  <a:lnTo>
                    <a:pt x="28" y="22"/>
                  </a:lnTo>
                  <a:lnTo>
                    <a:pt x="25" y="22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3"/>
                  </a:lnTo>
                  <a:lnTo>
                    <a:pt x="28" y="22"/>
                  </a:lnTo>
                  <a:lnTo>
                    <a:pt x="25" y="22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93" name="Freeform 736"/>
            <p:cNvSpPr>
              <a:spLocks/>
            </p:cNvSpPr>
            <p:nvPr/>
          </p:nvSpPr>
          <p:spPr bwMode="auto">
            <a:xfrm>
              <a:off x="4242" y="2796"/>
              <a:ext cx="3" cy="23"/>
            </a:xfrm>
            <a:custGeom>
              <a:avLst/>
              <a:gdLst>
                <a:gd name="T0" fmla="*/ 3 w 3"/>
                <a:gd name="T1" fmla="*/ 1 h 23"/>
                <a:gd name="T2" fmla="*/ 0 w 3"/>
                <a:gd name="T3" fmla="*/ 2 h 23"/>
                <a:gd name="T4" fmla="*/ 0 w 3"/>
                <a:gd name="T5" fmla="*/ 23 h 23"/>
                <a:gd name="T6" fmla="*/ 3 w 3"/>
                <a:gd name="T7" fmla="*/ 23 h 23"/>
                <a:gd name="T8" fmla="*/ 3 w 3"/>
                <a:gd name="T9" fmla="*/ 2 h 23"/>
                <a:gd name="T10" fmla="*/ 3 w 3"/>
                <a:gd name="T11" fmla="*/ 1 h 23"/>
                <a:gd name="T12" fmla="*/ 3 w 3"/>
                <a:gd name="T13" fmla="*/ 2 h 23"/>
                <a:gd name="T14" fmla="*/ 3 w 3"/>
                <a:gd name="T15" fmla="*/ 1 h 23"/>
                <a:gd name="T16" fmla="*/ 3 w 3"/>
                <a:gd name="T17" fmla="*/ 1 h 23"/>
                <a:gd name="T18" fmla="*/ 3 w 3"/>
                <a:gd name="T19" fmla="*/ 1 h 23"/>
                <a:gd name="T20" fmla="*/ 3 w 3"/>
                <a:gd name="T21" fmla="*/ 1 h 23"/>
                <a:gd name="T22" fmla="*/ 3 w 3"/>
                <a:gd name="T23" fmla="*/ 1 h 23"/>
                <a:gd name="T24" fmla="*/ 3 w 3"/>
                <a:gd name="T25" fmla="*/ 1 h 23"/>
                <a:gd name="T26" fmla="*/ 2 w 3"/>
                <a:gd name="T27" fmla="*/ 1 h 23"/>
                <a:gd name="T28" fmla="*/ 2 w 3"/>
                <a:gd name="T29" fmla="*/ 0 h 23"/>
                <a:gd name="T30" fmla="*/ 2 w 3"/>
                <a:gd name="T31" fmla="*/ 0 h 23"/>
                <a:gd name="T32" fmla="*/ 2 w 3"/>
                <a:gd name="T33" fmla="*/ 0 h 23"/>
                <a:gd name="T34" fmla="*/ 2 w 3"/>
                <a:gd name="T35" fmla="*/ 0 h 23"/>
                <a:gd name="T36" fmla="*/ 2 w 3"/>
                <a:gd name="T37" fmla="*/ 0 h 23"/>
                <a:gd name="T38" fmla="*/ 2 w 3"/>
                <a:gd name="T39" fmla="*/ 0 h 23"/>
                <a:gd name="T40" fmla="*/ 2 w 3"/>
                <a:gd name="T41" fmla="*/ 0 h 23"/>
                <a:gd name="T42" fmla="*/ 1 w 3"/>
                <a:gd name="T43" fmla="*/ 0 h 23"/>
                <a:gd name="T44" fmla="*/ 1 w 3"/>
                <a:gd name="T45" fmla="*/ 0 h 23"/>
                <a:gd name="T46" fmla="*/ 1 w 3"/>
                <a:gd name="T47" fmla="*/ 0 h 23"/>
                <a:gd name="T48" fmla="*/ 1 w 3"/>
                <a:gd name="T49" fmla="*/ 0 h 23"/>
                <a:gd name="T50" fmla="*/ 1 w 3"/>
                <a:gd name="T51" fmla="*/ 0 h 23"/>
                <a:gd name="T52" fmla="*/ 1 w 3"/>
                <a:gd name="T53" fmla="*/ 0 h 23"/>
                <a:gd name="T54" fmla="*/ 1 w 3"/>
                <a:gd name="T55" fmla="*/ 0 h 23"/>
                <a:gd name="T56" fmla="*/ 1 w 3"/>
                <a:gd name="T57" fmla="*/ 0 h 23"/>
                <a:gd name="T58" fmla="*/ 0 w 3"/>
                <a:gd name="T59" fmla="*/ 0 h 23"/>
                <a:gd name="T60" fmla="*/ 0 w 3"/>
                <a:gd name="T61" fmla="*/ 0 h 23"/>
                <a:gd name="T62" fmla="*/ 0 w 3"/>
                <a:gd name="T63" fmla="*/ 1 h 23"/>
                <a:gd name="T64" fmla="*/ 0 w 3"/>
                <a:gd name="T65" fmla="*/ 1 h 23"/>
                <a:gd name="T66" fmla="*/ 0 w 3"/>
                <a:gd name="T67" fmla="*/ 1 h 23"/>
                <a:gd name="T68" fmla="*/ 0 w 3"/>
                <a:gd name="T69" fmla="*/ 1 h 23"/>
                <a:gd name="T70" fmla="*/ 0 w 3"/>
                <a:gd name="T71" fmla="*/ 1 h 23"/>
                <a:gd name="T72" fmla="*/ 0 w 3"/>
                <a:gd name="T73" fmla="*/ 1 h 23"/>
                <a:gd name="T74" fmla="*/ 0 w 3"/>
                <a:gd name="T75" fmla="*/ 1 h 23"/>
                <a:gd name="T76" fmla="*/ 0 w 3"/>
                <a:gd name="T77" fmla="*/ 2 h 23"/>
                <a:gd name="T78" fmla="*/ 3 w 3"/>
                <a:gd name="T79" fmla="*/ 1 h 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23"/>
                <a:gd name="T122" fmla="*/ 3 w 3"/>
                <a:gd name="T123" fmla="*/ 23 h 2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23">
                  <a:moveTo>
                    <a:pt x="3" y="1"/>
                  </a:moveTo>
                  <a:lnTo>
                    <a:pt x="0" y="2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3" y="2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94" name="Freeform 737"/>
            <p:cNvSpPr>
              <a:spLocks/>
            </p:cNvSpPr>
            <p:nvPr/>
          </p:nvSpPr>
          <p:spPr bwMode="auto">
            <a:xfrm>
              <a:off x="4215" y="2775"/>
              <a:ext cx="30" cy="23"/>
            </a:xfrm>
            <a:custGeom>
              <a:avLst/>
              <a:gdLst>
                <a:gd name="T0" fmla="*/ 2 w 30"/>
                <a:gd name="T1" fmla="*/ 3 h 23"/>
                <a:gd name="T2" fmla="*/ 4 w 30"/>
                <a:gd name="T3" fmla="*/ 3 h 23"/>
                <a:gd name="T4" fmla="*/ 5 w 30"/>
                <a:gd name="T5" fmla="*/ 3 h 23"/>
                <a:gd name="T6" fmla="*/ 6 w 30"/>
                <a:gd name="T7" fmla="*/ 4 h 23"/>
                <a:gd name="T8" fmla="*/ 8 w 30"/>
                <a:gd name="T9" fmla="*/ 4 h 23"/>
                <a:gd name="T10" fmla="*/ 9 w 30"/>
                <a:gd name="T11" fmla="*/ 4 h 23"/>
                <a:gd name="T12" fmla="*/ 11 w 30"/>
                <a:gd name="T13" fmla="*/ 5 h 23"/>
                <a:gd name="T14" fmla="*/ 14 w 30"/>
                <a:gd name="T15" fmla="*/ 6 h 23"/>
                <a:gd name="T16" fmla="*/ 15 w 30"/>
                <a:gd name="T17" fmla="*/ 7 h 23"/>
                <a:gd name="T18" fmla="*/ 17 w 30"/>
                <a:gd name="T19" fmla="*/ 8 h 23"/>
                <a:gd name="T20" fmla="*/ 19 w 30"/>
                <a:gd name="T21" fmla="*/ 9 h 23"/>
                <a:gd name="T22" fmla="*/ 20 w 30"/>
                <a:gd name="T23" fmla="*/ 10 h 23"/>
                <a:gd name="T24" fmla="*/ 21 w 30"/>
                <a:gd name="T25" fmla="*/ 12 h 23"/>
                <a:gd name="T26" fmla="*/ 22 w 30"/>
                <a:gd name="T27" fmla="*/ 13 h 23"/>
                <a:gd name="T28" fmla="*/ 23 w 30"/>
                <a:gd name="T29" fmla="*/ 14 h 23"/>
                <a:gd name="T30" fmla="*/ 24 w 30"/>
                <a:gd name="T31" fmla="*/ 16 h 23"/>
                <a:gd name="T32" fmla="*/ 25 w 30"/>
                <a:gd name="T33" fmla="*/ 17 h 23"/>
                <a:gd name="T34" fmla="*/ 25 w 30"/>
                <a:gd name="T35" fmla="*/ 18 h 23"/>
                <a:gd name="T36" fmla="*/ 26 w 30"/>
                <a:gd name="T37" fmla="*/ 20 h 23"/>
                <a:gd name="T38" fmla="*/ 27 w 30"/>
                <a:gd name="T39" fmla="*/ 22 h 23"/>
                <a:gd name="T40" fmla="*/ 30 w 30"/>
                <a:gd name="T41" fmla="*/ 22 h 23"/>
                <a:gd name="T42" fmla="*/ 29 w 30"/>
                <a:gd name="T43" fmla="*/ 21 h 23"/>
                <a:gd name="T44" fmla="*/ 29 w 30"/>
                <a:gd name="T45" fmla="*/ 19 h 23"/>
                <a:gd name="T46" fmla="*/ 28 w 30"/>
                <a:gd name="T47" fmla="*/ 17 h 23"/>
                <a:gd name="T48" fmla="*/ 27 w 30"/>
                <a:gd name="T49" fmla="*/ 15 h 23"/>
                <a:gd name="T50" fmla="*/ 26 w 30"/>
                <a:gd name="T51" fmla="*/ 14 h 23"/>
                <a:gd name="T52" fmla="*/ 26 w 30"/>
                <a:gd name="T53" fmla="*/ 12 h 23"/>
                <a:gd name="T54" fmla="*/ 24 w 30"/>
                <a:gd name="T55" fmla="*/ 11 h 23"/>
                <a:gd name="T56" fmla="*/ 23 w 30"/>
                <a:gd name="T57" fmla="*/ 9 h 23"/>
                <a:gd name="T58" fmla="*/ 22 w 30"/>
                <a:gd name="T59" fmla="*/ 8 h 23"/>
                <a:gd name="T60" fmla="*/ 20 w 30"/>
                <a:gd name="T61" fmla="*/ 6 h 23"/>
                <a:gd name="T62" fmla="*/ 18 w 30"/>
                <a:gd name="T63" fmla="*/ 5 h 23"/>
                <a:gd name="T64" fmla="*/ 16 w 30"/>
                <a:gd name="T65" fmla="*/ 4 h 23"/>
                <a:gd name="T66" fmla="*/ 14 w 30"/>
                <a:gd name="T67" fmla="*/ 3 h 23"/>
                <a:gd name="T68" fmla="*/ 11 w 30"/>
                <a:gd name="T69" fmla="*/ 2 h 23"/>
                <a:gd name="T70" fmla="*/ 9 w 30"/>
                <a:gd name="T71" fmla="*/ 1 h 23"/>
                <a:gd name="T72" fmla="*/ 8 w 30"/>
                <a:gd name="T73" fmla="*/ 1 h 23"/>
                <a:gd name="T74" fmla="*/ 6 w 30"/>
                <a:gd name="T75" fmla="*/ 1 h 23"/>
                <a:gd name="T76" fmla="*/ 5 w 30"/>
                <a:gd name="T77" fmla="*/ 1 h 23"/>
                <a:gd name="T78" fmla="*/ 3 w 30"/>
                <a:gd name="T79" fmla="*/ 0 h 23"/>
                <a:gd name="T80" fmla="*/ 2 w 30"/>
                <a:gd name="T81" fmla="*/ 0 h 23"/>
                <a:gd name="T82" fmla="*/ 1 w 30"/>
                <a:gd name="T83" fmla="*/ 0 h 23"/>
                <a:gd name="T84" fmla="*/ 1 w 30"/>
                <a:gd name="T85" fmla="*/ 0 h 23"/>
                <a:gd name="T86" fmla="*/ 1 w 30"/>
                <a:gd name="T87" fmla="*/ 1 h 23"/>
                <a:gd name="T88" fmla="*/ 0 w 30"/>
                <a:gd name="T89" fmla="*/ 1 h 23"/>
                <a:gd name="T90" fmla="*/ 0 w 30"/>
                <a:gd name="T91" fmla="*/ 1 h 23"/>
                <a:gd name="T92" fmla="*/ 0 w 30"/>
                <a:gd name="T93" fmla="*/ 2 h 23"/>
                <a:gd name="T94" fmla="*/ 0 w 30"/>
                <a:gd name="T95" fmla="*/ 2 h 23"/>
                <a:gd name="T96" fmla="*/ 0 w 30"/>
                <a:gd name="T97" fmla="*/ 3 h 23"/>
                <a:gd name="T98" fmla="*/ 1 w 30"/>
                <a:gd name="T99" fmla="*/ 3 h 23"/>
                <a:gd name="T100" fmla="*/ 1 w 30"/>
                <a:gd name="T101" fmla="*/ 3 h 23"/>
                <a:gd name="T102" fmla="*/ 1 w 30"/>
                <a:gd name="T103" fmla="*/ 3 h 2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0"/>
                <a:gd name="T157" fmla="*/ 0 h 23"/>
                <a:gd name="T158" fmla="*/ 30 w 30"/>
                <a:gd name="T159" fmla="*/ 23 h 23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0" h="23">
                  <a:moveTo>
                    <a:pt x="2" y="3"/>
                  </a:moveTo>
                  <a:lnTo>
                    <a:pt x="2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4"/>
                  </a:lnTo>
                  <a:lnTo>
                    <a:pt x="7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6"/>
                  </a:lnTo>
                  <a:lnTo>
                    <a:pt x="15" y="6"/>
                  </a:lnTo>
                  <a:lnTo>
                    <a:pt x="15" y="7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8" y="8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20" y="10"/>
                  </a:lnTo>
                  <a:lnTo>
                    <a:pt x="21" y="11"/>
                  </a:lnTo>
                  <a:lnTo>
                    <a:pt x="21" y="12"/>
                  </a:lnTo>
                  <a:lnTo>
                    <a:pt x="22" y="12"/>
                  </a:lnTo>
                  <a:lnTo>
                    <a:pt x="22" y="13"/>
                  </a:lnTo>
                  <a:lnTo>
                    <a:pt x="23" y="13"/>
                  </a:lnTo>
                  <a:lnTo>
                    <a:pt x="23" y="14"/>
                  </a:lnTo>
                  <a:lnTo>
                    <a:pt x="24" y="15"/>
                  </a:lnTo>
                  <a:lnTo>
                    <a:pt x="24" y="16"/>
                  </a:lnTo>
                  <a:lnTo>
                    <a:pt x="25" y="17"/>
                  </a:lnTo>
                  <a:lnTo>
                    <a:pt x="25" y="18"/>
                  </a:lnTo>
                  <a:lnTo>
                    <a:pt x="26" y="19"/>
                  </a:lnTo>
                  <a:lnTo>
                    <a:pt x="26" y="20"/>
                  </a:lnTo>
                  <a:lnTo>
                    <a:pt x="26" y="21"/>
                  </a:lnTo>
                  <a:lnTo>
                    <a:pt x="27" y="22"/>
                  </a:lnTo>
                  <a:lnTo>
                    <a:pt x="27" y="23"/>
                  </a:lnTo>
                  <a:lnTo>
                    <a:pt x="30" y="22"/>
                  </a:lnTo>
                  <a:lnTo>
                    <a:pt x="30" y="21"/>
                  </a:lnTo>
                  <a:lnTo>
                    <a:pt x="29" y="21"/>
                  </a:lnTo>
                  <a:lnTo>
                    <a:pt x="29" y="20"/>
                  </a:lnTo>
                  <a:lnTo>
                    <a:pt x="29" y="19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8" y="16"/>
                  </a:lnTo>
                  <a:lnTo>
                    <a:pt x="27" y="16"/>
                  </a:lnTo>
                  <a:lnTo>
                    <a:pt x="27" y="15"/>
                  </a:lnTo>
                  <a:lnTo>
                    <a:pt x="27" y="14"/>
                  </a:lnTo>
                  <a:lnTo>
                    <a:pt x="26" y="14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5" y="12"/>
                  </a:lnTo>
                  <a:lnTo>
                    <a:pt x="25" y="11"/>
                  </a:lnTo>
                  <a:lnTo>
                    <a:pt x="24" y="11"/>
                  </a:lnTo>
                  <a:lnTo>
                    <a:pt x="24" y="10"/>
                  </a:lnTo>
                  <a:lnTo>
                    <a:pt x="23" y="9"/>
                  </a:lnTo>
                  <a:lnTo>
                    <a:pt x="22" y="8"/>
                  </a:lnTo>
                  <a:lnTo>
                    <a:pt x="21" y="7"/>
                  </a:lnTo>
                  <a:lnTo>
                    <a:pt x="20" y="6"/>
                  </a:lnTo>
                  <a:lnTo>
                    <a:pt x="19" y="6"/>
                  </a:lnTo>
                  <a:lnTo>
                    <a:pt x="19" y="5"/>
                  </a:lnTo>
                  <a:lnTo>
                    <a:pt x="18" y="5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5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1" y="2"/>
                  </a:lnTo>
                  <a:lnTo>
                    <a:pt x="10" y="1"/>
                  </a:lnTo>
                  <a:lnTo>
                    <a:pt x="9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1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3"/>
                  </a:lnTo>
                  <a:lnTo>
                    <a:pt x="2" y="3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95" name="Freeform 738"/>
            <p:cNvSpPr>
              <a:spLocks/>
            </p:cNvSpPr>
            <p:nvPr/>
          </p:nvSpPr>
          <p:spPr bwMode="auto">
            <a:xfrm>
              <a:off x="4210" y="2775"/>
              <a:ext cx="7" cy="3"/>
            </a:xfrm>
            <a:custGeom>
              <a:avLst/>
              <a:gdLst>
                <a:gd name="T0" fmla="*/ 0 w 7"/>
                <a:gd name="T1" fmla="*/ 2 h 3"/>
                <a:gd name="T2" fmla="*/ 2 w 7"/>
                <a:gd name="T3" fmla="*/ 3 h 3"/>
                <a:gd name="T4" fmla="*/ 7 w 7"/>
                <a:gd name="T5" fmla="*/ 3 h 3"/>
                <a:gd name="T6" fmla="*/ 7 w 7"/>
                <a:gd name="T7" fmla="*/ 0 h 3"/>
                <a:gd name="T8" fmla="*/ 2 w 7"/>
                <a:gd name="T9" fmla="*/ 0 h 3"/>
                <a:gd name="T10" fmla="*/ 0 w 7"/>
                <a:gd name="T11" fmla="*/ 2 h 3"/>
                <a:gd name="T12" fmla="*/ 2 w 7"/>
                <a:gd name="T13" fmla="*/ 0 h 3"/>
                <a:gd name="T14" fmla="*/ 1 w 7"/>
                <a:gd name="T15" fmla="*/ 0 h 3"/>
                <a:gd name="T16" fmla="*/ 1 w 7"/>
                <a:gd name="T17" fmla="*/ 0 h 3"/>
                <a:gd name="T18" fmla="*/ 1 w 7"/>
                <a:gd name="T19" fmla="*/ 0 h 3"/>
                <a:gd name="T20" fmla="*/ 1 w 7"/>
                <a:gd name="T21" fmla="*/ 0 h 3"/>
                <a:gd name="T22" fmla="*/ 1 w 7"/>
                <a:gd name="T23" fmla="*/ 1 h 3"/>
                <a:gd name="T24" fmla="*/ 1 w 7"/>
                <a:gd name="T25" fmla="*/ 1 h 3"/>
                <a:gd name="T26" fmla="*/ 1 w 7"/>
                <a:gd name="T27" fmla="*/ 1 h 3"/>
                <a:gd name="T28" fmla="*/ 0 w 7"/>
                <a:gd name="T29" fmla="*/ 1 h 3"/>
                <a:gd name="T30" fmla="*/ 0 w 7"/>
                <a:gd name="T31" fmla="*/ 1 h 3"/>
                <a:gd name="T32" fmla="*/ 0 w 7"/>
                <a:gd name="T33" fmla="*/ 1 h 3"/>
                <a:gd name="T34" fmla="*/ 0 w 7"/>
                <a:gd name="T35" fmla="*/ 1 h 3"/>
                <a:gd name="T36" fmla="*/ 0 w 7"/>
                <a:gd name="T37" fmla="*/ 1 h 3"/>
                <a:gd name="T38" fmla="*/ 0 w 7"/>
                <a:gd name="T39" fmla="*/ 1 h 3"/>
                <a:gd name="T40" fmla="*/ 0 w 7"/>
                <a:gd name="T41" fmla="*/ 2 h 3"/>
                <a:gd name="T42" fmla="*/ 0 w 7"/>
                <a:gd name="T43" fmla="*/ 2 h 3"/>
                <a:gd name="T44" fmla="*/ 0 w 7"/>
                <a:gd name="T45" fmla="*/ 2 h 3"/>
                <a:gd name="T46" fmla="*/ 0 w 7"/>
                <a:gd name="T47" fmla="*/ 2 h 3"/>
                <a:gd name="T48" fmla="*/ 0 w 7"/>
                <a:gd name="T49" fmla="*/ 2 h 3"/>
                <a:gd name="T50" fmla="*/ 0 w 7"/>
                <a:gd name="T51" fmla="*/ 2 h 3"/>
                <a:gd name="T52" fmla="*/ 0 w 7"/>
                <a:gd name="T53" fmla="*/ 2 h 3"/>
                <a:gd name="T54" fmla="*/ 0 w 7"/>
                <a:gd name="T55" fmla="*/ 2 h 3"/>
                <a:gd name="T56" fmla="*/ 0 w 7"/>
                <a:gd name="T57" fmla="*/ 3 h 3"/>
                <a:gd name="T58" fmla="*/ 0 w 7"/>
                <a:gd name="T59" fmla="*/ 3 h 3"/>
                <a:gd name="T60" fmla="*/ 0 w 7"/>
                <a:gd name="T61" fmla="*/ 3 h 3"/>
                <a:gd name="T62" fmla="*/ 1 w 7"/>
                <a:gd name="T63" fmla="*/ 3 h 3"/>
                <a:gd name="T64" fmla="*/ 1 w 7"/>
                <a:gd name="T65" fmla="*/ 3 h 3"/>
                <a:gd name="T66" fmla="*/ 1 w 7"/>
                <a:gd name="T67" fmla="*/ 3 h 3"/>
                <a:gd name="T68" fmla="*/ 1 w 7"/>
                <a:gd name="T69" fmla="*/ 3 h 3"/>
                <a:gd name="T70" fmla="*/ 1 w 7"/>
                <a:gd name="T71" fmla="*/ 3 h 3"/>
                <a:gd name="T72" fmla="*/ 1 w 7"/>
                <a:gd name="T73" fmla="*/ 3 h 3"/>
                <a:gd name="T74" fmla="*/ 1 w 7"/>
                <a:gd name="T75" fmla="*/ 3 h 3"/>
                <a:gd name="T76" fmla="*/ 2 w 7"/>
                <a:gd name="T77" fmla="*/ 3 h 3"/>
                <a:gd name="T78" fmla="*/ 0 w 7"/>
                <a:gd name="T79" fmla="*/ 2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"/>
                <a:gd name="T121" fmla="*/ 0 h 3"/>
                <a:gd name="T122" fmla="*/ 7 w 7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" h="3">
                  <a:moveTo>
                    <a:pt x="0" y="2"/>
                  </a:moveTo>
                  <a:lnTo>
                    <a:pt x="2" y="3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96" name="Freeform 739"/>
            <p:cNvSpPr>
              <a:spLocks/>
            </p:cNvSpPr>
            <p:nvPr/>
          </p:nvSpPr>
          <p:spPr bwMode="auto">
            <a:xfrm>
              <a:off x="4210" y="2777"/>
              <a:ext cx="5" cy="23"/>
            </a:xfrm>
            <a:custGeom>
              <a:avLst/>
              <a:gdLst>
                <a:gd name="T0" fmla="*/ 4 w 5"/>
                <a:gd name="T1" fmla="*/ 23 h 23"/>
                <a:gd name="T2" fmla="*/ 5 w 5"/>
                <a:gd name="T3" fmla="*/ 21 h 23"/>
                <a:gd name="T4" fmla="*/ 3 w 5"/>
                <a:gd name="T5" fmla="*/ 0 h 23"/>
                <a:gd name="T6" fmla="*/ 0 w 5"/>
                <a:gd name="T7" fmla="*/ 0 h 23"/>
                <a:gd name="T8" fmla="*/ 2 w 5"/>
                <a:gd name="T9" fmla="*/ 21 h 23"/>
                <a:gd name="T10" fmla="*/ 4 w 5"/>
                <a:gd name="T11" fmla="*/ 23 h 23"/>
                <a:gd name="T12" fmla="*/ 2 w 5"/>
                <a:gd name="T13" fmla="*/ 21 h 23"/>
                <a:gd name="T14" fmla="*/ 2 w 5"/>
                <a:gd name="T15" fmla="*/ 22 h 23"/>
                <a:gd name="T16" fmla="*/ 2 w 5"/>
                <a:gd name="T17" fmla="*/ 22 h 23"/>
                <a:gd name="T18" fmla="*/ 2 w 5"/>
                <a:gd name="T19" fmla="*/ 22 h 23"/>
                <a:gd name="T20" fmla="*/ 2 w 5"/>
                <a:gd name="T21" fmla="*/ 22 h 23"/>
                <a:gd name="T22" fmla="*/ 2 w 5"/>
                <a:gd name="T23" fmla="*/ 22 h 23"/>
                <a:gd name="T24" fmla="*/ 2 w 5"/>
                <a:gd name="T25" fmla="*/ 22 h 23"/>
                <a:gd name="T26" fmla="*/ 3 w 5"/>
                <a:gd name="T27" fmla="*/ 22 h 23"/>
                <a:gd name="T28" fmla="*/ 3 w 5"/>
                <a:gd name="T29" fmla="*/ 22 h 23"/>
                <a:gd name="T30" fmla="*/ 3 w 5"/>
                <a:gd name="T31" fmla="*/ 23 h 23"/>
                <a:gd name="T32" fmla="*/ 3 w 5"/>
                <a:gd name="T33" fmla="*/ 23 h 23"/>
                <a:gd name="T34" fmla="*/ 3 w 5"/>
                <a:gd name="T35" fmla="*/ 23 h 23"/>
                <a:gd name="T36" fmla="*/ 3 w 5"/>
                <a:gd name="T37" fmla="*/ 23 h 23"/>
                <a:gd name="T38" fmla="*/ 3 w 5"/>
                <a:gd name="T39" fmla="*/ 23 h 23"/>
                <a:gd name="T40" fmla="*/ 3 w 5"/>
                <a:gd name="T41" fmla="*/ 23 h 23"/>
                <a:gd name="T42" fmla="*/ 4 w 5"/>
                <a:gd name="T43" fmla="*/ 23 h 23"/>
                <a:gd name="T44" fmla="*/ 4 w 5"/>
                <a:gd name="T45" fmla="*/ 23 h 23"/>
                <a:gd name="T46" fmla="*/ 4 w 5"/>
                <a:gd name="T47" fmla="*/ 23 h 23"/>
                <a:gd name="T48" fmla="*/ 4 w 5"/>
                <a:gd name="T49" fmla="*/ 23 h 23"/>
                <a:gd name="T50" fmla="*/ 4 w 5"/>
                <a:gd name="T51" fmla="*/ 23 h 23"/>
                <a:gd name="T52" fmla="*/ 4 w 5"/>
                <a:gd name="T53" fmla="*/ 23 h 23"/>
                <a:gd name="T54" fmla="*/ 4 w 5"/>
                <a:gd name="T55" fmla="*/ 23 h 23"/>
                <a:gd name="T56" fmla="*/ 4 w 5"/>
                <a:gd name="T57" fmla="*/ 22 h 23"/>
                <a:gd name="T58" fmla="*/ 5 w 5"/>
                <a:gd name="T59" fmla="*/ 22 h 23"/>
                <a:gd name="T60" fmla="*/ 5 w 5"/>
                <a:gd name="T61" fmla="*/ 22 h 23"/>
                <a:gd name="T62" fmla="*/ 5 w 5"/>
                <a:gd name="T63" fmla="*/ 22 h 23"/>
                <a:gd name="T64" fmla="*/ 5 w 5"/>
                <a:gd name="T65" fmla="*/ 22 h 23"/>
                <a:gd name="T66" fmla="*/ 5 w 5"/>
                <a:gd name="T67" fmla="*/ 22 h 23"/>
                <a:gd name="T68" fmla="*/ 5 w 5"/>
                <a:gd name="T69" fmla="*/ 22 h 23"/>
                <a:gd name="T70" fmla="*/ 5 w 5"/>
                <a:gd name="T71" fmla="*/ 22 h 23"/>
                <a:gd name="T72" fmla="*/ 5 w 5"/>
                <a:gd name="T73" fmla="*/ 22 h 23"/>
                <a:gd name="T74" fmla="*/ 5 w 5"/>
                <a:gd name="T75" fmla="*/ 21 h 23"/>
                <a:gd name="T76" fmla="*/ 5 w 5"/>
                <a:gd name="T77" fmla="*/ 21 h 23"/>
                <a:gd name="T78" fmla="*/ 4 w 5"/>
                <a:gd name="T79" fmla="*/ 23 h 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"/>
                <a:gd name="T121" fmla="*/ 0 h 23"/>
                <a:gd name="T122" fmla="*/ 5 w 5"/>
                <a:gd name="T123" fmla="*/ 23 h 2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" h="23">
                  <a:moveTo>
                    <a:pt x="4" y="23"/>
                  </a:moveTo>
                  <a:lnTo>
                    <a:pt x="5" y="21"/>
                  </a:lnTo>
                  <a:lnTo>
                    <a:pt x="3" y="0"/>
                  </a:lnTo>
                  <a:lnTo>
                    <a:pt x="0" y="0"/>
                  </a:lnTo>
                  <a:lnTo>
                    <a:pt x="2" y="21"/>
                  </a:lnTo>
                  <a:lnTo>
                    <a:pt x="4" y="23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4" y="23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97" name="Rectangle 740"/>
            <p:cNvSpPr>
              <a:spLocks noChangeArrowheads="1"/>
            </p:cNvSpPr>
            <p:nvPr/>
          </p:nvSpPr>
          <p:spPr bwMode="auto">
            <a:xfrm>
              <a:off x="4214" y="2797"/>
              <a:ext cx="3" cy="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798" name="Rectangle 741"/>
            <p:cNvSpPr>
              <a:spLocks noChangeArrowheads="1"/>
            </p:cNvSpPr>
            <p:nvPr/>
          </p:nvSpPr>
          <p:spPr bwMode="auto">
            <a:xfrm>
              <a:off x="4242" y="2798"/>
              <a:ext cx="3" cy="2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799" name="Rectangle 742"/>
            <p:cNvSpPr>
              <a:spLocks noChangeArrowheads="1"/>
            </p:cNvSpPr>
            <p:nvPr/>
          </p:nvSpPr>
          <p:spPr bwMode="auto">
            <a:xfrm>
              <a:off x="4212" y="2775"/>
              <a:ext cx="5" cy="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800" name="Freeform 743"/>
            <p:cNvSpPr>
              <a:spLocks/>
            </p:cNvSpPr>
            <p:nvPr/>
          </p:nvSpPr>
          <p:spPr bwMode="auto">
            <a:xfrm>
              <a:off x="4072" y="2856"/>
              <a:ext cx="31" cy="42"/>
            </a:xfrm>
            <a:custGeom>
              <a:avLst/>
              <a:gdLst>
                <a:gd name="T0" fmla="*/ 26 w 31"/>
                <a:gd name="T1" fmla="*/ 21 h 42"/>
                <a:gd name="T2" fmla="*/ 22 w 31"/>
                <a:gd name="T3" fmla="*/ 21 h 42"/>
                <a:gd name="T4" fmla="*/ 19 w 31"/>
                <a:gd name="T5" fmla="*/ 20 h 42"/>
                <a:gd name="T6" fmla="*/ 15 w 31"/>
                <a:gd name="T7" fmla="*/ 19 h 42"/>
                <a:gd name="T8" fmla="*/ 13 w 31"/>
                <a:gd name="T9" fmla="*/ 18 h 42"/>
                <a:gd name="T10" fmla="*/ 10 w 31"/>
                <a:gd name="T11" fmla="*/ 16 h 42"/>
                <a:gd name="T12" fmla="*/ 8 w 31"/>
                <a:gd name="T13" fmla="*/ 14 h 42"/>
                <a:gd name="T14" fmla="*/ 6 w 31"/>
                <a:gd name="T15" fmla="*/ 12 h 42"/>
                <a:gd name="T16" fmla="*/ 5 w 31"/>
                <a:gd name="T17" fmla="*/ 11 h 42"/>
                <a:gd name="T18" fmla="*/ 3 w 31"/>
                <a:gd name="T19" fmla="*/ 9 h 42"/>
                <a:gd name="T20" fmla="*/ 2 w 31"/>
                <a:gd name="T21" fmla="*/ 7 h 42"/>
                <a:gd name="T22" fmla="*/ 2 w 31"/>
                <a:gd name="T23" fmla="*/ 5 h 42"/>
                <a:gd name="T24" fmla="*/ 1 w 31"/>
                <a:gd name="T25" fmla="*/ 3 h 42"/>
                <a:gd name="T26" fmla="*/ 1 w 31"/>
                <a:gd name="T27" fmla="*/ 2 h 42"/>
                <a:gd name="T28" fmla="*/ 0 w 31"/>
                <a:gd name="T29" fmla="*/ 1 h 42"/>
                <a:gd name="T30" fmla="*/ 0 w 31"/>
                <a:gd name="T31" fmla="*/ 0 h 42"/>
                <a:gd name="T32" fmla="*/ 0 w 31"/>
                <a:gd name="T33" fmla="*/ 22 h 42"/>
                <a:gd name="T34" fmla="*/ 0 w 31"/>
                <a:gd name="T35" fmla="*/ 23 h 42"/>
                <a:gd name="T36" fmla="*/ 1 w 31"/>
                <a:gd name="T37" fmla="*/ 24 h 42"/>
                <a:gd name="T38" fmla="*/ 1 w 31"/>
                <a:gd name="T39" fmla="*/ 26 h 42"/>
                <a:gd name="T40" fmla="*/ 2 w 31"/>
                <a:gd name="T41" fmla="*/ 27 h 42"/>
                <a:gd name="T42" fmla="*/ 3 w 31"/>
                <a:gd name="T43" fmla="*/ 29 h 42"/>
                <a:gd name="T44" fmla="*/ 4 w 31"/>
                <a:gd name="T45" fmla="*/ 31 h 42"/>
                <a:gd name="T46" fmla="*/ 5 w 31"/>
                <a:gd name="T47" fmla="*/ 33 h 42"/>
                <a:gd name="T48" fmla="*/ 7 w 31"/>
                <a:gd name="T49" fmla="*/ 35 h 42"/>
                <a:gd name="T50" fmla="*/ 9 w 31"/>
                <a:gd name="T51" fmla="*/ 37 h 42"/>
                <a:gd name="T52" fmla="*/ 11 w 31"/>
                <a:gd name="T53" fmla="*/ 38 h 42"/>
                <a:gd name="T54" fmla="*/ 14 w 31"/>
                <a:gd name="T55" fmla="*/ 40 h 42"/>
                <a:gd name="T56" fmla="*/ 17 w 31"/>
                <a:gd name="T57" fmla="*/ 41 h 42"/>
                <a:gd name="T58" fmla="*/ 21 w 31"/>
                <a:gd name="T59" fmla="*/ 42 h 42"/>
                <a:gd name="T60" fmla="*/ 24 w 31"/>
                <a:gd name="T61" fmla="*/ 42 h 42"/>
                <a:gd name="T62" fmla="*/ 31 w 31"/>
                <a:gd name="T63" fmla="*/ 42 h 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1"/>
                <a:gd name="T97" fmla="*/ 0 h 42"/>
                <a:gd name="T98" fmla="*/ 31 w 31"/>
                <a:gd name="T99" fmla="*/ 42 h 4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1" h="42">
                  <a:moveTo>
                    <a:pt x="31" y="21"/>
                  </a:moveTo>
                  <a:lnTo>
                    <a:pt x="26" y="21"/>
                  </a:lnTo>
                  <a:lnTo>
                    <a:pt x="24" y="21"/>
                  </a:lnTo>
                  <a:lnTo>
                    <a:pt x="22" y="21"/>
                  </a:lnTo>
                  <a:lnTo>
                    <a:pt x="21" y="20"/>
                  </a:lnTo>
                  <a:lnTo>
                    <a:pt x="19" y="20"/>
                  </a:lnTo>
                  <a:lnTo>
                    <a:pt x="17" y="20"/>
                  </a:lnTo>
                  <a:lnTo>
                    <a:pt x="15" y="19"/>
                  </a:lnTo>
                  <a:lnTo>
                    <a:pt x="14" y="18"/>
                  </a:lnTo>
                  <a:lnTo>
                    <a:pt x="13" y="18"/>
                  </a:lnTo>
                  <a:lnTo>
                    <a:pt x="11" y="17"/>
                  </a:lnTo>
                  <a:lnTo>
                    <a:pt x="10" y="16"/>
                  </a:lnTo>
                  <a:lnTo>
                    <a:pt x="9" y="15"/>
                  </a:lnTo>
                  <a:lnTo>
                    <a:pt x="8" y="14"/>
                  </a:lnTo>
                  <a:lnTo>
                    <a:pt x="7" y="13"/>
                  </a:lnTo>
                  <a:lnTo>
                    <a:pt x="6" y="12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4" y="10"/>
                  </a:lnTo>
                  <a:lnTo>
                    <a:pt x="3" y="9"/>
                  </a:lnTo>
                  <a:lnTo>
                    <a:pt x="3" y="8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4" y="31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6" y="34"/>
                  </a:lnTo>
                  <a:lnTo>
                    <a:pt x="7" y="35"/>
                  </a:lnTo>
                  <a:lnTo>
                    <a:pt x="8" y="36"/>
                  </a:lnTo>
                  <a:lnTo>
                    <a:pt x="9" y="37"/>
                  </a:lnTo>
                  <a:lnTo>
                    <a:pt x="10" y="38"/>
                  </a:lnTo>
                  <a:lnTo>
                    <a:pt x="11" y="38"/>
                  </a:lnTo>
                  <a:lnTo>
                    <a:pt x="13" y="39"/>
                  </a:lnTo>
                  <a:lnTo>
                    <a:pt x="14" y="40"/>
                  </a:lnTo>
                  <a:lnTo>
                    <a:pt x="15" y="41"/>
                  </a:lnTo>
                  <a:lnTo>
                    <a:pt x="17" y="41"/>
                  </a:lnTo>
                  <a:lnTo>
                    <a:pt x="19" y="42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6" y="42"/>
                  </a:lnTo>
                  <a:lnTo>
                    <a:pt x="31" y="42"/>
                  </a:lnTo>
                  <a:lnTo>
                    <a:pt x="31" y="2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01" name="Freeform 744"/>
            <p:cNvSpPr>
              <a:spLocks/>
            </p:cNvSpPr>
            <p:nvPr/>
          </p:nvSpPr>
          <p:spPr bwMode="auto">
            <a:xfrm>
              <a:off x="4097" y="2875"/>
              <a:ext cx="6" cy="3"/>
            </a:xfrm>
            <a:custGeom>
              <a:avLst/>
              <a:gdLst>
                <a:gd name="T0" fmla="*/ 1 w 6"/>
                <a:gd name="T1" fmla="*/ 0 h 3"/>
                <a:gd name="T2" fmla="*/ 1 w 6"/>
                <a:gd name="T3" fmla="*/ 3 h 3"/>
                <a:gd name="T4" fmla="*/ 6 w 6"/>
                <a:gd name="T5" fmla="*/ 3 h 3"/>
                <a:gd name="T6" fmla="*/ 6 w 6"/>
                <a:gd name="T7" fmla="*/ 0 h 3"/>
                <a:gd name="T8" fmla="*/ 1 w 6"/>
                <a:gd name="T9" fmla="*/ 0 h 3"/>
                <a:gd name="T10" fmla="*/ 1 w 6"/>
                <a:gd name="T11" fmla="*/ 0 h 3"/>
                <a:gd name="T12" fmla="*/ 1 w 6"/>
                <a:gd name="T13" fmla="*/ 0 h 3"/>
                <a:gd name="T14" fmla="*/ 1 w 6"/>
                <a:gd name="T15" fmla="*/ 0 h 3"/>
                <a:gd name="T16" fmla="*/ 1 w 6"/>
                <a:gd name="T17" fmla="*/ 0 h 3"/>
                <a:gd name="T18" fmla="*/ 1 w 6"/>
                <a:gd name="T19" fmla="*/ 1 h 3"/>
                <a:gd name="T20" fmla="*/ 1 w 6"/>
                <a:gd name="T21" fmla="*/ 1 h 3"/>
                <a:gd name="T22" fmla="*/ 1 w 6"/>
                <a:gd name="T23" fmla="*/ 1 h 3"/>
                <a:gd name="T24" fmla="*/ 1 w 6"/>
                <a:gd name="T25" fmla="*/ 1 h 3"/>
                <a:gd name="T26" fmla="*/ 1 w 6"/>
                <a:gd name="T27" fmla="*/ 1 h 3"/>
                <a:gd name="T28" fmla="*/ 0 w 6"/>
                <a:gd name="T29" fmla="*/ 1 h 3"/>
                <a:gd name="T30" fmla="*/ 0 w 6"/>
                <a:gd name="T31" fmla="*/ 1 h 3"/>
                <a:gd name="T32" fmla="*/ 0 w 6"/>
                <a:gd name="T33" fmla="*/ 1 h 3"/>
                <a:gd name="T34" fmla="*/ 0 w 6"/>
                <a:gd name="T35" fmla="*/ 1 h 3"/>
                <a:gd name="T36" fmla="*/ 0 w 6"/>
                <a:gd name="T37" fmla="*/ 1 h 3"/>
                <a:gd name="T38" fmla="*/ 0 w 6"/>
                <a:gd name="T39" fmla="*/ 2 h 3"/>
                <a:gd name="T40" fmla="*/ 0 w 6"/>
                <a:gd name="T41" fmla="*/ 2 h 3"/>
                <a:gd name="T42" fmla="*/ 0 w 6"/>
                <a:gd name="T43" fmla="*/ 2 h 3"/>
                <a:gd name="T44" fmla="*/ 0 w 6"/>
                <a:gd name="T45" fmla="*/ 2 h 3"/>
                <a:gd name="T46" fmla="*/ 0 w 6"/>
                <a:gd name="T47" fmla="*/ 2 h 3"/>
                <a:gd name="T48" fmla="*/ 0 w 6"/>
                <a:gd name="T49" fmla="*/ 2 h 3"/>
                <a:gd name="T50" fmla="*/ 0 w 6"/>
                <a:gd name="T51" fmla="*/ 2 h 3"/>
                <a:gd name="T52" fmla="*/ 0 w 6"/>
                <a:gd name="T53" fmla="*/ 2 h 3"/>
                <a:gd name="T54" fmla="*/ 0 w 6"/>
                <a:gd name="T55" fmla="*/ 3 h 3"/>
                <a:gd name="T56" fmla="*/ 0 w 6"/>
                <a:gd name="T57" fmla="*/ 3 h 3"/>
                <a:gd name="T58" fmla="*/ 0 w 6"/>
                <a:gd name="T59" fmla="*/ 3 h 3"/>
                <a:gd name="T60" fmla="*/ 0 w 6"/>
                <a:gd name="T61" fmla="*/ 3 h 3"/>
                <a:gd name="T62" fmla="*/ 1 w 6"/>
                <a:gd name="T63" fmla="*/ 3 h 3"/>
                <a:gd name="T64" fmla="*/ 1 w 6"/>
                <a:gd name="T65" fmla="*/ 3 h 3"/>
                <a:gd name="T66" fmla="*/ 1 w 6"/>
                <a:gd name="T67" fmla="*/ 3 h 3"/>
                <a:gd name="T68" fmla="*/ 1 w 6"/>
                <a:gd name="T69" fmla="*/ 3 h 3"/>
                <a:gd name="T70" fmla="*/ 1 w 6"/>
                <a:gd name="T71" fmla="*/ 3 h 3"/>
                <a:gd name="T72" fmla="*/ 1 w 6"/>
                <a:gd name="T73" fmla="*/ 3 h 3"/>
                <a:gd name="T74" fmla="*/ 1 w 6"/>
                <a:gd name="T75" fmla="*/ 3 h 3"/>
                <a:gd name="T76" fmla="*/ 1 w 6"/>
                <a:gd name="T77" fmla="*/ 3 h 3"/>
                <a:gd name="T78" fmla="*/ 1 w 6"/>
                <a:gd name="T79" fmla="*/ 0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6"/>
                <a:gd name="T121" fmla="*/ 0 h 3"/>
                <a:gd name="T122" fmla="*/ 6 w 6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6" h="3">
                  <a:moveTo>
                    <a:pt x="1" y="0"/>
                  </a:moveTo>
                  <a:lnTo>
                    <a:pt x="1" y="3"/>
                  </a:lnTo>
                  <a:lnTo>
                    <a:pt x="6" y="3"/>
                  </a:lnTo>
                  <a:lnTo>
                    <a:pt x="6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02" name="Freeform 745"/>
            <p:cNvSpPr>
              <a:spLocks/>
            </p:cNvSpPr>
            <p:nvPr/>
          </p:nvSpPr>
          <p:spPr bwMode="auto">
            <a:xfrm>
              <a:off x="4071" y="2855"/>
              <a:ext cx="27" cy="23"/>
            </a:xfrm>
            <a:custGeom>
              <a:avLst/>
              <a:gdLst>
                <a:gd name="T0" fmla="*/ 0 w 27"/>
                <a:gd name="T1" fmla="*/ 2 h 23"/>
                <a:gd name="T2" fmla="*/ 0 w 27"/>
                <a:gd name="T3" fmla="*/ 3 h 23"/>
                <a:gd name="T4" fmla="*/ 1 w 27"/>
                <a:gd name="T5" fmla="*/ 6 h 23"/>
                <a:gd name="T6" fmla="*/ 2 w 27"/>
                <a:gd name="T7" fmla="*/ 7 h 23"/>
                <a:gd name="T8" fmla="*/ 2 w 27"/>
                <a:gd name="T9" fmla="*/ 9 h 23"/>
                <a:gd name="T10" fmla="*/ 3 w 27"/>
                <a:gd name="T11" fmla="*/ 10 h 23"/>
                <a:gd name="T12" fmla="*/ 4 w 27"/>
                <a:gd name="T13" fmla="*/ 12 h 23"/>
                <a:gd name="T14" fmla="*/ 5 w 27"/>
                <a:gd name="T15" fmla="*/ 13 h 23"/>
                <a:gd name="T16" fmla="*/ 7 w 27"/>
                <a:gd name="T17" fmla="*/ 15 h 23"/>
                <a:gd name="T18" fmla="*/ 8 w 27"/>
                <a:gd name="T19" fmla="*/ 16 h 23"/>
                <a:gd name="T20" fmla="*/ 10 w 27"/>
                <a:gd name="T21" fmla="*/ 18 h 23"/>
                <a:gd name="T22" fmla="*/ 12 w 27"/>
                <a:gd name="T23" fmla="*/ 19 h 23"/>
                <a:gd name="T24" fmla="*/ 14 w 27"/>
                <a:gd name="T25" fmla="*/ 20 h 23"/>
                <a:gd name="T26" fmla="*/ 16 w 27"/>
                <a:gd name="T27" fmla="*/ 21 h 23"/>
                <a:gd name="T28" fmla="*/ 18 w 27"/>
                <a:gd name="T29" fmla="*/ 22 h 23"/>
                <a:gd name="T30" fmla="*/ 19 w 27"/>
                <a:gd name="T31" fmla="*/ 22 h 23"/>
                <a:gd name="T32" fmla="*/ 21 w 27"/>
                <a:gd name="T33" fmla="*/ 23 h 23"/>
                <a:gd name="T34" fmla="*/ 22 w 27"/>
                <a:gd name="T35" fmla="*/ 23 h 23"/>
                <a:gd name="T36" fmla="*/ 24 w 27"/>
                <a:gd name="T37" fmla="*/ 23 h 23"/>
                <a:gd name="T38" fmla="*/ 25 w 27"/>
                <a:gd name="T39" fmla="*/ 23 h 23"/>
                <a:gd name="T40" fmla="*/ 27 w 27"/>
                <a:gd name="T41" fmla="*/ 23 h 23"/>
                <a:gd name="T42" fmla="*/ 27 w 27"/>
                <a:gd name="T43" fmla="*/ 20 h 23"/>
                <a:gd name="T44" fmla="*/ 25 w 27"/>
                <a:gd name="T45" fmla="*/ 20 h 23"/>
                <a:gd name="T46" fmla="*/ 24 w 27"/>
                <a:gd name="T47" fmla="*/ 20 h 23"/>
                <a:gd name="T48" fmla="*/ 23 w 27"/>
                <a:gd name="T49" fmla="*/ 20 h 23"/>
                <a:gd name="T50" fmla="*/ 21 w 27"/>
                <a:gd name="T51" fmla="*/ 20 h 23"/>
                <a:gd name="T52" fmla="*/ 20 w 27"/>
                <a:gd name="T53" fmla="*/ 20 h 23"/>
                <a:gd name="T54" fmla="*/ 19 w 27"/>
                <a:gd name="T55" fmla="*/ 19 h 23"/>
                <a:gd name="T56" fmla="*/ 17 w 27"/>
                <a:gd name="T57" fmla="*/ 19 h 23"/>
                <a:gd name="T58" fmla="*/ 15 w 27"/>
                <a:gd name="T59" fmla="*/ 18 h 23"/>
                <a:gd name="T60" fmla="*/ 13 w 27"/>
                <a:gd name="T61" fmla="*/ 17 h 23"/>
                <a:gd name="T62" fmla="*/ 11 w 27"/>
                <a:gd name="T63" fmla="*/ 16 h 23"/>
                <a:gd name="T64" fmla="*/ 10 w 27"/>
                <a:gd name="T65" fmla="*/ 14 h 23"/>
                <a:gd name="T66" fmla="*/ 9 w 27"/>
                <a:gd name="T67" fmla="*/ 13 h 23"/>
                <a:gd name="T68" fmla="*/ 7 w 27"/>
                <a:gd name="T69" fmla="*/ 12 h 23"/>
                <a:gd name="T70" fmla="*/ 6 w 27"/>
                <a:gd name="T71" fmla="*/ 10 h 23"/>
                <a:gd name="T72" fmla="*/ 6 w 27"/>
                <a:gd name="T73" fmla="*/ 9 h 23"/>
                <a:gd name="T74" fmla="*/ 5 w 27"/>
                <a:gd name="T75" fmla="*/ 8 h 23"/>
                <a:gd name="T76" fmla="*/ 4 w 27"/>
                <a:gd name="T77" fmla="*/ 6 h 23"/>
                <a:gd name="T78" fmla="*/ 4 w 27"/>
                <a:gd name="T79" fmla="*/ 5 h 23"/>
                <a:gd name="T80" fmla="*/ 3 w 27"/>
                <a:gd name="T81" fmla="*/ 3 h 23"/>
                <a:gd name="T82" fmla="*/ 3 w 27"/>
                <a:gd name="T83" fmla="*/ 1 h 23"/>
                <a:gd name="T84" fmla="*/ 2 w 27"/>
                <a:gd name="T85" fmla="*/ 1 h 23"/>
                <a:gd name="T86" fmla="*/ 2 w 27"/>
                <a:gd name="T87" fmla="*/ 0 h 23"/>
                <a:gd name="T88" fmla="*/ 2 w 27"/>
                <a:gd name="T89" fmla="*/ 0 h 23"/>
                <a:gd name="T90" fmla="*/ 2 w 27"/>
                <a:gd name="T91" fmla="*/ 0 h 23"/>
                <a:gd name="T92" fmla="*/ 1 w 27"/>
                <a:gd name="T93" fmla="*/ 0 h 23"/>
                <a:gd name="T94" fmla="*/ 1 w 27"/>
                <a:gd name="T95" fmla="*/ 0 h 23"/>
                <a:gd name="T96" fmla="*/ 1 w 27"/>
                <a:gd name="T97" fmla="*/ 0 h 23"/>
                <a:gd name="T98" fmla="*/ 0 w 27"/>
                <a:gd name="T99" fmla="*/ 0 h 23"/>
                <a:gd name="T100" fmla="*/ 0 w 27"/>
                <a:gd name="T101" fmla="*/ 0 h 23"/>
                <a:gd name="T102" fmla="*/ 0 w 27"/>
                <a:gd name="T103" fmla="*/ 1 h 23"/>
                <a:gd name="T104" fmla="*/ 0 w 27"/>
                <a:gd name="T105" fmla="*/ 1 h 23"/>
                <a:gd name="T106" fmla="*/ 3 w 27"/>
                <a:gd name="T107" fmla="*/ 1 h 23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7"/>
                <a:gd name="T163" fmla="*/ 0 h 23"/>
                <a:gd name="T164" fmla="*/ 27 w 27"/>
                <a:gd name="T165" fmla="*/ 23 h 23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7" h="23">
                  <a:moveTo>
                    <a:pt x="3" y="1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4" y="12"/>
                  </a:lnTo>
                  <a:lnTo>
                    <a:pt x="5" y="13"/>
                  </a:lnTo>
                  <a:lnTo>
                    <a:pt x="6" y="14"/>
                  </a:lnTo>
                  <a:lnTo>
                    <a:pt x="7" y="15"/>
                  </a:lnTo>
                  <a:lnTo>
                    <a:pt x="8" y="16"/>
                  </a:lnTo>
                  <a:lnTo>
                    <a:pt x="9" y="17"/>
                  </a:lnTo>
                  <a:lnTo>
                    <a:pt x="10" y="18"/>
                  </a:lnTo>
                  <a:lnTo>
                    <a:pt x="11" y="19"/>
                  </a:lnTo>
                  <a:lnTo>
                    <a:pt x="12" y="19"/>
                  </a:lnTo>
                  <a:lnTo>
                    <a:pt x="12" y="20"/>
                  </a:lnTo>
                  <a:lnTo>
                    <a:pt x="13" y="20"/>
                  </a:lnTo>
                  <a:lnTo>
                    <a:pt x="14" y="20"/>
                  </a:lnTo>
                  <a:lnTo>
                    <a:pt x="14" y="21"/>
                  </a:lnTo>
                  <a:lnTo>
                    <a:pt x="15" y="21"/>
                  </a:lnTo>
                  <a:lnTo>
                    <a:pt x="16" y="21"/>
                  </a:lnTo>
                  <a:lnTo>
                    <a:pt x="17" y="22"/>
                  </a:lnTo>
                  <a:lnTo>
                    <a:pt x="18" y="22"/>
                  </a:lnTo>
                  <a:lnTo>
                    <a:pt x="19" y="22"/>
                  </a:lnTo>
                  <a:lnTo>
                    <a:pt x="20" y="23"/>
                  </a:lnTo>
                  <a:lnTo>
                    <a:pt x="21" y="23"/>
                  </a:lnTo>
                  <a:lnTo>
                    <a:pt x="22" y="23"/>
                  </a:lnTo>
                  <a:lnTo>
                    <a:pt x="23" y="23"/>
                  </a:lnTo>
                  <a:lnTo>
                    <a:pt x="24" y="23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7" y="20"/>
                  </a:lnTo>
                  <a:lnTo>
                    <a:pt x="26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3" y="20"/>
                  </a:lnTo>
                  <a:lnTo>
                    <a:pt x="22" y="20"/>
                  </a:lnTo>
                  <a:lnTo>
                    <a:pt x="21" y="20"/>
                  </a:lnTo>
                  <a:lnTo>
                    <a:pt x="20" y="20"/>
                  </a:lnTo>
                  <a:lnTo>
                    <a:pt x="19" y="19"/>
                  </a:lnTo>
                  <a:lnTo>
                    <a:pt x="18" y="19"/>
                  </a:lnTo>
                  <a:lnTo>
                    <a:pt x="17" y="19"/>
                  </a:lnTo>
                  <a:lnTo>
                    <a:pt x="16" y="18"/>
                  </a:lnTo>
                  <a:lnTo>
                    <a:pt x="15" y="18"/>
                  </a:lnTo>
                  <a:lnTo>
                    <a:pt x="14" y="17"/>
                  </a:lnTo>
                  <a:lnTo>
                    <a:pt x="13" y="17"/>
                  </a:lnTo>
                  <a:lnTo>
                    <a:pt x="13" y="16"/>
                  </a:lnTo>
                  <a:lnTo>
                    <a:pt x="12" y="16"/>
                  </a:lnTo>
                  <a:lnTo>
                    <a:pt x="11" y="16"/>
                  </a:lnTo>
                  <a:lnTo>
                    <a:pt x="11" y="15"/>
                  </a:lnTo>
                  <a:lnTo>
                    <a:pt x="10" y="15"/>
                  </a:lnTo>
                  <a:lnTo>
                    <a:pt x="10" y="14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8" y="12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5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03" name="Freeform 746"/>
            <p:cNvSpPr>
              <a:spLocks/>
            </p:cNvSpPr>
            <p:nvPr/>
          </p:nvSpPr>
          <p:spPr bwMode="auto">
            <a:xfrm>
              <a:off x="4071" y="2856"/>
              <a:ext cx="3" cy="23"/>
            </a:xfrm>
            <a:custGeom>
              <a:avLst/>
              <a:gdLst>
                <a:gd name="T0" fmla="*/ 0 w 3"/>
                <a:gd name="T1" fmla="*/ 22 h 23"/>
                <a:gd name="T2" fmla="*/ 3 w 3"/>
                <a:gd name="T3" fmla="*/ 22 h 23"/>
                <a:gd name="T4" fmla="*/ 3 w 3"/>
                <a:gd name="T5" fmla="*/ 0 h 23"/>
                <a:gd name="T6" fmla="*/ 0 w 3"/>
                <a:gd name="T7" fmla="*/ 0 h 23"/>
                <a:gd name="T8" fmla="*/ 0 w 3"/>
                <a:gd name="T9" fmla="*/ 22 h 23"/>
                <a:gd name="T10" fmla="*/ 0 w 3"/>
                <a:gd name="T11" fmla="*/ 22 h 23"/>
                <a:gd name="T12" fmla="*/ 0 w 3"/>
                <a:gd name="T13" fmla="*/ 22 h 23"/>
                <a:gd name="T14" fmla="*/ 0 w 3"/>
                <a:gd name="T15" fmla="*/ 22 h 23"/>
                <a:gd name="T16" fmla="*/ 0 w 3"/>
                <a:gd name="T17" fmla="*/ 22 h 23"/>
                <a:gd name="T18" fmla="*/ 0 w 3"/>
                <a:gd name="T19" fmla="*/ 22 h 23"/>
                <a:gd name="T20" fmla="*/ 0 w 3"/>
                <a:gd name="T21" fmla="*/ 22 h 23"/>
                <a:gd name="T22" fmla="*/ 0 w 3"/>
                <a:gd name="T23" fmla="*/ 22 h 23"/>
                <a:gd name="T24" fmla="*/ 0 w 3"/>
                <a:gd name="T25" fmla="*/ 23 h 23"/>
                <a:gd name="T26" fmla="*/ 0 w 3"/>
                <a:gd name="T27" fmla="*/ 23 h 23"/>
                <a:gd name="T28" fmla="*/ 0 w 3"/>
                <a:gd name="T29" fmla="*/ 23 h 23"/>
                <a:gd name="T30" fmla="*/ 0 w 3"/>
                <a:gd name="T31" fmla="*/ 23 h 23"/>
                <a:gd name="T32" fmla="*/ 0 w 3"/>
                <a:gd name="T33" fmla="*/ 23 h 23"/>
                <a:gd name="T34" fmla="*/ 0 w 3"/>
                <a:gd name="T35" fmla="*/ 23 h 23"/>
                <a:gd name="T36" fmla="*/ 1 w 3"/>
                <a:gd name="T37" fmla="*/ 23 h 23"/>
                <a:gd name="T38" fmla="*/ 1 w 3"/>
                <a:gd name="T39" fmla="*/ 23 h 23"/>
                <a:gd name="T40" fmla="*/ 1 w 3"/>
                <a:gd name="T41" fmla="*/ 23 h 23"/>
                <a:gd name="T42" fmla="*/ 1 w 3"/>
                <a:gd name="T43" fmla="*/ 23 h 23"/>
                <a:gd name="T44" fmla="*/ 1 w 3"/>
                <a:gd name="T45" fmla="*/ 23 h 23"/>
                <a:gd name="T46" fmla="*/ 1 w 3"/>
                <a:gd name="T47" fmla="*/ 23 h 23"/>
                <a:gd name="T48" fmla="*/ 1 w 3"/>
                <a:gd name="T49" fmla="*/ 23 h 23"/>
                <a:gd name="T50" fmla="*/ 1 w 3"/>
                <a:gd name="T51" fmla="*/ 23 h 23"/>
                <a:gd name="T52" fmla="*/ 2 w 3"/>
                <a:gd name="T53" fmla="*/ 23 h 23"/>
                <a:gd name="T54" fmla="*/ 2 w 3"/>
                <a:gd name="T55" fmla="*/ 23 h 23"/>
                <a:gd name="T56" fmla="*/ 2 w 3"/>
                <a:gd name="T57" fmla="*/ 23 h 23"/>
                <a:gd name="T58" fmla="*/ 2 w 3"/>
                <a:gd name="T59" fmla="*/ 23 h 23"/>
                <a:gd name="T60" fmla="*/ 2 w 3"/>
                <a:gd name="T61" fmla="*/ 23 h 23"/>
                <a:gd name="T62" fmla="*/ 2 w 3"/>
                <a:gd name="T63" fmla="*/ 23 h 23"/>
                <a:gd name="T64" fmla="*/ 2 w 3"/>
                <a:gd name="T65" fmla="*/ 23 h 23"/>
                <a:gd name="T66" fmla="*/ 2 w 3"/>
                <a:gd name="T67" fmla="*/ 22 h 23"/>
                <a:gd name="T68" fmla="*/ 2 w 3"/>
                <a:gd name="T69" fmla="*/ 22 h 23"/>
                <a:gd name="T70" fmla="*/ 2 w 3"/>
                <a:gd name="T71" fmla="*/ 22 h 23"/>
                <a:gd name="T72" fmla="*/ 2 w 3"/>
                <a:gd name="T73" fmla="*/ 22 h 23"/>
                <a:gd name="T74" fmla="*/ 2 w 3"/>
                <a:gd name="T75" fmla="*/ 22 h 23"/>
                <a:gd name="T76" fmla="*/ 3 w 3"/>
                <a:gd name="T77" fmla="*/ 22 h 23"/>
                <a:gd name="T78" fmla="*/ 0 w 3"/>
                <a:gd name="T79" fmla="*/ 22 h 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23"/>
                <a:gd name="T122" fmla="*/ 3 w 3"/>
                <a:gd name="T123" fmla="*/ 23 h 2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23">
                  <a:moveTo>
                    <a:pt x="0" y="22"/>
                  </a:moveTo>
                  <a:lnTo>
                    <a:pt x="3" y="2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1" y="23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04" name="Freeform 747"/>
            <p:cNvSpPr>
              <a:spLocks/>
            </p:cNvSpPr>
            <p:nvPr/>
          </p:nvSpPr>
          <p:spPr bwMode="auto">
            <a:xfrm>
              <a:off x="4071" y="2877"/>
              <a:ext cx="29" cy="23"/>
            </a:xfrm>
            <a:custGeom>
              <a:avLst/>
              <a:gdLst>
                <a:gd name="T0" fmla="*/ 27 w 29"/>
                <a:gd name="T1" fmla="*/ 20 h 23"/>
                <a:gd name="T2" fmla="*/ 25 w 29"/>
                <a:gd name="T3" fmla="*/ 20 h 23"/>
                <a:gd name="T4" fmla="*/ 24 w 29"/>
                <a:gd name="T5" fmla="*/ 20 h 23"/>
                <a:gd name="T6" fmla="*/ 23 w 29"/>
                <a:gd name="T7" fmla="*/ 20 h 23"/>
                <a:gd name="T8" fmla="*/ 21 w 29"/>
                <a:gd name="T9" fmla="*/ 19 h 23"/>
                <a:gd name="T10" fmla="*/ 20 w 29"/>
                <a:gd name="T11" fmla="*/ 19 h 23"/>
                <a:gd name="T12" fmla="*/ 19 w 29"/>
                <a:gd name="T13" fmla="*/ 19 h 23"/>
                <a:gd name="T14" fmla="*/ 17 w 29"/>
                <a:gd name="T15" fmla="*/ 18 h 23"/>
                <a:gd name="T16" fmla="*/ 15 w 29"/>
                <a:gd name="T17" fmla="*/ 17 h 23"/>
                <a:gd name="T18" fmla="*/ 13 w 29"/>
                <a:gd name="T19" fmla="*/ 16 h 23"/>
                <a:gd name="T20" fmla="*/ 11 w 29"/>
                <a:gd name="T21" fmla="*/ 15 h 23"/>
                <a:gd name="T22" fmla="*/ 10 w 29"/>
                <a:gd name="T23" fmla="*/ 14 h 23"/>
                <a:gd name="T24" fmla="*/ 9 w 29"/>
                <a:gd name="T25" fmla="*/ 12 h 23"/>
                <a:gd name="T26" fmla="*/ 7 w 29"/>
                <a:gd name="T27" fmla="*/ 11 h 23"/>
                <a:gd name="T28" fmla="*/ 6 w 29"/>
                <a:gd name="T29" fmla="*/ 10 h 23"/>
                <a:gd name="T30" fmla="*/ 6 w 29"/>
                <a:gd name="T31" fmla="*/ 8 h 23"/>
                <a:gd name="T32" fmla="*/ 5 w 29"/>
                <a:gd name="T33" fmla="*/ 7 h 23"/>
                <a:gd name="T34" fmla="*/ 4 w 29"/>
                <a:gd name="T35" fmla="*/ 6 h 23"/>
                <a:gd name="T36" fmla="*/ 4 w 29"/>
                <a:gd name="T37" fmla="*/ 4 h 23"/>
                <a:gd name="T38" fmla="*/ 3 w 29"/>
                <a:gd name="T39" fmla="*/ 2 h 23"/>
                <a:gd name="T40" fmla="*/ 3 w 29"/>
                <a:gd name="T41" fmla="*/ 1 h 23"/>
                <a:gd name="T42" fmla="*/ 0 w 29"/>
                <a:gd name="T43" fmla="*/ 1 h 23"/>
                <a:gd name="T44" fmla="*/ 0 w 29"/>
                <a:gd name="T45" fmla="*/ 3 h 23"/>
                <a:gd name="T46" fmla="*/ 1 w 29"/>
                <a:gd name="T47" fmla="*/ 5 h 23"/>
                <a:gd name="T48" fmla="*/ 2 w 29"/>
                <a:gd name="T49" fmla="*/ 7 h 23"/>
                <a:gd name="T50" fmla="*/ 2 w 29"/>
                <a:gd name="T51" fmla="*/ 8 h 23"/>
                <a:gd name="T52" fmla="*/ 3 w 29"/>
                <a:gd name="T53" fmla="*/ 10 h 23"/>
                <a:gd name="T54" fmla="*/ 4 w 29"/>
                <a:gd name="T55" fmla="*/ 11 h 23"/>
                <a:gd name="T56" fmla="*/ 5 w 29"/>
                <a:gd name="T57" fmla="*/ 13 h 23"/>
                <a:gd name="T58" fmla="*/ 7 w 29"/>
                <a:gd name="T59" fmla="*/ 14 h 23"/>
                <a:gd name="T60" fmla="*/ 8 w 29"/>
                <a:gd name="T61" fmla="*/ 16 h 23"/>
                <a:gd name="T62" fmla="*/ 10 w 29"/>
                <a:gd name="T63" fmla="*/ 17 h 23"/>
                <a:gd name="T64" fmla="*/ 12 w 29"/>
                <a:gd name="T65" fmla="*/ 19 h 23"/>
                <a:gd name="T66" fmla="*/ 14 w 29"/>
                <a:gd name="T67" fmla="*/ 20 h 23"/>
                <a:gd name="T68" fmla="*/ 16 w 29"/>
                <a:gd name="T69" fmla="*/ 21 h 23"/>
                <a:gd name="T70" fmla="*/ 18 w 29"/>
                <a:gd name="T71" fmla="*/ 22 h 23"/>
                <a:gd name="T72" fmla="*/ 19 w 29"/>
                <a:gd name="T73" fmla="*/ 22 h 23"/>
                <a:gd name="T74" fmla="*/ 21 w 29"/>
                <a:gd name="T75" fmla="*/ 22 h 23"/>
                <a:gd name="T76" fmla="*/ 22 w 29"/>
                <a:gd name="T77" fmla="*/ 22 h 23"/>
                <a:gd name="T78" fmla="*/ 24 w 29"/>
                <a:gd name="T79" fmla="*/ 23 h 23"/>
                <a:gd name="T80" fmla="*/ 25 w 29"/>
                <a:gd name="T81" fmla="*/ 23 h 23"/>
                <a:gd name="T82" fmla="*/ 27 w 29"/>
                <a:gd name="T83" fmla="*/ 23 h 23"/>
                <a:gd name="T84" fmla="*/ 27 w 29"/>
                <a:gd name="T85" fmla="*/ 23 h 23"/>
                <a:gd name="T86" fmla="*/ 28 w 29"/>
                <a:gd name="T87" fmla="*/ 23 h 23"/>
                <a:gd name="T88" fmla="*/ 28 w 29"/>
                <a:gd name="T89" fmla="*/ 23 h 23"/>
                <a:gd name="T90" fmla="*/ 29 w 29"/>
                <a:gd name="T91" fmla="*/ 22 h 23"/>
                <a:gd name="T92" fmla="*/ 29 w 29"/>
                <a:gd name="T93" fmla="*/ 22 h 23"/>
                <a:gd name="T94" fmla="*/ 29 w 29"/>
                <a:gd name="T95" fmla="*/ 22 h 23"/>
                <a:gd name="T96" fmla="*/ 29 w 29"/>
                <a:gd name="T97" fmla="*/ 21 h 23"/>
                <a:gd name="T98" fmla="*/ 29 w 29"/>
                <a:gd name="T99" fmla="*/ 21 h 23"/>
                <a:gd name="T100" fmla="*/ 29 w 29"/>
                <a:gd name="T101" fmla="*/ 20 h 23"/>
                <a:gd name="T102" fmla="*/ 28 w 29"/>
                <a:gd name="T103" fmla="*/ 20 h 23"/>
                <a:gd name="T104" fmla="*/ 28 w 29"/>
                <a:gd name="T105" fmla="*/ 20 h 23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9"/>
                <a:gd name="T160" fmla="*/ 0 h 23"/>
                <a:gd name="T161" fmla="*/ 29 w 29"/>
                <a:gd name="T162" fmla="*/ 23 h 23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9" h="23">
                  <a:moveTo>
                    <a:pt x="27" y="20"/>
                  </a:moveTo>
                  <a:lnTo>
                    <a:pt x="27" y="20"/>
                  </a:lnTo>
                  <a:lnTo>
                    <a:pt x="26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3" y="20"/>
                  </a:lnTo>
                  <a:lnTo>
                    <a:pt x="22" y="20"/>
                  </a:lnTo>
                  <a:lnTo>
                    <a:pt x="21" y="19"/>
                  </a:lnTo>
                  <a:lnTo>
                    <a:pt x="20" y="19"/>
                  </a:lnTo>
                  <a:lnTo>
                    <a:pt x="19" y="19"/>
                  </a:lnTo>
                  <a:lnTo>
                    <a:pt x="18" y="18"/>
                  </a:lnTo>
                  <a:lnTo>
                    <a:pt x="17" y="18"/>
                  </a:lnTo>
                  <a:lnTo>
                    <a:pt x="16" y="18"/>
                  </a:lnTo>
                  <a:lnTo>
                    <a:pt x="15" y="17"/>
                  </a:lnTo>
                  <a:lnTo>
                    <a:pt x="14" y="17"/>
                  </a:lnTo>
                  <a:lnTo>
                    <a:pt x="13" y="16"/>
                  </a:lnTo>
                  <a:lnTo>
                    <a:pt x="12" y="15"/>
                  </a:lnTo>
                  <a:lnTo>
                    <a:pt x="11" y="15"/>
                  </a:lnTo>
                  <a:lnTo>
                    <a:pt x="10" y="14"/>
                  </a:lnTo>
                  <a:lnTo>
                    <a:pt x="10" y="13"/>
                  </a:lnTo>
                  <a:lnTo>
                    <a:pt x="9" y="13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1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1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7" y="14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8" y="16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10" y="17"/>
                  </a:lnTo>
                  <a:lnTo>
                    <a:pt x="10" y="18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19"/>
                  </a:lnTo>
                  <a:lnTo>
                    <a:pt x="14" y="20"/>
                  </a:lnTo>
                  <a:lnTo>
                    <a:pt x="15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8" y="21"/>
                  </a:lnTo>
                  <a:lnTo>
                    <a:pt x="18" y="22"/>
                  </a:lnTo>
                  <a:lnTo>
                    <a:pt x="19" y="22"/>
                  </a:lnTo>
                  <a:lnTo>
                    <a:pt x="20" y="22"/>
                  </a:lnTo>
                  <a:lnTo>
                    <a:pt x="21" y="22"/>
                  </a:lnTo>
                  <a:lnTo>
                    <a:pt x="22" y="22"/>
                  </a:lnTo>
                  <a:lnTo>
                    <a:pt x="23" y="23"/>
                  </a:lnTo>
                  <a:lnTo>
                    <a:pt x="24" y="23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3"/>
                  </a:lnTo>
                  <a:lnTo>
                    <a:pt x="29" y="22"/>
                  </a:lnTo>
                  <a:lnTo>
                    <a:pt x="29" y="21"/>
                  </a:lnTo>
                  <a:lnTo>
                    <a:pt x="29" y="20"/>
                  </a:lnTo>
                  <a:lnTo>
                    <a:pt x="28" y="20"/>
                  </a:lnTo>
                  <a:lnTo>
                    <a:pt x="27" y="20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05" name="Freeform 748"/>
            <p:cNvSpPr>
              <a:spLocks/>
            </p:cNvSpPr>
            <p:nvPr/>
          </p:nvSpPr>
          <p:spPr bwMode="auto">
            <a:xfrm>
              <a:off x="4098" y="2897"/>
              <a:ext cx="6" cy="3"/>
            </a:xfrm>
            <a:custGeom>
              <a:avLst/>
              <a:gdLst>
                <a:gd name="T0" fmla="*/ 6 w 6"/>
                <a:gd name="T1" fmla="*/ 1 h 3"/>
                <a:gd name="T2" fmla="*/ 5 w 6"/>
                <a:gd name="T3" fmla="*/ 0 h 3"/>
                <a:gd name="T4" fmla="*/ 0 w 6"/>
                <a:gd name="T5" fmla="*/ 0 h 3"/>
                <a:gd name="T6" fmla="*/ 0 w 6"/>
                <a:gd name="T7" fmla="*/ 3 h 3"/>
                <a:gd name="T8" fmla="*/ 5 w 6"/>
                <a:gd name="T9" fmla="*/ 3 h 3"/>
                <a:gd name="T10" fmla="*/ 6 w 6"/>
                <a:gd name="T11" fmla="*/ 1 h 3"/>
                <a:gd name="T12" fmla="*/ 5 w 6"/>
                <a:gd name="T13" fmla="*/ 3 h 3"/>
                <a:gd name="T14" fmla="*/ 5 w 6"/>
                <a:gd name="T15" fmla="*/ 3 h 3"/>
                <a:gd name="T16" fmla="*/ 5 w 6"/>
                <a:gd name="T17" fmla="*/ 3 h 3"/>
                <a:gd name="T18" fmla="*/ 5 w 6"/>
                <a:gd name="T19" fmla="*/ 3 h 3"/>
                <a:gd name="T20" fmla="*/ 5 w 6"/>
                <a:gd name="T21" fmla="*/ 3 h 3"/>
                <a:gd name="T22" fmla="*/ 5 w 6"/>
                <a:gd name="T23" fmla="*/ 3 h 3"/>
                <a:gd name="T24" fmla="*/ 6 w 6"/>
                <a:gd name="T25" fmla="*/ 3 h 3"/>
                <a:gd name="T26" fmla="*/ 6 w 6"/>
                <a:gd name="T27" fmla="*/ 3 h 3"/>
                <a:gd name="T28" fmla="*/ 6 w 6"/>
                <a:gd name="T29" fmla="*/ 2 h 3"/>
                <a:gd name="T30" fmla="*/ 6 w 6"/>
                <a:gd name="T31" fmla="*/ 2 h 3"/>
                <a:gd name="T32" fmla="*/ 6 w 6"/>
                <a:gd name="T33" fmla="*/ 2 h 3"/>
                <a:gd name="T34" fmla="*/ 6 w 6"/>
                <a:gd name="T35" fmla="*/ 2 h 3"/>
                <a:gd name="T36" fmla="*/ 6 w 6"/>
                <a:gd name="T37" fmla="*/ 2 h 3"/>
                <a:gd name="T38" fmla="*/ 6 w 6"/>
                <a:gd name="T39" fmla="*/ 2 h 3"/>
                <a:gd name="T40" fmla="*/ 6 w 6"/>
                <a:gd name="T41" fmla="*/ 2 h 3"/>
                <a:gd name="T42" fmla="*/ 6 w 6"/>
                <a:gd name="T43" fmla="*/ 2 h 3"/>
                <a:gd name="T44" fmla="*/ 6 w 6"/>
                <a:gd name="T45" fmla="*/ 1 h 3"/>
                <a:gd name="T46" fmla="*/ 6 w 6"/>
                <a:gd name="T47" fmla="*/ 1 h 3"/>
                <a:gd name="T48" fmla="*/ 6 w 6"/>
                <a:gd name="T49" fmla="*/ 1 h 3"/>
                <a:gd name="T50" fmla="*/ 6 w 6"/>
                <a:gd name="T51" fmla="*/ 1 h 3"/>
                <a:gd name="T52" fmla="*/ 6 w 6"/>
                <a:gd name="T53" fmla="*/ 1 h 3"/>
                <a:gd name="T54" fmla="*/ 6 w 6"/>
                <a:gd name="T55" fmla="*/ 1 h 3"/>
                <a:gd name="T56" fmla="*/ 6 w 6"/>
                <a:gd name="T57" fmla="*/ 1 h 3"/>
                <a:gd name="T58" fmla="*/ 6 w 6"/>
                <a:gd name="T59" fmla="*/ 1 h 3"/>
                <a:gd name="T60" fmla="*/ 6 w 6"/>
                <a:gd name="T61" fmla="*/ 0 h 3"/>
                <a:gd name="T62" fmla="*/ 6 w 6"/>
                <a:gd name="T63" fmla="*/ 0 h 3"/>
                <a:gd name="T64" fmla="*/ 6 w 6"/>
                <a:gd name="T65" fmla="*/ 0 h 3"/>
                <a:gd name="T66" fmla="*/ 5 w 6"/>
                <a:gd name="T67" fmla="*/ 0 h 3"/>
                <a:gd name="T68" fmla="*/ 5 w 6"/>
                <a:gd name="T69" fmla="*/ 0 h 3"/>
                <a:gd name="T70" fmla="*/ 5 w 6"/>
                <a:gd name="T71" fmla="*/ 0 h 3"/>
                <a:gd name="T72" fmla="*/ 5 w 6"/>
                <a:gd name="T73" fmla="*/ 0 h 3"/>
                <a:gd name="T74" fmla="*/ 5 w 6"/>
                <a:gd name="T75" fmla="*/ 0 h 3"/>
                <a:gd name="T76" fmla="*/ 5 w 6"/>
                <a:gd name="T77" fmla="*/ 0 h 3"/>
                <a:gd name="T78" fmla="*/ 6 w 6"/>
                <a:gd name="T79" fmla="*/ 1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6"/>
                <a:gd name="T121" fmla="*/ 0 h 3"/>
                <a:gd name="T122" fmla="*/ 6 w 6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6" h="3">
                  <a:moveTo>
                    <a:pt x="6" y="1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5" y="3"/>
                  </a:lnTo>
                  <a:lnTo>
                    <a:pt x="6" y="1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06" name="Freeform 749"/>
            <p:cNvSpPr>
              <a:spLocks/>
            </p:cNvSpPr>
            <p:nvPr/>
          </p:nvSpPr>
          <p:spPr bwMode="auto">
            <a:xfrm>
              <a:off x="4101" y="2875"/>
              <a:ext cx="4" cy="23"/>
            </a:xfrm>
            <a:custGeom>
              <a:avLst/>
              <a:gdLst>
                <a:gd name="T0" fmla="*/ 2 w 4"/>
                <a:gd name="T1" fmla="*/ 0 h 23"/>
                <a:gd name="T2" fmla="*/ 1 w 4"/>
                <a:gd name="T3" fmla="*/ 2 h 23"/>
                <a:gd name="T4" fmla="*/ 0 w 4"/>
                <a:gd name="T5" fmla="*/ 23 h 23"/>
                <a:gd name="T6" fmla="*/ 3 w 4"/>
                <a:gd name="T7" fmla="*/ 23 h 23"/>
                <a:gd name="T8" fmla="*/ 4 w 4"/>
                <a:gd name="T9" fmla="*/ 2 h 23"/>
                <a:gd name="T10" fmla="*/ 2 w 4"/>
                <a:gd name="T11" fmla="*/ 0 h 23"/>
                <a:gd name="T12" fmla="*/ 4 w 4"/>
                <a:gd name="T13" fmla="*/ 2 h 23"/>
                <a:gd name="T14" fmla="*/ 4 w 4"/>
                <a:gd name="T15" fmla="*/ 2 h 23"/>
                <a:gd name="T16" fmla="*/ 4 w 4"/>
                <a:gd name="T17" fmla="*/ 2 h 23"/>
                <a:gd name="T18" fmla="*/ 3 w 4"/>
                <a:gd name="T19" fmla="*/ 1 h 23"/>
                <a:gd name="T20" fmla="*/ 3 w 4"/>
                <a:gd name="T21" fmla="*/ 1 h 23"/>
                <a:gd name="T22" fmla="*/ 3 w 4"/>
                <a:gd name="T23" fmla="*/ 1 h 23"/>
                <a:gd name="T24" fmla="*/ 3 w 4"/>
                <a:gd name="T25" fmla="*/ 1 h 23"/>
                <a:gd name="T26" fmla="*/ 3 w 4"/>
                <a:gd name="T27" fmla="*/ 1 h 23"/>
                <a:gd name="T28" fmla="*/ 3 w 4"/>
                <a:gd name="T29" fmla="*/ 1 h 23"/>
                <a:gd name="T30" fmla="*/ 3 w 4"/>
                <a:gd name="T31" fmla="*/ 1 h 23"/>
                <a:gd name="T32" fmla="*/ 3 w 4"/>
                <a:gd name="T33" fmla="*/ 1 h 23"/>
                <a:gd name="T34" fmla="*/ 3 w 4"/>
                <a:gd name="T35" fmla="*/ 1 h 23"/>
                <a:gd name="T36" fmla="*/ 3 w 4"/>
                <a:gd name="T37" fmla="*/ 1 h 23"/>
                <a:gd name="T38" fmla="*/ 3 w 4"/>
                <a:gd name="T39" fmla="*/ 1 h 23"/>
                <a:gd name="T40" fmla="*/ 2 w 4"/>
                <a:gd name="T41" fmla="*/ 0 h 23"/>
                <a:gd name="T42" fmla="*/ 2 w 4"/>
                <a:gd name="T43" fmla="*/ 0 h 23"/>
                <a:gd name="T44" fmla="*/ 2 w 4"/>
                <a:gd name="T45" fmla="*/ 0 h 23"/>
                <a:gd name="T46" fmla="*/ 2 w 4"/>
                <a:gd name="T47" fmla="*/ 0 h 23"/>
                <a:gd name="T48" fmla="*/ 2 w 4"/>
                <a:gd name="T49" fmla="*/ 0 h 23"/>
                <a:gd name="T50" fmla="*/ 2 w 4"/>
                <a:gd name="T51" fmla="*/ 1 h 23"/>
                <a:gd name="T52" fmla="*/ 2 w 4"/>
                <a:gd name="T53" fmla="*/ 1 h 23"/>
                <a:gd name="T54" fmla="*/ 1 w 4"/>
                <a:gd name="T55" fmla="*/ 1 h 23"/>
                <a:gd name="T56" fmla="*/ 1 w 4"/>
                <a:gd name="T57" fmla="*/ 1 h 23"/>
                <a:gd name="T58" fmla="*/ 1 w 4"/>
                <a:gd name="T59" fmla="*/ 1 h 23"/>
                <a:gd name="T60" fmla="*/ 1 w 4"/>
                <a:gd name="T61" fmla="*/ 1 h 23"/>
                <a:gd name="T62" fmla="*/ 1 w 4"/>
                <a:gd name="T63" fmla="*/ 1 h 23"/>
                <a:gd name="T64" fmla="*/ 1 w 4"/>
                <a:gd name="T65" fmla="*/ 1 h 23"/>
                <a:gd name="T66" fmla="*/ 1 w 4"/>
                <a:gd name="T67" fmla="*/ 1 h 23"/>
                <a:gd name="T68" fmla="*/ 1 w 4"/>
                <a:gd name="T69" fmla="*/ 1 h 23"/>
                <a:gd name="T70" fmla="*/ 1 w 4"/>
                <a:gd name="T71" fmla="*/ 1 h 23"/>
                <a:gd name="T72" fmla="*/ 1 w 4"/>
                <a:gd name="T73" fmla="*/ 2 h 23"/>
                <a:gd name="T74" fmla="*/ 1 w 4"/>
                <a:gd name="T75" fmla="*/ 2 h 23"/>
                <a:gd name="T76" fmla="*/ 1 w 4"/>
                <a:gd name="T77" fmla="*/ 2 h 23"/>
                <a:gd name="T78" fmla="*/ 2 w 4"/>
                <a:gd name="T79" fmla="*/ 0 h 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"/>
                <a:gd name="T121" fmla="*/ 0 h 23"/>
                <a:gd name="T122" fmla="*/ 4 w 4"/>
                <a:gd name="T123" fmla="*/ 23 h 2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" h="23">
                  <a:moveTo>
                    <a:pt x="2" y="0"/>
                  </a:moveTo>
                  <a:lnTo>
                    <a:pt x="1" y="2"/>
                  </a:lnTo>
                  <a:lnTo>
                    <a:pt x="0" y="23"/>
                  </a:lnTo>
                  <a:lnTo>
                    <a:pt x="3" y="23"/>
                  </a:lnTo>
                  <a:lnTo>
                    <a:pt x="4" y="2"/>
                  </a:lnTo>
                  <a:lnTo>
                    <a:pt x="2" y="0"/>
                  </a:lnTo>
                  <a:lnTo>
                    <a:pt x="4" y="2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07" name="Rectangle 750"/>
            <p:cNvSpPr>
              <a:spLocks noChangeArrowheads="1"/>
            </p:cNvSpPr>
            <p:nvPr/>
          </p:nvSpPr>
          <p:spPr bwMode="auto">
            <a:xfrm>
              <a:off x="4098" y="2875"/>
              <a:ext cx="5" cy="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808" name="Rectangle 751"/>
            <p:cNvSpPr>
              <a:spLocks noChangeArrowheads="1"/>
            </p:cNvSpPr>
            <p:nvPr/>
          </p:nvSpPr>
          <p:spPr bwMode="auto">
            <a:xfrm>
              <a:off x="4071" y="2856"/>
              <a:ext cx="3" cy="2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809" name="Rectangle 752"/>
            <p:cNvSpPr>
              <a:spLocks noChangeArrowheads="1"/>
            </p:cNvSpPr>
            <p:nvPr/>
          </p:nvSpPr>
          <p:spPr bwMode="auto">
            <a:xfrm>
              <a:off x="4098" y="2897"/>
              <a:ext cx="5" cy="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810" name="Rectangle 753"/>
            <p:cNvSpPr>
              <a:spLocks noChangeArrowheads="1"/>
            </p:cNvSpPr>
            <p:nvPr/>
          </p:nvSpPr>
          <p:spPr bwMode="auto">
            <a:xfrm>
              <a:off x="4216" y="2876"/>
              <a:ext cx="23" cy="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811" name="Freeform 754"/>
            <p:cNvSpPr>
              <a:spLocks/>
            </p:cNvSpPr>
            <p:nvPr/>
          </p:nvSpPr>
          <p:spPr bwMode="auto">
            <a:xfrm>
              <a:off x="4216" y="2897"/>
              <a:ext cx="24" cy="2"/>
            </a:xfrm>
            <a:custGeom>
              <a:avLst/>
              <a:gdLst>
                <a:gd name="T0" fmla="*/ 24 w 24"/>
                <a:gd name="T1" fmla="*/ 1 h 2"/>
                <a:gd name="T2" fmla="*/ 23 w 24"/>
                <a:gd name="T3" fmla="*/ 0 h 2"/>
                <a:gd name="T4" fmla="*/ 0 w 24"/>
                <a:gd name="T5" fmla="*/ 0 h 2"/>
                <a:gd name="T6" fmla="*/ 0 w 24"/>
                <a:gd name="T7" fmla="*/ 2 h 2"/>
                <a:gd name="T8" fmla="*/ 23 w 24"/>
                <a:gd name="T9" fmla="*/ 2 h 2"/>
                <a:gd name="T10" fmla="*/ 24 w 24"/>
                <a:gd name="T11" fmla="*/ 1 h 2"/>
                <a:gd name="T12" fmla="*/ 23 w 24"/>
                <a:gd name="T13" fmla="*/ 2 h 2"/>
                <a:gd name="T14" fmla="*/ 23 w 24"/>
                <a:gd name="T15" fmla="*/ 2 h 2"/>
                <a:gd name="T16" fmla="*/ 23 w 24"/>
                <a:gd name="T17" fmla="*/ 2 h 2"/>
                <a:gd name="T18" fmla="*/ 23 w 24"/>
                <a:gd name="T19" fmla="*/ 2 h 2"/>
                <a:gd name="T20" fmla="*/ 24 w 24"/>
                <a:gd name="T21" fmla="*/ 2 h 2"/>
                <a:gd name="T22" fmla="*/ 24 w 24"/>
                <a:gd name="T23" fmla="*/ 2 h 2"/>
                <a:gd name="T24" fmla="*/ 24 w 24"/>
                <a:gd name="T25" fmla="*/ 2 h 2"/>
                <a:gd name="T26" fmla="*/ 24 w 24"/>
                <a:gd name="T27" fmla="*/ 2 h 2"/>
                <a:gd name="T28" fmla="*/ 24 w 24"/>
                <a:gd name="T29" fmla="*/ 2 h 2"/>
                <a:gd name="T30" fmla="*/ 24 w 24"/>
                <a:gd name="T31" fmla="*/ 2 h 2"/>
                <a:gd name="T32" fmla="*/ 24 w 24"/>
                <a:gd name="T33" fmla="*/ 2 h 2"/>
                <a:gd name="T34" fmla="*/ 24 w 24"/>
                <a:gd name="T35" fmla="*/ 2 h 2"/>
                <a:gd name="T36" fmla="*/ 24 w 24"/>
                <a:gd name="T37" fmla="*/ 1 h 2"/>
                <a:gd name="T38" fmla="*/ 24 w 24"/>
                <a:gd name="T39" fmla="*/ 1 h 2"/>
                <a:gd name="T40" fmla="*/ 24 w 24"/>
                <a:gd name="T41" fmla="*/ 1 h 2"/>
                <a:gd name="T42" fmla="*/ 24 w 24"/>
                <a:gd name="T43" fmla="*/ 1 h 2"/>
                <a:gd name="T44" fmla="*/ 24 w 24"/>
                <a:gd name="T45" fmla="*/ 1 h 2"/>
                <a:gd name="T46" fmla="*/ 24 w 24"/>
                <a:gd name="T47" fmla="*/ 1 h 2"/>
                <a:gd name="T48" fmla="*/ 24 w 24"/>
                <a:gd name="T49" fmla="*/ 1 h 2"/>
                <a:gd name="T50" fmla="*/ 24 w 24"/>
                <a:gd name="T51" fmla="*/ 1 h 2"/>
                <a:gd name="T52" fmla="*/ 24 w 24"/>
                <a:gd name="T53" fmla="*/ 0 h 2"/>
                <a:gd name="T54" fmla="*/ 24 w 24"/>
                <a:gd name="T55" fmla="*/ 0 h 2"/>
                <a:gd name="T56" fmla="*/ 24 w 24"/>
                <a:gd name="T57" fmla="*/ 0 h 2"/>
                <a:gd name="T58" fmla="*/ 24 w 24"/>
                <a:gd name="T59" fmla="*/ 0 h 2"/>
                <a:gd name="T60" fmla="*/ 24 w 24"/>
                <a:gd name="T61" fmla="*/ 0 h 2"/>
                <a:gd name="T62" fmla="*/ 24 w 24"/>
                <a:gd name="T63" fmla="*/ 0 h 2"/>
                <a:gd name="T64" fmla="*/ 24 w 24"/>
                <a:gd name="T65" fmla="*/ 0 h 2"/>
                <a:gd name="T66" fmla="*/ 24 w 24"/>
                <a:gd name="T67" fmla="*/ 0 h 2"/>
                <a:gd name="T68" fmla="*/ 24 w 24"/>
                <a:gd name="T69" fmla="*/ 0 h 2"/>
                <a:gd name="T70" fmla="*/ 23 w 24"/>
                <a:gd name="T71" fmla="*/ 0 h 2"/>
                <a:gd name="T72" fmla="*/ 23 w 24"/>
                <a:gd name="T73" fmla="*/ 0 h 2"/>
                <a:gd name="T74" fmla="*/ 23 w 24"/>
                <a:gd name="T75" fmla="*/ 0 h 2"/>
                <a:gd name="T76" fmla="*/ 23 w 24"/>
                <a:gd name="T77" fmla="*/ 0 h 2"/>
                <a:gd name="T78" fmla="*/ 24 w 24"/>
                <a:gd name="T79" fmla="*/ 1 h 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4"/>
                <a:gd name="T121" fmla="*/ 0 h 2"/>
                <a:gd name="T122" fmla="*/ 24 w 24"/>
                <a:gd name="T123" fmla="*/ 2 h 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4" h="2">
                  <a:moveTo>
                    <a:pt x="24" y="1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3" y="2"/>
                  </a:lnTo>
                  <a:lnTo>
                    <a:pt x="24" y="1"/>
                  </a:lnTo>
                  <a:lnTo>
                    <a:pt x="23" y="2"/>
                  </a:lnTo>
                  <a:lnTo>
                    <a:pt x="24" y="2"/>
                  </a:lnTo>
                  <a:lnTo>
                    <a:pt x="24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12" name="Freeform 755"/>
            <p:cNvSpPr>
              <a:spLocks/>
            </p:cNvSpPr>
            <p:nvPr/>
          </p:nvSpPr>
          <p:spPr bwMode="auto">
            <a:xfrm>
              <a:off x="4238" y="2875"/>
              <a:ext cx="2" cy="23"/>
            </a:xfrm>
            <a:custGeom>
              <a:avLst/>
              <a:gdLst>
                <a:gd name="T0" fmla="*/ 1 w 2"/>
                <a:gd name="T1" fmla="*/ 0 h 23"/>
                <a:gd name="T2" fmla="*/ 0 w 2"/>
                <a:gd name="T3" fmla="*/ 1 h 23"/>
                <a:gd name="T4" fmla="*/ 0 w 2"/>
                <a:gd name="T5" fmla="*/ 23 h 23"/>
                <a:gd name="T6" fmla="*/ 2 w 2"/>
                <a:gd name="T7" fmla="*/ 23 h 23"/>
                <a:gd name="T8" fmla="*/ 2 w 2"/>
                <a:gd name="T9" fmla="*/ 1 h 23"/>
                <a:gd name="T10" fmla="*/ 1 w 2"/>
                <a:gd name="T11" fmla="*/ 0 h 23"/>
                <a:gd name="T12" fmla="*/ 2 w 2"/>
                <a:gd name="T13" fmla="*/ 1 h 23"/>
                <a:gd name="T14" fmla="*/ 2 w 2"/>
                <a:gd name="T15" fmla="*/ 1 h 23"/>
                <a:gd name="T16" fmla="*/ 2 w 2"/>
                <a:gd name="T17" fmla="*/ 1 h 23"/>
                <a:gd name="T18" fmla="*/ 2 w 2"/>
                <a:gd name="T19" fmla="*/ 1 h 23"/>
                <a:gd name="T20" fmla="*/ 2 w 2"/>
                <a:gd name="T21" fmla="*/ 1 h 23"/>
                <a:gd name="T22" fmla="*/ 2 w 2"/>
                <a:gd name="T23" fmla="*/ 1 h 23"/>
                <a:gd name="T24" fmla="*/ 2 w 2"/>
                <a:gd name="T25" fmla="*/ 1 h 23"/>
                <a:gd name="T26" fmla="*/ 2 w 2"/>
                <a:gd name="T27" fmla="*/ 0 h 23"/>
                <a:gd name="T28" fmla="*/ 2 w 2"/>
                <a:gd name="T29" fmla="*/ 0 h 23"/>
                <a:gd name="T30" fmla="*/ 2 w 2"/>
                <a:gd name="T31" fmla="*/ 0 h 23"/>
                <a:gd name="T32" fmla="*/ 2 w 2"/>
                <a:gd name="T33" fmla="*/ 0 h 23"/>
                <a:gd name="T34" fmla="*/ 2 w 2"/>
                <a:gd name="T35" fmla="*/ 0 h 23"/>
                <a:gd name="T36" fmla="*/ 1 w 2"/>
                <a:gd name="T37" fmla="*/ 0 h 23"/>
                <a:gd name="T38" fmla="*/ 1 w 2"/>
                <a:gd name="T39" fmla="*/ 0 h 23"/>
                <a:gd name="T40" fmla="*/ 1 w 2"/>
                <a:gd name="T41" fmla="*/ 0 h 23"/>
                <a:gd name="T42" fmla="*/ 1 w 2"/>
                <a:gd name="T43" fmla="*/ 0 h 23"/>
                <a:gd name="T44" fmla="*/ 1 w 2"/>
                <a:gd name="T45" fmla="*/ 0 h 23"/>
                <a:gd name="T46" fmla="*/ 1 w 2"/>
                <a:gd name="T47" fmla="*/ 0 h 23"/>
                <a:gd name="T48" fmla="*/ 1 w 2"/>
                <a:gd name="T49" fmla="*/ 0 h 23"/>
                <a:gd name="T50" fmla="*/ 1 w 2"/>
                <a:gd name="T51" fmla="*/ 0 h 23"/>
                <a:gd name="T52" fmla="*/ 0 w 2"/>
                <a:gd name="T53" fmla="*/ 0 h 23"/>
                <a:gd name="T54" fmla="*/ 0 w 2"/>
                <a:gd name="T55" fmla="*/ 0 h 23"/>
                <a:gd name="T56" fmla="*/ 0 w 2"/>
                <a:gd name="T57" fmla="*/ 0 h 23"/>
                <a:gd name="T58" fmla="*/ 0 w 2"/>
                <a:gd name="T59" fmla="*/ 0 h 23"/>
                <a:gd name="T60" fmla="*/ 0 w 2"/>
                <a:gd name="T61" fmla="*/ 0 h 23"/>
                <a:gd name="T62" fmla="*/ 0 w 2"/>
                <a:gd name="T63" fmla="*/ 0 h 23"/>
                <a:gd name="T64" fmla="*/ 0 w 2"/>
                <a:gd name="T65" fmla="*/ 1 h 23"/>
                <a:gd name="T66" fmla="*/ 0 w 2"/>
                <a:gd name="T67" fmla="*/ 1 h 23"/>
                <a:gd name="T68" fmla="*/ 0 w 2"/>
                <a:gd name="T69" fmla="*/ 1 h 23"/>
                <a:gd name="T70" fmla="*/ 0 w 2"/>
                <a:gd name="T71" fmla="*/ 1 h 23"/>
                <a:gd name="T72" fmla="*/ 0 w 2"/>
                <a:gd name="T73" fmla="*/ 1 h 23"/>
                <a:gd name="T74" fmla="*/ 0 w 2"/>
                <a:gd name="T75" fmla="*/ 1 h 23"/>
                <a:gd name="T76" fmla="*/ 0 w 2"/>
                <a:gd name="T77" fmla="*/ 1 h 23"/>
                <a:gd name="T78" fmla="*/ 1 w 2"/>
                <a:gd name="T79" fmla="*/ 0 h 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"/>
                <a:gd name="T121" fmla="*/ 0 h 23"/>
                <a:gd name="T122" fmla="*/ 2 w 2"/>
                <a:gd name="T123" fmla="*/ 23 h 2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" h="23">
                  <a:moveTo>
                    <a:pt x="1" y="0"/>
                  </a:moveTo>
                  <a:lnTo>
                    <a:pt x="0" y="1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2" y="1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13" name="Freeform 756"/>
            <p:cNvSpPr>
              <a:spLocks/>
            </p:cNvSpPr>
            <p:nvPr/>
          </p:nvSpPr>
          <p:spPr bwMode="auto">
            <a:xfrm>
              <a:off x="4215" y="2875"/>
              <a:ext cx="24" cy="3"/>
            </a:xfrm>
            <a:custGeom>
              <a:avLst/>
              <a:gdLst>
                <a:gd name="T0" fmla="*/ 0 w 24"/>
                <a:gd name="T1" fmla="*/ 1 h 3"/>
                <a:gd name="T2" fmla="*/ 1 w 24"/>
                <a:gd name="T3" fmla="*/ 3 h 3"/>
                <a:gd name="T4" fmla="*/ 24 w 24"/>
                <a:gd name="T5" fmla="*/ 3 h 3"/>
                <a:gd name="T6" fmla="*/ 24 w 24"/>
                <a:gd name="T7" fmla="*/ 0 h 3"/>
                <a:gd name="T8" fmla="*/ 1 w 24"/>
                <a:gd name="T9" fmla="*/ 0 h 3"/>
                <a:gd name="T10" fmla="*/ 0 w 24"/>
                <a:gd name="T11" fmla="*/ 1 h 3"/>
                <a:gd name="T12" fmla="*/ 1 w 24"/>
                <a:gd name="T13" fmla="*/ 0 h 3"/>
                <a:gd name="T14" fmla="*/ 1 w 24"/>
                <a:gd name="T15" fmla="*/ 0 h 3"/>
                <a:gd name="T16" fmla="*/ 1 w 24"/>
                <a:gd name="T17" fmla="*/ 0 h 3"/>
                <a:gd name="T18" fmla="*/ 0 w 24"/>
                <a:gd name="T19" fmla="*/ 0 h 3"/>
                <a:gd name="T20" fmla="*/ 0 w 24"/>
                <a:gd name="T21" fmla="*/ 0 h 3"/>
                <a:gd name="T22" fmla="*/ 0 w 24"/>
                <a:gd name="T23" fmla="*/ 0 h 3"/>
                <a:gd name="T24" fmla="*/ 0 w 24"/>
                <a:gd name="T25" fmla="*/ 0 h 3"/>
                <a:gd name="T26" fmla="*/ 0 w 24"/>
                <a:gd name="T27" fmla="*/ 0 h 3"/>
                <a:gd name="T28" fmla="*/ 0 w 24"/>
                <a:gd name="T29" fmla="*/ 0 h 3"/>
                <a:gd name="T30" fmla="*/ 0 w 24"/>
                <a:gd name="T31" fmla="*/ 1 h 3"/>
                <a:gd name="T32" fmla="*/ 0 w 24"/>
                <a:gd name="T33" fmla="*/ 1 h 3"/>
                <a:gd name="T34" fmla="*/ 0 w 24"/>
                <a:gd name="T35" fmla="*/ 1 h 3"/>
                <a:gd name="T36" fmla="*/ 0 w 24"/>
                <a:gd name="T37" fmla="*/ 1 h 3"/>
                <a:gd name="T38" fmla="*/ 0 w 24"/>
                <a:gd name="T39" fmla="*/ 1 h 3"/>
                <a:gd name="T40" fmla="*/ 0 w 24"/>
                <a:gd name="T41" fmla="*/ 1 h 3"/>
                <a:gd name="T42" fmla="*/ 0 w 24"/>
                <a:gd name="T43" fmla="*/ 1 h 3"/>
                <a:gd name="T44" fmla="*/ 0 w 24"/>
                <a:gd name="T45" fmla="*/ 1 h 3"/>
                <a:gd name="T46" fmla="*/ 0 w 24"/>
                <a:gd name="T47" fmla="*/ 2 h 3"/>
                <a:gd name="T48" fmla="*/ 0 w 24"/>
                <a:gd name="T49" fmla="*/ 2 h 3"/>
                <a:gd name="T50" fmla="*/ 0 w 24"/>
                <a:gd name="T51" fmla="*/ 2 h 3"/>
                <a:gd name="T52" fmla="*/ 0 w 24"/>
                <a:gd name="T53" fmla="*/ 2 h 3"/>
                <a:gd name="T54" fmla="*/ 0 w 24"/>
                <a:gd name="T55" fmla="*/ 2 h 3"/>
                <a:gd name="T56" fmla="*/ 0 w 24"/>
                <a:gd name="T57" fmla="*/ 2 h 3"/>
                <a:gd name="T58" fmla="*/ 0 w 24"/>
                <a:gd name="T59" fmla="*/ 2 h 3"/>
                <a:gd name="T60" fmla="*/ 0 w 24"/>
                <a:gd name="T61" fmla="*/ 2 h 3"/>
                <a:gd name="T62" fmla="*/ 0 w 24"/>
                <a:gd name="T63" fmla="*/ 3 h 3"/>
                <a:gd name="T64" fmla="*/ 0 w 24"/>
                <a:gd name="T65" fmla="*/ 3 h 3"/>
                <a:gd name="T66" fmla="*/ 0 w 24"/>
                <a:gd name="T67" fmla="*/ 3 h 3"/>
                <a:gd name="T68" fmla="*/ 0 w 24"/>
                <a:gd name="T69" fmla="*/ 3 h 3"/>
                <a:gd name="T70" fmla="*/ 0 w 24"/>
                <a:gd name="T71" fmla="*/ 3 h 3"/>
                <a:gd name="T72" fmla="*/ 1 w 24"/>
                <a:gd name="T73" fmla="*/ 3 h 3"/>
                <a:gd name="T74" fmla="*/ 1 w 24"/>
                <a:gd name="T75" fmla="*/ 3 h 3"/>
                <a:gd name="T76" fmla="*/ 1 w 24"/>
                <a:gd name="T77" fmla="*/ 3 h 3"/>
                <a:gd name="T78" fmla="*/ 0 w 24"/>
                <a:gd name="T79" fmla="*/ 1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4"/>
                <a:gd name="T121" fmla="*/ 0 h 3"/>
                <a:gd name="T122" fmla="*/ 24 w 24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4" h="3">
                  <a:moveTo>
                    <a:pt x="0" y="1"/>
                  </a:moveTo>
                  <a:lnTo>
                    <a:pt x="1" y="3"/>
                  </a:lnTo>
                  <a:lnTo>
                    <a:pt x="24" y="3"/>
                  </a:lnTo>
                  <a:lnTo>
                    <a:pt x="24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14" name="Freeform 757"/>
            <p:cNvSpPr>
              <a:spLocks/>
            </p:cNvSpPr>
            <p:nvPr/>
          </p:nvSpPr>
          <p:spPr bwMode="auto">
            <a:xfrm>
              <a:off x="4215" y="2876"/>
              <a:ext cx="2" cy="23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0 h 23"/>
                <a:gd name="T6" fmla="*/ 0 w 2"/>
                <a:gd name="T7" fmla="*/ 0 h 23"/>
                <a:gd name="T8" fmla="*/ 0 w 2"/>
                <a:gd name="T9" fmla="*/ 22 h 23"/>
                <a:gd name="T10" fmla="*/ 1 w 2"/>
                <a:gd name="T11" fmla="*/ 23 h 23"/>
                <a:gd name="T12" fmla="*/ 0 w 2"/>
                <a:gd name="T13" fmla="*/ 22 h 23"/>
                <a:gd name="T14" fmla="*/ 0 w 2"/>
                <a:gd name="T15" fmla="*/ 22 h 23"/>
                <a:gd name="T16" fmla="*/ 0 w 2"/>
                <a:gd name="T17" fmla="*/ 22 h 23"/>
                <a:gd name="T18" fmla="*/ 0 w 2"/>
                <a:gd name="T19" fmla="*/ 22 h 23"/>
                <a:gd name="T20" fmla="*/ 0 w 2"/>
                <a:gd name="T21" fmla="*/ 23 h 23"/>
                <a:gd name="T22" fmla="*/ 0 w 2"/>
                <a:gd name="T23" fmla="*/ 23 h 23"/>
                <a:gd name="T24" fmla="*/ 0 w 2"/>
                <a:gd name="T25" fmla="*/ 23 h 23"/>
                <a:gd name="T26" fmla="*/ 0 w 2"/>
                <a:gd name="T27" fmla="*/ 23 h 23"/>
                <a:gd name="T28" fmla="*/ 0 w 2"/>
                <a:gd name="T29" fmla="*/ 23 h 23"/>
                <a:gd name="T30" fmla="*/ 0 w 2"/>
                <a:gd name="T31" fmla="*/ 23 h 23"/>
                <a:gd name="T32" fmla="*/ 0 w 2"/>
                <a:gd name="T33" fmla="*/ 23 h 23"/>
                <a:gd name="T34" fmla="*/ 0 w 2"/>
                <a:gd name="T35" fmla="*/ 23 h 23"/>
                <a:gd name="T36" fmla="*/ 0 w 2"/>
                <a:gd name="T37" fmla="*/ 23 h 23"/>
                <a:gd name="T38" fmla="*/ 1 w 2"/>
                <a:gd name="T39" fmla="*/ 23 h 23"/>
                <a:gd name="T40" fmla="*/ 1 w 2"/>
                <a:gd name="T41" fmla="*/ 23 h 23"/>
                <a:gd name="T42" fmla="*/ 1 w 2"/>
                <a:gd name="T43" fmla="*/ 23 h 23"/>
                <a:gd name="T44" fmla="*/ 1 w 2"/>
                <a:gd name="T45" fmla="*/ 23 h 23"/>
                <a:gd name="T46" fmla="*/ 1 w 2"/>
                <a:gd name="T47" fmla="*/ 23 h 23"/>
                <a:gd name="T48" fmla="*/ 1 w 2"/>
                <a:gd name="T49" fmla="*/ 23 h 23"/>
                <a:gd name="T50" fmla="*/ 1 w 2"/>
                <a:gd name="T51" fmla="*/ 23 h 23"/>
                <a:gd name="T52" fmla="*/ 1 w 2"/>
                <a:gd name="T53" fmla="*/ 23 h 23"/>
                <a:gd name="T54" fmla="*/ 2 w 2"/>
                <a:gd name="T55" fmla="*/ 23 h 23"/>
                <a:gd name="T56" fmla="*/ 2 w 2"/>
                <a:gd name="T57" fmla="*/ 23 h 23"/>
                <a:gd name="T58" fmla="*/ 2 w 2"/>
                <a:gd name="T59" fmla="*/ 23 h 23"/>
                <a:gd name="T60" fmla="*/ 2 w 2"/>
                <a:gd name="T61" fmla="*/ 23 h 23"/>
                <a:gd name="T62" fmla="*/ 2 w 2"/>
                <a:gd name="T63" fmla="*/ 23 h 23"/>
                <a:gd name="T64" fmla="*/ 2 w 2"/>
                <a:gd name="T65" fmla="*/ 23 h 23"/>
                <a:gd name="T66" fmla="*/ 2 w 2"/>
                <a:gd name="T67" fmla="*/ 23 h 23"/>
                <a:gd name="T68" fmla="*/ 2 w 2"/>
                <a:gd name="T69" fmla="*/ 23 h 23"/>
                <a:gd name="T70" fmla="*/ 2 w 2"/>
                <a:gd name="T71" fmla="*/ 22 h 23"/>
                <a:gd name="T72" fmla="*/ 2 w 2"/>
                <a:gd name="T73" fmla="*/ 22 h 23"/>
                <a:gd name="T74" fmla="*/ 2 w 2"/>
                <a:gd name="T75" fmla="*/ 22 h 23"/>
                <a:gd name="T76" fmla="*/ 2 w 2"/>
                <a:gd name="T77" fmla="*/ 22 h 23"/>
                <a:gd name="T78" fmla="*/ 1 w 2"/>
                <a:gd name="T79" fmla="*/ 23 h 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"/>
                <a:gd name="T121" fmla="*/ 0 h 23"/>
                <a:gd name="T122" fmla="*/ 2 w 2"/>
                <a:gd name="T123" fmla="*/ 23 h 2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" h="23">
                  <a:moveTo>
                    <a:pt x="1" y="23"/>
                  </a:moveTo>
                  <a:lnTo>
                    <a:pt x="2" y="2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2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1" y="23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15" name="Rectangle 758"/>
            <p:cNvSpPr>
              <a:spLocks noChangeArrowheads="1"/>
            </p:cNvSpPr>
            <p:nvPr/>
          </p:nvSpPr>
          <p:spPr bwMode="auto">
            <a:xfrm>
              <a:off x="4098" y="2740"/>
              <a:ext cx="101" cy="199"/>
            </a:xfrm>
            <a:prstGeom prst="rect">
              <a:avLst/>
            </a:prstGeom>
            <a:solidFill>
              <a:srgbClr val="1C96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816" name="Freeform 759"/>
            <p:cNvSpPr>
              <a:spLocks/>
            </p:cNvSpPr>
            <p:nvPr/>
          </p:nvSpPr>
          <p:spPr bwMode="auto">
            <a:xfrm>
              <a:off x="4097" y="2740"/>
              <a:ext cx="3" cy="200"/>
            </a:xfrm>
            <a:custGeom>
              <a:avLst/>
              <a:gdLst>
                <a:gd name="T0" fmla="*/ 1 w 3"/>
                <a:gd name="T1" fmla="*/ 200 h 200"/>
                <a:gd name="T2" fmla="*/ 3 w 3"/>
                <a:gd name="T3" fmla="*/ 199 h 200"/>
                <a:gd name="T4" fmla="*/ 3 w 3"/>
                <a:gd name="T5" fmla="*/ 0 h 200"/>
                <a:gd name="T6" fmla="*/ 0 w 3"/>
                <a:gd name="T7" fmla="*/ 0 h 200"/>
                <a:gd name="T8" fmla="*/ 0 w 3"/>
                <a:gd name="T9" fmla="*/ 199 h 200"/>
                <a:gd name="T10" fmla="*/ 1 w 3"/>
                <a:gd name="T11" fmla="*/ 200 h 200"/>
                <a:gd name="T12" fmla="*/ 0 w 3"/>
                <a:gd name="T13" fmla="*/ 199 h 200"/>
                <a:gd name="T14" fmla="*/ 0 w 3"/>
                <a:gd name="T15" fmla="*/ 199 h 200"/>
                <a:gd name="T16" fmla="*/ 0 w 3"/>
                <a:gd name="T17" fmla="*/ 199 h 200"/>
                <a:gd name="T18" fmla="*/ 0 w 3"/>
                <a:gd name="T19" fmla="*/ 199 h 200"/>
                <a:gd name="T20" fmla="*/ 0 w 3"/>
                <a:gd name="T21" fmla="*/ 199 h 200"/>
                <a:gd name="T22" fmla="*/ 0 w 3"/>
                <a:gd name="T23" fmla="*/ 200 h 200"/>
                <a:gd name="T24" fmla="*/ 0 w 3"/>
                <a:gd name="T25" fmla="*/ 200 h 200"/>
                <a:gd name="T26" fmla="*/ 0 w 3"/>
                <a:gd name="T27" fmla="*/ 200 h 200"/>
                <a:gd name="T28" fmla="*/ 0 w 3"/>
                <a:gd name="T29" fmla="*/ 200 h 200"/>
                <a:gd name="T30" fmla="*/ 0 w 3"/>
                <a:gd name="T31" fmla="*/ 200 h 200"/>
                <a:gd name="T32" fmla="*/ 1 w 3"/>
                <a:gd name="T33" fmla="*/ 200 h 200"/>
                <a:gd name="T34" fmla="*/ 1 w 3"/>
                <a:gd name="T35" fmla="*/ 200 h 200"/>
                <a:gd name="T36" fmla="*/ 1 w 3"/>
                <a:gd name="T37" fmla="*/ 200 h 200"/>
                <a:gd name="T38" fmla="*/ 1 w 3"/>
                <a:gd name="T39" fmla="*/ 200 h 200"/>
                <a:gd name="T40" fmla="*/ 1 w 3"/>
                <a:gd name="T41" fmla="*/ 200 h 200"/>
                <a:gd name="T42" fmla="*/ 1 w 3"/>
                <a:gd name="T43" fmla="*/ 200 h 200"/>
                <a:gd name="T44" fmla="*/ 1 w 3"/>
                <a:gd name="T45" fmla="*/ 200 h 200"/>
                <a:gd name="T46" fmla="*/ 1 w 3"/>
                <a:gd name="T47" fmla="*/ 200 h 200"/>
                <a:gd name="T48" fmla="*/ 2 w 3"/>
                <a:gd name="T49" fmla="*/ 200 h 200"/>
                <a:gd name="T50" fmla="*/ 2 w 3"/>
                <a:gd name="T51" fmla="*/ 200 h 200"/>
                <a:gd name="T52" fmla="*/ 2 w 3"/>
                <a:gd name="T53" fmla="*/ 200 h 200"/>
                <a:gd name="T54" fmla="*/ 2 w 3"/>
                <a:gd name="T55" fmla="*/ 200 h 200"/>
                <a:gd name="T56" fmla="*/ 2 w 3"/>
                <a:gd name="T57" fmla="*/ 200 h 200"/>
                <a:gd name="T58" fmla="*/ 2 w 3"/>
                <a:gd name="T59" fmla="*/ 200 h 200"/>
                <a:gd name="T60" fmla="*/ 2 w 3"/>
                <a:gd name="T61" fmla="*/ 200 h 200"/>
                <a:gd name="T62" fmla="*/ 2 w 3"/>
                <a:gd name="T63" fmla="*/ 200 h 200"/>
                <a:gd name="T64" fmla="*/ 3 w 3"/>
                <a:gd name="T65" fmla="*/ 200 h 200"/>
                <a:gd name="T66" fmla="*/ 3 w 3"/>
                <a:gd name="T67" fmla="*/ 200 h 200"/>
                <a:gd name="T68" fmla="*/ 3 w 3"/>
                <a:gd name="T69" fmla="*/ 199 h 200"/>
                <a:gd name="T70" fmla="*/ 3 w 3"/>
                <a:gd name="T71" fmla="*/ 199 h 200"/>
                <a:gd name="T72" fmla="*/ 3 w 3"/>
                <a:gd name="T73" fmla="*/ 199 h 200"/>
                <a:gd name="T74" fmla="*/ 3 w 3"/>
                <a:gd name="T75" fmla="*/ 199 h 200"/>
                <a:gd name="T76" fmla="*/ 3 w 3"/>
                <a:gd name="T77" fmla="*/ 199 h 200"/>
                <a:gd name="T78" fmla="*/ 1 w 3"/>
                <a:gd name="T79" fmla="*/ 200 h 20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200"/>
                <a:gd name="T122" fmla="*/ 3 w 3"/>
                <a:gd name="T123" fmla="*/ 200 h 20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200">
                  <a:moveTo>
                    <a:pt x="1" y="200"/>
                  </a:moveTo>
                  <a:lnTo>
                    <a:pt x="3" y="199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199"/>
                  </a:lnTo>
                  <a:lnTo>
                    <a:pt x="1" y="200"/>
                  </a:lnTo>
                  <a:lnTo>
                    <a:pt x="0" y="199"/>
                  </a:lnTo>
                  <a:lnTo>
                    <a:pt x="0" y="200"/>
                  </a:lnTo>
                  <a:lnTo>
                    <a:pt x="1" y="200"/>
                  </a:lnTo>
                  <a:lnTo>
                    <a:pt x="2" y="200"/>
                  </a:lnTo>
                  <a:lnTo>
                    <a:pt x="3" y="200"/>
                  </a:lnTo>
                  <a:lnTo>
                    <a:pt x="3" y="199"/>
                  </a:lnTo>
                  <a:lnTo>
                    <a:pt x="1" y="200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17" name="Freeform 760"/>
            <p:cNvSpPr>
              <a:spLocks/>
            </p:cNvSpPr>
            <p:nvPr/>
          </p:nvSpPr>
          <p:spPr bwMode="auto">
            <a:xfrm>
              <a:off x="4098" y="2937"/>
              <a:ext cx="102" cy="3"/>
            </a:xfrm>
            <a:custGeom>
              <a:avLst/>
              <a:gdLst>
                <a:gd name="T0" fmla="*/ 102 w 102"/>
                <a:gd name="T1" fmla="*/ 2 h 3"/>
                <a:gd name="T2" fmla="*/ 101 w 102"/>
                <a:gd name="T3" fmla="*/ 0 h 3"/>
                <a:gd name="T4" fmla="*/ 0 w 102"/>
                <a:gd name="T5" fmla="*/ 0 h 3"/>
                <a:gd name="T6" fmla="*/ 0 w 102"/>
                <a:gd name="T7" fmla="*/ 3 h 3"/>
                <a:gd name="T8" fmla="*/ 101 w 102"/>
                <a:gd name="T9" fmla="*/ 3 h 3"/>
                <a:gd name="T10" fmla="*/ 102 w 102"/>
                <a:gd name="T11" fmla="*/ 2 h 3"/>
                <a:gd name="T12" fmla="*/ 101 w 102"/>
                <a:gd name="T13" fmla="*/ 3 h 3"/>
                <a:gd name="T14" fmla="*/ 101 w 102"/>
                <a:gd name="T15" fmla="*/ 3 h 3"/>
                <a:gd name="T16" fmla="*/ 101 w 102"/>
                <a:gd name="T17" fmla="*/ 3 h 3"/>
                <a:gd name="T18" fmla="*/ 102 w 102"/>
                <a:gd name="T19" fmla="*/ 3 h 3"/>
                <a:gd name="T20" fmla="*/ 102 w 102"/>
                <a:gd name="T21" fmla="*/ 3 h 3"/>
                <a:gd name="T22" fmla="*/ 102 w 102"/>
                <a:gd name="T23" fmla="*/ 3 h 3"/>
                <a:gd name="T24" fmla="*/ 102 w 102"/>
                <a:gd name="T25" fmla="*/ 3 h 3"/>
                <a:gd name="T26" fmla="*/ 102 w 102"/>
                <a:gd name="T27" fmla="*/ 3 h 3"/>
                <a:gd name="T28" fmla="*/ 102 w 102"/>
                <a:gd name="T29" fmla="*/ 3 h 3"/>
                <a:gd name="T30" fmla="*/ 102 w 102"/>
                <a:gd name="T31" fmla="*/ 3 h 3"/>
                <a:gd name="T32" fmla="*/ 102 w 102"/>
                <a:gd name="T33" fmla="*/ 3 h 3"/>
                <a:gd name="T34" fmla="*/ 102 w 102"/>
                <a:gd name="T35" fmla="*/ 2 h 3"/>
                <a:gd name="T36" fmla="*/ 102 w 102"/>
                <a:gd name="T37" fmla="*/ 2 h 3"/>
                <a:gd name="T38" fmla="*/ 102 w 102"/>
                <a:gd name="T39" fmla="*/ 2 h 3"/>
                <a:gd name="T40" fmla="*/ 102 w 102"/>
                <a:gd name="T41" fmla="*/ 2 h 3"/>
                <a:gd name="T42" fmla="*/ 102 w 102"/>
                <a:gd name="T43" fmla="*/ 2 h 3"/>
                <a:gd name="T44" fmla="*/ 102 w 102"/>
                <a:gd name="T45" fmla="*/ 2 h 3"/>
                <a:gd name="T46" fmla="*/ 102 w 102"/>
                <a:gd name="T47" fmla="*/ 2 h 3"/>
                <a:gd name="T48" fmla="*/ 102 w 102"/>
                <a:gd name="T49" fmla="*/ 2 h 3"/>
                <a:gd name="T50" fmla="*/ 102 w 102"/>
                <a:gd name="T51" fmla="*/ 1 h 3"/>
                <a:gd name="T52" fmla="*/ 102 w 102"/>
                <a:gd name="T53" fmla="*/ 1 h 3"/>
                <a:gd name="T54" fmla="*/ 102 w 102"/>
                <a:gd name="T55" fmla="*/ 1 h 3"/>
                <a:gd name="T56" fmla="*/ 102 w 102"/>
                <a:gd name="T57" fmla="*/ 1 h 3"/>
                <a:gd name="T58" fmla="*/ 102 w 102"/>
                <a:gd name="T59" fmla="*/ 1 h 3"/>
                <a:gd name="T60" fmla="*/ 102 w 102"/>
                <a:gd name="T61" fmla="*/ 1 h 3"/>
                <a:gd name="T62" fmla="*/ 102 w 102"/>
                <a:gd name="T63" fmla="*/ 1 h 3"/>
                <a:gd name="T64" fmla="*/ 102 w 102"/>
                <a:gd name="T65" fmla="*/ 1 h 3"/>
                <a:gd name="T66" fmla="*/ 102 w 102"/>
                <a:gd name="T67" fmla="*/ 1 h 3"/>
                <a:gd name="T68" fmla="*/ 102 w 102"/>
                <a:gd name="T69" fmla="*/ 0 h 3"/>
                <a:gd name="T70" fmla="*/ 102 w 102"/>
                <a:gd name="T71" fmla="*/ 0 h 3"/>
                <a:gd name="T72" fmla="*/ 101 w 102"/>
                <a:gd name="T73" fmla="*/ 0 h 3"/>
                <a:gd name="T74" fmla="*/ 101 w 102"/>
                <a:gd name="T75" fmla="*/ 0 h 3"/>
                <a:gd name="T76" fmla="*/ 101 w 102"/>
                <a:gd name="T77" fmla="*/ 0 h 3"/>
                <a:gd name="T78" fmla="*/ 102 w 102"/>
                <a:gd name="T79" fmla="*/ 2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02"/>
                <a:gd name="T121" fmla="*/ 0 h 3"/>
                <a:gd name="T122" fmla="*/ 102 w 102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02" h="3">
                  <a:moveTo>
                    <a:pt x="102" y="2"/>
                  </a:moveTo>
                  <a:lnTo>
                    <a:pt x="101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01" y="3"/>
                  </a:lnTo>
                  <a:lnTo>
                    <a:pt x="102" y="2"/>
                  </a:lnTo>
                  <a:lnTo>
                    <a:pt x="101" y="3"/>
                  </a:lnTo>
                  <a:lnTo>
                    <a:pt x="102" y="3"/>
                  </a:lnTo>
                  <a:lnTo>
                    <a:pt x="102" y="2"/>
                  </a:lnTo>
                  <a:lnTo>
                    <a:pt x="102" y="1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102" y="2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18" name="Freeform 761"/>
            <p:cNvSpPr>
              <a:spLocks/>
            </p:cNvSpPr>
            <p:nvPr/>
          </p:nvSpPr>
          <p:spPr bwMode="auto">
            <a:xfrm>
              <a:off x="4198" y="2739"/>
              <a:ext cx="2" cy="200"/>
            </a:xfrm>
            <a:custGeom>
              <a:avLst/>
              <a:gdLst>
                <a:gd name="T0" fmla="*/ 1 w 2"/>
                <a:gd name="T1" fmla="*/ 0 h 200"/>
                <a:gd name="T2" fmla="*/ 0 w 2"/>
                <a:gd name="T3" fmla="*/ 1 h 200"/>
                <a:gd name="T4" fmla="*/ 0 w 2"/>
                <a:gd name="T5" fmla="*/ 200 h 200"/>
                <a:gd name="T6" fmla="*/ 2 w 2"/>
                <a:gd name="T7" fmla="*/ 200 h 200"/>
                <a:gd name="T8" fmla="*/ 2 w 2"/>
                <a:gd name="T9" fmla="*/ 1 h 200"/>
                <a:gd name="T10" fmla="*/ 1 w 2"/>
                <a:gd name="T11" fmla="*/ 0 h 200"/>
                <a:gd name="T12" fmla="*/ 2 w 2"/>
                <a:gd name="T13" fmla="*/ 1 h 200"/>
                <a:gd name="T14" fmla="*/ 2 w 2"/>
                <a:gd name="T15" fmla="*/ 1 h 200"/>
                <a:gd name="T16" fmla="*/ 2 w 2"/>
                <a:gd name="T17" fmla="*/ 1 h 200"/>
                <a:gd name="T18" fmla="*/ 2 w 2"/>
                <a:gd name="T19" fmla="*/ 1 h 200"/>
                <a:gd name="T20" fmla="*/ 2 w 2"/>
                <a:gd name="T21" fmla="*/ 0 h 200"/>
                <a:gd name="T22" fmla="*/ 2 w 2"/>
                <a:gd name="T23" fmla="*/ 0 h 200"/>
                <a:gd name="T24" fmla="*/ 2 w 2"/>
                <a:gd name="T25" fmla="*/ 0 h 200"/>
                <a:gd name="T26" fmla="*/ 2 w 2"/>
                <a:gd name="T27" fmla="*/ 0 h 200"/>
                <a:gd name="T28" fmla="*/ 2 w 2"/>
                <a:gd name="T29" fmla="*/ 0 h 200"/>
                <a:gd name="T30" fmla="*/ 2 w 2"/>
                <a:gd name="T31" fmla="*/ 0 h 200"/>
                <a:gd name="T32" fmla="*/ 2 w 2"/>
                <a:gd name="T33" fmla="*/ 0 h 200"/>
                <a:gd name="T34" fmla="*/ 2 w 2"/>
                <a:gd name="T35" fmla="*/ 0 h 200"/>
                <a:gd name="T36" fmla="*/ 2 w 2"/>
                <a:gd name="T37" fmla="*/ 0 h 200"/>
                <a:gd name="T38" fmla="*/ 1 w 2"/>
                <a:gd name="T39" fmla="*/ 0 h 200"/>
                <a:gd name="T40" fmla="*/ 1 w 2"/>
                <a:gd name="T41" fmla="*/ 0 h 200"/>
                <a:gd name="T42" fmla="*/ 1 w 2"/>
                <a:gd name="T43" fmla="*/ 0 h 200"/>
                <a:gd name="T44" fmla="*/ 1 w 2"/>
                <a:gd name="T45" fmla="*/ 0 h 200"/>
                <a:gd name="T46" fmla="*/ 1 w 2"/>
                <a:gd name="T47" fmla="*/ 0 h 200"/>
                <a:gd name="T48" fmla="*/ 1 w 2"/>
                <a:gd name="T49" fmla="*/ 0 h 200"/>
                <a:gd name="T50" fmla="*/ 1 w 2"/>
                <a:gd name="T51" fmla="*/ 0 h 200"/>
                <a:gd name="T52" fmla="*/ 0 w 2"/>
                <a:gd name="T53" fmla="*/ 0 h 200"/>
                <a:gd name="T54" fmla="*/ 0 w 2"/>
                <a:gd name="T55" fmla="*/ 0 h 200"/>
                <a:gd name="T56" fmla="*/ 0 w 2"/>
                <a:gd name="T57" fmla="*/ 0 h 200"/>
                <a:gd name="T58" fmla="*/ 0 w 2"/>
                <a:gd name="T59" fmla="*/ 0 h 200"/>
                <a:gd name="T60" fmla="*/ 0 w 2"/>
                <a:gd name="T61" fmla="*/ 0 h 200"/>
                <a:gd name="T62" fmla="*/ 0 w 2"/>
                <a:gd name="T63" fmla="*/ 0 h 200"/>
                <a:gd name="T64" fmla="*/ 0 w 2"/>
                <a:gd name="T65" fmla="*/ 0 h 200"/>
                <a:gd name="T66" fmla="*/ 0 w 2"/>
                <a:gd name="T67" fmla="*/ 0 h 200"/>
                <a:gd name="T68" fmla="*/ 0 w 2"/>
                <a:gd name="T69" fmla="*/ 0 h 200"/>
                <a:gd name="T70" fmla="*/ 0 w 2"/>
                <a:gd name="T71" fmla="*/ 1 h 200"/>
                <a:gd name="T72" fmla="*/ 0 w 2"/>
                <a:gd name="T73" fmla="*/ 1 h 200"/>
                <a:gd name="T74" fmla="*/ 0 w 2"/>
                <a:gd name="T75" fmla="*/ 1 h 200"/>
                <a:gd name="T76" fmla="*/ 0 w 2"/>
                <a:gd name="T77" fmla="*/ 1 h 200"/>
                <a:gd name="T78" fmla="*/ 1 w 2"/>
                <a:gd name="T79" fmla="*/ 0 h 20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"/>
                <a:gd name="T121" fmla="*/ 0 h 200"/>
                <a:gd name="T122" fmla="*/ 2 w 2"/>
                <a:gd name="T123" fmla="*/ 200 h 20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" h="200">
                  <a:moveTo>
                    <a:pt x="1" y="0"/>
                  </a:moveTo>
                  <a:lnTo>
                    <a:pt x="0" y="1"/>
                  </a:lnTo>
                  <a:lnTo>
                    <a:pt x="0" y="200"/>
                  </a:lnTo>
                  <a:lnTo>
                    <a:pt x="2" y="200"/>
                  </a:lnTo>
                  <a:lnTo>
                    <a:pt x="2" y="1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19" name="Freeform 762"/>
            <p:cNvSpPr>
              <a:spLocks/>
            </p:cNvSpPr>
            <p:nvPr/>
          </p:nvSpPr>
          <p:spPr bwMode="auto">
            <a:xfrm>
              <a:off x="4097" y="2739"/>
              <a:ext cx="102" cy="2"/>
            </a:xfrm>
            <a:custGeom>
              <a:avLst/>
              <a:gdLst>
                <a:gd name="T0" fmla="*/ 0 w 102"/>
                <a:gd name="T1" fmla="*/ 1 h 2"/>
                <a:gd name="T2" fmla="*/ 1 w 102"/>
                <a:gd name="T3" fmla="*/ 2 h 2"/>
                <a:gd name="T4" fmla="*/ 102 w 102"/>
                <a:gd name="T5" fmla="*/ 2 h 2"/>
                <a:gd name="T6" fmla="*/ 102 w 102"/>
                <a:gd name="T7" fmla="*/ 0 h 2"/>
                <a:gd name="T8" fmla="*/ 1 w 102"/>
                <a:gd name="T9" fmla="*/ 0 h 2"/>
                <a:gd name="T10" fmla="*/ 0 w 102"/>
                <a:gd name="T11" fmla="*/ 1 h 2"/>
                <a:gd name="T12" fmla="*/ 1 w 102"/>
                <a:gd name="T13" fmla="*/ 0 h 2"/>
                <a:gd name="T14" fmla="*/ 1 w 102"/>
                <a:gd name="T15" fmla="*/ 0 h 2"/>
                <a:gd name="T16" fmla="*/ 1 w 102"/>
                <a:gd name="T17" fmla="*/ 0 h 2"/>
                <a:gd name="T18" fmla="*/ 1 w 102"/>
                <a:gd name="T19" fmla="*/ 0 h 2"/>
                <a:gd name="T20" fmla="*/ 1 w 102"/>
                <a:gd name="T21" fmla="*/ 0 h 2"/>
                <a:gd name="T22" fmla="*/ 1 w 102"/>
                <a:gd name="T23" fmla="*/ 0 h 2"/>
                <a:gd name="T24" fmla="*/ 0 w 102"/>
                <a:gd name="T25" fmla="*/ 0 h 2"/>
                <a:gd name="T26" fmla="*/ 0 w 102"/>
                <a:gd name="T27" fmla="*/ 0 h 2"/>
                <a:gd name="T28" fmla="*/ 0 w 102"/>
                <a:gd name="T29" fmla="*/ 0 h 2"/>
                <a:gd name="T30" fmla="*/ 0 w 102"/>
                <a:gd name="T31" fmla="*/ 0 h 2"/>
                <a:gd name="T32" fmla="*/ 0 w 102"/>
                <a:gd name="T33" fmla="*/ 0 h 2"/>
                <a:gd name="T34" fmla="*/ 0 w 102"/>
                <a:gd name="T35" fmla="*/ 0 h 2"/>
                <a:gd name="T36" fmla="*/ 0 w 102"/>
                <a:gd name="T37" fmla="*/ 1 h 2"/>
                <a:gd name="T38" fmla="*/ 0 w 102"/>
                <a:gd name="T39" fmla="*/ 1 h 2"/>
                <a:gd name="T40" fmla="*/ 0 w 102"/>
                <a:gd name="T41" fmla="*/ 1 h 2"/>
                <a:gd name="T42" fmla="*/ 0 w 102"/>
                <a:gd name="T43" fmla="*/ 1 h 2"/>
                <a:gd name="T44" fmla="*/ 0 w 102"/>
                <a:gd name="T45" fmla="*/ 1 h 2"/>
                <a:gd name="T46" fmla="*/ 0 w 102"/>
                <a:gd name="T47" fmla="*/ 1 h 2"/>
                <a:gd name="T48" fmla="*/ 0 w 102"/>
                <a:gd name="T49" fmla="*/ 1 h 2"/>
                <a:gd name="T50" fmla="*/ 0 w 102"/>
                <a:gd name="T51" fmla="*/ 1 h 2"/>
                <a:gd name="T52" fmla="*/ 0 w 102"/>
                <a:gd name="T53" fmla="*/ 2 h 2"/>
                <a:gd name="T54" fmla="*/ 0 w 102"/>
                <a:gd name="T55" fmla="*/ 2 h 2"/>
                <a:gd name="T56" fmla="*/ 0 w 102"/>
                <a:gd name="T57" fmla="*/ 2 h 2"/>
                <a:gd name="T58" fmla="*/ 0 w 102"/>
                <a:gd name="T59" fmla="*/ 2 h 2"/>
                <a:gd name="T60" fmla="*/ 0 w 102"/>
                <a:gd name="T61" fmla="*/ 2 h 2"/>
                <a:gd name="T62" fmla="*/ 0 w 102"/>
                <a:gd name="T63" fmla="*/ 2 h 2"/>
                <a:gd name="T64" fmla="*/ 0 w 102"/>
                <a:gd name="T65" fmla="*/ 2 h 2"/>
                <a:gd name="T66" fmla="*/ 1 w 102"/>
                <a:gd name="T67" fmla="*/ 2 h 2"/>
                <a:gd name="T68" fmla="*/ 1 w 102"/>
                <a:gd name="T69" fmla="*/ 2 h 2"/>
                <a:gd name="T70" fmla="*/ 1 w 102"/>
                <a:gd name="T71" fmla="*/ 2 h 2"/>
                <a:gd name="T72" fmla="*/ 1 w 102"/>
                <a:gd name="T73" fmla="*/ 2 h 2"/>
                <a:gd name="T74" fmla="*/ 1 w 102"/>
                <a:gd name="T75" fmla="*/ 2 h 2"/>
                <a:gd name="T76" fmla="*/ 1 w 102"/>
                <a:gd name="T77" fmla="*/ 2 h 2"/>
                <a:gd name="T78" fmla="*/ 0 w 102"/>
                <a:gd name="T79" fmla="*/ 1 h 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02"/>
                <a:gd name="T121" fmla="*/ 0 h 2"/>
                <a:gd name="T122" fmla="*/ 102 w 102"/>
                <a:gd name="T123" fmla="*/ 2 h 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02" h="2">
                  <a:moveTo>
                    <a:pt x="0" y="1"/>
                  </a:moveTo>
                  <a:lnTo>
                    <a:pt x="1" y="2"/>
                  </a:lnTo>
                  <a:lnTo>
                    <a:pt x="102" y="2"/>
                  </a:lnTo>
                  <a:lnTo>
                    <a:pt x="102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0" name="Freeform 763"/>
            <p:cNvSpPr>
              <a:spLocks/>
            </p:cNvSpPr>
            <p:nvPr/>
          </p:nvSpPr>
          <p:spPr bwMode="auto">
            <a:xfrm>
              <a:off x="4098" y="2721"/>
              <a:ext cx="120" cy="19"/>
            </a:xfrm>
            <a:custGeom>
              <a:avLst/>
              <a:gdLst>
                <a:gd name="T0" fmla="*/ 0 w 120"/>
                <a:gd name="T1" fmla="*/ 19 h 19"/>
                <a:gd name="T2" fmla="*/ 20 w 120"/>
                <a:gd name="T3" fmla="*/ 0 h 19"/>
                <a:gd name="T4" fmla="*/ 120 w 120"/>
                <a:gd name="T5" fmla="*/ 0 h 19"/>
                <a:gd name="T6" fmla="*/ 101 w 120"/>
                <a:gd name="T7" fmla="*/ 19 h 19"/>
                <a:gd name="T8" fmla="*/ 0 w 120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19"/>
                <a:gd name="T17" fmla="*/ 120 w 1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19">
                  <a:moveTo>
                    <a:pt x="0" y="19"/>
                  </a:moveTo>
                  <a:lnTo>
                    <a:pt x="20" y="0"/>
                  </a:lnTo>
                  <a:lnTo>
                    <a:pt x="120" y="0"/>
                  </a:lnTo>
                  <a:lnTo>
                    <a:pt x="101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3CAF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1" name="Freeform 764"/>
            <p:cNvSpPr>
              <a:spLocks/>
            </p:cNvSpPr>
            <p:nvPr/>
          </p:nvSpPr>
          <p:spPr bwMode="auto">
            <a:xfrm>
              <a:off x="4097" y="2719"/>
              <a:ext cx="22" cy="22"/>
            </a:xfrm>
            <a:custGeom>
              <a:avLst/>
              <a:gdLst>
                <a:gd name="T0" fmla="*/ 21 w 22"/>
                <a:gd name="T1" fmla="*/ 0 h 22"/>
                <a:gd name="T2" fmla="*/ 20 w 22"/>
                <a:gd name="T3" fmla="*/ 1 h 22"/>
                <a:gd name="T4" fmla="*/ 0 w 22"/>
                <a:gd name="T5" fmla="*/ 20 h 22"/>
                <a:gd name="T6" fmla="*/ 2 w 22"/>
                <a:gd name="T7" fmla="*/ 22 h 22"/>
                <a:gd name="T8" fmla="*/ 22 w 22"/>
                <a:gd name="T9" fmla="*/ 3 h 22"/>
                <a:gd name="T10" fmla="*/ 21 w 22"/>
                <a:gd name="T11" fmla="*/ 0 h 22"/>
                <a:gd name="T12" fmla="*/ 22 w 22"/>
                <a:gd name="T13" fmla="*/ 3 h 22"/>
                <a:gd name="T14" fmla="*/ 22 w 22"/>
                <a:gd name="T15" fmla="*/ 2 h 22"/>
                <a:gd name="T16" fmla="*/ 22 w 22"/>
                <a:gd name="T17" fmla="*/ 2 h 22"/>
                <a:gd name="T18" fmla="*/ 22 w 22"/>
                <a:gd name="T19" fmla="*/ 2 h 22"/>
                <a:gd name="T20" fmla="*/ 22 w 22"/>
                <a:gd name="T21" fmla="*/ 2 h 22"/>
                <a:gd name="T22" fmla="*/ 22 w 22"/>
                <a:gd name="T23" fmla="*/ 2 h 22"/>
                <a:gd name="T24" fmla="*/ 22 w 22"/>
                <a:gd name="T25" fmla="*/ 2 h 22"/>
                <a:gd name="T26" fmla="*/ 22 w 22"/>
                <a:gd name="T27" fmla="*/ 2 h 22"/>
                <a:gd name="T28" fmla="*/ 22 w 22"/>
                <a:gd name="T29" fmla="*/ 2 h 22"/>
                <a:gd name="T30" fmla="*/ 22 w 22"/>
                <a:gd name="T31" fmla="*/ 1 h 22"/>
                <a:gd name="T32" fmla="*/ 22 w 22"/>
                <a:gd name="T33" fmla="*/ 1 h 22"/>
                <a:gd name="T34" fmla="*/ 22 w 22"/>
                <a:gd name="T35" fmla="*/ 1 h 22"/>
                <a:gd name="T36" fmla="*/ 22 w 22"/>
                <a:gd name="T37" fmla="*/ 1 h 22"/>
                <a:gd name="T38" fmla="*/ 22 w 22"/>
                <a:gd name="T39" fmla="*/ 1 h 22"/>
                <a:gd name="T40" fmla="*/ 22 w 22"/>
                <a:gd name="T41" fmla="*/ 1 h 22"/>
                <a:gd name="T42" fmla="*/ 22 w 22"/>
                <a:gd name="T43" fmla="*/ 1 h 22"/>
                <a:gd name="T44" fmla="*/ 22 w 22"/>
                <a:gd name="T45" fmla="*/ 1 h 22"/>
                <a:gd name="T46" fmla="*/ 22 w 22"/>
                <a:gd name="T47" fmla="*/ 0 h 22"/>
                <a:gd name="T48" fmla="*/ 22 w 22"/>
                <a:gd name="T49" fmla="*/ 0 h 22"/>
                <a:gd name="T50" fmla="*/ 22 w 22"/>
                <a:gd name="T51" fmla="*/ 0 h 22"/>
                <a:gd name="T52" fmla="*/ 21 w 22"/>
                <a:gd name="T53" fmla="*/ 0 h 22"/>
                <a:gd name="T54" fmla="*/ 21 w 22"/>
                <a:gd name="T55" fmla="*/ 0 h 22"/>
                <a:gd name="T56" fmla="*/ 21 w 22"/>
                <a:gd name="T57" fmla="*/ 0 h 22"/>
                <a:gd name="T58" fmla="*/ 21 w 22"/>
                <a:gd name="T59" fmla="*/ 0 h 22"/>
                <a:gd name="T60" fmla="*/ 21 w 22"/>
                <a:gd name="T61" fmla="*/ 0 h 22"/>
                <a:gd name="T62" fmla="*/ 21 w 22"/>
                <a:gd name="T63" fmla="*/ 0 h 22"/>
                <a:gd name="T64" fmla="*/ 21 w 22"/>
                <a:gd name="T65" fmla="*/ 0 h 22"/>
                <a:gd name="T66" fmla="*/ 20 w 22"/>
                <a:gd name="T67" fmla="*/ 0 h 22"/>
                <a:gd name="T68" fmla="*/ 20 w 22"/>
                <a:gd name="T69" fmla="*/ 0 h 22"/>
                <a:gd name="T70" fmla="*/ 20 w 22"/>
                <a:gd name="T71" fmla="*/ 0 h 22"/>
                <a:gd name="T72" fmla="*/ 20 w 22"/>
                <a:gd name="T73" fmla="*/ 0 h 22"/>
                <a:gd name="T74" fmla="*/ 20 w 22"/>
                <a:gd name="T75" fmla="*/ 0 h 22"/>
                <a:gd name="T76" fmla="*/ 20 w 22"/>
                <a:gd name="T77" fmla="*/ 1 h 22"/>
                <a:gd name="T78" fmla="*/ 21 w 22"/>
                <a:gd name="T79" fmla="*/ 0 h 2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2"/>
                <a:gd name="T121" fmla="*/ 0 h 22"/>
                <a:gd name="T122" fmla="*/ 22 w 22"/>
                <a:gd name="T123" fmla="*/ 22 h 2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2" h="22">
                  <a:moveTo>
                    <a:pt x="21" y="0"/>
                  </a:moveTo>
                  <a:lnTo>
                    <a:pt x="20" y="1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2" y="3"/>
                  </a:lnTo>
                  <a:lnTo>
                    <a:pt x="21" y="0"/>
                  </a:lnTo>
                  <a:lnTo>
                    <a:pt x="22" y="3"/>
                  </a:lnTo>
                  <a:lnTo>
                    <a:pt x="22" y="2"/>
                  </a:lnTo>
                  <a:lnTo>
                    <a:pt x="22" y="1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20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2" name="Freeform 765"/>
            <p:cNvSpPr>
              <a:spLocks/>
            </p:cNvSpPr>
            <p:nvPr/>
          </p:nvSpPr>
          <p:spPr bwMode="auto">
            <a:xfrm>
              <a:off x="4118" y="2719"/>
              <a:ext cx="102" cy="3"/>
            </a:xfrm>
            <a:custGeom>
              <a:avLst/>
              <a:gdLst>
                <a:gd name="T0" fmla="*/ 101 w 102"/>
                <a:gd name="T1" fmla="*/ 3 h 3"/>
                <a:gd name="T2" fmla="*/ 100 w 102"/>
                <a:gd name="T3" fmla="*/ 0 h 3"/>
                <a:gd name="T4" fmla="*/ 0 w 102"/>
                <a:gd name="T5" fmla="*/ 0 h 3"/>
                <a:gd name="T6" fmla="*/ 0 w 102"/>
                <a:gd name="T7" fmla="*/ 3 h 3"/>
                <a:gd name="T8" fmla="*/ 100 w 102"/>
                <a:gd name="T9" fmla="*/ 3 h 3"/>
                <a:gd name="T10" fmla="*/ 101 w 102"/>
                <a:gd name="T11" fmla="*/ 3 h 3"/>
                <a:gd name="T12" fmla="*/ 100 w 102"/>
                <a:gd name="T13" fmla="*/ 3 h 3"/>
                <a:gd name="T14" fmla="*/ 101 w 102"/>
                <a:gd name="T15" fmla="*/ 3 h 3"/>
                <a:gd name="T16" fmla="*/ 101 w 102"/>
                <a:gd name="T17" fmla="*/ 3 h 3"/>
                <a:gd name="T18" fmla="*/ 101 w 102"/>
                <a:gd name="T19" fmla="*/ 3 h 3"/>
                <a:gd name="T20" fmla="*/ 101 w 102"/>
                <a:gd name="T21" fmla="*/ 3 h 3"/>
                <a:gd name="T22" fmla="*/ 101 w 102"/>
                <a:gd name="T23" fmla="*/ 3 h 3"/>
                <a:gd name="T24" fmla="*/ 101 w 102"/>
                <a:gd name="T25" fmla="*/ 3 h 3"/>
                <a:gd name="T26" fmla="*/ 101 w 102"/>
                <a:gd name="T27" fmla="*/ 3 h 3"/>
                <a:gd name="T28" fmla="*/ 102 w 102"/>
                <a:gd name="T29" fmla="*/ 3 h 3"/>
                <a:gd name="T30" fmla="*/ 102 w 102"/>
                <a:gd name="T31" fmla="*/ 2 h 3"/>
                <a:gd name="T32" fmla="*/ 102 w 102"/>
                <a:gd name="T33" fmla="*/ 2 h 3"/>
                <a:gd name="T34" fmla="*/ 102 w 102"/>
                <a:gd name="T35" fmla="*/ 2 h 3"/>
                <a:gd name="T36" fmla="*/ 102 w 102"/>
                <a:gd name="T37" fmla="*/ 2 h 3"/>
                <a:gd name="T38" fmla="*/ 102 w 102"/>
                <a:gd name="T39" fmla="*/ 2 h 3"/>
                <a:gd name="T40" fmla="*/ 102 w 102"/>
                <a:gd name="T41" fmla="*/ 2 h 3"/>
                <a:gd name="T42" fmla="*/ 102 w 102"/>
                <a:gd name="T43" fmla="*/ 2 h 3"/>
                <a:gd name="T44" fmla="*/ 102 w 102"/>
                <a:gd name="T45" fmla="*/ 2 h 3"/>
                <a:gd name="T46" fmla="*/ 102 w 102"/>
                <a:gd name="T47" fmla="*/ 1 h 3"/>
                <a:gd name="T48" fmla="*/ 102 w 102"/>
                <a:gd name="T49" fmla="*/ 1 h 3"/>
                <a:gd name="T50" fmla="*/ 102 w 102"/>
                <a:gd name="T51" fmla="*/ 1 h 3"/>
                <a:gd name="T52" fmla="*/ 102 w 102"/>
                <a:gd name="T53" fmla="*/ 1 h 3"/>
                <a:gd name="T54" fmla="*/ 102 w 102"/>
                <a:gd name="T55" fmla="*/ 1 h 3"/>
                <a:gd name="T56" fmla="*/ 102 w 102"/>
                <a:gd name="T57" fmla="*/ 1 h 3"/>
                <a:gd name="T58" fmla="*/ 102 w 102"/>
                <a:gd name="T59" fmla="*/ 1 h 3"/>
                <a:gd name="T60" fmla="*/ 102 w 102"/>
                <a:gd name="T61" fmla="*/ 1 h 3"/>
                <a:gd name="T62" fmla="*/ 101 w 102"/>
                <a:gd name="T63" fmla="*/ 0 h 3"/>
                <a:gd name="T64" fmla="*/ 101 w 102"/>
                <a:gd name="T65" fmla="*/ 0 h 3"/>
                <a:gd name="T66" fmla="*/ 101 w 102"/>
                <a:gd name="T67" fmla="*/ 0 h 3"/>
                <a:gd name="T68" fmla="*/ 101 w 102"/>
                <a:gd name="T69" fmla="*/ 0 h 3"/>
                <a:gd name="T70" fmla="*/ 101 w 102"/>
                <a:gd name="T71" fmla="*/ 0 h 3"/>
                <a:gd name="T72" fmla="*/ 101 w 102"/>
                <a:gd name="T73" fmla="*/ 0 h 3"/>
                <a:gd name="T74" fmla="*/ 101 w 102"/>
                <a:gd name="T75" fmla="*/ 0 h 3"/>
                <a:gd name="T76" fmla="*/ 100 w 102"/>
                <a:gd name="T77" fmla="*/ 0 h 3"/>
                <a:gd name="T78" fmla="*/ 101 w 102"/>
                <a:gd name="T79" fmla="*/ 3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02"/>
                <a:gd name="T121" fmla="*/ 0 h 3"/>
                <a:gd name="T122" fmla="*/ 102 w 102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02" h="3">
                  <a:moveTo>
                    <a:pt x="101" y="3"/>
                  </a:moveTo>
                  <a:lnTo>
                    <a:pt x="10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00" y="3"/>
                  </a:lnTo>
                  <a:lnTo>
                    <a:pt x="101" y="3"/>
                  </a:lnTo>
                  <a:lnTo>
                    <a:pt x="100" y="3"/>
                  </a:lnTo>
                  <a:lnTo>
                    <a:pt x="101" y="3"/>
                  </a:lnTo>
                  <a:lnTo>
                    <a:pt x="102" y="3"/>
                  </a:lnTo>
                  <a:lnTo>
                    <a:pt x="102" y="2"/>
                  </a:lnTo>
                  <a:lnTo>
                    <a:pt x="102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101" y="3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3" name="Freeform 766"/>
            <p:cNvSpPr>
              <a:spLocks/>
            </p:cNvSpPr>
            <p:nvPr/>
          </p:nvSpPr>
          <p:spPr bwMode="auto">
            <a:xfrm>
              <a:off x="4198" y="2720"/>
              <a:ext cx="21" cy="22"/>
            </a:xfrm>
            <a:custGeom>
              <a:avLst/>
              <a:gdLst>
                <a:gd name="T0" fmla="*/ 1 w 21"/>
                <a:gd name="T1" fmla="*/ 21 h 22"/>
                <a:gd name="T2" fmla="*/ 2 w 21"/>
                <a:gd name="T3" fmla="*/ 21 h 22"/>
                <a:gd name="T4" fmla="*/ 21 w 21"/>
                <a:gd name="T5" fmla="*/ 2 h 22"/>
                <a:gd name="T6" fmla="*/ 19 w 21"/>
                <a:gd name="T7" fmla="*/ 0 h 22"/>
                <a:gd name="T8" fmla="*/ 0 w 21"/>
                <a:gd name="T9" fmla="*/ 19 h 22"/>
                <a:gd name="T10" fmla="*/ 1 w 21"/>
                <a:gd name="T11" fmla="*/ 21 h 22"/>
                <a:gd name="T12" fmla="*/ 0 w 21"/>
                <a:gd name="T13" fmla="*/ 19 h 22"/>
                <a:gd name="T14" fmla="*/ 0 w 21"/>
                <a:gd name="T15" fmla="*/ 19 h 22"/>
                <a:gd name="T16" fmla="*/ 0 w 21"/>
                <a:gd name="T17" fmla="*/ 19 h 22"/>
                <a:gd name="T18" fmla="*/ 0 w 21"/>
                <a:gd name="T19" fmla="*/ 19 h 22"/>
                <a:gd name="T20" fmla="*/ 0 w 21"/>
                <a:gd name="T21" fmla="*/ 20 h 22"/>
                <a:gd name="T22" fmla="*/ 0 w 21"/>
                <a:gd name="T23" fmla="*/ 20 h 22"/>
                <a:gd name="T24" fmla="*/ 0 w 21"/>
                <a:gd name="T25" fmla="*/ 20 h 22"/>
                <a:gd name="T26" fmla="*/ 0 w 21"/>
                <a:gd name="T27" fmla="*/ 20 h 22"/>
                <a:gd name="T28" fmla="*/ 0 w 21"/>
                <a:gd name="T29" fmla="*/ 20 h 22"/>
                <a:gd name="T30" fmla="*/ 0 w 21"/>
                <a:gd name="T31" fmla="*/ 20 h 22"/>
                <a:gd name="T32" fmla="*/ 0 w 21"/>
                <a:gd name="T33" fmla="*/ 20 h 22"/>
                <a:gd name="T34" fmla="*/ 0 w 21"/>
                <a:gd name="T35" fmla="*/ 20 h 22"/>
                <a:gd name="T36" fmla="*/ 0 w 21"/>
                <a:gd name="T37" fmla="*/ 21 h 22"/>
                <a:gd name="T38" fmla="*/ 0 w 21"/>
                <a:gd name="T39" fmla="*/ 21 h 22"/>
                <a:gd name="T40" fmla="*/ 0 w 21"/>
                <a:gd name="T41" fmla="*/ 21 h 22"/>
                <a:gd name="T42" fmla="*/ 0 w 21"/>
                <a:gd name="T43" fmla="*/ 21 h 22"/>
                <a:gd name="T44" fmla="*/ 0 w 21"/>
                <a:gd name="T45" fmla="*/ 21 h 22"/>
                <a:gd name="T46" fmla="*/ 0 w 21"/>
                <a:gd name="T47" fmla="*/ 21 h 22"/>
                <a:gd name="T48" fmla="*/ 0 w 21"/>
                <a:gd name="T49" fmla="*/ 21 h 22"/>
                <a:gd name="T50" fmla="*/ 0 w 21"/>
                <a:gd name="T51" fmla="*/ 21 h 22"/>
                <a:gd name="T52" fmla="*/ 0 w 21"/>
                <a:gd name="T53" fmla="*/ 21 h 22"/>
                <a:gd name="T54" fmla="*/ 1 w 21"/>
                <a:gd name="T55" fmla="*/ 21 h 22"/>
                <a:gd name="T56" fmla="*/ 1 w 21"/>
                <a:gd name="T57" fmla="*/ 21 h 22"/>
                <a:gd name="T58" fmla="*/ 1 w 21"/>
                <a:gd name="T59" fmla="*/ 21 h 22"/>
                <a:gd name="T60" fmla="*/ 1 w 21"/>
                <a:gd name="T61" fmla="*/ 22 h 22"/>
                <a:gd name="T62" fmla="*/ 1 w 21"/>
                <a:gd name="T63" fmla="*/ 22 h 22"/>
                <a:gd name="T64" fmla="*/ 1 w 21"/>
                <a:gd name="T65" fmla="*/ 21 h 22"/>
                <a:gd name="T66" fmla="*/ 1 w 21"/>
                <a:gd name="T67" fmla="*/ 21 h 22"/>
                <a:gd name="T68" fmla="*/ 1 w 21"/>
                <a:gd name="T69" fmla="*/ 21 h 22"/>
                <a:gd name="T70" fmla="*/ 2 w 21"/>
                <a:gd name="T71" fmla="*/ 21 h 22"/>
                <a:gd name="T72" fmla="*/ 2 w 21"/>
                <a:gd name="T73" fmla="*/ 21 h 22"/>
                <a:gd name="T74" fmla="*/ 2 w 21"/>
                <a:gd name="T75" fmla="*/ 21 h 22"/>
                <a:gd name="T76" fmla="*/ 2 w 21"/>
                <a:gd name="T77" fmla="*/ 21 h 22"/>
                <a:gd name="T78" fmla="*/ 1 w 21"/>
                <a:gd name="T79" fmla="*/ 21 h 2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1"/>
                <a:gd name="T121" fmla="*/ 0 h 22"/>
                <a:gd name="T122" fmla="*/ 21 w 21"/>
                <a:gd name="T123" fmla="*/ 22 h 2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1" h="22">
                  <a:moveTo>
                    <a:pt x="1" y="21"/>
                  </a:moveTo>
                  <a:lnTo>
                    <a:pt x="2" y="21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0" y="19"/>
                  </a:lnTo>
                  <a:lnTo>
                    <a:pt x="1" y="21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1" y="21"/>
                  </a:lnTo>
                  <a:lnTo>
                    <a:pt x="2" y="21"/>
                  </a:lnTo>
                  <a:lnTo>
                    <a:pt x="1" y="21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4" name="Freeform 767"/>
            <p:cNvSpPr>
              <a:spLocks/>
            </p:cNvSpPr>
            <p:nvPr/>
          </p:nvSpPr>
          <p:spPr bwMode="auto">
            <a:xfrm>
              <a:off x="4097" y="2739"/>
              <a:ext cx="102" cy="2"/>
            </a:xfrm>
            <a:custGeom>
              <a:avLst/>
              <a:gdLst>
                <a:gd name="T0" fmla="*/ 0 w 102"/>
                <a:gd name="T1" fmla="*/ 0 h 2"/>
                <a:gd name="T2" fmla="*/ 1 w 102"/>
                <a:gd name="T3" fmla="*/ 2 h 2"/>
                <a:gd name="T4" fmla="*/ 102 w 102"/>
                <a:gd name="T5" fmla="*/ 2 h 2"/>
                <a:gd name="T6" fmla="*/ 102 w 102"/>
                <a:gd name="T7" fmla="*/ 0 h 2"/>
                <a:gd name="T8" fmla="*/ 1 w 102"/>
                <a:gd name="T9" fmla="*/ 0 h 2"/>
                <a:gd name="T10" fmla="*/ 0 w 102"/>
                <a:gd name="T11" fmla="*/ 0 h 2"/>
                <a:gd name="T12" fmla="*/ 1 w 102"/>
                <a:gd name="T13" fmla="*/ 0 h 2"/>
                <a:gd name="T14" fmla="*/ 1 w 102"/>
                <a:gd name="T15" fmla="*/ 0 h 2"/>
                <a:gd name="T16" fmla="*/ 1 w 102"/>
                <a:gd name="T17" fmla="*/ 0 h 2"/>
                <a:gd name="T18" fmla="*/ 1 w 102"/>
                <a:gd name="T19" fmla="*/ 0 h 2"/>
                <a:gd name="T20" fmla="*/ 1 w 102"/>
                <a:gd name="T21" fmla="*/ 0 h 2"/>
                <a:gd name="T22" fmla="*/ 1 w 102"/>
                <a:gd name="T23" fmla="*/ 0 h 2"/>
                <a:gd name="T24" fmla="*/ 0 w 102"/>
                <a:gd name="T25" fmla="*/ 0 h 2"/>
                <a:gd name="T26" fmla="*/ 0 w 102"/>
                <a:gd name="T27" fmla="*/ 0 h 2"/>
                <a:gd name="T28" fmla="*/ 0 w 102"/>
                <a:gd name="T29" fmla="*/ 0 h 2"/>
                <a:gd name="T30" fmla="*/ 0 w 102"/>
                <a:gd name="T31" fmla="*/ 0 h 2"/>
                <a:gd name="T32" fmla="*/ 0 w 102"/>
                <a:gd name="T33" fmla="*/ 0 h 2"/>
                <a:gd name="T34" fmla="*/ 0 w 102"/>
                <a:gd name="T35" fmla="*/ 0 h 2"/>
                <a:gd name="T36" fmla="*/ 0 w 102"/>
                <a:gd name="T37" fmla="*/ 1 h 2"/>
                <a:gd name="T38" fmla="*/ 0 w 102"/>
                <a:gd name="T39" fmla="*/ 1 h 2"/>
                <a:gd name="T40" fmla="*/ 0 w 102"/>
                <a:gd name="T41" fmla="*/ 1 h 2"/>
                <a:gd name="T42" fmla="*/ 0 w 102"/>
                <a:gd name="T43" fmla="*/ 1 h 2"/>
                <a:gd name="T44" fmla="*/ 0 w 102"/>
                <a:gd name="T45" fmla="*/ 1 h 2"/>
                <a:gd name="T46" fmla="*/ 0 w 102"/>
                <a:gd name="T47" fmla="*/ 1 h 2"/>
                <a:gd name="T48" fmla="*/ 0 w 102"/>
                <a:gd name="T49" fmla="*/ 1 h 2"/>
                <a:gd name="T50" fmla="*/ 0 w 102"/>
                <a:gd name="T51" fmla="*/ 1 h 2"/>
                <a:gd name="T52" fmla="*/ 0 w 102"/>
                <a:gd name="T53" fmla="*/ 2 h 2"/>
                <a:gd name="T54" fmla="*/ 0 w 102"/>
                <a:gd name="T55" fmla="*/ 2 h 2"/>
                <a:gd name="T56" fmla="*/ 0 w 102"/>
                <a:gd name="T57" fmla="*/ 2 h 2"/>
                <a:gd name="T58" fmla="*/ 0 w 102"/>
                <a:gd name="T59" fmla="*/ 2 h 2"/>
                <a:gd name="T60" fmla="*/ 0 w 102"/>
                <a:gd name="T61" fmla="*/ 2 h 2"/>
                <a:gd name="T62" fmla="*/ 0 w 102"/>
                <a:gd name="T63" fmla="*/ 2 h 2"/>
                <a:gd name="T64" fmla="*/ 0 w 102"/>
                <a:gd name="T65" fmla="*/ 2 h 2"/>
                <a:gd name="T66" fmla="*/ 1 w 102"/>
                <a:gd name="T67" fmla="*/ 2 h 2"/>
                <a:gd name="T68" fmla="*/ 1 w 102"/>
                <a:gd name="T69" fmla="*/ 2 h 2"/>
                <a:gd name="T70" fmla="*/ 1 w 102"/>
                <a:gd name="T71" fmla="*/ 2 h 2"/>
                <a:gd name="T72" fmla="*/ 1 w 102"/>
                <a:gd name="T73" fmla="*/ 2 h 2"/>
                <a:gd name="T74" fmla="*/ 1 w 102"/>
                <a:gd name="T75" fmla="*/ 2 h 2"/>
                <a:gd name="T76" fmla="*/ 1 w 102"/>
                <a:gd name="T77" fmla="*/ 2 h 2"/>
                <a:gd name="T78" fmla="*/ 0 w 102"/>
                <a:gd name="T79" fmla="*/ 0 h 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02"/>
                <a:gd name="T121" fmla="*/ 0 h 2"/>
                <a:gd name="T122" fmla="*/ 102 w 102"/>
                <a:gd name="T123" fmla="*/ 2 h 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02" h="2">
                  <a:moveTo>
                    <a:pt x="0" y="0"/>
                  </a:moveTo>
                  <a:lnTo>
                    <a:pt x="1" y="2"/>
                  </a:lnTo>
                  <a:lnTo>
                    <a:pt x="102" y="2"/>
                  </a:lnTo>
                  <a:lnTo>
                    <a:pt x="10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5" name="Freeform 768"/>
            <p:cNvSpPr>
              <a:spLocks/>
            </p:cNvSpPr>
            <p:nvPr/>
          </p:nvSpPr>
          <p:spPr bwMode="auto">
            <a:xfrm>
              <a:off x="4199" y="2721"/>
              <a:ext cx="19" cy="218"/>
            </a:xfrm>
            <a:custGeom>
              <a:avLst/>
              <a:gdLst>
                <a:gd name="T0" fmla="*/ 0 w 19"/>
                <a:gd name="T1" fmla="*/ 19 h 218"/>
                <a:gd name="T2" fmla="*/ 19 w 19"/>
                <a:gd name="T3" fmla="*/ 0 h 218"/>
                <a:gd name="T4" fmla="*/ 19 w 19"/>
                <a:gd name="T5" fmla="*/ 198 h 218"/>
                <a:gd name="T6" fmla="*/ 0 w 19"/>
                <a:gd name="T7" fmla="*/ 218 h 218"/>
                <a:gd name="T8" fmla="*/ 0 w 19"/>
                <a:gd name="T9" fmla="*/ 19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8"/>
                <a:gd name="T17" fmla="*/ 19 w 19"/>
                <a:gd name="T18" fmla="*/ 218 h 2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8">
                  <a:moveTo>
                    <a:pt x="0" y="19"/>
                  </a:moveTo>
                  <a:lnTo>
                    <a:pt x="19" y="0"/>
                  </a:lnTo>
                  <a:lnTo>
                    <a:pt x="19" y="198"/>
                  </a:lnTo>
                  <a:lnTo>
                    <a:pt x="0" y="218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75F8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6" name="Freeform 769"/>
            <p:cNvSpPr>
              <a:spLocks/>
            </p:cNvSpPr>
            <p:nvPr/>
          </p:nvSpPr>
          <p:spPr bwMode="auto">
            <a:xfrm>
              <a:off x="4198" y="2719"/>
              <a:ext cx="22" cy="22"/>
            </a:xfrm>
            <a:custGeom>
              <a:avLst/>
              <a:gdLst>
                <a:gd name="T0" fmla="*/ 22 w 22"/>
                <a:gd name="T1" fmla="*/ 2 h 22"/>
                <a:gd name="T2" fmla="*/ 19 w 22"/>
                <a:gd name="T3" fmla="*/ 1 h 22"/>
                <a:gd name="T4" fmla="*/ 0 w 22"/>
                <a:gd name="T5" fmla="*/ 20 h 22"/>
                <a:gd name="T6" fmla="*/ 2 w 22"/>
                <a:gd name="T7" fmla="*/ 22 h 22"/>
                <a:gd name="T8" fmla="*/ 21 w 22"/>
                <a:gd name="T9" fmla="*/ 3 h 22"/>
                <a:gd name="T10" fmla="*/ 22 w 22"/>
                <a:gd name="T11" fmla="*/ 2 h 22"/>
                <a:gd name="T12" fmla="*/ 21 w 22"/>
                <a:gd name="T13" fmla="*/ 3 h 22"/>
                <a:gd name="T14" fmla="*/ 22 w 22"/>
                <a:gd name="T15" fmla="*/ 2 h 22"/>
                <a:gd name="T16" fmla="*/ 22 w 22"/>
                <a:gd name="T17" fmla="*/ 2 h 22"/>
                <a:gd name="T18" fmla="*/ 22 w 22"/>
                <a:gd name="T19" fmla="*/ 2 h 22"/>
                <a:gd name="T20" fmla="*/ 22 w 22"/>
                <a:gd name="T21" fmla="*/ 2 h 22"/>
                <a:gd name="T22" fmla="*/ 22 w 22"/>
                <a:gd name="T23" fmla="*/ 2 h 22"/>
                <a:gd name="T24" fmla="*/ 22 w 22"/>
                <a:gd name="T25" fmla="*/ 2 h 22"/>
                <a:gd name="T26" fmla="*/ 22 w 22"/>
                <a:gd name="T27" fmla="*/ 2 h 22"/>
                <a:gd name="T28" fmla="*/ 22 w 22"/>
                <a:gd name="T29" fmla="*/ 2 h 22"/>
                <a:gd name="T30" fmla="*/ 22 w 22"/>
                <a:gd name="T31" fmla="*/ 1 h 22"/>
                <a:gd name="T32" fmla="*/ 22 w 22"/>
                <a:gd name="T33" fmla="*/ 1 h 22"/>
                <a:gd name="T34" fmla="*/ 22 w 22"/>
                <a:gd name="T35" fmla="*/ 1 h 22"/>
                <a:gd name="T36" fmla="*/ 22 w 22"/>
                <a:gd name="T37" fmla="*/ 1 h 22"/>
                <a:gd name="T38" fmla="*/ 22 w 22"/>
                <a:gd name="T39" fmla="*/ 1 h 22"/>
                <a:gd name="T40" fmla="*/ 22 w 22"/>
                <a:gd name="T41" fmla="*/ 1 h 22"/>
                <a:gd name="T42" fmla="*/ 22 w 22"/>
                <a:gd name="T43" fmla="*/ 1 h 22"/>
                <a:gd name="T44" fmla="*/ 21 w 22"/>
                <a:gd name="T45" fmla="*/ 1 h 22"/>
                <a:gd name="T46" fmla="*/ 21 w 22"/>
                <a:gd name="T47" fmla="*/ 0 h 22"/>
                <a:gd name="T48" fmla="*/ 21 w 22"/>
                <a:gd name="T49" fmla="*/ 0 h 22"/>
                <a:gd name="T50" fmla="*/ 21 w 22"/>
                <a:gd name="T51" fmla="*/ 0 h 22"/>
                <a:gd name="T52" fmla="*/ 21 w 22"/>
                <a:gd name="T53" fmla="*/ 0 h 22"/>
                <a:gd name="T54" fmla="*/ 21 w 22"/>
                <a:gd name="T55" fmla="*/ 0 h 22"/>
                <a:gd name="T56" fmla="*/ 21 w 22"/>
                <a:gd name="T57" fmla="*/ 0 h 22"/>
                <a:gd name="T58" fmla="*/ 21 w 22"/>
                <a:gd name="T59" fmla="*/ 0 h 22"/>
                <a:gd name="T60" fmla="*/ 21 w 22"/>
                <a:gd name="T61" fmla="*/ 0 h 22"/>
                <a:gd name="T62" fmla="*/ 20 w 22"/>
                <a:gd name="T63" fmla="*/ 0 h 22"/>
                <a:gd name="T64" fmla="*/ 20 w 22"/>
                <a:gd name="T65" fmla="*/ 0 h 22"/>
                <a:gd name="T66" fmla="*/ 20 w 22"/>
                <a:gd name="T67" fmla="*/ 0 h 22"/>
                <a:gd name="T68" fmla="*/ 20 w 22"/>
                <a:gd name="T69" fmla="*/ 0 h 22"/>
                <a:gd name="T70" fmla="*/ 20 w 22"/>
                <a:gd name="T71" fmla="*/ 0 h 22"/>
                <a:gd name="T72" fmla="*/ 20 w 22"/>
                <a:gd name="T73" fmla="*/ 0 h 22"/>
                <a:gd name="T74" fmla="*/ 20 w 22"/>
                <a:gd name="T75" fmla="*/ 0 h 22"/>
                <a:gd name="T76" fmla="*/ 19 w 22"/>
                <a:gd name="T77" fmla="*/ 1 h 22"/>
                <a:gd name="T78" fmla="*/ 22 w 22"/>
                <a:gd name="T79" fmla="*/ 2 h 2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2"/>
                <a:gd name="T121" fmla="*/ 0 h 22"/>
                <a:gd name="T122" fmla="*/ 22 w 22"/>
                <a:gd name="T123" fmla="*/ 22 h 2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2" h="22">
                  <a:moveTo>
                    <a:pt x="22" y="2"/>
                  </a:moveTo>
                  <a:lnTo>
                    <a:pt x="19" y="1"/>
                  </a:lnTo>
                  <a:lnTo>
                    <a:pt x="0" y="20"/>
                  </a:lnTo>
                  <a:lnTo>
                    <a:pt x="2" y="22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22" y="2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7" name="Freeform 770"/>
            <p:cNvSpPr>
              <a:spLocks/>
            </p:cNvSpPr>
            <p:nvPr/>
          </p:nvSpPr>
          <p:spPr bwMode="auto">
            <a:xfrm>
              <a:off x="4217" y="2721"/>
              <a:ext cx="3" cy="200"/>
            </a:xfrm>
            <a:custGeom>
              <a:avLst/>
              <a:gdLst>
                <a:gd name="T0" fmla="*/ 2 w 3"/>
                <a:gd name="T1" fmla="*/ 199 h 200"/>
                <a:gd name="T2" fmla="*/ 3 w 3"/>
                <a:gd name="T3" fmla="*/ 198 h 200"/>
                <a:gd name="T4" fmla="*/ 3 w 3"/>
                <a:gd name="T5" fmla="*/ 0 h 200"/>
                <a:gd name="T6" fmla="*/ 0 w 3"/>
                <a:gd name="T7" fmla="*/ 0 h 200"/>
                <a:gd name="T8" fmla="*/ 0 w 3"/>
                <a:gd name="T9" fmla="*/ 198 h 200"/>
                <a:gd name="T10" fmla="*/ 2 w 3"/>
                <a:gd name="T11" fmla="*/ 199 h 200"/>
                <a:gd name="T12" fmla="*/ 0 w 3"/>
                <a:gd name="T13" fmla="*/ 198 h 200"/>
                <a:gd name="T14" fmla="*/ 0 w 3"/>
                <a:gd name="T15" fmla="*/ 198 h 200"/>
                <a:gd name="T16" fmla="*/ 0 w 3"/>
                <a:gd name="T17" fmla="*/ 199 h 200"/>
                <a:gd name="T18" fmla="*/ 0 w 3"/>
                <a:gd name="T19" fmla="*/ 199 h 200"/>
                <a:gd name="T20" fmla="*/ 0 w 3"/>
                <a:gd name="T21" fmla="*/ 199 h 200"/>
                <a:gd name="T22" fmla="*/ 0 w 3"/>
                <a:gd name="T23" fmla="*/ 199 h 200"/>
                <a:gd name="T24" fmla="*/ 0 w 3"/>
                <a:gd name="T25" fmla="*/ 199 h 200"/>
                <a:gd name="T26" fmla="*/ 0 w 3"/>
                <a:gd name="T27" fmla="*/ 199 h 200"/>
                <a:gd name="T28" fmla="*/ 0 w 3"/>
                <a:gd name="T29" fmla="*/ 199 h 200"/>
                <a:gd name="T30" fmla="*/ 1 w 3"/>
                <a:gd name="T31" fmla="*/ 199 h 200"/>
                <a:gd name="T32" fmla="*/ 1 w 3"/>
                <a:gd name="T33" fmla="*/ 200 h 200"/>
                <a:gd name="T34" fmla="*/ 1 w 3"/>
                <a:gd name="T35" fmla="*/ 200 h 200"/>
                <a:gd name="T36" fmla="*/ 1 w 3"/>
                <a:gd name="T37" fmla="*/ 200 h 200"/>
                <a:gd name="T38" fmla="*/ 1 w 3"/>
                <a:gd name="T39" fmla="*/ 200 h 200"/>
                <a:gd name="T40" fmla="*/ 1 w 3"/>
                <a:gd name="T41" fmla="*/ 200 h 200"/>
                <a:gd name="T42" fmla="*/ 1 w 3"/>
                <a:gd name="T43" fmla="*/ 200 h 200"/>
                <a:gd name="T44" fmla="*/ 1 w 3"/>
                <a:gd name="T45" fmla="*/ 200 h 200"/>
                <a:gd name="T46" fmla="*/ 2 w 3"/>
                <a:gd name="T47" fmla="*/ 200 h 200"/>
                <a:gd name="T48" fmla="*/ 2 w 3"/>
                <a:gd name="T49" fmla="*/ 200 h 200"/>
                <a:gd name="T50" fmla="*/ 2 w 3"/>
                <a:gd name="T51" fmla="*/ 200 h 200"/>
                <a:gd name="T52" fmla="*/ 2 w 3"/>
                <a:gd name="T53" fmla="*/ 200 h 200"/>
                <a:gd name="T54" fmla="*/ 2 w 3"/>
                <a:gd name="T55" fmla="*/ 200 h 200"/>
                <a:gd name="T56" fmla="*/ 2 w 3"/>
                <a:gd name="T57" fmla="*/ 200 h 200"/>
                <a:gd name="T58" fmla="*/ 2 w 3"/>
                <a:gd name="T59" fmla="*/ 199 h 200"/>
                <a:gd name="T60" fmla="*/ 2 w 3"/>
                <a:gd name="T61" fmla="*/ 199 h 200"/>
                <a:gd name="T62" fmla="*/ 3 w 3"/>
                <a:gd name="T63" fmla="*/ 199 h 200"/>
                <a:gd name="T64" fmla="*/ 3 w 3"/>
                <a:gd name="T65" fmla="*/ 199 h 200"/>
                <a:gd name="T66" fmla="*/ 3 w 3"/>
                <a:gd name="T67" fmla="*/ 199 h 200"/>
                <a:gd name="T68" fmla="*/ 3 w 3"/>
                <a:gd name="T69" fmla="*/ 199 h 200"/>
                <a:gd name="T70" fmla="*/ 3 w 3"/>
                <a:gd name="T71" fmla="*/ 199 h 200"/>
                <a:gd name="T72" fmla="*/ 3 w 3"/>
                <a:gd name="T73" fmla="*/ 199 h 200"/>
                <a:gd name="T74" fmla="*/ 3 w 3"/>
                <a:gd name="T75" fmla="*/ 198 h 200"/>
                <a:gd name="T76" fmla="*/ 3 w 3"/>
                <a:gd name="T77" fmla="*/ 198 h 200"/>
                <a:gd name="T78" fmla="*/ 2 w 3"/>
                <a:gd name="T79" fmla="*/ 199 h 20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200"/>
                <a:gd name="T122" fmla="*/ 3 w 3"/>
                <a:gd name="T123" fmla="*/ 200 h 20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200">
                  <a:moveTo>
                    <a:pt x="2" y="199"/>
                  </a:moveTo>
                  <a:lnTo>
                    <a:pt x="3" y="198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198"/>
                  </a:lnTo>
                  <a:lnTo>
                    <a:pt x="2" y="199"/>
                  </a:lnTo>
                  <a:lnTo>
                    <a:pt x="0" y="198"/>
                  </a:lnTo>
                  <a:lnTo>
                    <a:pt x="0" y="199"/>
                  </a:lnTo>
                  <a:lnTo>
                    <a:pt x="1" y="199"/>
                  </a:lnTo>
                  <a:lnTo>
                    <a:pt x="1" y="200"/>
                  </a:lnTo>
                  <a:lnTo>
                    <a:pt x="2" y="200"/>
                  </a:lnTo>
                  <a:lnTo>
                    <a:pt x="2" y="199"/>
                  </a:lnTo>
                  <a:lnTo>
                    <a:pt x="3" y="199"/>
                  </a:lnTo>
                  <a:lnTo>
                    <a:pt x="3" y="198"/>
                  </a:lnTo>
                  <a:lnTo>
                    <a:pt x="2" y="199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8" name="Freeform 771"/>
            <p:cNvSpPr>
              <a:spLocks/>
            </p:cNvSpPr>
            <p:nvPr/>
          </p:nvSpPr>
          <p:spPr bwMode="auto">
            <a:xfrm>
              <a:off x="4198" y="2918"/>
              <a:ext cx="21" cy="22"/>
            </a:xfrm>
            <a:custGeom>
              <a:avLst/>
              <a:gdLst>
                <a:gd name="T0" fmla="*/ 0 w 21"/>
                <a:gd name="T1" fmla="*/ 21 h 22"/>
                <a:gd name="T2" fmla="*/ 2 w 21"/>
                <a:gd name="T3" fmla="*/ 22 h 22"/>
                <a:gd name="T4" fmla="*/ 21 w 21"/>
                <a:gd name="T5" fmla="*/ 2 h 22"/>
                <a:gd name="T6" fmla="*/ 19 w 21"/>
                <a:gd name="T7" fmla="*/ 0 h 22"/>
                <a:gd name="T8" fmla="*/ 0 w 21"/>
                <a:gd name="T9" fmla="*/ 20 h 22"/>
                <a:gd name="T10" fmla="*/ 0 w 21"/>
                <a:gd name="T11" fmla="*/ 21 h 22"/>
                <a:gd name="T12" fmla="*/ 0 w 21"/>
                <a:gd name="T13" fmla="*/ 20 h 22"/>
                <a:gd name="T14" fmla="*/ 0 w 21"/>
                <a:gd name="T15" fmla="*/ 20 h 22"/>
                <a:gd name="T16" fmla="*/ 0 w 21"/>
                <a:gd name="T17" fmla="*/ 20 h 22"/>
                <a:gd name="T18" fmla="*/ 0 w 21"/>
                <a:gd name="T19" fmla="*/ 20 h 22"/>
                <a:gd name="T20" fmla="*/ 0 w 21"/>
                <a:gd name="T21" fmla="*/ 20 h 22"/>
                <a:gd name="T22" fmla="*/ 0 w 21"/>
                <a:gd name="T23" fmla="*/ 20 h 22"/>
                <a:gd name="T24" fmla="*/ 0 w 21"/>
                <a:gd name="T25" fmla="*/ 21 h 22"/>
                <a:gd name="T26" fmla="*/ 0 w 21"/>
                <a:gd name="T27" fmla="*/ 21 h 22"/>
                <a:gd name="T28" fmla="*/ 0 w 21"/>
                <a:gd name="T29" fmla="*/ 21 h 22"/>
                <a:gd name="T30" fmla="*/ 0 w 21"/>
                <a:gd name="T31" fmla="*/ 21 h 22"/>
                <a:gd name="T32" fmla="*/ 0 w 21"/>
                <a:gd name="T33" fmla="*/ 21 h 22"/>
                <a:gd name="T34" fmla="*/ 0 w 21"/>
                <a:gd name="T35" fmla="*/ 21 h 22"/>
                <a:gd name="T36" fmla="*/ 0 w 21"/>
                <a:gd name="T37" fmla="*/ 21 h 22"/>
                <a:gd name="T38" fmla="*/ 0 w 21"/>
                <a:gd name="T39" fmla="*/ 21 h 22"/>
                <a:gd name="T40" fmla="*/ 0 w 21"/>
                <a:gd name="T41" fmla="*/ 22 h 22"/>
                <a:gd name="T42" fmla="*/ 0 w 21"/>
                <a:gd name="T43" fmla="*/ 22 h 22"/>
                <a:gd name="T44" fmla="*/ 0 w 21"/>
                <a:gd name="T45" fmla="*/ 22 h 22"/>
                <a:gd name="T46" fmla="*/ 0 w 21"/>
                <a:gd name="T47" fmla="*/ 22 h 22"/>
                <a:gd name="T48" fmla="*/ 0 w 21"/>
                <a:gd name="T49" fmla="*/ 22 h 22"/>
                <a:gd name="T50" fmla="*/ 0 w 21"/>
                <a:gd name="T51" fmla="*/ 22 h 22"/>
                <a:gd name="T52" fmla="*/ 0 w 21"/>
                <a:gd name="T53" fmla="*/ 22 h 22"/>
                <a:gd name="T54" fmla="*/ 1 w 21"/>
                <a:gd name="T55" fmla="*/ 22 h 22"/>
                <a:gd name="T56" fmla="*/ 1 w 21"/>
                <a:gd name="T57" fmla="*/ 22 h 22"/>
                <a:gd name="T58" fmla="*/ 1 w 21"/>
                <a:gd name="T59" fmla="*/ 22 h 22"/>
                <a:gd name="T60" fmla="*/ 1 w 21"/>
                <a:gd name="T61" fmla="*/ 22 h 22"/>
                <a:gd name="T62" fmla="*/ 1 w 21"/>
                <a:gd name="T63" fmla="*/ 22 h 22"/>
                <a:gd name="T64" fmla="*/ 1 w 21"/>
                <a:gd name="T65" fmla="*/ 22 h 22"/>
                <a:gd name="T66" fmla="*/ 1 w 21"/>
                <a:gd name="T67" fmla="*/ 22 h 22"/>
                <a:gd name="T68" fmla="*/ 2 w 21"/>
                <a:gd name="T69" fmla="*/ 22 h 22"/>
                <a:gd name="T70" fmla="*/ 2 w 21"/>
                <a:gd name="T71" fmla="*/ 22 h 22"/>
                <a:gd name="T72" fmla="*/ 2 w 21"/>
                <a:gd name="T73" fmla="*/ 22 h 22"/>
                <a:gd name="T74" fmla="*/ 2 w 21"/>
                <a:gd name="T75" fmla="*/ 22 h 22"/>
                <a:gd name="T76" fmla="*/ 2 w 21"/>
                <a:gd name="T77" fmla="*/ 22 h 22"/>
                <a:gd name="T78" fmla="*/ 0 w 21"/>
                <a:gd name="T79" fmla="*/ 21 h 2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1"/>
                <a:gd name="T121" fmla="*/ 0 h 22"/>
                <a:gd name="T122" fmla="*/ 21 w 21"/>
                <a:gd name="T123" fmla="*/ 22 h 2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1" h="22">
                  <a:moveTo>
                    <a:pt x="0" y="21"/>
                  </a:moveTo>
                  <a:lnTo>
                    <a:pt x="2" y="2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1" y="22"/>
                  </a:lnTo>
                  <a:lnTo>
                    <a:pt x="2" y="22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29" name="Freeform 772"/>
            <p:cNvSpPr>
              <a:spLocks/>
            </p:cNvSpPr>
            <p:nvPr/>
          </p:nvSpPr>
          <p:spPr bwMode="auto">
            <a:xfrm>
              <a:off x="4198" y="2739"/>
              <a:ext cx="2" cy="200"/>
            </a:xfrm>
            <a:custGeom>
              <a:avLst/>
              <a:gdLst>
                <a:gd name="T0" fmla="*/ 0 w 2"/>
                <a:gd name="T1" fmla="*/ 0 h 200"/>
                <a:gd name="T2" fmla="*/ 0 w 2"/>
                <a:gd name="T3" fmla="*/ 1 h 200"/>
                <a:gd name="T4" fmla="*/ 0 w 2"/>
                <a:gd name="T5" fmla="*/ 200 h 200"/>
                <a:gd name="T6" fmla="*/ 2 w 2"/>
                <a:gd name="T7" fmla="*/ 200 h 200"/>
                <a:gd name="T8" fmla="*/ 2 w 2"/>
                <a:gd name="T9" fmla="*/ 1 h 200"/>
                <a:gd name="T10" fmla="*/ 0 w 2"/>
                <a:gd name="T11" fmla="*/ 0 h 200"/>
                <a:gd name="T12" fmla="*/ 2 w 2"/>
                <a:gd name="T13" fmla="*/ 1 h 200"/>
                <a:gd name="T14" fmla="*/ 2 w 2"/>
                <a:gd name="T15" fmla="*/ 1 h 200"/>
                <a:gd name="T16" fmla="*/ 2 w 2"/>
                <a:gd name="T17" fmla="*/ 1 h 200"/>
                <a:gd name="T18" fmla="*/ 2 w 2"/>
                <a:gd name="T19" fmla="*/ 1 h 200"/>
                <a:gd name="T20" fmla="*/ 2 w 2"/>
                <a:gd name="T21" fmla="*/ 0 h 200"/>
                <a:gd name="T22" fmla="*/ 2 w 2"/>
                <a:gd name="T23" fmla="*/ 0 h 200"/>
                <a:gd name="T24" fmla="*/ 2 w 2"/>
                <a:gd name="T25" fmla="*/ 0 h 200"/>
                <a:gd name="T26" fmla="*/ 2 w 2"/>
                <a:gd name="T27" fmla="*/ 0 h 200"/>
                <a:gd name="T28" fmla="*/ 2 w 2"/>
                <a:gd name="T29" fmla="*/ 0 h 200"/>
                <a:gd name="T30" fmla="*/ 2 w 2"/>
                <a:gd name="T31" fmla="*/ 0 h 200"/>
                <a:gd name="T32" fmla="*/ 2 w 2"/>
                <a:gd name="T33" fmla="*/ 0 h 200"/>
                <a:gd name="T34" fmla="*/ 2 w 2"/>
                <a:gd name="T35" fmla="*/ 0 h 200"/>
                <a:gd name="T36" fmla="*/ 2 w 2"/>
                <a:gd name="T37" fmla="*/ 0 h 200"/>
                <a:gd name="T38" fmla="*/ 1 w 2"/>
                <a:gd name="T39" fmla="*/ 0 h 200"/>
                <a:gd name="T40" fmla="*/ 1 w 2"/>
                <a:gd name="T41" fmla="*/ 0 h 200"/>
                <a:gd name="T42" fmla="*/ 1 w 2"/>
                <a:gd name="T43" fmla="*/ 0 h 200"/>
                <a:gd name="T44" fmla="*/ 1 w 2"/>
                <a:gd name="T45" fmla="*/ 0 h 200"/>
                <a:gd name="T46" fmla="*/ 1 w 2"/>
                <a:gd name="T47" fmla="*/ 0 h 200"/>
                <a:gd name="T48" fmla="*/ 1 w 2"/>
                <a:gd name="T49" fmla="*/ 0 h 200"/>
                <a:gd name="T50" fmla="*/ 1 w 2"/>
                <a:gd name="T51" fmla="*/ 0 h 200"/>
                <a:gd name="T52" fmla="*/ 0 w 2"/>
                <a:gd name="T53" fmla="*/ 0 h 200"/>
                <a:gd name="T54" fmla="*/ 0 w 2"/>
                <a:gd name="T55" fmla="*/ 0 h 200"/>
                <a:gd name="T56" fmla="*/ 0 w 2"/>
                <a:gd name="T57" fmla="*/ 0 h 200"/>
                <a:gd name="T58" fmla="*/ 0 w 2"/>
                <a:gd name="T59" fmla="*/ 0 h 200"/>
                <a:gd name="T60" fmla="*/ 0 w 2"/>
                <a:gd name="T61" fmla="*/ 0 h 200"/>
                <a:gd name="T62" fmla="*/ 0 w 2"/>
                <a:gd name="T63" fmla="*/ 0 h 200"/>
                <a:gd name="T64" fmla="*/ 0 w 2"/>
                <a:gd name="T65" fmla="*/ 0 h 200"/>
                <a:gd name="T66" fmla="*/ 0 w 2"/>
                <a:gd name="T67" fmla="*/ 0 h 200"/>
                <a:gd name="T68" fmla="*/ 0 w 2"/>
                <a:gd name="T69" fmla="*/ 0 h 200"/>
                <a:gd name="T70" fmla="*/ 0 w 2"/>
                <a:gd name="T71" fmla="*/ 1 h 200"/>
                <a:gd name="T72" fmla="*/ 0 w 2"/>
                <a:gd name="T73" fmla="*/ 1 h 200"/>
                <a:gd name="T74" fmla="*/ 0 w 2"/>
                <a:gd name="T75" fmla="*/ 1 h 200"/>
                <a:gd name="T76" fmla="*/ 0 w 2"/>
                <a:gd name="T77" fmla="*/ 1 h 200"/>
                <a:gd name="T78" fmla="*/ 0 w 2"/>
                <a:gd name="T79" fmla="*/ 0 h 20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"/>
                <a:gd name="T121" fmla="*/ 0 h 200"/>
                <a:gd name="T122" fmla="*/ 2 w 2"/>
                <a:gd name="T123" fmla="*/ 200 h 20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" h="200">
                  <a:moveTo>
                    <a:pt x="0" y="0"/>
                  </a:moveTo>
                  <a:lnTo>
                    <a:pt x="0" y="1"/>
                  </a:lnTo>
                  <a:lnTo>
                    <a:pt x="0" y="200"/>
                  </a:lnTo>
                  <a:lnTo>
                    <a:pt x="2" y="200"/>
                  </a:lnTo>
                  <a:lnTo>
                    <a:pt x="2" y="1"/>
                  </a:lnTo>
                  <a:lnTo>
                    <a:pt x="0" y="0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D7E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0" name="Freeform 773"/>
            <p:cNvSpPr>
              <a:spLocks/>
            </p:cNvSpPr>
            <p:nvPr/>
          </p:nvSpPr>
          <p:spPr bwMode="auto">
            <a:xfrm>
              <a:off x="4152" y="2796"/>
              <a:ext cx="91" cy="77"/>
            </a:xfrm>
            <a:custGeom>
              <a:avLst/>
              <a:gdLst>
                <a:gd name="T0" fmla="*/ 91 w 91"/>
                <a:gd name="T1" fmla="*/ 26 h 77"/>
                <a:gd name="T2" fmla="*/ 90 w 91"/>
                <a:gd name="T3" fmla="*/ 31 h 77"/>
                <a:gd name="T4" fmla="*/ 88 w 91"/>
                <a:gd name="T5" fmla="*/ 36 h 77"/>
                <a:gd name="T6" fmla="*/ 85 w 91"/>
                <a:gd name="T7" fmla="*/ 40 h 77"/>
                <a:gd name="T8" fmla="*/ 82 w 91"/>
                <a:gd name="T9" fmla="*/ 43 h 77"/>
                <a:gd name="T10" fmla="*/ 77 w 91"/>
                <a:gd name="T11" fmla="*/ 46 h 77"/>
                <a:gd name="T12" fmla="*/ 72 w 91"/>
                <a:gd name="T13" fmla="*/ 48 h 77"/>
                <a:gd name="T14" fmla="*/ 67 w 91"/>
                <a:gd name="T15" fmla="*/ 50 h 77"/>
                <a:gd name="T16" fmla="*/ 62 w 91"/>
                <a:gd name="T17" fmla="*/ 52 h 77"/>
                <a:gd name="T18" fmla="*/ 57 w 91"/>
                <a:gd name="T19" fmla="*/ 53 h 77"/>
                <a:gd name="T20" fmla="*/ 52 w 91"/>
                <a:gd name="T21" fmla="*/ 53 h 77"/>
                <a:gd name="T22" fmla="*/ 48 w 91"/>
                <a:gd name="T23" fmla="*/ 54 h 77"/>
                <a:gd name="T24" fmla="*/ 44 w 91"/>
                <a:gd name="T25" fmla="*/ 54 h 77"/>
                <a:gd name="T26" fmla="*/ 40 w 91"/>
                <a:gd name="T27" fmla="*/ 54 h 77"/>
                <a:gd name="T28" fmla="*/ 37 w 91"/>
                <a:gd name="T29" fmla="*/ 55 h 77"/>
                <a:gd name="T30" fmla="*/ 35 w 91"/>
                <a:gd name="T31" fmla="*/ 55 h 77"/>
                <a:gd name="T32" fmla="*/ 35 w 91"/>
                <a:gd name="T33" fmla="*/ 77 h 77"/>
                <a:gd name="T34" fmla="*/ 35 w 91"/>
                <a:gd name="T35" fmla="*/ 7 h 77"/>
                <a:gd name="T36" fmla="*/ 36 w 91"/>
                <a:gd name="T37" fmla="*/ 29 h 77"/>
                <a:gd name="T38" fmla="*/ 39 w 91"/>
                <a:gd name="T39" fmla="*/ 29 h 77"/>
                <a:gd name="T40" fmla="*/ 42 w 91"/>
                <a:gd name="T41" fmla="*/ 29 h 77"/>
                <a:gd name="T42" fmla="*/ 46 w 91"/>
                <a:gd name="T43" fmla="*/ 29 h 77"/>
                <a:gd name="T44" fmla="*/ 50 w 91"/>
                <a:gd name="T45" fmla="*/ 28 h 77"/>
                <a:gd name="T46" fmla="*/ 55 w 91"/>
                <a:gd name="T47" fmla="*/ 28 h 77"/>
                <a:gd name="T48" fmla="*/ 60 w 91"/>
                <a:gd name="T49" fmla="*/ 27 h 77"/>
                <a:gd name="T50" fmla="*/ 65 w 91"/>
                <a:gd name="T51" fmla="*/ 25 h 77"/>
                <a:gd name="T52" fmla="*/ 70 w 91"/>
                <a:gd name="T53" fmla="*/ 24 h 77"/>
                <a:gd name="T54" fmla="*/ 75 w 91"/>
                <a:gd name="T55" fmla="*/ 22 h 77"/>
                <a:gd name="T56" fmla="*/ 80 w 91"/>
                <a:gd name="T57" fmla="*/ 19 h 77"/>
                <a:gd name="T58" fmla="*/ 84 w 91"/>
                <a:gd name="T59" fmla="*/ 16 h 77"/>
                <a:gd name="T60" fmla="*/ 87 w 91"/>
                <a:gd name="T61" fmla="*/ 12 h 77"/>
                <a:gd name="T62" fmla="*/ 90 w 91"/>
                <a:gd name="T63" fmla="*/ 8 h 77"/>
                <a:gd name="T64" fmla="*/ 91 w 91"/>
                <a:gd name="T65" fmla="*/ 3 h 7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1"/>
                <a:gd name="T100" fmla="*/ 0 h 77"/>
                <a:gd name="T101" fmla="*/ 91 w 91"/>
                <a:gd name="T102" fmla="*/ 77 h 7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1" h="77">
                  <a:moveTo>
                    <a:pt x="91" y="0"/>
                  </a:moveTo>
                  <a:lnTo>
                    <a:pt x="91" y="26"/>
                  </a:lnTo>
                  <a:lnTo>
                    <a:pt x="91" y="29"/>
                  </a:lnTo>
                  <a:lnTo>
                    <a:pt x="90" y="31"/>
                  </a:lnTo>
                  <a:lnTo>
                    <a:pt x="89" y="34"/>
                  </a:lnTo>
                  <a:lnTo>
                    <a:pt x="88" y="36"/>
                  </a:lnTo>
                  <a:lnTo>
                    <a:pt x="87" y="38"/>
                  </a:lnTo>
                  <a:lnTo>
                    <a:pt x="85" y="40"/>
                  </a:lnTo>
                  <a:lnTo>
                    <a:pt x="83" y="41"/>
                  </a:lnTo>
                  <a:lnTo>
                    <a:pt x="82" y="43"/>
                  </a:lnTo>
                  <a:lnTo>
                    <a:pt x="79" y="45"/>
                  </a:lnTo>
                  <a:lnTo>
                    <a:pt x="77" y="46"/>
                  </a:lnTo>
                  <a:lnTo>
                    <a:pt x="75" y="47"/>
                  </a:lnTo>
                  <a:lnTo>
                    <a:pt x="72" y="48"/>
                  </a:lnTo>
                  <a:lnTo>
                    <a:pt x="70" y="49"/>
                  </a:lnTo>
                  <a:lnTo>
                    <a:pt x="67" y="50"/>
                  </a:lnTo>
                  <a:lnTo>
                    <a:pt x="65" y="51"/>
                  </a:lnTo>
                  <a:lnTo>
                    <a:pt x="62" y="52"/>
                  </a:lnTo>
                  <a:lnTo>
                    <a:pt x="60" y="52"/>
                  </a:lnTo>
                  <a:lnTo>
                    <a:pt x="57" y="53"/>
                  </a:lnTo>
                  <a:lnTo>
                    <a:pt x="55" y="53"/>
                  </a:lnTo>
                  <a:lnTo>
                    <a:pt x="52" y="53"/>
                  </a:lnTo>
                  <a:lnTo>
                    <a:pt x="50" y="54"/>
                  </a:lnTo>
                  <a:lnTo>
                    <a:pt x="48" y="54"/>
                  </a:lnTo>
                  <a:lnTo>
                    <a:pt x="46" y="54"/>
                  </a:lnTo>
                  <a:lnTo>
                    <a:pt x="44" y="54"/>
                  </a:lnTo>
                  <a:lnTo>
                    <a:pt x="42" y="54"/>
                  </a:lnTo>
                  <a:lnTo>
                    <a:pt x="40" y="54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6" y="55"/>
                  </a:lnTo>
                  <a:lnTo>
                    <a:pt x="35" y="55"/>
                  </a:lnTo>
                  <a:lnTo>
                    <a:pt x="35" y="56"/>
                  </a:lnTo>
                  <a:lnTo>
                    <a:pt x="35" y="77"/>
                  </a:lnTo>
                  <a:lnTo>
                    <a:pt x="0" y="42"/>
                  </a:lnTo>
                  <a:lnTo>
                    <a:pt x="35" y="7"/>
                  </a:lnTo>
                  <a:lnTo>
                    <a:pt x="35" y="29"/>
                  </a:lnTo>
                  <a:lnTo>
                    <a:pt x="36" y="29"/>
                  </a:lnTo>
                  <a:lnTo>
                    <a:pt x="37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42" y="29"/>
                  </a:lnTo>
                  <a:lnTo>
                    <a:pt x="44" y="29"/>
                  </a:lnTo>
                  <a:lnTo>
                    <a:pt x="46" y="29"/>
                  </a:lnTo>
                  <a:lnTo>
                    <a:pt x="48" y="28"/>
                  </a:lnTo>
                  <a:lnTo>
                    <a:pt x="50" y="28"/>
                  </a:lnTo>
                  <a:lnTo>
                    <a:pt x="53" y="28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60" y="27"/>
                  </a:lnTo>
                  <a:lnTo>
                    <a:pt x="63" y="26"/>
                  </a:lnTo>
                  <a:lnTo>
                    <a:pt x="65" y="25"/>
                  </a:lnTo>
                  <a:lnTo>
                    <a:pt x="68" y="25"/>
                  </a:lnTo>
                  <a:lnTo>
                    <a:pt x="70" y="24"/>
                  </a:lnTo>
                  <a:lnTo>
                    <a:pt x="73" y="23"/>
                  </a:lnTo>
                  <a:lnTo>
                    <a:pt x="75" y="22"/>
                  </a:lnTo>
                  <a:lnTo>
                    <a:pt x="78" y="20"/>
                  </a:lnTo>
                  <a:lnTo>
                    <a:pt x="80" y="19"/>
                  </a:lnTo>
                  <a:lnTo>
                    <a:pt x="82" y="18"/>
                  </a:lnTo>
                  <a:lnTo>
                    <a:pt x="84" y="16"/>
                  </a:lnTo>
                  <a:lnTo>
                    <a:pt x="86" y="14"/>
                  </a:lnTo>
                  <a:lnTo>
                    <a:pt x="87" y="12"/>
                  </a:lnTo>
                  <a:lnTo>
                    <a:pt x="88" y="10"/>
                  </a:lnTo>
                  <a:lnTo>
                    <a:pt x="90" y="8"/>
                  </a:lnTo>
                  <a:lnTo>
                    <a:pt x="90" y="6"/>
                  </a:lnTo>
                  <a:lnTo>
                    <a:pt x="91" y="3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1" name="Freeform 774"/>
            <p:cNvSpPr>
              <a:spLocks/>
            </p:cNvSpPr>
            <p:nvPr/>
          </p:nvSpPr>
          <p:spPr bwMode="auto">
            <a:xfrm>
              <a:off x="4242" y="2796"/>
              <a:ext cx="3" cy="27"/>
            </a:xfrm>
            <a:custGeom>
              <a:avLst/>
              <a:gdLst>
                <a:gd name="T0" fmla="*/ 3 w 3"/>
                <a:gd name="T1" fmla="*/ 26 h 27"/>
                <a:gd name="T2" fmla="*/ 3 w 3"/>
                <a:gd name="T3" fmla="*/ 26 h 27"/>
                <a:gd name="T4" fmla="*/ 3 w 3"/>
                <a:gd name="T5" fmla="*/ 0 h 27"/>
                <a:gd name="T6" fmla="*/ 0 w 3"/>
                <a:gd name="T7" fmla="*/ 0 h 27"/>
                <a:gd name="T8" fmla="*/ 0 w 3"/>
                <a:gd name="T9" fmla="*/ 26 h 27"/>
                <a:gd name="T10" fmla="*/ 3 w 3"/>
                <a:gd name="T11" fmla="*/ 26 h 27"/>
                <a:gd name="T12" fmla="*/ 0 w 3"/>
                <a:gd name="T13" fmla="*/ 26 h 27"/>
                <a:gd name="T14" fmla="*/ 0 w 3"/>
                <a:gd name="T15" fmla="*/ 26 h 27"/>
                <a:gd name="T16" fmla="*/ 0 w 3"/>
                <a:gd name="T17" fmla="*/ 26 h 27"/>
                <a:gd name="T18" fmla="*/ 0 w 3"/>
                <a:gd name="T19" fmla="*/ 26 h 27"/>
                <a:gd name="T20" fmla="*/ 0 w 3"/>
                <a:gd name="T21" fmla="*/ 26 h 27"/>
                <a:gd name="T22" fmla="*/ 0 w 3"/>
                <a:gd name="T23" fmla="*/ 27 h 27"/>
                <a:gd name="T24" fmla="*/ 0 w 3"/>
                <a:gd name="T25" fmla="*/ 27 h 27"/>
                <a:gd name="T26" fmla="*/ 0 w 3"/>
                <a:gd name="T27" fmla="*/ 27 h 27"/>
                <a:gd name="T28" fmla="*/ 0 w 3"/>
                <a:gd name="T29" fmla="*/ 27 h 27"/>
                <a:gd name="T30" fmla="*/ 0 w 3"/>
                <a:gd name="T31" fmla="*/ 27 h 27"/>
                <a:gd name="T32" fmla="*/ 1 w 3"/>
                <a:gd name="T33" fmla="*/ 27 h 27"/>
                <a:gd name="T34" fmla="*/ 1 w 3"/>
                <a:gd name="T35" fmla="*/ 27 h 27"/>
                <a:gd name="T36" fmla="*/ 1 w 3"/>
                <a:gd name="T37" fmla="*/ 27 h 27"/>
                <a:gd name="T38" fmla="*/ 1 w 3"/>
                <a:gd name="T39" fmla="*/ 27 h 27"/>
                <a:gd name="T40" fmla="*/ 1 w 3"/>
                <a:gd name="T41" fmla="*/ 27 h 27"/>
                <a:gd name="T42" fmla="*/ 1 w 3"/>
                <a:gd name="T43" fmla="*/ 27 h 27"/>
                <a:gd name="T44" fmla="*/ 1 w 3"/>
                <a:gd name="T45" fmla="*/ 27 h 27"/>
                <a:gd name="T46" fmla="*/ 1 w 3"/>
                <a:gd name="T47" fmla="*/ 27 h 27"/>
                <a:gd name="T48" fmla="*/ 2 w 3"/>
                <a:gd name="T49" fmla="*/ 27 h 27"/>
                <a:gd name="T50" fmla="*/ 2 w 3"/>
                <a:gd name="T51" fmla="*/ 27 h 27"/>
                <a:gd name="T52" fmla="*/ 2 w 3"/>
                <a:gd name="T53" fmla="*/ 27 h 27"/>
                <a:gd name="T54" fmla="*/ 2 w 3"/>
                <a:gd name="T55" fmla="*/ 27 h 27"/>
                <a:gd name="T56" fmla="*/ 2 w 3"/>
                <a:gd name="T57" fmla="*/ 27 h 27"/>
                <a:gd name="T58" fmla="*/ 2 w 3"/>
                <a:gd name="T59" fmla="*/ 27 h 27"/>
                <a:gd name="T60" fmla="*/ 2 w 3"/>
                <a:gd name="T61" fmla="*/ 27 h 27"/>
                <a:gd name="T62" fmla="*/ 2 w 3"/>
                <a:gd name="T63" fmla="*/ 27 h 27"/>
                <a:gd name="T64" fmla="*/ 3 w 3"/>
                <a:gd name="T65" fmla="*/ 27 h 27"/>
                <a:gd name="T66" fmla="*/ 3 w 3"/>
                <a:gd name="T67" fmla="*/ 27 h 27"/>
                <a:gd name="T68" fmla="*/ 3 w 3"/>
                <a:gd name="T69" fmla="*/ 26 h 27"/>
                <a:gd name="T70" fmla="*/ 3 w 3"/>
                <a:gd name="T71" fmla="*/ 26 h 27"/>
                <a:gd name="T72" fmla="*/ 3 w 3"/>
                <a:gd name="T73" fmla="*/ 26 h 27"/>
                <a:gd name="T74" fmla="*/ 3 w 3"/>
                <a:gd name="T75" fmla="*/ 26 h 27"/>
                <a:gd name="T76" fmla="*/ 3 w 3"/>
                <a:gd name="T77" fmla="*/ 26 h 2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"/>
                <a:gd name="T118" fmla="*/ 0 h 27"/>
                <a:gd name="T119" fmla="*/ 3 w 3"/>
                <a:gd name="T120" fmla="*/ 27 h 2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" h="27">
                  <a:moveTo>
                    <a:pt x="3" y="26"/>
                  </a:moveTo>
                  <a:lnTo>
                    <a:pt x="3" y="26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1" y="27"/>
                  </a:lnTo>
                  <a:lnTo>
                    <a:pt x="2" y="27"/>
                  </a:lnTo>
                  <a:lnTo>
                    <a:pt x="3" y="27"/>
                  </a:lnTo>
                  <a:lnTo>
                    <a:pt x="3" y="26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2" name="Freeform 775"/>
            <p:cNvSpPr>
              <a:spLocks/>
            </p:cNvSpPr>
            <p:nvPr/>
          </p:nvSpPr>
          <p:spPr bwMode="auto">
            <a:xfrm>
              <a:off x="4186" y="2822"/>
              <a:ext cx="59" cy="30"/>
            </a:xfrm>
            <a:custGeom>
              <a:avLst/>
              <a:gdLst>
                <a:gd name="T0" fmla="*/ 3 w 59"/>
                <a:gd name="T1" fmla="*/ 30 h 30"/>
                <a:gd name="T2" fmla="*/ 10 w 59"/>
                <a:gd name="T3" fmla="*/ 30 h 30"/>
                <a:gd name="T4" fmla="*/ 14 w 59"/>
                <a:gd name="T5" fmla="*/ 29 h 30"/>
                <a:gd name="T6" fmla="*/ 18 w 59"/>
                <a:gd name="T7" fmla="*/ 29 h 30"/>
                <a:gd name="T8" fmla="*/ 23 w 59"/>
                <a:gd name="T9" fmla="*/ 28 h 30"/>
                <a:gd name="T10" fmla="*/ 29 w 59"/>
                <a:gd name="T11" fmla="*/ 27 h 30"/>
                <a:gd name="T12" fmla="*/ 34 w 59"/>
                <a:gd name="T13" fmla="*/ 25 h 30"/>
                <a:gd name="T14" fmla="*/ 36 w 59"/>
                <a:gd name="T15" fmla="*/ 25 h 30"/>
                <a:gd name="T16" fmla="*/ 39 w 59"/>
                <a:gd name="T17" fmla="*/ 24 h 30"/>
                <a:gd name="T18" fmla="*/ 42 w 59"/>
                <a:gd name="T19" fmla="*/ 22 h 30"/>
                <a:gd name="T20" fmla="*/ 44 w 59"/>
                <a:gd name="T21" fmla="*/ 21 h 30"/>
                <a:gd name="T22" fmla="*/ 46 w 59"/>
                <a:gd name="T23" fmla="*/ 20 h 30"/>
                <a:gd name="T24" fmla="*/ 48 w 59"/>
                <a:gd name="T25" fmla="*/ 18 h 30"/>
                <a:gd name="T26" fmla="*/ 50 w 59"/>
                <a:gd name="T27" fmla="*/ 17 h 30"/>
                <a:gd name="T28" fmla="*/ 52 w 59"/>
                <a:gd name="T29" fmla="*/ 15 h 30"/>
                <a:gd name="T30" fmla="*/ 54 w 59"/>
                <a:gd name="T31" fmla="*/ 13 h 30"/>
                <a:gd name="T32" fmla="*/ 55 w 59"/>
                <a:gd name="T33" fmla="*/ 11 h 30"/>
                <a:gd name="T34" fmla="*/ 57 w 59"/>
                <a:gd name="T35" fmla="*/ 8 h 30"/>
                <a:gd name="T36" fmla="*/ 58 w 59"/>
                <a:gd name="T37" fmla="*/ 6 h 30"/>
                <a:gd name="T38" fmla="*/ 58 w 59"/>
                <a:gd name="T39" fmla="*/ 3 h 30"/>
                <a:gd name="T40" fmla="*/ 59 w 59"/>
                <a:gd name="T41" fmla="*/ 0 h 30"/>
                <a:gd name="T42" fmla="*/ 56 w 59"/>
                <a:gd name="T43" fmla="*/ 2 h 30"/>
                <a:gd name="T44" fmla="*/ 55 w 59"/>
                <a:gd name="T45" fmla="*/ 4 h 30"/>
                <a:gd name="T46" fmla="*/ 54 w 59"/>
                <a:gd name="T47" fmla="*/ 6 h 30"/>
                <a:gd name="T48" fmla="*/ 53 w 59"/>
                <a:gd name="T49" fmla="*/ 9 h 30"/>
                <a:gd name="T50" fmla="*/ 52 w 59"/>
                <a:gd name="T51" fmla="*/ 10 h 30"/>
                <a:gd name="T52" fmla="*/ 51 w 59"/>
                <a:gd name="T53" fmla="*/ 12 h 30"/>
                <a:gd name="T54" fmla="*/ 49 w 59"/>
                <a:gd name="T55" fmla="*/ 14 h 30"/>
                <a:gd name="T56" fmla="*/ 47 w 59"/>
                <a:gd name="T57" fmla="*/ 16 h 30"/>
                <a:gd name="T58" fmla="*/ 45 w 59"/>
                <a:gd name="T59" fmla="*/ 17 h 30"/>
                <a:gd name="T60" fmla="*/ 43 w 59"/>
                <a:gd name="T61" fmla="*/ 18 h 30"/>
                <a:gd name="T62" fmla="*/ 41 w 59"/>
                <a:gd name="T63" fmla="*/ 20 h 30"/>
                <a:gd name="T64" fmla="*/ 39 w 59"/>
                <a:gd name="T65" fmla="*/ 21 h 30"/>
                <a:gd name="T66" fmla="*/ 36 w 59"/>
                <a:gd name="T67" fmla="*/ 22 h 30"/>
                <a:gd name="T68" fmla="*/ 34 w 59"/>
                <a:gd name="T69" fmla="*/ 23 h 30"/>
                <a:gd name="T70" fmla="*/ 29 w 59"/>
                <a:gd name="T71" fmla="*/ 24 h 30"/>
                <a:gd name="T72" fmla="*/ 24 w 59"/>
                <a:gd name="T73" fmla="*/ 25 h 30"/>
                <a:gd name="T74" fmla="*/ 19 w 59"/>
                <a:gd name="T75" fmla="*/ 26 h 30"/>
                <a:gd name="T76" fmla="*/ 15 w 59"/>
                <a:gd name="T77" fmla="*/ 26 h 30"/>
                <a:gd name="T78" fmla="*/ 10 w 59"/>
                <a:gd name="T79" fmla="*/ 27 h 30"/>
                <a:gd name="T80" fmla="*/ 5 w 59"/>
                <a:gd name="T81" fmla="*/ 27 h 30"/>
                <a:gd name="T82" fmla="*/ 0 w 59"/>
                <a:gd name="T83" fmla="*/ 29 h 30"/>
                <a:gd name="T84" fmla="*/ 1 w 59"/>
                <a:gd name="T85" fmla="*/ 27 h 30"/>
                <a:gd name="T86" fmla="*/ 0 w 59"/>
                <a:gd name="T87" fmla="*/ 27 h 30"/>
                <a:gd name="T88" fmla="*/ 0 w 59"/>
                <a:gd name="T89" fmla="*/ 28 h 30"/>
                <a:gd name="T90" fmla="*/ 0 w 59"/>
                <a:gd name="T91" fmla="*/ 28 h 30"/>
                <a:gd name="T92" fmla="*/ 0 w 59"/>
                <a:gd name="T93" fmla="*/ 29 h 30"/>
                <a:gd name="T94" fmla="*/ 0 w 59"/>
                <a:gd name="T95" fmla="*/ 29 h 30"/>
                <a:gd name="T96" fmla="*/ 0 w 59"/>
                <a:gd name="T97" fmla="*/ 30 h 30"/>
                <a:gd name="T98" fmla="*/ 1 w 59"/>
                <a:gd name="T99" fmla="*/ 30 h 3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9"/>
                <a:gd name="T151" fmla="*/ 0 h 30"/>
                <a:gd name="T152" fmla="*/ 59 w 59"/>
                <a:gd name="T153" fmla="*/ 30 h 3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9" h="30">
                  <a:moveTo>
                    <a:pt x="3" y="29"/>
                  </a:moveTo>
                  <a:lnTo>
                    <a:pt x="1" y="30"/>
                  </a:lnTo>
                  <a:lnTo>
                    <a:pt x="2" y="30"/>
                  </a:lnTo>
                  <a:lnTo>
                    <a:pt x="3" y="30"/>
                  </a:lnTo>
                  <a:lnTo>
                    <a:pt x="5" y="30"/>
                  </a:lnTo>
                  <a:lnTo>
                    <a:pt x="6" y="30"/>
                  </a:lnTo>
                  <a:lnTo>
                    <a:pt x="8" y="30"/>
                  </a:lnTo>
                  <a:lnTo>
                    <a:pt x="10" y="30"/>
                  </a:lnTo>
                  <a:lnTo>
                    <a:pt x="11" y="30"/>
                  </a:lnTo>
                  <a:lnTo>
                    <a:pt x="12" y="30"/>
                  </a:lnTo>
                  <a:lnTo>
                    <a:pt x="13" y="30"/>
                  </a:lnTo>
                  <a:lnTo>
                    <a:pt x="14" y="29"/>
                  </a:lnTo>
                  <a:lnTo>
                    <a:pt x="15" y="29"/>
                  </a:lnTo>
                  <a:lnTo>
                    <a:pt x="16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0" y="29"/>
                  </a:lnTo>
                  <a:lnTo>
                    <a:pt x="21" y="28"/>
                  </a:lnTo>
                  <a:lnTo>
                    <a:pt x="22" y="28"/>
                  </a:lnTo>
                  <a:lnTo>
                    <a:pt x="23" y="28"/>
                  </a:lnTo>
                  <a:lnTo>
                    <a:pt x="25" y="28"/>
                  </a:lnTo>
                  <a:lnTo>
                    <a:pt x="26" y="28"/>
                  </a:lnTo>
                  <a:lnTo>
                    <a:pt x="27" y="27"/>
                  </a:lnTo>
                  <a:lnTo>
                    <a:pt x="29" y="27"/>
                  </a:lnTo>
                  <a:lnTo>
                    <a:pt x="30" y="27"/>
                  </a:lnTo>
                  <a:lnTo>
                    <a:pt x="31" y="26"/>
                  </a:lnTo>
                  <a:lnTo>
                    <a:pt x="33" y="26"/>
                  </a:lnTo>
                  <a:lnTo>
                    <a:pt x="34" y="25"/>
                  </a:lnTo>
                  <a:lnTo>
                    <a:pt x="35" y="25"/>
                  </a:lnTo>
                  <a:lnTo>
                    <a:pt x="36" y="25"/>
                  </a:lnTo>
                  <a:lnTo>
                    <a:pt x="37" y="24"/>
                  </a:lnTo>
                  <a:lnTo>
                    <a:pt x="38" y="24"/>
                  </a:lnTo>
                  <a:lnTo>
                    <a:pt x="39" y="24"/>
                  </a:lnTo>
                  <a:lnTo>
                    <a:pt x="40" y="23"/>
                  </a:lnTo>
                  <a:lnTo>
                    <a:pt x="41" y="23"/>
                  </a:lnTo>
                  <a:lnTo>
                    <a:pt x="42" y="22"/>
                  </a:lnTo>
                  <a:lnTo>
                    <a:pt x="43" y="22"/>
                  </a:lnTo>
                  <a:lnTo>
                    <a:pt x="43" y="21"/>
                  </a:lnTo>
                  <a:lnTo>
                    <a:pt x="44" y="21"/>
                  </a:lnTo>
                  <a:lnTo>
                    <a:pt x="45" y="20"/>
                  </a:lnTo>
                  <a:lnTo>
                    <a:pt x="46" y="20"/>
                  </a:lnTo>
                  <a:lnTo>
                    <a:pt x="47" y="19"/>
                  </a:lnTo>
                  <a:lnTo>
                    <a:pt x="48" y="19"/>
                  </a:lnTo>
                  <a:lnTo>
                    <a:pt x="48" y="18"/>
                  </a:lnTo>
                  <a:lnTo>
                    <a:pt x="49" y="18"/>
                  </a:lnTo>
                  <a:lnTo>
                    <a:pt x="49" y="17"/>
                  </a:lnTo>
                  <a:lnTo>
                    <a:pt x="50" y="17"/>
                  </a:lnTo>
                  <a:lnTo>
                    <a:pt x="51" y="16"/>
                  </a:lnTo>
                  <a:lnTo>
                    <a:pt x="52" y="15"/>
                  </a:lnTo>
                  <a:lnTo>
                    <a:pt x="53" y="14"/>
                  </a:lnTo>
                  <a:lnTo>
                    <a:pt x="54" y="13"/>
                  </a:lnTo>
                  <a:lnTo>
                    <a:pt x="54" y="12"/>
                  </a:lnTo>
                  <a:lnTo>
                    <a:pt x="55" y="12"/>
                  </a:lnTo>
                  <a:lnTo>
                    <a:pt x="55" y="11"/>
                  </a:lnTo>
                  <a:lnTo>
                    <a:pt x="56" y="10"/>
                  </a:lnTo>
                  <a:lnTo>
                    <a:pt x="56" y="9"/>
                  </a:lnTo>
                  <a:lnTo>
                    <a:pt x="57" y="8"/>
                  </a:lnTo>
                  <a:lnTo>
                    <a:pt x="57" y="7"/>
                  </a:lnTo>
                  <a:lnTo>
                    <a:pt x="57" y="6"/>
                  </a:lnTo>
                  <a:lnTo>
                    <a:pt x="58" y="6"/>
                  </a:lnTo>
                  <a:lnTo>
                    <a:pt x="58" y="5"/>
                  </a:lnTo>
                  <a:lnTo>
                    <a:pt x="58" y="4"/>
                  </a:lnTo>
                  <a:lnTo>
                    <a:pt x="58" y="3"/>
                  </a:lnTo>
                  <a:lnTo>
                    <a:pt x="59" y="2"/>
                  </a:lnTo>
                  <a:lnTo>
                    <a:pt x="59" y="1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6" y="1"/>
                  </a:lnTo>
                  <a:lnTo>
                    <a:pt x="56" y="2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5" y="5"/>
                  </a:lnTo>
                  <a:lnTo>
                    <a:pt x="55" y="6"/>
                  </a:lnTo>
                  <a:lnTo>
                    <a:pt x="54" y="6"/>
                  </a:lnTo>
                  <a:lnTo>
                    <a:pt x="54" y="7"/>
                  </a:lnTo>
                  <a:lnTo>
                    <a:pt x="54" y="8"/>
                  </a:lnTo>
                  <a:lnTo>
                    <a:pt x="53" y="9"/>
                  </a:lnTo>
                  <a:lnTo>
                    <a:pt x="53" y="10"/>
                  </a:lnTo>
                  <a:lnTo>
                    <a:pt x="52" y="10"/>
                  </a:lnTo>
                  <a:lnTo>
                    <a:pt x="52" y="11"/>
                  </a:lnTo>
                  <a:lnTo>
                    <a:pt x="51" y="11"/>
                  </a:lnTo>
                  <a:lnTo>
                    <a:pt x="51" y="12"/>
                  </a:lnTo>
                  <a:lnTo>
                    <a:pt x="50" y="13"/>
                  </a:lnTo>
                  <a:lnTo>
                    <a:pt x="49" y="14"/>
                  </a:lnTo>
                  <a:lnTo>
                    <a:pt x="48" y="15"/>
                  </a:lnTo>
                  <a:lnTo>
                    <a:pt x="47" y="16"/>
                  </a:lnTo>
                  <a:lnTo>
                    <a:pt x="46" y="16"/>
                  </a:lnTo>
                  <a:lnTo>
                    <a:pt x="46" y="17"/>
                  </a:lnTo>
                  <a:lnTo>
                    <a:pt x="45" y="17"/>
                  </a:lnTo>
                  <a:lnTo>
                    <a:pt x="44" y="18"/>
                  </a:lnTo>
                  <a:lnTo>
                    <a:pt x="43" y="18"/>
                  </a:lnTo>
                  <a:lnTo>
                    <a:pt x="43" y="19"/>
                  </a:lnTo>
                  <a:lnTo>
                    <a:pt x="42" y="19"/>
                  </a:lnTo>
                  <a:lnTo>
                    <a:pt x="41" y="19"/>
                  </a:lnTo>
                  <a:lnTo>
                    <a:pt x="41" y="20"/>
                  </a:lnTo>
                  <a:lnTo>
                    <a:pt x="40" y="20"/>
                  </a:lnTo>
                  <a:lnTo>
                    <a:pt x="39" y="20"/>
                  </a:lnTo>
                  <a:lnTo>
                    <a:pt x="39" y="21"/>
                  </a:lnTo>
                  <a:lnTo>
                    <a:pt x="38" y="21"/>
                  </a:lnTo>
                  <a:lnTo>
                    <a:pt x="37" y="21"/>
                  </a:lnTo>
                  <a:lnTo>
                    <a:pt x="36" y="22"/>
                  </a:lnTo>
                  <a:lnTo>
                    <a:pt x="35" y="22"/>
                  </a:lnTo>
                  <a:lnTo>
                    <a:pt x="34" y="22"/>
                  </a:lnTo>
                  <a:lnTo>
                    <a:pt x="34" y="23"/>
                  </a:lnTo>
                  <a:lnTo>
                    <a:pt x="33" y="23"/>
                  </a:lnTo>
                  <a:lnTo>
                    <a:pt x="32" y="23"/>
                  </a:lnTo>
                  <a:lnTo>
                    <a:pt x="31" y="23"/>
                  </a:lnTo>
                  <a:lnTo>
                    <a:pt x="29" y="24"/>
                  </a:lnTo>
                  <a:lnTo>
                    <a:pt x="28" y="24"/>
                  </a:lnTo>
                  <a:lnTo>
                    <a:pt x="27" y="24"/>
                  </a:lnTo>
                  <a:lnTo>
                    <a:pt x="25" y="25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2" y="25"/>
                  </a:lnTo>
                  <a:lnTo>
                    <a:pt x="20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6" y="26"/>
                  </a:lnTo>
                  <a:lnTo>
                    <a:pt x="15" y="26"/>
                  </a:lnTo>
                  <a:lnTo>
                    <a:pt x="14" y="27"/>
                  </a:lnTo>
                  <a:lnTo>
                    <a:pt x="12" y="27"/>
                  </a:lnTo>
                  <a:lnTo>
                    <a:pt x="11" y="27"/>
                  </a:lnTo>
                  <a:lnTo>
                    <a:pt x="10" y="27"/>
                  </a:lnTo>
                  <a:lnTo>
                    <a:pt x="9" y="27"/>
                  </a:lnTo>
                  <a:lnTo>
                    <a:pt x="8" y="27"/>
                  </a:lnTo>
                  <a:lnTo>
                    <a:pt x="6" y="27"/>
                  </a:lnTo>
                  <a:lnTo>
                    <a:pt x="5" y="27"/>
                  </a:lnTo>
                  <a:lnTo>
                    <a:pt x="3" y="27"/>
                  </a:lnTo>
                  <a:lnTo>
                    <a:pt x="2" y="27"/>
                  </a:lnTo>
                  <a:lnTo>
                    <a:pt x="1" y="27"/>
                  </a:lnTo>
                  <a:lnTo>
                    <a:pt x="0" y="29"/>
                  </a:lnTo>
                  <a:lnTo>
                    <a:pt x="1" y="27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" y="30"/>
                  </a:lnTo>
                  <a:lnTo>
                    <a:pt x="3" y="29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3" name="Freeform 776"/>
            <p:cNvSpPr>
              <a:spLocks/>
            </p:cNvSpPr>
            <p:nvPr/>
          </p:nvSpPr>
          <p:spPr bwMode="auto">
            <a:xfrm>
              <a:off x="4186" y="2851"/>
              <a:ext cx="3" cy="3"/>
            </a:xfrm>
            <a:custGeom>
              <a:avLst/>
              <a:gdLst>
                <a:gd name="T0" fmla="*/ 0 w 3"/>
                <a:gd name="T1" fmla="*/ 1 h 3"/>
                <a:gd name="T2" fmla="*/ 3 w 3"/>
                <a:gd name="T3" fmla="*/ 1 h 3"/>
                <a:gd name="T4" fmla="*/ 3 w 3"/>
                <a:gd name="T5" fmla="*/ 0 h 3"/>
                <a:gd name="T6" fmla="*/ 0 w 3"/>
                <a:gd name="T7" fmla="*/ 0 h 3"/>
                <a:gd name="T8" fmla="*/ 0 w 3"/>
                <a:gd name="T9" fmla="*/ 1 h 3"/>
                <a:gd name="T10" fmla="*/ 0 w 3"/>
                <a:gd name="T11" fmla="*/ 1 h 3"/>
                <a:gd name="T12" fmla="*/ 0 w 3"/>
                <a:gd name="T13" fmla="*/ 1 h 3"/>
                <a:gd name="T14" fmla="*/ 0 w 3"/>
                <a:gd name="T15" fmla="*/ 1 h 3"/>
                <a:gd name="T16" fmla="*/ 0 w 3"/>
                <a:gd name="T17" fmla="*/ 1 h 3"/>
                <a:gd name="T18" fmla="*/ 0 w 3"/>
                <a:gd name="T19" fmla="*/ 2 h 3"/>
                <a:gd name="T20" fmla="*/ 0 w 3"/>
                <a:gd name="T21" fmla="*/ 2 h 3"/>
                <a:gd name="T22" fmla="*/ 0 w 3"/>
                <a:gd name="T23" fmla="*/ 2 h 3"/>
                <a:gd name="T24" fmla="*/ 0 w 3"/>
                <a:gd name="T25" fmla="*/ 2 h 3"/>
                <a:gd name="T26" fmla="*/ 0 w 3"/>
                <a:gd name="T27" fmla="*/ 2 h 3"/>
                <a:gd name="T28" fmla="*/ 0 w 3"/>
                <a:gd name="T29" fmla="*/ 2 h 3"/>
                <a:gd name="T30" fmla="*/ 0 w 3"/>
                <a:gd name="T31" fmla="*/ 2 h 3"/>
                <a:gd name="T32" fmla="*/ 0 w 3"/>
                <a:gd name="T33" fmla="*/ 2 h 3"/>
                <a:gd name="T34" fmla="*/ 0 w 3"/>
                <a:gd name="T35" fmla="*/ 2 h 3"/>
                <a:gd name="T36" fmla="*/ 1 w 3"/>
                <a:gd name="T37" fmla="*/ 2 h 3"/>
                <a:gd name="T38" fmla="*/ 1 w 3"/>
                <a:gd name="T39" fmla="*/ 3 h 3"/>
                <a:gd name="T40" fmla="*/ 1 w 3"/>
                <a:gd name="T41" fmla="*/ 3 h 3"/>
                <a:gd name="T42" fmla="*/ 1 w 3"/>
                <a:gd name="T43" fmla="*/ 3 h 3"/>
                <a:gd name="T44" fmla="*/ 1 w 3"/>
                <a:gd name="T45" fmla="*/ 3 h 3"/>
                <a:gd name="T46" fmla="*/ 1 w 3"/>
                <a:gd name="T47" fmla="*/ 3 h 3"/>
                <a:gd name="T48" fmla="*/ 1 w 3"/>
                <a:gd name="T49" fmla="*/ 3 h 3"/>
                <a:gd name="T50" fmla="*/ 2 w 3"/>
                <a:gd name="T51" fmla="*/ 3 h 3"/>
                <a:gd name="T52" fmla="*/ 2 w 3"/>
                <a:gd name="T53" fmla="*/ 2 h 3"/>
                <a:gd name="T54" fmla="*/ 2 w 3"/>
                <a:gd name="T55" fmla="*/ 2 h 3"/>
                <a:gd name="T56" fmla="*/ 2 w 3"/>
                <a:gd name="T57" fmla="*/ 2 h 3"/>
                <a:gd name="T58" fmla="*/ 2 w 3"/>
                <a:gd name="T59" fmla="*/ 2 h 3"/>
                <a:gd name="T60" fmla="*/ 2 w 3"/>
                <a:gd name="T61" fmla="*/ 2 h 3"/>
                <a:gd name="T62" fmla="*/ 2 w 3"/>
                <a:gd name="T63" fmla="*/ 2 h 3"/>
                <a:gd name="T64" fmla="*/ 2 w 3"/>
                <a:gd name="T65" fmla="*/ 2 h 3"/>
                <a:gd name="T66" fmla="*/ 2 w 3"/>
                <a:gd name="T67" fmla="*/ 2 h 3"/>
                <a:gd name="T68" fmla="*/ 2 w 3"/>
                <a:gd name="T69" fmla="*/ 2 h 3"/>
                <a:gd name="T70" fmla="*/ 3 w 3"/>
                <a:gd name="T71" fmla="*/ 2 h 3"/>
                <a:gd name="T72" fmla="*/ 3 w 3"/>
                <a:gd name="T73" fmla="*/ 1 h 3"/>
                <a:gd name="T74" fmla="*/ 3 w 3"/>
                <a:gd name="T75" fmla="*/ 1 h 3"/>
                <a:gd name="T76" fmla="*/ 3 w 3"/>
                <a:gd name="T77" fmla="*/ 1 h 3"/>
                <a:gd name="T78" fmla="*/ 0 w 3"/>
                <a:gd name="T79" fmla="*/ 1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3"/>
                <a:gd name="T122" fmla="*/ 3 w 3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3">
                  <a:moveTo>
                    <a:pt x="0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4" name="Freeform 777"/>
            <p:cNvSpPr>
              <a:spLocks/>
            </p:cNvSpPr>
            <p:nvPr/>
          </p:nvSpPr>
          <p:spPr bwMode="auto">
            <a:xfrm>
              <a:off x="4186" y="2852"/>
              <a:ext cx="3" cy="22"/>
            </a:xfrm>
            <a:custGeom>
              <a:avLst/>
              <a:gdLst>
                <a:gd name="T0" fmla="*/ 0 w 3"/>
                <a:gd name="T1" fmla="*/ 22 h 22"/>
                <a:gd name="T2" fmla="*/ 3 w 3"/>
                <a:gd name="T3" fmla="*/ 21 h 22"/>
                <a:gd name="T4" fmla="*/ 3 w 3"/>
                <a:gd name="T5" fmla="*/ 0 h 22"/>
                <a:gd name="T6" fmla="*/ 0 w 3"/>
                <a:gd name="T7" fmla="*/ 0 h 22"/>
                <a:gd name="T8" fmla="*/ 0 w 3"/>
                <a:gd name="T9" fmla="*/ 21 h 22"/>
                <a:gd name="T10" fmla="*/ 0 w 3"/>
                <a:gd name="T11" fmla="*/ 22 h 22"/>
                <a:gd name="T12" fmla="*/ 0 w 3"/>
                <a:gd name="T13" fmla="*/ 21 h 22"/>
                <a:gd name="T14" fmla="*/ 0 w 3"/>
                <a:gd name="T15" fmla="*/ 21 h 22"/>
                <a:gd name="T16" fmla="*/ 0 w 3"/>
                <a:gd name="T17" fmla="*/ 21 h 22"/>
                <a:gd name="T18" fmla="*/ 0 w 3"/>
                <a:gd name="T19" fmla="*/ 21 h 22"/>
                <a:gd name="T20" fmla="*/ 0 w 3"/>
                <a:gd name="T21" fmla="*/ 21 h 22"/>
                <a:gd name="T22" fmla="*/ 0 w 3"/>
                <a:gd name="T23" fmla="*/ 22 h 22"/>
                <a:gd name="T24" fmla="*/ 0 w 3"/>
                <a:gd name="T25" fmla="*/ 22 h 22"/>
                <a:gd name="T26" fmla="*/ 0 w 3"/>
                <a:gd name="T27" fmla="*/ 22 h 22"/>
                <a:gd name="T28" fmla="*/ 0 w 3"/>
                <a:gd name="T29" fmla="*/ 22 h 22"/>
                <a:gd name="T30" fmla="*/ 0 w 3"/>
                <a:gd name="T31" fmla="*/ 22 h 22"/>
                <a:gd name="T32" fmla="*/ 0 w 3"/>
                <a:gd name="T33" fmla="*/ 22 h 22"/>
                <a:gd name="T34" fmla="*/ 0 w 3"/>
                <a:gd name="T35" fmla="*/ 22 h 22"/>
                <a:gd name="T36" fmla="*/ 1 w 3"/>
                <a:gd name="T37" fmla="*/ 22 h 22"/>
                <a:gd name="T38" fmla="*/ 1 w 3"/>
                <a:gd name="T39" fmla="*/ 22 h 22"/>
                <a:gd name="T40" fmla="*/ 1 w 3"/>
                <a:gd name="T41" fmla="*/ 22 h 22"/>
                <a:gd name="T42" fmla="*/ 1 w 3"/>
                <a:gd name="T43" fmla="*/ 22 h 22"/>
                <a:gd name="T44" fmla="*/ 1 w 3"/>
                <a:gd name="T45" fmla="*/ 22 h 22"/>
                <a:gd name="T46" fmla="*/ 1 w 3"/>
                <a:gd name="T47" fmla="*/ 22 h 22"/>
                <a:gd name="T48" fmla="*/ 1 w 3"/>
                <a:gd name="T49" fmla="*/ 22 h 22"/>
                <a:gd name="T50" fmla="*/ 2 w 3"/>
                <a:gd name="T51" fmla="*/ 22 h 22"/>
                <a:gd name="T52" fmla="*/ 2 w 3"/>
                <a:gd name="T53" fmla="*/ 22 h 22"/>
                <a:gd name="T54" fmla="*/ 2 w 3"/>
                <a:gd name="T55" fmla="*/ 22 h 22"/>
                <a:gd name="T56" fmla="*/ 2 w 3"/>
                <a:gd name="T57" fmla="*/ 22 h 22"/>
                <a:gd name="T58" fmla="*/ 2 w 3"/>
                <a:gd name="T59" fmla="*/ 22 h 22"/>
                <a:gd name="T60" fmla="*/ 2 w 3"/>
                <a:gd name="T61" fmla="*/ 22 h 22"/>
                <a:gd name="T62" fmla="*/ 2 w 3"/>
                <a:gd name="T63" fmla="*/ 22 h 22"/>
                <a:gd name="T64" fmla="*/ 2 w 3"/>
                <a:gd name="T65" fmla="*/ 22 h 22"/>
                <a:gd name="T66" fmla="*/ 2 w 3"/>
                <a:gd name="T67" fmla="*/ 22 h 22"/>
                <a:gd name="T68" fmla="*/ 2 w 3"/>
                <a:gd name="T69" fmla="*/ 21 h 22"/>
                <a:gd name="T70" fmla="*/ 3 w 3"/>
                <a:gd name="T71" fmla="*/ 21 h 22"/>
                <a:gd name="T72" fmla="*/ 3 w 3"/>
                <a:gd name="T73" fmla="*/ 21 h 22"/>
                <a:gd name="T74" fmla="*/ 3 w 3"/>
                <a:gd name="T75" fmla="*/ 21 h 22"/>
                <a:gd name="T76" fmla="*/ 3 w 3"/>
                <a:gd name="T77" fmla="*/ 21 h 22"/>
                <a:gd name="T78" fmla="*/ 0 w 3"/>
                <a:gd name="T79" fmla="*/ 22 h 2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22"/>
                <a:gd name="T122" fmla="*/ 3 w 3"/>
                <a:gd name="T123" fmla="*/ 22 h 2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22">
                  <a:moveTo>
                    <a:pt x="0" y="22"/>
                  </a:moveTo>
                  <a:lnTo>
                    <a:pt x="3" y="21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1" y="22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3" y="21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5" name="Freeform 778"/>
            <p:cNvSpPr>
              <a:spLocks/>
            </p:cNvSpPr>
            <p:nvPr/>
          </p:nvSpPr>
          <p:spPr bwMode="auto">
            <a:xfrm>
              <a:off x="4151" y="2836"/>
              <a:ext cx="37" cy="38"/>
            </a:xfrm>
            <a:custGeom>
              <a:avLst/>
              <a:gdLst>
                <a:gd name="T0" fmla="*/ 0 w 37"/>
                <a:gd name="T1" fmla="*/ 1 h 38"/>
                <a:gd name="T2" fmla="*/ 0 w 37"/>
                <a:gd name="T3" fmla="*/ 3 h 38"/>
                <a:gd name="T4" fmla="*/ 35 w 37"/>
                <a:gd name="T5" fmla="*/ 38 h 38"/>
                <a:gd name="T6" fmla="*/ 37 w 37"/>
                <a:gd name="T7" fmla="*/ 36 h 38"/>
                <a:gd name="T8" fmla="*/ 2 w 37"/>
                <a:gd name="T9" fmla="*/ 1 h 38"/>
                <a:gd name="T10" fmla="*/ 0 w 37"/>
                <a:gd name="T11" fmla="*/ 1 h 38"/>
                <a:gd name="T12" fmla="*/ 2 w 37"/>
                <a:gd name="T13" fmla="*/ 1 h 38"/>
                <a:gd name="T14" fmla="*/ 2 w 37"/>
                <a:gd name="T15" fmla="*/ 1 h 38"/>
                <a:gd name="T16" fmla="*/ 2 w 37"/>
                <a:gd name="T17" fmla="*/ 1 h 38"/>
                <a:gd name="T18" fmla="*/ 2 w 37"/>
                <a:gd name="T19" fmla="*/ 0 h 38"/>
                <a:gd name="T20" fmla="*/ 2 w 37"/>
                <a:gd name="T21" fmla="*/ 0 h 38"/>
                <a:gd name="T22" fmla="*/ 1 w 37"/>
                <a:gd name="T23" fmla="*/ 0 h 38"/>
                <a:gd name="T24" fmla="*/ 1 w 37"/>
                <a:gd name="T25" fmla="*/ 0 h 38"/>
                <a:gd name="T26" fmla="*/ 1 w 37"/>
                <a:gd name="T27" fmla="*/ 0 h 38"/>
                <a:gd name="T28" fmla="*/ 1 w 37"/>
                <a:gd name="T29" fmla="*/ 0 h 38"/>
                <a:gd name="T30" fmla="*/ 1 w 37"/>
                <a:gd name="T31" fmla="*/ 0 h 38"/>
                <a:gd name="T32" fmla="*/ 1 w 37"/>
                <a:gd name="T33" fmla="*/ 0 h 38"/>
                <a:gd name="T34" fmla="*/ 1 w 37"/>
                <a:gd name="T35" fmla="*/ 0 h 38"/>
                <a:gd name="T36" fmla="*/ 0 w 37"/>
                <a:gd name="T37" fmla="*/ 0 h 38"/>
                <a:gd name="T38" fmla="*/ 0 w 37"/>
                <a:gd name="T39" fmla="*/ 1 h 38"/>
                <a:gd name="T40" fmla="*/ 0 w 37"/>
                <a:gd name="T41" fmla="*/ 1 h 38"/>
                <a:gd name="T42" fmla="*/ 0 w 37"/>
                <a:gd name="T43" fmla="*/ 1 h 38"/>
                <a:gd name="T44" fmla="*/ 0 w 37"/>
                <a:gd name="T45" fmla="*/ 1 h 38"/>
                <a:gd name="T46" fmla="*/ 0 w 37"/>
                <a:gd name="T47" fmla="*/ 1 h 38"/>
                <a:gd name="T48" fmla="*/ 0 w 37"/>
                <a:gd name="T49" fmla="*/ 1 h 38"/>
                <a:gd name="T50" fmla="*/ 0 w 37"/>
                <a:gd name="T51" fmla="*/ 1 h 38"/>
                <a:gd name="T52" fmla="*/ 0 w 37"/>
                <a:gd name="T53" fmla="*/ 1 h 38"/>
                <a:gd name="T54" fmla="*/ 0 w 37"/>
                <a:gd name="T55" fmla="*/ 1 h 38"/>
                <a:gd name="T56" fmla="*/ 0 w 37"/>
                <a:gd name="T57" fmla="*/ 1 h 38"/>
                <a:gd name="T58" fmla="*/ 0 w 37"/>
                <a:gd name="T59" fmla="*/ 2 h 38"/>
                <a:gd name="T60" fmla="*/ 0 w 37"/>
                <a:gd name="T61" fmla="*/ 2 h 38"/>
                <a:gd name="T62" fmla="*/ 0 w 37"/>
                <a:gd name="T63" fmla="*/ 2 h 38"/>
                <a:gd name="T64" fmla="*/ 0 w 37"/>
                <a:gd name="T65" fmla="*/ 2 h 38"/>
                <a:gd name="T66" fmla="*/ 0 w 37"/>
                <a:gd name="T67" fmla="*/ 2 h 38"/>
                <a:gd name="T68" fmla="*/ 0 w 37"/>
                <a:gd name="T69" fmla="*/ 2 h 38"/>
                <a:gd name="T70" fmla="*/ 0 w 37"/>
                <a:gd name="T71" fmla="*/ 2 h 38"/>
                <a:gd name="T72" fmla="*/ 0 w 37"/>
                <a:gd name="T73" fmla="*/ 3 h 38"/>
                <a:gd name="T74" fmla="*/ 0 w 37"/>
                <a:gd name="T75" fmla="*/ 3 h 38"/>
                <a:gd name="T76" fmla="*/ 0 w 37"/>
                <a:gd name="T77" fmla="*/ 3 h 38"/>
                <a:gd name="T78" fmla="*/ 0 w 37"/>
                <a:gd name="T79" fmla="*/ 1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7"/>
                <a:gd name="T121" fmla="*/ 0 h 38"/>
                <a:gd name="T122" fmla="*/ 37 w 37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7" h="38">
                  <a:moveTo>
                    <a:pt x="0" y="1"/>
                  </a:moveTo>
                  <a:lnTo>
                    <a:pt x="0" y="3"/>
                  </a:lnTo>
                  <a:lnTo>
                    <a:pt x="35" y="38"/>
                  </a:lnTo>
                  <a:lnTo>
                    <a:pt x="37" y="36"/>
                  </a:lnTo>
                  <a:lnTo>
                    <a:pt x="2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6" name="Freeform 779"/>
            <p:cNvSpPr>
              <a:spLocks/>
            </p:cNvSpPr>
            <p:nvPr/>
          </p:nvSpPr>
          <p:spPr bwMode="auto">
            <a:xfrm>
              <a:off x="4151" y="2801"/>
              <a:ext cx="38" cy="38"/>
            </a:xfrm>
            <a:custGeom>
              <a:avLst/>
              <a:gdLst>
                <a:gd name="T0" fmla="*/ 38 w 38"/>
                <a:gd name="T1" fmla="*/ 2 h 38"/>
                <a:gd name="T2" fmla="*/ 35 w 38"/>
                <a:gd name="T3" fmla="*/ 1 h 38"/>
                <a:gd name="T4" fmla="*/ 0 w 38"/>
                <a:gd name="T5" fmla="*/ 36 h 38"/>
                <a:gd name="T6" fmla="*/ 2 w 38"/>
                <a:gd name="T7" fmla="*/ 38 h 38"/>
                <a:gd name="T8" fmla="*/ 37 w 38"/>
                <a:gd name="T9" fmla="*/ 3 h 38"/>
                <a:gd name="T10" fmla="*/ 38 w 38"/>
                <a:gd name="T11" fmla="*/ 2 h 38"/>
                <a:gd name="T12" fmla="*/ 37 w 38"/>
                <a:gd name="T13" fmla="*/ 3 h 38"/>
                <a:gd name="T14" fmla="*/ 37 w 38"/>
                <a:gd name="T15" fmla="*/ 3 h 38"/>
                <a:gd name="T16" fmla="*/ 37 w 38"/>
                <a:gd name="T17" fmla="*/ 2 h 38"/>
                <a:gd name="T18" fmla="*/ 37 w 38"/>
                <a:gd name="T19" fmla="*/ 2 h 38"/>
                <a:gd name="T20" fmla="*/ 38 w 38"/>
                <a:gd name="T21" fmla="*/ 2 h 38"/>
                <a:gd name="T22" fmla="*/ 38 w 38"/>
                <a:gd name="T23" fmla="*/ 2 h 38"/>
                <a:gd name="T24" fmla="*/ 38 w 38"/>
                <a:gd name="T25" fmla="*/ 2 h 38"/>
                <a:gd name="T26" fmla="*/ 38 w 38"/>
                <a:gd name="T27" fmla="*/ 2 h 38"/>
                <a:gd name="T28" fmla="*/ 38 w 38"/>
                <a:gd name="T29" fmla="*/ 2 h 38"/>
                <a:gd name="T30" fmla="*/ 38 w 38"/>
                <a:gd name="T31" fmla="*/ 2 h 38"/>
                <a:gd name="T32" fmla="*/ 38 w 38"/>
                <a:gd name="T33" fmla="*/ 1 h 38"/>
                <a:gd name="T34" fmla="*/ 38 w 38"/>
                <a:gd name="T35" fmla="*/ 1 h 38"/>
                <a:gd name="T36" fmla="*/ 37 w 38"/>
                <a:gd name="T37" fmla="*/ 1 h 38"/>
                <a:gd name="T38" fmla="*/ 37 w 38"/>
                <a:gd name="T39" fmla="*/ 1 h 38"/>
                <a:gd name="T40" fmla="*/ 37 w 38"/>
                <a:gd name="T41" fmla="*/ 1 h 38"/>
                <a:gd name="T42" fmla="*/ 37 w 38"/>
                <a:gd name="T43" fmla="*/ 1 h 38"/>
                <a:gd name="T44" fmla="*/ 37 w 38"/>
                <a:gd name="T45" fmla="*/ 1 h 38"/>
                <a:gd name="T46" fmla="*/ 37 w 38"/>
                <a:gd name="T47" fmla="*/ 1 h 38"/>
                <a:gd name="T48" fmla="*/ 37 w 38"/>
                <a:gd name="T49" fmla="*/ 1 h 38"/>
                <a:gd name="T50" fmla="*/ 37 w 38"/>
                <a:gd name="T51" fmla="*/ 0 h 38"/>
                <a:gd name="T52" fmla="*/ 37 w 38"/>
                <a:gd name="T53" fmla="*/ 0 h 38"/>
                <a:gd name="T54" fmla="*/ 37 w 38"/>
                <a:gd name="T55" fmla="*/ 0 h 38"/>
                <a:gd name="T56" fmla="*/ 36 w 38"/>
                <a:gd name="T57" fmla="*/ 0 h 38"/>
                <a:gd name="T58" fmla="*/ 36 w 38"/>
                <a:gd name="T59" fmla="*/ 0 h 38"/>
                <a:gd name="T60" fmla="*/ 36 w 38"/>
                <a:gd name="T61" fmla="*/ 0 h 38"/>
                <a:gd name="T62" fmla="*/ 36 w 38"/>
                <a:gd name="T63" fmla="*/ 0 h 38"/>
                <a:gd name="T64" fmla="*/ 36 w 38"/>
                <a:gd name="T65" fmla="*/ 0 h 38"/>
                <a:gd name="T66" fmla="*/ 36 w 38"/>
                <a:gd name="T67" fmla="*/ 0 h 38"/>
                <a:gd name="T68" fmla="*/ 36 w 38"/>
                <a:gd name="T69" fmla="*/ 0 h 38"/>
                <a:gd name="T70" fmla="*/ 36 w 38"/>
                <a:gd name="T71" fmla="*/ 0 h 38"/>
                <a:gd name="T72" fmla="*/ 35 w 38"/>
                <a:gd name="T73" fmla="*/ 0 h 38"/>
                <a:gd name="T74" fmla="*/ 35 w 38"/>
                <a:gd name="T75" fmla="*/ 1 h 38"/>
                <a:gd name="T76" fmla="*/ 35 w 38"/>
                <a:gd name="T77" fmla="*/ 1 h 38"/>
                <a:gd name="T78" fmla="*/ 38 w 38"/>
                <a:gd name="T79" fmla="*/ 2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8"/>
                <a:gd name="T121" fmla="*/ 0 h 38"/>
                <a:gd name="T122" fmla="*/ 38 w 38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8" h="38">
                  <a:moveTo>
                    <a:pt x="38" y="2"/>
                  </a:moveTo>
                  <a:lnTo>
                    <a:pt x="35" y="1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37" y="3"/>
                  </a:lnTo>
                  <a:lnTo>
                    <a:pt x="38" y="2"/>
                  </a:lnTo>
                  <a:lnTo>
                    <a:pt x="37" y="3"/>
                  </a:lnTo>
                  <a:lnTo>
                    <a:pt x="37" y="2"/>
                  </a:lnTo>
                  <a:lnTo>
                    <a:pt x="38" y="2"/>
                  </a:lnTo>
                  <a:lnTo>
                    <a:pt x="38" y="1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5" y="1"/>
                  </a:lnTo>
                  <a:lnTo>
                    <a:pt x="38" y="2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7" name="Freeform 780"/>
            <p:cNvSpPr>
              <a:spLocks/>
            </p:cNvSpPr>
            <p:nvPr/>
          </p:nvSpPr>
          <p:spPr bwMode="auto">
            <a:xfrm>
              <a:off x="4186" y="2803"/>
              <a:ext cx="3" cy="23"/>
            </a:xfrm>
            <a:custGeom>
              <a:avLst/>
              <a:gdLst>
                <a:gd name="T0" fmla="*/ 1 w 3"/>
                <a:gd name="T1" fmla="*/ 23 h 23"/>
                <a:gd name="T2" fmla="*/ 3 w 3"/>
                <a:gd name="T3" fmla="*/ 22 h 23"/>
                <a:gd name="T4" fmla="*/ 3 w 3"/>
                <a:gd name="T5" fmla="*/ 0 h 23"/>
                <a:gd name="T6" fmla="*/ 0 w 3"/>
                <a:gd name="T7" fmla="*/ 0 h 23"/>
                <a:gd name="T8" fmla="*/ 0 w 3"/>
                <a:gd name="T9" fmla="*/ 22 h 23"/>
                <a:gd name="T10" fmla="*/ 1 w 3"/>
                <a:gd name="T11" fmla="*/ 23 h 23"/>
                <a:gd name="T12" fmla="*/ 0 w 3"/>
                <a:gd name="T13" fmla="*/ 22 h 23"/>
                <a:gd name="T14" fmla="*/ 0 w 3"/>
                <a:gd name="T15" fmla="*/ 22 h 23"/>
                <a:gd name="T16" fmla="*/ 0 w 3"/>
                <a:gd name="T17" fmla="*/ 22 h 23"/>
                <a:gd name="T18" fmla="*/ 0 w 3"/>
                <a:gd name="T19" fmla="*/ 23 h 23"/>
                <a:gd name="T20" fmla="*/ 0 w 3"/>
                <a:gd name="T21" fmla="*/ 23 h 23"/>
                <a:gd name="T22" fmla="*/ 0 w 3"/>
                <a:gd name="T23" fmla="*/ 23 h 23"/>
                <a:gd name="T24" fmla="*/ 0 w 3"/>
                <a:gd name="T25" fmla="*/ 23 h 23"/>
                <a:gd name="T26" fmla="*/ 0 w 3"/>
                <a:gd name="T27" fmla="*/ 23 h 23"/>
                <a:gd name="T28" fmla="*/ 0 w 3"/>
                <a:gd name="T29" fmla="*/ 23 h 23"/>
                <a:gd name="T30" fmla="*/ 0 w 3"/>
                <a:gd name="T31" fmla="*/ 23 h 23"/>
                <a:gd name="T32" fmla="*/ 0 w 3"/>
                <a:gd name="T33" fmla="*/ 23 h 23"/>
                <a:gd name="T34" fmla="*/ 0 w 3"/>
                <a:gd name="T35" fmla="*/ 23 h 23"/>
                <a:gd name="T36" fmla="*/ 1 w 3"/>
                <a:gd name="T37" fmla="*/ 23 h 23"/>
                <a:gd name="T38" fmla="*/ 1 w 3"/>
                <a:gd name="T39" fmla="*/ 23 h 23"/>
                <a:gd name="T40" fmla="*/ 1 w 3"/>
                <a:gd name="T41" fmla="*/ 23 h 23"/>
                <a:gd name="T42" fmla="*/ 1 w 3"/>
                <a:gd name="T43" fmla="*/ 23 h 23"/>
                <a:gd name="T44" fmla="*/ 1 w 3"/>
                <a:gd name="T45" fmla="*/ 23 h 23"/>
                <a:gd name="T46" fmla="*/ 1 w 3"/>
                <a:gd name="T47" fmla="*/ 23 h 23"/>
                <a:gd name="T48" fmla="*/ 1 w 3"/>
                <a:gd name="T49" fmla="*/ 23 h 23"/>
                <a:gd name="T50" fmla="*/ 2 w 3"/>
                <a:gd name="T51" fmla="*/ 23 h 23"/>
                <a:gd name="T52" fmla="*/ 2 w 3"/>
                <a:gd name="T53" fmla="*/ 23 h 23"/>
                <a:gd name="T54" fmla="*/ 2 w 3"/>
                <a:gd name="T55" fmla="*/ 23 h 23"/>
                <a:gd name="T56" fmla="*/ 2 w 3"/>
                <a:gd name="T57" fmla="*/ 23 h 23"/>
                <a:gd name="T58" fmla="*/ 2 w 3"/>
                <a:gd name="T59" fmla="*/ 23 h 23"/>
                <a:gd name="T60" fmla="*/ 2 w 3"/>
                <a:gd name="T61" fmla="*/ 23 h 23"/>
                <a:gd name="T62" fmla="*/ 2 w 3"/>
                <a:gd name="T63" fmla="*/ 23 h 23"/>
                <a:gd name="T64" fmla="*/ 2 w 3"/>
                <a:gd name="T65" fmla="*/ 23 h 23"/>
                <a:gd name="T66" fmla="*/ 2 w 3"/>
                <a:gd name="T67" fmla="*/ 23 h 23"/>
                <a:gd name="T68" fmla="*/ 2 w 3"/>
                <a:gd name="T69" fmla="*/ 23 h 23"/>
                <a:gd name="T70" fmla="*/ 3 w 3"/>
                <a:gd name="T71" fmla="*/ 23 h 23"/>
                <a:gd name="T72" fmla="*/ 3 w 3"/>
                <a:gd name="T73" fmla="*/ 22 h 23"/>
                <a:gd name="T74" fmla="*/ 3 w 3"/>
                <a:gd name="T75" fmla="*/ 22 h 23"/>
                <a:gd name="T76" fmla="*/ 3 w 3"/>
                <a:gd name="T77" fmla="*/ 22 h 23"/>
                <a:gd name="T78" fmla="*/ 1 w 3"/>
                <a:gd name="T79" fmla="*/ 23 h 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23"/>
                <a:gd name="T122" fmla="*/ 3 w 3"/>
                <a:gd name="T123" fmla="*/ 23 h 2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23">
                  <a:moveTo>
                    <a:pt x="1" y="23"/>
                  </a:moveTo>
                  <a:lnTo>
                    <a:pt x="3" y="2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22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1" y="23"/>
                  </a:lnTo>
                  <a:lnTo>
                    <a:pt x="2" y="23"/>
                  </a:lnTo>
                  <a:lnTo>
                    <a:pt x="3" y="23"/>
                  </a:lnTo>
                  <a:lnTo>
                    <a:pt x="3" y="22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8" name="Freeform 781"/>
            <p:cNvSpPr>
              <a:spLocks/>
            </p:cNvSpPr>
            <p:nvPr/>
          </p:nvSpPr>
          <p:spPr bwMode="auto">
            <a:xfrm>
              <a:off x="4187" y="2795"/>
              <a:ext cx="58" cy="31"/>
            </a:xfrm>
            <a:custGeom>
              <a:avLst/>
              <a:gdLst>
                <a:gd name="T0" fmla="*/ 55 w 58"/>
                <a:gd name="T1" fmla="*/ 3 h 31"/>
                <a:gd name="T2" fmla="*/ 54 w 58"/>
                <a:gd name="T3" fmla="*/ 5 h 31"/>
                <a:gd name="T4" fmla="*/ 54 w 58"/>
                <a:gd name="T5" fmla="*/ 7 h 31"/>
                <a:gd name="T6" fmla="*/ 53 w 58"/>
                <a:gd name="T7" fmla="*/ 10 h 31"/>
                <a:gd name="T8" fmla="*/ 52 w 58"/>
                <a:gd name="T9" fmla="*/ 12 h 31"/>
                <a:gd name="T10" fmla="*/ 50 w 58"/>
                <a:gd name="T11" fmla="*/ 13 h 31"/>
                <a:gd name="T12" fmla="*/ 49 w 58"/>
                <a:gd name="T13" fmla="*/ 15 h 31"/>
                <a:gd name="T14" fmla="*/ 47 w 58"/>
                <a:gd name="T15" fmla="*/ 17 h 31"/>
                <a:gd name="T16" fmla="*/ 45 w 58"/>
                <a:gd name="T17" fmla="*/ 18 h 31"/>
                <a:gd name="T18" fmla="*/ 43 w 58"/>
                <a:gd name="T19" fmla="*/ 20 h 31"/>
                <a:gd name="T20" fmla="*/ 41 w 58"/>
                <a:gd name="T21" fmla="*/ 21 h 31"/>
                <a:gd name="T22" fmla="*/ 38 w 58"/>
                <a:gd name="T23" fmla="*/ 22 h 31"/>
                <a:gd name="T24" fmla="*/ 36 w 58"/>
                <a:gd name="T25" fmla="*/ 23 h 31"/>
                <a:gd name="T26" fmla="*/ 34 w 58"/>
                <a:gd name="T27" fmla="*/ 24 h 31"/>
                <a:gd name="T28" fmla="*/ 30 w 58"/>
                <a:gd name="T29" fmla="*/ 25 h 31"/>
                <a:gd name="T30" fmla="*/ 25 w 58"/>
                <a:gd name="T31" fmla="*/ 26 h 31"/>
                <a:gd name="T32" fmla="*/ 20 w 58"/>
                <a:gd name="T33" fmla="*/ 27 h 31"/>
                <a:gd name="T34" fmla="*/ 15 w 58"/>
                <a:gd name="T35" fmla="*/ 28 h 31"/>
                <a:gd name="T36" fmla="*/ 11 w 58"/>
                <a:gd name="T37" fmla="*/ 28 h 31"/>
                <a:gd name="T38" fmla="*/ 5 w 58"/>
                <a:gd name="T39" fmla="*/ 29 h 31"/>
                <a:gd name="T40" fmla="*/ 0 w 58"/>
                <a:gd name="T41" fmla="*/ 29 h 31"/>
                <a:gd name="T42" fmla="*/ 4 w 58"/>
                <a:gd name="T43" fmla="*/ 31 h 31"/>
                <a:gd name="T44" fmla="*/ 10 w 58"/>
                <a:gd name="T45" fmla="*/ 31 h 31"/>
                <a:gd name="T46" fmla="*/ 14 w 58"/>
                <a:gd name="T47" fmla="*/ 31 h 31"/>
                <a:gd name="T48" fmla="*/ 19 w 58"/>
                <a:gd name="T49" fmla="*/ 30 h 31"/>
                <a:gd name="T50" fmla="*/ 24 w 58"/>
                <a:gd name="T51" fmla="*/ 29 h 31"/>
                <a:gd name="T52" fmla="*/ 29 w 58"/>
                <a:gd name="T53" fmla="*/ 28 h 31"/>
                <a:gd name="T54" fmla="*/ 34 w 58"/>
                <a:gd name="T55" fmla="*/ 27 h 31"/>
                <a:gd name="T56" fmla="*/ 37 w 58"/>
                <a:gd name="T57" fmla="*/ 26 h 31"/>
                <a:gd name="T58" fmla="*/ 39 w 58"/>
                <a:gd name="T59" fmla="*/ 25 h 31"/>
                <a:gd name="T60" fmla="*/ 42 w 58"/>
                <a:gd name="T61" fmla="*/ 24 h 31"/>
                <a:gd name="T62" fmla="*/ 44 w 58"/>
                <a:gd name="T63" fmla="*/ 22 h 31"/>
                <a:gd name="T64" fmla="*/ 46 w 58"/>
                <a:gd name="T65" fmla="*/ 21 h 31"/>
                <a:gd name="T66" fmla="*/ 48 w 58"/>
                <a:gd name="T67" fmla="*/ 19 h 31"/>
                <a:gd name="T68" fmla="*/ 50 w 58"/>
                <a:gd name="T69" fmla="*/ 18 h 31"/>
                <a:gd name="T70" fmla="*/ 52 w 58"/>
                <a:gd name="T71" fmla="*/ 16 h 31"/>
                <a:gd name="T72" fmla="*/ 54 w 58"/>
                <a:gd name="T73" fmla="*/ 14 h 31"/>
                <a:gd name="T74" fmla="*/ 55 w 58"/>
                <a:gd name="T75" fmla="*/ 11 h 31"/>
                <a:gd name="T76" fmla="*/ 56 w 58"/>
                <a:gd name="T77" fmla="*/ 9 h 31"/>
                <a:gd name="T78" fmla="*/ 57 w 58"/>
                <a:gd name="T79" fmla="*/ 6 h 31"/>
                <a:gd name="T80" fmla="*/ 58 w 58"/>
                <a:gd name="T81" fmla="*/ 4 h 31"/>
                <a:gd name="T82" fmla="*/ 55 w 58"/>
                <a:gd name="T83" fmla="*/ 1 h 31"/>
                <a:gd name="T84" fmla="*/ 58 w 58"/>
                <a:gd name="T85" fmla="*/ 1 h 31"/>
                <a:gd name="T86" fmla="*/ 57 w 58"/>
                <a:gd name="T87" fmla="*/ 0 h 31"/>
                <a:gd name="T88" fmla="*/ 57 w 58"/>
                <a:gd name="T89" fmla="*/ 0 h 31"/>
                <a:gd name="T90" fmla="*/ 57 w 58"/>
                <a:gd name="T91" fmla="*/ 0 h 31"/>
                <a:gd name="T92" fmla="*/ 56 w 58"/>
                <a:gd name="T93" fmla="*/ 0 h 31"/>
                <a:gd name="T94" fmla="*/ 56 w 58"/>
                <a:gd name="T95" fmla="*/ 0 h 31"/>
                <a:gd name="T96" fmla="*/ 55 w 58"/>
                <a:gd name="T97" fmla="*/ 1 h 31"/>
                <a:gd name="T98" fmla="*/ 55 w 58"/>
                <a:gd name="T99" fmla="*/ 1 h 3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58"/>
                <a:gd name="T151" fmla="*/ 0 h 31"/>
                <a:gd name="T152" fmla="*/ 58 w 58"/>
                <a:gd name="T153" fmla="*/ 31 h 3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58" h="31">
                  <a:moveTo>
                    <a:pt x="58" y="1"/>
                  </a:moveTo>
                  <a:lnTo>
                    <a:pt x="55" y="1"/>
                  </a:lnTo>
                  <a:lnTo>
                    <a:pt x="55" y="2"/>
                  </a:lnTo>
                  <a:lnTo>
                    <a:pt x="55" y="3"/>
                  </a:lnTo>
                  <a:lnTo>
                    <a:pt x="55" y="4"/>
                  </a:lnTo>
                  <a:lnTo>
                    <a:pt x="54" y="5"/>
                  </a:lnTo>
                  <a:lnTo>
                    <a:pt x="54" y="6"/>
                  </a:lnTo>
                  <a:lnTo>
                    <a:pt x="54" y="7"/>
                  </a:lnTo>
                  <a:lnTo>
                    <a:pt x="54" y="8"/>
                  </a:lnTo>
                  <a:lnTo>
                    <a:pt x="53" y="8"/>
                  </a:lnTo>
                  <a:lnTo>
                    <a:pt x="53" y="9"/>
                  </a:lnTo>
                  <a:lnTo>
                    <a:pt x="53" y="10"/>
                  </a:lnTo>
                  <a:lnTo>
                    <a:pt x="52" y="11"/>
                  </a:lnTo>
                  <a:lnTo>
                    <a:pt x="52" y="12"/>
                  </a:lnTo>
                  <a:lnTo>
                    <a:pt x="51" y="12"/>
                  </a:lnTo>
                  <a:lnTo>
                    <a:pt x="51" y="13"/>
                  </a:lnTo>
                  <a:lnTo>
                    <a:pt x="50" y="13"/>
                  </a:lnTo>
                  <a:lnTo>
                    <a:pt x="50" y="14"/>
                  </a:lnTo>
                  <a:lnTo>
                    <a:pt x="49" y="15"/>
                  </a:lnTo>
                  <a:lnTo>
                    <a:pt x="48" y="16"/>
                  </a:lnTo>
                  <a:lnTo>
                    <a:pt x="47" y="16"/>
                  </a:lnTo>
                  <a:lnTo>
                    <a:pt x="47" y="17"/>
                  </a:lnTo>
                  <a:lnTo>
                    <a:pt x="46" y="17"/>
                  </a:lnTo>
                  <a:lnTo>
                    <a:pt x="46" y="18"/>
                  </a:lnTo>
                  <a:lnTo>
                    <a:pt x="45" y="18"/>
                  </a:lnTo>
                  <a:lnTo>
                    <a:pt x="45" y="19"/>
                  </a:lnTo>
                  <a:lnTo>
                    <a:pt x="44" y="19"/>
                  </a:lnTo>
                  <a:lnTo>
                    <a:pt x="43" y="20"/>
                  </a:lnTo>
                  <a:lnTo>
                    <a:pt x="42" y="20"/>
                  </a:lnTo>
                  <a:lnTo>
                    <a:pt x="41" y="20"/>
                  </a:lnTo>
                  <a:lnTo>
                    <a:pt x="41" y="21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2"/>
                  </a:lnTo>
                  <a:lnTo>
                    <a:pt x="37" y="22"/>
                  </a:lnTo>
                  <a:lnTo>
                    <a:pt x="37" y="23"/>
                  </a:lnTo>
                  <a:lnTo>
                    <a:pt x="36" y="23"/>
                  </a:lnTo>
                  <a:lnTo>
                    <a:pt x="35" y="23"/>
                  </a:lnTo>
                  <a:lnTo>
                    <a:pt x="34" y="24"/>
                  </a:lnTo>
                  <a:lnTo>
                    <a:pt x="33" y="24"/>
                  </a:lnTo>
                  <a:lnTo>
                    <a:pt x="32" y="24"/>
                  </a:lnTo>
                  <a:lnTo>
                    <a:pt x="31" y="25"/>
                  </a:lnTo>
                  <a:lnTo>
                    <a:pt x="30" y="25"/>
                  </a:lnTo>
                  <a:lnTo>
                    <a:pt x="29" y="25"/>
                  </a:lnTo>
                  <a:lnTo>
                    <a:pt x="27" y="26"/>
                  </a:lnTo>
                  <a:lnTo>
                    <a:pt x="26" y="26"/>
                  </a:lnTo>
                  <a:lnTo>
                    <a:pt x="25" y="26"/>
                  </a:lnTo>
                  <a:lnTo>
                    <a:pt x="23" y="26"/>
                  </a:lnTo>
                  <a:lnTo>
                    <a:pt x="22" y="27"/>
                  </a:lnTo>
                  <a:lnTo>
                    <a:pt x="21" y="27"/>
                  </a:lnTo>
                  <a:lnTo>
                    <a:pt x="20" y="27"/>
                  </a:lnTo>
                  <a:lnTo>
                    <a:pt x="19" y="27"/>
                  </a:lnTo>
                  <a:lnTo>
                    <a:pt x="17" y="28"/>
                  </a:lnTo>
                  <a:lnTo>
                    <a:pt x="16" y="28"/>
                  </a:lnTo>
                  <a:lnTo>
                    <a:pt x="15" y="28"/>
                  </a:lnTo>
                  <a:lnTo>
                    <a:pt x="14" y="28"/>
                  </a:lnTo>
                  <a:lnTo>
                    <a:pt x="13" y="28"/>
                  </a:lnTo>
                  <a:lnTo>
                    <a:pt x="12" y="28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7" y="28"/>
                  </a:lnTo>
                  <a:lnTo>
                    <a:pt x="5" y="29"/>
                  </a:lnTo>
                  <a:lnTo>
                    <a:pt x="4" y="29"/>
                  </a:lnTo>
                  <a:lnTo>
                    <a:pt x="2" y="29"/>
                  </a:lnTo>
                  <a:lnTo>
                    <a:pt x="1" y="29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2" y="31"/>
                  </a:lnTo>
                  <a:lnTo>
                    <a:pt x="4" y="31"/>
                  </a:lnTo>
                  <a:lnTo>
                    <a:pt x="5" y="31"/>
                  </a:lnTo>
                  <a:lnTo>
                    <a:pt x="7" y="31"/>
                  </a:lnTo>
                  <a:lnTo>
                    <a:pt x="9" y="31"/>
                  </a:lnTo>
                  <a:lnTo>
                    <a:pt x="10" y="31"/>
                  </a:lnTo>
                  <a:lnTo>
                    <a:pt x="11" y="31"/>
                  </a:lnTo>
                  <a:lnTo>
                    <a:pt x="12" y="31"/>
                  </a:lnTo>
                  <a:lnTo>
                    <a:pt x="13" y="31"/>
                  </a:lnTo>
                  <a:lnTo>
                    <a:pt x="14" y="31"/>
                  </a:lnTo>
                  <a:lnTo>
                    <a:pt x="15" y="31"/>
                  </a:lnTo>
                  <a:lnTo>
                    <a:pt x="16" y="31"/>
                  </a:lnTo>
                  <a:lnTo>
                    <a:pt x="18" y="30"/>
                  </a:lnTo>
                  <a:lnTo>
                    <a:pt x="19" y="30"/>
                  </a:lnTo>
                  <a:lnTo>
                    <a:pt x="20" y="30"/>
                  </a:lnTo>
                  <a:lnTo>
                    <a:pt x="21" y="30"/>
                  </a:lnTo>
                  <a:lnTo>
                    <a:pt x="23" y="30"/>
                  </a:lnTo>
                  <a:lnTo>
                    <a:pt x="24" y="29"/>
                  </a:lnTo>
                  <a:lnTo>
                    <a:pt x="25" y="29"/>
                  </a:lnTo>
                  <a:lnTo>
                    <a:pt x="27" y="29"/>
                  </a:lnTo>
                  <a:lnTo>
                    <a:pt x="28" y="28"/>
                  </a:lnTo>
                  <a:lnTo>
                    <a:pt x="29" y="28"/>
                  </a:lnTo>
                  <a:lnTo>
                    <a:pt x="31" y="28"/>
                  </a:lnTo>
                  <a:lnTo>
                    <a:pt x="32" y="27"/>
                  </a:lnTo>
                  <a:lnTo>
                    <a:pt x="33" y="27"/>
                  </a:lnTo>
                  <a:lnTo>
                    <a:pt x="34" y="27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37" y="26"/>
                  </a:lnTo>
                  <a:lnTo>
                    <a:pt x="38" y="25"/>
                  </a:lnTo>
                  <a:lnTo>
                    <a:pt x="39" y="25"/>
                  </a:lnTo>
                  <a:lnTo>
                    <a:pt x="40" y="24"/>
                  </a:lnTo>
                  <a:lnTo>
                    <a:pt x="41" y="24"/>
                  </a:lnTo>
                  <a:lnTo>
                    <a:pt x="42" y="24"/>
                  </a:lnTo>
                  <a:lnTo>
                    <a:pt x="42" y="23"/>
                  </a:lnTo>
                  <a:lnTo>
                    <a:pt x="43" y="23"/>
                  </a:lnTo>
                  <a:lnTo>
                    <a:pt x="44" y="22"/>
                  </a:lnTo>
                  <a:lnTo>
                    <a:pt x="45" y="22"/>
                  </a:lnTo>
                  <a:lnTo>
                    <a:pt x="46" y="21"/>
                  </a:lnTo>
                  <a:lnTo>
                    <a:pt x="47" y="21"/>
                  </a:lnTo>
                  <a:lnTo>
                    <a:pt x="47" y="20"/>
                  </a:lnTo>
                  <a:lnTo>
                    <a:pt x="48" y="20"/>
                  </a:lnTo>
                  <a:lnTo>
                    <a:pt x="48" y="19"/>
                  </a:lnTo>
                  <a:lnTo>
                    <a:pt x="49" y="19"/>
                  </a:lnTo>
                  <a:lnTo>
                    <a:pt x="49" y="18"/>
                  </a:lnTo>
                  <a:lnTo>
                    <a:pt x="50" y="18"/>
                  </a:lnTo>
                  <a:lnTo>
                    <a:pt x="51" y="17"/>
                  </a:lnTo>
                  <a:lnTo>
                    <a:pt x="52" y="16"/>
                  </a:lnTo>
                  <a:lnTo>
                    <a:pt x="52" y="15"/>
                  </a:lnTo>
                  <a:lnTo>
                    <a:pt x="53" y="15"/>
                  </a:lnTo>
                  <a:lnTo>
                    <a:pt x="53" y="14"/>
                  </a:lnTo>
                  <a:lnTo>
                    <a:pt x="54" y="14"/>
                  </a:lnTo>
                  <a:lnTo>
                    <a:pt x="54" y="13"/>
                  </a:lnTo>
                  <a:lnTo>
                    <a:pt x="55" y="12"/>
                  </a:lnTo>
                  <a:lnTo>
                    <a:pt x="55" y="11"/>
                  </a:lnTo>
                  <a:lnTo>
                    <a:pt x="56" y="10"/>
                  </a:lnTo>
                  <a:lnTo>
                    <a:pt x="56" y="9"/>
                  </a:lnTo>
                  <a:lnTo>
                    <a:pt x="56" y="8"/>
                  </a:lnTo>
                  <a:lnTo>
                    <a:pt x="57" y="8"/>
                  </a:lnTo>
                  <a:lnTo>
                    <a:pt x="57" y="7"/>
                  </a:lnTo>
                  <a:lnTo>
                    <a:pt x="57" y="6"/>
                  </a:lnTo>
                  <a:lnTo>
                    <a:pt x="57" y="5"/>
                  </a:lnTo>
                  <a:lnTo>
                    <a:pt x="57" y="4"/>
                  </a:lnTo>
                  <a:lnTo>
                    <a:pt x="58" y="4"/>
                  </a:lnTo>
                  <a:lnTo>
                    <a:pt x="58" y="3"/>
                  </a:lnTo>
                  <a:lnTo>
                    <a:pt x="58" y="2"/>
                  </a:lnTo>
                  <a:lnTo>
                    <a:pt x="58" y="1"/>
                  </a:lnTo>
                  <a:lnTo>
                    <a:pt x="55" y="1"/>
                  </a:lnTo>
                  <a:lnTo>
                    <a:pt x="58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5" y="0"/>
                  </a:lnTo>
                  <a:lnTo>
                    <a:pt x="55" y="1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39" name="Freeform 782"/>
            <p:cNvSpPr>
              <a:spLocks/>
            </p:cNvSpPr>
            <p:nvPr/>
          </p:nvSpPr>
          <p:spPr bwMode="auto">
            <a:xfrm>
              <a:off x="4072" y="2802"/>
              <a:ext cx="74" cy="77"/>
            </a:xfrm>
            <a:custGeom>
              <a:avLst/>
              <a:gdLst>
                <a:gd name="T0" fmla="*/ 0 w 74"/>
                <a:gd name="T1" fmla="*/ 51 h 77"/>
                <a:gd name="T2" fmla="*/ 1 w 74"/>
                <a:gd name="T3" fmla="*/ 46 h 77"/>
                <a:gd name="T4" fmla="*/ 2 w 74"/>
                <a:gd name="T5" fmla="*/ 41 h 77"/>
                <a:gd name="T6" fmla="*/ 4 w 74"/>
                <a:gd name="T7" fmla="*/ 37 h 77"/>
                <a:gd name="T8" fmla="*/ 7 w 74"/>
                <a:gd name="T9" fmla="*/ 34 h 77"/>
                <a:gd name="T10" fmla="*/ 10 w 74"/>
                <a:gd name="T11" fmla="*/ 31 h 77"/>
                <a:gd name="T12" fmla="*/ 13 w 74"/>
                <a:gd name="T13" fmla="*/ 29 h 77"/>
                <a:gd name="T14" fmla="*/ 16 w 74"/>
                <a:gd name="T15" fmla="*/ 27 h 77"/>
                <a:gd name="T16" fmla="*/ 20 w 74"/>
                <a:gd name="T17" fmla="*/ 26 h 77"/>
                <a:gd name="T18" fmla="*/ 23 w 74"/>
                <a:gd name="T19" fmla="*/ 25 h 77"/>
                <a:gd name="T20" fmla="*/ 27 w 74"/>
                <a:gd name="T21" fmla="*/ 24 h 77"/>
                <a:gd name="T22" fmla="*/ 30 w 74"/>
                <a:gd name="T23" fmla="*/ 23 h 77"/>
                <a:gd name="T24" fmla="*/ 33 w 74"/>
                <a:gd name="T25" fmla="*/ 23 h 77"/>
                <a:gd name="T26" fmla="*/ 35 w 74"/>
                <a:gd name="T27" fmla="*/ 23 h 77"/>
                <a:gd name="T28" fmla="*/ 37 w 74"/>
                <a:gd name="T29" fmla="*/ 23 h 77"/>
                <a:gd name="T30" fmla="*/ 38 w 74"/>
                <a:gd name="T31" fmla="*/ 23 h 77"/>
                <a:gd name="T32" fmla="*/ 38 w 74"/>
                <a:gd name="T33" fmla="*/ 0 h 77"/>
                <a:gd name="T34" fmla="*/ 38 w 74"/>
                <a:gd name="T35" fmla="*/ 71 h 77"/>
                <a:gd name="T36" fmla="*/ 38 w 74"/>
                <a:gd name="T37" fmla="*/ 48 h 77"/>
                <a:gd name="T38" fmla="*/ 36 w 74"/>
                <a:gd name="T39" fmla="*/ 48 h 77"/>
                <a:gd name="T40" fmla="*/ 34 w 74"/>
                <a:gd name="T41" fmla="*/ 48 h 77"/>
                <a:gd name="T42" fmla="*/ 31 w 74"/>
                <a:gd name="T43" fmla="*/ 49 h 77"/>
                <a:gd name="T44" fmla="*/ 28 w 74"/>
                <a:gd name="T45" fmla="*/ 49 h 77"/>
                <a:gd name="T46" fmla="*/ 25 w 74"/>
                <a:gd name="T47" fmla="*/ 50 h 77"/>
                <a:gd name="T48" fmla="*/ 22 w 74"/>
                <a:gd name="T49" fmla="*/ 51 h 77"/>
                <a:gd name="T50" fmla="*/ 18 w 74"/>
                <a:gd name="T51" fmla="*/ 52 h 77"/>
                <a:gd name="T52" fmla="*/ 15 w 74"/>
                <a:gd name="T53" fmla="*/ 54 h 77"/>
                <a:gd name="T54" fmla="*/ 11 w 74"/>
                <a:gd name="T55" fmla="*/ 56 h 77"/>
                <a:gd name="T56" fmla="*/ 8 w 74"/>
                <a:gd name="T57" fmla="*/ 58 h 77"/>
                <a:gd name="T58" fmla="*/ 6 w 74"/>
                <a:gd name="T59" fmla="*/ 61 h 77"/>
                <a:gd name="T60" fmla="*/ 3 w 74"/>
                <a:gd name="T61" fmla="*/ 65 h 77"/>
                <a:gd name="T62" fmla="*/ 1 w 74"/>
                <a:gd name="T63" fmla="*/ 69 h 77"/>
                <a:gd name="T64" fmla="*/ 0 w 74"/>
                <a:gd name="T65" fmla="*/ 74 h 7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74"/>
                <a:gd name="T100" fmla="*/ 0 h 77"/>
                <a:gd name="T101" fmla="*/ 74 w 74"/>
                <a:gd name="T102" fmla="*/ 77 h 7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74" h="77">
                  <a:moveTo>
                    <a:pt x="0" y="77"/>
                  </a:moveTo>
                  <a:lnTo>
                    <a:pt x="0" y="51"/>
                  </a:lnTo>
                  <a:lnTo>
                    <a:pt x="0" y="49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2" y="41"/>
                  </a:lnTo>
                  <a:lnTo>
                    <a:pt x="3" y="39"/>
                  </a:lnTo>
                  <a:lnTo>
                    <a:pt x="4" y="37"/>
                  </a:lnTo>
                  <a:lnTo>
                    <a:pt x="6" y="36"/>
                  </a:lnTo>
                  <a:lnTo>
                    <a:pt x="7" y="34"/>
                  </a:lnTo>
                  <a:lnTo>
                    <a:pt x="8" y="33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5" y="28"/>
                  </a:lnTo>
                  <a:lnTo>
                    <a:pt x="16" y="27"/>
                  </a:lnTo>
                  <a:lnTo>
                    <a:pt x="18" y="26"/>
                  </a:lnTo>
                  <a:lnTo>
                    <a:pt x="20" y="26"/>
                  </a:lnTo>
                  <a:lnTo>
                    <a:pt x="22" y="25"/>
                  </a:lnTo>
                  <a:lnTo>
                    <a:pt x="23" y="25"/>
                  </a:lnTo>
                  <a:lnTo>
                    <a:pt x="25" y="24"/>
                  </a:lnTo>
                  <a:lnTo>
                    <a:pt x="27" y="24"/>
                  </a:lnTo>
                  <a:lnTo>
                    <a:pt x="28" y="23"/>
                  </a:lnTo>
                  <a:lnTo>
                    <a:pt x="30" y="23"/>
                  </a:lnTo>
                  <a:lnTo>
                    <a:pt x="31" y="23"/>
                  </a:lnTo>
                  <a:lnTo>
                    <a:pt x="33" y="23"/>
                  </a:lnTo>
                  <a:lnTo>
                    <a:pt x="34" y="23"/>
                  </a:lnTo>
                  <a:lnTo>
                    <a:pt x="35" y="23"/>
                  </a:lnTo>
                  <a:lnTo>
                    <a:pt x="36" y="23"/>
                  </a:lnTo>
                  <a:lnTo>
                    <a:pt x="37" y="23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38" y="0"/>
                  </a:lnTo>
                  <a:lnTo>
                    <a:pt x="74" y="35"/>
                  </a:lnTo>
                  <a:lnTo>
                    <a:pt x="38" y="71"/>
                  </a:lnTo>
                  <a:lnTo>
                    <a:pt x="38" y="48"/>
                  </a:lnTo>
                  <a:lnTo>
                    <a:pt x="37" y="48"/>
                  </a:lnTo>
                  <a:lnTo>
                    <a:pt x="36" y="48"/>
                  </a:lnTo>
                  <a:lnTo>
                    <a:pt x="35" y="48"/>
                  </a:lnTo>
                  <a:lnTo>
                    <a:pt x="34" y="48"/>
                  </a:lnTo>
                  <a:lnTo>
                    <a:pt x="33" y="48"/>
                  </a:lnTo>
                  <a:lnTo>
                    <a:pt x="31" y="49"/>
                  </a:lnTo>
                  <a:lnTo>
                    <a:pt x="30" y="49"/>
                  </a:lnTo>
                  <a:lnTo>
                    <a:pt x="28" y="49"/>
                  </a:lnTo>
                  <a:lnTo>
                    <a:pt x="27" y="49"/>
                  </a:lnTo>
                  <a:lnTo>
                    <a:pt x="25" y="50"/>
                  </a:lnTo>
                  <a:lnTo>
                    <a:pt x="23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2"/>
                  </a:lnTo>
                  <a:lnTo>
                    <a:pt x="16" y="53"/>
                  </a:lnTo>
                  <a:lnTo>
                    <a:pt x="15" y="54"/>
                  </a:lnTo>
                  <a:lnTo>
                    <a:pt x="13" y="55"/>
                  </a:lnTo>
                  <a:lnTo>
                    <a:pt x="11" y="56"/>
                  </a:lnTo>
                  <a:lnTo>
                    <a:pt x="10" y="57"/>
                  </a:lnTo>
                  <a:lnTo>
                    <a:pt x="8" y="58"/>
                  </a:lnTo>
                  <a:lnTo>
                    <a:pt x="7" y="60"/>
                  </a:lnTo>
                  <a:lnTo>
                    <a:pt x="6" y="61"/>
                  </a:lnTo>
                  <a:lnTo>
                    <a:pt x="4" y="63"/>
                  </a:lnTo>
                  <a:lnTo>
                    <a:pt x="3" y="65"/>
                  </a:lnTo>
                  <a:lnTo>
                    <a:pt x="2" y="67"/>
                  </a:lnTo>
                  <a:lnTo>
                    <a:pt x="1" y="69"/>
                  </a:lnTo>
                  <a:lnTo>
                    <a:pt x="1" y="72"/>
                  </a:lnTo>
                  <a:lnTo>
                    <a:pt x="0" y="74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40" name="Freeform 783"/>
            <p:cNvSpPr>
              <a:spLocks/>
            </p:cNvSpPr>
            <p:nvPr/>
          </p:nvSpPr>
          <p:spPr bwMode="auto">
            <a:xfrm>
              <a:off x="4071" y="2852"/>
              <a:ext cx="3" cy="27"/>
            </a:xfrm>
            <a:custGeom>
              <a:avLst/>
              <a:gdLst>
                <a:gd name="T0" fmla="*/ 0 w 3"/>
                <a:gd name="T1" fmla="*/ 1 h 27"/>
                <a:gd name="T2" fmla="*/ 0 w 3"/>
                <a:gd name="T3" fmla="*/ 1 h 27"/>
                <a:gd name="T4" fmla="*/ 0 w 3"/>
                <a:gd name="T5" fmla="*/ 27 h 27"/>
                <a:gd name="T6" fmla="*/ 3 w 3"/>
                <a:gd name="T7" fmla="*/ 27 h 27"/>
                <a:gd name="T8" fmla="*/ 3 w 3"/>
                <a:gd name="T9" fmla="*/ 1 h 27"/>
                <a:gd name="T10" fmla="*/ 0 w 3"/>
                <a:gd name="T11" fmla="*/ 1 h 27"/>
                <a:gd name="T12" fmla="*/ 3 w 3"/>
                <a:gd name="T13" fmla="*/ 1 h 27"/>
                <a:gd name="T14" fmla="*/ 3 w 3"/>
                <a:gd name="T15" fmla="*/ 1 h 27"/>
                <a:gd name="T16" fmla="*/ 3 w 3"/>
                <a:gd name="T17" fmla="*/ 1 h 27"/>
                <a:gd name="T18" fmla="*/ 3 w 3"/>
                <a:gd name="T19" fmla="*/ 1 h 27"/>
                <a:gd name="T20" fmla="*/ 2 w 3"/>
                <a:gd name="T21" fmla="*/ 1 h 27"/>
                <a:gd name="T22" fmla="*/ 2 w 3"/>
                <a:gd name="T23" fmla="*/ 1 h 27"/>
                <a:gd name="T24" fmla="*/ 2 w 3"/>
                <a:gd name="T25" fmla="*/ 1 h 27"/>
                <a:gd name="T26" fmla="*/ 2 w 3"/>
                <a:gd name="T27" fmla="*/ 0 h 27"/>
                <a:gd name="T28" fmla="*/ 2 w 3"/>
                <a:gd name="T29" fmla="*/ 0 h 27"/>
                <a:gd name="T30" fmla="*/ 2 w 3"/>
                <a:gd name="T31" fmla="*/ 0 h 27"/>
                <a:gd name="T32" fmla="*/ 2 w 3"/>
                <a:gd name="T33" fmla="*/ 0 h 27"/>
                <a:gd name="T34" fmla="*/ 2 w 3"/>
                <a:gd name="T35" fmla="*/ 0 h 27"/>
                <a:gd name="T36" fmla="*/ 2 w 3"/>
                <a:gd name="T37" fmla="*/ 0 h 27"/>
                <a:gd name="T38" fmla="*/ 2 w 3"/>
                <a:gd name="T39" fmla="*/ 0 h 27"/>
                <a:gd name="T40" fmla="*/ 1 w 3"/>
                <a:gd name="T41" fmla="*/ 0 h 27"/>
                <a:gd name="T42" fmla="*/ 1 w 3"/>
                <a:gd name="T43" fmla="*/ 0 h 27"/>
                <a:gd name="T44" fmla="*/ 1 w 3"/>
                <a:gd name="T45" fmla="*/ 0 h 27"/>
                <a:gd name="T46" fmla="*/ 1 w 3"/>
                <a:gd name="T47" fmla="*/ 0 h 27"/>
                <a:gd name="T48" fmla="*/ 1 w 3"/>
                <a:gd name="T49" fmla="*/ 0 h 27"/>
                <a:gd name="T50" fmla="*/ 1 w 3"/>
                <a:gd name="T51" fmla="*/ 0 h 27"/>
                <a:gd name="T52" fmla="*/ 1 w 3"/>
                <a:gd name="T53" fmla="*/ 0 h 27"/>
                <a:gd name="T54" fmla="*/ 1 w 3"/>
                <a:gd name="T55" fmla="*/ 0 h 27"/>
                <a:gd name="T56" fmla="*/ 0 w 3"/>
                <a:gd name="T57" fmla="*/ 0 h 27"/>
                <a:gd name="T58" fmla="*/ 0 w 3"/>
                <a:gd name="T59" fmla="*/ 0 h 27"/>
                <a:gd name="T60" fmla="*/ 0 w 3"/>
                <a:gd name="T61" fmla="*/ 0 h 27"/>
                <a:gd name="T62" fmla="*/ 0 w 3"/>
                <a:gd name="T63" fmla="*/ 0 h 27"/>
                <a:gd name="T64" fmla="*/ 0 w 3"/>
                <a:gd name="T65" fmla="*/ 1 h 27"/>
                <a:gd name="T66" fmla="*/ 0 w 3"/>
                <a:gd name="T67" fmla="*/ 1 h 27"/>
                <a:gd name="T68" fmla="*/ 0 w 3"/>
                <a:gd name="T69" fmla="*/ 1 h 27"/>
                <a:gd name="T70" fmla="*/ 0 w 3"/>
                <a:gd name="T71" fmla="*/ 1 h 27"/>
                <a:gd name="T72" fmla="*/ 0 w 3"/>
                <a:gd name="T73" fmla="*/ 1 h 27"/>
                <a:gd name="T74" fmla="*/ 0 w 3"/>
                <a:gd name="T75" fmla="*/ 1 h 27"/>
                <a:gd name="T76" fmla="*/ 0 w 3"/>
                <a:gd name="T77" fmla="*/ 1 h 2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"/>
                <a:gd name="T118" fmla="*/ 0 h 27"/>
                <a:gd name="T119" fmla="*/ 3 w 3"/>
                <a:gd name="T120" fmla="*/ 27 h 2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" h="27">
                  <a:moveTo>
                    <a:pt x="0" y="1"/>
                  </a:moveTo>
                  <a:lnTo>
                    <a:pt x="0" y="1"/>
                  </a:lnTo>
                  <a:lnTo>
                    <a:pt x="0" y="27"/>
                  </a:lnTo>
                  <a:lnTo>
                    <a:pt x="3" y="27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41" name="Freeform 784"/>
            <p:cNvSpPr>
              <a:spLocks/>
            </p:cNvSpPr>
            <p:nvPr/>
          </p:nvSpPr>
          <p:spPr bwMode="auto">
            <a:xfrm>
              <a:off x="4071" y="2823"/>
              <a:ext cx="41" cy="30"/>
            </a:xfrm>
            <a:custGeom>
              <a:avLst/>
              <a:gdLst>
                <a:gd name="T0" fmla="*/ 38 w 41"/>
                <a:gd name="T1" fmla="*/ 0 h 30"/>
                <a:gd name="T2" fmla="*/ 34 w 41"/>
                <a:gd name="T3" fmla="*/ 0 h 30"/>
                <a:gd name="T4" fmla="*/ 31 w 41"/>
                <a:gd name="T5" fmla="*/ 1 h 30"/>
                <a:gd name="T6" fmla="*/ 27 w 41"/>
                <a:gd name="T7" fmla="*/ 1 h 30"/>
                <a:gd name="T8" fmla="*/ 24 w 41"/>
                <a:gd name="T9" fmla="*/ 2 h 30"/>
                <a:gd name="T10" fmla="*/ 20 w 41"/>
                <a:gd name="T11" fmla="*/ 3 h 30"/>
                <a:gd name="T12" fmla="*/ 17 w 41"/>
                <a:gd name="T13" fmla="*/ 5 h 30"/>
                <a:gd name="T14" fmla="*/ 14 w 41"/>
                <a:gd name="T15" fmla="*/ 6 h 30"/>
                <a:gd name="T16" fmla="*/ 12 w 41"/>
                <a:gd name="T17" fmla="*/ 7 h 30"/>
                <a:gd name="T18" fmla="*/ 11 w 41"/>
                <a:gd name="T19" fmla="*/ 9 h 30"/>
                <a:gd name="T20" fmla="*/ 9 w 41"/>
                <a:gd name="T21" fmla="*/ 10 h 30"/>
                <a:gd name="T22" fmla="*/ 7 w 41"/>
                <a:gd name="T23" fmla="*/ 11 h 30"/>
                <a:gd name="T24" fmla="*/ 6 w 41"/>
                <a:gd name="T25" fmla="*/ 13 h 30"/>
                <a:gd name="T26" fmla="*/ 5 w 41"/>
                <a:gd name="T27" fmla="*/ 15 h 30"/>
                <a:gd name="T28" fmla="*/ 3 w 41"/>
                <a:gd name="T29" fmla="*/ 17 h 30"/>
                <a:gd name="T30" fmla="*/ 2 w 41"/>
                <a:gd name="T31" fmla="*/ 19 h 30"/>
                <a:gd name="T32" fmla="*/ 2 w 41"/>
                <a:gd name="T33" fmla="*/ 21 h 30"/>
                <a:gd name="T34" fmla="*/ 1 w 41"/>
                <a:gd name="T35" fmla="*/ 23 h 30"/>
                <a:gd name="T36" fmla="*/ 0 w 41"/>
                <a:gd name="T37" fmla="*/ 26 h 30"/>
                <a:gd name="T38" fmla="*/ 0 w 41"/>
                <a:gd name="T39" fmla="*/ 29 h 30"/>
                <a:gd name="T40" fmla="*/ 3 w 41"/>
                <a:gd name="T41" fmla="*/ 30 h 30"/>
                <a:gd name="T42" fmla="*/ 3 w 41"/>
                <a:gd name="T43" fmla="*/ 27 h 30"/>
                <a:gd name="T44" fmla="*/ 3 w 41"/>
                <a:gd name="T45" fmla="*/ 25 h 30"/>
                <a:gd name="T46" fmla="*/ 4 w 41"/>
                <a:gd name="T47" fmla="*/ 23 h 30"/>
                <a:gd name="T48" fmla="*/ 5 w 41"/>
                <a:gd name="T49" fmla="*/ 20 h 30"/>
                <a:gd name="T50" fmla="*/ 6 w 41"/>
                <a:gd name="T51" fmla="*/ 19 h 30"/>
                <a:gd name="T52" fmla="*/ 7 w 41"/>
                <a:gd name="T53" fmla="*/ 17 h 30"/>
                <a:gd name="T54" fmla="*/ 8 w 41"/>
                <a:gd name="T55" fmla="*/ 15 h 30"/>
                <a:gd name="T56" fmla="*/ 9 w 41"/>
                <a:gd name="T57" fmla="*/ 14 h 30"/>
                <a:gd name="T58" fmla="*/ 11 w 41"/>
                <a:gd name="T59" fmla="*/ 12 h 30"/>
                <a:gd name="T60" fmla="*/ 12 w 41"/>
                <a:gd name="T61" fmla="*/ 11 h 30"/>
                <a:gd name="T62" fmla="*/ 14 w 41"/>
                <a:gd name="T63" fmla="*/ 10 h 30"/>
                <a:gd name="T64" fmla="*/ 15 w 41"/>
                <a:gd name="T65" fmla="*/ 9 h 30"/>
                <a:gd name="T66" fmla="*/ 17 w 41"/>
                <a:gd name="T67" fmla="*/ 8 h 30"/>
                <a:gd name="T68" fmla="*/ 21 w 41"/>
                <a:gd name="T69" fmla="*/ 6 h 30"/>
                <a:gd name="T70" fmla="*/ 24 w 41"/>
                <a:gd name="T71" fmla="*/ 5 h 30"/>
                <a:gd name="T72" fmla="*/ 27 w 41"/>
                <a:gd name="T73" fmla="*/ 4 h 30"/>
                <a:gd name="T74" fmla="*/ 30 w 41"/>
                <a:gd name="T75" fmla="*/ 4 h 30"/>
                <a:gd name="T76" fmla="*/ 33 w 41"/>
                <a:gd name="T77" fmla="*/ 3 h 30"/>
                <a:gd name="T78" fmla="*/ 37 w 41"/>
                <a:gd name="T79" fmla="*/ 3 h 30"/>
                <a:gd name="T80" fmla="*/ 41 w 41"/>
                <a:gd name="T81" fmla="*/ 2 h 30"/>
                <a:gd name="T82" fmla="*/ 40 w 41"/>
                <a:gd name="T83" fmla="*/ 3 h 30"/>
                <a:gd name="T84" fmla="*/ 40 w 41"/>
                <a:gd name="T85" fmla="*/ 3 h 30"/>
                <a:gd name="T86" fmla="*/ 41 w 41"/>
                <a:gd name="T87" fmla="*/ 2 h 30"/>
                <a:gd name="T88" fmla="*/ 41 w 41"/>
                <a:gd name="T89" fmla="*/ 2 h 30"/>
                <a:gd name="T90" fmla="*/ 41 w 41"/>
                <a:gd name="T91" fmla="*/ 1 h 30"/>
                <a:gd name="T92" fmla="*/ 41 w 41"/>
                <a:gd name="T93" fmla="*/ 1 h 30"/>
                <a:gd name="T94" fmla="*/ 40 w 41"/>
                <a:gd name="T95" fmla="*/ 0 h 30"/>
                <a:gd name="T96" fmla="*/ 40 w 41"/>
                <a:gd name="T97" fmla="*/ 0 h 3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1"/>
                <a:gd name="T148" fmla="*/ 0 h 30"/>
                <a:gd name="T149" fmla="*/ 41 w 41"/>
                <a:gd name="T150" fmla="*/ 30 h 3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1" h="30">
                  <a:moveTo>
                    <a:pt x="38" y="2"/>
                  </a:moveTo>
                  <a:lnTo>
                    <a:pt x="40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7" y="2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4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20" y="4"/>
                  </a:lnTo>
                  <a:lnTo>
                    <a:pt x="19" y="4"/>
                  </a:lnTo>
                  <a:lnTo>
                    <a:pt x="18" y="4"/>
                  </a:lnTo>
                  <a:lnTo>
                    <a:pt x="17" y="5"/>
                  </a:lnTo>
                  <a:lnTo>
                    <a:pt x="16" y="5"/>
                  </a:lnTo>
                  <a:lnTo>
                    <a:pt x="15" y="6"/>
                  </a:lnTo>
                  <a:lnTo>
                    <a:pt x="14" y="6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2" y="8"/>
                  </a:lnTo>
                  <a:lnTo>
                    <a:pt x="11" y="8"/>
                  </a:lnTo>
                  <a:lnTo>
                    <a:pt x="11" y="9"/>
                  </a:lnTo>
                  <a:lnTo>
                    <a:pt x="10" y="9"/>
                  </a:lnTo>
                  <a:lnTo>
                    <a:pt x="9" y="10"/>
                  </a:lnTo>
                  <a:lnTo>
                    <a:pt x="8" y="11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6" y="13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1" y="22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4" y="24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7" y="17"/>
                  </a:lnTo>
                  <a:lnTo>
                    <a:pt x="7" y="16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9" y="14"/>
                  </a:lnTo>
                  <a:lnTo>
                    <a:pt x="10" y="13"/>
                  </a:lnTo>
                  <a:lnTo>
                    <a:pt x="11" y="12"/>
                  </a:lnTo>
                  <a:lnTo>
                    <a:pt x="12" y="11"/>
                  </a:lnTo>
                  <a:lnTo>
                    <a:pt x="13" y="11"/>
                  </a:lnTo>
                  <a:lnTo>
                    <a:pt x="13" y="10"/>
                  </a:lnTo>
                  <a:lnTo>
                    <a:pt x="14" y="10"/>
                  </a:lnTo>
                  <a:lnTo>
                    <a:pt x="14" y="9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6" y="8"/>
                  </a:lnTo>
                  <a:lnTo>
                    <a:pt x="17" y="8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20" y="7"/>
                  </a:lnTo>
                  <a:lnTo>
                    <a:pt x="21" y="6"/>
                  </a:lnTo>
                  <a:lnTo>
                    <a:pt x="22" y="6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5" y="5"/>
                  </a:lnTo>
                  <a:lnTo>
                    <a:pt x="26" y="5"/>
                  </a:lnTo>
                  <a:lnTo>
                    <a:pt x="27" y="4"/>
                  </a:lnTo>
                  <a:lnTo>
                    <a:pt x="28" y="4"/>
                  </a:lnTo>
                  <a:lnTo>
                    <a:pt x="29" y="4"/>
                  </a:lnTo>
                  <a:lnTo>
                    <a:pt x="30" y="4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3"/>
                  </a:lnTo>
                  <a:lnTo>
                    <a:pt x="34" y="3"/>
                  </a:lnTo>
                  <a:lnTo>
                    <a:pt x="35" y="3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39" y="3"/>
                  </a:lnTo>
                  <a:lnTo>
                    <a:pt x="41" y="2"/>
                  </a:lnTo>
                  <a:lnTo>
                    <a:pt x="39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1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40" y="0"/>
                  </a:lnTo>
                  <a:lnTo>
                    <a:pt x="38" y="2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42" name="Freeform 785"/>
            <p:cNvSpPr>
              <a:spLocks/>
            </p:cNvSpPr>
            <p:nvPr/>
          </p:nvSpPr>
          <p:spPr bwMode="auto">
            <a:xfrm>
              <a:off x="4109" y="2822"/>
              <a:ext cx="3" cy="3"/>
            </a:xfrm>
            <a:custGeom>
              <a:avLst/>
              <a:gdLst>
                <a:gd name="T0" fmla="*/ 3 w 3"/>
                <a:gd name="T1" fmla="*/ 1 h 3"/>
                <a:gd name="T2" fmla="*/ 0 w 3"/>
                <a:gd name="T3" fmla="*/ 1 h 3"/>
                <a:gd name="T4" fmla="*/ 0 w 3"/>
                <a:gd name="T5" fmla="*/ 3 h 3"/>
                <a:gd name="T6" fmla="*/ 3 w 3"/>
                <a:gd name="T7" fmla="*/ 3 h 3"/>
                <a:gd name="T8" fmla="*/ 3 w 3"/>
                <a:gd name="T9" fmla="*/ 1 h 3"/>
                <a:gd name="T10" fmla="*/ 3 w 3"/>
                <a:gd name="T11" fmla="*/ 1 h 3"/>
                <a:gd name="T12" fmla="*/ 3 w 3"/>
                <a:gd name="T13" fmla="*/ 1 h 3"/>
                <a:gd name="T14" fmla="*/ 3 w 3"/>
                <a:gd name="T15" fmla="*/ 1 h 3"/>
                <a:gd name="T16" fmla="*/ 3 w 3"/>
                <a:gd name="T17" fmla="*/ 1 h 3"/>
                <a:gd name="T18" fmla="*/ 3 w 3"/>
                <a:gd name="T19" fmla="*/ 1 h 3"/>
                <a:gd name="T20" fmla="*/ 3 w 3"/>
                <a:gd name="T21" fmla="*/ 0 h 3"/>
                <a:gd name="T22" fmla="*/ 3 w 3"/>
                <a:gd name="T23" fmla="*/ 0 h 3"/>
                <a:gd name="T24" fmla="*/ 3 w 3"/>
                <a:gd name="T25" fmla="*/ 0 h 3"/>
                <a:gd name="T26" fmla="*/ 3 w 3"/>
                <a:gd name="T27" fmla="*/ 0 h 3"/>
                <a:gd name="T28" fmla="*/ 2 w 3"/>
                <a:gd name="T29" fmla="*/ 0 h 3"/>
                <a:gd name="T30" fmla="*/ 2 w 3"/>
                <a:gd name="T31" fmla="*/ 0 h 3"/>
                <a:gd name="T32" fmla="*/ 2 w 3"/>
                <a:gd name="T33" fmla="*/ 0 h 3"/>
                <a:gd name="T34" fmla="*/ 2 w 3"/>
                <a:gd name="T35" fmla="*/ 0 h 3"/>
                <a:gd name="T36" fmla="*/ 2 w 3"/>
                <a:gd name="T37" fmla="*/ 0 h 3"/>
                <a:gd name="T38" fmla="*/ 2 w 3"/>
                <a:gd name="T39" fmla="*/ 0 h 3"/>
                <a:gd name="T40" fmla="*/ 2 w 3"/>
                <a:gd name="T41" fmla="*/ 0 h 3"/>
                <a:gd name="T42" fmla="*/ 2 w 3"/>
                <a:gd name="T43" fmla="*/ 0 h 3"/>
                <a:gd name="T44" fmla="*/ 1 w 3"/>
                <a:gd name="T45" fmla="*/ 0 h 3"/>
                <a:gd name="T46" fmla="*/ 1 w 3"/>
                <a:gd name="T47" fmla="*/ 0 h 3"/>
                <a:gd name="T48" fmla="*/ 1 w 3"/>
                <a:gd name="T49" fmla="*/ 0 h 3"/>
                <a:gd name="T50" fmla="*/ 1 w 3"/>
                <a:gd name="T51" fmla="*/ 0 h 3"/>
                <a:gd name="T52" fmla="*/ 1 w 3"/>
                <a:gd name="T53" fmla="*/ 0 h 3"/>
                <a:gd name="T54" fmla="*/ 1 w 3"/>
                <a:gd name="T55" fmla="*/ 0 h 3"/>
                <a:gd name="T56" fmla="*/ 1 w 3"/>
                <a:gd name="T57" fmla="*/ 0 h 3"/>
                <a:gd name="T58" fmla="*/ 1 w 3"/>
                <a:gd name="T59" fmla="*/ 0 h 3"/>
                <a:gd name="T60" fmla="*/ 0 w 3"/>
                <a:gd name="T61" fmla="*/ 0 h 3"/>
                <a:gd name="T62" fmla="*/ 0 w 3"/>
                <a:gd name="T63" fmla="*/ 0 h 3"/>
                <a:gd name="T64" fmla="*/ 0 w 3"/>
                <a:gd name="T65" fmla="*/ 0 h 3"/>
                <a:gd name="T66" fmla="*/ 0 w 3"/>
                <a:gd name="T67" fmla="*/ 0 h 3"/>
                <a:gd name="T68" fmla="*/ 0 w 3"/>
                <a:gd name="T69" fmla="*/ 0 h 3"/>
                <a:gd name="T70" fmla="*/ 0 w 3"/>
                <a:gd name="T71" fmla="*/ 1 h 3"/>
                <a:gd name="T72" fmla="*/ 0 w 3"/>
                <a:gd name="T73" fmla="*/ 1 h 3"/>
                <a:gd name="T74" fmla="*/ 0 w 3"/>
                <a:gd name="T75" fmla="*/ 1 h 3"/>
                <a:gd name="T76" fmla="*/ 0 w 3"/>
                <a:gd name="T77" fmla="*/ 1 h 3"/>
                <a:gd name="T78" fmla="*/ 3 w 3"/>
                <a:gd name="T79" fmla="*/ 1 h 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3"/>
                <a:gd name="T122" fmla="*/ 3 w 3"/>
                <a:gd name="T123" fmla="*/ 3 h 3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3">
                  <a:moveTo>
                    <a:pt x="3" y="1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43" name="Freeform 786"/>
            <p:cNvSpPr>
              <a:spLocks/>
            </p:cNvSpPr>
            <p:nvPr/>
          </p:nvSpPr>
          <p:spPr bwMode="auto">
            <a:xfrm>
              <a:off x="4109" y="2801"/>
              <a:ext cx="3" cy="22"/>
            </a:xfrm>
            <a:custGeom>
              <a:avLst/>
              <a:gdLst>
                <a:gd name="T0" fmla="*/ 2 w 3"/>
                <a:gd name="T1" fmla="*/ 0 h 22"/>
                <a:gd name="T2" fmla="*/ 0 w 3"/>
                <a:gd name="T3" fmla="*/ 1 h 22"/>
                <a:gd name="T4" fmla="*/ 0 w 3"/>
                <a:gd name="T5" fmla="*/ 22 h 22"/>
                <a:gd name="T6" fmla="*/ 3 w 3"/>
                <a:gd name="T7" fmla="*/ 22 h 22"/>
                <a:gd name="T8" fmla="*/ 3 w 3"/>
                <a:gd name="T9" fmla="*/ 1 h 22"/>
                <a:gd name="T10" fmla="*/ 2 w 3"/>
                <a:gd name="T11" fmla="*/ 0 h 22"/>
                <a:gd name="T12" fmla="*/ 3 w 3"/>
                <a:gd name="T13" fmla="*/ 1 h 22"/>
                <a:gd name="T14" fmla="*/ 3 w 3"/>
                <a:gd name="T15" fmla="*/ 1 h 22"/>
                <a:gd name="T16" fmla="*/ 3 w 3"/>
                <a:gd name="T17" fmla="*/ 1 h 22"/>
                <a:gd name="T18" fmla="*/ 3 w 3"/>
                <a:gd name="T19" fmla="*/ 1 h 22"/>
                <a:gd name="T20" fmla="*/ 3 w 3"/>
                <a:gd name="T21" fmla="*/ 1 h 22"/>
                <a:gd name="T22" fmla="*/ 3 w 3"/>
                <a:gd name="T23" fmla="*/ 1 h 22"/>
                <a:gd name="T24" fmla="*/ 3 w 3"/>
                <a:gd name="T25" fmla="*/ 0 h 22"/>
                <a:gd name="T26" fmla="*/ 3 w 3"/>
                <a:gd name="T27" fmla="*/ 0 h 22"/>
                <a:gd name="T28" fmla="*/ 2 w 3"/>
                <a:gd name="T29" fmla="*/ 0 h 22"/>
                <a:gd name="T30" fmla="*/ 2 w 3"/>
                <a:gd name="T31" fmla="*/ 0 h 22"/>
                <a:gd name="T32" fmla="*/ 2 w 3"/>
                <a:gd name="T33" fmla="*/ 0 h 22"/>
                <a:gd name="T34" fmla="*/ 2 w 3"/>
                <a:gd name="T35" fmla="*/ 0 h 22"/>
                <a:gd name="T36" fmla="*/ 2 w 3"/>
                <a:gd name="T37" fmla="*/ 0 h 22"/>
                <a:gd name="T38" fmla="*/ 2 w 3"/>
                <a:gd name="T39" fmla="*/ 0 h 22"/>
                <a:gd name="T40" fmla="*/ 2 w 3"/>
                <a:gd name="T41" fmla="*/ 0 h 22"/>
                <a:gd name="T42" fmla="*/ 2 w 3"/>
                <a:gd name="T43" fmla="*/ 0 h 22"/>
                <a:gd name="T44" fmla="*/ 1 w 3"/>
                <a:gd name="T45" fmla="*/ 0 h 22"/>
                <a:gd name="T46" fmla="*/ 1 w 3"/>
                <a:gd name="T47" fmla="*/ 0 h 22"/>
                <a:gd name="T48" fmla="*/ 1 w 3"/>
                <a:gd name="T49" fmla="*/ 0 h 22"/>
                <a:gd name="T50" fmla="*/ 1 w 3"/>
                <a:gd name="T51" fmla="*/ 0 h 22"/>
                <a:gd name="T52" fmla="*/ 1 w 3"/>
                <a:gd name="T53" fmla="*/ 0 h 22"/>
                <a:gd name="T54" fmla="*/ 1 w 3"/>
                <a:gd name="T55" fmla="*/ 0 h 22"/>
                <a:gd name="T56" fmla="*/ 1 w 3"/>
                <a:gd name="T57" fmla="*/ 0 h 22"/>
                <a:gd name="T58" fmla="*/ 1 w 3"/>
                <a:gd name="T59" fmla="*/ 0 h 22"/>
                <a:gd name="T60" fmla="*/ 0 w 3"/>
                <a:gd name="T61" fmla="*/ 0 h 22"/>
                <a:gd name="T62" fmla="*/ 0 w 3"/>
                <a:gd name="T63" fmla="*/ 0 h 22"/>
                <a:gd name="T64" fmla="*/ 0 w 3"/>
                <a:gd name="T65" fmla="*/ 0 h 22"/>
                <a:gd name="T66" fmla="*/ 0 w 3"/>
                <a:gd name="T67" fmla="*/ 1 h 22"/>
                <a:gd name="T68" fmla="*/ 0 w 3"/>
                <a:gd name="T69" fmla="*/ 1 h 22"/>
                <a:gd name="T70" fmla="*/ 0 w 3"/>
                <a:gd name="T71" fmla="*/ 1 h 22"/>
                <a:gd name="T72" fmla="*/ 0 w 3"/>
                <a:gd name="T73" fmla="*/ 1 h 22"/>
                <a:gd name="T74" fmla="*/ 0 w 3"/>
                <a:gd name="T75" fmla="*/ 1 h 22"/>
                <a:gd name="T76" fmla="*/ 0 w 3"/>
                <a:gd name="T77" fmla="*/ 1 h 22"/>
                <a:gd name="T78" fmla="*/ 2 w 3"/>
                <a:gd name="T79" fmla="*/ 0 h 2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22"/>
                <a:gd name="T122" fmla="*/ 3 w 3"/>
                <a:gd name="T123" fmla="*/ 22 h 2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22">
                  <a:moveTo>
                    <a:pt x="2" y="0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3" y="22"/>
                  </a:lnTo>
                  <a:lnTo>
                    <a:pt x="3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44" name="Freeform 787"/>
            <p:cNvSpPr>
              <a:spLocks/>
            </p:cNvSpPr>
            <p:nvPr/>
          </p:nvSpPr>
          <p:spPr bwMode="auto">
            <a:xfrm>
              <a:off x="4109" y="2801"/>
              <a:ext cx="38" cy="38"/>
            </a:xfrm>
            <a:custGeom>
              <a:avLst/>
              <a:gdLst>
                <a:gd name="T0" fmla="*/ 38 w 38"/>
                <a:gd name="T1" fmla="*/ 37 h 38"/>
                <a:gd name="T2" fmla="*/ 38 w 38"/>
                <a:gd name="T3" fmla="*/ 35 h 38"/>
                <a:gd name="T4" fmla="*/ 2 w 38"/>
                <a:gd name="T5" fmla="*/ 0 h 38"/>
                <a:gd name="T6" fmla="*/ 0 w 38"/>
                <a:gd name="T7" fmla="*/ 2 h 38"/>
                <a:gd name="T8" fmla="*/ 36 w 38"/>
                <a:gd name="T9" fmla="*/ 37 h 38"/>
                <a:gd name="T10" fmla="*/ 38 w 38"/>
                <a:gd name="T11" fmla="*/ 37 h 38"/>
                <a:gd name="T12" fmla="*/ 36 w 38"/>
                <a:gd name="T13" fmla="*/ 37 h 38"/>
                <a:gd name="T14" fmla="*/ 36 w 38"/>
                <a:gd name="T15" fmla="*/ 38 h 38"/>
                <a:gd name="T16" fmla="*/ 36 w 38"/>
                <a:gd name="T17" fmla="*/ 38 h 38"/>
                <a:gd name="T18" fmla="*/ 36 w 38"/>
                <a:gd name="T19" fmla="*/ 38 h 38"/>
                <a:gd name="T20" fmla="*/ 36 w 38"/>
                <a:gd name="T21" fmla="*/ 38 h 38"/>
                <a:gd name="T22" fmla="*/ 36 w 38"/>
                <a:gd name="T23" fmla="*/ 38 h 38"/>
                <a:gd name="T24" fmla="*/ 36 w 38"/>
                <a:gd name="T25" fmla="*/ 38 h 38"/>
                <a:gd name="T26" fmla="*/ 36 w 38"/>
                <a:gd name="T27" fmla="*/ 38 h 38"/>
                <a:gd name="T28" fmla="*/ 37 w 38"/>
                <a:gd name="T29" fmla="*/ 38 h 38"/>
                <a:gd name="T30" fmla="*/ 37 w 38"/>
                <a:gd name="T31" fmla="*/ 38 h 38"/>
                <a:gd name="T32" fmla="*/ 37 w 38"/>
                <a:gd name="T33" fmla="*/ 38 h 38"/>
                <a:gd name="T34" fmla="*/ 37 w 38"/>
                <a:gd name="T35" fmla="*/ 38 h 38"/>
                <a:gd name="T36" fmla="*/ 37 w 38"/>
                <a:gd name="T37" fmla="*/ 38 h 38"/>
                <a:gd name="T38" fmla="*/ 37 w 38"/>
                <a:gd name="T39" fmla="*/ 38 h 38"/>
                <a:gd name="T40" fmla="*/ 37 w 38"/>
                <a:gd name="T41" fmla="*/ 38 h 38"/>
                <a:gd name="T42" fmla="*/ 37 w 38"/>
                <a:gd name="T43" fmla="*/ 38 h 38"/>
                <a:gd name="T44" fmla="*/ 38 w 38"/>
                <a:gd name="T45" fmla="*/ 37 h 38"/>
                <a:gd name="T46" fmla="*/ 38 w 38"/>
                <a:gd name="T47" fmla="*/ 37 h 38"/>
                <a:gd name="T48" fmla="*/ 38 w 38"/>
                <a:gd name="T49" fmla="*/ 37 h 38"/>
                <a:gd name="T50" fmla="*/ 38 w 38"/>
                <a:gd name="T51" fmla="*/ 37 h 38"/>
                <a:gd name="T52" fmla="*/ 38 w 38"/>
                <a:gd name="T53" fmla="*/ 37 h 38"/>
                <a:gd name="T54" fmla="*/ 38 w 38"/>
                <a:gd name="T55" fmla="*/ 37 h 38"/>
                <a:gd name="T56" fmla="*/ 38 w 38"/>
                <a:gd name="T57" fmla="*/ 37 h 38"/>
                <a:gd name="T58" fmla="*/ 38 w 38"/>
                <a:gd name="T59" fmla="*/ 37 h 38"/>
                <a:gd name="T60" fmla="*/ 38 w 38"/>
                <a:gd name="T61" fmla="*/ 37 h 38"/>
                <a:gd name="T62" fmla="*/ 38 w 38"/>
                <a:gd name="T63" fmla="*/ 36 h 38"/>
                <a:gd name="T64" fmla="*/ 38 w 38"/>
                <a:gd name="T65" fmla="*/ 36 h 38"/>
                <a:gd name="T66" fmla="*/ 38 w 38"/>
                <a:gd name="T67" fmla="*/ 36 h 38"/>
                <a:gd name="T68" fmla="*/ 38 w 38"/>
                <a:gd name="T69" fmla="*/ 36 h 38"/>
                <a:gd name="T70" fmla="*/ 38 w 38"/>
                <a:gd name="T71" fmla="*/ 36 h 38"/>
                <a:gd name="T72" fmla="*/ 38 w 38"/>
                <a:gd name="T73" fmla="*/ 36 h 38"/>
                <a:gd name="T74" fmla="*/ 38 w 38"/>
                <a:gd name="T75" fmla="*/ 36 h 38"/>
                <a:gd name="T76" fmla="*/ 38 w 38"/>
                <a:gd name="T77" fmla="*/ 35 h 38"/>
                <a:gd name="T78" fmla="*/ 38 w 38"/>
                <a:gd name="T79" fmla="*/ 37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8"/>
                <a:gd name="T121" fmla="*/ 0 h 38"/>
                <a:gd name="T122" fmla="*/ 38 w 38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8" h="38">
                  <a:moveTo>
                    <a:pt x="38" y="37"/>
                  </a:moveTo>
                  <a:lnTo>
                    <a:pt x="38" y="35"/>
                  </a:lnTo>
                  <a:lnTo>
                    <a:pt x="2" y="0"/>
                  </a:lnTo>
                  <a:lnTo>
                    <a:pt x="0" y="2"/>
                  </a:lnTo>
                  <a:lnTo>
                    <a:pt x="36" y="37"/>
                  </a:lnTo>
                  <a:lnTo>
                    <a:pt x="38" y="37"/>
                  </a:lnTo>
                  <a:lnTo>
                    <a:pt x="36" y="37"/>
                  </a:lnTo>
                  <a:lnTo>
                    <a:pt x="36" y="38"/>
                  </a:lnTo>
                  <a:lnTo>
                    <a:pt x="37" y="38"/>
                  </a:lnTo>
                  <a:lnTo>
                    <a:pt x="38" y="37"/>
                  </a:lnTo>
                  <a:lnTo>
                    <a:pt x="38" y="36"/>
                  </a:lnTo>
                  <a:lnTo>
                    <a:pt x="38" y="35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45" name="Freeform 788"/>
            <p:cNvSpPr>
              <a:spLocks/>
            </p:cNvSpPr>
            <p:nvPr/>
          </p:nvSpPr>
          <p:spPr bwMode="auto">
            <a:xfrm>
              <a:off x="4109" y="2836"/>
              <a:ext cx="38" cy="38"/>
            </a:xfrm>
            <a:custGeom>
              <a:avLst/>
              <a:gdLst>
                <a:gd name="T0" fmla="*/ 0 w 38"/>
                <a:gd name="T1" fmla="*/ 37 h 38"/>
                <a:gd name="T2" fmla="*/ 2 w 38"/>
                <a:gd name="T3" fmla="*/ 38 h 38"/>
                <a:gd name="T4" fmla="*/ 38 w 38"/>
                <a:gd name="T5" fmla="*/ 2 h 38"/>
                <a:gd name="T6" fmla="*/ 36 w 38"/>
                <a:gd name="T7" fmla="*/ 0 h 38"/>
                <a:gd name="T8" fmla="*/ 0 w 38"/>
                <a:gd name="T9" fmla="*/ 36 h 38"/>
                <a:gd name="T10" fmla="*/ 0 w 38"/>
                <a:gd name="T11" fmla="*/ 37 h 38"/>
                <a:gd name="T12" fmla="*/ 0 w 38"/>
                <a:gd name="T13" fmla="*/ 36 h 38"/>
                <a:gd name="T14" fmla="*/ 0 w 38"/>
                <a:gd name="T15" fmla="*/ 36 h 38"/>
                <a:gd name="T16" fmla="*/ 0 w 38"/>
                <a:gd name="T17" fmla="*/ 36 h 38"/>
                <a:gd name="T18" fmla="*/ 0 w 38"/>
                <a:gd name="T19" fmla="*/ 36 h 38"/>
                <a:gd name="T20" fmla="*/ 0 w 38"/>
                <a:gd name="T21" fmla="*/ 36 h 38"/>
                <a:gd name="T22" fmla="*/ 0 w 38"/>
                <a:gd name="T23" fmla="*/ 36 h 38"/>
                <a:gd name="T24" fmla="*/ 0 w 38"/>
                <a:gd name="T25" fmla="*/ 36 h 38"/>
                <a:gd name="T26" fmla="*/ 0 w 38"/>
                <a:gd name="T27" fmla="*/ 36 h 38"/>
                <a:gd name="T28" fmla="*/ 0 w 38"/>
                <a:gd name="T29" fmla="*/ 37 h 38"/>
                <a:gd name="T30" fmla="*/ 0 w 38"/>
                <a:gd name="T31" fmla="*/ 37 h 38"/>
                <a:gd name="T32" fmla="*/ 0 w 38"/>
                <a:gd name="T33" fmla="*/ 37 h 38"/>
                <a:gd name="T34" fmla="*/ 0 w 38"/>
                <a:gd name="T35" fmla="*/ 37 h 38"/>
                <a:gd name="T36" fmla="*/ 0 w 38"/>
                <a:gd name="T37" fmla="*/ 37 h 38"/>
                <a:gd name="T38" fmla="*/ 0 w 38"/>
                <a:gd name="T39" fmla="*/ 37 h 38"/>
                <a:gd name="T40" fmla="*/ 0 w 38"/>
                <a:gd name="T41" fmla="*/ 37 h 38"/>
                <a:gd name="T42" fmla="*/ 0 w 38"/>
                <a:gd name="T43" fmla="*/ 37 h 38"/>
                <a:gd name="T44" fmla="*/ 0 w 38"/>
                <a:gd name="T45" fmla="*/ 38 h 38"/>
                <a:gd name="T46" fmla="*/ 1 w 38"/>
                <a:gd name="T47" fmla="*/ 38 h 38"/>
                <a:gd name="T48" fmla="*/ 1 w 38"/>
                <a:gd name="T49" fmla="*/ 38 h 38"/>
                <a:gd name="T50" fmla="*/ 1 w 38"/>
                <a:gd name="T51" fmla="*/ 38 h 38"/>
                <a:gd name="T52" fmla="*/ 1 w 38"/>
                <a:gd name="T53" fmla="*/ 38 h 38"/>
                <a:gd name="T54" fmla="*/ 1 w 38"/>
                <a:gd name="T55" fmla="*/ 38 h 38"/>
                <a:gd name="T56" fmla="*/ 1 w 38"/>
                <a:gd name="T57" fmla="*/ 38 h 38"/>
                <a:gd name="T58" fmla="*/ 1 w 38"/>
                <a:gd name="T59" fmla="*/ 38 h 38"/>
                <a:gd name="T60" fmla="*/ 1 w 38"/>
                <a:gd name="T61" fmla="*/ 38 h 38"/>
                <a:gd name="T62" fmla="*/ 2 w 38"/>
                <a:gd name="T63" fmla="*/ 38 h 38"/>
                <a:gd name="T64" fmla="*/ 2 w 38"/>
                <a:gd name="T65" fmla="*/ 38 h 38"/>
                <a:gd name="T66" fmla="*/ 2 w 38"/>
                <a:gd name="T67" fmla="*/ 38 h 38"/>
                <a:gd name="T68" fmla="*/ 2 w 38"/>
                <a:gd name="T69" fmla="*/ 38 h 38"/>
                <a:gd name="T70" fmla="*/ 2 w 38"/>
                <a:gd name="T71" fmla="*/ 38 h 38"/>
                <a:gd name="T72" fmla="*/ 2 w 38"/>
                <a:gd name="T73" fmla="*/ 38 h 38"/>
                <a:gd name="T74" fmla="*/ 2 w 38"/>
                <a:gd name="T75" fmla="*/ 38 h 38"/>
                <a:gd name="T76" fmla="*/ 2 w 38"/>
                <a:gd name="T77" fmla="*/ 38 h 38"/>
                <a:gd name="T78" fmla="*/ 0 w 38"/>
                <a:gd name="T79" fmla="*/ 37 h 3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8"/>
                <a:gd name="T121" fmla="*/ 0 h 38"/>
                <a:gd name="T122" fmla="*/ 38 w 38"/>
                <a:gd name="T123" fmla="*/ 38 h 3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8" h="38">
                  <a:moveTo>
                    <a:pt x="0" y="37"/>
                  </a:moveTo>
                  <a:lnTo>
                    <a:pt x="2" y="38"/>
                  </a:lnTo>
                  <a:lnTo>
                    <a:pt x="38" y="2"/>
                  </a:lnTo>
                  <a:lnTo>
                    <a:pt x="36" y="0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1" y="38"/>
                  </a:lnTo>
                  <a:lnTo>
                    <a:pt x="2" y="38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46" name="Freeform 789"/>
            <p:cNvSpPr>
              <a:spLocks/>
            </p:cNvSpPr>
            <p:nvPr/>
          </p:nvSpPr>
          <p:spPr bwMode="auto">
            <a:xfrm>
              <a:off x="4109" y="2849"/>
              <a:ext cx="3" cy="24"/>
            </a:xfrm>
            <a:custGeom>
              <a:avLst/>
              <a:gdLst>
                <a:gd name="T0" fmla="*/ 2 w 3"/>
                <a:gd name="T1" fmla="*/ 0 h 24"/>
                <a:gd name="T2" fmla="*/ 0 w 3"/>
                <a:gd name="T3" fmla="*/ 1 h 24"/>
                <a:gd name="T4" fmla="*/ 0 w 3"/>
                <a:gd name="T5" fmla="*/ 24 h 24"/>
                <a:gd name="T6" fmla="*/ 3 w 3"/>
                <a:gd name="T7" fmla="*/ 24 h 24"/>
                <a:gd name="T8" fmla="*/ 3 w 3"/>
                <a:gd name="T9" fmla="*/ 1 h 24"/>
                <a:gd name="T10" fmla="*/ 2 w 3"/>
                <a:gd name="T11" fmla="*/ 0 h 24"/>
                <a:gd name="T12" fmla="*/ 3 w 3"/>
                <a:gd name="T13" fmla="*/ 1 h 24"/>
                <a:gd name="T14" fmla="*/ 3 w 3"/>
                <a:gd name="T15" fmla="*/ 1 h 24"/>
                <a:gd name="T16" fmla="*/ 3 w 3"/>
                <a:gd name="T17" fmla="*/ 1 h 24"/>
                <a:gd name="T18" fmla="*/ 3 w 3"/>
                <a:gd name="T19" fmla="*/ 1 h 24"/>
                <a:gd name="T20" fmla="*/ 3 w 3"/>
                <a:gd name="T21" fmla="*/ 1 h 24"/>
                <a:gd name="T22" fmla="*/ 3 w 3"/>
                <a:gd name="T23" fmla="*/ 0 h 24"/>
                <a:gd name="T24" fmla="*/ 3 w 3"/>
                <a:gd name="T25" fmla="*/ 0 h 24"/>
                <a:gd name="T26" fmla="*/ 3 w 3"/>
                <a:gd name="T27" fmla="*/ 0 h 24"/>
                <a:gd name="T28" fmla="*/ 2 w 3"/>
                <a:gd name="T29" fmla="*/ 0 h 24"/>
                <a:gd name="T30" fmla="*/ 2 w 3"/>
                <a:gd name="T31" fmla="*/ 0 h 24"/>
                <a:gd name="T32" fmla="*/ 2 w 3"/>
                <a:gd name="T33" fmla="*/ 0 h 24"/>
                <a:gd name="T34" fmla="*/ 2 w 3"/>
                <a:gd name="T35" fmla="*/ 0 h 24"/>
                <a:gd name="T36" fmla="*/ 2 w 3"/>
                <a:gd name="T37" fmla="*/ 0 h 24"/>
                <a:gd name="T38" fmla="*/ 2 w 3"/>
                <a:gd name="T39" fmla="*/ 0 h 24"/>
                <a:gd name="T40" fmla="*/ 2 w 3"/>
                <a:gd name="T41" fmla="*/ 0 h 24"/>
                <a:gd name="T42" fmla="*/ 2 w 3"/>
                <a:gd name="T43" fmla="*/ 0 h 24"/>
                <a:gd name="T44" fmla="*/ 1 w 3"/>
                <a:gd name="T45" fmla="*/ 0 h 24"/>
                <a:gd name="T46" fmla="*/ 1 w 3"/>
                <a:gd name="T47" fmla="*/ 0 h 24"/>
                <a:gd name="T48" fmla="*/ 1 w 3"/>
                <a:gd name="T49" fmla="*/ 0 h 24"/>
                <a:gd name="T50" fmla="*/ 1 w 3"/>
                <a:gd name="T51" fmla="*/ 0 h 24"/>
                <a:gd name="T52" fmla="*/ 1 w 3"/>
                <a:gd name="T53" fmla="*/ 0 h 24"/>
                <a:gd name="T54" fmla="*/ 1 w 3"/>
                <a:gd name="T55" fmla="*/ 0 h 24"/>
                <a:gd name="T56" fmla="*/ 1 w 3"/>
                <a:gd name="T57" fmla="*/ 0 h 24"/>
                <a:gd name="T58" fmla="*/ 1 w 3"/>
                <a:gd name="T59" fmla="*/ 0 h 24"/>
                <a:gd name="T60" fmla="*/ 0 w 3"/>
                <a:gd name="T61" fmla="*/ 0 h 24"/>
                <a:gd name="T62" fmla="*/ 0 w 3"/>
                <a:gd name="T63" fmla="*/ 0 h 24"/>
                <a:gd name="T64" fmla="*/ 0 w 3"/>
                <a:gd name="T65" fmla="*/ 0 h 24"/>
                <a:gd name="T66" fmla="*/ 0 w 3"/>
                <a:gd name="T67" fmla="*/ 0 h 24"/>
                <a:gd name="T68" fmla="*/ 0 w 3"/>
                <a:gd name="T69" fmla="*/ 1 h 24"/>
                <a:gd name="T70" fmla="*/ 0 w 3"/>
                <a:gd name="T71" fmla="*/ 1 h 24"/>
                <a:gd name="T72" fmla="*/ 0 w 3"/>
                <a:gd name="T73" fmla="*/ 1 h 24"/>
                <a:gd name="T74" fmla="*/ 0 w 3"/>
                <a:gd name="T75" fmla="*/ 1 h 24"/>
                <a:gd name="T76" fmla="*/ 0 w 3"/>
                <a:gd name="T77" fmla="*/ 1 h 24"/>
                <a:gd name="T78" fmla="*/ 2 w 3"/>
                <a:gd name="T79" fmla="*/ 0 h 2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"/>
                <a:gd name="T121" fmla="*/ 0 h 24"/>
                <a:gd name="T122" fmla="*/ 3 w 3"/>
                <a:gd name="T123" fmla="*/ 24 h 2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" h="24">
                  <a:moveTo>
                    <a:pt x="2" y="0"/>
                  </a:moveTo>
                  <a:lnTo>
                    <a:pt x="0" y="1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3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847" name="Freeform 790"/>
            <p:cNvSpPr>
              <a:spLocks/>
            </p:cNvSpPr>
            <p:nvPr/>
          </p:nvSpPr>
          <p:spPr bwMode="auto">
            <a:xfrm>
              <a:off x="4071" y="2849"/>
              <a:ext cx="40" cy="31"/>
            </a:xfrm>
            <a:custGeom>
              <a:avLst/>
              <a:gdLst>
                <a:gd name="T0" fmla="*/ 3 w 40"/>
                <a:gd name="T1" fmla="*/ 29 h 31"/>
                <a:gd name="T2" fmla="*/ 3 w 40"/>
                <a:gd name="T3" fmla="*/ 26 h 31"/>
                <a:gd name="T4" fmla="*/ 4 w 40"/>
                <a:gd name="T5" fmla="*/ 24 h 31"/>
                <a:gd name="T6" fmla="*/ 4 w 40"/>
                <a:gd name="T7" fmla="*/ 22 h 31"/>
                <a:gd name="T8" fmla="*/ 5 w 40"/>
                <a:gd name="T9" fmla="*/ 20 h 31"/>
                <a:gd name="T10" fmla="*/ 6 w 40"/>
                <a:gd name="T11" fmla="*/ 18 h 31"/>
                <a:gd name="T12" fmla="*/ 7 w 40"/>
                <a:gd name="T13" fmla="*/ 16 h 31"/>
                <a:gd name="T14" fmla="*/ 8 w 40"/>
                <a:gd name="T15" fmla="*/ 14 h 31"/>
                <a:gd name="T16" fmla="*/ 10 w 40"/>
                <a:gd name="T17" fmla="*/ 13 h 31"/>
                <a:gd name="T18" fmla="*/ 11 w 40"/>
                <a:gd name="T19" fmla="*/ 12 h 31"/>
                <a:gd name="T20" fmla="*/ 12 w 40"/>
                <a:gd name="T21" fmla="*/ 10 h 31"/>
                <a:gd name="T22" fmla="*/ 14 w 40"/>
                <a:gd name="T23" fmla="*/ 9 h 31"/>
                <a:gd name="T24" fmla="*/ 16 w 40"/>
                <a:gd name="T25" fmla="*/ 8 h 31"/>
                <a:gd name="T26" fmla="*/ 18 w 40"/>
                <a:gd name="T27" fmla="*/ 7 h 31"/>
                <a:gd name="T28" fmla="*/ 21 w 40"/>
                <a:gd name="T29" fmla="*/ 6 h 31"/>
                <a:gd name="T30" fmla="*/ 25 w 40"/>
                <a:gd name="T31" fmla="*/ 4 h 31"/>
                <a:gd name="T32" fmla="*/ 28 w 40"/>
                <a:gd name="T33" fmla="*/ 4 h 31"/>
                <a:gd name="T34" fmla="*/ 31 w 40"/>
                <a:gd name="T35" fmla="*/ 3 h 31"/>
                <a:gd name="T36" fmla="*/ 34 w 40"/>
                <a:gd name="T37" fmla="*/ 3 h 31"/>
                <a:gd name="T38" fmla="*/ 38 w 40"/>
                <a:gd name="T39" fmla="*/ 3 h 31"/>
                <a:gd name="T40" fmla="*/ 39 w 40"/>
                <a:gd name="T41" fmla="*/ 0 h 31"/>
                <a:gd name="T42" fmla="*/ 35 w 40"/>
                <a:gd name="T43" fmla="*/ 0 h 31"/>
                <a:gd name="T44" fmla="*/ 31 w 40"/>
                <a:gd name="T45" fmla="*/ 0 h 31"/>
                <a:gd name="T46" fmla="*/ 28 w 40"/>
                <a:gd name="T47" fmla="*/ 1 h 31"/>
                <a:gd name="T48" fmla="*/ 25 w 40"/>
                <a:gd name="T49" fmla="*/ 1 h 31"/>
                <a:gd name="T50" fmla="*/ 21 w 40"/>
                <a:gd name="T51" fmla="*/ 3 h 31"/>
                <a:gd name="T52" fmla="*/ 18 w 40"/>
                <a:gd name="T53" fmla="*/ 4 h 31"/>
                <a:gd name="T54" fmla="*/ 15 w 40"/>
                <a:gd name="T55" fmla="*/ 6 h 31"/>
                <a:gd name="T56" fmla="*/ 13 w 40"/>
                <a:gd name="T57" fmla="*/ 7 h 31"/>
                <a:gd name="T58" fmla="*/ 11 w 40"/>
                <a:gd name="T59" fmla="*/ 8 h 31"/>
                <a:gd name="T60" fmla="*/ 9 w 40"/>
                <a:gd name="T61" fmla="*/ 9 h 31"/>
                <a:gd name="T62" fmla="*/ 8 w 40"/>
                <a:gd name="T63" fmla="*/ 10 h 31"/>
                <a:gd name="T64" fmla="*/ 6 w 40"/>
                <a:gd name="T65" fmla="*/ 12 h 31"/>
                <a:gd name="T66" fmla="*/ 5 w 40"/>
                <a:gd name="T67" fmla="*/ 14 h 31"/>
                <a:gd name="T68" fmla="*/ 4 w 40"/>
                <a:gd name="T69" fmla="*/ 16 h 31"/>
                <a:gd name="T70" fmla="*/ 3 w 40"/>
                <a:gd name="T71" fmla="*/ 18 h 31"/>
                <a:gd name="T72" fmla="*/ 2 w 40"/>
                <a:gd name="T73" fmla="*/ 20 h 31"/>
                <a:gd name="T74" fmla="*/ 1 w 40"/>
                <a:gd name="T75" fmla="*/ 22 h 31"/>
                <a:gd name="T76" fmla="*/ 0 w 40"/>
                <a:gd name="T77" fmla="*/ 25 h 31"/>
                <a:gd name="T78" fmla="*/ 0 w 40"/>
                <a:gd name="T79" fmla="*/ 28 h 31"/>
                <a:gd name="T80" fmla="*/ 3 w 40"/>
                <a:gd name="T81" fmla="*/ 30 h 31"/>
                <a:gd name="T82" fmla="*/ 0 w 40"/>
                <a:gd name="T83" fmla="*/ 30 h 31"/>
                <a:gd name="T84" fmla="*/ 0 w 40"/>
                <a:gd name="T85" fmla="*/ 31 h 31"/>
                <a:gd name="T86" fmla="*/ 0 w 40"/>
                <a:gd name="T87" fmla="*/ 31 h 31"/>
                <a:gd name="T88" fmla="*/ 1 w 40"/>
                <a:gd name="T89" fmla="*/ 31 h 31"/>
                <a:gd name="T90" fmla="*/ 2 w 40"/>
                <a:gd name="T91" fmla="*/ 31 h 31"/>
                <a:gd name="T92" fmla="*/ 2 w 40"/>
                <a:gd name="T93" fmla="*/ 31 h 31"/>
                <a:gd name="T94" fmla="*/ 2 w 40"/>
                <a:gd name="T95" fmla="*/ 31 h 31"/>
                <a:gd name="T96" fmla="*/ 3 w 40"/>
                <a:gd name="T97" fmla="*/ 30 h 3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0"/>
                <a:gd name="T148" fmla="*/ 0 h 31"/>
                <a:gd name="T149" fmla="*/ 40 w 40"/>
                <a:gd name="T150" fmla="*/ 31 h 3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0" h="31">
                  <a:moveTo>
                    <a:pt x="0" y="30"/>
                  </a:moveTo>
                  <a:lnTo>
                    <a:pt x="3" y="30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4" y="24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1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7"/>
                  </a:lnTo>
                  <a:lnTo>
                    <a:pt x="7" y="17"/>
                  </a:lnTo>
                  <a:lnTo>
                    <a:pt x="7" y="16"/>
                  </a:lnTo>
                  <a:lnTo>
                    <a:pt x="8" y="15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9" y="13"/>
                  </a:lnTo>
                  <a:lnTo>
                    <a:pt x="10" y="13"/>
                  </a:lnTo>
                  <a:lnTo>
                    <a:pt x="10" y="12"/>
                  </a:lnTo>
                  <a:lnTo>
                    <a:pt x="11" y="12"/>
                  </a:lnTo>
                  <a:lnTo>
                    <a:pt x="11" y="11"/>
                  </a:lnTo>
                  <a:lnTo>
                    <a:pt x="12" y="11"/>
                  </a:lnTo>
                  <a:lnTo>
                    <a:pt x="12" y="10"/>
                  </a:lnTo>
                  <a:lnTo>
                    <a:pt x="13" y="10"/>
                  </a:lnTo>
                  <a:lnTo>
                    <a:pt x="14" y="9"/>
                  </a:lnTo>
                  <a:lnTo>
                    <a:pt x="15" y="9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6"/>
                  </a:lnTo>
                  <a:lnTo>
                    <a:pt x="22" y="5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5" y="4"/>
                  </a:lnTo>
                  <a:lnTo>
                    <a:pt x="26" y="4"/>
                  </a:lnTo>
                  <a:lnTo>
                    <a:pt x="27" y="4"/>
                  </a:lnTo>
                  <a:lnTo>
                    <a:pt x="28" y="4"/>
                  </a:lnTo>
                  <a:lnTo>
                    <a:pt x="29" y="4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2" y="3"/>
                  </a:lnTo>
                  <a:lnTo>
                    <a:pt x="33" y="3"/>
                  </a:lnTo>
                  <a:lnTo>
                    <a:pt x="34" y="3"/>
                  </a:lnTo>
                  <a:lnTo>
                    <a:pt x="35" y="3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39" y="3"/>
                  </a:lnTo>
                  <a:lnTo>
                    <a:pt x="40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4"/>
                  </a:lnTo>
                  <a:lnTo>
                    <a:pt x="17" y="4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5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9"/>
                  </a:lnTo>
                  <a:lnTo>
                    <a:pt x="9" y="10"/>
                  </a:lnTo>
                  <a:lnTo>
                    <a:pt x="8" y="10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3" y="30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" y="31"/>
                  </a:lnTo>
                  <a:lnTo>
                    <a:pt x="2" y="31"/>
                  </a:lnTo>
                  <a:lnTo>
                    <a:pt x="3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13151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4" name="Group 791"/>
          <p:cNvGrpSpPr>
            <a:grpSpLocks/>
          </p:cNvGrpSpPr>
          <p:nvPr/>
        </p:nvGrpSpPr>
        <p:grpSpPr bwMode="auto">
          <a:xfrm>
            <a:off x="2195513" y="3716338"/>
            <a:ext cx="452437" cy="458787"/>
            <a:chOff x="3321" y="2659"/>
            <a:chExt cx="155" cy="157"/>
          </a:xfrm>
        </p:grpSpPr>
        <p:sp>
          <p:nvSpPr>
            <p:cNvPr id="27762" name="Freeform 792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0078A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63" name="Freeform 793"/>
            <p:cNvSpPr>
              <a:spLocks/>
            </p:cNvSpPr>
            <p:nvPr/>
          </p:nvSpPr>
          <p:spPr bwMode="auto">
            <a:xfrm>
              <a:off x="3322" y="2766"/>
              <a:ext cx="153" cy="50"/>
            </a:xfrm>
            <a:custGeom>
              <a:avLst/>
              <a:gdLst>
                <a:gd name="T0" fmla="*/ 152 w 153"/>
                <a:gd name="T1" fmla="*/ 27 h 50"/>
                <a:gd name="T2" fmla="*/ 150 w 153"/>
                <a:gd name="T3" fmla="*/ 31 h 50"/>
                <a:gd name="T4" fmla="*/ 147 w 153"/>
                <a:gd name="T5" fmla="*/ 34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5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49 h 50"/>
                <a:gd name="T20" fmla="*/ 76 w 153"/>
                <a:gd name="T21" fmla="*/ 50 h 50"/>
                <a:gd name="T22" fmla="*/ 64 w 153"/>
                <a:gd name="T23" fmla="*/ 49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5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4 h 50"/>
                <a:gd name="T38" fmla="*/ 2 w 153"/>
                <a:gd name="T39" fmla="*/ 31 h 50"/>
                <a:gd name="T40" fmla="*/ 0 w 153"/>
                <a:gd name="T41" fmla="*/ 27 h 50"/>
                <a:gd name="T42" fmla="*/ 0 w 153"/>
                <a:gd name="T43" fmla="*/ 23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1 h 50"/>
                <a:gd name="T60" fmla="*/ 61 w 153"/>
                <a:gd name="T61" fmla="*/ 0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3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7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7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3"/>
                  </a:lnTo>
                  <a:lnTo>
                    <a:pt x="147" y="34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2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5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49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49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2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4"/>
                  </a:lnTo>
                  <a:lnTo>
                    <a:pt x="4" y="33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3"/>
                  </a:lnTo>
                  <a:lnTo>
                    <a:pt x="40" y="3"/>
                  </a:lnTo>
                  <a:lnTo>
                    <a:pt x="43" y="2"/>
                  </a:lnTo>
                  <a:lnTo>
                    <a:pt x="46" y="2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0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0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1"/>
                  </a:lnTo>
                  <a:lnTo>
                    <a:pt x="106" y="2"/>
                  </a:lnTo>
                  <a:lnTo>
                    <a:pt x="109" y="2"/>
                  </a:lnTo>
                  <a:lnTo>
                    <a:pt x="113" y="3"/>
                  </a:lnTo>
                  <a:lnTo>
                    <a:pt x="116" y="3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6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7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3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64" name="Rectangle 794"/>
            <p:cNvSpPr>
              <a:spLocks noChangeArrowheads="1"/>
            </p:cNvSpPr>
            <p:nvPr/>
          </p:nvSpPr>
          <p:spPr bwMode="auto">
            <a:xfrm>
              <a:off x="3321" y="2685"/>
              <a:ext cx="154" cy="106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765" name="Freeform 795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  <a:close/>
                </a:path>
              </a:pathLst>
            </a:custGeom>
            <a:solidFill>
              <a:srgbClr val="3CAF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66" name="Freeform 796"/>
            <p:cNvSpPr>
              <a:spLocks/>
            </p:cNvSpPr>
            <p:nvPr/>
          </p:nvSpPr>
          <p:spPr bwMode="auto">
            <a:xfrm>
              <a:off x="3322" y="2659"/>
              <a:ext cx="153" cy="50"/>
            </a:xfrm>
            <a:custGeom>
              <a:avLst/>
              <a:gdLst>
                <a:gd name="T0" fmla="*/ 152 w 153"/>
                <a:gd name="T1" fmla="*/ 28 h 50"/>
                <a:gd name="T2" fmla="*/ 150 w 153"/>
                <a:gd name="T3" fmla="*/ 31 h 50"/>
                <a:gd name="T4" fmla="*/ 147 w 153"/>
                <a:gd name="T5" fmla="*/ 35 h 50"/>
                <a:gd name="T6" fmla="*/ 142 w 153"/>
                <a:gd name="T7" fmla="*/ 38 h 50"/>
                <a:gd name="T8" fmla="*/ 135 w 153"/>
                <a:gd name="T9" fmla="*/ 41 h 50"/>
                <a:gd name="T10" fmla="*/ 128 w 153"/>
                <a:gd name="T11" fmla="*/ 43 h 50"/>
                <a:gd name="T12" fmla="*/ 119 w 153"/>
                <a:gd name="T13" fmla="*/ 46 h 50"/>
                <a:gd name="T14" fmla="*/ 109 w 153"/>
                <a:gd name="T15" fmla="*/ 47 h 50"/>
                <a:gd name="T16" fmla="*/ 99 w 153"/>
                <a:gd name="T17" fmla="*/ 49 h 50"/>
                <a:gd name="T18" fmla="*/ 88 w 153"/>
                <a:gd name="T19" fmla="*/ 50 h 50"/>
                <a:gd name="T20" fmla="*/ 76 w 153"/>
                <a:gd name="T21" fmla="*/ 50 h 50"/>
                <a:gd name="T22" fmla="*/ 64 w 153"/>
                <a:gd name="T23" fmla="*/ 50 h 50"/>
                <a:gd name="T24" fmla="*/ 53 w 153"/>
                <a:gd name="T25" fmla="*/ 49 h 50"/>
                <a:gd name="T26" fmla="*/ 43 w 153"/>
                <a:gd name="T27" fmla="*/ 47 h 50"/>
                <a:gd name="T28" fmla="*/ 33 w 153"/>
                <a:gd name="T29" fmla="*/ 46 h 50"/>
                <a:gd name="T30" fmla="*/ 25 w 153"/>
                <a:gd name="T31" fmla="*/ 43 h 50"/>
                <a:gd name="T32" fmla="*/ 17 w 153"/>
                <a:gd name="T33" fmla="*/ 41 h 50"/>
                <a:gd name="T34" fmla="*/ 11 w 153"/>
                <a:gd name="T35" fmla="*/ 38 h 50"/>
                <a:gd name="T36" fmla="*/ 6 w 153"/>
                <a:gd name="T37" fmla="*/ 35 h 50"/>
                <a:gd name="T38" fmla="*/ 2 w 153"/>
                <a:gd name="T39" fmla="*/ 31 h 50"/>
                <a:gd name="T40" fmla="*/ 0 w 153"/>
                <a:gd name="T41" fmla="*/ 28 h 50"/>
                <a:gd name="T42" fmla="*/ 0 w 153"/>
                <a:gd name="T43" fmla="*/ 24 h 50"/>
                <a:gd name="T44" fmla="*/ 1 w 153"/>
                <a:gd name="T45" fmla="*/ 20 h 50"/>
                <a:gd name="T46" fmla="*/ 4 w 153"/>
                <a:gd name="T47" fmla="*/ 16 h 50"/>
                <a:gd name="T48" fmla="*/ 9 w 153"/>
                <a:gd name="T49" fmla="*/ 13 h 50"/>
                <a:gd name="T50" fmla="*/ 15 w 153"/>
                <a:gd name="T51" fmla="*/ 10 h 50"/>
                <a:gd name="T52" fmla="*/ 22 w 153"/>
                <a:gd name="T53" fmla="*/ 7 h 50"/>
                <a:gd name="T54" fmla="*/ 30 w 153"/>
                <a:gd name="T55" fmla="*/ 5 h 50"/>
                <a:gd name="T56" fmla="*/ 40 w 153"/>
                <a:gd name="T57" fmla="*/ 3 h 50"/>
                <a:gd name="T58" fmla="*/ 50 w 153"/>
                <a:gd name="T59" fmla="*/ 2 h 50"/>
                <a:gd name="T60" fmla="*/ 61 w 153"/>
                <a:gd name="T61" fmla="*/ 1 h 50"/>
                <a:gd name="T62" fmla="*/ 72 w 153"/>
                <a:gd name="T63" fmla="*/ 0 h 50"/>
                <a:gd name="T64" fmla="*/ 84 w 153"/>
                <a:gd name="T65" fmla="*/ 0 h 50"/>
                <a:gd name="T66" fmla="*/ 95 w 153"/>
                <a:gd name="T67" fmla="*/ 1 h 50"/>
                <a:gd name="T68" fmla="*/ 106 w 153"/>
                <a:gd name="T69" fmla="*/ 2 h 50"/>
                <a:gd name="T70" fmla="*/ 116 w 153"/>
                <a:gd name="T71" fmla="*/ 4 h 50"/>
                <a:gd name="T72" fmla="*/ 125 w 153"/>
                <a:gd name="T73" fmla="*/ 6 h 50"/>
                <a:gd name="T74" fmla="*/ 133 w 153"/>
                <a:gd name="T75" fmla="*/ 8 h 50"/>
                <a:gd name="T76" fmla="*/ 140 w 153"/>
                <a:gd name="T77" fmla="*/ 11 h 50"/>
                <a:gd name="T78" fmla="*/ 145 w 153"/>
                <a:gd name="T79" fmla="*/ 14 h 50"/>
                <a:gd name="T80" fmla="*/ 149 w 153"/>
                <a:gd name="T81" fmla="*/ 18 h 50"/>
                <a:gd name="T82" fmla="*/ 152 w 153"/>
                <a:gd name="T83" fmla="*/ 21 h 50"/>
                <a:gd name="T84" fmla="*/ 153 w 153"/>
                <a:gd name="T85" fmla="*/ 25 h 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53"/>
                <a:gd name="T130" fmla="*/ 0 h 50"/>
                <a:gd name="T131" fmla="*/ 153 w 153"/>
                <a:gd name="T132" fmla="*/ 50 h 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53" h="50">
                  <a:moveTo>
                    <a:pt x="153" y="25"/>
                  </a:moveTo>
                  <a:lnTo>
                    <a:pt x="153" y="26"/>
                  </a:lnTo>
                  <a:lnTo>
                    <a:pt x="152" y="28"/>
                  </a:lnTo>
                  <a:lnTo>
                    <a:pt x="152" y="29"/>
                  </a:lnTo>
                  <a:lnTo>
                    <a:pt x="151" y="30"/>
                  </a:lnTo>
                  <a:lnTo>
                    <a:pt x="150" y="31"/>
                  </a:lnTo>
                  <a:lnTo>
                    <a:pt x="149" y="32"/>
                  </a:lnTo>
                  <a:lnTo>
                    <a:pt x="148" y="34"/>
                  </a:lnTo>
                  <a:lnTo>
                    <a:pt x="147" y="35"/>
                  </a:lnTo>
                  <a:lnTo>
                    <a:pt x="145" y="36"/>
                  </a:lnTo>
                  <a:lnTo>
                    <a:pt x="143" y="37"/>
                  </a:lnTo>
                  <a:lnTo>
                    <a:pt x="142" y="38"/>
                  </a:lnTo>
                  <a:lnTo>
                    <a:pt x="140" y="39"/>
                  </a:lnTo>
                  <a:lnTo>
                    <a:pt x="137" y="40"/>
                  </a:lnTo>
                  <a:lnTo>
                    <a:pt x="135" y="41"/>
                  </a:lnTo>
                  <a:lnTo>
                    <a:pt x="133" y="42"/>
                  </a:lnTo>
                  <a:lnTo>
                    <a:pt x="130" y="43"/>
                  </a:lnTo>
                  <a:lnTo>
                    <a:pt x="128" y="43"/>
                  </a:lnTo>
                  <a:lnTo>
                    <a:pt x="125" y="44"/>
                  </a:lnTo>
                  <a:lnTo>
                    <a:pt x="122" y="45"/>
                  </a:lnTo>
                  <a:lnTo>
                    <a:pt x="119" y="46"/>
                  </a:lnTo>
                  <a:lnTo>
                    <a:pt x="116" y="46"/>
                  </a:lnTo>
                  <a:lnTo>
                    <a:pt x="113" y="47"/>
                  </a:lnTo>
                  <a:lnTo>
                    <a:pt x="109" y="47"/>
                  </a:lnTo>
                  <a:lnTo>
                    <a:pt x="106" y="48"/>
                  </a:lnTo>
                  <a:lnTo>
                    <a:pt x="102" y="48"/>
                  </a:lnTo>
                  <a:lnTo>
                    <a:pt x="99" y="49"/>
                  </a:lnTo>
                  <a:lnTo>
                    <a:pt x="95" y="49"/>
                  </a:lnTo>
                  <a:lnTo>
                    <a:pt x="92" y="49"/>
                  </a:lnTo>
                  <a:lnTo>
                    <a:pt x="88" y="50"/>
                  </a:lnTo>
                  <a:lnTo>
                    <a:pt x="84" y="50"/>
                  </a:lnTo>
                  <a:lnTo>
                    <a:pt x="80" y="50"/>
                  </a:lnTo>
                  <a:lnTo>
                    <a:pt x="76" y="50"/>
                  </a:lnTo>
                  <a:lnTo>
                    <a:pt x="72" y="50"/>
                  </a:lnTo>
                  <a:lnTo>
                    <a:pt x="68" y="50"/>
                  </a:lnTo>
                  <a:lnTo>
                    <a:pt x="64" y="50"/>
                  </a:lnTo>
                  <a:lnTo>
                    <a:pt x="61" y="49"/>
                  </a:lnTo>
                  <a:lnTo>
                    <a:pt x="57" y="49"/>
                  </a:lnTo>
                  <a:lnTo>
                    <a:pt x="53" y="49"/>
                  </a:lnTo>
                  <a:lnTo>
                    <a:pt x="50" y="48"/>
                  </a:lnTo>
                  <a:lnTo>
                    <a:pt x="46" y="48"/>
                  </a:lnTo>
                  <a:lnTo>
                    <a:pt x="43" y="47"/>
                  </a:lnTo>
                  <a:lnTo>
                    <a:pt x="40" y="47"/>
                  </a:lnTo>
                  <a:lnTo>
                    <a:pt x="36" y="46"/>
                  </a:lnTo>
                  <a:lnTo>
                    <a:pt x="33" y="46"/>
                  </a:lnTo>
                  <a:lnTo>
                    <a:pt x="30" y="45"/>
                  </a:lnTo>
                  <a:lnTo>
                    <a:pt x="27" y="44"/>
                  </a:lnTo>
                  <a:lnTo>
                    <a:pt x="25" y="43"/>
                  </a:lnTo>
                  <a:lnTo>
                    <a:pt x="22" y="43"/>
                  </a:lnTo>
                  <a:lnTo>
                    <a:pt x="19" y="42"/>
                  </a:lnTo>
                  <a:lnTo>
                    <a:pt x="17" y="41"/>
                  </a:lnTo>
                  <a:lnTo>
                    <a:pt x="15" y="40"/>
                  </a:lnTo>
                  <a:lnTo>
                    <a:pt x="13" y="39"/>
                  </a:lnTo>
                  <a:lnTo>
                    <a:pt x="11" y="38"/>
                  </a:lnTo>
                  <a:lnTo>
                    <a:pt x="9" y="37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3" y="32"/>
                  </a:lnTo>
                  <a:lnTo>
                    <a:pt x="2" y="31"/>
                  </a:lnTo>
                  <a:lnTo>
                    <a:pt x="1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2"/>
                  </a:lnTo>
                  <a:lnTo>
                    <a:pt x="13" y="11"/>
                  </a:lnTo>
                  <a:lnTo>
                    <a:pt x="15" y="10"/>
                  </a:lnTo>
                  <a:lnTo>
                    <a:pt x="17" y="9"/>
                  </a:lnTo>
                  <a:lnTo>
                    <a:pt x="19" y="8"/>
                  </a:lnTo>
                  <a:lnTo>
                    <a:pt x="22" y="7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36" y="4"/>
                  </a:lnTo>
                  <a:lnTo>
                    <a:pt x="40" y="3"/>
                  </a:lnTo>
                  <a:lnTo>
                    <a:pt x="43" y="3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1"/>
                  </a:lnTo>
                  <a:lnTo>
                    <a:pt x="61" y="1"/>
                  </a:lnTo>
                  <a:lnTo>
                    <a:pt x="64" y="0"/>
                  </a:lnTo>
                  <a:lnTo>
                    <a:pt x="68" y="0"/>
                  </a:lnTo>
                  <a:lnTo>
                    <a:pt x="72" y="0"/>
                  </a:lnTo>
                  <a:lnTo>
                    <a:pt x="76" y="0"/>
                  </a:lnTo>
                  <a:lnTo>
                    <a:pt x="80" y="0"/>
                  </a:lnTo>
                  <a:lnTo>
                    <a:pt x="84" y="0"/>
                  </a:lnTo>
                  <a:lnTo>
                    <a:pt x="88" y="0"/>
                  </a:lnTo>
                  <a:lnTo>
                    <a:pt x="92" y="1"/>
                  </a:lnTo>
                  <a:lnTo>
                    <a:pt x="95" y="1"/>
                  </a:lnTo>
                  <a:lnTo>
                    <a:pt x="99" y="1"/>
                  </a:lnTo>
                  <a:lnTo>
                    <a:pt x="102" y="2"/>
                  </a:lnTo>
                  <a:lnTo>
                    <a:pt x="106" y="2"/>
                  </a:lnTo>
                  <a:lnTo>
                    <a:pt x="109" y="3"/>
                  </a:lnTo>
                  <a:lnTo>
                    <a:pt x="113" y="3"/>
                  </a:lnTo>
                  <a:lnTo>
                    <a:pt x="116" y="4"/>
                  </a:lnTo>
                  <a:lnTo>
                    <a:pt x="119" y="4"/>
                  </a:lnTo>
                  <a:lnTo>
                    <a:pt x="122" y="5"/>
                  </a:lnTo>
                  <a:lnTo>
                    <a:pt x="125" y="6"/>
                  </a:lnTo>
                  <a:lnTo>
                    <a:pt x="128" y="7"/>
                  </a:lnTo>
                  <a:lnTo>
                    <a:pt x="130" y="7"/>
                  </a:lnTo>
                  <a:lnTo>
                    <a:pt x="133" y="8"/>
                  </a:lnTo>
                  <a:lnTo>
                    <a:pt x="135" y="9"/>
                  </a:lnTo>
                  <a:lnTo>
                    <a:pt x="137" y="10"/>
                  </a:lnTo>
                  <a:lnTo>
                    <a:pt x="140" y="11"/>
                  </a:lnTo>
                  <a:lnTo>
                    <a:pt x="142" y="12"/>
                  </a:lnTo>
                  <a:lnTo>
                    <a:pt x="143" y="13"/>
                  </a:lnTo>
                  <a:lnTo>
                    <a:pt x="145" y="14"/>
                  </a:lnTo>
                  <a:lnTo>
                    <a:pt x="147" y="15"/>
                  </a:lnTo>
                  <a:lnTo>
                    <a:pt x="148" y="16"/>
                  </a:lnTo>
                  <a:lnTo>
                    <a:pt x="149" y="18"/>
                  </a:lnTo>
                  <a:lnTo>
                    <a:pt x="150" y="19"/>
                  </a:lnTo>
                  <a:lnTo>
                    <a:pt x="151" y="20"/>
                  </a:lnTo>
                  <a:lnTo>
                    <a:pt x="152" y="21"/>
                  </a:lnTo>
                  <a:lnTo>
                    <a:pt x="152" y="22"/>
                  </a:lnTo>
                  <a:lnTo>
                    <a:pt x="153" y="24"/>
                  </a:lnTo>
                  <a:lnTo>
                    <a:pt x="153" y="25"/>
                  </a:lnTo>
                </a:path>
              </a:pathLst>
            </a:custGeom>
            <a:noFill/>
            <a:ln w="0">
              <a:solidFill>
                <a:srgbClr val="ADD7E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67" name="Freeform 797"/>
            <p:cNvSpPr>
              <a:spLocks/>
            </p:cNvSpPr>
            <p:nvPr/>
          </p:nvSpPr>
          <p:spPr bwMode="auto">
            <a:xfrm>
              <a:off x="3400" y="2666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68" name="Freeform 798"/>
            <p:cNvSpPr>
              <a:spLocks/>
            </p:cNvSpPr>
            <p:nvPr/>
          </p:nvSpPr>
          <p:spPr bwMode="auto">
            <a:xfrm>
              <a:off x="3345" y="2685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69" name="Freeform 799"/>
            <p:cNvSpPr>
              <a:spLocks/>
            </p:cNvSpPr>
            <p:nvPr/>
          </p:nvSpPr>
          <p:spPr bwMode="auto">
            <a:xfrm>
              <a:off x="3348" y="2665"/>
              <a:ext cx="50" cy="17"/>
            </a:xfrm>
            <a:custGeom>
              <a:avLst/>
              <a:gdLst>
                <a:gd name="T0" fmla="*/ 0 w 50"/>
                <a:gd name="T1" fmla="*/ 4 h 17"/>
                <a:gd name="T2" fmla="*/ 11 w 50"/>
                <a:gd name="T3" fmla="*/ 0 h 17"/>
                <a:gd name="T4" fmla="*/ 38 w 50"/>
                <a:gd name="T5" fmla="*/ 10 h 17"/>
                <a:gd name="T6" fmla="*/ 50 w 50"/>
                <a:gd name="T7" fmla="*/ 8 h 17"/>
                <a:gd name="T8" fmla="*/ 44 w 50"/>
                <a:gd name="T9" fmla="*/ 17 h 17"/>
                <a:gd name="T10" fmla="*/ 11 w 50"/>
                <a:gd name="T11" fmla="*/ 17 h 17"/>
                <a:gd name="T12" fmla="*/ 25 w 50"/>
                <a:gd name="T13" fmla="*/ 13 h 17"/>
                <a:gd name="T14" fmla="*/ 0 w 50"/>
                <a:gd name="T15" fmla="*/ 4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7"/>
                <a:gd name="T26" fmla="*/ 50 w 50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7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8"/>
                  </a:lnTo>
                  <a:lnTo>
                    <a:pt x="44" y="17"/>
                  </a:lnTo>
                  <a:lnTo>
                    <a:pt x="11" y="17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0" name="Freeform 800"/>
            <p:cNvSpPr>
              <a:spLocks/>
            </p:cNvSpPr>
            <p:nvPr/>
          </p:nvSpPr>
          <p:spPr bwMode="auto">
            <a:xfrm>
              <a:off x="3398" y="2686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40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40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1" name="Freeform 801"/>
            <p:cNvSpPr>
              <a:spLocks/>
            </p:cNvSpPr>
            <p:nvPr/>
          </p:nvSpPr>
          <p:spPr bwMode="auto">
            <a:xfrm>
              <a:off x="3401" y="2667"/>
              <a:ext cx="50" cy="16"/>
            </a:xfrm>
            <a:custGeom>
              <a:avLst/>
              <a:gdLst>
                <a:gd name="T0" fmla="*/ 0 w 50"/>
                <a:gd name="T1" fmla="*/ 12 h 16"/>
                <a:gd name="T2" fmla="*/ 11 w 50"/>
                <a:gd name="T3" fmla="*/ 16 h 16"/>
                <a:gd name="T4" fmla="*/ 38 w 50"/>
                <a:gd name="T5" fmla="*/ 6 h 16"/>
                <a:gd name="T6" fmla="*/ 50 w 50"/>
                <a:gd name="T7" fmla="*/ 9 h 16"/>
                <a:gd name="T8" fmla="*/ 44 w 50"/>
                <a:gd name="T9" fmla="*/ 0 h 16"/>
                <a:gd name="T10" fmla="*/ 12 w 50"/>
                <a:gd name="T11" fmla="*/ 0 h 16"/>
                <a:gd name="T12" fmla="*/ 25 w 50"/>
                <a:gd name="T13" fmla="*/ 3 h 16"/>
                <a:gd name="T14" fmla="*/ 0 w 50"/>
                <a:gd name="T15" fmla="*/ 12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12"/>
                  </a:moveTo>
                  <a:lnTo>
                    <a:pt x="11" y="16"/>
                  </a:lnTo>
                  <a:lnTo>
                    <a:pt x="38" y="6"/>
                  </a:lnTo>
                  <a:lnTo>
                    <a:pt x="50" y="9"/>
                  </a:lnTo>
                  <a:lnTo>
                    <a:pt x="44" y="0"/>
                  </a:lnTo>
                  <a:lnTo>
                    <a:pt x="12" y="0"/>
                  </a:lnTo>
                  <a:lnTo>
                    <a:pt x="25" y="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2" name="Freeform 802"/>
            <p:cNvSpPr>
              <a:spLocks/>
            </p:cNvSpPr>
            <p:nvPr/>
          </p:nvSpPr>
          <p:spPr bwMode="auto">
            <a:xfrm>
              <a:off x="3346" y="2686"/>
              <a:ext cx="50" cy="16"/>
            </a:xfrm>
            <a:custGeom>
              <a:avLst/>
              <a:gdLst>
                <a:gd name="T0" fmla="*/ 50 w 50"/>
                <a:gd name="T1" fmla="*/ 4 h 16"/>
                <a:gd name="T2" fmla="*/ 39 w 50"/>
                <a:gd name="T3" fmla="*/ 0 h 16"/>
                <a:gd name="T4" fmla="*/ 12 w 50"/>
                <a:gd name="T5" fmla="*/ 10 h 16"/>
                <a:gd name="T6" fmla="*/ 0 w 50"/>
                <a:gd name="T7" fmla="*/ 7 h 16"/>
                <a:gd name="T8" fmla="*/ 7 w 50"/>
                <a:gd name="T9" fmla="*/ 16 h 16"/>
                <a:gd name="T10" fmla="*/ 39 w 50"/>
                <a:gd name="T11" fmla="*/ 16 h 16"/>
                <a:gd name="T12" fmla="*/ 25 w 50"/>
                <a:gd name="T13" fmla="*/ 13 h 16"/>
                <a:gd name="T14" fmla="*/ 5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50" y="4"/>
                  </a:moveTo>
                  <a:lnTo>
                    <a:pt x="39" y="0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7" y="16"/>
                  </a:lnTo>
                  <a:lnTo>
                    <a:pt x="39" y="16"/>
                  </a:lnTo>
                  <a:lnTo>
                    <a:pt x="25" y="13"/>
                  </a:lnTo>
                  <a:lnTo>
                    <a:pt x="5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3" name="Freeform 803"/>
            <p:cNvSpPr>
              <a:spLocks/>
            </p:cNvSpPr>
            <p:nvPr/>
          </p:nvSpPr>
          <p:spPr bwMode="auto">
            <a:xfrm>
              <a:off x="3349" y="2666"/>
              <a:ext cx="50" cy="16"/>
            </a:xfrm>
            <a:custGeom>
              <a:avLst/>
              <a:gdLst>
                <a:gd name="T0" fmla="*/ 0 w 50"/>
                <a:gd name="T1" fmla="*/ 4 h 16"/>
                <a:gd name="T2" fmla="*/ 11 w 50"/>
                <a:gd name="T3" fmla="*/ 0 h 16"/>
                <a:gd name="T4" fmla="*/ 38 w 50"/>
                <a:gd name="T5" fmla="*/ 10 h 16"/>
                <a:gd name="T6" fmla="*/ 50 w 50"/>
                <a:gd name="T7" fmla="*/ 7 h 16"/>
                <a:gd name="T8" fmla="*/ 44 w 50"/>
                <a:gd name="T9" fmla="*/ 16 h 16"/>
                <a:gd name="T10" fmla="*/ 11 w 50"/>
                <a:gd name="T11" fmla="*/ 16 h 16"/>
                <a:gd name="T12" fmla="*/ 25 w 50"/>
                <a:gd name="T13" fmla="*/ 13 h 16"/>
                <a:gd name="T14" fmla="*/ 0 w 50"/>
                <a:gd name="T15" fmla="*/ 4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0"/>
                <a:gd name="T25" fmla="*/ 0 h 16"/>
                <a:gd name="T26" fmla="*/ 50 w 50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0" h="16">
                  <a:moveTo>
                    <a:pt x="0" y="4"/>
                  </a:moveTo>
                  <a:lnTo>
                    <a:pt x="11" y="0"/>
                  </a:lnTo>
                  <a:lnTo>
                    <a:pt x="38" y="10"/>
                  </a:lnTo>
                  <a:lnTo>
                    <a:pt x="50" y="7"/>
                  </a:lnTo>
                  <a:lnTo>
                    <a:pt x="44" y="16"/>
                  </a:lnTo>
                  <a:lnTo>
                    <a:pt x="11" y="16"/>
                  </a:lnTo>
                  <a:lnTo>
                    <a:pt x="25" y="13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4" name="Freeform 804"/>
            <p:cNvSpPr>
              <a:spLocks/>
            </p:cNvSpPr>
            <p:nvPr/>
          </p:nvSpPr>
          <p:spPr bwMode="auto">
            <a:xfrm>
              <a:off x="3399" y="2687"/>
              <a:ext cx="51" cy="16"/>
            </a:xfrm>
            <a:custGeom>
              <a:avLst/>
              <a:gdLst>
                <a:gd name="T0" fmla="*/ 51 w 51"/>
                <a:gd name="T1" fmla="*/ 13 h 16"/>
                <a:gd name="T2" fmla="*/ 39 w 51"/>
                <a:gd name="T3" fmla="*/ 16 h 16"/>
                <a:gd name="T4" fmla="*/ 13 w 51"/>
                <a:gd name="T5" fmla="*/ 6 h 16"/>
                <a:gd name="T6" fmla="*/ 0 w 51"/>
                <a:gd name="T7" fmla="*/ 9 h 16"/>
                <a:gd name="T8" fmla="*/ 7 w 51"/>
                <a:gd name="T9" fmla="*/ 0 h 16"/>
                <a:gd name="T10" fmla="*/ 39 w 51"/>
                <a:gd name="T11" fmla="*/ 0 h 16"/>
                <a:gd name="T12" fmla="*/ 26 w 51"/>
                <a:gd name="T13" fmla="*/ 3 h 16"/>
                <a:gd name="T14" fmla="*/ 51 w 51"/>
                <a:gd name="T15" fmla="*/ 13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16"/>
                <a:gd name="T26" fmla="*/ 51 w 51"/>
                <a:gd name="T27" fmla="*/ 16 h 1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16">
                  <a:moveTo>
                    <a:pt x="51" y="13"/>
                  </a:moveTo>
                  <a:lnTo>
                    <a:pt x="39" y="16"/>
                  </a:lnTo>
                  <a:lnTo>
                    <a:pt x="13" y="6"/>
                  </a:lnTo>
                  <a:lnTo>
                    <a:pt x="0" y="9"/>
                  </a:lnTo>
                  <a:lnTo>
                    <a:pt x="7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51" y="1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5" name="Line 805"/>
            <p:cNvSpPr>
              <a:spLocks noChangeShapeType="1"/>
            </p:cNvSpPr>
            <p:nvPr/>
          </p:nvSpPr>
          <p:spPr bwMode="auto">
            <a:xfrm>
              <a:off x="3322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6" name="Line 806"/>
            <p:cNvSpPr>
              <a:spLocks noChangeShapeType="1"/>
            </p:cNvSpPr>
            <p:nvPr/>
          </p:nvSpPr>
          <p:spPr bwMode="auto">
            <a:xfrm>
              <a:off x="3475" y="2684"/>
              <a:ext cx="1" cy="107"/>
            </a:xfrm>
            <a:prstGeom prst="line">
              <a:avLst/>
            </a:prstGeom>
            <a:noFill/>
            <a:ln w="0">
              <a:solidFill>
                <a:srgbClr val="ADD7E7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7" name="Freeform 807"/>
            <p:cNvSpPr>
              <a:spLocks/>
            </p:cNvSpPr>
            <p:nvPr/>
          </p:nvSpPr>
          <p:spPr bwMode="auto">
            <a:xfrm>
              <a:off x="3339" y="2713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1 h 90"/>
                <a:gd name="T4" fmla="*/ 44 w 117"/>
                <a:gd name="T5" fmla="*/ 11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8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4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1"/>
                  </a:lnTo>
                  <a:lnTo>
                    <a:pt x="44" y="11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8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4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8" name="Freeform 808"/>
            <p:cNvSpPr>
              <a:spLocks/>
            </p:cNvSpPr>
            <p:nvPr/>
          </p:nvSpPr>
          <p:spPr bwMode="auto">
            <a:xfrm>
              <a:off x="3340" y="2714"/>
              <a:ext cx="117" cy="90"/>
            </a:xfrm>
            <a:custGeom>
              <a:avLst/>
              <a:gdLst>
                <a:gd name="T0" fmla="*/ 17 w 117"/>
                <a:gd name="T1" fmla="*/ 0 h 90"/>
                <a:gd name="T2" fmla="*/ 17 w 117"/>
                <a:gd name="T3" fmla="*/ 10 h 90"/>
                <a:gd name="T4" fmla="*/ 44 w 117"/>
                <a:gd name="T5" fmla="*/ 10 h 90"/>
                <a:gd name="T6" fmla="*/ 58 w 117"/>
                <a:gd name="T7" fmla="*/ 35 h 90"/>
                <a:gd name="T8" fmla="*/ 73 w 117"/>
                <a:gd name="T9" fmla="*/ 11 h 90"/>
                <a:gd name="T10" fmla="*/ 100 w 117"/>
                <a:gd name="T11" fmla="*/ 11 h 90"/>
                <a:gd name="T12" fmla="*/ 100 w 117"/>
                <a:gd name="T13" fmla="*/ 0 h 90"/>
                <a:gd name="T14" fmla="*/ 117 w 117"/>
                <a:gd name="T15" fmla="*/ 14 h 90"/>
                <a:gd name="T16" fmla="*/ 100 w 117"/>
                <a:gd name="T17" fmla="*/ 27 h 90"/>
                <a:gd name="T18" fmla="*/ 100 w 117"/>
                <a:gd name="T19" fmla="*/ 18 h 90"/>
                <a:gd name="T20" fmla="*/ 81 w 117"/>
                <a:gd name="T21" fmla="*/ 18 h 90"/>
                <a:gd name="T22" fmla="*/ 64 w 117"/>
                <a:gd name="T23" fmla="*/ 45 h 90"/>
                <a:gd name="T24" fmla="*/ 81 w 117"/>
                <a:gd name="T25" fmla="*/ 72 h 90"/>
                <a:gd name="T26" fmla="*/ 100 w 117"/>
                <a:gd name="T27" fmla="*/ 72 h 90"/>
                <a:gd name="T28" fmla="*/ 100 w 117"/>
                <a:gd name="T29" fmla="*/ 62 h 90"/>
                <a:gd name="T30" fmla="*/ 117 w 117"/>
                <a:gd name="T31" fmla="*/ 76 h 90"/>
                <a:gd name="T32" fmla="*/ 100 w 117"/>
                <a:gd name="T33" fmla="*/ 90 h 90"/>
                <a:gd name="T34" fmla="*/ 100 w 117"/>
                <a:gd name="T35" fmla="*/ 80 h 90"/>
                <a:gd name="T36" fmla="*/ 73 w 117"/>
                <a:gd name="T37" fmla="*/ 80 h 90"/>
                <a:gd name="T38" fmla="*/ 58 w 117"/>
                <a:gd name="T39" fmla="*/ 55 h 90"/>
                <a:gd name="T40" fmla="*/ 44 w 117"/>
                <a:gd name="T41" fmla="*/ 80 h 90"/>
                <a:gd name="T42" fmla="*/ 17 w 117"/>
                <a:gd name="T43" fmla="*/ 80 h 90"/>
                <a:gd name="T44" fmla="*/ 17 w 117"/>
                <a:gd name="T45" fmla="*/ 90 h 90"/>
                <a:gd name="T46" fmla="*/ 0 w 117"/>
                <a:gd name="T47" fmla="*/ 76 h 90"/>
                <a:gd name="T48" fmla="*/ 17 w 117"/>
                <a:gd name="T49" fmla="*/ 62 h 90"/>
                <a:gd name="T50" fmla="*/ 17 w 117"/>
                <a:gd name="T51" fmla="*/ 72 h 90"/>
                <a:gd name="T52" fmla="*/ 36 w 117"/>
                <a:gd name="T53" fmla="*/ 72 h 90"/>
                <a:gd name="T54" fmla="*/ 52 w 117"/>
                <a:gd name="T55" fmla="*/ 45 h 90"/>
                <a:gd name="T56" fmla="*/ 36 w 117"/>
                <a:gd name="T57" fmla="*/ 18 h 90"/>
                <a:gd name="T58" fmla="*/ 17 w 117"/>
                <a:gd name="T59" fmla="*/ 18 h 90"/>
                <a:gd name="T60" fmla="*/ 17 w 117"/>
                <a:gd name="T61" fmla="*/ 27 h 90"/>
                <a:gd name="T62" fmla="*/ 0 w 117"/>
                <a:gd name="T63" fmla="*/ 13 h 90"/>
                <a:gd name="T64" fmla="*/ 17 w 117"/>
                <a:gd name="T65" fmla="*/ 0 h 9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7"/>
                <a:gd name="T100" fmla="*/ 0 h 90"/>
                <a:gd name="T101" fmla="*/ 117 w 117"/>
                <a:gd name="T102" fmla="*/ 90 h 9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7" h="90">
                  <a:moveTo>
                    <a:pt x="17" y="0"/>
                  </a:moveTo>
                  <a:lnTo>
                    <a:pt x="17" y="10"/>
                  </a:lnTo>
                  <a:lnTo>
                    <a:pt x="44" y="10"/>
                  </a:lnTo>
                  <a:lnTo>
                    <a:pt x="58" y="35"/>
                  </a:lnTo>
                  <a:lnTo>
                    <a:pt x="73" y="11"/>
                  </a:lnTo>
                  <a:lnTo>
                    <a:pt x="100" y="11"/>
                  </a:lnTo>
                  <a:lnTo>
                    <a:pt x="100" y="0"/>
                  </a:lnTo>
                  <a:lnTo>
                    <a:pt x="117" y="14"/>
                  </a:lnTo>
                  <a:lnTo>
                    <a:pt x="100" y="27"/>
                  </a:lnTo>
                  <a:lnTo>
                    <a:pt x="100" y="18"/>
                  </a:lnTo>
                  <a:lnTo>
                    <a:pt x="81" y="18"/>
                  </a:lnTo>
                  <a:lnTo>
                    <a:pt x="64" y="45"/>
                  </a:lnTo>
                  <a:lnTo>
                    <a:pt x="81" y="72"/>
                  </a:lnTo>
                  <a:lnTo>
                    <a:pt x="100" y="72"/>
                  </a:lnTo>
                  <a:lnTo>
                    <a:pt x="100" y="62"/>
                  </a:lnTo>
                  <a:lnTo>
                    <a:pt x="117" y="76"/>
                  </a:lnTo>
                  <a:lnTo>
                    <a:pt x="100" y="90"/>
                  </a:lnTo>
                  <a:lnTo>
                    <a:pt x="100" y="80"/>
                  </a:lnTo>
                  <a:lnTo>
                    <a:pt x="73" y="80"/>
                  </a:lnTo>
                  <a:lnTo>
                    <a:pt x="58" y="55"/>
                  </a:lnTo>
                  <a:lnTo>
                    <a:pt x="44" y="80"/>
                  </a:lnTo>
                  <a:lnTo>
                    <a:pt x="17" y="80"/>
                  </a:lnTo>
                  <a:lnTo>
                    <a:pt x="17" y="90"/>
                  </a:lnTo>
                  <a:lnTo>
                    <a:pt x="0" y="76"/>
                  </a:lnTo>
                  <a:lnTo>
                    <a:pt x="17" y="62"/>
                  </a:lnTo>
                  <a:lnTo>
                    <a:pt x="17" y="72"/>
                  </a:lnTo>
                  <a:lnTo>
                    <a:pt x="36" y="72"/>
                  </a:lnTo>
                  <a:lnTo>
                    <a:pt x="52" y="45"/>
                  </a:lnTo>
                  <a:lnTo>
                    <a:pt x="36" y="18"/>
                  </a:lnTo>
                  <a:lnTo>
                    <a:pt x="17" y="18"/>
                  </a:lnTo>
                  <a:lnTo>
                    <a:pt x="17" y="27"/>
                  </a:lnTo>
                  <a:lnTo>
                    <a:pt x="0" y="1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79" name="Rectangle 809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solidFill>
              <a:srgbClr val="07608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780" name="Rectangle 810"/>
            <p:cNvSpPr>
              <a:spLocks noChangeArrowheads="1"/>
            </p:cNvSpPr>
            <p:nvPr/>
          </p:nvSpPr>
          <p:spPr bwMode="auto">
            <a:xfrm>
              <a:off x="3433" y="2740"/>
              <a:ext cx="38" cy="35"/>
            </a:xfrm>
            <a:prstGeom prst="rect">
              <a:avLst/>
            </a:prstGeom>
            <a:noFill/>
            <a:ln w="0">
              <a:solidFill>
                <a:srgbClr val="ADD7E7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ru-RU"/>
            </a:p>
          </p:txBody>
        </p:sp>
        <p:sp>
          <p:nvSpPr>
            <p:cNvPr id="27781" name="Freeform 811"/>
            <p:cNvSpPr>
              <a:spLocks/>
            </p:cNvSpPr>
            <p:nvPr/>
          </p:nvSpPr>
          <p:spPr bwMode="auto">
            <a:xfrm>
              <a:off x="3441" y="2748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A1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782" name="Freeform 812"/>
            <p:cNvSpPr>
              <a:spLocks/>
            </p:cNvSpPr>
            <p:nvPr/>
          </p:nvSpPr>
          <p:spPr bwMode="auto">
            <a:xfrm>
              <a:off x="3440" y="2747"/>
              <a:ext cx="23" cy="21"/>
            </a:xfrm>
            <a:custGeom>
              <a:avLst/>
              <a:gdLst>
                <a:gd name="T0" fmla="*/ 0 w 23"/>
                <a:gd name="T1" fmla="*/ 0 h 21"/>
                <a:gd name="T2" fmla="*/ 5 w 23"/>
                <a:gd name="T3" fmla="*/ 0 h 21"/>
                <a:gd name="T4" fmla="*/ 11 w 23"/>
                <a:gd name="T5" fmla="*/ 13 h 21"/>
                <a:gd name="T6" fmla="*/ 17 w 23"/>
                <a:gd name="T7" fmla="*/ 0 h 21"/>
                <a:gd name="T8" fmla="*/ 23 w 23"/>
                <a:gd name="T9" fmla="*/ 0 h 21"/>
                <a:gd name="T10" fmla="*/ 14 w 23"/>
                <a:gd name="T11" fmla="*/ 21 h 21"/>
                <a:gd name="T12" fmla="*/ 9 w 23"/>
                <a:gd name="T13" fmla="*/ 21 h 21"/>
                <a:gd name="T14" fmla="*/ 0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21"/>
                <a:gd name="T26" fmla="*/ 23 w 23"/>
                <a:gd name="T27" fmla="*/ 21 h 2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21">
                  <a:moveTo>
                    <a:pt x="0" y="0"/>
                  </a:moveTo>
                  <a:lnTo>
                    <a:pt x="5" y="0"/>
                  </a:lnTo>
                  <a:lnTo>
                    <a:pt x="11" y="13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14" y="21"/>
                  </a:lnTo>
                  <a:lnTo>
                    <a:pt x="9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0"/>
            <a:ext cx="8964488" cy="764704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Уровень доступа</a:t>
            </a:r>
            <a:endParaRPr lang="ru-RU" dirty="0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800" b="1" dirty="0" smtClean="0"/>
              <a:t>Уровень доступа </a:t>
            </a:r>
            <a:r>
              <a:rPr lang="ru-RU" sz="2800" dirty="0" smtClean="0"/>
              <a:t>является той границей телекоммуникационной сети, где конечным клиентам предоставляются услуги.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800" dirty="0" smtClean="0"/>
              <a:t>Следовательно, </a:t>
            </a:r>
            <a:r>
              <a:rPr lang="ru-RU" sz="2800" b="1" dirty="0" smtClean="0"/>
              <a:t>на этом уровне важно создать </a:t>
            </a:r>
            <a:r>
              <a:rPr lang="ru-RU" sz="2800" dirty="0" smtClean="0"/>
              <a:t>максимально удобную для клиентов и наиболее эффективную для оператора </a:t>
            </a:r>
            <a:r>
              <a:rPr lang="ru-RU" sz="2800" b="1" dirty="0" smtClean="0"/>
              <a:t>структуру,</a:t>
            </a:r>
            <a:r>
              <a:rPr lang="ru-RU" sz="2800" dirty="0" smtClean="0"/>
              <a:t> которая </a:t>
            </a:r>
            <a:r>
              <a:rPr lang="ru-RU" sz="2800" b="1" dirty="0" smtClean="0"/>
              <a:t>удовлетворяла бы следующим требованиям</a:t>
            </a:r>
            <a:r>
              <a:rPr lang="ru-RU" sz="2800" dirty="0" smtClean="0"/>
              <a:t>:</a:t>
            </a:r>
            <a:endParaRPr lang="en-US" sz="2800" dirty="0" smtClean="0"/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предоставление наибольшей возможной  полосы пропускания до клиента;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универсальность с точки зрения среды передачи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dirty="0" smtClean="0"/>
              <a:t>       (медь, оптика, радио);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возможность централизованного управления;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возможность совместной работы с единой системой аутентификации, авторизации и </a:t>
            </a:r>
            <a:r>
              <a:rPr lang="ru-RU" sz="2800" dirty="0" err="1" smtClean="0"/>
              <a:t>биллинга</a:t>
            </a:r>
            <a:r>
              <a:rPr lang="ru-RU" sz="2800" dirty="0" smtClean="0"/>
              <a:t>;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возможность удаленного управления абонентским терминалом для исключения человеческого фактора.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>
            <a:normAutofit/>
          </a:bodyPr>
          <a:lstStyle/>
          <a:p>
            <a:r>
              <a:rPr lang="ru-RU" sz="4000" b="1" dirty="0" smtClean="0">
                <a:solidFill>
                  <a:srgbClr val="002060"/>
                </a:solidFill>
              </a:rPr>
              <a:t>Сеть доступа 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Основным назначением сети доступа является обеспечение надежной и качественной связи между всеми видами оборудования</a:t>
            </a:r>
            <a:r>
              <a:rPr lang="ru-RU" dirty="0" smtClean="0"/>
              <a:t>, установленного в помещении клиентов и соответствующими транзитными сетями.</a:t>
            </a:r>
          </a:p>
          <a:p>
            <a:r>
              <a:rPr lang="ru-RU" b="1" dirty="0" smtClean="0"/>
              <a:t>Примером оборудования в помещении пользователя может быть</a:t>
            </a:r>
            <a:r>
              <a:rPr lang="ru-RU" dirty="0" smtClean="0"/>
              <a:t> обычный телефон (квартирный сектор) и в этом случае функции элемента «Сеть доступа» может выполнять абонентская линия. </a:t>
            </a:r>
          </a:p>
          <a:p>
            <a:r>
              <a:rPr lang="ru-RU" dirty="0" smtClean="0"/>
              <a:t>В другом случае, если оборудованием является сложный комплекс программно-аппаратных средств (АТС), локальная сеть </a:t>
            </a:r>
            <a:r>
              <a:rPr lang="ru-RU" dirty="0" err="1" smtClean="0"/>
              <a:t>Ethernet</a:t>
            </a:r>
            <a:r>
              <a:rPr lang="ru-RU" dirty="0" smtClean="0"/>
              <a:t> и другое (производственный сектор).</a:t>
            </a:r>
          </a:p>
          <a:p>
            <a:r>
              <a:rPr lang="ru-RU" dirty="0" smtClean="0"/>
              <a:t>В состав сети доступа должны входить: цифровые тракты Е1 и поддерживающий стек протоколов TCP/IP, арендуемые линии если они необходимы.</a:t>
            </a:r>
          </a:p>
          <a:p>
            <a:r>
              <a:rPr lang="ru-RU" dirty="0" smtClean="0"/>
              <a:t>Модель </a:t>
            </a:r>
            <a:r>
              <a:rPr lang="ru-RU" dirty="0" err="1" smtClean="0"/>
              <a:t>инфокоммуникационной</a:t>
            </a:r>
            <a:r>
              <a:rPr lang="ru-RU" dirty="0" smtClean="0"/>
              <a:t> системы, предложенная Международным союзом электросвязи (МСЭ) в рекомендациях</a:t>
            </a:r>
          </a:p>
          <a:p>
            <a:pPr>
              <a:buNone/>
            </a:pPr>
            <a:r>
              <a:rPr lang="ru-RU" dirty="0" smtClean="0"/>
              <a:t>       серии Y.  Эта модель позволяет однозначно определить место</a:t>
            </a:r>
          </a:p>
          <a:p>
            <a:pPr>
              <a:buNone/>
            </a:pPr>
            <a:r>
              <a:rPr lang="ru-RU" dirty="0" smtClean="0"/>
              <a:t>       сети доступа в </a:t>
            </a:r>
            <a:r>
              <a:rPr lang="ru-RU" dirty="0" err="1" smtClean="0"/>
              <a:t>инфокоммуникационной</a:t>
            </a:r>
            <a:r>
              <a:rPr lang="ru-RU" dirty="0" smtClean="0"/>
              <a:t> системе.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188640"/>
            <a:ext cx="8640960" cy="79208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 dirty="0" smtClean="0">
                <a:solidFill>
                  <a:srgbClr val="002060"/>
                </a:solidFill>
              </a:rPr>
              <a:t>Функциональная модель NGN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6147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7188" y="1071563"/>
            <a:ext cx="8031162" cy="5286375"/>
          </a:xfrm>
        </p:spPr>
        <p:txBody>
          <a:bodyPr/>
          <a:lstStyle/>
          <a:p>
            <a:pPr marR="0"/>
            <a:endParaRPr lang="ru-RU" altLang="ru-RU" smtClean="0"/>
          </a:p>
        </p:txBody>
      </p:sp>
      <p:pic>
        <p:nvPicPr>
          <p:cNvPr id="614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00124"/>
            <a:ext cx="8964488" cy="585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Сеть доступа 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Сеть доступа занимает одно из важнейших мест в структуре сети следующего поколения.</a:t>
            </a:r>
            <a:r>
              <a:rPr lang="ru-RU" dirty="0" smtClean="0"/>
              <a:t> </a:t>
            </a:r>
          </a:p>
          <a:p>
            <a:r>
              <a:rPr lang="ru-RU" dirty="0" smtClean="0"/>
              <a:t>В современной телекоммуникационной системе меняется не только роль сети доступа,  но во многих случаях расширяется и территория, в границах которой создается сеть доступа.</a:t>
            </a:r>
          </a:p>
          <a:p>
            <a:r>
              <a:rPr lang="ru-RU" sz="3800" b="1" dirty="0" smtClean="0"/>
              <a:t>Сеть абонентского доступа – это сеть электросвязи, обеспечивающая подключение пользователя к оконечному узлу транспортной сети.</a:t>
            </a:r>
          </a:p>
          <a:p>
            <a:r>
              <a:rPr lang="ru-RU" u="sng" dirty="0" smtClean="0"/>
              <a:t>Сеть доступа может обеспечивать подключение следующих типов абонентов:</a:t>
            </a:r>
          </a:p>
          <a:p>
            <a:pPr>
              <a:buNone/>
            </a:pPr>
            <a:r>
              <a:rPr lang="ru-RU" dirty="0" smtClean="0"/>
              <a:t>   –	абоненты аналогового и цифрового доступа телефонной сети общего пользования (ТФОП);</a:t>
            </a:r>
          </a:p>
          <a:p>
            <a:pPr>
              <a:buNone/>
            </a:pPr>
            <a:r>
              <a:rPr lang="ru-RU" dirty="0" smtClean="0"/>
              <a:t>   –	абоненты доступа цифровых абонентских линий (</a:t>
            </a:r>
            <a:r>
              <a:rPr lang="ru-RU" dirty="0" err="1" smtClean="0"/>
              <a:t>Digital</a:t>
            </a:r>
            <a:r>
              <a:rPr lang="ru-RU" dirty="0" smtClean="0"/>
              <a:t> </a:t>
            </a:r>
            <a:r>
              <a:rPr lang="ru-RU" dirty="0" err="1" smtClean="0"/>
              <a:t>subscriber</a:t>
            </a:r>
            <a:r>
              <a:rPr lang="ru-RU" dirty="0" smtClean="0"/>
              <a:t> </a:t>
            </a:r>
            <a:r>
              <a:rPr lang="ru-RU" dirty="0" err="1" smtClean="0"/>
              <a:t>Line</a:t>
            </a:r>
            <a:r>
              <a:rPr lang="ru-RU" dirty="0" smtClean="0"/>
              <a:t>, </a:t>
            </a:r>
            <a:r>
              <a:rPr lang="ru-RU" dirty="0" err="1" smtClean="0"/>
              <a:t>xDSL</a:t>
            </a:r>
            <a:r>
              <a:rPr lang="ru-RU" dirty="0" smtClean="0"/>
              <a:t>);</a:t>
            </a:r>
          </a:p>
          <a:p>
            <a:pPr>
              <a:buNone/>
            </a:pPr>
            <a:r>
              <a:rPr lang="ru-RU" dirty="0" smtClean="0"/>
              <a:t>  –	абоненты выделенных каналов связи Nx64 кбит/с и 2 Мбит/с;</a:t>
            </a:r>
          </a:p>
          <a:p>
            <a:pPr>
              <a:buNone/>
            </a:pPr>
            <a:r>
              <a:rPr lang="ru-RU" dirty="0" smtClean="0"/>
              <a:t>  –	абоненты, использующие для доступа пассивные оптические кабельные сети (</a:t>
            </a:r>
            <a:r>
              <a:rPr lang="ru-RU" dirty="0" err="1" smtClean="0"/>
              <a:t>Passive</a:t>
            </a:r>
            <a:r>
              <a:rPr lang="ru-RU" dirty="0" smtClean="0"/>
              <a:t> </a:t>
            </a:r>
            <a:r>
              <a:rPr lang="ru-RU" dirty="0" err="1" smtClean="0"/>
              <a:t>Optical</a:t>
            </a:r>
            <a:r>
              <a:rPr lang="ru-RU" dirty="0" smtClean="0"/>
              <a:t> </a:t>
            </a:r>
            <a:r>
              <a:rPr lang="ru-RU" dirty="0" err="1" smtClean="0"/>
              <a:t>Network</a:t>
            </a:r>
            <a:r>
              <a:rPr lang="ru-RU" dirty="0" smtClean="0"/>
              <a:t>, PON);</a:t>
            </a:r>
          </a:p>
          <a:p>
            <a:pPr>
              <a:buNone/>
            </a:pPr>
            <a:r>
              <a:rPr lang="ru-RU" dirty="0" smtClean="0"/>
              <a:t>  –	абоненты, использующие для доступа структурированные кабельные системы (HFC);</a:t>
            </a:r>
          </a:p>
          <a:p>
            <a:pPr>
              <a:buNone/>
            </a:pPr>
            <a:r>
              <a:rPr lang="ru-RU" dirty="0" smtClean="0"/>
              <a:t>  </a:t>
            </a:r>
            <a:r>
              <a:rPr lang="en-US" dirty="0" smtClean="0"/>
              <a:t>–	</a:t>
            </a:r>
            <a:r>
              <a:rPr lang="en-US" dirty="0" err="1" smtClean="0"/>
              <a:t>абоненты</a:t>
            </a:r>
            <a:r>
              <a:rPr lang="en-US" dirty="0" smtClean="0"/>
              <a:t>, </a:t>
            </a:r>
            <a:r>
              <a:rPr lang="en-US" dirty="0" err="1" smtClean="0"/>
              <a:t>использующие</a:t>
            </a:r>
            <a:r>
              <a:rPr lang="en-US" dirty="0" smtClean="0"/>
              <a:t> </a:t>
            </a:r>
            <a:r>
              <a:rPr lang="en-US" dirty="0" err="1" smtClean="0"/>
              <a:t>системы</a:t>
            </a:r>
            <a:r>
              <a:rPr lang="en-US" dirty="0" smtClean="0"/>
              <a:t> </a:t>
            </a:r>
            <a:r>
              <a:rPr lang="en-US" dirty="0" err="1" smtClean="0"/>
              <a:t>беспроводного</a:t>
            </a:r>
            <a:r>
              <a:rPr lang="en-US" dirty="0" smtClean="0"/>
              <a:t> </a:t>
            </a:r>
            <a:r>
              <a:rPr lang="en-US" dirty="0" err="1" smtClean="0"/>
              <a:t>доступа</a:t>
            </a:r>
            <a:r>
              <a:rPr lang="en-US" dirty="0" smtClean="0"/>
              <a:t> и </a:t>
            </a:r>
            <a:r>
              <a:rPr lang="en-US" dirty="0" err="1" smtClean="0"/>
              <a:t>радиодоступа</a:t>
            </a:r>
            <a:r>
              <a:rPr lang="en-US" dirty="0" smtClean="0"/>
              <a:t> (Wi-Fi, </a:t>
            </a:r>
            <a:r>
              <a:rPr lang="en-US" dirty="0" err="1" smtClean="0"/>
              <a:t>WiMAX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Классификация сетей доступа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C:\Users\Alex\Desktop\сд1.gif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712968" cy="5144427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Классификация сетей доступа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ru-RU" b="1" dirty="0" smtClean="0"/>
              <a:t>  </a:t>
            </a:r>
            <a:r>
              <a:rPr lang="ru-RU" sz="8000" b="1" dirty="0" smtClean="0"/>
              <a:t>Технологии проводного абонентского доступа можно разбить на пять основных групп по критерию среды передачи и категориям пользователей.</a:t>
            </a:r>
          </a:p>
          <a:p>
            <a:pPr>
              <a:buNone/>
            </a:pPr>
            <a:r>
              <a:rPr lang="ru-RU" sz="8000" b="1" dirty="0" smtClean="0"/>
              <a:t> </a:t>
            </a:r>
            <a:r>
              <a:rPr lang="ru-RU" sz="8000" b="1" u="sng" dirty="0" smtClean="0"/>
              <a:t>Пять основных групп технологий проводного абонентского доступа:</a:t>
            </a:r>
          </a:p>
          <a:p>
            <a:r>
              <a:rPr lang="ru-RU" sz="8000" b="1" dirty="0" smtClean="0"/>
              <a:t>1	LAN (</a:t>
            </a:r>
            <a:r>
              <a:rPr lang="ru-RU" sz="8000" b="1" dirty="0" err="1" smtClean="0"/>
              <a:t>Local</a:t>
            </a:r>
            <a:r>
              <a:rPr lang="ru-RU" sz="8000" b="1" dirty="0" smtClean="0"/>
              <a:t> </a:t>
            </a:r>
            <a:r>
              <a:rPr lang="ru-RU" sz="8000" b="1" dirty="0" err="1" smtClean="0"/>
              <a:t>Area</a:t>
            </a:r>
            <a:r>
              <a:rPr lang="ru-RU" sz="8000" b="1" dirty="0" smtClean="0"/>
              <a:t> </a:t>
            </a:r>
            <a:r>
              <a:rPr lang="ru-RU" sz="8000" b="1" dirty="0" err="1" smtClean="0"/>
              <a:t>Network</a:t>
            </a:r>
            <a:r>
              <a:rPr lang="ru-RU" sz="8000" dirty="0" smtClean="0"/>
              <a:t>) – группа технологий, предназначенных для предоставления корпоративным пользователям услуг доступа к ресурсам локальных вычислительных сетей и использующих в качестве среды передачи структурированные кабельные системы категорий 3, 4 и 5, коаксиальный кабель и оптоволоконный кабель.</a:t>
            </a:r>
          </a:p>
          <a:p>
            <a:r>
              <a:rPr lang="ru-RU" sz="8000" b="1" dirty="0" smtClean="0"/>
              <a:t>2	DSL (</a:t>
            </a:r>
            <a:r>
              <a:rPr lang="ru-RU" sz="8000" b="1" dirty="0" err="1" smtClean="0"/>
              <a:t>Digital</a:t>
            </a:r>
            <a:r>
              <a:rPr lang="ru-RU" sz="8000" b="1" dirty="0" smtClean="0"/>
              <a:t> </a:t>
            </a:r>
            <a:r>
              <a:rPr lang="ru-RU" sz="8000" b="1" dirty="0" err="1" smtClean="0"/>
              <a:t>Subscriber</a:t>
            </a:r>
            <a:r>
              <a:rPr lang="ru-RU" sz="8000" b="1" dirty="0" smtClean="0"/>
              <a:t> </a:t>
            </a:r>
            <a:r>
              <a:rPr lang="ru-RU" sz="8000" b="1" dirty="0" err="1" smtClean="0"/>
              <a:t>Line</a:t>
            </a:r>
            <a:r>
              <a:rPr lang="ru-RU" sz="8000" dirty="0" smtClean="0"/>
              <a:t>) – группа технологий, предназначенных для предоставления пользователям ТфОП услуг мультимедиа и использующих в качестве среды передачи существующую инфраструктуру ТфОП.</a:t>
            </a:r>
          </a:p>
          <a:p>
            <a:r>
              <a:rPr lang="ru-RU" sz="8000" b="1" dirty="0" smtClean="0"/>
              <a:t>3	КТВ (кабельное телевидение) </a:t>
            </a:r>
            <a:r>
              <a:rPr lang="ru-RU" sz="8000" dirty="0" smtClean="0"/>
              <a:t>– группа технологий, предназначенных для предоставления пользователям сетей КТВ мультимедийных услуг (за счет организации обратного канала) и использующих в качестве среды передачи оптоволоконный и коаксиальный кабели.</a:t>
            </a:r>
          </a:p>
          <a:p>
            <a:r>
              <a:rPr lang="ru-RU" sz="8000" b="1" dirty="0" smtClean="0"/>
              <a:t>4.	OAN (</a:t>
            </a:r>
            <a:r>
              <a:rPr lang="ru-RU" sz="8000" b="1" dirty="0" err="1" smtClean="0"/>
              <a:t>Optical</a:t>
            </a:r>
            <a:r>
              <a:rPr lang="ru-RU" sz="8000" b="1" dirty="0" smtClean="0"/>
              <a:t> </a:t>
            </a:r>
            <a:r>
              <a:rPr lang="ru-RU" sz="8000" b="1" dirty="0" err="1" smtClean="0"/>
              <a:t>Access</a:t>
            </a:r>
            <a:r>
              <a:rPr lang="ru-RU" sz="8000" b="1" dirty="0" smtClean="0"/>
              <a:t> </a:t>
            </a:r>
            <a:r>
              <a:rPr lang="ru-RU" sz="8000" b="1" dirty="0" err="1" smtClean="0"/>
              <a:t>Networks</a:t>
            </a:r>
            <a:r>
              <a:rPr lang="ru-RU" sz="8000" dirty="0" smtClean="0"/>
              <a:t>) – группа технологий, предназначенных для предоставления пользователям широкополосных услуг, линии доступа к </a:t>
            </a:r>
            <a:r>
              <a:rPr lang="ru-RU" sz="8000" dirty="0" err="1" smtClean="0"/>
              <a:t>мультимедийным</a:t>
            </a:r>
            <a:r>
              <a:rPr lang="ru-RU" sz="8000" dirty="0" smtClean="0"/>
              <a:t> услугам и использующих в качестве среды передачи оптоволоконный кабель.</a:t>
            </a:r>
          </a:p>
          <a:p>
            <a:r>
              <a:rPr lang="en-US" sz="8000" b="1" dirty="0" smtClean="0"/>
              <a:t>5	СКД (</a:t>
            </a:r>
            <a:r>
              <a:rPr lang="en-US" sz="8000" b="1" dirty="0" err="1" smtClean="0"/>
              <a:t>сети</a:t>
            </a:r>
            <a:r>
              <a:rPr lang="en-US" sz="8000" b="1" dirty="0" smtClean="0"/>
              <a:t> </a:t>
            </a:r>
            <a:r>
              <a:rPr lang="en-US" sz="8000" b="1" dirty="0" err="1" smtClean="0"/>
              <a:t>коллективного</a:t>
            </a:r>
            <a:r>
              <a:rPr lang="en-US" sz="8000" b="1" dirty="0" smtClean="0"/>
              <a:t> </a:t>
            </a:r>
            <a:r>
              <a:rPr lang="en-US" sz="8000" b="1" dirty="0" err="1" smtClean="0"/>
              <a:t>доступа</a:t>
            </a:r>
            <a:r>
              <a:rPr lang="en-US" sz="8000" dirty="0" smtClean="0"/>
              <a:t>) – </a:t>
            </a:r>
            <a:r>
              <a:rPr lang="en-US" sz="8000" dirty="0" err="1" smtClean="0"/>
              <a:t>группа</a:t>
            </a:r>
            <a:r>
              <a:rPr lang="en-US" sz="8000" dirty="0" smtClean="0"/>
              <a:t> </a:t>
            </a:r>
            <a:r>
              <a:rPr lang="en-US" sz="8000" dirty="0" err="1" smtClean="0"/>
              <a:t>гибридных</a:t>
            </a:r>
            <a:r>
              <a:rPr lang="en-US" sz="8000" dirty="0" smtClean="0"/>
              <a:t> </a:t>
            </a:r>
            <a:r>
              <a:rPr lang="en-US" sz="8000" dirty="0" err="1" smtClean="0"/>
              <a:t>технологий</a:t>
            </a:r>
            <a:r>
              <a:rPr lang="en-US" sz="8000" dirty="0" smtClean="0"/>
              <a:t> </a:t>
            </a:r>
            <a:r>
              <a:rPr lang="en-US" sz="8000" dirty="0" err="1" smtClean="0"/>
              <a:t>для</a:t>
            </a:r>
            <a:r>
              <a:rPr lang="en-US" sz="8000" dirty="0" smtClean="0"/>
              <a:t> </a:t>
            </a:r>
            <a:r>
              <a:rPr lang="en-US" sz="8000" dirty="0" err="1" smtClean="0"/>
              <a:t>организации</a:t>
            </a:r>
            <a:r>
              <a:rPr lang="en-US" sz="8000" dirty="0" smtClean="0"/>
              <a:t> </a:t>
            </a:r>
            <a:r>
              <a:rPr lang="en-US" sz="8000" dirty="0" err="1" smtClean="0"/>
              <a:t>сетей</a:t>
            </a:r>
            <a:r>
              <a:rPr lang="en-US" sz="8000" dirty="0" smtClean="0"/>
              <a:t> </a:t>
            </a:r>
            <a:r>
              <a:rPr lang="en-US" sz="8000" dirty="0" err="1" smtClean="0"/>
              <a:t>доступа</a:t>
            </a:r>
            <a:r>
              <a:rPr lang="en-US" sz="8000" dirty="0" smtClean="0"/>
              <a:t> в </a:t>
            </a:r>
            <a:r>
              <a:rPr lang="en-US" sz="8000" dirty="0" err="1" smtClean="0"/>
              <a:t>многоквартирных</a:t>
            </a:r>
            <a:r>
              <a:rPr lang="en-US" sz="8000" dirty="0" smtClean="0"/>
              <a:t> </a:t>
            </a:r>
            <a:r>
              <a:rPr lang="en-US" sz="8000" dirty="0" err="1" smtClean="0"/>
              <a:t>домах</a:t>
            </a:r>
            <a:r>
              <a:rPr lang="en-US" sz="8000" dirty="0" smtClean="0"/>
              <a:t>; в </a:t>
            </a:r>
            <a:r>
              <a:rPr lang="en-US" sz="8000" dirty="0" err="1" smtClean="0"/>
              <a:t>качестве</a:t>
            </a:r>
            <a:r>
              <a:rPr lang="en-US" sz="8000" dirty="0" smtClean="0"/>
              <a:t> </a:t>
            </a:r>
            <a:r>
              <a:rPr lang="en-US" sz="8000" dirty="0" err="1" smtClean="0"/>
              <a:t>среды</a:t>
            </a:r>
            <a:r>
              <a:rPr lang="en-US" sz="8000" dirty="0" smtClean="0"/>
              <a:t> </a:t>
            </a:r>
            <a:r>
              <a:rPr lang="en-US" sz="8000" dirty="0" err="1" smtClean="0"/>
              <a:t>передачи</a:t>
            </a:r>
            <a:r>
              <a:rPr lang="en-US" sz="8000" dirty="0" smtClean="0"/>
              <a:t> </a:t>
            </a:r>
            <a:r>
              <a:rPr lang="en-US" sz="8000" dirty="0" err="1" smtClean="0"/>
              <a:t>используется</a:t>
            </a:r>
            <a:r>
              <a:rPr lang="en-US" sz="8000" dirty="0" smtClean="0"/>
              <a:t> </a:t>
            </a:r>
            <a:r>
              <a:rPr lang="en-US" sz="8000" dirty="0" err="1" smtClean="0"/>
              <a:t>существующая</a:t>
            </a:r>
            <a:r>
              <a:rPr lang="en-US" sz="8000" dirty="0" smtClean="0"/>
              <a:t> в </a:t>
            </a:r>
            <a:r>
              <a:rPr lang="en-US" sz="8000" dirty="0" err="1" smtClean="0"/>
              <a:t>домах</a:t>
            </a:r>
            <a:r>
              <a:rPr lang="en-US" sz="8000" dirty="0" smtClean="0"/>
              <a:t> </a:t>
            </a:r>
            <a:r>
              <a:rPr lang="en-US" sz="8000" dirty="0" err="1" smtClean="0"/>
              <a:t>инфраструктура</a:t>
            </a:r>
            <a:r>
              <a:rPr lang="en-US" sz="8000" dirty="0" smtClean="0"/>
              <a:t> ТфОП, </a:t>
            </a:r>
            <a:r>
              <a:rPr lang="en-US" sz="8000" dirty="0" err="1" smtClean="0"/>
              <a:t>радиотрансляционных</a:t>
            </a:r>
            <a:r>
              <a:rPr lang="en-US" sz="8000" dirty="0" smtClean="0"/>
              <a:t> </a:t>
            </a:r>
            <a:r>
              <a:rPr lang="en-US" sz="8000" dirty="0" err="1" smtClean="0"/>
              <a:t>сетей</a:t>
            </a:r>
            <a:r>
              <a:rPr lang="en-US" sz="8000" dirty="0" smtClean="0"/>
              <a:t> и </a:t>
            </a:r>
            <a:r>
              <a:rPr lang="en-US" sz="8000" dirty="0" err="1" smtClean="0"/>
              <a:t>сетей</a:t>
            </a:r>
            <a:r>
              <a:rPr lang="en-US" sz="8000" dirty="0" smtClean="0"/>
              <a:t> </a:t>
            </a:r>
            <a:r>
              <a:rPr lang="en-US" sz="8000" dirty="0" err="1" smtClean="0"/>
              <a:t>электропитания</a:t>
            </a:r>
            <a:endParaRPr lang="ru-RU" sz="8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Классификация сетей доступа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Autofit/>
          </a:bodyPr>
          <a:lstStyle/>
          <a:p>
            <a:r>
              <a:rPr lang="ru-RU" sz="2000" b="1" dirty="0" smtClean="0"/>
              <a:t>1. </a:t>
            </a:r>
            <a:r>
              <a:rPr lang="en-US" sz="2000" b="1" dirty="0" smtClean="0"/>
              <a:t>В </a:t>
            </a:r>
            <a:r>
              <a:rPr lang="en-US" sz="2000" b="1" dirty="0" err="1" smtClean="0"/>
              <a:t>группе</a:t>
            </a:r>
            <a:r>
              <a:rPr lang="en-US" sz="2000" b="1" dirty="0" smtClean="0"/>
              <a:t> LAN </a:t>
            </a:r>
            <a:r>
              <a:rPr lang="en-US" sz="2000" b="1" dirty="0" err="1" smtClean="0"/>
              <a:t>более</a:t>
            </a:r>
            <a:r>
              <a:rPr lang="en-US" sz="2000" b="1" dirty="0" smtClean="0"/>
              <a:t> 90% </a:t>
            </a:r>
            <a:r>
              <a:rPr lang="en-US" sz="2000" b="1" dirty="0" err="1" smtClean="0"/>
              <a:t>всех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сетей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построены</a:t>
            </a:r>
            <a:r>
              <a:rPr lang="en-US" sz="2000" b="1" dirty="0" smtClean="0"/>
              <a:t> с </a:t>
            </a:r>
            <a:r>
              <a:rPr lang="en-US" sz="2000" b="1" dirty="0" err="1" smtClean="0"/>
              <a:t>использованием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технологии</a:t>
            </a:r>
            <a:r>
              <a:rPr lang="en-US" sz="2000" b="1" dirty="0" smtClean="0"/>
              <a:t> Ethernet</a:t>
            </a:r>
            <a:r>
              <a:rPr lang="en-US" sz="2000" dirty="0" smtClean="0"/>
              <a:t>, </a:t>
            </a:r>
            <a:r>
              <a:rPr lang="en-US" sz="2000" dirty="0" err="1" smtClean="0"/>
              <a:t>она</a:t>
            </a:r>
            <a:r>
              <a:rPr lang="en-US" sz="2000" dirty="0" smtClean="0"/>
              <a:t> </a:t>
            </a:r>
            <a:r>
              <a:rPr lang="en-US" sz="2000" dirty="0" err="1" smtClean="0"/>
              <a:t>обеспечивает</a:t>
            </a:r>
            <a:r>
              <a:rPr lang="en-US" sz="2000" dirty="0" smtClean="0"/>
              <a:t> </a:t>
            </a:r>
            <a:r>
              <a:rPr lang="en-US" sz="2000" dirty="0" err="1" smtClean="0"/>
              <a:t>пользователям</a:t>
            </a:r>
            <a:r>
              <a:rPr lang="en-US" sz="2000" dirty="0" smtClean="0"/>
              <a:t> </a:t>
            </a:r>
            <a:r>
              <a:rPr lang="en-US" sz="2000" dirty="0" err="1" smtClean="0"/>
              <a:t>корпоративных</a:t>
            </a:r>
            <a:r>
              <a:rPr lang="en-US" sz="2000" dirty="0" smtClean="0"/>
              <a:t> </a:t>
            </a:r>
            <a:r>
              <a:rPr lang="en-US" sz="2000" dirty="0" err="1" smtClean="0"/>
              <a:t>сетей</a:t>
            </a:r>
            <a:r>
              <a:rPr lang="en-US" sz="2000" dirty="0" smtClean="0"/>
              <a:t> </a:t>
            </a:r>
            <a:r>
              <a:rPr lang="en-US" sz="2000" dirty="0" err="1" smtClean="0"/>
              <a:t>скорости</a:t>
            </a:r>
            <a:r>
              <a:rPr lang="en-US" sz="2000" dirty="0" smtClean="0"/>
              <a:t> </a:t>
            </a:r>
            <a:r>
              <a:rPr lang="en-US" sz="2000" dirty="0" err="1" smtClean="0"/>
              <a:t>передачи</a:t>
            </a:r>
            <a:r>
              <a:rPr lang="en-US" sz="2000" dirty="0" smtClean="0"/>
              <a:t> </a:t>
            </a:r>
            <a:r>
              <a:rPr lang="en-US" sz="2000" dirty="0" err="1" smtClean="0"/>
              <a:t>информации</a:t>
            </a:r>
            <a:r>
              <a:rPr lang="en-US" sz="2000" dirty="0" smtClean="0"/>
              <a:t> </a:t>
            </a:r>
            <a:r>
              <a:rPr lang="en-US" sz="2000" dirty="0" err="1" smtClean="0"/>
              <a:t>от</a:t>
            </a:r>
            <a:r>
              <a:rPr lang="en-US" sz="2000" dirty="0" smtClean="0"/>
              <a:t> 10 </a:t>
            </a:r>
            <a:r>
              <a:rPr lang="en-US" sz="2000" dirty="0" err="1" smtClean="0"/>
              <a:t>Мбит</a:t>
            </a:r>
            <a:r>
              <a:rPr lang="en-US" sz="2000" dirty="0" smtClean="0"/>
              <a:t>/с </a:t>
            </a:r>
            <a:r>
              <a:rPr lang="en-US" sz="2000" dirty="0" err="1" smtClean="0"/>
              <a:t>до</a:t>
            </a:r>
            <a:r>
              <a:rPr lang="en-US" sz="2000" dirty="0" smtClean="0"/>
              <a:t> 1 </a:t>
            </a:r>
            <a:r>
              <a:rPr lang="en-US" sz="2000" dirty="0" err="1" smtClean="0"/>
              <a:t>Гбит</a:t>
            </a:r>
            <a:r>
              <a:rPr lang="en-US" sz="2000" dirty="0" smtClean="0"/>
              <a:t>/с. </a:t>
            </a:r>
            <a:r>
              <a:rPr lang="en-US" sz="2000" dirty="0" err="1" smtClean="0"/>
              <a:t>Широкое</a:t>
            </a:r>
            <a:r>
              <a:rPr lang="en-US" sz="2000" dirty="0" smtClean="0"/>
              <a:t> </a:t>
            </a:r>
            <a:r>
              <a:rPr lang="en-US" sz="2000" dirty="0" err="1" smtClean="0"/>
              <a:t>распространение</a:t>
            </a:r>
            <a:r>
              <a:rPr lang="en-US" sz="2000" dirty="0" smtClean="0"/>
              <a:t> </a:t>
            </a:r>
            <a:r>
              <a:rPr lang="en-US" sz="2000" dirty="0" err="1" smtClean="0"/>
              <a:t>сетей</a:t>
            </a:r>
            <a:r>
              <a:rPr lang="en-US" sz="2000" dirty="0" smtClean="0"/>
              <a:t> Ethernet </a:t>
            </a:r>
            <a:r>
              <a:rPr lang="en-US" sz="2000" dirty="0" err="1" smtClean="0"/>
              <a:t>при</a:t>
            </a:r>
            <a:r>
              <a:rPr lang="en-US" sz="2000" dirty="0" smtClean="0"/>
              <a:t> </a:t>
            </a:r>
            <a:r>
              <a:rPr lang="en-US" sz="2000" dirty="0" err="1" smtClean="0"/>
              <a:t>организации</a:t>
            </a:r>
            <a:r>
              <a:rPr lang="en-US" sz="2000" dirty="0" smtClean="0"/>
              <a:t> LAN, в </a:t>
            </a:r>
            <a:r>
              <a:rPr lang="en-US" sz="2000" dirty="0" err="1" smtClean="0"/>
              <a:t>первую</a:t>
            </a:r>
            <a:r>
              <a:rPr lang="en-US" sz="2000" dirty="0" smtClean="0"/>
              <a:t> </a:t>
            </a:r>
            <a:r>
              <a:rPr lang="en-US" sz="2000" dirty="0" err="1" smtClean="0"/>
              <a:t>очередь</a:t>
            </a:r>
            <a:r>
              <a:rPr lang="en-US" sz="2000" dirty="0" smtClean="0"/>
              <a:t>, </a:t>
            </a:r>
            <a:r>
              <a:rPr lang="en-US" sz="2000" dirty="0" err="1" smtClean="0"/>
              <a:t>связано</a:t>
            </a:r>
            <a:r>
              <a:rPr lang="en-US" sz="2000" dirty="0" smtClean="0"/>
              <a:t> с </a:t>
            </a:r>
            <a:r>
              <a:rPr lang="en-US" sz="2000" dirty="0" err="1" smtClean="0"/>
              <a:t>низкой</a:t>
            </a:r>
            <a:r>
              <a:rPr lang="en-US" sz="2000" dirty="0" smtClean="0"/>
              <a:t> </a:t>
            </a:r>
            <a:r>
              <a:rPr lang="en-US" sz="2000" dirty="0" err="1" smtClean="0"/>
              <a:t>стоимостью</a:t>
            </a:r>
            <a:r>
              <a:rPr lang="en-US" sz="2000" dirty="0" smtClean="0"/>
              <a:t>, </a:t>
            </a:r>
            <a:r>
              <a:rPr lang="en-US" sz="2000" dirty="0" err="1" smtClean="0"/>
              <a:t>легкостью</a:t>
            </a:r>
            <a:r>
              <a:rPr lang="en-US" sz="2000" dirty="0" smtClean="0"/>
              <a:t> </a:t>
            </a:r>
            <a:r>
              <a:rPr lang="en-US" sz="2000" dirty="0" err="1" smtClean="0"/>
              <a:t>управления</a:t>
            </a:r>
            <a:r>
              <a:rPr lang="en-US" sz="2000" dirty="0" smtClean="0"/>
              <a:t> и </a:t>
            </a:r>
            <a:r>
              <a:rPr lang="en-US" sz="2000" dirty="0" err="1" smtClean="0"/>
              <a:t>простотой</a:t>
            </a:r>
            <a:r>
              <a:rPr lang="en-US" sz="2000" dirty="0" smtClean="0"/>
              <a:t> </a:t>
            </a:r>
            <a:r>
              <a:rPr lang="en-US" sz="2000" dirty="0" err="1" smtClean="0"/>
              <a:t>используемого</a:t>
            </a:r>
            <a:r>
              <a:rPr lang="en-US" sz="2000" dirty="0" smtClean="0"/>
              <a:t> </a:t>
            </a:r>
            <a:r>
              <a:rPr lang="en-US" sz="2000" dirty="0" err="1" smtClean="0"/>
              <a:t>оборудования</a:t>
            </a:r>
            <a:r>
              <a:rPr lang="en-US" sz="2000" dirty="0" smtClean="0"/>
              <a:t>.</a:t>
            </a:r>
            <a:endParaRPr lang="ru-RU" sz="2000" dirty="0" smtClean="0"/>
          </a:p>
          <a:p>
            <a:r>
              <a:rPr lang="ru-RU" sz="2000" b="1" dirty="0" smtClean="0"/>
              <a:t>Для построения LAN был разработан и ряд других технологий, которые не получили широкого распространения:</a:t>
            </a:r>
          </a:p>
          <a:p>
            <a:r>
              <a:rPr lang="ru-RU" sz="2000" dirty="0" smtClean="0"/>
              <a:t>В первую очередь это маркерная </a:t>
            </a:r>
            <a:r>
              <a:rPr lang="ru-RU" sz="2000" dirty="0" err="1" smtClean="0"/>
              <a:t>бесколлизионная</a:t>
            </a:r>
            <a:r>
              <a:rPr lang="ru-RU" sz="2000" dirty="0" smtClean="0"/>
              <a:t> кольцевая </a:t>
            </a:r>
            <a:r>
              <a:rPr lang="ru-RU" sz="2000" b="1" dirty="0" smtClean="0"/>
              <a:t>технология </a:t>
            </a:r>
            <a:r>
              <a:rPr lang="ru-RU" sz="2000" b="1" dirty="0" err="1" smtClean="0"/>
              <a:t>Token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Ring</a:t>
            </a:r>
            <a:r>
              <a:rPr lang="ru-RU" sz="2000" b="1" dirty="0" smtClean="0"/>
              <a:t> </a:t>
            </a:r>
            <a:r>
              <a:rPr lang="ru-RU" sz="2000" dirty="0" smtClean="0"/>
              <a:t>(IEEE 802.5) со скоростью передачи до 16 Мбит/с и ее высокоскоростная версия HSTR – </a:t>
            </a:r>
            <a:r>
              <a:rPr lang="ru-RU" sz="2000" dirty="0" err="1" smtClean="0"/>
              <a:t>High-Speed</a:t>
            </a:r>
            <a:r>
              <a:rPr lang="ru-RU" sz="2000" dirty="0" smtClean="0"/>
              <a:t> </a:t>
            </a:r>
            <a:r>
              <a:rPr lang="ru-RU" sz="2000" dirty="0" err="1" smtClean="0"/>
              <a:t>Token</a:t>
            </a:r>
            <a:r>
              <a:rPr lang="ru-RU" sz="2000" dirty="0" smtClean="0"/>
              <a:t> </a:t>
            </a:r>
            <a:r>
              <a:rPr lang="ru-RU" sz="2000" dirty="0" err="1" smtClean="0"/>
              <a:t>Ring</a:t>
            </a:r>
            <a:r>
              <a:rPr lang="ru-RU" sz="2000" dirty="0" smtClean="0"/>
              <a:t> (100 Мбит/с и 1 Гбит/с). </a:t>
            </a:r>
          </a:p>
          <a:p>
            <a:r>
              <a:rPr lang="ru-RU" sz="2000" b="1" dirty="0" smtClean="0"/>
              <a:t>Технология 100VG-AnyLAN </a:t>
            </a:r>
            <a:r>
              <a:rPr lang="ru-RU" sz="2000" dirty="0" smtClean="0"/>
              <a:t>(IEEE 802.12) была разработана для совместного использования в одной сети </a:t>
            </a:r>
            <a:r>
              <a:rPr lang="ru-RU" sz="2000" dirty="0" err="1" smtClean="0"/>
              <a:t>Ethernet</a:t>
            </a:r>
            <a:r>
              <a:rPr lang="ru-RU" sz="2000" dirty="0" smtClean="0"/>
              <a:t> и </a:t>
            </a:r>
            <a:r>
              <a:rPr lang="ru-RU" sz="2000" dirty="0" err="1" smtClean="0"/>
              <a:t>Token</a:t>
            </a:r>
            <a:r>
              <a:rPr lang="ru-RU" sz="2000" dirty="0" smtClean="0"/>
              <a:t> </a:t>
            </a:r>
            <a:r>
              <a:rPr lang="ru-RU" sz="2000" dirty="0" err="1" smtClean="0"/>
              <a:t>Ring</a:t>
            </a:r>
            <a:r>
              <a:rPr lang="ru-RU" sz="2000" dirty="0" smtClean="0"/>
              <a:t>. </a:t>
            </a:r>
          </a:p>
          <a:p>
            <a:r>
              <a:rPr lang="ru-RU" sz="2000" b="1" dirty="0" smtClean="0"/>
              <a:t>В силу высокой стоимости технология FDDI (</a:t>
            </a:r>
            <a:r>
              <a:rPr lang="ru-RU" sz="2000" dirty="0" err="1" smtClean="0"/>
              <a:t>Fiber</a:t>
            </a:r>
            <a:r>
              <a:rPr lang="ru-RU" sz="2000" dirty="0" smtClean="0"/>
              <a:t> </a:t>
            </a:r>
            <a:r>
              <a:rPr lang="ru-RU" sz="2000" dirty="0" err="1" smtClean="0"/>
              <a:t>Distributed</a:t>
            </a:r>
            <a:r>
              <a:rPr lang="ru-RU" sz="2000" dirty="0" smtClean="0"/>
              <a:t> </a:t>
            </a:r>
            <a:r>
              <a:rPr lang="ru-RU" sz="2000" dirty="0" err="1" smtClean="0"/>
              <a:t>Data</a:t>
            </a:r>
            <a:r>
              <a:rPr lang="ru-RU" sz="2000" dirty="0" smtClean="0"/>
              <a:t> </a:t>
            </a:r>
            <a:r>
              <a:rPr lang="ru-RU" sz="2000" dirty="0" err="1" smtClean="0"/>
              <a:t>Interface</a:t>
            </a:r>
            <a:r>
              <a:rPr lang="ru-RU" sz="2000" dirty="0" smtClean="0"/>
              <a:t>)</a:t>
            </a:r>
          </a:p>
          <a:p>
            <a:pPr>
              <a:buNone/>
            </a:pPr>
            <a:r>
              <a:rPr lang="ru-RU" sz="2000" dirty="0" smtClean="0"/>
              <a:t>      </a:t>
            </a:r>
            <a:r>
              <a:rPr lang="ru-RU" sz="2000" b="1" dirty="0" smtClean="0"/>
              <a:t>не применяется при построении LAN</a:t>
            </a:r>
            <a:r>
              <a:rPr lang="ru-RU" sz="2000" dirty="0" smtClean="0"/>
              <a:t>, однако, обладая высокой отказоустойчивостью и скоростью передачи (100 Мбит/с),</a:t>
            </a:r>
          </a:p>
          <a:p>
            <a:pPr>
              <a:buNone/>
            </a:pPr>
            <a:r>
              <a:rPr lang="ru-RU" sz="2000" dirty="0" smtClean="0"/>
              <a:t>     </a:t>
            </a:r>
            <a:r>
              <a:rPr lang="ru-RU" sz="2000" b="1" dirty="0" smtClean="0"/>
              <a:t>она используется для построения городских кольцевых магистралей с диаметром кольца до 100 км.</a:t>
            </a:r>
          </a:p>
          <a:p>
            <a:endParaRPr lang="ru-RU" sz="1600" dirty="0" smtClean="0"/>
          </a:p>
          <a:p>
            <a:pPr>
              <a:buNone/>
            </a:pPr>
            <a:r>
              <a:rPr lang="ru-RU" sz="1600" dirty="0" smtClean="0"/>
              <a:t> </a:t>
            </a:r>
          </a:p>
          <a:p>
            <a:endParaRPr lang="ru-RU" sz="1600" dirty="0" smtClean="0"/>
          </a:p>
          <a:p>
            <a:endParaRPr lang="ru-RU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Классификация сетей доступа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C:\Users\Alex\Desktop\сд1.gif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712968" cy="5144427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Сеть </a:t>
            </a:r>
            <a:r>
              <a:rPr lang="ru-RU" sz="3600" b="1" dirty="0" err="1" smtClean="0">
                <a:solidFill>
                  <a:srgbClr val="002060"/>
                </a:solidFill>
              </a:rPr>
              <a:t>доступа.Классификация</a:t>
            </a:r>
            <a:r>
              <a:rPr lang="ru-RU" sz="3600" b="1" dirty="0" smtClean="0">
                <a:solidFill>
                  <a:srgbClr val="002060"/>
                </a:solidFill>
              </a:rPr>
              <a:t>.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 fontScale="32500" lnSpcReduction="20000"/>
          </a:bodyPr>
          <a:lstStyle/>
          <a:p>
            <a:r>
              <a:rPr lang="ru-RU" sz="5500" b="1" dirty="0" smtClean="0"/>
              <a:t> </a:t>
            </a:r>
            <a:r>
              <a:rPr lang="en-US" sz="5500" b="1" dirty="0" smtClean="0"/>
              <a:t>В </a:t>
            </a:r>
            <a:r>
              <a:rPr lang="en-US" sz="5500" b="1" dirty="0" err="1" smtClean="0"/>
              <a:t>технологиях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доступа</a:t>
            </a:r>
            <a:r>
              <a:rPr lang="en-US" sz="5500" b="1" dirty="0" smtClean="0"/>
              <a:t> </a:t>
            </a:r>
            <a:r>
              <a:rPr lang="ru-RU" sz="5500" b="1" dirty="0" err="1" smtClean="0"/>
              <a:t>н</a:t>
            </a:r>
            <a:r>
              <a:rPr lang="en-US" sz="5500" b="1" dirty="0" err="1" smtClean="0"/>
              <a:t>аметилась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интеграция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технологии</a:t>
            </a:r>
            <a:r>
              <a:rPr lang="en-US" sz="5500" b="1" dirty="0" smtClean="0"/>
              <a:t> Ethernet с </a:t>
            </a:r>
            <a:r>
              <a:rPr lang="en-US" sz="5500" b="1" dirty="0" err="1" smtClean="0"/>
              <a:t>различными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технологиями</a:t>
            </a:r>
            <a:r>
              <a:rPr lang="en-US" sz="5500" b="1" dirty="0" smtClean="0"/>
              <a:t> DSL (</a:t>
            </a:r>
            <a:r>
              <a:rPr lang="en-US" sz="5500" b="1" dirty="0" err="1" smtClean="0"/>
              <a:t>гибридный</a:t>
            </a:r>
            <a:r>
              <a:rPr lang="en-US" sz="5500" b="1" dirty="0" smtClean="0"/>
              <a:t> Ethernet</a:t>
            </a:r>
            <a:r>
              <a:rPr lang="en-US" sz="5500" dirty="0" smtClean="0"/>
              <a:t>).</a:t>
            </a:r>
            <a:endParaRPr lang="ru-RU" sz="5500" dirty="0" smtClean="0"/>
          </a:p>
          <a:p>
            <a:pPr>
              <a:buNone/>
            </a:pPr>
            <a:r>
              <a:rPr lang="ru-RU" sz="5500" dirty="0" smtClean="0"/>
              <a:t>     </a:t>
            </a:r>
            <a:r>
              <a:rPr lang="en-US" sz="5500" dirty="0" smtClean="0"/>
              <a:t> </a:t>
            </a:r>
            <a:r>
              <a:rPr lang="en-US" sz="5500" b="1" dirty="0" err="1" smtClean="0"/>
              <a:t>Наиболее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известным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вариантом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такой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интеграции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является</a:t>
            </a:r>
            <a:r>
              <a:rPr lang="en-US" sz="5500" b="1" dirty="0" smtClean="0"/>
              <a:t> </a:t>
            </a:r>
            <a:r>
              <a:rPr lang="en-US" sz="5500" b="1" dirty="0" err="1" smtClean="0"/>
              <a:t>EoV</a:t>
            </a:r>
            <a:r>
              <a:rPr lang="en-US" sz="5500" b="1" dirty="0" smtClean="0"/>
              <a:t>. </a:t>
            </a:r>
            <a:endParaRPr lang="ru-RU" sz="5500" b="1" dirty="0" smtClean="0"/>
          </a:p>
          <a:p>
            <a:pPr>
              <a:buNone/>
            </a:pPr>
            <a:r>
              <a:rPr lang="ru-RU" sz="5500" b="1" dirty="0" smtClean="0"/>
              <a:t>         </a:t>
            </a:r>
            <a:r>
              <a:rPr lang="en-US" sz="5500" dirty="0" err="1" smtClean="0"/>
              <a:t>При</a:t>
            </a:r>
            <a:r>
              <a:rPr lang="en-US" sz="5500" dirty="0" smtClean="0"/>
              <a:t> </a:t>
            </a:r>
            <a:r>
              <a:rPr lang="en-US" sz="5500" dirty="0" err="1" smtClean="0"/>
              <a:t>скорости</a:t>
            </a:r>
            <a:r>
              <a:rPr lang="en-US" sz="5500" dirty="0" smtClean="0"/>
              <a:t> </a:t>
            </a:r>
            <a:r>
              <a:rPr lang="en-US" sz="5500" dirty="0" err="1" smtClean="0"/>
              <a:t>передачи</a:t>
            </a:r>
            <a:r>
              <a:rPr lang="en-US" sz="5500" dirty="0" smtClean="0"/>
              <a:t> </a:t>
            </a:r>
            <a:r>
              <a:rPr lang="en-US" sz="5500" dirty="0" err="1" smtClean="0"/>
              <a:t>порядка</a:t>
            </a:r>
            <a:r>
              <a:rPr lang="en-US" sz="5500" dirty="0" smtClean="0"/>
              <a:t> 10 </a:t>
            </a:r>
            <a:r>
              <a:rPr lang="en-US" sz="5500" dirty="0" err="1" smtClean="0"/>
              <a:t>Мбит</a:t>
            </a:r>
            <a:r>
              <a:rPr lang="en-US" sz="5500" dirty="0" smtClean="0"/>
              <a:t>/с </a:t>
            </a:r>
            <a:r>
              <a:rPr lang="en-US" sz="5500" dirty="0" err="1" smtClean="0"/>
              <a:t>сеть</a:t>
            </a:r>
            <a:r>
              <a:rPr lang="en-US" sz="5500" dirty="0" smtClean="0"/>
              <a:t> Ethernet </a:t>
            </a:r>
            <a:r>
              <a:rPr lang="en-US" sz="5500" dirty="0" err="1" smtClean="0"/>
              <a:t>может</a:t>
            </a:r>
            <a:r>
              <a:rPr lang="en-US" sz="5500" dirty="0" smtClean="0"/>
              <a:t> </a:t>
            </a:r>
            <a:r>
              <a:rPr lang="en-US" sz="5500" dirty="0" err="1" smtClean="0"/>
              <a:t>располагаться</a:t>
            </a:r>
            <a:r>
              <a:rPr lang="en-US" sz="5500" dirty="0" smtClean="0"/>
              <a:t> </a:t>
            </a:r>
            <a:r>
              <a:rPr lang="en-US" sz="5500" dirty="0" err="1" smtClean="0"/>
              <a:t>на</a:t>
            </a:r>
            <a:r>
              <a:rPr lang="en-US" sz="5500" dirty="0" smtClean="0"/>
              <a:t> </a:t>
            </a:r>
            <a:r>
              <a:rPr lang="en-US" sz="5500" dirty="0" err="1" smtClean="0"/>
              <a:t>расстоянии</a:t>
            </a:r>
            <a:r>
              <a:rPr lang="en-US" sz="5500" dirty="0" smtClean="0"/>
              <a:t> </a:t>
            </a:r>
            <a:r>
              <a:rPr lang="en-US" sz="5500" dirty="0" err="1" smtClean="0"/>
              <a:t>до</a:t>
            </a:r>
            <a:r>
              <a:rPr lang="en-US" sz="5500" dirty="0" smtClean="0"/>
              <a:t> 1,5 </a:t>
            </a:r>
            <a:r>
              <a:rPr lang="en-US" sz="5500" dirty="0" err="1" smtClean="0"/>
              <a:t>км</a:t>
            </a:r>
            <a:r>
              <a:rPr lang="en-US" sz="5500" dirty="0" smtClean="0"/>
              <a:t> </a:t>
            </a:r>
            <a:r>
              <a:rPr lang="en-US" sz="5500" dirty="0" err="1" smtClean="0"/>
              <a:t>от</a:t>
            </a:r>
            <a:r>
              <a:rPr lang="en-US" sz="5500" dirty="0" smtClean="0"/>
              <a:t> </a:t>
            </a:r>
            <a:r>
              <a:rPr lang="en-US" sz="5500" dirty="0" err="1" smtClean="0"/>
              <a:t>узла</a:t>
            </a:r>
            <a:r>
              <a:rPr lang="en-US" sz="5500" dirty="0" smtClean="0"/>
              <a:t> </a:t>
            </a:r>
            <a:r>
              <a:rPr lang="en-US" sz="5500" dirty="0" err="1" smtClean="0"/>
              <a:t>доступа</a:t>
            </a:r>
            <a:r>
              <a:rPr lang="en-US" sz="5500" dirty="0" smtClean="0"/>
              <a:t>, а </a:t>
            </a:r>
            <a:r>
              <a:rPr lang="en-US" sz="5500" dirty="0" err="1" smtClean="0"/>
              <a:t>при</a:t>
            </a:r>
            <a:r>
              <a:rPr lang="en-US" sz="5500" dirty="0" smtClean="0"/>
              <a:t> </a:t>
            </a:r>
            <a:r>
              <a:rPr lang="en-US" sz="5500" dirty="0" err="1" smtClean="0"/>
              <a:t>скоростях</a:t>
            </a:r>
            <a:r>
              <a:rPr lang="en-US" sz="5500" dirty="0" smtClean="0"/>
              <a:t> 3-4 </a:t>
            </a:r>
            <a:r>
              <a:rPr lang="en-US" sz="5500" dirty="0" err="1" smtClean="0"/>
              <a:t>Мбит</a:t>
            </a:r>
            <a:r>
              <a:rPr lang="en-US" sz="5500" dirty="0" smtClean="0"/>
              <a:t>/с </a:t>
            </a:r>
            <a:r>
              <a:rPr lang="en-US" sz="5500" dirty="0" err="1" smtClean="0"/>
              <a:t>это</a:t>
            </a:r>
            <a:r>
              <a:rPr lang="en-US" sz="5500" dirty="0" smtClean="0"/>
              <a:t> </a:t>
            </a:r>
            <a:r>
              <a:rPr lang="en-US" sz="5500" dirty="0" err="1" smtClean="0"/>
              <a:t>расстояние</a:t>
            </a:r>
            <a:r>
              <a:rPr lang="en-US" sz="5500" dirty="0" smtClean="0"/>
              <a:t> </a:t>
            </a:r>
            <a:r>
              <a:rPr lang="en-US" sz="5500" dirty="0" err="1" smtClean="0"/>
              <a:t>возрастает</a:t>
            </a:r>
            <a:r>
              <a:rPr lang="en-US" sz="5500" dirty="0" smtClean="0"/>
              <a:t> </a:t>
            </a:r>
            <a:r>
              <a:rPr lang="en-US" sz="5500" dirty="0" err="1" smtClean="0"/>
              <a:t>до</a:t>
            </a:r>
            <a:r>
              <a:rPr lang="en-US" sz="5500" dirty="0" smtClean="0"/>
              <a:t> 3-4 </a:t>
            </a:r>
            <a:r>
              <a:rPr lang="en-US" sz="5500" dirty="0" err="1" smtClean="0"/>
              <a:t>км</a:t>
            </a:r>
            <a:r>
              <a:rPr lang="en-US" sz="5500" dirty="0" smtClean="0"/>
              <a:t>. </a:t>
            </a:r>
            <a:r>
              <a:rPr lang="en-US" sz="5500" dirty="0" err="1" smtClean="0"/>
              <a:t>Стандарт</a:t>
            </a:r>
            <a:r>
              <a:rPr lang="en-US" sz="5500" dirty="0" smtClean="0"/>
              <a:t> </a:t>
            </a:r>
            <a:r>
              <a:rPr lang="en-US" sz="5500" dirty="0" err="1" smtClean="0"/>
              <a:t>на</a:t>
            </a:r>
            <a:r>
              <a:rPr lang="en-US" sz="5500" dirty="0" smtClean="0"/>
              <a:t> </a:t>
            </a:r>
            <a:r>
              <a:rPr lang="en-US" sz="5500" dirty="0" err="1" smtClean="0"/>
              <a:t>EoV</a:t>
            </a:r>
            <a:r>
              <a:rPr lang="en-US" sz="5500" dirty="0" smtClean="0"/>
              <a:t> </a:t>
            </a:r>
            <a:r>
              <a:rPr lang="en-US" sz="5500" dirty="0" err="1" smtClean="0"/>
              <a:t>разрабатывается</a:t>
            </a:r>
            <a:r>
              <a:rPr lang="en-US" sz="5500" dirty="0" smtClean="0"/>
              <a:t> в IEEE (IEEE 802.3ah) </a:t>
            </a:r>
            <a:r>
              <a:rPr lang="en-US" sz="5500" dirty="0" err="1" smtClean="0"/>
              <a:t>как</a:t>
            </a:r>
            <a:r>
              <a:rPr lang="en-US" sz="5500" dirty="0" smtClean="0"/>
              <a:t> EFM (Ethernet in the First Mile) в </a:t>
            </a:r>
            <a:r>
              <a:rPr lang="en-US" sz="5500" dirty="0" err="1" smtClean="0"/>
              <a:t>двух</a:t>
            </a:r>
            <a:r>
              <a:rPr lang="en-US" sz="5500" dirty="0" smtClean="0"/>
              <a:t> </a:t>
            </a:r>
            <a:r>
              <a:rPr lang="en-US" sz="5500" dirty="0" err="1" smtClean="0"/>
              <a:t>вариантах</a:t>
            </a:r>
            <a:r>
              <a:rPr lang="en-US" sz="5500" dirty="0" smtClean="0"/>
              <a:t>: EFMC (EFM Copper), </a:t>
            </a:r>
            <a:r>
              <a:rPr lang="en-US" sz="5500" dirty="0" err="1" smtClean="0"/>
              <a:t>имеющий</a:t>
            </a:r>
            <a:r>
              <a:rPr lang="en-US" sz="5500" dirty="0" smtClean="0"/>
              <a:t> </a:t>
            </a:r>
            <a:r>
              <a:rPr lang="en-US" sz="5500" dirty="0" err="1" smtClean="0"/>
              <a:t>характеристики</a:t>
            </a:r>
            <a:r>
              <a:rPr lang="en-US" sz="5500" dirty="0" smtClean="0"/>
              <a:t> </a:t>
            </a:r>
            <a:r>
              <a:rPr lang="en-US" sz="5500" dirty="0" err="1" smtClean="0"/>
              <a:t>обслуживания</a:t>
            </a:r>
            <a:r>
              <a:rPr lang="en-US" sz="5500" dirty="0" smtClean="0"/>
              <a:t>, </a:t>
            </a:r>
            <a:r>
              <a:rPr lang="en-US" sz="5500" dirty="0" err="1" smtClean="0"/>
              <a:t>аналогичные</a:t>
            </a:r>
            <a:r>
              <a:rPr lang="en-US" sz="5500" dirty="0" smtClean="0"/>
              <a:t> </a:t>
            </a:r>
            <a:r>
              <a:rPr lang="en-US" sz="5500" dirty="0" err="1" smtClean="0"/>
              <a:t>EoV</a:t>
            </a:r>
            <a:r>
              <a:rPr lang="en-US" sz="5500" dirty="0" smtClean="0"/>
              <a:t>, и EFMF (EFM Fiber), </a:t>
            </a:r>
            <a:r>
              <a:rPr lang="en-US" sz="5500" dirty="0" err="1" smtClean="0"/>
              <a:t>обеспечивающий</a:t>
            </a:r>
            <a:r>
              <a:rPr lang="en-US" sz="5500" dirty="0" smtClean="0"/>
              <a:t> </a:t>
            </a:r>
            <a:r>
              <a:rPr lang="en-US" sz="5500" dirty="0" err="1" smtClean="0"/>
              <a:t>скорость</a:t>
            </a:r>
            <a:r>
              <a:rPr lang="en-US" sz="5500" dirty="0" smtClean="0"/>
              <a:t> </a:t>
            </a:r>
            <a:r>
              <a:rPr lang="en-US" sz="5500" dirty="0" err="1" smtClean="0"/>
              <a:t>передачи</a:t>
            </a:r>
            <a:r>
              <a:rPr lang="en-US" sz="5500" dirty="0" smtClean="0"/>
              <a:t> </a:t>
            </a:r>
            <a:r>
              <a:rPr lang="en-US" sz="5500" dirty="0" err="1" smtClean="0"/>
              <a:t>от</a:t>
            </a:r>
            <a:r>
              <a:rPr lang="en-US" sz="5500" dirty="0" smtClean="0"/>
              <a:t> 100 </a:t>
            </a:r>
            <a:r>
              <a:rPr lang="en-US" sz="5500" dirty="0" err="1" smtClean="0"/>
              <a:t>Мбит</a:t>
            </a:r>
            <a:r>
              <a:rPr lang="en-US" sz="5500" dirty="0" smtClean="0"/>
              <a:t>/с </a:t>
            </a:r>
            <a:r>
              <a:rPr lang="en-US" sz="5500" dirty="0" err="1" smtClean="0"/>
              <a:t>до</a:t>
            </a:r>
            <a:r>
              <a:rPr lang="en-US" sz="5500" dirty="0" smtClean="0"/>
              <a:t> 1 </a:t>
            </a:r>
            <a:r>
              <a:rPr lang="en-US" sz="5500" dirty="0" err="1" smtClean="0"/>
              <a:t>Гбит</a:t>
            </a:r>
            <a:r>
              <a:rPr lang="en-US" sz="5500" dirty="0" smtClean="0"/>
              <a:t>/с </a:t>
            </a:r>
            <a:r>
              <a:rPr lang="en-US" sz="5500" dirty="0" err="1" smtClean="0"/>
              <a:t>на</a:t>
            </a:r>
            <a:r>
              <a:rPr lang="en-US" sz="5500" dirty="0" smtClean="0"/>
              <a:t> </a:t>
            </a:r>
            <a:r>
              <a:rPr lang="en-US" sz="5500" dirty="0" err="1" smtClean="0"/>
              <a:t>расстояние</a:t>
            </a:r>
            <a:r>
              <a:rPr lang="en-US" sz="5500" dirty="0" smtClean="0"/>
              <a:t> в </a:t>
            </a:r>
            <a:r>
              <a:rPr lang="en-US" sz="5500" dirty="0" err="1" smtClean="0"/>
              <a:t>несколько</a:t>
            </a:r>
            <a:r>
              <a:rPr lang="en-US" sz="5500" dirty="0" smtClean="0"/>
              <a:t> </a:t>
            </a:r>
            <a:r>
              <a:rPr lang="en-US" sz="5500" dirty="0" err="1" smtClean="0"/>
              <a:t>десятков</a:t>
            </a:r>
            <a:r>
              <a:rPr lang="en-US" sz="5500" dirty="0" smtClean="0"/>
              <a:t> </a:t>
            </a:r>
            <a:r>
              <a:rPr lang="en-US" sz="5500" dirty="0" err="1" smtClean="0"/>
              <a:t>километров</a:t>
            </a:r>
            <a:r>
              <a:rPr lang="en-US" sz="5500" dirty="0" smtClean="0"/>
              <a:t> </a:t>
            </a:r>
            <a:r>
              <a:rPr lang="en-US" sz="5500" dirty="0" err="1" smtClean="0"/>
              <a:t>до</a:t>
            </a:r>
            <a:r>
              <a:rPr lang="en-US" sz="5500" dirty="0" smtClean="0"/>
              <a:t> </a:t>
            </a:r>
            <a:r>
              <a:rPr lang="en-US" sz="5500" dirty="0" err="1" smtClean="0"/>
              <a:t>узла</a:t>
            </a:r>
            <a:r>
              <a:rPr lang="en-US" sz="5500" dirty="0" smtClean="0"/>
              <a:t> </a:t>
            </a:r>
            <a:r>
              <a:rPr lang="en-US" sz="5500" dirty="0" err="1" smtClean="0"/>
              <a:t>доступа</a:t>
            </a:r>
            <a:r>
              <a:rPr lang="en-US" sz="5500" dirty="0" smtClean="0"/>
              <a:t>.</a:t>
            </a:r>
            <a:r>
              <a:rPr lang="ru-RU" sz="5500" dirty="0" smtClean="0"/>
              <a:t> </a:t>
            </a:r>
          </a:p>
          <a:p>
            <a:r>
              <a:rPr lang="ru-RU" sz="5500" b="1" dirty="0" smtClean="0"/>
              <a:t>2. Для организации относительно недорогого доступа в Интернет жителей многоквартирных домов разработаны технологии СКД: </a:t>
            </a:r>
          </a:p>
          <a:p>
            <a:pPr>
              <a:buNone/>
            </a:pPr>
            <a:r>
              <a:rPr lang="ru-RU" sz="5500" b="1" dirty="0" smtClean="0"/>
              <a:t>          -  </a:t>
            </a:r>
            <a:r>
              <a:rPr lang="ru-RU" sz="5500" b="1" dirty="0" err="1" smtClean="0"/>
              <a:t>HomePNA</a:t>
            </a:r>
            <a:r>
              <a:rPr lang="ru-RU" sz="5500" b="1" dirty="0" smtClean="0"/>
              <a:t> и PLC </a:t>
            </a:r>
            <a:r>
              <a:rPr lang="ru-RU" sz="5500" dirty="0" smtClean="0"/>
              <a:t>(</a:t>
            </a:r>
            <a:r>
              <a:rPr lang="ru-RU" sz="5500" dirty="0" err="1" smtClean="0"/>
              <a:t>Power</a:t>
            </a:r>
            <a:r>
              <a:rPr lang="ru-RU" sz="5500" dirty="0" smtClean="0"/>
              <a:t> </a:t>
            </a:r>
            <a:r>
              <a:rPr lang="ru-RU" sz="5500" dirty="0" err="1" smtClean="0"/>
              <a:t>Line</a:t>
            </a:r>
            <a:r>
              <a:rPr lang="ru-RU" sz="5500" dirty="0" smtClean="0"/>
              <a:t> </a:t>
            </a:r>
            <a:r>
              <a:rPr lang="ru-RU" sz="5500" dirty="0" err="1" smtClean="0"/>
              <a:t>Communication</a:t>
            </a:r>
            <a:r>
              <a:rPr lang="ru-RU" sz="5500" dirty="0" smtClean="0"/>
              <a:t>). Сеть доступа развертывается на существующей в доме кабельной инфраструктуре (витая медная пара, проводка радиотрансляционных сетей, электрическая проводка), а концентратор трафика может подключаться к узлу служб с использованием различных систем передачи (кабельных, радио и др.). </a:t>
            </a:r>
            <a:r>
              <a:rPr lang="ru-RU" sz="5500" b="1" dirty="0" smtClean="0"/>
              <a:t> Для домашних сетей подходит  оборудование гибридных </a:t>
            </a:r>
          </a:p>
          <a:p>
            <a:pPr>
              <a:buNone/>
            </a:pPr>
            <a:r>
              <a:rPr lang="ru-RU" sz="5500" b="1" dirty="0" smtClean="0"/>
              <a:t>         - </a:t>
            </a:r>
            <a:r>
              <a:rPr lang="ru-RU" sz="5500" b="1" dirty="0" err="1" smtClean="0"/>
              <a:t>Ethernet</a:t>
            </a:r>
            <a:r>
              <a:rPr lang="ru-RU" sz="5500" b="1" dirty="0" smtClean="0"/>
              <a:t> или  </a:t>
            </a:r>
            <a:r>
              <a:rPr lang="ru-RU" sz="5500" b="1" dirty="0" err="1" smtClean="0"/>
              <a:t>mini</a:t>
            </a:r>
            <a:r>
              <a:rPr lang="ru-RU" sz="5500" b="1" dirty="0" smtClean="0"/>
              <a:t> - DSLAM </a:t>
            </a:r>
            <a:r>
              <a:rPr lang="ru-RU" sz="5500" dirty="0" smtClean="0"/>
              <a:t>при использовании в качестве концентратора трафика мультиплексоров DSL.</a:t>
            </a:r>
          </a:p>
          <a:p>
            <a:pPr>
              <a:buNone/>
            </a:pPr>
            <a:r>
              <a:rPr lang="ru-RU" sz="5500" b="1" dirty="0" smtClean="0"/>
              <a:t>         -  </a:t>
            </a:r>
            <a:r>
              <a:rPr lang="en-US" sz="5500" b="1" dirty="0" err="1" smtClean="0"/>
              <a:t>Технология</a:t>
            </a:r>
            <a:r>
              <a:rPr lang="en-US" sz="5500" b="1" dirty="0" smtClean="0"/>
              <a:t> HPNA </a:t>
            </a:r>
            <a:r>
              <a:rPr lang="en-US" sz="5500" dirty="0" err="1" smtClean="0"/>
              <a:t>разработана</a:t>
            </a:r>
            <a:r>
              <a:rPr lang="en-US" sz="5500" dirty="0" smtClean="0"/>
              <a:t> </a:t>
            </a:r>
            <a:r>
              <a:rPr lang="en-US" sz="5500" dirty="0" err="1" smtClean="0"/>
              <a:t>альянсом</a:t>
            </a:r>
            <a:r>
              <a:rPr lang="en-US" sz="5500" dirty="0" smtClean="0"/>
              <a:t> Home </a:t>
            </a:r>
            <a:r>
              <a:rPr lang="en-US" sz="5500" dirty="0" err="1" smtClean="0"/>
              <a:t>Phoneline</a:t>
            </a:r>
            <a:r>
              <a:rPr lang="en-US" sz="5500" dirty="0" smtClean="0"/>
              <a:t> Networking Alliance)</a:t>
            </a:r>
            <a:r>
              <a:rPr lang="ru-RU" sz="5500" dirty="0" smtClean="0"/>
              <a:t>.      </a:t>
            </a:r>
            <a:r>
              <a:rPr lang="en-US" sz="5500" dirty="0" smtClean="0"/>
              <a:t> </a:t>
            </a:r>
            <a:r>
              <a:rPr lang="en-US" sz="5500" dirty="0" err="1" smtClean="0"/>
              <a:t>Системы</a:t>
            </a:r>
            <a:r>
              <a:rPr lang="en-US" sz="5500" dirty="0" smtClean="0"/>
              <a:t> </a:t>
            </a:r>
            <a:r>
              <a:rPr lang="en-US" sz="5500" dirty="0" err="1" smtClean="0"/>
              <a:t>доступа</a:t>
            </a:r>
            <a:r>
              <a:rPr lang="en-US" sz="5500" dirty="0" smtClean="0"/>
              <a:t> HPNA 1.x </a:t>
            </a:r>
            <a:r>
              <a:rPr lang="en-US" sz="5500" dirty="0" err="1" smtClean="0"/>
              <a:t>обеспечивают</a:t>
            </a:r>
            <a:r>
              <a:rPr lang="en-US" sz="5500" dirty="0" smtClean="0"/>
              <a:t> </a:t>
            </a:r>
            <a:r>
              <a:rPr lang="en-US" sz="5500" dirty="0" err="1" smtClean="0"/>
              <a:t>коллективный</a:t>
            </a:r>
            <a:r>
              <a:rPr lang="en-US" sz="5500" dirty="0" smtClean="0"/>
              <a:t> </a:t>
            </a:r>
            <a:r>
              <a:rPr lang="en-US" sz="5500" dirty="0" err="1" smtClean="0"/>
              <a:t>доступ</a:t>
            </a:r>
            <a:r>
              <a:rPr lang="en-US" sz="5500" dirty="0" smtClean="0"/>
              <a:t> к </a:t>
            </a:r>
            <a:r>
              <a:rPr lang="en-US" sz="5500" dirty="0" err="1" smtClean="0"/>
              <a:t>каналу</a:t>
            </a:r>
            <a:r>
              <a:rPr lang="en-US" sz="5500" dirty="0" smtClean="0"/>
              <a:t> с </a:t>
            </a:r>
            <a:r>
              <a:rPr lang="en-US" sz="5500" dirty="0" err="1" smtClean="0"/>
              <a:t>пропускной</a:t>
            </a:r>
            <a:r>
              <a:rPr lang="en-US" sz="5500" dirty="0" smtClean="0"/>
              <a:t> </a:t>
            </a:r>
            <a:r>
              <a:rPr lang="en-US" sz="5500" dirty="0" err="1" smtClean="0"/>
              <a:t>способностью</a:t>
            </a:r>
            <a:r>
              <a:rPr lang="en-US" sz="5500" dirty="0" smtClean="0"/>
              <a:t> 1 </a:t>
            </a:r>
            <a:r>
              <a:rPr lang="en-US" sz="5500" dirty="0" err="1" smtClean="0"/>
              <a:t>Мбит</a:t>
            </a:r>
            <a:r>
              <a:rPr lang="en-US" sz="5500" dirty="0" smtClean="0"/>
              <a:t>/с </a:t>
            </a:r>
            <a:r>
              <a:rPr lang="en-US" sz="5500" dirty="0" err="1" smtClean="0"/>
              <a:t>на</a:t>
            </a:r>
            <a:r>
              <a:rPr lang="en-US" sz="5500" dirty="0" smtClean="0"/>
              <a:t> </a:t>
            </a:r>
            <a:r>
              <a:rPr lang="en-US" sz="5500" dirty="0" err="1" smtClean="0"/>
              <a:t>расстоянии</a:t>
            </a:r>
            <a:r>
              <a:rPr lang="en-US" sz="5500" dirty="0" smtClean="0"/>
              <a:t> </a:t>
            </a:r>
            <a:r>
              <a:rPr lang="en-US" sz="5500" dirty="0" err="1" smtClean="0"/>
              <a:t>до</a:t>
            </a:r>
            <a:r>
              <a:rPr lang="en-US" sz="5500" dirty="0" smtClean="0"/>
              <a:t> 150 м (HPNA 1.0) и </a:t>
            </a:r>
            <a:r>
              <a:rPr lang="en-US" sz="5500" dirty="0" err="1" smtClean="0"/>
              <a:t>до</a:t>
            </a:r>
            <a:r>
              <a:rPr lang="en-US" sz="5500" dirty="0" smtClean="0"/>
              <a:t> 300 м (HPNA 1.1). </a:t>
            </a:r>
            <a:endParaRPr lang="ru-RU" sz="5500" dirty="0" smtClean="0"/>
          </a:p>
          <a:p>
            <a:pPr>
              <a:buNone/>
            </a:pPr>
            <a:r>
              <a:rPr lang="ru-RU" sz="5500" dirty="0" smtClean="0"/>
              <a:t>       </a:t>
            </a:r>
            <a:r>
              <a:rPr lang="en-US" sz="5500" dirty="0" smtClean="0"/>
              <a:t>В </a:t>
            </a:r>
            <a:r>
              <a:rPr lang="en-US" sz="5500" dirty="0" err="1" smtClean="0"/>
              <a:t>стандарте</a:t>
            </a:r>
            <a:r>
              <a:rPr lang="en-US" sz="5500" dirty="0" smtClean="0"/>
              <a:t> HPNA 2.0 </a:t>
            </a:r>
            <a:r>
              <a:rPr lang="en-US" sz="5500" dirty="0" err="1" smtClean="0"/>
              <a:t>пропускная</a:t>
            </a:r>
            <a:r>
              <a:rPr lang="en-US" sz="5500" dirty="0" smtClean="0"/>
              <a:t> </a:t>
            </a:r>
            <a:r>
              <a:rPr lang="en-US" sz="5500" dirty="0" err="1" smtClean="0"/>
              <a:t>способность</a:t>
            </a:r>
            <a:r>
              <a:rPr lang="en-US" sz="5500" dirty="0" smtClean="0"/>
              <a:t> </a:t>
            </a:r>
            <a:r>
              <a:rPr lang="en-US" sz="5500" dirty="0" err="1" smtClean="0"/>
              <a:t>коллективного</a:t>
            </a:r>
            <a:r>
              <a:rPr lang="en-US" sz="5500" dirty="0" smtClean="0"/>
              <a:t> </a:t>
            </a:r>
            <a:r>
              <a:rPr lang="en-US" sz="5500" dirty="0" err="1" smtClean="0"/>
              <a:t>канала</a:t>
            </a:r>
            <a:r>
              <a:rPr lang="en-US" sz="5500" dirty="0" smtClean="0"/>
              <a:t> </a:t>
            </a:r>
            <a:r>
              <a:rPr lang="en-US" sz="5500" dirty="0" err="1" smtClean="0"/>
              <a:t>увеличена</a:t>
            </a:r>
            <a:r>
              <a:rPr lang="en-US" sz="5500" dirty="0" smtClean="0"/>
              <a:t> </a:t>
            </a:r>
            <a:r>
              <a:rPr lang="en-US" sz="5500" dirty="0" err="1" smtClean="0"/>
              <a:t>до</a:t>
            </a:r>
            <a:endParaRPr lang="ru-RU" sz="5500" dirty="0" smtClean="0"/>
          </a:p>
          <a:p>
            <a:pPr>
              <a:buNone/>
            </a:pPr>
            <a:r>
              <a:rPr lang="ru-RU" sz="5500" dirty="0" smtClean="0"/>
              <a:t>     </a:t>
            </a:r>
            <a:r>
              <a:rPr lang="en-US" sz="5500" dirty="0" smtClean="0"/>
              <a:t> 10 </a:t>
            </a:r>
            <a:r>
              <a:rPr lang="en-US" sz="5500" dirty="0" err="1" smtClean="0"/>
              <a:t>Мбит</a:t>
            </a:r>
            <a:r>
              <a:rPr lang="en-US" sz="5500" dirty="0" smtClean="0"/>
              <a:t>/с </a:t>
            </a:r>
            <a:r>
              <a:rPr lang="en-US" sz="5500" dirty="0" err="1" smtClean="0"/>
              <a:t>при</a:t>
            </a:r>
            <a:r>
              <a:rPr lang="en-US" sz="5500" dirty="0" smtClean="0"/>
              <a:t> </a:t>
            </a:r>
            <a:r>
              <a:rPr lang="en-US" sz="5500" dirty="0" err="1" smtClean="0"/>
              <a:t>дальности</a:t>
            </a:r>
            <a:r>
              <a:rPr lang="en-US" sz="5500" dirty="0" smtClean="0"/>
              <a:t> </a:t>
            </a:r>
            <a:r>
              <a:rPr lang="en-US" sz="5500" dirty="0" err="1" smtClean="0"/>
              <a:t>до</a:t>
            </a:r>
            <a:r>
              <a:rPr lang="en-US" sz="5500" dirty="0" smtClean="0"/>
              <a:t> 350 м.</a:t>
            </a:r>
            <a:endParaRPr lang="ru-RU" sz="5500" dirty="0" smtClean="0"/>
          </a:p>
          <a:p>
            <a:pPr>
              <a:buNone/>
            </a:pPr>
            <a:r>
              <a:rPr lang="ru-RU" sz="5500" dirty="0" smtClean="0"/>
              <a:t>       В стандарте HPNA 3.0 пропускная способность увеличится до 100 Мбит/с.</a:t>
            </a:r>
          </a:p>
          <a:p>
            <a:pPr>
              <a:buNone/>
            </a:pPr>
            <a:r>
              <a:rPr lang="en-US" sz="4500" dirty="0" smtClean="0"/>
              <a:t> </a:t>
            </a:r>
            <a:endParaRPr lang="ru-RU" sz="4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Классификация сетей доступа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 fontScale="55000" lnSpcReduction="20000"/>
          </a:bodyPr>
          <a:lstStyle/>
          <a:p>
            <a:r>
              <a:rPr lang="ru-RU" sz="3300" b="1" dirty="0" smtClean="0"/>
              <a:t>3.Технологии симметричного DSL-доступа </a:t>
            </a:r>
            <a:r>
              <a:rPr lang="ru-RU" sz="3300" dirty="0" smtClean="0"/>
              <a:t>используются при предоставлении услуг объединения LAN, организации выносов, подключении оборудования пользователя к транспортным сетям по симметричным медным линиям. К этой группе относятся технологии HDSL, SDSL, MDSL, MSDSL, SHDSL, HDSL2/4 И VDSL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4 .Симметричные технологии </a:t>
            </a:r>
            <a:r>
              <a:rPr lang="ru-RU" b="1" dirty="0" err="1" smtClean="0"/>
              <a:t>xDSL</a:t>
            </a:r>
            <a:r>
              <a:rPr lang="ru-RU" b="1" dirty="0" smtClean="0"/>
              <a:t> различают по числу пар используемых проводов.</a:t>
            </a:r>
            <a:r>
              <a:rPr lang="ru-RU" dirty="0" smtClean="0"/>
              <a:t> 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sz="3300" dirty="0" smtClean="0"/>
              <a:t>В частности, самая «древняя» симметричная технология HDSL (</a:t>
            </a:r>
            <a:r>
              <a:rPr lang="ru-RU" sz="3300" dirty="0" err="1" smtClean="0"/>
              <a:t>high</a:t>
            </a:r>
            <a:r>
              <a:rPr lang="ru-RU" sz="3300" dirty="0" smtClean="0"/>
              <a:t> </a:t>
            </a:r>
            <a:r>
              <a:rPr lang="ru-RU" sz="3300" dirty="0" err="1" smtClean="0"/>
              <a:t>bit</a:t>
            </a:r>
            <a:r>
              <a:rPr lang="ru-RU" sz="3300" dirty="0" smtClean="0"/>
              <a:t> </a:t>
            </a:r>
            <a:r>
              <a:rPr lang="ru-RU" sz="3300" dirty="0" err="1" smtClean="0"/>
              <a:t>rate</a:t>
            </a:r>
            <a:r>
              <a:rPr lang="ru-RU" sz="3300" dirty="0" smtClean="0"/>
              <a:t> DSL) применяется для передачи по одной, двум или трем парам, причем в каждой паре осуществляется дуплексная передача. Классификация симметричных xDSL-технологий по числу пар используемых проводов представлена на рисунке .</a:t>
            </a:r>
          </a:p>
          <a:p>
            <a:r>
              <a:rPr lang="ru-RU" sz="3300" dirty="0" smtClean="0"/>
              <a:t>Сначала появился вариант HDSL для двух пар, нормированный в ANSI, который использует кодирование 2B1Q. </a:t>
            </a:r>
          </a:p>
          <a:p>
            <a:r>
              <a:rPr lang="ru-RU" sz="3300" dirty="0" smtClean="0"/>
              <a:t>Затем прошла стандартизация HDSL для трех, двух и одной пар с использованием кодирования 2B1Q или CAP.</a:t>
            </a:r>
          </a:p>
          <a:p>
            <a:r>
              <a:rPr lang="ru-RU" sz="3300" dirty="0" smtClean="0"/>
              <a:t> Часто употребляются обозначения HDSL2 и SDSL2, причем технология HDSL2 рассчитана исключительно на передачу Т1, </a:t>
            </a:r>
            <a:r>
              <a:rPr lang="ru-RU" sz="3300" dirty="0" err="1" smtClean="0"/>
              <a:t>a</a:t>
            </a:r>
            <a:r>
              <a:rPr lang="ru-RU" sz="3300" dirty="0" smtClean="0"/>
              <a:t> SDSL2 поддерживает скорости от 384 кбит/</a:t>
            </a:r>
            <a:r>
              <a:rPr lang="ru-RU" sz="3300" dirty="0" err="1" smtClean="0"/>
              <a:t>c</a:t>
            </a:r>
            <a:r>
              <a:rPr lang="ru-RU" sz="3300" dirty="0" smtClean="0"/>
              <a:t>  до 2,304 Мбит/с (</a:t>
            </a:r>
            <a:r>
              <a:rPr lang="ru-RU" sz="3300" dirty="0" err="1" smtClean="0"/>
              <a:t>с</a:t>
            </a:r>
            <a:r>
              <a:rPr lang="ru-RU" sz="3300" dirty="0" smtClean="0"/>
              <a:t> шагом 64 кбит/с).</a:t>
            </a:r>
          </a:p>
          <a:p>
            <a:r>
              <a:rPr lang="en-US" sz="3300" dirty="0" smtClean="0"/>
              <a:t> </a:t>
            </a:r>
            <a:r>
              <a:rPr lang="en-US" sz="3300" dirty="0" err="1" smtClean="0"/>
              <a:t>Зачастую</a:t>
            </a:r>
            <a:r>
              <a:rPr lang="en-US" sz="3300" dirty="0" smtClean="0"/>
              <a:t> </a:t>
            </a:r>
            <a:r>
              <a:rPr lang="en-US" sz="3300" dirty="0" err="1" smtClean="0"/>
              <a:t>полная</a:t>
            </a:r>
            <a:r>
              <a:rPr lang="en-US" sz="3300" dirty="0" smtClean="0"/>
              <a:t> </a:t>
            </a:r>
            <a:r>
              <a:rPr lang="en-US" sz="3300" dirty="0" err="1" smtClean="0"/>
              <a:t>скорость</a:t>
            </a:r>
            <a:r>
              <a:rPr lang="en-US" sz="3300" dirty="0" smtClean="0"/>
              <a:t> (544 </a:t>
            </a:r>
            <a:r>
              <a:rPr lang="en-US" sz="3300" dirty="0" err="1" smtClean="0"/>
              <a:t>или</a:t>
            </a:r>
            <a:r>
              <a:rPr lang="en-US" sz="3300" dirty="0" smtClean="0"/>
              <a:t> 2,304 </a:t>
            </a:r>
            <a:r>
              <a:rPr lang="en-US" sz="3300" dirty="0" err="1" smtClean="0"/>
              <a:t>Мбит</a:t>
            </a:r>
            <a:r>
              <a:rPr lang="en-US" sz="3300" dirty="0" smtClean="0"/>
              <a:t>/с) </a:t>
            </a:r>
            <a:r>
              <a:rPr lang="en-US" sz="3300" dirty="0" err="1" smtClean="0"/>
              <a:t>не</a:t>
            </a:r>
            <a:r>
              <a:rPr lang="en-US" sz="3300" dirty="0" smtClean="0"/>
              <a:t> </a:t>
            </a:r>
            <a:r>
              <a:rPr lang="en-US" sz="3300" dirty="0" err="1" smtClean="0"/>
              <a:t>требуется</a:t>
            </a:r>
            <a:r>
              <a:rPr lang="en-US" sz="3300" dirty="0" smtClean="0"/>
              <a:t> </a:t>
            </a:r>
            <a:r>
              <a:rPr lang="en-US" sz="3300" dirty="0" err="1" smtClean="0"/>
              <a:t>или</a:t>
            </a:r>
            <a:r>
              <a:rPr lang="en-US" sz="3300" dirty="0" smtClean="0"/>
              <a:t> </a:t>
            </a:r>
            <a:r>
              <a:rPr lang="en-US" sz="3300" dirty="0" err="1" smtClean="0"/>
              <a:t>необходимая</a:t>
            </a:r>
            <a:r>
              <a:rPr lang="en-US" sz="3300" dirty="0" smtClean="0"/>
              <a:t> </a:t>
            </a:r>
            <a:r>
              <a:rPr lang="en-US" sz="3300" dirty="0" err="1" smtClean="0"/>
              <a:t>дальность</a:t>
            </a:r>
            <a:r>
              <a:rPr lang="en-US" sz="3300" dirty="0" smtClean="0"/>
              <a:t> </a:t>
            </a:r>
            <a:r>
              <a:rPr lang="en-US" sz="3300" dirty="0" err="1" smtClean="0"/>
              <a:t>при</a:t>
            </a:r>
            <a:r>
              <a:rPr lang="en-US" sz="3300" dirty="0" smtClean="0"/>
              <a:t> </a:t>
            </a:r>
            <a:r>
              <a:rPr lang="en-US" sz="3300" dirty="0" err="1" smtClean="0"/>
              <a:t>этих</a:t>
            </a:r>
            <a:r>
              <a:rPr lang="en-US" sz="3300" dirty="0" smtClean="0"/>
              <a:t> </a:t>
            </a:r>
            <a:r>
              <a:rPr lang="en-US" sz="3300" dirty="0" err="1" smtClean="0"/>
              <a:t>скоростях</a:t>
            </a:r>
            <a:r>
              <a:rPr lang="en-US" sz="3300" dirty="0" smtClean="0"/>
              <a:t> </a:t>
            </a:r>
            <a:r>
              <a:rPr lang="en-US" sz="3300" dirty="0" err="1" smtClean="0"/>
              <a:t>не</a:t>
            </a:r>
            <a:r>
              <a:rPr lang="en-US" sz="3300" dirty="0" smtClean="0"/>
              <a:t> </a:t>
            </a:r>
            <a:r>
              <a:rPr lang="en-US" sz="3300" dirty="0" err="1" smtClean="0"/>
              <a:t>достигается</a:t>
            </a:r>
            <a:r>
              <a:rPr lang="en-US" sz="3300" dirty="0" smtClean="0"/>
              <a:t>. </a:t>
            </a:r>
            <a:endParaRPr lang="ru-RU" sz="3300" dirty="0" smtClean="0"/>
          </a:p>
          <a:p>
            <a:r>
              <a:rPr lang="en-US" sz="3300" dirty="0" err="1" smtClean="0"/>
              <a:t>Поэтому</a:t>
            </a:r>
            <a:r>
              <a:rPr lang="en-US" sz="3300" dirty="0" smtClean="0"/>
              <a:t> </a:t>
            </a:r>
            <a:r>
              <a:rPr lang="en-US" sz="3300" dirty="0" err="1" smtClean="0"/>
              <a:t>появились</a:t>
            </a:r>
            <a:r>
              <a:rPr lang="en-US" sz="3300" dirty="0" smtClean="0"/>
              <a:t> </a:t>
            </a:r>
            <a:r>
              <a:rPr lang="en-US" sz="3300" dirty="0" err="1" smtClean="0"/>
              <a:t>новые</a:t>
            </a:r>
            <a:r>
              <a:rPr lang="en-US" sz="3300" dirty="0" smtClean="0"/>
              <a:t> </a:t>
            </a:r>
            <a:r>
              <a:rPr lang="en-US" sz="3300" dirty="0" err="1" smtClean="0"/>
              <a:t>системы</a:t>
            </a:r>
            <a:r>
              <a:rPr lang="en-US" sz="3300" dirty="0" smtClean="0"/>
              <a:t>, </a:t>
            </a:r>
            <a:r>
              <a:rPr lang="en-US" sz="3300" dirty="0" err="1" smtClean="0"/>
              <a:t>заполняющие</a:t>
            </a:r>
            <a:r>
              <a:rPr lang="en-US" sz="3300" dirty="0" smtClean="0"/>
              <a:t> «</a:t>
            </a:r>
            <a:r>
              <a:rPr lang="en-US" sz="3300" dirty="0" err="1" smtClean="0"/>
              <a:t>зазоры</a:t>
            </a:r>
            <a:r>
              <a:rPr lang="en-US" sz="3300" dirty="0" smtClean="0"/>
              <a:t> в </a:t>
            </a:r>
            <a:r>
              <a:rPr lang="en-US" sz="3300" dirty="0" err="1" smtClean="0"/>
              <a:t>скоростях</a:t>
            </a:r>
            <a:r>
              <a:rPr lang="en-US" sz="3300" dirty="0" smtClean="0"/>
              <a:t>»: </a:t>
            </a:r>
            <a:r>
              <a:rPr lang="en-US" sz="3300" dirty="0" err="1" smtClean="0"/>
              <a:t>сначала</a:t>
            </a:r>
            <a:r>
              <a:rPr lang="en-US" sz="3300" dirty="0" smtClean="0"/>
              <a:t> </a:t>
            </a:r>
            <a:r>
              <a:rPr lang="en-US" sz="3300" dirty="0" err="1" smtClean="0"/>
              <a:t>это</a:t>
            </a:r>
            <a:r>
              <a:rPr lang="en-US" sz="3300" dirty="0" smtClean="0"/>
              <a:t> </a:t>
            </a:r>
            <a:r>
              <a:rPr lang="en-US" sz="3300" dirty="0" err="1" smtClean="0"/>
              <a:t>были</a:t>
            </a:r>
            <a:r>
              <a:rPr lang="en-US" sz="3300" dirty="0" smtClean="0"/>
              <a:t> </a:t>
            </a:r>
            <a:r>
              <a:rPr lang="en-US" sz="3300" dirty="0" err="1" smtClean="0"/>
              <a:t>системы</a:t>
            </a:r>
            <a:r>
              <a:rPr lang="en-US" sz="3300" dirty="0" smtClean="0"/>
              <a:t> MDSL, </a:t>
            </a:r>
            <a:r>
              <a:rPr lang="en-US" sz="3300" dirty="0" err="1" smtClean="0"/>
              <a:t>работающие</a:t>
            </a:r>
            <a:r>
              <a:rPr lang="en-US" sz="3300" dirty="0" smtClean="0"/>
              <a:t> </a:t>
            </a:r>
            <a:r>
              <a:rPr lang="en-US" sz="3300" dirty="0" err="1" smtClean="0"/>
              <a:t>со</a:t>
            </a:r>
            <a:r>
              <a:rPr lang="en-US" sz="3300" dirty="0" smtClean="0"/>
              <a:t> </a:t>
            </a:r>
            <a:r>
              <a:rPr lang="en-US" sz="3300" dirty="0" err="1" smtClean="0"/>
              <a:t>скоростью</a:t>
            </a:r>
            <a:r>
              <a:rPr lang="en-US" sz="3300" dirty="0" smtClean="0"/>
              <a:t> </a:t>
            </a:r>
            <a:r>
              <a:rPr lang="en-US" sz="3300" dirty="0" err="1" smtClean="0"/>
              <a:t>от</a:t>
            </a:r>
            <a:r>
              <a:rPr lang="en-US" sz="3300" dirty="0" smtClean="0"/>
              <a:t> 160 </a:t>
            </a:r>
            <a:r>
              <a:rPr lang="en-US" sz="3300" dirty="0" err="1" smtClean="0"/>
              <a:t>до</a:t>
            </a:r>
            <a:r>
              <a:rPr lang="en-US" sz="3300" dirty="0" smtClean="0"/>
              <a:t> 784 </a:t>
            </a:r>
            <a:r>
              <a:rPr lang="en-US" sz="3300" dirty="0" err="1" smtClean="0"/>
              <a:t>кбит</a:t>
            </a:r>
            <a:r>
              <a:rPr lang="en-US" sz="3300" dirty="0" smtClean="0"/>
              <a:t>/с, а </a:t>
            </a:r>
            <a:r>
              <a:rPr lang="en-US" sz="3300" dirty="0" err="1" smtClean="0"/>
              <a:t>позднее</a:t>
            </a:r>
            <a:r>
              <a:rPr lang="en-US" sz="3300" dirty="0" smtClean="0"/>
              <a:t> – </a:t>
            </a:r>
            <a:r>
              <a:rPr lang="en-US" sz="3300" dirty="0" err="1" smtClean="0"/>
              <a:t>системы</a:t>
            </a:r>
            <a:r>
              <a:rPr lang="en-US" sz="3300" dirty="0" smtClean="0"/>
              <a:t> MSDSL, </a:t>
            </a:r>
            <a:r>
              <a:rPr lang="en-US" sz="3300" dirty="0" err="1" smtClean="0"/>
              <a:t>обеспечивающие</a:t>
            </a:r>
            <a:r>
              <a:rPr lang="en-US" sz="3300" dirty="0" smtClean="0"/>
              <a:t> </a:t>
            </a:r>
            <a:r>
              <a:rPr lang="en-US" sz="3300" dirty="0" err="1" smtClean="0"/>
              <a:t>скорость</a:t>
            </a:r>
            <a:r>
              <a:rPr lang="en-US" sz="3300" dirty="0" smtClean="0"/>
              <a:t> </a:t>
            </a:r>
            <a:r>
              <a:rPr lang="en-US" sz="3300" dirty="0" err="1" smtClean="0"/>
              <a:t>передачи</a:t>
            </a:r>
            <a:r>
              <a:rPr lang="en-US" sz="3300" dirty="0" smtClean="0"/>
              <a:t> </a:t>
            </a:r>
            <a:r>
              <a:rPr lang="en-US" sz="3300" dirty="0" err="1" smtClean="0"/>
              <a:t>до</a:t>
            </a:r>
            <a:r>
              <a:rPr lang="en-US" sz="3300" dirty="0" smtClean="0"/>
              <a:t> 160-320 </a:t>
            </a:r>
            <a:r>
              <a:rPr lang="en-US" sz="3300" dirty="0" err="1" smtClean="0"/>
              <a:t>кбит</a:t>
            </a:r>
            <a:r>
              <a:rPr lang="en-US" sz="3300" dirty="0" smtClean="0"/>
              <a:t>/с.</a:t>
            </a:r>
            <a:endParaRPr lang="ru-RU" sz="3300" dirty="0" smtClean="0"/>
          </a:p>
          <a:p>
            <a:r>
              <a:rPr lang="en-US" sz="3300" dirty="0" smtClean="0"/>
              <a:t> MDSL </a:t>
            </a:r>
            <a:r>
              <a:rPr lang="en-US" sz="3300" dirty="0" err="1" smtClean="0"/>
              <a:t>представляет</a:t>
            </a:r>
            <a:r>
              <a:rPr lang="en-US" sz="3300" dirty="0" smtClean="0"/>
              <a:t> </a:t>
            </a:r>
            <a:r>
              <a:rPr lang="en-US" sz="3300" dirty="0" err="1" smtClean="0"/>
              <a:t>собой</a:t>
            </a:r>
            <a:r>
              <a:rPr lang="en-US" sz="3300" dirty="0" smtClean="0"/>
              <a:t> </a:t>
            </a:r>
            <a:r>
              <a:rPr lang="en-US" sz="3300" dirty="0" err="1" smtClean="0"/>
              <a:t>множество</a:t>
            </a:r>
            <a:r>
              <a:rPr lang="en-US" sz="3300" dirty="0" smtClean="0"/>
              <a:t> </a:t>
            </a:r>
            <a:r>
              <a:rPr lang="en-US" sz="3300" dirty="0" err="1" smtClean="0"/>
              <a:t>подсистем</a:t>
            </a:r>
            <a:r>
              <a:rPr lang="en-US" sz="3300" dirty="0" smtClean="0"/>
              <a:t> MSDSL, </a:t>
            </a:r>
            <a:r>
              <a:rPr lang="en-US" sz="3300" dirty="0" err="1" smtClean="0"/>
              <a:t>которые</a:t>
            </a:r>
            <a:r>
              <a:rPr lang="en-US" sz="3300" dirty="0" smtClean="0"/>
              <a:t> </a:t>
            </a:r>
            <a:r>
              <a:rPr lang="en-US" sz="3300" dirty="0" err="1" smtClean="0"/>
              <a:t>не</a:t>
            </a:r>
            <a:r>
              <a:rPr lang="en-US" sz="3300" dirty="0" smtClean="0"/>
              <a:t> </a:t>
            </a:r>
            <a:r>
              <a:rPr lang="en-US" sz="3300" dirty="0" err="1" smtClean="0"/>
              <a:t>были</a:t>
            </a:r>
            <a:r>
              <a:rPr lang="en-US" sz="3300" dirty="0" smtClean="0"/>
              <a:t> </a:t>
            </a:r>
            <a:r>
              <a:rPr lang="en-US" sz="3300" dirty="0" err="1" smtClean="0"/>
              <a:t>нормированы</a:t>
            </a:r>
            <a:r>
              <a:rPr lang="en-US" sz="3300" dirty="0" smtClean="0"/>
              <a:t>, а </a:t>
            </a:r>
            <a:r>
              <a:rPr lang="en-US" sz="3300" dirty="0" err="1" smtClean="0"/>
              <a:t>используемая</a:t>
            </a:r>
            <a:r>
              <a:rPr lang="en-US" sz="3300" dirty="0" smtClean="0"/>
              <a:t> </a:t>
            </a:r>
            <a:r>
              <a:rPr lang="en-US" sz="3300" dirty="0" err="1" smtClean="0"/>
              <a:t>технология</a:t>
            </a:r>
            <a:r>
              <a:rPr lang="en-US" sz="3300" dirty="0" smtClean="0"/>
              <a:t> </a:t>
            </a:r>
            <a:r>
              <a:rPr lang="en-US" sz="3300" dirty="0" err="1" smtClean="0"/>
              <a:t>соответствует</a:t>
            </a:r>
            <a:r>
              <a:rPr lang="en-US" sz="3300" dirty="0" smtClean="0"/>
              <a:t> HDSL</a:t>
            </a:r>
            <a:r>
              <a:rPr lang="ru-RU" sz="3300" dirty="0" smtClean="0"/>
              <a:t>.</a:t>
            </a:r>
          </a:p>
          <a:p>
            <a:pPr>
              <a:buNone/>
            </a:pPr>
            <a:r>
              <a:rPr lang="ru-RU" dirty="0" smtClean="0"/>
              <a:t> 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3408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Классификация симметричных технологий </a:t>
            </a:r>
            <a:r>
              <a:rPr lang="en-US" sz="3200" b="1" dirty="0" err="1" smtClean="0">
                <a:solidFill>
                  <a:srgbClr val="002060"/>
                </a:solidFill>
              </a:rPr>
              <a:t>xDSL</a:t>
            </a:r>
            <a:endParaRPr lang="ru-RU" sz="32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C:\Users\Alex\Desktop\сд2.gif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/>
              </a:ext>
            </a:extLst>
          </a:blip>
          <a:srcRect/>
          <a:stretch>
            <a:fillRect/>
          </a:stretch>
        </p:blipFill>
        <p:spPr bwMode="auto">
          <a:xfrm>
            <a:off x="251520" y="980728"/>
            <a:ext cx="8712968" cy="5400600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490066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Классификация сетей доступа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5.</a:t>
            </a:r>
            <a:r>
              <a:rPr lang="ru-RU" dirty="0" smtClean="0"/>
              <a:t> </a:t>
            </a:r>
            <a:r>
              <a:rPr lang="ru-RU" b="1" dirty="0" smtClean="0"/>
              <a:t>Технологии SDSL2 предназначались в основном для делового сектора.</a:t>
            </a:r>
          </a:p>
          <a:p>
            <a:pPr>
              <a:buNone/>
            </a:pPr>
            <a:r>
              <a:rPr lang="ru-RU" dirty="0" smtClean="0"/>
              <a:t>     Но возможности комбинированной передачи речи и данных, повышенная потребность частного сектора в скорости передачи и хороших технических характеристиках (таких, как спектральная совместимость, аварийное питание и т.д.) могут в будущем привести к тому, что SDSL2 заменят ISDN в частном секторе и тем самым создадут серьезную конкуренцию асимметричным службам </a:t>
            </a:r>
            <a:r>
              <a:rPr lang="ru-RU" dirty="0" err="1" smtClean="0"/>
              <a:t>xDSL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6. Системы SHDSL </a:t>
            </a:r>
            <a:r>
              <a:rPr lang="ru-RU" dirty="0" smtClean="0"/>
              <a:t>способны работать по одной или по двум витым парам со скоростью передачи соответственно от 192 до 2312 кбит/с и шагом 8 кбит/с и от 384 до 4624 кбит/с и шагом 16 кбит/с. В линии может быть установлено до 8 регенераторов. Длина линии при максимальной скорости достигает 20-30 км в зависимости от диаметра провода.</a:t>
            </a:r>
          </a:p>
          <a:p>
            <a:r>
              <a:rPr lang="en-US" b="1" dirty="0" err="1" smtClean="0"/>
              <a:t>Если</a:t>
            </a:r>
            <a:r>
              <a:rPr lang="en-US" b="1" dirty="0" smtClean="0"/>
              <a:t> </a:t>
            </a:r>
            <a:r>
              <a:rPr lang="en-US" b="1" dirty="0" err="1" smtClean="0"/>
              <a:t>первоначально</a:t>
            </a:r>
            <a:r>
              <a:rPr lang="en-US" b="1" dirty="0" smtClean="0"/>
              <a:t> </a:t>
            </a:r>
            <a:r>
              <a:rPr lang="en-US" b="1" dirty="0" err="1" smtClean="0"/>
              <a:t>развитие</a:t>
            </a:r>
            <a:r>
              <a:rPr lang="en-US" b="1" dirty="0" smtClean="0"/>
              <a:t> </a:t>
            </a:r>
            <a:r>
              <a:rPr lang="en-US" b="1" dirty="0" err="1" smtClean="0"/>
              <a:t>симметричных</a:t>
            </a:r>
            <a:r>
              <a:rPr lang="en-US" b="1" dirty="0" smtClean="0"/>
              <a:t> </a:t>
            </a:r>
            <a:r>
              <a:rPr lang="en-US" b="1" dirty="0" err="1" smtClean="0"/>
              <a:t>технологий</a:t>
            </a:r>
            <a:r>
              <a:rPr lang="en-US" b="1" dirty="0" smtClean="0"/>
              <a:t> </a:t>
            </a:r>
            <a:r>
              <a:rPr lang="en-US" b="1" dirty="0" err="1" smtClean="0"/>
              <a:t>xDSL</a:t>
            </a:r>
            <a:r>
              <a:rPr lang="en-US" b="1" dirty="0" smtClean="0"/>
              <a:t> в </a:t>
            </a:r>
            <a:r>
              <a:rPr lang="en-US" b="1" dirty="0" err="1" smtClean="0"/>
              <a:t>основном</a:t>
            </a:r>
            <a:r>
              <a:rPr lang="en-US" b="1" dirty="0" smtClean="0"/>
              <a:t> </a:t>
            </a:r>
            <a:r>
              <a:rPr lang="en-US" b="1" dirty="0" err="1" smtClean="0"/>
              <a:t>было</a:t>
            </a:r>
            <a:r>
              <a:rPr lang="en-US" b="1" dirty="0" smtClean="0"/>
              <a:t> </a:t>
            </a:r>
            <a:r>
              <a:rPr lang="en-US" b="1" dirty="0" err="1" smtClean="0"/>
              <a:t>ориентировано</a:t>
            </a:r>
            <a:r>
              <a:rPr lang="en-US" b="1" dirty="0" smtClean="0"/>
              <a:t> </a:t>
            </a:r>
            <a:r>
              <a:rPr lang="en-US" b="1" dirty="0" err="1" smtClean="0"/>
              <a:t>на</a:t>
            </a:r>
            <a:r>
              <a:rPr lang="en-US" b="1" dirty="0" smtClean="0"/>
              <a:t> </a:t>
            </a:r>
            <a:r>
              <a:rPr lang="en-US" b="1" dirty="0" err="1" smtClean="0"/>
              <a:t>потребности</a:t>
            </a:r>
            <a:r>
              <a:rPr lang="en-US" b="1" dirty="0" smtClean="0"/>
              <a:t> </a:t>
            </a:r>
            <a:r>
              <a:rPr lang="en-US" b="1" dirty="0" err="1" smtClean="0"/>
              <a:t>делового</a:t>
            </a:r>
            <a:r>
              <a:rPr lang="en-US" b="1" dirty="0" smtClean="0"/>
              <a:t> </a:t>
            </a:r>
            <a:r>
              <a:rPr lang="en-US" b="1" dirty="0" err="1" smtClean="0"/>
              <a:t>сектора</a:t>
            </a:r>
            <a:r>
              <a:rPr lang="en-US" b="1" dirty="0" smtClean="0"/>
              <a:t>, </a:t>
            </a:r>
            <a:r>
              <a:rPr lang="en-US" b="1" dirty="0" err="1" smtClean="0"/>
              <a:t>то</a:t>
            </a:r>
            <a:r>
              <a:rPr lang="en-US" b="1" dirty="0" smtClean="0"/>
              <a:t> </a:t>
            </a:r>
            <a:r>
              <a:rPr lang="en-US" b="1" dirty="0" err="1" smtClean="0"/>
              <a:t>асимметричные</a:t>
            </a:r>
            <a:r>
              <a:rPr lang="en-US" b="1" dirty="0" smtClean="0"/>
              <a:t> </a:t>
            </a:r>
            <a:r>
              <a:rPr lang="en-US" b="1" dirty="0" err="1" smtClean="0"/>
              <a:t>технологии</a:t>
            </a:r>
            <a:r>
              <a:rPr lang="en-US" b="1" dirty="0" smtClean="0"/>
              <a:t> </a:t>
            </a:r>
            <a:r>
              <a:rPr lang="en-US" b="1" dirty="0" err="1" smtClean="0"/>
              <a:t>xDSL</a:t>
            </a:r>
            <a:r>
              <a:rPr lang="en-US" b="1" dirty="0" smtClean="0"/>
              <a:t> </a:t>
            </a:r>
            <a:r>
              <a:rPr lang="en-US" b="1" dirty="0" err="1" smtClean="0"/>
              <a:t>предназначались</a:t>
            </a:r>
            <a:r>
              <a:rPr lang="en-US" b="1" dirty="0" smtClean="0"/>
              <a:t> </a:t>
            </a:r>
            <a:r>
              <a:rPr lang="en-US" b="1" dirty="0" err="1" smtClean="0"/>
              <a:t>для</a:t>
            </a:r>
            <a:r>
              <a:rPr lang="en-US" b="1" dirty="0" smtClean="0"/>
              <a:t> </a:t>
            </a:r>
            <a:r>
              <a:rPr lang="en-US" b="1" dirty="0" err="1" smtClean="0"/>
              <a:t>частного</a:t>
            </a:r>
            <a:r>
              <a:rPr lang="en-US" b="1" dirty="0" smtClean="0"/>
              <a:t> </a:t>
            </a:r>
            <a:r>
              <a:rPr lang="en-US" b="1" dirty="0" err="1" smtClean="0"/>
              <a:t>сектора</a:t>
            </a:r>
            <a:r>
              <a:rPr lang="en-US" b="1" dirty="0" smtClean="0"/>
              <a:t>.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en-US" dirty="0" err="1" smtClean="0"/>
              <a:t>Такой</a:t>
            </a:r>
            <a:r>
              <a:rPr lang="en-US" dirty="0" smtClean="0"/>
              <a:t> </a:t>
            </a:r>
            <a:r>
              <a:rPr lang="en-US" dirty="0" err="1" smtClean="0"/>
              <a:t>подход</a:t>
            </a:r>
            <a:r>
              <a:rPr lang="en-US" dirty="0" smtClean="0"/>
              <a:t> </a:t>
            </a:r>
            <a:r>
              <a:rPr lang="en-US" dirty="0" err="1" smtClean="0"/>
              <a:t>определяет</a:t>
            </a:r>
            <a:r>
              <a:rPr lang="en-US" dirty="0" smtClean="0"/>
              <a:t> </a:t>
            </a:r>
            <a:r>
              <a:rPr lang="en-US" dirty="0" err="1" smtClean="0"/>
              <a:t>существенную</a:t>
            </a:r>
            <a:r>
              <a:rPr lang="en-US" dirty="0" smtClean="0"/>
              <a:t> </a:t>
            </a:r>
            <a:r>
              <a:rPr lang="en-US" dirty="0" err="1" smtClean="0"/>
              <a:t>разницу</a:t>
            </a:r>
            <a:r>
              <a:rPr lang="en-US" dirty="0" smtClean="0"/>
              <a:t> в </a:t>
            </a:r>
            <a:r>
              <a:rPr lang="en-US" dirty="0" err="1" smtClean="0"/>
              <a:t>требованиях</a:t>
            </a:r>
            <a:r>
              <a:rPr lang="en-US" dirty="0" smtClean="0"/>
              <a:t> к </a:t>
            </a:r>
            <a:r>
              <a:rPr lang="en-US" dirty="0" err="1" smtClean="0"/>
              <a:t>ним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en-US" b="1" dirty="0" smtClean="0"/>
              <a:t> В </a:t>
            </a:r>
            <a:r>
              <a:rPr lang="en-US" b="1" dirty="0" err="1" smtClean="0"/>
              <a:t>частном</a:t>
            </a:r>
            <a:r>
              <a:rPr lang="en-US" b="1" dirty="0" smtClean="0"/>
              <a:t> </a:t>
            </a:r>
            <a:r>
              <a:rPr lang="en-US" b="1" dirty="0" err="1" smtClean="0"/>
              <a:t>секторе</a:t>
            </a:r>
            <a:r>
              <a:rPr lang="en-US" b="1" dirty="0" smtClean="0"/>
              <a:t> </a:t>
            </a:r>
            <a:r>
              <a:rPr lang="en-US" b="1" dirty="0" err="1" smtClean="0"/>
              <a:t>было</a:t>
            </a:r>
            <a:r>
              <a:rPr lang="en-US" b="1" dirty="0" smtClean="0"/>
              <a:t> </a:t>
            </a:r>
            <a:r>
              <a:rPr lang="en-US" b="1" dirty="0" err="1" smtClean="0"/>
              <a:t>необходимо</a:t>
            </a:r>
            <a:r>
              <a:rPr lang="en-US" b="1" dirty="0" smtClean="0"/>
              <a:t>, </a:t>
            </a:r>
            <a:r>
              <a:rPr lang="en-US" b="1" dirty="0" err="1" smtClean="0"/>
              <a:t>чтобы</a:t>
            </a:r>
            <a:r>
              <a:rPr lang="en-US" b="1" dirty="0" smtClean="0"/>
              <a:t> </a:t>
            </a:r>
            <a:r>
              <a:rPr lang="en-US" b="1" dirty="0" err="1" smtClean="0"/>
              <a:t>уже</a:t>
            </a:r>
            <a:r>
              <a:rPr lang="en-US" b="1" dirty="0" smtClean="0"/>
              <a:t> </a:t>
            </a:r>
            <a:r>
              <a:rPr lang="en-US" b="1" dirty="0" err="1" smtClean="0"/>
              <a:t>существующая</a:t>
            </a:r>
            <a:r>
              <a:rPr lang="en-US" b="1" dirty="0" smtClean="0"/>
              <a:t> ТфОП </a:t>
            </a:r>
            <a:r>
              <a:rPr lang="en-US" b="1" dirty="0" err="1" smtClean="0"/>
              <a:t>или</a:t>
            </a:r>
            <a:r>
              <a:rPr lang="en-US" b="1" dirty="0" smtClean="0"/>
              <a:t> ISDN </a:t>
            </a:r>
            <a:r>
              <a:rPr lang="en-US" b="1" dirty="0" err="1" smtClean="0"/>
              <a:t>продолжали</a:t>
            </a:r>
            <a:r>
              <a:rPr lang="en-US" b="1" dirty="0" smtClean="0"/>
              <a:t> </a:t>
            </a:r>
            <a:r>
              <a:rPr lang="en-US" b="1" dirty="0" err="1" smtClean="0"/>
              <a:t>работать</a:t>
            </a:r>
            <a:r>
              <a:rPr lang="en-US" b="1" dirty="0" smtClean="0"/>
              <a:t> и </a:t>
            </a:r>
            <a:r>
              <a:rPr lang="en-US" b="1" dirty="0" err="1" smtClean="0"/>
              <a:t>при</a:t>
            </a:r>
            <a:r>
              <a:rPr lang="en-US" b="1" dirty="0" smtClean="0"/>
              <a:t> </a:t>
            </a:r>
            <a:r>
              <a:rPr lang="en-US" b="1" dirty="0" err="1" smtClean="0"/>
              <a:t>переходе</a:t>
            </a:r>
            <a:r>
              <a:rPr lang="en-US" b="1" dirty="0" smtClean="0"/>
              <a:t> </a:t>
            </a:r>
            <a:r>
              <a:rPr lang="en-US" b="1" dirty="0" err="1" smtClean="0"/>
              <a:t>на</a:t>
            </a:r>
            <a:r>
              <a:rPr lang="en-US" b="1" dirty="0" smtClean="0"/>
              <a:t> ADSL.</a:t>
            </a:r>
            <a:endParaRPr lang="ru-RU" b="1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Классификация</a:t>
            </a:r>
            <a:r>
              <a:rPr lang="en-US" dirty="0" smtClean="0"/>
              <a:t> </a:t>
            </a:r>
            <a:r>
              <a:rPr lang="en-US" dirty="0" err="1" smtClean="0"/>
              <a:t>асимметричных</a:t>
            </a:r>
            <a:r>
              <a:rPr lang="en-US" dirty="0" smtClean="0"/>
              <a:t> </a:t>
            </a:r>
            <a:r>
              <a:rPr lang="en-US" dirty="0" err="1" smtClean="0"/>
              <a:t>xDSL-технологий</a:t>
            </a:r>
            <a:r>
              <a:rPr lang="en-US" dirty="0" smtClean="0"/>
              <a:t> </a:t>
            </a:r>
            <a:r>
              <a:rPr lang="en-US" dirty="0" err="1" smtClean="0"/>
              <a:t>приведена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рисунке</a:t>
            </a:r>
            <a:r>
              <a:rPr lang="en-US" dirty="0" smtClean="0"/>
              <a:t> </a:t>
            </a:r>
            <a:endParaRPr lang="ru-RU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Классификация асимметричных </a:t>
            </a:r>
            <a:r>
              <a:rPr lang="en-US" sz="3200" b="1" dirty="0" err="1" smtClean="0">
                <a:solidFill>
                  <a:srgbClr val="002060"/>
                </a:solidFill>
              </a:rPr>
              <a:t>xDSL</a:t>
            </a:r>
            <a:r>
              <a:rPr lang="ru-RU" sz="3200" b="1" dirty="0" smtClean="0">
                <a:solidFill>
                  <a:srgbClr val="002060"/>
                </a:solidFill>
              </a:rPr>
              <a:t>-технологий</a:t>
            </a:r>
            <a:endParaRPr lang="ru-RU" sz="32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C:\Users\Alex\Desktop\сд3.gif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/>
              </a:ext>
            </a:extLst>
          </a:blip>
          <a:srcRect/>
          <a:stretch>
            <a:fillRect/>
          </a:stretch>
        </p:blipFill>
        <p:spPr bwMode="auto">
          <a:xfrm>
            <a:off x="179512" y="1052736"/>
            <a:ext cx="8964488" cy="525658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792088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Классификация сетей доступа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7. Первые версии ADSL имели следующие </a:t>
            </a:r>
            <a:r>
              <a:rPr lang="ru-RU" dirty="0" smtClean="0"/>
              <a:t>отношения скоростей передачи в прямом и обратном направлениях: </a:t>
            </a:r>
          </a:p>
          <a:p>
            <a:pPr>
              <a:buNone/>
            </a:pPr>
            <a:r>
              <a:rPr lang="ru-RU" dirty="0" smtClean="0"/>
              <a:t>      ADSL1 – 1,5 Мбит/с / 16 кбит/с; ADSL2 – 3 Мбит/с / 16 кбит/с;</a:t>
            </a:r>
          </a:p>
          <a:p>
            <a:pPr>
              <a:buNone/>
            </a:pPr>
            <a:r>
              <a:rPr lang="ru-RU" dirty="0" smtClean="0"/>
              <a:t>        ADSL3 -6 Мбит/с / 64 кбит/с).</a:t>
            </a:r>
          </a:p>
          <a:p>
            <a:r>
              <a:rPr lang="ru-RU" b="1" dirty="0" smtClean="0"/>
              <a:t>Очень высокие скорости передачи в прямом и обратном направлениях достигаются с помощью VDSL</a:t>
            </a:r>
            <a:r>
              <a:rPr lang="ru-RU" dirty="0" smtClean="0"/>
              <a:t>. </a:t>
            </a:r>
          </a:p>
          <a:p>
            <a:r>
              <a:rPr lang="ru-RU" dirty="0" smtClean="0"/>
              <a:t>Ранее для VDSL использовались также обозначения VADSL, BDSL (</a:t>
            </a:r>
            <a:r>
              <a:rPr lang="ru-RU" dirty="0" err="1" smtClean="0"/>
              <a:t>Broadband</a:t>
            </a:r>
            <a:r>
              <a:rPr lang="ru-RU" dirty="0" smtClean="0"/>
              <a:t> DSL) или VHDSL (</a:t>
            </a:r>
            <a:r>
              <a:rPr lang="ru-RU" dirty="0" err="1" smtClean="0"/>
              <a:t>Very</a:t>
            </a:r>
            <a:r>
              <a:rPr lang="ru-RU" dirty="0" smtClean="0"/>
              <a:t> </a:t>
            </a:r>
            <a:r>
              <a:rPr lang="ru-RU" dirty="0" err="1" smtClean="0"/>
              <a:t>High</a:t>
            </a:r>
            <a:r>
              <a:rPr lang="ru-RU" dirty="0" smtClean="0"/>
              <a:t> </a:t>
            </a:r>
            <a:r>
              <a:rPr lang="ru-RU" dirty="0" err="1" smtClean="0"/>
              <a:t>bitrate</a:t>
            </a:r>
            <a:r>
              <a:rPr lang="ru-RU" dirty="0" smtClean="0"/>
              <a:t> DSL). </a:t>
            </a:r>
          </a:p>
          <a:p>
            <a:r>
              <a:rPr lang="ru-RU" b="1" dirty="0" smtClean="0"/>
              <a:t>Внедрение ADSL на практике показало, что установка </a:t>
            </a:r>
            <a:r>
              <a:rPr lang="ru-RU" b="1" dirty="0" err="1" smtClean="0"/>
              <a:t>разветвителей</a:t>
            </a:r>
            <a:r>
              <a:rPr lang="ru-RU" b="1" dirty="0" smtClean="0"/>
              <a:t> связана с большими затратами, поэтому были начаты поиски технологий ADSL без </a:t>
            </a:r>
            <a:r>
              <a:rPr lang="ru-RU" b="1" dirty="0" err="1" smtClean="0"/>
              <a:t>разветвителя</a:t>
            </a:r>
            <a:r>
              <a:rPr lang="ru-RU" b="1" dirty="0" smtClean="0"/>
              <a:t>. </a:t>
            </a:r>
          </a:p>
          <a:p>
            <a:r>
              <a:rPr lang="ru-RU" dirty="0" smtClean="0"/>
              <a:t>Целым рядом фирм были предложены различные варианты, исходя из уменьшения скорости передачи в обоих направлениях по сравнению с ADSL (например, MVL – </a:t>
            </a:r>
            <a:r>
              <a:rPr lang="ru-RU" dirty="0" err="1" smtClean="0"/>
              <a:t>Multiple</a:t>
            </a:r>
            <a:r>
              <a:rPr lang="ru-RU" dirty="0" smtClean="0"/>
              <a:t> </a:t>
            </a:r>
            <a:r>
              <a:rPr lang="ru-RU" dirty="0" err="1" smtClean="0"/>
              <a:t>virtual</a:t>
            </a:r>
            <a:r>
              <a:rPr lang="ru-RU" dirty="0" smtClean="0"/>
              <a:t> </a:t>
            </a:r>
            <a:r>
              <a:rPr lang="ru-RU" dirty="0" err="1" smtClean="0"/>
              <a:t>Line</a:t>
            </a:r>
            <a:r>
              <a:rPr lang="ru-RU" dirty="0" smtClean="0"/>
              <a:t> DSL, CDSL – </a:t>
            </a:r>
            <a:r>
              <a:rPr lang="ru-RU" dirty="0" err="1" smtClean="0"/>
              <a:t>Consumer</a:t>
            </a:r>
            <a:r>
              <a:rPr lang="ru-RU" dirty="0" smtClean="0"/>
              <a:t> DSL, </a:t>
            </a:r>
            <a:r>
              <a:rPr lang="ru-RU" dirty="0" err="1" smtClean="0"/>
              <a:t>CiDSL</a:t>
            </a:r>
            <a:r>
              <a:rPr lang="ru-RU" dirty="0" smtClean="0"/>
              <a:t> – </a:t>
            </a:r>
            <a:r>
              <a:rPr lang="ru-RU" dirty="0" err="1" smtClean="0"/>
              <a:t>Consumer</a:t>
            </a:r>
            <a:r>
              <a:rPr lang="ru-RU" dirty="0" smtClean="0"/>
              <a:t> </a:t>
            </a:r>
            <a:r>
              <a:rPr lang="ru-RU" dirty="0" err="1" smtClean="0"/>
              <a:t>installable</a:t>
            </a:r>
            <a:r>
              <a:rPr lang="ru-RU" dirty="0" smtClean="0"/>
              <a:t> DSL). </a:t>
            </a:r>
          </a:p>
          <a:p>
            <a:r>
              <a:rPr lang="ru-RU" dirty="0" smtClean="0"/>
              <a:t>Удалось реализовать без </a:t>
            </a:r>
            <a:r>
              <a:rPr lang="ru-RU" dirty="0" err="1" smtClean="0"/>
              <a:t>разветвителя</a:t>
            </a:r>
            <a:r>
              <a:rPr lang="ru-RU" dirty="0" smtClean="0"/>
              <a:t> и «</a:t>
            </a:r>
            <a:r>
              <a:rPr lang="ru-RU" dirty="0" err="1" smtClean="0"/>
              <a:t>full</a:t>
            </a:r>
            <a:r>
              <a:rPr lang="ru-RU" dirty="0" smtClean="0"/>
              <a:t> </a:t>
            </a:r>
            <a:r>
              <a:rPr lang="ru-RU" dirty="0" err="1" smtClean="0"/>
              <a:t>rate</a:t>
            </a:r>
            <a:r>
              <a:rPr lang="ru-RU" dirty="0" smtClean="0"/>
              <a:t> ADSL». </a:t>
            </a:r>
          </a:p>
          <a:p>
            <a:endParaRPr lang="ru-RU" dirty="0" smtClean="0"/>
          </a:p>
          <a:p>
            <a:r>
              <a:rPr lang="ru-RU" b="1" dirty="0" smtClean="0"/>
              <a:t>Технологии ADSL, не требующие </a:t>
            </a:r>
            <a:r>
              <a:rPr lang="ru-RU" b="1" dirty="0" err="1" smtClean="0"/>
              <a:t>разветвителя</a:t>
            </a:r>
            <a:r>
              <a:rPr lang="ru-RU" b="1" dirty="0" smtClean="0"/>
              <a:t>, были нормированы в МСЭ (G.992.1) и получили название </a:t>
            </a:r>
            <a:r>
              <a:rPr lang="ru-RU" b="1" dirty="0" err="1" smtClean="0"/>
              <a:t>G.Lite</a:t>
            </a:r>
            <a:r>
              <a:rPr lang="ru-RU" b="1" dirty="0" smtClean="0"/>
              <a:t> (а также </a:t>
            </a:r>
            <a:r>
              <a:rPr lang="ru-RU" b="1" dirty="0" err="1" smtClean="0"/>
              <a:t>ADSL.Lite</a:t>
            </a:r>
            <a:r>
              <a:rPr lang="ru-RU" b="1" dirty="0" smtClean="0"/>
              <a:t> или </a:t>
            </a:r>
            <a:r>
              <a:rPr lang="ru-RU" b="1" dirty="0" err="1" smtClean="0"/>
              <a:t>DSL.Lite</a:t>
            </a:r>
            <a:r>
              <a:rPr lang="ru-RU" b="1" dirty="0" smtClean="0"/>
              <a:t>).</a:t>
            </a:r>
          </a:p>
          <a:p>
            <a:endParaRPr lang="ru-RU" b="1" dirty="0" smtClean="0"/>
          </a:p>
          <a:p>
            <a:r>
              <a:rPr lang="ru-RU" b="1" dirty="0" smtClean="0"/>
              <a:t> </a:t>
            </a:r>
            <a:r>
              <a:rPr lang="ru-RU" b="1" dirty="0" err="1" smtClean="0"/>
              <a:t>VDSL.Lite</a:t>
            </a:r>
            <a:r>
              <a:rPr lang="ru-RU" b="1" dirty="0" smtClean="0"/>
              <a:t> – технология, которая должна занять нишу между ADSL и VDSL.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692696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Классификация сетей доступа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/>
              <a:t>   </a:t>
            </a:r>
            <a:r>
              <a:rPr lang="ru-RU" b="1" dirty="0" smtClean="0"/>
              <a:t>8. Одним из самых популярных  является термин – </a:t>
            </a:r>
            <a:r>
              <a:rPr lang="ru-RU" b="1" dirty="0" err="1" smtClean="0"/>
              <a:t>VoDSL</a:t>
            </a:r>
            <a:r>
              <a:rPr lang="ru-RU" b="1" dirty="0" smtClean="0"/>
              <a:t> (</a:t>
            </a:r>
            <a:r>
              <a:rPr lang="ru-RU" b="1" dirty="0" err="1" smtClean="0"/>
              <a:t>Voice</a:t>
            </a:r>
            <a:r>
              <a:rPr lang="ru-RU" b="1" dirty="0" smtClean="0"/>
              <a:t> </a:t>
            </a:r>
            <a:r>
              <a:rPr lang="ru-RU" b="1" dirty="0" err="1" smtClean="0"/>
              <a:t>over</a:t>
            </a:r>
            <a:r>
              <a:rPr lang="ru-RU" b="1" dirty="0" smtClean="0"/>
              <a:t> DSL), </a:t>
            </a:r>
            <a:r>
              <a:rPr lang="ru-RU" dirty="0" smtClean="0"/>
              <a:t>что буквально означает передачу речевых сигналов по цифровым линиям сети абонентского доступа. 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b="1" dirty="0" smtClean="0"/>
              <a:t>В целом данное обозначение подходит почти ко всем высокоскоростным технологиям </a:t>
            </a:r>
            <a:r>
              <a:rPr lang="ru-RU" b="1" dirty="0" err="1" smtClean="0"/>
              <a:t>xDSL</a:t>
            </a:r>
            <a:r>
              <a:rPr lang="ru-RU" b="1" dirty="0" smtClean="0"/>
              <a:t>. </a:t>
            </a:r>
          </a:p>
          <a:p>
            <a:pPr>
              <a:buNone/>
            </a:pPr>
            <a:r>
              <a:rPr lang="ru-RU" b="1" dirty="0" smtClean="0"/>
              <a:t>    </a:t>
            </a:r>
            <a:r>
              <a:rPr lang="ru-RU" dirty="0" smtClean="0"/>
              <a:t>Отдельно выделяют </a:t>
            </a:r>
            <a:r>
              <a:rPr lang="ru-RU" dirty="0" err="1" smtClean="0"/>
              <a:t>VoSDSL</a:t>
            </a:r>
            <a:r>
              <a:rPr lang="ru-RU" dirty="0" smtClean="0"/>
              <a:t> и </a:t>
            </a:r>
            <a:r>
              <a:rPr lang="ru-RU" dirty="0" err="1" smtClean="0"/>
              <a:t>VoADSL</a:t>
            </a:r>
            <a:r>
              <a:rPr lang="ru-RU" dirty="0" smtClean="0"/>
              <a:t>, особенностью которых является сочетание сжатия речевых сигналов и АТМ.</a:t>
            </a:r>
          </a:p>
          <a:p>
            <a:r>
              <a:rPr lang="ru-RU" b="1" dirty="0" smtClean="0"/>
              <a:t>9. Группа технологий </a:t>
            </a:r>
            <a:r>
              <a:rPr lang="ru-RU" b="1" dirty="0" err="1" smtClean="0"/>
              <a:t>FTTx</a:t>
            </a:r>
            <a:r>
              <a:rPr lang="ru-RU" b="1" dirty="0" smtClean="0"/>
              <a:t> предназначена для совместного использования с технологиями ADSL и VDSL и позволяет более эффективно использовать пропускную способность этих технологий благодаря сокращению длины медно-кабельных </a:t>
            </a:r>
          </a:p>
          <a:p>
            <a:pPr>
              <a:buNone/>
            </a:pPr>
            <a:r>
              <a:rPr lang="ru-RU" b="1" dirty="0" smtClean="0"/>
              <a:t>      линий связи.</a:t>
            </a:r>
            <a:r>
              <a:rPr lang="ru-RU" dirty="0" smtClean="0"/>
              <a:t> </a:t>
            </a:r>
          </a:p>
          <a:p>
            <a:r>
              <a:rPr lang="ru-RU" b="1" dirty="0" smtClean="0"/>
              <a:t>Варианты построения сетей оптического доступа представлены на рисунке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  –	FTTN – волокно до сетевого узла (от абонента 1км);</a:t>
            </a:r>
          </a:p>
          <a:p>
            <a:pPr>
              <a:buNone/>
            </a:pPr>
            <a:r>
              <a:rPr lang="ru-RU" dirty="0" smtClean="0"/>
              <a:t>   –	FTTC – волокно до микрорайона, квартала или группы домов; до шкафа (от абонента 500м);</a:t>
            </a:r>
          </a:p>
          <a:p>
            <a:pPr>
              <a:buNone/>
            </a:pPr>
            <a:r>
              <a:rPr lang="ru-RU" dirty="0" smtClean="0"/>
              <a:t>   –	FTTB – волокно до здания (от абонента 100м);</a:t>
            </a:r>
          </a:p>
          <a:p>
            <a:pPr>
              <a:buNone/>
            </a:pPr>
            <a:r>
              <a:rPr lang="ru-RU" dirty="0" smtClean="0"/>
              <a:t>    –	FTTH – волокно до порога.</a:t>
            </a:r>
          </a:p>
          <a:p>
            <a:r>
              <a:rPr lang="ru-RU" b="1" dirty="0" smtClean="0"/>
              <a:t>Все архитектуры </a:t>
            </a:r>
            <a:r>
              <a:rPr lang="ru-RU" b="1" dirty="0" err="1" smtClean="0"/>
              <a:t>FTTx</a:t>
            </a:r>
            <a:r>
              <a:rPr lang="ru-RU" b="1" dirty="0" smtClean="0"/>
              <a:t> предполагают наличие участка с распределительными медными кабелями, но чем он короче, тем больше пропускная способность сети</a:t>
            </a:r>
            <a:r>
              <a:rPr lang="ru-RU" dirty="0" smtClean="0"/>
              <a:t>. Максимальное использование оптических технологий предполагает структура FTTH, при которой оптический сетевой терминал находится в квартире пользователя и соединяется короткими соединительными кабелями с оконечными устройствами – телефоном, компьютером, телевизором и т.д.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90872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Варианты построения сетей оптического доступа</a:t>
            </a:r>
            <a:endParaRPr lang="ru-RU" sz="32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C:\Users\Alex\Desktop\аееррр.jpg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9144000" cy="580526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562074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Топологии построения оптических сетей доступа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Выбор архитектуры зависит от множества условий, и в первую очередь от плотности размещения абонентов. </a:t>
            </a:r>
          </a:p>
          <a:p>
            <a:r>
              <a:rPr lang="ru-RU" dirty="0" smtClean="0"/>
              <a:t>Но ориентировочно можно высказаться за применение системы FTTB для многоэтажных жилых зданий. Для частной застройки или офисов, в зависимости от платежеспособности заказчика и его потребности в высокоскоростных приложениях, больше подойдет FTTC или FTTH.</a:t>
            </a:r>
          </a:p>
          <a:p>
            <a:pPr>
              <a:buNone/>
            </a:pPr>
            <a:r>
              <a:rPr lang="ru-RU" b="1" dirty="0" smtClean="0"/>
              <a:t> 10. В современных оптических сетях доступа могут использоваться различные топологии сети (схемы соединения узлов). </a:t>
            </a:r>
          </a:p>
          <a:p>
            <a:pPr>
              <a:buNone/>
            </a:pPr>
            <a:r>
              <a:rPr lang="ru-RU" b="1" dirty="0" smtClean="0"/>
              <a:t>    </a:t>
            </a:r>
            <a:r>
              <a:rPr lang="ru-RU" dirty="0" smtClean="0"/>
              <a:t>Выбор оптимальной топологии зависит от целого ряда факторов, связанных с конкретными условиями проектирования (плотность абонентов, их расположение, виды услуг и т.д.), а также от базовой оптической технологии.</a:t>
            </a:r>
          </a:p>
          <a:p>
            <a:pPr>
              <a:buNone/>
            </a:pPr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Топологии сетей доступа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68760"/>
            <a:ext cx="8964488" cy="558924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ru-RU" b="1" dirty="0" smtClean="0"/>
              <a:t>Существуют четыре основные топологии построения оптических сетей доступа:</a:t>
            </a:r>
          </a:p>
          <a:p>
            <a:pPr marL="514350" indent="-514350" algn="just" eaLnBrk="1" hangingPunct="1">
              <a:buSzPct val="125000"/>
              <a:buNone/>
            </a:pPr>
            <a:r>
              <a:rPr lang="ru-RU" b="1" dirty="0" smtClean="0"/>
              <a:t>а</a:t>
            </a:r>
            <a:r>
              <a:rPr lang="ru-RU" dirty="0" smtClean="0"/>
              <a:t>)"кольцо", </a:t>
            </a:r>
          </a:p>
          <a:p>
            <a:pPr marL="514350" indent="-514350" algn="just" eaLnBrk="1" hangingPunct="1">
              <a:buSzPct val="125000"/>
              <a:buNone/>
            </a:pPr>
            <a:r>
              <a:rPr lang="ru-RU" b="1" dirty="0" smtClean="0"/>
              <a:t>б</a:t>
            </a:r>
            <a:r>
              <a:rPr lang="ru-RU" dirty="0" smtClean="0"/>
              <a:t>)«точка-точка", </a:t>
            </a:r>
          </a:p>
          <a:p>
            <a:pPr marL="514350" indent="-514350" algn="just" eaLnBrk="1" hangingPunct="1">
              <a:buSzPct val="125000"/>
              <a:buNone/>
            </a:pPr>
            <a:r>
              <a:rPr lang="ru-RU" b="1" dirty="0" smtClean="0"/>
              <a:t>в</a:t>
            </a:r>
            <a:r>
              <a:rPr lang="ru-RU" dirty="0" smtClean="0"/>
              <a:t>)"дерево с активными узлами",</a:t>
            </a:r>
          </a:p>
          <a:p>
            <a:pPr marL="514350" indent="-514350" algn="just">
              <a:buSzPct val="125000"/>
              <a:buNone/>
            </a:pPr>
            <a:r>
              <a:rPr lang="ru-RU" b="1" dirty="0" smtClean="0"/>
              <a:t>Г</a:t>
            </a:r>
            <a:r>
              <a:rPr lang="ru-RU" dirty="0" smtClean="0"/>
              <a:t>) "дерево с пассивными узлами".</a:t>
            </a:r>
          </a:p>
          <a:p>
            <a:pPr marL="514350" indent="-514350" algn="just">
              <a:buSzPct val="125000"/>
              <a:buNone/>
            </a:pPr>
            <a:r>
              <a:rPr lang="ru-RU" dirty="0" smtClean="0"/>
              <a:t>Рассмотрим топологии построения пассивных оптических сетей.</a:t>
            </a:r>
          </a:p>
          <a:p>
            <a:pPr marL="514350" indent="-514350" algn="just" eaLnBrk="1" hangingPunct="1">
              <a:buSzPct val="125000"/>
              <a:buNone/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Топологии сетей доступа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b="1" dirty="0" smtClean="0"/>
              <a:t>  1.Кольцевая топология на основе SDH положительно зарекомендовала себя в городских телекоммуникационных сетях</a:t>
            </a:r>
            <a:r>
              <a:rPr lang="ru-RU" dirty="0" smtClean="0"/>
              <a:t>.</a:t>
            </a:r>
          </a:p>
          <a:p>
            <a:r>
              <a:rPr lang="ru-RU" dirty="0" smtClean="0"/>
              <a:t> Однако в сетях доступа не все обстоит также хорошо.</a:t>
            </a:r>
          </a:p>
          <a:p>
            <a:r>
              <a:rPr lang="ru-RU" dirty="0" smtClean="0"/>
              <a:t> Если при построении городской магистрали расположение узлов планируется на этапе проектирования, то в сетях доступа нельзя заранее знать где, когда и сколько абонентских узлов будет установлено. </a:t>
            </a:r>
          </a:p>
          <a:p>
            <a:r>
              <a:rPr lang="ru-RU" dirty="0" smtClean="0"/>
              <a:t>При случайном территориальном и временном подключении пользователей кольцевая топология может превратится в сильно изломанное кольцо с множеством ответвлений, подключение новых абонентов осуществляется путем разрыва кольца и вставки дополнительных сегментов.</a:t>
            </a:r>
          </a:p>
          <a:p>
            <a:r>
              <a:rPr lang="ru-RU" dirty="0" smtClean="0"/>
              <a:t> На практике часто такие петли совмещаются в одном кабеле, что приводит к появлению колец, похожих больше на ломаную – «сжатых» колец что значительно снижает надежность сети. Кольцевая топология изображена на рисунке.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4" descr="Кольцевая топология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485" t="5208" r="5534" b="4199"/>
          <a:stretch>
            <a:fillRect/>
          </a:stretch>
        </p:blipFill>
        <p:spPr>
          <a:xfrm>
            <a:off x="323528" y="332656"/>
            <a:ext cx="8352927" cy="633670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Топологии сетей доступа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80526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ru-RU" b="1" dirty="0" smtClean="0"/>
              <a:t>  2. Топология</a:t>
            </a:r>
            <a:r>
              <a:rPr lang="ru-RU" dirty="0" smtClean="0"/>
              <a:t> </a:t>
            </a:r>
            <a:r>
              <a:rPr lang="ru-RU" b="1" dirty="0" smtClean="0"/>
              <a:t>«точка-точка» </a:t>
            </a:r>
            <a:r>
              <a:rPr lang="en-US" dirty="0" smtClean="0"/>
              <a:t>(</a:t>
            </a:r>
            <a:r>
              <a:rPr lang="en-US" b="1" dirty="0" smtClean="0"/>
              <a:t>P2P)</a:t>
            </a:r>
            <a:r>
              <a:rPr lang="ru-RU" b="1" dirty="0" smtClean="0"/>
              <a:t> </a:t>
            </a:r>
            <a:r>
              <a:rPr lang="ru-RU" dirty="0" smtClean="0"/>
              <a:t>применяется при плотном расположении абонентов в районе автоматической телефонной станции. </a:t>
            </a:r>
          </a:p>
          <a:p>
            <a:r>
              <a:rPr lang="ru-RU" dirty="0" smtClean="0"/>
              <a:t>Данная </a:t>
            </a:r>
            <a:r>
              <a:rPr lang="ru-RU" b="1" dirty="0" smtClean="0"/>
              <a:t>топология характеризуется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- минимальным количеством оптических </a:t>
            </a:r>
            <a:r>
              <a:rPr lang="ru-RU" dirty="0" err="1" smtClean="0"/>
              <a:t>разветвителей</a:t>
            </a:r>
            <a:r>
              <a:rPr lang="ru-RU" dirty="0" smtClean="0"/>
              <a:t> (</a:t>
            </a:r>
            <a:r>
              <a:rPr lang="ru-RU" dirty="0" err="1" smtClean="0"/>
              <a:t>сплиттеров</a:t>
            </a:r>
            <a:r>
              <a:rPr lang="ru-RU" dirty="0" smtClean="0"/>
              <a:t>) и</a:t>
            </a:r>
          </a:p>
          <a:p>
            <a:pPr>
              <a:buNone/>
            </a:pPr>
            <a:r>
              <a:rPr lang="ru-RU" dirty="0" smtClean="0"/>
              <a:t>      - единственным местом их установки.</a:t>
            </a:r>
          </a:p>
          <a:p>
            <a:pPr>
              <a:buNone/>
            </a:pPr>
            <a:r>
              <a:rPr lang="ru-RU" dirty="0" smtClean="0"/>
              <a:t>      -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накладывает</a:t>
            </a:r>
            <a:r>
              <a:rPr lang="en-US" dirty="0" smtClean="0"/>
              <a:t> </a:t>
            </a:r>
            <a:r>
              <a:rPr lang="en-US" dirty="0" err="1" smtClean="0"/>
              <a:t>ограничения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используемую</a:t>
            </a:r>
            <a:r>
              <a:rPr lang="en-US" dirty="0" smtClean="0"/>
              <a:t> </a:t>
            </a:r>
            <a:r>
              <a:rPr lang="en-US" dirty="0" err="1" smtClean="0"/>
              <a:t>сетевую</a:t>
            </a:r>
            <a:r>
              <a:rPr lang="en-US" dirty="0" smtClean="0"/>
              <a:t> </a:t>
            </a:r>
            <a:r>
              <a:rPr lang="en-US" dirty="0" err="1" smtClean="0"/>
              <a:t>технологию</a:t>
            </a:r>
            <a:r>
              <a:rPr lang="en-US" dirty="0" smtClean="0"/>
              <a:t>.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     - </a:t>
            </a:r>
            <a:r>
              <a:rPr lang="en-US" dirty="0" smtClean="0"/>
              <a:t>P2P </a:t>
            </a:r>
            <a:r>
              <a:rPr lang="en-US" dirty="0" err="1" smtClean="0"/>
              <a:t>может</a:t>
            </a:r>
            <a:r>
              <a:rPr lang="en-US" dirty="0" smtClean="0"/>
              <a:t> </a:t>
            </a:r>
            <a:r>
              <a:rPr lang="en-US" dirty="0" err="1" smtClean="0"/>
              <a:t>быть</a:t>
            </a:r>
            <a:r>
              <a:rPr lang="en-US" dirty="0" smtClean="0"/>
              <a:t> </a:t>
            </a:r>
            <a:r>
              <a:rPr lang="en-US" dirty="0" err="1" smtClean="0"/>
              <a:t>реализована</a:t>
            </a:r>
            <a:r>
              <a:rPr lang="en-US" dirty="0" smtClean="0"/>
              <a:t>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любого</a:t>
            </a:r>
            <a:r>
              <a:rPr lang="en-US" dirty="0" smtClean="0"/>
              <a:t> </a:t>
            </a:r>
            <a:r>
              <a:rPr lang="en-US" dirty="0" err="1" smtClean="0"/>
              <a:t>сетевого</a:t>
            </a:r>
            <a:r>
              <a:rPr lang="en-US" dirty="0" smtClean="0"/>
              <a:t> </a:t>
            </a:r>
            <a:r>
              <a:rPr lang="en-US" dirty="0" err="1" smtClean="0"/>
              <a:t>стандарта</a:t>
            </a:r>
            <a:r>
              <a:rPr lang="en-US" dirty="0" smtClean="0"/>
              <a:t>, </a:t>
            </a:r>
            <a:r>
              <a:rPr lang="en-US" dirty="0" err="1" smtClean="0"/>
              <a:t>так</a:t>
            </a:r>
            <a:r>
              <a:rPr lang="en-US" dirty="0" smtClean="0"/>
              <a:t> и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      </a:t>
            </a:r>
            <a:r>
              <a:rPr lang="en-US" dirty="0" err="1" smtClean="0"/>
              <a:t>нестандартных</a:t>
            </a:r>
            <a:r>
              <a:rPr lang="en-US" dirty="0" smtClean="0"/>
              <a:t> </a:t>
            </a:r>
            <a:r>
              <a:rPr lang="en-US" dirty="0" err="1" smtClean="0"/>
              <a:t>решений</a:t>
            </a:r>
            <a:r>
              <a:rPr lang="en-US" dirty="0" smtClean="0"/>
              <a:t>, </a:t>
            </a:r>
            <a:r>
              <a:rPr lang="en-US" dirty="0" err="1" smtClean="0"/>
              <a:t>например</a:t>
            </a:r>
            <a:r>
              <a:rPr lang="en-US" dirty="0" smtClean="0"/>
              <a:t> </a:t>
            </a:r>
            <a:r>
              <a:rPr lang="en-US" dirty="0" err="1" smtClean="0"/>
              <a:t>оптические</a:t>
            </a:r>
            <a:r>
              <a:rPr lang="en-US" dirty="0" smtClean="0"/>
              <a:t> </a:t>
            </a:r>
            <a:r>
              <a:rPr lang="en-US" dirty="0" err="1" smtClean="0"/>
              <a:t>модемы</a:t>
            </a:r>
            <a:r>
              <a:rPr lang="en-US" dirty="0" smtClean="0"/>
              <a:t>.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/>
              <a:t>С </a:t>
            </a:r>
            <a:r>
              <a:rPr lang="en-US" b="1" dirty="0" err="1" smtClean="0"/>
              <a:t>точки</a:t>
            </a:r>
            <a:r>
              <a:rPr lang="en-US" b="1" dirty="0" smtClean="0"/>
              <a:t> </a:t>
            </a:r>
            <a:r>
              <a:rPr lang="en-US" b="1" dirty="0" err="1" smtClean="0"/>
              <a:t>зрения</a:t>
            </a:r>
            <a:r>
              <a:rPr lang="en-US" b="1" dirty="0" smtClean="0"/>
              <a:t> </a:t>
            </a:r>
            <a:r>
              <a:rPr lang="en-US" b="1" dirty="0" err="1" smtClean="0"/>
              <a:t>безопасности</a:t>
            </a:r>
            <a:r>
              <a:rPr lang="en-US" b="1" dirty="0" smtClean="0"/>
              <a:t> и </a:t>
            </a:r>
            <a:r>
              <a:rPr lang="en-US" b="1" dirty="0" err="1" smtClean="0"/>
              <a:t>защиты</a:t>
            </a:r>
            <a:r>
              <a:rPr lang="en-US" b="1" dirty="0" smtClean="0"/>
              <a:t> </a:t>
            </a:r>
            <a:r>
              <a:rPr lang="en-US" b="1" dirty="0" err="1" smtClean="0"/>
              <a:t>передаваемой</a:t>
            </a:r>
            <a:r>
              <a:rPr lang="en-US" b="1" dirty="0" smtClean="0"/>
              <a:t> </a:t>
            </a:r>
            <a:r>
              <a:rPr lang="en-US" b="1" dirty="0" err="1" smtClean="0"/>
              <a:t>информации</a:t>
            </a:r>
            <a:r>
              <a:rPr lang="en-US" b="1" dirty="0" smtClean="0"/>
              <a:t> </a:t>
            </a:r>
            <a:r>
              <a:rPr lang="en-US" b="1" dirty="0" err="1" smtClean="0"/>
              <a:t>при</a:t>
            </a:r>
            <a:r>
              <a:rPr lang="en-US" b="1" dirty="0" smtClean="0"/>
              <a:t> </a:t>
            </a:r>
            <a:r>
              <a:rPr lang="en-US" b="1" dirty="0" err="1" smtClean="0"/>
              <a:t>соединении</a:t>
            </a:r>
            <a:r>
              <a:rPr lang="en-US" b="1" dirty="0" smtClean="0"/>
              <a:t> P2P </a:t>
            </a:r>
            <a:r>
              <a:rPr lang="en-US" b="1" dirty="0" err="1" smtClean="0"/>
              <a:t>обеспечивается</a:t>
            </a:r>
            <a:r>
              <a:rPr lang="en-US" b="1" dirty="0" smtClean="0"/>
              <a:t> </a:t>
            </a:r>
            <a:r>
              <a:rPr lang="en-US" b="1" dirty="0" err="1" smtClean="0"/>
              <a:t>максимальная</a:t>
            </a:r>
            <a:r>
              <a:rPr lang="en-US" b="1" dirty="0" smtClean="0"/>
              <a:t> </a:t>
            </a:r>
            <a:r>
              <a:rPr lang="en-US" b="1" dirty="0" err="1" smtClean="0"/>
              <a:t>защищенность</a:t>
            </a:r>
            <a:r>
              <a:rPr lang="en-US" b="1" dirty="0" smtClean="0"/>
              <a:t> </a:t>
            </a:r>
            <a:r>
              <a:rPr lang="en-US" b="1" dirty="0" err="1" smtClean="0"/>
              <a:t>абонентских</a:t>
            </a:r>
            <a:r>
              <a:rPr lang="en-US" b="1" dirty="0" smtClean="0"/>
              <a:t> </a:t>
            </a:r>
            <a:r>
              <a:rPr lang="en-US" b="1" dirty="0" err="1" smtClean="0"/>
              <a:t>узлов</a:t>
            </a:r>
            <a:r>
              <a:rPr lang="en-US" b="1" dirty="0" smtClean="0"/>
              <a:t>. </a:t>
            </a:r>
            <a:endParaRPr lang="ru-RU" b="1" dirty="0" smtClean="0"/>
          </a:p>
          <a:p>
            <a:pPr>
              <a:buNone/>
            </a:pPr>
            <a:r>
              <a:rPr lang="ru-RU" dirty="0" smtClean="0"/>
              <a:t> </a:t>
            </a:r>
            <a:r>
              <a:rPr lang="en-US" b="1" dirty="0" err="1" smtClean="0"/>
              <a:t>Поскольку</a:t>
            </a:r>
            <a:r>
              <a:rPr lang="en-US" b="1" dirty="0" smtClean="0"/>
              <a:t> ОК </a:t>
            </a:r>
            <a:r>
              <a:rPr lang="en-US" b="1" dirty="0" err="1" smtClean="0"/>
              <a:t>нужно</a:t>
            </a:r>
            <a:r>
              <a:rPr lang="en-US" b="1" dirty="0" smtClean="0"/>
              <a:t> </a:t>
            </a:r>
            <a:r>
              <a:rPr lang="en-US" b="1" dirty="0" err="1" smtClean="0"/>
              <a:t>прокладывать</a:t>
            </a:r>
            <a:r>
              <a:rPr lang="en-US" b="1" dirty="0" smtClean="0"/>
              <a:t> </a:t>
            </a:r>
            <a:r>
              <a:rPr lang="en-US" b="1" dirty="0" err="1" smtClean="0"/>
              <a:t>индивидуально</a:t>
            </a:r>
            <a:r>
              <a:rPr lang="en-US" b="1" dirty="0" smtClean="0"/>
              <a:t> </a:t>
            </a:r>
            <a:r>
              <a:rPr lang="en-US" b="1" dirty="0" err="1" smtClean="0"/>
              <a:t>до</a:t>
            </a:r>
            <a:r>
              <a:rPr lang="en-US" b="1" dirty="0" smtClean="0"/>
              <a:t> </a:t>
            </a:r>
            <a:r>
              <a:rPr lang="en-US" b="1" dirty="0" err="1" smtClean="0"/>
              <a:t>абонента</a:t>
            </a:r>
            <a:r>
              <a:rPr lang="en-US" dirty="0" smtClean="0"/>
              <a:t>, </a:t>
            </a:r>
            <a:r>
              <a:rPr lang="en-US" dirty="0" err="1" smtClean="0"/>
              <a:t>этот</a:t>
            </a:r>
            <a:r>
              <a:rPr lang="en-US" dirty="0" smtClean="0"/>
              <a:t> </a:t>
            </a:r>
            <a:r>
              <a:rPr lang="en-US" dirty="0" err="1" smtClean="0"/>
              <a:t>подход</a:t>
            </a:r>
            <a:r>
              <a:rPr lang="en-US" dirty="0" smtClean="0"/>
              <a:t> </a:t>
            </a:r>
            <a:r>
              <a:rPr lang="en-US" dirty="0" err="1" smtClean="0"/>
              <a:t>является</a:t>
            </a:r>
            <a:r>
              <a:rPr lang="en-US" dirty="0" smtClean="0"/>
              <a:t> </a:t>
            </a:r>
            <a:r>
              <a:rPr lang="en-US" dirty="0" err="1" smtClean="0"/>
              <a:t>наиболее</a:t>
            </a:r>
            <a:r>
              <a:rPr lang="en-US" dirty="0" smtClean="0"/>
              <a:t> </a:t>
            </a:r>
            <a:r>
              <a:rPr lang="en-US" b="1" dirty="0" err="1" smtClean="0"/>
              <a:t>дорогим</a:t>
            </a:r>
            <a:r>
              <a:rPr lang="en-US" b="1" dirty="0" smtClean="0"/>
              <a:t> и </a:t>
            </a:r>
            <a:r>
              <a:rPr lang="en-US" b="1" dirty="0" err="1" smtClean="0"/>
              <a:t>привлекателен</a:t>
            </a:r>
            <a:r>
              <a:rPr lang="en-US" b="1" dirty="0" smtClean="0"/>
              <a:t> в </a:t>
            </a:r>
            <a:r>
              <a:rPr lang="en-US" b="1" dirty="0" err="1" smtClean="0"/>
              <a:t>основном</a:t>
            </a:r>
            <a:r>
              <a:rPr lang="en-US" b="1" dirty="0" smtClean="0"/>
              <a:t> </a:t>
            </a:r>
            <a:r>
              <a:rPr lang="en-US" b="1" dirty="0" err="1" smtClean="0"/>
              <a:t>для</a:t>
            </a:r>
            <a:r>
              <a:rPr lang="en-US" b="1" dirty="0" smtClean="0"/>
              <a:t> </a:t>
            </a:r>
            <a:r>
              <a:rPr lang="en-US" b="1" dirty="0" err="1" smtClean="0"/>
              <a:t>крупных</a:t>
            </a:r>
            <a:r>
              <a:rPr lang="en-US" b="1" dirty="0" smtClean="0"/>
              <a:t> </a:t>
            </a:r>
            <a:r>
              <a:rPr lang="en-US" b="1" dirty="0" err="1" smtClean="0"/>
              <a:t>абонентов</a:t>
            </a:r>
            <a:r>
              <a:rPr lang="en-US" b="1" dirty="0" smtClean="0"/>
              <a:t>. </a:t>
            </a:r>
            <a:endParaRPr lang="ru-RU" b="1" dirty="0" smtClean="0"/>
          </a:p>
          <a:p>
            <a:pPr>
              <a:buNone/>
            </a:pPr>
            <a:r>
              <a:rPr lang="en-US" dirty="0" err="1" smtClean="0"/>
              <a:t>Топология</a:t>
            </a:r>
            <a:r>
              <a:rPr lang="en-US" dirty="0" smtClean="0"/>
              <a:t> «</a:t>
            </a:r>
            <a:r>
              <a:rPr lang="en-US" dirty="0" err="1" smtClean="0"/>
              <a:t>точка-точка</a:t>
            </a:r>
            <a:r>
              <a:rPr lang="en-US" dirty="0" smtClean="0"/>
              <a:t>» </a:t>
            </a:r>
            <a:r>
              <a:rPr lang="en-US" dirty="0" err="1" smtClean="0"/>
              <a:t>изображена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рисунке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Достоинства данной топологии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 - удобство в обслуживании,</a:t>
            </a:r>
          </a:p>
          <a:p>
            <a:pPr>
              <a:buNone/>
            </a:pPr>
            <a:r>
              <a:rPr lang="ru-RU" dirty="0" smtClean="0"/>
              <a:t>      -  проведении эксплуатационных измерений, </a:t>
            </a:r>
          </a:p>
          <a:p>
            <a:pPr>
              <a:buNone/>
            </a:pPr>
            <a:r>
              <a:rPr lang="ru-RU" dirty="0" smtClean="0"/>
              <a:t>      -  обнаружения места повреждения линии.</a:t>
            </a:r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4" descr="Топология P2P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699" t="5348" r="5534" b="8202"/>
          <a:stretch>
            <a:fillRect/>
          </a:stretch>
        </p:blipFill>
        <p:spPr>
          <a:xfrm>
            <a:off x="683568" y="836712"/>
            <a:ext cx="7776863" cy="5544616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Топологии сетей доступа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  </a:t>
            </a:r>
            <a:r>
              <a:rPr lang="ru-RU" b="1" dirty="0" smtClean="0"/>
              <a:t>3. Дерево с активными узлами </a:t>
            </a:r>
            <a:r>
              <a:rPr lang="ru-RU" dirty="0" smtClean="0"/>
              <a:t>– это экономичное с точки зрения использования волокна решение.</a:t>
            </a:r>
          </a:p>
          <a:p>
            <a:pPr>
              <a:buNone/>
            </a:pPr>
            <a:r>
              <a:rPr lang="ru-RU" dirty="0" smtClean="0"/>
              <a:t>     Это решение хорошо вписывается в рамки стандарта </a:t>
            </a:r>
            <a:r>
              <a:rPr lang="ru-RU" dirty="0" err="1" smtClean="0"/>
              <a:t>Ethernet</a:t>
            </a:r>
            <a:r>
              <a:rPr lang="ru-RU" dirty="0" smtClean="0"/>
              <a:t> с иерархией по скоростям от центрального узла к абонентам 1000/100/10 Мбит/с (1000Base-LX, 100Base-FX, 10Base-FL).</a:t>
            </a:r>
          </a:p>
          <a:p>
            <a:r>
              <a:rPr lang="ru-RU" dirty="0" smtClean="0"/>
              <a:t>Однако в каждом узле дерева обязательно должно находиться активное устройство (применительно к IP-сетям, коммутатор или </a:t>
            </a:r>
            <a:r>
              <a:rPr lang="ru-RU" dirty="0" err="1" smtClean="0"/>
              <a:t>маршрутизатор</a:t>
            </a:r>
            <a:r>
              <a:rPr lang="ru-RU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Оптические</a:t>
            </a:r>
            <a:r>
              <a:rPr lang="en-US" dirty="0" smtClean="0"/>
              <a:t> </a:t>
            </a:r>
            <a:r>
              <a:rPr lang="en-US" dirty="0" err="1" smtClean="0"/>
              <a:t>сети</a:t>
            </a:r>
            <a:r>
              <a:rPr lang="en-US" dirty="0" smtClean="0"/>
              <a:t> </a:t>
            </a:r>
            <a:r>
              <a:rPr lang="en-US" dirty="0" err="1" smtClean="0"/>
              <a:t>доступа</a:t>
            </a:r>
            <a:r>
              <a:rPr lang="en-US" dirty="0" smtClean="0"/>
              <a:t> Ethernet, </a:t>
            </a:r>
            <a:r>
              <a:rPr lang="en-US" dirty="0" err="1" smtClean="0"/>
              <a:t>преимущественно</a:t>
            </a:r>
            <a:r>
              <a:rPr lang="en-US" dirty="0" smtClean="0"/>
              <a:t> </a:t>
            </a:r>
            <a:r>
              <a:rPr lang="en-US" dirty="0" err="1" smtClean="0"/>
              <a:t>использующие</a:t>
            </a:r>
            <a:r>
              <a:rPr lang="en-US" dirty="0" smtClean="0"/>
              <a:t> </a:t>
            </a:r>
            <a:r>
              <a:rPr lang="en-US" dirty="0" err="1" smtClean="0"/>
              <a:t>данную</a:t>
            </a:r>
            <a:r>
              <a:rPr lang="en-US" dirty="0" smtClean="0"/>
              <a:t> </a:t>
            </a:r>
            <a:r>
              <a:rPr lang="en-US" dirty="0" err="1" smtClean="0"/>
              <a:t>топологию</a:t>
            </a:r>
            <a:r>
              <a:rPr lang="en-US" dirty="0" smtClean="0"/>
              <a:t>, </a:t>
            </a:r>
            <a:r>
              <a:rPr lang="en-US" dirty="0" err="1" smtClean="0"/>
              <a:t>относительно</a:t>
            </a:r>
            <a:r>
              <a:rPr lang="en-US" dirty="0" smtClean="0"/>
              <a:t> </a:t>
            </a:r>
            <a:r>
              <a:rPr lang="en-US" dirty="0" err="1" smtClean="0"/>
              <a:t>недороги</a:t>
            </a:r>
            <a:r>
              <a:rPr lang="en-US" dirty="0" smtClean="0"/>
              <a:t>. </a:t>
            </a:r>
            <a:endParaRPr lang="ru-RU" dirty="0" smtClean="0"/>
          </a:p>
          <a:p>
            <a:r>
              <a:rPr lang="en-US" dirty="0" smtClean="0"/>
              <a:t>К </a:t>
            </a:r>
            <a:r>
              <a:rPr lang="en-US" dirty="0" err="1" smtClean="0"/>
              <a:t>основному</a:t>
            </a:r>
            <a:r>
              <a:rPr lang="en-US" dirty="0" smtClean="0"/>
              <a:t> </a:t>
            </a:r>
            <a:r>
              <a:rPr lang="en-US" dirty="0" err="1" smtClean="0"/>
              <a:t>недостатку</a:t>
            </a:r>
            <a:r>
              <a:rPr lang="en-US" dirty="0" smtClean="0"/>
              <a:t> </a:t>
            </a:r>
            <a:r>
              <a:rPr lang="en-US" dirty="0" err="1" smtClean="0"/>
              <a:t>следует</a:t>
            </a:r>
            <a:r>
              <a:rPr lang="en-US" dirty="0" smtClean="0"/>
              <a:t> </a:t>
            </a:r>
            <a:r>
              <a:rPr lang="en-US" dirty="0" err="1" smtClean="0"/>
              <a:t>отнести</a:t>
            </a:r>
            <a:r>
              <a:rPr lang="en-US" dirty="0" smtClean="0"/>
              <a:t> </a:t>
            </a:r>
            <a:r>
              <a:rPr lang="en-US" dirty="0" err="1" smtClean="0"/>
              <a:t>наличие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промежуточных</a:t>
            </a:r>
            <a:r>
              <a:rPr lang="en-US" dirty="0" smtClean="0"/>
              <a:t> </a:t>
            </a:r>
            <a:r>
              <a:rPr lang="en-US" dirty="0" err="1" smtClean="0"/>
              <a:t>узлах</a:t>
            </a:r>
            <a:r>
              <a:rPr lang="en-US" dirty="0" smtClean="0"/>
              <a:t> </a:t>
            </a:r>
            <a:r>
              <a:rPr lang="en-US" dirty="0" err="1" smtClean="0"/>
              <a:t>активных</a:t>
            </a:r>
            <a:r>
              <a:rPr lang="en-US" dirty="0" smtClean="0"/>
              <a:t> </a:t>
            </a:r>
            <a:r>
              <a:rPr lang="en-US" dirty="0" err="1" smtClean="0"/>
              <a:t>устройств</a:t>
            </a:r>
            <a:r>
              <a:rPr lang="en-US" dirty="0" smtClean="0"/>
              <a:t>, </a:t>
            </a:r>
            <a:r>
              <a:rPr lang="en-US" dirty="0" err="1" smtClean="0"/>
              <a:t>требующих</a:t>
            </a:r>
            <a:r>
              <a:rPr lang="en-US" dirty="0" smtClean="0"/>
              <a:t> </a:t>
            </a:r>
            <a:r>
              <a:rPr lang="en-US" dirty="0" err="1" smtClean="0"/>
              <a:t>индивидуального</a:t>
            </a:r>
            <a:r>
              <a:rPr lang="en-US" dirty="0" smtClean="0"/>
              <a:t> </a:t>
            </a:r>
            <a:r>
              <a:rPr lang="en-US" dirty="0" err="1" smtClean="0"/>
              <a:t>питания</a:t>
            </a:r>
            <a:r>
              <a:rPr lang="en-US" dirty="0" smtClean="0"/>
              <a:t>. </a:t>
            </a:r>
            <a:endParaRPr lang="ru-RU" dirty="0" smtClean="0"/>
          </a:p>
          <a:p>
            <a:r>
              <a:rPr lang="en-US" dirty="0" err="1" smtClean="0"/>
              <a:t>Топология</a:t>
            </a:r>
            <a:r>
              <a:rPr lang="en-US" dirty="0" smtClean="0"/>
              <a:t> </a:t>
            </a:r>
            <a:r>
              <a:rPr lang="en-US" dirty="0" err="1" smtClean="0"/>
              <a:t>дерево</a:t>
            </a:r>
            <a:r>
              <a:rPr lang="en-US" dirty="0" smtClean="0"/>
              <a:t> </a:t>
            </a:r>
            <a:r>
              <a:rPr lang="en-US" dirty="0" err="1" smtClean="0"/>
              <a:t>изображена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рисунке</a:t>
            </a:r>
            <a:r>
              <a:rPr lang="en-US" dirty="0" smtClean="0"/>
              <a:t>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 descr="Дерево с активными узлами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699" t="4985" r="5534" b="3217"/>
          <a:stretch>
            <a:fillRect/>
          </a:stretch>
        </p:blipFill>
        <p:spPr>
          <a:xfrm>
            <a:off x="467544" y="620689"/>
            <a:ext cx="7776865" cy="5904656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Топологии сетей доступа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ru-RU" b="1" dirty="0" smtClean="0"/>
              <a:t>   </a:t>
            </a:r>
            <a:r>
              <a:rPr lang="ru-RU" sz="9600" b="1" dirty="0" smtClean="0"/>
              <a:t>4. Дерево с пассивными узлами</a:t>
            </a:r>
            <a:r>
              <a:rPr lang="ru-RU" sz="9600" dirty="0" smtClean="0"/>
              <a:t>.</a:t>
            </a:r>
          </a:p>
          <a:p>
            <a:pPr>
              <a:buNone/>
            </a:pPr>
            <a:r>
              <a:rPr lang="en-US" sz="9600" dirty="0" err="1" smtClean="0"/>
              <a:t>Решения</a:t>
            </a:r>
            <a:r>
              <a:rPr lang="en-US" sz="9600" dirty="0" smtClean="0"/>
              <a:t> </a:t>
            </a:r>
            <a:r>
              <a:rPr lang="en-US" sz="9600" dirty="0" err="1" smtClean="0"/>
              <a:t>на</a:t>
            </a:r>
            <a:r>
              <a:rPr lang="en-US" sz="9600" dirty="0" smtClean="0"/>
              <a:t> </a:t>
            </a:r>
            <a:r>
              <a:rPr lang="en-US" sz="9600" dirty="0" err="1" smtClean="0"/>
              <a:t>основе</a:t>
            </a:r>
            <a:r>
              <a:rPr lang="en-US" sz="9600" dirty="0" smtClean="0"/>
              <a:t> </a:t>
            </a:r>
            <a:r>
              <a:rPr lang="en-US" sz="9600" dirty="0" err="1" smtClean="0"/>
              <a:t>архитектуры</a:t>
            </a:r>
            <a:r>
              <a:rPr lang="en-US" sz="9600" dirty="0" smtClean="0"/>
              <a:t> PON </a:t>
            </a:r>
            <a:r>
              <a:rPr lang="en-US" sz="9600" dirty="0" err="1" smtClean="0"/>
              <a:t>используют</a:t>
            </a:r>
            <a:r>
              <a:rPr lang="en-US" sz="9600" dirty="0" smtClean="0"/>
              <a:t> </a:t>
            </a:r>
            <a:r>
              <a:rPr lang="en-US" sz="9600" dirty="0" err="1" smtClean="0"/>
              <a:t>логическую</a:t>
            </a:r>
            <a:r>
              <a:rPr lang="en-US" sz="9600" dirty="0" smtClean="0"/>
              <a:t> </a:t>
            </a:r>
            <a:r>
              <a:rPr lang="en-US" sz="9600" dirty="0" err="1" smtClean="0"/>
              <a:t>топологию</a:t>
            </a:r>
            <a:r>
              <a:rPr lang="en-US" sz="9600" dirty="0" smtClean="0"/>
              <a:t> «</a:t>
            </a:r>
            <a:r>
              <a:rPr lang="en-US" sz="9600" dirty="0" err="1" smtClean="0"/>
              <a:t>точка-многоточка</a:t>
            </a:r>
            <a:r>
              <a:rPr lang="en-US" sz="9600" dirty="0" smtClean="0"/>
              <a:t>» P2MP (point-to-multipoint), </a:t>
            </a:r>
            <a:r>
              <a:rPr lang="en-US" sz="9600" dirty="0" err="1" smtClean="0"/>
              <a:t>которая</a:t>
            </a:r>
            <a:r>
              <a:rPr lang="en-US" sz="9600" dirty="0" smtClean="0"/>
              <a:t> </a:t>
            </a:r>
            <a:r>
              <a:rPr lang="en-US" sz="9600" dirty="0" err="1" smtClean="0"/>
              <a:t>положена</a:t>
            </a:r>
            <a:r>
              <a:rPr lang="en-US" sz="9600" dirty="0" smtClean="0"/>
              <a:t> в </a:t>
            </a:r>
            <a:r>
              <a:rPr lang="en-US" sz="9600" dirty="0" err="1" smtClean="0"/>
              <a:t>основу</a:t>
            </a:r>
            <a:r>
              <a:rPr lang="en-US" sz="9600" dirty="0" smtClean="0"/>
              <a:t> </a:t>
            </a:r>
            <a:r>
              <a:rPr lang="en-US" sz="9600" dirty="0" err="1" smtClean="0"/>
              <a:t>технологии</a:t>
            </a:r>
            <a:r>
              <a:rPr lang="en-US" sz="9600" dirty="0" smtClean="0"/>
              <a:t> PON</a:t>
            </a:r>
            <a:r>
              <a:rPr lang="ru-RU" sz="9600" dirty="0" smtClean="0"/>
              <a:t>.</a:t>
            </a:r>
          </a:p>
          <a:p>
            <a:pPr>
              <a:buNone/>
            </a:pPr>
            <a:r>
              <a:rPr lang="ru-RU" sz="9600" b="1" dirty="0" smtClean="0"/>
              <a:t>К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одному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порту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центрального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узла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можно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подключать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целый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волоконно-оптический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сегмент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древовидной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архитектуры</a:t>
            </a:r>
            <a:r>
              <a:rPr lang="en-US" sz="9600" b="1" dirty="0" smtClean="0"/>
              <a:t>, </a:t>
            </a:r>
            <a:r>
              <a:rPr lang="en-US" sz="9600" b="1" dirty="0" err="1" smtClean="0"/>
              <a:t>охватывающий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десятки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абонентов</a:t>
            </a:r>
            <a:r>
              <a:rPr lang="en-US" sz="9600" b="1" dirty="0" smtClean="0"/>
              <a:t>.</a:t>
            </a:r>
            <a:endParaRPr lang="ru-RU" sz="9600" b="1" dirty="0" smtClean="0"/>
          </a:p>
          <a:p>
            <a:pPr>
              <a:buNone/>
            </a:pPr>
            <a:r>
              <a:rPr lang="en-US" sz="9600" dirty="0" smtClean="0"/>
              <a:t> </a:t>
            </a:r>
            <a:r>
              <a:rPr lang="en-US" sz="9600" b="1" dirty="0" err="1" smtClean="0"/>
              <a:t>При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этом</a:t>
            </a:r>
            <a:r>
              <a:rPr lang="en-US" sz="9600" b="1" dirty="0" smtClean="0"/>
              <a:t> в </a:t>
            </a:r>
            <a:r>
              <a:rPr lang="en-US" sz="9600" b="1" dirty="0" err="1" smtClean="0"/>
              <a:t>промежуточных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узлах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дерева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устанавливаются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компактные</a:t>
            </a:r>
            <a:r>
              <a:rPr lang="en-US" sz="9600" b="1" dirty="0" smtClean="0"/>
              <a:t>, </a:t>
            </a:r>
            <a:r>
              <a:rPr lang="en-US" sz="9600" b="1" dirty="0" err="1" smtClean="0"/>
              <a:t>полностью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пассивные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оптические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разветвители</a:t>
            </a:r>
            <a:r>
              <a:rPr lang="en-US" sz="9600" b="1" dirty="0" smtClean="0"/>
              <a:t> </a:t>
            </a:r>
            <a:r>
              <a:rPr lang="en-US" sz="9600" dirty="0" smtClean="0"/>
              <a:t>(</a:t>
            </a:r>
            <a:r>
              <a:rPr lang="en-US" sz="9600" dirty="0" err="1" smtClean="0"/>
              <a:t>сплиттеры</a:t>
            </a:r>
            <a:r>
              <a:rPr lang="en-US" sz="9600" dirty="0" smtClean="0"/>
              <a:t>), </a:t>
            </a:r>
            <a:r>
              <a:rPr lang="en-US" sz="9600" dirty="0" err="1" smtClean="0"/>
              <a:t>не</a:t>
            </a:r>
            <a:r>
              <a:rPr lang="en-US" sz="9600" dirty="0" smtClean="0"/>
              <a:t> </a:t>
            </a:r>
            <a:r>
              <a:rPr lang="en-US" sz="9600" dirty="0" err="1" smtClean="0"/>
              <a:t>требующие</a:t>
            </a:r>
            <a:r>
              <a:rPr lang="en-US" sz="9600" dirty="0" smtClean="0"/>
              <a:t> </a:t>
            </a:r>
            <a:r>
              <a:rPr lang="en-US" sz="9600" dirty="0" err="1" smtClean="0"/>
              <a:t>питания</a:t>
            </a:r>
            <a:r>
              <a:rPr lang="en-US" sz="9600" dirty="0" smtClean="0"/>
              <a:t> и </a:t>
            </a:r>
            <a:r>
              <a:rPr lang="en-US" sz="9600" dirty="0" err="1" smtClean="0"/>
              <a:t>обслуживания</a:t>
            </a:r>
            <a:r>
              <a:rPr lang="en-US" sz="9600" dirty="0" smtClean="0"/>
              <a:t>. </a:t>
            </a:r>
            <a:endParaRPr lang="ru-RU" sz="9600" dirty="0" smtClean="0"/>
          </a:p>
          <a:p>
            <a:pPr>
              <a:buNone/>
            </a:pPr>
            <a:r>
              <a:rPr lang="ru-RU" sz="5100" dirty="0" smtClean="0"/>
              <a:t>  </a:t>
            </a:r>
            <a:r>
              <a:rPr lang="en-US" sz="9600" b="1" dirty="0" err="1" smtClean="0"/>
              <a:t>Топология</a:t>
            </a:r>
            <a:r>
              <a:rPr lang="en-US" sz="9600" b="1" dirty="0" smtClean="0"/>
              <a:t> «</a:t>
            </a:r>
            <a:r>
              <a:rPr lang="en-US" sz="9600" b="1" dirty="0" err="1" smtClean="0"/>
              <a:t>точка-многоточка</a:t>
            </a:r>
            <a:r>
              <a:rPr lang="en-US" sz="9600" b="1" dirty="0" smtClean="0"/>
              <a:t>» </a:t>
            </a:r>
            <a:r>
              <a:rPr lang="en-US" sz="9600" b="1" dirty="0" err="1" smtClean="0"/>
              <a:t>изображена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на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рисунк</a:t>
            </a:r>
            <a:r>
              <a:rPr lang="ru-RU" sz="9600" b="1" dirty="0" smtClean="0"/>
              <a:t>е.</a:t>
            </a:r>
          </a:p>
          <a:p>
            <a:pPr>
              <a:buNone/>
            </a:pPr>
            <a:r>
              <a:rPr lang="ru-RU" sz="9600" dirty="0" smtClean="0"/>
              <a:t>   </a:t>
            </a:r>
            <a:r>
              <a:rPr lang="en-US" sz="9600" dirty="0" smtClean="0"/>
              <a:t>В </a:t>
            </a:r>
            <a:r>
              <a:rPr lang="en-US" sz="9600" dirty="0" err="1" smtClean="0"/>
              <a:t>топологии</a:t>
            </a:r>
            <a:r>
              <a:rPr lang="en-US" sz="9600" dirty="0" smtClean="0"/>
              <a:t> P2MP </a:t>
            </a:r>
            <a:r>
              <a:rPr lang="en-US" sz="9600" dirty="0" err="1" smtClean="0"/>
              <a:t>за</a:t>
            </a:r>
            <a:r>
              <a:rPr lang="en-US" sz="9600" dirty="0" smtClean="0"/>
              <a:t> </a:t>
            </a:r>
            <a:r>
              <a:rPr lang="en-US" sz="9600" dirty="0" err="1" smtClean="0"/>
              <a:t>счет</a:t>
            </a:r>
            <a:r>
              <a:rPr lang="en-US" sz="9600" dirty="0" smtClean="0"/>
              <a:t> </a:t>
            </a:r>
            <a:r>
              <a:rPr lang="en-US" sz="9600" dirty="0" err="1" smtClean="0"/>
              <a:t>оптимизации</a:t>
            </a:r>
            <a:r>
              <a:rPr lang="en-US" sz="9600" dirty="0" smtClean="0"/>
              <a:t> </a:t>
            </a:r>
            <a:r>
              <a:rPr lang="en-US" sz="9600" dirty="0" err="1" smtClean="0"/>
              <a:t>размещения</a:t>
            </a:r>
            <a:r>
              <a:rPr lang="en-US" sz="9600" dirty="0" smtClean="0"/>
              <a:t> </a:t>
            </a:r>
            <a:r>
              <a:rPr lang="en-US" sz="9600" dirty="0" err="1" smtClean="0"/>
              <a:t>разветвителей</a:t>
            </a:r>
            <a:r>
              <a:rPr lang="en-US" sz="9600" dirty="0" smtClean="0"/>
              <a:t> </a:t>
            </a:r>
            <a:r>
              <a:rPr lang="en-US" sz="9600" dirty="0" err="1" smtClean="0"/>
              <a:t>можно</a:t>
            </a:r>
            <a:r>
              <a:rPr lang="en-US" sz="9600" dirty="0" smtClean="0"/>
              <a:t> </a:t>
            </a:r>
            <a:r>
              <a:rPr lang="en-US" sz="9600" dirty="0" err="1" smtClean="0"/>
              <a:t>достичь</a:t>
            </a:r>
            <a:r>
              <a:rPr lang="en-US" sz="9600" dirty="0" smtClean="0"/>
              <a:t> </a:t>
            </a:r>
            <a:r>
              <a:rPr lang="en-US" sz="9600" dirty="0" err="1" smtClean="0"/>
              <a:t>значительной</a:t>
            </a:r>
            <a:r>
              <a:rPr lang="en-US" sz="9600" dirty="0" smtClean="0"/>
              <a:t> </a:t>
            </a:r>
            <a:r>
              <a:rPr lang="en-US" sz="9600" dirty="0" err="1" smtClean="0"/>
              <a:t>экономии</a:t>
            </a:r>
            <a:r>
              <a:rPr lang="en-US" sz="9600" dirty="0" smtClean="0"/>
              <a:t> </a:t>
            </a:r>
            <a:r>
              <a:rPr lang="en-US" sz="9600" dirty="0" err="1" smtClean="0"/>
              <a:t>оптических</a:t>
            </a:r>
            <a:r>
              <a:rPr lang="en-US" sz="9600" dirty="0" smtClean="0"/>
              <a:t> </a:t>
            </a:r>
            <a:r>
              <a:rPr lang="en-US" sz="9600" dirty="0" err="1" smtClean="0"/>
              <a:t>волокон</a:t>
            </a:r>
            <a:r>
              <a:rPr lang="en-US" sz="9600" dirty="0" smtClean="0"/>
              <a:t> и </a:t>
            </a:r>
            <a:r>
              <a:rPr lang="en-US" sz="9600" dirty="0" err="1" smtClean="0"/>
              <a:t>снижения</a:t>
            </a:r>
            <a:r>
              <a:rPr lang="en-US" sz="9600" dirty="0" smtClean="0"/>
              <a:t> </a:t>
            </a:r>
            <a:r>
              <a:rPr lang="en-US" sz="9600" dirty="0" err="1" smtClean="0"/>
              <a:t>стоимости</a:t>
            </a:r>
            <a:r>
              <a:rPr lang="en-US" sz="9600" dirty="0" smtClean="0"/>
              <a:t> </a:t>
            </a:r>
            <a:r>
              <a:rPr lang="en-US" sz="9600" dirty="0" err="1" smtClean="0"/>
              <a:t>кабельной</a:t>
            </a:r>
            <a:r>
              <a:rPr lang="en-US" sz="9600" dirty="0" smtClean="0"/>
              <a:t> </a:t>
            </a:r>
            <a:r>
              <a:rPr lang="en-US" sz="9600" dirty="0" err="1" smtClean="0"/>
              <a:t>инфраструктуры</a:t>
            </a:r>
            <a:r>
              <a:rPr lang="en-US" sz="9600" dirty="0" smtClean="0"/>
              <a:t>. </a:t>
            </a:r>
            <a:endParaRPr lang="ru-RU" sz="9600" dirty="0" smtClean="0"/>
          </a:p>
          <a:p>
            <a:pPr>
              <a:buNone/>
            </a:pPr>
            <a:r>
              <a:rPr lang="en-US" sz="9600" b="1" dirty="0" err="1" smtClean="0"/>
              <a:t>Абонентские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узлы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не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влияют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на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работоспособность</a:t>
            </a:r>
            <a:r>
              <a:rPr lang="en-US" sz="9600" b="1" dirty="0" smtClean="0"/>
              <a:t> </a:t>
            </a:r>
            <a:r>
              <a:rPr lang="en-US" sz="9600" b="1" dirty="0" err="1" smtClean="0"/>
              <a:t>сети</a:t>
            </a:r>
            <a:r>
              <a:rPr lang="en-US" sz="9600" b="1" dirty="0" smtClean="0"/>
              <a:t> в </a:t>
            </a:r>
            <a:r>
              <a:rPr lang="en-US" sz="9600" b="1" dirty="0" err="1" smtClean="0"/>
              <a:t>целом</a:t>
            </a:r>
            <a:r>
              <a:rPr lang="en-US" sz="9600" b="1" dirty="0" smtClean="0"/>
              <a:t>. </a:t>
            </a:r>
            <a:r>
              <a:rPr lang="en-US" sz="9600" dirty="0" err="1" smtClean="0"/>
              <a:t>Подключение</a:t>
            </a:r>
            <a:r>
              <a:rPr lang="en-US" sz="9600" dirty="0" smtClean="0"/>
              <a:t>, </a:t>
            </a:r>
            <a:r>
              <a:rPr lang="en-US" sz="9600" dirty="0" err="1" smtClean="0"/>
              <a:t>отключение</a:t>
            </a:r>
            <a:r>
              <a:rPr lang="en-US" sz="9600" dirty="0" smtClean="0"/>
              <a:t> </a:t>
            </a:r>
            <a:r>
              <a:rPr lang="en-US" sz="9600" dirty="0" err="1" smtClean="0"/>
              <a:t>или</a:t>
            </a:r>
            <a:r>
              <a:rPr lang="en-US" sz="9600" dirty="0" smtClean="0"/>
              <a:t> </a:t>
            </a:r>
            <a:r>
              <a:rPr lang="en-US" sz="9600" dirty="0" err="1" smtClean="0"/>
              <a:t>выход</a:t>
            </a:r>
            <a:r>
              <a:rPr lang="en-US" sz="9600" dirty="0" smtClean="0"/>
              <a:t> </a:t>
            </a:r>
            <a:r>
              <a:rPr lang="en-US" sz="9600" dirty="0" err="1" smtClean="0"/>
              <a:t>из</a:t>
            </a:r>
            <a:r>
              <a:rPr lang="en-US" sz="9600" dirty="0" smtClean="0"/>
              <a:t> </a:t>
            </a:r>
            <a:r>
              <a:rPr lang="en-US" sz="9600" dirty="0" err="1" smtClean="0"/>
              <a:t>строя</a:t>
            </a:r>
            <a:r>
              <a:rPr lang="en-US" sz="9600" dirty="0" smtClean="0"/>
              <a:t> </a:t>
            </a:r>
            <a:r>
              <a:rPr lang="en-US" sz="9600" dirty="0" err="1" smtClean="0"/>
              <a:t>одного</a:t>
            </a:r>
            <a:r>
              <a:rPr lang="en-US" sz="9600" dirty="0" smtClean="0"/>
              <a:t> </a:t>
            </a:r>
            <a:r>
              <a:rPr lang="en-US" sz="9600" dirty="0" err="1" smtClean="0"/>
              <a:t>или</a:t>
            </a:r>
            <a:r>
              <a:rPr lang="en-US" sz="9600" dirty="0" smtClean="0"/>
              <a:t> </a:t>
            </a:r>
            <a:r>
              <a:rPr lang="en-US" sz="9600" dirty="0" err="1" smtClean="0"/>
              <a:t>нескольких</a:t>
            </a:r>
            <a:r>
              <a:rPr lang="en-US" sz="9600" dirty="0" smtClean="0"/>
              <a:t> </a:t>
            </a:r>
            <a:r>
              <a:rPr lang="en-US" sz="9600" dirty="0" err="1" smtClean="0"/>
              <a:t>абонентских</a:t>
            </a:r>
            <a:r>
              <a:rPr lang="en-US" sz="9600" dirty="0" smtClean="0"/>
              <a:t> </a:t>
            </a:r>
            <a:r>
              <a:rPr lang="en-US" sz="9600" dirty="0" err="1" smtClean="0"/>
              <a:t>узлов</a:t>
            </a:r>
            <a:r>
              <a:rPr lang="en-US" sz="9600" dirty="0" smtClean="0"/>
              <a:t> </a:t>
            </a:r>
            <a:r>
              <a:rPr lang="en-US" sz="9600" dirty="0" err="1" smtClean="0"/>
              <a:t>никак</a:t>
            </a:r>
            <a:r>
              <a:rPr lang="en-US" sz="9600" dirty="0" smtClean="0"/>
              <a:t> </a:t>
            </a:r>
            <a:r>
              <a:rPr lang="en-US" sz="9600" dirty="0" err="1" smtClean="0"/>
              <a:t>не</a:t>
            </a:r>
            <a:r>
              <a:rPr lang="en-US" sz="9600" dirty="0" smtClean="0"/>
              <a:t> </a:t>
            </a:r>
            <a:r>
              <a:rPr lang="en-US" sz="9600" dirty="0" err="1" smtClean="0"/>
              <a:t>сказывается</a:t>
            </a:r>
            <a:r>
              <a:rPr lang="en-US" sz="9600" dirty="0" smtClean="0"/>
              <a:t> </a:t>
            </a:r>
            <a:r>
              <a:rPr lang="en-US" sz="9600" dirty="0" err="1" smtClean="0"/>
              <a:t>на</a:t>
            </a:r>
            <a:r>
              <a:rPr lang="en-US" sz="9600" dirty="0" smtClean="0"/>
              <a:t> </a:t>
            </a:r>
            <a:r>
              <a:rPr lang="en-US" sz="9600" dirty="0" err="1" smtClean="0"/>
              <a:t>работе</a:t>
            </a:r>
            <a:r>
              <a:rPr lang="en-US" sz="9600" dirty="0" smtClean="0"/>
              <a:t> </a:t>
            </a:r>
            <a:r>
              <a:rPr lang="en-US" sz="9600" dirty="0" err="1" smtClean="0"/>
              <a:t>остальных</a:t>
            </a:r>
            <a:r>
              <a:rPr lang="en-US" sz="9600" dirty="0" smtClean="0"/>
              <a:t>.</a:t>
            </a:r>
            <a:endParaRPr lang="ru-RU" sz="9600" dirty="0" smtClean="0"/>
          </a:p>
          <a:p>
            <a:pPr>
              <a:buNone/>
            </a:pPr>
            <a:r>
              <a:rPr lang="en-US" sz="9600" dirty="0" smtClean="0"/>
              <a:t> </a:t>
            </a:r>
            <a:endParaRPr lang="ru-RU" sz="9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4" descr="Дерево с пассивным разветвлением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699" t="4613" r="5534" b="5655"/>
          <a:stretch>
            <a:fillRect/>
          </a:stretch>
        </p:blipFill>
        <p:spPr>
          <a:xfrm>
            <a:off x="683568" y="404664"/>
            <a:ext cx="7848871" cy="626469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Топологии сетей доступа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784976" cy="5616624"/>
          </a:xfrm>
        </p:spPr>
        <p:txBody>
          <a:bodyPr>
            <a:normAutofit/>
          </a:bodyPr>
          <a:lstStyle/>
          <a:p>
            <a:r>
              <a:rPr lang="ru-RU" b="1" dirty="0" smtClean="0"/>
              <a:t>Топология «дерево» применяется при разнесенном расположении абонентов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Оптимальное распределение мощности между различными ветвями решается подбором коэффициентов деления оптических </a:t>
            </a:r>
            <a:r>
              <a:rPr lang="ru-RU" dirty="0" err="1" smtClean="0"/>
              <a:t>разветвителей</a:t>
            </a:r>
            <a:r>
              <a:rPr lang="ru-RU" dirty="0" smtClean="0"/>
              <a:t> (</a:t>
            </a:r>
            <a:r>
              <a:rPr lang="ru-RU" dirty="0" err="1" smtClean="0"/>
              <a:t>сплиттеров</a:t>
            </a:r>
            <a:r>
              <a:rPr lang="ru-RU" dirty="0" smtClean="0"/>
              <a:t>). </a:t>
            </a:r>
          </a:p>
          <a:p>
            <a:r>
              <a:rPr lang="ru-RU" b="1" dirty="0" smtClean="0"/>
              <a:t>Древообразная топология гибкая с точки зрения потенциального развития и расширения абонентской базы.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Уровень доступа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/>
          </a:bodyPr>
          <a:lstStyle/>
          <a:p>
            <a:pPr marL="400050" lvl="1" indent="-220663">
              <a:buNone/>
            </a:pPr>
            <a:r>
              <a:rPr lang="ru-RU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Одна из главных задач</a:t>
            </a:r>
            <a:r>
              <a:rPr lang="ru-RU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, стоящих перед современными телекоммуникационными </a:t>
            </a:r>
            <a:r>
              <a:rPr lang="ru-RU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сетями доступа </a:t>
            </a:r>
            <a:r>
              <a:rPr lang="ru-RU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– так называемая проблема «последней мили», </a:t>
            </a:r>
            <a:r>
              <a:rPr lang="ru-RU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предоставление как можно большей полосы пропускания абонентам</a:t>
            </a:r>
            <a:r>
              <a:rPr lang="ru-RU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при минимальных затратах.</a:t>
            </a:r>
            <a:endParaRPr lang="en-US" sz="1200" dirty="0" smtClean="0">
              <a:latin typeface="Arial" pitchFamily="34" charset="0"/>
              <a:cs typeface="Arial" pitchFamily="34" charset="0"/>
            </a:endParaRPr>
          </a:p>
          <a:p>
            <a:pPr marL="400050" lvl="1" indent="-220663" eaLnBrk="1" hangingPunct="1">
              <a:buFont typeface="Wingdings" pitchFamily="2" charset="2"/>
              <a:buNone/>
            </a:pPr>
            <a:r>
              <a:rPr lang="ru-RU" b="1" dirty="0" smtClean="0"/>
              <a:t>К технологиям построения сетей доступа </a:t>
            </a:r>
            <a:r>
              <a:rPr lang="ru-RU" dirty="0" smtClean="0"/>
              <a:t>относятся:</a:t>
            </a:r>
          </a:p>
          <a:p>
            <a:pPr marL="400050" lvl="1" indent="-220663" eaLnBrk="1" hangingPunct="1"/>
            <a:r>
              <a:rPr lang="en-US" dirty="0" smtClean="0"/>
              <a:t> </a:t>
            </a:r>
            <a:r>
              <a:rPr lang="ru-RU" dirty="0" smtClean="0"/>
              <a:t>беспроводные технологии (</a:t>
            </a:r>
            <a:r>
              <a:rPr lang="ru-RU" dirty="0" err="1" smtClean="0"/>
              <a:t>Wi-Fi</a:t>
            </a:r>
            <a:r>
              <a:rPr lang="ru-RU" dirty="0" smtClean="0"/>
              <a:t>, </a:t>
            </a:r>
            <a:r>
              <a:rPr lang="ru-RU" dirty="0" err="1" smtClean="0"/>
              <a:t>WiMAX</a:t>
            </a:r>
            <a:r>
              <a:rPr lang="ru-RU" dirty="0" smtClean="0"/>
              <a:t>); </a:t>
            </a:r>
          </a:p>
          <a:p>
            <a:pPr marL="400050" lvl="1" indent="-220663" eaLnBrk="1" hangingPunct="1"/>
            <a:r>
              <a:rPr lang="en-US" dirty="0" smtClean="0"/>
              <a:t> </a:t>
            </a:r>
            <a:r>
              <a:rPr lang="ru-RU" dirty="0" smtClean="0"/>
              <a:t>технологии на основе систем кабельного телевидения (DOCSIS, DVB); </a:t>
            </a:r>
          </a:p>
          <a:p>
            <a:pPr marL="400050" lvl="1" indent="-220663" eaLnBrk="1" hangingPunct="1"/>
            <a:r>
              <a:rPr lang="en-US" dirty="0" smtClean="0"/>
              <a:t> </a:t>
            </a:r>
            <a:r>
              <a:rPr lang="ru-RU" b="1" dirty="0" smtClean="0"/>
              <a:t>технологии </a:t>
            </a:r>
            <a:r>
              <a:rPr lang="ru-RU" b="1" dirty="0" err="1" smtClean="0"/>
              <a:t>xDSL</a:t>
            </a:r>
            <a:r>
              <a:rPr lang="ru-RU" dirty="0" smtClean="0"/>
              <a:t>; </a:t>
            </a:r>
          </a:p>
          <a:p>
            <a:pPr marL="400050" lvl="1" indent="-220663" eaLnBrk="1" hangingPunct="1"/>
            <a:r>
              <a:rPr lang="en-US" dirty="0" smtClean="0"/>
              <a:t> </a:t>
            </a:r>
            <a:r>
              <a:rPr lang="ru-RU" b="1" dirty="0" smtClean="0"/>
              <a:t>оптоволоконные технологии </a:t>
            </a:r>
            <a:r>
              <a:rPr lang="ru-RU" dirty="0" smtClean="0"/>
              <a:t>(пассивные оптические </a:t>
            </a:r>
            <a:r>
              <a:rPr lang="ru-RU" b="1" dirty="0" smtClean="0"/>
              <a:t>сети PON).</a:t>
            </a:r>
          </a:p>
          <a:p>
            <a:pPr marL="0" indent="0" eaLnBrk="1" hangingPunct="1"/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700808"/>
            <a:ext cx="8964488" cy="2304256"/>
          </a:xfrm>
        </p:spPr>
        <p:txBody>
          <a:bodyPr/>
          <a:lstStyle/>
          <a:p>
            <a:r>
              <a:rPr lang="ru-RU" sz="4000" b="1" dirty="0" smtClean="0">
                <a:solidFill>
                  <a:srgbClr val="002060"/>
                </a:solidFill>
              </a:rPr>
              <a:t>1.Технологии построения сети доступа.</a:t>
            </a:r>
            <a:r>
              <a:rPr lang="ru-RU" b="1" dirty="0" smtClean="0">
                <a:solidFill>
                  <a:srgbClr val="002060"/>
                </a:solidFill>
              </a:rPr>
              <a:t/>
            </a:r>
            <a:br>
              <a:rPr lang="ru-RU" b="1" dirty="0" smtClean="0">
                <a:solidFill>
                  <a:srgbClr val="002060"/>
                </a:solidFill>
              </a:rPr>
            </a:br>
            <a:r>
              <a:rPr lang="ru-RU" b="1" dirty="0" smtClean="0">
                <a:solidFill>
                  <a:srgbClr val="002060"/>
                </a:solidFill>
              </a:rPr>
              <a:t>1.1  </a:t>
            </a:r>
            <a:r>
              <a:rPr lang="en-US" b="1" dirty="0" err="1" smtClean="0">
                <a:solidFill>
                  <a:srgbClr val="002060"/>
                </a:solidFill>
              </a:rPr>
              <a:t>xDSL</a:t>
            </a:r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Уровень доступа. Используемые технологии.</a:t>
            </a:r>
            <a:endParaRPr lang="ru-RU" sz="3200" dirty="0"/>
          </a:p>
        </p:txBody>
      </p:sp>
      <p:pic>
        <p:nvPicPr>
          <p:cNvPr id="4" name="Содержимое 3" descr="Bezymyanny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08720"/>
            <a:ext cx="889248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Дата 3" hidden="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1D9A0C17-9196-4FBD-A365-FC5641BD0AFC}" type="datetime1">
              <a:rPr lang="ru-RU" smtClean="0"/>
              <a:pPr/>
              <a:t>13.12.2025</a:t>
            </a:fld>
            <a:endParaRPr lang="ru-RU" smtClean="0"/>
          </a:p>
        </p:txBody>
      </p:sp>
      <p:sp>
        <p:nvSpPr>
          <p:cNvPr id="44035" name="Нижний колонтитул 4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Сабина Турсунова</a:t>
            </a:r>
          </a:p>
        </p:txBody>
      </p:sp>
      <p:sp>
        <p:nvSpPr>
          <p:cNvPr id="2" name="Rectangle 2"/>
          <p:cNvSpPr>
            <a:spLocks noGrp="1"/>
          </p:cNvSpPr>
          <p:nvPr>
            <p:ph type="title" idx="4294967295"/>
          </p:nvPr>
        </p:nvSpPr>
        <p:spPr>
          <a:xfrm>
            <a:off x="792163" y="115888"/>
            <a:ext cx="8351837" cy="79216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>
                <a:solidFill>
                  <a:srgbClr val="002060"/>
                </a:solidFill>
              </a:rPr>
              <a:t>Стандарты для технологии </a:t>
            </a:r>
            <a:r>
              <a:rPr lang="en-US" sz="3600" b="1" dirty="0" err="1" smtClean="0">
                <a:solidFill>
                  <a:srgbClr val="002060"/>
                </a:solidFill>
              </a:rPr>
              <a:t>xDSL</a:t>
            </a:r>
            <a:endParaRPr lang="ru-RU" sz="3600" dirty="0" smtClean="0">
              <a:solidFill>
                <a:srgbClr val="002060"/>
              </a:solidFill>
            </a:endParaRPr>
          </a:p>
        </p:txBody>
      </p:sp>
      <p:graphicFrame>
        <p:nvGraphicFramePr>
          <p:cNvPr id="55356" name="Group 60"/>
          <p:cNvGraphicFramePr>
            <a:graphicFrameLocks noGrp="1"/>
          </p:cNvGraphicFramePr>
          <p:nvPr>
            <p:ph idx="4294967295"/>
          </p:nvPr>
        </p:nvGraphicFramePr>
        <p:xfrm>
          <a:off x="1183098" y="1000510"/>
          <a:ext cx="6773278" cy="5740859"/>
        </p:xfrm>
        <a:graphic>
          <a:graphicData uri="http://schemas.openxmlformats.org/drawingml/2006/table">
            <a:tbl>
              <a:tblPr lastCol="1"/>
              <a:tblGrid>
                <a:gridCol w="1141036"/>
                <a:gridCol w="1214088"/>
                <a:gridCol w="208280"/>
                <a:gridCol w="4209874"/>
              </a:tblGrid>
              <a:tr h="686013"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Технология</a:t>
                      </a:r>
                      <a:endParaRPr kumimoji="0" lang="ru-RU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Год 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выпуска</a:t>
                      </a:r>
                      <a:endParaRPr kumimoji="0" lang="ru-RU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Максимальная скорость передачи</a:t>
                      </a:r>
                      <a:endParaRPr kumimoji="0" lang="ru-RU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5327"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ADSL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1999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 Мбит/с вниз, 800 кбит/с вверх</a:t>
                      </a:r>
                      <a:endParaRPr kumimoji="0" lang="ru-RU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651"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ADSL2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2002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Мбит/с вниз,  1 Мбит/с вверх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651"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ADSL2+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2003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 Мбит/с вниз, 1 Мбит/с вверх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651"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ADSL2-RE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2003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Мбит/с вниз,  1 Мбит/с вверх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651"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SHDSL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2001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5.</a:t>
                      </a:r>
                      <a:r>
                        <a:rPr kumimoji="0" 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Мбит/с вниз</a:t>
                      </a:r>
                      <a:r>
                        <a:rPr kumimoji="0" 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/</a:t>
                      </a: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вверх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5327"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VDSL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2004</a:t>
                      </a:r>
                      <a:endParaRPr kumimoji="0" lang="ru-RU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55 Мбит/с вниз, 15 Мбит/с вверх</a:t>
                      </a:r>
                      <a:endParaRPr kumimoji="0" lang="ru-RU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361"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VDSL</a:t>
                      </a: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2005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73050" marR="0" lvl="0" indent="-273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 Мбит/с вниз/вверх</a:t>
                      </a:r>
                      <a:endParaRPr kumimoji="0" lang="ru-RU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8"/>
            <a:ext cx="8712968" cy="77809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1.1Технология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ADSL</a:t>
            </a:r>
            <a:r>
              <a:rPr lang="ru-RU" sz="3600" b="1" dirty="0" smtClean="0">
                <a:solidFill>
                  <a:srgbClr val="002060"/>
                </a:solidFill>
              </a:rPr>
              <a:t> (оборудование </a:t>
            </a:r>
            <a:r>
              <a:rPr lang="en-US" sz="3600" b="1" dirty="0" smtClean="0">
                <a:solidFill>
                  <a:srgbClr val="002060"/>
                </a:solidFill>
              </a:rPr>
              <a:t>DSLAM</a:t>
            </a:r>
            <a:r>
              <a:rPr lang="ru-RU" sz="3600" b="1" dirty="0" smtClean="0">
                <a:solidFill>
                  <a:srgbClr val="002060"/>
                </a:solidFill>
              </a:rPr>
              <a:t>).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1052736"/>
            <a:ext cx="8856663" cy="580526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400" b="1" dirty="0" smtClean="0"/>
              <a:t>Технология ADSL </a:t>
            </a:r>
            <a:r>
              <a:rPr lang="ru-RU" sz="2400" dirty="0" smtClean="0"/>
              <a:t>(</a:t>
            </a:r>
            <a:r>
              <a:rPr lang="ru-RU" sz="2400" dirty="0" err="1" smtClean="0"/>
              <a:t>Asymmetric</a:t>
            </a:r>
            <a:r>
              <a:rPr lang="ru-RU" sz="2400" dirty="0" smtClean="0"/>
              <a:t> </a:t>
            </a:r>
            <a:r>
              <a:rPr lang="ru-RU" sz="2400" dirty="0" err="1" smtClean="0"/>
              <a:t>Digital</a:t>
            </a:r>
            <a:r>
              <a:rPr lang="ru-RU" sz="2400" dirty="0" smtClean="0"/>
              <a:t> </a:t>
            </a:r>
            <a:r>
              <a:rPr lang="ru-RU" sz="2400" dirty="0" err="1" smtClean="0"/>
              <a:t>Subscriber</a:t>
            </a:r>
            <a:r>
              <a:rPr lang="ru-RU" sz="2400" dirty="0" smtClean="0"/>
              <a:t> </a:t>
            </a:r>
            <a:r>
              <a:rPr lang="ru-RU" sz="2400" dirty="0" err="1" smtClean="0"/>
              <a:t>Line</a:t>
            </a:r>
            <a:r>
              <a:rPr lang="ru-RU" sz="2400" dirty="0" smtClean="0"/>
              <a:t>) – асимметричная цифровая абонентская линия была </a:t>
            </a:r>
            <a:r>
              <a:rPr lang="ru-RU" sz="2400" b="1" dirty="0" smtClean="0"/>
              <a:t>разработана для обеспечения высокоскоростного доступа: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b="1" dirty="0" smtClean="0"/>
              <a:t>        - </a:t>
            </a:r>
            <a:r>
              <a:rPr lang="ru-RU" sz="2400" dirty="0" smtClean="0"/>
              <a:t>к интерактивным </a:t>
            </a:r>
            <a:r>
              <a:rPr lang="ru-RU" sz="2400" dirty="0" err="1" smtClean="0"/>
              <a:t>видеослужбам</a:t>
            </a:r>
            <a:r>
              <a:rPr lang="ru-RU" sz="2400" dirty="0" smtClean="0"/>
              <a:t> (видео по запросу, видеоигры и т.п.;)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      - передачи данных (доступ в Интернет, удаленный доступ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      к ЛВС и другим сетям). </a:t>
            </a:r>
          </a:p>
          <a:p>
            <a:pPr eaLnBrk="1" hangingPunct="1">
              <a:lnSpc>
                <a:spcPct val="80000"/>
              </a:lnSpc>
              <a:buNone/>
            </a:pPr>
            <a:endParaRPr lang="ru-RU" sz="2400" dirty="0" smtClean="0"/>
          </a:p>
          <a:p>
            <a:pPr eaLnBrk="1" hangingPunct="1">
              <a:lnSpc>
                <a:spcPct val="80000"/>
              </a:lnSpc>
            </a:pPr>
            <a:r>
              <a:rPr lang="ru-RU" sz="2400" b="1" dirty="0" smtClean="0"/>
              <a:t>Технология ADSL является наиболее массовым и дешевым способом предоставления услуг широкополосного доступа (ШПД)</a:t>
            </a:r>
            <a:r>
              <a:rPr lang="ru-RU" sz="2400" dirty="0" smtClean="0"/>
              <a:t> для абонентов, не предъявляющих высоких требований к скорости доступа к сети Интернет. </a:t>
            </a:r>
          </a:p>
          <a:p>
            <a:pPr eaLnBrk="1" hangingPunct="1">
              <a:lnSpc>
                <a:spcPct val="80000"/>
              </a:lnSpc>
            </a:pPr>
            <a:endParaRPr lang="ru-RU" sz="2400" dirty="0" smtClean="0"/>
          </a:p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Сеть ШПД по технологии ADSL может быть развернута практически на любом участке сети связи, где используется медная сеть доступа.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333375"/>
            <a:ext cx="8229600" cy="647353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1.1Принцип действия технологии </a:t>
            </a:r>
            <a:r>
              <a:rPr lang="en-US" sz="3600" b="1" dirty="0" smtClean="0">
                <a:solidFill>
                  <a:srgbClr val="002060"/>
                </a:solidFill>
              </a:rPr>
              <a:t>ADSL</a:t>
            </a:r>
            <a:endParaRPr lang="ru-RU" sz="3600" b="1" dirty="0" smtClean="0">
              <a:solidFill>
                <a:srgbClr val="002060"/>
              </a:solidFill>
            </a:endParaRPr>
          </a:p>
        </p:txBody>
      </p:sp>
      <p:pic>
        <p:nvPicPr>
          <p:cNvPr id="37891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8313" y="1628775"/>
            <a:ext cx="7459662" cy="2027238"/>
          </a:xfrm>
          <a:noFill/>
        </p:spPr>
      </p:pic>
      <p:graphicFrame>
        <p:nvGraphicFramePr>
          <p:cNvPr id="37892" name="Object 12"/>
          <p:cNvGraphicFramePr>
            <a:graphicFrameLocks noChangeAspect="1"/>
          </p:cNvGraphicFramePr>
          <p:nvPr>
            <p:ph sz="half" idx="4294967295"/>
          </p:nvPr>
        </p:nvGraphicFramePr>
        <p:xfrm>
          <a:off x="900113" y="4379913"/>
          <a:ext cx="2538412" cy="1697037"/>
        </p:xfrm>
        <a:graphic>
          <a:graphicData uri="http://schemas.openxmlformats.org/presentationml/2006/ole">
            <p:oleObj spid="_x0000_s1026" name="Рисунок Paintbrush" r:id="rId4" imgW="2429214" imgH="1924319" progId="PBrush">
              <p:embed/>
            </p:oleObj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184775" y="4364038"/>
            <a:ext cx="2879725" cy="1728787"/>
            <a:chOff x="2699" y="2795"/>
            <a:chExt cx="1814" cy="1089"/>
          </a:xfrm>
        </p:grpSpPr>
        <p:sp>
          <p:nvSpPr>
            <p:cNvPr id="37894" name="Oval 14"/>
            <p:cNvSpPr>
              <a:spLocks noChangeArrowheads="1"/>
            </p:cNvSpPr>
            <p:nvPr/>
          </p:nvSpPr>
          <p:spPr bwMode="auto">
            <a:xfrm>
              <a:off x="3243" y="3113"/>
              <a:ext cx="952" cy="771"/>
            </a:xfrm>
            <a:prstGeom prst="ellipse">
              <a:avLst/>
            </a:prstGeom>
            <a:solidFill>
              <a:srgbClr val="FF6600">
                <a:alpha val="67058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ru-RU"/>
            </a:p>
          </p:txBody>
        </p:sp>
        <p:sp>
          <p:nvSpPr>
            <p:cNvPr id="37895" name="Oval 15"/>
            <p:cNvSpPr>
              <a:spLocks noChangeArrowheads="1"/>
            </p:cNvSpPr>
            <p:nvPr/>
          </p:nvSpPr>
          <p:spPr bwMode="auto">
            <a:xfrm>
              <a:off x="3379" y="3385"/>
              <a:ext cx="181" cy="18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ru-RU"/>
            </a:p>
          </p:txBody>
        </p:sp>
        <p:sp>
          <p:nvSpPr>
            <p:cNvPr id="37896" name="Line 16"/>
            <p:cNvSpPr>
              <a:spLocks noChangeShapeType="1"/>
            </p:cNvSpPr>
            <p:nvPr/>
          </p:nvSpPr>
          <p:spPr bwMode="auto">
            <a:xfrm flipH="1" flipV="1">
              <a:off x="3107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7897" name="Text Box 17"/>
            <p:cNvSpPr txBox="1">
              <a:spLocks noChangeArrowheads="1"/>
            </p:cNvSpPr>
            <p:nvPr/>
          </p:nvSpPr>
          <p:spPr bwMode="auto">
            <a:xfrm>
              <a:off x="2699" y="2840"/>
              <a:ext cx="7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kk-KZ" sz="1400">
                  <a:latin typeface="Century Schoolbook" pitchFamily="18" charset="0"/>
                </a:rPr>
                <a:t>к серверу</a:t>
              </a:r>
              <a:endParaRPr lang="ru-RU" sz="1400">
                <a:latin typeface="Century Schoolbook" pitchFamily="18" charset="0"/>
              </a:endParaRPr>
            </a:p>
          </p:txBody>
        </p:sp>
        <p:sp>
          <p:nvSpPr>
            <p:cNvPr id="37898" name="Line 18"/>
            <p:cNvSpPr>
              <a:spLocks noChangeShapeType="1"/>
            </p:cNvSpPr>
            <p:nvPr/>
          </p:nvSpPr>
          <p:spPr bwMode="auto">
            <a:xfrm flipV="1">
              <a:off x="3923" y="3022"/>
              <a:ext cx="22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7899" name="Text Box 19"/>
            <p:cNvSpPr txBox="1">
              <a:spLocks noChangeArrowheads="1"/>
            </p:cNvSpPr>
            <p:nvPr/>
          </p:nvSpPr>
          <p:spPr bwMode="auto">
            <a:xfrm>
              <a:off x="3742" y="2795"/>
              <a:ext cx="77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kk-KZ" sz="1400">
                  <a:latin typeface="Century Schoolbook" pitchFamily="18" charset="0"/>
                </a:rPr>
                <a:t>к абоненту</a:t>
              </a:r>
              <a:endParaRPr lang="ru-RU" sz="1400">
                <a:latin typeface="Century Schoolbook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9144000" cy="778098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rgbClr val="002060"/>
                </a:solidFill>
              </a:rPr>
              <a:t>1.1Основополагающие принципы технологии </a:t>
            </a:r>
            <a:r>
              <a:rPr lang="en-US" sz="2800" b="1" dirty="0" smtClean="0">
                <a:solidFill>
                  <a:srgbClr val="002060"/>
                </a:solidFill>
              </a:rPr>
              <a:t>ADSL</a:t>
            </a:r>
            <a:endParaRPr lang="ru-RU" sz="2800" b="1" dirty="0" smtClean="0">
              <a:solidFill>
                <a:srgbClr val="002060"/>
              </a:solidFill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type="body" idx="4294967295"/>
          </p:nvPr>
        </p:nvSpPr>
        <p:spPr>
          <a:xfrm>
            <a:off x="250825" y="1196752"/>
            <a:ext cx="8642350" cy="5328592"/>
          </a:xfrm>
        </p:spPr>
        <p:txBody>
          <a:bodyPr>
            <a:noAutofit/>
          </a:bodyPr>
          <a:lstStyle/>
          <a:p>
            <a:pPr algn="just"/>
            <a:r>
              <a:rPr lang="ru-RU" sz="2800" b="1" dirty="0" smtClean="0"/>
              <a:t>В технологии</a:t>
            </a:r>
            <a:r>
              <a:rPr lang="en-US" sz="2800" b="1" dirty="0" smtClean="0"/>
              <a:t> ADSL</a:t>
            </a:r>
            <a:r>
              <a:rPr lang="ru-RU" sz="2800" b="1" dirty="0" smtClean="0"/>
              <a:t> предусмотрена организация асимметричного обмена данными</a:t>
            </a:r>
            <a:r>
              <a:rPr lang="ru-RU" sz="2800" dirty="0" smtClean="0"/>
              <a:t>. </a:t>
            </a:r>
          </a:p>
          <a:p>
            <a:pPr algn="just" eaLnBrk="1" hangingPunct="1"/>
            <a:r>
              <a:rPr lang="ru-RU" sz="2800" dirty="0" smtClean="0"/>
              <a:t>При внедрении </a:t>
            </a:r>
            <a:r>
              <a:rPr lang="en-US" sz="2800" dirty="0" smtClean="0"/>
              <a:t>ADSL</a:t>
            </a:r>
            <a:r>
              <a:rPr lang="ru-RU" sz="2800" dirty="0" smtClean="0"/>
              <a:t> объем работ должен быть минимальным, поскольку технология изначально ориентирована на массовое внедрение.</a:t>
            </a:r>
          </a:p>
          <a:p>
            <a:pPr algn="just" eaLnBrk="1" hangingPunct="1"/>
            <a:r>
              <a:rPr lang="ru-RU" sz="2800" b="1" dirty="0" smtClean="0"/>
              <a:t>При любых нарушениях в оборудовании или</a:t>
            </a:r>
          </a:p>
          <a:p>
            <a:pPr algn="just" eaLnBrk="1" hangingPunct="1">
              <a:buNone/>
            </a:pPr>
            <a:r>
              <a:rPr lang="ru-RU" sz="2800" b="1" dirty="0" smtClean="0"/>
              <a:t>     сети </a:t>
            </a:r>
            <a:r>
              <a:rPr lang="en-US" sz="2800" b="1" dirty="0" smtClean="0"/>
              <a:t>NGN</a:t>
            </a:r>
            <a:r>
              <a:rPr lang="ru-RU" sz="2800" b="1" dirty="0" smtClean="0"/>
              <a:t> традиционная телефонная связь должна работать.</a:t>
            </a:r>
          </a:p>
          <a:p>
            <a:pPr algn="just" eaLnBrk="1" hangingPunct="1"/>
            <a:r>
              <a:rPr lang="ru-RU" sz="2800" dirty="0" smtClean="0"/>
              <a:t>В технологии используются существующие абонентские линии телефонной сети, в каком бы состоянии они не были.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9144000" cy="71980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400" b="1" dirty="0" smtClean="0">
                <a:solidFill>
                  <a:srgbClr val="002060"/>
                </a:solidFill>
              </a:rPr>
              <a:t>1.1Преобразование телефонного соединения в соединение </a:t>
            </a:r>
            <a:r>
              <a:rPr lang="en-US" sz="2400" b="1" dirty="0" smtClean="0">
                <a:solidFill>
                  <a:srgbClr val="002060"/>
                </a:solidFill>
              </a:rPr>
              <a:t>ADSL</a:t>
            </a:r>
            <a:r>
              <a:rPr lang="ru-RU" sz="2400" b="1" dirty="0" smtClean="0">
                <a:solidFill>
                  <a:srgbClr val="002060"/>
                </a:solidFill>
              </a:rPr>
              <a:t> </a:t>
            </a:r>
          </a:p>
        </p:txBody>
      </p:sp>
      <p:pic>
        <p:nvPicPr>
          <p:cNvPr id="39939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5288" y="1196975"/>
            <a:ext cx="8207375" cy="52863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1.1Технология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ADSL</a:t>
            </a:r>
            <a:endParaRPr lang="ru-RU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764704"/>
            <a:ext cx="4040188" cy="576063"/>
          </a:xfrm>
        </p:spPr>
        <p:txBody>
          <a:bodyPr>
            <a:normAutofit/>
          </a:bodyPr>
          <a:lstStyle/>
          <a:p>
            <a:pPr algn="ctr"/>
            <a:r>
              <a:rPr lang="ru-RU" sz="2800" dirty="0" smtClean="0">
                <a:solidFill>
                  <a:srgbClr val="002060"/>
                </a:solidFill>
              </a:rPr>
              <a:t>Преимущества ADSL </a:t>
            </a:r>
            <a:endParaRPr lang="ru-RU" sz="2800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0" y="1340768"/>
            <a:ext cx="4283968" cy="5517232"/>
          </a:xfrm>
        </p:spPr>
        <p:txBody>
          <a:bodyPr>
            <a:normAutofit/>
          </a:bodyPr>
          <a:lstStyle/>
          <a:p>
            <a:r>
              <a:rPr lang="ru-RU" dirty="0" smtClean="0"/>
              <a:t>Возможность использования существующей медной инфраструктуры;</a:t>
            </a:r>
          </a:p>
          <a:p>
            <a:r>
              <a:rPr lang="ru-RU" dirty="0" smtClean="0"/>
              <a:t>Быстрое внедрение;</a:t>
            </a:r>
          </a:p>
          <a:p>
            <a:r>
              <a:rPr lang="ru-RU" dirty="0" smtClean="0"/>
              <a:t>Низкая себестоимость;</a:t>
            </a:r>
          </a:p>
          <a:p>
            <a:r>
              <a:rPr lang="ru-RU" dirty="0" smtClean="0"/>
              <a:t>Огромный выбор операторского и клиентского оборудования;</a:t>
            </a:r>
          </a:p>
          <a:p>
            <a:r>
              <a:rPr lang="ru-RU" dirty="0" smtClean="0"/>
              <a:t>Высокая совместимость;</a:t>
            </a:r>
          </a:p>
          <a:p>
            <a:r>
              <a:rPr lang="ru-RU" dirty="0" smtClean="0"/>
              <a:t>Удовлетворительная скорость нисходящего потока – 7 Мбит/с. </a:t>
            </a:r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692697"/>
            <a:ext cx="4041775" cy="576064"/>
          </a:xfrm>
        </p:spPr>
        <p:txBody>
          <a:bodyPr>
            <a:normAutofit/>
          </a:bodyPr>
          <a:lstStyle/>
          <a:p>
            <a:pPr algn="ctr"/>
            <a:r>
              <a:rPr lang="ru-RU" sz="2800" dirty="0" smtClean="0">
                <a:solidFill>
                  <a:srgbClr val="002060"/>
                </a:solidFill>
              </a:rPr>
              <a:t>Недостатки ADSL </a:t>
            </a:r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355975" y="1268760"/>
            <a:ext cx="4788025" cy="5589240"/>
          </a:xfrm>
        </p:spPr>
        <p:txBody>
          <a:bodyPr>
            <a:normAutofit/>
          </a:bodyPr>
          <a:lstStyle/>
          <a:p>
            <a:r>
              <a:rPr lang="ru-RU" dirty="0" smtClean="0"/>
              <a:t>Низкое качество связи, обусловленное старением кабеля и его повреждениями;</a:t>
            </a:r>
          </a:p>
          <a:p>
            <a:r>
              <a:rPr lang="ru-RU" dirty="0" smtClean="0"/>
              <a:t>Асимметричная скорость нисходящего и восходящего потоков;</a:t>
            </a:r>
          </a:p>
          <a:p>
            <a:r>
              <a:rPr lang="ru-RU" dirty="0" smtClean="0"/>
              <a:t>Снижение скорости передачи данных в зависимости от протяженности абонентских линий;</a:t>
            </a:r>
          </a:p>
          <a:p>
            <a:r>
              <a:rPr lang="ru-RU" dirty="0" smtClean="0"/>
              <a:t>Взаимное влияние абонентских линий при увеличении количества абонентов в кабеле.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1.2 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VDSL</a:t>
            </a: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b="1" dirty="0" smtClean="0"/>
              <a:t>VDSL </a:t>
            </a:r>
            <a:r>
              <a:rPr lang="ru-RU" sz="2800" dirty="0" smtClean="0"/>
              <a:t>(</a:t>
            </a:r>
            <a:r>
              <a:rPr lang="ru-RU" sz="2800" dirty="0" err="1" smtClean="0"/>
              <a:t>Very</a:t>
            </a:r>
            <a:r>
              <a:rPr lang="ru-RU" sz="2800" dirty="0" smtClean="0"/>
              <a:t> </a:t>
            </a:r>
            <a:r>
              <a:rPr lang="ru-RU" sz="2800" dirty="0" err="1" smtClean="0"/>
              <a:t>High</a:t>
            </a:r>
            <a:r>
              <a:rPr lang="ru-RU" sz="2800" dirty="0" smtClean="0"/>
              <a:t> </a:t>
            </a:r>
            <a:r>
              <a:rPr lang="ru-RU" sz="2800" dirty="0" err="1" smtClean="0"/>
              <a:t>Bit-Rate</a:t>
            </a:r>
            <a:r>
              <a:rPr lang="ru-RU" sz="2800" dirty="0" smtClean="0"/>
              <a:t> </a:t>
            </a:r>
            <a:r>
              <a:rPr lang="ru-RU" sz="2800" dirty="0" err="1" smtClean="0"/>
              <a:t>Digital</a:t>
            </a:r>
            <a:r>
              <a:rPr lang="ru-RU" sz="2800" dirty="0" smtClean="0"/>
              <a:t> </a:t>
            </a:r>
            <a:r>
              <a:rPr lang="ru-RU" sz="2800" dirty="0" err="1" smtClean="0"/>
              <a:t>Subscriber</a:t>
            </a:r>
            <a:r>
              <a:rPr lang="ru-RU" sz="2800" dirty="0" smtClean="0"/>
              <a:t> </a:t>
            </a:r>
            <a:r>
              <a:rPr lang="ru-RU" sz="2800" dirty="0" err="1" smtClean="0"/>
              <a:t>Line</a:t>
            </a:r>
            <a:r>
              <a:rPr lang="ru-RU" sz="2800" dirty="0" smtClean="0"/>
              <a:t>) – это </a:t>
            </a:r>
            <a:r>
              <a:rPr lang="ru-RU" sz="2800" b="1" dirty="0" smtClean="0"/>
              <a:t>стандарт сверхвысокоскоростной цифровой абонентской линии.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Стандарт VDSL2 позволяет выпускать совместимое DSL-оборудование, </a:t>
            </a:r>
            <a:r>
              <a:rPr lang="ru-RU" sz="2800" b="1" dirty="0" smtClean="0"/>
              <a:t>обеспечивающее передачу данных по телефонному кабелю со скоростью до 100 Мбит/с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b="1" dirty="0" smtClean="0"/>
              <a:t>      в обоих направлениях на расстояниях до 350 м.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Технология </a:t>
            </a:r>
            <a:r>
              <a:rPr lang="en-US" sz="2800" dirty="0" smtClean="0"/>
              <a:t>V</a:t>
            </a:r>
            <a:r>
              <a:rPr lang="ru-RU" sz="2800" dirty="0" smtClean="0"/>
              <a:t>DSL является хорошей и относительно дешевой альтернативой технологии </a:t>
            </a:r>
            <a:r>
              <a:rPr lang="en-US" sz="2800" dirty="0" smtClean="0"/>
              <a:t>ADSL</a:t>
            </a:r>
            <a:r>
              <a:rPr lang="ru-RU" sz="2800" dirty="0" smtClean="0"/>
              <a:t>, способной предоставить </a:t>
            </a:r>
            <a:r>
              <a:rPr lang="ru-RU" sz="2800" b="1" dirty="0" smtClean="0"/>
              <a:t>абонентам расширенный спектр услуг ШПД</a:t>
            </a:r>
            <a:r>
              <a:rPr lang="ru-RU" sz="2800" dirty="0" smtClean="0"/>
              <a:t>: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dirty="0" smtClean="0"/>
              <a:t>        - включая передачу нескольких каналов </a:t>
            </a:r>
            <a:r>
              <a:rPr lang="en-US" sz="2800" dirty="0" smtClean="0"/>
              <a:t>IPTV</a:t>
            </a:r>
            <a:r>
              <a:rPr lang="ru-RU" sz="2800" dirty="0" smtClean="0"/>
              <a:t> (</a:t>
            </a:r>
            <a:r>
              <a:rPr lang="en-US" sz="2800" dirty="0" smtClean="0"/>
              <a:t>HDTV</a:t>
            </a:r>
            <a:r>
              <a:rPr lang="ru-RU" sz="2800" dirty="0" smtClean="0"/>
              <a:t>),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dirty="0" smtClean="0"/>
              <a:t>        - возможность симметричной передачи данных.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dirty="0" smtClean="0"/>
              <a:t>     Сеть ШПД по технологии </a:t>
            </a:r>
            <a:r>
              <a:rPr lang="en-US" sz="2800" dirty="0" smtClean="0"/>
              <a:t>V</a:t>
            </a:r>
            <a:r>
              <a:rPr lang="ru-RU" sz="2800" dirty="0" smtClean="0"/>
              <a:t>DSL может быть развернута практически на любом участке сети связи, где используется медная сеть доступа, в т.ч. в существующие </a:t>
            </a:r>
            <a:r>
              <a:rPr lang="en-US" sz="2800" dirty="0" smtClean="0"/>
              <a:t>DSLAM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1.2 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VDSL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0" y="836712"/>
            <a:ext cx="4495800" cy="602128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80000"/>
              </a:lnSpc>
              <a:buNone/>
              <a:defRPr/>
            </a:pPr>
            <a:r>
              <a:rPr lang="ru-RU" dirty="0" smtClean="0"/>
              <a:t>    </a:t>
            </a:r>
            <a:r>
              <a:rPr lang="ru-RU" sz="3300" b="1" dirty="0" smtClean="0">
                <a:solidFill>
                  <a:srgbClr val="002060"/>
                </a:solidFill>
              </a:rPr>
              <a:t>Преимущества </a:t>
            </a:r>
            <a:r>
              <a:rPr lang="en-US" sz="3300" b="1" dirty="0" smtClean="0">
                <a:solidFill>
                  <a:srgbClr val="002060"/>
                </a:solidFill>
              </a:rPr>
              <a:t>V</a:t>
            </a:r>
            <a:r>
              <a:rPr lang="ru-RU" sz="3300" b="1" dirty="0" smtClean="0">
                <a:solidFill>
                  <a:srgbClr val="002060"/>
                </a:solidFill>
              </a:rPr>
              <a:t>DSL</a:t>
            </a:r>
          </a:p>
          <a:p>
            <a:pPr algn="just">
              <a:lnSpc>
                <a:spcPct val="80000"/>
              </a:lnSpc>
              <a:buNone/>
              <a:defRPr/>
            </a:pPr>
            <a:endParaRPr lang="ru-RU" sz="3300" b="1" dirty="0" smtClean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ru-RU" sz="3100" dirty="0" smtClean="0"/>
              <a:t>Возможность использования существующей медной инфраструктуры;</a:t>
            </a:r>
          </a:p>
          <a:p>
            <a:pPr>
              <a:lnSpc>
                <a:spcPct val="80000"/>
              </a:lnSpc>
              <a:defRPr/>
            </a:pPr>
            <a:r>
              <a:rPr lang="ru-RU" sz="3100" dirty="0" smtClean="0"/>
              <a:t>Быстрое внедрение;</a:t>
            </a:r>
          </a:p>
          <a:p>
            <a:pPr>
              <a:lnSpc>
                <a:spcPct val="80000"/>
              </a:lnSpc>
              <a:defRPr/>
            </a:pPr>
            <a:r>
              <a:rPr lang="ru-RU" sz="3100" dirty="0" smtClean="0"/>
              <a:t>Низкая себестоимость;</a:t>
            </a:r>
          </a:p>
          <a:p>
            <a:pPr>
              <a:lnSpc>
                <a:spcPct val="80000"/>
              </a:lnSpc>
              <a:defRPr/>
            </a:pPr>
            <a:r>
              <a:rPr lang="ru-RU" sz="3100" dirty="0" smtClean="0"/>
              <a:t>Большой выбор операторского и клиентского оборудования;</a:t>
            </a:r>
          </a:p>
          <a:p>
            <a:pPr>
              <a:lnSpc>
                <a:spcPct val="80000"/>
              </a:lnSpc>
              <a:defRPr/>
            </a:pPr>
            <a:r>
              <a:rPr lang="ru-RU" sz="3100" dirty="0" smtClean="0"/>
              <a:t>Высокая совместимость;</a:t>
            </a:r>
          </a:p>
          <a:p>
            <a:pPr>
              <a:lnSpc>
                <a:spcPct val="80000"/>
              </a:lnSpc>
              <a:defRPr/>
            </a:pPr>
            <a:r>
              <a:rPr lang="ru-RU" sz="3100" dirty="0" smtClean="0"/>
              <a:t>Высокая скорость нисходящего потока;</a:t>
            </a:r>
          </a:p>
          <a:p>
            <a:pPr>
              <a:lnSpc>
                <a:spcPct val="80000"/>
              </a:lnSpc>
              <a:defRPr/>
            </a:pPr>
            <a:r>
              <a:rPr lang="ru-RU" sz="3100" dirty="0" smtClean="0"/>
              <a:t>Возможность работы в симметричном режиме;</a:t>
            </a:r>
          </a:p>
          <a:p>
            <a:pPr>
              <a:lnSpc>
                <a:spcPct val="80000"/>
              </a:lnSpc>
              <a:defRPr/>
            </a:pPr>
            <a:r>
              <a:rPr lang="ru-RU" sz="3100" dirty="0" smtClean="0"/>
              <a:t>Возможность перехода в режим работы </a:t>
            </a:r>
            <a:r>
              <a:rPr lang="en-US" sz="3100" dirty="0" smtClean="0"/>
              <a:t>ADSL</a:t>
            </a:r>
            <a:r>
              <a:rPr lang="ru-RU" sz="3100" dirty="0" smtClean="0"/>
              <a:t>;</a:t>
            </a:r>
          </a:p>
          <a:p>
            <a:pPr>
              <a:lnSpc>
                <a:spcPct val="80000"/>
              </a:lnSpc>
              <a:defRPr/>
            </a:pPr>
            <a:r>
              <a:rPr lang="ru-RU" sz="3100" dirty="0" smtClean="0"/>
              <a:t>Возможность установки оборудования </a:t>
            </a:r>
            <a:r>
              <a:rPr lang="en-US" sz="3100" dirty="0" smtClean="0"/>
              <a:t>VDSL</a:t>
            </a:r>
            <a:r>
              <a:rPr lang="ru-RU" sz="3100" dirty="0" smtClean="0"/>
              <a:t> в существующие </a:t>
            </a:r>
            <a:r>
              <a:rPr lang="en-US" sz="3100" dirty="0" smtClean="0"/>
              <a:t>DSLAM</a:t>
            </a:r>
            <a:r>
              <a:rPr lang="ru-RU" sz="3100" dirty="0" smtClean="0"/>
              <a:t> </a:t>
            </a:r>
          </a:p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427984" y="764704"/>
            <a:ext cx="4716016" cy="6093296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ru-RU" sz="3200" b="1" dirty="0" smtClean="0">
                <a:solidFill>
                  <a:srgbClr val="002060"/>
                </a:solidFill>
              </a:rPr>
              <a:t>Недостатки </a:t>
            </a:r>
            <a:r>
              <a:rPr lang="en-US" sz="3200" b="1" dirty="0" smtClean="0">
                <a:solidFill>
                  <a:srgbClr val="002060"/>
                </a:solidFill>
              </a:rPr>
              <a:t>V</a:t>
            </a:r>
            <a:r>
              <a:rPr lang="ru-RU" sz="3200" b="1" dirty="0" smtClean="0">
                <a:solidFill>
                  <a:srgbClr val="002060"/>
                </a:solidFill>
              </a:rPr>
              <a:t>DSL </a:t>
            </a:r>
          </a:p>
          <a:p>
            <a:pPr algn="ctr">
              <a:buNone/>
            </a:pPr>
            <a:endParaRPr lang="ru-RU" sz="3200" b="1" dirty="0" smtClean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ru-RU" sz="3200" dirty="0" smtClean="0"/>
              <a:t>Низкое качество связи, обусловленное старением кабеля и его повреждениями;</a:t>
            </a:r>
          </a:p>
          <a:p>
            <a:pPr>
              <a:lnSpc>
                <a:spcPct val="90000"/>
              </a:lnSpc>
              <a:defRPr/>
            </a:pPr>
            <a:r>
              <a:rPr lang="ru-RU" sz="3200" dirty="0" smtClean="0"/>
              <a:t>Ограниченная дальность работы на высоких скоростях передачи данных;</a:t>
            </a:r>
          </a:p>
          <a:p>
            <a:pPr>
              <a:lnSpc>
                <a:spcPct val="90000"/>
              </a:lnSpc>
              <a:defRPr/>
            </a:pPr>
            <a:r>
              <a:rPr lang="ru-RU" sz="3200" dirty="0" smtClean="0"/>
              <a:t>Снижение скорости передачи данных в зависимости от протяженности абонентских линий;</a:t>
            </a:r>
          </a:p>
          <a:p>
            <a:pPr>
              <a:lnSpc>
                <a:spcPct val="90000"/>
              </a:lnSpc>
              <a:defRPr/>
            </a:pPr>
            <a:r>
              <a:rPr lang="ru-RU" sz="3200" dirty="0" smtClean="0"/>
              <a:t>Взаимное влияние абонентских линий при увеличении количества абонентов в кабеле;</a:t>
            </a:r>
          </a:p>
          <a:p>
            <a:pPr>
              <a:lnSpc>
                <a:spcPct val="90000"/>
              </a:lnSpc>
              <a:defRPr/>
            </a:pPr>
            <a:r>
              <a:rPr lang="ru-RU" sz="3200" dirty="0" smtClean="0"/>
              <a:t>Высокая стоимость клиентского оборудования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ru-RU" sz="3200" dirty="0" smtClean="0"/>
              <a:t>      (в сравнении с ADSL)</a:t>
            </a:r>
            <a:r>
              <a:rPr lang="ru-RU" dirty="0" smtClean="0"/>
              <a:t> </a:t>
            </a:r>
          </a:p>
          <a:p>
            <a:pPr>
              <a:buNone/>
            </a:pPr>
            <a:endParaRPr lang="ru-RU" sz="3200" b="1" dirty="0" smtClean="0">
              <a:solidFill>
                <a:srgbClr val="002060"/>
              </a:solidFill>
            </a:endParaRPr>
          </a:p>
          <a:p>
            <a:pPr algn="ctr">
              <a:buNone/>
            </a:pPr>
            <a:endParaRPr lang="ru-RU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764704"/>
            <a:ext cx="8964488" cy="2376264"/>
          </a:xfrm>
        </p:spPr>
        <p:txBody>
          <a:bodyPr>
            <a:normAutofit fontScale="90000"/>
          </a:bodyPr>
          <a:lstStyle/>
          <a:p>
            <a:r>
              <a:rPr lang="ru-RU" sz="4000" b="1" dirty="0" smtClean="0">
                <a:solidFill>
                  <a:srgbClr val="002060"/>
                </a:solidFill>
              </a:rPr>
              <a:t>Технологии построения сети доступа</a:t>
            </a:r>
            <a:r>
              <a:rPr lang="ru-RU" b="1" dirty="0" smtClean="0">
                <a:solidFill>
                  <a:srgbClr val="002060"/>
                </a:solidFill>
              </a:rPr>
              <a:t>.</a:t>
            </a:r>
            <a:br>
              <a:rPr lang="ru-RU" b="1" dirty="0" smtClean="0">
                <a:solidFill>
                  <a:srgbClr val="002060"/>
                </a:solidFill>
              </a:rPr>
            </a:br>
            <a:r>
              <a:rPr lang="ru-RU" b="1" dirty="0" smtClean="0">
                <a:solidFill>
                  <a:srgbClr val="002060"/>
                </a:solidFill>
              </a:rPr>
              <a:t>    </a:t>
            </a:r>
            <a:r>
              <a:rPr lang="ru-RU" sz="4000" b="1" dirty="0" smtClean="0">
                <a:solidFill>
                  <a:srgbClr val="002060"/>
                </a:solidFill>
              </a:rPr>
              <a:t>2. Оптоволоконные  технологии </a:t>
            </a:r>
            <a:r>
              <a:rPr lang="en-US" sz="4000" b="1" dirty="0" smtClean="0">
                <a:solidFill>
                  <a:srgbClr val="002060"/>
                </a:solidFill>
              </a:rPr>
              <a:t>PON</a:t>
            </a:r>
            <a:r>
              <a:rPr lang="ru-RU" sz="4000" b="1" dirty="0" smtClean="0">
                <a:solidFill>
                  <a:srgbClr val="002060"/>
                </a:solidFill>
              </a:rPr>
              <a:t/>
            </a:r>
            <a:br>
              <a:rPr lang="ru-RU" sz="4000" b="1" dirty="0" smtClean="0">
                <a:solidFill>
                  <a:srgbClr val="002060"/>
                </a:solidFill>
              </a:rPr>
            </a:br>
            <a:r>
              <a:rPr lang="ru-RU" sz="4000" b="1" dirty="0" smtClean="0">
                <a:solidFill>
                  <a:srgbClr val="002060"/>
                </a:solidFill>
              </a:rPr>
              <a:t>2.1 Классификация технологии </a:t>
            </a:r>
            <a:r>
              <a:rPr lang="en-US" sz="4000" b="1" dirty="0" smtClean="0">
                <a:solidFill>
                  <a:srgbClr val="002060"/>
                </a:solidFill>
              </a:rPr>
              <a:t>PON</a:t>
            </a:r>
            <a:r>
              <a:rPr lang="ru-RU" sz="4000" b="1" dirty="0" smtClean="0">
                <a:solidFill>
                  <a:srgbClr val="002060"/>
                </a:solidFill>
              </a:rPr>
              <a:t/>
            </a:r>
            <a:br>
              <a:rPr lang="ru-RU" sz="4000" b="1" dirty="0" smtClean="0">
                <a:solidFill>
                  <a:srgbClr val="002060"/>
                </a:solidFill>
              </a:rPr>
            </a:br>
            <a:r>
              <a:rPr lang="ru-RU" sz="4000" b="1" dirty="0" smtClean="0">
                <a:solidFill>
                  <a:srgbClr val="002060"/>
                </a:solidFill>
              </a:rPr>
              <a:t>2.2 Сеть доступа по технологии </a:t>
            </a:r>
            <a:r>
              <a:rPr lang="en-US" sz="4000" b="1" dirty="0" smtClean="0">
                <a:solidFill>
                  <a:srgbClr val="002060"/>
                </a:solidFill>
              </a:rPr>
              <a:t>PON</a:t>
            </a:r>
            <a:r>
              <a:rPr lang="ru-RU" sz="4000" b="1" dirty="0" smtClean="0">
                <a:solidFill>
                  <a:srgbClr val="002060"/>
                </a:solidFill>
              </a:rPr>
              <a:t/>
            </a:r>
            <a:br>
              <a:rPr lang="ru-RU" sz="4000" b="1" dirty="0" smtClean="0">
                <a:solidFill>
                  <a:srgbClr val="002060"/>
                </a:solidFill>
              </a:rPr>
            </a:br>
            <a:r>
              <a:rPr lang="ru-RU" sz="4000" b="1" dirty="0" smtClean="0">
                <a:solidFill>
                  <a:srgbClr val="002060"/>
                </a:solidFill>
              </a:rPr>
              <a:t/>
            </a:r>
            <a:br>
              <a:rPr lang="ru-RU" sz="4000" b="1" dirty="0" smtClean="0">
                <a:solidFill>
                  <a:srgbClr val="002060"/>
                </a:solidFill>
              </a:rPr>
            </a:br>
            <a:r>
              <a:rPr lang="en-US" sz="4000" b="1" dirty="0" smtClean="0">
                <a:solidFill>
                  <a:srgbClr val="002060"/>
                </a:solidFill>
              </a:rPr>
              <a:t> </a:t>
            </a:r>
            <a:r>
              <a:rPr lang="ru-RU" sz="4000" b="1" dirty="0" smtClean="0">
                <a:solidFill>
                  <a:srgbClr val="002060"/>
                </a:solidFill>
              </a:rPr>
              <a:t/>
            </a:r>
            <a:br>
              <a:rPr lang="ru-RU" sz="4000" b="1" dirty="0" smtClean="0">
                <a:solidFill>
                  <a:srgbClr val="002060"/>
                </a:solidFill>
              </a:rPr>
            </a:br>
            <a:endParaRPr lang="ru-RU" sz="4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Уровень доступа. Используемые технологии.</a:t>
            </a:r>
            <a:endParaRPr lang="ru-RU" sz="3200" dirty="0"/>
          </a:p>
        </p:txBody>
      </p:sp>
      <p:pic>
        <p:nvPicPr>
          <p:cNvPr id="4" name="Содержимое 3" descr="Bezymyanny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08720"/>
            <a:ext cx="889248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PON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 smtClean="0"/>
              <a:t>Подгруппа</a:t>
            </a:r>
            <a:r>
              <a:rPr lang="en-US" dirty="0" smtClean="0"/>
              <a:t> </a:t>
            </a:r>
            <a:r>
              <a:rPr lang="en-US" dirty="0" err="1" smtClean="0"/>
              <a:t>технологий</a:t>
            </a:r>
            <a:r>
              <a:rPr lang="en-US" dirty="0" smtClean="0"/>
              <a:t> PON –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семейство</a:t>
            </a:r>
            <a:r>
              <a:rPr lang="en-US" dirty="0" smtClean="0"/>
              <a:t> </a:t>
            </a:r>
            <a:r>
              <a:rPr lang="en-US" dirty="0" err="1" smtClean="0"/>
              <a:t>быстроразвивающихся</a:t>
            </a:r>
            <a:r>
              <a:rPr lang="en-US" dirty="0" smtClean="0"/>
              <a:t>, </a:t>
            </a:r>
            <a:r>
              <a:rPr lang="en-US" dirty="0" err="1" smtClean="0"/>
              <a:t>наиболее</a:t>
            </a:r>
            <a:r>
              <a:rPr lang="en-US" dirty="0" smtClean="0"/>
              <a:t> </a:t>
            </a:r>
            <a:r>
              <a:rPr lang="en-US" dirty="0" err="1" smtClean="0"/>
              <a:t>перспективных</a:t>
            </a:r>
            <a:r>
              <a:rPr lang="en-US" dirty="0" smtClean="0"/>
              <a:t> </a:t>
            </a:r>
            <a:r>
              <a:rPr lang="en-US" dirty="0" err="1" smtClean="0"/>
              <a:t>технологий</a:t>
            </a:r>
            <a:r>
              <a:rPr lang="en-US" dirty="0" smtClean="0"/>
              <a:t> </a:t>
            </a:r>
            <a:r>
              <a:rPr lang="en-US" dirty="0" err="1" smtClean="0"/>
              <a:t>широкополосного</a:t>
            </a:r>
            <a:r>
              <a:rPr lang="en-US" dirty="0" smtClean="0"/>
              <a:t> </a:t>
            </a:r>
            <a:r>
              <a:rPr lang="en-US" dirty="0" err="1" smtClean="0"/>
              <a:t>мультисервисного</a:t>
            </a:r>
            <a:r>
              <a:rPr lang="en-US" dirty="0" smtClean="0"/>
              <a:t> </a:t>
            </a:r>
            <a:r>
              <a:rPr lang="en-US" dirty="0" err="1" smtClean="0"/>
              <a:t>множественного</a:t>
            </a:r>
            <a:r>
              <a:rPr lang="en-US" dirty="0" smtClean="0"/>
              <a:t> </a:t>
            </a:r>
            <a:r>
              <a:rPr lang="en-US" dirty="0" err="1" smtClean="0"/>
              <a:t>доступа</a:t>
            </a:r>
            <a:r>
              <a:rPr lang="en-US" dirty="0" smtClean="0"/>
              <a:t> </a:t>
            </a:r>
            <a:r>
              <a:rPr lang="en-US" dirty="0" err="1" smtClean="0"/>
              <a:t>по</a:t>
            </a:r>
            <a:r>
              <a:rPr lang="en-US" dirty="0" smtClean="0"/>
              <a:t> </a:t>
            </a:r>
            <a:r>
              <a:rPr lang="en-US" dirty="0" err="1" smtClean="0"/>
              <a:t>оптическому</a:t>
            </a:r>
            <a:r>
              <a:rPr lang="en-US" dirty="0" smtClean="0"/>
              <a:t> </a:t>
            </a:r>
            <a:r>
              <a:rPr lang="en-US" dirty="0" err="1" smtClean="0"/>
              <a:t>волокну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ru-RU" b="1" dirty="0" smtClean="0"/>
              <a:t>Суть технологии пассивных оптических сетей</a:t>
            </a:r>
            <a:r>
              <a:rPr lang="ru-RU" dirty="0" smtClean="0"/>
              <a:t>, вытекающая из ее названия, состоит в том, что ее распределительная сеть строится без каких-либо активных компонентов</a:t>
            </a:r>
            <a:r>
              <a:rPr lang="en-US" dirty="0" smtClean="0"/>
              <a:t>  - </a:t>
            </a:r>
            <a:r>
              <a:rPr lang="ru-RU" b="1" dirty="0" smtClean="0"/>
              <a:t>разветвление оптического сигнала осуществляется с помощью пассивных делителей оптической мощности – </a:t>
            </a:r>
            <a:r>
              <a:rPr lang="ru-RU" b="1" dirty="0" err="1" smtClean="0"/>
              <a:t>сплиттеров</a:t>
            </a:r>
            <a:r>
              <a:rPr lang="ru-RU" b="1" dirty="0" smtClean="0"/>
              <a:t>.</a:t>
            </a:r>
            <a:endParaRPr lang="en-US" b="1" dirty="0" smtClean="0"/>
          </a:p>
          <a:p>
            <a:r>
              <a:rPr lang="ru-RU" dirty="0" smtClean="0"/>
              <a:t> Следствием этого преимущества является снижение стоимости системы доступа, уменьшение объема необходимого сетевого управления, высокая дальность передачи и отсутствие необходимости в последующей модернизации распределительной сети.</a:t>
            </a:r>
          </a:p>
          <a:p>
            <a:r>
              <a:rPr lang="ru-RU" b="1" dirty="0" smtClean="0"/>
              <a:t>Существует несколько разновидностей сетей </a:t>
            </a:r>
            <a:r>
              <a:rPr lang="en-US" b="1" dirty="0" smtClean="0"/>
              <a:t>PON</a:t>
            </a:r>
            <a:r>
              <a:rPr lang="ru-RU" b="1" dirty="0" smtClean="0"/>
              <a:t>:</a:t>
            </a:r>
          </a:p>
          <a:p>
            <a:pPr>
              <a:buNone/>
            </a:pPr>
            <a:r>
              <a:rPr lang="en-US" b="1" dirty="0" smtClean="0"/>
              <a:t>       - APON (ATM PON).</a:t>
            </a:r>
            <a:endParaRPr lang="ru-RU" b="1" dirty="0" smtClean="0"/>
          </a:p>
          <a:p>
            <a:pPr>
              <a:buNone/>
            </a:pPr>
            <a:r>
              <a:rPr lang="en-US" b="1" dirty="0" smtClean="0"/>
              <a:t>       - BPON (Broadband PON).</a:t>
            </a:r>
            <a:endParaRPr lang="ru-RU" b="1" dirty="0" smtClean="0"/>
          </a:p>
          <a:p>
            <a:pPr>
              <a:buNone/>
            </a:pPr>
            <a:r>
              <a:rPr lang="en-US" b="1" dirty="0" smtClean="0"/>
              <a:t>       - GPON (Gigabit PON).</a:t>
            </a:r>
            <a:endParaRPr lang="ru-RU" b="1" dirty="0" smtClean="0"/>
          </a:p>
          <a:p>
            <a:pPr>
              <a:buNone/>
            </a:pPr>
            <a:r>
              <a:rPr lang="en-US" b="1" dirty="0" smtClean="0"/>
              <a:t>       -  EPON (Ethernet PON).</a:t>
            </a:r>
            <a:endParaRPr lang="ru-RU" b="1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Классификация технологий </a:t>
            </a:r>
            <a:r>
              <a:rPr lang="en-US" sz="3600" b="1" dirty="0" smtClean="0">
                <a:solidFill>
                  <a:srgbClr val="002060"/>
                </a:solidFill>
              </a:rPr>
              <a:t>PON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8964488" cy="6165304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smtClean="0"/>
              <a:t>1</a:t>
            </a:r>
            <a:r>
              <a:rPr lang="ru-RU" b="1" dirty="0" smtClean="0"/>
              <a:t>. Первой в середине 90-х годов была разработана технология APON</a:t>
            </a:r>
            <a:r>
              <a:rPr lang="ru-RU" dirty="0" smtClean="0"/>
              <a:t>, которая базировалась на передаче информации в ячейках структуры ATM со служебными данными.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</a:t>
            </a:r>
            <a:r>
              <a:rPr lang="ru-RU" dirty="0" smtClean="0"/>
              <a:t>В этом случае обеспечивалась скорость передачи прямого и обратного потоков по 155 Мбит/с (симметричный режим) или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</a:t>
            </a:r>
            <a:r>
              <a:rPr lang="ru-RU" dirty="0" smtClean="0"/>
              <a:t> 622 Мбит/с в прямом потоке и 155 Мбит/с в обратном (асимметричный режим).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ru-RU" dirty="0" smtClean="0"/>
              <a:t>Во избежание наложения данных, поступающих от разных абонентов,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</a:t>
            </a:r>
            <a:r>
              <a:rPr lang="ru-RU" dirty="0" smtClean="0"/>
              <a:t> OLT направляло на каждый ONU служебные сообщения с разрешением на отправку данных.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</a:t>
            </a:r>
            <a:r>
              <a:rPr lang="ru-RU" b="1" dirty="0" smtClean="0"/>
              <a:t>В настоящее время APON в своем первоначальном виде практически не используется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2. Дальнейшее совершенствование этой технологии привело к созданию нового стандарта – BPON.</a:t>
            </a:r>
          </a:p>
          <a:p>
            <a:pPr>
              <a:buNone/>
            </a:pPr>
            <a:r>
              <a:rPr lang="ru-RU" b="1" dirty="0" smtClean="0"/>
              <a:t>    </a:t>
            </a:r>
            <a:r>
              <a:rPr lang="ru-RU" dirty="0" smtClean="0"/>
              <a:t>Здесь скорость прямого и обратного потоков доведена до 622 Мбит/с в симметричном режиме или 1244 Мбит/с и 622 Мбит/с в асимметричном режиме. </a:t>
            </a:r>
          </a:p>
          <a:p>
            <a:pPr>
              <a:buNone/>
            </a:pPr>
            <a:r>
              <a:rPr lang="ru-RU" dirty="0" smtClean="0"/>
              <a:t>   Предусмотрена возможность передачи трех основных типов информации </a:t>
            </a:r>
          </a:p>
          <a:p>
            <a:pPr>
              <a:buNone/>
            </a:pPr>
            <a:r>
              <a:rPr lang="ru-RU" dirty="0" smtClean="0"/>
              <a:t>     (голос, видео, данные), причем для потока видеоинформации выделена длина волны 1550 нм.</a:t>
            </a:r>
          </a:p>
          <a:p>
            <a:pPr>
              <a:buNone/>
            </a:pPr>
            <a:r>
              <a:rPr lang="ru-RU" dirty="0" smtClean="0"/>
              <a:t>    BPON позволяет организовывать динамическое распределение полосы между отдельными абонентами. 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b="1" dirty="0" smtClean="0"/>
              <a:t>После разработки более высокоскоростной технологии GPON, применение BPON практически утратило смысл чисто экономически, не используется.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 bmk="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2.1Технология </a:t>
            </a:r>
            <a:r>
              <a:rPr lang="en-US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(4/17)</a:t>
            </a:r>
            <a:endParaRPr lang="ru-RU" sz="3600" dirty="0"/>
          </a:p>
        </p:txBody>
      </p:sp>
      <p:pic>
        <p:nvPicPr>
          <p:cNvPr id="4" name="Содержимое 3" descr="https://siblec.ru/img/80/080.files/image004.pn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696"/>
            <a:ext cx="9144000" cy="61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820472" cy="504056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Классификация технологий </a:t>
            </a:r>
            <a:r>
              <a:rPr lang="en-US" b="1" dirty="0" smtClean="0">
                <a:solidFill>
                  <a:srgbClr val="002060"/>
                </a:solidFill>
              </a:rPr>
              <a:t>PON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Autofit/>
          </a:bodyPr>
          <a:lstStyle/>
          <a:p>
            <a:endParaRPr lang="ru-RU" sz="2000" b="1" dirty="0" smtClean="0"/>
          </a:p>
          <a:p>
            <a:r>
              <a:rPr lang="ru-RU" sz="2000" b="1" dirty="0" smtClean="0"/>
              <a:t>3. Успешное использование технологии </a:t>
            </a:r>
            <a:r>
              <a:rPr lang="ru-RU" sz="2000" b="1" dirty="0" err="1" smtClean="0"/>
              <a:t>Ethernet</a:t>
            </a:r>
            <a:r>
              <a:rPr lang="ru-RU" sz="2000" b="1" dirty="0" smtClean="0"/>
              <a:t> в локальных сетях и построение на их основе оптических сетей доступа предопределил разработку в 2000 г. нового стандарта – EPON. </a:t>
            </a:r>
          </a:p>
          <a:p>
            <a:pPr>
              <a:buNone/>
            </a:pPr>
            <a:r>
              <a:rPr lang="ru-RU" sz="2000" dirty="0" smtClean="0"/>
              <a:t>       Такие сети, в основном, рассчитаны на передачу данных со скоростью прямого и обратного потоков 1 Гбит/с на основе IP-протокола для 16 (или 32) абонентов. </a:t>
            </a:r>
          </a:p>
          <a:p>
            <a:pPr>
              <a:buNone/>
            </a:pPr>
            <a:r>
              <a:rPr lang="ru-RU" sz="2000" dirty="0" smtClean="0"/>
              <a:t>         Исходя из скорости передачи, в источниках часто фигурирует название  </a:t>
            </a:r>
          </a:p>
          <a:p>
            <a:pPr>
              <a:buNone/>
            </a:pPr>
            <a:r>
              <a:rPr lang="ru-RU" sz="2000" dirty="0" smtClean="0"/>
              <a:t>         GEPON (</a:t>
            </a:r>
            <a:r>
              <a:rPr lang="ru-RU" sz="2000" dirty="0" err="1" smtClean="0"/>
              <a:t>Gigabit</a:t>
            </a:r>
            <a:r>
              <a:rPr lang="ru-RU" sz="2000" dirty="0" smtClean="0"/>
              <a:t> </a:t>
            </a:r>
            <a:r>
              <a:rPr lang="ru-RU" sz="2000" dirty="0" err="1" smtClean="0"/>
              <a:t>Ethernet</a:t>
            </a:r>
            <a:r>
              <a:rPr lang="ru-RU" sz="2000" dirty="0" smtClean="0"/>
              <a:t> PON).</a:t>
            </a:r>
          </a:p>
          <a:p>
            <a:pPr>
              <a:buNone/>
            </a:pPr>
            <a:r>
              <a:rPr lang="ru-RU" sz="2000" dirty="0" smtClean="0"/>
              <a:t>       Дальность передачи в таких системах достигает 20 км.</a:t>
            </a:r>
          </a:p>
          <a:p>
            <a:pPr>
              <a:buNone/>
            </a:pPr>
            <a:r>
              <a:rPr lang="ru-RU" sz="2000" dirty="0" smtClean="0"/>
              <a:t>       Для прямого потока используется длина волны 1490 нм, 1550 нм резервируется для видео приложений.</a:t>
            </a:r>
          </a:p>
          <a:p>
            <a:pPr>
              <a:buNone/>
            </a:pPr>
            <a:r>
              <a:rPr lang="ru-RU" sz="2000" dirty="0" smtClean="0"/>
              <a:t>       Обратный поток передается на 1310 нм. </a:t>
            </a:r>
          </a:p>
          <a:p>
            <a:pPr>
              <a:buNone/>
            </a:pPr>
            <a:r>
              <a:rPr lang="ru-RU" sz="2000" b="1" dirty="0" smtClean="0"/>
              <a:t>      В GEPON поддерживается операция обмена информацией между пользователями</a:t>
            </a:r>
            <a:r>
              <a:rPr lang="ru-RU" sz="2000" dirty="0" smtClean="0"/>
              <a:t>. </a:t>
            </a:r>
          </a:p>
          <a:p>
            <a:endParaRPr lang="ru-RU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Классификация технологий </a:t>
            </a:r>
            <a:r>
              <a:rPr lang="en-US" sz="3600" b="1" dirty="0" smtClean="0">
                <a:solidFill>
                  <a:srgbClr val="002060"/>
                </a:solidFill>
              </a:rPr>
              <a:t>PON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544616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4. Для больших операторов, строящих большие разветвленные сети с системами резервирования, наиболее удачной считается технология GPON </a:t>
            </a:r>
            <a:r>
              <a:rPr lang="ru-RU" dirty="0" smtClean="0"/>
              <a:t>с более высокой скоростью передачи – 1244 Мбит/с и 2488 Мбит/с (в асимметричном режиме) и 1244 Мбит/с (в симметричном режиме).</a:t>
            </a:r>
          </a:p>
          <a:p>
            <a:pPr>
              <a:buNone/>
            </a:pPr>
            <a:r>
              <a:rPr lang="ru-RU" dirty="0" smtClean="0"/>
              <a:t>        </a:t>
            </a:r>
            <a:r>
              <a:rPr lang="ru-RU" b="1" dirty="0" smtClean="0"/>
              <a:t>За основу был принят базовый протокол SDH (а точнее на протоколе GFP) со всеми вытекающими преимуществами и недостатками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dirty="0" smtClean="0"/>
              <a:t>      Возможно подключение до 32 (или 64) абонентов на расстоянии до 20 км</a:t>
            </a:r>
          </a:p>
          <a:p>
            <a:pPr>
              <a:buNone/>
            </a:pPr>
            <a:r>
              <a:rPr lang="ru-RU" dirty="0" smtClean="0"/>
              <a:t>       (с возможностью расширения до 60 км). </a:t>
            </a:r>
          </a:p>
          <a:p>
            <a:pPr>
              <a:buNone/>
            </a:pPr>
            <a:r>
              <a:rPr lang="ru-RU" dirty="0" smtClean="0"/>
              <a:t>       </a:t>
            </a:r>
            <a:r>
              <a:rPr lang="ru-RU" b="1" dirty="0" smtClean="0"/>
              <a:t>GPON поддерживает как трафик</a:t>
            </a:r>
            <a:r>
              <a:rPr lang="ru-RU" dirty="0" smtClean="0"/>
              <a:t> </a:t>
            </a:r>
          </a:p>
          <a:p>
            <a:pPr>
              <a:buNone/>
            </a:pPr>
            <a:r>
              <a:rPr lang="ru-RU" dirty="0" smtClean="0"/>
              <a:t>         - ATM, </a:t>
            </a:r>
          </a:p>
          <a:p>
            <a:pPr>
              <a:buNone/>
            </a:pPr>
            <a:r>
              <a:rPr lang="ru-RU" dirty="0" smtClean="0"/>
              <a:t>        - так и IP,</a:t>
            </a:r>
          </a:p>
          <a:p>
            <a:pPr>
              <a:buNone/>
            </a:pPr>
            <a:r>
              <a:rPr lang="ru-RU" dirty="0" smtClean="0"/>
              <a:t>      -  речь и видео (инкапсулированные в кадры GEM – GPON </a:t>
            </a:r>
            <a:r>
              <a:rPr lang="ru-RU" dirty="0" err="1" smtClean="0"/>
              <a:t>Encapsulated</a:t>
            </a:r>
            <a:r>
              <a:rPr lang="ru-RU" dirty="0" smtClean="0"/>
              <a:t> </a:t>
            </a:r>
            <a:r>
              <a:rPr lang="ru-RU" dirty="0" err="1" smtClean="0"/>
              <a:t>Method</a:t>
            </a:r>
            <a:r>
              <a:rPr lang="ru-RU" dirty="0" smtClean="0"/>
              <a:t>), </a:t>
            </a:r>
          </a:p>
          <a:p>
            <a:pPr>
              <a:buNone/>
            </a:pPr>
            <a:r>
              <a:rPr lang="ru-RU" dirty="0" smtClean="0"/>
              <a:t>       - а также SDH.</a:t>
            </a:r>
          </a:p>
          <a:p>
            <a:pPr>
              <a:buNone/>
            </a:pPr>
            <a:r>
              <a:rPr lang="ru-RU" dirty="0" smtClean="0"/>
              <a:t>      </a:t>
            </a:r>
            <a:r>
              <a:rPr lang="ru-RU" b="1" dirty="0" smtClean="0"/>
              <a:t>Сеть работает в синхронном режиме с постоянной длительностью кадра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b="1" dirty="0" smtClean="0"/>
              <a:t>Технология GPON удачная для сетей большой протяженности и емкости.</a:t>
            </a:r>
          </a:p>
          <a:p>
            <a:pPr>
              <a:buNone/>
            </a:pPr>
            <a:r>
              <a:rPr lang="ru-RU" b="1" dirty="0" smtClean="0"/>
              <a:t>     </a:t>
            </a:r>
            <a:r>
              <a:rPr lang="ru-RU" dirty="0" smtClean="0"/>
              <a:t>Базовая платформа SDH обеспечивает хорошую защиту информации в сети, широкую полосу пропускания.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74638"/>
            <a:ext cx="8892480" cy="6340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2.1 Сеть оптического доступа </a:t>
            </a:r>
            <a:r>
              <a:rPr lang="en-US" sz="3600" b="1" dirty="0" smtClean="0">
                <a:solidFill>
                  <a:srgbClr val="002060"/>
                </a:solidFill>
              </a:rPr>
              <a:t>PON</a:t>
            </a:r>
            <a:r>
              <a:rPr lang="ru-RU" sz="3600" b="1" dirty="0" smtClean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800" b="1" dirty="0" smtClean="0"/>
              <a:t>Перспективная сеть оптического доступа должна соответствовать следующим требованиям</a:t>
            </a:r>
            <a:r>
              <a:rPr lang="ru-RU" sz="2800" dirty="0" smtClean="0"/>
              <a:t>:</a:t>
            </a:r>
          </a:p>
          <a:p>
            <a:pPr>
              <a:lnSpc>
                <a:spcPct val="90000"/>
              </a:lnSpc>
            </a:pPr>
            <a:r>
              <a:rPr lang="ru-RU" sz="2800" b="1" dirty="0" smtClean="0"/>
              <a:t>«мультисервисность» – </a:t>
            </a:r>
            <a:r>
              <a:rPr lang="ru-RU" sz="2800" dirty="0" smtClean="0"/>
              <a:t>независимость технологий предоставления услуг от транспортных технологий</a:t>
            </a:r>
          </a:p>
          <a:p>
            <a:pPr>
              <a:lnSpc>
                <a:spcPct val="90000"/>
              </a:lnSpc>
              <a:buNone/>
            </a:pPr>
            <a:r>
              <a:rPr lang="ru-RU" sz="2800" dirty="0" smtClean="0"/>
              <a:t>      (любая услуга через любой транспорт);</a:t>
            </a:r>
          </a:p>
          <a:p>
            <a:pPr>
              <a:lnSpc>
                <a:spcPct val="90000"/>
              </a:lnSpc>
            </a:pPr>
            <a:r>
              <a:rPr lang="ru-RU" sz="2800" b="1" dirty="0" smtClean="0"/>
              <a:t>«</a:t>
            </a:r>
            <a:r>
              <a:rPr lang="ru-RU" sz="2800" b="1" dirty="0" err="1" smtClean="0"/>
              <a:t>широкополосность</a:t>
            </a:r>
            <a:r>
              <a:rPr lang="ru-RU" sz="2800" b="1" dirty="0" smtClean="0"/>
              <a:t>» </a:t>
            </a:r>
            <a:r>
              <a:rPr lang="ru-RU" sz="2800" dirty="0" smtClean="0"/>
              <a:t>– возможность гибкого и динамичного изменения скорости передачи информации в зависимости от потребности пользователя;</a:t>
            </a:r>
          </a:p>
          <a:p>
            <a:pPr>
              <a:lnSpc>
                <a:spcPct val="90000"/>
              </a:lnSpc>
            </a:pPr>
            <a:r>
              <a:rPr lang="ru-RU" sz="2800" b="1" dirty="0" smtClean="0"/>
              <a:t>«</a:t>
            </a:r>
            <a:r>
              <a:rPr lang="ru-RU" sz="2800" b="1" dirty="0" err="1" smtClean="0"/>
              <a:t>мультимедийность</a:t>
            </a:r>
            <a:r>
              <a:rPr lang="ru-RU" sz="2800" b="1" dirty="0" smtClean="0"/>
              <a:t>» </a:t>
            </a:r>
            <a:r>
              <a:rPr lang="ru-RU" sz="2800" dirty="0" smtClean="0"/>
              <a:t>– способность сети передавать одновременно многокомпонентную информацию (голос, видео, данные);</a:t>
            </a:r>
          </a:p>
          <a:p>
            <a:pPr>
              <a:lnSpc>
                <a:spcPct val="90000"/>
              </a:lnSpc>
            </a:pPr>
            <a:r>
              <a:rPr lang="ru-RU" sz="2800" b="1" dirty="0" smtClean="0"/>
              <a:t>«интеллектуальность» </a:t>
            </a:r>
            <a:r>
              <a:rPr lang="ru-RU" sz="2800" dirty="0" smtClean="0"/>
              <a:t>– возможность управления услугой со стороны оператора или пользователя.</a:t>
            </a:r>
          </a:p>
          <a:p>
            <a:pPr>
              <a:lnSpc>
                <a:spcPct val="90000"/>
              </a:lnSpc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sz="4000" b="1" dirty="0" smtClean="0">
                <a:solidFill>
                  <a:srgbClr val="002060"/>
                </a:solidFill>
              </a:rPr>
              <a:t>Доступ по технологии PON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dirty="0" smtClean="0"/>
              <a:t> 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Аббревиатура PON расшифровывается как пассивная оптическая сеть </a:t>
            </a:r>
            <a:r>
              <a:rPr lang="ru-RU" dirty="0" smtClean="0"/>
              <a:t>(</a:t>
            </a:r>
            <a:r>
              <a:rPr lang="ru-RU" dirty="0" err="1" smtClean="0"/>
              <a:t>Passive</a:t>
            </a:r>
            <a:r>
              <a:rPr lang="ru-RU" dirty="0" smtClean="0"/>
              <a:t> </a:t>
            </a:r>
            <a:r>
              <a:rPr lang="ru-RU" dirty="0" err="1" smtClean="0"/>
              <a:t>optical</a:t>
            </a:r>
            <a:r>
              <a:rPr lang="ru-RU" dirty="0" smtClean="0"/>
              <a:t> </a:t>
            </a:r>
            <a:r>
              <a:rPr lang="ru-RU" dirty="0" err="1" smtClean="0"/>
              <a:t>network</a:t>
            </a:r>
            <a:r>
              <a:rPr lang="ru-RU" dirty="0" smtClean="0"/>
              <a:t>). </a:t>
            </a:r>
          </a:p>
          <a:p>
            <a:r>
              <a:rPr lang="ru-RU" dirty="0" smtClean="0"/>
              <a:t>Можно также сказать, </a:t>
            </a:r>
            <a:r>
              <a:rPr lang="ru-RU" b="1" dirty="0" smtClean="0"/>
              <a:t>что </a:t>
            </a:r>
            <a:r>
              <a:rPr lang="ru-RU" b="1" dirty="0" err="1" smtClean="0"/>
              <a:t>xPON</a:t>
            </a:r>
            <a:r>
              <a:rPr lang="ru-RU" b="1" dirty="0" smtClean="0"/>
              <a:t> – это семейство технологий широкополосного </a:t>
            </a:r>
            <a:r>
              <a:rPr lang="ru-RU" b="1" dirty="0" err="1" smtClean="0"/>
              <a:t>мультисервисного</a:t>
            </a:r>
            <a:r>
              <a:rPr lang="ru-RU" b="1" dirty="0" smtClean="0"/>
              <a:t> доступа, которые в качестве транспортной среды используют оптическое волокно.</a:t>
            </a:r>
          </a:p>
          <a:p>
            <a:r>
              <a:rPr lang="ru-RU" b="1" dirty="0" smtClean="0"/>
              <a:t>Технология </a:t>
            </a:r>
            <a:r>
              <a:rPr lang="ru-RU" b="1" dirty="0" err="1" smtClean="0"/>
              <a:t>xPON</a:t>
            </a:r>
            <a:r>
              <a:rPr lang="ru-RU" b="1" dirty="0" smtClean="0"/>
              <a:t> </a:t>
            </a:r>
            <a:r>
              <a:rPr lang="ru-RU" dirty="0" smtClean="0"/>
              <a:t>представляет собой очередной виток эволюции сети, так как она </a:t>
            </a:r>
            <a:r>
              <a:rPr lang="ru-RU" b="1" dirty="0" smtClean="0"/>
              <a:t>предполагает использование оптоволоконных линий не только на магистральном уровне, но и на уровне «последней мили»(сеть доступа). </a:t>
            </a:r>
          </a:p>
          <a:p>
            <a:r>
              <a:rPr lang="ru-RU" dirty="0" smtClean="0"/>
              <a:t>То есть в дом к абоненту приходит уже не медный кабель, а волокно.</a:t>
            </a:r>
          </a:p>
          <a:p>
            <a:r>
              <a:rPr lang="ru-RU" dirty="0" smtClean="0"/>
              <a:t> При этом абоненту предоставляется весь ресурс оптического кабеля, который заводится непосредственно в его квартиру, в отличие от операторов домовых сетей, где канал выделяется на дом, и делится в равной степени между подключенными пользователями.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Слово «пассивная» в названии технологии обозначает отсутствие активных, т.е. </a:t>
            </a:r>
            <a:r>
              <a:rPr lang="ru-RU" b="1" dirty="0" err="1" smtClean="0"/>
              <a:t>энергопотребляющих</a:t>
            </a:r>
            <a:r>
              <a:rPr lang="ru-RU" b="1" dirty="0" smtClean="0"/>
              <a:t> компонентов.</a:t>
            </a:r>
          </a:p>
          <a:p>
            <a:r>
              <a:rPr lang="ru-RU" b="1" dirty="0" smtClean="0"/>
              <a:t>Для подключения к технологии </a:t>
            </a:r>
            <a:r>
              <a:rPr lang="ru-RU" b="1" dirty="0" err="1" smtClean="0"/>
              <a:t>xPON</a:t>
            </a:r>
            <a:r>
              <a:rPr lang="ru-RU" b="1" dirty="0" smtClean="0"/>
              <a:t> абоненту бесплатно устанавливается модем – ONT (</a:t>
            </a:r>
            <a:r>
              <a:rPr lang="ru-RU" b="1" dirty="0" err="1" smtClean="0"/>
              <a:t>Optical</a:t>
            </a:r>
            <a:r>
              <a:rPr lang="ru-RU" b="1" dirty="0" smtClean="0"/>
              <a:t> </a:t>
            </a:r>
            <a:r>
              <a:rPr lang="ru-RU" b="1" dirty="0" err="1" smtClean="0"/>
              <a:t>Network</a:t>
            </a:r>
            <a:r>
              <a:rPr lang="ru-RU" b="1" dirty="0" smtClean="0"/>
              <a:t> </a:t>
            </a:r>
            <a:r>
              <a:rPr lang="ru-RU" b="1" dirty="0" err="1" smtClean="0"/>
              <a:t>Terminal</a:t>
            </a:r>
            <a:r>
              <a:rPr lang="ru-RU" b="1" dirty="0" smtClean="0"/>
              <a:t>), благодаря которому подключаются все услуги.</a:t>
            </a:r>
          </a:p>
          <a:p>
            <a:r>
              <a:rPr lang="ru-RU" dirty="0" smtClean="0"/>
              <a:t> Абоненту может быть предоставлен весь комплекс базовых услуг (телефонная связь, доступ к сети Интернет, интерактивное телевидение) и дополнительных услуг по одному волокну.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/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Сеть доступа по технологии PON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6093296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В сети </a:t>
            </a:r>
            <a:r>
              <a:rPr lang="en-US" b="1" dirty="0" smtClean="0"/>
              <a:t>PON</a:t>
            </a:r>
            <a:r>
              <a:rPr lang="ru-RU" b="1" dirty="0" smtClean="0"/>
              <a:t> используется новый стандарт скоростей доступа в сеть интернет</a:t>
            </a:r>
            <a:r>
              <a:rPr lang="ru-RU" dirty="0" smtClean="0"/>
              <a:t>: </a:t>
            </a:r>
            <a:r>
              <a:rPr lang="ru-RU" b="1" dirty="0" smtClean="0"/>
              <a:t>входящая (от сети к абоненту) и исходящая (от абонента к сети) скорости до 100 Мбит/с и выше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 Главное отличие от ADSL-технологии – отсутствие ограничений в </a:t>
            </a:r>
          </a:p>
          <a:p>
            <a:pPr>
              <a:buNone/>
            </a:pPr>
            <a:r>
              <a:rPr lang="ru-RU" dirty="0" smtClean="0"/>
              <a:t>        512-2014 Кб/с для исходящей скорости.</a:t>
            </a:r>
          </a:p>
          <a:p>
            <a:r>
              <a:rPr lang="ru-RU" b="1" dirty="0" smtClean="0"/>
              <a:t>Достоинствами сети </a:t>
            </a:r>
            <a:r>
              <a:rPr lang="en-US" b="1" dirty="0" smtClean="0"/>
              <a:t>PON</a:t>
            </a:r>
            <a:r>
              <a:rPr lang="ru-RU" b="1" dirty="0" smtClean="0"/>
              <a:t> является:</a:t>
            </a:r>
          </a:p>
          <a:p>
            <a:pPr>
              <a:buNone/>
            </a:pPr>
            <a:r>
              <a:rPr lang="ru-RU" dirty="0" smtClean="0"/>
              <a:t>   – качество услуг не зависит от таких параметров, как длина абонентской линии, сечение жилы, «сезонное» сопротивление изоляции;</a:t>
            </a:r>
          </a:p>
          <a:p>
            <a:pPr>
              <a:buNone/>
            </a:pPr>
            <a:r>
              <a:rPr lang="ru-RU" dirty="0" smtClean="0"/>
              <a:t>  –	возможность свободного просмотра видео в HD-качестве, в том числе просмотр HD-каналов в интерактивном телевидении;</a:t>
            </a:r>
          </a:p>
          <a:p>
            <a:pPr>
              <a:buNone/>
            </a:pPr>
            <a:r>
              <a:rPr lang="ru-RU" dirty="0" smtClean="0"/>
              <a:t>  –	оптическое волокно позволяет подключать к услугам интерактивного телевидения по одной линии сразу несколько телевизоров.</a:t>
            </a:r>
          </a:p>
          <a:p>
            <a:r>
              <a:rPr lang="ru-RU" b="1" dirty="0" smtClean="0"/>
              <a:t>Распределительная сеть доступа PON, основанная на древовидной волоконной кабельной архитектуре с пассивными оптическими </a:t>
            </a:r>
            <a:r>
              <a:rPr lang="ru-RU" b="1" dirty="0" err="1" smtClean="0"/>
              <a:t>разветвителями</a:t>
            </a:r>
            <a:r>
              <a:rPr lang="ru-RU" b="1" dirty="0" smtClean="0"/>
              <a:t> на узлах</a:t>
            </a:r>
            <a:r>
              <a:rPr lang="ru-RU" dirty="0" smtClean="0"/>
              <a:t>, возможно, является наиболее способной обеспечить широкополосную передачу разнообразных приложений. При этом архитектура PON обладает необходимой эффективностью наращивания как узлов сети, так и пропускной способности в зависимости от настоящих и будущих потребностей абонентов.</a:t>
            </a:r>
            <a:endParaRPr lang="ru-RU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Сеть доступа по технологии PON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052736"/>
            <a:ext cx="8964488" cy="5616624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Строительство сетей доступа в настоящее идет на существующей сети, где средой передачи может быть еще медная телефонная пара и технология </a:t>
            </a:r>
            <a:r>
              <a:rPr lang="en-US" dirty="0" err="1" smtClean="0"/>
              <a:t>xDSL</a:t>
            </a:r>
            <a:r>
              <a:rPr lang="ru-RU" dirty="0" smtClean="0"/>
              <a:t>. </a:t>
            </a:r>
          </a:p>
          <a:p>
            <a:r>
              <a:rPr lang="ru-RU" b="1" dirty="0" smtClean="0"/>
              <a:t>На рисунке 1 представлен принцип организации работы сети </a:t>
            </a:r>
            <a:r>
              <a:rPr lang="en-US" b="1" dirty="0" smtClean="0"/>
              <a:t>PON</a:t>
            </a:r>
            <a:r>
              <a:rPr lang="ru-RU" b="1" dirty="0" smtClean="0"/>
              <a:t>.</a:t>
            </a:r>
          </a:p>
          <a:p>
            <a:r>
              <a:rPr lang="ru-RU" dirty="0" smtClean="0"/>
              <a:t>Для операторов когда требуется обеспечить скорость до 1-2 Мбит/</a:t>
            </a:r>
            <a:r>
              <a:rPr lang="ru-RU" dirty="0" err="1" smtClean="0"/>
              <a:t>c</a:t>
            </a:r>
            <a:r>
              <a:rPr lang="ru-RU" dirty="0" smtClean="0"/>
              <a:t> такой путь является наиболее экономичным и оправданным.</a:t>
            </a:r>
          </a:p>
          <a:p>
            <a:r>
              <a:rPr lang="ru-RU" dirty="0" smtClean="0"/>
              <a:t> Однако, скорость передачи до десятков мегабит в секунду на существующих кабельных системах, с учетом больших расстояний (до нескольких км) и низкого качества меди, представляется непростым и достаточно дорогим решением. </a:t>
            </a:r>
          </a:p>
          <a:p>
            <a:r>
              <a:rPr lang="ru-RU" dirty="0" smtClean="0"/>
              <a:t>Таким образом, прокладка оптического кабеля, позволяет заложить способность сети работать с новыми приложениями, требующими все большей скорости. </a:t>
            </a:r>
          </a:p>
          <a:p>
            <a:r>
              <a:rPr lang="ru-RU" dirty="0" smtClean="0"/>
              <a:t>При строительстве сети происходит замена коммуникаций внутри подъезда и квартир с медного кабеля на оптоволоконный (до розетки абонента) и установка в квартире специальной оптической розетки.</a:t>
            </a:r>
          </a:p>
          <a:p>
            <a:r>
              <a:rPr lang="ru-RU" dirty="0" smtClean="0"/>
              <a:t> Для получения абонентом услуг электросвязи предоставляет в пользование без взимания платы оптический модем. </a:t>
            </a:r>
          </a:p>
          <a:p>
            <a:r>
              <a:rPr lang="ru-RU" b="1" dirty="0" smtClean="0"/>
              <a:t>На рисунке 2 представлена схема организации услуг на волоконно-оптических линиях связи.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34082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Рис.1 Сеть доступа по технологии PON</a:t>
            </a:r>
            <a:endParaRPr lang="ru-RU" sz="3600" dirty="0"/>
          </a:p>
        </p:txBody>
      </p:sp>
      <p:pic>
        <p:nvPicPr>
          <p:cNvPr id="4" name="Содержимое 3" descr="C:\Users\Alex\Desktop\Screenshot_2-1.jpg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5328591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114300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Рис.1.1 Сеть доступа по технологии PON</a:t>
            </a:r>
            <a:endParaRPr lang="ru-RU" sz="3600" dirty="0"/>
          </a:p>
        </p:txBody>
      </p:sp>
      <p:pic>
        <p:nvPicPr>
          <p:cNvPr id="4" name="Содержимое 3" descr="F:\IMS\Схемы\структура сети PON.jpg"/>
          <p:cNvPicPr>
            <a:picLocks noGrp="1"/>
          </p:cNvPicPr>
          <p:nvPr>
            <p:ph idx="1"/>
          </p:nvPr>
        </p:nvPicPr>
        <p:blipFill>
          <a:blip r:embed="rId2" cstate="print"/>
          <a:srcRect t="8454" b="13889"/>
          <a:stretch>
            <a:fillRect/>
          </a:stretch>
        </p:blipFill>
        <p:spPr bwMode="auto">
          <a:xfrm>
            <a:off x="0" y="1124744"/>
            <a:ext cx="9144000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3" name="Rectangle 1"/>
          <p:cNvSpPr>
            <a:spLocks noChangeArrowheads="1"/>
          </p:cNvSpPr>
          <p:nvPr/>
        </p:nvSpPr>
        <p:spPr bwMode="auto">
          <a:xfrm>
            <a:off x="4001812" y="90100"/>
            <a:ext cx="114037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900113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484784"/>
            <a:ext cx="233975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900113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ОРШ </a:t>
            </a:r>
            <a:r>
              <a:rPr lang="ru-RU" sz="16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– оптический распределительный шкаф (со </a:t>
            </a:r>
            <a:r>
              <a:rPr lang="ru-RU" sz="1600" dirty="0" err="1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сплиттерами</a:t>
            </a:r>
            <a:r>
              <a:rPr lang="ru-RU" sz="16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)</a:t>
            </a:r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pPr lvl="0" indent="9001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ОРК –</a:t>
            </a:r>
            <a:r>
              <a:rPr lang="ru-RU" sz="16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оптическая распределительная коробка (этажная)</a:t>
            </a:r>
            <a:endParaRPr lang="ru-RU" sz="1600" dirty="0" smtClean="0">
              <a:latin typeface="Arial" pitchFamily="34" charset="0"/>
              <a:cs typeface="Arial" pitchFamily="34" charset="0"/>
            </a:endParaRPr>
          </a:p>
          <a:p>
            <a:pPr lvl="0" indent="9001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ОАР </a:t>
            </a:r>
            <a:r>
              <a:rPr lang="ru-RU" sz="16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– оптическая абонентская розетка (для подключения ONT</a:t>
            </a:r>
            <a:endParaRPr lang="ru-RU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Рис.2 Схема организации услуг на ВОЛС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C:\Users\Alex\Desktop\Без названия.gif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  </a:ext>
            </a:extLst>
          </a:blip>
          <a:srcRect/>
          <a:stretch>
            <a:fillRect/>
          </a:stretch>
        </p:blipFill>
        <p:spPr bwMode="auto">
          <a:xfrm>
            <a:off x="971600" y="1484784"/>
            <a:ext cx="7560840" cy="4464496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Сеть доступа по технологии PON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 fontScale="70000" lnSpcReduction="20000"/>
          </a:bodyPr>
          <a:lstStyle/>
          <a:p>
            <a:endParaRPr lang="ru-RU" b="1" dirty="0" smtClean="0"/>
          </a:p>
          <a:p>
            <a:r>
              <a:rPr lang="ru-RU" b="1" dirty="0" smtClean="0"/>
              <a:t>Преимущества технологии PON:</a:t>
            </a:r>
          </a:p>
          <a:p>
            <a:pPr>
              <a:buNone/>
            </a:pPr>
            <a:r>
              <a:rPr lang="ru-RU" dirty="0" smtClean="0"/>
              <a:t>  – 	PON допускает работу при расстоянии до 20 км;</a:t>
            </a:r>
          </a:p>
          <a:p>
            <a:pPr>
              <a:buNone/>
            </a:pPr>
            <a:r>
              <a:rPr lang="ru-RU" dirty="0" smtClean="0"/>
              <a:t>  – 	отсутствие промежуточных активных узлов;</a:t>
            </a:r>
          </a:p>
          <a:p>
            <a:pPr>
              <a:buNone/>
            </a:pPr>
            <a:r>
              <a:rPr lang="ru-RU" dirty="0" smtClean="0"/>
              <a:t>  – 	экономия оптических приемопередатчиков в центральном узле;</a:t>
            </a:r>
          </a:p>
          <a:p>
            <a:pPr>
              <a:buNone/>
            </a:pPr>
            <a:r>
              <a:rPr lang="ru-RU" dirty="0" smtClean="0"/>
              <a:t>   – экономия волокон;</a:t>
            </a:r>
          </a:p>
          <a:p>
            <a:pPr>
              <a:buNone/>
            </a:pPr>
            <a:r>
              <a:rPr lang="ru-RU" dirty="0" smtClean="0"/>
              <a:t>   – легкость подключения новых абонентов и удобство обслуживания; </a:t>
            </a:r>
          </a:p>
          <a:p>
            <a:pPr>
              <a:buNone/>
            </a:pPr>
            <a:r>
              <a:rPr lang="ru-RU" dirty="0" smtClean="0"/>
              <a:t>  – 	невысокая стоимость построения сети;</a:t>
            </a:r>
          </a:p>
          <a:p>
            <a:pPr>
              <a:buNone/>
            </a:pPr>
            <a:r>
              <a:rPr lang="ru-RU" dirty="0" smtClean="0"/>
              <a:t>  – 	низкие расходы на эксплуатацию и техническое обслуживание сети;</a:t>
            </a:r>
          </a:p>
          <a:p>
            <a:pPr>
              <a:buNone/>
            </a:pPr>
            <a:r>
              <a:rPr lang="ru-RU" dirty="0" smtClean="0"/>
              <a:t>  – 	возможность постепенного наращивания сети;</a:t>
            </a:r>
          </a:p>
          <a:p>
            <a:pPr>
              <a:buNone/>
            </a:pPr>
            <a:r>
              <a:rPr lang="ru-RU" dirty="0" smtClean="0"/>
              <a:t>  – 	менее подвержен влиянию смежных линий связи.</a:t>
            </a:r>
          </a:p>
          <a:p>
            <a:r>
              <a:rPr lang="ru-RU" b="1" dirty="0" smtClean="0"/>
              <a:t>Строительство оптической распределительной сети закладывает хорошую и долговременную основу для дальнейшего развития и предоставления в будущем любых мультимедийных услуг с практически неограниченной полосой пропускания.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792088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Сеть доступа по технологии PON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616624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/>
              <a:t>Каждая пассивная оптическая сеть содержит следующие элементы:   </a:t>
            </a:r>
          </a:p>
          <a:p>
            <a:pPr>
              <a:buNone/>
            </a:pPr>
            <a:r>
              <a:rPr lang="ru-RU" b="1" dirty="0" smtClean="0"/>
              <a:t>          - </a:t>
            </a:r>
            <a:r>
              <a:rPr lang="ru-RU" dirty="0" smtClean="0"/>
              <a:t>приемопередающий модуль центрального узла OLT (</a:t>
            </a:r>
            <a:r>
              <a:rPr lang="ru-RU" dirty="0" err="1" smtClean="0"/>
              <a:t>Otical</a:t>
            </a:r>
            <a:r>
              <a:rPr lang="ru-RU" dirty="0" smtClean="0"/>
              <a:t> </a:t>
            </a:r>
            <a:r>
              <a:rPr lang="ru-RU" dirty="0" err="1" smtClean="0"/>
              <a:t>Line</a:t>
            </a:r>
            <a:r>
              <a:rPr lang="ru-RU" dirty="0" smtClean="0"/>
              <a:t> </a:t>
            </a:r>
            <a:r>
              <a:rPr lang="ru-RU" dirty="0" err="1" smtClean="0"/>
              <a:t>Terminal</a:t>
            </a:r>
            <a:r>
              <a:rPr lang="ru-RU" dirty="0" smtClean="0"/>
              <a:t>)</a:t>
            </a:r>
          </a:p>
          <a:p>
            <a:pPr>
              <a:buNone/>
            </a:pPr>
            <a:r>
              <a:rPr lang="ru-RU" dirty="0" smtClean="0"/>
              <a:t>          -  пассивный оптический </a:t>
            </a:r>
            <a:r>
              <a:rPr lang="ru-RU" dirty="0" err="1" smtClean="0"/>
              <a:t>сплиттер</a:t>
            </a:r>
            <a:r>
              <a:rPr lang="ru-RU" dirty="0" smtClean="0"/>
              <a:t> и</a:t>
            </a:r>
          </a:p>
          <a:p>
            <a:pPr>
              <a:buNone/>
            </a:pPr>
            <a:r>
              <a:rPr lang="ru-RU" dirty="0" smtClean="0"/>
              <a:t>         -  оптический сетевой абонентский терминал. </a:t>
            </a:r>
          </a:p>
          <a:p>
            <a:pPr>
              <a:buNone/>
            </a:pPr>
            <a:r>
              <a:rPr lang="ru-RU" dirty="0" smtClean="0"/>
              <a:t>     В инфраструктуре сети PON нет активной электроники, а значит, ее элементам не требуется электропитание, что значительно снижает расходы на эксплуатацию.</a:t>
            </a:r>
          </a:p>
          <a:p>
            <a:r>
              <a:rPr lang="ru-RU" b="1" dirty="0" smtClean="0"/>
              <a:t>OLT является основным устройством</a:t>
            </a:r>
            <a:r>
              <a:rPr lang="ru-RU" dirty="0" smtClean="0"/>
              <a:t>, которое через интерфейсы SNI (стандартный сетевой интерфейс) принимает данные от магистральных сетей и создает нисходящий поток к абонентским узлам по дереву PON.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Абонентский узел ONT </a:t>
            </a:r>
            <a:r>
              <a:rPr lang="ru-RU" dirty="0" smtClean="0"/>
              <a:t>(</a:t>
            </a:r>
            <a:r>
              <a:rPr lang="ru-RU" dirty="0" err="1" smtClean="0"/>
              <a:t>Optical</a:t>
            </a:r>
            <a:r>
              <a:rPr lang="ru-RU" dirty="0" smtClean="0"/>
              <a:t> </a:t>
            </a:r>
            <a:r>
              <a:rPr lang="ru-RU" dirty="0" err="1" smtClean="0"/>
              <a:t>Network</a:t>
            </a:r>
            <a:r>
              <a:rPr lang="ru-RU" dirty="0" smtClean="0"/>
              <a:t> </a:t>
            </a:r>
            <a:r>
              <a:rPr lang="ru-RU" dirty="0" err="1" smtClean="0"/>
              <a:t>Terminal</a:t>
            </a:r>
            <a:r>
              <a:rPr lang="ru-RU" dirty="0" smtClean="0"/>
              <a:t>) </a:t>
            </a:r>
            <a:r>
              <a:rPr lang="ru-RU" b="1" dirty="0" smtClean="0"/>
              <a:t>или ONU </a:t>
            </a:r>
            <a:r>
              <a:rPr lang="ru-RU" dirty="0" smtClean="0"/>
              <a:t>(</a:t>
            </a:r>
            <a:r>
              <a:rPr lang="ru-RU" dirty="0" err="1" smtClean="0"/>
              <a:t>Optical</a:t>
            </a:r>
            <a:r>
              <a:rPr lang="ru-RU" dirty="0" smtClean="0"/>
              <a:t> </a:t>
            </a:r>
            <a:r>
              <a:rPr lang="ru-RU" dirty="0" err="1" smtClean="0"/>
              <a:t>Network</a:t>
            </a:r>
            <a:r>
              <a:rPr lang="ru-RU" dirty="0" smtClean="0"/>
              <a:t> </a:t>
            </a:r>
            <a:r>
              <a:rPr lang="ru-RU" dirty="0" err="1" smtClean="0"/>
              <a:t>Unit</a:t>
            </a:r>
            <a:r>
              <a:rPr lang="ru-RU" dirty="0" smtClean="0"/>
              <a:t>) принимает данные от OLT, осуществляет конвертацию их, а далее через интерфейсы UNI (пользовательский сетевой интерфейс) передает данные абонентам. </a:t>
            </a:r>
          </a:p>
          <a:p>
            <a:r>
              <a:rPr lang="ru-RU" b="1" dirty="0" smtClean="0"/>
              <a:t>Оптический </a:t>
            </a:r>
            <a:r>
              <a:rPr lang="ru-RU" b="1" dirty="0" err="1" smtClean="0"/>
              <a:t>разветвитель</a:t>
            </a:r>
            <a:r>
              <a:rPr lang="ru-RU" b="1" dirty="0" smtClean="0"/>
              <a:t> является пассивным компонентом, </a:t>
            </a:r>
            <a:r>
              <a:rPr lang="ru-RU" dirty="0" smtClean="0"/>
              <a:t>основными функциями которого являются: деление потока оптического излучения в одном направлении и объединение нескольких потоков в обратном направлении. </a:t>
            </a:r>
          </a:p>
          <a:p>
            <a:r>
              <a:rPr lang="ru-RU" b="1" dirty="0" err="1" smtClean="0"/>
              <a:t>Сплиттеры</a:t>
            </a:r>
            <a:r>
              <a:rPr lang="ru-RU" b="1" dirty="0" smtClean="0"/>
              <a:t> предназначены </a:t>
            </a:r>
            <a:r>
              <a:rPr lang="ru-RU" dirty="0" smtClean="0"/>
              <a:t>для деления мощности оптического сигнала в заданном соотношении.</a:t>
            </a:r>
          </a:p>
          <a:p>
            <a:r>
              <a:rPr lang="en-US" b="1" dirty="0" err="1" smtClean="0"/>
              <a:t>Основной</a:t>
            </a:r>
            <a:r>
              <a:rPr lang="en-US" b="1" dirty="0" smtClean="0"/>
              <a:t> </a:t>
            </a:r>
            <a:r>
              <a:rPr lang="en-US" b="1" dirty="0" err="1" smtClean="0"/>
              <a:t>задачей</a:t>
            </a:r>
            <a:r>
              <a:rPr lang="en-US" b="1" dirty="0" smtClean="0"/>
              <a:t> </a:t>
            </a:r>
            <a:r>
              <a:rPr lang="en-US" b="1" dirty="0" err="1" smtClean="0"/>
              <a:t>оптических</a:t>
            </a:r>
            <a:r>
              <a:rPr lang="en-US" b="1" dirty="0" smtClean="0"/>
              <a:t> </a:t>
            </a:r>
            <a:r>
              <a:rPr lang="en-US" b="1" dirty="0" err="1" smtClean="0"/>
              <a:t>терминалов</a:t>
            </a:r>
            <a:r>
              <a:rPr lang="en-US" b="1" dirty="0" smtClean="0"/>
              <a:t> </a:t>
            </a:r>
            <a:r>
              <a:rPr lang="en-US" b="1" dirty="0" err="1" smtClean="0"/>
              <a:t>является</a:t>
            </a:r>
            <a:r>
              <a:rPr lang="en-US" b="1" dirty="0" smtClean="0"/>
              <a:t> </a:t>
            </a:r>
            <a:r>
              <a:rPr lang="en-US" b="1" dirty="0" err="1" smtClean="0"/>
              <a:t>передача</a:t>
            </a:r>
            <a:r>
              <a:rPr lang="en-US" b="1" dirty="0" smtClean="0"/>
              <a:t> </a:t>
            </a:r>
            <a:r>
              <a:rPr lang="en-US" b="1" dirty="0" err="1" smtClean="0"/>
              <a:t>данных</a:t>
            </a:r>
            <a:r>
              <a:rPr lang="en-US" b="1" dirty="0" smtClean="0"/>
              <a:t> </a:t>
            </a:r>
            <a:r>
              <a:rPr lang="en-US" b="1" dirty="0" err="1" smtClean="0"/>
              <a:t>абонентов</a:t>
            </a:r>
            <a:r>
              <a:rPr lang="en-US" b="1" dirty="0" smtClean="0"/>
              <a:t> и </a:t>
            </a:r>
            <a:r>
              <a:rPr lang="en-US" b="1" dirty="0" err="1" smtClean="0"/>
              <a:t>прием</a:t>
            </a:r>
            <a:r>
              <a:rPr lang="en-US" b="1" dirty="0" smtClean="0"/>
              <a:t> </a:t>
            </a:r>
            <a:r>
              <a:rPr lang="en-US" b="1" dirty="0" err="1" smtClean="0"/>
              <a:t>от</a:t>
            </a:r>
            <a:r>
              <a:rPr lang="en-US" b="1" dirty="0" smtClean="0"/>
              <a:t> </a:t>
            </a:r>
            <a:r>
              <a:rPr lang="en-US" b="1" dirty="0" err="1" smtClean="0"/>
              <a:t>них</a:t>
            </a:r>
            <a:r>
              <a:rPr lang="en-US" b="1" dirty="0" smtClean="0"/>
              <a:t> </a:t>
            </a:r>
            <a:r>
              <a:rPr lang="en-US" b="1" dirty="0" err="1" smtClean="0"/>
              <a:t>обратных</a:t>
            </a:r>
            <a:r>
              <a:rPr lang="en-US" b="1" dirty="0" smtClean="0"/>
              <a:t> </a:t>
            </a:r>
            <a:r>
              <a:rPr lang="en-US" b="1" dirty="0" err="1" smtClean="0"/>
              <a:t>пакетов</a:t>
            </a:r>
            <a:r>
              <a:rPr lang="en-US" b="1" dirty="0" smtClean="0"/>
              <a:t>, </a:t>
            </a:r>
            <a:r>
              <a:rPr lang="en-US" b="1" dirty="0" err="1" smtClean="0"/>
              <a:t>контроль</a:t>
            </a:r>
            <a:r>
              <a:rPr lang="en-US" b="1" dirty="0" smtClean="0"/>
              <a:t>, </a:t>
            </a:r>
            <a:r>
              <a:rPr lang="en-US" b="1" dirty="0" err="1" smtClean="0"/>
              <a:t>коммутация</a:t>
            </a:r>
            <a:r>
              <a:rPr lang="en-US" b="1" dirty="0" smtClean="0"/>
              <a:t> и </a:t>
            </a:r>
            <a:r>
              <a:rPr lang="en-US" b="1" dirty="0" err="1" smtClean="0"/>
              <a:t>агрегация</a:t>
            </a:r>
            <a:r>
              <a:rPr lang="en-US" b="1" dirty="0" smtClean="0"/>
              <a:t> </a:t>
            </a:r>
            <a:r>
              <a:rPr lang="en-US" b="1" dirty="0" err="1" smtClean="0"/>
              <a:t>трафика</a:t>
            </a:r>
            <a:r>
              <a:rPr lang="en-US" b="1" dirty="0" smtClean="0"/>
              <a:t>. </a:t>
            </a:r>
            <a:r>
              <a:rPr lang="en-US" b="1" dirty="0" err="1" smtClean="0"/>
              <a:t>Скорость</a:t>
            </a:r>
            <a:r>
              <a:rPr lang="en-US" b="1" dirty="0" smtClean="0"/>
              <a:t> </a:t>
            </a:r>
            <a:r>
              <a:rPr lang="en-US" b="1" dirty="0" err="1" smtClean="0"/>
              <a:t>доставки</a:t>
            </a:r>
            <a:r>
              <a:rPr lang="en-US" b="1" dirty="0" smtClean="0"/>
              <a:t>, </a:t>
            </a:r>
            <a:r>
              <a:rPr lang="en-US" b="1" dirty="0" err="1" smtClean="0"/>
              <a:t>качества</a:t>
            </a:r>
            <a:r>
              <a:rPr lang="en-US" b="1" dirty="0" smtClean="0"/>
              <a:t> и </a:t>
            </a:r>
            <a:r>
              <a:rPr lang="en-US" b="1" dirty="0" err="1" smtClean="0"/>
              <a:t>количества</a:t>
            </a:r>
            <a:r>
              <a:rPr lang="en-US" b="1" dirty="0" smtClean="0"/>
              <a:t> </a:t>
            </a:r>
            <a:r>
              <a:rPr lang="en-US" b="1" dirty="0" err="1" smtClean="0"/>
              <a:t>данных</a:t>
            </a:r>
            <a:r>
              <a:rPr lang="en-US" b="1" dirty="0" smtClean="0"/>
              <a:t> </a:t>
            </a:r>
            <a:r>
              <a:rPr lang="en-US" b="1" dirty="0" err="1" smtClean="0"/>
              <a:t>зависит</a:t>
            </a:r>
            <a:r>
              <a:rPr lang="en-US" b="1" dirty="0" smtClean="0"/>
              <a:t> </a:t>
            </a:r>
            <a:r>
              <a:rPr lang="en-US" b="1" dirty="0" err="1" smtClean="0"/>
              <a:t>от</a:t>
            </a:r>
            <a:r>
              <a:rPr lang="en-US" b="1" dirty="0" smtClean="0"/>
              <a:t> </a:t>
            </a:r>
            <a:r>
              <a:rPr lang="en-US" b="1" dirty="0" err="1" smtClean="0"/>
              <a:t>характеристик</a:t>
            </a:r>
            <a:r>
              <a:rPr lang="en-US" b="1" dirty="0" smtClean="0"/>
              <a:t> </a:t>
            </a:r>
            <a:r>
              <a:rPr lang="en-US" b="1" dirty="0" err="1" smtClean="0"/>
              <a:t>используемого</a:t>
            </a:r>
            <a:r>
              <a:rPr lang="en-US" b="1" dirty="0" smtClean="0"/>
              <a:t> </a:t>
            </a:r>
            <a:r>
              <a:rPr lang="en-US" b="1" dirty="0" err="1" smtClean="0"/>
              <a:t>оборудования</a:t>
            </a:r>
            <a:r>
              <a:rPr lang="ru-RU" b="1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sz="4000" b="1" dirty="0" smtClean="0">
                <a:solidFill>
                  <a:srgbClr val="002060"/>
                </a:solidFill>
              </a:rPr>
              <a:t> Типовая функциональная схема организации связи по технологии </a:t>
            </a:r>
            <a:r>
              <a:rPr lang="en-US" sz="40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4000" b="1" dirty="0" smtClean="0">
                <a:solidFill>
                  <a:srgbClr val="002060"/>
                </a:solidFill>
              </a:rPr>
              <a:t>.</a:t>
            </a:r>
            <a:br>
              <a:rPr lang="ru-RU" sz="4000" b="1" dirty="0" smtClean="0">
                <a:solidFill>
                  <a:srgbClr val="002060"/>
                </a:solidFill>
              </a:rPr>
            </a:br>
            <a:endParaRPr lang="ru-RU" sz="40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https://siblec.ru/img/80/080.files/image003.pn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9144000" cy="5733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2.1 Структура пассивной оптической сети PON</a:t>
            </a:r>
            <a:endParaRPr lang="ru-RU" sz="3200" dirty="0"/>
          </a:p>
        </p:txBody>
      </p:sp>
      <p:pic>
        <p:nvPicPr>
          <p:cNvPr id="4" name="Содержимое 3" descr="Изображение выглядит как диаграмма, снимок экрана&#10;&#10;Автоматически созданное описание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 l="7339"/>
          <a:stretch/>
        </p:blipFill>
        <p:spPr bwMode="auto">
          <a:xfrm>
            <a:off x="0" y="908720"/>
            <a:ext cx="9144000" cy="59492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="" xmlns:wpc="http://schemas.microsoft.com/office/word/2010/wordprocessingCanvas" xmlns:cx="http://schemas.microsoft.com/office/drawing/2014/chartex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2.1Технология </a:t>
            </a:r>
            <a:r>
              <a:rPr lang="en-US" sz="3600" b="1" dirty="0" smtClean="0">
                <a:solidFill>
                  <a:srgbClr val="002060"/>
                </a:solidFill>
              </a:rPr>
              <a:t>PON</a:t>
            </a:r>
            <a:r>
              <a:rPr lang="ru-RU" sz="3600" b="1" dirty="0" smtClean="0">
                <a:solidFill>
                  <a:srgbClr val="002060"/>
                </a:solidFill>
              </a:rPr>
              <a:t> (1/17)</a:t>
            </a:r>
          </a:p>
        </p:txBody>
      </p:sp>
      <p:sp>
        <p:nvSpPr>
          <p:cNvPr id="49155" name="Rectangle 7"/>
          <p:cNvSpPr>
            <a:spLocks noGrp="1" noChangeArrowheads="1"/>
          </p:cNvSpPr>
          <p:nvPr>
            <p:ph idx="1"/>
          </p:nvPr>
        </p:nvSpPr>
        <p:spPr>
          <a:xfrm>
            <a:off x="0" y="692696"/>
            <a:ext cx="9144000" cy="6165305"/>
          </a:xfrm>
        </p:spPr>
        <p:txBody>
          <a:bodyPr rtlCol="0">
            <a:noAutofit/>
          </a:bodyPr>
          <a:lstStyle/>
          <a:p>
            <a:pPr marL="274320" indent="-274320">
              <a:defRPr/>
            </a:pPr>
            <a:r>
              <a:rPr lang="ru-RU" sz="2400" dirty="0" smtClean="0"/>
              <a:t>    </a:t>
            </a:r>
            <a:r>
              <a:rPr lang="ru-RU" sz="2000" b="1" dirty="0" smtClean="0"/>
              <a:t>PON – распределительная сеть доступа, основанная на древовидной архитектуре с пассивными оптическими </a:t>
            </a:r>
            <a:r>
              <a:rPr lang="ru-RU" sz="2000" b="1" dirty="0" err="1" smtClean="0"/>
              <a:t>разветвителями</a:t>
            </a:r>
            <a:r>
              <a:rPr lang="ru-RU" sz="2000" b="1" dirty="0" smtClean="0"/>
              <a:t> на узлах</a:t>
            </a:r>
            <a:r>
              <a:rPr lang="ru-RU" sz="2000" dirty="0" smtClean="0"/>
              <a:t>, представляет экономичный способ обеспечить широкополосную передачу информации.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ru-RU" sz="2000" dirty="0" smtClean="0">
                <a:latin typeface="Calibri" pitchFamily="34" charset="0"/>
              </a:rPr>
              <a:t>   </a:t>
            </a:r>
            <a:r>
              <a:rPr lang="ru-RU" sz="2000" b="1" dirty="0" smtClean="0">
                <a:latin typeface="Calibri" pitchFamily="34" charset="0"/>
              </a:rPr>
              <a:t>Технология PON позволяет с использованием одного волокна организовать полностью пассивную оптическую сеть доступа для 32 узлов в радиусе 20 км, </a:t>
            </a:r>
            <a:r>
              <a:rPr lang="ru-RU" sz="2000" dirty="0" smtClean="0">
                <a:latin typeface="Calibri" pitchFamily="34" charset="0"/>
              </a:rPr>
              <a:t>предоставляя </a:t>
            </a:r>
            <a:r>
              <a:rPr lang="ru-RU" sz="2000" dirty="0" err="1" smtClean="0">
                <a:latin typeface="Calibri" pitchFamily="34" charset="0"/>
              </a:rPr>
              <a:t>Ethernet</a:t>
            </a:r>
            <a:r>
              <a:rPr lang="ru-RU" sz="2000" dirty="0" smtClean="0">
                <a:latin typeface="Calibri" pitchFamily="34" charset="0"/>
              </a:rPr>
              <a:t>.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ru-RU" sz="2000" dirty="0" smtClean="0">
                <a:latin typeface="Calibri" pitchFamily="34" charset="0"/>
              </a:rPr>
              <a:t>   </a:t>
            </a:r>
            <a:r>
              <a:rPr lang="ru-RU" sz="2000" b="1" dirty="0" smtClean="0">
                <a:latin typeface="Calibri" pitchFamily="34" charset="0"/>
              </a:rPr>
              <a:t>Суть технологии PON заключается </a:t>
            </a:r>
            <a:r>
              <a:rPr lang="ru-RU" sz="2000" dirty="0" smtClean="0">
                <a:latin typeface="Calibri" pitchFamily="34" charset="0"/>
              </a:rPr>
              <a:t>в том, что: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>
                <a:latin typeface="Calibri" pitchFamily="34" charset="0"/>
              </a:rPr>
              <a:t>         - </a:t>
            </a:r>
            <a:r>
              <a:rPr lang="ru-RU" sz="2000" i="1" dirty="0" smtClean="0">
                <a:latin typeface="Calibri" pitchFamily="34" charset="0"/>
              </a:rPr>
              <a:t>между центральным узлом и удаленными абонентскими узлами создается полностью пассивная оптическая сеть, имеющая топологию дерева</a:t>
            </a:r>
            <a:r>
              <a:rPr lang="ru-RU" sz="2000" dirty="0" smtClean="0">
                <a:latin typeface="Calibri" pitchFamily="34" charset="0"/>
              </a:rPr>
              <a:t>.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>
                <a:latin typeface="Calibri" pitchFamily="34" charset="0"/>
              </a:rPr>
              <a:t>       </a:t>
            </a:r>
            <a:r>
              <a:rPr lang="ru-RU" sz="2000" i="1" dirty="0" smtClean="0">
                <a:latin typeface="Calibri" pitchFamily="34" charset="0"/>
              </a:rPr>
              <a:t>- в промежуточных узлах дерева размещаются пассивные оптические разветвители (</a:t>
            </a:r>
            <a:r>
              <a:rPr lang="ru-RU" sz="2000" i="1" dirty="0" err="1" smtClean="0">
                <a:latin typeface="Calibri" pitchFamily="34" charset="0"/>
              </a:rPr>
              <a:t>сплиттеры</a:t>
            </a:r>
            <a:r>
              <a:rPr lang="ru-RU" sz="2000" dirty="0" smtClean="0">
                <a:latin typeface="Calibri" pitchFamily="34" charset="0"/>
              </a:rPr>
              <a:t>) – компактные устройства, не требующие питания и обслуживания. </a:t>
            </a:r>
          </a:p>
          <a:p>
            <a:pPr>
              <a:lnSpc>
                <a:spcPct val="90000"/>
              </a:lnSpc>
            </a:pPr>
            <a:r>
              <a:rPr lang="ru-RU" sz="2000" b="1" dirty="0" smtClean="0">
                <a:latin typeface="Calibri" pitchFamily="34" charset="0"/>
              </a:rPr>
              <a:t>    Технология PON является одной из наиболее перспективных технологий организации доступа к сети Интернет </a:t>
            </a:r>
            <a:r>
              <a:rPr lang="ru-RU" sz="2000" dirty="0" smtClean="0">
                <a:latin typeface="Calibri" pitchFamily="34" charset="0"/>
              </a:rPr>
              <a:t>для предоставления услуг </a:t>
            </a:r>
            <a:r>
              <a:rPr lang="ru-RU" sz="2000" dirty="0" err="1" smtClean="0">
                <a:latin typeface="Calibri" pitchFamily="34" charset="0"/>
              </a:rPr>
              <a:t>Triple</a:t>
            </a:r>
            <a:r>
              <a:rPr lang="ru-RU" sz="2000" dirty="0" smtClean="0">
                <a:latin typeface="Calibri" pitchFamily="34" charset="0"/>
              </a:rPr>
              <a:t> </a:t>
            </a:r>
            <a:r>
              <a:rPr lang="ru-RU" sz="2000" dirty="0" err="1" smtClean="0">
                <a:latin typeface="Calibri" pitchFamily="34" charset="0"/>
              </a:rPr>
              <a:t>Play</a:t>
            </a:r>
            <a:r>
              <a:rPr lang="ru-RU" sz="2000" dirty="0" smtClean="0">
                <a:latin typeface="Calibri" pitchFamily="34" charset="0"/>
              </a:rPr>
              <a:t>.</a:t>
            </a:r>
            <a:r>
              <a:rPr lang="ru-RU" sz="2000" dirty="0" smtClean="0"/>
              <a:t> </a:t>
            </a:r>
          </a:p>
          <a:p>
            <a:pPr>
              <a:lnSpc>
                <a:spcPct val="90000"/>
              </a:lnSpc>
            </a:pPr>
            <a:r>
              <a:rPr lang="ru-RU" sz="2000" dirty="0" smtClean="0"/>
              <a:t>  При этом архитектура PON обладает необходимой эффективностью наращивания и узлов сети, и пропускной способности.</a:t>
            </a:r>
            <a:endParaRPr lang="ru-RU" sz="2000" dirty="0" smtClean="0">
              <a:latin typeface="Calibri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ru-RU" sz="2000" dirty="0" smtClean="0">
                <a:latin typeface="Calibri" pitchFamily="34" charset="0"/>
              </a:rPr>
              <a:t>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endParaRPr lang="ru-RU" sz="2400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3600" b="1" dirty="0" smtClean="0" bmk="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2.1 Технология </a:t>
            </a:r>
            <a:r>
              <a:rPr lang="en-US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(3/17)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/>
          </a:bodyPr>
          <a:lstStyle/>
          <a:p>
            <a:pPr marL="0" lvl="0" indent="449263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Структурно любая пассивная оптическая сеть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PON)</a:t>
            </a:r>
            <a:r>
              <a:rPr lang="ru-RU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 состоит из четырех главных элементов:</a:t>
            </a:r>
          </a:p>
          <a:p>
            <a:pPr marL="0" lvl="0" indent="449263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 - </a:t>
            </a:r>
            <a:r>
              <a:rPr lang="ru-RU" sz="2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волоконно-оптического </a:t>
            </a:r>
            <a:r>
              <a:rPr lang="ru-RU" sz="2400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линейного окончания  OLT</a:t>
            </a:r>
            <a:r>
              <a:rPr lang="ru-RU" sz="2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,</a:t>
            </a:r>
          </a:p>
          <a:p>
            <a:pPr marL="0" lvl="0" indent="449263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  - пассивных </a:t>
            </a:r>
            <a:r>
              <a:rPr lang="ru-RU" sz="2400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оптических </a:t>
            </a:r>
            <a:r>
              <a:rPr lang="ru-RU" sz="2400" b="1" dirty="0" err="1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разветвителей</a:t>
            </a:r>
            <a:r>
              <a:rPr lang="ru-RU" sz="2400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 (</a:t>
            </a:r>
            <a:r>
              <a:rPr lang="ru-RU" sz="2400" b="1" dirty="0" err="1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сплиттеров</a:t>
            </a:r>
            <a:r>
              <a:rPr lang="ru-RU" sz="2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), </a:t>
            </a:r>
          </a:p>
          <a:p>
            <a:pPr marL="0" lvl="0" indent="449263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  - </a:t>
            </a:r>
            <a:r>
              <a:rPr lang="ru-RU" sz="2400" b="1" dirty="0" err="1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волоконно</a:t>
            </a:r>
            <a:r>
              <a:rPr lang="ru-RU" sz="2400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- оптических  кабелей; </a:t>
            </a:r>
          </a:p>
          <a:p>
            <a:pPr marL="0" lvl="0" indent="449263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  - волоконно-оптического </a:t>
            </a:r>
            <a:r>
              <a:rPr lang="ru-RU" sz="2400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сетевого окончания ONT.</a:t>
            </a:r>
          </a:p>
          <a:p>
            <a:pPr marL="0" lvl="0" indent="44926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ru-RU" sz="2400" b="1" dirty="0" smtClean="0">
              <a:latin typeface="Arial" pitchFamily="34" charset="0"/>
              <a:cs typeface="Arial" pitchFamily="34" charset="0"/>
            </a:endParaRPr>
          </a:p>
          <a:p>
            <a:pPr marL="0" lvl="0" indent="449263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Структура пассивной оптической сети PON с различными</a:t>
            </a:r>
          </a:p>
          <a:p>
            <a:pPr marL="0" lvl="0" indent="449263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   вариантами реализации представлена на рисунках.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rmAutofit/>
          </a:bodyPr>
          <a:lstStyle/>
          <a:p>
            <a:r>
              <a:rPr lang="ru-RU" sz="3200" b="1" dirty="0" smtClean="0" bmk="">
                <a:solidFill>
                  <a:srgbClr val="00206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2.1Технология </a:t>
            </a:r>
            <a:r>
              <a:rPr lang="en-US" sz="3200" b="1" dirty="0" smtClean="0" bmk="_Toc167802141">
                <a:solidFill>
                  <a:srgbClr val="00206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3200" b="1" dirty="0" smtClean="0" bmk="_Toc167802141">
                <a:solidFill>
                  <a:srgbClr val="00206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. Линейная структура. (4/17)</a:t>
            </a:r>
            <a:endParaRPr lang="ru-RU" sz="3200" dirty="0">
              <a:latin typeface="Calibri" pitchFamily="34" charset="0"/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20139" t="45638" r="22057" b="20882"/>
          <a:stretch>
            <a:fillRect/>
          </a:stretch>
        </p:blipFill>
        <p:spPr bwMode="auto">
          <a:xfrm>
            <a:off x="0" y="1124744"/>
            <a:ext cx="9144000" cy="57332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2.1 Структура пассивной оптической сети PON (2/17) </a:t>
            </a:r>
            <a:endParaRPr lang="ru-RU" sz="32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Описание: pon.tif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 l="10101" t="4885" r="1871"/>
          <a:stretch/>
        </p:blipFill>
        <p:spPr bwMode="auto">
          <a:xfrm>
            <a:off x="251520" y="1052736"/>
            <a:ext cx="8892480" cy="56166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="" xmlns:wpc="http://schemas.microsoft.com/office/word/2010/wordprocessingCanvas" xmlns:cx="http://schemas.microsoft.com/office/drawing/2014/chartex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/>
            </a:r>
            <a:br>
              <a:rPr lang="ru-RU" sz="3600" b="1" dirty="0" smtClean="0">
                <a:solidFill>
                  <a:srgbClr val="002060"/>
                </a:solidFill>
              </a:rPr>
            </a:br>
            <a:r>
              <a:rPr lang="ru-RU" sz="3600" b="1" dirty="0" smtClean="0">
                <a:solidFill>
                  <a:srgbClr val="002060"/>
                </a:solidFill>
              </a:rPr>
              <a:t>2.1 Свойства сети PON (5/17)</a:t>
            </a:r>
            <a:br>
              <a:rPr lang="ru-RU" sz="3600" b="1" dirty="0" smtClean="0">
                <a:solidFill>
                  <a:srgbClr val="002060"/>
                </a:solidFill>
              </a:rPr>
            </a:br>
            <a:endParaRPr lang="ru-RU" sz="3600" b="1" dirty="0" smtClean="0">
              <a:solidFill>
                <a:srgbClr val="002060"/>
              </a:solidFill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8964613" cy="561662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ru-RU" sz="2800" b="1" dirty="0" smtClean="0"/>
              <a:t>Древовидная архитектура с передачей по одному волокну на двух длинах волн навстречу друг другу: 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800" dirty="0" smtClean="0"/>
              <a:t>      -  1550 нм (от центрального узла к абонентам, нисходящий поток); 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800" dirty="0" smtClean="0"/>
              <a:t>      - 1310 нм (от абонентов к центральному узлу, восходящий поток);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b="1" dirty="0" smtClean="0"/>
              <a:t>На промежуточных узлах дерева, размещаются пассивные оптические </a:t>
            </a:r>
            <a:r>
              <a:rPr lang="ru-RU" sz="2800" b="1" dirty="0" err="1" smtClean="0"/>
              <a:t>разветвители</a:t>
            </a:r>
            <a:r>
              <a:rPr lang="ru-RU" sz="2800" b="1" dirty="0" smtClean="0"/>
              <a:t> (</a:t>
            </a:r>
            <a:r>
              <a:rPr lang="ru-RU" sz="2800" b="1" dirty="0" err="1" smtClean="0"/>
              <a:t>сплитеры</a:t>
            </a:r>
            <a:r>
              <a:rPr lang="ru-RU" sz="2800" b="1" dirty="0" smtClean="0"/>
              <a:t>);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Использование метода доступа TDMA позволяет гибко распределять полосу пропускания между абонентами;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b="1" dirty="0" smtClean="0"/>
              <a:t>На одно волокно, идущее из центрального узла (OLT), можно подключить до 32 абонентских узлов (ONT);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b="1" dirty="0" smtClean="0"/>
              <a:t>Максимальное удаление составляет 20 км.</a:t>
            </a:r>
          </a:p>
          <a:p>
            <a:pPr eaLnBrk="1" hangingPunct="1">
              <a:lnSpc>
                <a:spcPct val="80000"/>
              </a:lnSpc>
            </a:pP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2.1 Архитектура PON (6/17)</a:t>
            </a:r>
          </a:p>
        </p:txBody>
      </p:sp>
      <p:pic>
        <p:nvPicPr>
          <p:cNvPr id="50179" name="Picture 4" descr="Организация двустороннего приема-передачи на двух длинах волн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7950" y="1196752"/>
            <a:ext cx="8964613" cy="504056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 2.1 Свойства сети PON (7/17)</a:t>
            </a:r>
            <a:endParaRPr lang="ru-RU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0" y="476672"/>
            <a:ext cx="4497388" cy="2160240"/>
          </a:xfrm>
        </p:spPr>
        <p:txBody>
          <a:bodyPr>
            <a:normAutofit/>
          </a:bodyPr>
          <a:lstStyle/>
          <a:p>
            <a:r>
              <a:rPr lang="ru-RU" b="0" dirty="0" smtClean="0"/>
              <a:t>Нисходящий поток от центрального узла к абонентам идет на длине волны 1550 нм и имеет скорость 622 Мбит/с</a:t>
            </a:r>
          </a:p>
          <a:p>
            <a:r>
              <a:rPr lang="ru-RU" b="0" dirty="0" smtClean="0"/>
              <a:t> (в сумме для всех абонентов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499993" y="692697"/>
            <a:ext cx="4644008" cy="2088231"/>
          </a:xfrm>
        </p:spPr>
        <p:txBody>
          <a:bodyPr>
            <a:normAutofit lnSpcReduction="10000"/>
          </a:bodyPr>
          <a:lstStyle/>
          <a:p>
            <a:r>
              <a:rPr lang="ru-RU" b="0" dirty="0" smtClean="0"/>
              <a:t>Восходящие потоки от абонентов идут на длине волны 1310 нм с использованием протокола множественного доступа с временным разделением (TDMA).</a:t>
            </a:r>
          </a:p>
        </p:txBody>
      </p:sp>
      <p:pic>
        <p:nvPicPr>
          <p:cNvPr id="7" name="Picture 4" descr="Сигнал к абоненту расщепляется на разветвителе и доступен всем абонентам A, B, 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9512" y="3275144"/>
            <a:ext cx="4317876" cy="2818151"/>
          </a:xfrm>
          <a:noFill/>
        </p:spPr>
      </p:pic>
      <p:pic>
        <p:nvPicPr>
          <p:cNvPr id="8" name="Picture 4" descr="Обратный сигнал от абонентов A, B, C поступает в отдельных тайм-слотах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45025" y="3284984"/>
            <a:ext cx="4498975" cy="2808312"/>
          </a:xfr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2.2 Принцип действия PON (8/17)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268760"/>
            <a:ext cx="8713787" cy="532859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ru-RU" sz="2800" b="1" dirty="0" smtClean="0"/>
              <a:t>Основная идея архитектуры PON </a:t>
            </a:r>
            <a:r>
              <a:rPr lang="ru-RU" sz="2800" dirty="0" smtClean="0"/>
              <a:t>– использование всего одного приемопередающего модуля в OLT для передачи информации множеству абонентских устройств ONT и приема информации от них.</a:t>
            </a:r>
          </a:p>
          <a:p>
            <a:pPr algn="just" eaLnBrk="1" hangingPunct="1">
              <a:lnSpc>
                <a:spcPct val="90000"/>
              </a:lnSpc>
            </a:pPr>
            <a:r>
              <a:rPr lang="ru-RU" sz="2800" b="1" dirty="0" smtClean="0"/>
              <a:t>Число абонентских узлов</a:t>
            </a:r>
            <a:r>
              <a:rPr lang="ru-RU" sz="2800" dirty="0" smtClean="0"/>
              <a:t>, подключенных к одному приемопередающему модулю OLT, может быть настолько большим, насколько позволяет бюджет мощности и максимальная скорость приемопередающей аппаратуры. </a:t>
            </a:r>
            <a:endParaRPr lang="en-US" sz="2800" dirty="0" smtClean="0"/>
          </a:p>
          <a:p>
            <a:pPr algn="just" eaLnBrk="1" hangingPunct="1">
              <a:lnSpc>
                <a:spcPct val="90000"/>
              </a:lnSpc>
            </a:pPr>
            <a:r>
              <a:rPr lang="ru-RU" sz="2800" b="1" dirty="0" smtClean="0"/>
              <a:t>В OLT и ONT встроены мультиплексоры WDM, разделяющие исходящие и входящие потоки.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648"/>
            <a:ext cx="9144000" cy="1143000"/>
          </a:xfrm>
        </p:spPr>
        <p:txBody>
          <a:bodyPr>
            <a:noAutofit/>
          </a:bodyPr>
          <a:lstStyle/>
          <a:p>
            <a:pPr algn="l" eaLnBrk="1" hangingPunct="1"/>
            <a:r>
              <a:rPr lang="ru-RU" sz="2400" b="1" dirty="0" smtClean="0">
                <a:solidFill>
                  <a:srgbClr val="002060"/>
                </a:solidFill>
              </a:rPr>
              <a:t>2.1 Технология PON может быть совмещена с технологией волнового мультиплексирования DWDM (9/17).</a:t>
            </a:r>
          </a:p>
        </p:txBody>
      </p:sp>
      <p:pic>
        <p:nvPicPr>
          <p:cNvPr id="53251" name="Picture 4" descr="Организация приема-передачи на 32 длинах волн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0825" y="1989138"/>
            <a:ext cx="8424863" cy="38258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Прямой и обратный поток (10/17)(см. рис.)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8893175" cy="576064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ru-RU" sz="2200" dirty="0" smtClean="0"/>
              <a:t>Прямой поток на уровне оптических сигналов, является широковещательным. </a:t>
            </a:r>
            <a:endParaRPr lang="en-US" sz="2200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200" b="1" dirty="0" smtClean="0"/>
              <a:t>Каждый абонентский узел ONT, читая адресные поля, выделяет из этого общего потока предназначенную только ему часть информации. 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200" dirty="0" smtClean="0"/>
              <a:t>Фактически, мы имеем дело с распределенным </a:t>
            </a:r>
            <a:r>
              <a:rPr lang="ru-RU" sz="2200" dirty="0" err="1" smtClean="0"/>
              <a:t>демультиплексором</a:t>
            </a:r>
            <a:r>
              <a:rPr lang="ru-RU" sz="2200" dirty="0" smtClean="0"/>
              <a:t>. </a:t>
            </a:r>
          </a:p>
          <a:p>
            <a:pPr algn="just" eaLnBrk="1" hangingPunct="1">
              <a:lnSpc>
                <a:spcPct val="80000"/>
              </a:lnSpc>
            </a:pPr>
            <a:endParaRPr lang="ru-RU" sz="2200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200" b="1" dirty="0" smtClean="0"/>
              <a:t>Все абонентские узлы ONT ведут передачу в обратном потоке на одной и той же длине волны,</a:t>
            </a:r>
            <a:r>
              <a:rPr lang="ru-RU" sz="2200" dirty="0" smtClean="0"/>
              <a:t> используя концепцию множественного доступа с временным разделением TDMA.</a:t>
            </a:r>
          </a:p>
          <a:p>
            <a:pPr algn="just" eaLnBrk="1" hangingPunct="1">
              <a:lnSpc>
                <a:spcPct val="80000"/>
              </a:lnSpc>
            </a:pPr>
            <a:endParaRPr lang="en-US" sz="2200" dirty="0" smtClean="0"/>
          </a:p>
          <a:p>
            <a:pPr algn="just" eaLnBrk="1" hangingPunct="1">
              <a:lnSpc>
                <a:spcPct val="80000"/>
              </a:lnSpc>
            </a:pPr>
            <a:r>
              <a:rPr lang="ru-RU" sz="2200" b="1" dirty="0" smtClean="0"/>
              <a:t>Для того, чтобы исключить возможность пересечения сигналов от разных ONT, для каждого из них устанавливается свое индивидуальное расписание по передаче данных </a:t>
            </a:r>
            <a:r>
              <a:rPr lang="ru-RU" sz="2200" b="1" dirty="0" err="1" smtClean="0"/>
              <a:t>c</a:t>
            </a:r>
            <a:r>
              <a:rPr lang="ru-RU" sz="2200" b="1" dirty="0" smtClean="0"/>
              <a:t> учетом поправки на задержку, связанную с удалением данного ONT от OLT. </a:t>
            </a:r>
            <a:r>
              <a:rPr lang="ru-RU" sz="2200" dirty="0" smtClean="0"/>
              <a:t>Эту задачу решает протокол TDMA MAC.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Принцип действия PON (11/17)</a:t>
            </a:r>
          </a:p>
        </p:txBody>
      </p:sp>
      <p:pic>
        <p:nvPicPr>
          <p:cNvPr id="58371" name="Picture 4" descr="Основные элементы архитектуры PON и принцип действия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1520" y="1268761"/>
            <a:ext cx="8892480" cy="54006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 smtClean="0">
                <a:solidFill>
                  <a:srgbClr val="002060"/>
                </a:solidFill>
              </a:rPr>
              <a:t>2.3 Развитие технологии </a:t>
            </a:r>
            <a:r>
              <a:rPr lang="en-US" sz="3600" b="1" dirty="0" smtClean="0">
                <a:solidFill>
                  <a:srgbClr val="002060"/>
                </a:solidFill>
              </a:rPr>
              <a:t>PON</a:t>
            </a:r>
            <a:r>
              <a:rPr lang="ru-RU" sz="3600" b="1" dirty="0" smtClean="0">
                <a:solidFill>
                  <a:srgbClr val="002060"/>
                </a:solidFill>
              </a:rPr>
              <a:t> (12/17)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ru-RU" sz="2400" dirty="0" smtClean="0"/>
              <a:t>В 1998 г. Международный союз электросвязи (</a:t>
            </a:r>
            <a:r>
              <a:rPr lang="ru-RU" sz="2400" i="1" dirty="0" smtClean="0"/>
              <a:t>ITU-T</a:t>
            </a:r>
            <a:r>
              <a:rPr lang="ru-RU" sz="2400" dirty="0" smtClean="0"/>
              <a:t>) принял  спецификацию</a:t>
            </a:r>
            <a:r>
              <a:rPr lang="ru-RU" sz="2400" b="1" dirty="0" smtClean="0"/>
              <a:t> </a:t>
            </a:r>
            <a:r>
              <a:rPr lang="ru-RU" sz="2400" b="1" i="1" dirty="0" smtClean="0"/>
              <a:t>ATM PON</a:t>
            </a:r>
            <a:r>
              <a:rPr lang="ru-RU" sz="2400" b="1" dirty="0" smtClean="0"/>
              <a:t> (</a:t>
            </a:r>
            <a:r>
              <a:rPr lang="ru-RU" sz="2400" b="1" i="1" dirty="0" smtClean="0"/>
              <a:t>APON</a:t>
            </a:r>
            <a:r>
              <a:rPr lang="ru-RU" sz="2400" b="1" dirty="0" smtClean="0"/>
              <a:t>)</a:t>
            </a:r>
            <a:r>
              <a:rPr lang="ru-RU" sz="2400" dirty="0" smtClean="0"/>
              <a:t> и вскоре утвердил и спецификацию </a:t>
            </a:r>
            <a:r>
              <a:rPr lang="ru-RU" sz="2400" b="1" i="1" dirty="0" err="1" smtClean="0"/>
              <a:t>Broadband</a:t>
            </a:r>
            <a:r>
              <a:rPr lang="ru-RU" sz="2400" b="1" i="1" dirty="0" smtClean="0"/>
              <a:t> PON (BPON</a:t>
            </a:r>
            <a:r>
              <a:rPr lang="ru-RU" sz="2400" dirty="0" smtClean="0"/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Технология </a:t>
            </a:r>
            <a:r>
              <a:rPr lang="ru-RU" sz="2400" b="1" i="1" dirty="0" smtClean="0"/>
              <a:t>APON </a:t>
            </a:r>
            <a:r>
              <a:rPr lang="ru-RU" sz="2400" dirty="0" smtClean="0"/>
              <a:t>предусматривает передачу в сети </a:t>
            </a:r>
            <a:r>
              <a:rPr lang="ru-RU" sz="2400" b="1" i="1" dirty="0" smtClean="0"/>
              <a:t>PON</a:t>
            </a:r>
            <a:r>
              <a:rPr lang="ru-RU" sz="2400" dirty="0" smtClean="0"/>
              <a:t> ячеек </a:t>
            </a:r>
            <a:r>
              <a:rPr lang="ru-RU" sz="2400" i="1" dirty="0" smtClean="0"/>
              <a:t>ATM </a:t>
            </a:r>
            <a:r>
              <a:rPr lang="ru-RU" sz="2400" dirty="0" smtClean="0"/>
              <a:t>со скоростью 155 Мбит/с в каждом направлении.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 В спецификации </a:t>
            </a:r>
            <a:r>
              <a:rPr lang="ru-RU" sz="2400" b="1" i="1" dirty="0" smtClean="0"/>
              <a:t>BPON</a:t>
            </a:r>
            <a:r>
              <a:rPr lang="ru-RU" sz="2400" b="1" dirty="0" smtClean="0"/>
              <a:t> </a:t>
            </a:r>
            <a:r>
              <a:rPr lang="ru-RU" sz="2400" dirty="0" smtClean="0"/>
              <a:t>скорость передачи увеличена до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      622 Мбит/с, появляется возможность реализовать широкополосные сервисы, включая доступ по </a:t>
            </a:r>
            <a:r>
              <a:rPr lang="ru-RU" sz="2400" i="1" dirty="0" err="1" smtClean="0"/>
              <a:t>Ethernet</a:t>
            </a:r>
            <a:r>
              <a:rPr lang="ru-RU" sz="2400" dirty="0" smtClean="0"/>
              <a:t> и видео.</a:t>
            </a:r>
          </a:p>
          <a:p>
            <a:pPr eaLnBrk="1" hangingPunct="1">
              <a:lnSpc>
                <a:spcPct val="80000"/>
              </a:lnSpc>
              <a:buNone/>
            </a:pPr>
            <a:endParaRPr lang="ru-RU" sz="2400" dirty="0" smtClean="0"/>
          </a:p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 Развитие </a:t>
            </a:r>
            <a:r>
              <a:rPr lang="ru-RU" sz="2400" i="1" dirty="0" err="1" smtClean="0"/>
              <a:t>Ethernet</a:t>
            </a:r>
            <a:r>
              <a:rPr lang="ru-RU" sz="2400" dirty="0" smtClean="0"/>
              <a:t> привело в 2001 г. к началу работы над спецификацией </a:t>
            </a:r>
            <a:r>
              <a:rPr lang="ru-RU" sz="2400" b="1" i="1" dirty="0" err="1" smtClean="0"/>
              <a:t>Ethernet</a:t>
            </a:r>
            <a:r>
              <a:rPr lang="ru-RU" sz="2400" b="1" i="1" dirty="0" smtClean="0"/>
              <a:t> PON (EPON)</a:t>
            </a:r>
            <a:r>
              <a:rPr lang="ru-RU" sz="2400" dirty="0" smtClean="0"/>
              <a:t> на основе протокола управления множеством узлов (</a:t>
            </a:r>
            <a:r>
              <a:rPr lang="ru-RU" sz="2400" i="1" dirty="0" smtClean="0"/>
              <a:t> MPCP</a:t>
            </a:r>
            <a:r>
              <a:rPr lang="ru-RU" sz="2400" dirty="0" smtClean="0"/>
              <a:t>).</a:t>
            </a:r>
          </a:p>
          <a:p>
            <a:pPr eaLnBrk="1" hangingPunct="1">
              <a:lnSpc>
                <a:spcPct val="80000"/>
              </a:lnSpc>
            </a:pPr>
            <a:endParaRPr lang="ru-RU" sz="2400" dirty="0" smtClean="0"/>
          </a:p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 Появляется еще одна разновидность </a:t>
            </a:r>
            <a:r>
              <a:rPr lang="ru-RU" sz="2400" b="1" i="1" dirty="0" smtClean="0"/>
              <a:t>PON — </a:t>
            </a:r>
            <a:r>
              <a:rPr lang="ru-RU" sz="2400" b="1" i="1" dirty="0" err="1" smtClean="0"/>
              <a:t>Gigabit</a:t>
            </a:r>
            <a:r>
              <a:rPr lang="ru-RU" sz="2400" b="1" i="1" dirty="0" smtClean="0"/>
              <a:t> PON (GPON</a:t>
            </a:r>
            <a:r>
              <a:rPr lang="ru-RU" sz="2400" dirty="0" smtClean="0"/>
              <a:t>). Стандарт предусматривает номинальную скорость передачи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        622 Мбит/</a:t>
            </a:r>
            <a:r>
              <a:rPr lang="ru-RU" sz="2400" dirty="0" err="1" smtClean="0"/>
              <a:t>c</a:t>
            </a:r>
            <a:r>
              <a:rPr lang="ru-RU" sz="2400" dirty="0" smtClean="0"/>
              <a:t>  и 1,25 и 2,5 Гбит/с. </a:t>
            </a:r>
          </a:p>
          <a:p>
            <a:pPr algn="just">
              <a:lnSpc>
                <a:spcPct val="80000"/>
              </a:lnSpc>
            </a:pPr>
            <a:r>
              <a:rPr lang="ru-RU" sz="2400" dirty="0" smtClean="0"/>
              <a:t> На сегодняшний день сети строятся с использованием технологии</a:t>
            </a:r>
            <a:r>
              <a:rPr lang="ru-RU" sz="2400" b="1" i="1" dirty="0" smtClean="0"/>
              <a:t> GPON.</a:t>
            </a:r>
            <a:endParaRPr lang="ru-RU" sz="2400" dirty="0" smtClean="0"/>
          </a:p>
          <a:p>
            <a:pPr algn="just">
              <a:lnSpc>
                <a:spcPct val="80000"/>
              </a:lnSpc>
              <a:buNone/>
            </a:pPr>
            <a:endParaRPr lang="ru-R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229600" cy="620713"/>
          </a:xfrm>
        </p:spPr>
        <p:txBody>
          <a:bodyPr/>
          <a:lstStyle/>
          <a:p>
            <a:pPr eaLnBrk="1" hangingPunct="1"/>
            <a:r>
              <a:rPr lang="ru-RU" sz="2000" b="1" dirty="0" smtClean="0">
                <a:solidFill>
                  <a:srgbClr val="002060"/>
                </a:solidFill>
              </a:rPr>
              <a:t>Сравнительный анализ трех технологий </a:t>
            </a:r>
            <a:r>
              <a:rPr lang="ru-RU" sz="2000" b="1" i="1" dirty="0" smtClean="0">
                <a:solidFill>
                  <a:srgbClr val="002060"/>
                </a:solidFill>
              </a:rPr>
              <a:t>APON, EPON, GPON</a:t>
            </a:r>
          </a:p>
        </p:txBody>
      </p:sp>
      <p:sp>
        <p:nvSpPr>
          <p:cNvPr id="56323" name="Дата 4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fld id="{49A7F096-C185-4679-BCDC-F389E8C1C93D}" type="datetime1">
              <a:rPr lang="ru-RU" smtClean="0">
                <a:solidFill>
                  <a:schemeClr val="tx1"/>
                </a:solidFill>
                <a:latin typeface="Arial" pitchFamily="34" charset="0"/>
              </a:rPr>
              <a:pPr/>
              <a:t>13.12.2025</a:t>
            </a:fld>
            <a:endParaRPr lang="ru-RU" smtClean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6324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smtClean="0">
                <a:solidFill>
                  <a:schemeClr val="tx1"/>
                </a:solidFill>
                <a:latin typeface="Arial" pitchFamily="34" charset="0"/>
              </a:rPr>
              <a:t>Сабина Турсунова</a:t>
            </a:r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-1220788" y="820738"/>
            <a:ext cx="9144001" cy="0"/>
          </a:xfrm>
          <a:prstGeom prst="rect">
            <a:avLst/>
          </a:prstGeom>
          <a:solidFill>
            <a:srgbClr val="FEFEFE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4173" name="Group 445"/>
          <p:cNvGraphicFramePr>
            <a:graphicFrameLocks noGrp="1"/>
          </p:cNvGraphicFramePr>
          <p:nvPr/>
        </p:nvGraphicFramePr>
        <p:xfrm>
          <a:off x="1" y="549275"/>
          <a:ext cx="9143998" cy="6126310"/>
        </p:xfrm>
        <a:graphic>
          <a:graphicData uri="http://schemas.openxmlformats.org/drawingml/2006/table">
            <a:tbl>
              <a:tblPr/>
              <a:tblGrid>
                <a:gridCol w="3097966"/>
                <a:gridCol w="1931491"/>
                <a:gridCol w="2183050"/>
                <a:gridCol w="1931491"/>
              </a:tblGrid>
              <a:tr h="274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Характеристики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APON (BPON)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EPON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GPON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74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Институты стандартизации / альянсы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ITU-T SG15 / FSAN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IEEE / EFMA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ITU-T SG15 / FSAN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274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Дата принятия стандарта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октябрь 1998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июль 2004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октябрь 2003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274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Стандарт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ITU-T G.981.x 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IEEE 802.3ah 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ITU-T G.984.x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64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Скорость передачи, прямой/обратный поток, Мбит/с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155/155</a:t>
                      </a:r>
                      <a:b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622/155</a:t>
                      </a:r>
                      <a:b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622/622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1000/1000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1244/155,  622, 1244</a:t>
                      </a:r>
                      <a:br>
                        <a:rPr kumimoji="0" lang="ru-RU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u-RU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2488/622, 1244,  2488</a:t>
                      </a:r>
                      <a:endParaRPr kumimoji="0" lang="ru-RU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274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Базовый протокол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ATM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Ethernet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SDH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274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Линейный код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NRZ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8B/10B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NRZ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4571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Максимальный радиус сети, км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 (&gt;30 (обсуждается в проекте))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kumimoji="0" lang="ru-RU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4571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Максимальное число абонентских узлов на одно волокно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 (128)</a:t>
                      </a:r>
                      <a:endParaRPr kumimoji="0" lang="ru-RU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274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Приложения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Любые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IP, данные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Любые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2692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Коррекция ошибок FEC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предусмотрена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необходима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4571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Длины волн прямого/обратного потоков, нм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1550/1310</a:t>
                      </a:r>
                      <a:b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(1480/1310)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1550/1310</a:t>
                      </a:r>
                      <a:b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(1310/1310)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1550/1310</a:t>
                      </a:r>
                      <a:r>
                        <a:rPr kumimoji="0" lang="ru-RU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/>
                      </a:r>
                      <a:br>
                        <a:rPr kumimoji="0" lang="ru-RU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u-RU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(1480/1310)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4571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Динамическое распределение полосы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есть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Поддержка (на более высоких уровнях)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есть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274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IP-фрагментация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есть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есть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4571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Защита данных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Шифрование открытыми ключами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Шифрование открытыми ключами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274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Резервирование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есть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нет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есть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  <a:tr h="4571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Оценка поддержки голосовых приложений и QoS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высока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низкая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высока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/>
          </a:bodyPr>
          <a:lstStyle/>
          <a:p>
            <a:r>
              <a:rPr lang="ru-RU" sz="3200" b="1" dirty="0" smtClean="0" bmk="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2.4 Технология </a:t>
            </a:r>
            <a:r>
              <a:rPr lang="en-US" sz="32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32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(13/17)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904656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 smtClean="0"/>
              <a:t> В зависимости от того до какой точки сети проложен волоконно-оптический кабель различают несколько видов </a:t>
            </a:r>
            <a:r>
              <a:rPr lang="ru-RU" dirty="0" err="1" smtClean="0"/>
              <a:t>FTTх</a:t>
            </a:r>
            <a:r>
              <a:rPr lang="ru-RU" dirty="0" smtClean="0"/>
              <a:t> архитектур.</a:t>
            </a:r>
          </a:p>
          <a:p>
            <a:r>
              <a:rPr lang="ru-RU" b="1" dirty="0" smtClean="0"/>
              <a:t>FTTX – целое семейство оптико-волоконных технологий, призванных для обеспечения оптической связью</a:t>
            </a:r>
            <a:r>
              <a:rPr lang="ru-RU" dirty="0" smtClean="0"/>
              <a:t>.</a:t>
            </a:r>
          </a:p>
          <a:p>
            <a:r>
              <a:rPr lang="ru-RU" dirty="0" smtClean="0"/>
              <a:t> FTTX позволяет подвести в дом широкополосный интернет, телефонную связь, цифровое телевещание.</a:t>
            </a:r>
          </a:p>
          <a:p>
            <a:r>
              <a:rPr lang="ru-RU" dirty="0" smtClean="0"/>
              <a:t> «Х» – точка, определяющая до какого места доходит оптика.</a:t>
            </a:r>
          </a:p>
          <a:p>
            <a:r>
              <a:rPr lang="ru-RU" dirty="0" smtClean="0"/>
              <a:t> FTTX может доходить до сетевого узла, до строения, до группы домов, до дома.</a:t>
            </a:r>
          </a:p>
          <a:p>
            <a:r>
              <a:rPr lang="ru-RU" dirty="0" smtClean="0"/>
              <a:t>В семейство </a:t>
            </a:r>
            <a:r>
              <a:rPr lang="ru-RU" dirty="0" err="1" smtClean="0"/>
              <a:t>FTTx</a:t>
            </a:r>
            <a:r>
              <a:rPr lang="ru-RU" dirty="0" smtClean="0"/>
              <a:t> входят различные виды архитектур:</a:t>
            </a:r>
          </a:p>
          <a:p>
            <a:pPr>
              <a:buNone/>
            </a:pPr>
            <a:r>
              <a:rPr lang="ru-RU" dirty="0" smtClean="0"/>
              <a:t>       – </a:t>
            </a:r>
            <a:r>
              <a:rPr lang="ru-RU" b="1" dirty="0" smtClean="0"/>
              <a:t>FTTN (</a:t>
            </a:r>
            <a:r>
              <a:rPr lang="ru-RU" b="1" dirty="0" err="1" smtClean="0"/>
              <a:t>Fiber</a:t>
            </a:r>
            <a:r>
              <a:rPr lang="ru-RU" b="1" dirty="0" smtClean="0"/>
              <a:t> </a:t>
            </a:r>
            <a:r>
              <a:rPr lang="ru-RU" b="1" dirty="0" err="1" smtClean="0"/>
              <a:t>to</a:t>
            </a:r>
            <a:r>
              <a:rPr lang="ru-RU" b="1" dirty="0" smtClean="0"/>
              <a:t> </a:t>
            </a:r>
            <a:r>
              <a:rPr lang="ru-RU" b="1" dirty="0" err="1" smtClean="0"/>
              <a:t>the</a:t>
            </a:r>
            <a:r>
              <a:rPr lang="ru-RU" b="1" dirty="0" smtClean="0"/>
              <a:t> </a:t>
            </a:r>
            <a:r>
              <a:rPr lang="ru-RU" b="1" dirty="0" err="1" smtClean="0"/>
              <a:t>Node</a:t>
            </a:r>
            <a:r>
              <a:rPr lang="ru-RU" b="1" dirty="0" smtClean="0"/>
              <a:t>) – волокно до сетевого узла;</a:t>
            </a:r>
          </a:p>
          <a:p>
            <a:pPr>
              <a:buNone/>
            </a:pPr>
            <a:r>
              <a:rPr lang="ru-RU" b="1" dirty="0" smtClean="0"/>
              <a:t>       – FTTC (</a:t>
            </a:r>
            <a:r>
              <a:rPr lang="ru-RU" b="1" dirty="0" err="1" smtClean="0"/>
              <a:t>Fiber</a:t>
            </a:r>
            <a:r>
              <a:rPr lang="ru-RU" b="1" dirty="0" smtClean="0"/>
              <a:t> </a:t>
            </a:r>
            <a:r>
              <a:rPr lang="ru-RU" b="1" dirty="0" err="1" smtClean="0"/>
              <a:t>to</a:t>
            </a:r>
            <a:r>
              <a:rPr lang="ru-RU" b="1" dirty="0" smtClean="0"/>
              <a:t> </a:t>
            </a:r>
            <a:r>
              <a:rPr lang="ru-RU" b="1" dirty="0" err="1" smtClean="0"/>
              <a:t>the</a:t>
            </a:r>
            <a:r>
              <a:rPr lang="ru-RU" b="1" dirty="0" smtClean="0"/>
              <a:t> </a:t>
            </a:r>
            <a:r>
              <a:rPr lang="ru-RU" b="1" dirty="0" err="1" smtClean="0"/>
              <a:t>Curb</a:t>
            </a:r>
            <a:r>
              <a:rPr lang="ru-RU" b="1" dirty="0" smtClean="0"/>
              <a:t>) – волокно до микрорайона, квартала или группы домов;</a:t>
            </a:r>
          </a:p>
          <a:p>
            <a:pPr>
              <a:buNone/>
            </a:pPr>
            <a:r>
              <a:rPr lang="ru-RU" b="1" dirty="0" smtClean="0"/>
              <a:t>       </a:t>
            </a:r>
            <a:r>
              <a:rPr lang="en-US" b="1" dirty="0" smtClean="0"/>
              <a:t>− FTTB (Fiber to the Building) – </a:t>
            </a:r>
            <a:r>
              <a:rPr lang="ru-RU" b="1" dirty="0" smtClean="0"/>
              <a:t>волокно до здания</a:t>
            </a:r>
            <a:r>
              <a:rPr lang="en-US" b="1" dirty="0" smtClean="0"/>
              <a:t>;</a:t>
            </a:r>
            <a:endParaRPr lang="ru-RU" b="1" dirty="0" smtClean="0"/>
          </a:p>
          <a:p>
            <a:pPr>
              <a:buNone/>
            </a:pPr>
            <a:r>
              <a:rPr lang="ru-RU" b="1" dirty="0" smtClean="0"/>
              <a:t>       – FTTH (</a:t>
            </a:r>
            <a:r>
              <a:rPr lang="ru-RU" b="1" dirty="0" err="1" smtClean="0"/>
              <a:t>Fiber</a:t>
            </a:r>
            <a:r>
              <a:rPr lang="ru-RU" b="1" dirty="0" smtClean="0"/>
              <a:t> </a:t>
            </a:r>
            <a:r>
              <a:rPr lang="ru-RU" b="1" dirty="0" err="1" smtClean="0"/>
              <a:t>to</a:t>
            </a:r>
            <a:r>
              <a:rPr lang="ru-RU" b="1" dirty="0" smtClean="0"/>
              <a:t> </a:t>
            </a:r>
            <a:r>
              <a:rPr lang="ru-RU" b="1" dirty="0" err="1" smtClean="0"/>
              <a:t>the</a:t>
            </a:r>
            <a:r>
              <a:rPr lang="ru-RU" b="1" dirty="0" smtClean="0"/>
              <a:t> </a:t>
            </a:r>
            <a:r>
              <a:rPr lang="ru-RU" b="1" dirty="0" err="1" smtClean="0"/>
              <a:t>Home</a:t>
            </a:r>
            <a:r>
              <a:rPr lang="ru-RU" b="1" dirty="0" smtClean="0"/>
              <a:t>) – волокно до жилища (квартиры, коттеджа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Отличаются тем, насколько близко к пользовательскому терминалу подходит оптический кабель.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90872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2060"/>
                </a:solidFill>
              </a:rPr>
              <a:t>Варианты построения сетей оптического доступа</a:t>
            </a:r>
            <a:endParaRPr lang="ru-RU" sz="32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C:\Users\Alex\Desktop\аееррр.jpg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9144000" cy="5805264"/>
          </a:xfrm>
          <a:prstGeom prst="rect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2.4 Технология </a:t>
            </a:r>
            <a:r>
              <a:rPr lang="en-US" smtClean="0"/>
              <a:t>PON</a:t>
            </a:r>
            <a:r>
              <a:rPr lang="ru-RU" smtClean="0"/>
              <a:t> (14/17)</a:t>
            </a:r>
            <a:endParaRPr lang="ru-RU" dirty="0"/>
          </a:p>
        </p:txBody>
      </p:sp>
      <p:pic>
        <p:nvPicPr>
          <p:cNvPr id="4" name="Содержимое 3" descr="Изображение выглядит как диаграмма, снимок экрана&#10;&#10;Автоматически созданное описание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 l="7339"/>
          <a:stretch/>
        </p:blipFill>
        <p:spPr>
          <a:xfrm>
            <a:off x="818373" y="1600200"/>
            <a:ext cx="7507253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600" b="1" dirty="0" smtClean="0" bmk="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Технология </a:t>
            </a:r>
            <a:r>
              <a:rPr lang="en-US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(15/17)(2вар.)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Описание: http://www.ots-telecom.ru/_/rsrc/1344848506323/stati-1/fttx/450px-FTTX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 t="3226" b="5161"/>
          <a:stretch/>
        </p:blipFill>
        <p:spPr bwMode="auto">
          <a:xfrm>
            <a:off x="0" y="1340768"/>
            <a:ext cx="9144000" cy="532859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="" xmlns:wpc="http://schemas.microsoft.com/office/word/2010/wordprocessingCanvas" xmlns:cx="http://schemas.microsoft.com/office/drawing/2014/chartex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576064"/>
          </a:xfrm>
        </p:spPr>
        <p:txBody>
          <a:bodyPr>
            <a:normAutofit fontScale="90000"/>
          </a:bodyPr>
          <a:lstStyle/>
          <a:p>
            <a:r>
              <a:rPr lang="ru-RU" sz="3600" b="1" dirty="0" smtClean="0" bmk="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Технология </a:t>
            </a:r>
            <a:r>
              <a:rPr lang="en-US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(16/17)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Ввиду разнообразия возможностей по построению сетей </a:t>
            </a:r>
            <a:r>
              <a:rPr lang="ru-RU" dirty="0" err="1" smtClean="0"/>
              <a:t>FTTx</a:t>
            </a:r>
            <a:r>
              <a:rPr lang="ru-RU" dirty="0" smtClean="0"/>
              <a:t>, </a:t>
            </a:r>
            <a:r>
              <a:rPr lang="ru-RU" b="1" dirty="0" smtClean="0"/>
              <a:t>вариант организации «последней мили» FTTH – оптическое волокно до квартиры является  широко используемым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Предлагаемый подход подразумевает установку абонентского оптического терминала ONT и домашнего шлюза доступа в квартире абонента. </a:t>
            </a:r>
          </a:p>
          <a:p>
            <a:r>
              <a:rPr lang="ru-RU" dirty="0" smtClean="0"/>
              <a:t>Принципиальная особенность метода "оптического волокна до квартиры" заключается в построении сети распределения с помощью  оптического волокна, что значительно улучшает пропускные характеристики и помехозащищенность линий. </a:t>
            </a:r>
          </a:p>
          <a:p>
            <a:r>
              <a:rPr lang="ru-RU" dirty="0" smtClean="0"/>
              <a:t>При использовании унифицированного транспортного оптического терминала ONT, конфигурация транспортной составляющей не привязана к конкретным услугам.</a:t>
            </a:r>
          </a:p>
          <a:p>
            <a:r>
              <a:rPr lang="ru-RU" dirty="0" smtClean="0"/>
              <a:t> Т.е. последующая конфигурация услуг осуществляется уже на домашнем шлюзе доступа, что позволяет разделить поддержку между линейной и "</a:t>
            </a:r>
            <a:r>
              <a:rPr lang="ru-RU" dirty="0" err="1" smtClean="0"/>
              <a:t>услуговой</a:t>
            </a:r>
            <a:r>
              <a:rPr lang="ru-RU" dirty="0" smtClean="0"/>
              <a:t>" службами (см.рис.далее).</a:t>
            </a:r>
            <a:endParaRPr lang="ru-RU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922114"/>
          </a:xfrm>
        </p:spPr>
        <p:txBody>
          <a:bodyPr>
            <a:normAutofit/>
          </a:bodyPr>
          <a:lstStyle/>
          <a:p>
            <a:r>
              <a:rPr lang="ru-RU" sz="2800" b="1" dirty="0" smtClean="0" bmk="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Технология </a:t>
            </a:r>
            <a:r>
              <a:rPr lang="en-US" sz="28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28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. Архитектура</a:t>
            </a:r>
            <a:r>
              <a:rPr lang="en-US" sz="28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FTTx</a:t>
            </a:r>
            <a:r>
              <a:rPr lang="ru-RU" sz="28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(15/17).3 вар. </a:t>
            </a:r>
            <a:endParaRPr lang="ru-RU" sz="2800" dirty="0"/>
          </a:p>
        </p:txBody>
      </p:sp>
      <p:pic>
        <p:nvPicPr>
          <p:cNvPr id="4" name="Содержимое 3" descr="E:\Катя документы\ДИПЛОМ\рис\2_FTTx.jpg"/>
          <p:cNvPicPr>
            <a:picLocks noGrp="1"/>
          </p:cNvPicPr>
          <p:nvPr>
            <p:ph idx="1"/>
          </p:nvPr>
        </p:nvPicPr>
        <p:blipFill>
          <a:blip r:embed="rId2" cstate="print"/>
          <a:srcRect t="8633" r="-39" b="3237"/>
          <a:stretch>
            <a:fillRect/>
          </a:stretch>
        </p:blipFill>
        <p:spPr bwMode="auto">
          <a:xfrm>
            <a:off x="0" y="1052736"/>
            <a:ext cx="9144000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sz="4000" b="1" dirty="0" smtClean="0">
                <a:solidFill>
                  <a:srgbClr val="002060"/>
                </a:solidFill>
              </a:rPr>
              <a:t> Типовая функциональная схема организации связи по технологии </a:t>
            </a:r>
            <a:r>
              <a:rPr lang="en-US" sz="40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4000" b="1" dirty="0" smtClean="0">
                <a:solidFill>
                  <a:srgbClr val="002060"/>
                </a:solidFill>
              </a:rPr>
              <a:t>.</a:t>
            </a:r>
            <a:br>
              <a:rPr lang="ru-RU" sz="4000" b="1" dirty="0" smtClean="0">
                <a:solidFill>
                  <a:srgbClr val="002060"/>
                </a:solidFill>
              </a:rPr>
            </a:br>
            <a:endParaRPr lang="ru-RU" sz="40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 descr="https://siblec.ru/img/80/080.files/image003.pn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9144000" cy="5733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/>
          </a:bodyPr>
          <a:lstStyle/>
          <a:p>
            <a:r>
              <a:rPr lang="ru-RU" sz="3600" b="1" dirty="0" smtClean="0" bmk="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Технология </a:t>
            </a:r>
            <a:r>
              <a:rPr lang="en-US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PON</a:t>
            </a:r>
            <a:r>
              <a:rPr lang="ru-RU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(17/17)</a:t>
            </a:r>
            <a:endParaRPr lang="ru-RU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764705"/>
            <a:ext cx="4040188" cy="504055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solidFill>
                  <a:srgbClr val="002060"/>
                </a:solidFill>
              </a:rPr>
              <a:t>Преимущества PON 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0" y="1340769"/>
            <a:ext cx="4497388" cy="551723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ru-RU" b="1" dirty="0" smtClean="0"/>
              <a:t>Существенная экономия </a:t>
            </a:r>
            <a:r>
              <a:rPr lang="ru-RU" dirty="0" smtClean="0"/>
              <a:t>оптического волокна;</a:t>
            </a:r>
          </a:p>
          <a:p>
            <a:pPr>
              <a:lnSpc>
                <a:spcPct val="80000"/>
              </a:lnSpc>
            </a:pPr>
            <a:r>
              <a:rPr lang="ru-RU" dirty="0" smtClean="0"/>
              <a:t>Высокое качество услуг;</a:t>
            </a:r>
          </a:p>
          <a:p>
            <a:pPr>
              <a:lnSpc>
                <a:spcPct val="80000"/>
              </a:lnSpc>
            </a:pPr>
            <a:r>
              <a:rPr lang="ru-RU" b="1" dirty="0" smtClean="0"/>
              <a:t>Достаточная скорость </a:t>
            </a:r>
            <a:r>
              <a:rPr lang="ru-RU" dirty="0" smtClean="0"/>
              <a:t>нисходящего и восходящего потоков для удовлетворения текущих потребностей абонентов;</a:t>
            </a:r>
          </a:p>
          <a:p>
            <a:pPr>
              <a:lnSpc>
                <a:spcPct val="80000"/>
              </a:lnSpc>
            </a:pPr>
            <a:r>
              <a:rPr lang="ru-RU" b="1" dirty="0" smtClean="0"/>
              <a:t>Надежность соединения вследствие наличия только пассивных оптических </a:t>
            </a:r>
            <a:r>
              <a:rPr lang="ru-RU" b="1" dirty="0" err="1" smtClean="0"/>
              <a:t>разветвителей</a:t>
            </a:r>
            <a:r>
              <a:rPr lang="ru-RU" b="1" dirty="0" smtClean="0"/>
              <a:t> </a:t>
            </a:r>
            <a:r>
              <a:rPr lang="ru-RU" dirty="0" smtClean="0"/>
              <a:t>в промежуточных узлах дерева, не требующих обслуживания;</a:t>
            </a:r>
          </a:p>
          <a:p>
            <a:pPr>
              <a:lnSpc>
                <a:spcPct val="80000"/>
              </a:lnSpc>
            </a:pPr>
            <a:r>
              <a:rPr lang="ru-RU" b="1" dirty="0" err="1" smtClean="0"/>
              <a:t>Масштабируемость</a:t>
            </a:r>
            <a:r>
              <a:rPr lang="ru-RU" b="1" dirty="0" smtClean="0"/>
              <a:t>. Древовидная структура сети доступа </a:t>
            </a:r>
            <a:r>
              <a:rPr lang="ru-RU" dirty="0" smtClean="0"/>
              <a:t>дает возможность подключать новых абонентов экономичным способом;</a:t>
            </a:r>
          </a:p>
          <a:p>
            <a:pPr>
              <a:lnSpc>
                <a:spcPct val="80000"/>
              </a:lnSpc>
            </a:pPr>
            <a:r>
              <a:rPr lang="ru-RU" b="1" dirty="0" smtClean="0"/>
              <a:t>Гибкость. Использование современных механизмов обеспечения </a:t>
            </a:r>
            <a:r>
              <a:rPr lang="en-US" b="1" dirty="0" err="1" smtClean="0"/>
              <a:t>QoS</a:t>
            </a:r>
            <a:r>
              <a:rPr lang="ru-RU" b="1" dirty="0" smtClean="0"/>
              <a:t> </a:t>
            </a:r>
            <a:r>
              <a:rPr lang="ru-RU" dirty="0" smtClean="0"/>
              <a:t>позволяет предоставлять абонентам именно тот уровень услуг, который им требуется;</a:t>
            </a:r>
          </a:p>
          <a:p>
            <a:pPr>
              <a:lnSpc>
                <a:spcPct val="80000"/>
              </a:lnSpc>
            </a:pPr>
            <a:r>
              <a:rPr lang="ru-RU" b="1" dirty="0" smtClean="0"/>
              <a:t>Экономия используемой площади под оборудование и расходов на электропитание на стороне оператора</a:t>
            </a:r>
            <a:endParaRPr lang="ru-RU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764705"/>
            <a:ext cx="4041775" cy="576063"/>
          </a:xfrm>
        </p:spPr>
        <p:txBody>
          <a:bodyPr>
            <a:normAutofit/>
          </a:bodyPr>
          <a:lstStyle/>
          <a:p>
            <a:pPr algn="ctr"/>
            <a:r>
              <a:rPr lang="ru-RU" sz="2800" dirty="0" smtClean="0">
                <a:solidFill>
                  <a:srgbClr val="002060"/>
                </a:solidFill>
              </a:rPr>
              <a:t>Недостатки PON </a:t>
            </a:r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268760"/>
            <a:ext cx="4319463" cy="5589239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80000"/>
              </a:lnSpc>
            </a:pPr>
            <a:r>
              <a:rPr lang="ru-RU" b="1" dirty="0" smtClean="0"/>
              <a:t>Высокая цена</a:t>
            </a:r>
            <a:r>
              <a:rPr lang="ru-RU" dirty="0" smtClean="0"/>
              <a:t>;</a:t>
            </a:r>
          </a:p>
          <a:p>
            <a:pPr>
              <a:lnSpc>
                <a:spcPct val="80000"/>
              </a:lnSpc>
            </a:pPr>
            <a:r>
              <a:rPr lang="ru-RU" dirty="0" smtClean="0"/>
              <a:t>Недостаточная полоса пропускания в долгосрочной перспективе. Разделяемая полоса пропускания в дереве оптоволо­конных линий сети PON используется как можно большим числом абонентов;</a:t>
            </a:r>
          </a:p>
          <a:p>
            <a:pPr>
              <a:lnSpc>
                <a:spcPct val="80000"/>
              </a:lnSpc>
            </a:pPr>
            <a:r>
              <a:rPr lang="ru-RU" b="1" dirty="0" smtClean="0"/>
              <a:t>Недостаточная информационная безопасность данных в общей среде передачи;</a:t>
            </a:r>
          </a:p>
          <a:p>
            <a:pPr>
              <a:lnSpc>
                <a:spcPct val="80000"/>
              </a:lnSpc>
            </a:pPr>
            <a:r>
              <a:rPr lang="ru-RU" dirty="0" smtClean="0"/>
              <a:t>Повышенная стоимость компонентов из-за необходимости работать на совокупной скорости передачи данных;</a:t>
            </a:r>
          </a:p>
          <a:p>
            <a:pPr>
              <a:lnSpc>
                <a:spcPct val="80000"/>
              </a:lnSpc>
            </a:pPr>
            <a:r>
              <a:rPr lang="ru-RU" dirty="0" smtClean="0"/>
              <a:t>Повышенная мощность оптического сигнала для компенсации потерь в пассивных оптических </a:t>
            </a:r>
            <a:r>
              <a:rPr lang="ru-RU" dirty="0" err="1" smtClean="0"/>
              <a:t>разветвителях</a:t>
            </a:r>
            <a:r>
              <a:rPr lang="ru-RU" dirty="0" smtClean="0"/>
              <a:t>; </a:t>
            </a:r>
          </a:p>
          <a:p>
            <a:pPr>
              <a:lnSpc>
                <a:spcPct val="80000"/>
              </a:lnSpc>
            </a:pPr>
            <a:r>
              <a:rPr lang="ru-RU" b="1" dirty="0" smtClean="0"/>
              <a:t>Сложность диагностики неисправностей в пассивных оптических </a:t>
            </a:r>
            <a:r>
              <a:rPr lang="ru-RU" b="1" dirty="0" err="1" smtClean="0"/>
              <a:t>разветвителях</a:t>
            </a:r>
            <a:r>
              <a:rPr lang="ru-RU" b="1" dirty="0" smtClean="0"/>
              <a:t>. </a:t>
            </a:r>
          </a:p>
          <a:p>
            <a:pPr>
              <a:lnSpc>
                <a:spcPct val="80000"/>
              </a:lnSpc>
            </a:pPr>
            <a:r>
              <a:rPr lang="ru-RU" b="1" dirty="0" smtClean="0"/>
              <a:t>Влияние поврежденной точки </a:t>
            </a:r>
            <a:r>
              <a:rPr lang="ru-RU" b="1" dirty="0" err="1" smtClean="0"/>
              <a:t>терминации</a:t>
            </a:r>
            <a:r>
              <a:rPr lang="ru-RU" b="1" dirty="0" smtClean="0"/>
              <a:t> оптической сети на работу всех абонентов этой пассивной оптической сети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002060"/>
                </a:solidFill>
              </a:rPr>
              <a:t>Основные преимущества построения</a:t>
            </a:r>
            <a:r>
              <a:rPr lang="en-US" sz="3600" b="1" dirty="0" smtClean="0" bmk="_Toc167802141">
                <a:solidFill>
                  <a:srgbClr val="00206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 PON </a:t>
            </a:r>
            <a:r>
              <a:rPr lang="ru-RU" sz="3600" b="1" dirty="0" smtClean="0">
                <a:solidFill>
                  <a:srgbClr val="002060"/>
                </a:solidFill>
              </a:rPr>
              <a:t>: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600200"/>
            <a:ext cx="8713787" cy="4525963"/>
          </a:xfrm>
        </p:spPr>
        <p:txBody>
          <a:bodyPr/>
          <a:lstStyle/>
          <a:p>
            <a:pPr eaLnBrk="1" hangingPunct="1"/>
            <a:r>
              <a:rPr lang="ru-RU" dirty="0" smtClean="0"/>
              <a:t>высокая </a:t>
            </a:r>
            <a:r>
              <a:rPr lang="ru-RU" dirty="0" err="1" smtClean="0"/>
              <a:t>масштабируемость</a:t>
            </a:r>
            <a:r>
              <a:rPr lang="ru-RU" dirty="0" smtClean="0"/>
              <a:t>;</a:t>
            </a:r>
          </a:p>
          <a:p>
            <a:pPr eaLnBrk="1" hangingPunct="1"/>
            <a:r>
              <a:rPr lang="ru-RU" dirty="0" smtClean="0"/>
              <a:t>модульное расширение;</a:t>
            </a:r>
          </a:p>
          <a:p>
            <a:pPr eaLnBrk="1" hangingPunct="1"/>
            <a:r>
              <a:rPr lang="ru-RU" dirty="0" smtClean="0"/>
              <a:t>поддержка оборудования разных производителей;</a:t>
            </a:r>
          </a:p>
          <a:p>
            <a:pPr eaLnBrk="1" hangingPunct="1"/>
            <a:r>
              <a:rPr lang="ru-RU" dirty="0" smtClean="0"/>
              <a:t>высокая скорость доступа; </a:t>
            </a:r>
          </a:p>
          <a:p>
            <a:pPr eaLnBrk="1" hangingPunct="1"/>
            <a:r>
              <a:rPr lang="ru-RU" dirty="0" smtClean="0"/>
              <a:t>высокое качество связи;</a:t>
            </a:r>
          </a:p>
          <a:p>
            <a:pPr eaLnBrk="1" hangingPunct="1"/>
            <a:r>
              <a:rPr lang="ru-RU" dirty="0" smtClean="0"/>
              <a:t>независимость от скорости доступа, от расстояния до абонента.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5659</Words>
  <Application>Microsoft Office PowerPoint</Application>
  <PresentationFormat>Экран (4:3)</PresentationFormat>
  <Paragraphs>621</Paragraphs>
  <Slides>82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82</vt:i4>
      </vt:variant>
    </vt:vector>
  </HeadingPairs>
  <TitlesOfParts>
    <vt:vector size="84" baseType="lpstr">
      <vt:lpstr>Тема Office</vt:lpstr>
      <vt:lpstr>Рисунок Paintbrush</vt:lpstr>
      <vt:lpstr>Сети доступа NGN</vt:lpstr>
      <vt:lpstr>Общая архитектура NGN</vt:lpstr>
      <vt:lpstr> Базовые положения концепции NGN.  </vt:lpstr>
      <vt:lpstr>Общая архитектура NGN</vt:lpstr>
      <vt:lpstr>Уровень доступа</vt:lpstr>
      <vt:lpstr>Сеть доступа </vt:lpstr>
      <vt:lpstr>Функциональная модель NGN</vt:lpstr>
      <vt:lpstr>Сеть доступа </vt:lpstr>
      <vt:lpstr>Классификация сетей доступа</vt:lpstr>
      <vt:lpstr>Классификация сетей доступа</vt:lpstr>
      <vt:lpstr>Классификация сетей доступа</vt:lpstr>
      <vt:lpstr>Классификация сетей доступа</vt:lpstr>
      <vt:lpstr>Сеть доступа.Классификация. </vt:lpstr>
      <vt:lpstr>Классификация сетей доступа</vt:lpstr>
      <vt:lpstr>Классификация симметричных технологий xDSL</vt:lpstr>
      <vt:lpstr>Классификация сетей доступа</vt:lpstr>
      <vt:lpstr>Классификация асимметричных xDSL-технологий</vt:lpstr>
      <vt:lpstr>Классификация сетей доступа</vt:lpstr>
      <vt:lpstr>Классификация сетей доступа</vt:lpstr>
      <vt:lpstr>Варианты построения сетей оптического доступа</vt:lpstr>
      <vt:lpstr>Топологии построения оптических сетей доступа</vt:lpstr>
      <vt:lpstr>Топологии сетей доступа</vt:lpstr>
      <vt:lpstr>Топологии сетей доступа</vt:lpstr>
      <vt:lpstr>Слайд 24</vt:lpstr>
      <vt:lpstr>Топологии сетей доступа</vt:lpstr>
      <vt:lpstr>Слайд 26</vt:lpstr>
      <vt:lpstr>Топологии сетей доступа</vt:lpstr>
      <vt:lpstr>Слайд 28</vt:lpstr>
      <vt:lpstr>Топологии сетей доступа</vt:lpstr>
      <vt:lpstr>Слайд 30</vt:lpstr>
      <vt:lpstr>Топологии сетей доступа</vt:lpstr>
      <vt:lpstr>Уровень доступа</vt:lpstr>
      <vt:lpstr>1.Технологии построения сети доступа. 1.1  xDSL</vt:lpstr>
      <vt:lpstr>Уровень доступа. Используемые технологии.</vt:lpstr>
      <vt:lpstr>Стандарты для технологии xDSL</vt:lpstr>
      <vt:lpstr>1.1Технология ADSL (оборудование DSLAM).</vt:lpstr>
      <vt:lpstr>1.1Принцип действия технологии ADSL</vt:lpstr>
      <vt:lpstr>1.1Основополагающие принципы технологии ADSL</vt:lpstr>
      <vt:lpstr>1.1Преобразование телефонного соединения в соединение ADSL </vt:lpstr>
      <vt:lpstr>1.1Технология ADSL</vt:lpstr>
      <vt:lpstr>1.2 Технология VDSL</vt:lpstr>
      <vt:lpstr>1.2 Технология VDSL</vt:lpstr>
      <vt:lpstr>Технологии построения сети доступа.     2. Оптоволоконные  технологии PON 2.1 Классификация технологии PON 2.2 Сеть доступа по технологии PON    </vt:lpstr>
      <vt:lpstr>Уровень доступа. Используемые технологии.</vt:lpstr>
      <vt:lpstr>Технология PON</vt:lpstr>
      <vt:lpstr>Классификация технологий PON</vt:lpstr>
      <vt:lpstr>2.1Технология PON (4/17)</vt:lpstr>
      <vt:lpstr>Классификация технологий PON</vt:lpstr>
      <vt:lpstr>Классификация технологий PON</vt:lpstr>
      <vt:lpstr>2.1 Сеть оптического доступа PON </vt:lpstr>
      <vt:lpstr>  Доступ по технологии PON   </vt:lpstr>
      <vt:lpstr>Сеть доступа по технологии PON</vt:lpstr>
      <vt:lpstr>Сеть доступа по технологии PON</vt:lpstr>
      <vt:lpstr>Рис.1 Сеть доступа по технологии PON</vt:lpstr>
      <vt:lpstr>Рис.1.1 Сеть доступа по технологии PON</vt:lpstr>
      <vt:lpstr>Рис.2 Схема организации услуг на ВОЛС</vt:lpstr>
      <vt:lpstr>Сеть доступа по технологии PON</vt:lpstr>
      <vt:lpstr>Сеть доступа по технологии PON</vt:lpstr>
      <vt:lpstr>  Типовая функциональная схема организации связи по технологии PON. </vt:lpstr>
      <vt:lpstr>2.1 Структура пассивной оптической сети PON</vt:lpstr>
      <vt:lpstr>2.1Технология PON (1/17)</vt:lpstr>
      <vt:lpstr>2.1 Технология PON (3/17)</vt:lpstr>
      <vt:lpstr>2.1Технология PON. Линейная структура. (4/17)</vt:lpstr>
      <vt:lpstr>2.1 Структура пассивной оптической сети PON (2/17) </vt:lpstr>
      <vt:lpstr> 2.1 Свойства сети PON (5/17) </vt:lpstr>
      <vt:lpstr>2.1 Архитектура PON (6/17)</vt:lpstr>
      <vt:lpstr> 2.1 Свойства сети PON (7/17)</vt:lpstr>
      <vt:lpstr>2.2 Принцип действия PON (8/17)</vt:lpstr>
      <vt:lpstr>2.1 Технология PON может быть совмещена с технологией волнового мультиплексирования DWDM (9/17).</vt:lpstr>
      <vt:lpstr>Прямой и обратный поток (10/17)(см. рис.)</vt:lpstr>
      <vt:lpstr>Принцип действия PON (11/17)</vt:lpstr>
      <vt:lpstr>2.3 Развитие технологии PON (12/17)</vt:lpstr>
      <vt:lpstr>Сравнительный анализ трех технологий APON, EPON, GPON</vt:lpstr>
      <vt:lpstr>2.4 Технология PON (13/17)</vt:lpstr>
      <vt:lpstr>Варианты построения сетей оптического доступа</vt:lpstr>
      <vt:lpstr>2.4 Технология PON (14/17)</vt:lpstr>
      <vt:lpstr>Технология PON (15/17)(2вар.)</vt:lpstr>
      <vt:lpstr>Технология PON (16/17)</vt:lpstr>
      <vt:lpstr>Технология PON. Архитектура FTTx (15/17).3 вар. </vt:lpstr>
      <vt:lpstr>  Типовая функциональная схема организации связи по технологии PON. </vt:lpstr>
      <vt:lpstr>Технология PON (17/17)</vt:lpstr>
      <vt:lpstr>Основные преимущества построения PON 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Сети доступа</dc:title>
  <dc:creator>Анастасия</dc:creator>
  <cp:lastModifiedBy>Анастасия</cp:lastModifiedBy>
  <cp:revision>93</cp:revision>
  <dcterms:created xsi:type="dcterms:W3CDTF">2025-11-08T19:02:39Z</dcterms:created>
  <dcterms:modified xsi:type="dcterms:W3CDTF">2025-12-13T19:17:53Z</dcterms:modified>
</cp:coreProperties>
</file>