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7.xml" ContentType="application/vnd.openxmlformats-officedocument.presentationml.notesSlide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7" r:id="rId2"/>
    <p:sldId id="258" r:id="rId3"/>
    <p:sldId id="259" r:id="rId4"/>
    <p:sldId id="260" r:id="rId5"/>
    <p:sldId id="261" r:id="rId6"/>
    <p:sldId id="262" r:id="rId7"/>
    <p:sldId id="311" r:id="rId8"/>
    <p:sldId id="312" r:id="rId9"/>
    <p:sldId id="356" r:id="rId10"/>
    <p:sldId id="412" r:id="rId11"/>
    <p:sldId id="417" r:id="rId12"/>
    <p:sldId id="418" r:id="rId13"/>
    <p:sldId id="354" r:id="rId14"/>
    <p:sldId id="327" r:id="rId15"/>
    <p:sldId id="331" r:id="rId16"/>
    <p:sldId id="328" r:id="rId17"/>
    <p:sldId id="326" r:id="rId18"/>
    <p:sldId id="332" r:id="rId19"/>
    <p:sldId id="414" r:id="rId20"/>
    <p:sldId id="419" r:id="rId21"/>
    <p:sldId id="333" r:id="rId22"/>
    <p:sldId id="335" r:id="rId23"/>
    <p:sldId id="336" r:id="rId24"/>
    <p:sldId id="415" r:id="rId25"/>
    <p:sldId id="357" r:id="rId26"/>
    <p:sldId id="337" r:id="rId27"/>
    <p:sldId id="338" r:id="rId28"/>
    <p:sldId id="378" r:id="rId29"/>
    <p:sldId id="416" r:id="rId30"/>
    <p:sldId id="340" r:id="rId31"/>
    <p:sldId id="341" r:id="rId32"/>
    <p:sldId id="339" r:id="rId33"/>
    <p:sldId id="384" r:id="rId34"/>
    <p:sldId id="343" r:id="rId35"/>
    <p:sldId id="392" r:id="rId36"/>
    <p:sldId id="391" r:id="rId37"/>
    <p:sldId id="383" r:id="rId38"/>
    <p:sldId id="386" r:id="rId39"/>
    <p:sldId id="385" r:id="rId40"/>
    <p:sldId id="342" r:id="rId41"/>
    <p:sldId id="379" r:id="rId42"/>
    <p:sldId id="344" r:id="rId43"/>
    <p:sldId id="345" r:id="rId44"/>
    <p:sldId id="346" r:id="rId45"/>
    <p:sldId id="347" r:id="rId46"/>
    <p:sldId id="393" r:id="rId47"/>
    <p:sldId id="372" r:id="rId48"/>
    <p:sldId id="348" r:id="rId49"/>
    <p:sldId id="388" r:id="rId50"/>
    <p:sldId id="389" r:id="rId51"/>
    <p:sldId id="401" r:id="rId52"/>
    <p:sldId id="406" r:id="rId53"/>
    <p:sldId id="402" r:id="rId54"/>
    <p:sldId id="405" r:id="rId55"/>
    <p:sldId id="407" r:id="rId56"/>
    <p:sldId id="410" r:id="rId57"/>
    <p:sldId id="411" r:id="rId5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3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Office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style val="26"/>
  <c:chart>
    <c:autoTitleDeleted val="1"/>
    <c:plotArea>
      <c:layout>
        <c:manualLayout>
          <c:layoutTarget val="inner"/>
          <c:xMode val="edge"/>
          <c:yMode val="edge"/>
          <c:x val="5.1695304660151785E-2"/>
          <c:y val="3.5282673476194133E-2"/>
          <c:w val="0.75634263983576189"/>
          <c:h val="0.90128911462884365"/>
        </c:manualLayout>
      </c:layout>
      <c:barChart>
        <c:barDir val="col"/>
        <c:grouping val="clustered"/>
        <c:ser>
          <c:idx val="0"/>
          <c:order val="0"/>
          <c:tx>
            <c:strRef>
              <c:f>Лист1!$B$1</c:f>
              <c:strCache>
                <c:ptCount val="1"/>
                <c:pt idx="0">
                  <c:v>МБ в мин</c:v>
                </c:pt>
              </c:strCache>
            </c:strRef>
          </c:tx>
          <c:cat>
            <c:numRef>
              <c:f>Лист1!$A$2:$A$23</c:f>
              <c:numCache>
                <c:formatCode>General</c:formatCode>
                <c:ptCount val="22"/>
              </c:numCache>
            </c:numRef>
          </c:cat>
          <c:val>
            <c:numRef>
              <c:f>Лист1!$B$2:$B$23</c:f>
              <c:numCache>
                <c:formatCode>General</c:formatCode>
                <c:ptCount val="22"/>
                <c:pt idx="0">
                  <c:v>4.3</c:v>
                </c:pt>
                <c:pt idx="5">
                  <c:v>2.4</c:v>
                </c:pt>
                <c:pt idx="8">
                  <c:v>5</c:v>
                </c:pt>
                <c:pt idx="10">
                  <c:v>2</c:v>
                </c:pt>
                <c:pt idx="12">
                  <c:v>3</c:v>
                </c:pt>
                <c:pt idx="13">
                  <c:v>5</c:v>
                </c:pt>
                <c:pt idx="18">
                  <c:v>1.8</c:v>
                </c:pt>
                <c:pt idx="19">
                  <c:v>4.4000000000000004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DE7-4EFF-8ABD-1DBE63B13D81}"/>
            </c:ext>
          </c:extLst>
        </c:ser>
        <c:axId val="164838016"/>
        <c:axId val="164843904"/>
      </c:barChart>
      <c:catAx>
        <c:axId val="164838016"/>
        <c:scaling>
          <c:orientation val="minMax"/>
        </c:scaling>
        <c:axPos val="b"/>
        <c:numFmt formatCode="General" sourceLinked="1"/>
        <c:tickLblPos val="nextTo"/>
        <c:crossAx val="164843904"/>
        <c:crosses val="autoZero"/>
        <c:auto val="1"/>
        <c:lblAlgn val="ctr"/>
        <c:lblOffset val="100"/>
      </c:catAx>
      <c:valAx>
        <c:axId val="164843904"/>
        <c:scaling>
          <c:orientation val="minMax"/>
        </c:scaling>
        <c:axPos val="l"/>
        <c:majorGridlines/>
        <c:numFmt formatCode="General" sourceLinked="1"/>
        <c:tickLblPos val="nextTo"/>
        <c:crossAx val="164838016"/>
        <c:crosses val="autoZero"/>
        <c:crossBetween val="between"/>
      </c:valAx>
    </c:plotArea>
    <c:legend>
      <c:legendPos val="r"/>
      <c:layout/>
    </c:legend>
    <c:plotVisOnly val="1"/>
    <c:dispBlanksAs val="gap"/>
  </c:chart>
  <c:txPr>
    <a:bodyPr/>
    <a:lstStyle/>
    <a:p>
      <a:pPr>
        <a:defRPr sz="1800"/>
      </a:pPr>
      <a:endParaRPr lang="ru-RU"/>
    </a:p>
  </c:txPr>
  <c:externalData r:id="rId1"/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3B5EAA-7CDE-4DC6-B5A8-67B3838007AE}" type="datetimeFigureOut">
              <a:rPr lang="ru-RU" smtClean="0"/>
              <a:pPr/>
              <a:t>03.11.2025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10911-8BAE-4D4E-A0B9-C0468516D763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ru-RU"/>
              <a:t>модуль "Основы теории телекоммуникационных сетей"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FEFC9E-42AD-4B9A-8EBB-E1DA307747F8}" type="slidenum">
              <a:rPr lang="ru-RU"/>
              <a:pPr/>
              <a:t>13</a:t>
            </a:fld>
            <a:endParaRPr lang="ru-RU"/>
          </a:p>
        </p:txBody>
      </p:sp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ru-RU"/>
              <a:t>модуль "Основы теории телекоммуникационных сетей"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C6F675-5E00-42F1-A038-424BAD5872CE}" type="slidenum">
              <a:rPr lang="ru-RU"/>
              <a:pPr/>
              <a:t>15</a:t>
            </a:fld>
            <a:endParaRPr lang="ru-RU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ru-RU"/>
              <a:t>модуль "Основы теории телекоммуникационных сетей"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A1D902-FD15-4817-A024-8FA545042B32}" type="slidenum">
              <a:rPr lang="ru-RU"/>
              <a:pPr/>
              <a:t>18</a:t>
            </a:fld>
            <a:endParaRPr lang="ru-RU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ru-RU"/>
              <a:t>модуль "Основы теории телекоммуникационных сетей"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42AA50-54BA-4CFA-AB2C-270A58DC368F}" type="slidenum">
              <a:rPr lang="ru-RU"/>
              <a:pPr/>
              <a:t>21</a:t>
            </a:fld>
            <a:endParaRPr lang="ru-RU"/>
          </a:p>
        </p:txBody>
      </p:sp>
      <p:sp>
        <p:nvSpPr>
          <p:cNvPr id="24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ru-RU"/>
              <a:t>модуль "Основы теории телекоммуникационных сетей"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92531A-077E-4404-9D5F-770400DDB01A}" type="slidenum">
              <a:rPr lang="ru-RU"/>
              <a:pPr/>
              <a:t>26</a:t>
            </a:fld>
            <a:endParaRPr lang="ru-RU"/>
          </a:p>
        </p:txBody>
      </p:sp>
      <p:sp>
        <p:nvSpPr>
          <p:cNvPr id="245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ru-RU"/>
              <a:t>модуль "Основы теории телекоммуникационных сетей"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F209C1-DB26-477E-86C2-63ECB2E149D6}" type="slidenum">
              <a:rPr lang="ru-RU"/>
              <a:pPr/>
              <a:t>27</a:t>
            </a:fld>
            <a:endParaRPr lang="ru-RU"/>
          </a:p>
        </p:txBody>
      </p:sp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 dirty="0"/>
          </a:p>
        </p:txBody>
      </p:sp>
      <p:sp>
        <p:nvSpPr>
          <p:cNvPr id="97284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5AF970-CD52-4C65-A080-FA9DFE43DBC1}" type="slidenum">
              <a:rPr lang="ru-RU" smtClean="0"/>
              <a:pPr/>
              <a:t>30</a:t>
            </a:fld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65F39-5ED0-47A8-9092-2C85C13A684B}" type="datetimeFigureOut">
              <a:rPr lang="ru-RU" smtClean="0"/>
              <a:pPr/>
              <a:t>03.11.2025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FF773-2EF0-4B62-ABC6-F81EF066F69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65F39-5ED0-47A8-9092-2C85C13A684B}" type="datetimeFigureOut">
              <a:rPr lang="ru-RU" smtClean="0"/>
              <a:pPr/>
              <a:t>03.11.2025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FF773-2EF0-4B62-ABC6-F81EF066F69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65F39-5ED0-47A8-9092-2C85C13A684B}" type="datetimeFigureOut">
              <a:rPr lang="ru-RU" smtClean="0"/>
              <a:pPr/>
              <a:t>03.11.2025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FF773-2EF0-4B62-ABC6-F81EF066F69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65F39-5ED0-47A8-9092-2C85C13A684B}" type="datetimeFigureOut">
              <a:rPr lang="ru-RU" smtClean="0"/>
              <a:pPr/>
              <a:t>03.11.2025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FF773-2EF0-4B62-ABC6-F81EF066F69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65F39-5ED0-47A8-9092-2C85C13A684B}" type="datetimeFigureOut">
              <a:rPr lang="ru-RU" smtClean="0"/>
              <a:pPr/>
              <a:t>03.11.2025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FF773-2EF0-4B62-ABC6-F81EF066F69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65F39-5ED0-47A8-9092-2C85C13A684B}" type="datetimeFigureOut">
              <a:rPr lang="ru-RU" smtClean="0"/>
              <a:pPr/>
              <a:t>03.11.2025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FF773-2EF0-4B62-ABC6-F81EF066F69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65F39-5ED0-47A8-9092-2C85C13A684B}" type="datetimeFigureOut">
              <a:rPr lang="ru-RU" smtClean="0"/>
              <a:pPr/>
              <a:t>03.11.2025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FF773-2EF0-4B62-ABC6-F81EF066F69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65F39-5ED0-47A8-9092-2C85C13A684B}" type="datetimeFigureOut">
              <a:rPr lang="ru-RU" smtClean="0"/>
              <a:pPr/>
              <a:t>03.11.2025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FF773-2EF0-4B62-ABC6-F81EF066F69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65F39-5ED0-47A8-9092-2C85C13A684B}" type="datetimeFigureOut">
              <a:rPr lang="ru-RU" smtClean="0"/>
              <a:pPr/>
              <a:t>03.11.2025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FF773-2EF0-4B62-ABC6-F81EF066F69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65F39-5ED0-47A8-9092-2C85C13A684B}" type="datetimeFigureOut">
              <a:rPr lang="ru-RU" smtClean="0"/>
              <a:pPr/>
              <a:t>03.11.2025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FF773-2EF0-4B62-ABC6-F81EF066F69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65F39-5ED0-47A8-9092-2C85C13A684B}" type="datetimeFigureOut">
              <a:rPr lang="ru-RU" smtClean="0"/>
              <a:pPr/>
              <a:t>03.11.2025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FF773-2EF0-4B62-ABC6-F81EF066F69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7450" y="-387350"/>
            <a:ext cx="7793038" cy="1462088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755650" y="1412875"/>
            <a:ext cx="4027488" cy="4824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935538" y="1412875"/>
            <a:ext cx="4029075" cy="4824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DD6EE6E-5067-49FC-9F3A-79EBA3B0DA1F}" type="slidenum">
              <a:rPr lang="uk-UA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65F39-5ED0-47A8-9092-2C85C13A684B}" type="datetimeFigureOut">
              <a:rPr lang="ru-RU" smtClean="0"/>
              <a:pPr/>
              <a:t>03.11.2025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FF773-2EF0-4B62-ABC6-F81EF066F69D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3.v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6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7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8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ЛЕКЦИЯ 3 -4 ОСИТ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8507288" cy="5001419"/>
          </a:xfrm>
        </p:spPr>
        <p:txBody>
          <a:bodyPr/>
          <a:lstStyle/>
          <a:p>
            <a:pPr marL="355600" lvl="6" indent="0">
              <a:buNone/>
            </a:pPr>
            <a:endParaRPr lang="ru-RU" sz="2400" b="1" dirty="0">
              <a:solidFill>
                <a:schemeClr val="tx2"/>
              </a:solidFill>
            </a:endParaRPr>
          </a:p>
          <a:p>
            <a:pPr marL="355600" lvl="6" indent="0">
              <a:buNone/>
            </a:pPr>
            <a:endParaRPr lang="ru-RU" sz="2400" b="1" dirty="0">
              <a:solidFill>
                <a:schemeClr val="tx2"/>
              </a:solidFill>
            </a:endParaRPr>
          </a:p>
          <a:p>
            <a:pPr marL="355600" lvl="6" indent="0">
              <a:buNone/>
            </a:pPr>
            <a:r>
              <a:rPr lang="ru-RU" sz="2400" b="1" dirty="0"/>
              <a:t>1</a:t>
            </a:r>
            <a:r>
              <a:rPr lang="ru-RU" sz="2800" b="1" dirty="0"/>
              <a:t>.Основные понятия и определения в области </a:t>
            </a:r>
            <a:r>
              <a:rPr lang="ru-RU" sz="2800" b="1" dirty="0" err="1"/>
              <a:t>инфокоммуникаций</a:t>
            </a:r>
            <a:r>
              <a:rPr lang="ru-RU" sz="2800" b="1" dirty="0"/>
              <a:t>.</a:t>
            </a:r>
          </a:p>
          <a:p>
            <a:pPr marL="355600" lvl="6" indent="0">
              <a:buNone/>
            </a:pPr>
            <a:r>
              <a:rPr lang="ru-RU" sz="2800" b="1" dirty="0"/>
              <a:t>2. Понятие сети связи. Элементы сети связи </a:t>
            </a:r>
          </a:p>
          <a:p>
            <a:pPr marL="355600" lvl="6" indent="0">
              <a:buNone/>
            </a:pPr>
            <a:r>
              <a:rPr lang="ru-RU" sz="2800" b="1" dirty="0"/>
              <a:t>3. Виды коммутации (КК, КП,КС)</a:t>
            </a:r>
          </a:p>
          <a:p>
            <a:pPr marL="355600" lvl="6" indent="0">
              <a:buNone/>
            </a:pPr>
            <a:r>
              <a:rPr lang="ru-RU" sz="2800" b="1" dirty="0"/>
              <a:t>4. Сети КП, способы доставки пакетов.</a:t>
            </a:r>
          </a:p>
          <a:p>
            <a:pPr marL="355600" lvl="6" indent="0">
              <a:buNone/>
            </a:pPr>
            <a:endParaRPr lang="ru-RU" sz="2800" b="1" dirty="0"/>
          </a:p>
          <a:p>
            <a:pPr marL="355600" lvl="6" indent="0">
              <a:buNone/>
            </a:pPr>
            <a:endParaRPr lang="ru-RU" sz="2800" b="1" dirty="0"/>
          </a:p>
          <a:p>
            <a:pPr marL="355600" lvl="6" indent="0">
              <a:buNone/>
            </a:pPr>
            <a:endParaRPr lang="ru-RU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tx2"/>
                </a:solidFill>
              </a:rPr>
              <a:t>ОПРЕДЕЛЕНИЯ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Технология – </a:t>
            </a:r>
            <a:r>
              <a:rPr lang="ru-RU" dirty="0"/>
              <a:t>совокупность методов и средств решения практической задачи. </a:t>
            </a:r>
          </a:p>
          <a:p>
            <a:endParaRPr lang="ru-RU" b="1" dirty="0">
              <a:solidFill>
                <a:srgbClr val="FF0000"/>
              </a:solidFill>
            </a:endParaRPr>
          </a:p>
          <a:p>
            <a:r>
              <a:rPr lang="ru-RU" b="1" dirty="0" err="1"/>
              <a:t>Инфокоммуникационные</a:t>
            </a:r>
            <a:r>
              <a:rPr lang="ru-RU" b="1" dirty="0"/>
              <a:t> технологии – </a:t>
            </a:r>
            <a:r>
              <a:rPr lang="ru-RU" dirty="0"/>
              <a:t>совокупность методов и средств реализации процессов:</a:t>
            </a:r>
          </a:p>
          <a:p>
            <a:pPr>
              <a:buNone/>
            </a:pPr>
            <a:r>
              <a:rPr lang="ru-RU" dirty="0"/>
              <a:t>       -  передачи,</a:t>
            </a:r>
          </a:p>
          <a:p>
            <a:pPr>
              <a:buNone/>
            </a:pPr>
            <a:r>
              <a:rPr lang="ru-RU" dirty="0"/>
              <a:t>        - хранения и </a:t>
            </a:r>
          </a:p>
          <a:p>
            <a:pPr>
              <a:buNone/>
            </a:pPr>
            <a:r>
              <a:rPr lang="ru-RU" dirty="0"/>
              <a:t>        - обработки информации (видео, аудио и           данных).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chemeClr val="tx2"/>
                </a:solidFill>
              </a:rPr>
              <a:t>Определения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08720"/>
            <a:ext cx="8964488" cy="5688632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 err="1"/>
              <a:t>Инфокоммуникации</a:t>
            </a:r>
            <a:r>
              <a:rPr lang="ru-RU" b="1" dirty="0"/>
              <a:t> (1) – </a:t>
            </a:r>
            <a:r>
              <a:rPr lang="ru-RU" dirty="0"/>
              <a:t>новая развивающаяся отрасль экономики, основанная на интеграции информационных и телекоммуникационных технологий</a:t>
            </a:r>
            <a:r>
              <a:rPr lang="ru-RU" b="1" dirty="0"/>
              <a:t>. </a:t>
            </a:r>
          </a:p>
          <a:p>
            <a:r>
              <a:rPr lang="ru-RU" b="1" u="sng" dirty="0"/>
              <a:t>Информационные технологии </a:t>
            </a:r>
            <a:r>
              <a:rPr lang="ru-RU" b="1" dirty="0"/>
              <a:t>(ИТ, информационно-коммуникационные технологии)</a:t>
            </a:r>
            <a:r>
              <a:rPr lang="ru-RU" b="1" dirty="0">
                <a:solidFill>
                  <a:srgbClr val="C00000"/>
                </a:solidFill>
              </a:rPr>
              <a:t> </a:t>
            </a:r>
            <a:r>
              <a:rPr lang="ru-RU" b="1" dirty="0"/>
              <a:t>– </a:t>
            </a:r>
            <a:r>
              <a:rPr lang="ru-RU" dirty="0"/>
              <a:t>процессы и методы</a:t>
            </a:r>
          </a:p>
          <a:p>
            <a:pPr>
              <a:buNone/>
            </a:pPr>
            <a:r>
              <a:rPr lang="ru-RU" dirty="0"/>
              <a:t>           - поиска,</a:t>
            </a:r>
          </a:p>
          <a:p>
            <a:pPr>
              <a:buNone/>
            </a:pPr>
            <a:r>
              <a:rPr lang="ru-RU" dirty="0"/>
              <a:t>           - сбора, </a:t>
            </a:r>
          </a:p>
          <a:p>
            <a:pPr marL="804863" indent="-804863">
              <a:buNone/>
            </a:pPr>
            <a:r>
              <a:rPr lang="ru-RU" dirty="0"/>
              <a:t>           - хранения, </a:t>
            </a:r>
          </a:p>
          <a:p>
            <a:pPr marL="804863" indent="-804863">
              <a:buNone/>
            </a:pPr>
            <a:r>
              <a:rPr lang="ru-RU" dirty="0"/>
              <a:t>           - обработки,</a:t>
            </a:r>
          </a:p>
          <a:p>
            <a:pPr>
              <a:buNone/>
            </a:pPr>
            <a:r>
              <a:rPr lang="ru-RU" dirty="0"/>
              <a:t>           -  предоставления,</a:t>
            </a:r>
          </a:p>
          <a:p>
            <a:pPr>
              <a:buNone/>
            </a:pPr>
            <a:r>
              <a:rPr lang="ru-RU" dirty="0"/>
              <a:t>            - распространения информации и</a:t>
            </a:r>
          </a:p>
          <a:p>
            <a:pPr marL="806450">
              <a:buNone/>
            </a:pPr>
            <a:r>
              <a:rPr lang="ru-RU" dirty="0"/>
              <a:t>      - способы осуществления таких процессов и методов. </a:t>
            </a:r>
          </a:p>
          <a:p>
            <a:r>
              <a:rPr lang="ru-RU" b="1" u="sng" dirty="0"/>
              <a:t>Телекоммуникационные технологии - это</a:t>
            </a:r>
          </a:p>
          <a:p>
            <a:pPr>
              <a:buNone/>
            </a:pPr>
            <a:r>
              <a:rPr lang="ru-RU" b="1" dirty="0">
                <a:solidFill>
                  <a:schemeClr val="accent2"/>
                </a:solidFill>
              </a:rPr>
              <a:t>        </a:t>
            </a:r>
            <a:r>
              <a:rPr lang="ru-RU" dirty="0"/>
              <a:t>совокупность методов и средств </a:t>
            </a:r>
            <a:r>
              <a:rPr lang="ru-RU" u="sng" dirty="0"/>
              <a:t>передачи информации</a:t>
            </a:r>
            <a:r>
              <a:rPr lang="ru-RU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tx2"/>
                </a:solidFill>
              </a:rPr>
              <a:t>ОПРЕДЕЛЕНИЯ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80728"/>
            <a:ext cx="8964488" cy="5877272"/>
          </a:xfrm>
        </p:spPr>
        <p:txBody>
          <a:bodyPr>
            <a:normAutofit/>
          </a:bodyPr>
          <a:lstStyle/>
          <a:p>
            <a:r>
              <a:rPr lang="ru-RU" b="1" dirty="0" err="1"/>
              <a:t>Инфокоммуникации</a:t>
            </a:r>
            <a:r>
              <a:rPr lang="ru-RU" b="1" dirty="0"/>
              <a:t> (2) – сфера деятельности, связанная с:</a:t>
            </a:r>
          </a:p>
          <a:p>
            <a:r>
              <a:rPr lang="ru-RU" b="1" dirty="0"/>
              <a:t>       </a:t>
            </a:r>
            <a:r>
              <a:rPr lang="ru-RU" dirty="0"/>
              <a:t>проектированием</a:t>
            </a:r>
          </a:p>
          <a:p>
            <a:r>
              <a:rPr lang="ru-RU" dirty="0"/>
              <a:t>       монтажом, </a:t>
            </a:r>
          </a:p>
          <a:p>
            <a:r>
              <a:rPr lang="ru-RU" dirty="0"/>
              <a:t>      технической эксплуатацией   инфокоммуникационных систем</a:t>
            </a:r>
          </a:p>
          <a:p>
            <a:pPr>
              <a:buNone/>
            </a:pPr>
            <a:r>
              <a:rPr lang="ru-RU" dirty="0"/>
              <a:t>   (ИС – систем передачи обработки, хранения данных),       а также        </a:t>
            </a:r>
          </a:p>
          <a:p>
            <a:r>
              <a:rPr lang="ru-RU" dirty="0"/>
              <a:t>   предоставлением услуг на их основе.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tx2"/>
                </a:solidFill>
              </a:rPr>
              <a:t>Определения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80728"/>
            <a:ext cx="8964488" cy="58772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b="1" dirty="0"/>
              <a:t>     </a:t>
            </a:r>
            <a:r>
              <a:rPr lang="ru-RU" b="1" dirty="0" err="1"/>
              <a:t>Инфокоммуникационная</a:t>
            </a:r>
            <a:r>
              <a:rPr lang="ru-RU" b="1" dirty="0"/>
              <a:t> система – </a:t>
            </a:r>
          </a:p>
          <a:p>
            <a:r>
              <a:rPr lang="ru-RU" dirty="0"/>
              <a:t>1</a:t>
            </a:r>
            <a:r>
              <a:rPr lang="ru-RU" b="1" dirty="0"/>
              <a:t>) </a:t>
            </a:r>
            <a:r>
              <a:rPr lang="ru-RU" b="1" u="sng" dirty="0"/>
              <a:t>совокупность телекоммуникационной сети</a:t>
            </a:r>
            <a:r>
              <a:rPr lang="ru-RU" b="1" dirty="0"/>
              <a:t>, </a:t>
            </a:r>
            <a:r>
              <a:rPr lang="ru-RU" dirty="0"/>
              <a:t>обеспечивающая</a:t>
            </a:r>
            <a:r>
              <a:rPr lang="ru-RU" b="1" dirty="0"/>
              <a:t> </a:t>
            </a:r>
            <a:r>
              <a:rPr lang="ru-RU" u="sng" dirty="0"/>
              <a:t>доставку данных</a:t>
            </a:r>
            <a:r>
              <a:rPr lang="ru-RU" b="1" dirty="0"/>
              <a:t>, </a:t>
            </a:r>
            <a:r>
              <a:rPr lang="ru-RU" dirty="0"/>
              <a:t>источников и потребителей информации; и</a:t>
            </a:r>
          </a:p>
          <a:p>
            <a:r>
              <a:rPr lang="ru-RU" dirty="0"/>
              <a:t>2) </a:t>
            </a:r>
            <a:r>
              <a:rPr lang="ru-RU" b="1" u="sng" dirty="0"/>
              <a:t>совокупность технических средств</a:t>
            </a:r>
            <a:r>
              <a:rPr lang="ru-RU" dirty="0"/>
              <a:t>, обеспечивающих </a:t>
            </a:r>
            <a:r>
              <a:rPr lang="ru-RU" u="sng" dirty="0"/>
              <a:t>сбор, хранение, обработку, распределение, передачу и прием информации </a:t>
            </a:r>
            <a:r>
              <a:rPr lang="ru-RU" dirty="0"/>
              <a:t>посредством электромагнитных сигналов и ее предоставление конечному потребителю.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0"/>
            <a:ext cx="8640960" cy="548680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ОПРЕДЕЛЕНИЯ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476672"/>
            <a:ext cx="8892480" cy="6192688"/>
          </a:xfrm>
        </p:spPr>
        <p:txBody>
          <a:bodyPr>
            <a:normAutofit fontScale="92500" lnSpcReduction="20000"/>
          </a:bodyPr>
          <a:lstStyle/>
          <a:p>
            <a:r>
              <a:rPr lang="ru-RU" sz="3600" b="1" u="sng" dirty="0"/>
              <a:t>Телекоммуникационная сеть </a:t>
            </a:r>
            <a:r>
              <a:rPr lang="ru-RU" b="1" u="sng" dirty="0"/>
              <a:t>–</a:t>
            </a:r>
          </a:p>
          <a:p>
            <a:pPr>
              <a:buNone/>
            </a:pPr>
            <a:r>
              <a:rPr lang="ru-RU" b="1" dirty="0"/>
              <a:t>     это распределенная система:</a:t>
            </a:r>
          </a:p>
          <a:p>
            <a:pPr>
              <a:buNone/>
            </a:pPr>
            <a:r>
              <a:rPr lang="ru-RU" b="1" dirty="0"/>
              <a:t>          - </a:t>
            </a:r>
            <a:r>
              <a:rPr lang="ru-RU" dirty="0"/>
              <a:t>узлов,</a:t>
            </a:r>
          </a:p>
          <a:p>
            <a:pPr>
              <a:buNone/>
            </a:pPr>
            <a:r>
              <a:rPr lang="ru-RU" dirty="0"/>
              <a:t>          - линий связи,</a:t>
            </a:r>
          </a:p>
          <a:p>
            <a:pPr>
              <a:buNone/>
            </a:pPr>
            <a:r>
              <a:rPr lang="ru-RU" dirty="0"/>
              <a:t>          - систем коммутации, </a:t>
            </a:r>
          </a:p>
          <a:p>
            <a:pPr>
              <a:buNone/>
            </a:pPr>
            <a:r>
              <a:rPr lang="ru-RU" b="1" dirty="0"/>
              <a:t>     предназначенных:</a:t>
            </a:r>
          </a:p>
          <a:p>
            <a:pPr>
              <a:buNone/>
            </a:pPr>
            <a:r>
              <a:rPr lang="ru-RU" b="1" dirty="0"/>
              <a:t>            - </a:t>
            </a:r>
            <a:r>
              <a:rPr lang="ru-RU" dirty="0"/>
              <a:t>для маршрутизации,</a:t>
            </a:r>
          </a:p>
          <a:p>
            <a:pPr>
              <a:buNone/>
            </a:pPr>
            <a:r>
              <a:rPr lang="ru-RU" dirty="0"/>
              <a:t>            -  коммутации, </a:t>
            </a:r>
          </a:p>
          <a:p>
            <a:pPr>
              <a:buNone/>
            </a:pPr>
            <a:r>
              <a:rPr lang="ru-RU" dirty="0"/>
              <a:t>            - передачи и/или приема</a:t>
            </a:r>
          </a:p>
          <a:p>
            <a:pPr>
              <a:buNone/>
            </a:pPr>
            <a:r>
              <a:rPr lang="ru-RU" dirty="0"/>
              <a:t>    знаков, сигналов, текста, изображений и звуков, т.е. сообщений любого </a:t>
            </a:r>
            <a:r>
              <a:rPr lang="ru-RU" dirty="0" smtClean="0"/>
              <a:t>рода </a:t>
            </a:r>
            <a:r>
              <a:rPr lang="ru-RU" dirty="0"/>
              <a:t>по радио, проводным, оптическим или другим электромагнитным системам между конечным оборудованием. </a:t>
            </a:r>
          </a:p>
          <a:p>
            <a:pPr>
              <a:buNone/>
            </a:pPr>
            <a:endParaRPr lang="ru-RU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ОПРЕДЕЛЕНИЯ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836712"/>
            <a:ext cx="8964488" cy="5832648"/>
          </a:xfrm>
        </p:spPr>
        <p:txBody>
          <a:bodyPr>
            <a:normAutofit fontScale="92500" lnSpcReduction="20000"/>
          </a:bodyPr>
          <a:lstStyle/>
          <a:p>
            <a:r>
              <a:rPr lang="ru-RU" b="1" u="sng" dirty="0"/>
              <a:t>Сеть </a:t>
            </a:r>
            <a:r>
              <a:rPr lang="ru-RU" b="1" u="sng" dirty="0" err="1"/>
              <a:t>инфокоммуникаций</a:t>
            </a:r>
            <a:r>
              <a:rPr lang="ru-RU" b="1" u="sng" dirty="0"/>
              <a:t> </a:t>
            </a:r>
            <a:r>
              <a:rPr lang="ru-RU" b="1" dirty="0"/>
              <a:t>–</a:t>
            </a:r>
          </a:p>
          <a:p>
            <a:pPr>
              <a:buNone/>
            </a:pPr>
            <a:r>
              <a:rPr lang="ru-RU" b="1" dirty="0"/>
              <a:t>  </a:t>
            </a:r>
            <a:r>
              <a:rPr lang="ru-RU" dirty="0"/>
              <a:t>это распределенная система:</a:t>
            </a:r>
          </a:p>
          <a:p>
            <a:pPr>
              <a:buNone/>
            </a:pPr>
            <a:r>
              <a:rPr lang="ru-RU" dirty="0"/>
              <a:t>         - узлов,</a:t>
            </a:r>
          </a:p>
          <a:p>
            <a:pPr>
              <a:buNone/>
            </a:pPr>
            <a:r>
              <a:rPr lang="ru-RU" dirty="0"/>
              <a:t>         - линий связи,</a:t>
            </a:r>
          </a:p>
          <a:p>
            <a:pPr>
              <a:buNone/>
            </a:pPr>
            <a:r>
              <a:rPr lang="ru-RU" dirty="0"/>
              <a:t>         - систем управления, </a:t>
            </a:r>
          </a:p>
          <a:p>
            <a:pPr>
              <a:buNone/>
            </a:pPr>
            <a:r>
              <a:rPr lang="ru-RU" dirty="0"/>
              <a:t> предназначенных для предоставления услуг</a:t>
            </a:r>
          </a:p>
          <a:p>
            <a:pPr>
              <a:buNone/>
            </a:pPr>
            <a:r>
              <a:rPr lang="ru-RU" dirty="0"/>
              <a:t> (реализации процессов</a:t>
            </a:r>
            <a:r>
              <a:rPr lang="ru-RU" dirty="0" smtClean="0"/>
              <a:t>):</a:t>
            </a:r>
            <a:endParaRPr lang="ru-RU" dirty="0"/>
          </a:p>
          <a:p>
            <a:pPr>
              <a:buNone/>
            </a:pPr>
            <a:r>
              <a:rPr lang="ru-RU" dirty="0"/>
              <a:t>        - формирования,</a:t>
            </a:r>
          </a:p>
          <a:p>
            <a:pPr>
              <a:buNone/>
            </a:pPr>
            <a:r>
              <a:rPr lang="ru-RU" dirty="0"/>
              <a:t>        - передачи, </a:t>
            </a:r>
          </a:p>
          <a:p>
            <a:pPr>
              <a:buNone/>
            </a:pPr>
            <a:r>
              <a:rPr lang="ru-RU" dirty="0"/>
              <a:t>        - хранения,</a:t>
            </a:r>
          </a:p>
          <a:p>
            <a:pPr>
              <a:buNone/>
            </a:pPr>
            <a:r>
              <a:rPr lang="ru-RU" dirty="0"/>
              <a:t>        - обработки и </a:t>
            </a:r>
          </a:p>
          <a:p>
            <a:pPr marL="0" indent="0">
              <a:buNone/>
            </a:pPr>
            <a:r>
              <a:rPr lang="ru-RU" dirty="0"/>
              <a:t>        - воспроизведения информации.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Определения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28592"/>
          </a:xfrm>
        </p:spPr>
        <p:txBody>
          <a:bodyPr/>
          <a:lstStyle/>
          <a:p>
            <a:r>
              <a:rPr lang="ru-RU" b="1" dirty="0"/>
              <a:t>Коммутация – </a:t>
            </a:r>
            <a:r>
              <a:rPr lang="ru-RU" dirty="0"/>
              <a:t>процесс управляемой передачи информации с заданных входов на заданные выходы устройства (системы). </a:t>
            </a:r>
          </a:p>
          <a:p>
            <a:endParaRPr lang="ru-RU" b="1" dirty="0"/>
          </a:p>
          <a:p>
            <a:r>
              <a:rPr lang="ru-RU" b="1" dirty="0"/>
              <a:t>Маршрутизация – </a:t>
            </a:r>
            <a:r>
              <a:rPr lang="ru-RU" dirty="0"/>
              <a:t>процесс организации пути передачи информации через множество узлов.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tx2"/>
                </a:solidFill>
              </a:rPr>
              <a:t>Сети связи и их классификация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chemeClr val="tx2"/>
                </a:solidFill>
              </a:rPr>
              <a:t>      1. Понятие сети связи</a:t>
            </a:r>
            <a:br>
              <a:rPr lang="ru-RU" b="1" dirty="0">
                <a:solidFill>
                  <a:schemeClr val="tx2"/>
                </a:solidFill>
              </a:rPr>
            </a:br>
            <a:r>
              <a:rPr lang="ru-RU" b="1" dirty="0">
                <a:solidFill>
                  <a:schemeClr val="tx2"/>
                </a:solidFill>
              </a:rPr>
              <a:t>      2. Услуги</a:t>
            </a:r>
            <a:br>
              <a:rPr lang="ru-RU" b="1" dirty="0">
                <a:solidFill>
                  <a:schemeClr val="tx2"/>
                </a:solidFill>
              </a:rPr>
            </a:br>
            <a:r>
              <a:rPr lang="ru-RU" b="1" dirty="0">
                <a:solidFill>
                  <a:schemeClr val="tx2"/>
                </a:solidFill>
              </a:rPr>
              <a:t>      3. Основные элементы сети связи</a:t>
            </a:r>
          </a:p>
          <a:p>
            <a:pPr>
              <a:buNone/>
            </a:pPr>
            <a:r>
              <a:rPr lang="ru-RU" b="1" dirty="0">
                <a:solidFill>
                  <a:schemeClr val="tx2"/>
                </a:solidFill>
              </a:rPr>
              <a:t>          4. Способы коммутации</a:t>
            </a:r>
          </a:p>
          <a:p>
            <a:pPr>
              <a:buNone/>
            </a:pPr>
            <a:r>
              <a:rPr lang="ru-RU" b="1" dirty="0">
                <a:solidFill>
                  <a:schemeClr val="tx2"/>
                </a:solidFill>
              </a:rPr>
              <a:t>          5. Способы доставки пакетов</a:t>
            </a:r>
          </a:p>
          <a:p>
            <a:pPr>
              <a:buNone/>
            </a:pPr>
            <a:r>
              <a:rPr lang="ru-RU" b="1" dirty="0">
                <a:solidFill>
                  <a:schemeClr val="tx2"/>
                </a:solidFill>
              </a:rPr>
              <a:t>          6. Классификация сетей</a:t>
            </a:r>
          </a:p>
          <a:p>
            <a:pPr>
              <a:buNone/>
            </a:pPr>
            <a:r>
              <a:rPr lang="ru-RU" b="1" dirty="0">
                <a:solidFill>
                  <a:schemeClr val="tx2"/>
                </a:solidFill>
              </a:rPr>
              <a:t>         7. Этапы развития</a:t>
            </a:r>
            <a:endParaRPr lang="en-US" b="1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tx2"/>
                </a:solidFill>
              </a:rPr>
              <a:t>           </a:t>
            </a:r>
            <a:r>
              <a:rPr lang="ru-RU" b="1" dirty="0">
                <a:solidFill>
                  <a:schemeClr val="tx2"/>
                </a:solidFill>
              </a:rPr>
              <a:t>  </a:t>
            </a:r>
            <a:r>
              <a:rPr lang="ru-RU" b="1" dirty="0" err="1">
                <a:solidFill>
                  <a:schemeClr val="tx2"/>
                </a:solidFill>
              </a:rPr>
              <a:t>ТФоП</a:t>
            </a:r>
            <a:r>
              <a:rPr lang="ru-RU" b="1" dirty="0">
                <a:solidFill>
                  <a:schemeClr val="tx2"/>
                </a:solidFill>
              </a:rPr>
              <a:t>,</a:t>
            </a:r>
            <a:r>
              <a:rPr lang="en-US" b="1" dirty="0">
                <a:solidFill>
                  <a:schemeClr val="tx2"/>
                </a:solidFill>
              </a:rPr>
              <a:t> ISDN</a:t>
            </a:r>
            <a:r>
              <a:rPr lang="ru-RU" b="1" dirty="0">
                <a:solidFill>
                  <a:schemeClr val="tx2"/>
                </a:solidFill>
              </a:rPr>
              <a:t>,</a:t>
            </a:r>
            <a:r>
              <a:rPr lang="en-US" b="1" dirty="0">
                <a:solidFill>
                  <a:schemeClr val="tx2"/>
                </a:solidFill>
              </a:rPr>
              <a:t> I</a:t>
            </a:r>
            <a:r>
              <a:rPr lang="ru-RU" b="1" dirty="0">
                <a:solidFill>
                  <a:schemeClr val="tx2"/>
                </a:solidFill>
              </a:rPr>
              <a:t>,</a:t>
            </a:r>
            <a:r>
              <a:rPr lang="en-US" b="1" dirty="0">
                <a:solidFill>
                  <a:schemeClr val="tx2"/>
                </a:solidFill>
              </a:rPr>
              <a:t>  NGN</a:t>
            </a:r>
            <a:r>
              <a:rPr lang="ru-RU" b="1" dirty="0">
                <a:solidFill>
                  <a:schemeClr val="tx2"/>
                </a:solidFill>
              </a:rPr>
              <a:t> (</a:t>
            </a:r>
            <a:r>
              <a:rPr lang="en-US" b="1" dirty="0">
                <a:solidFill>
                  <a:schemeClr val="tx2"/>
                </a:solidFill>
              </a:rPr>
              <a:t> IMS</a:t>
            </a:r>
            <a:r>
              <a:rPr lang="ru-RU" b="1" dirty="0">
                <a:solidFill>
                  <a:schemeClr val="tx2"/>
                </a:solidFill>
              </a:rPr>
              <a:t>)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chemeClr val="tx2"/>
                </a:solidFill>
              </a:rPr>
              <a:t>1.1ОПРЕДЕЛЕНИЯ</a:t>
            </a:r>
            <a:endParaRPr lang="ru-RU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l="2521" t="11628" b="10849"/>
          <a:stretch>
            <a:fillRect/>
          </a:stretch>
        </p:blipFill>
        <p:spPr bwMode="auto">
          <a:xfrm>
            <a:off x="0" y="980728"/>
            <a:ext cx="8964487" cy="561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l="3738" t="5405" b="10272"/>
          <a:stretch>
            <a:fillRect/>
          </a:stretch>
        </p:blipFill>
        <p:spPr bwMode="auto">
          <a:xfrm>
            <a:off x="179512" y="260648"/>
            <a:ext cx="9217024" cy="6408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l="5357" t="3814" r="6250" b="11863"/>
          <a:stretch>
            <a:fillRect/>
          </a:stretch>
        </p:blipFill>
        <p:spPr bwMode="auto">
          <a:xfrm>
            <a:off x="179512" y="188640"/>
            <a:ext cx="8964488" cy="6480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F39AA-7228-4EA9-B8EE-88DCA18EFEA2}" type="slidenum">
              <a:rPr lang="uk-UA"/>
              <a:pPr/>
              <a:t>13</a:t>
            </a:fld>
            <a:endParaRPr lang="uk-UA"/>
          </a:p>
        </p:txBody>
      </p:sp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2"/>
                </a:solidFill>
              </a:rPr>
              <a:t>Понятие «сеть связи»</a:t>
            </a:r>
            <a:endParaRPr lang="uk-UA" dirty="0">
              <a:solidFill>
                <a:schemeClr val="tx2"/>
              </a:solidFill>
            </a:endParaRP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1520" y="836713"/>
            <a:ext cx="8713093" cy="122413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None/>
            </a:pPr>
            <a:r>
              <a:rPr lang="ru-RU" sz="2800" b="1" dirty="0"/>
              <a:t>Сеть связи  </a:t>
            </a:r>
            <a:r>
              <a:rPr lang="ru-RU" sz="2800" dirty="0"/>
              <a:t>- совокупность узлов, каналов и линий связи, обеспечивающих передачу и прием сигналов между отправителем и получателем</a:t>
            </a:r>
          </a:p>
          <a:p>
            <a:pPr>
              <a:buFont typeface="Wingdings" pitchFamily="2" charset="2"/>
              <a:buNone/>
            </a:pPr>
            <a:endParaRPr lang="ru-RU" sz="2400" dirty="0"/>
          </a:p>
          <a:p>
            <a:pPr>
              <a:buFont typeface="Wingdings" pitchFamily="2" charset="2"/>
              <a:buNone/>
            </a:pPr>
            <a:endParaRPr lang="uk-UA" sz="2400" dirty="0"/>
          </a:p>
        </p:txBody>
      </p:sp>
      <p:sp>
        <p:nvSpPr>
          <p:cNvPr id="193565" name="Text Box 29"/>
          <p:cNvSpPr txBox="1">
            <a:spLocks noChangeArrowheads="1"/>
          </p:cNvSpPr>
          <p:nvPr/>
        </p:nvSpPr>
        <p:spPr bwMode="auto">
          <a:xfrm>
            <a:off x="5004048" y="1916832"/>
            <a:ext cx="3890715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400" b="1" dirty="0"/>
              <a:t>Обобщенная структура сети связи:</a:t>
            </a:r>
          </a:p>
          <a:p>
            <a:pPr>
              <a:spcBef>
                <a:spcPct val="50000"/>
              </a:spcBef>
            </a:pPr>
            <a:r>
              <a:rPr lang="ru-RU" sz="2400" dirty="0"/>
              <a:t>1 уровень – источники и потребители информации</a:t>
            </a:r>
          </a:p>
          <a:p>
            <a:pPr>
              <a:spcBef>
                <a:spcPct val="50000"/>
              </a:spcBef>
            </a:pPr>
            <a:r>
              <a:rPr lang="ru-RU" sz="2400" dirty="0"/>
              <a:t>2 уровень – терминальные и оконечные устройства</a:t>
            </a:r>
          </a:p>
          <a:p>
            <a:pPr>
              <a:spcBef>
                <a:spcPct val="50000"/>
              </a:spcBef>
            </a:pPr>
            <a:r>
              <a:rPr lang="ru-RU" sz="2400" dirty="0"/>
              <a:t>3 уровень – линии и каналы связи</a:t>
            </a:r>
          </a:p>
          <a:p>
            <a:pPr>
              <a:spcBef>
                <a:spcPct val="50000"/>
              </a:spcBef>
            </a:pPr>
            <a:r>
              <a:rPr lang="ru-RU" sz="2400" dirty="0"/>
              <a:t>4 уровень – коммутационные системы</a:t>
            </a:r>
          </a:p>
        </p:txBody>
      </p:sp>
      <p:graphicFrame>
        <p:nvGraphicFramePr>
          <p:cNvPr id="193567" name="Object 31"/>
          <p:cNvGraphicFramePr>
            <a:graphicFrameLocks noGrp="1" noChangeAspect="1"/>
          </p:cNvGraphicFramePr>
          <p:nvPr>
            <p:ph sz="half" idx="2"/>
          </p:nvPr>
        </p:nvGraphicFramePr>
        <p:xfrm>
          <a:off x="251520" y="2060848"/>
          <a:ext cx="4533205" cy="4549502"/>
        </p:xfrm>
        <a:graphic>
          <a:graphicData uri="http://schemas.openxmlformats.org/presentationml/2006/ole">
            <p:oleObj spid="_x0000_s73732" name="Visio" r:id="rId4" imgW="7274052" imgH="7172325" progId="">
              <p:embed/>
            </p:oleObj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92696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Основные элементы сети связи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b="1" u="sng" dirty="0"/>
              <a:t>Терминальное оборудование </a:t>
            </a:r>
            <a:r>
              <a:rPr lang="ru-RU" b="1" dirty="0"/>
              <a:t>– оконечное оборудование,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b="1" dirty="0"/>
              <a:t> которым пользуется абонент/потребитель:</a:t>
            </a:r>
          </a:p>
          <a:p>
            <a:pPr>
              <a:lnSpc>
                <a:spcPct val="80000"/>
              </a:lnSpc>
            </a:pPr>
            <a:r>
              <a:rPr lang="ru-RU" dirty="0"/>
              <a:t>Телефонные аппараты</a:t>
            </a:r>
          </a:p>
          <a:p>
            <a:pPr>
              <a:lnSpc>
                <a:spcPct val="80000"/>
              </a:lnSpc>
            </a:pPr>
            <a:r>
              <a:rPr lang="ru-RU" dirty="0"/>
              <a:t>Мобильные телефоны</a:t>
            </a:r>
          </a:p>
          <a:p>
            <a:pPr>
              <a:lnSpc>
                <a:spcPct val="80000"/>
              </a:lnSpc>
            </a:pPr>
            <a:r>
              <a:rPr lang="ru-RU" dirty="0"/>
              <a:t>Компьютеры</a:t>
            </a:r>
          </a:p>
          <a:p>
            <a:pPr>
              <a:lnSpc>
                <a:spcPct val="80000"/>
              </a:lnSpc>
            </a:pPr>
            <a:r>
              <a:rPr lang="ru-RU" dirty="0"/>
              <a:t>Факсы</a:t>
            </a:r>
          </a:p>
          <a:p>
            <a:pPr>
              <a:lnSpc>
                <a:spcPct val="80000"/>
              </a:lnSpc>
            </a:pPr>
            <a:r>
              <a:rPr lang="ru-RU" dirty="0"/>
              <a:t>Принтеры</a:t>
            </a:r>
          </a:p>
          <a:p>
            <a:pPr>
              <a:lnSpc>
                <a:spcPct val="80000"/>
              </a:lnSpc>
            </a:pPr>
            <a:r>
              <a:rPr lang="ru-RU" dirty="0"/>
              <a:t>Телеграфные аппараты</a:t>
            </a:r>
          </a:p>
          <a:p>
            <a:pPr>
              <a:lnSpc>
                <a:spcPct val="80000"/>
              </a:lnSpc>
            </a:pPr>
            <a:r>
              <a:rPr lang="ru-RU" dirty="0" err="1"/>
              <a:t>Плотеры</a:t>
            </a:r>
            <a:endParaRPr lang="ru-RU" dirty="0"/>
          </a:p>
          <a:p>
            <a:pPr>
              <a:lnSpc>
                <a:spcPct val="80000"/>
              </a:lnSpc>
            </a:pPr>
            <a:r>
              <a:rPr lang="ru-RU" dirty="0"/>
              <a:t>Многофункциональные терминалы</a:t>
            </a:r>
          </a:p>
          <a:p>
            <a:pPr>
              <a:lnSpc>
                <a:spcPct val="80000"/>
              </a:lnSpc>
            </a:pPr>
            <a:endParaRPr lang="ru-RU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b="1" u="sng" dirty="0"/>
              <a:t>Сетевое оборудование</a:t>
            </a:r>
            <a:r>
              <a:rPr lang="ru-RU" b="1" dirty="0"/>
              <a:t> </a:t>
            </a:r>
            <a:r>
              <a:rPr lang="ru-RU" dirty="0"/>
              <a:t>– это оборудование коллективного использования: </a:t>
            </a:r>
            <a:endParaRPr lang="ru-RU" dirty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</a:pPr>
            <a:r>
              <a:rPr lang="ru-RU" dirty="0"/>
              <a:t>Коммутационные узлы</a:t>
            </a:r>
          </a:p>
          <a:p>
            <a:pPr>
              <a:lnSpc>
                <a:spcPct val="80000"/>
              </a:lnSpc>
            </a:pPr>
            <a:r>
              <a:rPr lang="ru-RU" dirty="0" err="1"/>
              <a:t>Маршрутизаторы</a:t>
            </a:r>
            <a:endParaRPr lang="ru-RU" dirty="0"/>
          </a:p>
          <a:p>
            <a:pPr>
              <a:lnSpc>
                <a:spcPct val="80000"/>
              </a:lnSpc>
            </a:pPr>
            <a:r>
              <a:rPr lang="ru-RU" dirty="0"/>
              <a:t>Средства промежуточного хранения информации</a:t>
            </a:r>
          </a:p>
          <a:p>
            <a:pPr>
              <a:lnSpc>
                <a:spcPct val="80000"/>
              </a:lnSpc>
            </a:pPr>
            <a:r>
              <a:rPr lang="ru-RU" dirty="0"/>
              <a:t>Средства управления сетевыми элементами и </a:t>
            </a:r>
          </a:p>
          <a:p>
            <a:pPr>
              <a:lnSpc>
                <a:spcPct val="80000"/>
              </a:lnSpc>
              <a:buNone/>
            </a:pPr>
            <a:r>
              <a:rPr lang="ru-RU" dirty="0"/>
              <a:t>      информационными потоками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4439-35EF-4458-B099-B11D5FD86BD6}" type="slidenum">
              <a:rPr lang="uk-UA"/>
              <a:pPr/>
              <a:t>15</a:t>
            </a:fld>
            <a:endParaRPr lang="uk-UA"/>
          </a:p>
        </p:txBody>
      </p:sp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sz="4000" b="1" dirty="0">
                <a:solidFill>
                  <a:schemeClr val="tx2"/>
                </a:solidFill>
              </a:rPr>
              <a:t>Основные элементы сети связи</a:t>
            </a:r>
          </a:p>
        </p:txBody>
      </p:sp>
      <p:graphicFrame>
        <p:nvGraphicFramePr>
          <p:cNvPr id="217095" name="Object 7"/>
          <p:cNvGraphicFramePr>
            <a:graphicFrameLocks noGrp="1" noChangeAspect="1"/>
          </p:cNvGraphicFramePr>
          <p:nvPr>
            <p:ph sz="half" idx="1"/>
          </p:nvPr>
        </p:nvGraphicFramePr>
        <p:xfrm>
          <a:off x="899592" y="2852936"/>
          <a:ext cx="4897437" cy="1701800"/>
        </p:xfrm>
        <a:graphic>
          <a:graphicData uri="http://schemas.openxmlformats.org/presentationml/2006/ole">
            <p:oleObj spid="_x0000_s69640" name="Visio" r:id="rId4" imgW="3997833" imgH="1387602" progId="">
              <p:embed/>
            </p:oleObj>
          </a:graphicData>
        </a:graphic>
      </p:graphicFrame>
      <p:sp>
        <p:nvSpPr>
          <p:cNvPr id="217099" name="Text Box 11"/>
          <p:cNvSpPr txBox="1">
            <a:spLocks noChangeArrowheads="1"/>
          </p:cNvSpPr>
          <p:nvPr/>
        </p:nvSpPr>
        <p:spPr bwMode="auto">
          <a:xfrm>
            <a:off x="0" y="908720"/>
            <a:ext cx="9144000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endParaRPr lang="ru-RU" sz="2000" dirty="0"/>
          </a:p>
          <a:p>
            <a:pPr>
              <a:spcBef>
                <a:spcPct val="50000"/>
              </a:spcBef>
            </a:pPr>
            <a:r>
              <a:rPr lang="ru-RU" sz="2000" dirty="0"/>
              <a:t>   1.  Линия связи = </a:t>
            </a:r>
            <a:r>
              <a:rPr lang="en-US" sz="2000" dirty="0"/>
              <a:t>{</a:t>
            </a:r>
            <a:r>
              <a:rPr lang="ru-RU" sz="2000" dirty="0"/>
              <a:t>1 </a:t>
            </a:r>
            <a:r>
              <a:rPr lang="en-US" sz="2000" dirty="0"/>
              <a:t>…</a:t>
            </a:r>
            <a:r>
              <a:rPr lang="ru-RU" sz="2000" dirty="0"/>
              <a:t> </a:t>
            </a:r>
            <a:r>
              <a:rPr lang="en-US" sz="2000" dirty="0"/>
              <a:t>N} </a:t>
            </a:r>
            <a:r>
              <a:rPr lang="ru-RU" sz="2000" dirty="0"/>
              <a:t>каналов связи между узлами связи.</a:t>
            </a:r>
          </a:p>
          <a:p>
            <a:pPr>
              <a:spcBef>
                <a:spcPct val="50000"/>
              </a:spcBef>
            </a:pPr>
            <a:r>
              <a:rPr lang="ru-RU" sz="2000" dirty="0"/>
              <a:t>   2.  Линии связи связывают узлы связи и терминальное оборудование</a:t>
            </a:r>
          </a:p>
          <a:p>
            <a:pPr>
              <a:spcBef>
                <a:spcPct val="50000"/>
              </a:spcBef>
            </a:pPr>
            <a:r>
              <a:rPr lang="ru-RU" sz="2000" dirty="0"/>
              <a:t>        потребителей.</a:t>
            </a:r>
          </a:p>
        </p:txBody>
      </p:sp>
      <p:graphicFrame>
        <p:nvGraphicFramePr>
          <p:cNvPr id="217100" name="Object 12"/>
          <p:cNvGraphicFramePr>
            <a:graphicFrameLocks noGrp="1" noChangeAspect="1"/>
          </p:cNvGraphicFramePr>
          <p:nvPr>
            <p:ph sz="half" idx="2"/>
          </p:nvPr>
        </p:nvGraphicFramePr>
        <p:xfrm>
          <a:off x="971550" y="4365104"/>
          <a:ext cx="7416800" cy="2088084"/>
        </p:xfrm>
        <a:graphic>
          <a:graphicData uri="http://schemas.openxmlformats.org/presentationml/2006/ole">
            <p:oleObj spid="_x0000_s69641" name="Visio" r:id="rId5" imgW="7904988" imgH="2782824" progId="">
              <p:embed/>
            </p:oleObj>
          </a:graphicData>
        </a:graphic>
      </p:graphicFrame>
      <p:graphicFrame>
        <p:nvGraphicFramePr>
          <p:cNvPr id="7" name="Object 12"/>
          <p:cNvGraphicFramePr>
            <a:graphicFrameLocks noChangeAspect="1"/>
          </p:cNvGraphicFramePr>
          <p:nvPr/>
        </p:nvGraphicFramePr>
        <p:xfrm>
          <a:off x="971600" y="4365104"/>
          <a:ext cx="7416800" cy="2088084"/>
        </p:xfrm>
        <a:graphic>
          <a:graphicData uri="http://schemas.openxmlformats.org/presentationml/2006/ole">
            <p:oleObj spid="_x0000_s69642" name="Visio" r:id="rId6" imgW="7904988" imgH="2782824" progId="">
              <p:embed/>
            </p:oleObj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4869160"/>
            <a:ext cx="8280920" cy="566738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chemeClr val="tx2"/>
                </a:solidFill>
              </a:rPr>
              <a:t>Основные элементы сети связи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0" y="5367338"/>
            <a:ext cx="8964488" cy="1490662"/>
          </a:xfrm>
        </p:spPr>
        <p:txBody>
          <a:bodyPr>
            <a:normAutofit/>
          </a:bodyPr>
          <a:lstStyle/>
          <a:p>
            <a:r>
              <a:rPr lang="ru-RU" sz="2400" b="1" u="sng" dirty="0"/>
              <a:t>Линия связи </a:t>
            </a:r>
            <a:r>
              <a:rPr lang="ru-RU" sz="2400" dirty="0"/>
              <a:t>– совокупность физической среды и каналообразующего оборудования, обеспечивающих передачу сигналов</a:t>
            </a:r>
          </a:p>
          <a:p>
            <a:endParaRPr lang="ru-RU" dirty="0"/>
          </a:p>
        </p:txBody>
      </p:sp>
      <p:graphicFrame>
        <p:nvGraphicFramePr>
          <p:cNvPr id="67586" name="Object 2"/>
          <p:cNvGraphicFramePr>
            <a:graphicFrameLocks noGrp="1" noChangeAspect="1"/>
          </p:cNvGraphicFramePr>
          <p:nvPr>
            <p:ph type="pic" idx="1"/>
          </p:nvPr>
        </p:nvGraphicFramePr>
        <p:xfrm>
          <a:off x="1848160" y="612775"/>
          <a:ext cx="5374656" cy="4114800"/>
        </p:xfrm>
        <a:graphic>
          <a:graphicData uri="http://schemas.openxmlformats.org/presentationml/2006/ole">
            <p:oleObj spid="_x0000_s67588" name="Visio" r:id="rId3" imgW="6210300" imgH="4754118" progId="">
              <p:embed/>
            </p:oleObj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ru-RU" sz="3600" b="1" dirty="0">
                <a:solidFill>
                  <a:schemeClr val="tx2"/>
                </a:solidFill>
              </a:rPr>
              <a:t>Услуги</a:t>
            </a:r>
            <a:r>
              <a:rPr lang="ru-RU" dirty="0"/>
              <a:t>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61662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800" b="1" u="sng" dirty="0"/>
              <a:t>Услуги реального времени:</a:t>
            </a:r>
          </a:p>
          <a:p>
            <a:pPr lvl="1">
              <a:lnSpc>
                <a:spcPct val="90000"/>
              </a:lnSpc>
            </a:pPr>
            <a:r>
              <a:rPr lang="ru-RU" dirty="0"/>
              <a:t>Голосовая и видео- телефония</a:t>
            </a:r>
          </a:p>
          <a:p>
            <a:pPr lvl="1">
              <a:lnSpc>
                <a:spcPct val="90000"/>
              </a:lnSpc>
            </a:pPr>
            <a:r>
              <a:rPr lang="ru-RU" dirty="0"/>
              <a:t>Передача данных</a:t>
            </a:r>
          </a:p>
          <a:p>
            <a:pPr lvl="1">
              <a:lnSpc>
                <a:spcPct val="90000"/>
              </a:lnSpc>
            </a:pPr>
            <a:r>
              <a:rPr lang="ru-RU" dirty="0"/>
              <a:t>Интернет доступ/поиск в </a:t>
            </a:r>
            <a:r>
              <a:rPr lang="ru-RU" i="1" dirty="0" err="1"/>
              <a:t>World</a:t>
            </a:r>
            <a:r>
              <a:rPr lang="ru-RU" i="1" dirty="0"/>
              <a:t> </a:t>
            </a:r>
            <a:r>
              <a:rPr lang="ru-RU" i="1" dirty="0" err="1"/>
              <a:t>Wide</a:t>
            </a:r>
            <a:r>
              <a:rPr lang="ru-RU" i="1" dirty="0"/>
              <a:t> </a:t>
            </a:r>
            <a:r>
              <a:rPr lang="ru-RU" i="1" dirty="0" err="1"/>
              <a:t>Web</a:t>
            </a:r>
            <a:r>
              <a:rPr lang="ru-RU" dirty="0"/>
              <a:t> 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WEB-</a:t>
            </a:r>
            <a:r>
              <a:rPr lang="ru-RU" dirty="0"/>
              <a:t>радио вещание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TV ( </a:t>
            </a:r>
            <a:r>
              <a:rPr lang="ru-RU" dirty="0"/>
              <a:t>эфирное, кабельное)</a:t>
            </a:r>
          </a:p>
          <a:p>
            <a:pPr>
              <a:lnSpc>
                <a:spcPct val="90000"/>
              </a:lnSpc>
            </a:pPr>
            <a:r>
              <a:rPr lang="ru-RU" sz="2800" b="1" u="sng" dirty="0"/>
              <a:t>Услуги </a:t>
            </a:r>
            <a:r>
              <a:rPr lang="en-US" sz="2800" b="1" u="sng" dirty="0"/>
              <a:t>c</a:t>
            </a:r>
            <a:r>
              <a:rPr lang="ru-RU" sz="2800" b="1" u="sng" dirty="0"/>
              <a:t> промежуточным накоплением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SMS</a:t>
            </a:r>
            <a:endParaRPr lang="ru-RU" dirty="0"/>
          </a:p>
          <a:p>
            <a:pPr lvl="1">
              <a:lnSpc>
                <a:spcPct val="90000"/>
              </a:lnSpc>
            </a:pPr>
            <a:r>
              <a:rPr lang="en-US" dirty="0"/>
              <a:t>MMS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 mail ( </a:t>
            </a:r>
            <a:r>
              <a:rPr lang="ru-RU" dirty="0"/>
              <a:t>электронная почта</a:t>
            </a:r>
            <a:r>
              <a:rPr lang="ru-RU" sz="2400" dirty="0"/>
              <a:t>)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898A9-4A39-49F8-BDE3-F76A6EFCC000}" type="slidenum">
              <a:rPr lang="uk-UA"/>
              <a:pPr/>
              <a:t>18</a:t>
            </a:fld>
            <a:endParaRPr lang="uk-UA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836712"/>
            <a:ext cx="8964488" cy="5832648"/>
          </a:xfrm>
        </p:spPr>
        <p:txBody>
          <a:bodyPr/>
          <a:lstStyle/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ru-RU" sz="2800" b="1" dirty="0"/>
              <a:t>Виды коммутации в КС: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ru-RU" sz="2000" dirty="0">
              <a:solidFill>
                <a:srgbClr val="C00000"/>
              </a:solidFill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400" u="sng" dirty="0"/>
              <a:t>Долговременная коммутация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400" u="sng" dirty="0">
                <a:solidFill>
                  <a:schemeClr val="accent2"/>
                </a:solidFill>
              </a:rPr>
              <a:t> </a:t>
            </a:r>
            <a:r>
              <a:rPr lang="ru-RU" sz="2000" dirty="0"/>
              <a:t>выполняется на длительный период времени.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000" dirty="0"/>
              <a:t>Соединение по сети устанавливается  по заранее разработанным схемам </a:t>
            </a:r>
            <a:endParaRPr lang="ru-RU" sz="2000" dirty="0" smtClean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000" dirty="0" smtClean="0"/>
              <a:t>  или </a:t>
            </a:r>
            <a:r>
              <a:rPr lang="ru-RU" sz="2000" dirty="0"/>
              <a:t>расписанию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ru-RU" sz="2000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400" u="sng" dirty="0"/>
              <a:t>Оперативная коммутация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000" dirty="0" smtClean="0"/>
              <a:t>  выполняется </a:t>
            </a:r>
            <a:r>
              <a:rPr lang="ru-RU" sz="2000" dirty="0"/>
              <a:t>только на время передачи одного сообщения </a:t>
            </a:r>
            <a:r>
              <a:rPr lang="ru-RU" sz="2000" dirty="0" smtClean="0"/>
              <a:t>пользователя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000" dirty="0" smtClean="0"/>
              <a:t>   </a:t>
            </a:r>
            <a:r>
              <a:rPr lang="ru-RU" sz="2000" dirty="0"/>
              <a:t>или одного сеанса связи.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000" dirty="0"/>
              <a:t> Соединение устанавливается в момент поступления заявки ( сообщения</a:t>
            </a:r>
            <a:r>
              <a:rPr lang="ru-RU" sz="2000" dirty="0" smtClean="0"/>
              <a:t>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000" dirty="0" smtClean="0"/>
              <a:t>  </a:t>
            </a:r>
            <a:r>
              <a:rPr lang="ru-RU" sz="2000" dirty="0"/>
              <a:t>и разъединяется при </a:t>
            </a:r>
            <a:r>
              <a:rPr lang="ru-RU" sz="2000" dirty="0" smtClean="0"/>
              <a:t>отбое.</a:t>
            </a:r>
            <a:endParaRPr lang="ru-RU" sz="2000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ru-RU" sz="2000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000" dirty="0"/>
              <a:t> 	</a:t>
            </a:r>
            <a:r>
              <a:rPr lang="ru-RU" sz="2400" b="1" u="sng" dirty="0"/>
              <a:t>Способы оперативной коммутации </a:t>
            </a:r>
          </a:p>
          <a:p>
            <a:pPr lvl="1">
              <a:lnSpc>
                <a:spcPct val="80000"/>
              </a:lnSpc>
            </a:pPr>
            <a:r>
              <a:rPr lang="ru-RU" sz="2000" dirty="0"/>
              <a:t>Коммутация каналов</a:t>
            </a:r>
          </a:p>
          <a:p>
            <a:pPr lvl="1">
              <a:lnSpc>
                <a:spcPct val="80000"/>
              </a:lnSpc>
            </a:pPr>
            <a:r>
              <a:rPr lang="ru-RU" sz="2000" dirty="0"/>
              <a:t>Коммутация сообщений</a:t>
            </a:r>
          </a:p>
          <a:p>
            <a:pPr lvl="1">
              <a:lnSpc>
                <a:spcPct val="80000"/>
              </a:lnSpc>
            </a:pPr>
            <a:r>
              <a:rPr lang="ru-RU" sz="2000" dirty="0"/>
              <a:t>Коммутация пакетов</a:t>
            </a:r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title"/>
          </p:nvPr>
        </p:nvSpPr>
        <p:spPr>
          <a:xfrm>
            <a:off x="395536" y="0"/>
            <a:ext cx="8229600" cy="764704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Виды коммутации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u="sng" dirty="0" smtClean="0"/>
              <a:t/>
            </a:r>
            <a:br>
              <a:rPr lang="ru-RU" u="sng" dirty="0" smtClean="0"/>
            </a:br>
            <a:r>
              <a:rPr lang="ru-RU" sz="4000" b="1" u="sng" dirty="0" smtClean="0">
                <a:solidFill>
                  <a:srgbClr val="002060"/>
                </a:solidFill>
              </a:rPr>
              <a:t>Долговременная коммутация </a:t>
            </a:r>
            <a:br>
              <a:rPr lang="ru-RU" sz="4000" b="1" u="sng" dirty="0" smtClean="0">
                <a:solidFill>
                  <a:srgbClr val="002060"/>
                </a:solidFill>
              </a:rPr>
            </a:br>
            <a:endParaRPr lang="ru-RU" sz="4000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l="-862" t="21787" b="6802"/>
          <a:stretch>
            <a:fillRect/>
          </a:stretch>
        </p:blipFill>
        <p:spPr bwMode="auto">
          <a:xfrm>
            <a:off x="0" y="1124744"/>
            <a:ext cx="9144000" cy="5733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chemeClr val="tx2"/>
                </a:solidFill>
              </a:rPr>
              <a:t>Оперативная коммутация</a:t>
            </a:r>
            <a:endParaRPr lang="ru-RU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12920" b="10959"/>
          <a:stretch>
            <a:fillRect/>
          </a:stretch>
        </p:blipFill>
        <p:spPr bwMode="auto">
          <a:xfrm>
            <a:off x="0" y="908720"/>
            <a:ext cx="9144000" cy="5949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1" name="Rectangle 3"/>
          <p:cNvSpPr>
            <a:spLocks noGrp="1" noChangeArrowheads="1"/>
          </p:cNvSpPr>
          <p:nvPr>
            <p:ph type="title"/>
          </p:nvPr>
        </p:nvSpPr>
        <p:spPr>
          <a:xfrm>
            <a:off x="395536" y="0"/>
            <a:ext cx="8584952" cy="764704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Способы коммутации</a:t>
            </a:r>
          </a:p>
        </p:txBody>
      </p:sp>
      <p:sp>
        <p:nvSpPr>
          <p:cNvPr id="22221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79512" y="1124744"/>
            <a:ext cx="8964488" cy="1728192"/>
          </a:xfrm>
        </p:spPr>
        <p:txBody>
          <a:bodyPr>
            <a:normAutofit/>
          </a:bodyPr>
          <a:lstStyle/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ru-RU" sz="2800" b="1" u="sng" dirty="0"/>
              <a:t>1.Коммутация каналов  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ru-RU" sz="2400" dirty="0"/>
              <a:t>предусматривает  последовательное  (цепочное) переключение </a:t>
            </a:r>
            <a:r>
              <a:rPr lang="ru-RU" sz="2400" dirty="0" smtClean="0"/>
              <a:t>каналов, образующих </a:t>
            </a:r>
            <a:r>
              <a:rPr lang="ru-RU" sz="2400" dirty="0"/>
              <a:t>тракт для соединения между вызывающим и вызываемым абонентами на сеанс связи ( на время </a:t>
            </a:r>
            <a:r>
              <a:rPr lang="ru-RU" sz="2400" dirty="0" smtClean="0"/>
              <a:t>разговора).</a:t>
            </a:r>
            <a:endParaRPr lang="ru-RU" sz="2400" dirty="0"/>
          </a:p>
        </p:txBody>
      </p:sp>
      <p:graphicFrame>
        <p:nvGraphicFramePr>
          <p:cNvPr id="22221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619672" y="2924944"/>
          <a:ext cx="5544615" cy="1800200"/>
        </p:xfrm>
        <a:graphic>
          <a:graphicData uri="http://schemas.openxmlformats.org/presentationml/2006/ole">
            <p:oleObj spid="_x0000_s70660" name="Visio" r:id="rId4" imgW="3648075" imgH="1608201" progId="">
              <p:embed/>
            </p:oleObj>
          </a:graphicData>
        </a:graphic>
      </p:graphicFrame>
      <p:sp>
        <p:nvSpPr>
          <p:cNvPr id="222214" name="Rectangle 6"/>
          <p:cNvSpPr>
            <a:spLocks noChangeArrowheads="1"/>
          </p:cNvSpPr>
          <p:nvPr/>
        </p:nvSpPr>
        <p:spPr bwMode="auto">
          <a:xfrm>
            <a:off x="179512" y="4797425"/>
            <a:ext cx="8784976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400" u="sng" dirty="0"/>
              <a:t>Коммутация каналов применяется в сетях телефонной связи</a:t>
            </a:r>
          </a:p>
          <a:p>
            <a:r>
              <a:rPr lang="ru-RU" sz="2400" dirty="0" smtClean="0"/>
              <a:t>Соединение </a:t>
            </a:r>
            <a:r>
              <a:rPr lang="ru-RU" sz="2400" dirty="0"/>
              <a:t>между абонентами автоматически устанавливается на каждой промежуточной АТС и удерживается до появления сигнала отбой со стороны любого абонента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2" name="Picture 2" descr="C:\Users\Юра\Downloads\сеть КК освоб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8964488" cy="66693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ru-RU" sz="4000" b="1" dirty="0">
                <a:solidFill>
                  <a:schemeClr val="tx2"/>
                </a:solidFill>
              </a:rPr>
              <a:t>Сети с КК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5949280"/>
          </a:xfrm>
        </p:spPr>
        <p:txBody>
          <a:bodyPr>
            <a:normAutofit lnSpcReduction="10000"/>
          </a:bodyPr>
          <a:lstStyle/>
          <a:p>
            <a:r>
              <a:rPr lang="ru-RU" sz="2400" dirty="0"/>
              <a:t>При КК коммутационная сеть образует между  конечными узлами непрерывный составной физический канал из последовательно соединенных коммутаторами промежуточных канальных участков.</a:t>
            </a:r>
          </a:p>
          <a:p>
            <a:r>
              <a:rPr lang="ru-RU" sz="2400" u="sng" dirty="0"/>
              <a:t>Условием образования единого физического канала </a:t>
            </a:r>
            <a:r>
              <a:rPr lang="ru-RU" sz="2400" u="sng" dirty="0" smtClean="0"/>
              <a:t>–</a:t>
            </a:r>
          </a:p>
          <a:p>
            <a:pPr>
              <a:buNone/>
            </a:pPr>
            <a:r>
              <a:rPr lang="ru-RU" sz="2400" dirty="0" smtClean="0"/>
              <a:t>    </a:t>
            </a:r>
            <a:r>
              <a:rPr lang="ru-RU" sz="2400" dirty="0"/>
              <a:t>равенство скоростей передачи данных в каждом канале –</a:t>
            </a:r>
          </a:p>
          <a:p>
            <a:pPr>
              <a:buNone/>
            </a:pPr>
            <a:r>
              <a:rPr lang="ru-RU" sz="2400" dirty="0"/>
              <a:t>            64 Кбит/с.</a:t>
            </a:r>
          </a:p>
          <a:p>
            <a:r>
              <a:rPr lang="ru-RU" sz="2400" u="sng" dirty="0"/>
              <a:t>Перед передачей информации необходима процедура установления </a:t>
            </a:r>
            <a:r>
              <a:rPr lang="ru-RU" sz="2400" u="sng" dirty="0" smtClean="0"/>
              <a:t>соединения,</a:t>
            </a:r>
            <a:r>
              <a:rPr lang="ru-RU" sz="2400" u="sng" dirty="0" smtClean="0">
                <a:solidFill>
                  <a:srgbClr val="C00000"/>
                </a:solidFill>
              </a:rPr>
              <a:t> </a:t>
            </a:r>
            <a:r>
              <a:rPr lang="ru-RU" sz="2400" dirty="0"/>
              <a:t>в результате чего и образуется составной канал.</a:t>
            </a:r>
          </a:p>
          <a:p>
            <a:r>
              <a:rPr lang="ru-RU" sz="2400" b="1" u="sng" dirty="0"/>
              <a:t>Достоинства сети с КК </a:t>
            </a:r>
            <a:r>
              <a:rPr lang="ru-RU" sz="2400" dirty="0"/>
              <a:t>– постоянная скорость передачи (64Кбит/с)  через сеть позволяет качественно передавать данные чувствительные к задержкам( голос, видео).</a:t>
            </a:r>
          </a:p>
          <a:p>
            <a:r>
              <a:rPr lang="ru-RU" sz="2400" b="1" u="sng" dirty="0"/>
              <a:t>Недостатки</a:t>
            </a:r>
            <a:r>
              <a:rPr lang="ru-RU" sz="2400" b="1" dirty="0">
                <a:solidFill>
                  <a:srgbClr val="C00000"/>
                </a:solidFill>
              </a:rPr>
              <a:t> </a:t>
            </a:r>
            <a:r>
              <a:rPr lang="ru-RU" sz="2400" dirty="0"/>
              <a:t>– нерациональное использование пропускной способности канала и невозможность динамического перераспределения.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chemeClr val="tx2"/>
                </a:solidFill>
              </a:rPr>
              <a:t>Сети с КК</a:t>
            </a:r>
            <a:endParaRPr lang="ru-RU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t="21087" b="11932"/>
          <a:stretch>
            <a:fillRect/>
          </a:stretch>
        </p:blipFill>
        <p:spPr bwMode="auto">
          <a:xfrm>
            <a:off x="0" y="1052736"/>
            <a:ext cx="8964488" cy="5805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260648"/>
            <a:ext cx="7772400" cy="864096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Сеть с коммутацией каналов (КК) как система трубопроводов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95536" y="1196752"/>
            <a:ext cx="8648700" cy="547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47248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93905-3BFD-4E10-8651-FC43F627CB88}" type="slidenum">
              <a:rPr lang="uk-UA"/>
              <a:pPr/>
              <a:t>26</a:t>
            </a:fld>
            <a:endParaRPr lang="uk-UA"/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title"/>
          </p:nvPr>
        </p:nvSpPr>
        <p:spPr>
          <a:xfrm>
            <a:off x="251520" y="-387350"/>
            <a:ext cx="8728968" cy="1080046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Способы коммутации</a:t>
            </a:r>
          </a:p>
        </p:txBody>
      </p:sp>
      <p:sp>
        <p:nvSpPr>
          <p:cNvPr id="22323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476672"/>
            <a:ext cx="9144000" cy="2952328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400" b="1" u="sng" dirty="0"/>
              <a:t>      2. Коммутация сообщений-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400" b="1" dirty="0">
                <a:solidFill>
                  <a:schemeClr val="accent2"/>
                </a:solidFill>
              </a:rPr>
              <a:t>    </a:t>
            </a:r>
            <a:r>
              <a:rPr lang="ru-RU" sz="2000" dirty="0"/>
              <a:t>это вид коммутации, при котором сообщение передается по сети с промежуточным накоплением в каждом узле по пути следования то Отправителя ( О) до Получателя ( П).</a:t>
            </a:r>
            <a:r>
              <a:rPr lang="ru-RU" sz="2000" b="1" dirty="0"/>
              <a:t>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000" b="1" dirty="0"/>
              <a:t>      </a:t>
            </a:r>
            <a:r>
              <a:rPr lang="ru-RU" sz="2000" u="sng" dirty="0"/>
              <a:t>Время хранения сообщения в промежуточных узлах зависит 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000" dirty="0"/>
              <a:t>     - от требуемого времени доставки сообщения,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000" dirty="0"/>
              <a:t>     -  объема ЗУ,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000" dirty="0"/>
              <a:t>     -  длины сообщения, 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000" dirty="0"/>
              <a:t>      - скорости каналов связи</a:t>
            </a:r>
          </a:p>
        </p:txBody>
      </p:sp>
      <p:graphicFrame>
        <p:nvGraphicFramePr>
          <p:cNvPr id="22323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79388" y="3501008"/>
          <a:ext cx="8425060" cy="3168080"/>
        </p:xfrm>
        <a:graphic>
          <a:graphicData uri="http://schemas.openxmlformats.org/presentationml/2006/ole">
            <p:oleObj spid="_x0000_s71684" name="Visio" r:id="rId4" imgW="7147179" imgH="3921633" progId="">
              <p:embed/>
            </p:oleObj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9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260648"/>
            <a:ext cx="8980488" cy="648072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Способы коммутации</a:t>
            </a:r>
          </a:p>
        </p:txBody>
      </p:sp>
      <p:sp>
        <p:nvSpPr>
          <p:cNvPr id="22425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51520" y="908720"/>
            <a:ext cx="8496944" cy="2736304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400" b="1" u="sng" dirty="0"/>
              <a:t>3</a:t>
            </a:r>
            <a:r>
              <a:rPr lang="ru-RU" b="1" u="sng" dirty="0"/>
              <a:t>. Коммутация пакетов (КП)  </a:t>
            </a:r>
            <a:r>
              <a:rPr lang="ru-RU" dirty="0"/>
              <a:t>–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dirty="0"/>
              <a:t> способ коммутации, при котором сообщение разбивается на части равной длины.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dirty="0"/>
              <a:t> Каждой части добавляется адресная информация и сформированный пакет данных независимо передается по сети. </a:t>
            </a:r>
          </a:p>
        </p:txBody>
      </p:sp>
      <p:graphicFrame>
        <p:nvGraphicFramePr>
          <p:cNvPr id="22426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51520" y="3789040"/>
          <a:ext cx="8568952" cy="3068960"/>
        </p:xfrm>
        <a:graphic>
          <a:graphicData uri="http://schemas.openxmlformats.org/presentationml/2006/ole">
            <p:oleObj spid="_x0000_s72708" name="Visio" r:id="rId4" imgW="6877812" imgH="2145411" progId="">
              <p:embed/>
            </p:oleObj>
          </a:graphicData>
        </a:graphic>
      </p:graphicFrame>
      <p:sp>
        <p:nvSpPr>
          <p:cNvPr id="224262" name="Rectangle 6"/>
          <p:cNvSpPr>
            <a:spLocks noChangeArrowheads="1"/>
          </p:cNvSpPr>
          <p:nvPr/>
        </p:nvSpPr>
        <p:spPr bwMode="auto">
          <a:xfrm>
            <a:off x="0" y="4581525"/>
            <a:ext cx="8964488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ru-RU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tx2"/>
                </a:solidFill>
              </a:rPr>
              <a:t>Способы коммутации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196752"/>
            <a:ext cx="8892480" cy="5661248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Clr>
                <a:schemeClr val="folHlink"/>
              </a:buClr>
              <a:buSzPct val="60000"/>
              <a:buNone/>
            </a:pPr>
            <a:r>
              <a:rPr lang="ru-RU" dirty="0"/>
              <a:t>Передача пакетов (КП) аналогична передачи сообщений (КС) с промежуточным накоплением.</a:t>
            </a:r>
          </a:p>
          <a:p>
            <a:pPr>
              <a:lnSpc>
                <a:spcPct val="80000"/>
              </a:lnSpc>
              <a:buClr>
                <a:schemeClr val="folHlink"/>
              </a:buClr>
              <a:buSzPct val="60000"/>
              <a:buNone/>
            </a:pPr>
            <a:r>
              <a:rPr lang="ru-RU" b="1" u="sng" dirty="0"/>
              <a:t>Отличие КП от КС: </a:t>
            </a:r>
          </a:p>
          <a:p>
            <a:pPr>
              <a:lnSpc>
                <a:spcPct val="80000"/>
              </a:lnSpc>
              <a:buClr>
                <a:schemeClr val="folHlink"/>
              </a:buClr>
              <a:buSzPct val="60000"/>
            </a:pPr>
            <a:r>
              <a:rPr lang="ru-RU" dirty="0"/>
              <a:t>запоминающие устройства для хранения пакетов имеют меньшие размеры, чем для хранения сообщений</a:t>
            </a:r>
          </a:p>
          <a:p>
            <a:pPr>
              <a:lnSpc>
                <a:spcPct val="80000"/>
              </a:lnSpc>
              <a:buClr>
                <a:schemeClr val="folHlink"/>
              </a:buClr>
              <a:buSzPct val="60000"/>
            </a:pPr>
            <a:r>
              <a:rPr lang="ru-RU" dirty="0"/>
              <a:t>Время передачи пакетов меньше, чем сообщений.</a:t>
            </a:r>
          </a:p>
          <a:p>
            <a:pPr>
              <a:lnSpc>
                <a:spcPct val="80000"/>
              </a:lnSpc>
              <a:buClr>
                <a:schemeClr val="folHlink"/>
              </a:buClr>
              <a:buSzPct val="60000"/>
            </a:pPr>
            <a:r>
              <a:rPr lang="ru-RU" dirty="0"/>
              <a:t> Способом передачи пакетов можно передавать речевые сообщения. </a:t>
            </a:r>
          </a:p>
          <a:p>
            <a:pPr>
              <a:lnSpc>
                <a:spcPct val="80000"/>
              </a:lnSpc>
              <a:buClr>
                <a:schemeClr val="folHlink"/>
              </a:buClr>
              <a:buSzPct val="60000"/>
            </a:pPr>
            <a:r>
              <a:rPr lang="ru-RU" dirty="0"/>
              <a:t>Время задержки речевого пакета должно быть меньше 300 мс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sz="4800" b="1" dirty="0" smtClean="0">
                <a:solidFill>
                  <a:schemeClr val="tx2"/>
                </a:solidFill>
              </a:rPr>
              <a:t> </a:t>
            </a:r>
            <a:r>
              <a:rPr lang="ru-RU" sz="3600" b="1" dirty="0" smtClean="0">
                <a:solidFill>
                  <a:schemeClr val="tx2"/>
                </a:solidFill>
              </a:rPr>
              <a:t>Сети с коммутацией пакетов (КП)</a:t>
            </a:r>
            <a:endParaRPr lang="ru-RU" sz="3600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l="885" t="21787" b="11643"/>
          <a:stretch>
            <a:fillRect/>
          </a:stretch>
        </p:blipFill>
        <p:spPr bwMode="auto">
          <a:xfrm>
            <a:off x="251520" y="1196752"/>
            <a:ext cx="8712967" cy="5661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sz="3600" b="1" dirty="0">
                <a:solidFill>
                  <a:schemeClr val="tx2"/>
                </a:solidFill>
              </a:rPr>
              <a:t> Сети с коммутацией пакетов (КП)</a:t>
            </a:r>
          </a:p>
        </p:txBody>
      </p:sp>
      <p:pic>
        <p:nvPicPr>
          <p:cNvPr id="19459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tretch>
            <a:fillRect/>
          </a:stretch>
        </p:blipFill>
        <p:spPr>
          <a:xfrm>
            <a:off x="4211960" y="1301422"/>
            <a:ext cx="4536504" cy="4572000"/>
          </a:xfrm>
          <a:noFill/>
        </p:spPr>
      </p:pic>
      <p:sp>
        <p:nvSpPr>
          <p:cNvPr id="4" name="TextBox 3"/>
          <p:cNvSpPr txBox="1"/>
          <p:nvPr/>
        </p:nvSpPr>
        <p:spPr>
          <a:xfrm>
            <a:off x="251520" y="1124744"/>
            <a:ext cx="403244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Действия для передачи сообщения при КП:</a:t>
            </a:r>
          </a:p>
          <a:p>
            <a:pPr marL="342900" indent="-342900">
              <a:buAutoNum type="arabicParenR"/>
            </a:pPr>
            <a:r>
              <a:rPr lang="ru-RU" sz="2800" dirty="0"/>
              <a:t>Сформировать пакеты: порезать сообщение на порции, снабдить каждую заголовком</a:t>
            </a:r>
          </a:p>
          <a:p>
            <a:pPr marL="342900" indent="-342900">
              <a:buAutoNum type="arabicParenR"/>
            </a:pPr>
            <a:r>
              <a:rPr lang="ru-RU" sz="2800" dirty="0"/>
              <a:t>Передать пакеты через сеть</a:t>
            </a:r>
          </a:p>
          <a:p>
            <a:pPr marL="342900" indent="-342900">
              <a:buAutoNum type="arabicParenR"/>
            </a:pPr>
            <a:r>
              <a:rPr lang="ru-RU" sz="2800" dirty="0"/>
              <a:t> На приемной стороне: отбросив заголовки, собрать из пакетов исходное сообщение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799" y="332656"/>
            <a:ext cx="7772400" cy="648072"/>
          </a:xfrm>
        </p:spPr>
        <p:txBody>
          <a:bodyPr>
            <a:noAutofit/>
          </a:bodyPr>
          <a:lstStyle/>
          <a:p>
            <a:r>
              <a:rPr lang="ru-RU" sz="4000" b="1" u="sng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Разбиение данных на пакеты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14337" y="1124744"/>
            <a:ext cx="8315325" cy="56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425387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576064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Сети с КП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949280"/>
          </a:xfrm>
        </p:spPr>
        <p:txBody>
          <a:bodyPr>
            <a:normAutofit lnSpcReduction="10000"/>
          </a:bodyPr>
          <a:lstStyle/>
          <a:p>
            <a:r>
              <a:rPr lang="ru-RU" sz="2800" dirty="0"/>
              <a:t>Используются для </a:t>
            </a:r>
            <a:r>
              <a:rPr lang="ru-RU" sz="2800" u="sng" dirty="0"/>
              <a:t>передачи пульсирующего компьютерного трафика</a:t>
            </a:r>
            <a:r>
              <a:rPr lang="ru-RU" sz="2800" dirty="0"/>
              <a:t>.</a:t>
            </a:r>
          </a:p>
          <a:p>
            <a:r>
              <a:rPr lang="ru-RU" sz="2800" dirty="0"/>
              <a:t>Все сообщения разбиваются на пакеты</a:t>
            </a:r>
          </a:p>
          <a:p>
            <a:pPr>
              <a:buNone/>
            </a:pPr>
            <a:r>
              <a:rPr lang="ru-RU" sz="2800" dirty="0"/>
              <a:t>     (46 – 1500 байт ) и каждый пакет снабжается заголовком в котором указывается:     </a:t>
            </a:r>
          </a:p>
          <a:p>
            <a:pPr>
              <a:buNone/>
            </a:pPr>
            <a:r>
              <a:rPr lang="ru-RU" sz="2800" dirty="0"/>
              <a:t>   - адресная информация</a:t>
            </a:r>
          </a:p>
          <a:p>
            <a:pPr>
              <a:buNone/>
            </a:pPr>
            <a:r>
              <a:rPr lang="ru-RU" sz="2800" dirty="0"/>
              <a:t>   - номер пакета </a:t>
            </a:r>
          </a:p>
          <a:p>
            <a:pPr>
              <a:buNone/>
            </a:pPr>
            <a:r>
              <a:rPr lang="ru-RU" sz="2800" dirty="0"/>
              <a:t>   - служебная информация</a:t>
            </a:r>
          </a:p>
          <a:p>
            <a:r>
              <a:rPr lang="ru-RU" sz="2800" u="sng" dirty="0"/>
              <a:t>По сети пакеты передаются независимыми блоками.</a:t>
            </a:r>
          </a:p>
          <a:p>
            <a:r>
              <a:rPr lang="ru-RU" sz="2800" dirty="0"/>
              <a:t>Коммутаторы (</a:t>
            </a:r>
            <a:r>
              <a:rPr lang="ru-RU" sz="2800" b="1" dirty="0"/>
              <a:t>К</a:t>
            </a:r>
            <a:r>
              <a:rPr lang="ru-RU" sz="2800" dirty="0"/>
              <a:t>) принимают пакеты</a:t>
            </a:r>
            <a:r>
              <a:rPr lang="ru-RU" sz="2800" dirty="0">
                <a:solidFill>
                  <a:srgbClr val="C00000"/>
                </a:solidFill>
              </a:rPr>
              <a:t> </a:t>
            </a:r>
            <a:r>
              <a:rPr lang="ru-RU" sz="2800" dirty="0"/>
              <a:t>и на основании адресной информации передают их далее до конечного узла.</a:t>
            </a:r>
          </a:p>
          <a:p>
            <a:endParaRPr lang="ru-RU" sz="2800" dirty="0"/>
          </a:p>
          <a:p>
            <a:pPr>
              <a:buNone/>
            </a:pPr>
            <a:endParaRPr lang="ru-RU" sz="2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Сети с КП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0" y="764704"/>
            <a:ext cx="9144000" cy="2592288"/>
          </a:xfrm>
        </p:spPr>
        <p:txBody>
          <a:bodyPr>
            <a:normAutofit fontScale="85000" lnSpcReduction="10000"/>
          </a:bodyPr>
          <a:lstStyle/>
          <a:p>
            <a:pPr algn="ctr"/>
            <a:r>
              <a:rPr lang="ru-RU" b="1" dirty="0"/>
              <a:t>Буферизация пакетов </a:t>
            </a:r>
            <a:r>
              <a:rPr lang="ru-RU" dirty="0"/>
              <a:t>разных пользователей в</a:t>
            </a:r>
          </a:p>
          <a:p>
            <a:pPr marL="93663" indent="-93663">
              <a:buNone/>
            </a:pPr>
            <a:r>
              <a:rPr lang="ru-RU" dirty="0"/>
              <a:t> Коммутаторах (</a:t>
            </a:r>
            <a:r>
              <a:rPr lang="ru-RU" b="1" dirty="0"/>
              <a:t>К</a:t>
            </a:r>
            <a:r>
              <a:rPr lang="ru-RU" dirty="0"/>
              <a:t>) позволяет сгладить неравномерности интенсивности трафика каждого пользователя и равномерно загрузить каналы связи между коммутаторами.</a:t>
            </a:r>
          </a:p>
          <a:p>
            <a:pPr marL="93663" indent="-93663">
              <a:buNone/>
            </a:pPr>
            <a:r>
              <a:rPr lang="ru-RU" dirty="0">
                <a:solidFill>
                  <a:srgbClr val="C00000"/>
                </a:solidFill>
              </a:rPr>
              <a:t>               </a:t>
            </a:r>
          </a:p>
          <a:p>
            <a:pPr marL="93663" indent="-93663">
              <a:buNone/>
            </a:pPr>
            <a:r>
              <a:rPr lang="ru-RU" dirty="0">
                <a:solidFill>
                  <a:srgbClr val="C00000"/>
                </a:solidFill>
              </a:rPr>
              <a:t>                        </a:t>
            </a:r>
            <a:r>
              <a:rPr lang="ru-RU" dirty="0"/>
              <a:t>Пульсирующий трафик</a:t>
            </a:r>
          </a:p>
          <a:p>
            <a:pPr marL="93663" indent="-93663">
              <a:buNone/>
            </a:pPr>
            <a:endParaRPr lang="ru-RU" dirty="0"/>
          </a:p>
        </p:txBody>
      </p:sp>
      <p:graphicFrame>
        <p:nvGraphicFramePr>
          <p:cNvPr id="29" name="Диаграмма 28"/>
          <p:cNvGraphicFramePr/>
          <p:nvPr>
            <p:extLst>
              <p:ext uri="{D42A27DB-BD31-4B8C-83A1-F6EECF244321}">
                <p14:modId xmlns:p14="http://schemas.microsoft.com/office/powerpoint/2010/main" xmlns="" val="2626399802"/>
              </p:ext>
            </p:extLst>
          </p:nvPr>
        </p:nvGraphicFramePr>
        <p:xfrm>
          <a:off x="611560" y="3429000"/>
          <a:ext cx="7786742" cy="3096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720080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Сети пакетной коммутации (КП)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620688"/>
            <a:ext cx="8892480" cy="5976664"/>
          </a:xfrm>
        </p:spPr>
        <p:txBody>
          <a:bodyPr>
            <a:normAutofit lnSpcReduction="10000"/>
          </a:bodyPr>
          <a:lstStyle/>
          <a:p>
            <a:endParaRPr lang="ru-RU" sz="2000" u="sng" dirty="0"/>
          </a:p>
          <a:p>
            <a:r>
              <a:rPr lang="ru-RU" sz="2800" u="sng" dirty="0"/>
              <a:t>Сети КП состоят из коммутаторов( </a:t>
            </a:r>
            <a:r>
              <a:rPr lang="ru-RU" sz="2800" b="1" u="sng" dirty="0"/>
              <a:t>К</a:t>
            </a:r>
            <a:r>
              <a:rPr lang="ru-RU" sz="2800" u="sng" dirty="0"/>
              <a:t>) , связанных линиями связи.</a:t>
            </a:r>
          </a:p>
          <a:p>
            <a:r>
              <a:rPr lang="ru-RU" sz="2800" dirty="0"/>
              <a:t>Коммутаторы (К) имеют внутреннюю буферную память для временного хранения пакетов.</a:t>
            </a:r>
          </a:p>
          <a:p>
            <a:r>
              <a:rPr lang="ru-RU" sz="2800" b="1" u="sng" dirty="0"/>
              <a:t>Буферизация необходима</a:t>
            </a:r>
            <a:r>
              <a:rPr lang="ru-RU" sz="2800" dirty="0">
                <a:solidFill>
                  <a:srgbClr val="C00000"/>
                </a:solidFill>
              </a:rPr>
              <a:t>:</a:t>
            </a:r>
          </a:p>
          <a:p>
            <a:pPr>
              <a:buNone/>
            </a:pPr>
            <a:r>
              <a:rPr lang="ru-RU" sz="2800" dirty="0"/>
              <a:t>          - </a:t>
            </a:r>
            <a:r>
              <a:rPr lang="ru-RU" sz="2800" u="sng" dirty="0"/>
              <a:t>Для согласования скорости поступления пакетов со скоростью их обработки в Коммутаторе </a:t>
            </a:r>
            <a:r>
              <a:rPr lang="ru-RU" sz="2800" b="1" u="sng" dirty="0"/>
              <a:t>(К</a:t>
            </a:r>
            <a:r>
              <a:rPr lang="ru-RU" sz="2800" u="sng" dirty="0"/>
              <a:t>)</a:t>
            </a:r>
            <a:r>
              <a:rPr lang="ru-RU" sz="2800" dirty="0"/>
              <a:t>.</a:t>
            </a:r>
          </a:p>
          <a:p>
            <a:pPr>
              <a:buNone/>
            </a:pPr>
            <a:r>
              <a:rPr lang="ru-RU" sz="2800" dirty="0"/>
              <a:t>           - Пакет обрабатывается, когда он поступил полностью.</a:t>
            </a:r>
          </a:p>
          <a:p>
            <a:pPr>
              <a:buNone/>
            </a:pPr>
            <a:r>
              <a:rPr lang="ru-RU" sz="2800" dirty="0"/>
              <a:t>          - Если</a:t>
            </a:r>
            <a:r>
              <a:rPr lang="ru-RU" sz="2800" b="1" dirty="0"/>
              <a:t> К </a:t>
            </a:r>
            <a:r>
              <a:rPr lang="ru-RU" sz="2800" dirty="0"/>
              <a:t>не успевает обрабатывать пакеты , то на входном интерфейсе возникают очереди </a:t>
            </a:r>
            <a:r>
              <a:rPr lang="ru-RU" sz="2800" dirty="0" smtClean="0"/>
              <a:t>–</a:t>
            </a:r>
          </a:p>
          <a:p>
            <a:pPr>
              <a:buNone/>
            </a:pPr>
            <a:r>
              <a:rPr lang="ru-RU" sz="2800" dirty="0" smtClean="0"/>
              <a:t>          </a:t>
            </a:r>
            <a:r>
              <a:rPr lang="ru-RU" sz="2800" u="sng" dirty="0"/>
              <a:t>входные очереди.</a:t>
            </a:r>
          </a:p>
          <a:p>
            <a:endParaRPr lang="ru-RU" sz="28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88640"/>
            <a:ext cx="9144000" cy="504056"/>
          </a:xfrm>
        </p:spPr>
        <p:txBody>
          <a:bodyPr>
            <a:noAutofit/>
          </a:bodyPr>
          <a:lstStyle/>
          <a:p>
            <a:pPr eaLnBrk="1" hangingPunct="1"/>
            <a:r>
              <a:rPr lang="ru-RU" sz="3200" b="1" dirty="0">
                <a:solidFill>
                  <a:schemeClr val="tx2"/>
                </a:solidFill>
              </a:rPr>
              <a:t>Сеть с коммутацией пакетов (КП)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ru-RU" dirty="0"/>
              <a:t> </a:t>
            </a:r>
          </a:p>
        </p:txBody>
      </p:sp>
      <p:pic>
        <p:nvPicPr>
          <p:cNvPr id="21508" name="Picture 4" descr="Сглаживание пульсаций трафика в сети с коммутацией пакетов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052737"/>
            <a:ext cx="8640960" cy="5805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Сети пакетной коммутации (КП)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124744"/>
            <a:ext cx="8892480" cy="5400600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Буферизация также необходима:</a:t>
            </a:r>
          </a:p>
          <a:p>
            <a:pPr>
              <a:buNone/>
            </a:pPr>
            <a:r>
              <a:rPr lang="ru-RU" dirty="0"/>
              <a:t>          -  </a:t>
            </a:r>
            <a:r>
              <a:rPr lang="ru-RU" u="sng" dirty="0"/>
              <a:t>Для согласования скорости передачи данных в канал.</a:t>
            </a:r>
          </a:p>
          <a:p>
            <a:pPr>
              <a:buNone/>
            </a:pPr>
            <a:r>
              <a:rPr lang="ru-RU" dirty="0"/>
              <a:t>          - Если скорость поступления  пакетов (входная очередь) из одного канала превышает пропускную способность канала назначения , то организуются </a:t>
            </a:r>
            <a:r>
              <a:rPr lang="ru-RU" u="sng" dirty="0"/>
              <a:t>выходные очереди . </a:t>
            </a:r>
          </a:p>
          <a:p>
            <a:pPr>
              <a:buNone/>
            </a:pPr>
            <a:r>
              <a:rPr lang="ru-RU" dirty="0"/>
              <a:t>           - Объем буфера ограничен – возможны потери .</a:t>
            </a:r>
          </a:p>
          <a:p>
            <a:pPr>
              <a:buNone/>
            </a:pPr>
            <a:r>
              <a:rPr lang="ru-RU" b="1" dirty="0"/>
              <a:t>    Коммутаторы могут как многопроцессорные так и однопроцессорные.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88640"/>
            <a:ext cx="9144000" cy="504056"/>
          </a:xfrm>
        </p:spPr>
        <p:txBody>
          <a:bodyPr>
            <a:noAutofit/>
          </a:bodyPr>
          <a:lstStyle/>
          <a:p>
            <a:pPr eaLnBrk="1" hangingPunct="1"/>
            <a:r>
              <a:rPr lang="ru-RU" sz="3200" b="1" dirty="0">
                <a:solidFill>
                  <a:schemeClr val="tx2"/>
                </a:solidFill>
              </a:rPr>
              <a:t>Сеть с коммутацией пакетов (КП)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ru-RU" dirty="0"/>
              <a:t> </a:t>
            </a:r>
          </a:p>
        </p:txBody>
      </p:sp>
      <p:pic>
        <p:nvPicPr>
          <p:cNvPr id="21508" name="Picture 4" descr="Сглаживание пульсаций трафика в сети с коммутацией пакетов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052737"/>
            <a:ext cx="8640960" cy="5805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332656"/>
            <a:ext cx="7902066" cy="604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Заголовок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pPr eaLnBrk="1" hangingPunct="1"/>
            <a:r>
              <a:rPr lang="ru-RU" sz="3200" b="1" dirty="0">
                <a:solidFill>
                  <a:schemeClr val="tx2"/>
                </a:solidFill>
              </a:rPr>
              <a:t>Сравнение технологий</a:t>
            </a:r>
          </a:p>
        </p:txBody>
      </p:sp>
      <p:sp>
        <p:nvSpPr>
          <p:cNvPr id="22531" name="Текст 4"/>
          <p:cNvSpPr>
            <a:spLocks noGrp="1"/>
          </p:cNvSpPr>
          <p:nvPr>
            <p:ph type="body" idx="1"/>
          </p:nvPr>
        </p:nvSpPr>
        <p:spPr>
          <a:xfrm>
            <a:off x="457200" y="980729"/>
            <a:ext cx="4040188" cy="432047"/>
          </a:xfrm>
        </p:spPr>
        <p:txBody>
          <a:bodyPr>
            <a:noAutofit/>
          </a:bodyPr>
          <a:lstStyle/>
          <a:p>
            <a:pPr eaLnBrk="1" hangingPunct="1"/>
            <a:r>
              <a:rPr lang="ru-RU" sz="2800" u="sng" dirty="0"/>
              <a:t>Коммутация каналов</a:t>
            </a:r>
          </a:p>
        </p:txBody>
      </p:sp>
      <p:sp>
        <p:nvSpPr>
          <p:cNvPr id="22532" name="Текст 6"/>
          <p:cNvSpPr>
            <a:spLocks noGrp="1"/>
          </p:cNvSpPr>
          <p:nvPr>
            <p:ph type="body" sz="half" idx="3"/>
          </p:nvPr>
        </p:nvSpPr>
        <p:spPr>
          <a:xfrm>
            <a:off x="4645025" y="908721"/>
            <a:ext cx="4041775" cy="576063"/>
          </a:xfrm>
        </p:spPr>
        <p:txBody>
          <a:bodyPr>
            <a:noAutofit/>
          </a:bodyPr>
          <a:lstStyle/>
          <a:p>
            <a:pPr algn="ctr" eaLnBrk="1" hangingPunct="1"/>
            <a:r>
              <a:rPr lang="ru-RU" sz="2800" u="sng" dirty="0"/>
              <a:t>Коммутация пакетов</a:t>
            </a:r>
          </a:p>
        </p:txBody>
      </p:sp>
      <p:sp>
        <p:nvSpPr>
          <p:cNvPr id="22533" name="Содержимое 5"/>
          <p:cNvSpPr>
            <a:spLocks noGrp="1"/>
          </p:cNvSpPr>
          <p:nvPr>
            <p:ph sz="half" idx="2"/>
          </p:nvPr>
        </p:nvSpPr>
        <p:spPr>
          <a:xfrm>
            <a:off x="457200" y="1700808"/>
            <a:ext cx="4040188" cy="4425355"/>
          </a:xfrm>
        </p:spPr>
        <p:txBody>
          <a:bodyPr>
            <a:noAutofit/>
          </a:bodyPr>
          <a:lstStyle/>
          <a:p>
            <a:pPr eaLnBrk="1" hangingPunct="1"/>
            <a:r>
              <a:rPr lang="ru-RU" sz="2800" b="1" dirty="0"/>
              <a:t>С установлением </a:t>
            </a:r>
            <a:r>
              <a:rPr lang="ru-RU" sz="2800" dirty="0"/>
              <a:t>соединения</a:t>
            </a:r>
          </a:p>
          <a:p>
            <a:pPr eaLnBrk="1" hangingPunct="1"/>
            <a:r>
              <a:rPr lang="ru-RU" sz="2800" b="1" dirty="0"/>
              <a:t>Задержка </a:t>
            </a:r>
            <a:r>
              <a:rPr lang="ru-RU" sz="2800" dirty="0"/>
              <a:t>определяется скоростью распространения</a:t>
            </a:r>
          </a:p>
          <a:p>
            <a:pPr eaLnBrk="1" hangingPunct="1"/>
            <a:r>
              <a:rPr lang="ru-RU" sz="2800" b="1" dirty="0"/>
              <a:t>Канал устанавливается на все время соединения</a:t>
            </a:r>
          </a:p>
        </p:txBody>
      </p:sp>
      <p:sp>
        <p:nvSpPr>
          <p:cNvPr id="22534" name="Содержимое 7"/>
          <p:cNvSpPr>
            <a:spLocks noGrp="1"/>
          </p:cNvSpPr>
          <p:nvPr>
            <p:ph sz="half" idx="4"/>
          </p:nvPr>
        </p:nvSpPr>
        <p:spPr>
          <a:xfrm>
            <a:off x="4645025" y="1700808"/>
            <a:ext cx="4041775" cy="5157192"/>
          </a:xfrm>
        </p:spPr>
        <p:txBody>
          <a:bodyPr>
            <a:noAutofit/>
          </a:bodyPr>
          <a:lstStyle/>
          <a:p>
            <a:pPr eaLnBrk="1" hangingPunct="1"/>
            <a:r>
              <a:rPr lang="ru-RU" sz="2800" b="1" dirty="0"/>
              <a:t>Без установления </a:t>
            </a:r>
            <a:r>
              <a:rPr lang="ru-RU" sz="2800" dirty="0"/>
              <a:t>соединения</a:t>
            </a:r>
          </a:p>
          <a:p>
            <a:pPr eaLnBrk="1" hangingPunct="1"/>
            <a:r>
              <a:rPr lang="ru-RU" sz="2800" b="1" dirty="0"/>
              <a:t>Задержка </a:t>
            </a:r>
            <a:r>
              <a:rPr lang="ru-RU" sz="2800" dirty="0"/>
              <a:t>определяется количеством узлов и уровнем их загрузки</a:t>
            </a:r>
          </a:p>
          <a:p>
            <a:pPr eaLnBrk="1" hangingPunct="1"/>
            <a:r>
              <a:rPr lang="ru-RU" sz="2800" b="1" dirty="0"/>
              <a:t>Передача пакетов производится только при наличии информации для передачи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C:\Users\Юра\Downloads\КП задержки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Сети пакетной коммутации (КП)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52736"/>
            <a:ext cx="9144000" cy="5472608"/>
          </a:xfrm>
        </p:spPr>
        <p:txBody>
          <a:bodyPr/>
          <a:lstStyle/>
          <a:p>
            <a:endParaRPr lang="ru-RU" sz="3600" b="1" u="sng" dirty="0">
              <a:solidFill>
                <a:srgbClr val="C00000"/>
              </a:solidFill>
            </a:endParaRPr>
          </a:p>
          <a:p>
            <a:r>
              <a:rPr lang="ru-RU" sz="3600" b="1" u="sng" dirty="0"/>
              <a:t>В сетях КП разработаны 2 способа доставки пакетов:</a:t>
            </a:r>
          </a:p>
          <a:p>
            <a:pPr>
              <a:buNone/>
            </a:pPr>
            <a:r>
              <a:rPr lang="ru-RU" b="1" dirty="0"/>
              <a:t>        1. </a:t>
            </a:r>
            <a:r>
              <a:rPr lang="ru-RU" b="1" dirty="0" err="1"/>
              <a:t>Дейтаграммный</a:t>
            </a:r>
            <a:r>
              <a:rPr lang="ru-RU" b="1" dirty="0"/>
              <a:t> режим</a:t>
            </a:r>
          </a:p>
          <a:p>
            <a:pPr>
              <a:buNone/>
            </a:pPr>
            <a:r>
              <a:rPr lang="ru-RU" b="1" dirty="0"/>
              <a:t>        2. Способ виртуального канала с</a:t>
            </a:r>
          </a:p>
          <a:p>
            <a:pPr>
              <a:buNone/>
            </a:pPr>
            <a:r>
              <a:rPr lang="ru-RU" b="1" dirty="0"/>
              <a:t>             установлением логического соединения</a:t>
            </a:r>
          </a:p>
          <a:p>
            <a:pPr>
              <a:buNone/>
            </a:pPr>
            <a:endParaRPr lang="ru-RU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ru-RU" dirty="0">
                <a:solidFill>
                  <a:srgbClr val="C00000"/>
                </a:solidFill>
              </a:rPr>
              <a:t>         </a:t>
            </a:r>
          </a:p>
          <a:p>
            <a:pPr>
              <a:buNone/>
            </a:pPr>
            <a:endParaRPr lang="ru-RU" dirty="0">
              <a:solidFill>
                <a:srgbClr val="C00000"/>
              </a:solidFill>
            </a:endParaRPr>
          </a:p>
          <a:p>
            <a:pPr>
              <a:buNone/>
            </a:pPr>
            <a:endParaRPr lang="ru-RU" dirty="0">
              <a:solidFill>
                <a:srgbClr val="C00000"/>
              </a:solidFill>
            </a:endParaRPr>
          </a:p>
          <a:p>
            <a:endParaRPr lang="ru-RU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802434"/>
          </a:xfrm>
        </p:spPr>
        <p:txBody>
          <a:bodyPr/>
          <a:lstStyle/>
          <a:p>
            <a:r>
              <a:rPr lang="ru-RU" b="1" dirty="0">
                <a:solidFill>
                  <a:schemeClr val="tx2"/>
                </a:solidFill>
              </a:rPr>
              <a:t>1. </a:t>
            </a:r>
            <a:r>
              <a:rPr lang="ru-RU" b="1" dirty="0" err="1">
                <a:solidFill>
                  <a:schemeClr val="tx2"/>
                </a:solidFill>
              </a:rPr>
              <a:t>Дейтаграммный</a:t>
            </a:r>
            <a:r>
              <a:rPr lang="ru-RU" b="1" dirty="0">
                <a:solidFill>
                  <a:schemeClr val="tx2"/>
                </a:solidFill>
              </a:rPr>
              <a:t> режим</a:t>
            </a:r>
            <a:br>
              <a:rPr lang="ru-RU" b="1" dirty="0">
                <a:solidFill>
                  <a:schemeClr val="tx2"/>
                </a:solidFill>
              </a:rPr>
            </a:br>
            <a:r>
              <a:rPr lang="ru-RU" b="1" dirty="0">
                <a:solidFill>
                  <a:schemeClr val="tx2"/>
                </a:solidFill>
              </a:rPr>
              <a:t>сетей КП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80728"/>
          </a:xfrm>
        </p:spPr>
        <p:txBody>
          <a:bodyPr>
            <a:normAutofit/>
          </a:bodyPr>
          <a:lstStyle/>
          <a:p>
            <a:r>
              <a:rPr lang="ru-RU" sz="3600" b="1" dirty="0" err="1">
                <a:solidFill>
                  <a:schemeClr val="tx2"/>
                </a:solidFill>
              </a:rPr>
              <a:t>Дейтаграммный</a:t>
            </a:r>
            <a:r>
              <a:rPr lang="ru-RU" sz="3600" b="1" dirty="0">
                <a:solidFill>
                  <a:schemeClr val="tx2"/>
                </a:solidFill>
              </a:rPr>
              <a:t> режим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836712"/>
            <a:ext cx="8712968" cy="5289451"/>
          </a:xfrm>
        </p:spPr>
        <p:txBody>
          <a:bodyPr>
            <a:normAutofit lnSpcReduction="10000"/>
          </a:bodyPr>
          <a:lstStyle/>
          <a:p>
            <a:r>
              <a:rPr lang="ru-RU" sz="2800" u="sng" dirty="0"/>
              <a:t>Эффективен для передачи пакетов малой длины</a:t>
            </a:r>
          </a:p>
          <a:p>
            <a:r>
              <a:rPr lang="ru-RU" sz="2800" u="sng" dirty="0"/>
              <a:t>Передача пакетов между </a:t>
            </a:r>
            <a:r>
              <a:rPr lang="ru-RU" sz="2800" b="1" u="sng" dirty="0"/>
              <a:t>К </a:t>
            </a:r>
            <a:r>
              <a:rPr lang="ru-RU" sz="2800" u="sng" dirty="0"/>
              <a:t>происходит без установления соединения </a:t>
            </a:r>
            <a:r>
              <a:rPr lang="ru-RU" sz="2800" dirty="0"/>
              <a:t>и пакеты одного информационного сообщения передаются независимо друг от друга.</a:t>
            </a:r>
          </a:p>
          <a:p>
            <a:r>
              <a:rPr lang="ru-RU" sz="2800" u="sng" dirty="0"/>
              <a:t>Сеть не сохраняет информацию о переданных пакетах</a:t>
            </a:r>
          </a:p>
          <a:p>
            <a:r>
              <a:rPr lang="ru-RU" sz="2800" u="sng" dirty="0"/>
              <a:t>Каждый</a:t>
            </a:r>
            <a:r>
              <a:rPr lang="ru-RU" sz="2800" b="1" u="sng" dirty="0"/>
              <a:t> К </a:t>
            </a:r>
            <a:r>
              <a:rPr lang="ru-RU" sz="2800" u="sng" dirty="0"/>
              <a:t>имеет таблицу маршрутизации</a:t>
            </a:r>
            <a:r>
              <a:rPr lang="ru-RU" sz="2800" dirty="0"/>
              <a:t>, которая содержит набор адресов назначения куда может быть отправлен пакет.</a:t>
            </a:r>
          </a:p>
          <a:p>
            <a:r>
              <a:rPr lang="ru-RU" sz="2800" u="sng" dirty="0"/>
              <a:t>Данный режим работает быстро </a:t>
            </a:r>
            <a:r>
              <a:rPr lang="ru-RU" sz="2800" dirty="0"/>
              <a:t>, т.к. не требует предварительных действий для отправки пакетов.</a:t>
            </a:r>
          </a:p>
          <a:p>
            <a:endParaRPr lang="ru-RU" sz="2800" b="1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512" y="22940"/>
            <a:ext cx="8784976" cy="648072"/>
          </a:xfrm>
        </p:spPr>
        <p:txBody>
          <a:bodyPr>
            <a:noAutofit/>
          </a:bodyPr>
          <a:lstStyle/>
          <a:p>
            <a:r>
              <a:rPr lang="ru-RU" sz="2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Иллюстрация </a:t>
            </a:r>
            <a:r>
              <a:rPr lang="ru-RU" sz="2400" b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дейтаграммного</a:t>
            </a:r>
            <a:r>
              <a:rPr lang="ru-RU" sz="2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принципа передачи пакетов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31640" y="620687"/>
            <a:ext cx="6840760" cy="617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472481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Autofit/>
          </a:bodyPr>
          <a:lstStyle/>
          <a:p>
            <a:pPr algn="l"/>
            <a:r>
              <a:rPr lang="ru-RU" sz="2800" b="1" dirty="0">
                <a:solidFill>
                  <a:schemeClr val="tx2"/>
                </a:solidFill>
              </a:rPr>
              <a:t>Алгоритм маршрутизации </a:t>
            </a:r>
            <a:r>
              <a:rPr lang="ru-RU" sz="2800" b="1" dirty="0" err="1">
                <a:solidFill>
                  <a:schemeClr val="tx2"/>
                </a:solidFill>
              </a:rPr>
              <a:t>дейтаграммного</a:t>
            </a:r>
            <a:r>
              <a:rPr lang="ru-RU" sz="2800" b="1" dirty="0">
                <a:solidFill>
                  <a:schemeClr val="tx2"/>
                </a:solidFill>
              </a:rPr>
              <a:t>  режима (1)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692696"/>
            <a:ext cx="8964488" cy="616530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2000" dirty="0"/>
              <a:t> </a:t>
            </a:r>
            <a:r>
              <a:rPr lang="ru-RU" sz="2400" dirty="0"/>
              <a:t>-  </a:t>
            </a:r>
            <a:r>
              <a:rPr lang="ru-RU" sz="2800" dirty="0"/>
              <a:t>Пользователь </a:t>
            </a:r>
            <a:r>
              <a:rPr lang="en-US" sz="2800" b="1" dirty="0"/>
              <a:t>N1</a:t>
            </a:r>
            <a:r>
              <a:rPr lang="ru-RU" sz="2800" dirty="0"/>
              <a:t> отправляет сообщение пользователю </a:t>
            </a:r>
            <a:r>
              <a:rPr lang="en-US" sz="2800" b="1" dirty="0"/>
              <a:t>N2</a:t>
            </a:r>
            <a:r>
              <a:rPr lang="ru-RU" sz="2800" dirty="0"/>
              <a:t> , оно попадает во входной буфер коммутатора</a:t>
            </a:r>
            <a:r>
              <a:rPr lang="en-US" sz="2800" dirty="0"/>
              <a:t> S1</a:t>
            </a:r>
            <a:r>
              <a:rPr lang="ru-RU" sz="2800" dirty="0"/>
              <a:t>.</a:t>
            </a:r>
            <a:endParaRPr lang="ru-RU" sz="2800" b="1" dirty="0"/>
          </a:p>
          <a:p>
            <a:pPr>
              <a:buNone/>
            </a:pPr>
            <a:r>
              <a:rPr lang="ru-RU" sz="2800" b="1" dirty="0"/>
              <a:t>  </a:t>
            </a:r>
            <a:r>
              <a:rPr lang="ru-RU" sz="2800" b="1" u="sng" dirty="0"/>
              <a:t>В коммутаторе </a:t>
            </a:r>
            <a:r>
              <a:rPr lang="en-US" sz="2800" b="1" u="sng" dirty="0"/>
              <a:t>S1</a:t>
            </a:r>
            <a:r>
              <a:rPr lang="ru-RU" sz="2800" b="1" u="sng" dirty="0"/>
              <a:t> </a:t>
            </a:r>
            <a:r>
              <a:rPr lang="ru-RU" sz="2800" u="sng" dirty="0"/>
              <a:t>происходит :</a:t>
            </a:r>
          </a:p>
          <a:p>
            <a:pPr>
              <a:buNone/>
            </a:pPr>
            <a:r>
              <a:rPr lang="ru-RU" sz="2800" dirty="0"/>
              <a:t>       - </a:t>
            </a:r>
            <a:r>
              <a:rPr lang="ru-RU" sz="2800" b="1" dirty="0"/>
              <a:t>Сегментация сообщения на порции определенной длины.</a:t>
            </a:r>
          </a:p>
          <a:p>
            <a:pPr>
              <a:buNone/>
            </a:pPr>
            <a:r>
              <a:rPr lang="ru-RU" sz="2800" dirty="0"/>
              <a:t>       -  </a:t>
            </a:r>
            <a:r>
              <a:rPr lang="ru-RU" sz="2800" b="1" dirty="0"/>
              <a:t>Добавление заголовка – образуется пакет</a:t>
            </a:r>
            <a:r>
              <a:rPr lang="ru-RU" sz="2800" dirty="0"/>
              <a:t>,</a:t>
            </a:r>
          </a:p>
          <a:p>
            <a:pPr>
              <a:buNone/>
            </a:pPr>
            <a:r>
              <a:rPr lang="ru-RU" sz="2800" dirty="0"/>
              <a:t>      который готов к передаче к коммутатору </a:t>
            </a:r>
            <a:r>
              <a:rPr lang="en-US" sz="2800" dirty="0"/>
              <a:t>S2 </a:t>
            </a:r>
            <a:r>
              <a:rPr lang="ru-RU" sz="2800" dirty="0"/>
              <a:t>либо </a:t>
            </a:r>
            <a:r>
              <a:rPr lang="en-US" sz="2800" dirty="0"/>
              <a:t>S3</a:t>
            </a:r>
            <a:r>
              <a:rPr lang="ru-RU" sz="2800" dirty="0"/>
              <a:t>.</a:t>
            </a:r>
          </a:p>
          <a:p>
            <a:pPr>
              <a:buNone/>
            </a:pPr>
            <a:r>
              <a:rPr lang="ru-RU" sz="2800" dirty="0"/>
              <a:t>       - </a:t>
            </a:r>
            <a:r>
              <a:rPr lang="ru-RU" sz="2800" b="1" dirty="0"/>
              <a:t>Выбрано направление к коммутатору </a:t>
            </a:r>
            <a:r>
              <a:rPr lang="en-US" sz="2800" b="1" dirty="0"/>
              <a:t>S2</a:t>
            </a:r>
            <a:r>
              <a:rPr lang="ru-RU" sz="2800" b="1" dirty="0"/>
              <a:t>:</a:t>
            </a:r>
            <a:endParaRPr lang="ru-RU" sz="2800" dirty="0"/>
          </a:p>
          <a:p>
            <a:pPr>
              <a:buNone/>
            </a:pPr>
            <a:r>
              <a:rPr lang="ru-RU" sz="2800" dirty="0"/>
              <a:t>              - </a:t>
            </a:r>
            <a:r>
              <a:rPr lang="ru-RU" sz="2800" i="1" dirty="0"/>
              <a:t>Если </a:t>
            </a:r>
            <a:r>
              <a:rPr lang="ru-RU" sz="2800" b="1" i="1" dirty="0"/>
              <a:t>канал к коммутатору </a:t>
            </a:r>
            <a:r>
              <a:rPr lang="en-US" sz="2800" b="1" i="1" dirty="0"/>
              <a:t>S2 </a:t>
            </a:r>
            <a:r>
              <a:rPr lang="ru-RU" sz="2800" b="1" i="1" dirty="0"/>
              <a:t>свободен –</a:t>
            </a:r>
          </a:p>
          <a:p>
            <a:pPr>
              <a:buNone/>
            </a:pPr>
            <a:r>
              <a:rPr lang="ru-RU" sz="2800" b="1" i="1" dirty="0"/>
              <a:t>              пакет отправляется</a:t>
            </a:r>
            <a:r>
              <a:rPr lang="ru-RU" sz="2800" b="1" dirty="0"/>
              <a:t>.</a:t>
            </a:r>
          </a:p>
          <a:p>
            <a:pPr>
              <a:buNone/>
            </a:pPr>
            <a:r>
              <a:rPr lang="ru-RU" sz="2800" dirty="0"/>
              <a:t>           </a:t>
            </a:r>
            <a:r>
              <a:rPr lang="ru-RU" sz="2800" b="1" dirty="0"/>
              <a:t>- </a:t>
            </a:r>
            <a:r>
              <a:rPr lang="ru-RU" sz="2800" b="1" i="1" dirty="0"/>
              <a:t>Если занят – пакет хранится в выходном буфере </a:t>
            </a:r>
            <a:r>
              <a:rPr lang="en-US" sz="2800" b="1" i="1" dirty="0"/>
              <a:t>S1</a:t>
            </a:r>
            <a:r>
              <a:rPr lang="ru-RU" sz="2800" b="1" i="1" dirty="0"/>
              <a:t> </a:t>
            </a:r>
            <a:r>
              <a:rPr lang="ru-RU" sz="2800" i="1" dirty="0"/>
              <a:t>до   его освобождения</a:t>
            </a:r>
            <a:r>
              <a:rPr lang="ru-RU" sz="2800" dirty="0"/>
              <a:t>.</a:t>
            </a:r>
          </a:p>
          <a:p>
            <a:pPr>
              <a:buNone/>
            </a:pPr>
            <a:r>
              <a:rPr lang="ru-RU" sz="2400" dirty="0">
                <a:solidFill>
                  <a:srgbClr val="C00000"/>
                </a:solidFill>
              </a:rPr>
              <a:t>   </a:t>
            </a:r>
            <a:r>
              <a:rPr lang="ru-RU" sz="2400" u="sng" dirty="0">
                <a:solidFill>
                  <a:srgbClr val="C00000"/>
                </a:solidFill>
              </a:rPr>
              <a:t> </a:t>
            </a:r>
            <a:endParaRPr lang="ru-RU" sz="24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512" y="22940"/>
            <a:ext cx="8784976" cy="648072"/>
          </a:xfrm>
        </p:spPr>
        <p:txBody>
          <a:bodyPr>
            <a:noAutofit/>
          </a:bodyPr>
          <a:lstStyle/>
          <a:p>
            <a:r>
              <a:rPr lang="ru-RU" sz="2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Иллюстрация </a:t>
            </a:r>
            <a:r>
              <a:rPr lang="ru-RU" sz="2400" b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дейтаграммного</a:t>
            </a:r>
            <a:r>
              <a:rPr lang="ru-RU" sz="2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принципа передачи пакетов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31640" y="620687"/>
            <a:ext cx="6840760" cy="617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472481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864096"/>
          </a:xfrm>
        </p:spPr>
        <p:txBody>
          <a:bodyPr>
            <a:noAutofit/>
          </a:bodyPr>
          <a:lstStyle/>
          <a:p>
            <a:pPr algn="l"/>
            <a:r>
              <a:rPr lang="ru-RU" sz="2800" b="1" dirty="0">
                <a:solidFill>
                  <a:schemeClr val="tx2"/>
                </a:solidFill>
              </a:rPr>
              <a:t>Алгоритм маршрутизации </a:t>
            </a:r>
            <a:r>
              <a:rPr lang="ru-RU" sz="2800" b="1" dirty="0" err="1">
                <a:solidFill>
                  <a:schemeClr val="tx2"/>
                </a:solidFill>
              </a:rPr>
              <a:t>дейтаграммного</a:t>
            </a:r>
            <a:r>
              <a:rPr lang="ru-RU" sz="2800" b="1" dirty="0">
                <a:solidFill>
                  <a:schemeClr val="tx2"/>
                </a:solidFill>
              </a:rPr>
              <a:t> режима (2)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268760"/>
            <a:ext cx="9144000" cy="558924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dirty="0">
                <a:solidFill>
                  <a:srgbClr val="C00000"/>
                </a:solidFill>
              </a:rPr>
              <a:t>  </a:t>
            </a:r>
            <a:r>
              <a:rPr lang="ru-RU" sz="3400" b="1" dirty="0">
                <a:solidFill>
                  <a:srgbClr val="C00000"/>
                </a:solidFill>
              </a:rPr>
              <a:t>       </a:t>
            </a:r>
            <a:r>
              <a:rPr lang="ru-RU" sz="3400" b="1" u="sng" dirty="0"/>
              <a:t>В коммутаторе </a:t>
            </a:r>
            <a:r>
              <a:rPr lang="en-US" sz="3400" b="1" u="sng" dirty="0"/>
              <a:t>S2</a:t>
            </a:r>
            <a:endParaRPr lang="ru-RU" sz="3400" b="1" u="sng" dirty="0"/>
          </a:p>
          <a:p>
            <a:pPr>
              <a:buNone/>
            </a:pPr>
            <a:r>
              <a:rPr lang="ru-RU" sz="3400" dirty="0"/>
              <a:t>        -  </a:t>
            </a:r>
            <a:r>
              <a:rPr lang="ru-RU" sz="3400" b="1" dirty="0"/>
              <a:t>Обработка заголовка пакета</a:t>
            </a:r>
            <a:r>
              <a:rPr lang="ru-RU" sz="3400" dirty="0"/>
              <a:t>, а пользовательская информация хранится в буфере. </a:t>
            </a:r>
          </a:p>
          <a:p>
            <a:pPr>
              <a:buNone/>
            </a:pPr>
            <a:r>
              <a:rPr lang="ru-RU" sz="3400" dirty="0"/>
              <a:t>        - </a:t>
            </a:r>
            <a:r>
              <a:rPr lang="ru-RU" sz="3400" b="1" dirty="0"/>
              <a:t>После выбора маршрута (к </a:t>
            </a:r>
            <a:r>
              <a:rPr lang="en-US" sz="3400" b="1" dirty="0"/>
              <a:t>S</a:t>
            </a:r>
            <a:r>
              <a:rPr lang="ru-RU" sz="3400" b="1" dirty="0"/>
              <a:t>4</a:t>
            </a:r>
            <a:r>
              <a:rPr lang="en-US" sz="3400" b="1" dirty="0"/>
              <a:t>) </a:t>
            </a:r>
            <a:r>
              <a:rPr lang="ru-RU" sz="3400" b="1" dirty="0"/>
              <a:t>формируется новый заголовок пакета </a:t>
            </a:r>
            <a:r>
              <a:rPr lang="ru-RU" sz="3400" dirty="0"/>
              <a:t>и происходит новое образование пакета </a:t>
            </a:r>
          </a:p>
          <a:p>
            <a:pPr>
              <a:buNone/>
            </a:pPr>
            <a:r>
              <a:rPr lang="ru-RU" sz="3400" dirty="0"/>
              <a:t>   ( новый заголовок + информация пользователя).</a:t>
            </a:r>
          </a:p>
          <a:p>
            <a:pPr>
              <a:buNone/>
            </a:pPr>
            <a:r>
              <a:rPr lang="ru-RU" sz="3400" dirty="0"/>
              <a:t>        </a:t>
            </a:r>
            <a:r>
              <a:rPr lang="ru-RU" sz="3400" b="1" u="sng" dirty="0"/>
              <a:t>В коммутаторе </a:t>
            </a:r>
            <a:r>
              <a:rPr lang="en-US" sz="3400" b="1" u="sng" dirty="0"/>
              <a:t>S4</a:t>
            </a:r>
            <a:r>
              <a:rPr lang="ru-RU" sz="3400" b="1" u="sng" dirty="0"/>
              <a:t>   </a:t>
            </a:r>
          </a:p>
          <a:p>
            <a:pPr>
              <a:buNone/>
            </a:pPr>
            <a:r>
              <a:rPr lang="ru-RU" sz="2800" b="1" dirty="0"/>
              <a:t>        - П</a:t>
            </a:r>
            <a:r>
              <a:rPr lang="ru-RU" b="1" dirty="0"/>
              <a:t>осле приема последнего пакета отбрасываются заголовки </a:t>
            </a:r>
            <a:r>
              <a:rPr lang="ru-RU" dirty="0"/>
              <a:t>и  пакеты собираются по порядковому номеру , образуется сообщение.</a:t>
            </a:r>
          </a:p>
          <a:p>
            <a:pPr>
              <a:buNone/>
            </a:pPr>
            <a:r>
              <a:rPr lang="ru-RU" dirty="0"/>
              <a:t>         Сообщение поступает к пользователю </a:t>
            </a:r>
            <a:r>
              <a:rPr lang="en-US" dirty="0"/>
              <a:t>N2</a:t>
            </a:r>
            <a:r>
              <a:rPr lang="ru-RU" dirty="0">
                <a:solidFill>
                  <a:srgbClr val="002060"/>
                </a:solidFill>
              </a:rPr>
              <a:t>. </a:t>
            </a:r>
            <a:endParaRPr lang="en-US" dirty="0">
              <a:solidFill>
                <a:srgbClr val="002060"/>
              </a:solidFill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730426"/>
          </a:xfrm>
        </p:spPr>
        <p:txBody>
          <a:bodyPr/>
          <a:lstStyle/>
          <a:p>
            <a:r>
              <a:rPr lang="ru-RU" b="1" dirty="0">
                <a:solidFill>
                  <a:schemeClr val="tx2"/>
                </a:solidFill>
              </a:rPr>
              <a:t>2. Механизм виртуальных каналов в сетях КП с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92696"/>
          </a:xfrm>
        </p:spPr>
        <p:txBody>
          <a:bodyPr>
            <a:normAutofit fontScale="90000"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Виртуальный канал (ВК</a:t>
            </a:r>
            <a:r>
              <a:rPr lang="ru-RU" b="1" dirty="0">
                <a:solidFill>
                  <a:schemeClr val="tx2"/>
                </a:solidFill>
              </a:rPr>
              <a:t>) (1)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65304"/>
          </a:xfrm>
        </p:spPr>
        <p:txBody>
          <a:bodyPr>
            <a:noAutofit/>
          </a:bodyPr>
          <a:lstStyle/>
          <a:p>
            <a:r>
              <a:rPr lang="ru-RU" sz="2400" b="1" u="sng" dirty="0"/>
              <a:t>  Цель </a:t>
            </a:r>
            <a:r>
              <a:rPr lang="ru-RU" sz="2400" dirty="0"/>
              <a:t>– прокладка для всех пакетов потока единого пути через сеть. </a:t>
            </a:r>
          </a:p>
          <a:p>
            <a:r>
              <a:rPr lang="ru-RU" sz="2400" b="1" u="sng" dirty="0"/>
              <a:t>Необходимым признаком потока </a:t>
            </a:r>
            <a:r>
              <a:rPr lang="ru-RU" sz="2400" dirty="0"/>
              <a:t>– это наличие для всех пакетов общих точек входа и выхода из сети. Именно для таких потоков создаются  виртуальные каналы (ВК).</a:t>
            </a:r>
          </a:p>
          <a:p>
            <a:r>
              <a:rPr lang="ru-RU" sz="2400" b="1" u="sng" dirty="0"/>
              <a:t>Сеть обеспечивает возможность передачи </a:t>
            </a:r>
            <a:r>
              <a:rPr lang="ru-RU" sz="2400" dirty="0"/>
              <a:t>потоков  пакетов (трафика) вдоль виртуального канала.</a:t>
            </a:r>
          </a:p>
          <a:p>
            <a:r>
              <a:rPr lang="ru-RU" sz="2400" b="1" u="sng" dirty="0"/>
              <a:t>Узел пользователя может использовать</a:t>
            </a:r>
            <a:r>
              <a:rPr lang="ru-RU" sz="2400" u="sng" dirty="0"/>
              <a:t>:</a:t>
            </a:r>
          </a:p>
          <a:p>
            <a:pPr>
              <a:buNone/>
            </a:pPr>
            <a:r>
              <a:rPr lang="ru-RU" sz="2400" dirty="0"/>
              <a:t>      - </a:t>
            </a:r>
            <a:r>
              <a:rPr lang="ru-RU" sz="2400" b="1" dirty="0"/>
              <a:t>как  один и тот же ВК </a:t>
            </a:r>
            <a:r>
              <a:rPr lang="ru-RU" sz="2400" dirty="0"/>
              <a:t>для передачи разных потоков пакетов</a:t>
            </a:r>
          </a:p>
          <a:p>
            <a:pPr>
              <a:buNone/>
            </a:pPr>
            <a:r>
              <a:rPr lang="ru-RU" sz="2400" dirty="0"/>
              <a:t>      ( речь, видео) ;</a:t>
            </a:r>
          </a:p>
          <a:p>
            <a:pPr>
              <a:buNone/>
            </a:pPr>
            <a:r>
              <a:rPr lang="ru-RU" sz="2400" dirty="0"/>
              <a:t>      </a:t>
            </a:r>
            <a:r>
              <a:rPr lang="ru-RU" sz="2400" b="1" dirty="0"/>
              <a:t>- так и создавать разные ВК </a:t>
            </a:r>
            <a:r>
              <a:rPr lang="ru-RU" sz="2400" dirty="0"/>
              <a:t>(например , для потока реального времени исп.ВК1,</a:t>
            </a:r>
            <a:r>
              <a:rPr lang="en-US" sz="2400" dirty="0"/>
              <a:t> </a:t>
            </a:r>
            <a:r>
              <a:rPr lang="ru-RU" sz="2400" dirty="0"/>
              <a:t> а для трафика электронный почты - ВК2 ).</a:t>
            </a:r>
          </a:p>
          <a:p>
            <a:r>
              <a:rPr lang="ru-RU" sz="2400" b="1" u="sng" dirty="0"/>
              <a:t>     Разные виртуальные каналы предъявляют разные требования к качеству обслуживания (</a:t>
            </a:r>
            <a:r>
              <a:rPr lang="en-US" sz="2400" b="1" u="sng" dirty="0" err="1"/>
              <a:t>QoS</a:t>
            </a:r>
            <a:r>
              <a:rPr lang="en-US" sz="2400" b="1" u="sng" dirty="0"/>
              <a:t>)</a:t>
            </a:r>
            <a:r>
              <a:rPr lang="ru-RU" sz="2400" b="1" dirty="0"/>
              <a:t>.</a:t>
            </a:r>
          </a:p>
          <a:p>
            <a:endParaRPr lang="ru-RU" sz="2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Виртуальный канал (ВК) (2)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688632"/>
          </a:xfrm>
        </p:spPr>
        <p:txBody>
          <a:bodyPr>
            <a:normAutofit fontScale="92500" lnSpcReduction="20000"/>
          </a:bodyPr>
          <a:lstStyle/>
          <a:p>
            <a:r>
              <a:rPr lang="ru-RU" b="1" u="sng" dirty="0"/>
              <a:t>Особенность сетей с ВК –это использование  локальных адресов (метки) пакетов.</a:t>
            </a:r>
          </a:p>
          <a:p>
            <a:pPr>
              <a:buNone/>
            </a:pPr>
            <a:r>
              <a:rPr lang="ru-RU" dirty="0"/>
              <a:t>   Вместо длинного адреса узла назначения применяется локальная , т.е. меняющаяся от узла к узлу метка, которой помечаются все пакеты, перемещающиеся по данному </a:t>
            </a:r>
            <a:r>
              <a:rPr lang="ru-RU" b="1" dirty="0"/>
              <a:t>ВК.</a:t>
            </a:r>
          </a:p>
          <a:p>
            <a:pPr>
              <a:buNone/>
            </a:pPr>
            <a:r>
              <a:rPr lang="ru-RU" dirty="0"/>
              <a:t>  </a:t>
            </a:r>
            <a:r>
              <a:rPr lang="ru-RU" b="1" u="sng" dirty="0"/>
              <a:t>Назначение метки- </a:t>
            </a:r>
          </a:p>
          <a:p>
            <a:pPr>
              <a:buNone/>
            </a:pPr>
            <a:r>
              <a:rPr lang="ru-RU" dirty="0"/>
              <a:t>    промежуточный узел (К, коммутатор) читает значение метки из заголовка пакета и просматривает свою таблицу коммутации, в которой указывается на какой выходной порт нужно его передать.</a:t>
            </a:r>
          </a:p>
          <a:p>
            <a:pPr>
              <a:buNone/>
            </a:pPr>
            <a:r>
              <a:rPr lang="ru-RU" dirty="0"/>
              <a:t>    </a:t>
            </a:r>
            <a:r>
              <a:rPr lang="ru-RU" b="1" dirty="0"/>
              <a:t>Таблица коммутации содержит записи о проходящих через данный коммутатор ВК. 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20688"/>
          </a:xfrm>
        </p:spPr>
        <p:txBody>
          <a:bodyPr>
            <a:normAutofit fontScale="90000"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Виртуальный канал (3)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548680"/>
            <a:ext cx="8964488" cy="6309320"/>
          </a:xfrm>
        </p:spPr>
        <p:txBody>
          <a:bodyPr>
            <a:normAutofit fontScale="40000" lnSpcReduction="20000"/>
          </a:bodyPr>
          <a:lstStyle/>
          <a:p>
            <a:endParaRPr lang="ru-RU" sz="2800" b="1" dirty="0"/>
          </a:p>
          <a:p>
            <a:r>
              <a:rPr lang="ru-RU" sz="6000" b="1" dirty="0"/>
              <a:t>Перед началом передачи данных между конечными узлами устанавливается логическое  соединение,</a:t>
            </a:r>
          </a:p>
          <a:p>
            <a:pPr>
              <a:buNone/>
            </a:pPr>
            <a:r>
              <a:rPr lang="ru-RU" sz="6000" b="1" dirty="0"/>
              <a:t>     </a:t>
            </a:r>
            <a:r>
              <a:rPr lang="ru-RU" sz="6000" dirty="0"/>
              <a:t> которое является единственным маршрутом доставки  пакетов.</a:t>
            </a:r>
          </a:p>
          <a:p>
            <a:endParaRPr lang="ru-RU" sz="6000" dirty="0"/>
          </a:p>
          <a:p>
            <a:r>
              <a:rPr lang="ru-RU" sz="6000" b="1" u="sng" dirty="0"/>
              <a:t>Каждый пакет потока имеет метку </a:t>
            </a:r>
            <a:r>
              <a:rPr lang="ru-RU" sz="6000" u="sng" dirty="0"/>
              <a:t>,</a:t>
            </a:r>
            <a:r>
              <a:rPr lang="ru-RU" sz="6000" dirty="0"/>
              <a:t> а не адрес назначения.</a:t>
            </a:r>
          </a:p>
          <a:p>
            <a:pPr>
              <a:buNone/>
            </a:pPr>
            <a:r>
              <a:rPr lang="ru-RU" sz="6000" dirty="0"/>
              <a:t> </a:t>
            </a:r>
          </a:p>
          <a:p>
            <a:r>
              <a:rPr lang="ru-RU" sz="6000" dirty="0"/>
              <a:t>Процедура обработки определяется для множества пакетов, переданных за соединение , а не для одного</a:t>
            </a:r>
            <a:r>
              <a:rPr lang="ru-RU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just"/>
            <a:r>
              <a:rPr lang="ru-RU" sz="6000" b="1" u="sng" dirty="0"/>
              <a:t>Для обслуживания пакетов разных соединений </a:t>
            </a:r>
            <a:r>
              <a:rPr lang="ru-RU" sz="6000" dirty="0"/>
              <a:t>сеть должна присвоить каждому соединению:</a:t>
            </a:r>
          </a:p>
          <a:p>
            <a:pPr algn="just">
              <a:buNone/>
            </a:pPr>
            <a:r>
              <a:rPr lang="ru-RU" sz="6000" dirty="0">
                <a:solidFill>
                  <a:srgbClr val="C00000"/>
                </a:solidFill>
              </a:rPr>
              <a:t>            </a:t>
            </a:r>
            <a:r>
              <a:rPr lang="ru-RU" sz="6000" dirty="0"/>
              <a:t>- идентификатор (метку);</a:t>
            </a:r>
          </a:p>
          <a:p>
            <a:pPr algn="just">
              <a:buNone/>
            </a:pPr>
            <a:r>
              <a:rPr lang="ru-RU" sz="6000" dirty="0"/>
              <a:t>            - параметры соединения , которые могут быть :</a:t>
            </a:r>
          </a:p>
          <a:p>
            <a:pPr algn="just">
              <a:buNone/>
            </a:pPr>
            <a:r>
              <a:rPr lang="ru-RU" sz="6000" dirty="0"/>
              <a:t>                  </a:t>
            </a:r>
            <a:r>
              <a:rPr lang="ru-RU" sz="6000" i="1" dirty="0"/>
              <a:t>- постоянными на все время соединения</a:t>
            </a:r>
          </a:p>
          <a:p>
            <a:pPr algn="just">
              <a:buNone/>
            </a:pPr>
            <a:r>
              <a:rPr lang="ru-RU" sz="6000" i="1" dirty="0"/>
              <a:t>                     ( длина пакета);</a:t>
            </a:r>
          </a:p>
          <a:p>
            <a:pPr>
              <a:buNone/>
            </a:pPr>
            <a:r>
              <a:rPr lang="ru-RU" sz="6000" i="1" dirty="0"/>
              <a:t>                 -переменными, динамически отражающие текущее   </a:t>
            </a:r>
          </a:p>
          <a:p>
            <a:pPr>
              <a:buNone/>
            </a:pPr>
            <a:r>
              <a:rPr lang="ru-RU" sz="6000" i="1" dirty="0"/>
              <a:t>                     состояние (номер пакета ) соединения.</a:t>
            </a:r>
            <a:r>
              <a:rPr lang="ru-RU" sz="6000" b="1" dirty="0">
                <a:solidFill>
                  <a:srgbClr val="C00000"/>
                </a:solidFill>
              </a:rPr>
              <a:t>  </a:t>
            </a:r>
            <a:endParaRPr lang="ru-RU" sz="6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8856983" cy="648072"/>
          </a:xfrm>
        </p:spPr>
        <p:txBody>
          <a:bodyPr>
            <a:noAutofit/>
          </a:bodyPr>
          <a:lstStyle/>
          <a:p>
            <a:r>
              <a:rPr lang="ru-RU" sz="2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Иллюстрация принципа работы виртуального канала (ВК)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575" y="980728"/>
            <a:ext cx="9086850" cy="57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472481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Виртуальный канал (4)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9024" y="620688"/>
            <a:ext cx="8784976" cy="6237312"/>
          </a:xfrm>
        </p:spPr>
        <p:txBody>
          <a:bodyPr>
            <a:noAutofit/>
          </a:bodyPr>
          <a:lstStyle/>
          <a:p>
            <a:r>
              <a:rPr lang="ru-RU" sz="2400" b="1" dirty="0"/>
              <a:t>Рассмотрим алгоритм работы:</a:t>
            </a:r>
          </a:p>
          <a:p>
            <a:pPr>
              <a:buNone/>
            </a:pPr>
            <a:r>
              <a:rPr lang="ru-RU" sz="2400" dirty="0"/>
              <a:t> 1).   </a:t>
            </a:r>
            <a:r>
              <a:rPr lang="ru-RU" sz="2400" b="1" dirty="0"/>
              <a:t>Пользователь </a:t>
            </a:r>
            <a:r>
              <a:rPr lang="en-US" sz="2400" b="1" dirty="0"/>
              <a:t>N1 </a:t>
            </a:r>
            <a:r>
              <a:rPr lang="ru-RU" sz="2400" b="1" dirty="0"/>
              <a:t>отправляет сообщение и оно попадает в буфер</a:t>
            </a:r>
            <a:r>
              <a:rPr lang="ru-RU" sz="2400" dirty="0"/>
              <a:t> </a:t>
            </a:r>
            <a:r>
              <a:rPr lang="ru-RU" sz="2400" b="1" dirty="0"/>
              <a:t>коммутатора </a:t>
            </a:r>
            <a:r>
              <a:rPr lang="en-US" sz="2400" b="1" dirty="0"/>
              <a:t>S1</a:t>
            </a:r>
            <a:r>
              <a:rPr lang="ru-RU" sz="2400" b="1" dirty="0"/>
              <a:t>, </a:t>
            </a:r>
            <a:r>
              <a:rPr lang="ru-RU" sz="2400" dirty="0"/>
              <a:t>где происходит сегментация сообщения на порции определенной длины.</a:t>
            </a:r>
            <a:r>
              <a:rPr lang="ru-RU" sz="2400" u="sng" dirty="0"/>
              <a:t> </a:t>
            </a:r>
          </a:p>
          <a:p>
            <a:pPr>
              <a:buNone/>
            </a:pPr>
            <a:endParaRPr lang="ru-RU" sz="2400" u="sng" dirty="0"/>
          </a:p>
          <a:p>
            <a:pPr>
              <a:buNone/>
            </a:pPr>
            <a:r>
              <a:rPr lang="ru-RU" sz="2400" u="sng" dirty="0"/>
              <a:t>  2). </a:t>
            </a:r>
            <a:r>
              <a:rPr lang="ru-RU" sz="2400" b="1" u="sng" dirty="0"/>
              <a:t>Параллельно идет создание и отправка  служебного пакета «установление логического соединения»:</a:t>
            </a:r>
            <a:r>
              <a:rPr lang="ru-RU" sz="2400" b="1" dirty="0"/>
              <a:t>          </a:t>
            </a:r>
          </a:p>
          <a:p>
            <a:pPr>
              <a:buNone/>
            </a:pPr>
            <a:r>
              <a:rPr lang="ru-RU" sz="2400" dirty="0"/>
              <a:t>    - </a:t>
            </a:r>
            <a:r>
              <a:rPr lang="ru-RU" sz="2400" b="1" dirty="0"/>
              <a:t>от Узла 1  (</a:t>
            </a:r>
            <a:r>
              <a:rPr lang="en-US" sz="2400" b="1" dirty="0"/>
              <a:t>S1) </a:t>
            </a:r>
            <a:r>
              <a:rPr lang="ru-RU" sz="2400" b="1" dirty="0"/>
              <a:t>к Узлу 2</a:t>
            </a:r>
            <a:r>
              <a:rPr lang="en-US" sz="2400" b="1" dirty="0"/>
              <a:t> (S2)</a:t>
            </a:r>
            <a:r>
              <a:rPr lang="ru-RU" sz="2400" b="1" dirty="0"/>
              <a:t> </a:t>
            </a:r>
            <a:r>
              <a:rPr lang="ru-RU" sz="2400" dirty="0"/>
              <a:t>отправляется служебный пакет 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        </a:t>
            </a:r>
            <a:r>
              <a:rPr lang="ru-RU" sz="2400" dirty="0"/>
              <a:t>«запрос на установление соединения», где указывается  адрес назначения пользователя .</a:t>
            </a:r>
          </a:p>
          <a:p>
            <a:pPr>
              <a:buNone/>
            </a:pPr>
            <a:r>
              <a:rPr lang="ru-RU" sz="2400" dirty="0"/>
              <a:t>      - </a:t>
            </a:r>
            <a:r>
              <a:rPr lang="ru-RU" sz="2400" b="1" dirty="0"/>
              <a:t>Узел 2</a:t>
            </a:r>
            <a:r>
              <a:rPr lang="ru-RU" sz="2400" dirty="0"/>
              <a:t> отправляет «квитанцию подтверждения».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     </a:t>
            </a:r>
            <a:r>
              <a:rPr lang="en-US" sz="2400" b="1" dirty="0"/>
              <a:t>-</a:t>
            </a:r>
            <a:r>
              <a:rPr lang="ru-RU" sz="2400" b="1" dirty="0"/>
              <a:t> </a:t>
            </a:r>
            <a:r>
              <a:rPr lang="en-US" sz="2400" b="1" dirty="0"/>
              <a:t> </a:t>
            </a:r>
            <a:r>
              <a:rPr lang="ru-RU" sz="2400" b="1" dirty="0"/>
              <a:t>от Узла 2 (</a:t>
            </a:r>
            <a:r>
              <a:rPr lang="en-US" sz="2400" b="1" dirty="0"/>
              <a:t>S2)</a:t>
            </a:r>
            <a:r>
              <a:rPr lang="ru-RU" sz="2400" b="1" dirty="0"/>
              <a:t> к Узлу 4</a:t>
            </a:r>
            <a:r>
              <a:rPr lang="en-US" sz="2400" b="1" dirty="0"/>
              <a:t> (S4)</a:t>
            </a:r>
            <a:r>
              <a:rPr lang="ru-RU" sz="2400" b="1" dirty="0"/>
              <a:t> </a:t>
            </a:r>
            <a:r>
              <a:rPr lang="ru-RU" sz="2400" dirty="0"/>
              <a:t>происходит аналогичная передача служебного  пакета.</a:t>
            </a:r>
          </a:p>
          <a:p>
            <a:pPr>
              <a:buNone/>
            </a:pPr>
            <a:r>
              <a:rPr lang="ru-RU" sz="2400" dirty="0"/>
              <a:t>     -  </a:t>
            </a:r>
            <a:r>
              <a:rPr lang="ru-RU" sz="2400" b="1" dirty="0"/>
              <a:t>Дойдя до </a:t>
            </a:r>
            <a:r>
              <a:rPr lang="en-US" sz="2400" b="1" dirty="0"/>
              <a:t>S4</a:t>
            </a:r>
            <a:r>
              <a:rPr lang="ru-RU" sz="2400" dirty="0"/>
              <a:t>,</a:t>
            </a:r>
            <a:r>
              <a:rPr lang="en-US" sz="2400" dirty="0"/>
              <a:t> </a:t>
            </a:r>
            <a:r>
              <a:rPr lang="ru-RU" sz="2400" dirty="0"/>
              <a:t> идет запрос на разрешение передачи, сообщив требуемый объем памяти. </a:t>
            </a:r>
          </a:p>
          <a:p>
            <a:pPr>
              <a:buNone/>
            </a:pPr>
            <a:endParaRPr lang="ru-RU" sz="2400" dirty="0"/>
          </a:p>
          <a:p>
            <a:pPr>
              <a:buNone/>
            </a:pPr>
            <a:endParaRPr lang="ru-RU" sz="2400" dirty="0"/>
          </a:p>
          <a:p>
            <a:pPr>
              <a:buNone/>
            </a:pPr>
            <a:endParaRPr lang="ru-RU" sz="2400" dirty="0"/>
          </a:p>
          <a:p>
            <a:pPr>
              <a:buNone/>
            </a:pPr>
            <a:endParaRPr lang="ru-RU" sz="2000" dirty="0"/>
          </a:p>
          <a:p>
            <a:pPr algn="just">
              <a:buNone/>
            </a:pPr>
            <a:r>
              <a:rPr lang="ru-RU" sz="2000" dirty="0"/>
              <a:t>    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512" y="116632"/>
            <a:ext cx="8784976" cy="1152128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Передача без установления соединения (а) и с установлением  логического соединения (б)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95536" y="1249826"/>
            <a:ext cx="8496944" cy="561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472481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8680"/>
          </a:xfrm>
        </p:spPr>
        <p:txBody>
          <a:bodyPr>
            <a:normAutofit fontScale="90000"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Виртуальный канал (5)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620688"/>
            <a:ext cx="8964488" cy="6237312"/>
          </a:xfrm>
        </p:spPr>
        <p:txBody>
          <a:bodyPr>
            <a:normAutofit fontScale="55000" lnSpcReduction="20000"/>
          </a:bodyPr>
          <a:lstStyle/>
          <a:p>
            <a:pPr algn="just">
              <a:buNone/>
            </a:pPr>
            <a:endParaRPr lang="ru-RU" dirty="0"/>
          </a:p>
          <a:p>
            <a:pPr algn="just">
              <a:buNone/>
            </a:pPr>
            <a:r>
              <a:rPr lang="ru-RU" dirty="0"/>
              <a:t> </a:t>
            </a:r>
            <a:r>
              <a:rPr lang="ru-RU" sz="4400" b="1" dirty="0"/>
              <a:t>- </a:t>
            </a:r>
            <a:r>
              <a:rPr lang="ru-RU" sz="4400" dirty="0"/>
              <a:t> </a:t>
            </a:r>
            <a:r>
              <a:rPr lang="ru-RU" sz="4400" b="1" u="sng" dirty="0"/>
              <a:t>Узел 4 </a:t>
            </a:r>
            <a:r>
              <a:rPr lang="en-US" sz="4400" b="1" u="sng" dirty="0"/>
              <a:t>(S4)</a:t>
            </a:r>
            <a:r>
              <a:rPr lang="ru-RU" sz="4400" b="1" dirty="0"/>
              <a:t> </a:t>
            </a:r>
            <a:r>
              <a:rPr lang="ru-RU" sz="4400" dirty="0"/>
              <a:t>отправляет служебный пакет </a:t>
            </a:r>
            <a:r>
              <a:rPr lang="ru-RU" sz="4400" b="1" dirty="0"/>
              <a:t>«подтверждение»</a:t>
            </a:r>
          </a:p>
          <a:p>
            <a:pPr algn="just">
              <a:buNone/>
            </a:pPr>
            <a:r>
              <a:rPr lang="ru-RU" sz="4400" dirty="0"/>
              <a:t> и предлагает </a:t>
            </a:r>
            <a:r>
              <a:rPr lang="ru-RU" sz="4400" b="1" dirty="0"/>
              <a:t>параметры</a:t>
            </a:r>
            <a:r>
              <a:rPr lang="ru-RU" sz="4400" dirty="0"/>
              <a:t> , которые могут быть использованы в рамках одного логического соединения</a:t>
            </a:r>
            <a:r>
              <a:rPr lang="ru-RU" sz="4400" b="1" dirty="0"/>
              <a:t>:</a:t>
            </a:r>
          </a:p>
          <a:p>
            <a:pPr algn="just">
              <a:buNone/>
            </a:pPr>
            <a:r>
              <a:rPr lang="ru-RU" sz="4400" b="1" dirty="0"/>
              <a:t>              - максимальное значение длины пакета </a:t>
            </a:r>
          </a:p>
          <a:p>
            <a:pPr algn="just">
              <a:buNone/>
            </a:pPr>
            <a:r>
              <a:rPr lang="ru-RU" sz="4400" b="1" dirty="0"/>
              <a:t>              - идентификатор (метка)</a:t>
            </a:r>
          </a:p>
          <a:p>
            <a:pPr algn="just">
              <a:buNone/>
            </a:pPr>
            <a:r>
              <a:rPr lang="ru-RU" sz="4400" b="1" dirty="0"/>
              <a:t>              - количество пакетов без подтверждения и т. д.</a:t>
            </a:r>
          </a:p>
          <a:p>
            <a:pPr algn="just">
              <a:buNone/>
            </a:pPr>
            <a:endParaRPr lang="ru-RU" sz="4400" b="1" dirty="0"/>
          </a:p>
          <a:p>
            <a:pPr algn="just">
              <a:buNone/>
            </a:pPr>
            <a:r>
              <a:rPr lang="ru-RU" sz="4400" b="1" dirty="0"/>
              <a:t>   -  Служебный пакет в каждом узле оставляет указание вида </a:t>
            </a:r>
          </a:p>
          <a:p>
            <a:pPr>
              <a:buNone/>
            </a:pPr>
            <a:r>
              <a:rPr lang="en-US" sz="4400" b="1" dirty="0">
                <a:solidFill>
                  <a:srgbClr val="C00000"/>
                </a:solidFill>
              </a:rPr>
              <a:t>     </a:t>
            </a:r>
            <a:r>
              <a:rPr lang="ru-RU" sz="4400" b="1" dirty="0">
                <a:solidFill>
                  <a:srgbClr val="C00000"/>
                </a:solidFill>
              </a:rPr>
              <a:t> </a:t>
            </a:r>
            <a:r>
              <a:rPr lang="ru-RU" sz="4400" b="1" dirty="0"/>
              <a:t>«пакеты 1-го ВК (</a:t>
            </a:r>
            <a:r>
              <a:rPr lang="en-US" sz="4400" b="1" dirty="0"/>
              <a:t>VC1) </a:t>
            </a:r>
            <a:r>
              <a:rPr lang="ru-RU" sz="4400" b="1" dirty="0"/>
              <a:t>, пришедшие из </a:t>
            </a:r>
            <a:r>
              <a:rPr lang="en-US" sz="4400" b="1" dirty="0"/>
              <a:t>I</a:t>
            </a:r>
            <a:r>
              <a:rPr lang="ru-RU" sz="4400" b="1" dirty="0"/>
              <a:t>-го  канала следует направлять в </a:t>
            </a:r>
            <a:r>
              <a:rPr lang="en-US" sz="4400" b="1" dirty="0"/>
              <a:t>G</a:t>
            </a:r>
            <a:r>
              <a:rPr lang="ru-RU" sz="4400" b="1" dirty="0"/>
              <a:t>-</a:t>
            </a:r>
            <a:r>
              <a:rPr lang="ru-RU" sz="4400" b="1" dirty="0" err="1"/>
              <a:t>ый</a:t>
            </a:r>
            <a:r>
              <a:rPr lang="ru-RU" sz="4400" b="1" dirty="0"/>
              <a:t>  канал».</a:t>
            </a:r>
          </a:p>
          <a:p>
            <a:pPr>
              <a:buNone/>
            </a:pPr>
            <a:r>
              <a:rPr lang="ru-RU" sz="4400" b="1" dirty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ru-RU" sz="4400" b="1" dirty="0"/>
              <a:t>    - Коммутатор </a:t>
            </a:r>
            <a:r>
              <a:rPr lang="en-US" sz="4400" b="1" dirty="0"/>
              <a:t>S4 </a:t>
            </a:r>
            <a:r>
              <a:rPr lang="ru-RU" sz="4400" b="1" dirty="0"/>
              <a:t>посылает  информацию о готовности приема.</a:t>
            </a:r>
          </a:p>
          <a:p>
            <a:pPr>
              <a:buNone/>
            </a:pPr>
            <a:r>
              <a:rPr lang="ru-RU" sz="4400" b="1" dirty="0"/>
              <a:t>    - Коммутатор </a:t>
            </a:r>
            <a:r>
              <a:rPr lang="en-US" sz="4400" b="1" dirty="0"/>
              <a:t>S1 </a:t>
            </a:r>
            <a:r>
              <a:rPr lang="ru-RU" sz="4400" b="1" dirty="0"/>
              <a:t>выдает команду на передачу пакетов.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20688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Виртуальный канал (6)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5904656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sz="3400" b="1" i="1" dirty="0"/>
              <a:t>    - </a:t>
            </a:r>
            <a:r>
              <a:rPr lang="ru-RU" sz="3400" dirty="0"/>
              <a:t>Пакеты следуют по ВК и в каждом узле </a:t>
            </a:r>
          </a:p>
          <a:p>
            <a:pPr>
              <a:buNone/>
            </a:pPr>
            <a:r>
              <a:rPr lang="ru-RU" sz="3400" dirty="0"/>
              <a:t>         </a:t>
            </a:r>
            <a:r>
              <a:rPr lang="ru-RU" sz="3400" u="sng" dirty="0"/>
              <a:t>обрабатывается метка</a:t>
            </a:r>
            <a:r>
              <a:rPr lang="ru-RU" sz="3400" dirty="0"/>
              <a:t>.</a:t>
            </a:r>
            <a:endParaRPr lang="ru-RU" sz="3400" dirty="0">
              <a:solidFill>
                <a:srgbClr val="C00000"/>
              </a:solidFill>
            </a:endParaRPr>
          </a:p>
          <a:p>
            <a:pPr>
              <a:buNone/>
            </a:pPr>
            <a:endParaRPr lang="ru-RU" sz="3400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ru-RU" sz="3400" b="1" dirty="0"/>
              <a:t>    - </a:t>
            </a:r>
            <a:r>
              <a:rPr lang="ru-RU" sz="3400" u="sng" dirty="0"/>
              <a:t>Соединение установлено , идет передача данных </a:t>
            </a:r>
          </a:p>
          <a:p>
            <a:pPr>
              <a:buNone/>
            </a:pPr>
            <a:r>
              <a:rPr lang="ru-RU" sz="3400" dirty="0"/>
              <a:t>                     </a:t>
            </a:r>
            <a:r>
              <a:rPr lang="ru-RU" sz="3400" b="1" u="sng" dirty="0"/>
              <a:t>от Узла1 (</a:t>
            </a:r>
            <a:r>
              <a:rPr lang="en-US" sz="3400" b="1" u="sng" dirty="0"/>
              <a:t>S1)</a:t>
            </a:r>
            <a:r>
              <a:rPr lang="ru-RU" sz="3400" b="1" u="sng" dirty="0"/>
              <a:t> к Узлу 4</a:t>
            </a:r>
            <a:r>
              <a:rPr lang="en-US" sz="3400" b="1" u="sng" dirty="0"/>
              <a:t> (S4)</a:t>
            </a:r>
            <a:r>
              <a:rPr lang="ru-RU" sz="3400" b="1" dirty="0"/>
              <a:t>.</a:t>
            </a:r>
          </a:p>
          <a:p>
            <a:pPr>
              <a:buNone/>
            </a:pPr>
            <a:r>
              <a:rPr lang="ru-RU" sz="3400" b="1" dirty="0"/>
              <a:t> </a:t>
            </a:r>
          </a:p>
          <a:p>
            <a:pPr>
              <a:buNone/>
            </a:pPr>
            <a:r>
              <a:rPr lang="ru-RU" sz="3400" b="1" dirty="0"/>
              <a:t>    ВК существует до тех пор пока один из пользователей не отправит спец.служебный пакет, который сотрет инструкцию в коммутаторах.</a:t>
            </a:r>
          </a:p>
          <a:p>
            <a:pPr>
              <a:buNone/>
            </a:pPr>
            <a:endParaRPr lang="ru-RU" sz="3400" b="1" dirty="0"/>
          </a:p>
          <a:p>
            <a:pPr marL="273050" indent="-273050" algn="just">
              <a:buNone/>
            </a:pPr>
            <a:r>
              <a:rPr lang="ru-RU" sz="3400" b="1" dirty="0"/>
              <a:t>   - Узел 1 </a:t>
            </a:r>
            <a:r>
              <a:rPr lang="ru-RU" sz="3400" dirty="0"/>
              <a:t>после окончания передачи данных  посылает служебный пакет </a:t>
            </a:r>
            <a:r>
              <a:rPr lang="ru-RU" sz="3400" b="1" dirty="0"/>
              <a:t>«запрос на разрыв соединения».</a:t>
            </a:r>
          </a:p>
          <a:p>
            <a:pPr algn="just">
              <a:buNone/>
            </a:pPr>
            <a:r>
              <a:rPr lang="ru-RU" sz="3400" dirty="0"/>
              <a:t>   - </a:t>
            </a:r>
            <a:r>
              <a:rPr lang="ru-RU" sz="3400" b="1" dirty="0"/>
              <a:t>Узел </a:t>
            </a:r>
            <a:r>
              <a:rPr lang="en-US" sz="3400" b="1" dirty="0"/>
              <a:t>4 </a:t>
            </a:r>
            <a:r>
              <a:rPr lang="ru-RU" sz="3400" b="1" dirty="0"/>
              <a:t> </a:t>
            </a:r>
            <a:r>
              <a:rPr lang="ru-RU" sz="3400" dirty="0"/>
              <a:t>посылает служебный пакет </a:t>
            </a:r>
            <a:r>
              <a:rPr lang="ru-RU" sz="3400" b="1" dirty="0"/>
              <a:t>«подтверждение разрыва соединения».</a:t>
            </a:r>
          </a:p>
          <a:p>
            <a:pPr algn="just">
              <a:buNone/>
            </a:pPr>
            <a:endParaRPr lang="ru-RU" sz="3400" b="1" dirty="0"/>
          </a:p>
          <a:p>
            <a:pPr>
              <a:buNone/>
            </a:pP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512" y="116632"/>
            <a:ext cx="8784976" cy="1152128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Передача без установления соединения (а) и с установлением  логического соединения (б)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95536" y="1249826"/>
            <a:ext cx="8496944" cy="561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797133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1387</TotalTime>
  <Words>2393</Words>
  <Application>Microsoft Office PowerPoint</Application>
  <PresentationFormat>Экран (4:3)</PresentationFormat>
  <Paragraphs>350</Paragraphs>
  <Slides>57</Slides>
  <Notes>7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57</vt:i4>
      </vt:variant>
    </vt:vector>
  </HeadingPairs>
  <TitlesOfParts>
    <vt:vector size="59" baseType="lpstr">
      <vt:lpstr>Тема Office</vt:lpstr>
      <vt:lpstr>Visio</vt:lpstr>
      <vt:lpstr>ЛЕКЦИЯ 3 -4 ОСИТ</vt:lpstr>
      <vt:lpstr>ОПРЕДЕЛЕНИЯ</vt:lpstr>
      <vt:lpstr>Определения</vt:lpstr>
      <vt:lpstr>ОПРЕДЕЛЕНИЯ</vt:lpstr>
      <vt:lpstr>Определения</vt:lpstr>
      <vt:lpstr>ОПРЕДЕЛЕНИЯ</vt:lpstr>
      <vt:lpstr>ОПРЕДЕЛЕНИЯ</vt:lpstr>
      <vt:lpstr>Определения</vt:lpstr>
      <vt:lpstr>Сети связи и их классификация</vt:lpstr>
      <vt:lpstr>1.1ОПРЕДЕЛЕНИЯ</vt:lpstr>
      <vt:lpstr>Слайд 11</vt:lpstr>
      <vt:lpstr>Слайд 12</vt:lpstr>
      <vt:lpstr>Понятие «сеть связи»</vt:lpstr>
      <vt:lpstr>Основные элементы сети связи</vt:lpstr>
      <vt:lpstr>Основные элементы сети связи</vt:lpstr>
      <vt:lpstr>Основные элементы сети связи</vt:lpstr>
      <vt:lpstr>Услуги </vt:lpstr>
      <vt:lpstr>Виды коммутации </vt:lpstr>
      <vt:lpstr> Долговременная коммутация  </vt:lpstr>
      <vt:lpstr>Оперативная коммутация</vt:lpstr>
      <vt:lpstr>Способы коммутации</vt:lpstr>
      <vt:lpstr>Слайд 22</vt:lpstr>
      <vt:lpstr>Сети с КК</vt:lpstr>
      <vt:lpstr>Сети с КК</vt:lpstr>
      <vt:lpstr>Сеть с коммутацией каналов (КК) как система трубопроводов</vt:lpstr>
      <vt:lpstr>Способы коммутации</vt:lpstr>
      <vt:lpstr>Способы коммутации</vt:lpstr>
      <vt:lpstr>Способы коммутации</vt:lpstr>
      <vt:lpstr> Сети с коммутацией пакетов (КП)</vt:lpstr>
      <vt:lpstr> Сети с коммутацией пакетов (КП)</vt:lpstr>
      <vt:lpstr>Разбиение данных на пакеты</vt:lpstr>
      <vt:lpstr>Сети с КП </vt:lpstr>
      <vt:lpstr>Сети с КП </vt:lpstr>
      <vt:lpstr>Сети пакетной коммутации (КП)</vt:lpstr>
      <vt:lpstr>Сеть с коммутацией пакетов (КП)</vt:lpstr>
      <vt:lpstr>Сети пакетной коммутации (КП)</vt:lpstr>
      <vt:lpstr>Сеть с коммутацией пакетов (КП)</vt:lpstr>
      <vt:lpstr>Слайд 38</vt:lpstr>
      <vt:lpstr>Сравнение технологий</vt:lpstr>
      <vt:lpstr>Слайд 40</vt:lpstr>
      <vt:lpstr>Сети пакетной коммутации (КП)</vt:lpstr>
      <vt:lpstr>1. Дейтаграммный режим сетей КП</vt:lpstr>
      <vt:lpstr>Дейтаграммный режим</vt:lpstr>
      <vt:lpstr> Иллюстрация дейтаграммного принципа передачи пакетов</vt:lpstr>
      <vt:lpstr>Алгоритм маршрутизации дейтаграммного  режима (1)</vt:lpstr>
      <vt:lpstr> Иллюстрация дейтаграммного принципа передачи пакетов</vt:lpstr>
      <vt:lpstr>Алгоритм маршрутизации дейтаграммного режима (2)</vt:lpstr>
      <vt:lpstr>2. Механизм виртуальных каналов в сетях КП с</vt:lpstr>
      <vt:lpstr>Виртуальный канал (ВК) (1)</vt:lpstr>
      <vt:lpstr>Виртуальный канал (ВК) (2)</vt:lpstr>
      <vt:lpstr>Виртуальный канал (3)</vt:lpstr>
      <vt:lpstr>Иллюстрация принципа работы виртуального канала (ВК)</vt:lpstr>
      <vt:lpstr>Виртуальный канал (4)</vt:lpstr>
      <vt:lpstr>Передача без установления соединения (а) и с установлением  логического соединения (б)</vt:lpstr>
      <vt:lpstr>Виртуальный канал (5)</vt:lpstr>
      <vt:lpstr>Виртуальный канал (6)</vt:lpstr>
      <vt:lpstr>Передача без установления соединения (а) и с установлением  логического соединения (б)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2 ОСИТ</dc:title>
  <dc:creator>Анастасия</dc:creator>
  <cp:lastModifiedBy>Анастасия</cp:lastModifiedBy>
  <cp:revision>276</cp:revision>
  <dcterms:created xsi:type="dcterms:W3CDTF">2025-08-29T17:21:15Z</dcterms:created>
  <dcterms:modified xsi:type="dcterms:W3CDTF">2025-11-03T15:49:52Z</dcterms:modified>
</cp:coreProperties>
</file>