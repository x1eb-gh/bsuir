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s/slide99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notesMasterIdLst>
    <p:notesMasterId r:id="rId104"/>
  </p:notesMasterIdLst>
  <p:sldIdLst>
    <p:sldId id="256" r:id="rId4"/>
    <p:sldId id="292" r:id="rId5"/>
    <p:sldId id="413" r:id="rId6"/>
    <p:sldId id="415" r:id="rId7"/>
    <p:sldId id="414" r:id="rId8"/>
    <p:sldId id="300" r:id="rId9"/>
    <p:sldId id="306" r:id="rId10"/>
    <p:sldId id="416" r:id="rId11"/>
    <p:sldId id="308" r:id="rId12"/>
    <p:sldId id="309" r:id="rId13"/>
    <p:sldId id="314" r:id="rId14"/>
    <p:sldId id="313" r:id="rId15"/>
    <p:sldId id="420" r:id="rId16"/>
    <p:sldId id="397" r:id="rId17"/>
    <p:sldId id="369" r:id="rId18"/>
    <p:sldId id="262" r:id="rId19"/>
    <p:sldId id="302" r:id="rId20"/>
    <p:sldId id="417" r:id="rId21"/>
    <p:sldId id="317" r:id="rId22"/>
    <p:sldId id="289" r:id="rId23"/>
    <p:sldId id="290" r:id="rId24"/>
    <p:sldId id="421" r:id="rId25"/>
    <p:sldId id="316" r:id="rId26"/>
    <p:sldId id="409" r:id="rId27"/>
    <p:sldId id="434" r:id="rId28"/>
    <p:sldId id="435" r:id="rId29"/>
    <p:sldId id="410" r:id="rId30"/>
    <p:sldId id="367" r:id="rId31"/>
    <p:sldId id="436" r:id="rId32"/>
    <p:sldId id="437" r:id="rId33"/>
    <p:sldId id="304" r:id="rId34"/>
    <p:sldId id="267" r:id="rId35"/>
    <p:sldId id="354" r:id="rId36"/>
    <p:sldId id="340" r:id="rId37"/>
    <p:sldId id="322" r:id="rId38"/>
    <p:sldId id="364" r:id="rId39"/>
    <p:sldId id="365" r:id="rId40"/>
    <p:sldId id="398" r:id="rId41"/>
    <p:sldId id="371" r:id="rId42"/>
    <p:sldId id="293" r:id="rId43"/>
    <p:sldId id="376" r:id="rId44"/>
    <p:sldId id="375" r:id="rId45"/>
    <p:sldId id="296" r:id="rId46"/>
    <p:sldId id="297" r:id="rId47"/>
    <p:sldId id="294" r:id="rId48"/>
    <p:sldId id="295" r:id="rId49"/>
    <p:sldId id="399" r:id="rId50"/>
    <p:sldId id="427" r:id="rId51"/>
    <p:sldId id="438" r:id="rId52"/>
    <p:sldId id="424" r:id="rId53"/>
    <p:sldId id="425" r:id="rId54"/>
    <p:sldId id="426" r:id="rId55"/>
    <p:sldId id="430" r:id="rId56"/>
    <p:sldId id="428" r:id="rId57"/>
    <p:sldId id="429" r:id="rId58"/>
    <p:sldId id="402" r:id="rId59"/>
    <p:sldId id="401" r:id="rId60"/>
    <p:sldId id="355" r:id="rId61"/>
    <p:sldId id="431" r:id="rId62"/>
    <p:sldId id="392" r:id="rId63"/>
    <p:sldId id="379" r:id="rId64"/>
    <p:sldId id="408" r:id="rId65"/>
    <p:sldId id="418" r:id="rId66"/>
    <p:sldId id="378" r:id="rId67"/>
    <p:sldId id="433" r:id="rId68"/>
    <p:sldId id="380" r:id="rId69"/>
    <p:sldId id="381" r:id="rId70"/>
    <p:sldId id="403" r:id="rId71"/>
    <p:sldId id="404" r:id="rId72"/>
    <p:sldId id="382" r:id="rId73"/>
    <p:sldId id="406" r:id="rId74"/>
    <p:sldId id="372" r:id="rId75"/>
    <p:sldId id="394" r:id="rId76"/>
    <p:sldId id="388" r:id="rId77"/>
    <p:sldId id="383" r:id="rId78"/>
    <p:sldId id="384" r:id="rId79"/>
    <p:sldId id="439" r:id="rId80"/>
    <p:sldId id="400" r:id="rId81"/>
    <p:sldId id="320" r:id="rId82"/>
    <p:sldId id="324" r:id="rId83"/>
    <p:sldId id="325" r:id="rId84"/>
    <p:sldId id="419" r:id="rId85"/>
    <p:sldId id="327" r:id="rId86"/>
    <p:sldId id="329" r:id="rId87"/>
    <p:sldId id="334" r:id="rId88"/>
    <p:sldId id="333" r:id="rId89"/>
    <p:sldId id="336" r:id="rId90"/>
    <p:sldId id="337" r:id="rId91"/>
    <p:sldId id="278" r:id="rId92"/>
    <p:sldId id="279" r:id="rId93"/>
    <p:sldId id="280" r:id="rId94"/>
    <p:sldId id="281" r:id="rId95"/>
    <p:sldId id="282" r:id="rId96"/>
    <p:sldId id="283" r:id="rId97"/>
    <p:sldId id="284" r:id="rId98"/>
    <p:sldId id="285" r:id="rId99"/>
    <p:sldId id="286" r:id="rId100"/>
    <p:sldId id="287" r:id="rId101"/>
    <p:sldId id="288" r:id="rId102"/>
    <p:sldId id="395" r:id="rId10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07" Type="http://schemas.openxmlformats.org/officeDocument/2006/relationships/theme" Target="theme/theme1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87" Type="http://schemas.openxmlformats.org/officeDocument/2006/relationships/slide" Target="slides/slide84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openxmlformats.org/officeDocument/2006/relationships/slide" Target="slides/slide100.xml"/><Relationship Id="rId108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5C4F3-5C79-4339-9BFA-DB37D324683E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AA80B-769A-407C-8327-886DF0AC53D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3587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A5C4D1-4832-486F-BA93-F8864E44B4C2}" type="slidenum">
              <a:rPr lang="ru-RU" smtClean="0"/>
              <a:pPr/>
              <a:t>20</a:t>
            </a:fld>
            <a:endParaRPr lang="ru-RU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A17E9F-35C2-46D6-9E4B-40A600A1A072}" type="slidenum">
              <a:rPr lang="ru-RU" smtClean="0"/>
              <a:pPr/>
              <a:t>21</a:t>
            </a:fld>
            <a:endParaRPr lang="ru-RU" smtClean="0"/>
          </a:p>
        </p:txBody>
      </p:sp>
      <p:sp>
        <p:nvSpPr>
          <p:cNvPr id="409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1719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28974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68868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4313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93351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500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15370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35857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64201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127960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2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50A97-FF4D-499A-BD23-7CED0B2102D4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0585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ru-RU" noProof="0" dirty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DBF1A-56F6-48C8-BBEB-211C64823621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021669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209767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580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14273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806727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37153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54033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93715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505035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416351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695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384462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50A97-FF4D-499A-BD23-7CED0B2102D4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175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ru-RU" noProof="0" dirty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DBF1A-56F6-48C8-BBEB-211C64823621}" type="slidenum">
              <a:rPr lang="ru-RU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4351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21.02.2024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513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21.02.2024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995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dirty="0" smtClean="0">
                <a:solidFill>
                  <a:srgbClr val="7030A0"/>
                </a:solidFill>
              </a:rPr>
              <a:t>Лекция </a:t>
            </a:r>
            <a:r>
              <a:rPr lang="en-US" b="0" dirty="0" smtClean="0">
                <a:solidFill>
                  <a:srgbClr val="7030A0"/>
                </a:solidFill>
              </a:rPr>
              <a:t>7</a:t>
            </a:r>
            <a:r>
              <a:rPr lang="ru-RU" b="0" dirty="0" smtClean="0">
                <a:solidFill>
                  <a:srgbClr val="7030A0"/>
                </a:solidFill>
              </a:rPr>
              <a:t/>
            </a:r>
            <a:br>
              <a:rPr lang="ru-RU" b="0" dirty="0" smtClean="0">
                <a:solidFill>
                  <a:srgbClr val="7030A0"/>
                </a:solidFill>
              </a:rPr>
            </a:br>
            <a:r>
              <a:rPr lang="ru-RU" b="0" dirty="0" smtClean="0">
                <a:solidFill>
                  <a:srgbClr val="7030A0"/>
                </a:solidFill>
              </a:rPr>
              <a:t> протоколы ТСР,</a:t>
            </a:r>
            <a:r>
              <a:rPr lang="en-US" b="0" dirty="0" smtClean="0">
                <a:solidFill>
                  <a:srgbClr val="7030A0"/>
                </a:solidFill>
              </a:rPr>
              <a:t>UDP</a:t>
            </a:r>
            <a:endParaRPr lang="ru-RU" b="0" dirty="0">
              <a:solidFill>
                <a:srgbClr val="7030A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2204865"/>
            <a:ext cx="8243193" cy="1512167"/>
          </a:xfrm>
        </p:spPr>
        <p:txBody>
          <a:bodyPr>
            <a:normAutofit/>
          </a:bodyPr>
          <a:lstStyle/>
          <a:p>
            <a:pPr algn="ctr"/>
            <a:r>
              <a:rPr lang="ru-RU" sz="4800" dirty="0" smtClean="0">
                <a:solidFill>
                  <a:srgbClr val="7030A0"/>
                </a:solidFill>
              </a:rPr>
              <a:t>Транспортный уровень </a:t>
            </a:r>
            <a:r>
              <a:rPr lang="en-US" sz="4800" dirty="0" smtClean="0">
                <a:solidFill>
                  <a:srgbClr val="7030A0"/>
                </a:solidFill>
              </a:rPr>
              <a:t>TCP /IP</a:t>
            </a:r>
            <a:endParaRPr lang="ru-RU" sz="4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Транспортный уровень</a:t>
            </a:r>
            <a:endParaRPr lang="ru-RU" dirty="0"/>
          </a:p>
        </p:txBody>
      </p:sp>
      <p:pic>
        <p:nvPicPr>
          <p:cNvPr id="3074" name="Picture 2" descr="C:\Users\Юра\Downloads\д ЛИНК тср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730" name="Picture 2" descr="C:\Users\Юра\Downloads\стек проток тср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65282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Стек протоколов </a:t>
            </a:r>
            <a:r>
              <a:rPr lang="en-US" sz="4000" dirty="0" smtClean="0">
                <a:solidFill>
                  <a:srgbClr val="7030A0"/>
                </a:solidFill>
              </a:rPr>
              <a:t>TCP/IP</a:t>
            </a:r>
            <a:r>
              <a:rPr lang="ru-RU" sz="4000" dirty="0" smtClean="0">
                <a:solidFill>
                  <a:srgbClr val="7030A0"/>
                </a:solidFill>
              </a:rPr>
              <a:t>   </a:t>
            </a:r>
            <a:r>
              <a:rPr lang="en-US" sz="4000" dirty="0" smtClean="0">
                <a:solidFill>
                  <a:srgbClr val="7030A0"/>
                </a:solidFill>
              </a:rPr>
              <a:t>(</a:t>
            </a:r>
            <a:r>
              <a:rPr lang="ru-RU" sz="4000" dirty="0" smtClean="0">
                <a:solidFill>
                  <a:srgbClr val="7030A0"/>
                </a:solidFill>
              </a:rPr>
              <a:t>1)</a:t>
            </a:r>
            <a:endParaRPr lang="ru-RU" sz="40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620688"/>
            <a:ext cx="8892480" cy="60486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000" dirty="0" smtClean="0">
                <a:solidFill>
                  <a:srgbClr val="002060"/>
                </a:solidFill>
              </a:rPr>
              <a:t>1</a:t>
            </a:r>
            <a:r>
              <a:rPr lang="ru-RU" sz="2000" u="sng" dirty="0" smtClean="0">
                <a:solidFill>
                  <a:srgbClr val="002060"/>
                </a:solidFill>
              </a:rPr>
              <a:t>. 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Прикладной уровень </a:t>
            </a:r>
            <a:r>
              <a:rPr lang="en-US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</a:t>
            </a:r>
            <a:r>
              <a:rPr lang="en-US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P/IP </a:t>
            </a:r>
            <a:r>
              <a:rPr lang="ru-RU" sz="2400" dirty="0" smtClean="0">
                <a:solidFill>
                  <a:srgbClr val="002060"/>
                </a:solidFill>
              </a:rPr>
              <a:t>соответствует трем уровням модели </a:t>
            </a:r>
            <a:r>
              <a:rPr lang="en-US" sz="2400" dirty="0" smtClean="0">
                <a:solidFill>
                  <a:srgbClr val="002060"/>
                </a:solidFill>
              </a:rPr>
              <a:t>OSI</a:t>
            </a:r>
            <a:r>
              <a:rPr lang="ru-RU" sz="2400" dirty="0" smtClean="0">
                <a:solidFill>
                  <a:srgbClr val="002060"/>
                </a:solidFill>
              </a:rPr>
              <a:t>:</a:t>
            </a:r>
          </a:p>
          <a:p>
            <a:pPr>
              <a:buNone/>
            </a:pPr>
            <a:r>
              <a:rPr lang="ru-RU" sz="2400" dirty="0" smtClean="0"/>
              <a:t>      прикладному, уровню представления , сеансовому уровню.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Протоколы прикладного уровня:</a:t>
            </a:r>
          </a:p>
          <a:p>
            <a:pPr>
              <a:buNone/>
            </a:pPr>
            <a:r>
              <a:rPr lang="ru-RU" sz="2400" dirty="0" smtClean="0"/>
              <a:t>       -  </a:t>
            </a:r>
            <a:r>
              <a:rPr lang="en-US" sz="2400" dirty="0" smtClean="0"/>
              <a:t>FTP – </a:t>
            </a:r>
            <a:r>
              <a:rPr lang="ru-RU" sz="2400" dirty="0" smtClean="0"/>
              <a:t>протокол передачи файлов;</a:t>
            </a:r>
          </a:p>
          <a:p>
            <a:pPr>
              <a:buNone/>
            </a:pPr>
            <a:r>
              <a:rPr lang="ru-RU" sz="2400" dirty="0" smtClean="0"/>
              <a:t>      -   </a:t>
            </a:r>
            <a:r>
              <a:rPr lang="en-US" sz="2400" dirty="0" smtClean="0"/>
              <a:t>SMTP – </a:t>
            </a:r>
            <a:r>
              <a:rPr lang="ru-RU" sz="2400" dirty="0" smtClean="0"/>
              <a:t>протокол передачи почты;</a:t>
            </a:r>
          </a:p>
          <a:p>
            <a:pPr>
              <a:buNone/>
            </a:pPr>
            <a:r>
              <a:rPr lang="ru-RU" sz="2400" dirty="0" smtClean="0"/>
              <a:t>      -  </a:t>
            </a:r>
            <a:r>
              <a:rPr lang="en-US" sz="2400" dirty="0" smtClean="0"/>
              <a:t>HTTP – </a:t>
            </a:r>
            <a:r>
              <a:rPr lang="ru-RU" sz="2400" dirty="0" smtClean="0"/>
              <a:t>протокол передачи гипертекста.</a:t>
            </a:r>
          </a:p>
          <a:p>
            <a:pPr>
              <a:buNone/>
            </a:pPr>
            <a:r>
              <a:rPr lang="en-US" sz="2400" dirty="0" smtClean="0"/>
              <a:t>       - TELNET – </a:t>
            </a:r>
            <a:r>
              <a:rPr lang="ru-RU" sz="2400" dirty="0" smtClean="0"/>
              <a:t>протокол эмуляции терминала</a:t>
            </a:r>
          </a:p>
          <a:p>
            <a:pPr>
              <a:buNone/>
            </a:pP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2.Транспортный уровень </a:t>
            </a:r>
            <a:r>
              <a:rPr lang="en-US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TCP/IP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– </a:t>
            </a:r>
            <a:r>
              <a:rPr lang="ru-RU" sz="2400" dirty="0" smtClean="0"/>
              <a:t>основной уровень, предоставляет вышележащему уровню два вида сервиса:</a:t>
            </a:r>
          </a:p>
          <a:p>
            <a:pPr>
              <a:buNone/>
            </a:pPr>
            <a:r>
              <a:rPr lang="ru-RU" sz="2400" dirty="0" smtClean="0"/>
              <a:t>       - </a:t>
            </a:r>
            <a:r>
              <a:rPr lang="en-US" sz="2400" dirty="0" smtClean="0">
                <a:solidFill>
                  <a:srgbClr val="002060"/>
                </a:solidFill>
              </a:rPr>
              <a:t>TCP </a:t>
            </a:r>
            <a:r>
              <a:rPr lang="ru-RU" sz="2400" dirty="0" smtClean="0">
                <a:solidFill>
                  <a:srgbClr val="002060"/>
                </a:solidFill>
              </a:rPr>
              <a:t>протокол </a:t>
            </a:r>
            <a:r>
              <a:rPr lang="ru-RU" sz="2400" dirty="0" smtClean="0"/>
              <a:t>управления передачей обеспечивает гарантированную доставку пакетов;</a:t>
            </a:r>
          </a:p>
          <a:p>
            <a:pPr>
              <a:buNone/>
            </a:pPr>
            <a:r>
              <a:rPr lang="ru-RU" sz="2400" dirty="0" smtClean="0"/>
              <a:t>       </a:t>
            </a:r>
            <a:r>
              <a:rPr lang="ru-RU" sz="2400" dirty="0" smtClean="0">
                <a:solidFill>
                  <a:srgbClr val="002060"/>
                </a:solidFill>
              </a:rPr>
              <a:t>-  </a:t>
            </a:r>
            <a:r>
              <a:rPr lang="en-US" sz="2400" dirty="0" smtClean="0">
                <a:solidFill>
                  <a:srgbClr val="002060"/>
                </a:solidFill>
              </a:rPr>
              <a:t>UDP </a:t>
            </a:r>
            <a:r>
              <a:rPr lang="ru-RU" sz="2400" dirty="0" smtClean="0">
                <a:solidFill>
                  <a:srgbClr val="002060"/>
                </a:solidFill>
              </a:rPr>
              <a:t>протокол </a:t>
            </a:r>
            <a:r>
              <a:rPr lang="ru-RU" sz="2400" dirty="0" smtClean="0"/>
              <a:t>пользовательских дейтаграмм обеспечивает доставку по возможности.  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</a:t>
            </a:r>
            <a:endParaRPr lang="ru-RU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4593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2048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326659" name="Picture 3" descr="C:\Users\Юра\Downloads\рис тср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04664"/>
            <a:ext cx="8424936" cy="61206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49960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Функции протокола ТСР, </a:t>
            </a:r>
            <a:r>
              <a:rPr lang="en-US" dirty="0" smtClean="0">
                <a:solidFill>
                  <a:srgbClr val="7030A0"/>
                </a:solidFill>
              </a:rPr>
              <a:t>UDP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Задача межсетевого уровня , к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которому относится протокол </a:t>
            </a:r>
            <a:r>
              <a:rPr lang="en-US" dirty="0" smtClean="0">
                <a:solidFill>
                  <a:srgbClr val="002060"/>
                </a:solidFill>
              </a:rPr>
              <a:t>IP </a:t>
            </a:r>
            <a:r>
              <a:rPr lang="en-US" dirty="0" smtClean="0"/>
              <a:t>– </a:t>
            </a:r>
            <a:r>
              <a:rPr lang="ru-RU" dirty="0" smtClean="0"/>
              <a:t>передача данных между любой парой сетевых интерфейсов.</a:t>
            </a:r>
            <a:endParaRPr lang="en-US" dirty="0" smtClean="0"/>
          </a:p>
          <a:p>
            <a:endParaRPr lang="ru-RU" dirty="0" smtClean="0"/>
          </a:p>
          <a:p>
            <a:r>
              <a:rPr lang="ru-RU" dirty="0" smtClean="0">
                <a:solidFill>
                  <a:srgbClr val="002060"/>
                </a:solidFill>
              </a:rPr>
              <a:t>Задача транспортного уровня, которую решают протоколы ТСР,</a:t>
            </a:r>
            <a:r>
              <a:rPr lang="en-US" dirty="0" smtClean="0">
                <a:solidFill>
                  <a:srgbClr val="002060"/>
                </a:solidFill>
              </a:rPr>
              <a:t>UDP</a:t>
            </a:r>
            <a:r>
              <a:rPr lang="ru-RU" dirty="0" smtClean="0"/>
              <a:t>- это передача данных между любой парой  прикладных процессов , выполняющиеся в сети.</a:t>
            </a:r>
          </a:p>
          <a:p>
            <a:endParaRPr lang="ru-RU" sz="24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568952" cy="778098"/>
          </a:xfrm>
        </p:spPr>
        <p:txBody>
          <a:bodyPr/>
          <a:lstStyle/>
          <a:p>
            <a:r>
              <a:rPr lang="ru-RU" dirty="0">
                <a:solidFill>
                  <a:srgbClr val="7030A0"/>
                </a:solidFill>
              </a:rPr>
              <a:t>Роль транспортного уровня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24744"/>
            <a:ext cx="4248472" cy="573325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Отвечает </a:t>
            </a:r>
            <a:r>
              <a:rPr lang="ru-RU" sz="2800" dirty="0">
                <a:solidFill>
                  <a:srgbClr val="002060"/>
                </a:solidFill>
              </a:rPr>
              <a:t>за логические связи между приложениями, работающими на разных хостах</a:t>
            </a:r>
            <a:r>
              <a:rPr lang="ru-RU" sz="2800" dirty="0" smtClean="0">
                <a:solidFill>
                  <a:srgbClr val="000000"/>
                </a:solidFill>
              </a:rPr>
              <a:t>.</a:t>
            </a:r>
            <a:endParaRPr lang="en-US" sz="2800" dirty="0" smtClean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Связь между уровнем приложений и нижними уровнями</a:t>
            </a:r>
            <a:r>
              <a:rPr lang="ru-RU" sz="2800" dirty="0">
                <a:solidFill>
                  <a:srgbClr val="000000"/>
                </a:solidFill>
              </a:rPr>
              <a:t>, которые отвечают за передачу данных по сети.</a:t>
            </a:r>
          </a:p>
          <a:p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xmlns="" id="{303A6BBB-1052-C741-BFA6-942405352A3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9992" y="980728"/>
            <a:ext cx="4530251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381262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Функции транспортного уровня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/>
          <a:lstStyle/>
          <a:p>
            <a:pPr algn="just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Транспортный уровень имеет несколько функций: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   </a:t>
            </a:r>
            <a:r>
              <a:rPr lang="ru-RU" sz="2800" dirty="0" smtClean="0">
                <a:solidFill>
                  <a:srgbClr val="002060"/>
                </a:solidFill>
              </a:rPr>
              <a:t>Отслеживание</a:t>
            </a:r>
            <a:r>
              <a:rPr lang="ru-RU" sz="2800" dirty="0" smtClean="0">
                <a:solidFill>
                  <a:srgbClr val="000000"/>
                </a:solidFill>
              </a:rPr>
              <a:t> отдельных сеансов связи.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  </a:t>
            </a:r>
            <a:r>
              <a:rPr lang="ru-RU" sz="2800" dirty="0" smtClean="0">
                <a:solidFill>
                  <a:srgbClr val="002060"/>
                </a:solidFill>
              </a:rPr>
              <a:t>Сегментация данных </a:t>
            </a:r>
            <a:r>
              <a:rPr lang="ru-RU" sz="2800" dirty="0" smtClean="0">
                <a:solidFill>
                  <a:srgbClr val="000000"/>
                </a:solidFill>
              </a:rPr>
              <a:t>и последующая сборка сегментов.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  </a:t>
            </a:r>
            <a:r>
              <a:rPr lang="ru-RU" sz="2800" dirty="0" smtClean="0">
                <a:solidFill>
                  <a:srgbClr val="002060"/>
                </a:solidFill>
              </a:rPr>
              <a:t>Добавление информации заголовка.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  </a:t>
            </a:r>
            <a:r>
              <a:rPr lang="ru-RU" sz="2800" dirty="0" smtClean="0">
                <a:solidFill>
                  <a:srgbClr val="002060"/>
                </a:solidFill>
              </a:rPr>
              <a:t>Определение, разделение и управление </a:t>
            </a:r>
            <a:r>
              <a:rPr lang="ru-RU" sz="2800" dirty="0" smtClean="0">
                <a:solidFill>
                  <a:srgbClr val="000000"/>
                </a:solidFill>
              </a:rPr>
              <a:t>несколькими сеансами связи.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  Использует сегментацию и мультиплексирование для того, чтобы </a:t>
            </a:r>
            <a:r>
              <a:rPr lang="ru-RU" sz="2800" dirty="0" smtClean="0">
                <a:solidFill>
                  <a:srgbClr val="002060"/>
                </a:solidFill>
              </a:rPr>
              <a:t>различные сеансы связи чередовались в одной сети.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209235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7667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Протоколы транспортного уровня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686800" cy="525658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0000"/>
                </a:solidFill>
              </a:rPr>
              <a:t>Они </a:t>
            </a:r>
            <a:r>
              <a:rPr lang="ru-RU" dirty="0">
                <a:solidFill>
                  <a:srgbClr val="000000"/>
                </a:solidFill>
              </a:rPr>
              <a:t>не </a:t>
            </a:r>
            <a:r>
              <a:rPr lang="ru-RU" dirty="0" smtClean="0">
                <a:solidFill>
                  <a:srgbClr val="000000"/>
                </a:solidFill>
              </a:rPr>
              <a:t>определя</a:t>
            </a:r>
            <a:r>
              <a:rPr lang="ru-RU" dirty="0">
                <a:solidFill>
                  <a:srgbClr val="000000"/>
                </a:solidFill>
              </a:rPr>
              <a:t>ю</a:t>
            </a:r>
            <a:r>
              <a:rPr lang="ru-RU" dirty="0" smtClean="0">
                <a:solidFill>
                  <a:srgbClr val="000000"/>
                </a:solidFill>
              </a:rPr>
              <a:t>т </a:t>
            </a:r>
            <a:r>
              <a:rPr lang="ru-RU" dirty="0">
                <a:solidFill>
                  <a:srgbClr val="000000"/>
                </a:solidFill>
              </a:rPr>
              <a:t>способ доставки или передачи пакетов.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Протоколы транспортного уровня </a:t>
            </a:r>
            <a:r>
              <a:rPr lang="ru-RU" dirty="0" smtClean="0">
                <a:solidFill>
                  <a:srgbClr val="002060"/>
                </a:solidFill>
              </a:rPr>
              <a:t>определяют:</a:t>
            </a:r>
          </a:p>
          <a:p>
            <a:pPr>
              <a:buNone/>
            </a:pPr>
            <a:r>
              <a:rPr lang="ru-RU" dirty="0" smtClean="0">
                <a:solidFill>
                  <a:srgbClr val="002060"/>
                </a:solidFill>
              </a:rPr>
              <a:t>    1)   </a:t>
            </a:r>
            <a:r>
              <a:rPr lang="ru-RU" dirty="0">
                <a:solidFill>
                  <a:srgbClr val="002060"/>
                </a:solidFill>
              </a:rPr>
              <a:t>способ передачи сообщений между </a:t>
            </a:r>
            <a:r>
              <a:rPr lang="ru-RU" dirty="0" smtClean="0">
                <a:solidFill>
                  <a:srgbClr val="002060"/>
                </a:solidFill>
              </a:rPr>
              <a:t>узлами. </a:t>
            </a:r>
          </a:p>
          <a:p>
            <a:pPr>
              <a:buNone/>
            </a:pPr>
            <a:r>
              <a:rPr lang="ru-RU" dirty="0" smtClean="0">
                <a:solidFill>
                  <a:srgbClr val="002060"/>
                </a:solidFill>
              </a:rPr>
              <a:t>   2)  </a:t>
            </a:r>
            <a:r>
              <a:rPr lang="ru-RU" dirty="0">
                <a:solidFill>
                  <a:srgbClr val="002060"/>
                </a:solidFill>
              </a:rPr>
              <a:t>отвечают за управление требованиями надежности разговора.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На транспортном уровне действуют два протокола — TCP и UDP.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1229390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Протоколы транспортного уровня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196F018E-2DCA-4A80-BC76-C15B88C340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1305415"/>
            <a:ext cx="8424935" cy="543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1618307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964488" cy="1143000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Протоколы </a:t>
            </a:r>
            <a:r>
              <a:rPr lang="ru-RU" sz="3200" dirty="0">
                <a:solidFill>
                  <a:srgbClr val="7030A0"/>
                </a:solidFill>
              </a:rPr>
              <a:t>транспортного уровня для </a:t>
            </a:r>
            <a:r>
              <a:rPr lang="ru-RU" sz="3200" dirty="0" smtClean="0">
                <a:solidFill>
                  <a:srgbClr val="7030A0"/>
                </a:solidFill>
              </a:rPr>
              <a:t>соответствующих приложений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 fontScale="92500"/>
          </a:bodyPr>
          <a:lstStyle/>
          <a:p>
            <a:pPr marL="0" indent="0"/>
            <a:r>
              <a:rPr lang="ru-RU" dirty="0" smtClean="0">
                <a:solidFill>
                  <a:srgbClr val="002060"/>
                </a:solidFill>
              </a:rPr>
              <a:t>       UDP  </a:t>
            </a:r>
            <a:r>
              <a:rPr lang="ru-RU" dirty="0">
                <a:solidFill>
                  <a:srgbClr val="000000"/>
                </a:solidFill>
              </a:rPr>
              <a:t>используется приложениями запросов и ответов</a:t>
            </a:r>
            <a:r>
              <a:rPr lang="ru-RU" dirty="0">
                <a:solidFill>
                  <a:srgbClr val="7030A0"/>
                </a:solidFill>
              </a:rPr>
              <a:t>, </a:t>
            </a:r>
            <a:r>
              <a:rPr lang="ru-RU" dirty="0">
                <a:solidFill>
                  <a:srgbClr val="002060"/>
                </a:solidFill>
              </a:rPr>
              <a:t>где данные минимальны</a:t>
            </a:r>
            <a:r>
              <a:rPr lang="ru-RU" dirty="0">
                <a:solidFill>
                  <a:srgbClr val="000000"/>
                </a:solidFill>
              </a:rPr>
              <a:t>, и повторная передача может быть выполнена быстро.</a:t>
            </a:r>
          </a:p>
          <a:p>
            <a:pPr marL="0" indent="0"/>
            <a:endParaRPr lang="en-US" dirty="0">
              <a:solidFill>
                <a:srgbClr val="000000"/>
              </a:solidFill>
            </a:endParaRPr>
          </a:p>
          <a:p>
            <a:pPr marL="0" indent="0"/>
            <a:r>
              <a:rPr lang="ru-RU" sz="3500" dirty="0" smtClean="0">
                <a:solidFill>
                  <a:srgbClr val="000000"/>
                </a:solidFill>
              </a:rPr>
              <a:t>      </a:t>
            </a:r>
            <a:r>
              <a:rPr lang="ru-RU" sz="3500" dirty="0" smtClean="0">
                <a:solidFill>
                  <a:srgbClr val="002060"/>
                </a:solidFill>
              </a:rPr>
              <a:t>TCP </a:t>
            </a:r>
            <a:r>
              <a:rPr lang="ru-RU" sz="3500" dirty="0" smtClean="0">
                <a:solidFill>
                  <a:srgbClr val="000000"/>
                </a:solidFill>
              </a:rPr>
              <a:t>используется в качестве транспортного протокола, когда </a:t>
            </a:r>
            <a:r>
              <a:rPr lang="ru-RU" sz="3500" dirty="0">
                <a:solidFill>
                  <a:srgbClr val="000000"/>
                </a:solidFill>
              </a:rPr>
              <a:t>важно, чтобы </a:t>
            </a:r>
            <a:r>
              <a:rPr lang="ru-RU" sz="3500" dirty="0">
                <a:solidFill>
                  <a:srgbClr val="002060"/>
                </a:solidFill>
              </a:rPr>
              <a:t>все данные поступали и </a:t>
            </a:r>
            <a:r>
              <a:rPr lang="ru-RU" sz="3500" dirty="0" smtClean="0">
                <a:solidFill>
                  <a:srgbClr val="002060"/>
                </a:solidFill>
              </a:rPr>
              <a:t>обрабатывались </a:t>
            </a:r>
            <a:r>
              <a:rPr lang="ru-RU" sz="3500" dirty="0">
                <a:solidFill>
                  <a:srgbClr val="002060"/>
                </a:solidFill>
              </a:rPr>
              <a:t>в правильной </a:t>
            </a:r>
            <a:r>
              <a:rPr lang="ru-RU" sz="3500" dirty="0" smtClean="0">
                <a:solidFill>
                  <a:srgbClr val="002060"/>
                </a:solidFill>
              </a:rPr>
              <a:t>последовательности</a:t>
            </a:r>
            <a:r>
              <a:rPr lang="ru-RU" sz="3500" dirty="0" smtClean="0">
                <a:solidFill>
                  <a:srgbClr val="000000"/>
                </a:solidFill>
              </a:rPr>
              <a:t>. </a:t>
            </a:r>
            <a:endParaRPr lang="ru-RU" sz="35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39087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"/>
            <a:ext cx="8568952" cy="980727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Протоколы </a:t>
            </a:r>
            <a:r>
              <a:rPr lang="ru-RU" sz="3600" dirty="0">
                <a:solidFill>
                  <a:srgbClr val="7030A0"/>
                </a:solidFill>
              </a:rPr>
              <a:t>транспортного уровня для </a:t>
            </a:r>
            <a:r>
              <a:rPr lang="ru-RU" sz="3600" dirty="0" smtClean="0">
                <a:solidFill>
                  <a:srgbClr val="7030A0"/>
                </a:solidFill>
              </a:rPr>
              <a:t>соответствующих приложений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xmlns="" id="{C48877C7-3178-43FC-AA38-A2383A42DEA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1052737"/>
            <a:ext cx="8892480" cy="56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2954245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ru-RU" sz="4000" dirty="0">
                <a:solidFill>
                  <a:srgbClr val="7030A0"/>
                </a:solidFill>
              </a:rPr>
              <a:t>Особенности ТСР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7504" y="1052736"/>
            <a:ext cx="5328592" cy="5688632"/>
          </a:xfrm>
        </p:spPr>
        <p:txBody>
          <a:bodyPr>
            <a:normAutofit fontScale="92500"/>
          </a:bodyPr>
          <a:lstStyle/>
          <a:p>
            <a:pPr lvl="0">
              <a:buNone/>
            </a:pPr>
            <a:r>
              <a:rPr lang="ru-RU" sz="2400" dirty="0">
                <a:solidFill>
                  <a:prstClr val="black"/>
                </a:solidFill>
              </a:rPr>
              <a:t>Поверх протокола TCP работают многие прикладные протоколы:</a:t>
            </a:r>
          </a:p>
          <a:p>
            <a:pPr lvl="0">
              <a:buNone/>
            </a:pPr>
            <a:r>
              <a:rPr lang="ru-RU" sz="2400" dirty="0">
                <a:solidFill>
                  <a:prstClr val="black"/>
                </a:solidFill>
              </a:rPr>
              <a:t>  </a:t>
            </a:r>
            <a:r>
              <a:rPr lang="ru-RU" sz="2400" dirty="0" smtClean="0">
                <a:solidFill>
                  <a:prstClr val="black"/>
                </a:solidFill>
              </a:rPr>
              <a:t> -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ru-RU" sz="2400" dirty="0" smtClean="0">
                <a:solidFill>
                  <a:prstClr val="black"/>
                </a:solidFill>
              </a:rPr>
              <a:t>сайты </a:t>
            </a:r>
            <a:r>
              <a:rPr lang="ru-RU" sz="2400" dirty="0">
                <a:solidFill>
                  <a:prstClr val="black"/>
                </a:solidFill>
              </a:rPr>
              <a:t>(</a:t>
            </a:r>
            <a:r>
              <a:rPr lang="ru-RU" sz="2400" dirty="0" err="1">
                <a:solidFill>
                  <a:prstClr val="black"/>
                </a:solidFill>
              </a:rPr>
              <a:t>http</a:t>
            </a:r>
            <a:r>
              <a:rPr lang="ru-RU" sz="2400" dirty="0">
                <a:solidFill>
                  <a:prstClr val="black"/>
                </a:solidFill>
              </a:rPr>
              <a:t>, </a:t>
            </a:r>
            <a:r>
              <a:rPr lang="ru-RU" sz="2400" dirty="0" err="1">
                <a:solidFill>
                  <a:prstClr val="black"/>
                </a:solidFill>
              </a:rPr>
              <a:t>https</a:t>
            </a:r>
            <a:r>
              <a:rPr lang="ru-RU" sz="24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buNone/>
            </a:pPr>
            <a:r>
              <a:rPr lang="ru-RU" sz="2400" dirty="0" smtClean="0">
                <a:solidFill>
                  <a:prstClr val="black"/>
                </a:solidFill>
              </a:rPr>
              <a:t>   - электронная почта (</a:t>
            </a:r>
            <a:r>
              <a:rPr lang="ru-RU" sz="2400" dirty="0" err="1" smtClean="0">
                <a:solidFill>
                  <a:prstClr val="black"/>
                </a:solidFill>
              </a:rPr>
              <a:t>imap</a:t>
            </a:r>
            <a:r>
              <a:rPr lang="ru-RU" sz="2400" dirty="0" smtClean="0">
                <a:solidFill>
                  <a:prstClr val="black"/>
                </a:solidFill>
              </a:rPr>
              <a:t>, </a:t>
            </a:r>
            <a:r>
              <a:rPr lang="ru-RU" sz="2400" dirty="0" err="1" smtClean="0">
                <a:solidFill>
                  <a:prstClr val="black"/>
                </a:solidFill>
              </a:rPr>
              <a:t>pop</a:t>
            </a:r>
            <a:r>
              <a:rPr lang="ru-RU" sz="2400" dirty="0" smtClean="0">
                <a:solidFill>
                  <a:prstClr val="black"/>
                </a:solidFill>
              </a:rPr>
              <a:t>, </a:t>
            </a:r>
            <a:r>
              <a:rPr lang="ru-RU" sz="2400" dirty="0" err="1" smtClean="0">
                <a:solidFill>
                  <a:prstClr val="black"/>
                </a:solidFill>
              </a:rPr>
              <a:t>smtp</a:t>
            </a:r>
            <a:r>
              <a:rPr lang="ru-RU" sz="2400" dirty="0" smtClean="0">
                <a:solidFill>
                  <a:prstClr val="black"/>
                </a:solidFill>
              </a:rPr>
              <a:t>);</a:t>
            </a:r>
          </a:p>
          <a:p>
            <a:pPr lvl="0">
              <a:buNone/>
            </a:pPr>
            <a:r>
              <a:rPr lang="ru-RU" sz="2400" dirty="0" smtClean="0">
                <a:solidFill>
                  <a:prstClr val="black"/>
                </a:solidFill>
              </a:rPr>
              <a:t>  </a:t>
            </a:r>
            <a:r>
              <a:rPr lang="ru-RU" sz="2400" dirty="0">
                <a:solidFill>
                  <a:prstClr val="black"/>
                </a:solidFill>
              </a:rPr>
              <a:t>- передача файлов (</a:t>
            </a:r>
            <a:r>
              <a:rPr lang="ru-RU" sz="2400" dirty="0" err="1">
                <a:solidFill>
                  <a:prstClr val="black"/>
                </a:solidFill>
              </a:rPr>
              <a:t>cifs</a:t>
            </a:r>
            <a:r>
              <a:rPr lang="ru-RU" sz="2400" dirty="0">
                <a:solidFill>
                  <a:prstClr val="black"/>
                </a:solidFill>
              </a:rPr>
              <a:t>, </a:t>
            </a:r>
            <a:r>
              <a:rPr lang="ru-RU" sz="2400" dirty="0" err="1">
                <a:solidFill>
                  <a:prstClr val="black"/>
                </a:solidFill>
              </a:rPr>
              <a:t>nfs</a:t>
            </a:r>
            <a:r>
              <a:rPr lang="ru-RU" sz="2400" dirty="0">
                <a:solidFill>
                  <a:prstClr val="black"/>
                </a:solidFill>
              </a:rPr>
              <a:t>, </a:t>
            </a:r>
            <a:r>
              <a:rPr lang="ru-RU" sz="2400" dirty="0" err="1">
                <a:solidFill>
                  <a:prstClr val="black"/>
                </a:solidFill>
              </a:rPr>
              <a:t>ftp</a:t>
            </a:r>
            <a:r>
              <a:rPr lang="ru-RU" sz="2400" dirty="0">
                <a:solidFill>
                  <a:prstClr val="black"/>
                </a:solidFill>
              </a:rPr>
              <a:t>);</a:t>
            </a:r>
          </a:p>
          <a:p>
            <a:pPr lvl="0">
              <a:buNone/>
            </a:pPr>
            <a:r>
              <a:rPr lang="ru-RU" sz="2400" dirty="0" smtClean="0">
                <a:solidFill>
                  <a:prstClr val="black"/>
                </a:solidFill>
              </a:rPr>
              <a:t>  </a:t>
            </a:r>
            <a:r>
              <a:rPr lang="ru-RU" sz="2400" dirty="0">
                <a:solidFill>
                  <a:prstClr val="black"/>
                </a:solidFill>
              </a:rPr>
              <a:t>- удаленные подключения (</a:t>
            </a:r>
            <a:r>
              <a:rPr lang="ru-RU" sz="2400" dirty="0" err="1">
                <a:solidFill>
                  <a:prstClr val="black"/>
                </a:solidFill>
              </a:rPr>
              <a:t>rdp</a:t>
            </a:r>
            <a:r>
              <a:rPr lang="ru-RU" sz="2400" dirty="0">
                <a:solidFill>
                  <a:prstClr val="black"/>
                </a:solidFill>
              </a:rPr>
              <a:t>, </a:t>
            </a:r>
            <a:r>
              <a:rPr lang="ru-RU" sz="2400" dirty="0" err="1">
                <a:solidFill>
                  <a:prstClr val="black"/>
                </a:solidFill>
              </a:rPr>
              <a:t>ssh</a:t>
            </a:r>
            <a:r>
              <a:rPr lang="ru-RU" sz="2400" dirty="0">
                <a:solidFill>
                  <a:prstClr val="black"/>
                </a:solidFill>
              </a:rPr>
              <a:t>).</a:t>
            </a:r>
          </a:p>
          <a:p>
            <a:pPr lvl="0"/>
            <a:r>
              <a:rPr lang="ru-RU" sz="2400" dirty="0">
                <a:solidFill>
                  <a:srgbClr val="002060"/>
                </a:solidFill>
              </a:rPr>
              <a:t>TCP пакеты передаются в рамках установленного </a:t>
            </a:r>
            <a:r>
              <a:rPr lang="ru-RU" sz="2400" u="sng" dirty="0">
                <a:solidFill>
                  <a:srgbClr val="002060"/>
                </a:solidFill>
              </a:rPr>
              <a:t>логического соединения </a:t>
            </a:r>
            <a:r>
              <a:rPr lang="ru-RU" sz="2400" dirty="0">
                <a:solidFill>
                  <a:srgbClr val="002060"/>
                </a:solidFill>
              </a:rPr>
              <a:t>– которое называют TCP- сессией.</a:t>
            </a:r>
          </a:p>
          <a:p>
            <a:pPr lvl="0"/>
            <a:r>
              <a:rPr lang="ru-RU" sz="2400" dirty="0">
                <a:solidFill>
                  <a:prstClr val="black"/>
                </a:solidFill>
              </a:rPr>
              <a:t>Подключение выполняется после обмена служебной информацией при установлении логического соединения, и  если вторая сторона подтвердит готовность к приему информации.</a:t>
            </a:r>
          </a:p>
          <a:p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196752"/>
            <a:ext cx="3528392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37051281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212" y="620688"/>
            <a:ext cx="8856983" cy="648072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TCP-соединение создает надежный логический канал между конечными узлами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31640" y="980728"/>
            <a:ext cx="6480720" cy="550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0779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586410"/>
          </a:xfrm>
        </p:spPr>
        <p:txBody>
          <a:bodyPr/>
          <a:lstStyle/>
          <a:p>
            <a:r>
              <a:rPr lang="en-US" dirty="0" smtClean="0">
                <a:solidFill>
                  <a:srgbClr val="7030A0"/>
                </a:solidFill>
              </a:rPr>
              <a:t>1</a:t>
            </a:r>
            <a:r>
              <a:rPr lang="ru-RU" dirty="0" smtClean="0">
                <a:solidFill>
                  <a:srgbClr val="7030A0"/>
                </a:solidFill>
              </a:rPr>
              <a:t>.Протокол </a:t>
            </a:r>
            <a:r>
              <a:rPr lang="en-US" dirty="0" smtClean="0">
                <a:solidFill>
                  <a:srgbClr val="7030A0"/>
                </a:solidFill>
              </a:rPr>
              <a:t>UDP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850106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Протокол UDP </a:t>
            </a:r>
            <a:r>
              <a:rPr lang="ru-RU" sz="3600" dirty="0">
                <a:solidFill>
                  <a:srgbClr val="7030A0"/>
                </a:solidFill>
              </a:rPr>
              <a:t>п</a:t>
            </a:r>
            <a:r>
              <a:rPr lang="ru-RU" sz="3600" dirty="0" smtClean="0">
                <a:solidFill>
                  <a:srgbClr val="7030A0"/>
                </a:solidFill>
              </a:rPr>
              <a:t>ользовательских </a:t>
            </a:r>
            <a:r>
              <a:rPr lang="ru-RU" sz="3600" dirty="0" err="1" smtClean="0">
                <a:solidFill>
                  <a:srgbClr val="7030A0"/>
                </a:solidFill>
              </a:rPr>
              <a:t>датаграмм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268760"/>
            <a:ext cx="8435280" cy="5184576"/>
          </a:xfrm>
        </p:spPr>
        <p:txBody>
          <a:bodyPr/>
          <a:lstStyle/>
          <a:p>
            <a:pPr marL="0" indent="0" algn="just"/>
            <a:r>
              <a:rPr lang="ru-RU" dirty="0" smtClean="0">
                <a:solidFill>
                  <a:srgbClr val="002060"/>
                </a:solidFill>
              </a:rPr>
              <a:t>  </a:t>
            </a:r>
            <a:r>
              <a:rPr lang="ru-RU" sz="2800" dirty="0" smtClean="0">
                <a:solidFill>
                  <a:srgbClr val="002060"/>
                </a:solidFill>
              </a:rPr>
              <a:t>Он </a:t>
            </a:r>
            <a:r>
              <a:rPr lang="ru-RU" sz="2800" dirty="0">
                <a:solidFill>
                  <a:srgbClr val="002060"/>
                </a:solidFill>
              </a:rPr>
              <a:t>обеспечивает только основные функции для обмена сегментами данных между приложениями, </a:t>
            </a:r>
            <a:r>
              <a:rPr lang="ru-RU" sz="2800" dirty="0">
                <a:solidFill>
                  <a:srgbClr val="000000"/>
                </a:solidFill>
              </a:rPr>
              <a:t>при этом данный протокол отличается незначительными накладными расходами и практически отсутствием проверки данных.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u="sng" dirty="0">
                <a:solidFill>
                  <a:srgbClr val="002060"/>
                </a:solidFill>
              </a:rPr>
              <a:t>UDP — протокол транспортного уровня без установки соединения</a:t>
            </a:r>
            <a:r>
              <a:rPr lang="ru-RU" sz="2800" dirty="0">
                <a:solidFill>
                  <a:srgbClr val="000000"/>
                </a:solidFill>
              </a:rPr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В UDP нет подтверждения того, что данные получены в месте назначения.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5616940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solidFill>
                  <a:srgbClr val="7030A0"/>
                </a:solidFill>
              </a:rPr>
              <a:t>Функции протокола UDP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002060"/>
                </a:solidFill>
              </a:rPr>
              <a:t>UDP имеет следующие функции</a:t>
            </a:r>
            <a:r>
              <a:rPr lang="ru-RU" dirty="0">
                <a:solidFill>
                  <a:srgbClr val="00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Данные восстанавливаются в том порядке, в котором получены.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Потерянные </a:t>
            </a:r>
            <a:r>
              <a:rPr lang="ru-RU" dirty="0">
                <a:solidFill>
                  <a:srgbClr val="002060"/>
                </a:solidFill>
              </a:rPr>
              <a:t>сегменты повторно не отправляются.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Без установления сеанса связи.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Без уведомления отправителя </a:t>
            </a:r>
            <a:r>
              <a:rPr lang="ru-RU" dirty="0">
                <a:solidFill>
                  <a:srgbClr val="000000"/>
                </a:solidFill>
              </a:rPr>
              <a:t>о доступности ресурса.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4113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Протоколы транспортного уровня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196F018E-2DCA-4A80-BC76-C15B88C340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1305415"/>
            <a:ext cx="8424935" cy="543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4410639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8964488" cy="720080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Приложения, использующие протокол UDP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79688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Мультимедийные приложения и передача видео в режиме реального времени</a:t>
            </a:r>
            <a:r>
              <a:rPr lang="ru-RU" sz="2400" dirty="0"/>
              <a:t>. </a:t>
            </a: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     </a:t>
            </a:r>
            <a:r>
              <a:rPr lang="ru-RU" sz="2400" dirty="0"/>
              <a:t>Такие приложения</a:t>
            </a:r>
            <a:r>
              <a:rPr lang="en-US" sz="2400" dirty="0"/>
              <a:t> </a:t>
            </a:r>
            <a:r>
              <a:rPr lang="ru-RU" sz="2400" dirty="0"/>
              <a:t>допускают небольшие потери данных, но не допускают задержки (либо минимальные). </a:t>
            </a:r>
            <a:r>
              <a:rPr lang="ru-RU" sz="2400" dirty="0">
                <a:solidFill>
                  <a:srgbClr val="002060"/>
                </a:solidFill>
              </a:rPr>
              <a:t>Например, VoIP и потоковое видео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  <a:endParaRPr lang="ru-RU" sz="2400" dirty="0">
              <a:solidFill>
                <a:srgbClr val="002060"/>
              </a:solidFill>
            </a:endParaRPr>
          </a:p>
          <a:p>
            <a:r>
              <a:rPr lang="ru-RU" sz="2400" dirty="0">
                <a:solidFill>
                  <a:srgbClr val="002060"/>
                </a:solidFill>
              </a:rPr>
              <a:t>Простые приложения запросов и ответов. </a:t>
            </a:r>
            <a:endParaRPr lang="ru-RU" sz="24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</a:t>
            </a:r>
            <a:r>
              <a:rPr lang="ru-RU" sz="2400" dirty="0" smtClean="0"/>
              <a:t>Приложения </a:t>
            </a:r>
            <a:r>
              <a:rPr lang="ru-RU" sz="2400" dirty="0"/>
              <a:t>с операциями, где хост отправляет запрос и может получить или не получить ответ. </a:t>
            </a:r>
            <a:r>
              <a:rPr lang="ru-RU" sz="2400" dirty="0">
                <a:solidFill>
                  <a:srgbClr val="002060"/>
                </a:solidFill>
              </a:rPr>
              <a:t>Например, DNS и DHCP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dirty="0">
                <a:solidFill>
                  <a:srgbClr val="002060"/>
                </a:solidFill>
              </a:rPr>
              <a:t>Приложения, самостоятельно обеспечивающие надежность передачи </a:t>
            </a:r>
            <a:r>
              <a:rPr lang="ru-RU" sz="2400" dirty="0" smtClean="0">
                <a:solidFill>
                  <a:srgbClr val="002060"/>
                </a:solidFill>
              </a:rPr>
              <a:t>данных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     Ненаправленный </a:t>
            </a:r>
            <a:r>
              <a:rPr lang="ru-RU" sz="2400" dirty="0"/>
              <a:t>обмен данными, при </a:t>
            </a:r>
            <a:r>
              <a:rPr lang="ru-RU" sz="2400" dirty="0" smtClean="0"/>
              <a:t>котором:</a:t>
            </a:r>
          </a:p>
          <a:p>
            <a:pPr>
              <a:buNone/>
            </a:pPr>
            <a:r>
              <a:rPr lang="ru-RU" sz="2400" dirty="0" smtClean="0"/>
              <a:t>      - </a:t>
            </a:r>
            <a:r>
              <a:rPr lang="ru-RU" sz="2400" dirty="0"/>
              <a:t>управление потоком, </a:t>
            </a: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      - обнаружение </a:t>
            </a:r>
            <a:r>
              <a:rPr lang="ru-RU" sz="2400" dirty="0"/>
              <a:t>ошибок</a:t>
            </a:r>
            <a:r>
              <a:rPr lang="ru-RU" sz="2400" dirty="0" smtClean="0"/>
              <a:t>,</a:t>
            </a:r>
          </a:p>
          <a:p>
            <a:pPr>
              <a:buNone/>
            </a:pPr>
            <a:r>
              <a:rPr lang="ru-RU" sz="2400" dirty="0" smtClean="0"/>
              <a:t>      - </a:t>
            </a:r>
            <a:r>
              <a:rPr lang="ru-RU" sz="2400" dirty="0"/>
              <a:t>отправка </a:t>
            </a:r>
            <a:r>
              <a:rPr lang="ru-RU" sz="2400" dirty="0" smtClean="0"/>
              <a:t>подтверждений,</a:t>
            </a:r>
          </a:p>
          <a:p>
            <a:pPr>
              <a:buNone/>
            </a:pPr>
            <a:r>
              <a:rPr lang="ru-RU" sz="2400" dirty="0" smtClean="0"/>
              <a:t>       -  </a:t>
            </a:r>
            <a:r>
              <a:rPr lang="ru-RU" sz="2400" dirty="0"/>
              <a:t>восстановление после сбоев </a:t>
            </a:r>
            <a:r>
              <a:rPr lang="ru-RU" sz="2400" u="sng" dirty="0">
                <a:solidFill>
                  <a:srgbClr val="002060"/>
                </a:solidFill>
              </a:rPr>
              <a:t>не требуются </a:t>
            </a:r>
            <a:r>
              <a:rPr lang="ru-RU" sz="2400" dirty="0"/>
              <a:t>или выполняются самим приложением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</a:t>
            </a:r>
            <a:r>
              <a:rPr lang="ru-RU" sz="2400" dirty="0">
                <a:solidFill>
                  <a:srgbClr val="002060"/>
                </a:solidFill>
              </a:rPr>
              <a:t>Например, SNMP и TFTP.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2516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85" name="Rectangle 13"/>
          <p:cNvSpPr>
            <a:spLocks noChangeArrowheads="1"/>
          </p:cNvSpPr>
          <p:nvPr/>
        </p:nvSpPr>
        <p:spPr bwMode="auto">
          <a:xfrm>
            <a:off x="323528" y="1"/>
            <a:ext cx="756084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 smtClean="0">
                <a:solidFill>
                  <a:srgbClr val="7030A0"/>
                </a:solidFill>
                <a:latin typeface="Verdana" pitchFamily="34" charset="0"/>
              </a:rPr>
              <a:t>Протокол </a:t>
            </a:r>
            <a:r>
              <a:rPr lang="en-US" sz="3200" dirty="0" smtClean="0">
                <a:solidFill>
                  <a:srgbClr val="7030A0"/>
                </a:solidFill>
                <a:latin typeface="Verdana" pitchFamily="34" charset="0"/>
              </a:rPr>
              <a:t>UDP</a:t>
            </a:r>
            <a:endParaRPr lang="ru-RU" sz="3200" dirty="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17419" name="Rectangle 14"/>
          <p:cNvSpPr>
            <a:spLocks noChangeArrowheads="1"/>
          </p:cNvSpPr>
          <p:nvPr/>
        </p:nvSpPr>
        <p:spPr bwMode="auto">
          <a:xfrm>
            <a:off x="179388" y="548681"/>
            <a:ext cx="8785225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1800" b="0" dirty="0"/>
              <a:t>   </a:t>
            </a:r>
            <a:r>
              <a:rPr lang="ru-RU" sz="1800" b="0" dirty="0" smtClean="0"/>
              <a:t>            </a:t>
            </a:r>
            <a:r>
              <a:rPr lang="ru-RU" sz="2800" b="0" dirty="0">
                <a:solidFill>
                  <a:srgbClr val="002060"/>
                </a:solidFill>
              </a:rPr>
              <a:t>Заголовки и данные </a:t>
            </a:r>
            <a:r>
              <a:rPr lang="en-US" sz="2800" dirty="0">
                <a:solidFill>
                  <a:srgbClr val="002060"/>
                </a:solidFill>
              </a:rPr>
              <a:t>UDP</a:t>
            </a:r>
            <a:r>
              <a:rPr lang="en-US" sz="2800" b="0" dirty="0">
                <a:solidFill>
                  <a:srgbClr val="002060"/>
                </a:solidFill>
              </a:rPr>
              <a:t> </a:t>
            </a:r>
            <a:r>
              <a:rPr lang="en-US" sz="2800" b="0" dirty="0"/>
              <a:t>(User Datagram Protocol) </a:t>
            </a:r>
            <a:r>
              <a:rPr lang="ru-RU" sz="2800" b="0" dirty="0"/>
              <a:t>уровня</a:t>
            </a:r>
            <a:r>
              <a:rPr lang="en-US" sz="2800" b="0" dirty="0"/>
              <a:t> </a:t>
            </a:r>
            <a:r>
              <a:rPr lang="ru-RU" sz="2800" b="0" dirty="0">
                <a:solidFill>
                  <a:srgbClr val="002060"/>
                </a:solidFill>
              </a:rPr>
              <a:t>инкапсулируются в поле данных </a:t>
            </a:r>
            <a:r>
              <a:rPr lang="en-US" sz="2800" b="0" dirty="0">
                <a:solidFill>
                  <a:srgbClr val="002060"/>
                </a:solidFill>
              </a:rPr>
              <a:t>IP </a:t>
            </a:r>
            <a:r>
              <a:rPr lang="ru-RU" sz="2800" b="0" dirty="0">
                <a:solidFill>
                  <a:srgbClr val="002060"/>
                </a:solidFill>
              </a:rPr>
              <a:t>уровня</a:t>
            </a:r>
            <a:r>
              <a:rPr lang="ru-RU" sz="2800" b="0" dirty="0"/>
              <a:t>. </a:t>
            </a:r>
          </a:p>
          <a:p>
            <a:pPr>
              <a:buClr>
                <a:srgbClr val="FF0066"/>
              </a:buClr>
            </a:pPr>
            <a:r>
              <a:rPr lang="ru-RU" sz="2800" b="0" dirty="0"/>
              <a:t>      </a:t>
            </a:r>
            <a:r>
              <a:rPr lang="en-US" sz="2800" b="0" dirty="0"/>
              <a:t>UDP </a:t>
            </a:r>
            <a:r>
              <a:rPr lang="ru-RU" sz="2800" b="0" dirty="0"/>
              <a:t>- протокол негарантированной доставки данных </a:t>
            </a:r>
            <a:r>
              <a:rPr lang="ru-RU" sz="2800" b="0" dirty="0" smtClean="0"/>
              <a:t>        (</a:t>
            </a:r>
            <a:r>
              <a:rPr lang="ru-RU" sz="2800" dirty="0" smtClean="0"/>
              <a:t>транспортный   уровень модели </a:t>
            </a:r>
            <a:r>
              <a:rPr lang="en-US" sz="2800" dirty="0" smtClean="0"/>
              <a:t>OSI</a:t>
            </a:r>
            <a:r>
              <a:rPr lang="ru-RU" sz="2800" dirty="0" smtClean="0"/>
              <a:t> ). </a:t>
            </a:r>
            <a:endParaRPr lang="en-US" sz="2800" b="0" dirty="0"/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endParaRPr lang="ru-RU" sz="1800" b="0" dirty="0"/>
          </a:p>
        </p:txBody>
      </p:sp>
      <p:sp>
        <p:nvSpPr>
          <p:cNvPr id="694287" name="Rectangle 15"/>
          <p:cNvSpPr>
            <a:spLocks noChangeArrowheads="1"/>
          </p:cNvSpPr>
          <p:nvPr/>
        </p:nvSpPr>
        <p:spPr bwMode="auto">
          <a:xfrm>
            <a:off x="2771775" y="2344738"/>
            <a:ext cx="5357813" cy="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21" name="Rectangle 49"/>
          <p:cNvSpPr>
            <a:spLocks noChangeArrowheads="1"/>
          </p:cNvSpPr>
          <p:nvPr/>
        </p:nvSpPr>
        <p:spPr bwMode="auto">
          <a:xfrm>
            <a:off x="179512" y="3429000"/>
            <a:ext cx="8964488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1800" b="0" dirty="0"/>
              <a:t>     </a:t>
            </a:r>
            <a:r>
              <a:rPr lang="en-US" sz="2800" b="0" dirty="0">
                <a:solidFill>
                  <a:srgbClr val="002060"/>
                </a:solidFill>
              </a:rPr>
              <a:t>UDP </a:t>
            </a:r>
            <a:r>
              <a:rPr lang="ru-RU" sz="2800" b="0" dirty="0">
                <a:solidFill>
                  <a:srgbClr val="002060"/>
                </a:solidFill>
              </a:rPr>
              <a:t>используется для отсылки данных некритичных к потере информации </a:t>
            </a:r>
            <a:r>
              <a:rPr lang="ru-RU" sz="2800" b="0" dirty="0" smtClean="0">
                <a:solidFill>
                  <a:srgbClr val="002060"/>
                </a:solidFill>
              </a:rPr>
              <a:t>приложений: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       - </a:t>
            </a:r>
            <a:r>
              <a:rPr lang="en-US" sz="2800" b="0" dirty="0" smtClean="0"/>
              <a:t>DNS </a:t>
            </a:r>
            <a:r>
              <a:rPr lang="ru-RU" sz="2800" b="0" dirty="0"/>
              <a:t>запросы-ответы, </a:t>
            </a:r>
            <a:r>
              <a:rPr lang="en-US" sz="2800" b="0" dirty="0"/>
              <a:t>ICQ, </a:t>
            </a:r>
            <a:r>
              <a:rPr lang="en-US" sz="2800" b="0" dirty="0" smtClean="0"/>
              <a:t>TFTP,</a:t>
            </a:r>
            <a:endParaRPr lang="ru-RU" sz="2800" b="0" dirty="0" smtClean="0"/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800" dirty="0" smtClean="0"/>
              <a:t>        - </a:t>
            </a:r>
            <a:r>
              <a:rPr lang="ru-RU" sz="2800" b="0" dirty="0" smtClean="0"/>
              <a:t>игровые </a:t>
            </a:r>
            <a:r>
              <a:rPr lang="ru-RU" sz="2800" b="0" dirty="0"/>
              <a:t>сервисы типа </a:t>
            </a:r>
            <a:r>
              <a:rPr lang="en-US" sz="2800" b="0" dirty="0" smtClean="0"/>
              <a:t>Quake</a:t>
            </a:r>
            <a:r>
              <a:rPr lang="ru-RU" sz="2800" b="0" dirty="0" smtClean="0"/>
              <a:t>.</a:t>
            </a:r>
            <a:endParaRPr lang="ru-RU" sz="2800" b="0" dirty="0"/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800" b="0" dirty="0"/>
              <a:t>    </a:t>
            </a:r>
            <a:r>
              <a:rPr lang="ru-RU" sz="2800" b="0" dirty="0">
                <a:solidFill>
                  <a:srgbClr val="002060"/>
                </a:solidFill>
              </a:rPr>
              <a:t>Также </a:t>
            </a:r>
            <a:r>
              <a:rPr lang="en-US" sz="2800" b="0" dirty="0">
                <a:solidFill>
                  <a:srgbClr val="002060"/>
                </a:solidFill>
              </a:rPr>
              <a:t>UDP</a:t>
            </a:r>
            <a:r>
              <a:rPr lang="ru-RU" sz="2800" b="0" dirty="0">
                <a:solidFill>
                  <a:srgbClr val="002060"/>
                </a:solidFill>
              </a:rPr>
              <a:t> почти всегда используется для рассылки </a:t>
            </a:r>
            <a:r>
              <a:rPr lang="ru-RU" sz="2800" b="0" dirty="0" smtClean="0">
                <a:solidFill>
                  <a:srgbClr val="002060"/>
                </a:solidFill>
              </a:rPr>
              <a:t>групповых  </a:t>
            </a:r>
            <a:r>
              <a:rPr lang="en-US" sz="2800" b="0" dirty="0" smtClean="0">
                <a:solidFill>
                  <a:srgbClr val="002060"/>
                </a:solidFill>
              </a:rPr>
              <a:t>IP</a:t>
            </a:r>
            <a:r>
              <a:rPr lang="ru-RU" sz="2800" b="0" dirty="0" smtClean="0">
                <a:solidFill>
                  <a:srgbClr val="002060"/>
                </a:solidFill>
              </a:rPr>
              <a:t>-</a:t>
            </a:r>
            <a:r>
              <a:rPr lang="en-US" sz="2800" b="0" dirty="0" smtClean="0">
                <a:solidFill>
                  <a:srgbClr val="002060"/>
                </a:solidFill>
              </a:rPr>
              <a:t> </a:t>
            </a:r>
            <a:r>
              <a:rPr lang="ru-RU" sz="2800" b="0" dirty="0" err="1">
                <a:solidFill>
                  <a:srgbClr val="002060"/>
                </a:solidFill>
              </a:rPr>
              <a:t>датаграмм</a:t>
            </a:r>
            <a:r>
              <a:rPr lang="ru-RU" sz="2800" b="0" dirty="0">
                <a:solidFill>
                  <a:srgbClr val="002060"/>
                </a:solidFill>
              </a:rPr>
              <a:t>.</a:t>
            </a:r>
            <a:r>
              <a:rPr lang="ru-RU" sz="2800" b="0" dirty="0"/>
              <a:t> 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800" b="0" dirty="0"/>
              <a:t>      </a:t>
            </a:r>
          </a:p>
        </p:txBody>
      </p:sp>
      <p:graphicFrame>
        <p:nvGraphicFramePr>
          <p:cNvPr id="694337" name="Group 65"/>
          <p:cNvGraphicFramePr>
            <a:graphicFrameLocks noGrp="1"/>
          </p:cNvGraphicFramePr>
          <p:nvPr/>
        </p:nvGraphicFramePr>
        <p:xfrm>
          <a:off x="323528" y="2708920"/>
          <a:ext cx="8640959" cy="648072"/>
        </p:xfrm>
        <a:graphic>
          <a:graphicData uri="http://schemas.openxmlformats.org/drawingml/2006/table">
            <a:tbl>
              <a:tblPr/>
              <a:tblGrid>
                <a:gridCol w="2745725"/>
                <a:gridCol w="3068752"/>
                <a:gridCol w="2826482"/>
              </a:tblGrid>
              <a:tr h="6480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Заголовок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IP (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 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байт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Заголовок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 (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байт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Данные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29" name="Rectangle 13"/>
          <p:cNvSpPr>
            <a:spLocks noChangeArrowheads="1"/>
          </p:cNvSpPr>
          <p:nvPr/>
        </p:nvSpPr>
        <p:spPr bwMode="auto">
          <a:xfrm>
            <a:off x="539552" y="228600"/>
            <a:ext cx="828092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>
                <a:solidFill>
                  <a:srgbClr val="7030A0"/>
                </a:solidFill>
                <a:latin typeface="Verdana" pitchFamily="34" charset="0"/>
              </a:rPr>
              <a:t>Формат </a:t>
            </a:r>
            <a:r>
              <a:rPr lang="en-US" sz="3200" dirty="0">
                <a:solidFill>
                  <a:srgbClr val="7030A0"/>
                </a:solidFill>
                <a:latin typeface="Verdana" pitchFamily="34" charset="0"/>
              </a:rPr>
              <a:t>UDP</a:t>
            </a:r>
            <a:r>
              <a:rPr lang="ru-RU" sz="3200" dirty="0">
                <a:solidFill>
                  <a:srgbClr val="7030A0"/>
                </a:solidFill>
                <a:latin typeface="Verdana" pitchFamily="34" charset="0"/>
              </a:rPr>
              <a:t> заголовка</a:t>
            </a:r>
          </a:p>
        </p:txBody>
      </p:sp>
      <p:sp>
        <p:nvSpPr>
          <p:cNvPr id="700431" name="Rectangle 15"/>
          <p:cNvSpPr>
            <a:spLocks noChangeArrowheads="1"/>
          </p:cNvSpPr>
          <p:nvPr/>
        </p:nvSpPr>
        <p:spPr bwMode="auto">
          <a:xfrm>
            <a:off x="2771775" y="2344738"/>
            <a:ext cx="5357813" cy="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44" name="Rectangle 16"/>
          <p:cNvSpPr>
            <a:spLocks noChangeArrowheads="1"/>
          </p:cNvSpPr>
          <p:nvPr/>
        </p:nvSpPr>
        <p:spPr bwMode="auto">
          <a:xfrm>
            <a:off x="179388" y="2708274"/>
            <a:ext cx="864108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b="0" dirty="0" smtClean="0">
                <a:solidFill>
                  <a:srgbClr val="002060"/>
                </a:solidFill>
              </a:rPr>
              <a:t>  </a:t>
            </a:r>
            <a:r>
              <a:rPr lang="ru-RU" sz="2400" b="0" dirty="0">
                <a:solidFill>
                  <a:srgbClr val="002060"/>
                </a:solidFill>
              </a:rPr>
              <a:t>Количество портов источника и назначения </a:t>
            </a:r>
            <a:r>
              <a:rPr lang="ru-RU" sz="2400" b="0" dirty="0" smtClean="0">
                <a:solidFill>
                  <a:srgbClr val="002060"/>
                </a:solidFill>
              </a:rPr>
              <a:t>ограничены 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</a:t>
            </a:r>
            <a:r>
              <a:rPr lang="ru-RU" sz="2400" b="0" dirty="0" smtClean="0">
                <a:solidFill>
                  <a:srgbClr val="002060"/>
                </a:solidFill>
              </a:rPr>
              <a:t>16-ю </a:t>
            </a:r>
            <a:r>
              <a:rPr lang="ru-RU" sz="2400" b="0" dirty="0">
                <a:solidFill>
                  <a:srgbClr val="002060"/>
                </a:solidFill>
              </a:rPr>
              <a:t>битами</a:t>
            </a:r>
            <a:r>
              <a:rPr lang="ru-RU" sz="2400" b="0" dirty="0"/>
              <a:t> (всего 65536 портов).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400" b="0" dirty="0">
                <a:solidFill>
                  <a:srgbClr val="002060"/>
                </a:solidFill>
              </a:rPr>
              <a:t> </a:t>
            </a:r>
            <a:r>
              <a:rPr lang="ru-RU" sz="2400" b="0" dirty="0" smtClean="0">
                <a:solidFill>
                  <a:srgbClr val="002060"/>
                </a:solidFill>
              </a:rPr>
              <a:t>  </a:t>
            </a:r>
            <a:r>
              <a:rPr lang="ru-RU" sz="2400" b="0" dirty="0">
                <a:solidFill>
                  <a:srgbClr val="002060"/>
                </a:solidFill>
              </a:rPr>
              <a:t>Порты разделяют :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400" b="0" dirty="0">
                <a:solidFill>
                  <a:srgbClr val="002060"/>
                </a:solidFill>
              </a:rPr>
              <a:t>        </a:t>
            </a:r>
            <a:r>
              <a:rPr lang="ru-RU" sz="2400" b="0" dirty="0" smtClean="0">
                <a:solidFill>
                  <a:srgbClr val="002060"/>
                </a:solidFill>
              </a:rPr>
              <a:t> </a:t>
            </a:r>
            <a:r>
              <a:rPr lang="ru-RU" sz="2400" b="0" dirty="0">
                <a:solidFill>
                  <a:srgbClr val="002060"/>
                </a:solidFill>
              </a:rPr>
              <a:t>- на </a:t>
            </a:r>
            <a:r>
              <a:rPr lang="ru-RU" sz="2400" b="0" dirty="0" smtClean="0">
                <a:solidFill>
                  <a:srgbClr val="002060"/>
                </a:solidFill>
              </a:rPr>
              <a:t>именованные</a:t>
            </a:r>
            <a:r>
              <a:rPr lang="en-US" sz="2400" b="0" dirty="0" smtClean="0">
                <a:solidFill>
                  <a:srgbClr val="002060"/>
                </a:solidFill>
              </a:rPr>
              <a:t> </a:t>
            </a:r>
            <a:r>
              <a:rPr lang="ru-RU" sz="2400" b="0" dirty="0" smtClean="0">
                <a:solidFill>
                  <a:srgbClr val="002060"/>
                </a:solidFill>
              </a:rPr>
              <a:t>т.е. </a:t>
            </a:r>
            <a:r>
              <a:rPr lang="ru-RU" sz="2400" b="0" dirty="0" smtClean="0"/>
              <a:t>закрепленные соответствующими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400" dirty="0" smtClean="0"/>
              <a:t>         </a:t>
            </a:r>
            <a:r>
              <a:rPr lang="ru-RU" sz="2400" b="0" dirty="0" smtClean="0"/>
              <a:t> </a:t>
            </a:r>
            <a:r>
              <a:rPr lang="en-US" sz="2400" b="0" dirty="0" smtClean="0"/>
              <a:t>RFC</a:t>
            </a:r>
            <a:r>
              <a:rPr lang="ru-RU" sz="2400" b="0" dirty="0" smtClean="0"/>
              <a:t>  (</a:t>
            </a:r>
            <a:r>
              <a:rPr lang="en-US" sz="2400" b="0" dirty="0" smtClean="0"/>
              <a:t>RFC</a:t>
            </a:r>
            <a:r>
              <a:rPr lang="ru-RU" sz="2400" dirty="0" smtClean="0"/>
              <a:t> –это </a:t>
            </a:r>
            <a:r>
              <a:rPr lang="ru-RU" sz="2400" b="0" dirty="0" smtClean="0"/>
              <a:t>номер который присваивается проекту </a:t>
            </a:r>
            <a:r>
              <a:rPr lang="en-US" sz="2400" b="0" dirty="0" smtClean="0"/>
              <a:t>IETF)</a:t>
            </a:r>
            <a:r>
              <a:rPr lang="ru-RU" sz="2400" b="0" dirty="0" smtClean="0"/>
              <a:t>,      за </a:t>
            </a:r>
            <a:r>
              <a:rPr lang="ru-RU" sz="2400" b="0" dirty="0"/>
              <a:t>определенными </a:t>
            </a:r>
            <a:r>
              <a:rPr lang="ru-RU" sz="2400" b="0" dirty="0" smtClean="0"/>
              <a:t>сервисами;</a:t>
            </a:r>
            <a:endParaRPr lang="ru-RU" sz="2400" b="0" dirty="0"/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400" b="0" dirty="0">
                <a:solidFill>
                  <a:srgbClr val="002060"/>
                </a:solidFill>
              </a:rPr>
              <a:t>         -  неименованные</a:t>
            </a:r>
            <a:r>
              <a:rPr lang="ru-RU" sz="2400" b="0" dirty="0"/>
              <a:t>.</a:t>
            </a:r>
          </a:p>
          <a:p>
            <a:pPr algn="l">
              <a:buClr>
                <a:srgbClr val="99CCFF"/>
              </a:buClr>
              <a:buFont typeface="Wingdings" pitchFamily="2" charset="2"/>
              <a:buNone/>
            </a:pPr>
            <a:r>
              <a:rPr lang="ru-RU" sz="2400" b="0" dirty="0" smtClean="0"/>
              <a:t>    Т.к</a:t>
            </a:r>
            <a:r>
              <a:rPr lang="ru-RU" sz="2400" b="0" dirty="0"/>
              <a:t>. контрольная сумма в заголовках </a:t>
            </a:r>
            <a:r>
              <a:rPr lang="en-US" sz="2400" b="0" dirty="0"/>
              <a:t>IP </a:t>
            </a:r>
            <a:r>
              <a:rPr lang="ru-RU" sz="2400" b="0" dirty="0"/>
              <a:t>уровня охватывает только заголовок, </a:t>
            </a:r>
            <a:r>
              <a:rPr lang="ru-RU" sz="2400" b="0" dirty="0" smtClean="0"/>
              <a:t>    </a:t>
            </a:r>
            <a:r>
              <a:rPr lang="ru-RU" sz="2400" b="0" dirty="0" smtClean="0">
                <a:solidFill>
                  <a:srgbClr val="002060"/>
                </a:solidFill>
              </a:rPr>
              <a:t>на </a:t>
            </a:r>
            <a:r>
              <a:rPr lang="en-US" sz="2400" b="0" dirty="0">
                <a:solidFill>
                  <a:srgbClr val="002060"/>
                </a:solidFill>
              </a:rPr>
              <a:t>TCP </a:t>
            </a:r>
            <a:r>
              <a:rPr lang="ru-RU" sz="2400" b="0" dirty="0">
                <a:solidFill>
                  <a:srgbClr val="002060"/>
                </a:solidFill>
              </a:rPr>
              <a:t>и </a:t>
            </a:r>
            <a:r>
              <a:rPr lang="en-US" sz="2400" b="0" dirty="0">
                <a:solidFill>
                  <a:srgbClr val="002060"/>
                </a:solidFill>
              </a:rPr>
              <a:t>UDP</a:t>
            </a:r>
            <a:r>
              <a:rPr lang="ru-RU" sz="2400" b="0" dirty="0">
                <a:solidFill>
                  <a:srgbClr val="002060"/>
                </a:solidFill>
              </a:rPr>
              <a:t> уровнях необходимо контролировать качество самих переданных данных</a:t>
            </a:r>
            <a:r>
              <a:rPr lang="ru-RU" b="0" dirty="0">
                <a:solidFill>
                  <a:srgbClr val="002060"/>
                </a:solidFill>
              </a:rPr>
              <a:t>. </a:t>
            </a:r>
          </a:p>
        </p:txBody>
      </p:sp>
      <p:graphicFrame>
        <p:nvGraphicFramePr>
          <p:cNvPr id="700464" name="Group 48"/>
          <p:cNvGraphicFramePr>
            <a:graphicFrameLocks noGrp="1"/>
          </p:cNvGraphicFramePr>
          <p:nvPr/>
        </p:nvGraphicFramePr>
        <p:xfrm>
          <a:off x="457200" y="1125538"/>
          <a:ext cx="8305800" cy="1440160"/>
        </p:xfrm>
        <a:graphic>
          <a:graphicData uri="http://schemas.openxmlformats.org/drawingml/2006/table">
            <a:tbl>
              <a:tblPr/>
              <a:tblGrid>
                <a:gridCol w="4152900"/>
                <a:gridCol w="4152900"/>
              </a:tblGrid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Номер порта источника (16 бит)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Номер порта назначения (16 бит)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Длина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 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пакета (16 бит)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Контрольная сумма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UDP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(16 бит)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Номера портов 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0" indent="0"/>
            <a:r>
              <a:rPr lang="ru-RU" sz="2800" dirty="0" smtClean="0">
                <a:solidFill>
                  <a:srgbClr val="000000"/>
                </a:solidFill>
              </a:rPr>
              <a:t>   Протоколы </a:t>
            </a:r>
            <a:r>
              <a:rPr lang="ru-RU" sz="2800" dirty="0">
                <a:solidFill>
                  <a:srgbClr val="000000"/>
                </a:solidFill>
              </a:rPr>
              <a:t>транспортного уровня TCP и UDP используют номера портов для </a:t>
            </a:r>
            <a:r>
              <a:rPr lang="ru-RU" sz="2800" dirty="0">
                <a:solidFill>
                  <a:srgbClr val="002060"/>
                </a:solidFill>
              </a:rPr>
              <a:t>управления несколькими одновременными диалогами</a:t>
            </a:r>
            <a:r>
              <a:rPr lang="ru-RU" sz="2800" dirty="0">
                <a:solidFill>
                  <a:srgbClr val="000000"/>
                </a:solidFill>
              </a:rPr>
              <a:t>.</a:t>
            </a:r>
          </a:p>
          <a:p>
            <a:pPr marL="0" indent="0"/>
            <a:r>
              <a:rPr lang="ru-RU" sz="2800" dirty="0" smtClean="0">
                <a:solidFill>
                  <a:srgbClr val="000000"/>
                </a:solidFill>
              </a:rPr>
              <a:t>    </a:t>
            </a:r>
            <a:r>
              <a:rPr lang="ru-RU" sz="2800" dirty="0" smtClean="0">
                <a:solidFill>
                  <a:srgbClr val="002060"/>
                </a:solidFill>
              </a:rPr>
              <a:t>Номер </a:t>
            </a:r>
            <a:r>
              <a:rPr lang="ru-RU" sz="2800" dirty="0">
                <a:solidFill>
                  <a:srgbClr val="002060"/>
                </a:solidFill>
              </a:rPr>
              <a:t>порта источника </a:t>
            </a:r>
            <a:r>
              <a:rPr lang="ru-RU" sz="2800" dirty="0">
                <a:solidFill>
                  <a:srgbClr val="000000"/>
                </a:solidFill>
              </a:rPr>
              <a:t>связан с исходным приложением на локальном </a:t>
            </a:r>
            <a:r>
              <a:rPr lang="ru-RU" sz="2800" dirty="0" smtClean="0">
                <a:solidFill>
                  <a:srgbClr val="000000"/>
                </a:solidFill>
              </a:rPr>
              <a:t>узле.</a:t>
            </a:r>
          </a:p>
          <a:p>
            <a:pPr marL="0" indent="0"/>
            <a:r>
              <a:rPr lang="ru-RU" sz="2800" dirty="0" smtClean="0">
                <a:solidFill>
                  <a:srgbClr val="002060"/>
                </a:solidFill>
              </a:rPr>
              <a:t>    Номер </a:t>
            </a:r>
            <a:r>
              <a:rPr lang="ru-RU" sz="2800" dirty="0">
                <a:solidFill>
                  <a:srgbClr val="002060"/>
                </a:solidFill>
              </a:rPr>
              <a:t>порта назначения </a:t>
            </a:r>
            <a:r>
              <a:rPr lang="ru-RU" sz="2800" dirty="0">
                <a:solidFill>
                  <a:srgbClr val="000000"/>
                </a:solidFill>
              </a:rPr>
              <a:t>связан с целевым приложением на удаленном узле.</a:t>
            </a:r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xmlns="" id="{EC1712BE-425B-468A-9840-CA0161D62B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7477" y="4221088"/>
            <a:ext cx="8156523" cy="209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19566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7030A0"/>
                </a:solidFill>
              </a:rPr>
              <a:t>Заголовок протокола UDP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9"/>
            <a:ext cx="8568952" cy="792087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sz="2800" dirty="0"/>
              <a:t>Таблица идентифицирует и описывает четыре поля в заголовке UDP.</a:t>
            </a:r>
          </a:p>
          <a:p>
            <a:endParaRPr lang="en-US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xmlns="" id="{3F2E23C1-508F-7649-AE14-E808BD745B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630957919"/>
              </p:ext>
            </p:extLst>
          </p:nvPr>
        </p:nvGraphicFramePr>
        <p:xfrm>
          <a:off x="323528" y="1772817"/>
          <a:ext cx="8568951" cy="4968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952">
                  <a:extLst>
                    <a:ext uri="{9D8B030D-6E8A-4147-A177-3AD203B41FA5}">
                      <a16:colId xmlns:a16="http://schemas.microsoft.com/office/drawing/2014/main" xmlns="" val="672764447"/>
                    </a:ext>
                  </a:extLst>
                </a:gridCol>
                <a:gridCol w="6811999">
                  <a:extLst>
                    <a:ext uri="{9D8B030D-6E8A-4147-A177-3AD203B41FA5}">
                      <a16:colId xmlns:a16="http://schemas.microsoft.com/office/drawing/2014/main" xmlns="" val="1898767724"/>
                    </a:ext>
                  </a:extLst>
                </a:gridCol>
              </a:tblGrid>
              <a:tr h="13410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b="1" dirty="0">
                          <a:effectLst/>
                        </a:rPr>
                        <a:t>Поле заголовка UDP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b="1" dirty="0">
                          <a:effectLst/>
                        </a:rPr>
                        <a:t>Описание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899509290"/>
                  </a:ext>
                </a:extLst>
              </a:tr>
              <a:tr h="940387">
                <a:tc>
                  <a:txBody>
                    <a:bodyPr/>
                    <a:lstStyle/>
                    <a:p>
                      <a:pPr rtl="0" fontAlgn="ctr"/>
                      <a:r>
                        <a:rPr lang="ru-RU" b="1">
                          <a:effectLst/>
                        </a:rPr>
                        <a:t>Порт источника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b="0" dirty="0">
                          <a:effectLst/>
                        </a:rPr>
                        <a:t>16-битное поле, используемое для идентификации исходного приложения по номеру порта.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858658826"/>
                  </a:ext>
                </a:extLst>
              </a:tr>
              <a:tr h="940387">
                <a:tc>
                  <a:txBody>
                    <a:bodyPr/>
                    <a:lstStyle/>
                    <a:p>
                      <a:pPr rtl="0" fontAlgn="ctr"/>
                      <a:r>
                        <a:rPr lang="ru-RU" b="1">
                          <a:effectLst/>
                        </a:rPr>
                        <a:t>Порт назначения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b="0" dirty="0">
                          <a:effectLst/>
                        </a:rPr>
                        <a:t>16-битное поле, используемое для идентификации приложения назначения по номеру порта.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808665367"/>
                  </a:ext>
                </a:extLst>
              </a:tr>
              <a:tr h="940387">
                <a:tc>
                  <a:txBody>
                    <a:bodyPr/>
                    <a:lstStyle/>
                    <a:p>
                      <a:pPr rtl="0" fontAlgn="ctr"/>
                      <a:r>
                        <a:rPr lang="ru-RU" b="1">
                          <a:effectLst/>
                        </a:rPr>
                        <a:t>Длина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b="0" dirty="0">
                          <a:effectLst/>
                        </a:rPr>
                        <a:t>16-битное поле, указывающее длину заголовка датаграммы UDP.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521255676"/>
                  </a:ext>
                </a:extLst>
              </a:tr>
              <a:tr h="806366">
                <a:tc>
                  <a:txBody>
                    <a:bodyPr/>
                    <a:lstStyle/>
                    <a:p>
                      <a:pPr rtl="0" fontAlgn="ctr"/>
                      <a:r>
                        <a:rPr lang="ru-RU" b="1">
                          <a:effectLst/>
                        </a:rPr>
                        <a:t>Контрольная сумма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b="0" dirty="0">
                          <a:effectLst/>
                        </a:rPr>
                        <a:t>16-битное поле, используемое для проверки ошибок заголовка и данных датаграммы.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481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8516101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Работа протокола </a:t>
            </a:r>
            <a:r>
              <a:rPr lang="en-US" sz="3600" dirty="0" smtClean="0">
                <a:solidFill>
                  <a:srgbClr val="7030A0"/>
                </a:solidFill>
              </a:rPr>
              <a:t>UDP </a:t>
            </a:r>
            <a:r>
              <a:rPr lang="ru-RU" sz="3600" dirty="0" smtClean="0">
                <a:solidFill>
                  <a:srgbClr val="7030A0"/>
                </a:solidFill>
              </a:rPr>
              <a:t>на хосте- отправителе</a:t>
            </a:r>
            <a:endParaRPr lang="ru-RU" sz="3600" dirty="0">
              <a:solidFill>
                <a:srgbClr val="7030A0"/>
              </a:solidFill>
            </a:endParaRPr>
          </a:p>
        </p:txBody>
      </p:sp>
      <p:pic>
        <p:nvPicPr>
          <p:cNvPr id="1026" name="Picture 2" descr="C:\Users\Юра\Desktop\сетев прот през\Сетевые_протоколы_в_инфокоммуникациях 2021\Изображения\Лекция_5_Стек_протоколов_TCP_IP\13) Работа протокола UDP на хосте-отправителе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80728"/>
            <a:ext cx="8352927" cy="587727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8686800" cy="562074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Определение сокетов(пояснение 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85000" lnSpcReduction="10000"/>
          </a:bodyPr>
          <a:lstStyle/>
          <a:p>
            <a:pPr marL="285750" indent="-285750" algn="just"/>
            <a:r>
              <a:rPr lang="ru-RU" u="sng" dirty="0" smtClean="0">
                <a:solidFill>
                  <a:srgbClr val="002060"/>
                </a:solidFill>
              </a:rPr>
              <a:t>Сокет</a:t>
            </a:r>
            <a:r>
              <a:rPr lang="ru-RU" dirty="0" smtClean="0">
                <a:solidFill>
                  <a:srgbClr val="000000"/>
                </a:solidFill>
              </a:rPr>
              <a:t> – набор идентификационных параметров, определяет прикладной процесс в сети.</a:t>
            </a:r>
          </a:p>
          <a:p>
            <a:pPr marL="285750" indent="-285750" algn="just"/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Номера порта источника и порта назначения записываются в сегмент</a:t>
            </a:r>
            <a:r>
              <a:rPr lang="ru-RU" dirty="0" smtClean="0"/>
              <a:t>.</a:t>
            </a:r>
          </a:p>
          <a:p>
            <a:pPr marL="285750" indent="-285750" algn="just"/>
            <a:r>
              <a:rPr lang="ru-RU" dirty="0" smtClean="0"/>
              <a:t>Затем эти сегменты инкапсулируются в пакете IP.</a:t>
            </a:r>
          </a:p>
          <a:p>
            <a:pPr marL="285750" indent="-285750" algn="just"/>
            <a:r>
              <a:rPr lang="en-US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ru-RU" dirty="0" smtClean="0">
                <a:solidFill>
                  <a:srgbClr val="002060"/>
                </a:solidFill>
              </a:rPr>
              <a:t>Сочетание</a:t>
            </a:r>
            <a:r>
              <a:rPr lang="en-US" dirty="0" smtClean="0">
                <a:solidFill>
                  <a:srgbClr val="002060"/>
                </a:solidFill>
              </a:rPr>
              <a:t> I</a:t>
            </a:r>
            <a:r>
              <a:rPr lang="ru-RU" dirty="0" smtClean="0">
                <a:solidFill>
                  <a:srgbClr val="002060"/>
                </a:solidFill>
              </a:rPr>
              <a:t>P-адреса источника и номера порта источника  называется </a:t>
            </a:r>
            <a:r>
              <a:rPr lang="ru-RU" u="sng" dirty="0" smtClean="0">
                <a:solidFill>
                  <a:srgbClr val="002060"/>
                </a:solidFill>
              </a:rPr>
              <a:t>сокетом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или</a:t>
            </a:r>
          </a:p>
          <a:p>
            <a:pPr marL="285750" indent="-285750" algn="just"/>
            <a:r>
              <a:rPr lang="ru-RU" dirty="0" smtClean="0">
                <a:solidFill>
                  <a:srgbClr val="002060"/>
                </a:solidFill>
              </a:rPr>
              <a:t>  Сочетание IP-адреса назначения и номера порта назначения тоже называется </a:t>
            </a:r>
            <a:r>
              <a:rPr lang="ru-RU" u="sng" dirty="0" smtClean="0">
                <a:solidFill>
                  <a:srgbClr val="002060"/>
                </a:solidFill>
              </a:rPr>
              <a:t>сокетом.</a:t>
            </a:r>
          </a:p>
          <a:p>
            <a:pPr marL="285750" indent="-285750" algn="just"/>
            <a:r>
              <a:rPr lang="ru-RU" dirty="0" smtClean="0">
                <a:solidFill>
                  <a:srgbClr val="000000"/>
                </a:solidFill>
              </a:rPr>
              <a:t>Сокеты позволяют различать несколько процессов, выполняющихся на клиенте, а также распознавать различные подключения к процессу сервера.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57457361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81075" y="476672"/>
            <a:ext cx="8162925" cy="6480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Формат протокола UDP</a:t>
            </a:r>
            <a:endParaRPr lang="ru-RU" dirty="0" smtClean="0">
              <a:solidFill>
                <a:srgbClr val="7030A0"/>
              </a:solidFill>
              <a:latin typeface="Times New Roman" pitchFamily="18" charset="0"/>
            </a:endParaRPr>
          </a:p>
        </p:txBody>
      </p:sp>
      <p:graphicFrame>
        <p:nvGraphicFramePr>
          <p:cNvPr id="25603" name="Object 2"/>
          <p:cNvGraphicFramePr>
            <a:graphicFrameLocks noChangeAspect="1"/>
          </p:cNvGraphicFramePr>
          <p:nvPr/>
        </p:nvGraphicFramePr>
        <p:xfrm>
          <a:off x="533400" y="1268760"/>
          <a:ext cx="8458200" cy="3240360"/>
        </p:xfrm>
        <a:graphic>
          <a:graphicData uri="http://schemas.openxmlformats.org/presentationml/2006/ole">
            <p:oleObj spid="_x0000_s3107" name="Точечный рисунок" r:id="rId3" imgW="5161905" imgH="1333333" progId="PBrush">
              <p:embed/>
            </p:oleObj>
          </a:graphicData>
        </a:graphic>
      </p:graphicFrame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79512" y="4876800"/>
            <a:ext cx="89644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dirty="0">
                <a:solidFill>
                  <a:prstClr val="black"/>
                </a:solidFill>
                <a:latin typeface="Times New Roman" pitchFamily="18" charset="0"/>
              </a:rPr>
              <a:t>Длина сообщения - это длина UDP-пакета (данные). </a:t>
            </a:r>
            <a:endParaRPr lang="ru-RU" sz="2400" dirty="0" smtClean="0">
              <a:solidFill>
                <a:prstClr val="black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ru-RU" sz="2400" dirty="0" smtClean="0">
                <a:solidFill>
                  <a:prstClr val="black"/>
                </a:solidFill>
                <a:latin typeface="Times New Roman" pitchFamily="18" charset="0"/>
              </a:rPr>
              <a:t>Минимальная </a:t>
            </a:r>
            <a:r>
              <a:rPr lang="ru-RU" sz="2400" dirty="0">
                <a:solidFill>
                  <a:prstClr val="black"/>
                </a:solidFill>
                <a:latin typeface="Times New Roman" pitchFamily="18" charset="0"/>
              </a:rPr>
              <a:t>длина - 8 байт. Сам заголовок имеет длину 8 байт. </a:t>
            </a:r>
          </a:p>
        </p:txBody>
      </p:sp>
    </p:spTree>
    <p:extLst>
      <p:ext uri="{BB962C8B-B14F-4D97-AF65-F5344CB8AC3E}">
        <p14:creationId xmlns:p14="http://schemas.microsoft.com/office/powerpoint/2010/main" xmlns="" val="227750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212" y="480988"/>
            <a:ext cx="8856983" cy="648072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Демультиплексирование протокола UDP на основе сокетов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9512" y="1268760"/>
            <a:ext cx="8604448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0779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82554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2.Протокол ТСР.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Формат заголовка.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dirty="0"/>
              <a:t> </a:t>
            </a:r>
            <a:r>
              <a:rPr lang="ru-RU" dirty="0">
                <a:solidFill>
                  <a:srgbClr val="7030A0"/>
                </a:solidFill>
              </a:rPr>
              <a:t>Функции протокола </a:t>
            </a:r>
            <a:r>
              <a:rPr lang="ru-RU" dirty="0" smtClean="0">
                <a:solidFill>
                  <a:srgbClr val="7030A0"/>
                </a:solidFill>
              </a:rPr>
              <a:t>TCP(1)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6093295"/>
          </a:xfrm>
        </p:spPr>
        <p:txBody>
          <a:bodyPr>
            <a:noAutofit/>
          </a:bodyPr>
          <a:lstStyle/>
          <a:p>
            <a:pPr lvl="0"/>
            <a:r>
              <a:rPr lang="ru-RU" sz="2800" dirty="0" smtClean="0">
                <a:solidFill>
                  <a:prstClr val="black"/>
                </a:solidFill>
              </a:rPr>
              <a:t> </a:t>
            </a:r>
            <a:r>
              <a:rPr lang="ru-RU" sz="2800" u="sng" dirty="0" smtClean="0">
                <a:solidFill>
                  <a:srgbClr val="002060"/>
                </a:solidFill>
              </a:rPr>
              <a:t>Разбиением </a:t>
            </a:r>
            <a:r>
              <a:rPr lang="ru-RU" sz="2800" u="sng" dirty="0">
                <a:solidFill>
                  <a:srgbClr val="002060"/>
                </a:solidFill>
              </a:rPr>
              <a:t>потока данных на </a:t>
            </a:r>
            <a:r>
              <a:rPr lang="ru-RU" sz="2800" u="sng" dirty="0" smtClean="0">
                <a:solidFill>
                  <a:srgbClr val="002060"/>
                </a:solidFill>
              </a:rPr>
              <a:t>сегменты.</a:t>
            </a:r>
            <a:endParaRPr lang="ru-RU" sz="2800" u="sng" dirty="0">
              <a:solidFill>
                <a:srgbClr val="002060"/>
              </a:solidFill>
            </a:endParaRPr>
          </a:p>
          <a:p>
            <a:r>
              <a:rPr lang="ru-RU" sz="2800" u="sng" dirty="0" smtClean="0">
                <a:solidFill>
                  <a:srgbClr val="002060"/>
                </a:solidFill>
              </a:rPr>
              <a:t>Установление </a:t>
            </a:r>
            <a:r>
              <a:rPr lang="ru-RU" sz="2800" u="sng" dirty="0">
                <a:solidFill>
                  <a:srgbClr val="002060"/>
                </a:solidFill>
              </a:rPr>
              <a:t>сессии  </a:t>
            </a:r>
            <a:endParaRPr lang="ru-RU" sz="2800" u="sng" dirty="0" smtClean="0">
              <a:solidFill>
                <a:srgbClr val="002060"/>
              </a:solidFill>
            </a:endParaRPr>
          </a:p>
          <a:p>
            <a:r>
              <a:rPr lang="ru-RU" sz="2800" dirty="0" smtClean="0"/>
              <a:t>      </a:t>
            </a:r>
            <a:r>
              <a:rPr lang="ru-RU" sz="2800" dirty="0"/>
              <a:t>Перед пересылкой любого трафика протокол с установлением соединения согласовывает и настраивает постоянное соединение (или сеанс) между устройством источника и устройством назначения.</a:t>
            </a:r>
          </a:p>
          <a:p>
            <a:r>
              <a:rPr lang="ru-RU" sz="2800" u="sng" dirty="0">
                <a:solidFill>
                  <a:srgbClr val="002060"/>
                </a:solidFill>
              </a:rPr>
              <a:t>Гарантия надежной доставки </a:t>
            </a:r>
            <a:endParaRPr lang="ru-RU" sz="2800" dirty="0" smtClean="0"/>
          </a:p>
          <a:p>
            <a:r>
              <a:rPr lang="ru-RU" sz="2800" dirty="0" smtClean="0"/>
              <a:t>      При </a:t>
            </a:r>
            <a:r>
              <a:rPr lang="ru-RU" sz="2800" dirty="0"/>
              <a:t>передаче по сети один из сегментов может быть поврежден или полностью утрачен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     </a:t>
            </a:r>
            <a:r>
              <a:rPr lang="ru-RU" sz="2800" dirty="0"/>
              <a:t>TCP </a:t>
            </a:r>
            <a:r>
              <a:rPr lang="ru-RU" sz="2800" dirty="0" smtClean="0"/>
              <a:t> обеспечивает </a:t>
            </a:r>
            <a:r>
              <a:rPr lang="ru-RU" sz="2800" dirty="0"/>
              <a:t>гарантированную доставку на узел назначения всех без исключения сегментов данных, отправленных </a:t>
            </a:r>
            <a:r>
              <a:rPr lang="ru-RU" sz="2800" dirty="0" smtClean="0"/>
              <a:t>источником.</a:t>
            </a:r>
            <a:endParaRPr lang="ru-RU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5756377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Функции протокола TCP(2)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80728"/>
            <a:ext cx="8892480" cy="5472608"/>
          </a:xfrm>
        </p:spPr>
        <p:txBody>
          <a:bodyPr>
            <a:normAutofit fontScale="92500" lnSpcReduction="20000"/>
          </a:bodyPr>
          <a:lstStyle/>
          <a:p>
            <a:r>
              <a:rPr lang="ru-RU" u="sng" dirty="0" smtClean="0">
                <a:solidFill>
                  <a:srgbClr val="002060"/>
                </a:solidFill>
              </a:rPr>
              <a:t>Обеспечение доставки в нужном порядке 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   Поскольку в сетях могут использоваться несколько маршрутов с разными скоростями передачи информации, в процессе доставки данных их порядок может измениться.</a:t>
            </a:r>
            <a:r>
              <a:rPr lang="ru-RU" b="1" dirty="0" smtClean="0"/>
              <a:t> </a:t>
            </a:r>
          </a:p>
          <a:p>
            <a:pPr>
              <a:buNone/>
            </a:pPr>
            <a:endParaRPr lang="ru-RU" b="1" dirty="0" smtClean="0"/>
          </a:p>
          <a:p>
            <a:r>
              <a:rPr lang="ru-RU" u="sng" dirty="0" smtClean="0">
                <a:solidFill>
                  <a:srgbClr val="002060"/>
                </a:solidFill>
              </a:rPr>
              <a:t>Управление потоком передачи данных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   Ресурсы сетевых узлов, такие как память или вычислительные мощности, ограничены.</a:t>
            </a:r>
          </a:p>
          <a:p>
            <a:pPr>
              <a:buNone/>
            </a:pPr>
            <a:r>
              <a:rPr lang="ru-RU" dirty="0" smtClean="0"/>
              <a:t>     Когда протокол TCP получает информацию о том, что эти ресурсы используются слишком активно, он может потребовать от отправляющего приложения снизить скорость потока данных.</a:t>
            </a:r>
            <a:r>
              <a:rPr lang="ru-RU" b="1" dirty="0" smtClean="0"/>
              <a:t>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xmlns="" val="105677366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rgbClr val="7030A0"/>
                </a:solidFill>
              </a:rPr>
              <a:t>Заголовок протокола </a:t>
            </a:r>
            <a:r>
              <a:rPr lang="ru-RU" sz="4000" dirty="0" smtClean="0">
                <a:solidFill>
                  <a:srgbClr val="7030A0"/>
                </a:solidFill>
              </a:rPr>
              <a:t>TCP</a:t>
            </a:r>
            <a:r>
              <a:rPr lang="en-US" sz="4000" dirty="0" smtClean="0">
                <a:solidFill>
                  <a:srgbClr val="7030A0"/>
                </a:solidFill>
              </a:rPr>
              <a:t>(1</a:t>
            </a:r>
            <a:r>
              <a:rPr lang="ru-RU" sz="4000" dirty="0" smtClean="0">
                <a:solidFill>
                  <a:srgbClr val="7030A0"/>
                </a:solidFill>
              </a:rPr>
              <a:t>вариант)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1" y="908720"/>
            <a:ext cx="3672408" cy="5688632"/>
          </a:xfrm>
        </p:spPr>
        <p:txBody>
          <a:bodyPr>
            <a:noAutofit/>
          </a:bodyPr>
          <a:lstStyle/>
          <a:p>
            <a:pPr marL="0" indent="0"/>
            <a:r>
              <a:rPr lang="ru-RU" sz="2800" dirty="0" smtClean="0">
                <a:solidFill>
                  <a:srgbClr val="002060"/>
                </a:solidFill>
              </a:rPr>
              <a:t>    TCP </a:t>
            </a:r>
            <a:r>
              <a:rPr lang="ru-RU" sz="2800" dirty="0" smtClean="0">
                <a:solidFill>
                  <a:srgbClr val="000000"/>
                </a:solidFill>
              </a:rPr>
              <a:t>-протокол </a:t>
            </a:r>
            <a:r>
              <a:rPr lang="ru-RU" sz="2800" dirty="0">
                <a:solidFill>
                  <a:srgbClr val="002060"/>
                </a:solidFill>
              </a:rPr>
              <a:t>отслеживает состояние сеанса передачи данных</a:t>
            </a:r>
            <a:r>
              <a:rPr lang="ru-RU" sz="2800" dirty="0" smtClean="0">
                <a:solidFill>
                  <a:srgbClr val="000000"/>
                </a:solidFill>
              </a:rPr>
              <a:t>.</a:t>
            </a:r>
            <a:endParaRPr lang="en-US" sz="2800" dirty="0">
              <a:solidFill>
                <a:srgbClr val="000000"/>
              </a:solidFill>
            </a:endParaRPr>
          </a:p>
          <a:p>
            <a:pPr marL="0" indent="0"/>
            <a:r>
              <a:rPr lang="ru-RU" sz="2800" dirty="0">
                <a:solidFill>
                  <a:srgbClr val="000000"/>
                </a:solidFill>
              </a:rPr>
              <a:t>Для отслеживания состояния сеанса связи протокол </a:t>
            </a:r>
            <a:r>
              <a:rPr lang="ru-RU" sz="2800" dirty="0">
                <a:solidFill>
                  <a:srgbClr val="002060"/>
                </a:solidFill>
              </a:rPr>
              <a:t>TCP фиксирует, какую информацию он отправил и какая информация была </a:t>
            </a:r>
            <a:r>
              <a:rPr lang="ru-RU" sz="2800" dirty="0" smtClean="0">
                <a:solidFill>
                  <a:srgbClr val="002060"/>
                </a:solidFill>
              </a:rPr>
              <a:t>подтверждена.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79912" y="980728"/>
            <a:ext cx="5364088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6996529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910" y="236911"/>
            <a:ext cx="6683765" cy="52779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Поля заголовка </a:t>
            </a:r>
            <a:r>
              <a:rPr lang="ru-RU" dirty="0" smtClean="0">
                <a:solidFill>
                  <a:srgbClr val="7030A0"/>
                </a:solidFill>
              </a:rPr>
              <a:t>TCP(1 вар)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41909" y="1326776"/>
            <a:ext cx="6686550" cy="5074024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xmlns="" id="{88B7DED4-161D-2E4C-8213-152A201EC6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813649309"/>
              </p:ext>
            </p:extLst>
          </p:nvPr>
        </p:nvGraphicFramePr>
        <p:xfrm>
          <a:off x="0" y="980728"/>
          <a:ext cx="9144000" cy="568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819">
                  <a:extLst>
                    <a:ext uri="{9D8B030D-6E8A-4147-A177-3AD203B41FA5}">
                      <a16:colId xmlns:a16="http://schemas.microsoft.com/office/drawing/2014/main" xmlns="" val="2603652252"/>
                    </a:ext>
                  </a:extLst>
                </a:gridCol>
                <a:gridCol w="6870181">
                  <a:extLst>
                    <a:ext uri="{9D8B030D-6E8A-4147-A177-3AD203B41FA5}">
                      <a16:colId xmlns:a16="http://schemas.microsoft.com/office/drawing/2014/main" xmlns="" val="1473811734"/>
                    </a:ext>
                  </a:extLst>
                </a:gridCol>
              </a:tblGrid>
              <a:tr h="33994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1" dirty="0">
                          <a:effectLst/>
                        </a:rPr>
                        <a:t>Поле заголовка TCP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1">
                          <a:effectLst/>
                        </a:rPr>
                        <a:t>Описание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256964134"/>
                  </a:ext>
                </a:extLst>
              </a:tr>
              <a:tr h="561343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Порт источника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16-битное поле, используемое для идентификации исходного приложения по номеру порта.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864511980"/>
                  </a:ext>
                </a:extLst>
              </a:tr>
              <a:tr h="561343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>
                          <a:effectLst/>
                        </a:rPr>
                        <a:t>Порт назначения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16-битное поле, используемое для идентификации приложения назначения по номеру порта.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827016096"/>
                  </a:ext>
                </a:extLst>
              </a:tr>
              <a:tr h="33994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>
                          <a:effectLst/>
                        </a:rPr>
                        <a:t>Порядковый номер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32-битное поле, используемое для </a:t>
                      </a:r>
                      <a:r>
                        <a:rPr lang="ru-RU" sz="1600" b="0" dirty="0" err="1">
                          <a:effectLst/>
                        </a:rPr>
                        <a:t>пересборки</a:t>
                      </a:r>
                      <a:r>
                        <a:rPr lang="ru-RU" sz="1600" b="0" dirty="0">
                          <a:effectLst/>
                        </a:rPr>
                        <a:t> данных.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84279451"/>
                  </a:ext>
                </a:extLst>
              </a:tr>
              <a:tr h="561343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Н</a:t>
                      </a:r>
                      <a:r>
                        <a:rPr lang="ru-RU" sz="1600" b="1" dirty="0" smtClean="0">
                          <a:effectLst/>
                        </a:rPr>
                        <a:t>омер </a:t>
                      </a:r>
                      <a:r>
                        <a:rPr lang="ru-RU" sz="1600" b="1" dirty="0">
                          <a:effectLst/>
                        </a:rPr>
                        <a:t>подтверждения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32-битное поле, используемое для указания того, что данные получены и ожидается следующий байт от источника.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864515935"/>
                  </a:ext>
                </a:extLst>
              </a:tr>
              <a:tr h="561343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Длина заголовка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4-битное поле, известное как «смещение данных», которое указывает длину заголовка сегмента TCP.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643635522"/>
                  </a:ext>
                </a:extLst>
              </a:tr>
              <a:tr h="33994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>
                          <a:effectLst/>
                        </a:rPr>
                        <a:t>Резерв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6-битное  поле зарезервировано для использования в будущем.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62120262"/>
                  </a:ext>
                </a:extLst>
              </a:tr>
              <a:tr h="561343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Управляющие </a:t>
                      </a:r>
                      <a:r>
                        <a:rPr lang="ru-RU" sz="1600" b="1" dirty="0" smtClean="0">
                          <a:effectLst/>
                        </a:rPr>
                        <a:t>биты,</a:t>
                      </a:r>
                      <a:r>
                        <a:rPr lang="ru-RU" sz="1600" b="1" baseline="0" dirty="0" smtClean="0">
                          <a:effectLst/>
                        </a:rPr>
                        <a:t> флаги</a:t>
                      </a:r>
                      <a:endParaRPr lang="ru-RU" sz="1600" b="1" dirty="0">
                        <a:effectLst/>
                      </a:endParaRP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Биты управления (6 бит) — включает двоичные коды или флаги, которые указывают назначение и функцию сегмента TCP.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2436611112"/>
                  </a:ext>
                </a:extLst>
              </a:tr>
              <a:tr h="561343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>
                          <a:effectLst/>
                        </a:rPr>
                        <a:t>Размер окна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>
                          <a:effectLst/>
                        </a:rPr>
                        <a:t>16-битное поле, используемое для указания количества байтов, которые могут быть приняты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574228208"/>
                  </a:ext>
                </a:extLst>
              </a:tr>
              <a:tr h="561343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>
                          <a:effectLst/>
                        </a:rPr>
                        <a:t>Контрольная сумма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16-битное поле, используемое для проверки ошибок заголовка и данных датаграммы.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171558268"/>
                  </a:ext>
                </a:extLst>
              </a:tr>
              <a:tr h="33994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>
                          <a:effectLst/>
                        </a:rPr>
                        <a:t>Срочно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16-битное поле, используемое для указания срочности содержащихся данных.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419997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974460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432048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1).Заголовок ТСР пакета 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964488" cy="6021288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Заголовок TCP пакета состоит из следующих полей:</a:t>
            </a:r>
          </a:p>
          <a:p>
            <a:pPr marL="514350" indent="-514350" algn="just">
              <a:buNone/>
            </a:pPr>
            <a:r>
              <a:rPr lang="ru-RU" dirty="0" smtClean="0">
                <a:solidFill>
                  <a:srgbClr val="002060"/>
                </a:solidFill>
              </a:rPr>
              <a:t>       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Порт отправителя.</a:t>
            </a:r>
          </a:p>
          <a:p>
            <a:pPr marL="514350" indent="-514350" algn="just">
              <a:buNone/>
            </a:pP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2. Порт получателя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514350" indent="-514350" algn="just">
              <a:buNone/>
            </a:pP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3.Порядковый номер в сегменте (</a:t>
            </a:r>
            <a:r>
              <a:rPr lang="ru-RU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marL="514350" indent="-514350" algn="just">
              <a:buNone/>
            </a:pP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smtClean="0"/>
              <a:t>В целях безопасности это значение генерируется случайным образом и может быть равно от 0 до 4294967295;</a:t>
            </a:r>
          </a:p>
          <a:p>
            <a:pPr marL="514350" indent="-514350" algn="just">
              <a:buNone/>
            </a:pP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4.Номер подтверждения (</a:t>
            </a:r>
            <a:r>
              <a:rPr lang="ru-RU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acknowledgment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514350" indent="-514350" algn="just">
              <a:buNone/>
            </a:pPr>
            <a:r>
              <a:rPr lang="ru-RU" dirty="0" smtClean="0"/>
              <a:t>Когда мы подтверждаем определённый пакет, в нем записывается 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</a:t>
            </a:r>
            <a:r>
              <a:rPr lang="ru-RU" dirty="0" smtClean="0"/>
              <a:t> подтверждаемого пакета.</a:t>
            </a:r>
          </a:p>
          <a:p>
            <a:pPr marL="514350" indent="-514350" algn="just">
              <a:buNone/>
            </a:pPr>
            <a:r>
              <a:rPr lang="ru-RU" dirty="0" smtClean="0"/>
              <a:t>      5.  </a:t>
            </a:r>
            <a:r>
              <a:rPr lang="ru-RU" dirty="0" smtClean="0">
                <a:solidFill>
                  <a:srgbClr val="002060"/>
                </a:solidFill>
              </a:rPr>
              <a:t>Длина заголовка (</a:t>
            </a:r>
            <a:r>
              <a:rPr lang="ru-RU" dirty="0" err="1" smtClean="0">
                <a:solidFill>
                  <a:srgbClr val="002060"/>
                </a:solidFill>
              </a:rPr>
              <a:t>data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err="1" smtClean="0">
                <a:solidFill>
                  <a:srgbClr val="002060"/>
                </a:solidFill>
              </a:rPr>
              <a:t>offset</a:t>
            </a:r>
            <a:r>
              <a:rPr lang="ru-RU" dirty="0" smtClean="0">
                <a:solidFill>
                  <a:srgbClr val="002060"/>
                </a:solidFill>
              </a:rPr>
              <a:t>).</a:t>
            </a:r>
          </a:p>
          <a:p>
            <a:pPr marL="514350" indent="-514350" algn="just">
              <a:buNone/>
            </a:pPr>
            <a:r>
              <a:rPr lang="ru-RU" dirty="0" smtClean="0"/>
              <a:t> В этом поле указывается длина заголовка TCP пакета и где начинаются фактические данные.</a:t>
            </a:r>
          </a:p>
          <a:p>
            <a:pPr marL="514350" indent="-514350" algn="just">
              <a:buNone/>
            </a:pP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6.   Зарезервированное поле</a:t>
            </a:r>
            <a:r>
              <a:rPr lang="ru-RU" dirty="0" smtClean="0"/>
              <a:t>.</a:t>
            </a:r>
          </a:p>
          <a:p>
            <a:pPr marL="514350" indent="-514350" algn="just">
              <a:buNone/>
            </a:pPr>
            <a:r>
              <a:rPr lang="ru-RU" dirty="0" smtClean="0"/>
              <a:t>  Эти биты зарезервированы для будущего использования.</a:t>
            </a:r>
          </a:p>
          <a:p>
            <a:pPr marL="514350" indent="-514350" algn="just">
              <a:buNone/>
            </a:pP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7.   Флаги (сообщения ). </a:t>
            </a:r>
          </a:p>
          <a:p>
            <a:pPr marL="514350" indent="-514350" algn="just">
              <a:buNone/>
            </a:pPr>
            <a:r>
              <a:rPr lang="ru-RU" dirty="0" smtClean="0"/>
              <a:t>  Необходимы для дополнительной функциональности.</a:t>
            </a:r>
          </a:p>
          <a:p>
            <a:pPr marL="514350" indent="-514350" algn="just">
              <a:buNone/>
            </a:pPr>
            <a:r>
              <a:rPr lang="ru-RU" dirty="0" smtClean="0"/>
              <a:t> Например, позволяют установить или разорвать соединение, включить или выключить защиту от перегрузки сети и тому подобное.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1). Заголовок ТСР пакета (2)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616530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sz="2000" dirty="0" smtClean="0">
                <a:solidFill>
                  <a:srgbClr val="002060"/>
                </a:solidFill>
              </a:rPr>
              <a:t>     </a:t>
            </a:r>
            <a:r>
              <a:rPr lang="ru-RU" sz="2400" dirty="0" smtClean="0">
                <a:solidFill>
                  <a:srgbClr val="002060"/>
                </a:solidFill>
              </a:rPr>
              <a:t>8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  Размер окна</a:t>
            </a:r>
            <a:r>
              <a:rPr lang="ru-RU" sz="2400" dirty="0" smtClean="0">
                <a:solidFill>
                  <a:srgbClr val="002060"/>
                </a:solidFill>
              </a:rPr>
              <a:t> (</a:t>
            </a:r>
            <a:r>
              <a:rPr lang="ru-RU" sz="2400" dirty="0" err="1" smtClean="0">
                <a:solidFill>
                  <a:srgbClr val="002060"/>
                </a:solidFill>
              </a:rPr>
              <a:t>Window</a:t>
            </a:r>
            <a:r>
              <a:rPr lang="ru-RU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err="1" smtClean="0">
                <a:solidFill>
                  <a:srgbClr val="002060"/>
                </a:solidFill>
              </a:rPr>
              <a:t>Size</a:t>
            </a:r>
            <a:r>
              <a:rPr lang="ru-RU" sz="2400" dirty="0" smtClean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ru-RU" sz="2400" dirty="0" smtClean="0"/>
              <a:t>     Указывается количество байт, считая от последнего номера подтверждения, которые готов принять отправитель данного пакета. То есть, какой у него в данный момент времени размер буфера.</a:t>
            </a:r>
          </a:p>
          <a:p>
            <a:pPr>
              <a:buNone/>
            </a:pPr>
            <a:r>
              <a:rPr lang="ru-RU" sz="2400" b="1" dirty="0" smtClean="0">
                <a:solidFill>
                  <a:srgbClr val="002060"/>
                </a:solidFill>
              </a:rPr>
              <a:t>  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  Контрольная сумма (</a:t>
            </a:r>
            <a:r>
              <a:rPr lang="ru-RU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Checksum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>
              <a:buNone/>
            </a:pPr>
            <a:r>
              <a:rPr lang="ru-RU" sz="2400" dirty="0" smtClean="0"/>
              <a:t>    Используется для проверки на наличие ошибок при приеме или передачи пакетов. Рассчитывается с учетом заголовка (кроме контрольной суммы) и самих данных.</a:t>
            </a:r>
          </a:p>
          <a:p>
            <a:pPr>
              <a:buNone/>
            </a:pPr>
            <a:r>
              <a:rPr lang="ru-RU" sz="2400" b="1" dirty="0" smtClean="0"/>
              <a:t>  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 Указатель срочности (</a:t>
            </a:r>
            <a:r>
              <a:rPr lang="ru-RU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Urgent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</a:t>
            </a:r>
            <a:r>
              <a:rPr lang="ru-RU" sz="2400" b="1" dirty="0" smtClean="0"/>
              <a:t>)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/>
              <a:t> </a:t>
            </a:r>
            <a:r>
              <a:rPr lang="ru-RU" sz="2400" dirty="0" smtClean="0"/>
              <a:t>    Используется, если стоит флаг  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URG</a:t>
            </a:r>
            <a:r>
              <a:rPr lang="ru-RU" sz="2400" dirty="0" smtClean="0"/>
              <a:t>. По этому значению определяются срочные данные и они сразу же передаются приложению. Остальные данные попадают в буфер.</a:t>
            </a:r>
          </a:p>
          <a:p>
            <a:pPr>
              <a:buNone/>
            </a:pPr>
            <a:r>
              <a:rPr lang="ru-RU" sz="2400" b="1" dirty="0" smtClean="0"/>
              <a:t>   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11.  Дополнительные опции</a:t>
            </a:r>
            <a:r>
              <a:rPr lang="ru-RU" sz="2400" dirty="0" smtClean="0"/>
              <a:t>. Необязательно, но используются почти всегда.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12.   Заполнение (</a:t>
            </a:r>
            <a:r>
              <a:rPr lang="ru-RU" sz="24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Padding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ru-RU" sz="2400" dirty="0" smtClean="0"/>
              <a:t>Дополняет заголовок, пока он не закончится на 32-разрядной границе. Всегда состоит только из нулей.</a:t>
            </a:r>
            <a:endParaRPr lang="ru-RU" sz="2400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ЗАГОЛОВОК  ТСР</a:t>
            </a:r>
            <a:endParaRPr lang="ru-RU" dirty="0"/>
          </a:p>
        </p:txBody>
      </p:sp>
      <p:pic>
        <p:nvPicPr>
          <p:cNvPr id="4098" name="Picture 2" descr="C:\Users\Юра\Downloads\поля загол TCP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0137" y="2153444"/>
            <a:ext cx="6943725" cy="34194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1.2). Флаги в заголовке ТСР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476672"/>
            <a:ext cx="8964488" cy="6381328"/>
          </a:xfrm>
        </p:spPr>
        <p:txBody>
          <a:bodyPr>
            <a:noAutofit/>
          </a:bodyPr>
          <a:lstStyle/>
          <a:p>
            <a:pPr algn="just"/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NS (</a:t>
            </a:r>
            <a:r>
              <a:rPr lang="ru-RU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Nonce</a:t>
            </a:r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</a:t>
            </a:r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algn="just">
              <a:buNone/>
            </a:pPr>
            <a:r>
              <a:rPr lang="ru-RU" sz="1800" dirty="0" smtClean="0"/>
              <a:t> Защита от случайного или злонамеренного изменения флагов.</a:t>
            </a:r>
          </a:p>
          <a:p>
            <a:pPr algn="just">
              <a:buNone/>
            </a:pPr>
            <a:r>
              <a:rPr lang="ru-RU" sz="1800" dirty="0" smtClean="0"/>
              <a:t> Используется для улучшения работы механизма явного уведомления о перегрузке </a:t>
            </a:r>
            <a:r>
              <a:rPr lang="ru-RU" sz="1800" dirty="0" smtClean="0">
                <a:solidFill>
                  <a:srgbClr val="002060"/>
                </a:solidFill>
              </a:rPr>
              <a:t>ECN</a:t>
            </a:r>
            <a:r>
              <a:rPr lang="ru-RU" sz="1800" dirty="0" smtClean="0"/>
              <a:t> (</a:t>
            </a:r>
            <a:r>
              <a:rPr lang="ru-RU" sz="1800" dirty="0" err="1" smtClean="0"/>
              <a:t>Explicit</a:t>
            </a:r>
            <a:r>
              <a:rPr lang="ru-RU" sz="1800" dirty="0" smtClean="0"/>
              <a:t> </a:t>
            </a:r>
            <a:r>
              <a:rPr lang="ru-RU" sz="1800" dirty="0" err="1" smtClean="0"/>
              <a:t>Congestion</a:t>
            </a:r>
            <a:r>
              <a:rPr lang="ru-RU" sz="1800" dirty="0" smtClean="0"/>
              <a:t> </a:t>
            </a:r>
            <a:r>
              <a:rPr lang="ru-RU" sz="1800" dirty="0" err="1" smtClean="0"/>
              <a:t>Notification</a:t>
            </a:r>
            <a:r>
              <a:rPr lang="ru-RU" sz="1800" dirty="0" smtClean="0"/>
              <a:t>).</a:t>
            </a:r>
          </a:p>
          <a:p>
            <a:pPr algn="just"/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CWR (</a:t>
            </a:r>
            <a:r>
              <a:rPr lang="ru-RU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Congestion</a:t>
            </a:r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</a:t>
            </a:r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Reduced</a:t>
            </a:r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algn="just">
              <a:buNone/>
            </a:pPr>
            <a:r>
              <a:rPr lang="ru-RU" sz="1800" dirty="0" smtClean="0"/>
              <a:t> Подтверждение получения пакета с флагом </a:t>
            </a:r>
            <a:r>
              <a:rPr lang="ru-RU" sz="1800" dirty="0" smtClean="0">
                <a:solidFill>
                  <a:srgbClr val="002060"/>
                </a:solidFill>
              </a:rPr>
              <a:t>ECE</a:t>
            </a:r>
            <a:r>
              <a:rPr lang="ru-RU" sz="1800" dirty="0" smtClean="0"/>
              <a:t> и включением механизма уменьшения перегрузки (</a:t>
            </a:r>
            <a:r>
              <a:rPr lang="ru-RU" sz="1800" dirty="0" err="1" smtClean="0">
                <a:solidFill>
                  <a:srgbClr val="002060"/>
                </a:solidFill>
              </a:rPr>
              <a:t>Congestion</a:t>
            </a:r>
            <a:r>
              <a:rPr lang="ru-RU" sz="1800" dirty="0" smtClean="0">
                <a:solidFill>
                  <a:srgbClr val="002060"/>
                </a:solidFill>
              </a:rPr>
              <a:t> Control</a:t>
            </a:r>
            <a:r>
              <a:rPr lang="ru-RU" sz="1800" dirty="0" smtClean="0"/>
              <a:t>). </a:t>
            </a:r>
          </a:p>
          <a:p>
            <a:pPr algn="just">
              <a:buNone/>
            </a:pPr>
            <a:r>
              <a:rPr lang="ru-RU" sz="1800" dirty="0" smtClean="0"/>
              <a:t>Этот механизм позволяет оптимизировать отправку пакетов в перегруженных сетях.</a:t>
            </a:r>
          </a:p>
          <a:p>
            <a:pPr algn="just"/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ECE (</a:t>
            </a:r>
            <a:r>
              <a:rPr lang="ru-RU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ECN-Echo</a:t>
            </a:r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algn="just">
              <a:buNone/>
            </a:pPr>
            <a:r>
              <a:rPr lang="ru-RU" sz="1800" dirty="0" smtClean="0"/>
              <a:t> Выполняет две функции:</a:t>
            </a:r>
          </a:p>
          <a:p>
            <a:pPr algn="just">
              <a:buNone/>
            </a:pPr>
            <a:r>
              <a:rPr lang="ru-RU" sz="1800" dirty="0" smtClean="0"/>
              <a:t>        -  Если соединение только устанавливается, то означает что отправитель поддерживает ECN.</a:t>
            </a:r>
          </a:p>
          <a:p>
            <a:pPr algn="just">
              <a:buNone/>
            </a:pPr>
            <a:r>
              <a:rPr lang="ru-RU" sz="1800" dirty="0" smtClean="0"/>
              <a:t>       -   В другом случае, это означает перегрузку сети (или предстоящую перегрузку) для отправителя.</a:t>
            </a:r>
          </a:p>
          <a:p>
            <a:pPr algn="just"/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URG (</a:t>
            </a:r>
            <a:r>
              <a:rPr lang="ru-RU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Urgent</a:t>
            </a:r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algn="just">
              <a:buNone/>
            </a:pPr>
            <a:r>
              <a:rPr lang="ru-RU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1800" dirty="0" smtClean="0"/>
              <a:t>Указатель важности. 0 если не используется, 1 – используется.</a:t>
            </a:r>
          </a:p>
          <a:p>
            <a:pPr algn="just"/>
            <a:r>
              <a:rPr lang="ru-RU" sz="1800" b="1" u="sng" dirty="0" smtClean="0">
                <a:solidFill>
                  <a:srgbClr val="002060"/>
                </a:solidFill>
              </a:rPr>
              <a:t>ACK. </a:t>
            </a:r>
          </a:p>
          <a:p>
            <a:pPr algn="just">
              <a:buNone/>
            </a:pPr>
            <a:r>
              <a:rPr lang="ru-RU" sz="1800" dirty="0" smtClean="0"/>
              <a:t>Устанавливается, когда принимающая сторона подтверждает полученный пакет. Чтобы отправитель знал, какие пакеты уже были доставлены получателю.</a:t>
            </a:r>
          </a:p>
          <a:p>
            <a:pPr algn="just">
              <a:buNone/>
            </a:pPr>
            <a:r>
              <a:rPr lang="ru-RU" sz="1800" dirty="0" smtClean="0"/>
              <a:t> При этом в поле </a:t>
            </a:r>
            <a:r>
              <a:rPr lang="ru-RU" sz="1800" dirty="0" err="1" smtClean="0">
                <a:solidFill>
                  <a:srgbClr val="002060"/>
                </a:solidFill>
              </a:rPr>
              <a:t>acknowledgment</a:t>
            </a:r>
            <a:r>
              <a:rPr lang="ru-RU" sz="1800" dirty="0" smtClean="0">
                <a:solidFill>
                  <a:srgbClr val="002060"/>
                </a:solidFill>
              </a:rPr>
              <a:t> </a:t>
            </a:r>
            <a:r>
              <a:rPr lang="ru-RU" sz="1800" dirty="0" err="1" smtClean="0">
                <a:solidFill>
                  <a:srgbClr val="002060"/>
                </a:solidFill>
              </a:rPr>
              <a:t>number</a:t>
            </a:r>
            <a:r>
              <a:rPr lang="ru-RU" sz="1800" dirty="0" smtClean="0"/>
              <a:t> записывается номер подтверждаемого пакета.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1.2). Флаги в заголовке ТСР(2)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Autofit/>
          </a:bodyPr>
          <a:lstStyle/>
          <a:p>
            <a:r>
              <a:rPr lang="ru-RU" sz="20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PSH </a:t>
            </a:r>
            <a:r>
              <a:rPr lang="ru-RU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ru-RU" sz="20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Push</a:t>
            </a:r>
            <a:r>
              <a:rPr lang="ru-RU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</a:t>
            </a:r>
            <a:r>
              <a:rPr lang="ru-RU" sz="2000" dirty="0" smtClean="0"/>
              <a:t>Обычно получатель не подтверждает каждый пакет при получении. Вместо этого пакеты накапливаются в буфере, пока не передадутся приложению. Данный флаг сообщает получателю, что нужно немедленно передать всё из буфера приложению и сразу же отправить подтверждение.</a:t>
            </a:r>
          </a:p>
          <a:p>
            <a:r>
              <a:rPr lang="ru-RU" sz="20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RST.</a:t>
            </a:r>
            <a:r>
              <a:rPr lang="ru-RU" sz="20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smtClean="0"/>
              <a:t>Сообщает о немедленном разрыве соединения. При этом соединение обрывается, а буфер очищается. Самые распространенные причины отправки пакета с таким флагом:</a:t>
            </a:r>
          </a:p>
          <a:p>
            <a:pPr lvl="1"/>
            <a:r>
              <a:rPr lang="ru-RU" sz="2000" dirty="0" smtClean="0"/>
              <a:t>ответ на пакет, полученный для закрытого </a:t>
            </a:r>
            <a:r>
              <a:rPr lang="ru-RU" sz="2000" dirty="0" err="1" smtClean="0"/>
              <a:t>сокета</a:t>
            </a:r>
            <a:r>
              <a:rPr lang="ru-RU" sz="2000" dirty="0" smtClean="0"/>
              <a:t>;</a:t>
            </a:r>
          </a:p>
          <a:p>
            <a:pPr lvl="1"/>
            <a:r>
              <a:rPr lang="ru-RU" sz="2000" dirty="0" smtClean="0"/>
              <a:t>пользователь сам прервал соединение (например, закрыв браузер, не дожидаясь ответа);</a:t>
            </a:r>
          </a:p>
          <a:p>
            <a:pPr lvl="1"/>
            <a:r>
              <a:rPr lang="ru-RU" sz="2000" dirty="0" smtClean="0"/>
              <a:t>соединение не было нормально закрыто, но находится в неактивном состоянии некоторое время.</a:t>
            </a:r>
          </a:p>
          <a:p>
            <a:r>
              <a:rPr lang="ru-RU" sz="20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</a:t>
            </a:r>
            <a:r>
              <a:rPr lang="ru-RU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ru-RU" sz="2000" dirty="0" smtClean="0"/>
              <a:t>Данный флаг означает начало соединения. Он также синхронизирует начальные номера. Первый пакет, отправленный с каждой стороны, должен иметь этот флаг.</a:t>
            </a:r>
          </a:p>
          <a:p>
            <a:r>
              <a:rPr lang="ru-RU" sz="20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</a:t>
            </a:r>
            <a:r>
              <a:rPr lang="ru-RU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ru-RU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smtClean="0"/>
              <a:t>Сообщает другой стороне что все пакеты были отправлены, и соединение пора завершить.</a:t>
            </a:r>
          </a:p>
          <a:p>
            <a:endParaRPr lang="ru-RU" sz="2000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738538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3.Закрепление номера порта ТСР. Группы номеров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Номера портов 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0" indent="0"/>
            <a:r>
              <a:rPr lang="ru-RU" sz="2800" dirty="0" smtClean="0">
                <a:solidFill>
                  <a:srgbClr val="000000"/>
                </a:solidFill>
              </a:rPr>
              <a:t>   Протоколы </a:t>
            </a:r>
            <a:r>
              <a:rPr lang="ru-RU" sz="2800" dirty="0">
                <a:solidFill>
                  <a:srgbClr val="000000"/>
                </a:solidFill>
              </a:rPr>
              <a:t>транспортного уровня TCP и UDP используют номера портов для </a:t>
            </a:r>
            <a:r>
              <a:rPr lang="ru-RU" sz="2800" dirty="0">
                <a:solidFill>
                  <a:srgbClr val="002060"/>
                </a:solidFill>
              </a:rPr>
              <a:t>управления несколькими одновременными диалогами</a:t>
            </a:r>
            <a:r>
              <a:rPr lang="ru-RU" sz="2800" dirty="0">
                <a:solidFill>
                  <a:srgbClr val="000000"/>
                </a:solidFill>
              </a:rPr>
              <a:t>.</a:t>
            </a:r>
          </a:p>
          <a:p>
            <a:pPr marL="0" indent="0"/>
            <a:r>
              <a:rPr lang="ru-RU" sz="2800" dirty="0" smtClean="0">
                <a:solidFill>
                  <a:srgbClr val="000000"/>
                </a:solidFill>
              </a:rPr>
              <a:t>    </a:t>
            </a:r>
            <a:r>
              <a:rPr lang="ru-RU" sz="2800" dirty="0" smtClean="0">
                <a:solidFill>
                  <a:srgbClr val="002060"/>
                </a:solidFill>
              </a:rPr>
              <a:t>Номер </a:t>
            </a:r>
            <a:r>
              <a:rPr lang="ru-RU" sz="2800" dirty="0">
                <a:solidFill>
                  <a:srgbClr val="002060"/>
                </a:solidFill>
              </a:rPr>
              <a:t>порта источника </a:t>
            </a:r>
            <a:r>
              <a:rPr lang="ru-RU" sz="2800" dirty="0">
                <a:solidFill>
                  <a:srgbClr val="000000"/>
                </a:solidFill>
              </a:rPr>
              <a:t>связан с исходным приложением на локальном </a:t>
            </a:r>
            <a:r>
              <a:rPr lang="ru-RU" sz="2800" dirty="0" smtClean="0">
                <a:solidFill>
                  <a:srgbClr val="000000"/>
                </a:solidFill>
              </a:rPr>
              <a:t>узле.</a:t>
            </a:r>
          </a:p>
          <a:p>
            <a:pPr marL="0" indent="0"/>
            <a:r>
              <a:rPr lang="ru-RU" sz="2800" dirty="0" smtClean="0">
                <a:solidFill>
                  <a:srgbClr val="002060"/>
                </a:solidFill>
              </a:rPr>
              <a:t>    Номер </a:t>
            </a:r>
            <a:r>
              <a:rPr lang="ru-RU" sz="2800" dirty="0">
                <a:solidFill>
                  <a:srgbClr val="002060"/>
                </a:solidFill>
              </a:rPr>
              <a:t>порта назначения </a:t>
            </a:r>
            <a:r>
              <a:rPr lang="ru-RU" sz="2800" dirty="0">
                <a:solidFill>
                  <a:srgbClr val="000000"/>
                </a:solidFill>
              </a:rPr>
              <a:t>связан с целевым приложением на удаленном узле.</a:t>
            </a:r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xmlns="" id="{EC1712BE-425B-468A-9840-CA0161D62B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7477" y="4221088"/>
            <a:ext cx="8156523" cy="209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123135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3.1 Понятие порта в ТСР (1)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688632"/>
          </a:xfrm>
        </p:spPr>
        <p:txBody>
          <a:bodyPr>
            <a:normAutofit/>
          </a:bodyPr>
          <a:lstStyle/>
          <a:p>
            <a:r>
              <a:rPr lang="ru-RU" sz="2800" u="sng" dirty="0" smtClean="0">
                <a:solidFill>
                  <a:srgbClr val="002060"/>
                </a:solidFill>
              </a:rPr>
              <a:t>Задача протокола </a:t>
            </a:r>
            <a:r>
              <a:rPr lang="en-US" sz="2800" u="sng" dirty="0" smtClean="0">
                <a:solidFill>
                  <a:srgbClr val="002060"/>
                </a:solidFill>
              </a:rPr>
              <a:t>I</a:t>
            </a:r>
            <a:r>
              <a:rPr lang="en-US" sz="2800" dirty="0" smtClean="0">
                <a:solidFill>
                  <a:srgbClr val="002060"/>
                </a:solidFill>
              </a:rPr>
              <a:t>P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– передача данных в составной сети между парой  сетевых интерфейсов. </a:t>
            </a:r>
          </a:p>
          <a:p>
            <a:r>
              <a:rPr lang="ru-RU" sz="2800" u="sng" dirty="0" smtClean="0">
                <a:solidFill>
                  <a:srgbClr val="002060"/>
                </a:solidFill>
              </a:rPr>
              <a:t>Задача протокола ТСР </a:t>
            </a:r>
            <a:r>
              <a:rPr lang="ru-RU" sz="2800" dirty="0" smtClean="0"/>
              <a:t>– передача данных между парой прикладных процессов, выполняющихся в сети.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Пакет</a:t>
            </a:r>
            <a:r>
              <a:rPr lang="ru-RU" sz="2800" dirty="0" smtClean="0"/>
              <a:t> средствами протокола </a:t>
            </a:r>
            <a:r>
              <a:rPr lang="en-US" sz="2800" dirty="0" smtClean="0"/>
              <a:t>IP </a:t>
            </a:r>
            <a:r>
              <a:rPr lang="ru-RU" sz="2800" dirty="0" smtClean="0">
                <a:solidFill>
                  <a:srgbClr val="002060"/>
                </a:solidFill>
              </a:rPr>
              <a:t>доставлен на сетевой интерфейс</a:t>
            </a:r>
            <a:r>
              <a:rPr lang="ru-RU" sz="2800" dirty="0" smtClean="0"/>
              <a:t> компьютера-получателя , данные надо перенаправить конкретному процессу получателю        ( протокол </a:t>
            </a:r>
            <a:r>
              <a:rPr lang="ru-RU" sz="2800" u="sng" dirty="0" smtClean="0">
                <a:solidFill>
                  <a:srgbClr val="002060"/>
                </a:solidFill>
              </a:rPr>
              <a:t>ТСР)</a:t>
            </a:r>
            <a:r>
              <a:rPr lang="ru-RU" sz="2800" dirty="0" smtClean="0"/>
              <a:t> .</a:t>
            </a:r>
          </a:p>
          <a:p>
            <a:pPr>
              <a:buNone/>
            </a:pPr>
            <a:r>
              <a:rPr lang="ru-RU" sz="2800" dirty="0" smtClean="0"/>
              <a:t>Каждый компьютер может выполнять несколько процессов, а     </a:t>
            </a:r>
            <a:r>
              <a:rPr lang="ru-RU" sz="2800" dirty="0" smtClean="0">
                <a:solidFill>
                  <a:srgbClr val="002060"/>
                </a:solidFill>
              </a:rPr>
              <a:t>прикладной процесс может иметь несколько </a:t>
            </a:r>
            <a:r>
              <a:rPr lang="ru-RU" sz="2800" u="sng" dirty="0" smtClean="0">
                <a:solidFill>
                  <a:srgbClr val="002060"/>
                </a:solidFill>
              </a:rPr>
              <a:t>точек входа</a:t>
            </a:r>
            <a:r>
              <a:rPr lang="ru-RU" sz="2800" dirty="0" smtClean="0">
                <a:solidFill>
                  <a:srgbClr val="002060"/>
                </a:solidFill>
              </a:rPr>
              <a:t>, </a:t>
            </a:r>
            <a:r>
              <a:rPr lang="ru-RU" sz="2800" dirty="0" smtClean="0"/>
              <a:t> которые являются</a:t>
            </a:r>
          </a:p>
          <a:p>
            <a:pPr>
              <a:buNone/>
            </a:pPr>
            <a:r>
              <a:rPr lang="ru-RU" sz="2800" dirty="0" smtClean="0"/>
              <a:t>  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u="sng" dirty="0" smtClean="0">
                <a:solidFill>
                  <a:srgbClr val="002060"/>
                </a:solidFill>
              </a:rPr>
              <a:t>адресами назначения для пакета данных.</a:t>
            </a:r>
          </a:p>
          <a:p>
            <a:pPr>
              <a:buNone/>
            </a:pPr>
            <a:endParaRPr lang="ru-RU" sz="2800" dirty="0" smtClean="0"/>
          </a:p>
          <a:p>
            <a:pPr>
              <a:buNone/>
            </a:pPr>
            <a:endParaRPr lang="ru-RU" sz="2800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Понятие порта </a:t>
            </a:r>
            <a:r>
              <a:rPr lang="ru-RU" smtClean="0">
                <a:solidFill>
                  <a:srgbClr val="7030A0"/>
                </a:solidFill>
              </a:rPr>
              <a:t>(2), (пояснение</a:t>
            </a:r>
            <a:r>
              <a:rPr lang="ru-RU" dirty="0" smtClean="0">
                <a:solidFill>
                  <a:srgbClr val="7030A0"/>
                </a:solidFill>
              </a:rPr>
              <a:t>!!)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686800" cy="5877273"/>
          </a:xfrm>
        </p:spPr>
        <p:txBody>
          <a:bodyPr/>
          <a:lstStyle/>
          <a:p>
            <a:r>
              <a:rPr lang="en-US" sz="2400" dirty="0" smtClean="0"/>
              <a:t>IP</a:t>
            </a:r>
            <a:r>
              <a:rPr lang="ru-RU" sz="2400" dirty="0" smtClean="0"/>
              <a:t> адрес состоит из двух частей:</a:t>
            </a:r>
          </a:p>
          <a:p>
            <a:pPr>
              <a:buNone/>
            </a:pPr>
            <a:r>
              <a:rPr lang="ru-RU" sz="2400" dirty="0" smtClean="0"/>
              <a:t>        - адрес сети (аналогично названию улицы)</a:t>
            </a:r>
          </a:p>
          <a:p>
            <a:pPr>
              <a:buNone/>
            </a:pPr>
            <a:r>
              <a:rPr lang="ru-RU" sz="2400" dirty="0" smtClean="0"/>
              <a:t>         - адрес хоста(аналог. номеру дома)</a:t>
            </a:r>
          </a:p>
          <a:p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Номер порт</a:t>
            </a:r>
            <a:r>
              <a:rPr lang="ru-RU" sz="2400" dirty="0" smtClean="0">
                <a:solidFill>
                  <a:srgbClr val="002060"/>
                </a:solidFill>
              </a:rPr>
              <a:t>а – это маршрутная информация внутри адреса , как дополнение к адресу </a:t>
            </a:r>
            <a:r>
              <a:rPr lang="ru-RU" sz="2400" dirty="0" smtClean="0"/>
              <a:t>(название улицы и дома ).</a:t>
            </a:r>
          </a:p>
          <a:p>
            <a:r>
              <a:rPr lang="ru-RU" sz="2400" dirty="0" smtClean="0"/>
              <a:t> Разные приложения – это разные люди живущие в доме .</a:t>
            </a:r>
          </a:p>
          <a:p>
            <a:r>
              <a:rPr lang="ru-RU" sz="2400" dirty="0" smtClean="0"/>
              <a:t> 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Порт – это точка логического соединения .</a:t>
            </a:r>
          </a:p>
          <a:p>
            <a:r>
              <a:rPr lang="ru-RU" sz="2400" u="sng" dirty="0" smtClean="0">
                <a:solidFill>
                  <a:srgbClr val="002060"/>
                </a:solidFill>
              </a:rPr>
              <a:t>В ТСР и </a:t>
            </a:r>
            <a:r>
              <a:rPr lang="en-US" sz="2400" u="sng" dirty="0" smtClean="0">
                <a:solidFill>
                  <a:srgbClr val="002060"/>
                </a:solidFill>
              </a:rPr>
              <a:t>UDP</a:t>
            </a:r>
            <a:r>
              <a:rPr lang="ru-RU" sz="2400" u="sng" dirty="0" smtClean="0">
                <a:solidFill>
                  <a:srgbClr val="002060"/>
                </a:solidFill>
              </a:rPr>
              <a:t> порты используются для идентификации конкретного приложения , передающего или принимающего сообщения</a:t>
            </a:r>
            <a:r>
              <a:rPr lang="ru-RU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Наиболее распространенные приложения Интернета используют предопределенные номера портов.</a:t>
            </a:r>
          </a:p>
          <a:p>
            <a:endParaRPr lang="ru-RU" dirty="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Понятие порта в ТСР ( другое пояснение</a:t>
            </a:r>
            <a:r>
              <a:rPr lang="ru-RU" dirty="0" smtClean="0">
                <a:solidFill>
                  <a:srgbClr val="7030A0"/>
                </a:solidFill>
              </a:rPr>
              <a:t>)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64704"/>
            <a:ext cx="8686800" cy="583264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Пакеты , поступающие на транспортный уровень , организуются операционной системой в </a:t>
            </a:r>
            <a:r>
              <a:rPr lang="ru-RU" dirty="0" smtClean="0">
                <a:solidFill>
                  <a:srgbClr val="002060"/>
                </a:solidFill>
              </a:rPr>
              <a:t>виде множества очередей к точкам входа различных прикладных процессов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r>
              <a:rPr lang="ru-RU" i="1" dirty="0" smtClean="0">
                <a:solidFill>
                  <a:srgbClr val="002060"/>
                </a:solidFill>
              </a:rPr>
              <a:t>В терминологии ТСР такие очереди называются портами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u="sng" dirty="0" smtClean="0"/>
              <a:t>Порт определяет приложение в пределах компьютера</a:t>
            </a:r>
            <a:r>
              <a:rPr lang="ru-RU" dirty="0" smtClean="0"/>
              <a:t>.</a:t>
            </a:r>
          </a:p>
          <a:p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Существует 2 способа присвоения порта приложению:</a:t>
            </a:r>
          </a:p>
          <a:p>
            <a:pPr>
              <a:buNone/>
            </a:pP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- централизованный;</a:t>
            </a:r>
          </a:p>
          <a:p>
            <a:pPr>
              <a:buNone/>
            </a:pP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- локальный  .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3.2 Закрепление номера порта 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892480" cy="602128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     </a:t>
            </a:r>
            <a:r>
              <a:rPr lang="ru-RU" dirty="0" smtClean="0">
                <a:solidFill>
                  <a:srgbClr val="002060"/>
                </a:solidFill>
              </a:rPr>
              <a:t>Для каждого способа закреплен свой диапазон номеров портов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   - для централизованного от 0 до 1023;</a:t>
            </a:r>
          </a:p>
          <a:p>
            <a:pPr>
              <a:buNone/>
            </a:pPr>
            <a:r>
              <a:rPr lang="ru-RU" dirty="0" smtClean="0"/>
              <a:t>       -    для локального- от1023 до 65535.</a:t>
            </a:r>
          </a:p>
          <a:p>
            <a:pPr>
              <a:buNone/>
            </a:pPr>
            <a:r>
              <a:rPr lang="ru-RU" dirty="0" smtClean="0"/>
              <a:t>1) Если процессы </a:t>
            </a:r>
            <a:r>
              <a:rPr lang="ru-RU" dirty="0" smtClean="0">
                <a:solidFill>
                  <a:srgbClr val="002060"/>
                </a:solidFill>
              </a:rPr>
              <a:t>– это </a:t>
            </a:r>
            <a:r>
              <a:rPr lang="ru-RU" u="sng" dirty="0" smtClean="0">
                <a:solidFill>
                  <a:srgbClr val="002060"/>
                </a:solidFill>
              </a:rPr>
              <a:t>популярные общедоступные </a:t>
            </a:r>
            <a:r>
              <a:rPr lang="ru-RU" dirty="0" smtClean="0"/>
              <a:t>службы, такие как </a:t>
            </a:r>
            <a:r>
              <a:rPr lang="en-US" dirty="0" smtClean="0"/>
              <a:t>FTP, HTTP, DNS </a:t>
            </a:r>
            <a:r>
              <a:rPr lang="ru-RU" dirty="0" smtClean="0"/>
              <a:t>и т.п. за ними </a:t>
            </a:r>
            <a:r>
              <a:rPr lang="ru-RU" u="sng" dirty="0" smtClean="0">
                <a:solidFill>
                  <a:srgbClr val="002060"/>
                </a:solidFill>
              </a:rPr>
              <a:t>закрепляются стандартные номера </a:t>
            </a:r>
            <a:r>
              <a:rPr lang="ru-RU" dirty="0" smtClean="0"/>
              <a:t>– хорошо известные.</a:t>
            </a:r>
          </a:p>
          <a:p>
            <a:pPr>
              <a:buNone/>
            </a:pPr>
            <a:r>
              <a:rPr lang="ru-RU" dirty="0" smtClean="0"/>
              <a:t>2) </a:t>
            </a:r>
            <a:r>
              <a:rPr lang="ru-RU" dirty="0" smtClean="0">
                <a:solidFill>
                  <a:srgbClr val="002060"/>
                </a:solidFill>
              </a:rPr>
              <a:t>Централизованное присвоение службам номеров портов в</a:t>
            </a:r>
            <a:r>
              <a:rPr lang="ru-RU" dirty="0" smtClean="0"/>
              <a:t>ыполняется </a:t>
            </a:r>
            <a:r>
              <a:rPr lang="en-US" dirty="0" smtClean="0"/>
              <a:t> </a:t>
            </a:r>
            <a:r>
              <a:rPr lang="ru-RU" dirty="0" smtClean="0"/>
              <a:t>организацией </a:t>
            </a:r>
            <a:r>
              <a:rPr lang="en-US" dirty="0" smtClean="0"/>
              <a:t>IANA</a:t>
            </a:r>
            <a:r>
              <a:rPr lang="ru-RU" dirty="0" smtClean="0"/>
              <a:t> и они закрепляются в стандартах Интернета </a:t>
            </a:r>
            <a:r>
              <a:rPr lang="ru-RU" dirty="0" smtClean="0">
                <a:solidFill>
                  <a:srgbClr val="002060"/>
                </a:solidFill>
              </a:rPr>
              <a:t>для</a:t>
            </a:r>
            <a:r>
              <a:rPr lang="ru-RU" dirty="0" smtClean="0"/>
              <a:t> </a:t>
            </a:r>
            <a:r>
              <a:rPr lang="ru-RU" u="sng" dirty="0" smtClean="0">
                <a:solidFill>
                  <a:srgbClr val="002060"/>
                </a:solidFill>
              </a:rPr>
              <a:t>распространенных служб</a:t>
            </a:r>
            <a:r>
              <a:rPr lang="ru-RU" dirty="0" smtClean="0"/>
              <a:t>, например,</a:t>
            </a:r>
          </a:p>
          <a:p>
            <a:pPr>
              <a:buNone/>
            </a:pPr>
            <a:r>
              <a:rPr lang="ru-RU" dirty="0" smtClean="0"/>
              <a:t>    номер 21 – закреплен за службой удаленных файлов</a:t>
            </a:r>
            <a:r>
              <a:rPr lang="en-US" dirty="0" smtClean="0"/>
              <a:t> FTP</a:t>
            </a:r>
            <a:r>
              <a:rPr lang="ru-RU" dirty="0" smtClean="0"/>
              <a:t>, </a:t>
            </a:r>
          </a:p>
          <a:p>
            <a:pPr>
              <a:buNone/>
            </a:pPr>
            <a:r>
              <a:rPr lang="ru-RU" dirty="0" smtClean="0"/>
              <a:t>    номер 23 –за службой удаленного управления </a:t>
            </a:r>
            <a:r>
              <a:rPr lang="en-US" dirty="0" smtClean="0"/>
              <a:t>telnet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dirty="0" smtClean="0"/>
              <a:t>3) </a:t>
            </a:r>
            <a:r>
              <a:rPr lang="ru-RU" u="sng" dirty="0" smtClean="0">
                <a:solidFill>
                  <a:srgbClr val="002060"/>
                </a:solidFill>
              </a:rPr>
              <a:t>Локальные номера присваивают для мало распространенных служб и назначаются динамически </a:t>
            </a:r>
            <a:r>
              <a:rPr lang="ru-RU" u="sng" dirty="0" smtClean="0"/>
              <a:t>.</a:t>
            </a:r>
          </a:p>
          <a:p>
            <a:endParaRPr lang="ru-RU" u="sng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3.2 Закрепление номера порта  ТСР (2)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692696"/>
            <a:ext cx="8686800" cy="6165304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При поступлении запроса от приложения </a:t>
            </a:r>
            <a:r>
              <a:rPr lang="ru-RU" sz="2400" dirty="0" smtClean="0"/>
              <a:t>,  выполняемого на  данном компьютере, операционная система выделяет ему </a:t>
            </a:r>
            <a:r>
              <a:rPr lang="ru-RU" sz="2400" dirty="0" smtClean="0">
                <a:solidFill>
                  <a:srgbClr val="002060"/>
                </a:solidFill>
              </a:rPr>
              <a:t>первый свободный номер</a:t>
            </a:r>
            <a:r>
              <a:rPr lang="ru-RU" sz="2400" dirty="0" smtClean="0"/>
              <a:t>. </a:t>
            </a:r>
            <a:r>
              <a:rPr lang="ru-RU" sz="2400" i="1" dirty="0" smtClean="0">
                <a:solidFill>
                  <a:srgbClr val="002060"/>
                </a:solidFill>
              </a:rPr>
              <a:t>Такие номера называют динамическими .</a:t>
            </a:r>
          </a:p>
          <a:p>
            <a:r>
              <a:rPr lang="ru-RU" sz="2400" dirty="0" smtClean="0"/>
              <a:t>В дальнейшем все сетевые приложения должны адресоваться к данному приложению с  указанием назначенного ему номера порта.</a:t>
            </a:r>
          </a:p>
          <a:p>
            <a:r>
              <a:rPr lang="ru-RU" sz="2400" dirty="0" smtClean="0"/>
              <a:t>После завершения работы приложением , выделенный номер возвращается в список свободных номеров и может быть назначен другому приложению. </a:t>
            </a:r>
          </a:p>
          <a:p>
            <a:r>
              <a:rPr lang="ru-RU" sz="2400" dirty="0" smtClean="0"/>
              <a:t>П</a:t>
            </a:r>
            <a:r>
              <a:rPr lang="ru-RU" sz="2400" dirty="0" smtClean="0">
                <a:solidFill>
                  <a:srgbClr val="002060"/>
                </a:solidFill>
              </a:rPr>
              <a:t>риложения </a:t>
            </a:r>
            <a:r>
              <a:rPr lang="ru-RU" sz="2400" dirty="0" smtClean="0"/>
              <a:t>, передающие данные на уровень </a:t>
            </a:r>
            <a:r>
              <a:rPr lang="en-US" sz="2400" dirty="0" smtClean="0"/>
              <a:t>IP </a:t>
            </a:r>
            <a:r>
              <a:rPr lang="ru-RU" sz="2400" dirty="0" smtClean="0"/>
              <a:t>, используя протокол </a:t>
            </a:r>
            <a:r>
              <a:rPr lang="en-US" sz="2400" dirty="0" smtClean="0"/>
              <a:t>UDP </a:t>
            </a:r>
            <a:r>
              <a:rPr lang="ru-RU" sz="2400" dirty="0" smtClean="0"/>
              <a:t>, получают номера </a:t>
            </a:r>
            <a:r>
              <a:rPr lang="ru-RU" sz="2400" dirty="0" smtClean="0">
                <a:solidFill>
                  <a:srgbClr val="002060"/>
                </a:solidFill>
              </a:rPr>
              <a:t>,называемые портами </a:t>
            </a:r>
            <a:r>
              <a:rPr lang="en-US" sz="2400" dirty="0" smtClean="0">
                <a:solidFill>
                  <a:srgbClr val="002060"/>
                </a:solidFill>
              </a:rPr>
              <a:t>UDP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Аналогично, приложениям, обращающемся к протоколу ТСР, </a:t>
            </a:r>
            <a:r>
              <a:rPr lang="ru-RU" sz="2400" dirty="0" smtClean="0">
                <a:solidFill>
                  <a:srgbClr val="002060"/>
                </a:solidFill>
              </a:rPr>
              <a:t>выделяются порты ТСР.</a:t>
            </a:r>
          </a:p>
          <a:p>
            <a:r>
              <a:rPr lang="ru-RU" sz="2400" dirty="0" smtClean="0"/>
              <a:t>Это могут быть и назначенные и динамические номера.</a:t>
            </a:r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26785"/>
            <a:ext cx="8158131" cy="637919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3.3 Группы </a:t>
            </a:r>
            <a:r>
              <a:rPr lang="ru-RU" sz="4000" dirty="0">
                <a:solidFill>
                  <a:srgbClr val="7030A0"/>
                </a:solidFill>
              </a:rPr>
              <a:t>номеров портов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DF331542-2CD8-CD45-BF9A-539BF0F0F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57929781"/>
              </p:ext>
            </p:extLst>
          </p:nvPr>
        </p:nvGraphicFramePr>
        <p:xfrm>
          <a:off x="35496" y="764705"/>
          <a:ext cx="9108504" cy="6118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654">
                  <a:extLst>
                    <a:ext uri="{9D8B030D-6E8A-4147-A177-3AD203B41FA5}">
                      <a16:colId xmlns:a16="http://schemas.microsoft.com/office/drawing/2014/main" xmlns="" val="2108364386"/>
                    </a:ext>
                  </a:extLst>
                </a:gridCol>
                <a:gridCol w="1522034">
                  <a:extLst>
                    <a:ext uri="{9D8B030D-6E8A-4147-A177-3AD203B41FA5}">
                      <a16:colId xmlns:a16="http://schemas.microsoft.com/office/drawing/2014/main" xmlns="" val="866492760"/>
                    </a:ext>
                  </a:extLst>
                </a:gridCol>
                <a:gridCol w="5845816">
                  <a:extLst>
                    <a:ext uri="{9D8B030D-6E8A-4147-A177-3AD203B41FA5}">
                      <a16:colId xmlns:a16="http://schemas.microsoft.com/office/drawing/2014/main" xmlns="" val="313730123"/>
                    </a:ext>
                  </a:extLst>
                </a:gridCol>
              </a:tblGrid>
              <a:tr h="80994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1" dirty="0">
                          <a:effectLst/>
                        </a:rPr>
                        <a:t>Группа портов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1" dirty="0">
                          <a:effectLst/>
                        </a:rPr>
                        <a:t>Диапазон номеров портов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b="1" dirty="0">
                          <a:effectLst/>
                        </a:rPr>
                        <a:t>Описание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297247114"/>
                  </a:ext>
                </a:extLst>
              </a:tr>
              <a:tr h="1635267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Общеизвестные порты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b="1" dirty="0" smtClean="0">
                          <a:effectLst/>
                        </a:rPr>
                        <a:t>  От </a:t>
                      </a:r>
                      <a:r>
                        <a:rPr lang="ru-RU" sz="1600" b="1" dirty="0">
                          <a:effectLst/>
                        </a:rPr>
                        <a:t>0 до 1023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effectLst/>
                        </a:rPr>
                        <a:t>  Они </a:t>
                      </a:r>
                      <a:r>
                        <a:rPr lang="ru-RU" sz="1600" b="0" dirty="0">
                          <a:effectLst/>
                        </a:rPr>
                        <a:t>обычно используются приложениями, такими как веб-браузеры и почтовые клиенты, а также клиентами удаленного доступа.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effectLst/>
                        </a:rPr>
                        <a:t>   Определенные </a:t>
                      </a:r>
                      <a:r>
                        <a:rPr lang="ru-RU" sz="1600" b="0" dirty="0">
                          <a:effectLst/>
                        </a:rPr>
                        <a:t>хорошо известные порты для общих серверных приложений позволяют клиентам легко определить требуемую службу.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3767578845"/>
                  </a:ext>
                </a:extLst>
              </a:tr>
              <a:tr h="214703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b="1" dirty="0" smtClean="0">
                          <a:effectLst/>
                        </a:rPr>
                        <a:t>Зарегистриро-</a:t>
                      </a:r>
                    </a:p>
                    <a:p>
                      <a:pPr algn="ctr" rtl="0" fontAlgn="ctr"/>
                      <a:r>
                        <a:rPr lang="ru-RU" sz="1600" b="1" dirty="0" smtClean="0">
                          <a:effectLst/>
                        </a:rPr>
                        <a:t>ванные </a:t>
                      </a:r>
                      <a:r>
                        <a:rPr lang="ru-RU" sz="1600" b="1" dirty="0">
                          <a:effectLst/>
                        </a:rPr>
                        <a:t>порты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b="1" dirty="0" smtClean="0">
                          <a:effectLst/>
                        </a:rPr>
                        <a:t>   От </a:t>
                      </a:r>
                      <a:r>
                        <a:rPr lang="ru-RU" sz="1600" b="1" dirty="0">
                          <a:effectLst/>
                        </a:rPr>
                        <a:t>1024 до </a:t>
                      </a:r>
                      <a:r>
                        <a:rPr lang="ru-RU" sz="1600" b="1" dirty="0" smtClean="0">
                          <a:effectLst/>
                        </a:rPr>
                        <a:t>          49151</a:t>
                      </a:r>
                      <a:endParaRPr lang="ru-RU" sz="1600" b="1" dirty="0">
                        <a:effectLst/>
                      </a:endParaRP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effectLst/>
                        </a:rPr>
                        <a:t>   IANA </a:t>
                      </a:r>
                      <a:r>
                        <a:rPr lang="ru-RU" sz="1600" b="0" dirty="0">
                          <a:effectLst/>
                        </a:rPr>
                        <a:t>по запросу организаций присваивает данные порты для каких-либо специфичных процессов или приложений.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effectLst/>
                        </a:rPr>
                        <a:t>   Эти </a:t>
                      </a:r>
                      <a:r>
                        <a:rPr lang="ru-RU" sz="1600" b="0" dirty="0">
                          <a:effectLst/>
                        </a:rPr>
                        <a:t>процессы в основном представляют собой отдельные приложения, которые пользователь решил установить, а не широко распространенные приложения, которым обычно присваивают общеизвестные номера портов.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effectLst/>
                        </a:rPr>
                        <a:t>   Например</a:t>
                      </a:r>
                      <a:r>
                        <a:rPr lang="ru-RU" sz="1600" b="0" dirty="0">
                          <a:effectLst/>
                        </a:rPr>
                        <a:t>, Cisco зарегистрировал порт 1812 для процесса аутентификации сервера RADIUS.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370143426"/>
                  </a:ext>
                </a:extLst>
              </a:tr>
              <a:tr h="1526578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Частные </a:t>
                      </a:r>
                      <a:r>
                        <a:rPr lang="ru-RU" sz="1600" b="0" dirty="0">
                          <a:effectLst/>
                        </a:rPr>
                        <a:t>и/или</a:t>
                      </a:r>
                      <a:r>
                        <a:rPr lang="ru-RU" sz="1600" b="1" dirty="0">
                          <a:effectLst/>
                        </a:rPr>
                        <a:t> динамические порты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b="1" dirty="0">
                          <a:effectLst/>
                        </a:rPr>
                        <a:t>От 49152 до 65535</a:t>
                      </a:r>
                    </a:p>
                  </a:txBody>
                  <a:tcPr marL="35719" marR="35719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effectLst/>
                        </a:rPr>
                        <a:t>   Эти </a:t>
                      </a:r>
                      <a:r>
                        <a:rPr lang="ru-RU" sz="1600" b="0" dirty="0">
                          <a:effectLst/>
                        </a:rPr>
                        <a:t>порты также известны как </a:t>
                      </a:r>
                      <a:r>
                        <a:rPr lang="ru-RU" sz="1600" b="0" i="1" dirty="0">
                          <a:effectLst/>
                        </a:rPr>
                        <a:t>эфемерные порты</a:t>
                      </a:r>
                      <a:r>
                        <a:rPr lang="ru-RU" sz="1600" b="0" dirty="0">
                          <a:effectLst/>
                        </a:rPr>
                        <a:t>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effectLst/>
                        </a:rPr>
                        <a:t>  Операционная </a:t>
                      </a:r>
                      <a:r>
                        <a:rPr lang="ru-RU" sz="1600" b="0" dirty="0">
                          <a:effectLst/>
                        </a:rPr>
                        <a:t>система клиента обычно присваивает номера портов динамически при инициировании подключения к службе.</a:t>
                      </a:r>
                    </a:p>
                    <a:p>
                      <a:pPr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 smtClean="0">
                          <a:effectLst/>
                        </a:rPr>
                        <a:t>  После </a:t>
                      </a:r>
                      <a:r>
                        <a:rPr lang="ru-RU" sz="1600" b="0" dirty="0">
                          <a:effectLst/>
                        </a:rPr>
                        <a:t>чего такой порт используется для определения клиентского приложения во время обмена данными.</a:t>
                      </a:r>
                    </a:p>
                  </a:txBody>
                  <a:tcPr marL="35719" marR="35719" marT="47625" marB="47625" anchor="ctr"/>
                </a:tc>
                <a:extLst>
                  <a:ext uri="{0D108BD9-81ED-4DB2-BD59-A6C34878D82A}">
                    <a16:rowId xmlns:a16="http://schemas.microsoft.com/office/drawing/2014/main" xmlns="" val="1654859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911691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26785"/>
            <a:ext cx="8712968" cy="709927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Группы номеров портов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A94BA23F-8399-A849-B4AF-225C585B5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22039281"/>
              </p:ext>
            </p:extLst>
          </p:nvPr>
        </p:nvGraphicFramePr>
        <p:xfrm>
          <a:off x="107504" y="764701"/>
          <a:ext cx="8875131" cy="5922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020">
                  <a:extLst>
                    <a:ext uri="{9D8B030D-6E8A-4147-A177-3AD203B41FA5}">
                      <a16:colId xmlns:a16="http://schemas.microsoft.com/office/drawing/2014/main" xmlns="" val="1156822306"/>
                    </a:ext>
                  </a:extLst>
                </a:gridCol>
                <a:gridCol w="1107931">
                  <a:extLst>
                    <a:ext uri="{9D8B030D-6E8A-4147-A177-3AD203B41FA5}">
                      <a16:colId xmlns:a16="http://schemas.microsoft.com/office/drawing/2014/main" xmlns="" val="3577741380"/>
                    </a:ext>
                  </a:extLst>
                </a:gridCol>
                <a:gridCol w="6436180">
                  <a:extLst>
                    <a:ext uri="{9D8B030D-6E8A-4147-A177-3AD203B41FA5}">
                      <a16:colId xmlns:a16="http://schemas.microsoft.com/office/drawing/2014/main" xmlns="" val="4011775180"/>
                    </a:ext>
                  </a:extLst>
                </a:gridCol>
              </a:tblGrid>
              <a:tr h="397718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Номер порта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Протокол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Применение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2150830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20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File Transfer Protocol (FTP) - Передача данных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47324189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21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File Transfer Protocol (FTP) - Управление передачей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826436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22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Протокол Secure Shell (SSH)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32563834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23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Программа Telnet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50596279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25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Протокол SMTP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17695529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53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UDP, 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Служба доменных имен (DNS)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99667743"/>
                  </a:ext>
                </a:extLst>
              </a:tr>
              <a:tr h="615257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67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UDP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Сервер протокола динамической конфигурации узла (Dynamic Host Configuration Protocol, DHCP)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6902555"/>
                  </a:ext>
                </a:extLst>
              </a:tr>
              <a:tr h="615257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68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UDP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Dynamic Host Configuration Protocol (Протокол динамической настройки узла) (клиент)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6869978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69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UDP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Простейший протокол передачи файлов (TFTP)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78081186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80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Протокол HTTP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74378529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110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Протокол почтового отделения (Post Office Protocol version 3, POP3)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48475859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143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Протокол IMAP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621283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161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UDP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Протокол SNMP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6351555"/>
                  </a:ext>
                </a:extLst>
              </a:tr>
              <a:tr h="357895"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1" dirty="0">
                          <a:effectLst/>
                        </a:rPr>
                        <a:t>443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TCP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ru-RU" sz="1600" b="0" dirty="0">
                          <a:effectLst/>
                        </a:rPr>
                        <a:t>Защищенный протокол передачи гипертекста (HTTPS)</a:t>
                      </a:r>
                    </a:p>
                  </a:txBody>
                  <a:tcPr marL="35719" marR="35719" marT="47625" marB="476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2311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746350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78498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4. Протокол ТСР.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Основные операции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864096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rgbClr val="7030A0"/>
                </a:solidFill>
              </a:rPr>
              <a:t>4</a:t>
            </a:r>
            <a:r>
              <a:rPr lang="ru-RU" sz="3200" dirty="0" smtClean="0">
                <a:solidFill>
                  <a:srgbClr val="7030A0"/>
                </a:solidFill>
              </a:rPr>
              <a:t>.1 Основные операции ТСР - протокола </a:t>
            </a:r>
            <a:r>
              <a:rPr lang="ru-RU" sz="3200" dirty="0">
                <a:solidFill>
                  <a:srgbClr val="7030A0"/>
                </a:solidFill>
              </a:rPr>
              <a:t>управления </a:t>
            </a:r>
            <a:r>
              <a:rPr lang="ru-RU" sz="3200" dirty="0" smtClean="0">
                <a:solidFill>
                  <a:srgbClr val="7030A0"/>
                </a:solidFill>
              </a:rPr>
              <a:t>передачей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24744"/>
            <a:ext cx="8712968" cy="573325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3000" dirty="0" smtClean="0">
                <a:solidFill>
                  <a:srgbClr val="002060"/>
                </a:solidFill>
              </a:rPr>
              <a:t>     1) Отслеживание </a:t>
            </a:r>
            <a:r>
              <a:rPr lang="ru-RU" sz="3000" dirty="0">
                <a:solidFill>
                  <a:srgbClr val="002060"/>
                </a:solidFill>
              </a:rPr>
              <a:t>количества сегментов</a:t>
            </a:r>
            <a:r>
              <a:rPr lang="ru-RU" sz="3000" dirty="0">
                <a:solidFill>
                  <a:srgbClr val="000000"/>
                </a:solidFill>
              </a:rPr>
              <a:t>, отправленных на хост </a:t>
            </a:r>
            <a:r>
              <a:rPr lang="ru-RU" sz="3000" dirty="0" smtClean="0">
                <a:solidFill>
                  <a:srgbClr val="000000"/>
                </a:solidFill>
              </a:rPr>
              <a:t>приложением.</a:t>
            </a:r>
            <a:endParaRPr lang="ru-RU" sz="30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ru-RU" sz="3000" dirty="0" smtClean="0">
                <a:solidFill>
                  <a:srgbClr val="002060"/>
                </a:solidFill>
              </a:rPr>
              <a:t>    2) Подтверждение </a:t>
            </a:r>
            <a:r>
              <a:rPr lang="ru-RU" sz="3000" dirty="0">
                <a:solidFill>
                  <a:srgbClr val="002060"/>
                </a:solidFill>
              </a:rPr>
              <a:t>полученных </a:t>
            </a:r>
            <a:r>
              <a:rPr lang="ru-RU" sz="3000" dirty="0" smtClean="0">
                <a:solidFill>
                  <a:srgbClr val="002060"/>
                </a:solidFill>
              </a:rPr>
              <a:t>данных.</a:t>
            </a:r>
            <a:endParaRPr lang="ru-RU" sz="3000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ru-RU" sz="3000" dirty="0" smtClean="0">
                <a:solidFill>
                  <a:srgbClr val="002060"/>
                </a:solidFill>
              </a:rPr>
              <a:t>    3)Повторная </a:t>
            </a:r>
            <a:r>
              <a:rPr lang="ru-RU" sz="3000" dirty="0">
                <a:solidFill>
                  <a:srgbClr val="002060"/>
                </a:solidFill>
              </a:rPr>
              <a:t>передача сегментов</a:t>
            </a:r>
            <a:r>
              <a:rPr lang="ru-RU" sz="3000" dirty="0">
                <a:solidFill>
                  <a:srgbClr val="000000"/>
                </a:solidFill>
              </a:rPr>
              <a:t> с неподтвержденными данными по истечении времени ожидания.</a:t>
            </a:r>
          </a:p>
          <a:p>
            <a:pPr marL="0" indent="0" algn="just">
              <a:buNone/>
            </a:pPr>
            <a:r>
              <a:rPr lang="ru-RU" sz="3000" dirty="0" smtClean="0">
                <a:solidFill>
                  <a:srgbClr val="002060"/>
                </a:solidFill>
              </a:rPr>
              <a:t>    4) Восстановление </a:t>
            </a:r>
            <a:r>
              <a:rPr lang="ru-RU" sz="3000" dirty="0">
                <a:solidFill>
                  <a:srgbClr val="002060"/>
                </a:solidFill>
              </a:rPr>
              <a:t>последовательности данных,</a:t>
            </a:r>
            <a:r>
              <a:rPr lang="ru-RU" sz="3000" dirty="0">
                <a:solidFill>
                  <a:srgbClr val="000000"/>
                </a:solidFill>
              </a:rPr>
              <a:t> которые могут поступать в неправильном порядке</a:t>
            </a:r>
          </a:p>
          <a:p>
            <a:pPr marL="0" indent="0" algn="just">
              <a:buNone/>
            </a:pPr>
            <a:r>
              <a:rPr lang="ru-RU" sz="3000" dirty="0" smtClean="0">
                <a:solidFill>
                  <a:srgbClr val="002060"/>
                </a:solidFill>
              </a:rPr>
              <a:t>    5) Отправка </a:t>
            </a:r>
            <a:r>
              <a:rPr lang="ru-RU" sz="3000" dirty="0">
                <a:solidFill>
                  <a:srgbClr val="002060"/>
                </a:solidFill>
              </a:rPr>
              <a:t>данных с эффективной скоростью</a:t>
            </a:r>
            <a:r>
              <a:rPr lang="ru-RU" sz="3000" dirty="0">
                <a:solidFill>
                  <a:srgbClr val="000000"/>
                </a:solidFill>
              </a:rPr>
              <a:t>, приемлемой получателем</a:t>
            </a:r>
          </a:p>
          <a:p>
            <a:pPr marL="0" indent="0">
              <a:buNone/>
            </a:pPr>
            <a:r>
              <a:rPr lang="ru-RU" sz="3000" dirty="0" smtClean="0">
                <a:solidFill>
                  <a:srgbClr val="000000"/>
                </a:solidFill>
              </a:rPr>
              <a:t>    6) </a:t>
            </a:r>
            <a:r>
              <a:rPr lang="ru-RU" sz="3000" u="sng" dirty="0" smtClean="0">
                <a:solidFill>
                  <a:srgbClr val="002060"/>
                </a:solidFill>
              </a:rPr>
              <a:t>TCP обеспечивает надежность и управление потоком.</a:t>
            </a:r>
            <a:endParaRPr lang="en-US" sz="3000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538506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20080"/>
          </a:xfrm>
        </p:spPr>
        <p:txBody>
          <a:bodyPr>
            <a:normAutofit/>
          </a:bodyPr>
          <a:lstStyle/>
          <a:p>
            <a:r>
              <a:rPr lang="ru-RU" sz="2900" dirty="0" smtClean="0">
                <a:solidFill>
                  <a:srgbClr val="7030A0"/>
                </a:solidFill>
              </a:rPr>
              <a:t>4.1 Основные </a:t>
            </a:r>
            <a:r>
              <a:rPr lang="ru-RU" sz="2900" dirty="0">
                <a:solidFill>
                  <a:srgbClr val="7030A0"/>
                </a:solidFill>
              </a:rPr>
              <a:t>операции </a:t>
            </a:r>
            <a:r>
              <a:rPr lang="ru-RU" sz="2900" dirty="0" smtClean="0">
                <a:solidFill>
                  <a:srgbClr val="7030A0"/>
                </a:solidFill>
              </a:rPr>
              <a:t>ТСР</a:t>
            </a:r>
            <a:r>
              <a:rPr lang="ru-RU" sz="3200" dirty="0" smtClean="0">
                <a:solidFill>
                  <a:srgbClr val="7030A0"/>
                </a:solidFill>
              </a:rPr>
              <a:t> 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964488" cy="6021288"/>
          </a:xfrm>
        </p:spPr>
        <p:txBody>
          <a:bodyPr>
            <a:normAutofit/>
          </a:bodyPr>
          <a:lstStyle/>
          <a:p>
            <a:r>
              <a:rPr lang="ru-RU" dirty="0" smtClean="0"/>
              <a:t>Информация , поступающая к ТСР в рамках логического соединения от протокола более высокого уровня, рассматривается протоколом ТСР как </a:t>
            </a:r>
            <a:r>
              <a:rPr lang="ru-RU" dirty="0" smtClean="0">
                <a:solidFill>
                  <a:srgbClr val="002060"/>
                </a:solidFill>
              </a:rPr>
              <a:t>неструктурированный поток  данных байтов. </a:t>
            </a:r>
          </a:p>
          <a:p>
            <a:r>
              <a:rPr lang="ru-RU" dirty="0" smtClean="0"/>
              <a:t>Поступающие </a:t>
            </a:r>
            <a:r>
              <a:rPr lang="ru-RU" dirty="0" smtClean="0">
                <a:solidFill>
                  <a:srgbClr val="002060"/>
                </a:solidFill>
              </a:rPr>
              <a:t>данные буферизуются средствами ТСР.</a:t>
            </a:r>
            <a:endParaRPr lang="ru-RU" dirty="0" smtClean="0"/>
          </a:p>
          <a:p>
            <a:r>
              <a:rPr lang="ru-RU" dirty="0" smtClean="0"/>
              <a:t>Для передачи на сетевой уровень из буфера вырезается некоторая часть данных – </a:t>
            </a:r>
            <a:r>
              <a:rPr lang="ru-RU" dirty="0" smtClean="0">
                <a:solidFill>
                  <a:srgbClr val="002060"/>
                </a:solidFill>
              </a:rPr>
              <a:t>сегментов.</a:t>
            </a:r>
          </a:p>
          <a:p>
            <a:pPr marL="0" indent="0">
              <a:buNone/>
            </a:pPr>
            <a:r>
              <a:rPr lang="ru-RU" dirty="0" smtClean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78242783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856984" cy="548680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4.1.2</a:t>
            </a:r>
            <a:r>
              <a:rPr lang="ru-RU" sz="3200" dirty="0" smtClean="0">
                <a:solidFill>
                  <a:srgbClr val="7030A0"/>
                </a:solidFill>
              </a:rPr>
              <a:t> </a:t>
            </a:r>
            <a:r>
              <a:rPr lang="ru-RU" sz="3200" dirty="0">
                <a:solidFill>
                  <a:srgbClr val="7030A0"/>
                </a:solidFill>
              </a:rPr>
              <a:t>Основные операции </a:t>
            </a:r>
            <a:r>
              <a:rPr lang="ru-RU" sz="3200" dirty="0" smtClean="0">
                <a:solidFill>
                  <a:srgbClr val="7030A0"/>
                </a:solidFill>
              </a:rPr>
              <a:t>ТСР. Подтверждение.</a:t>
            </a:r>
            <a:r>
              <a:rPr lang="ru-RU" sz="3600" dirty="0" smtClean="0">
                <a:solidFill>
                  <a:srgbClr val="7030A0"/>
                </a:solidFill>
              </a:rPr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620688"/>
            <a:ext cx="8892480" cy="6237312"/>
          </a:xfrm>
        </p:spPr>
        <p:txBody>
          <a:bodyPr>
            <a:normAutofit fontScale="92500" lnSpcReduction="10000"/>
          </a:bodyPr>
          <a:lstStyle/>
          <a:p>
            <a:r>
              <a:rPr lang="ru-RU" sz="3400" u="sng" dirty="0" smtClean="0">
                <a:solidFill>
                  <a:srgbClr val="002060"/>
                </a:solidFill>
              </a:rPr>
              <a:t>TCP делит поток информации на </a:t>
            </a:r>
            <a:r>
              <a:rPr lang="ru-RU" sz="3400" b="1" u="sng" dirty="0" smtClean="0">
                <a:solidFill>
                  <a:srgbClr val="002060"/>
                </a:solidFill>
              </a:rPr>
              <a:t>сегменты</a:t>
            </a:r>
            <a:r>
              <a:rPr lang="ru-RU" sz="3400" u="sng" dirty="0" smtClean="0">
                <a:solidFill>
                  <a:srgbClr val="002060"/>
                </a:solidFill>
              </a:rPr>
              <a:t>.</a:t>
            </a:r>
          </a:p>
          <a:p>
            <a:r>
              <a:rPr lang="ru-RU" sz="3400" dirty="0" smtClean="0"/>
              <a:t> </a:t>
            </a:r>
            <a:r>
              <a:rPr lang="ru-RU" sz="3400" dirty="0" smtClean="0">
                <a:solidFill>
                  <a:srgbClr val="002060"/>
                </a:solidFill>
              </a:rPr>
              <a:t>В одном сегменте может быть несколько пакетов</a:t>
            </a:r>
            <a:r>
              <a:rPr lang="ru-RU" sz="3400" dirty="0" smtClean="0"/>
              <a:t>. </a:t>
            </a:r>
          </a:p>
          <a:p>
            <a:r>
              <a:rPr lang="ru-RU" sz="3400" dirty="0" smtClean="0"/>
              <a:t>Каждый сегмент проверяется на целостность, и если все хорошо, отправляется подтверждение передающей стороне.</a:t>
            </a:r>
          </a:p>
          <a:p>
            <a:r>
              <a:rPr lang="ru-RU" sz="3400" dirty="0" smtClean="0"/>
              <a:t> Таким образом </a:t>
            </a:r>
            <a:r>
              <a:rPr lang="ru-RU" sz="3400" dirty="0" smtClean="0">
                <a:solidFill>
                  <a:srgbClr val="002060"/>
                </a:solidFill>
              </a:rPr>
              <a:t>подтверждается не каждый пакет, а каждый сегмент, но в сегменте может оказаться и всего лишь один пакет</a:t>
            </a:r>
            <a:r>
              <a:rPr lang="ru-RU" sz="3600" dirty="0" smtClean="0"/>
              <a:t>.</a:t>
            </a:r>
          </a:p>
          <a:p>
            <a:r>
              <a:rPr lang="ru-RU" sz="3400" dirty="0" smtClean="0">
                <a:solidFill>
                  <a:srgbClr val="002060"/>
                </a:solidFill>
              </a:rPr>
              <a:t>Главной особенностью </a:t>
            </a:r>
            <a:r>
              <a:rPr lang="ru-RU" sz="3400" b="1" dirty="0" smtClean="0">
                <a:solidFill>
                  <a:srgbClr val="002060"/>
                </a:solidFill>
              </a:rPr>
              <a:t>TCP</a:t>
            </a:r>
            <a:r>
              <a:rPr lang="ru-RU" sz="3400" dirty="0" smtClean="0">
                <a:solidFill>
                  <a:srgbClr val="002060"/>
                </a:solidFill>
              </a:rPr>
              <a:t> (Transmission Control Protocol</a:t>
            </a:r>
            <a:r>
              <a:rPr lang="ru-RU" sz="3400" dirty="0" smtClean="0"/>
              <a:t>) является то, что </a:t>
            </a:r>
            <a:r>
              <a:rPr lang="ru-RU" sz="3400" dirty="0" smtClean="0">
                <a:solidFill>
                  <a:srgbClr val="002060"/>
                </a:solidFill>
              </a:rPr>
              <a:t>он гарантирует доставку всех отправленных пакетов, п</a:t>
            </a:r>
            <a:r>
              <a:rPr lang="ru-RU" sz="3400" dirty="0" smtClean="0"/>
              <a:t>ри этом </a:t>
            </a:r>
            <a:r>
              <a:rPr lang="ru-RU" sz="3400" dirty="0" smtClean="0">
                <a:solidFill>
                  <a:srgbClr val="002060"/>
                </a:solidFill>
              </a:rPr>
              <a:t>проверяется целостность пакетов и их порядок.</a:t>
            </a:r>
          </a:p>
        </p:txBody>
      </p:sp>
    </p:spTree>
    <p:extLst>
      <p:ext uri="{BB962C8B-B14F-4D97-AF65-F5344CB8AC3E}">
        <p14:creationId xmlns:p14="http://schemas.microsoft.com/office/powerpoint/2010/main" xmlns="" val="1643642442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036496" cy="850106"/>
          </a:xfrm>
        </p:spPr>
        <p:txBody>
          <a:bodyPr/>
          <a:lstStyle/>
          <a:p>
            <a:r>
              <a:rPr lang="ru-RU" sz="3200" dirty="0" smtClean="0">
                <a:solidFill>
                  <a:srgbClr val="7030A0"/>
                </a:solidFill>
              </a:rPr>
              <a:t>4.1.3. ТСР.</a:t>
            </a:r>
            <a:r>
              <a:rPr lang="ru-RU" sz="2900" dirty="0" smtClean="0">
                <a:solidFill>
                  <a:srgbClr val="7030A0"/>
                </a:solidFill>
              </a:rPr>
              <a:t> </a:t>
            </a:r>
            <a:r>
              <a:rPr lang="ru-RU" sz="2900" dirty="0">
                <a:solidFill>
                  <a:srgbClr val="7030A0"/>
                </a:solidFill>
              </a:rPr>
              <a:t>Основные </a:t>
            </a:r>
            <a:r>
              <a:rPr lang="ru-RU" sz="2900" dirty="0" smtClean="0">
                <a:solidFill>
                  <a:srgbClr val="7030A0"/>
                </a:solidFill>
              </a:rPr>
              <a:t>операции. Восстановление.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24744"/>
            <a:ext cx="8712968" cy="5472608"/>
          </a:xfrm>
        </p:spPr>
        <p:txBody>
          <a:bodyPr/>
          <a:lstStyle/>
          <a:p>
            <a:pPr lvl="0"/>
            <a:r>
              <a:rPr lang="ru-RU" sz="2400" dirty="0">
                <a:solidFill>
                  <a:prstClr val="black"/>
                </a:solidFill>
              </a:rPr>
              <a:t> </a:t>
            </a:r>
            <a:r>
              <a:rPr lang="ru-RU" sz="2800" dirty="0">
                <a:solidFill>
                  <a:prstClr val="black"/>
                </a:solidFill>
              </a:rPr>
              <a:t>Если </a:t>
            </a:r>
            <a:r>
              <a:rPr lang="ru-RU" sz="2800" dirty="0">
                <a:solidFill>
                  <a:srgbClr val="002060"/>
                </a:solidFill>
              </a:rPr>
              <a:t>пакет потерялся </a:t>
            </a:r>
            <a:r>
              <a:rPr lang="ru-RU" sz="2800" dirty="0">
                <a:solidFill>
                  <a:prstClr val="black"/>
                </a:solidFill>
              </a:rPr>
              <a:t>или испортился, то получатель </a:t>
            </a:r>
            <a:r>
              <a:rPr lang="ru-RU" sz="2800" dirty="0">
                <a:solidFill>
                  <a:srgbClr val="002060"/>
                </a:solidFill>
              </a:rPr>
              <a:t>запросит</a:t>
            </a:r>
            <a:r>
              <a:rPr lang="ru-RU" sz="2800" dirty="0">
                <a:solidFill>
                  <a:prstClr val="black"/>
                </a:solidFill>
              </a:rPr>
              <a:t> эти пакеты у отправителя снова.</a:t>
            </a:r>
          </a:p>
          <a:p>
            <a:pPr lvl="0"/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ru-RU" sz="2800" dirty="0">
                <a:solidFill>
                  <a:srgbClr val="002060"/>
                </a:solidFill>
              </a:rPr>
              <a:t>Если пакеты пришли не в том порядке</a:t>
            </a:r>
            <a:r>
              <a:rPr lang="ru-RU" sz="2800" dirty="0">
                <a:solidFill>
                  <a:prstClr val="black"/>
                </a:solidFill>
              </a:rPr>
              <a:t>, то они на принимающей стороне </a:t>
            </a:r>
            <a:r>
              <a:rPr lang="ru-RU" sz="2800" dirty="0">
                <a:solidFill>
                  <a:srgbClr val="002060"/>
                </a:solidFill>
              </a:rPr>
              <a:t>всё равно обработаются в правильном</a:t>
            </a:r>
            <a:r>
              <a:rPr lang="ru-RU" sz="2800" dirty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ru-RU" sz="2800" dirty="0">
                <a:solidFill>
                  <a:prstClr val="black"/>
                </a:solidFill>
              </a:rPr>
              <a:t> Этот механизм контроля доставки накладывает дополнительную нагрузку в виде увеличения служебной информации, которую нужно передать вместе с полезными данными.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50058877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892480" cy="922114"/>
          </a:xfrm>
        </p:spPr>
        <p:txBody>
          <a:bodyPr/>
          <a:lstStyle/>
          <a:p>
            <a:r>
              <a:rPr lang="ru-RU" sz="3200" dirty="0" smtClean="0">
                <a:solidFill>
                  <a:srgbClr val="7030A0"/>
                </a:solidFill>
              </a:rPr>
              <a:t>4.1.4. </a:t>
            </a:r>
            <a:r>
              <a:rPr lang="ru-RU" sz="3200" dirty="0">
                <a:solidFill>
                  <a:srgbClr val="7030A0"/>
                </a:solidFill>
              </a:rPr>
              <a:t>ТСР.</a:t>
            </a:r>
            <a:r>
              <a:rPr lang="ru-RU" sz="2900" dirty="0">
                <a:solidFill>
                  <a:srgbClr val="7030A0"/>
                </a:solidFill>
              </a:rPr>
              <a:t> Основные операции. </a:t>
            </a:r>
            <a:r>
              <a:rPr lang="ru-RU" sz="2900" dirty="0" smtClean="0">
                <a:solidFill>
                  <a:srgbClr val="7030A0"/>
                </a:solidFill>
              </a:rPr>
              <a:t>Отправка данных.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892480" cy="5112568"/>
          </a:xfrm>
        </p:spPr>
        <p:txBody>
          <a:bodyPr>
            <a:normAutofit/>
          </a:bodyPr>
          <a:lstStyle/>
          <a:p>
            <a:pPr lvl="0"/>
            <a:r>
              <a:rPr lang="ru-RU" sz="2800" dirty="0">
                <a:solidFill>
                  <a:srgbClr val="002060"/>
                </a:solidFill>
              </a:rPr>
              <a:t>Сегменты  могут быть разных размеров, а об максимальном размере участники соединения договариваются при установлении «логического соединения</a:t>
            </a:r>
            <a:r>
              <a:rPr lang="ru-RU" sz="2800" dirty="0">
                <a:solidFill>
                  <a:prstClr val="black"/>
                </a:solidFill>
              </a:rPr>
              <a:t>». </a:t>
            </a:r>
            <a:r>
              <a:rPr lang="ru-RU" sz="2800" dirty="0">
                <a:solidFill>
                  <a:srgbClr val="C00000"/>
                </a:solidFill>
              </a:rPr>
              <a:t>(рис 13.12)</a:t>
            </a:r>
          </a:p>
          <a:p>
            <a:pPr lvl="0"/>
            <a:r>
              <a:rPr lang="ru-RU" sz="2800" dirty="0">
                <a:solidFill>
                  <a:prstClr val="black"/>
                </a:solidFill>
              </a:rPr>
              <a:t>Протокол </a:t>
            </a:r>
            <a:r>
              <a:rPr lang="en-US" sz="2800" dirty="0">
                <a:solidFill>
                  <a:prstClr val="black"/>
                </a:solidFill>
              </a:rPr>
              <a:t>IP </a:t>
            </a:r>
            <a:r>
              <a:rPr lang="ru-RU" sz="2800" dirty="0">
                <a:solidFill>
                  <a:prstClr val="black"/>
                </a:solidFill>
              </a:rPr>
              <a:t>используется  протоколом </a:t>
            </a:r>
            <a:r>
              <a:rPr lang="ru-RU" sz="2800" dirty="0">
                <a:solidFill>
                  <a:srgbClr val="002060"/>
                </a:solidFill>
              </a:rPr>
              <a:t>ТСР в качестве транспортного средства.</a:t>
            </a:r>
          </a:p>
          <a:p>
            <a:pPr lvl="0"/>
            <a:r>
              <a:rPr lang="ru-RU" sz="2800" dirty="0">
                <a:solidFill>
                  <a:srgbClr val="002060"/>
                </a:solidFill>
              </a:rPr>
              <a:t>Перед отправкой сегментов протокол ТСР помещает их в оболочку </a:t>
            </a:r>
            <a:r>
              <a:rPr lang="en-US" sz="2800" dirty="0">
                <a:solidFill>
                  <a:srgbClr val="002060"/>
                </a:solidFill>
              </a:rPr>
              <a:t>IP </a:t>
            </a:r>
            <a:r>
              <a:rPr lang="ru-RU" sz="2800" dirty="0">
                <a:solidFill>
                  <a:srgbClr val="002060"/>
                </a:solidFill>
              </a:rPr>
              <a:t>пакета.</a:t>
            </a:r>
          </a:p>
          <a:p>
            <a:pPr lvl="0"/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ru-RU" sz="2800" u="sng" dirty="0">
                <a:solidFill>
                  <a:srgbClr val="002060"/>
                </a:solidFill>
              </a:rPr>
              <a:t>В заголовок сегмента ТСР помещает номер порта назначения и номер порта отправителя</a:t>
            </a:r>
          </a:p>
        </p:txBody>
      </p:sp>
    </p:spTree>
    <p:extLst>
      <p:ext uri="{BB962C8B-B14F-4D97-AF65-F5344CB8AC3E}">
        <p14:creationId xmlns:p14="http://schemas.microsoft.com/office/powerpoint/2010/main" xmlns="" val="268787066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212" y="260648"/>
            <a:ext cx="8856983" cy="720080"/>
          </a:xfrm>
        </p:spPr>
        <p:txBody>
          <a:bodyPr>
            <a:noAutofit/>
          </a:bodyPr>
          <a:lstStyle/>
          <a:p>
            <a:r>
              <a:rPr lang="ru-RU" sz="31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Формирование TCP-сегментов из потока байтов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3528" y="1052735"/>
            <a:ext cx="8640960" cy="570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971613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4.1.5.</a:t>
            </a:r>
            <a:r>
              <a:rPr lang="ru-RU" sz="3200" dirty="0">
                <a:solidFill>
                  <a:srgbClr val="7030A0"/>
                </a:solidFill>
              </a:rPr>
              <a:t> ТСР.</a:t>
            </a:r>
            <a:r>
              <a:rPr lang="ru-RU" sz="2900" dirty="0">
                <a:solidFill>
                  <a:srgbClr val="7030A0"/>
                </a:solidFill>
              </a:rPr>
              <a:t> Основные </a:t>
            </a:r>
            <a:r>
              <a:rPr lang="ru-RU" sz="2900" dirty="0" smtClean="0">
                <a:solidFill>
                  <a:srgbClr val="7030A0"/>
                </a:solidFill>
              </a:rPr>
              <a:t>операции.</a:t>
            </a:r>
            <a:r>
              <a:rPr lang="ru-RU" sz="2800" dirty="0" smtClean="0">
                <a:solidFill>
                  <a:srgbClr val="7030A0"/>
                </a:solidFill>
              </a:rPr>
              <a:t> Надежная доставка.</a:t>
            </a:r>
            <a:endParaRPr lang="ru-RU" sz="28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ru-RU" sz="2400" dirty="0" smtClean="0"/>
              <a:t>         Протокол ТСР работает над протоколом </a:t>
            </a:r>
            <a:r>
              <a:rPr lang="en-US" sz="2400" dirty="0" smtClean="0"/>
              <a:t>IP</a:t>
            </a:r>
            <a:r>
              <a:rPr lang="ru-RU" sz="2400" dirty="0" smtClean="0"/>
              <a:t>, который использует для транспортировки своих блоков данных дейтаграммный,  ненадежный протокол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</a:p>
          <a:p>
            <a:pPr marL="268288" indent="-268288">
              <a:tabLst>
                <a:tab pos="712788" algn="l"/>
              </a:tabLst>
            </a:pPr>
            <a:r>
              <a:rPr lang="ru-RU" sz="2400" dirty="0" smtClean="0">
                <a:solidFill>
                  <a:srgbClr val="002060"/>
                </a:solidFill>
              </a:rPr>
              <a:t>     </a:t>
            </a:r>
            <a:r>
              <a:rPr lang="ru-RU" sz="2400" u="sng" dirty="0" smtClean="0">
                <a:solidFill>
                  <a:srgbClr val="002060"/>
                </a:solidFill>
              </a:rPr>
              <a:t>Надежность передачи данных протоколом ТСР достигается за счет установления </a:t>
            </a:r>
            <a:r>
              <a:rPr lang="ru-RU" sz="2400" i="1" u="sng" dirty="0" smtClean="0">
                <a:solidFill>
                  <a:srgbClr val="002060"/>
                </a:solidFill>
              </a:rPr>
              <a:t>логических соединений </a:t>
            </a:r>
            <a:r>
              <a:rPr lang="ru-RU" sz="2400" dirty="0" smtClean="0"/>
              <a:t>между взаимодействующими процессами, в результате каждая сторона </a:t>
            </a:r>
            <a:r>
              <a:rPr lang="ru-RU" sz="2400" dirty="0" smtClean="0">
                <a:solidFill>
                  <a:srgbClr val="002060"/>
                </a:solidFill>
              </a:rPr>
              <a:t>договаривается о:              </a:t>
            </a:r>
          </a:p>
          <a:p>
            <a:pPr marL="268288" indent="-268288" algn="just">
              <a:buNone/>
              <a:tabLst>
                <a:tab pos="363538" algn="l"/>
              </a:tabLst>
            </a:pPr>
            <a:r>
              <a:rPr lang="ru-RU" sz="2400" dirty="0" smtClean="0">
                <a:solidFill>
                  <a:srgbClr val="002060"/>
                </a:solidFill>
              </a:rPr>
              <a:t>            1)  </a:t>
            </a:r>
            <a:r>
              <a:rPr lang="ru-RU" sz="2400" dirty="0" smtClean="0"/>
              <a:t>максимальном размере сегмента;</a:t>
            </a:r>
          </a:p>
          <a:p>
            <a:pPr marL="268288" indent="-268288" algn="just">
              <a:buNone/>
            </a:pPr>
            <a:r>
              <a:rPr lang="ru-RU" sz="2400" dirty="0" smtClean="0"/>
              <a:t>            2)максимальном объеме данных (возможно несколько сегментов), которые она разрешает другой стороне передавать в свою сторону;</a:t>
            </a:r>
          </a:p>
          <a:p>
            <a:pPr marL="268288" indent="-268288" algn="just">
              <a:buNone/>
            </a:pPr>
            <a:r>
              <a:rPr lang="ru-RU" sz="2400" dirty="0" smtClean="0"/>
              <a:t>           3) начальном порядковом номере байта , с которого она начинает отсчет потока данных в рамках данного соединения и т.д.</a:t>
            </a:r>
          </a:p>
          <a:p>
            <a:pPr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142894823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/>
          <a:lstStyle/>
          <a:p>
            <a:r>
              <a:rPr lang="ru-RU" sz="2800" dirty="0">
                <a:solidFill>
                  <a:srgbClr val="7030A0"/>
                </a:solidFill>
              </a:rPr>
              <a:t>3.3.Обеспечение протоколом ТСР надежной доставки </a:t>
            </a:r>
            <a:r>
              <a:rPr lang="ru-RU" sz="2800" dirty="0" smtClean="0">
                <a:solidFill>
                  <a:srgbClr val="7030A0"/>
                </a:solidFill>
              </a:rPr>
              <a:t>(4)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lnSpcReduction="10000"/>
          </a:bodyPr>
          <a:lstStyle/>
          <a:p>
            <a:pPr marL="268288" lvl="0" indent="-268288" algn="just"/>
            <a:r>
              <a:rPr lang="ru-RU" sz="2800" dirty="0">
                <a:solidFill>
                  <a:srgbClr val="002060"/>
                </a:solidFill>
              </a:rPr>
              <a:t>Параметры обмена остаются постоянными на время сеанса</a:t>
            </a:r>
            <a:r>
              <a:rPr lang="ru-RU" sz="2800" dirty="0">
                <a:solidFill>
                  <a:prstClr val="black"/>
                </a:solidFill>
              </a:rPr>
              <a:t>.</a:t>
            </a:r>
          </a:p>
          <a:p>
            <a:pPr marL="268288" lvl="0" indent="-268288" algn="just"/>
            <a:r>
              <a:rPr lang="ru-RU" sz="2800" dirty="0">
                <a:solidFill>
                  <a:srgbClr val="002060"/>
                </a:solidFill>
              </a:rPr>
              <a:t>Соединения в ТСР ведутся в обе стороны – дуплексная передача.</a:t>
            </a:r>
          </a:p>
          <a:p>
            <a:pPr marL="268288" lvl="0" indent="-268288" algn="just"/>
            <a:r>
              <a:rPr lang="ru-RU" sz="2800" dirty="0">
                <a:solidFill>
                  <a:prstClr val="black"/>
                </a:solidFill>
              </a:rPr>
              <a:t>Чтобы избежать ошибочной инициализации соединений используется </a:t>
            </a:r>
            <a:r>
              <a:rPr lang="ru-RU" sz="2800" dirty="0">
                <a:solidFill>
                  <a:srgbClr val="002060"/>
                </a:solidFill>
              </a:rPr>
              <a:t>многошаговая процедура подтверждения связи.</a:t>
            </a:r>
          </a:p>
          <a:p>
            <a:pPr marL="268288" lvl="0" indent="-268288" algn="just"/>
            <a:r>
              <a:rPr lang="ru-RU" sz="2800" dirty="0">
                <a:solidFill>
                  <a:prstClr val="black"/>
                </a:solidFill>
              </a:rPr>
              <a:t>Пока существует составная сеть и модули ТСР функционируют корректно, ошибки в передаче данных на уровне </a:t>
            </a:r>
            <a:r>
              <a:rPr lang="en-US" sz="2800" dirty="0">
                <a:solidFill>
                  <a:prstClr val="black"/>
                </a:solidFill>
              </a:rPr>
              <a:t>I</a:t>
            </a:r>
            <a:r>
              <a:rPr lang="ru-RU" sz="2800" dirty="0">
                <a:solidFill>
                  <a:prstClr val="black"/>
                </a:solidFill>
              </a:rPr>
              <a:t>Р не будут влиять на правильность обмена сегментами</a:t>
            </a:r>
            <a:r>
              <a:rPr lang="ru-RU" sz="2000" dirty="0">
                <a:solidFill>
                  <a:prstClr val="black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xmlns="" val="3232585933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212" y="260648"/>
            <a:ext cx="8856983" cy="720080"/>
          </a:xfrm>
        </p:spPr>
        <p:txBody>
          <a:bodyPr>
            <a:noAutofit/>
          </a:bodyPr>
          <a:lstStyle/>
          <a:p>
            <a:r>
              <a:rPr lang="ru-RU" sz="31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Формирование TCP-сегментов из потока байтов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3528" y="1052735"/>
            <a:ext cx="8640960" cy="570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07797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5098578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 smtClean="0">
                <a:solidFill>
                  <a:srgbClr val="7030A0"/>
                </a:solidFill>
              </a:rPr>
              <a:t> 5.1.Параметры соединения ТСР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5.2.Последовательный номер передачи подтверждения 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5.1 Параметры соединения ТСР(1)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 fontScale="92500" lnSpcReduction="10000"/>
          </a:bodyPr>
          <a:lstStyle/>
          <a:p>
            <a:r>
              <a:rPr lang="ru-RU" sz="3400" dirty="0" smtClean="0">
                <a:solidFill>
                  <a:srgbClr val="002060"/>
                </a:solidFill>
              </a:rPr>
              <a:t>   Для надежной передачи данных </a:t>
            </a:r>
            <a:r>
              <a:rPr lang="ru-RU" sz="3400" dirty="0" smtClean="0"/>
              <a:t>между двумя прикладными процессами предусматривается </a:t>
            </a:r>
            <a:r>
              <a:rPr lang="ru-RU" sz="3400" dirty="0" smtClean="0">
                <a:solidFill>
                  <a:srgbClr val="002060"/>
                </a:solidFill>
              </a:rPr>
              <a:t>установление логического соединения</a:t>
            </a:r>
            <a:r>
              <a:rPr lang="ru-RU" sz="3400" dirty="0" smtClean="0"/>
              <a:t>.</a:t>
            </a:r>
          </a:p>
          <a:p>
            <a:r>
              <a:rPr lang="ru-RU" sz="3400" u="sng" dirty="0" smtClean="0"/>
              <a:t>Номер порта , номер сети, номер конечного узла определяют прикладной процесс в сети</a:t>
            </a:r>
            <a:r>
              <a:rPr lang="ru-RU" sz="3400" dirty="0" smtClean="0"/>
              <a:t>.</a:t>
            </a:r>
          </a:p>
          <a:p>
            <a:r>
              <a:rPr lang="ru-RU" sz="3400" dirty="0" smtClean="0">
                <a:solidFill>
                  <a:srgbClr val="002060"/>
                </a:solidFill>
              </a:rPr>
              <a:t>Набор идентифицирующих параметров (</a:t>
            </a:r>
            <a:r>
              <a:rPr lang="en-US" sz="3400" dirty="0" smtClean="0">
                <a:solidFill>
                  <a:srgbClr val="002060"/>
                </a:solidFill>
              </a:rPr>
              <a:t>IP</a:t>
            </a:r>
            <a:r>
              <a:rPr lang="ru-RU" sz="3400" dirty="0" smtClean="0">
                <a:solidFill>
                  <a:srgbClr val="002060"/>
                </a:solidFill>
              </a:rPr>
              <a:t>-адрес</a:t>
            </a:r>
            <a:r>
              <a:rPr lang="en-US" sz="3400" dirty="0" smtClean="0">
                <a:solidFill>
                  <a:srgbClr val="002060"/>
                </a:solidFill>
              </a:rPr>
              <a:t> </a:t>
            </a:r>
            <a:r>
              <a:rPr lang="ru-RU" sz="3400" dirty="0" smtClean="0">
                <a:solidFill>
                  <a:srgbClr val="002060"/>
                </a:solidFill>
              </a:rPr>
              <a:t>, номер порта) называется </a:t>
            </a:r>
            <a:r>
              <a:rPr lang="ru-RU" sz="3400" u="sng" dirty="0" smtClean="0">
                <a:solidFill>
                  <a:srgbClr val="002060"/>
                </a:solidFill>
              </a:rPr>
              <a:t>сокетом</a:t>
            </a:r>
            <a:r>
              <a:rPr lang="ru-RU" sz="3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buNone/>
            </a:pPr>
            <a:r>
              <a:rPr lang="ru-RU" sz="3400" dirty="0" smtClean="0"/>
              <a:t>           - Каждый взаимодействующий процесс идентифицирует</a:t>
            </a:r>
            <a:r>
              <a:rPr lang="en-US" sz="3400" dirty="0" smtClean="0"/>
              <a:t>c</a:t>
            </a:r>
            <a:r>
              <a:rPr lang="ru-RU" sz="3400" dirty="0" smtClean="0"/>
              <a:t>я сокетом - парой   (</a:t>
            </a:r>
            <a:r>
              <a:rPr lang="en-US" sz="3400" dirty="0" smtClean="0"/>
              <a:t>IP </a:t>
            </a:r>
            <a:r>
              <a:rPr lang="ru-RU" sz="3400" dirty="0" smtClean="0"/>
              <a:t>адрес интерфейса , номер порта ).  </a:t>
            </a:r>
          </a:p>
          <a:p>
            <a:pPr>
              <a:buNone/>
            </a:pPr>
            <a:r>
              <a:rPr lang="ru-RU" sz="3400" dirty="0" smtClean="0"/>
              <a:t>          - </a:t>
            </a:r>
            <a:r>
              <a:rPr lang="ru-RU" sz="3400" dirty="0" smtClean="0">
                <a:solidFill>
                  <a:srgbClr val="002060"/>
                </a:solidFill>
              </a:rPr>
              <a:t>Каждое соединение – парой сокетов взаимодействующих процессов</a:t>
            </a:r>
            <a:r>
              <a:rPr lang="ru-RU" sz="3400" dirty="0" smtClean="0"/>
              <a:t>. 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.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036496" cy="850106"/>
          </a:xfrm>
        </p:spPr>
        <p:txBody>
          <a:bodyPr/>
          <a:lstStyle/>
          <a:p>
            <a:r>
              <a:rPr lang="ru-RU" sz="4000" dirty="0" smtClean="0">
                <a:solidFill>
                  <a:srgbClr val="7030A0"/>
                </a:solidFill>
              </a:rPr>
              <a:t>5.1 </a:t>
            </a:r>
            <a:r>
              <a:rPr lang="ru-RU" sz="4000" dirty="0">
                <a:solidFill>
                  <a:srgbClr val="7030A0"/>
                </a:solidFill>
              </a:rPr>
              <a:t>Параметры соединения </a:t>
            </a:r>
            <a:r>
              <a:rPr lang="ru-RU" sz="4000" dirty="0" smtClean="0">
                <a:solidFill>
                  <a:srgbClr val="7030A0"/>
                </a:solidFill>
              </a:rPr>
              <a:t>ТСР(2)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435280" cy="5616624"/>
          </a:xfrm>
        </p:spPr>
        <p:txBody>
          <a:bodyPr>
            <a:normAutofit/>
          </a:bodyPr>
          <a:lstStyle/>
          <a:p>
            <a:pPr lvl="0"/>
            <a:r>
              <a:rPr lang="ru-RU" sz="2800" dirty="0">
                <a:solidFill>
                  <a:prstClr val="black"/>
                </a:solidFill>
              </a:rPr>
              <a:t>Каждый процесс может участвовать в нескольких соединениях.</a:t>
            </a:r>
          </a:p>
          <a:p>
            <a:pPr lvl="0"/>
            <a:r>
              <a:rPr lang="ru-RU" sz="2800" dirty="0">
                <a:solidFill>
                  <a:prstClr val="black"/>
                </a:solidFill>
              </a:rPr>
              <a:t>  </a:t>
            </a:r>
            <a:r>
              <a:rPr lang="ru-RU" sz="2800" dirty="0">
                <a:solidFill>
                  <a:srgbClr val="002060"/>
                </a:solidFill>
              </a:rPr>
              <a:t>Примеры соединений  для сокетов (</a:t>
            </a:r>
            <a:r>
              <a:rPr lang="en-US" sz="2800" dirty="0">
                <a:solidFill>
                  <a:srgbClr val="002060"/>
                </a:solidFill>
              </a:rPr>
              <a:t>IP1,n1) (IP2,n2) (IP3,n3</a:t>
            </a:r>
            <a:r>
              <a:rPr lang="en-US" sz="2800" dirty="0" smtClean="0">
                <a:solidFill>
                  <a:srgbClr val="002060"/>
                </a:solidFill>
              </a:rPr>
              <a:t>)</a:t>
            </a:r>
            <a:r>
              <a:rPr lang="ru-RU" sz="2800" dirty="0" smtClean="0">
                <a:solidFill>
                  <a:srgbClr val="002060"/>
                </a:solidFill>
              </a:rPr>
              <a:t> приведены на рисунке:</a:t>
            </a:r>
            <a:endParaRPr lang="ru-RU" sz="2800" dirty="0">
              <a:solidFill>
                <a:srgbClr val="002060"/>
              </a:solidFill>
            </a:endParaRPr>
          </a:p>
          <a:p>
            <a:pPr marL="0" lvl="0" indent="0">
              <a:buNone/>
            </a:pPr>
            <a:r>
              <a:rPr lang="ru-RU" sz="2800" dirty="0" smtClean="0">
                <a:solidFill>
                  <a:prstClr val="black"/>
                </a:solidFill>
              </a:rPr>
              <a:t>          </a:t>
            </a:r>
            <a:r>
              <a:rPr lang="ru-RU" sz="2800" dirty="0">
                <a:solidFill>
                  <a:prstClr val="black"/>
                </a:solidFill>
              </a:rPr>
              <a:t>- соединение 1 -  (</a:t>
            </a:r>
            <a:r>
              <a:rPr lang="en-US" sz="2800" dirty="0">
                <a:solidFill>
                  <a:prstClr val="black"/>
                </a:solidFill>
              </a:rPr>
              <a:t>IP1</a:t>
            </a:r>
            <a:r>
              <a:rPr lang="ru-RU" sz="2800" dirty="0">
                <a:solidFill>
                  <a:prstClr val="black"/>
                </a:solidFill>
              </a:rPr>
              <a:t>, </a:t>
            </a:r>
            <a:r>
              <a:rPr lang="en-US" sz="2800" dirty="0">
                <a:solidFill>
                  <a:prstClr val="black"/>
                </a:solidFill>
              </a:rPr>
              <a:t>n</a:t>
            </a:r>
            <a:r>
              <a:rPr lang="ru-RU" sz="2800" dirty="0">
                <a:solidFill>
                  <a:prstClr val="black"/>
                </a:solidFill>
              </a:rPr>
              <a:t>1), (</a:t>
            </a:r>
            <a:r>
              <a:rPr lang="en-US" sz="2800" dirty="0">
                <a:solidFill>
                  <a:prstClr val="black"/>
                </a:solidFill>
              </a:rPr>
              <a:t>IP2, n2</a:t>
            </a:r>
            <a:r>
              <a:rPr lang="en-US" sz="2800" dirty="0" smtClean="0">
                <a:solidFill>
                  <a:prstClr val="black"/>
                </a:solidFill>
              </a:rPr>
              <a:t>)</a:t>
            </a:r>
            <a:endParaRPr lang="ru-RU" sz="2800" dirty="0" smtClean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800" dirty="0" smtClean="0">
                <a:solidFill>
                  <a:prstClr val="black"/>
                </a:solidFill>
              </a:rPr>
              <a:t>          -</a:t>
            </a:r>
            <a:r>
              <a:rPr lang="en-US" sz="2800" dirty="0" smtClean="0">
                <a:solidFill>
                  <a:prstClr val="black"/>
                </a:solidFill>
              </a:rPr>
              <a:t> </a:t>
            </a:r>
            <a:r>
              <a:rPr lang="ru-RU" sz="2800" dirty="0" smtClean="0">
                <a:solidFill>
                  <a:prstClr val="black"/>
                </a:solidFill>
              </a:rPr>
              <a:t>соединение 2 -   </a:t>
            </a:r>
            <a:r>
              <a:rPr lang="en-US" sz="2800" dirty="0" smtClean="0">
                <a:solidFill>
                  <a:prstClr val="black"/>
                </a:solidFill>
              </a:rPr>
              <a:t>(IP2,n2)</a:t>
            </a:r>
            <a:r>
              <a:rPr lang="ru-RU" sz="2800" dirty="0" smtClean="0">
                <a:solidFill>
                  <a:prstClr val="black"/>
                </a:solidFill>
              </a:rPr>
              <a:t>,</a:t>
            </a:r>
            <a:r>
              <a:rPr lang="en-US" sz="2800" dirty="0" smtClean="0">
                <a:solidFill>
                  <a:prstClr val="black"/>
                </a:solidFill>
              </a:rPr>
              <a:t> (IP3,n3</a:t>
            </a:r>
            <a:r>
              <a:rPr lang="ru-RU" sz="2800" dirty="0" smtClean="0">
                <a:solidFill>
                  <a:prstClr val="black"/>
                </a:solidFill>
              </a:rPr>
              <a:t>)</a:t>
            </a:r>
          </a:p>
          <a:p>
            <a:pPr marL="0" lvl="0" indent="0">
              <a:buNone/>
            </a:pPr>
            <a:r>
              <a:rPr lang="ru-RU" sz="2800" dirty="0" smtClean="0">
                <a:solidFill>
                  <a:prstClr val="black"/>
                </a:solidFill>
              </a:rPr>
              <a:t>       </a:t>
            </a:r>
            <a:r>
              <a:rPr lang="en-US" sz="2800" dirty="0" smtClean="0">
                <a:solidFill>
                  <a:prstClr val="black"/>
                </a:solidFill>
              </a:rPr>
              <a:t> </a:t>
            </a:r>
            <a:r>
              <a:rPr lang="ru-RU" sz="2800" dirty="0" smtClean="0">
                <a:solidFill>
                  <a:prstClr val="black"/>
                </a:solidFill>
              </a:rPr>
              <a:t>  </a:t>
            </a:r>
            <a:r>
              <a:rPr lang="ru-RU" sz="2800" dirty="0">
                <a:solidFill>
                  <a:prstClr val="black"/>
                </a:solidFill>
              </a:rPr>
              <a:t>- соединение 3 - (</a:t>
            </a:r>
            <a:r>
              <a:rPr lang="en-US" sz="2800" dirty="0">
                <a:solidFill>
                  <a:prstClr val="black"/>
                </a:solidFill>
              </a:rPr>
              <a:t>IP1</a:t>
            </a:r>
            <a:r>
              <a:rPr lang="ru-RU" sz="2800" dirty="0">
                <a:solidFill>
                  <a:prstClr val="black"/>
                </a:solidFill>
              </a:rPr>
              <a:t>, </a:t>
            </a:r>
            <a:r>
              <a:rPr lang="en-US" sz="2800" dirty="0">
                <a:solidFill>
                  <a:prstClr val="black"/>
                </a:solidFill>
              </a:rPr>
              <a:t>n</a:t>
            </a:r>
            <a:r>
              <a:rPr lang="ru-RU" sz="2800" dirty="0">
                <a:solidFill>
                  <a:prstClr val="black"/>
                </a:solidFill>
              </a:rPr>
              <a:t>1), ( </a:t>
            </a:r>
            <a:r>
              <a:rPr lang="en-US" sz="2800" dirty="0">
                <a:solidFill>
                  <a:prstClr val="black"/>
                </a:solidFill>
              </a:rPr>
              <a:t>IP2,n2).</a:t>
            </a:r>
            <a:endParaRPr lang="ru-RU" sz="2800" dirty="0">
              <a:solidFill>
                <a:prstClr val="black"/>
              </a:solidFill>
            </a:endParaRPr>
          </a:p>
          <a:p>
            <a:pPr lvl="0"/>
            <a:r>
              <a:rPr lang="ru-RU" sz="2800" dirty="0" smtClean="0">
                <a:solidFill>
                  <a:srgbClr val="002060"/>
                </a:solidFill>
              </a:rPr>
              <a:t>     Понятие </a:t>
            </a:r>
            <a:r>
              <a:rPr lang="ru-RU" sz="2800" dirty="0">
                <a:solidFill>
                  <a:srgbClr val="002060"/>
                </a:solidFill>
              </a:rPr>
              <a:t>«соединение» - это договоренность о параметрах , характеризующие процедуру обмена данными между </a:t>
            </a:r>
            <a:r>
              <a:rPr lang="ru-RU" sz="2800" dirty="0" smtClean="0">
                <a:solidFill>
                  <a:srgbClr val="002060"/>
                </a:solidFill>
              </a:rPr>
              <a:t>процессами.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3526047919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507" y="0"/>
            <a:ext cx="8856983" cy="1043173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Один сокет может участвовать в нескольких соединениях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3528" y="1340768"/>
            <a:ext cx="8820472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07797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8686800" cy="562074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Определение сокетов(пояснение 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85000" lnSpcReduction="10000"/>
          </a:bodyPr>
          <a:lstStyle/>
          <a:p>
            <a:pPr marL="285750" indent="-285750" algn="just"/>
            <a:r>
              <a:rPr lang="ru-RU" u="sng" dirty="0" smtClean="0">
                <a:solidFill>
                  <a:srgbClr val="002060"/>
                </a:solidFill>
              </a:rPr>
              <a:t>Сокет</a:t>
            </a:r>
            <a:r>
              <a:rPr lang="ru-RU" dirty="0" smtClean="0">
                <a:solidFill>
                  <a:srgbClr val="000000"/>
                </a:solidFill>
              </a:rPr>
              <a:t> – набор идентификационных параметров, определяет прикладной процесс в сети.</a:t>
            </a:r>
          </a:p>
          <a:p>
            <a:pPr marL="285750" indent="-285750" algn="just"/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Номера порта источника и порта назначения записываются в сегмент</a:t>
            </a:r>
            <a:r>
              <a:rPr lang="ru-RU" dirty="0" smtClean="0"/>
              <a:t>.</a:t>
            </a:r>
          </a:p>
          <a:p>
            <a:pPr marL="285750" indent="-285750" algn="just"/>
            <a:r>
              <a:rPr lang="ru-RU" dirty="0" smtClean="0"/>
              <a:t>Затем эти сегменты инкапсулируются в пакете IP.</a:t>
            </a:r>
          </a:p>
          <a:p>
            <a:pPr marL="285750" indent="-285750" algn="just"/>
            <a:r>
              <a:rPr lang="en-US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ru-RU" dirty="0" smtClean="0">
                <a:solidFill>
                  <a:srgbClr val="002060"/>
                </a:solidFill>
              </a:rPr>
              <a:t>Сочетание</a:t>
            </a:r>
            <a:r>
              <a:rPr lang="en-US" dirty="0" smtClean="0">
                <a:solidFill>
                  <a:srgbClr val="002060"/>
                </a:solidFill>
              </a:rPr>
              <a:t> I</a:t>
            </a:r>
            <a:r>
              <a:rPr lang="ru-RU" dirty="0" smtClean="0">
                <a:solidFill>
                  <a:srgbClr val="002060"/>
                </a:solidFill>
              </a:rPr>
              <a:t>P-адреса источника и номера порта источника  называется </a:t>
            </a:r>
            <a:r>
              <a:rPr lang="ru-RU" u="sng" dirty="0" smtClean="0">
                <a:solidFill>
                  <a:srgbClr val="002060"/>
                </a:solidFill>
              </a:rPr>
              <a:t>сокетом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или</a:t>
            </a:r>
          </a:p>
          <a:p>
            <a:pPr marL="285750" indent="-285750" algn="just"/>
            <a:r>
              <a:rPr lang="ru-RU" dirty="0" smtClean="0">
                <a:solidFill>
                  <a:srgbClr val="002060"/>
                </a:solidFill>
              </a:rPr>
              <a:t>  Сочетание IP-адреса назначения и номера порта назначения тоже называется </a:t>
            </a:r>
            <a:r>
              <a:rPr lang="ru-RU" u="sng" dirty="0" smtClean="0">
                <a:solidFill>
                  <a:srgbClr val="002060"/>
                </a:solidFill>
              </a:rPr>
              <a:t>сокетом.</a:t>
            </a:r>
          </a:p>
          <a:p>
            <a:pPr marL="285750" indent="-285750" algn="just"/>
            <a:r>
              <a:rPr lang="ru-RU" dirty="0" smtClean="0">
                <a:solidFill>
                  <a:srgbClr val="000000"/>
                </a:solidFill>
              </a:rPr>
              <a:t>Сокеты позволяют различать несколько процессов, выполняющихся на клиенте, а также распознавать различные подключения к процессу сервера.</a:t>
            </a:r>
          </a:p>
          <a:p>
            <a:endParaRPr lang="ru-RU" dirty="0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Демультиплексирование протокола </a:t>
            </a:r>
            <a:r>
              <a:rPr lang="en-US" dirty="0" smtClean="0"/>
              <a:t>UDP </a:t>
            </a:r>
            <a:r>
              <a:rPr lang="ru-RU" dirty="0" smtClean="0"/>
              <a:t>на основе сокетов</a:t>
            </a:r>
            <a:endParaRPr lang="ru-RU" dirty="0"/>
          </a:p>
        </p:txBody>
      </p:sp>
      <p:pic>
        <p:nvPicPr>
          <p:cNvPr id="3074" name="Picture 2" descr="C:\Users\Юра\Desktop\сетев прот през\Сетевые_протоколы_в_инфокоммуникациях 2021\Изображения\Лекция_5_Стек_протоколов_TCP_IP\12) Демультиплексирование протокола UDP на основе сокетов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00200"/>
            <a:ext cx="8892480" cy="52578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504056"/>
          </a:xfrm>
        </p:spPr>
        <p:txBody>
          <a:bodyPr>
            <a:noAutofit/>
          </a:bodyPr>
          <a:lstStyle/>
          <a:p>
            <a:pPr algn="l"/>
            <a:r>
              <a:rPr lang="ru-RU" sz="3200" dirty="0" smtClean="0">
                <a:solidFill>
                  <a:srgbClr val="7030A0"/>
                </a:solidFill>
              </a:rPr>
              <a:t>Заголовок пакета : адрес на конверте(пояснение)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692696"/>
            <a:ext cx="8686800" cy="616530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Для передачи сообщения протоколы ТСР</a:t>
            </a:r>
            <a:r>
              <a:rPr lang="en-US" sz="2800" dirty="0" smtClean="0"/>
              <a:t>/IP  </a:t>
            </a:r>
            <a:r>
              <a:rPr lang="ru-RU" sz="2800" dirty="0" smtClean="0"/>
              <a:t>используют адресную информацию. </a:t>
            </a:r>
          </a:p>
          <a:p>
            <a:r>
              <a:rPr lang="ru-RU" sz="2800" dirty="0" smtClean="0"/>
              <a:t>Где они ее находят ?</a:t>
            </a:r>
          </a:p>
          <a:p>
            <a:r>
              <a:rPr lang="ru-RU" sz="2800" dirty="0" smtClean="0"/>
              <a:t> На конверте письма пишется адрес отправителя и получателя, причем адрес должен быть снаружи конверта.</a:t>
            </a:r>
          </a:p>
          <a:p>
            <a:r>
              <a:rPr lang="ru-RU" sz="2800" dirty="0" smtClean="0"/>
              <a:t>Также и в протоколе ТСР – адрес снаружи, а сообщение должно быть внутри конверта. </a:t>
            </a:r>
          </a:p>
          <a:p>
            <a:r>
              <a:rPr lang="ru-RU" sz="2800" dirty="0" smtClean="0"/>
              <a:t>Когда сообщение помещается в пакет , к нему «снаружи» добавляется заголовок, содержащий адрес передающего и принимающего компьютеров.</a:t>
            </a:r>
          </a:p>
          <a:p>
            <a:r>
              <a:rPr lang="ru-RU" sz="2800" dirty="0" smtClean="0"/>
              <a:t>Заголовки могут содержать и другую информацию, подобно тому как пишут на конверте «заказное».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xmlns="" val="2186494984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2008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5.2. Передача подтверждения.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686800" cy="5805264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       В </a:t>
            </a:r>
            <a:r>
              <a:rPr lang="ru-RU" sz="3400" dirty="0" smtClean="0">
                <a:solidFill>
                  <a:srgbClr val="002060"/>
                </a:solidFill>
              </a:rPr>
              <a:t>рамках установленного соединения правильность передачи каждого сегмента подтверждается квитанцией получателя</a:t>
            </a:r>
            <a:r>
              <a:rPr lang="ru-RU" sz="3400" dirty="0" smtClean="0"/>
              <a:t>.</a:t>
            </a:r>
          </a:p>
          <a:p>
            <a:r>
              <a:rPr lang="ru-RU" sz="3400" u="sng" dirty="0" smtClean="0"/>
              <a:t>Квитирование – это метод обеспечения надежной связи</a:t>
            </a:r>
            <a:r>
              <a:rPr lang="ru-RU" sz="3400" dirty="0" smtClean="0"/>
              <a:t>.</a:t>
            </a:r>
          </a:p>
          <a:p>
            <a:r>
              <a:rPr lang="ru-RU" sz="3400" dirty="0" smtClean="0"/>
              <a:t>Единица передаваемых данных –сегмент</a:t>
            </a:r>
          </a:p>
          <a:p>
            <a:r>
              <a:rPr lang="ru-RU" sz="3400" dirty="0" smtClean="0"/>
              <a:t>       </a:t>
            </a:r>
            <a:r>
              <a:rPr lang="ru-RU" sz="3400" dirty="0" smtClean="0">
                <a:solidFill>
                  <a:srgbClr val="002060"/>
                </a:solidFill>
              </a:rPr>
              <a:t>В протоколе ТСР используется алгоритм «скользящего окна» </a:t>
            </a:r>
            <a:r>
              <a:rPr lang="ru-RU" sz="3400" dirty="0" smtClean="0"/>
              <a:t>.</a:t>
            </a:r>
          </a:p>
          <a:p>
            <a:r>
              <a:rPr lang="ru-RU" sz="3400" dirty="0" smtClean="0"/>
              <a:t>       Окно определено на множестве нумерованных байтов неструктурированного потока данных, поступающих с верхнего уровня и буферизируемых ТСР.</a:t>
            </a:r>
          </a:p>
          <a:p>
            <a:endParaRPr lang="ru-RU" dirty="0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5.2. Передача подтверждения.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124744"/>
            <a:ext cx="8928992" cy="532859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   </a:t>
            </a:r>
            <a:r>
              <a:rPr lang="ru-RU" sz="2800" dirty="0" smtClean="0">
                <a:solidFill>
                  <a:srgbClr val="7030A0"/>
                </a:solidFill>
              </a:rPr>
              <a:t>1</a:t>
            </a:r>
            <a:r>
              <a:rPr lang="ru-RU" sz="2800" dirty="0" smtClean="0">
                <a:solidFill>
                  <a:srgbClr val="002060"/>
                </a:solidFill>
              </a:rPr>
              <a:t>. При </a:t>
            </a:r>
            <a:r>
              <a:rPr lang="ru-RU" sz="2800" dirty="0">
                <a:solidFill>
                  <a:srgbClr val="002060"/>
                </a:solidFill>
              </a:rPr>
              <a:t>установлении соединения обе стороны договариваются о начальном номере </a:t>
            </a:r>
            <a:r>
              <a:rPr lang="ru-RU" sz="2800" dirty="0" smtClean="0">
                <a:solidFill>
                  <a:srgbClr val="002060"/>
                </a:solidFill>
              </a:rPr>
              <a:t>байта, с </a:t>
            </a:r>
            <a:r>
              <a:rPr lang="ru-RU" sz="2800" dirty="0">
                <a:solidFill>
                  <a:srgbClr val="002060"/>
                </a:solidFill>
              </a:rPr>
              <a:t>которого будет вестись отсчет в течении всего соединения</a:t>
            </a:r>
            <a:r>
              <a:rPr lang="ru-RU" sz="2800" dirty="0">
                <a:solidFill>
                  <a:prstClr val="black"/>
                </a:solidFill>
              </a:rPr>
              <a:t>.</a:t>
            </a:r>
          </a:p>
          <a:p>
            <a:pPr marL="0" lvl="0" indent="0"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    У </a:t>
            </a:r>
            <a:r>
              <a:rPr lang="ru-RU" sz="2800" dirty="0">
                <a:solidFill>
                  <a:srgbClr val="002060"/>
                </a:solidFill>
              </a:rPr>
              <a:t>каждой стороны свой начальный номер.</a:t>
            </a:r>
          </a:p>
          <a:p>
            <a:pPr marL="0" lvl="0" indent="0">
              <a:buNone/>
            </a:pPr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ru-RU" sz="2800" dirty="0" smtClean="0">
                <a:solidFill>
                  <a:prstClr val="black"/>
                </a:solidFill>
              </a:rPr>
              <a:t>    Нумерация </a:t>
            </a:r>
            <a:r>
              <a:rPr lang="ru-RU" sz="2800" dirty="0">
                <a:solidFill>
                  <a:prstClr val="black"/>
                </a:solidFill>
              </a:rPr>
              <a:t>байтов в пределах сегмента </a:t>
            </a:r>
            <a:r>
              <a:rPr lang="ru-RU" sz="2800" dirty="0" smtClean="0">
                <a:solidFill>
                  <a:prstClr val="black"/>
                </a:solidFill>
              </a:rPr>
              <a:t>:</a:t>
            </a:r>
          </a:p>
          <a:p>
            <a:pPr marL="0" lvl="0" indent="0">
              <a:buNone/>
            </a:pPr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ru-RU" sz="2800" dirty="0" smtClean="0">
                <a:solidFill>
                  <a:prstClr val="black"/>
                </a:solidFill>
              </a:rPr>
              <a:t>            - </a:t>
            </a:r>
            <a:r>
              <a:rPr lang="ru-RU" sz="2800" dirty="0">
                <a:solidFill>
                  <a:prstClr val="black"/>
                </a:solidFill>
              </a:rPr>
              <a:t>первый байт данных, следующий за заголовком </a:t>
            </a:r>
            <a:r>
              <a:rPr lang="ru-RU" sz="2800" dirty="0" smtClean="0">
                <a:solidFill>
                  <a:prstClr val="black"/>
                </a:solidFill>
              </a:rPr>
              <a:t>           имеет </a:t>
            </a:r>
            <a:r>
              <a:rPr lang="ru-RU" sz="2800" dirty="0">
                <a:solidFill>
                  <a:prstClr val="black"/>
                </a:solidFill>
              </a:rPr>
              <a:t>наименьший номер, </a:t>
            </a:r>
            <a:endParaRPr lang="ru-RU" sz="2800" dirty="0" smtClean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800" dirty="0">
                <a:solidFill>
                  <a:prstClr val="black"/>
                </a:solidFill>
              </a:rPr>
              <a:t> </a:t>
            </a:r>
            <a:r>
              <a:rPr lang="ru-RU" sz="2800" dirty="0" smtClean="0">
                <a:solidFill>
                  <a:prstClr val="black"/>
                </a:solidFill>
              </a:rPr>
              <a:t>            - последующие </a:t>
            </a:r>
            <a:r>
              <a:rPr lang="ru-RU" sz="2800" dirty="0">
                <a:solidFill>
                  <a:prstClr val="black"/>
                </a:solidFill>
              </a:rPr>
              <a:t>байты – возрастающие номера. </a:t>
            </a:r>
          </a:p>
          <a:p>
            <a:pPr lvl="0">
              <a:buNone/>
            </a:pPr>
            <a:endParaRPr lang="ru-RU" sz="2800" dirty="0">
              <a:solidFill>
                <a:prstClr val="black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970344514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576064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5.2.2 Передача </a:t>
            </a:r>
            <a:r>
              <a:rPr lang="ru-RU" sz="2800" dirty="0">
                <a:solidFill>
                  <a:srgbClr val="7030A0"/>
                </a:solidFill>
              </a:rPr>
              <a:t>подтверждения</a:t>
            </a:r>
            <a:r>
              <a:rPr lang="ru-RU" sz="2800" dirty="0" smtClean="0">
                <a:solidFill>
                  <a:srgbClr val="7030A0"/>
                </a:solidFill>
              </a:rPr>
              <a:t>.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964488" cy="583264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       2.</a:t>
            </a:r>
            <a:r>
              <a:rPr lang="ru-RU" dirty="0" smtClean="0"/>
              <a:t> Отправитель посылает сегмент и  помещает в одно из полей заголовка ТСР в качестве идентификатора сегмента – </a:t>
            </a:r>
            <a:r>
              <a:rPr lang="ru-RU" dirty="0" smtClean="0">
                <a:solidFill>
                  <a:srgbClr val="002060"/>
                </a:solidFill>
              </a:rPr>
              <a:t>номер первого байта</a:t>
            </a:r>
            <a:r>
              <a:rPr lang="ru-RU" dirty="0" smtClean="0"/>
              <a:t>, который называется </a:t>
            </a:r>
            <a:r>
              <a:rPr lang="ru-RU" i="1" dirty="0" smtClean="0">
                <a:solidFill>
                  <a:srgbClr val="002060"/>
                </a:solidFill>
              </a:rPr>
              <a:t>последовательным номером </a:t>
            </a:r>
            <a:r>
              <a:rPr lang="ru-RU" i="1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     На  основании </a:t>
            </a:r>
            <a:r>
              <a:rPr lang="ru-RU" dirty="0" smtClean="0">
                <a:solidFill>
                  <a:srgbClr val="002060"/>
                </a:solidFill>
              </a:rPr>
              <a:t>этого номера модуль ТСР- получатель 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r>
              <a:rPr lang="ru-RU" dirty="0" smtClean="0"/>
              <a:t>       - отличает данный сегмент от других;</a:t>
            </a:r>
          </a:p>
          <a:p>
            <a:pPr marL="0" indent="0">
              <a:buNone/>
            </a:pPr>
            <a:r>
              <a:rPr lang="ru-RU" dirty="0" smtClean="0"/>
              <a:t>       - позиционирует данный фрагмент относительно общего потока;</a:t>
            </a:r>
          </a:p>
          <a:p>
            <a:pPr marL="0" indent="0">
              <a:buNone/>
            </a:pPr>
            <a:r>
              <a:rPr lang="ru-RU" dirty="0" smtClean="0"/>
              <a:t>       - определяет не является ли этот сегмент дубликатом;</a:t>
            </a:r>
          </a:p>
          <a:p>
            <a:pPr marL="0" indent="0">
              <a:buNone/>
            </a:pPr>
            <a:r>
              <a:rPr lang="ru-RU" dirty="0" smtClean="0"/>
              <a:t>       - не было ли пропусков между полученными сегментом и предыдущим и т.д.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        3.</a:t>
            </a:r>
            <a:r>
              <a:rPr lang="ru-RU" dirty="0" smtClean="0"/>
              <a:t> В качестве </a:t>
            </a:r>
            <a:r>
              <a:rPr lang="ru-RU" dirty="0" smtClean="0">
                <a:solidFill>
                  <a:srgbClr val="002060"/>
                </a:solidFill>
              </a:rPr>
              <a:t>квитанции получатель сегмента отправляет ответное сообщение, </a:t>
            </a:r>
            <a:r>
              <a:rPr lang="ru-RU" dirty="0" smtClean="0"/>
              <a:t>в котором помещает число, на единицу превышающее максимальный номер байта в полученном сегменте.</a:t>
            </a:r>
          </a:p>
          <a:p>
            <a:pPr marL="0" indent="0">
              <a:buNone/>
            </a:pPr>
            <a:r>
              <a:rPr lang="ru-RU" i="1" dirty="0" smtClean="0">
                <a:solidFill>
                  <a:srgbClr val="002060"/>
                </a:solidFill>
              </a:rPr>
              <a:t>        Это число называется номером подтверждения.</a:t>
            </a: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57606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7030A0"/>
                </a:solidFill>
              </a:rPr>
              <a:t>5.2.2 Алгоритм работы. Передача подтверждения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949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7030A0"/>
                </a:solidFill>
              </a:rPr>
              <a:t>         4.</a:t>
            </a:r>
            <a:r>
              <a:rPr lang="ru-RU" sz="2400" dirty="0" smtClean="0"/>
              <a:t> Номер подтверждения является номером для следующего ожидаемого байта данных, передаваемого в обратном направлении.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7030A0"/>
                </a:solidFill>
              </a:rPr>
              <a:t>        5.</a:t>
            </a:r>
            <a:r>
              <a:rPr lang="ru-RU" sz="2400" dirty="0" smtClean="0">
                <a:solidFill>
                  <a:srgbClr val="002060"/>
                </a:solidFill>
              </a:rPr>
              <a:t>Квитанция (подтверждение) в протоколе ТСР посылается только в случае правильного приема данных</a:t>
            </a:r>
            <a:r>
              <a:rPr lang="ru-RU" sz="2400" dirty="0" smtClean="0"/>
              <a:t>.</a:t>
            </a:r>
          </a:p>
          <a:p>
            <a:pPr marL="0" indent="0">
              <a:buNone/>
            </a:pPr>
            <a:r>
              <a:rPr lang="ru-RU" sz="2400" dirty="0" smtClean="0"/>
              <a:t>       </a:t>
            </a:r>
            <a:r>
              <a:rPr lang="ru-RU" sz="2400" dirty="0" smtClean="0">
                <a:solidFill>
                  <a:srgbClr val="7030A0"/>
                </a:solidFill>
              </a:rPr>
              <a:t> 6.</a:t>
            </a:r>
            <a:r>
              <a:rPr lang="ru-RU" sz="2400" dirty="0" smtClean="0"/>
              <a:t>Отрицательные</a:t>
            </a:r>
            <a:r>
              <a:rPr lang="ru-RU" sz="2400" dirty="0" smtClean="0">
                <a:solidFill>
                  <a:srgbClr val="7030A0"/>
                </a:solidFill>
              </a:rPr>
              <a:t> </a:t>
            </a:r>
            <a:r>
              <a:rPr lang="ru-RU" sz="2400" dirty="0" smtClean="0"/>
              <a:t>квитанции не посылаются 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7030A0"/>
                </a:solidFill>
              </a:rPr>
              <a:t>         7</a:t>
            </a:r>
            <a:r>
              <a:rPr lang="ru-RU" sz="2400" dirty="0" smtClean="0">
                <a:solidFill>
                  <a:srgbClr val="002060"/>
                </a:solidFill>
              </a:rPr>
              <a:t>. Отсутствии квитанции означает</a:t>
            </a:r>
            <a:r>
              <a:rPr lang="ru-RU" sz="2400" dirty="0" smtClean="0"/>
              <a:t>:</a:t>
            </a:r>
          </a:p>
          <a:p>
            <a:pPr>
              <a:buNone/>
            </a:pPr>
            <a:r>
              <a:rPr lang="ru-RU" sz="2400" dirty="0" smtClean="0"/>
              <a:t>                  - прием искаженного сегмента ;</a:t>
            </a:r>
          </a:p>
          <a:p>
            <a:pPr>
              <a:buNone/>
            </a:pPr>
            <a:r>
              <a:rPr lang="ru-RU" sz="2400" dirty="0" smtClean="0"/>
              <a:t>                  - потеря сегмента;</a:t>
            </a:r>
          </a:p>
          <a:p>
            <a:pPr>
              <a:buNone/>
            </a:pPr>
            <a:r>
              <a:rPr lang="ru-RU" sz="2400" dirty="0" smtClean="0"/>
              <a:t>                  - потеря квитанции.</a:t>
            </a:r>
          </a:p>
          <a:p>
            <a:pPr marL="0" indent="0">
              <a:buNone/>
            </a:pPr>
            <a:r>
              <a:rPr lang="ru-RU" sz="2400" dirty="0" smtClean="0"/>
              <a:t>         </a:t>
            </a:r>
            <a:r>
              <a:rPr lang="ru-RU" sz="2400" dirty="0" smtClean="0">
                <a:solidFill>
                  <a:srgbClr val="7030A0"/>
                </a:solidFill>
              </a:rPr>
              <a:t> 8</a:t>
            </a:r>
            <a:r>
              <a:rPr lang="ru-RU" sz="2400" dirty="0" smtClean="0"/>
              <a:t>. В протоколе ТСР в одном сегменте помещаются:</a:t>
            </a:r>
          </a:p>
          <a:p>
            <a:pPr>
              <a:buNone/>
            </a:pPr>
            <a:r>
              <a:rPr lang="ru-RU" sz="2400" dirty="0" smtClean="0"/>
              <a:t>                  - данные , которые приложение посылает другой стороне;</a:t>
            </a:r>
          </a:p>
          <a:p>
            <a:pPr>
              <a:buNone/>
            </a:pPr>
            <a:r>
              <a:rPr lang="ru-RU" sz="2400" dirty="0" smtClean="0"/>
              <a:t>                 - квитанции подтверждения полученных данных.</a:t>
            </a:r>
          </a:p>
          <a:p>
            <a:endParaRPr lang="ru-RU" sz="2400" dirty="0"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465" y="188640"/>
            <a:ext cx="8856983" cy="648072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Процедура установления и разрыва логического соединения при нормальном течении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1520" y="980728"/>
            <a:ext cx="8712968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07797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738538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6.ТСР.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Окна приема,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управление окном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6.1. Окна приема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 lnSpcReduction="10000"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Протокол ТСР работает в дуплексном режиме</a:t>
            </a:r>
            <a:r>
              <a:rPr lang="ru-RU" sz="2400" dirty="0" smtClean="0"/>
              <a:t>, т.е. в рамках одного соединения регламентируется процедура обмена данными в обе стороны.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У каждой стороны соединения  есть пара буферов</a:t>
            </a:r>
            <a:r>
              <a:rPr lang="ru-RU" sz="2400" dirty="0" smtClean="0"/>
              <a:t>:</a:t>
            </a:r>
          </a:p>
          <a:p>
            <a:pPr>
              <a:buNone/>
            </a:pPr>
            <a:r>
              <a:rPr lang="ru-RU" sz="2400" dirty="0" smtClean="0"/>
              <a:t>      - один для хранения принятых сегментов; </a:t>
            </a:r>
          </a:p>
          <a:p>
            <a:pPr>
              <a:buNone/>
            </a:pPr>
            <a:r>
              <a:rPr lang="ru-RU" sz="2400" dirty="0" smtClean="0"/>
              <a:t>      - другой – для сегментов, которые еще предстоит отправить.</a:t>
            </a:r>
          </a:p>
          <a:p>
            <a:pPr marL="363538" indent="-363538"/>
            <a:r>
              <a:rPr lang="ru-RU" sz="2400" dirty="0" smtClean="0"/>
              <a:t> При установлении соединения и в ходе передачи обе стороны, выступая в роли получателя, посылают друг другу «окна приема».</a:t>
            </a:r>
          </a:p>
          <a:p>
            <a:pPr marL="363538" indent="-363538"/>
            <a:r>
              <a:rPr lang="ru-RU" sz="2400" dirty="0" smtClean="0"/>
              <a:t> Каждая из сторон, получив окно приема , понимает сколько байт ей разрешается отправить с момента получения последней квитанции.</a:t>
            </a:r>
          </a:p>
          <a:p>
            <a:pPr marL="363538" indent="-363538"/>
            <a:r>
              <a:rPr lang="ru-RU" sz="2400" dirty="0" smtClean="0">
                <a:solidFill>
                  <a:srgbClr val="002060"/>
                </a:solidFill>
              </a:rPr>
              <a:t>Т.о. </a:t>
            </a:r>
            <a:r>
              <a:rPr lang="ru-RU" sz="2400" u="sng" dirty="0" smtClean="0">
                <a:solidFill>
                  <a:srgbClr val="002060"/>
                </a:solidFill>
              </a:rPr>
              <a:t>посылая окна приема </a:t>
            </a:r>
            <a:r>
              <a:rPr lang="ru-RU" sz="2400" dirty="0" smtClean="0">
                <a:solidFill>
                  <a:srgbClr val="002060"/>
                </a:solidFill>
              </a:rPr>
              <a:t>, обе стороны </a:t>
            </a:r>
            <a:r>
              <a:rPr lang="ru-RU" sz="2400" u="sng" dirty="0" smtClean="0">
                <a:solidFill>
                  <a:srgbClr val="002060"/>
                </a:solidFill>
              </a:rPr>
              <a:t>регулируют поток байтов </a:t>
            </a:r>
            <a:r>
              <a:rPr lang="ru-RU" sz="2400" dirty="0" smtClean="0">
                <a:solidFill>
                  <a:srgbClr val="002060"/>
                </a:solidFill>
              </a:rPr>
              <a:t>в свою сторону , сообщая какое количество байтов ( начиная с номера байта , на который уже выслана квитанция)они готовы принять</a:t>
            </a:r>
            <a:r>
              <a:rPr lang="ru-RU" sz="2400" dirty="0">
                <a:solidFill>
                  <a:srgbClr val="002060"/>
                </a:solidFill>
              </a:rPr>
              <a:t>.</a:t>
            </a:r>
            <a:endParaRPr lang="ru-RU" sz="2400" dirty="0" smtClean="0">
              <a:solidFill>
                <a:srgbClr val="002060"/>
              </a:solidFill>
            </a:endParaRPr>
          </a:p>
          <a:p>
            <a:endParaRPr lang="ru-RU" sz="2400" dirty="0"/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Система буферов ТСР соединения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6" name="Picture 2" descr="C:\Users\Юра\Desktop\сетев прот през\Сетевые_протоколы_в_инфокоммуникациях 2021\Изображения\Лекция_5_Стек_протоколов_TCP_IP\20) Система буферов ТСР-соединения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4212" y="1600200"/>
            <a:ext cx="5815575" cy="4525963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6.2. Управление окном приема</a:t>
            </a:r>
            <a:endParaRPr lang="ru-RU" sz="28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Autofit/>
          </a:bodyPr>
          <a:lstStyle/>
          <a:p>
            <a:pPr algn="just"/>
            <a:r>
              <a:rPr lang="ru-RU" sz="2000" dirty="0" smtClean="0"/>
              <a:t>Из потока байтов модуль ТСР «нарезает» последовательность сегментов и готовит их для отправки другому сокету. </a:t>
            </a:r>
          </a:p>
          <a:p>
            <a:pPr algn="just"/>
            <a:r>
              <a:rPr lang="ru-RU" sz="2000" dirty="0" smtClean="0"/>
              <a:t>В  этом </a:t>
            </a:r>
            <a:r>
              <a:rPr lang="ru-RU" sz="2000" dirty="0" smtClean="0">
                <a:solidFill>
                  <a:srgbClr val="002060"/>
                </a:solidFill>
              </a:rPr>
              <a:t>потоке сегментов можно выделить логические границы:</a:t>
            </a:r>
          </a:p>
          <a:p>
            <a:pPr algn="just">
              <a:buNone/>
            </a:pPr>
            <a:r>
              <a:rPr lang="ru-RU" sz="2000" dirty="0" smtClean="0"/>
              <a:t>      - </a:t>
            </a:r>
            <a:r>
              <a:rPr lang="ru-RU" sz="2000" u="sng" dirty="0" smtClean="0">
                <a:solidFill>
                  <a:srgbClr val="002060"/>
                </a:solidFill>
              </a:rPr>
              <a:t>первая граница отделяет сегменты</a:t>
            </a:r>
            <a:r>
              <a:rPr lang="ru-RU" sz="2000" dirty="0" smtClean="0"/>
              <a:t>, которые уже были отправлены и на которые пришли квитанции;</a:t>
            </a:r>
          </a:p>
          <a:p>
            <a:pPr algn="just">
              <a:buNone/>
            </a:pPr>
            <a:r>
              <a:rPr lang="en-US" sz="2000" dirty="0" smtClean="0"/>
              <a:t>    </a:t>
            </a:r>
            <a:r>
              <a:rPr lang="ru-RU" sz="2000" dirty="0" smtClean="0"/>
              <a:t> </a:t>
            </a:r>
            <a:r>
              <a:rPr lang="en-US" sz="2000" dirty="0" smtClean="0"/>
              <a:t> </a:t>
            </a:r>
            <a:r>
              <a:rPr lang="en-US" sz="2000" u="sng" dirty="0" smtClean="0">
                <a:solidFill>
                  <a:srgbClr val="002060"/>
                </a:solidFill>
              </a:rPr>
              <a:t>- </a:t>
            </a:r>
            <a:r>
              <a:rPr lang="ru-RU" sz="2000" u="sng" dirty="0" smtClean="0">
                <a:solidFill>
                  <a:srgbClr val="002060"/>
                </a:solidFill>
              </a:rPr>
              <a:t> вторая граница </a:t>
            </a:r>
            <a:r>
              <a:rPr lang="ru-RU" sz="2000" u="sng" dirty="0" smtClean="0"/>
              <a:t>-  предполагает </a:t>
            </a:r>
            <a:r>
              <a:rPr lang="ru-RU" sz="2000" u="sng" dirty="0" smtClean="0">
                <a:solidFill>
                  <a:srgbClr val="002060"/>
                </a:solidFill>
              </a:rPr>
              <a:t>окно размером </a:t>
            </a:r>
            <a:r>
              <a:rPr lang="en-US" sz="2000" u="sng" dirty="0" smtClean="0">
                <a:solidFill>
                  <a:srgbClr val="002060"/>
                </a:solidFill>
              </a:rPr>
              <a:t>W</a:t>
            </a:r>
            <a:r>
              <a:rPr lang="ru-RU" sz="2000" u="sng" dirty="0" smtClean="0">
                <a:solidFill>
                  <a:srgbClr val="002060"/>
                </a:solidFill>
              </a:rPr>
              <a:t> байт</a:t>
            </a:r>
            <a:r>
              <a:rPr lang="ru-RU" sz="2000" dirty="0" smtClean="0"/>
              <a:t>: </a:t>
            </a:r>
          </a:p>
          <a:p>
            <a:pPr algn="just">
              <a:buNone/>
            </a:pPr>
            <a:r>
              <a:rPr lang="ru-RU" sz="2000" dirty="0" smtClean="0"/>
              <a:t>               1) первая часть окна  составляют сегменты , которые уже отправлены,  но квитанции на них не получены.</a:t>
            </a:r>
          </a:p>
          <a:p>
            <a:pPr algn="just">
              <a:buNone/>
            </a:pPr>
            <a:r>
              <a:rPr lang="ru-RU" sz="2000" dirty="0" smtClean="0"/>
              <a:t>              2)вторая  часть окна – это сегменты , которые пока не отправлены, но могут быть отправлены, т.к. входят в пределы окна. </a:t>
            </a:r>
          </a:p>
          <a:p>
            <a:pPr algn="just">
              <a:buNone/>
            </a:pPr>
            <a:r>
              <a:rPr lang="ru-RU" sz="2000" dirty="0" smtClean="0"/>
              <a:t>      </a:t>
            </a:r>
            <a:r>
              <a:rPr lang="ru-RU" sz="2000" u="sng" dirty="0" smtClean="0"/>
              <a:t>- </a:t>
            </a:r>
            <a:r>
              <a:rPr lang="ru-RU" sz="2000" u="sng" dirty="0" smtClean="0">
                <a:solidFill>
                  <a:srgbClr val="002060"/>
                </a:solidFill>
              </a:rPr>
              <a:t>третья граница указывает на начало последовательности сегментов </a:t>
            </a:r>
            <a:r>
              <a:rPr lang="ru-RU" sz="2000" dirty="0" smtClean="0"/>
              <a:t>,</a:t>
            </a:r>
          </a:p>
          <a:p>
            <a:pPr algn="just">
              <a:buNone/>
            </a:pPr>
            <a:r>
              <a:rPr lang="ru-RU" sz="2000" dirty="0" smtClean="0"/>
              <a:t>      ни один из которых не может быть отправлен до тех пор, пока не придет очередная квитанция и окно не сдвинется вправо.</a:t>
            </a:r>
          </a:p>
          <a:p>
            <a:pPr algn="just"/>
            <a:r>
              <a:rPr lang="ru-RU" sz="2000" dirty="0" smtClean="0">
                <a:solidFill>
                  <a:srgbClr val="002060"/>
                </a:solidFill>
              </a:rPr>
              <a:t>Если размер окна – </a:t>
            </a:r>
            <a:r>
              <a:rPr lang="en-US" sz="2000" dirty="0" smtClean="0">
                <a:solidFill>
                  <a:srgbClr val="002060"/>
                </a:solidFill>
              </a:rPr>
              <a:t>W </a:t>
            </a:r>
            <a:r>
              <a:rPr lang="ru-RU" sz="2000" dirty="0" smtClean="0">
                <a:solidFill>
                  <a:srgbClr val="002060"/>
                </a:solidFill>
              </a:rPr>
              <a:t>,а  </a:t>
            </a:r>
            <a:r>
              <a:rPr lang="ru-RU" sz="2000" dirty="0" smtClean="0"/>
              <a:t>последняя квитанция содержала значение - </a:t>
            </a:r>
            <a:r>
              <a:rPr lang="en-US" sz="2000" dirty="0" smtClean="0"/>
              <a:t>N</a:t>
            </a:r>
            <a:r>
              <a:rPr lang="ru-RU" sz="2000" dirty="0" smtClean="0"/>
              <a:t>, </a:t>
            </a:r>
          </a:p>
          <a:p>
            <a:pPr algn="just">
              <a:buNone/>
            </a:pPr>
            <a:r>
              <a:rPr lang="ru-RU" sz="2000" dirty="0" smtClean="0"/>
              <a:t>  то отправитель посылает сегменты до значения</a:t>
            </a:r>
            <a:r>
              <a:rPr lang="en-US" sz="2000" dirty="0" smtClean="0"/>
              <a:t>(</a:t>
            </a:r>
            <a:r>
              <a:rPr lang="ru-RU" sz="2000" dirty="0" smtClean="0"/>
              <a:t> </a:t>
            </a:r>
            <a:r>
              <a:rPr lang="en-US" sz="2000" dirty="0" smtClean="0"/>
              <a:t>W+N)</a:t>
            </a:r>
            <a:r>
              <a:rPr lang="ru-RU" sz="2000" dirty="0" smtClean="0"/>
              <a:t>.</a:t>
            </a:r>
          </a:p>
          <a:p>
            <a:pPr algn="just"/>
            <a:r>
              <a:rPr lang="ru-RU" sz="2000" dirty="0" smtClean="0"/>
              <a:t>Этот сегмент уже выходит за рамки окна – передача приостанавливается до прихода следующей квитанции.</a:t>
            </a:r>
          </a:p>
          <a:p>
            <a:pPr algn="just"/>
            <a:endParaRPr lang="ru-RU" sz="2000" dirty="0"/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212" y="260648"/>
            <a:ext cx="8856983" cy="1008112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Особенности реализации алгоритма скользящего окна в протоколе TCP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5536" y="1504950"/>
            <a:ext cx="8648700" cy="430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07797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360040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6.2  Управление размером  окном . 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548680"/>
            <a:ext cx="8964488" cy="6309320"/>
          </a:xfrm>
        </p:spPr>
        <p:txBody>
          <a:bodyPr>
            <a:normAutofit fontScale="92500"/>
          </a:bodyPr>
          <a:lstStyle/>
          <a:p>
            <a:r>
              <a:rPr lang="ru-RU" sz="2400" u="sng" dirty="0" smtClean="0">
                <a:solidFill>
                  <a:srgbClr val="002060"/>
                </a:solidFill>
              </a:rPr>
              <a:t>Размер окна </a:t>
            </a:r>
            <a:r>
              <a:rPr lang="en-US" sz="2400" u="sng" dirty="0" smtClean="0">
                <a:solidFill>
                  <a:srgbClr val="002060"/>
                </a:solidFill>
              </a:rPr>
              <a:t>W </a:t>
            </a:r>
            <a:r>
              <a:rPr lang="ru-RU" sz="2400" u="sng" dirty="0" smtClean="0">
                <a:solidFill>
                  <a:srgbClr val="002060"/>
                </a:solidFill>
              </a:rPr>
              <a:t>зависит</a:t>
            </a:r>
            <a:r>
              <a:rPr lang="ru-RU" sz="2400" dirty="0" smtClean="0"/>
              <a:t>:</a:t>
            </a:r>
          </a:p>
          <a:p>
            <a:pPr>
              <a:buNone/>
            </a:pPr>
            <a:r>
              <a:rPr lang="ru-RU" sz="2400" dirty="0" smtClean="0"/>
              <a:t>        - от наличия места в буфере данных у принимающей стороны ;</a:t>
            </a:r>
          </a:p>
          <a:p>
            <a:pPr>
              <a:buNone/>
            </a:pPr>
            <a:r>
              <a:rPr lang="ru-RU" sz="2400" dirty="0" smtClean="0"/>
              <a:t>        - от скорости обработки данных.</a:t>
            </a:r>
          </a:p>
          <a:p>
            <a:r>
              <a:rPr lang="ru-RU" sz="2400" dirty="0" smtClean="0"/>
              <a:t>В </a:t>
            </a:r>
            <a:r>
              <a:rPr lang="ru-RU" sz="2400" dirty="0" smtClean="0">
                <a:solidFill>
                  <a:srgbClr val="002060"/>
                </a:solidFill>
              </a:rPr>
              <a:t>зависимости от состояния сети то одна , то другая сторона могут менять значения окон приема, что влияет на загрузку сети.</a:t>
            </a:r>
          </a:p>
          <a:p>
            <a:r>
              <a:rPr lang="ru-RU" sz="2400" dirty="0" smtClean="0"/>
              <a:t>Сторона – приемник передает стороне – отправителю размер окна приема , исходя из того , с какой скоростью она сможет обрабатывать присылаемые данные.</a:t>
            </a:r>
          </a:p>
          <a:p>
            <a:pPr marL="174625" indent="-174625"/>
            <a:r>
              <a:rPr lang="ru-RU" sz="2400" dirty="0" smtClean="0"/>
              <a:t>Однако и сторона- отправитель может управлять окном приема.</a:t>
            </a:r>
          </a:p>
          <a:p>
            <a:pPr marL="174625" indent="-174625"/>
            <a:r>
              <a:rPr lang="ru-RU" sz="2400" dirty="0" smtClean="0"/>
              <a:t>Если отправляющая сторона фиксирует ненадежную работу линии связи, то она может по собственной инициативе уменьшить окно.</a:t>
            </a:r>
          </a:p>
          <a:p>
            <a:pPr marL="174625" indent="-174625"/>
            <a:r>
              <a:rPr lang="ru-RU" sz="2400" u="sng" dirty="0" smtClean="0">
                <a:solidFill>
                  <a:srgbClr val="002060"/>
                </a:solidFill>
              </a:rPr>
              <a:t>В таких случаях действует правило:</a:t>
            </a:r>
          </a:p>
          <a:p>
            <a:pPr marL="174625" indent="-174625">
              <a:buNone/>
            </a:pPr>
            <a:r>
              <a:rPr lang="ru-RU" sz="2400" dirty="0" smtClean="0"/>
              <a:t>        </a:t>
            </a:r>
            <a:r>
              <a:rPr lang="ru-RU" sz="2400" dirty="0" smtClean="0">
                <a:solidFill>
                  <a:srgbClr val="002060"/>
                </a:solidFill>
              </a:rPr>
              <a:t>- в качестве действующего размера окна выбирается минимальное из двух значений – значения, диктуемого приемной стороной,</a:t>
            </a:r>
          </a:p>
          <a:p>
            <a:pPr marL="174625" indent="-174625"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и значения, определяемого «на месте»отправителем. </a:t>
            </a:r>
          </a:p>
          <a:p>
            <a:pPr marL="174625" indent="-174625"/>
            <a:endParaRPr lang="ru-RU" sz="2400" dirty="0"/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576064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6.3. Накопительный принцип подтверждения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6093296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Получатель может послать квитанцию на получение сразу нескольких сегментов, если они образуют непрерывный поток байтов</a:t>
            </a:r>
            <a:r>
              <a:rPr lang="ru-RU" sz="2800" dirty="0" smtClean="0"/>
              <a:t>.</a:t>
            </a:r>
          </a:p>
          <a:p>
            <a:r>
              <a:rPr lang="ru-RU" sz="2800" i="1" dirty="0" smtClean="0"/>
              <a:t>Например , если в буфер, плотно без пропусков заполненный потоком байтов до 2354 включительно(</a:t>
            </a:r>
            <a:r>
              <a:rPr lang="ru-RU" sz="2800" i="1" dirty="0" smtClean="0">
                <a:solidFill>
                  <a:srgbClr val="FF0000"/>
                </a:solidFill>
              </a:rPr>
              <a:t>рис13.16)</a:t>
            </a:r>
            <a:r>
              <a:rPr lang="ru-RU" sz="2800" i="1" dirty="0" smtClean="0"/>
              <a:t>, последовательно поступили сегменты (2355-3816), (3817-5275) и (5276-8400)., где цифры означают номера первых и последних байтов каждого сегмента, то получателю достаточно оправить только одну квитанцию на все три сегмента, указав в ней в качестве номера подтверждения значение 8401.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Т.о. процесс подтверждения является накопительным</a:t>
            </a:r>
            <a:r>
              <a:rPr lang="ru-RU" sz="2800" i="1" dirty="0" smtClean="0">
                <a:solidFill>
                  <a:srgbClr val="002060"/>
                </a:solidFill>
              </a:rPr>
              <a:t>.</a:t>
            </a:r>
            <a:endParaRPr lang="ru-RU" sz="2800" i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6.4.  Время ожидания квитанции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686800" cy="6021288"/>
          </a:xfrm>
        </p:spPr>
        <p:txBody>
          <a:bodyPr>
            <a:normAutofit lnSpcReduction="10000"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6.4.1. Когда протокол ТСР передает в сеть сегмент, он «на всякий случай» помещает его копию в очередь повторной передачи  (буфер копий) и запускает таймер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Когда приходит подтверждение на этот сегмент , соответствующая копия удаляется из очереди .</a:t>
            </a:r>
          </a:p>
          <a:p>
            <a:r>
              <a:rPr lang="ru-RU" sz="2800" dirty="0" smtClean="0"/>
              <a:t>6.4.2. Если подтверждение не приходит до истечения срока, то сегмент посылается повторно.</a:t>
            </a:r>
          </a:p>
          <a:p>
            <a:r>
              <a:rPr lang="ru-RU" sz="2800" dirty="0" smtClean="0"/>
              <a:t>6.4.3. Если повторный сегмент придет тогда, когда исходный сегмент уже окажется на месте, тогда дубликат будет отброшен.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Выбор времени ожидания очередной квитанции – важная задача, она влияет на производительность протокола ТСР.</a:t>
            </a:r>
          </a:p>
          <a:p>
            <a:endParaRPr lang="ru-RU" sz="2800" dirty="0"/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Система буферов ТСР соединения</a:t>
            </a:r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6" name="Picture 2" descr="C:\Users\Юра\Desktop\сетев прот през\Сетевые_протоколы_в_инфокоммуникациях 2021\Изображения\Лекция_5_Стек_протоколов_TCP_IP\20) Система буферов ТСР-соединения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4212" y="1600200"/>
            <a:ext cx="5815575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080578568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666530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7.Алгоритм работы ТСР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7.1.  Алгоритм работы ТСР(1)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80728"/>
            <a:ext cx="8892480" cy="587727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2060"/>
                </a:solidFill>
              </a:rPr>
              <a:t>Алгоритм работы TCP следующий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1.  </a:t>
            </a:r>
            <a:r>
              <a:rPr lang="ru-RU" dirty="0" smtClean="0">
                <a:solidFill>
                  <a:srgbClr val="002060"/>
                </a:solidFill>
              </a:rPr>
              <a:t>Используя трехкратное рук</a:t>
            </a:r>
            <a:r>
              <a:rPr lang="ru-RU" dirty="0" smtClean="0"/>
              <a:t>опожатие, между двумя узлами создаётся сеанс связи.</a:t>
            </a:r>
          </a:p>
          <a:p>
            <a:pPr>
              <a:buNone/>
            </a:pPr>
            <a:r>
              <a:rPr lang="ru-RU" dirty="0" smtClean="0"/>
              <a:t>2.  При отправке </a:t>
            </a:r>
            <a:r>
              <a:rPr lang="ru-RU" dirty="0" smtClean="0">
                <a:solidFill>
                  <a:srgbClr val="002060"/>
                </a:solidFill>
              </a:rPr>
              <a:t>пакетов узлы последовательно нумеруют их и рассчитывают контрольную сумму</a:t>
            </a:r>
            <a:r>
              <a:rPr lang="ru-RU" dirty="0" smtClean="0"/>
              <a:t>.</a:t>
            </a:r>
          </a:p>
          <a:p>
            <a:pPr marL="514350" indent="-514350">
              <a:buAutoNum type="arabicPeriod" startAt="3"/>
            </a:pPr>
            <a:r>
              <a:rPr lang="ru-RU" dirty="0" smtClean="0"/>
              <a:t>Поскольку все пакеты имеют последовательные номера, то </a:t>
            </a:r>
            <a:r>
              <a:rPr lang="ru-RU" dirty="0" smtClean="0">
                <a:solidFill>
                  <a:srgbClr val="002060"/>
                </a:solidFill>
              </a:rPr>
              <a:t>на приеме видно - какие-то из них отсутствуют. </a:t>
            </a:r>
          </a:p>
          <a:p>
            <a:pPr marL="514350" indent="-514350">
              <a:buNone/>
            </a:pPr>
            <a:r>
              <a:rPr lang="ru-RU" dirty="0" smtClean="0"/>
              <a:t>   В этом случае отправляется </a:t>
            </a:r>
            <a:r>
              <a:rPr lang="ru-RU" dirty="0" smtClean="0">
                <a:solidFill>
                  <a:srgbClr val="002060"/>
                </a:solidFill>
              </a:rPr>
              <a:t>запрос на повторную отправку пакета.</a:t>
            </a:r>
          </a:p>
          <a:p>
            <a:pPr>
              <a:buNone/>
            </a:pPr>
            <a:r>
              <a:rPr lang="ru-RU" dirty="0" smtClean="0"/>
              <a:t>4. Если для какого-то пакета </a:t>
            </a:r>
            <a:r>
              <a:rPr lang="ru-RU" dirty="0" smtClean="0">
                <a:solidFill>
                  <a:srgbClr val="002060"/>
                </a:solidFill>
              </a:rPr>
              <a:t>не совпала контрольная сумма, то отправляется запрос на повторную отправку пакета.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Алгоритм работы ТСР(2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64704"/>
            <a:ext cx="8686800" cy="5904656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5.  При открытии даже одной веб странички создаются несколько TCP соединений для:</a:t>
            </a:r>
          </a:p>
          <a:p>
            <a:pPr>
              <a:buNone/>
            </a:pPr>
            <a:r>
              <a:rPr lang="ru-RU" dirty="0" smtClean="0"/>
              <a:t>          - html страницы;</a:t>
            </a:r>
          </a:p>
          <a:p>
            <a:pPr>
              <a:buNone/>
            </a:pPr>
            <a:r>
              <a:rPr lang="ru-RU" dirty="0" smtClean="0"/>
              <a:t>          - каждого CSS и JavaScript файлов;</a:t>
            </a:r>
          </a:p>
          <a:p>
            <a:pPr>
              <a:buNone/>
            </a:pPr>
            <a:r>
              <a:rPr lang="ru-RU" dirty="0" smtClean="0"/>
              <a:t>          - каждого изображения.</a:t>
            </a:r>
          </a:p>
          <a:p>
            <a:pPr>
              <a:buNone/>
            </a:pPr>
            <a:r>
              <a:rPr lang="ru-RU" dirty="0" smtClean="0"/>
              <a:t>6.  И для каждого такого соединения вначале устанавливается сеанс, что замедляет передачу данных.</a:t>
            </a:r>
          </a:p>
          <a:p>
            <a:endParaRPr lang="ru-RU" dirty="0"/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504056"/>
          </a:xfrm>
        </p:spPr>
        <p:txBody>
          <a:bodyPr>
            <a:normAutofit fontScale="90000"/>
          </a:bodyPr>
          <a:lstStyle/>
          <a:p>
            <a:r>
              <a:rPr lang="ru-RU" sz="4000" u="sng" dirty="0" smtClean="0">
                <a:solidFill>
                  <a:srgbClr val="7030A0"/>
                </a:solidFill>
              </a:rPr>
              <a:t>7.2.  Установление  соединения</a:t>
            </a:r>
            <a:r>
              <a:rPr lang="ru-RU" dirty="0" smtClean="0">
                <a:solidFill>
                  <a:srgbClr val="7030A0"/>
                </a:solidFill>
              </a:rPr>
              <a:t>.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77500" lnSpcReduction="20000"/>
          </a:bodyPr>
          <a:lstStyle/>
          <a:p>
            <a:r>
              <a:rPr lang="ru-RU" u="sng" dirty="0" smtClean="0">
                <a:solidFill>
                  <a:srgbClr val="002060"/>
                </a:solidFill>
              </a:rPr>
              <a:t>Первый этап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       Клиент отправляет на сервер пакет с флагом 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SYN. </a:t>
            </a:r>
          </a:p>
          <a:p>
            <a:pPr>
              <a:buNone/>
            </a:pPr>
            <a:r>
              <a:rPr lang="ru-RU" dirty="0" smtClean="0"/>
              <a:t>      При этом клиент устанавливает порядковый номер сегмента -  случайное значение A.</a:t>
            </a:r>
          </a:p>
          <a:p>
            <a:r>
              <a:rPr lang="ru-RU" u="sng" dirty="0" smtClean="0">
                <a:solidFill>
                  <a:srgbClr val="002060"/>
                </a:solidFill>
              </a:rPr>
              <a:t>Второй этап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ru-RU" dirty="0" smtClean="0">
                <a:solidFill>
                  <a:srgbClr val="002060"/>
                </a:solidFill>
              </a:rPr>
              <a:t>      </a:t>
            </a:r>
            <a:r>
              <a:rPr lang="ru-RU" dirty="0" smtClean="0"/>
              <a:t>В ответ сервер отвечает пакетом с флагами 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 и ACK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dirty="0" smtClean="0"/>
              <a:t>     Номер подтверждения установлен на единицу больше принятого (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A+1).</a:t>
            </a:r>
          </a:p>
          <a:p>
            <a:pPr>
              <a:buNone/>
            </a:pPr>
            <a:r>
              <a:rPr lang="ru-RU" dirty="0" smtClean="0"/>
              <a:t>    Поскольку сервер также будет отправлять данные, то для себя он тоже выбирает номер первого пакета, который будет другим случайным числом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B.</a:t>
            </a:r>
          </a:p>
          <a:p>
            <a:r>
              <a:rPr lang="ru-RU" u="sng" dirty="0" smtClean="0">
                <a:solidFill>
                  <a:srgbClr val="002060"/>
                </a:solidFill>
              </a:rPr>
              <a:t>Третий этап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dirty="0" smtClean="0"/>
              <a:t>     Клиент отправляет 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ACK</a:t>
            </a:r>
            <a:r>
              <a:rPr lang="ru-RU" dirty="0" smtClean="0"/>
              <a:t> на сервер. </a:t>
            </a:r>
          </a:p>
          <a:p>
            <a:pPr>
              <a:buNone/>
            </a:pPr>
            <a:r>
              <a:rPr lang="ru-RU" dirty="0" smtClean="0"/>
              <a:t>     Порядковый номер устанавливается равным 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A+1,   </a:t>
            </a:r>
          </a:p>
          <a:p>
            <a:pPr>
              <a:buNone/>
            </a:pP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ru-RU" dirty="0" smtClean="0"/>
              <a:t>а номер подтверждения устанавливается на </a:t>
            </a:r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B+1</a:t>
            </a:r>
            <a:r>
              <a:rPr lang="ru-RU" dirty="0" smtClean="0"/>
              <a:t>.</a:t>
            </a:r>
          </a:p>
          <a:p>
            <a:r>
              <a:rPr lang="ru-RU" dirty="0" smtClean="0"/>
              <a:t>На этом этапе клиент и сервер получили подтверждение соединения и образовали двухстороннюю связь.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ru-RU" sz="4000" dirty="0" smtClean="0">
                <a:solidFill>
                  <a:srgbClr val="7030A0"/>
                </a:solidFill>
              </a:rPr>
              <a:t> </a:t>
            </a:r>
            <a:r>
              <a:rPr lang="ru-RU" sz="4000" dirty="0">
                <a:solidFill>
                  <a:srgbClr val="7030A0"/>
                </a:solidFill>
              </a:rPr>
              <a:t>Флаги в заголовке ТСР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9036496" cy="5805264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ru-RU" sz="18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ACK. </a:t>
            </a:r>
          </a:p>
          <a:p>
            <a:pPr lvl="0" algn="just">
              <a:buNone/>
            </a:pPr>
            <a:r>
              <a:rPr lang="ru-RU" sz="1800" dirty="0" smtClean="0">
                <a:solidFill>
                  <a:prstClr val="black"/>
                </a:solidFill>
              </a:rPr>
              <a:t>    Устанавливается</a:t>
            </a:r>
            <a:r>
              <a:rPr lang="ru-RU" sz="1800" dirty="0">
                <a:solidFill>
                  <a:prstClr val="black"/>
                </a:solidFill>
              </a:rPr>
              <a:t>, когда принимающая сторона подтверждает полученный </a:t>
            </a:r>
            <a:r>
              <a:rPr lang="ru-RU" sz="1800" dirty="0" smtClean="0">
                <a:solidFill>
                  <a:prstClr val="black"/>
                </a:solidFill>
              </a:rPr>
              <a:t>пакет , чтобы </a:t>
            </a:r>
            <a:r>
              <a:rPr lang="ru-RU" sz="1800" dirty="0">
                <a:solidFill>
                  <a:prstClr val="black"/>
                </a:solidFill>
              </a:rPr>
              <a:t>отправитель знал, какие пакеты уже были доставлены получателю.</a:t>
            </a:r>
          </a:p>
          <a:p>
            <a:pPr lvl="0" algn="just">
              <a:buNone/>
            </a:pPr>
            <a:r>
              <a:rPr lang="ru-RU" sz="1800" dirty="0">
                <a:solidFill>
                  <a:prstClr val="black"/>
                </a:solidFill>
              </a:rPr>
              <a:t> </a:t>
            </a:r>
            <a:r>
              <a:rPr lang="ru-RU" sz="1800" dirty="0" smtClean="0">
                <a:solidFill>
                  <a:prstClr val="black"/>
                </a:solidFill>
              </a:rPr>
              <a:t>   При </a:t>
            </a:r>
            <a:r>
              <a:rPr lang="ru-RU" sz="1800" dirty="0">
                <a:solidFill>
                  <a:prstClr val="black"/>
                </a:solidFill>
              </a:rPr>
              <a:t>этом в поле </a:t>
            </a:r>
            <a:r>
              <a:rPr lang="ru-RU" sz="1800" dirty="0" err="1">
                <a:solidFill>
                  <a:srgbClr val="002060"/>
                </a:solidFill>
              </a:rPr>
              <a:t>acknowledgment</a:t>
            </a:r>
            <a:r>
              <a:rPr lang="ru-RU" sz="1800" dirty="0">
                <a:solidFill>
                  <a:srgbClr val="002060"/>
                </a:solidFill>
              </a:rPr>
              <a:t> </a:t>
            </a:r>
            <a:r>
              <a:rPr lang="ru-RU" sz="1800" dirty="0" err="1">
                <a:solidFill>
                  <a:srgbClr val="002060"/>
                </a:solidFill>
              </a:rPr>
              <a:t>number</a:t>
            </a:r>
            <a:r>
              <a:rPr lang="ru-RU" sz="1800" dirty="0">
                <a:solidFill>
                  <a:prstClr val="black"/>
                </a:solidFill>
              </a:rPr>
              <a:t> записывается номер подтверждаемого пакета</a:t>
            </a:r>
            <a:r>
              <a:rPr lang="ru-RU" sz="1800" dirty="0" smtClean="0">
                <a:solidFill>
                  <a:prstClr val="black"/>
                </a:solidFill>
              </a:rPr>
              <a:t>.</a:t>
            </a:r>
            <a:endParaRPr lang="ru-RU" sz="1800" dirty="0">
              <a:solidFill>
                <a:prstClr val="black"/>
              </a:solidFill>
            </a:endParaRPr>
          </a:p>
          <a:p>
            <a:pPr lvl="0"/>
            <a:r>
              <a:rPr lang="ru-RU" sz="20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</a:t>
            </a:r>
            <a:r>
              <a:rPr lang="ru-RU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ru-RU" sz="2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       Данный </a:t>
            </a:r>
            <a:r>
              <a:rPr lang="ru-RU" sz="2000" dirty="0">
                <a:solidFill>
                  <a:prstClr val="black"/>
                </a:solidFill>
              </a:rPr>
              <a:t>флаг означает начало соединения. </a:t>
            </a:r>
            <a:endParaRPr lang="ru-RU" sz="2000" dirty="0" smtClean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smtClean="0">
                <a:solidFill>
                  <a:prstClr val="black"/>
                </a:solidFill>
              </a:rPr>
              <a:t>      Он </a:t>
            </a:r>
            <a:r>
              <a:rPr lang="ru-RU" sz="2000" dirty="0">
                <a:solidFill>
                  <a:prstClr val="black"/>
                </a:solidFill>
              </a:rPr>
              <a:t>также синхронизирует начальные номера</a:t>
            </a:r>
            <a:r>
              <a:rPr lang="ru-RU" sz="2000" dirty="0" smtClean="0">
                <a:solidFill>
                  <a:prstClr val="black"/>
                </a:solidFill>
              </a:rPr>
              <a:t>.</a:t>
            </a: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ru-RU" sz="2000" dirty="0" smtClean="0">
                <a:solidFill>
                  <a:prstClr val="black"/>
                </a:solidFill>
              </a:rPr>
              <a:t>       Первый </a:t>
            </a:r>
            <a:r>
              <a:rPr lang="ru-RU" sz="2000" dirty="0">
                <a:solidFill>
                  <a:prstClr val="black"/>
                </a:solidFill>
              </a:rPr>
              <a:t>пакет, отправленный с каждой стороны, должен иметь этот флаг.</a:t>
            </a:r>
          </a:p>
          <a:p>
            <a:pPr lvl="0"/>
            <a:r>
              <a:rPr lang="ru-RU" sz="20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</a:t>
            </a:r>
            <a:r>
              <a:rPr lang="ru-RU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ru-RU" sz="2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     Сообщает </a:t>
            </a:r>
            <a:r>
              <a:rPr lang="ru-RU" sz="2000" dirty="0">
                <a:solidFill>
                  <a:prstClr val="black"/>
                </a:solidFill>
              </a:rPr>
              <a:t>другой стороне что все пакеты были отправлены, и соединение </a:t>
            </a:r>
            <a:r>
              <a:rPr lang="ru-RU" sz="2000" dirty="0" smtClean="0">
                <a:solidFill>
                  <a:prstClr val="black"/>
                </a:solidFill>
              </a:rPr>
              <a:t>     пора </a:t>
            </a:r>
            <a:r>
              <a:rPr lang="ru-RU" sz="2000" dirty="0">
                <a:solidFill>
                  <a:prstClr val="black"/>
                </a:solidFill>
              </a:rPr>
              <a:t>завершить</a:t>
            </a:r>
            <a:r>
              <a:rPr lang="ru-RU" sz="2000" dirty="0" smtClean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ru-RU" sz="20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PSH </a:t>
            </a:r>
            <a:r>
              <a:rPr lang="ru-RU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ru-RU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Push</a:t>
            </a:r>
            <a:r>
              <a:rPr lang="ru-RU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marL="0" lvl="0" indent="0"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      Обычно </a:t>
            </a:r>
            <a:r>
              <a:rPr lang="ru-RU" sz="2000" dirty="0">
                <a:solidFill>
                  <a:prstClr val="black"/>
                </a:solidFill>
              </a:rPr>
              <a:t>получатель не подтверждает каждый пакет при получении</a:t>
            </a:r>
            <a:r>
              <a:rPr lang="ru-RU" sz="2000" dirty="0" smtClean="0">
                <a:solidFill>
                  <a:prstClr val="black"/>
                </a:solidFill>
              </a:rPr>
              <a:t>.</a:t>
            </a:r>
          </a:p>
          <a:p>
            <a:pPr marL="0" lvl="0" indent="0"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      Вместо </a:t>
            </a:r>
            <a:r>
              <a:rPr lang="ru-RU" sz="2000" dirty="0">
                <a:solidFill>
                  <a:prstClr val="black"/>
                </a:solidFill>
              </a:rPr>
              <a:t>этого пакеты накапливаются в буфере, пока не передадутся приложению</a:t>
            </a:r>
            <a:r>
              <a:rPr lang="ru-RU" sz="2000" dirty="0" smtClean="0">
                <a:solidFill>
                  <a:prstClr val="black"/>
                </a:solidFill>
              </a:rPr>
              <a:t>.</a:t>
            </a:r>
          </a:p>
          <a:p>
            <a:pPr marL="0" lvl="0" indent="0">
              <a:buNone/>
            </a:pPr>
            <a:r>
              <a:rPr lang="ru-RU" sz="2000" dirty="0" smtClean="0">
                <a:solidFill>
                  <a:prstClr val="black"/>
                </a:solidFill>
              </a:rPr>
              <a:t>        </a:t>
            </a:r>
            <a:r>
              <a:rPr lang="ru-RU" sz="2000" dirty="0">
                <a:solidFill>
                  <a:prstClr val="black"/>
                </a:solidFill>
              </a:rPr>
              <a:t>Данный флаг сообщает получателю, что нужно немедленно передать всё из буфера приложению и сразу же отправить </a:t>
            </a:r>
            <a:r>
              <a:rPr lang="ru-RU" sz="2000" dirty="0" smtClean="0">
                <a:solidFill>
                  <a:prstClr val="black"/>
                </a:solidFill>
              </a:rPr>
              <a:t>подтверждение.</a:t>
            </a:r>
            <a:endParaRPr lang="ru-RU" sz="2000" dirty="0">
              <a:solidFill>
                <a:prstClr val="black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03270678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TCP сессии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64704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Для установления соединения использует трехкратное рукопожатие.</a:t>
            </a:r>
            <a:endParaRPr lang="ru-RU" dirty="0"/>
          </a:p>
        </p:txBody>
      </p:sp>
      <p:pic>
        <p:nvPicPr>
          <p:cNvPr id="4" name="Picture 3" descr="C:\Users\Юра\Downloads\TCP рукопожатие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708920"/>
            <a:ext cx="7992888" cy="37444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576064"/>
          </a:xfrm>
        </p:spPr>
        <p:txBody>
          <a:bodyPr>
            <a:noAutofit/>
          </a:bodyPr>
          <a:lstStyle/>
          <a:p>
            <a:r>
              <a:rPr lang="ru-RU" sz="3600" u="sng" dirty="0" smtClean="0">
                <a:solidFill>
                  <a:srgbClr val="7030A0"/>
                </a:solidFill>
              </a:rPr>
              <a:t>7.3Передача данных в TCP</a:t>
            </a:r>
            <a:br>
              <a:rPr lang="ru-RU" sz="3600" u="sng" dirty="0" smtClean="0">
                <a:solidFill>
                  <a:srgbClr val="7030A0"/>
                </a:solidFill>
              </a:rPr>
            </a:br>
            <a:endParaRPr lang="ru-RU" sz="3600" u="sng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936104"/>
          </a:xfrm>
        </p:spPr>
        <p:txBody>
          <a:bodyPr>
            <a:normAutofit lnSpcReduction="10000"/>
          </a:bodyPr>
          <a:lstStyle/>
          <a:p>
            <a:r>
              <a:rPr lang="ru-RU" sz="2800" dirty="0" smtClean="0"/>
              <a:t>Теперь разберём пример передачи данных в уже установленном сеансе.</a:t>
            </a:r>
            <a:endParaRPr lang="ru-RU" sz="2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62880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u="sng" dirty="0" smtClean="0">
                <a:solidFill>
                  <a:srgbClr val="002060"/>
                </a:solidFill>
              </a:rPr>
              <a:t> 1) Клиент отравляет запрос к серверу</a:t>
            </a:r>
            <a:r>
              <a:rPr lang="ru-RU" sz="2400" dirty="0" smtClean="0"/>
              <a:t>. </a:t>
            </a:r>
          </a:p>
          <a:p>
            <a:r>
              <a:rPr lang="ru-RU" sz="2400" dirty="0" smtClean="0"/>
              <a:t>Поскольку данные поместились в один пакет TCP, он получил флаг 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PSH</a:t>
            </a:r>
            <a:r>
              <a:rPr lang="ru-RU" sz="2400" dirty="0" smtClean="0"/>
              <a:t>, чтобы сервер не ждал продолжение получения данных. При этом в пакете будет 2 флага:</a:t>
            </a:r>
          </a:p>
          <a:p>
            <a:r>
              <a:rPr lang="ru-RU" sz="2400" dirty="0" smtClean="0"/>
              <a:t> - 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ACK</a:t>
            </a:r>
            <a:r>
              <a:rPr lang="ru-RU" sz="2400" dirty="0" smtClean="0"/>
              <a:t> (подтвердил предыдущею передачу пакетов от сервера)                       </a:t>
            </a:r>
            <a:r>
              <a:rPr lang="ru-RU" sz="2400" dirty="0"/>
              <a:t> </a:t>
            </a:r>
            <a:r>
              <a:rPr lang="ru-RU" sz="2400" dirty="0" smtClean="0"/>
              <a:t>        - </a:t>
            </a:r>
            <a:r>
              <a:rPr lang="ru-RU" sz="2400" dirty="0" smtClean="0">
                <a:solidFill>
                  <a:srgbClr val="002060"/>
                </a:solidFill>
              </a:rPr>
              <a:t>PSH (необходимость отправки)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r>
              <a:rPr lang="ru-RU" sz="2400" dirty="0" smtClean="0"/>
              <a:t>  2) В ответ на это </a:t>
            </a:r>
            <a:r>
              <a:rPr lang="ru-RU" sz="2400" u="sng" dirty="0" smtClean="0">
                <a:solidFill>
                  <a:srgbClr val="002060"/>
                </a:solidFill>
              </a:rPr>
              <a:t>сервер отправляет пакет 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ACK</a:t>
            </a:r>
            <a:r>
              <a:rPr lang="ru-RU" sz="2400" u="sng" dirty="0" smtClean="0">
                <a:solidFill>
                  <a:srgbClr val="002060"/>
                </a:solidFill>
              </a:rPr>
              <a:t> с номером успешно полученных данных.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  3 ) Далее </a:t>
            </a:r>
            <a:r>
              <a:rPr lang="ru-RU" sz="2400" u="sng" dirty="0" smtClean="0">
                <a:solidFill>
                  <a:srgbClr val="002060"/>
                </a:solidFill>
              </a:rPr>
              <a:t>сервер обработал запрос и отправляет данные клиенту</a:t>
            </a:r>
            <a:r>
              <a:rPr lang="ru-RU" sz="2400" dirty="0" smtClean="0">
                <a:solidFill>
                  <a:srgbClr val="002060"/>
                </a:solidFill>
              </a:rPr>
              <a:t>.   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          </a:t>
            </a:r>
            <a:r>
              <a:rPr lang="ru-RU" sz="2400" dirty="0" smtClean="0"/>
              <a:t>Эти данные делятся на пакеты и отправляются сегментами.</a:t>
            </a:r>
          </a:p>
          <a:p>
            <a:endParaRPr lang="ru-RU" sz="2400" dirty="0" smtClean="0"/>
          </a:p>
          <a:p>
            <a:r>
              <a:rPr lang="ru-RU" sz="2400" dirty="0" smtClean="0"/>
              <a:t>   </a:t>
            </a:r>
            <a:r>
              <a:rPr lang="ru-RU" sz="2400" dirty="0" smtClean="0">
                <a:solidFill>
                  <a:srgbClr val="002060"/>
                </a:solidFill>
              </a:rPr>
              <a:t>4)Далее </a:t>
            </a:r>
            <a:r>
              <a:rPr lang="ru-RU" sz="2400" u="sng" dirty="0" smtClean="0">
                <a:solidFill>
                  <a:srgbClr val="002060"/>
                </a:solidFill>
              </a:rPr>
              <a:t>клиент подтверждает, что данные получены, отправляя пакеты с флагом 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ACK</a:t>
            </a:r>
            <a:endParaRPr lang="ru-RU" sz="2400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Передача данных ТСР</a:t>
            </a:r>
            <a:endParaRPr lang="ru-RU" dirty="0"/>
          </a:p>
        </p:txBody>
      </p:sp>
      <p:pic>
        <p:nvPicPr>
          <p:cNvPr id="3074" name="Picture 2" descr="C:\Users\Юра\Downloads\передача данных TCP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0237" y="2701131"/>
            <a:ext cx="5343525" cy="2324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040" y="404664"/>
            <a:ext cx="8640960" cy="270792"/>
          </a:xfrm>
        </p:spPr>
        <p:txBody>
          <a:bodyPr>
            <a:noAutofit/>
          </a:bodyPr>
          <a:lstStyle/>
          <a:p>
            <a:r>
              <a:rPr lang="ru-RU" sz="3600" u="sng" dirty="0" smtClean="0">
                <a:solidFill>
                  <a:srgbClr val="7030A0"/>
                </a:solidFill>
              </a:rPr>
              <a:t>7. 4Завершение сеанса TCP</a:t>
            </a:r>
            <a:r>
              <a:rPr lang="ru-RU" sz="3600" u="sng" dirty="0" smtClean="0"/>
              <a:t/>
            </a:r>
            <a:br>
              <a:rPr lang="ru-RU" sz="3600" u="sng" dirty="0" smtClean="0"/>
            </a:br>
            <a:endParaRPr lang="ru-RU" sz="3600" u="sng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6093296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1) </a:t>
            </a:r>
            <a:r>
              <a:rPr lang="ru-RU" dirty="0" smtClean="0"/>
              <a:t>Когда </a:t>
            </a:r>
            <a:r>
              <a:rPr lang="ru-RU" dirty="0" smtClean="0">
                <a:solidFill>
                  <a:srgbClr val="002060"/>
                </a:solidFill>
              </a:rPr>
              <a:t>одна из сторон хочет закончить соединение </a:t>
            </a:r>
            <a:r>
              <a:rPr lang="ru-RU" dirty="0" smtClean="0"/>
              <a:t>,</a:t>
            </a:r>
          </a:p>
          <a:p>
            <a:pPr>
              <a:buNone/>
            </a:pPr>
            <a:r>
              <a:rPr lang="ru-RU" dirty="0" smtClean="0"/>
              <a:t>     она передаёт пакет 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</a:t>
            </a:r>
            <a:r>
              <a:rPr lang="ru-RU" dirty="0" smtClean="0"/>
              <a:t>, который другая сторона подтверждает пакетом с 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ACK</a:t>
            </a:r>
            <a:r>
              <a:rPr lang="ru-RU" dirty="0" smtClean="0"/>
              <a:t>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2) </a:t>
            </a:r>
            <a:r>
              <a:rPr lang="ru-RU" dirty="0" smtClean="0"/>
              <a:t>После того, как сторона, отправившая первый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FIN</a:t>
            </a:r>
            <a:r>
              <a:rPr lang="ru-RU" dirty="0" smtClean="0"/>
              <a:t>, ответила с последним </a:t>
            </a:r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ACK</a:t>
            </a:r>
            <a:r>
              <a:rPr lang="ru-RU" dirty="0" smtClean="0"/>
              <a:t>, она ожидает некоторое время прежде чем окончательно закрыть соединение</a:t>
            </a:r>
          </a:p>
          <a:p>
            <a:pPr>
              <a:buNone/>
            </a:pPr>
            <a:r>
              <a:rPr lang="ru-RU" dirty="0" smtClean="0"/>
              <a:t>   В течение этого времени локальный порт недоступен для новых соединений.</a:t>
            </a:r>
          </a:p>
          <a:p>
            <a:pPr>
              <a:buNone/>
            </a:pPr>
            <a:r>
              <a:rPr lang="ru-RU" dirty="0" smtClean="0"/>
              <a:t>   Соединение может быть «полуоткрытым», и в этом случае одна сторона завершила свою часть, а другая — нет.</a:t>
            </a:r>
          </a:p>
          <a:p>
            <a:pPr>
              <a:buNone/>
            </a:pPr>
            <a:r>
              <a:rPr lang="ru-RU" dirty="0" smtClean="0"/>
              <a:t>    Завершившая сторона больше не может отправлять какие-либо данные, но другая сторона может.</a:t>
            </a:r>
          </a:p>
          <a:p>
            <a:pPr>
              <a:buNone/>
            </a:pPr>
            <a:r>
              <a:rPr lang="ru-RU" dirty="0" smtClean="0"/>
              <a:t>   Завершающая сторона должна продолжить чтение данных, пока другая сторона также не завершит свою работу.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3).</a:t>
            </a:r>
            <a:r>
              <a:rPr lang="ru-RU" dirty="0" smtClean="0"/>
              <a:t>Также возможно </a:t>
            </a:r>
            <a:r>
              <a:rPr lang="ru-RU" dirty="0" smtClean="0">
                <a:solidFill>
                  <a:srgbClr val="002060"/>
                </a:solidFill>
              </a:rPr>
              <a:t>разорвать соединение трёхкратным рукопожатием, </a:t>
            </a:r>
            <a:r>
              <a:rPr lang="ru-RU" dirty="0" smtClean="0"/>
              <a:t>когда первая сторона отправляет </a:t>
            </a:r>
            <a:r>
              <a:rPr lang="ru-RU" b="1" dirty="0" smtClean="0"/>
              <a:t>FIN</a:t>
            </a:r>
            <a:r>
              <a:rPr lang="ru-RU" dirty="0" smtClean="0"/>
              <a:t>, а вторая отвечает </a:t>
            </a:r>
            <a:r>
              <a:rPr lang="ru-RU" b="1" dirty="0" smtClean="0"/>
              <a:t>FIN</a:t>
            </a:r>
            <a:r>
              <a:rPr lang="ru-RU" dirty="0" smtClean="0"/>
              <a:t> и </a:t>
            </a:r>
            <a:r>
              <a:rPr lang="ru-RU" b="1" dirty="0" smtClean="0"/>
              <a:t>ACK</a:t>
            </a:r>
            <a:r>
              <a:rPr lang="ru-RU" dirty="0" smtClean="0"/>
              <a:t> (просто объединяет 2 шага в один).</a:t>
            </a:r>
          </a:p>
          <a:p>
            <a:pPr>
              <a:buNone/>
            </a:pPr>
            <a:r>
              <a:rPr lang="ru-RU" dirty="0" smtClean="0"/>
              <a:t>   Дальше первая сторона подтверждает завершение сеанса с помощью </a:t>
            </a:r>
            <a:r>
              <a:rPr lang="ru-RU" b="1" dirty="0" smtClean="0"/>
              <a:t>ACK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81034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Завершение сеанса TCP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1584175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Завершение сеанса использует четырёхкратное рукопожатие, причём каждая сторона завершает своё соединение независимо.</a:t>
            </a:r>
          </a:p>
          <a:p>
            <a:endParaRPr lang="ru-RU" dirty="0"/>
          </a:p>
        </p:txBody>
      </p:sp>
      <p:pic>
        <p:nvPicPr>
          <p:cNvPr id="4" name="Picture 2" descr="C:\Users\Юра\Downloads\завершение сеанса TC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708920"/>
            <a:ext cx="8424936" cy="3600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7.5 Состояния сеанса TCP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692696"/>
            <a:ext cx="8686800" cy="616530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u="sng" dirty="0" smtClean="0">
                <a:solidFill>
                  <a:srgbClr val="002060"/>
                </a:solidFill>
              </a:rPr>
              <a:t>Сеанс TCP может находится в следующих состояниях:</a:t>
            </a:r>
          </a:p>
          <a:p>
            <a:r>
              <a:rPr lang="ru-RU" b="1" dirty="0" smtClean="0"/>
              <a:t>CLOSED</a:t>
            </a:r>
            <a:r>
              <a:rPr lang="ru-RU" dirty="0" smtClean="0"/>
              <a:t> – начальное состояние;</a:t>
            </a:r>
          </a:p>
          <a:p>
            <a:r>
              <a:rPr lang="ru-RU" b="1" dirty="0" smtClean="0"/>
              <a:t>LISTEN</a:t>
            </a:r>
            <a:r>
              <a:rPr lang="ru-RU" dirty="0" smtClean="0"/>
              <a:t> – сервер ожидает запросы от клиента;</a:t>
            </a:r>
          </a:p>
          <a:p>
            <a:r>
              <a:rPr lang="ru-RU" b="1" dirty="0" smtClean="0"/>
              <a:t>SYN-SENT</a:t>
            </a:r>
            <a:r>
              <a:rPr lang="ru-RU" dirty="0" smtClean="0"/>
              <a:t> – клиент хочет установить соединение с сервером и ожидает подтверждение;</a:t>
            </a:r>
          </a:p>
          <a:p>
            <a:r>
              <a:rPr lang="ru-RU" b="1" dirty="0" smtClean="0"/>
              <a:t>SYN-RECEIVED</a:t>
            </a:r>
            <a:r>
              <a:rPr lang="ru-RU" dirty="0" smtClean="0"/>
              <a:t> – сервер получил запрос на создание сеанса, отправил ответный запрос и ожидает подтверждение;</a:t>
            </a:r>
          </a:p>
          <a:p>
            <a:r>
              <a:rPr lang="ru-RU" b="1" dirty="0" smtClean="0"/>
              <a:t>ESTABLISHED</a:t>
            </a:r>
            <a:r>
              <a:rPr lang="ru-RU" dirty="0" smtClean="0"/>
              <a:t> – соединение установлено, идёт передача данных;</a:t>
            </a:r>
          </a:p>
          <a:p>
            <a:r>
              <a:rPr lang="ru-RU" b="1" dirty="0" smtClean="0"/>
              <a:t>FIN-WAIT-1</a:t>
            </a:r>
            <a:r>
              <a:rPr lang="ru-RU" dirty="0" smtClean="0"/>
              <a:t> – одна из сторон завершает соединение, отправив флаг </a:t>
            </a:r>
            <a:r>
              <a:rPr lang="ru-RU" b="1" dirty="0" smtClean="0"/>
              <a:t>FIN</a:t>
            </a:r>
            <a:r>
              <a:rPr lang="ru-RU" dirty="0" smtClean="0"/>
              <a:t>;</a:t>
            </a:r>
          </a:p>
          <a:p>
            <a:r>
              <a:rPr lang="ru-RU" b="1" dirty="0" smtClean="0"/>
              <a:t>CLOSE-WAIT</a:t>
            </a:r>
            <a:r>
              <a:rPr lang="ru-RU" dirty="0" smtClean="0"/>
              <a:t> – другая сторона переходит в это состояние, отправив подтверждение на </a:t>
            </a:r>
            <a:r>
              <a:rPr lang="ru-RU" b="1" dirty="0" smtClean="0"/>
              <a:t>FIN</a:t>
            </a:r>
            <a:r>
              <a:rPr lang="ru-RU" dirty="0" smtClean="0"/>
              <a:t>, но продолжает передачу;</a:t>
            </a:r>
          </a:p>
          <a:p>
            <a:r>
              <a:rPr lang="ru-RU" b="1" dirty="0" smtClean="0"/>
              <a:t>FIN-WAIT-2</a:t>
            </a:r>
            <a:r>
              <a:rPr lang="ru-RU" dirty="0" smtClean="0"/>
              <a:t> – первый узел получил </a:t>
            </a:r>
            <a:r>
              <a:rPr lang="ru-RU" b="1" dirty="0" smtClean="0"/>
              <a:t>ACK</a:t>
            </a:r>
            <a:r>
              <a:rPr lang="ru-RU" dirty="0" smtClean="0"/>
              <a:t>, разорвал свое соединение, но еще читает данные;</a:t>
            </a:r>
          </a:p>
          <a:p>
            <a:r>
              <a:rPr lang="ru-RU" b="1" dirty="0" smtClean="0"/>
              <a:t>LAST-ACK</a:t>
            </a:r>
            <a:r>
              <a:rPr lang="ru-RU" dirty="0" smtClean="0"/>
              <a:t> – второй узел заканчивает передачу и отправляет флаг </a:t>
            </a:r>
            <a:r>
              <a:rPr lang="ru-RU" b="1" dirty="0" smtClean="0"/>
              <a:t>FIN</a:t>
            </a:r>
            <a:r>
              <a:rPr lang="ru-RU" dirty="0" smtClean="0"/>
              <a:t>;</a:t>
            </a:r>
          </a:p>
          <a:p>
            <a:r>
              <a:rPr lang="ru-RU" b="1" dirty="0" smtClean="0"/>
              <a:t>TIME-WAIT</a:t>
            </a:r>
            <a:r>
              <a:rPr lang="ru-RU" dirty="0" smtClean="0"/>
              <a:t> – сервер получил пакет с флагом </a:t>
            </a:r>
            <a:r>
              <a:rPr lang="ru-RU" b="1" dirty="0" smtClean="0"/>
              <a:t>FIN</a:t>
            </a:r>
            <a:r>
              <a:rPr lang="ru-RU" dirty="0" smtClean="0"/>
              <a:t>, отправил флаг </a:t>
            </a:r>
            <a:r>
              <a:rPr lang="ru-RU" b="1" dirty="0" smtClean="0"/>
              <a:t>ACK</a:t>
            </a:r>
            <a:r>
              <a:rPr lang="ru-RU" dirty="0" smtClean="0"/>
              <a:t> и ждёт некоторое время, перед окончательным закрытием соединения;</a:t>
            </a:r>
          </a:p>
          <a:p>
            <a:r>
              <a:rPr lang="ru-RU" b="1" dirty="0" smtClean="0"/>
              <a:t>CLOSING</a:t>
            </a:r>
            <a:r>
              <a:rPr lang="ru-RU" dirty="0" smtClean="0"/>
              <a:t> – обе стороны инициировали закрытие соединения одновременно.</a:t>
            </a:r>
          </a:p>
          <a:p>
            <a:r>
              <a:rPr lang="ru-RU" dirty="0" smtClean="0"/>
              <a:t>Итог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7030A0"/>
                </a:solidFill>
              </a:rPr>
              <a:t>Надежность и управление потоком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5400" dirty="0" smtClean="0">
                <a:solidFill>
                  <a:srgbClr val="C00000"/>
                </a:solidFill>
              </a:rPr>
              <a:t>выводы</a:t>
            </a:r>
            <a:endParaRPr lang="en-US" sz="5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06945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1. Надежность </a:t>
            </a:r>
            <a:r>
              <a:rPr lang="ru-RU" sz="3200" dirty="0">
                <a:solidFill>
                  <a:srgbClr val="7030A0"/>
                </a:solidFill>
              </a:rPr>
              <a:t>TCP: упорядоченная доставка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</a:rPr>
              <a:t>TCP также может помочь поддерживать поток пакетов, чтобы устройства не перегружались</a:t>
            </a:r>
            <a:r>
              <a:rPr lang="ru-RU" sz="2800" dirty="0" smtClean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Могут быть случаи, когда сегменты TCP не приходят к месту назначения.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Все данные должны быть получены и данные в этих сегментах должны быть собраны в исходном порядке.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</a:rPr>
              <a:t>Для этого в заголовке каждого пакета указываются порядковые номера</a:t>
            </a:r>
            <a:r>
              <a:rPr lang="ru-RU" sz="2800" dirty="0" smtClean="0">
                <a:solidFill>
                  <a:srgbClr val="00000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53931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964488" cy="648072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2. Надежность </a:t>
            </a:r>
            <a:r>
              <a:rPr lang="ru-RU" sz="2800" dirty="0">
                <a:solidFill>
                  <a:srgbClr val="7030A0"/>
                </a:solidFill>
              </a:rPr>
              <a:t>TCP: потеря данных и повторная передача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8"/>
            <a:ext cx="8376939" cy="5671084"/>
          </a:xfrm>
        </p:spPr>
        <p:txBody>
          <a:bodyPr>
            <a:normAutofit/>
          </a:bodyPr>
          <a:lstStyle/>
          <a:p>
            <a:pPr marL="0" indent="0"/>
            <a:r>
              <a:rPr lang="ru-RU" sz="2400" dirty="0" smtClean="0"/>
              <a:t>       Независимо </a:t>
            </a:r>
            <a:r>
              <a:rPr lang="ru-RU" sz="2400" dirty="0"/>
              <a:t>от того, насколько хорошо разработана сеть, </a:t>
            </a:r>
            <a:r>
              <a:rPr lang="ru-RU" sz="2400" dirty="0">
                <a:solidFill>
                  <a:srgbClr val="002060"/>
                </a:solidFill>
              </a:rPr>
              <a:t>иногда происходит потеря данных</a:t>
            </a:r>
            <a:r>
              <a:rPr lang="ru-RU" sz="2400" dirty="0"/>
              <a:t>.</a:t>
            </a:r>
          </a:p>
          <a:p>
            <a:pPr marL="0" indent="0"/>
            <a:r>
              <a:rPr lang="ru-RU" sz="2400" dirty="0" smtClean="0"/>
              <a:t>       Протокол </a:t>
            </a:r>
            <a:r>
              <a:rPr lang="ru-RU" sz="2400" dirty="0"/>
              <a:t>TCP обеспечивает возможности для управления потерянными </a:t>
            </a:r>
            <a:r>
              <a:rPr lang="ru-RU" sz="2400" dirty="0" smtClean="0"/>
              <a:t>сегментами.</a:t>
            </a:r>
          </a:p>
          <a:p>
            <a:pPr marL="0" indent="0"/>
            <a:r>
              <a:rPr lang="ru-RU" sz="2400" dirty="0" smtClean="0"/>
              <a:t>       Среди </a:t>
            </a:r>
            <a:r>
              <a:rPr lang="ru-RU" sz="2400" dirty="0"/>
              <a:t>них </a:t>
            </a:r>
            <a:r>
              <a:rPr lang="ru-RU" sz="2400" dirty="0">
                <a:solidFill>
                  <a:srgbClr val="002060"/>
                </a:solidFill>
              </a:rPr>
              <a:t>— механизм повторной передачи сегментов с данными, получение которых не было подтверждено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</a:p>
          <a:p>
            <a:pPr marL="0" indent="0"/>
            <a:r>
              <a:rPr lang="ru-RU" sz="2400" dirty="0" smtClean="0"/>
              <a:t>       В </a:t>
            </a:r>
            <a:r>
              <a:rPr lang="ru-RU" sz="2400" dirty="0"/>
              <a:t>настоящее время серверные операционные системы обычно используют опциональную функцию TCP</a:t>
            </a:r>
            <a:r>
              <a:rPr lang="ru-RU" sz="2400" dirty="0">
                <a:solidFill>
                  <a:srgbClr val="002060"/>
                </a:solidFill>
              </a:rPr>
              <a:t>, называемую выборочным подтверждением (SACK), </a:t>
            </a:r>
            <a:r>
              <a:rPr lang="ru-RU" sz="2400" dirty="0"/>
              <a:t>согласованную во время трехстороннего рукопожатия.</a:t>
            </a:r>
          </a:p>
          <a:p>
            <a:pPr marL="0" indent="0"/>
            <a:r>
              <a:rPr lang="ru-RU" sz="2400" dirty="0" smtClean="0"/>
              <a:t>       Если </a:t>
            </a:r>
            <a:r>
              <a:rPr lang="ru-RU" sz="2400" dirty="0"/>
              <a:t>оба узла поддерживают SACK, приемник может явно определить, какие сегменты (байты) были получены, включая любые сегменты прерывания.</a:t>
            </a:r>
          </a:p>
          <a:p>
            <a:pPr marL="0" indent="0">
              <a:buNone/>
            </a:pPr>
            <a:endParaRPr lang="ru-RU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9648657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92088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3. Управление </a:t>
            </a:r>
            <a:r>
              <a:rPr lang="ru-RU" sz="2800" dirty="0">
                <a:solidFill>
                  <a:srgbClr val="7030A0"/>
                </a:solidFill>
              </a:rPr>
              <a:t>потоком TCP: размер окна и </a:t>
            </a:r>
            <a:r>
              <a:rPr lang="ru-RU" sz="2800" dirty="0" smtClean="0">
                <a:solidFill>
                  <a:srgbClr val="7030A0"/>
                </a:solidFill>
              </a:rPr>
              <a:t>подтверждения(1)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340768"/>
            <a:ext cx="8784976" cy="493452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ru-RU" sz="2800" dirty="0" smtClean="0">
                <a:solidFill>
                  <a:srgbClr val="000000"/>
                </a:solidFill>
              </a:rPr>
              <a:t>      Протокол </a:t>
            </a:r>
            <a:r>
              <a:rPr lang="ru-RU" sz="2800" dirty="0">
                <a:solidFill>
                  <a:srgbClr val="000000"/>
                </a:solidFill>
              </a:rPr>
              <a:t>TCP использует механизмы для управления потоком </a:t>
            </a:r>
            <a:r>
              <a:rPr lang="ru-RU" sz="2800" dirty="0" smtClean="0">
                <a:solidFill>
                  <a:srgbClr val="000000"/>
                </a:solidFill>
              </a:rPr>
              <a:t>данных.</a:t>
            </a:r>
            <a:endParaRPr lang="ru-RU" sz="28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sz="28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</a:rPr>
              <a:t>     Управление </a:t>
            </a:r>
            <a:r>
              <a:rPr lang="ru-RU" sz="2800" dirty="0">
                <a:solidFill>
                  <a:srgbClr val="002060"/>
                </a:solidFill>
              </a:rPr>
              <a:t>потоком данных - это объем данных, которые получатель может получить и надежно обработать.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     Управление </a:t>
            </a:r>
            <a:r>
              <a:rPr lang="ru-RU" sz="2800" dirty="0">
                <a:solidFill>
                  <a:srgbClr val="000000"/>
                </a:solidFill>
              </a:rPr>
              <a:t>потоком позволяет поддерживать надежность передачи по протоколу TCP, регулируя скорость потока данных между узлами источника и назначения в течение определенного сеанса.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1884404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864096"/>
          </a:xfrm>
        </p:spPr>
        <p:txBody>
          <a:bodyPr>
            <a:normAutofit fontScale="90000"/>
          </a:bodyPr>
          <a:lstStyle/>
          <a:p>
            <a:r>
              <a:rPr lang="ru-RU" sz="3200" dirty="0">
                <a:solidFill>
                  <a:srgbClr val="7030A0"/>
                </a:solidFill>
              </a:rPr>
              <a:t>Управление потоком TCP: размер окна и </a:t>
            </a:r>
            <a:r>
              <a:rPr lang="ru-RU" sz="3200" dirty="0" smtClean="0">
                <a:solidFill>
                  <a:srgbClr val="7030A0"/>
                </a:solidFill>
              </a:rPr>
              <a:t>подтверждения (2)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32859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ru-RU" sz="2800" dirty="0" smtClean="0">
                <a:solidFill>
                  <a:srgbClr val="080808"/>
                </a:solidFill>
              </a:rPr>
              <a:t>        </a:t>
            </a:r>
            <a:r>
              <a:rPr lang="ru-RU" sz="2800" dirty="0" smtClean="0">
                <a:solidFill>
                  <a:srgbClr val="002060"/>
                </a:solidFill>
              </a:rPr>
              <a:t>Максимальный </a:t>
            </a:r>
            <a:r>
              <a:rPr lang="ru-RU" sz="2800" dirty="0">
                <a:solidFill>
                  <a:srgbClr val="002060"/>
                </a:solidFill>
              </a:rPr>
              <a:t>размер сегмента (MSS) — это максимальный объем данных, который может получить конечное устройство.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80808"/>
                </a:solidFill>
              </a:rPr>
              <a:t>    Обычный </a:t>
            </a:r>
            <a:r>
              <a:rPr lang="ru-RU" sz="2800" dirty="0">
                <a:solidFill>
                  <a:srgbClr val="080808"/>
                </a:solidFill>
              </a:rPr>
              <a:t>MSS составляет 1 460 байт при использовании IPv4.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80808"/>
                </a:solidFill>
              </a:rPr>
              <a:t>  Узел </a:t>
            </a:r>
            <a:r>
              <a:rPr lang="ru-RU" sz="2800" dirty="0">
                <a:solidFill>
                  <a:srgbClr val="080808"/>
                </a:solidFill>
              </a:rPr>
              <a:t>определяет значение своего поля MSS путем вычитания размера заголовков IP и TCP из размера MTU для Ethernet. 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80808"/>
                </a:solidFill>
              </a:rPr>
              <a:t>   1500 минус 40 </a:t>
            </a:r>
            <a:r>
              <a:rPr lang="ru-RU" sz="2800" dirty="0">
                <a:solidFill>
                  <a:srgbClr val="080808"/>
                </a:solidFill>
              </a:rPr>
              <a:t>(20 байт для заголовка IPv4 и 20 байт для заголовка TCP) оставляет 1460 байт.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7119846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778098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4. Управление </a:t>
            </a:r>
            <a:r>
              <a:rPr lang="ru-RU" sz="3600" dirty="0">
                <a:solidFill>
                  <a:srgbClr val="7030A0"/>
                </a:solidFill>
              </a:rPr>
              <a:t>потоком TCP: предотвращение перегрузок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ru-RU" sz="3600" dirty="0" smtClean="0">
                <a:solidFill>
                  <a:srgbClr val="000000"/>
                </a:solidFill>
              </a:rPr>
              <a:t>    В </a:t>
            </a:r>
            <a:r>
              <a:rPr lang="ru-RU" sz="3600" dirty="0">
                <a:solidFill>
                  <a:srgbClr val="000000"/>
                </a:solidFill>
              </a:rPr>
              <a:t>случае возникновения перегрузки в сети </a:t>
            </a:r>
            <a:r>
              <a:rPr lang="ru-RU" sz="3600" dirty="0">
                <a:solidFill>
                  <a:srgbClr val="002060"/>
                </a:solidFill>
              </a:rPr>
              <a:t>перегруженный маршрутизатор перестает обрабатывать пакеты.</a:t>
            </a:r>
          </a:p>
          <a:p>
            <a:pPr marL="0" indent="0">
              <a:spcBef>
                <a:spcPts val="0"/>
              </a:spcBef>
            </a:pPr>
            <a:endParaRPr lang="en-US" sz="36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ru-RU" sz="3600" dirty="0" smtClean="0">
                <a:solidFill>
                  <a:srgbClr val="002060"/>
                </a:solidFill>
              </a:rPr>
              <a:t>     Во </a:t>
            </a:r>
            <a:r>
              <a:rPr lang="ru-RU" sz="3600" dirty="0">
                <a:solidFill>
                  <a:srgbClr val="002060"/>
                </a:solidFill>
              </a:rPr>
              <a:t>избежание </a:t>
            </a:r>
            <a:r>
              <a:rPr lang="ru-RU" sz="3600" dirty="0">
                <a:solidFill>
                  <a:srgbClr val="000000"/>
                </a:solidFill>
              </a:rPr>
              <a:t>таких ситуаций и для предотвращения перегрузок сети в протоколе </a:t>
            </a:r>
            <a:r>
              <a:rPr lang="ru-RU" sz="3600" dirty="0">
                <a:solidFill>
                  <a:srgbClr val="002060"/>
                </a:solidFill>
              </a:rPr>
              <a:t>TCP предусмотрен ряд соответствующих механизмов, таймеров и алгоритмов.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3497686191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mtClean="0">
                <a:solidFill>
                  <a:srgbClr val="7030A0"/>
                </a:solidFill>
              </a:rPr>
              <a:t>8. Обмен </a:t>
            </a:r>
            <a:r>
              <a:rPr lang="ru-RU" dirty="0">
                <a:solidFill>
                  <a:srgbClr val="7030A0"/>
                </a:solidFill>
              </a:rPr>
              <a:t>данными по протоколу UDP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8787019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1.UDP</a:t>
            </a:r>
            <a:r>
              <a:rPr lang="ru-RU" sz="3600" dirty="0">
                <a:solidFill>
                  <a:srgbClr val="7030A0"/>
                </a:solidFill>
              </a:rPr>
              <a:t>: низкая нагрузка или надежность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UDP не устанавливает соединение перед отправкой данных</a:t>
            </a:r>
            <a:r>
              <a:rPr lang="ru-RU" dirty="0" smtClean="0">
                <a:solidFill>
                  <a:srgbClr val="000000"/>
                </a:solidFill>
              </a:rPr>
              <a:t>.</a:t>
            </a:r>
          </a:p>
          <a:p>
            <a:r>
              <a:rPr lang="ru-RU" dirty="0" smtClean="0">
                <a:solidFill>
                  <a:srgbClr val="00000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Протокол UDP </a:t>
            </a:r>
            <a:r>
              <a:rPr lang="ru-RU" dirty="0">
                <a:solidFill>
                  <a:srgbClr val="000000"/>
                </a:solidFill>
              </a:rPr>
              <a:t>обеспечивает передачу данных с меньшими накладными расходами, поскольку </a:t>
            </a:r>
            <a:r>
              <a:rPr lang="ru-RU" dirty="0"/>
              <a:t>он</a:t>
            </a:r>
            <a:r>
              <a:rPr lang="ru-RU" dirty="0">
                <a:solidFill>
                  <a:srgbClr val="002060"/>
                </a:solidFill>
              </a:rPr>
              <a:t> имеет небольшой заголовок датаграммы и не обменивается управляющим трафиком.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622429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32656"/>
            <a:ext cx="9144000" cy="850106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2. Повторная </a:t>
            </a:r>
            <a:r>
              <a:rPr lang="ru-RU" sz="3600" dirty="0">
                <a:solidFill>
                  <a:srgbClr val="7030A0"/>
                </a:solidFill>
              </a:rPr>
              <a:t>дефрагментация датаграммы UDP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Протокол UDP не отслеживает порядковые номера,</a:t>
            </a:r>
            <a:r>
              <a:rPr lang="ru-RU" dirty="0">
                <a:solidFill>
                  <a:srgbClr val="000000"/>
                </a:solidFill>
              </a:rPr>
              <a:t> как это делает протокол TCP.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Протокол UDP не может повторно скомпоновать датаграммы </a:t>
            </a:r>
            <a:r>
              <a:rPr lang="ru-RU" dirty="0">
                <a:solidFill>
                  <a:srgbClr val="000000"/>
                </a:solidFill>
              </a:rPr>
              <a:t>в том порядке, который использовался при их передаче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Таким образом, </a:t>
            </a:r>
            <a:r>
              <a:rPr lang="ru-RU" dirty="0">
                <a:solidFill>
                  <a:srgbClr val="002060"/>
                </a:solidFill>
              </a:rPr>
              <a:t>протокол UDP просто повторно собирает данные в том порядке, в котором они были приняты, и пересылает их приложению.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05174942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3. Процессы </a:t>
            </a:r>
            <a:r>
              <a:rPr lang="ru-RU" sz="4000" dirty="0">
                <a:solidFill>
                  <a:srgbClr val="7030A0"/>
                </a:solidFill>
              </a:rPr>
              <a:t>и запросы UDP-сервера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ru-RU" dirty="0" smtClean="0">
                <a:solidFill>
                  <a:srgbClr val="002060"/>
                </a:solidFill>
              </a:rPr>
              <a:t>     Серверным </a:t>
            </a:r>
            <a:r>
              <a:rPr lang="ru-RU" dirty="0">
                <a:solidFill>
                  <a:srgbClr val="002060"/>
                </a:solidFill>
              </a:rPr>
              <a:t>приложениям на базе UDP </a:t>
            </a:r>
            <a:r>
              <a:rPr lang="ru-RU" dirty="0" smtClean="0">
                <a:solidFill>
                  <a:srgbClr val="002060"/>
                </a:solidFill>
              </a:rPr>
              <a:t>назначаются  общеизвестные или зарегистрированные номера портов.</a:t>
            </a:r>
            <a:endParaRPr lang="ru-RU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ru-RU" dirty="0" smtClean="0">
                <a:solidFill>
                  <a:srgbClr val="000000"/>
                </a:solidFill>
              </a:rPr>
              <a:t>     Если </a:t>
            </a:r>
            <a:r>
              <a:rPr lang="ru-RU" dirty="0">
                <a:solidFill>
                  <a:srgbClr val="000000"/>
                </a:solidFill>
              </a:rPr>
              <a:t>UDP получает </a:t>
            </a:r>
            <a:r>
              <a:rPr lang="ru-RU" dirty="0" smtClean="0">
                <a:solidFill>
                  <a:srgbClr val="000000"/>
                </a:solidFill>
              </a:rPr>
              <a:t>дейтаграмму, </a:t>
            </a:r>
            <a:r>
              <a:rPr lang="ru-RU" dirty="0">
                <a:solidFill>
                  <a:srgbClr val="000000"/>
                </a:solidFill>
              </a:rPr>
              <a:t>адресованную одному из этих портов, он пересылает данные приложения соответствующему приложению, исходя из его номера порта.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15791018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4. Процессы </a:t>
            </a:r>
            <a:r>
              <a:rPr lang="ru-RU" sz="4000" dirty="0">
                <a:solidFill>
                  <a:srgbClr val="7030A0"/>
                </a:solidFill>
              </a:rPr>
              <a:t>UDP-клиента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08720"/>
            <a:ext cx="8376939" cy="5544616"/>
          </a:xfrm>
        </p:spPr>
        <p:txBody>
          <a:bodyPr/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2060"/>
                </a:solidFill>
              </a:rPr>
              <a:t>      Процесс </a:t>
            </a:r>
            <a:r>
              <a:rPr lang="ru-RU" sz="2800" dirty="0">
                <a:solidFill>
                  <a:srgbClr val="002060"/>
                </a:solidFill>
              </a:rPr>
              <a:t>UDP-клиента динамически выбирает номер порта из диапазона номеров портов </a:t>
            </a:r>
            <a:r>
              <a:rPr lang="ru-RU" sz="2800" dirty="0">
                <a:solidFill>
                  <a:srgbClr val="000000"/>
                </a:solidFill>
              </a:rPr>
              <a:t>и использует его в качестве порта источника для сеанса связи.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     Как </a:t>
            </a:r>
            <a:r>
              <a:rPr lang="ru-RU" sz="2800" dirty="0">
                <a:solidFill>
                  <a:srgbClr val="000000"/>
                </a:solidFill>
              </a:rPr>
              <a:t>правило, </a:t>
            </a:r>
            <a:r>
              <a:rPr lang="ru-RU" sz="2800" dirty="0">
                <a:solidFill>
                  <a:srgbClr val="002060"/>
                </a:solidFill>
              </a:rPr>
              <a:t>порт назначения — это общеизвестный или зарегистрированный номер порта, присвоенный процессу сервера</a:t>
            </a:r>
            <a:r>
              <a:rPr lang="ru-RU" sz="2800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rgbClr val="000000"/>
                </a:solidFill>
              </a:rPr>
              <a:t>     После </a:t>
            </a:r>
            <a:r>
              <a:rPr lang="ru-RU" sz="2800" dirty="0">
                <a:solidFill>
                  <a:srgbClr val="000000"/>
                </a:solidFill>
              </a:rPr>
              <a:t>того как клиент выбрал порты источника и назначения, эта же </a:t>
            </a:r>
            <a:r>
              <a:rPr lang="ru-RU" sz="2800" dirty="0">
                <a:solidFill>
                  <a:srgbClr val="002060"/>
                </a:solidFill>
              </a:rPr>
              <a:t>пара портов будет указана в заголовке всех </a:t>
            </a:r>
            <a:r>
              <a:rPr lang="ru-RU" sz="2800" dirty="0" smtClean="0">
                <a:solidFill>
                  <a:srgbClr val="002060"/>
                </a:solidFill>
              </a:rPr>
              <a:t>дейтаграмм, </a:t>
            </a:r>
            <a:r>
              <a:rPr lang="ru-RU" sz="2800" dirty="0">
                <a:solidFill>
                  <a:srgbClr val="002060"/>
                </a:solidFill>
              </a:rPr>
              <a:t>которые используются в процессе пересылки.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0538676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244" y="116632"/>
            <a:ext cx="8856983" cy="648072"/>
          </a:xfrm>
        </p:spPr>
        <p:txBody>
          <a:bodyPr>
            <a:noAutofit/>
          </a:bodyPr>
          <a:lstStyle/>
          <a:p>
            <a:r>
              <a:rPr lang="ru-RU" sz="3300" b="1" dirty="0">
                <a:latin typeface="Times New Roman" pitchFamily="18" charset="0"/>
                <a:cs typeface="Times New Roman" pitchFamily="18" charset="0"/>
              </a:rPr>
              <a:t>Работа протокола UDP на хосте-отправителе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3528" y="908719"/>
            <a:ext cx="8316416" cy="583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07797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Классическая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Классическая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</TotalTime>
  <Words>5019</Words>
  <Application>Microsoft Office PowerPoint</Application>
  <PresentationFormat>Экран (4:3)</PresentationFormat>
  <Paragraphs>607</Paragraphs>
  <Slides>100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100</vt:i4>
      </vt:variant>
    </vt:vector>
  </HeadingPairs>
  <TitlesOfParts>
    <vt:vector size="104" baseType="lpstr">
      <vt:lpstr>Тема Office</vt:lpstr>
      <vt:lpstr>1_Тема Office</vt:lpstr>
      <vt:lpstr>2_Тема Office</vt:lpstr>
      <vt:lpstr>Точечный рисунок</vt:lpstr>
      <vt:lpstr>Лекция 7  протоколы ТСР,UDP</vt:lpstr>
      <vt:lpstr>Транспортный уровень</vt:lpstr>
      <vt:lpstr>Слайд 3</vt:lpstr>
      <vt:lpstr>Стек протоколов TCP/IP   (1)</vt:lpstr>
      <vt:lpstr>Слайд 5</vt:lpstr>
      <vt:lpstr>Функции протокола ТСР, UDP</vt:lpstr>
      <vt:lpstr>Роль транспортного уровня</vt:lpstr>
      <vt:lpstr>Функции транспортного уровня</vt:lpstr>
      <vt:lpstr>Протоколы транспортного уровня</vt:lpstr>
      <vt:lpstr>Протоколы транспортного уровня</vt:lpstr>
      <vt:lpstr>Протоколы транспортного уровня для соответствующих приложений</vt:lpstr>
      <vt:lpstr>Протоколы транспортного уровня для соответствующих приложений</vt:lpstr>
      <vt:lpstr>Особенности ТСР </vt:lpstr>
      <vt:lpstr>TCP-соединение создает надежный логический канал между конечными узлами</vt:lpstr>
      <vt:lpstr>1.Протокол UDP</vt:lpstr>
      <vt:lpstr>Протокол UDP пользовательских датаграмм</vt:lpstr>
      <vt:lpstr>Функции протокола UDP</vt:lpstr>
      <vt:lpstr>Протоколы транспортного уровня</vt:lpstr>
      <vt:lpstr>Приложения, использующие протокол UDP</vt:lpstr>
      <vt:lpstr>Слайд 20</vt:lpstr>
      <vt:lpstr>Слайд 21</vt:lpstr>
      <vt:lpstr>Номера портов </vt:lpstr>
      <vt:lpstr>Заголовок протокола UDP</vt:lpstr>
      <vt:lpstr>Работа протокола UDP на хосте- отправителе</vt:lpstr>
      <vt:lpstr>Определение сокетов(пояснение )</vt:lpstr>
      <vt:lpstr>Формат протокола UDP</vt:lpstr>
      <vt:lpstr>Демультиплексирование протокола UDP на основе сокетов</vt:lpstr>
      <vt:lpstr>2.Протокол ТСР. Формат заголовка.</vt:lpstr>
      <vt:lpstr> Функции протокола TCP(1)</vt:lpstr>
      <vt:lpstr>Функции протокола TCP(2)</vt:lpstr>
      <vt:lpstr>Заголовок протокола TCP(1вариант)</vt:lpstr>
      <vt:lpstr>Поля заголовка TCP(1 вар)</vt:lpstr>
      <vt:lpstr>1).Заголовок ТСР пакета (1)</vt:lpstr>
      <vt:lpstr>1). Заголовок ТСР пакета (2)</vt:lpstr>
      <vt:lpstr>ЗАГОЛОВОК  ТСР</vt:lpstr>
      <vt:lpstr>1.2). Флаги в заголовке ТСР</vt:lpstr>
      <vt:lpstr>1.2). Флаги в заголовке ТСР(2)</vt:lpstr>
      <vt:lpstr>3.Закрепление номера порта ТСР. Группы номеров</vt:lpstr>
      <vt:lpstr>Номера портов </vt:lpstr>
      <vt:lpstr>3.1 Понятие порта в ТСР (1) </vt:lpstr>
      <vt:lpstr>Понятие порта (2), (пояснение!!)</vt:lpstr>
      <vt:lpstr>Понятие порта в ТСР ( другое пояснение) </vt:lpstr>
      <vt:lpstr>3.2 Закрепление номера порта (1)</vt:lpstr>
      <vt:lpstr>3.2 Закрепление номера порта  ТСР (2)</vt:lpstr>
      <vt:lpstr>3.3 Группы номеров портов</vt:lpstr>
      <vt:lpstr>Группы номеров портов</vt:lpstr>
      <vt:lpstr>4. Протокол ТСР. Основные операции</vt:lpstr>
      <vt:lpstr>4.1 Основные операции ТСР - протокола управления передачей</vt:lpstr>
      <vt:lpstr>4.1 Основные операции ТСР </vt:lpstr>
      <vt:lpstr>4.1.2 Основные операции ТСР. Подтверждение. </vt:lpstr>
      <vt:lpstr>4.1.3. ТСР. Основные операции. Восстановление. </vt:lpstr>
      <vt:lpstr>4.1.4. ТСР. Основные операции. Отправка данных. </vt:lpstr>
      <vt:lpstr>Формирование TCP-сегментов из потока байтов</vt:lpstr>
      <vt:lpstr>4.1.5. ТСР. Основные операции. Надежная доставка.</vt:lpstr>
      <vt:lpstr>3.3.Обеспечение протоколом ТСР надежной доставки (4)</vt:lpstr>
      <vt:lpstr>Формирование TCP-сегментов из потока байтов</vt:lpstr>
      <vt:lpstr>   5.1.Параметры соединения ТСР 5.2.Последовательный номер передачи подтверждения  </vt:lpstr>
      <vt:lpstr>5.1 Параметры соединения ТСР(1) </vt:lpstr>
      <vt:lpstr>5.1 Параметры соединения ТСР(2) </vt:lpstr>
      <vt:lpstr>Один сокет может участвовать в нескольких соединениях</vt:lpstr>
      <vt:lpstr>Определение сокетов(пояснение )</vt:lpstr>
      <vt:lpstr>Демультиплексирование протокола UDP на основе сокетов</vt:lpstr>
      <vt:lpstr>Заголовок пакета : адрес на конверте(пояснение)</vt:lpstr>
      <vt:lpstr>5.2. Передача подтверждения.</vt:lpstr>
      <vt:lpstr>5.2. Передача подтверждения.</vt:lpstr>
      <vt:lpstr>5.2.2 Передача подтверждения.</vt:lpstr>
      <vt:lpstr>5.2.2 Алгоритм работы. Передача подтверждения</vt:lpstr>
      <vt:lpstr>Процедура установления и разрыва логического соединения при нормальном течении</vt:lpstr>
      <vt:lpstr>6.ТСР.  Окна приема, управление окном</vt:lpstr>
      <vt:lpstr>6.1. Окна приема</vt:lpstr>
      <vt:lpstr>Система буферов ТСР соединения</vt:lpstr>
      <vt:lpstr>6.2. Управление окном приема</vt:lpstr>
      <vt:lpstr>Особенности реализации алгоритма скользящего окна в протоколе TCP</vt:lpstr>
      <vt:lpstr>6.2  Управление размером  окном . </vt:lpstr>
      <vt:lpstr>6.3. Накопительный принцип подтверждения</vt:lpstr>
      <vt:lpstr>6.4.  Время ожидания квитанции</vt:lpstr>
      <vt:lpstr>Система буферов ТСР соединения</vt:lpstr>
      <vt:lpstr>7.Алгоритм работы ТСР</vt:lpstr>
      <vt:lpstr>7.1.  Алгоритм работы ТСР(1)</vt:lpstr>
      <vt:lpstr>Алгоритм работы ТСР(2)</vt:lpstr>
      <vt:lpstr>7.2.  Установление  соединения.</vt:lpstr>
      <vt:lpstr> Флаги в заголовке ТСР</vt:lpstr>
      <vt:lpstr>Создание TCP сессии</vt:lpstr>
      <vt:lpstr>7.3Передача данных в TCP </vt:lpstr>
      <vt:lpstr>Передача данных ТСР</vt:lpstr>
      <vt:lpstr>7. 4Завершение сеанса TCP </vt:lpstr>
      <vt:lpstr>Завершение сеанса TCP </vt:lpstr>
      <vt:lpstr>7.5 Состояния сеанса TCP</vt:lpstr>
      <vt:lpstr>Надежность и управление потоком</vt:lpstr>
      <vt:lpstr>1. Надежность TCP: упорядоченная доставка</vt:lpstr>
      <vt:lpstr>2. Надежность TCP: потеря данных и повторная передача</vt:lpstr>
      <vt:lpstr>3. Управление потоком TCP: размер окна и подтверждения(1)</vt:lpstr>
      <vt:lpstr>Управление потоком TCP: размер окна и подтверждения (2)</vt:lpstr>
      <vt:lpstr>4. Управление потоком TCP: предотвращение перегрузок</vt:lpstr>
      <vt:lpstr>8. Обмен данными по протоколу UDP</vt:lpstr>
      <vt:lpstr>1.UDP: низкая нагрузка или надежность</vt:lpstr>
      <vt:lpstr>2. Повторная дефрагментация датаграммы UDP</vt:lpstr>
      <vt:lpstr>3. Процессы и запросы UDP-сервера</vt:lpstr>
      <vt:lpstr>4. Процессы UDP-клиента</vt:lpstr>
      <vt:lpstr>Работа протокола UDP на хосте-отправителе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Настя</dc:creator>
  <cp:lastModifiedBy>Анастасия</cp:lastModifiedBy>
  <cp:revision>335</cp:revision>
  <dcterms:created xsi:type="dcterms:W3CDTF">2022-03-21T08:17:45Z</dcterms:created>
  <dcterms:modified xsi:type="dcterms:W3CDTF">2024-02-21T14:55:52Z</dcterms:modified>
</cp:coreProperties>
</file>