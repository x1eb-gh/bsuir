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0"/>
  </p:notesMasterIdLst>
  <p:sldIdLst>
    <p:sldId id="498" r:id="rId2"/>
    <p:sldId id="692" r:id="rId3"/>
    <p:sldId id="544" r:id="rId4"/>
    <p:sldId id="499" r:id="rId5"/>
    <p:sldId id="494" r:id="rId6"/>
    <p:sldId id="376" r:id="rId7"/>
    <p:sldId id="491" r:id="rId8"/>
    <p:sldId id="353" r:id="rId9"/>
    <p:sldId id="625" r:id="rId10"/>
    <p:sldId id="504" r:id="rId11"/>
    <p:sldId id="356" r:id="rId12"/>
    <p:sldId id="379" r:id="rId13"/>
    <p:sldId id="680" r:id="rId14"/>
    <p:sldId id="626" r:id="rId15"/>
    <p:sldId id="380" r:id="rId16"/>
    <p:sldId id="627" r:id="rId17"/>
    <p:sldId id="410" r:id="rId18"/>
    <p:sldId id="364" r:id="rId19"/>
    <p:sldId id="545" r:id="rId20"/>
    <p:sldId id="636" r:id="rId21"/>
    <p:sldId id="366" r:id="rId22"/>
    <p:sldId id="587" r:id="rId23"/>
    <p:sldId id="588" r:id="rId24"/>
    <p:sldId id="628" r:id="rId25"/>
    <p:sldId id="543" r:id="rId26"/>
    <p:sldId id="564" r:id="rId27"/>
    <p:sldId id="567" r:id="rId28"/>
    <p:sldId id="565" r:id="rId29"/>
    <p:sldId id="566" r:id="rId30"/>
    <p:sldId id="682" r:id="rId31"/>
    <p:sldId id="635" r:id="rId32"/>
    <p:sldId id="576" r:id="rId33"/>
    <p:sldId id="568" r:id="rId34"/>
    <p:sldId id="578" r:id="rId35"/>
    <p:sldId id="577" r:id="rId36"/>
    <p:sldId id="681" r:id="rId37"/>
    <p:sldId id="646" r:id="rId38"/>
    <p:sldId id="562" r:id="rId39"/>
    <p:sldId id="569" r:id="rId40"/>
    <p:sldId id="571" r:id="rId41"/>
    <p:sldId id="573" r:id="rId42"/>
    <p:sldId id="574" r:id="rId43"/>
    <p:sldId id="542" r:id="rId44"/>
    <p:sldId id="685" r:id="rId45"/>
    <p:sldId id="683" r:id="rId46"/>
    <p:sldId id="695" r:id="rId47"/>
    <p:sldId id="684" r:id="rId48"/>
    <p:sldId id="658" r:id="rId49"/>
    <p:sldId id="687" r:id="rId50"/>
    <p:sldId id="659" r:id="rId51"/>
    <p:sldId id="686" r:id="rId52"/>
    <p:sldId id="580" r:id="rId53"/>
    <p:sldId id="688" r:id="rId54"/>
    <p:sldId id="582" r:id="rId55"/>
    <p:sldId id="637" r:id="rId56"/>
    <p:sldId id="553" r:id="rId57"/>
    <p:sldId id="689" r:id="rId58"/>
    <p:sldId id="693" r:id="rId59"/>
    <p:sldId id="651" r:id="rId60"/>
    <p:sldId id="696" r:id="rId61"/>
    <p:sldId id="650" r:id="rId62"/>
    <p:sldId id="691" r:id="rId63"/>
    <p:sldId id="690" r:id="rId64"/>
    <p:sldId id="653" r:id="rId65"/>
    <p:sldId id="521" r:id="rId66"/>
    <p:sldId id="629" r:id="rId67"/>
    <p:sldId id="518" r:id="rId68"/>
    <p:sldId id="583" r:id="rId69"/>
    <p:sldId id="654" r:id="rId70"/>
    <p:sldId id="589" r:id="rId71"/>
    <p:sldId id="617" r:id="rId72"/>
    <p:sldId id="584" r:id="rId73"/>
    <p:sldId id="585" r:id="rId74"/>
    <p:sldId id="624" r:id="rId75"/>
    <p:sldId id="608" r:id="rId76"/>
    <p:sldId id="438" r:id="rId77"/>
    <p:sldId id="671" r:id="rId78"/>
    <p:sldId id="641" r:id="rId79"/>
    <p:sldId id="697" r:id="rId80"/>
    <p:sldId id="642" r:id="rId81"/>
    <p:sldId id="655" r:id="rId82"/>
    <p:sldId id="656" r:id="rId83"/>
    <p:sldId id="657" r:id="rId84"/>
    <p:sldId id="638" r:id="rId85"/>
    <p:sldId id="590" r:id="rId86"/>
    <p:sldId id="444" r:id="rId87"/>
    <p:sldId id="672" r:id="rId88"/>
    <p:sldId id="634" r:id="rId89"/>
    <p:sldId id="616" r:id="rId90"/>
    <p:sldId id="630" r:id="rId91"/>
    <p:sldId id="613" r:id="rId92"/>
    <p:sldId id="631" r:id="rId93"/>
    <p:sldId id="522" r:id="rId94"/>
    <p:sldId id="549" r:id="rId95"/>
    <p:sldId id="592" r:id="rId96"/>
    <p:sldId id="591" r:id="rId97"/>
    <p:sldId id="593" r:id="rId98"/>
    <p:sldId id="533" r:id="rId99"/>
    <p:sldId id="558" r:id="rId100"/>
    <p:sldId id="611" r:id="rId101"/>
    <p:sldId id="598" r:id="rId102"/>
    <p:sldId id="550" r:id="rId103"/>
    <p:sldId id="621" r:id="rId104"/>
    <p:sldId id="618" r:id="rId105"/>
    <p:sldId id="620" r:id="rId106"/>
    <p:sldId id="605" r:id="rId107"/>
    <p:sldId id="643" r:id="rId108"/>
    <p:sldId id="644" r:id="rId109"/>
    <p:sldId id="645" r:id="rId110"/>
    <p:sldId id="622" r:id="rId111"/>
    <p:sldId id="623" r:id="rId112"/>
    <p:sldId id="612" r:id="rId113"/>
    <p:sldId id="674" r:id="rId114"/>
    <p:sldId id="694" r:id="rId115"/>
    <p:sldId id="675" r:id="rId116"/>
    <p:sldId id="676" r:id="rId117"/>
    <p:sldId id="677" r:id="rId118"/>
    <p:sldId id="678" r:id="rId1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lexander Attsik" initials="A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notesMaster" Target="notesMasters/notesMaster1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EFAE87-35A9-4AE2-8379-4818B96CCDF4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</dgm:pt>
    <dgm:pt modelId="{1208C16F-C34D-4F44-93D7-4913BEA7DED2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b="1" i="0" u="sng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rPr>
            <a:t>Две процедуры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b="1" i="0" u="sng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rPr>
            <a:t>разрешения имен</a:t>
          </a:r>
          <a:endParaRPr kumimoji="0" lang="ru-RU" b="1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cs typeface="Arial" charset="0"/>
          </a:endParaRPr>
        </a:p>
      </dgm:t>
    </dgm:pt>
    <dgm:pt modelId="{8F748023-CE2D-4C6A-9349-BFB6C9D0759A}" type="parTrans" cxnId="{5AABB098-829B-41F0-B747-34797EAE3353}">
      <dgm:prSet/>
      <dgm:spPr/>
    </dgm:pt>
    <dgm:pt modelId="{3CC2CAD9-7813-4B4B-8D9E-20A9C41DBDA2}" type="sibTrans" cxnId="{5AABB098-829B-41F0-B747-34797EAE3353}">
      <dgm:prSet/>
      <dgm:spPr/>
    </dgm:pt>
    <dgm:pt modelId="{64BD7EA8-7F1E-4D50-8E40-E383D320BB7A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rPr>
            <a:t>Нерекурсивная процедура</a:t>
          </a:r>
          <a:endParaRPr kumimoji="0" lang="ru-RU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cs typeface="Arial" charset="0"/>
          </a:endParaRPr>
        </a:p>
      </dgm:t>
    </dgm:pt>
    <dgm:pt modelId="{8B53DCB3-8324-46BB-9F8E-ED8EC11B0A26}" type="parTrans" cxnId="{D3058DFF-2FB8-4BF7-AF3F-F72A34D19852}">
      <dgm:prSet/>
      <dgm:spPr/>
    </dgm:pt>
    <dgm:pt modelId="{CA93F119-BC93-478A-89C6-C9C978677F94}" type="sibTrans" cxnId="{D3058DFF-2FB8-4BF7-AF3F-F72A34D19852}">
      <dgm:prSet/>
      <dgm:spPr/>
    </dgm:pt>
    <dgm:pt modelId="{14EC29BE-4259-44F3-A5A0-378712B2FC6F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cs typeface="Arial" charset="0"/>
            </a:rPr>
            <a:t>Рекурсивная процедура</a:t>
          </a:r>
          <a:endParaRPr kumimoji="0" lang="ru-RU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cs typeface="Arial" charset="0"/>
          </a:endParaRPr>
        </a:p>
      </dgm:t>
    </dgm:pt>
    <dgm:pt modelId="{11EA0817-0ABF-4D24-983C-105810CB7C13}" type="parTrans" cxnId="{55D2AF13-41FD-4CE4-889A-EC273C3A4891}">
      <dgm:prSet/>
      <dgm:spPr/>
    </dgm:pt>
    <dgm:pt modelId="{64ED808B-B185-4204-A58B-1E5D2C516ABF}" type="sibTrans" cxnId="{55D2AF13-41FD-4CE4-889A-EC273C3A4891}">
      <dgm:prSet/>
      <dgm:spPr/>
    </dgm:pt>
    <dgm:pt modelId="{AEB9F189-DFEF-4953-A88D-C032611B14F4}" type="pres">
      <dgm:prSet presAssocID="{A6EFAE87-35A9-4AE2-8379-4818B96CCDF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57AC0C2-6FBE-4206-9F60-5F1D0E1FDB1E}" type="pres">
      <dgm:prSet presAssocID="{1208C16F-C34D-4F44-93D7-4913BEA7DED2}" presName="hierRoot1" presStyleCnt="0">
        <dgm:presLayoutVars>
          <dgm:hierBranch/>
        </dgm:presLayoutVars>
      </dgm:prSet>
      <dgm:spPr/>
    </dgm:pt>
    <dgm:pt modelId="{79D5B83A-52A7-44AB-B9D3-65DDB58F53B9}" type="pres">
      <dgm:prSet presAssocID="{1208C16F-C34D-4F44-93D7-4913BEA7DED2}" presName="rootComposite1" presStyleCnt="0"/>
      <dgm:spPr/>
    </dgm:pt>
    <dgm:pt modelId="{D1FAC6FD-F264-4C4A-8AD8-B7AAE8601D6E}" type="pres">
      <dgm:prSet presAssocID="{1208C16F-C34D-4F44-93D7-4913BEA7DED2}" presName="rootText1" presStyleLbl="node0" presStyleIdx="0" presStyleCnt="1">
        <dgm:presLayoutVars>
          <dgm:chPref val="3"/>
        </dgm:presLayoutVars>
      </dgm:prSet>
      <dgm:spPr/>
    </dgm:pt>
    <dgm:pt modelId="{6556BA55-D8F8-4538-A528-146E5B538681}" type="pres">
      <dgm:prSet presAssocID="{1208C16F-C34D-4F44-93D7-4913BEA7DED2}" presName="rootConnector1" presStyleLbl="node1" presStyleIdx="0" presStyleCnt="0"/>
      <dgm:spPr/>
    </dgm:pt>
    <dgm:pt modelId="{F49D4EC9-C75B-4993-B6BF-D35AAD2ECC8B}" type="pres">
      <dgm:prSet presAssocID="{1208C16F-C34D-4F44-93D7-4913BEA7DED2}" presName="hierChild2" presStyleCnt="0"/>
      <dgm:spPr/>
    </dgm:pt>
    <dgm:pt modelId="{145A6057-560A-431D-8A95-45776048448D}" type="pres">
      <dgm:prSet presAssocID="{8B53DCB3-8324-46BB-9F8E-ED8EC11B0A26}" presName="Name35" presStyleLbl="parChTrans1D2" presStyleIdx="0" presStyleCnt="2"/>
      <dgm:spPr/>
    </dgm:pt>
    <dgm:pt modelId="{F06B1903-87AC-408C-8CE8-F8F928E2C9E0}" type="pres">
      <dgm:prSet presAssocID="{64BD7EA8-7F1E-4D50-8E40-E383D320BB7A}" presName="hierRoot2" presStyleCnt="0">
        <dgm:presLayoutVars>
          <dgm:hierBranch/>
        </dgm:presLayoutVars>
      </dgm:prSet>
      <dgm:spPr/>
    </dgm:pt>
    <dgm:pt modelId="{B8AADE83-349B-4353-A681-1DFEB05D2F1F}" type="pres">
      <dgm:prSet presAssocID="{64BD7EA8-7F1E-4D50-8E40-E383D320BB7A}" presName="rootComposite" presStyleCnt="0"/>
      <dgm:spPr/>
    </dgm:pt>
    <dgm:pt modelId="{CA9363DF-CFEF-4098-B95C-3CD0A751B80F}" type="pres">
      <dgm:prSet presAssocID="{64BD7EA8-7F1E-4D50-8E40-E383D320BB7A}" presName="rootText" presStyleLbl="node2" presStyleIdx="0" presStyleCnt="2">
        <dgm:presLayoutVars>
          <dgm:chPref val="3"/>
        </dgm:presLayoutVars>
      </dgm:prSet>
      <dgm:spPr/>
    </dgm:pt>
    <dgm:pt modelId="{36C57710-3310-47DB-8C15-634A2276ACFE}" type="pres">
      <dgm:prSet presAssocID="{64BD7EA8-7F1E-4D50-8E40-E383D320BB7A}" presName="rootConnector" presStyleLbl="node2" presStyleIdx="0" presStyleCnt="2"/>
      <dgm:spPr/>
    </dgm:pt>
    <dgm:pt modelId="{BB9CAE30-A1C7-4173-AF4C-AB07C805A750}" type="pres">
      <dgm:prSet presAssocID="{64BD7EA8-7F1E-4D50-8E40-E383D320BB7A}" presName="hierChild4" presStyleCnt="0"/>
      <dgm:spPr/>
    </dgm:pt>
    <dgm:pt modelId="{ABF21675-4AB5-48DC-A80C-A6C6E049D878}" type="pres">
      <dgm:prSet presAssocID="{64BD7EA8-7F1E-4D50-8E40-E383D320BB7A}" presName="hierChild5" presStyleCnt="0"/>
      <dgm:spPr/>
    </dgm:pt>
    <dgm:pt modelId="{8C54311D-ADDA-4B9D-B100-472ADF737227}" type="pres">
      <dgm:prSet presAssocID="{11EA0817-0ABF-4D24-983C-105810CB7C13}" presName="Name35" presStyleLbl="parChTrans1D2" presStyleIdx="1" presStyleCnt="2"/>
      <dgm:spPr/>
    </dgm:pt>
    <dgm:pt modelId="{199CFC79-20EE-4ED3-B3E4-EBB00B7E913E}" type="pres">
      <dgm:prSet presAssocID="{14EC29BE-4259-44F3-A5A0-378712B2FC6F}" presName="hierRoot2" presStyleCnt="0">
        <dgm:presLayoutVars>
          <dgm:hierBranch/>
        </dgm:presLayoutVars>
      </dgm:prSet>
      <dgm:spPr/>
    </dgm:pt>
    <dgm:pt modelId="{2463297F-F6BA-4EE2-93B7-092103602012}" type="pres">
      <dgm:prSet presAssocID="{14EC29BE-4259-44F3-A5A0-378712B2FC6F}" presName="rootComposite" presStyleCnt="0"/>
      <dgm:spPr/>
    </dgm:pt>
    <dgm:pt modelId="{75251781-DCD2-4877-8C3F-A7062E95D20F}" type="pres">
      <dgm:prSet presAssocID="{14EC29BE-4259-44F3-A5A0-378712B2FC6F}" presName="rootText" presStyleLbl="node2" presStyleIdx="1" presStyleCnt="2">
        <dgm:presLayoutVars>
          <dgm:chPref val="3"/>
        </dgm:presLayoutVars>
      </dgm:prSet>
      <dgm:spPr/>
    </dgm:pt>
    <dgm:pt modelId="{CED00CB6-DF14-47F9-9DCF-8D400C83906A}" type="pres">
      <dgm:prSet presAssocID="{14EC29BE-4259-44F3-A5A0-378712B2FC6F}" presName="rootConnector" presStyleLbl="node2" presStyleIdx="1" presStyleCnt="2"/>
      <dgm:spPr/>
    </dgm:pt>
    <dgm:pt modelId="{647E9487-4DE8-487D-A003-D13A72FB785C}" type="pres">
      <dgm:prSet presAssocID="{14EC29BE-4259-44F3-A5A0-378712B2FC6F}" presName="hierChild4" presStyleCnt="0"/>
      <dgm:spPr/>
    </dgm:pt>
    <dgm:pt modelId="{60A70EC3-0258-4F47-B8EE-F79E5EFAD6E4}" type="pres">
      <dgm:prSet presAssocID="{14EC29BE-4259-44F3-A5A0-378712B2FC6F}" presName="hierChild5" presStyleCnt="0"/>
      <dgm:spPr/>
    </dgm:pt>
    <dgm:pt modelId="{905A702D-E7A6-4196-BDD2-D2A1CCD5BFD9}" type="pres">
      <dgm:prSet presAssocID="{1208C16F-C34D-4F44-93D7-4913BEA7DED2}" presName="hierChild3" presStyleCnt="0"/>
      <dgm:spPr/>
    </dgm:pt>
  </dgm:ptLst>
  <dgm:cxnLst>
    <dgm:cxn modelId="{C7DEF585-59C3-4E2C-8E0A-9A77075A1B8D}" type="presOf" srcId="{1208C16F-C34D-4F44-93D7-4913BEA7DED2}" destId="{6556BA55-D8F8-4538-A528-146E5B538681}" srcOrd="1" destOrd="0" presId="urn:microsoft.com/office/officeart/2005/8/layout/orgChart1"/>
    <dgm:cxn modelId="{78628127-E6BD-4C55-BEC3-FA843DFABA98}" type="presOf" srcId="{14EC29BE-4259-44F3-A5A0-378712B2FC6F}" destId="{CED00CB6-DF14-47F9-9DCF-8D400C83906A}" srcOrd="1" destOrd="0" presId="urn:microsoft.com/office/officeart/2005/8/layout/orgChart1"/>
    <dgm:cxn modelId="{345C550A-9DB3-410C-B71B-B24A353552DD}" type="presOf" srcId="{64BD7EA8-7F1E-4D50-8E40-E383D320BB7A}" destId="{36C57710-3310-47DB-8C15-634A2276ACFE}" srcOrd="1" destOrd="0" presId="urn:microsoft.com/office/officeart/2005/8/layout/orgChart1"/>
    <dgm:cxn modelId="{D3058DFF-2FB8-4BF7-AF3F-F72A34D19852}" srcId="{1208C16F-C34D-4F44-93D7-4913BEA7DED2}" destId="{64BD7EA8-7F1E-4D50-8E40-E383D320BB7A}" srcOrd="0" destOrd="0" parTransId="{8B53DCB3-8324-46BB-9F8E-ED8EC11B0A26}" sibTransId="{CA93F119-BC93-478A-89C6-C9C978677F94}"/>
    <dgm:cxn modelId="{2F512A09-3613-4808-88D5-A4FF4324CB1E}" type="presOf" srcId="{11EA0817-0ABF-4D24-983C-105810CB7C13}" destId="{8C54311D-ADDA-4B9D-B100-472ADF737227}" srcOrd="0" destOrd="0" presId="urn:microsoft.com/office/officeart/2005/8/layout/orgChart1"/>
    <dgm:cxn modelId="{8001B32D-F291-4288-B2D6-A01AB0BF2674}" type="presOf" srcId="{1208C16F-C34D-4F44-93D7-4913BEA7DED2}" destId="{D1FAC6FD-F264-4C4A-8AD8-B7AAE8601D6E}" srcOrd="0" destOrd="0" presId="urn:microsoft.com/office/officeart/2005/8/layout/orgChart1"/>
    <dgm:cxn modelId="{5AABB098-829B-41F0-B747-34797EAE3353}" srcId="{A6EFAE87-35A9-4AE2-8379-4818B96CCDF4}" destId="{1208C16F-C34D-4F44-93D7-4913BEA7DED2}" srcOrd="0" destOrd="0" parTransId="{8F748023-CE2D-4C6A-9349-BFB6C9D0759A}" sibTransId="{3CC2CAD9-7813-4B4B-8D9E-20A9C41DBDA2}"/>
    <dgm:cxn modelId="{55D2AF13-41FD-4CE4-889A-EC273C3A4891}" srcId="{1208C16F-C34D-4F44-93D7-4913BEA7DED2}" destId="{14EC29BE-4259-44F3-A5A0-378712B2FC6F}" srcOrd="1" destOrd="0" parTransId="{11EA0817-0ABF-4D24-983C-105810CB7C13}" sibTransId="{64ED808B-B185-4204-A58B-1E5D2C516ABF}"/>
    <dgm:cxn modelId="{2603C38D-4107-467E-9064-6AA8BC37A81A}" type="presOf" srcId="{8B53DCB3-8324-46BB-9F8E-ED8EC11B0A26}" destId="{145A6057-560A-431D-8A95-45776048448D}" srcOrd="0" destOrd="0" presId="urn:microsoft.com/office/officeart/2005/8/layout/orgChart1"/>
    <dgm:cxn modelId="{FB532C56-80AD-4E8E-B676-B4E2B207137F}" type="presOf" srcId="{64BD7EA8-7F1E-4D50-8E40-E383D320BB7A}" destId="{CA9363DF-CFEF-4098-B95C-3CD0A751B80F}" srcOrd="0" destOrd="0" presId="urn:microsoft.com/office/officeart/2005/8/layout/orgChart1"/>
    <dgm:cxn modelId="{2AF6202D-8039-4854-9D8E-3C88030F1D66}" type="presOf" srcId="{14EC29BE-4259-44F3-A5A0-378712B2FC6F}" destId="{75251781-DCD2-4877-8C3F-A7062E95D20F}" srcOrd="0" destOrd="0" presId="urn:microsoft.com/office/officeart/2005/8/layout/orgChart1"/>
    <dgm:cxn modelId="{DCF94819-F35C-48BA-8307-015317CFF6DB}" type="presOf" srcId="{A6EFAE87-35A9-4AE2-8379-4818B96CCDF4}" destId="{AEB9F189-DFEF-4953-A88D-C032611B14F4}" srcOrd="0" destOrd="0" presId="urn:microsoft.com/office/officeart/2005/8/layout/orgChart1"/>
    <dgm:cxn modelId="{C077A843-0EE9-4338-BC17-4DBB30EF6A6D}" type="presParOf" srcId="{AEB9F189-DFEF-4953-A88D-C032611B14F4}" destId="{457AC0C2-6FBE-4206-9F60-5F1D0E1FDB1E}" srcOrd="0" destOrd="0" presId="urn:microsoft.com/office/officeart/2005/8/layout/orgChart1"/>
    <dgm:cxn modelId="{54012E0B-3139-46DF-8308-84B1CBF1E9CF}" type="presParOf" srcId="{457AC0C2-6FBE-4206-9F60-5F1D0E1FDB1E}" destId="{79D5B83A-52A7-44AB-B9D3-65DDB58F53B9}" srcOrd="0" destOrd="0" presId="urn:microsoft.com/office/officeart/2005/8/layout/orgChart1"/>
    <dgm:cxn modelId="{65203DCE-5B70-4D8B-9976-37A5E9F184F6}" type="presParOf" srcId="{79D5B83A-52A7-44AB-B9D3-65DDB58F53B9}" destId="{D1FAC6FD-F264-4C4A-8AD8-B7AAE8601D6E}" srcOrd="0" destOrd="0" presId="urn:microsoft.com/office/officeart/2005/8/layout/orgChart1"/>
    <dgm:cxn modelId="{A9F39848-A51E-420C-84FE-21CBA8F6CAF5}" type="presParOf" srcId="{79D5B83A-52A7-44AB-B9D3-65DDB58F53B9}" destId="{6556BA55-D8F8-4538-A528-146E5B538681}" srcOrd="1" destOrd="0" presId="urn:microsoft.com/office/officeart/2005/8/layout/orgChart1"/>
    <dgm:cxn modelId="{B3AEB19E-1D15-40E8-BFAA-C3E4381BEF56}" type="presParOf" srcId="{457AC0C2-6FBE-4206-9F60-5F1D0E1FDB1E}" destId="{F49D4EC9-C75B-4993-B6BF-D35AAD2ECC8B}" srcOrd="1" destOrd="0" presId="urn:microsoft.com/office/officeart/2005/8/layout/orgChart1"/>
    <dgm:cxn modelId="{5A6FA5A1-94E5-4E38-9DAF-D1CF6F866C2F}" type="presParOf" srcId="{F49D4EC9-C75B-4993-B6BF-D35AAD2ECC8B}" destId="{145A6057-560A-431D-8A95-45776048448D}" srcOrd="0" destOrd="0" presId="urn:microsoft.com/office/officeart/2005/8/layout/orgChart1"/>
    <dgm:cxn modelId="{FC9CA8B3-7C01-427B-859E-3790BC29A1E3}" type="presParOf" srcId="{F49D4EC9-C75B-4993-B6BF-D35AAD2ECC8B}" destId="{F06B1903-87AC-408C-8CE8-F8F928E2C9E0}" srcOrd="1" destOrd="0" presId="urn:microsoft.com/office/officeart/2005/8/layout/orgChart1"/>
    <dgm:cxn modelId="{58AADFC8-EECE-466E-A8F9-40ED56890D8B}" type="presParOf" srcId="{F06B1903-87AC-408C-8CE8-F8F928E2C9E0}" destId="{B8AADE83-349B-4353-A681-1DFEB05D2F1F}" srcOrd="0" destOrd="0" presId="urn:microsoft.com/office/officeart/2005/8/layout/orgChart1"/>
    <dgm:cxn modelId="{0B7D6A4E-1D4A-4031-9B77-3FCB4B80C014}" type="presParOf" srcId="{B8AADE83-349B-4353-A681-1DFEB05D2F1F}" destId="{CA9363DF-CFEF-4098-B95C-3CD0A751B80F}" srcOrd="0" destOrd="0" presId="urn:microsoft.com/office/officeart/2005/8/layout/orgChart1"/>
    <dgm:cxn modelId="{B7248522-CE26-476B-8163-BF6190EAC642}" type="presParOf" srcId="{B8AADE83-349B-4353-A681-1DFEB05D2F1F}" destId="{36C57710-3310-47DB-8C15-634A2276ACFE}" srcOrd="1" destOrd="0" presId="urn:microsoft.com/office/officeart/2005/8/layout/orgChart1"/>
    <dgm:cxn modelId="{8839F4AA-EF5E-4EB0-9CB4-72609D7F553F}" type="presParOf" srcId="{F06B1903-87AC-408C-8CE8-F8F928E2C9E0}" destId="{BB9CAE30-A1C7-4173-AF4C-AB07C805A750}" srcOrd="1" destOrd="0" presId="urn:microsoft.com/office/officeart/2005/8/layout/orgChart1"/>
    <dgm:cxn modelId="{A9F73684-8A47-408E-B3A5-710440B4C229}" type="presParOf" srcId="{F06B1903-87AC-408C-8CE8-F8F928E2C9E0}" destId="{ABF21675-4AB5-48DC-A80C-A6C6E049D878}" srcOrd="2" destOrd="0" presId="urn:microsoft.com/office/officeart/2005/8/layout/orgChart1"/>
    <dgm:cxn modelId="{71F2729B-E11D-4813-BB58-F8F7C2A16DD1}" type="presParOf" srcId="{F49D4EC9-C75B-4993-B6BF-D35AAD2ECC8B}" destId="{8C54311D-ADDA-4B9D-B100-472ADF737227}" srcOrd="2" destOrd="0" presId="urn:microsoft.com/office/officeart/2005/8/layout/orgChart1"/>
    <dgm:cxn modelId="{3FFB775E-25FD-46B9-86E9-6CF3BEB61635}" type="presParOf" srcId="{F49D4EC9-C75B-4993-B6BF-D35AAD2ECC8B}" destId="{199CFC79-20EE-4ED3-B3E4-EBB00B7E913E}" srcOrd="3" destOrd="0" presId="urn:microsoft.com/office/officeart/2005/8/layout/orgChart1"/>
    <dgm:cxn modelId="{E20909C9-9798-4865-95AA-7EE8786275BC}" type="presParOf" srcId="{199CFC79-20EE-4ED3-B3E4-EBB00B7E913E}" destId="{2463297F-F6BA-4EE2-93B7-092103602012}" srcOrd="0" destOrd="0" presId="urn:microsoft.com/office/officeart/2005/8/layout/orgChart1"/>
    <dgm:cxn modelId="{6154A701-0C69-4478-9F3D-B99DACE5F77E}" type="presParOf" srcId="{2463297F-F6BA-4EE2-93B7-092103602012}" destId="{75251781-DCD2-4877-8C3F-A7062E95D20F}" srcOrd="0" destOrd="0" presId="urn:microsoft.com/office/officeart/2005/8/layout/orgChart1"/>
    <dgm:cxn modelId="{E99F7408-E093-429F-AEE3-77A27D50AA39}" type="presParOf" srcId="{2463297F-F6BA-4EE2-93B7-092103602012}" destId="{CED00CB6-DF14-47F9-9DCF-8D400C83906A}" srcOrd="1" destOrd="0" presId="urn:microsoft.com/office/officeart/2005/8/layout/orgChart1"/>
    <dgm:cxn modelId="{30253823-49BD-4DA5-A983-616BCA4D1BE2}" type="presParOf" srcId="{199CFC79-20EE-4ED3-B3E4-EBB00B7E913E}" destId="{647E9487-4DE8-487D-A003-D13A72FB785C}" srcOrd="1" destOrd="0" presId="urn:microsoft.com/office/officeart/2005/8/layout/orgChart1"/>
    <dgm:cxn modelId="{6EFA29F5-6BEC-4984-88EC-ED1752B07EE7}" type="presParOf" srcId="{199CFC79-20EE-4ED3-B3E4-EBB00B7E913E}" destId="{60A70EC3-0258-4F47-B8EE-F79E5EFAD6E4}" srcOrd="2" destOrd="0" presId="urn:microsoft.com/office/officeart/2005/8/layout/orgChart1"/>
    <dgm:cxn modelId="{65D81D86-3FB3-41B8-99EF-E57AB135D5AB}" type="presParOf" srcId="{457AC0C2-6FBE-4206-9F60-5F1D0E1FDB1E}" destId="{905A702D-E7A6-4196-BDD2-D2A1CCD5BFD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2E3B45-DD2E-410E-80FE-F0A06A121C3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</dgm:pt>
    <dgm:pt modelId="{5CAC8F0A-AC12-4959-BC35-BD099710CD82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DHCP</a:t>
          </a:r>
          <a:endParaRPr kumimoji="0" lang="ru-RU" altLang="ru-RU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</a:endParaRPr>
        </a:p>
      </dgm:t>
    </dgm:pt>
    <dgm:pt modelId="{AC5348C4-7928-4582-99C3-0607F0824645}" type="parTrans" cxnId="{E5C505A6-D0AC-4F82-BA46-A9EAF4392283}">
      <dgm:prSet/>
      <dgm:spPr/>
      <dgm:t>
        <a:bodyPr/>
        <a:lstStyle/>
        <a:p>
          <a:endParaRPr lang="ru-RU"/>
        </a:p>
      </dgm:t>
    </dgm:pt>
    <dgm:pt modelId="{6B3BC674-5CE9-4495-9277-96DA58CA0ECD}" type="sibTrans" cxnId="{E5C505A6-D0AC-4F82-BA46-A9EAF4392283}">
      <dgm:prSet/>
      <dgm:spPr/>
      <dgm:t>
        <a:bodyPr/>
        <a:lstStyle/>
        <a:p>
          <a:endParaRPr lang="ru-RU"/>
        </a:p>
      </dgm:t>
    </dgm:pt>
    <dgm:pt modelId="{F103C0C6-6333-47E9-85E4-CDB583323AAA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Предоставление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 конфигурационных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 параметров</a:t>
          </a:r>
        </a:p>
      </dgm:t>
    </dgm:pt>
    <dgm:pt modelId="{CFF1FB4C-33C7-46C5-B8C6-44D9B735F154}" type="parTrans" cxnId="{AF5F68D3-165A-40FC-B0D5-DE87D16CEC46}">
      <dgm:prSet/>
      <dgm:spPr/>
      <dgm:t>
        <a:bodyPr/>
        <a:lstStyle/>
        <a:p>
          <a:endParaRPr lang="ru-RU"/>
        </a:p>
      </dgm:t>
    </dgm:pt>
    <dgm:pt modelId="{9B389CD1-6C2A-4FD2-A8BB-795A28035CE3}" type="sibTrans" cxnId="{AF5F68D3-165A-40FC-B0D5-DE87D16CEC46}">
      <dgm:prSet/>
      <dgm:spPr/>
      <dgm:t>
        <a:bodyPr/>
        <a:lstStyle/>
        <a:p>
          <a:endParaRPr lang="ru-RU"/>
        </a:p>
      </dgm:t>
    </dgm:pt>
    <dgm:pt modelId="{1811B605-DEC5-4AE1-B07D-774FB6476714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Предоставление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сетевых 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адресов</a:t>
          </a:r>
        </a:p>
      </dgm:t>
    </dgm:pt>
    <dgm:pt modelId="{F9A1D597-1D6B-45A7-9343-958F32FE6743}" type="parTrans" cxnId="{B47A8557-8C25-45AF-80BD-ED41701DA6B5}">
      <dgm:prSet/>
      <dgm:spPr/>
      <dgm:t>
        <a:bodyPr/>
        <a:lstStyle/>
        <a:p>
          <a:endParaRPr lang="ru-RU"/>
        </a:p>
      </dgm:t>
    </dgm:pt>
    <dgm:pt modelId="{31029C1A-553E-46B2-8069-A9F6A09AC90E}" type="sibTrans" cxnId="{B47A8557-8C25-45AF-80BD-ED41701DA6B5}">
      <dgm:prSet/>
      <dgm:spPr/>
      <dgm:t>
        <a:bodyPr/>
        <a:lstStyle/>
        <a:p>
          <a:endParaRPr lang="ru-RU"/>
        </a:p>
      </dgm:t>
    </dgm:pt>
    <dgm:pt modelId="{A5C71D4D-78A7-4352-9DDD-9805ACEA9D5A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Статическое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выделение</a:t>
          </a:r>
        </a:p>
      </dgm:t>
    </dgm:pt>
    <dgm:pt modelId="{D42953EB-D856-486E-9A3B-4E24F3E07DE1}" type="parTrans" cxnId="{0F29DE0A-7C09-4659-BDA0-72EA222AD935}">
      <dgm:prSet/>
      <dgm:spPr/>
      <dgm:t>
        <a:bodyPr/>
        <a:lstStyle/>
        <a:p>
          <a:endParaRPr lang="ru-RU"/>
        </a:p>
      </dgm:t>
    </dgm:pt>
    <dgm:pt modelId="{2EC22381-9E2E-4DBC-8D9B-ABE65B08AC14}" type="sibTrans" cxnId="{0F29DE0A-7C09-4659-BDA0-72EA222AD935}">
      <dgm:prSet/>
      <dgm:spPr/>
      <dgm:t>
        <a:bodyPr/>
        <a:lstStyle/>
        <a:p>
          <a:endParaRPr lang="ru-RU"/>
        </a:p>
      </dgm:t>
    </dgm:pt>
    <dgm:pt modelId="{37E42BF3-2951-4495-98E1-7A56938781FC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Ручной  способ</a:t>
          </a:r>
        </a:p>
      </dgm:t>
    </dgm:pt>
    <dgm:pt modelId="{4E5B6232-ABD0-4305-92BA-1698C3FD0E6F}" type="parTrans" cxnId="{D390374C-6157-4141-B066-2928FD0466A3}">
      <dgm:prSet/>
      <dgm:spPr/>
      <dgm:t>
        <a:bodyPr/>
        <a:lstStyle/>
        <a:p>
          <a:endParaRPr lang="ru-RU"/>
        </a:p>
      </dgm:t>
    </dgm:pt>
    <dgm:pt modelId="{8ACEE74B-77FF-42E5-963F-2DC29FC5A317}" type="sibTrans" cxnId="{D390374C-6157-4141-B066-2928FD0466A3}">
      <dgm:prSet/>
      <dgm:spPr/>
      <dgm:t>
        <a:bodyPr/>
        <a:lstStyle/>
        <a:p>
          <a:endParaRPr lang="ru-RU"/>
        </a:p>
      </dgm:t>
    </dgm:pt>
    <dgm:pt modelId="{1E9AA12B-D2D8-4A44-BB25-028F52BACF8F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Автоматический</a:t>
          </a:r>
        </a:p>
      </dgm:t>
    </dgm:pt>
    <dgm:pt modelId="{E1FD029F-C822-4F9C-B92B-AAE9158909C7}" type="parTrans" cxnId="{F9AFAE59-B10D-4FBD-9968-BAE0CD9321D8}">
      <dgm:prSet/>
      <dgm:spPr/>
      <dgm:t>
        <a:bodyPr/>
        <a:lstStyle/>
        <a:p>
          <a:endParaRPr lang="ru-RU"/>
        </a:p>
      </dgm:t>
    </dgm:pt>
    <dgm:pt modelId="{D7CEC3A4-46FF-4638-A8D3-4FA40633DD14}" type="sibTrans" cxnId="{F9AFAE59-B10D-4FBD-9968-BAE0CD9321D8}">
      <dgm:prSet/>
      <dgm:spPr/>
      <dgm:t>
        <a:bodyPr/>
        <a:lstStyle/>
        <a:p>
          <a:endParaRPr lang="ru-RU"/>
        </a:p>
      </dgm:t>
    </dgm:pt>
    <dgm:pt modelId="{529BBB1B-4AEC-4721-BC93-EEE1098E9835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Динамическое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 присваивание </a:t>
          </a:r>
        </a:p>
      </dgm:t>
    </dgm:pt>
    <dgm:pt modelId="{9A903F11-2EEC-4D89-B169-76374E5DCE7D}" type="parTrans" cxnId="{07DA37A3-219B-4197-A321-6750BA82F37F}">
      <dgm:prSet/>
      <dgm:spPr/>
      <dgm:t>
        <a:bodyPr/>
        <a:lstStyle/>
        <a:p>
          <a:endParaRPr lang="ru-RU"/>
        </a:p>
      </dgm:t>
    </dgm:pt>
    <dgm:pt modelId="{77536F53-00C3-43F5-B744-311FA6B6FE18}" type="sibTrans" cxnId="{07DA37A3-219B-4197-A321-6750BA82F37F}">
      <dgm:prSet/>
      <dgm:spPr/>
      <dgm:t>
        <a:bodyPr/>
        <a:lstStyle/>
        <a:p>
          <a:endParaRPr lang="ru-RU"/>
        </a:p>
      </dgm:t>
    </dgm:pt>
    <dgm:pt modelId="{0EF839FA-E559-424E-967B-25619402B3FA}" type="pres">
      <dgm:prSet presAssocID="{962E3B45-DD2E-410E-80FE-F0A06A121C3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35037B1-C2AC-486B-B1B2-953E5B16CB8D}" type="pres">
      <dgm:prSet presAssocID="{5CAC8F0A-AC12-4959-BC35-BD099710CD82}" presName="hierRoot1" presStyleCnt="0">
        <dgm:presLayoutVars>
          <dgm:hierBranch/>
        </dgm:presLayoutVars>
      </dgm:prSet>
      <dgm:spPr/>
    </dgm:pt>
    <dgm:pt modelId="{F95F9BE8-C500-4CD4-A34D-33D28357250C}" type="pres">
      <dgm:prSet presAssocID="{5CAC8F0A-AC12-4959-BC35-BD099710CD82}" presName="rootComposite1" presStyleCnt="0"/>
      <dgm:spPr/>
    </dgm:pt>
    <dgm:pt modelId="{9B5D96CB-5F8E-441C-B2D8-76C3CE9645F1}" type="pres">
      <dgm:prSet presAssocID="{5CAC8F0A-AC12-4959-BC35-BD099710CD82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51A7BFA-E28C-4484-997E-C6151F0331AF}" type="pres">
      <dgm:prSet presAssocID="{5CAC8F0A-AC12-4959-BC35-BD099710CD82}" presName="rootConnector1" presStyleLbl="node1" presStyleIdx="0" presStyleCnt="0"/>
      <dgm:spPr/>
      <dgm:t>
        <a:bodyPr/>
        <a:lstStyle/>
        <a:p>
          <a:endParaRPr lang="ru-RU"/>
        </a:p>
      </dgm:t>
    </dgm:pt>
    <dgm:pt modelId="{7F3735A9-6FD6-42E3-895D-E2A6AADD541F}" type="pres">
      <dgm:prSet presAssocID="{5CAC8F0A-AC12-4959-BC35-BD099710CD82}" presName="hierChild2" presStyleCnt="0"/>
      <dgm:spPr/>
    </dgm:pt>
    <dgm:pt modelId="{A56785B9-0E4C-4BC9-B653-0EE4C196B426}" type="pres">
      <dgm:prSet presAssocID="{5CAC8F0A-AC12-4959-BC35-BD099710CD82}" presName="hierChild3" presStyleCnt="0"/>
      <dgm:spPr/>
    </dgm:pt>
    <dgm:pt modelId="{B6100500-6254-41F0-B001-1DD87F0D43FE}" type="pres">
      <dgm:prSet presAssocID="{CFF1FB4C-33C7-46C5-B8C6-44D9B735F154}" presName="Name111" presStyleLbl="parChTrans1D2" presStyleIdx="0" presStyleCnt="2"/>
      <dgm:spPr/>
      <dgm:t>
        <a:bodyPr/>
        <a:lstStyle/>
        <a:p>
          <a:endParaRPr lang="ru-RU"/>
        </a:p>
      </dgm:t>
    </dgm:pt>
    <dgm:pt modelId="{84B21FFE-93BA-4135-8604-79B685DB21B6}" type="pres">
      <dgm:prSet presAssocID="{F103C0C6-6333-47E9-85E4-CDB583323AAA}" presName="hierRoot3" presStyleCnt="0">
        <dgm:presLayoutVars>
          <dgm:hierBranch/>
        </dgm:presLayoutVars>
      </dgm:prSet>
      <dgm:spPr/>
    </dgm:pt>
    <dgm:pt modelId="{58DF5A36-D4A7-425D-A847-EBCB64815CD8}" type="pres">
      <dgm:prSet presAssocID="{F103C0C6-6333-47E9-85E4-CDB583323AAA}" presName="rootComposite3" presStyleCnt="0"/>
      <dgm:spPr/>
    </dgm:pt>
    <dgm:pt modelId="{2B08F716-BBFA-4DF5-AB4B-3E54E3029DDD}" type="pres">
      <dgm:prSet presAssocID="{F103C0C6-6333-47E9-85E4-CDB583323AAA}" presName="rootText3" presStyleLbl="asst1" presStyleIdx="0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A6AB3BB-8F6B-4380-AE64-12231142A6AA}" type="pres">
      <dgm:prSet presAssocID="{F103C0C6-6333-47E9-85E4-CDB583323AAA}" presName="rootConnector3" presStyleLbl="asst1" presStyleIdx="0" presStyleCnt="6"/>
      <dgm:spPr/>
      <dgm:t>
        <a:bodyPr/>
        <a:lstStyle/>
        <a:p>
          <a:endParaRPr lang="ru-RU"/>
        </a:p>
      </dgm:t>
    </dgm:pt>
    <dgm:pt modelId="{3B81E4E0-B01C-41D0-AFB2-169DD4E8C17F}" type="pres">
      <dgm:prSet presAssocID="{F103C0C6-6333-47E9-85E4-CDB583323AAA}" presName="hierChild6" presStyleCnt="0"/>
      <dgm:spPr/>
    </dgm:pt>
    <dgm:pt modelId="{43BD6A7C-B929-4E6B-9429-81A6BDDD324F}" type="pres">
      <dgm:prSet presAssocID="{F103C0C6-6333-47E9-85E4-CDB583323AAA}" presName="hierChild7" presStyleCnt="0"/>
      <dgm:spPr/>
    </dgm:pt>
    <dgm:pt modelId="{0196656F-E14D-4D9A-B530-DFF31FBE26EF}" type="pres">
      <dgm:prSet presAssocID="{F9A1D597-1D6B-45A7-9343-958F32FE6743}" presName="Name111" presStyleLbl="parChTrans1D2" presStyleIdx="1" presStyleCnt="2"/>
      <dgm:spPr/>
      <dgm:t>
        <a:bodyPr/>
        <a:lstStyle/>
        <a:p>
          <a:endParaRPr lang="ru-RU"/>
        </a:p>
      </dgm:t>
    </dgm:pt>
    <dgm:pt modelId="{48FA50DD-68D0-4088-9D1C-2FB161FC2E4E}" type="pres">
      <dgm:prSet presAssocID="{1811B605-DEC5-4AE1-B07D-774FB6476714}" presName="hierRoot3" presStyleCnt="0">
        <dgm:presLayoutVars>
          <dgm:hierBranch/>
        </dgm:presLayoutVars>
      </dgm:prSet>
      <dgm:spPr/>
    </dgm:pt>
    <dgm:pt modelId="{464E7FA2-5294-43C2-9CD9-C4DC738456AF}" type="pres">
      <dgm:prSet presAssocID="{1811B605-DEC5-4AE1-B07D-774FB6476714}" presName="rootComposite3" presStyleCnt="0"/>
      <dgm:spPr/>
    </dgm:pt>
    <dgm:pt modelId="{6F92805F-BF8D-44EF-81D2-0C212B3A7F7D}" type="pres">
      <dgm:prSet presAssocID="{1811B605-DEC5-4AE1-B07D-774FB6476714}" presName="rootText3" presStyleLbl="asst1" presStyleIdx="1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29F52CA0-DE8A-44EE-AE89-61951DC6899F}" type="pres">
      <dgm:prSet presAssocID="{1811B605-DEC5-4AE1-B07D-774FB6476714}" presName="rootConnector3" presStyleLbl="asst1" presStyleIdx="1" presStyleCnt="6"/>
      <dgm:spPr/>
      <dgm:t>
        <a:bodyPr/>
        <a:lstStyle/>
        <a:p>
          <a:endParaRPr lang="ru-RU"/>
        </a:p>
      </dgm:t>
    </dgm:pt>
    <dgm:pt modelId="{8E71F0CF-CB49-4ADE-BCAB-1A8627D2AA82}" type="pres">
      <dgm:prSet presAssocID="{1811B605-DEC5-4AE1-B07D-774FB6476714}" presName="hierChild6" presStyleCnt="0"/>
      <dgm:spPr/>
    </dgm:pt>
    <dgm:pt modelId="{D25C42D9-92FA-487D-828B-A9B882508678}" type="pres">
      <dgm:prSet presAssocID="{1811B605-DEC5-4AE1-B07D-774FB6476714}" presName="hierChild7" presStyleCnt="0"/>
      <dgm:spPr/>
    </dgm:pt>
    <dgm:pt modelId="{B9322300-C4D9-4F6A-9226-4830C2CBD28E}" type="pres">
      <dgm:prSet presAssocID="{D42953EB-D856-486E-9A3B-4E24F3E07DE1}" presName="Name111" presStyleLbl="parChTrans1D3" presStyleIdx="0" presStyleCnt="2"/>
      <dgm:spPr/>
      <dgm:t>
        <a:bodyPr/>
        <a:lstStyle/>
        <a:p>
          <a:endParaRPr lang="ru-RU"/>
        </a:p>
      </dgm:t>
    </dgm:pt>
    <dgm:pt modelId="{1D034606-0983-4B88-B6F8-C668A6C6D11C}" type="pres">
      <dgm:prSet presAssocID="{A5C71D4D-78A7-4352-9DDD-9805ACEA9D5A}" presName="hierRoot3" presStyleCnt="0">
        <dgm:presLayoutVars>
          <dgm:hierBranch/>
        </dgm:presLayoutVars>
      </dgm:prSet>
      <dgm:spPr/>
    </dgm:pt>
    <dgm:pt modelId="{151153C5-8C4D-46A4-B68F-983A84AD3C6C}" type="pres">
      <dgm:prSet presAssocID="{A5C71D4D-78A7-4352-9DDD-9805ACEA9D5A}" presName="rootComposite3" presStyleCnt="0"/>
      <dgm:spPr/>
    </dgm:pt>
    <dgm:pt modelId="{61CF859F-F421-4B26-AF1F-7760A9415F23}" type="pres">
      <dgm:prSet presAssocID="{A5C71D4D-78A7-4352-9DDD-9805ACEA9D5A}" presName="rootText3" presStyleLbl="asst1" presStyleIdx="2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95B0F94C-9927-499B-810F-CFDEC0812AF5}" type="pres">
      <dgm:prSet presAssocID="{A5C71D4D-78A7-4352-9DDD-9805ACEA9D5A}" presName="rootConnector3" presStyleLbl="asst1" presStyleIdx="2" presStyleCnt="6"/>
      <dgm:spPr/>
      <dgm:t>
        <a:bodyPr/>
        <a:lstStyle/>
        <a:p>
          <a:endParaRPr lang="ru-RU"/>
        </a:p>
      </dgm:t>
    </dgm:pt>
    <dgm:pt modelId="{5889351A-9B87-493B-A2F1-8A95CEF6DAFE}" type="pres">
      <dgm:prSet presAssocID="{A5C71D4D-78A7-4352-9DDD-9805ACEA9D5A}" presName="hierChild6" presStyleCnt="0"/>
      <dgm:spPr/>
    </dgm:pt>
    <dgm:pt modelId="{83664502-4E8E-4CF3-947A-A323FCAB7C11}" type="pres">
      <dgm:prSet presAssocID="{A5C71D4D-78A7-4352-9DDD-9805ACEA9D5A}" presName="hierChild7" presStyleCnt="0"/>
      <dgm:spPr/>
    </dgm:pt>
    <dgm:pt modelId="{2FB00CC4-9AF9-407D-9692-FD9B0582F627}" type="pres">
      <dgm:prSet presAssocID="{4E5B6232-ABD0-4305-92BA-1698C3FD0E6F}" presName="Name111" presStyleLbl="parChTrans1D4" presStyleIdx="0" presStyleCnt="2"/>
      <dgm:spPr/>
      <dgm:t>
        <a:bodyPr/>
        <a:lstStyle/>
        <a:p>
          <a:endParaRPr lang="ru-RU"/>
        </a:p>
      </dgm:t>
    </dgm:pt>
    <dgm:pt modelId="{93A9E5E2-9FB2-4097-987E-3467529926C1}" type="pres">
      <dgm:prSet presAssocID="{37E42BF3-2951-4495-98E1-7A56938781FC}" presName="hierRoot3" presStyleCnt="0">
        <dgm:presLayoutVars>
          <dgm:hierBranch/>
        </dgm:presLayoutVars>
      </dgm:prSet>
      <dgm:spPr/>
    </dgm:pt>
    <dgm:pt modelId="{BBFE4074-7105-460C-8942-1B7CBA389404}" type="pres">
      <dgm:prSet presAssocID="{37E42BF3-2951-4495-98E1-7A56938781FC}" presName="rootComposite3" presStyleCnt="0"/>
      <dgm:spPr/>
    </dgm:pt>
    <dgm:pt modelId="{5DC07924-E4C2-49E9-8B79-5C04738B1E60}" type="pres">
      <dgm:prSet presAssocID="{37E42BF3-2951-4495-98E1-7A56938781FC}" presName="rootText3" presStyleLbl="asst1" presStyleIdx="3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42A89C6-14EC-41FC-99B3-227E5E5B5797}" type="pres">
      <dgm:prSet presAssocID="{37E42BF3-2951-4495-98E1-7A56938781FC}" presName="rootConnector3" presStyleLbl="asst1" presStyleIdx="3" presStyleCnt="6"/>
      <dgm:spPr/>
      <dgm:t>
        <a:bodyPr/>
        <a:lstStyle/>
        <a:p>
          <a:endParaRPr lang="ru-RU"/>
        </a:p>
      </dgm:t>
    </dgm:pt>
    <dgm:pt modelId="{66E64E38-04F5-4F98-B92A-D3ECF88E90F9}" type="pres">
      <dgm:prSet presAssocID="{37E42BF3-2951-4495-98E1-7A56938781FC}" presName="hierChild6" presStyleCnt="0"/>
      <dgm:spPr/>
    </dgm:pt>
    <dgm:pt modelId="{8243DFA3-831E-4AC4-BB95-9C7CA82B2F1A}" type="pres">
      <dgm:prSet presAssocID="{37E42BF3-2951-4495-98E1-7A56938781FC}" presName="hierChild7" presStyleCnt="0"/>
      <dgm:spPr/>
    </dgm:pt>
    <dgm:pt modelId="{4CBA6C2C-8E4A-4160-B5A6-1EE79ADD688C}" type="pres">
      <dgm:prSet presAssocID="{E1FD029F-C822-4F9C-B92B-AAE9158909C7}" presName="Name111" presStyleLbl="parChTrans1D4" presStyleIdx="1" presStyleCnt="2"/>
      <dgm:spPr/>
      <dgm:t>
        <a:bodyPr/>
        <a:lstStyle/>
        <a:p>
          <a:endParaRPr lang="ru-RU"/>
        </a:p>
      </dgm:t>
    </dgm:pt>
    <dgm:pt modelId="{962BC703-5AF5-4BEA-B132-C08D923A2EDF}" type="pres">
      <dgm:prSet presAssocID="{1E9AA12B-D2D8-4A44-BB25-028F52BACF8F}" presName="hierRoot3" presStyleCnt="0">
        <dgm:presLayoutVars>
          <dgm:hierBranch/>
        </dgm:presLayoutVars>
      </dgm:prSet>
      <dgm:spPr/>
    </dgm:pt>
    <dgm:pt modelId="{0C393FE0-39F4-41A8-A103-AB9894B03536}" type="pres">
      <dgm:prSet presAssocID="{1E9AA12B-D2D8-4A44-BB25-028F52BACF8F}" presName="rootComposite3" presStyleCnt="0"/>
      <dgm:spPr/>
    </dgm:pt>
    <dgm:pt modelId="{BF6B3F80-2BCA-4B2E-A03E-DA5A0451352E}" type="pres">
      <dgm:prSet presAssocID="{1E9AA12B-D2D8-4A44-BB25-028F52BACF8F}" presName="rootText3" presStyleLbl="asst1" presStyleIdx="4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16FA30B-641E-4346-AA74-C77A2A9ED89F}" type="pres">
      <dgm:prSet presAssocID="{1E9AA12B-D2D8-4A44-BB25-028F52BACF8F}" presName="rootConnector3" presStyleLbl="asst1" presStyleIdx="4" presStyleCnt="6"/>
      <dgm:spPr/>
      <dgm:t>
        <a:bodyPr/>
        <a:lstStyle/>
        <a:p>
          <a:endParaRPr lang="ru-RU"/>
        </a:p>
      </dgm:t>
    </dgm:pt>
    <dgm:pt modelId="{59E60DD8-BDDC-4E39-9EA0-9BCD334A30CB}" type="pres">
      <dgm:prSet presAssocID="{1E9AA12B-D2D8-4A44-BB25-028F52BACF8F}" presName="hierChild6" presStyleCnt="0"/>
      <dgm:spPr/>
    </dgm:pt>
    <dgm:pt modelId="{51693737-C37F-4A61-81A7-5CEAF9EC0D01}" type="pres">
      <dgm:prSet presAssocID="{1E9AA12B-D2D8-4A44-BB25-028F52BACF8F}" presName="hierChild7" presStyleCnt="0"/>
      <dgm:spPr/>
    </dgm:pt>
    <dgm:pt modelId="{18A0423B-638B-44CF-BAA4-79406A21FA36}" type="pres">
      <dgm:prSet presAssocID="{9A903F11-2EEC-4D89-B169-76374E5DCE7D}" presName="Name111" presStyleLbl="parChTrans1D3" presStyleIdx="1" presStyleCnt="2"/>
      <dgm:spPr/>
      <dgm:t>
        <a:bodyPr/>
        <a:lstStyle/>
        <a:p>
          <a:endParaRPr lang="ru-RU"/>
        </a:p>
      </dgm:t>
    </dgm:pt>
    <dgm:pt modelId="{44CBE8EE-0D35-44E7-AF2F-75DAAC869D90}" type="pres">
      <dgm:prSet presAssocID="{529BBB1B-4AEC-4721-BC93-EEE1098E9835}" presName="hierRoot3" presStyleCnt="0">
        <dgm:presLayoutVars>
          <dgm:hierBranch/>
        </dgm:presLayoutVars>
      </dgm:prSet>
      <dgm:spPr/>
    </dgm:pt>
    <dgm:pt modelId="{371C1CE6-581E-403A-A7F9-61B577A5A37F}" type="pres">
      <dgm:prSet presAssocID="{529BBB1B-4AEC-4721-BC93-EEE1098E9835}" presName="rootComposite3" presStyleCnt="0"/>
      <dgm:spPr/>
    </dgm:pt>
    <dgm:pt modelId="{97AC41D9-3964-4B4B-973D-2A2572AF2447}" type="pres">
      <dgm:prSet presAssocID="{529BBB1B-4AEC-4721-BC93-EEE1098E9835}" presName="rootText3" presStyleLbl="asst1" presStyleIdx="5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12B59F33-CA05-49E0-B938-80A0EA281C63}" type="pres">
      <dgm:prSet presAssocID="{529BBB1B-4AEC-4721-BC93-EEE1098E9835}" presName="rootConnector3" presStyleLbl="asst1" presStyleIdx="5" presStyleCnt="6"/>
      <dgm:spPr/>
      <dgm:t>
        <a:bodyPr/>
        <a:lstStyle/>
        <a:p>
          <a:endParaRPr lang="ru-RU"/>
        </a:p>
      </dgm:t>
    </dgm:pt>
    <dgm:pt modelId="{706A123F-9A92-41E4-AB19-173BF0B59D7F}" type="pres">
      <dgm:prSet presAssocID="{529BBB1B-4AEC-4721-BC93-EEE1098E9835}" presName="hierChild6" presStyleCnt="0"/>
      <dgm:spPr/>
    </dgm:pt>
    <dgm:pt modelId="{578E75BB-1D4C-46B6-B754-A3E4CB17BA76}" type="pres">
      <dgm:prSet presAssocID="{529BBB1B-4AEC-4721-BC93-EEE1098E9835}" presName="hierChild7" presStyleCnt="0"/>
      <dgm:spPr/>
    </dgm:pt>
  </dgm:ptLst>
  <dgm:cxnLst>
    <dgm:cxn modelId="{4483480D-A315-4DD1-AA28-E85CD84B3723}" type="presOf" srcId="{F9A1D597-1D6B-45A7-9343-958F32FE6743}" destId="{0196656F-E14D-4D9A-B530-DFF31FBE26EF}" srcOrd="0" destOrd="0" presId="urn:microsoft.com/office/officeart/2005/8/layout/orgChart1"/>
    <dgm:cxn modelId="{D42BC404-5EAF-4212-B35C-E5D56E328023}" type="presOf" srcId="{1811B605-DEC5-4AE1-B07D-774FB6476714}" destId="{29F52CA0-DE8A-44EE-AE89-61951DC6899F}" srcOrd="1" destOrd="0" presId="urn:microsoft.com/office/officeart/2005/8/layout/orgChart1"/>
    <dgm:cxn modelId="{D390374C-6157-4141-B066-2928FD0466A3}" srcId="{A5C71D4D-78A7-4352-9DDD-9805ACEA9D5A}" destId="{37E42BF3-2951-4495-98E1-7A56938781FC}" srcOrd="0" destOrd="0" parTransId="{4E5B6232-ABD0-4305-92BA-1698C3FD0E6F}" sibTransId="{8ACEE74B-77FF-42E5-963F-2DC29FC5A317}"/>
    <dgm:cxn modelId="{31C27A50-7DA8-4DE3-9F18-F38D3F786C7D}" type="presOf" srcId="{9A903F11-2EEC-4D89-B169-76374E5DCE7D}" destId="{18A0423B-638B-44CF-BAA4-79406A21FA36}" srcOrd="0" destOrd="0" presId="urn:microsoft.com/office/officeart/2005/8/layout/orgChart1"/>
    <dgm:cxn modelId="{43A06B54-0F99-40F8-B8C1-790236894E42}" type="presOf" srcId="{1E9AA12B-D2D8-4A44-BB25-028F52BACF8F}" destId="{416FA30B-641E-4346-AA74-C77A2A9ED89F}" srcOrd="1" destOrd="0" presId="urn:microsoft.com/office/officeart/2005/8/layout/orgChart1"/>
    <dgm:cxn modelId="{73654B26-567F-4859-9950-F121CFD5A1FE}" type="presOf" srcId="{5CAC8F0A-AC12-4959-BC35-BD099710CD82}" destId="{551A7BFA-E28C-4484-997E-C6151F0331AF}" srcOrd="1" destOrd="0" presId="urn:microsoft.com/office/officeart/2005/8/layout/orgChart1"/>
    <dgm:cxn modelId="{0F29DE0A-7C09-4659-BDA0-72EA222AD935}" srcId="{1811B605-DEC5-4AE1-B07D-774FB6476714}" destId="{A5C71D4D-78A7-4352-9DDD-9805ACEA9D5A}" srcOrd="0" destOrd="0" parTransId="{D42953EB-D856-486E-9A3B-4E24F3E07DE1}" sibTransId="{2EC22381-9E2E-4DBC-8D9B-ABE65B08AC14}"/>
    <dgm:cxn modelId="{B47A8557-8C25-45AF-80BD-ED41701DA6B5}" srcId="{5CAC8F0A-AC12-4959-BC35-BD099710CD82}" destId="{1811B605-DEC5-4AE1-B07D-774FB6476714}" srcOrd="1" destOrd="0" parTransId="{F9A1D597-1D6B-45A7-9343-958F32FE6743}" sibTransId="{31029C1A-553E-46B2-8069-A9F6A09AC90E}"/>
    <dgm:cxn modelId="{0E719798-DDBC-43CF-A167-5B3EE00359CB}" type="presOf" srcId="{A5C71D4D-78A7-4352-9DDD-9805ACEA9D5A}" destId="{61CF859F-F421-4B26-AF1F-7760A9415F23}" srcOrd="0" destOrd="0" presId="urn:microsoft.com/office/officeart/2005/8/layout/orgChart1"/>
    <dgm:cxn modelId="{83A093DC-9A8A-46B5-8B19-4E3E6EEE57D2}" type="presOf" srcId="{37E42BF3-2951-4495-98E1-7A56938781FC}" destId="{442A89C6-14EC-41FC-99B3-227E5E5B5797}" srcOrd="1" destOrd="0" presId="urn:microsoft.com/office/officeart/2005/8/layout/orgChart1"/>
    <dgm:cxn modelId="{42BE98F1-0CB7-4DE3-9AF6-AAD5E434F317}" type="presOf" srcId="{D42953EB-D856-486E-9A3B-4E24F3E07DE1}" destId="{B9322300-C4D9-4F6A-9226-4830C2CBD28E}" srcOrd="0" destOrd="0" presId="urn:microsoft.com/office/officeart/2005/8/layout/orgChart1"/>
    <dgm:cxn modelId="{E5C505A6-D0AC-4F82-BA46-A9EAF4392283}" srcId="{962E3B45-DD2E-410E-80FE-F0A06A121C3E}" destId="{5CAC8F0A-AC12-4959-BC35-BD099710CD82}" srcOrd="0" destOrd="0" parTransId="{AC5348C4-7928-4582-99C3-0607F0824645}" sibTransId="{6B3BC674-5CE9-4495-9277-96DA58CA0ECD}"/>
    <dgm:cxn modelId="{14FC13F9-7006-44AA-9C5A-F40D91D54582}" type="presOf" srcId="{E1FD029F-C822-4F9C-B92B-AAE9158909C7}" destId="{4CBA6C2C-8E4A-4160-B5A6-1EE79ADD688C}" srcOrd="0" destOrd="0" presId="urn:microsoft.com/office/officeart/2005/8/layout/orgChart1"/>
    <dgm:cxn modelId="{E6860630-C7DD-41A7-AA1F-0E8A55167B21}" type="presOf" srcId="{1E9AA12B-D2D8-4A44-BB25-028F52BACF8F}" destId="{BF6B3F80-2BCA-4B2E-A03E-DA5A0451352E}" srcOrd="0" destOrd="0" presId="urn:microsoft.com/office/officeart/2005/8/layout/orgChart1"/>
    <dgm:cxn modelId="{D69B7E50-D6EE-426F-A5B5-C52DC0ECD9BE}" type="presOf" srcId="{962E3B45-DD2E-410E-80FE-F0A06A121C3E}" destId="{0EF839FA-E559-424E-967B-25619402B3FA}" srcOrd="0" destOrd="0" presId="urn:microsoft.com/office/officeart/2005/8/layout/orgChart1"/>
    <dgm:cxn modelId="{32433A48-1AF7-4FEC-B78F-872D4653A909}" type="presOf" srcId="{37E42BF3-2951-4495-98E1-7A56938781FC}" destId="{5DC07924-E4C2-49E9-8B79-5C04738B1E60}" srcOrd="0" destOrd="0" presId="urn:microsoft.com/office/officeart/2005/8/layout/orgChart1"/>
    <dgm:cxn modelId="{F9AFAE59-B10D-4FBD-9968-BAE0CD9321D8}" srcId="{A5C71D4D-78A7-4352-9DDD-9805ACEA9D5A}" destId="{1E9AA12B-D2D8-4A44-BB25-028F52BACF8F}" srcOrd="1" destOrd="0" parTransId="{E1FD029F-C822-4F9C-B92B-AAE9158909C7}" sibTransId="{D7CEC3A4-46FF-4638-A8D3-4FA40633DD14}"/>
    <dgm:cxn modelId="{1A742503-69FD-426F-A6E2-916214464C56}" type="presOf" srcId="{529BBB1B-4AEC-4721-BC93-EEE1098E9835}" destId="{12B59F33-CA05-49E0-B938-80A0EA281C63}" srcOrd="1" destOrd="0" presId="urn:microsoft.com/office/officeart/2005/8/layout/orgChart1"/>
    <dgm:cxn modelId="{81FB0FBB-D67E-4647-AFC1-127586BF872E}" type="presOf" srcId="{1811B605-DEC5-4AE1-B07D-774FB6476714}" destId="{6F92805F-BF8D-44EF-81D2-0C212B3A7F7D}" srcOrd="0" destOrd="0" presId="urn:microsoft.com/office/officeart/2005/8/layout/orgChart1"/>
    <dgm:cxn modelId="{2A7479A4-34B9-4D02-B78C-C1FB4E86434F}" type="presOf" srcId="{CFF1FB4C-33C7-46C5-B8C6-44D9B735F154}" destId="{B6100500-6254-41F0-B001-1DD87F0D43FE}" srcOrd="0" destOrd="0" presId="urn:microsoft.com/office/officeart/2005/8/layout/orgChart1"/>
    <dgm:cxn modelId="{92B4C7E2-1471-41C3-AF41-1B131364293C}" type="presOf" srcId="{F103C0C6-6333-47E9-85E4-CDB583323AAA}" destId="{2B08F716-BBFA-4DF5-AB4B-3E54E3029DDD}" srcOrd="0" destOrd="0" presId="urn:microsoft.com/office/officeart/2005/8/layout/orgChart1"/>
    <dgm:cxn modelId="{3FA7AAD1-D62D-4DA0-8756-671B04BA8565}" type="presOf" srcId="{529BBB1B-4AEC-4721-BC93-EEE1098E9835}" destId="{97AC41D9-3964-4B4B-973D-2A2572AF2447}" srcOrd="0" destOrd="0" presId="urn:microsoft.com/office/officeart/2005/8/layout/orgChart1"/>
    <dgm:cxn modelId="{60BA0492-F208-4E71-A661-5AEEFCC8312B}" type="presOf" srcId="{F103C0C6-6333-47E9-85E4-CDB583323AAA}" destId="{3A6AB3BB-8F6B-4380-AE64-12231142A6AA}" srcOrd="1" destOrd="0" presId="urn:microsoft.com/office/officeart/2005/8/layout/orgChart1"/>
    <dgm:cxn modelId="{A87B7149-8E8D-4525-9D2F-7989330C8EF4}" type="presOf" srcId="{4E5B6232-ABD0-4305-92BA-1698C3FD0E6F}" destId="{2FB00CC4-9AF9-407D-9692-FD9B0582F627}" srcOrd="0" destOrd="0" presId="urn:microsoft.com/office/officeart/2005/8/layout/orgChart1"/>
    <dgm:cxn modelId="{AF5F68D3-165A-40FC-B0D5-DE87D16CEC46}" srcId="{5CAC8F0A-AC12-4959-BC35-BD099710CD82}" destId="{F103C0C6-6333-47E9-85E4-CDB583323AAA}" srcOrd="0" destOrd="0" parTransId="{CFF1FB4C-33C7-46C5-B8C6-44D9B735F154}" sibTransId="{9B389CD1-6C2A-4FD2-A8BB-795A28035CE3}"/>
    <dgm:cxn modelId="{07DA37A3-219B-4197-A321-6750BA82F37F}" srcId="{1811B605-DEC5-4AE1-B07D-774FB6476714}" destId="{529BBB1B-4AEC-4721-BC93-EEE1098E9835}" srcOrd="1" destOrd="0" parTransId="{9A903F11-2EEC-4D89-B169-76374E5DCE7D}" sibTransId="{77536F53-00C3-43F5-B744-311FA6B6FE18}"/>
    <dgm:cxn modelId="{BF7A877C-FF9A-4420-A2FE-2EB07BDE6290}" type="presOf" srcId="{5CAC8F0A-AC12-4959-BC35-BD099710CD82}" destId="{9B5D96CB-5F8E-441C-B2D8-76C3CE9645F1}" srcOrd="0" destOrd="0" presId="urn:microsoft.com/office/officeart/2005/8/layout/orgChart1"/>
    <dgm:cxn modelId="{3A677078-2FA1-43A3-AE75-1995F26911B2}" type="presOf" srcId="{A5C71D4D-78A7-4352-9DDD-9805ACEA9D5A}" destId="{95B0F94C-9927-499B-810F-CFDEC0812AF5}" srcOrd="1" destOrd="0" presId="urn:microsoft.com/office/officeart/2005/8/layout/orgChart1"/>
    <dgm:cxn modelId="{9766FF99-E9B4-4EEA-934B-9FD97BC2F84F}" type="presParOf" srcId="{0EF839FA-E559-424E-967B-25619402B3FA}" destId="{035037B1-C2AC-486B-B1B2-953E5B16CB8D}" srcOrd="0" destOrd="0" presId="urn:microsoft.com/office/officeart/2005/8/layout/orgChart1"/>
    <dgm:cxn modelId="{9D09169A-8772-4AD4-A55C-3C1B267FB046}" type="presParOf" srcId="{035037B1-C2AC-486B-B1B2-953E5B16CB8D}" destId="{F95F9BE8-C500-4CD4-A34D-33D28357250C}" srcOrd="0" destOrd="0" presId="urn:microsoft.com/office/officeart/2005/8/layout/orgChart1"/>
    <dgm:cxn modelId="{7658E063-D266-4DC7-A374-42CDFD3B3D93}" type="presParOf" srcId="{F95F9BE8-C500-4CD4-A34D-33D28357250C}" destId="{9B5D96CB-5F8E-441C-B2D8-76C3CE9645F1}" srcOrd="0" destOrd="0" presId="urn:microsoft.com/office/officeart/2005/8/layout/orgChart1"/>
    <dgm:cxn modelId="{F665FC4F-2A33-4480-BAB3-716680F40BDE}" type="presParOf" srcId="{F95F9BE8-C500-4CD4-A34D-33D28357250C}" destId="{551A7BFA-E28C-4484-997E-C6151F0331AF}" srcOrd="1" destOrd="0" presId="urn:microsoft.com/office/officeart/2005/8/layout/orgChart1"/>
    <dgm:cxn modelId="{EDECD47B-245B-4416-9D40-37E76759DAC3}" type="presParOf" srcId="{035037B1-C2AC-486B-B1B2-953E5B16CB8D}" destId="{7F3735A9-6FD6-42E3-895D-E2A6AADD541F}" srcOrd="1" destOrd="0" presId="urn:microsoft.com/office/officeart/2005/8/layout/orgChart1"/>
    <dgm:cxn modelId="{AFF5208A-FB27-440C-902A-17BC5015A7B6}" type="presParOf" srcId="{035037B1-C2AC-486B-B1B2-953E5B16CB8D}" destId="{A56785B9-0E4C-4BC9-B653-0EE4C196B426}" srcOrd="2" destOrd="0" presId="urn:microsoft.com/office/officeart/2005/8/layout/orgChart1"/>
    <dgm:cxn modelId="{5D53D737-D6FA-42A2-B537-56122707E96C}" type="presParOf" srcId="{A56785B9-0E4C-4BC9-B653-0EE4C196B426}" destId="{B6100500-6254-41F0-B001-1DD87F0D43FE}" srcOrd="0" destOrd="0" presId="urn:microsoft.com/office/officeart/2005/8/layout/orgChart1"/>
    <dgm:cxn modelId="{3592E7DC-019A-4B69-8A2F-66377478D161}" type="presParOf" srcId="{A56785B9-0E4C-4BC9-B653-0EE4C196B426}" destId="{84B21FFE-93BA-4135-8604-79B685DB21B6}" srcOrd="1" destOrd="0" presId="urn:microsoft.com/office/officeart/2005/8/layout/orgChart1"/>
    <dgm:cxn modelId="{EF8D3B43-5B7D-4AA8-BF3A-329304D8EDE5}" type="presParOf" srcId="{84B21FFE-93BA-4135-8604-79B685DB21B6}" destId="{58DF5A36-D4A7-425D-A847-EBCB64815CD8}" srcOrd="0" destOrd="0" presId="urn:microsoft.com/office/officeart/2005/8/layout/orgChart1"/>
    <dgm:cxn modelId="{B2610E2E-B7CC-4766-90D1-FB18BBBD3B39}" type="presParOf" srcId="{58DF5A36-D4A7-425D-A847-EBCB64815CD8}" destId="{2B08F716-BBFA-4DF5-AB4B-3E54E3029DDD}" srcOrd="0" destOrd="0" presId="urn:microsoft.com/office/officeart/2005/8/layout/orgChart1"/>
    <dgm:cxn modelId="{6384B33A-EE3E-470F-A9A2-4302C806B53E}" type="presParOf" srcId="{58DF5A36-D4A7-425D-A847-EBCB64815CD8}" destId="{3A6AB3BB-8F6B-4380-AE64-12231142A6AA}" srcOrd="1" destOrd="0" presId="urn:microsoft.com/office/officeart/2005/8/layout/orgChart1"/>
    <dgm:cxn modelId="{F6C89369-53A0-49F7-9BC1-80AC8EE86314}" type="presParOf" srcId="{84B21FFE-93BA-4135-8604-79B685DB21B6}" destId="{3B81E4E0-B01C-41D0-AFB2-169DD4E8C17F}" srcOrd="1" destOrd="0" presId="urn:microsoft.com/office/officeart/2005/8/layout/orgChart1"/>
    <dgm:cxn modelId="{72666A9F-CB5D-4148-82E2-E5E9C5C20AEF}" type="presParOf" srcId="{84B21FFE-93BA-4135-8604-79B685DB21B6}" destId="{43BD6A7C-B929-4E6B-9429-81A6BDDD324F}" srcOrd="2" destOrd="0" presId="urn:microsoft.com/office/officeart/2005/8/layout/orgChart1"/>
    <dgm:cxn modelId="{120EFBAE-C94B-4CA6-A094-B807F5C24674}" type="presParOf" srcId="{A56785B9-0E4C-4BC9-B653-0EE4C196B426}" destId="{0196656F-E14D-4D9A-B530-DFF31FBE26EF}" srcOrd="2" destOrd="0" presId="urn:microsoft.com/office/officeart/2005/8/layout/orgChart1"/>
    <dgm:cxn modelId="{1583C10E-D0F3-4F84-9A73-E2D42729E29F}" type="presParOf" srcId="{A56785B9-0E4C-4BC9-B653-0EE4C196B426}" destId="{48FA50DD-68D0-4088-9D1C-2FB161FC2E4E}" srcOrd="3" destOrd="0" presId="urn:microsoft.com/office/officeart/2005/8/layout/orgChart1"/>
    <dgm:cxn modelId="{8F69E986-6B35-4E4C-83C3-D53E3DF818F1}" type="presParOf" srcId="{48FA50DD-68D0-4088-9D1C-2FB161FC2E4E}" destId="{464E7FA2-5294-43C2-9CD9-C4DC738456AF}" srcOrd="0" destOrd="0" presId="urn:microsoft.com/office/officeart/2005/8/layout/orgChart1"/>
    <dgm:cxn modelId="{1E6F3568-B88D-4FE9-B34A-E00089873A65}" type="presParOf" srcId="{464E7FA2-5294-43C2-9CD9-C4DC738456AF}" destId="{6F92805F-BF8D-44EF-81D2-0C212B3A7F7D}" srcOrd="0" destOrd="0" presId="urn:microsoft.com/office/officeart/2005/8/layout/orgChart1"/>
    <dgm:cxn modelId="{3C749D4F-2366-403C-B044-05524CCCDA85}" type="presParOf" srcId="{464E7FA2-5294-43C2-9CD9-C4DC738456AF}" destId="{29F52CA0-DE8A-44EE-AE89-61951DC6899F}" srcOrd="1" destOrd="0" presId="urn:microsoft.com/office/officeart/2005/8/layout/orgChart1"/>
    <dgm:cxn modelId="{43A0626E-5A2B-4B54-B51B-17015296572F}" type="presParOf" srcId="{48FA50DD-68D0-4088-9D1C-2FB161FC2E4E}" destId="{8E71F0CF-CB49-4ADE-BCAB-1A8627D2AA82}" srcOrd="1" destOrd="0" presId="urn:microsoft.com/office/officeart/2005/8/layout/orgChart1"/>
    <dgm:cxn modelId="{5C4DE62D-C3B9-4D9F-AB89-2A2340511DB5}" type="presParOf" srcId="{48FA50DD-68D0-4088-9D1C-2FB161FC2E4E}" destId="{D25C42D9-92FA-487D-828B-A9B882508678}" srcOrd="2" destOrd="0" presId="urn:microsoft.com/office/officeart/2005/8/layout/orgChart1"/>
    <dgm:cxn modelId="{F57CCEB5-91F9-4C79-A868-63A871EA30AC}" type="presParOf" srcId="{D25C42D9-92FA-487D-828B-A9B882508678}" destId="{B9322300-C4D9-4F6A-9226-4830C2CBD28E}" srcOrd="0" destOrd="0" presId="urn:microsoft.com/office/officeart/2005/8/layout/orgChart1"/>
    <dgm:cxn modelId="{123A3035-1F25-4002-8638-239274A2EEAF}" type="presParOf" srcId="{D25C42D9-92FA-487D-828B-A9B882508678}" destId="{1D034606-0983-4B88-B6F8-C668A6C6D11C}" srcOrd="1" destOrd="0" presId="urn:microsoft.com/office/officeart/2005/8/layout/orgChart1"/>
    <dgm:cxn modelId="{946FA72F-D520-46C6-BC53-E0F4D795665F}" type="presParOf" srcId="{1D034606-0983-4B88-B6F8-C668A6C6D11C}" destId="{151153C5-8C4D-46A4-B68F-983A84AD3C6C}" srcOrd="0" destOrd="0" presId="urn:microsoft.com/office/officeart/2005/8/layout/orgChart1"/>
    <dgm:cxn modelId="{5D7249D3-5BB0-49CD-8D83-95696C635DF3}" type="presParOf" srcId="{151153C5-8C4D-46A4-B68F-983A84AD3C6C}" destId="{61CF859F-F421-4B26-AF1F-7760A9415F23}" srcOrd="0" destOrd="0" presId="urn:microsoft.com/office/officeart/2005/8/layout/orgChart1"/>
    <dgm:cxn modelId="{9190E429-9AD0-428A-844F-25F4EF94C4E4}" type="presParOf" srcId="{151153C5-8C4D-46A4-B68F-983A84AD3C6C}" destId="{95B0F94C-9927-499B-810F-CFDEC0812AF5}" srcOrd="1" destOrd="0" presId="urn:microsoft.com/office/officeart/2005/8/layout/orgChart1"/>
    <dgm:cxn modelId="{E1B7A445-C309-463B-9587-82C4B7B5E297}" type="presParOf" srcId="{1D034606-0983-4B88-B6F8-C668A6C6D11C}" destId="{5889351A-9B87-493B-A2F1-8A95CEF6DAFE}" srcOrd="1" destOrd="0" presId="urn:microsoft.com/office/officeart/2005/8/layout/orgChart1"/>
    <dgm:cxn modelId="{5AB89811-61FE-4204-A593-926350C54A83}" type="presParOf" srcId="{1D034606-0983-4B88-B6F8-C668A6C6D11C}" destId="{83664502-4E8E-4CF3-947A-A323FCAB7C11}" srcOrd="2" destOrd="0" presId="urn:microsoft.com/office/officeart/2005/8/layout/orgChart1"/>
    <dgm:cxn modelId="{46439D61-0525-4FF8-AD07-A2C38A05ADFF}" type="presParOf" srcId="{83664502-4E8E-4CF3-947A-A323FCAB7C11}" destId="{2FB00CC4-9AF9-407D-9692-FD9B0582F627}" srcOrd="0" destOrd="0" presId="urn:microsoft.com/office/officeart/2005/8/layout/orgChart1"/>
    <dgm:cxn modelId="{6D946288-2053-45AD-9794-C2791659035D}" type="presParOf" srcId="{83664502-4E8E-4CF3-947A-A323FCAB7C11}" destId="{93A9E5E2-9FB2-4097-987E-3467529926C1}" srcOrd="1" destOrd="0" presId="urn:microsoft.com/office/officeart/2005/8/layout/orgChart1"/>
    <dgm:cxn modelId="{3307B095-964A-41AC-A255-0619582BC705}" type="presParOf" srcId="{93A9E5E2-9FB2-4097-987E-3467529926C1}" destId="{BBFE4074-7105-460C-8942-1B7CBA389404}" srcOrd="0" destOrd="0" presId="urn:microsoft.com/office/officeart/2005/8/layout/orgChart1"/>
    <dgm:cxn modelId="{A1602B34-B607-44EC-B7A6-68345834F3CD}" type="presParOf" srcId="{BBFE4074-7105-460C-8942-1B7CBA389404}" destId="{5DC07924-E4C2-49E9-8B79-5C04738B1E60}" srcOrd="0" destOrd="0" presId="urn:microsoft.com/office/officeart/2005/8/layout/orgChart1"/>
    <dgm:cxn modelId="{4EF2E1FB-9A75-4D14-9D59-A02FC445ECE0}" type="presParOf" srcId="{BBFE4074-7105-460C-8942-1B7CBA389404}" destId="{442A89C6-14EC-41FC-99B3-227E5E5B5797}" srcOrd="1" destOrd="0" presId="urn:microsoft.com/office/officeart/2005/8/layout/orgChart1"/>
    <dgm:cxn modelId="{909E266E-A33C-4E6C-971E-A23E1E9D9940}" type="presParOf" srcId="{93A9E5E2-9FB2-4097-987E-3467529926C1}" destId="{66E64E38-04F5-4F98-B92A-D3ECF88E90F9}" srcOrd="1" destOrd="0" presId="urn:microsoft.com/office/officeart/2005/8/layout/orgChart1"/>
    <dgm:cxn modelId="{71BB8EBC-851C-4E5A-83A3-8E0B590034EF}" type="presParOf" srcId="{93A9E5E2-9FB2-4097-987E-3467529926C1}" destId="{8243DFA3-831E-4AC4-BB95-9C7CA82B2F1A}" srcOrd="2" destOrd="0" presId="urn:microsoft.com/office/officeart/2005/8/layout/orgChart1"/>
    <dgm:cxn modelId="{9E37DC92-7105-4178-B422-FD55F2FCBDE9}" type="presParOf" srcId="{83664502-4E8E-4CF3-947A-A323FCAB7C11}" destId="{4CBA6C2C-8E4A-4160-B5A6-1EE79ADD688C}" srcOrd="2" destOrd="0" presId="urn:microsoft.com/office/officeart/2005/8/layout/orgChart1"/>
    <dgm:cxn modelId="{C1B14A2E-1DAB-4F8A-B4C4-0241872D0B8F}" type="presParOf" srcId="{83664502-4E8E-4CF3-947A-A323FCAB7C11}" destId="{962BC703-5AF5-4BEA-B132-C08D923A2EDF}" srcOrd="3" destOrd="0" presId="urn:microsoft.com/office/officeart/2005/8/layout/orgChart1"/>
    <dgm:cxn modelId="{C4C17974-D8A8-445E-839C-BD86BECC5C1A}" type="presParOf" srcId="{962BC703-5AF5-4BEA-B132-C08D923A2EDF}" destId="{0C393FE0-39F4-41A8-A103-AB9894B03536}" srcOrd="0" destOrd="0" presId="urn:microsoft.com/office/officeart/2005/8/layout/orgChart1"/>
    <dgm:cxn modelId="{D9B5EF1C-0975-4329-96BB-EB20F657E5F1}" type="presParOf" srcId="{0C393FE0-39F4-41A8-A103-AB9894B03536}" destId="{BF6B3F80-2BCA-4B2E-A03E-DA5A0451352E}" srcOrd="0" destOrd="0" presId="urn:microsoft.com/office/officeart/2005/8/layout/orgChart1"/>
    <dgm:cxn modelId="{14B7F04E-275C-46A5-8476-E97DCE0A8B35}" type="presParOf" srcId="{0C393FE0-39F4-41A8-A103-AB9894B03536}" destId="{416FA30B-641E-4346-AA74-C77A2A9ED89F}" srcOrd="1" destOrd="0" presId="urn:microsoft.com/office/officeart/2005/8/layout/orgChart1"/>
    <dgm:cxn modelId="{D3D3E6E8-7967-4B76-8A51-5992BC080891}" type="presParOf" srcId="{962BC703-5AF5-4BEA-B132-C08D923A2EDF}" destId="{59E60DD8-BDDC-4E39-9EA0-9BCD334A30CB}" srcOrd="1" destOrd="0" presId="urn:microsoft.com/office/officeart/2005/8/layout/orgChart1"/>
    <dgm:cxn modelId="{2F95329D-06A3-429F-88F5-A400EEE7E04D}" type="presParOf" srcId="{962BC703-5AF5-4BEA-B132-C08D923A2EDF}" destId="{51693737-C37F-4A61-81A7-5CEAF9EC0D01}" srcOrd="2" destOrd="0" presId="urn:microsoft.com/office/officeart/2005/8/layout/orgChart1"/>
    <dgm:cxn modelId="{255F66A2-3A26-4D24-964D-CE989DFD1C96}" type="presParOf" srcId="{D25C42D9-92FA-487D-828B-A9B882508678}" destId="{18A0423B-638B-44CF-BAA4-79406A21FA36}" srcOrd="2" destOrd="0" presId="urn:microsoft.com/office/officeart/2005/8/layout/orgChart1"/>
    <dgm:cxn modelId="{78403840-15E7-4F3F-96E1-BFA00A9575F1}" type="presParOf" srcId="{D25C42D9-92FA-487D-828B-A9B882508678}" destId="{44CBE8EE-0D35-44E7-AF2F-75DAAC869D90}" srcOrd="3" destOrd="0" presId="urn:microsoft.com/office/officeart/2005/8/layout/orgChart1"/>
    <dgm:cxn modelId="{BD6038E9-4146-44A8-BD35-6663F35276CD}" type="presParOf" srcId="{44CBE8EE-0D35-44E7-AF2F-75DAAC869D90}" destId="{371C1CE6-581E-403A-A7F9-61B577A5A37F}" srcOrd="0" destOrd="0" presId="urn:microsoft.com/office/officeart/2005/8/layout/orgChart1"/>
    <dgm:cxn modelId="{83238B17-7F55-4DE2-92A4-C3759D0B253A}" type="presParOf" srcId="{371C1CE6-581E-403A-A7F9-61B577A5A37F}" destId="{97AC41D9-3964-4B4B-973D-2A2572AF2447}" srcOrd="0" destOrd="0" presId="urn:microsoft.com/office/officeart/2005/8/layout/orgChart1"/>
    <dgm:cxn modelId="{9EF14C10-0D31-45EF-BCDE-DFBCAF735C5B}" type="presParOf" srcId="{371C1CE6-581E-403A-A7F9-61B577A5A37F}" destId="{12B59F33-CA05-49E0-B938-80A0EA281C63}" srcOrd="1" destOrd="0" presId="urn:microsoft.com/office/officeart/2005/8/layout/orgChart1"/>
    <dgm:cxn modelId="{8293FFD1-9221-42DA-B5DE-8B8D2678CE2D}" type="presParOf" srcId="{44CBE8EE-0D35-44E7-AF2F-75DAAC869D90}" destId="{706A123F-9A92-41E4-AB19-173BF0B59D7F}" srcOrd="1" destOrd="0" presId="urn:microsoft.com/office/officeart/2005/8/layout/orgChart1"/>
    <dgm:cxn modelId="{9DA76403-22A4-49F0-A549-A6BE3FD5369D}" type="presParOf" srcId="{44CBE8EE-0D35-44E7-AF2F-75DAAC869D90}" destId="{578E75BB-1D4C-46B6-B754-A3E4CB17BA7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A0423B-638B-44CF-BAA4-79406A21FA36}">
      <dsp:nvSpPr>
        <dsp:cNvPr id="0" name=""/>
        <dsp:cNvSpPr/>
      </dsp:nvSpPr>
      <dsp:spPr>
        <a:xfrm>
          <a:off x="6576363" y="2551013"/>
          <a:ext cx="195758" cy="8576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7608"/>
              </a:lnTo>
              <a:lnTo>
                <a:pt x="195758" y="85760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BA6C2C-8E4A-4160-B5A6-1EE79ADD688C}">
      <dsp:nvSpPr>
        <dsp:cNvPr id="0" name=""/>
        <dsp:cNvSpPr/>
      </dsp:nvSpPr>
      <dsp:spPr>
        <a:xfrm>
          <a:off x="4320479" y="3874714"/>
          <a:ext cx="195758" cy="8576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7608"/>
              </a:lnTo>
              <a:lnTo>
                <a:pt x="195758" y="85760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B00CC4-9AF9-407D-9692-FD9B0582F627}">
      <dsp:nvSpPr>
        <dsp:cNvPr id="0" name=""/>
        <dsp:cNvSpPr/>
      </dsp:nvSpPr>
      <dsp:spPr>
        <a:xfrm>
          <a:off x="4124720" y="3874714"/>
          <a:ext cx="195758" cy="857608"/>
        </a:xfrm>
        <a:custGeom>
          <a:avLst/>
          <a:gdLst/>
          <a:ahLst/>
          <a:cxnLst/>
          <a:rect l="0" t="0" r="0" b="0"/>
          <a:pathLst>
            <a:path>
              <a:moveTo>
                <a:pt x="195758" y="0"/>
              </a:moveTo>
              <a:lnTo>
                <a:pt x="195758" y="857608"/>
              </a:lnTo>
              <a:lnTo>
                <a:pt x="0" y="85760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322300-C4D9-4F6A-9226-4830C2CBD28E}">
      <dsp:nvSpPr>
        <dsp:cNvPr id="0" name=""/>
        <dsp:cNvSpPr/>
      </dsp:nvSpPr>
      <dsp:spPr>
        <a:xfrm>
          <a:off x="5252663" y="2551013"/>
          <a:ext cx="1323700" cy="857608"/>
        </a:xfrm>
        <a:custGeom>
          <a:avLst/>
          <a:gdLst/>
          <a:ahLst/>
          <a:cxnLst/>
          <a:rect l="0" t="0" r="0" b="0"/>
          <a:pathLst>
            <a:path>
              <a:moveTo>
                <a:pt x="1323700" y="0"/>
              </a:moveTo>
              <a:lnTo>
                <a:pt x="1323700" y="857608"/>
              </a:lnTo>
              <a:lnTo>
                <a:pt x="0" y="85760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96656F-E14D-4D9A-B530-DFF31FBE26EF}">
      <dsp:nvSpPr>
        <dsp:cNvPr id="0" name=""/>
        <dsp:cNvSpPr/>
      </dsp:nvSpPr>
      <dsp:spPr>
        <a:xfrm>
          <a:off x="2064595" y="1227312"/>
          <a:ext cx="3579584" cy="8576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7608"/>
              </a:lnTo>
              <a:lnTo>
                <a:pt x="3579584" y="85760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100500-6254-41F0-B001-1DD87F0D43FE}">
      <dsp:nvSpPr>
        <dsp:cNvPr id="0" name=""/>
        <dsp:cNvSpPr/>
      </dsp:nvSpPr>
      <dsp:spPr>
        <a:xfrm>
          <a:off x="1868836" y="1227312"/>
          <a:ext cx="195758" cy="857608"/>
        </a:xfrm>
        <a:custGeom>
          <a:avLst/>
          <a:gdLst/>
          <a:ahLst/>
          <a:cxnLst/>
          <a:rect l="0" t="0" r="0" b="0"/>
          <a:pathLst>
            <a:path>
              <a:moveTo>
                <a:pt x="195758" y="0"/>
              </a:moveTo>
              <a:lnTo>
                <a:pt x="195758" y="857608"/>
              </a:lnTo>
              <a:lnTo>
                <a:pt x="0" y="85760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5D96CB-5F8E-441C-B2D8-76C3CE9645F1}">
      <dsp:nvSpPr>
        <dsp:cNvPr id="0" name=""/>
        <dsp:cNvSpPr/>
      </dsp:nvSpPr>
      <dsp:spPr>
        <a:xfrm>
          <a:off x="1132411" y="295129"/>
          <a:ext cx="1864367" cy="9321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ru-RU" sz="15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DHCP</a:t>
          </a:r>
          <a:endParaRPr kumimoji="0" lang="ru-RU" altLang="ru-RU" sz="1500" b="0" i="0" u="none" strike="noStrike" kern="1200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</a:endParaRPr>
        </a:p>
      </dsp:txBody>
      <dsp:txXfrm>
        <a:off x="1132411" y="295129"/>
        <a:ext cx="1864367" cy="932183"/>
      </dsp:txXfrm>
    </dsp:sp>
    <dsp:sp modelId="{2B08F716-BBFA-4DF5-AB4B-3E54E3029DDD}">
      <dsp:nvSpPr>
        <dsp:cNvPr id="0" name=""/>
        <dsp:cNvSpPr/>
      </dsp:nvSpPr>
      <dsp:spPr>
        <a:xfrm>
          <a:off x="4469" y="1618829"/>
          <a:ext cx="1864367" cy="9321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5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Предоставление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5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 конфигурационных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5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 параметров</a:t>
          </a:r>
        </a:p>
      </dsp:txBody>
      <dsp:txXfrm>
        <a:off x="4469" y="1618829"/>
        <a:ext cx="1864367" cy="932183"/>
      </dsp:txXfrm>
    </dsp:sp>
    <dsp:sp modelId="{6F92805F-BF8D-44EF-81D2-0C212B3A7F7D}">
      <dsp:nvSpPr>
        <dsp:cNvPr id="0" name=""/>
        <dsp:cNvSpPr/>
      </dsp:nvSpPr>
      <dsp:spPr>
        <a:xfrm>
          <a:off x="5644180" y="1618829"/>
          <a:ext cx="1864367" cy="9321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5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Предоставление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5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сетевых 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5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адресов</a:t>
          </a:r>
        </a:p>
      </dsp:txBody>
      <dsp:txXfrm>
        <a:off x="5644180" y="1618829"/>
        <a:ext cx="1864367" cy="932183"/>
      </dsp:txXfrm>
    </dsp:sp>
    <dsp:sp modelId="{61CF859F-F421-4B26-AF1F-7760A9415F23}">
      <dsp:nvSpPr>
        <dsp:cNvPr id="0" name=""/>
        <dsp:cNvSpPr/>
      </dsp:nvSpPr>
      <dsp:spPr>
        <a:xfrm>
          <a:off x="3388295" y="2942530"/>
          <a:ext cx="1864367" cy="9321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5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Статическое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5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выделение</a:t>
          </a:r>
        </a:p>
      </dsp:txBody>
      <dsp:txXfrm>
        <a:off x="3388295" y="2942530"/>
        <a:ext cx="1864367" cy="932183"/>
      </dsp:txXfrm>
    </dsp:sp>
    <dsp:sp modelId="{5DC07924-E4C2-49E9-8B79-5C04738B1E60}">
      <dsp:nvSpPr>
        <dsp:cNvPr id="0" name=""/>
        <dsp:cNvSpPr/>
      </dsp:nvSpPr>
      <dsp:spPr>
        <a:xfrm>
          <a:off x="2260353" y="4266231"/>
          <a:ext cx="1864367" cy="9321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5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Ручной  способ</a:t>
          </a:r>
        </a:p>
      </dsp:txBody>
      <dsp:txXfrm>
        <a:off x="2260353" y="4266231"/>
        <a:ext cx="1864367" cy="932183"/>
      </dsp:txXfrm>
    </dsp:sp>
    <dsp:sp modelId="{BF6B3F80-2BCA-4B2E-A03E-DA5A0451352E}">
      <dsp:nvSpPr>
        <dsp:cNvPr id="0" name=""/>
        <dsp:cNvSpPr/>
      </dsp:nvSpPr>
      <dsp:spPr>
        <a:xfrm>
          <a:off x="4516238" y="4266231"/>
          <a:ext cx="1864367" cy="9321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5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Автоматический</a:t>
          </a:r>
        </a:p>
      </dsp:txBody>
      <dsp:txXfrm>
        <a:off x="4516238" y="4266231"/>
        <a:ext cx="1864367" cy="932183"/>
      </dsp:txXfrm>
    </dsp:sp>
    <dsp:sp modelId="{97AC41D9-3964-4B4B-973D-2A2572AF2447}">
      <dsp:nvSpPr>
        <dsp:cNvPr id="0" name=""/>
        <dsp:cNvSpPr/>
      </dsp:nvSpPr>
      <dsp:spPr>
        <a:xfrm>
          <a:off x="6772122" y="2942530"/>
          <a:ext cx="1864367" cy="9321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5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Динамическое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5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 присваивание </a:t>
          </a:r>
        </a:p>
      </dsp:txBody>
      <dsp:txXfrm>
        <a:off x="6772122" y="2942530"/>
        <a:ext cx="1864367" cy="9321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3D9C93-1000-47B7-8B50-1296B17417F1}" type="datetimeFigureOut">
              <a:rPr lang="ru-RU" smtClean="0"/>
              <a:pPr/>
              <a:t>14.04.2023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207F52-2128-4807-867F-E9ED70293D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01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A46AE6-E826-442D-A940-83BD722B303F}" type="slidenum">
              <a:rPr lang="ru-RU" smtClean="0"/>
              <a:pPr/>
              <a:t>56</a:t>
            </a:fld>
            <a:endParaRPr lang="ru-RU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700AEA-AD02-4C46-92ED-A2FC84E34667}" type="slidenum">
              <a:rPr lang="ru-RU" smtClean="0"/>
              <a:pPr/>
              <a:t>76</a:t>
            </a:fld>
            <a:endParaRPr lang="ru-RU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8A436D-B64C-4103-AD3E-26E064A850DA}" type="slidenum">
              <a:rPr lang="ru-RU" smtClean="0"/>
              <a:pPr/>
              <a:t>102</a:t>
            </a:fld>
            <a:endParaRPr lang="ru-RU" smtClean="0"/>
          </a:p>
        </p:txBody>
      </p:sp>
      <p:sp>
        <p:nvSpPr>
          <p:cNvPr id="31747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8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36A731-0966-48B6-82A1-248395A3229A}" type="slidenum">
              <a:rPr lang="ru-RU" smtClean="0"/>
              <a:pPr/>
              <a:t>110</a:t>
            </a:fld>
            <a:endParaRPr lang="ru-RU" smtClean="0"/>
          </a:p>
        </p:txBody>
      </p:sp>
      <p:sp>
        <p:nvSpPr>
          <p:cNvPr id="327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2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918266-493F-4D2B-BE61-3A69ED8C323E}" type="slidenum">
              <a:rPr lang="ru-RU" smtClean="0"/>
              <a:pPr/>
              <a:t>111</a:t>
            </a:fld>
            <a:endParaRPr lang="ru-RU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ru-R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14.04.2023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250A97-FF4D-499A-BD23-7CED0B2102D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8DBF1A-56F6-48C8-BBEB-211C6482362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14.04.2023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5.emf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_________Microsoft_Word_97-20031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6.wm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oleObject" Target="../embeddings/oleObject2.bin"/><Relationship Id="rId7" Type="http://schemas.openxmlformats.org/officeDocument/2006/relationships/diagramQuickStyle" Target="../diagrams/quickStyl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8.emf"/><Relationship Id="rId9" Type="http://schemas.microsoft.com/office/2007/relationships/diagramDrawing" Target="../diagrams/drawing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png"/><Relationship Id="rId5" Type="http://schemas.openxmlformats.org/officeDocument/2006/relationships/oleObject" Target="../embeddings/oleObject4.bin"/><Relationship Id="rId4" Type="http://schemas.openxmlformats.org/officeDocument/2006/relationships/image" Target="../media/image21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3.png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hyperlink" Target="&#1057;&#1090;&#1077;&#1082;%20&#1087;&#1088;&#1086;&#1090;&#1086;&#1082;&#1086;&#1083;&#1086;&#1074;%20TCP.pptx" TargetMode="Externa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908720"/>
            <a:ext cx="7772400" cy="4860255"/>
          </a:xfrm>
        </p:spPr>
        <p:txBody>
          <a:bodyPr>
            <a:normAutofit/>
          </a:bodyPr>
          <a:lstStyle/>
          <a:p>
            <a:r>
              <a:rPr lang="ru-RU" sz="3200" b="0" dirty="0" smtClean="0">
                <a:solidFill>
                  <a:srgbClr val="002060"/>
                </a:solidFill>
              </a:rPr>
              <a:t>1.Стек протоколов </a:t>
            </a:r>
            <a:r>
              <a:rPr lang="en-US" sz="3200" b="0" dirty="0" smtClean="0">
                <a:solidFill>
                  <a:srgbClr val="002060"/>
                </a:solidFill>
              </a:rPr>
              <a:t>TCP/IP.</a:t>
            </a:r>
            <a:r>
              <a:rPr lang="ru-RU" sz="3200" b="0" dirty="0" smtClean="0">
                <a:solidFill>
                  <a:srgbClr val="002060"/>
                </a:solidFill>
              </a:rPr>
              <a:t> </a:t>
            </a:r>
            <a:br>
              <a:rPr lang="ru-RU" sz="3200" b="0" dirty="0" smtClean="0">
                <a:solidFill>
                  <a:srgbClr val="002060"/>
                </a:solidFill>
              </a:rPr>
            </a:br>
            <a:r>
              <a:rPr lang="ru-RU" sz="3200" b="0" dirty="0" smtClean="0">
                <a:solidFill>
                  <a:srgbClr val="002060"/>
                </a:solidFill>
              </a:rPr>
              <a:t>2.Типы и классы адресов.</a:t>
            </a:r>
            <a:br>
              <a:rPr lang="ru-RU" sz="3200" b="0" dirty="0" smtClean="0">
                <a:solidFill>
                  <a:srgbClr val="002060"/>
                </a:solidFill>
              </a:rPr>
            </a:br>
            <a:r>
              <a:rPr lang="ru-RU" sz="3200" b="0" dirty="0" smtClean="0">
                <a:solidFill>
                  <a:srgbClr val="002060"/>
                </a:solidFill>
              </a:rPr>
              <a:t> 3.Форма записи </a:t>
            </a:r>
            <a:r>
              <a:rPr lang="en-US" sz="3200" b="0" dirty="0" smtClean="0">
                <a:solidFill>
                  <a:srgbClr val="002060"/>
                </a:solidFill>
              </a:rPr>
              <a:t>IP</a:t>
            </a:r>
            <a:r>
              <a:rPr lang="ru-RU" sz="3200" b="0" dirty="0" smtClean="0">
                <a:solidFill>
                  <a:srgbClr val="002060"/>
                </a:solidFill>
              </a:rPr>
              <a:t>- адреса.</a:t>
            </a:r>
            <a:br>
              <a:rPr lang="ru-RU" sz="3200" b="0" dirty="0" smtClean="0">
                <a:solidFill>
                  <a:srgbClr val="002060"/>
                </a:solidFill>
              </a:rPr>
            </a:br>
            <a:r>
              <a:rPr lang="ru-RU" sz="3200" b="0" dirty="0" smtClean="0">
                <a:solidFill>
                  <a:srgbClr val="002060"/>
                </a:solidFill>
              </a:rPr>
              <a:t>4.маска </a:t>
            </a:r>
            <a:r>
              <a:rPr lang="en-US" sz="3200" b="0" dirty="0" smtClean="0">
                <a:solidFill>
                  <a:srgbClr val="002060"/>
                </a:solidFill>
              </a:rPr>
              <a:t>IP</a:t>
            </a:r>
            <a:r>
              <a:rPr lang="ru-RU" sz="3200" b="0" dirty="0" smtClean="0">
                <a:solidFill>
                  <a:srgbClr val="002060"/>
                </a:solidFill>
              </a:rPr>
              <a:t>-</a:t>
            </a:r>
            <a:r>
              <a:rPr lang="en-US" sz="3200" b="0" dirty="0" smtClean="0">
                <a:solidFill>
                  <a:srgbClr val="002060"/>
                </a:solidFill>
              </a:rPr>
              <a:t> </a:t>
            </a:r>
            <a:r>
              <a:rPr lang="ru-RU" sz="3200" b="0" dirty="0" smtClean="0">
                <a:solidFill>
                  <a:srgbClr val="002060"/>
                </a:solidFill>
              </a:rPr>
              <a:t>адреса и ее использование</a:t>
            </a:r>
            <a:br>
              <a:rPr lang="ru-RU" sz="3200" b="0" dirty="0" smtClean="0">
                <a:solidFill>
                  <a:srgbClr val="002060"/>
                </a:solidFill>
              </a:rPr>
            </a:br>
            <a:r>
              <a:rPr lang="ru-RU" sz="3200" b="0" dirty="0" smtClean="0">
                <a:solidFill>
                  <a:srgbClr val="002060"/>
                </a:solidFill>
              </a:rPr>
              <a:t>5</a:t>
            </a:r>
            <a:r>
              <a:rPr lang="en-US" sz="3200" b="0" dirty="0" smtClean="0">
                <a:solidFill>
                  <a:srgbClr val="002060"/>
                </a:solidFill>
              </a:rPr>
              <a:t>.</a:t>
            </a:r>
            <a:r>
              <a:rPr lang="ru-RU" sz="3200" b="0" dirty="0" smtClean="0">
                <a:solidFill>
                  <a:srgbClr val="002060"/>
                </a:solidFill>
              </a:rPr>
              <a:t> формат и поля </a:t>
            </a:r>
            <a:r>
              <a:rPr lang="en-US" sz="3200" b="0" dirty="0" smtClean="0">
                <a:solidFill>
                  <a:srgbClr val="002060"/>
                </a:solidFill>
              </a:rPr>
              <a:t>IP – </a:t>
            </a:r>
            <a:r>
              <a:rPr lang="ru-RU" sz="3200" b="0" dirty="0" smtClean="0">
                <a:solidFill>
                  <a:srgbClr val="002060"/>
                </a:solidFill>
              </a:rPr>
              <a:t>пакета</a:t>
            </a:r>
            <a:br>
              <a:rPr lang="ru-RU" sz="3200" b="0" dirty="0" smtClean="0">
                <a:solidFill>
                  <a:srgbClr val="002060"/>
                </a:solidFill>
              </a:rPr>
            </a:br>
            <a:r>
              <a:rPr lang="ru-RU" sz="3200" b="0" dirty="0" smtClean="0">
                <a:solidFill>
                  <a:srgbClr val="002060"/>
                </a:solidFill>
              </a:rPr>
              <a:t>6</a:t>
            </a:r>
            <a:r>
              <a:rPr lang="en-US" sz="3200" b="0" dirty="0" smtClean="0">
                <a:solidFill>
                  <a:srgbClr val="002060"/>
                </a:solidFill>
              </a:rPr>
              <a:t>. </a:t>
            </a:r>
            <a:r>
              <a:rPr lang="ru-RU" sz="3200" b="0" dirty="0" smtClean="0">
                <a:solidFill>
                  <a:srgbClr val="002060"/>
                </a:solidFill>
              </a:rPr>
              <a:t>протокол</a:t>
            </a:r>
            <a:r>
              <a:rPr lang="en-US" sz="3200" b="0" dirty="0" smtClean="0">
                <a:solidFill>
                  <a:srgbClr val="002060"/>
                </a:solidFill>
              </a:rPr>
              <a:t> </a:t>
            </a:r>
            <a:r>
              <a:rPr lang="en-US" sz="3200" b="0" dirty="0" err="1" smtClean="0">
                <a:solidFill>
                  <a:srgbClr val="002060"/>
                </a:solidFill>
              </a:rPr>
              <a:t>DhcP</a:t>
            </a:r>
            <a:r>
              <a:rPr lang="ru-RU" sz="3200" b="0" dirty="0" smtClean="0">
                <a:solidFill>
                  <a:srgbClr val="002060"/>
                </a:solidFill>
              </a:rPr>
              <a:t> </a:t>
            </a:r>
            <a:r>
              <a:rPr lang="en-US" sz="3200" b="0" dirty="0" smtClean="0">
                <a:solidFill>
                  <a:srgbClr val="002060"/>
                </a:solidFill>
              </a:rPr>
              <a:t/>
            </a:r>
            <a:br>
              <a:rPr lang="en-US" sz="3200" b="0" dirty="0" smtClean="0">
                <a:solidFill>
                  <a:srgbClr val="002060"/>
                </a:solidFill>
              </a:rPr>
            </a:br>
            <a:r>
              <a:rPr lang="en-US" sz="3200" b="0" dirty="0" smtClean="0">
                <a:solidFill>
                  <a:srgbClr val="002060"/>
                </a:solidFill>
              </a:rPr>
              <a:t>7</a:t>
            </a:r>
            <a:r>
              <a:rPr lang="ru-RU" sz="3200" b="0" dirty="0" smtClean="0">
                <a:solidFill>
                  <a:srgbClr val="002060"/>
                </a:solidFill>
              </a:rPr>
              <a:t>. протокол </a:t>
            </a:r>
            <a:r>
              <a:rPr lang="en-US" sz="3200" b="0" dirty="0" smtClean="0">
                <a:solidFill>
                  <a:srgbClr val="002060"/>
                </a:solidFill>
              </a:rPr>
              <a:t>IP </a:t>
            </a:r>
            <a:r>
              <a:rPr lang="ru-RU" dirty="0" smtClean="0">
                <a:solidFill>
                  <a:srgbClr val="002060"/>
                </a:solidFill>
              </a:rPr>
              <a:t/>
            </a:r>
            <a:br>
              <a:rPr lang="ru-RU" dirty="0" smtClean="0">
                <a:solidFill>
                  <a:srgbClr val="002060"/>
                </a:solidFill>
              </a:rPr>
            </a:br>
            <a:endParaRPr lang="ru-RU" dirty="0">
              <a:solidFill>
                <a:srgbClr val="002060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5085184"/>
            <a:ext cx="7772400" cy="936104"/>
          </a:xfrm>
        </p:spPr>
        <p:txBody>
          <a:bodyPr>
            <a:normAutofit fontScale="85000" lnSpcReduction="10000"/>
          </a:bodyPr>
          <a:lstStyle/>
          <a:p>
            <a:r>
              <a:rPr lang="ru-RU" sz="4400" dirty="0" smtClean="0">
                <a:solidFill>
                  <a:srgbClr val="7030A0"/>
                </a:solidFill>
              </a:rPr>
              <a:t>Лекция 5</a:t>
            </a:r>
            <a:r>
              <a:rPr lang="en-US" sz="4400" dirty="0" smtClean="0">
                <a:solidFill>
                  <a:srgbClr val="7030A0"/>
                </a:solidFill>
              </a:rPr>
              <a:t>.</a:t>
            </a:r>
            <a:r>
              <a:rPr lang="ru-RU" sz="4400" dirty="0" smtClean="0">
                <a:solidFill>
                  <a:srgbClr val="7030A0"/>
                </a:solidFill>
              </a:rPr>
              <a:t> Стек протоколов </a:t>
            </a:r>
            <a:r>
              <a:rPr lang="en-US" sz="4400" dirty="0" smtClean="0">
                <a:solidFill>
                  <a:srgbClr val="7030A0"/>
                </a:solidFill>
              </a:rPr>
              <a:t>TCP/IP</a:t>
            </a:r>
            <a:endParaRPr lang="ru-RU" sz="44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sz="4200" b="1" smtClean="0">
                <a:solidFill>
                  <a:schemeClr val="folHlink"/>
                </a:solidFill>
                <a:latin typeface="Century Gothic" pitchFamily="34" charset="0"/>
              </a:rPr>
              <a:t>Адресация в сетях </a:t>
            </a:r>
            <a:r>
              <a:rPr lang="en-US" sz="4200" b="1" smtClean="0">
                <a:solidFill>
                  <a:schemeClr val="folHlink"/>
                </a:solidFill>
                <a:latin typeface="Century Gothic" pitchFamily="34" charset="0"/>
              </a:rPr>
              <a:t>TCP/IP</a:t>
            </a:r>
            <a:endParaRPr lang="ru-RU" sz="4200" b="1" smtClean="0">
              <a:solidFill>
                <a:schemeClr val="folHlink"/>
              </a:solidFill>
              <a:latin typeface="Century Gothic" pitchFamily="34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00213"/>
            <a:ext cx="8424863" cy="468153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u-RU" sz="1600" smtClean="0"/>
              <a:t>Типы адресов стека </a:t>
            </a:r>
            <a:r>
              <a:rPr lang="en-US" sz="1600" b="1" smtClean="0"/>
              <a:t>TCP/IP</a:t>
            </a:r>
            <a:endParaRPr lang="ru-RU" sz="1600" b="1" smtClean="0"/>
          </a:p>
          <a:p>
            <a:pPr lvl="1" eaLnBrk="1" hangingPunct="1">
              <a:lnSpc>
                <a:spcPct val="80000"/>
              </a:lnSpc>
            </a:pPr>
            <a:r>
              <a:rPr lang="ru-RU" sz="1500" b="1" smtClean="0"/>
              <a:t>Локальные (аппаратные) адреса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1500" b="1" smtClean="0"/>
              <a:t>Сетевые адреса(</a:t>
            </a:r>
            <a:r>
              <a:rPr lang="en-US" sz="1500" b="1" smtClean="0"/>
              <a:t>IP</a:t>
            </a:r>
            <a:r>
              <a:rPr lang="ru-RU" sz="1500" b="1" smtClean="0"/>
              <a:t>-адреса)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1500" b="1" smtClean="0"/>
              <a:t>Символьные (дом</a:t>
            </a:r>
            <a:r>
              <a:rPr lang="ru-RU" sz="1800" b="1" smtClean="0"/>
              <a:t>е</a:t>
            </a:r>
            <a:r>
              <a:rPr lang="ru-RU" sz="1500" b="1" smtClean="0"/>
              <a:t>нные) имена</a:t>
            </a:r>
          </a:p>
          <a:p>
            <a:pPr eaLnBrk="1" hangingPunct="1">
              <a:lnSpc>
                <a:spcPct val="80000"/>
              </a:lnSpc>
            </a:pPr>
            <a:r>
              <a:rPr lang="ru-RU" sz="1600" smtClean="0"/>
              <a:t>Формат </a:t>
            </a:r>
            <a:r>
              <a:rPr lang="en-US" sz="1600" smtClean="0"/>
              <a:t>IP</a:t>
            </a:r>
            <a:r>
              <a:rPr lang="ru-RU" sz="1600" smtClean="0"/>
              <a:t> – адреса 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1700" smtClean="0"/>
              <a:t>Номер сети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1700" smtClean="0"/>
              <a:t>Номер узла в сети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1700" smtClean="0"/>
              <a:t>Классы адресов </a:t>
            </a:r>
            <a:r>
              <a:rPr lang="en-US" sz="1700" smtClean="0"/>
              <a:t>A,B,C,D,E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1700" smtClean="0"/>
              <a:t>Особые </a:t>
            </a:r>
            <a:r>
              <a:rPr lang="en-US" sz="1700" smtClean="0"/>
              <a:t>IP</a:t>
            </a:r>
            <a:r>
              <a:rPr lang="ru-RU" sz="1700" smtClean="0"/>
              <a:t>-адреса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1700" smtClean="0"/>
              <a:t>Использование </a:t>
            </a:r>
            <a:r>
              <a:rPr lang="ru-RU" sz="1700" b="1" smtClean="0"/>
              <a:t>масок </a:t>
            </a:r>
            <a:r>
              <a:rPr lang="ru-RU" sz="1700" smtClean="0"/>
              <a:t>при </a:t>
            </a:r>
            <a:r>
              <a:rPr lang="en-US" sz="1700" smtClean="0"/>
              <a:t>IP</a:t>
            </a:r>
            <a:r>
              <a:rPr lang="ru-RU" sz="1700" smtClean="0"/>
              <a:t> -адресации</a:t>
            </a:r>
          </a:p>
          <a:p>
            <a:pPr eaLnBrk="1" hangingPunct="1">
              <a:lnSpc>
                <a:spcPct val="80000"/>
              </a:lnSpc>
            </a:pPr>
            <a:r>
              <a:rPr lang="ru-RU" sz="1600" smtClean="0"/>
              <a:t>Порядок назначения </a:t>
            </a:r>
            <a:r>
              <a:rPr lang="en-US" sz="1600" smtClean="0"/>
              <a:t>IP</a:t>
            </a:r>
            <a:r>
              <a:rPr lang="ru-RU" sz="1600" smtClean="0"/>
              <a:t> – адресов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1400" smtClean="0"/>
              <a:t>Назначение адресов автономной сети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1400" smtClean="0"/>
              <a:t>Централизованное распределение адресов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1400" b="1" smtClean="0"/>
              <a:t>Технология </a:t>
            </a:r>
            <a:r>
              <a:rPr lang="en-US" sz="1400" b="1" smtClean="0"/>
              <a:t>CIDR</a:t>
            </a:r>
            <a:endParaRPr lang="ru-RU" sz="1400" b="1" smtClean="0"/>
          </a:p>
          <a:p>
            <a:pPr eaLnBrk="1" hangingPunct="1">
              <a:lnSpc>
                <a:spcPct val="80000"/>
              </a:lnSpc>
            </a:pPr>
            <a:r>
              <a:rPr lang="ru-RU" sz="1600" smtClean="0"/>
              <a:t>Отображение </a:t>
            </a:r>
            <a:r>
              <a:rPr lang="en-US" sz="1600" smtClean="0"/>
              <a:t>IP</a:t>
            </a:r>
            <a:r>
              <a:rPr lang="ru-RU" sz="1600" smtClean="0"/>
              <a:t>-адресов на локальные адреса</a:t>
            </a:r>
          </a:p>
          <a:p>
            <a:pPr eaLnBrk="1" hangingPunct="1">
              <a:lnSpc>
                <a:spcPct val="80000"/>
              </a:lnSpc>
            </a:pPr>
            <a:r>
              <a:rPr lang="ru-RU" sz="1600" smtClean="0"/>
              <a:t>Система </a:t>
            </a:r>
            <a:r>
              <a:rPr lang="en-US" sz="1600" b="1" smtClean="0"/>
              <a:t>DNS</a:t>
            </a:r>
            <a:r>
              <a:rPr lang="ru-RU" sz="1600" smtClean="0"/>
              <a:t> (система доменных имен)</a:t>
            </a:r>
          </a:p>
          <a:p>
            <a:pPr eaLnBrk="1" hangingPunct="1">
              <a:lnSpc>
                <a:spcPct val="80000"/>
              </a:lnSpc>
            </a:pPr>
            <a:r>
              <a:rPr lang="ru-RU" sz="1600" smtClean="0"/>
              <a:t>Протокол </a:t>
            </a:r>
            <a:r>
              <a:rPr lang="en-US" sz="1600" smtClean="0"/>
              <a:t>DHCP</a:t>
            </a:r>
            <a:r>
              <a:rPr lang="ru-RU" sz="1600" smtClean="0"/>
              <a:t> (протокол динамического конфигурирования хостов) </a:t>
            </a:r>
          </a:p>
          <a:p>
            <a:pPr eaLnBrk="1" hangingPunct="1">
              <a:lnSpc>
                <a:spcPct val="80000"/>
              </a:lnSpc>
            </a:pPr>
            <a:endParaRPr lang="ru-RU" sz="16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400" dirty="0" smtClean="0">
                <a:solidFill>
                  <a:srgbClr val="7030A0"/>
                </a:solidFill>
              </a:rPr>
              <a:t>5.1 Стек протоколов </a:t>
            </a:r>
            <a:r>
              <a:rPr lang="en-US" sz="4400" dirty="0" smtClean="0">
                <a:solidFill>
                  <a:srgbClr val="7030A0"/>
                </a:solidFill>
              </a:rPr>
              <a:t>TCP/IP</a:t>
            </a:r>
            <a:r>
              <a:rPr lang="ru-RU" sz="4400" dirty="0" smtClean="0">
                <a:solidFill>
                  <a:srgbClr val="7030A0"/>
                </a:solidFill>
              </a:rPr>
              <a:t>. Сетенезависимые уровни.</a:t>
            </a:r>
            <a:endParaRPr lang="ru-RU" sz="44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accent2"/>
                </a:solidFill>
              </a:rPr>
              <a:t>Модель протокола</a:t>
            </a:r>
            <a:br>
              <a:rPr lang="ru-RU" dirty="0" smtClean="0">
                <a:solidFill>
                  <a:schemeClr val="accent2"/>
                </a:solidFill>
              </a:rPr>
            </a:br>
            <a:r>
              <a:rPr lang="ru-RU" dirty="0" smtClean="0">
                <a:solidFill>
                  <a:schemeClr val="accent2"/>
                </a:solidFill>
              </a:rPr>
              <a:t> </a:t>
            </a:r>
            <a:r>
              <a:rPr lang="en-US" dirty="0" smtClean="0">
                <a:solidFill>
                  <a:schemeClr val="accent2"/>
                </a:solidFill>
              </a:rPr>
              <a:t>TCP/ IP</a:t>
            </a:r>
            <a:endParaRPr lang="ru-RU" dirty="0">
              <a:solidFill>
                <a:schemeClr val="accent2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50881" name="Picture 1" descr="C:\Users\Юра\Downloads\TCP IP стек проток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5840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730" name="Picture 2" descr="C:\Users\Юра\Downloads\стек проток тср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764704"/>
            <a:ext cx="8813320" cy="5328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2048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pic>
        <p:nvPicPr>
          <p:cNvPr id="326659" name="Picture 3" descr="C:\Users\Юра\Downloads\рис тср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620688"/>
            <a:ext cx="8424936" cy="59046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ru-RU" sz="4000" dirty="0" smtClean="0">
                <a:solidFill>
                  <a:srgbClr val="7030A0"/>
                </a:solidFill>
              </a:rPr>
              <a:t>Стек протоколов </a:t>
            </a:r>
            <a:r>
              <a:rPr lang="en-US" sz="4000" dirty="0" smtClean="0">
                <a:solidFill>
                  <a:srgbClr val="7030A0"/>
                </a:solidFill>
              </a:rPr>
              <a:t>TCP/IP</a:t>
            </a:r>
            <a:r>
              <a:rPr lang="ru-RU" sz="4000" dirty="0" smtClean="0">
                <a:solidFill>
                  <a:srgbClr val="7030A0"/>
                </a:solidFill>
              </a:rPr>
              <a:t>   </a:t>
            </a:r>
            <a:r>
              <a:rPr lang="en-US" sz="4000" dirty="0" smtClean="0">
                <a:solidFill>
                  <a:srgbClr val="7030A0"/>
                </a:solidFill>
              </a:rPr>
              <a:t>(</a:t>
            </a:r>
            <a:r>
              <a:rPr lang="ru-RU" sz="4000" dirty="0" smtClean="0">
                <a:solidFill>
                  <a:srgbClr val="7030A0"/>
                </a:solidFill>
              </a:rPr>
              <a:t>1)</a:t>
            </a:r>
            <a:endParaRPr lang="ru-RU" sz="40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620688"/>
            <a:ext cx="8892480" cy="604867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2000" dirty="0" smtClean="0">
                <a:solidFill>
                  <a:srgbClr val="002060"/>
                </a:solidFill>
              </a:rPr>
              <a:t>1</a:t>
            </a:r>
            <a:r>
              <a:rPr lang="ru-RU" sz="2000" u="sng" dirty="0" smtClean="0">
                <a:solidFill>
                  <a:srgbClr val="002060"/>
                </a:solidFill>
              </a:rPr>
              <a:t>. </a:t>
            </a:r>
            <a:r>
              <a:rPr lang="ru-RU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Прикладной уровень </a:t>
            </a:r>
            <a:r>
              <a:rPr lang="en-US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ru-RU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</a:t>
            </a:r>
            <a:r>
              <a:rPr lang="en-US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P/IP </a:t>
            </a:r>
            <a:r>
              <a:rPr lang="ru-RU" sz="2400" dirty="0" smtClean="0">
                <a:solidFill>
                  <a:srgbClr val="002060"/>
                </a:solidFill>
              </a:rPr>
              <a:t>соответствует трем уровням модели </a:t>
            </a:r>
            <a:r>
              <a:rPr lang="en-US" sz="2400" dirty="0" smtClean="0">
                <a:solidFill>
                  <a:srgbClr val="002060"/>
                </a:solidFill>
              </a:rPr>
              <a:t>OSI</a:t>
            </a:r>
            <a:r>
              <a:rPr lang="ru-RU" sz="2400" dirty="0" smtClean="0">
                <a:solidFill>
                  <a:srgbClr val="002060"/>
                </a:solidFill>
              </a:rPr>
              <a:t>:</a:t>
            </a:r>
          </a:p>
          <a:p>
            <a:pPr>
              <a:buNone/>
            </a:pPr>
            <a:r>
              <a:rPr lang="ru-RU" sz="2400" dirty="0" smtClean="0"/>
              <a:t>      прикладному, уровню представления , сеансовому уровню.</a:t>
            </a: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Протоколы прикладного уровня:</a:t>
            </a:r>
          </a:p>
          <a:p>
            <a:pPr>
              <a:buNone/>
            </a:pPr>
            <a:r>
              <a:rPr lang="ru-RU" sz="2400" dirty="0" smtClean="0"/>
              <a:t>       -  </a:t>
            </a:r>
            <a:r>
              <a:rPr lang="en-US" sz="2400" dirty="0" smtClean="0"/>
              <a:t>FTP – </a:t>
            </a:r>
            <a:r>
              <a:rPr lang="ru-RU" sz="2400" dirty="0" smtClean="0"/>
              <a:t>протокол передачи файлов;</a:t>
            </a:r>
          </a:p>
          <a:p>
            <a:pPr>
              <a:buNone/>
            </a:pPr>
            <a:r>
              <a:rPr lang="ru-RU" sz="2400" dirty="0" smtClean="0"/>
              <a:t>      -   </a:t>
            </a:r>
            <a:r>
              <a:rPr lang="en-US" sz="2400" dirty="0" smtClean="0"/>
              <a:t>SMTP – </a:t>
            </a:r>
            <a:r>
              <a:rPr lang="ru-RU" sz="2400" dirty="0" smtClean="0"/>
              <a:t>протокол передачи почты;</a:t>
            </a:r>
          </a:p>
          <a:p>
            <a:pPr>
              <a:buNone/>
            </a:pPr>
            <a:r>
              <a:rPr lang="ru-RU" sz="2400" dirty="0" smtClean="0"/>
              <a:t>      -  </a:t>
            </a:r>
            <a:r>
              <a:rPr lang="en-US" sz="2400" dirty="0" smtClean="0"/>
              <a:t>HTTP – </a:t>
            </a:r>
            <a:r>
              <a:rPr lang="ru-RU" sz="2400" dirty="0" smtClean="0"/>
              <a:t>протокол передачи гипертекста.</a:t>
            </a:r>
          </a:p>
          <a:p>
            <a:pPr>
              <a:buNone/>
            </a:pPr>
            <a:r>
              <a:rPr lang="en-US" sz="2400" dirty="0" smtClean="0"/>
              <a:t>       - TELNET – </a:t>
            </a:r>
            <a:r>
              <a:rPr lang="ru-RU" sz="2400" dirty="0" smtClean="0"/>
              <a:t>протокол эмуляции терминала</a:t>
            </a:r>
          </a:p>
          <a:p>
            <a:pPr>
              <a:buNone/>
            </a:pPr>
            <a:r>
              <a:rPr lang="ru-RU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2.Транспортный уровень </a:t>
            </a:r>
            <a:r>
              <a:rPr lang="en-US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TCP/IP</a:t>
            </a:r>
            <a:r>
              <a:rPr lang="ru-RU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– </a:t>
            </a:r>
            <a:r>
              <a:rPr lang="ru-RU" sz="2400" dirty="0" smtClean="0"/>
              <a:t>основной уровень, предоставляет вышележащему уровню два вида сервиса:</a:t>
            </a:r>
          </a:p>
          <a:p>
            <a:pPr>
              <a:buNone/>
            </a:pPr>
            <a:r>
              <a:rPr lang="ru-RU" sz="2400" dirty="0" smtClean="0"/>
              <a:t>       - </a:t>
            </a:r>
            <a:r>
              <a:rPr lang="en-US" sz="2400" dirty="0" smtClean="0">
                <a:solidFill>
                  <a:srgbClr val="002060"/>
                </a:solidFill>
              </a:rPr>
              <a:t>TCP </a:t>
            </a:r>
            <a:r>
              <a:rPr lang="ru-RU" sz="2400" dirty="0" smtClean="0">
                <a:solidFill>
                  <a:srgbClr val="002060"/>
                </a:solidFill>
              </a:rPr>
              <a:t>протокол </a:t>
            </a:r>
            <a:r>
              <a:rPr lang="ru-RU" sz="2400" dirty="0" smtClean="0"/>
              <a:t>управления передачей обеспечивает гарантированную доставку пакетов;</a:t>
            </a:r>
          </a:p>
          <a:p>
            <a:pPr>
              <a:buNone/>
            </a:pPr>
            <a:r>
              <a:rPr lang="ru-RU" sz="2400" dirty="0" smtClean="0"/>
              <a:t>       </a:t>
            </a:r>
            <a:r>
              <a:rPr lang="ru-RU" sz="2400" dirty="0" smtClean="0">
                <a:solidFill>
                  <a:srgbClr val="002060"/>
                </a:solidFill>
              </a:rPr>
              <a:t>-  </a:t>
            </a:r>
            <a:r>
              <a:rPr lang="en-US" sz="2400" dirty="0" smtClean="0">
                <a:solidFill>
                  <a:srgbClr val="002060"/>
                </a:solidFill>
              </a:rPr>
              <a:t>UDP </a:t>
            </a:r>
            <a:r>
              <a:rPr lang="ru-RU" sz="2400" dirty="0" smtClean="0">
                <a:solidFill>
                  <a:srgbClr val="002060"/>
                </a:solidFill>
              </a:rPr>
              <a:t>протокол </a:t>
            </a:r>
            <a:r>
              <a:rPr lang="ru-RU" sz="2400" dirty="0" smtClean="0"/>
              <a:t>пользовательских дейтаграмм обеспечивает доставку по возможности.  </a:t>
            </a: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   </a:t>
            </a:r>
            <a:endParaRPr lang="ru-RU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ru-RU" sz="2400" dirty="0" smtClean="0"/>
          </a:p>
          <a:p>
            <a:pPr>
              <a:buNone/>
            </a:pP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76064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Стек протоколов </a:t>
            </a:r>
            <a:r>
              <a:rPr lang="en-US" dirty="0" smtClean="0">
                <a:solidFill>
                  <a:srgbClr val="7030A0"/>
                </a:solidFill>
              </a:rPr>
              <a:t>TCP/IP</a:t>
            </a:r>
            <a:r>
              <a:rPr lang="ru-RU" dirty="0" smtClean="0">
                <a:solidFill>
                  <a:srgbClr val="7030A0"/>
                </a:solidFill>
              </a:rPr>
              <a:t>   </a:t>
            </a:r>
            <a:r>
              <a:rPr lang="en-US" dirty="0" smtClean="0">
                <a:solidFill>
                  <a:srgbClr val="7030A0"/>
                </a:solidFill>
              </a:rPr>
              <a:t>(</a:t>
            </a:r>
            <a:r>
              <a:rPr lang="ru-RU" dirty="0" smtClean="0">
                <a:solidFill>
                  <a:srgbClr val="7030A0"/>
                </a:solidFill>
              </a:rPr>
              <a:t>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08720"/>
            <a:ext cx="8964488" cy="5949280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ru-RU" sz="2600" u="sng" dirty="0" smtClean="0">
                <a:solidFill>
                  <a:srgbClr val="002060"/>
                </a:solidFill>
              </a:rPr>
              <a:t>Протокол </a:t>
            </a:r>
            <a:r>
              <a:rPr lang="en-US" sz="2600" u="sng" dirty="0" smtClean="0">
                <a:solidFill>
                  <a:srgbClr val="002060"/>
                </a:solidFill>
              </a:rPr>
              <a:t>TCP</a:t>
            </a:r>
            <a:r>
              <a:rPr lang="ru-RU" sz="2600" u="sng" dirty="0" smtClean="0">
                <a:solidFill>
                  <a:srgbClr val="002060"/>
                </a:solidFill>
              </a:rPr>
              <a:t> для надежной доставки</a:t>
            </a:r>
            <a:r>
              <a:rPr lang="ru-RU" sz="2600" dirty="0" smtClean="0"/>
              <a:t>:</a:t>
            </a:r>
          </a:p>
          <a:p>
            <a:pPr algn="just">
              <a:buNone/>
            </a:pPr>
            <a:r>
              <a:rPr lang="ru-RU" sz="2600" dirty="0" smtClean="0"/>
              <a:t>     -  </a:t>
            </a:r>
            <a:r>
              <a:rPr lang="ru-RU" sz="2600" dirty="0" smtClean="0">
                <a:solidFill>
                  <a:srgbClr val="002060"/>
                </a:solidFill>
              </a:rPr>
              <a:t>устанавливает логическое соединение</a:t>
            </a:r>
            <a:r>
              <a:rPr lang="ru-RU" sz="2600" dirty="0" smtClean="0"/>
              <a:t>, где кадры нумеруются;</a:t>
            </a:r>
          </a:p>
          <a:p>
            <a:pPr algn="just">
              <a:buNone/>
            </a:pPr>
            <a:r>
              <a:rPr lang="ru-RU" sz="2600" dirty="0" smtClean="0"/>
              <a:t>     -   прием подтверждается квитанциями;</a:t>
            </a:r>
          </a:p>
          <a:p>
            <a:pPr algn="just">
              <a:buNone/>
            </a:pPr>
            <a:r>
              <a:rPr lang="ru-RU" sz="2600" dirty="0" smtClean="0"/>
              <a:t>     -   повторные передачи в случае потерь;</a:t>
            </a:r>
          </a:p>
          <a:p>
            <a:pPr algn="just">
              <a:buNone/>
            </a:pPr>
            <a:r>
              <a:rPr lang="ru-RU" sz="2600" dirty="0" smtClean="0"/>
              <a:t>     -   дубликаты уничтожаются;</a:t>
            </a:r>
          </a:p>
          <a:p>
            <a:pPr marL="538163" indent="-538163" algn="just">
              <a:buNone/>
              <a:tabLst>
                <a:tab pos="631825" algn="l"/>
              </a:tabLst>
            </a:pPr>
            <a:r>
              <a:rPr lang="ru-RU" sz="2600" dirty="0" smtClean="0"/>
              <a:t>     -  обмен данными в дуплексном режиме;</a:t>
            </a:r>
          </a:p>
          <a:p>
            <a:pPr marL="631825" indent="-631825" algn="just">
              <a:buNone/>
            </a:pPr>
            <a:r>
              <a:rPr lang="ru-RU" sz="2600" dirty="0" smtClean="0"/>
              <a:t>     -  информация доставляется без ошибок.</a:t>
            </a:r>
            <a:r>
              <a:rPr lang="ru-RU" sz="2600" i="1" dirty="0" smtClean="0">
                <a:solidFill>
                  <a:srgbClr val="002060"/>
                </a:solidFill>
              </a:rPr>
              <a:t> </a:t>
            </a:r>
          </a:p>
          <a:p>
            <a:pPr algn="just">
              <a:buNone/>
            </a:pPr>
            <a:r>
              <a:rPr lang="ru-RU" sz="2600" i="1" u="sng" dirty="0" smtClean="0">
                <a:solidFill>
                  <a:srgbClr val="002060"/>
                </a:solidFill>
              </a:rPr>
              <a:t>Протокол </a:t>
            </a:r>
            <a:r>
              <a:rPr lang="en-US" sz="2600" i="1" u="sng" dirty="0" smtClean="0">
                <a:solidFill>
                  <a:srgbClr val="002060"/>
                </a:solidFill>
              </a:rPr>
              <a:t>UDP</a:t>
            </a:r>
            <a:r>
              <a:rPr lang="ru-RU" sz="2600" i="1" u="sng" dirty="0" smtClean="0">
                <a:solidFill>
                  <a:srgbClr val="002060"/>
                </a:solidFill>
              </a:rPr>
              <a:t> </a:t>
            </a:r>
            <a:r>
              <a:rPr lang="ru-RU" sz="2600" dirty="0" smtClean="0">
                <a:solidFill>
                  <a:srgbClr val="002060"/>
                </a:solidFill>
              </a:rPr>
              <a:t>- </a:t>
            </a:r>
            <a:r>
              <a:rPr lang="ru-RU" sz="2600" dirty="0" err="1" smtClean="0">
                <a:solidFill>
                  <a:srgbClr val="002060"/>
                </a:solidFill>
              </a:rPr>
              <a:t>дейтаграммный</a:t>
            </a:r>
            <a:r>
              <a:rPr lang="ru-RU" sz="2600" dirty="0" smtClean="0">
                <a:solidFill>
                  <a:srgbClr val="002060"/>
                </a:solidFill>
              </a:rPr>
              <a:t> </a:t>
            </a:r>
            <a:r>
              <a:rPr lang="ru-RU" sz="2600" dirty="0" smtClean="0"/>
              <a:t>протокол </a:t>
            </a:r>
            <a:r>
              <a:rPr lang="en-US" sz="2600" dirty="0" smtClean="0"/>
              <a:t> </a:t>
            </a:r>
            <a:r>
              <a:rPr lang="ru-RU" sz="2600" dirty="0" smtClean="0"/>
              <a:t>используется в случае , когда не требуется надежная доставка информации.</a:t>
            </a:r>
          </a:p>
          <a:p>
            <a:pPr algn="just">
              <a:buNone/>
            </a:pPr>
            <a:r>
              <a:rPr lang="ru-RU" sz="2600" dirty="0" smtClean="0">
                <a:solidFill>
                  <a:srgbClr val="002060"/>
                </a:solidFill>
              </a:rPr>
              <a:t>От прикладного уровня транспортный уровень принимает задачу передать данные </a:t>
            </a:r>
            <a:r>
              <a:rPr lang="ru-RU" sz="2600" dirty="0" smtClean="0"/>
              <a:t>пользователю с тем или иным качеством, затем докладывает о выполнении.</a:t>
            </a:r>
          </a:p>
          <a:p>
            <a:pPr algn="just">
              <a:buNone/>
            </a:pPr>
            <a:r>
              <a:rPr lang="ru-RU" sz="2600" dirty="0" smtClean="0"/>
              <a:t> </a:t>
            </a:r>
            <a:r>
              <a:rPr lang="ru-RU" sz="2600" dirty="0" smtClean="0">
                <a:solidFill>
                  <a:srgbClr val="002060"/>
                </a:solidFill>
              </a:rPr>
              <a:t>К  нижележащему - сетевому уровню протоколы </a:t>
            </a:r>
            <a:r>
              <a:rPr lang="en-US" sz="2600" dirty="0" smtClean="0">
                <a:solidFill>
                  <a:srgbClr val="002060"/>
                </a:solidFill>
              </a:rPr>
              <a:t>TCP </a:t>
            </a:r>
            <a:r>
              <a:rPr lang="ru-RU" sz="2600" dirty="0" smtClean="0">
                <a:solidFill>
                  <a:srgbClr val="002060"/>
                </a:solidFill>
              </a:rPr>
              <a:t>и </a:t>
            </a:r>
            <a:r>
              <a:rPr lang="en-US" sz="2600" dirty="0" smtClean="0">
                <a:solidFill>
                  <a:srgbClr val="002060"/>
                </a:solidFill>
              </a:rPr>
              <a:t>UDP</a:t>
            </a:r>
            <a:r>
              <a:rPr lang="ru-RU" sz="2600" dirty="0" smtClean="0">
                <a:solidFill>
                  <a:srgbClr val="002060"/>
                </a:solidFill>
              </a:rPr>
              <a:t> обращаются </a:t>
            </a:r>
            <a:r>
              <a:rPr lang="ru-RU" sz="2600" dirty="0" smtClean="0"/>
              <a:t>как к инструменту, способному перемещать пакет в свободном рискованном путешествии по составной сети.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04056"/>
          </a:xfrm>
        </p:spPr>
        <p:txBody>
          <a:bodyPr>
            <a:noAutofit/>
          </a:bodyPr>
          <a:lstStyle/>
          <a:p>
            <a:r>
              <a:rPr lang="ru-RU" sz="4000" dirty="0" smtClean="0">
                <a:solidFill>
                  <a:srgbClr val="7030A0"/>
                </a:solidFill>
              </a:rPr>
              <a:t>Составляющие модели </a:t>
            </a:r>
            <a:r>
              <a:rPr sz="4000" dirty="0" smtClean="0">
                <a:solidFill>
                  <a:srgbClr val="7030A0"/>
                </a:solidFill>
              </a:rPr>
              <a:t>TCP/IP</a:t>
            </a:r>
            <a:endParaRPr lang="ru-RU" sz="4000" dirty="0">
              <a:solidFill>
                <a:srgbClr val="7030A0"/>
              </a:solidFill>
            </a:endParaRPr>
          </a:p>
        </p:txBody>
      </p:sp>
      <p:graphicFrame>
        <p:nvGraphicFramePr>
          <p:cNvPr id="6" name="Содержимое 5"/>
          <p:cNvGraphicFramePr>
            <a:graphicFrameLocks noGrp="1"/>
          </p:cNvGraphicFramePr>
          <p:nvPr>
            <p:ph sz="quarter" idx="1"/>
          </p:nvPr>
        </p:nvGraphicFramePr>
        <p:xfrm>
          <a:off x="251520" y="764704"/>
          <a:ext cx="8712968" cy="596218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41270"/>
                <a:gridCol w="3186998"/>
                <a:gridCol w="2984700"/>
              </a:tblGrid>
              <a:tr h="423173">
                <a:tc>
                  <a:txBody>
                    <a:bodyPr/>
                    <a:lstStyle/>
                    <a:p>
                      <a:r>
                        <a:rPr lang="ru-RU" sz="1600" b="1" dirty="0" smtClean="0"/>
                        <a:t>Уровни</a:t>
                      </a:r>
                      <a:r>
                        <a:rPr lang="ru-RU" sz="1600" b="1" baseline="0" dirty="0" smtClean="0"/>
                        <a:t> </a:t>
                      </a:r>
                      <a:r>
                        <a:rPr lang="en-US" sz="1600" b="1" baseline="0" dirty="0" smtClean="0"/>
                        <a:t>OSI</a:t>
                      </a:r>
                      <a:endParaRPr lang="ru-RU" sz="1600" b="1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 smtClean="0"/>
                        <a:t>Уровни</a:t>
                      </a:r>
                      <a:r>
                        <a:rPr lang="ru-RU" sz="1600" b="1" baseline="0" dirty="0" smtClean="0"/>
                        <a:t> стека </a:t>
                      </a:r>
                      <a:r>
                        <a:rPr lang="en-US" sz="1600" b="1" baseline="0" dirty="0" smtClean="0"/>
                        <a:t>TCP/IP</a:t>
                      </a:r>
                      <a:endParaRPr lang="ru-RU" sz="16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 smtClean="0"/>
                        <a:t>Протоколы </a:t>
                      </a:r>
                      <a:endParaRPr lang="ru-RU" sz="1600" b="1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708935">
                <a:tc>
                  <a:txBody>
                    <a:bodyPr/>
                    <a:lstStyle/>
                    <a:p>
                      <a:r>
                        <a:rPr lang="ru-RU" sz="1600" b="0" dirty="0" smtClean="0"/>
                        <a:t>Прикладной</a:t>
                      </a:r>
                      <a:r>
                        <a:rPr lang="en-US" sz="1600" b="0" dirty="0" smtClean="0"/>
                        <a:t> </a:t>
                      </a:r>
                      <a:r>
                        <a:rPr lang="ru-RU" sz="1600" b="0" dirty="0" smtClean="0"/>
                        <a:t>(</a:t>
                      </a:r>
                      <a:r>
                        <a:rPr lang="en-US" sz="1600" b="0" dirty="0" smtClean="0"/>
                        <a:t>Application)</a:t>
                      </a:r>
                      <a:endParaRPr lang="ru-RU" sz="1600" b="0" dirty="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 smtClean="0"/>
                        <a:t>Прикладной</a:t>
                      </a:r>
                      <a:endParaRPr lang="en-US" sz="2400" b="0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0" dirty="0" smtClean="0"/>
                        <a:t>(</a:t>
                      </a:r>
                      <a:r>
                        <a:rPr lang="en-US" sz="2400" b="0" dirty="0" smtClean="0"/>
                        <a:t>Application)</a:t>
                      </a:r>
                      <a:endParaRPr lang="ru-RU" sz="2400" b="0" dirty="0" smtClean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2400" b="0" dirty="0" smtClean="0"/>
                        <a:t>FTP</a:t>
                      </a:r>
                      <a:r>
                        <a:rPr lang="ru-RU" sz="2400" b="0" dirty="0" smtClean="0"/>
                        <a:t>,</a:t>
                      </a:r>
                      <a:r>
                        <a:rPr lang="ru-RU" sz="2400" b="0" baseline="0" dirty="0" smtClean="0"/>
                        <a:t> </a:t>
                      </a:r>
                      <a:r>
                        <a:rPr lang="en-US" sz="2400" b="0" dirty="0" smtClean="0"/>
                        <a:t>HTTP</a:t>
                      </a:r>
                      <a:r>
                        <a:rPr lang="ru-RU" sz="2400" b="0" dirty="0" smtClean="0"/>
                        <a:t>, </a:t>
                      </a:r>
                      <a:r>
                        <a:rPr lang="en-US" sz="2400" b="0" dirty="0" smtClean="0"/>
                        <a:t>SMTP</a:t>
                      </a:r>
                      <a:r>
                        <a:rPr lang="ru-RU" sz="2400" b="0" dirty="0" smtClean="0"/>
                        <a:t>, </a:t>
                      </a:r>
                      <a:r>
                        <a:rPr lang="en-US" sz="2400" b="0" dirty="0" smtClean="0"/>
                        <a:t>DNS</a:t>
                      </a:r>
                      <a:endParaRPr lang="ru-RU" sz="24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730935">
                <a:tc>
                  <a:txBody>
                    <a:bodyPr/>
                    <a:lstStyle/>
                    <a:p>
                      <a:r>
                        <a:rPr lang="ru-RU" sz="1600" b="0" dirty="0" smtClean="0"/>
                        <a:t>Представительный</a:t>
                      </a:r>
                    </a:p>
                    <a:p>
                      <a:r>
                        <a:rPr lang="ru-RU" sz="1600" b="0" dirty="0" smtClean="0"/>
                        <a:t>(</a:t>
                      </a:r>
                      <a:r>
                        <a:rPr lang="en-US" sz="1600" b="0" dirty="0" smtClean="0"/>
                        <a:t>Presentation)</a:t>
                      </a:r>
                      <a:endParaRPr lang="ru-RU" sz="1600" b="0" dirty="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708935">
                <a:tc>
                  <a:txBody>
                    <a:bodyPr/>
                    <a:lstStyle/>
                    <a:p>
                      <a:r>
                        <a:rPr lang="ru-RU" sz="1600" b="0" dirty="0" smtClean="0"/>
                        <a:t>Сеансовый (</a:t>
                      </a:r>
                      <a:r>
                        <a:rPr lang="en-US" sz="1600" b="0" dirty="0" smtClean="0"/>
                        <a:t>Session)</a:t>
                      </a:r>
                      <a:endParaRPr lang="ru-RU" sz="1600" b="0" dirty="0"/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101276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Транспортный</a:t>
                      </a:r>
                      <a:endParaRPr lang="en-US" sz="160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/>
                        <a:t>(Transport)</a:t>
                      </a:r>
                      <a:endParaRPr lang="ru-RU" sz="1600" dirty="0" smtClean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Транспортный</a:t>
                      </a:r>
                      <a:endParaRPr kumimoji="0" lang="en-US" sz="2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(Transport)</a:t>
                      </a:r>
                      <a:endParaRPr kumimoji="0" lang="ru-RU" sz="2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TCP,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dirty="0" smtClean="0"/>
                        <a:t>UDP</a:t>
                      </a:r>
                      <a:endParaRPr lang="ru-RU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73093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Сетевой </a:t>
                      </a:r>
                      <a:r>
                        <a:rPr lang="en-US" sz="1600" dirty="0" smtClean="0"/>
                        <a:t> </a:t>
                      </a:r>
                      <a:r>
                        <a:rPr lang="ru-RU" sz="1600" dirty="0" smtClean="0"/>
                        <a:t>(</a:t>
                      </a:r>
                      <a:r>
                        <a:rPr lang="en-US" sz="1600" dirty="0" smtClean="0"/>
                        <a:t>Network)</a:t>
                      </a:r>
                      <a:endParaRPr lang="ru-RU" sz="1600" dirty="0" smtClean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Сетевой </a:t>
                      </a:r>
                      <a:r>
                        <a:rPr lang="en-US" sz="2400" dirty="0" smtClean="0"/>
                        <a:t/>
                      </a:r>
                      <a:br>
                        <a:rPr lang="en-US" sz="2400" dirty="0" smtClean="0"/>
                      </a:br>
                      <a:r>
                        <a:rPr lang="ru-RU" sz="2400" dirty="0" smtClean="0"/>
                        <a:t>(</a:t>
                      </a:r>
                      <a:r>
                        <a:rPr lang="en-US" sz="2400" dirty="0" smtClean="0"/>
                        <a:t>Network)</a:t>
                      </a:r>
                      <a:endParaRPr lang="ru-RU" sz="2400" dirty="0" smtClean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IP, ICMP</a:t>
                      </a:r>
                      <a:endParaRPr lang="ru-RU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70893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Канальный</a:t>
                      </a:r>
                      <a:r>
                        <a:rPr lang="en-US" sz="1600" dirty="0" smtClean="0"/>
                        <a:t> (Link)</a:t>
                      </a:r>
                      <a:endParaRPr lang="ru-RU" sz="1600" dirty="0" smtClean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Уровень сетевых интерфейсов (</a:t>
                      </a:r>
                      <a:r>
                        <a:rPr lang="en-US" sz="2400" dirty="0" smtClean="0"/>
                        <a:t>Network Interface)</a:t>
                      </a:r>
                      <a:endParaRPr lang="ru-RU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0" lang="ru-RU" sz="2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Протоколы</a:t>
                      </a:r>
                      <a:r>
                        <a:rPr kumimoji="0" lang="ru-RU" sz="24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инкапсуляции и преобразования адресов</a:t>
                      </a:r>
                      <a:endParaRPr lang="ru-RU" sz="24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</a:tr>
              <a:tr h="80803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smtClean="0"/>
                        <a:t>Физический</a:t>
                      </a:r>
                      <a:r>
                        <a:rPr lang="en-US" sz="1600" dirty="0" smtClean="0"/>
                        <a:t> (Physical)</a:t>
                      </a:r>
                      <a:endParaRPr lang="ru-RU" sz="1600" dirty="0" smtClean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424936" cy="548680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Стек протоколов </a:t>
            </a:r>
            <a:r>
              <a:rPr lang="en-US" sz="3600" dirty="0" smtClean="0">
                <a:solidFill>
                  <a:srgbClr val="7030A0"/>
                </a:solidFill>
              </a:rPr>
              <a:t>TCP/IP</a:t>
            </a:r>
            <a:r>
              <a:rPr lang="ru-RU" sz="3600" dirty="0" smtClean="0">
                <a:solidFill>
                  <a:srgbClr val="7030A0"/>
                </a:solidFill>
              </a:rPr>
              <a:t> ( 3)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Autofit/>
          </a:bodyPr>
          <a:lstStyle/>
          <a:p>
            <a:r>
              <a:rPr lang="ru-RU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3.Межсетевой уровень</a:t>
            </a:r>
            <a:r>
              <a:rPr lang="en-US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TCP/IP </a:t>
            </a:r>
            <a:r>
              <a:rPr lang="ru-RU" sz="24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dirty="0" smtClean="0"/>
              <a:t>соответствует сетевому </a:t>
            </a:r>
            <a:r>
              <a:rPr lang="en-US" sz="2000" dirty="0" smtClean="0"/>
              <a:t>OSI</a:t>
            </a:r>
            <a:r>
              <a:rPr lang="ru-RU" sz="2000" dirty="0" smtClean="0"/>
              <a:t> и обеспечивает перемещение пакетов в пределах составной сети является  </a:t>
            </a:r>
            <a:r>
              <a:rPr lang="ru-RU" sz="2000" dirty="0" smtClean="0">
                <a:solidFill>
                  <a:srgbClr val="002060"/>
                </a:solidFill>
              </a:rPr>
              <a:t>стержнем архитектуры</a:t>
            </a:r>
            <a:r>
              <a:rPr lang="ru-RU" sz="2000" dirty="0" smtClean="0"/>
              <a:t>.</a:t>
            </a:r>
          </a:p>
          <a:p>
            <a:pPr>
              <a:buNone/>
            </a:pPr>
            <a:r>
              <a:rPr lang="ru-RU" sz="2000" dirty="0" smtClean="0">
                <a:solidFill>
                  <a:srgbClr val="0070C0"/>
                </a:solidFill>
              </a:rPr>
              <a:t>     </a:t>
            </a:r>
            <a:r>
              <a:rPr lang="ru-RU" sz="2000" dirty="0" smtClean="0">
                <a:solidFill>
                  <a:srgbClr val="002060"/>
                </a:solidFill>
              </a:rPr>
              <a:t>Основной протокол сетевого уровня -  протокол </a:t>
            </a:r>
            <a:r>
              <a:rPr lang="en-US" sz="2000" dirty="0" smtClean="0">
                <a:solidFill>
                  <a:srgbClr val="002060"/>
                </a:solidFill>
              </a:rPr>
              <a:t>IP</a:t>
            </a:r>
            <a:r>
              <a:rPr lang="ru-RU" sz="2000" dirty="0" smtClean="0">
                <a:solidFill>
                  <a:srgbClr val="002060"/>
                </a:solidFill>
              </a:rPr>
              <a:t>,    е</a:t>
            </a:r>
            <a:r>
              <a:rPr lang="ru-RU" sz="2000" dirty="0" smtClean="0"/>
              <a:t>го задача - </a:t>
            </a:r>
            <a:r>
              <a:rPr lang="ru-RU" sz="2000" dirty="0" smtClean="0">
                <a:solidFill>
                  <a:srgbClr val="002060"/>
                </a:solidFill>
              </a:rPr>
              <a:t>продвижение пакета между подсетями </a:t>
            </a:r>
            <a:r>
              <a:rPr lang="ru-RU" sz="2000" dirty="0" smtClean="0"/>
              <a:t>– от одного </a:t>
            </a:r>
            <a:r>
              <a:rPr lang="ru-RU" sz="2000" dirty="0" err="1" smtClean="0"/>
              <a:t>маршрутизатора</a:t>
            </a:r>
            <a:r>
              <a:rPr lang="ru-RU" sz="2000" dirty="0" smtClean="0"/>
              <a:t> до другого , пока пакет не попадет в сеть назначения.</a:t>
            </a:r>
          </a:p>
          <a:p>
            <a:pPr>
              <a:buNone/>
            </a:pPr>
            <a:r>
              <a:rPr lang="ru-RU" sz="2000" i="1" dirty="0" smtClean="0">
                <a:solidFill>
                  <a:srgbClr val="002060"/>
                </a:solidFill>
              </a:rPr>
              <a:t>          -   </a:t>
            </a:r>
            <a:r>
              <a:rPr lang="ru-RU" sz="2000" i="1" u="sng" dirty="0" smtClean="0">
                <a:solidFill>
                  <a:srgbClr val="002060"/>
                </a:solidFill>
              </a:rPr>
              <a:t>Протокол </a:t>
            </a:r>
            <a:r>
              <a:rPr lang="en-US" sz="2000" i="1" u="sng" dirty="0" smtClean="0">
                <a:solidFill>
                  <a:srgbClr val="002060"/>
                </a:solidFill>
              </a:rPr>
              <a:t>IP</a:t>
            </a:r>
            <a:r>
              <a:rPr lang="ru-RU" sz="2000" i="1" u="sng" dirty="0" smtClean="0">
                <a:solidFill>
                  <a:srgbClr val="002060"/>
                </a:solidFill>
              </a:rPr>
              <a:t> </a:t>
            </a:r>
            <a:r>
              <a:rPr lang="ru-RU" sz="2000" dirty="0" smtClean="0">
                <a:solidFill>
                  <a:srgbClr val="002060"/>
                </a:solidFill>
              </a:rPr>
              <a:t>-  </a:t>
            </a: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ru-RU" sz="2000" dirty="0" err="1" smtClean="0"/>
              <a:t>дейтаграммный</a:t>
            </a:r>
            <a:r>
              <a:rPr lang="ru-RU" sz="2000" dirty="0" smtClean="0"/>
              <a:t> протокол и </a:t>
            </a:r>
            <a:r>
              <a:rPr lang="ru-RU" sz="2000" dirty="0" smtClean="0">
                <a:solidFill>
                  <a:srgbClr val="002060"/>
                </a:solidFill>
              </a:rPr>
              <a:t>работает без установления соединения</a:t>
            </a:r>
            <a:r>
              <a:rPr lang="ru-RU" sz="2000" dirty="0" smtClean="0"/>
              <a:t>,  по принципу «по возможности», не отвечает за доставку пакета до узла назначения.</a:t>
            </a:r>
          </a:p>
          <a:p>
            <a:pPr>
              <a:buNone/>
            </a:pPr>
            <a:r>
              <a:rPr lang="ru-RU" sz="2000" dirty="0" smtClean="0">
                <a:solidFill>
                  <a:srgbClr val="002060"/>
                </a:solidFill>
              </a:rPr>
              <a:t>       - Протоколы  </a:t>
            </a:r>
            <a:r>
              <a:rPr lang="ru-RU" sz="2000" u="sng" dirty="0" smtClean="0">
                <a:solidFill>
                  <a:srgbClr val="002060"/>
                </a:solidFill>
              </a:rPr>
              <a:t> </a:t>
            </a:r>
            <a:r>
              <a:rPr lang="en-US" sz="2000" i="1" u="sng" dirty="0" smtClean="0">
                <a:solidFill>
                  <a:srgbClr val="002060"/>
                </a:solidFill>
              </a:rPr>
              <a:t>RIP, OSPF</a:t>
            </a:r>
            <a:r>
              <a:rPr lang="ru-RU" sz="2000" i="1" u="sng" dirty="0" smtClean="0">
                <a:solidFill>
                  <a:srgbClr val="002060"/>
                </a:solidFill>
              </a:rPr>
              <a:t>  </a:t>
            </a:r>
            <a:r>
              <a:rPr lang="ru-RU" sz="2000" i="1" u="sng" dirty="0" smtClean="0"/>
              <a:t>- п</a:t>
            </a:r>
            <a:r>
              <a:rPr lang="ru-RU" sz="2000" dirty="0" smtClean="0"/>
              <a:t>ротоколы составления и модификации таблиц  маршрутизации - </a:t>
            </a:r>
            <a:r>
              <a:rPr lang="ru-RU" sz="2000" dirty="0" smtClean="0">
                <a:solidFill>
                  <a:srgbClr val="002060"/>
                </a:solidFill>
              </a:rPr>
              <a:t>предназначены для определения маршрута и составления таблиц маршрутизации </a:t>
            </a:r>
            <a:r>
              <a:rPr lang="ru-RU" sz="2000" dirty="0" smtClean="0"/>
              <a:t>на основе которых протокол </a:t>
            </a:r>
            <a:r>
              <a:rPr lang="en-US" sz="2000" dirty="0" smtClean="0"/>
              <a:t>IP </a:t>
            </a:r>
            <a:r>
              <a:rPr lang="ru-RU" sz="2000" dirty="0" smtClean="0"/>
              <a:t>перемещает пакеты в нужном направлении.</a:t>
            </a:r>
          </a:p>
          <a:p>
            <a:pPr>
              <a:buNone/>
            </a:pP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ru-RU" sz="2000" dirty="0" smtClean="0">
                <a:solidFill>
                  <a:srgbClr val="002060"/>
                </a:solidFill>
              </a:rPr>
              <a:t>     </a:t>
            </a:r>
            <a:r>
              <a:rPr lang="en-US" sz="2000" dirty="0" smtClean="0">
                <a:solidFill>
                  <a:srgbClr val="002060"/>
                </a:solidFill>
              </a:rPr>
              <a:t> </a:t>
            </a:r>
            <a:r>
              <a:rPr lang="ru-RU" sz="2000" dirty="0" smtClean="0">
                <a:solidFill>
                  <a:srgbClr val="002060"/>
                </a:solidFill>
              </a:rPr>
              <a:t> </a:t>
            </a:r>
            <a:r>
              <a:rPr lang="ru-RU" sz="2000" dirty="0" smtClean="0"/>
              <a:t>– </a:t>
            </a:r>
            <a:r>
              <a:rPr lang="ru-RU" sz="2000" dirty="0" smtClean="0">
                <a:solidFill>
                  <a:srgbClr val="002060"/>
                </a:solidFill>
              </a:rPr>
              <a:t>Протокол межсетевых управляющих сообщений</a:t>
            </a:r>
            <a:r>
              <a:rPr lang="ru-RU" sz="2000" i="1" u="sng" dirty="0" smtClean="0">
                <a:solidFill>
                  <a:srgbClr val="002060"/>
                </a:solidFill>
              </a:rPr>
              <a:t>  - </a:t>
            </a:r>
            <a:r>
              <a:rPr lang="en-US" sz="2000" i="1" u="sng" dirty="0" smtClean="0">
                <a:solidFill>
                  <a:srgbClr val="002060"/>
                </a:solidFill>
              </a:rPr>
              <a:t>ICMP</a:t>
            </a:r>
            <a:r>
              <a:rPr lang="ru-RU" sz="2000" dirty="0" smtClean="0">
                <a:solidFill>
                  <a:srgbClr val="002060"/>
                </a:solidFill>
              </a:rPr>
              <a:t>, </a:t>
            </a:r>
            <a:r>
              <a:rPr lang="ru-RU" sz="2000" dirty="0" smtClean="0"/>
              <a:t>предназначенный для</a:t>
            </a:r>
            <a:r>
              <a:rPr lang="en-US" sz="2000" dirty="0" smtClean="0"/>
              <a:t> </a:t>
            </a:r>
            <a:r>
              <a:rPr lang="ru-RU" sz="2000" dirty="0" smtClean="0"/>
              <a:t>обмена информацией об ошибках между  </a:t>
            </a:r>
            <a:r>
              <a:rPr lang="ru-RU" sz="2000" dirty="0" err="1" smtClean="0"/>
              <a:t>маршрутизаторами</a:t>
            </a:r>
            <a:r>
              <a:rPr lang="ru-RU" sz="2000" dirty="0" smtClean="0"/>
              <a:t> сети и узлом - источником пакетов.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Стек протоколов </a:t>
            </a:r>
            <a:r>
              <a:rPr lang="en-US" sz="3600" dirty="0" smtClean="0">
                <a:solidFill>
                  <a:srgbClr val="7030A0"/>
                </a:solidFill>
              </a:rPr>
              <a:t>TCP/IP</a:t>
            </a:r>
            <a:r>
              <a:rPr lang="ru-RU" sz="3600" dirty="0" smtClean="0">
                <a:solidFill>
                  <a:srgbClr val="7030A0"/>
                </a:solidFill>
              </a:rPr>
              <a:t> ( 4 )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80728"/>
            <a:ext cx="8964488" cy="5877272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ru-RU" sz="9600" dirty="0" smtClean="0">
                <a:solidFill>
                  <a:srgbClr val="002060"/>
                </a:solidFill>
              </a:rPr>
              <a:t>           4</a:t>
            </a:r>
            <a:r>
              <a:rPr lang="ru-RU" sz="112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Уровень сетевых интерфейсов </a:t>
            </a:r>
          </a:p>
          <a:p>
            <a:pPr>
              <a:buNone/>
            </a:pPr>
            <a:r>
              <a:rPr lang="ru-RU" sz="11200" dirty="0" smtClean="0"/>
              <a:t>соответствует нижним уровням модели </a:t>
            </a:r>
            <a:r>
              <a:rPr lang="en-US" sz="11200" dirty="0" smtClean="0"/>
              <a:t>OSI </a:t>
            </a:r>
            <a:r>
              <a:rPr lang="ru-RU" sz="11200" dirty="0" smtClean="0">
                <a:solidFill>
                  <a:srgbClr val="002060"/>
                </a:solidFill>
              </a:rPr>
              <a:t>– </a:t>
            </a:r>
          </a:p>
          <a:p>
            <a:pPr>
              <a:buNone/>
            </a:pPr>
            <a:r>
              <a:rPr lang="ru-RU" sz="11200" dirty="0" smtClean="0">
                <a:solidFill>
                  <a:srgbClr val="002060"/>
                </a:solidFill>
              </a:rPr>
              <a:t>канальному и физическому</a:t>
            </a:r>
            <a:r>
              <a:rPr lang="ru-RU" sz="11200" dirty="0" smtClean="0"/>
              <a:t>. </a:t>
            </a:r>
          </a:p>
          <a:p>
            <a:pPr>
              <a:buNone/>
            </a:pPr>
            <a:r>
              <a:rPr lang="ru-RU" sz="11200" dirty="0" smtClean="0"/>
              <a:t>      Протоколы уровня  обеспечивают интеграцию в составную сеть других сетей.</a:t>
            </a:r>
          </a:p>
          <a:p>
            <a:r>
              <a:rPr lang="ru-RU" sz="11200" dirty="0" smtClean="0">
                <a:solidFill>
                  <a:srgbClr val="002060"/>
                </a:solidFill>
              </a:rPr>
              <a:t>       Задача – отвечать за организацию интерфейса с другими технологиями подсетей</a:t>
            </a:r>
            <a:r>
              <a:rPr lang="ru-RU" sz="11200" dirty="0" smtClean="0"/>
              <a:t>.</a:t>
            </a:r>
          </a:p>
          <a:p>
            <a:pPr>
              <a:buNone/>
            </a:pPr>
            <a:r>
              <a:rPr lang="ru-RU" sz="11200" dirty="0" smtClean="0"/>
              <a:t>      Перемещение пакета </a:t>
            </a:r>
            <a:r>
              <a:rPr lang="en-US" sz="11200" dirty="0" smtClean="0"/>
              <a:t>IP – </a:t>
            </a:r>
            <a:r>
              <a:rPr lang="ru-RU" sz="11200" dirty="0" smtClean="0"/>
              <a:t>это последовательность «прыжков» от одного шлюза до другого и на очередном шлюзе в результате работы протоколов межсетевого уровня определяется сетевой адрес следующего по маршруту шлюза и чтобы добраться до него, надо пересечь некоторую подсеть.</a:t>
            </a:r>
          </a:p>
          <a:p>
            <a:pPr>
              <a:buNone/>
            </a:pPr>
            <a:endParaRPr lang="ru-RU" sz="11200" dirty="0" smtClean="0"/>
          </a:p>
          <a:p>
            <a:pPr>
              <a:buNone/>
            </a:pPr>
            <a:r>
              <a:rPr lang="ru-RU" sz="11200" dirty="0" smtClean="0"/>
              <a:t>    </a:t>
            </a:r>
          </a:p>
          <a:p>
            <a:pPr>
              <a:buNone/>
            </a:pPr>
            <a:endParaRPr lang="ru-RU" sz="7000" dirty="0" smtClean="0"/>
          </a:p>
          <a:p>
            <a:pPr>
              <a:buNone/>
            </a:pPr>
            <a:r>
              <a:rPr lang="ru-RU" sz="7000" dirty="0" smtClean="0"/>
              <a:t>         </a:t>
            </a:r>
          </a:p>
          <a:p>
            <a:pPr>
              <a:buNone/>
            </a:pPr>
            <a:r>
              <a:rPr lang="ru-RU" sz="2000" dirty="0" smtClean="0"/>
              <a:t> </a:t>
            </a:r>
            <a:endParaRPr lang="ru-RU" sz="2800" u="sng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Стек протоколов </a:t>
            </a:r>
            <a:r>
              <a:rPr lang="en-US" dirty="0" smtClean="0">
                <a:solidFill>
                  <a:srgbClr val="7030A0"/>
                </a:solidFill>
              </a:rPr>
              <a:t>TCP/IP</a:t>
            </a:r>
            <a:r>
              <a:rPr lang="ru-RU" dirty="0" smtClean="0">
                <a:solidFill>
                  <a:srgbClr val="7030A0"/>
                </a:solidFill>
              </a:rPr>
              <a:t> ( 5)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124744"/>
            <a:ext cx="8640960" cy="525658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 smtClean="0"/>
              <a:t>Для этого протоколы </a:t>
            </a:r>
            <a:r>
              <a:rPr lang="en-US" dirty="0" smtClean="0"/>
              <a:t>TCP/I</a:t>
            </a:r>
            <a:r>
              <a:rPr lang="ru-RU" dirty="0" smtClean="0"/>
              <a:t>Р должны обратиться к транспортным средствам данной промежуточной подсистемы.</a:t>
            </a:r>
            <a:endParaRPr lang="ru-RU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u="sng" dirty="0" smtClean="0"/>
              <a:t>Задачи обеспечения интерфейса между 2 технологиями</a:t>
            </a:r>
            <a:r>
              <a:rPr lang="ru-RU" dirty="0" smtClean="0">
                <a:solidFill>
                  <a:srgbClr val="002060"/>
                </a:solidFill>
              </a:rPr>
              <a:t>:</a:t>
            </a:r>
          </a:p>
          <a:p>
            <a:pPr>
              <a:buNone/>
            </a:pPr>
            <a:r>
              <a:rPr lang="ru-RU" dirty="0" smtClean="0"/>
              <a:t>         1). </a:t>
            </a:r>
            <a:r>
              <a:rPr lang="ru-RU" dirty="0" smtClean="0">
                <a:solidFill>
                  <a:srgbClr val="002060"/>
                </a:solidFill>
              </a:rPr>
              <a:t>определение способа упаковки (инкапсуляция) пакета</a:t>
            </a:r>
            <a:r>
              <a:rPr lang="en-US" dirty="0" smtClean="0">
                <a:solidFill>
                  <a:srgbClr val="002060"/>
                </a:solidFill>
              </a:rPr>
              <a:t> IP </a:t>
            </a:r>
            <a:r>
              <a:rPr lang="ru-RU" dirty="0" smtClean="0"/>
              <a:t>в единицу передаваемых данных промежуточной сети;</a:t>
            </a:r>
          </a:p>
          <a:p>
            <a:pPr>
              <a:buNone/>
            </a:pPr>
            <a:r>
              <a:rPr lang="ru-RU" dirty="0" smtClean="0"/>
              <a:t>        2).</a:t>
            </a:r>
            <a:r>
              <a:rPr lang="ru-RU" dirty="0" smtClean="0">
                <a:solidFill>
                  <a:srgbClr val="002060"/>
                </a:solidFill>
              </a:rPr>
              <a:t>определение способа преобразования сетевого адреса следующего шлюза в новый тип адреса, </a:t>
            </a:r>
            <a:r>
              <a:rPr lang="ru-RU" dirty="0" smtClean="0"/>
              <a:t>который принят для адресации узлов в технологии данной промежуточной сети.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82" name="Picture 2" descr="C:\Users\Юра\Downloads\сетенезависимые  прот тср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Сетенезависимые уровни стека </a:t>
            </a:r>
            <a:r>
              <a:rPr lang="en-US" sz="3200" dirty="0" smtClean="0">
                <a:solidFill>
                  <a:srgbClr val="7030A0"/>
                </a:solidFill>
              </a:rPr>
              <a:t>TCP/IP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594928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В архитектуре </a:t>
            </a:r>
            <a:r>
              <a:rPr lang="en-US" sz="2400" dirty="0" smtClean="0">
                <a:solidFill>
                  <a:srgbClr val="002060"/>
                </a:solidFill>
              </a:rPr>
              <a:t>TCP/IP </a:t>
            </a:r>
            <a:r>
              <a:rPr lang="ru-RU" sz="2400" dirty="0" smtClean="0">
                <a:solidFill>
                  <a:srgbClr val="002060"/>
                </a:solidFill>
              </a:rPr>
              <a:t>можно выделить 2 уровня:</a:t>
            </a:r>
            <a:r>
              <a:rPr lang="ru-RU" sz="2400" dirty="0" smtClean="0"/>
              <a:t>      </a:t>
            </a:r>
          </a:p>
          <a:p>
            <a:pPr>
              <a:buNone/>
            </a:pPr>
            <a:r>
              <a:rPr lang="ru-RU" sz="2400" dirty="0" smtClean="0"/>
              <a:t>     1).  </a:t>
            </a:r>
            <a:r>
              <a:rPr lang="ru-RU" sz="2400" dirty="0" smtClean="0">
                <a:solidFill>
                  <a:srgbClr val="002060"/>
                </a:solidFill>
              </a:rPr>
              <a:t>Уровни, функции которых ориентированы на работу с приложениям</a:t>
            </a:r>
            <a:r>
              <a:rPr lang="ru-RU" sz="2400" dirty="0" smtClean="0"/>
              <a:t>:</a:t>
            </a:r>
          </a:p>
          <a:p>
            <a:pPr>
              <a:buNone/>
            </a:pPr>
            <a:r>
              <a:rPr lang="ru-RU" sz="2400" dirty="0" smtClean="0"/>
              <a:t>         -  Протоколы прикладного уровня работают на компьютерах, выполняющих приложения пользователей.</a:t>
            </a:r>
          </a:p>
          <a:p>
            <a:pPr>
              <a:buNone/>
            </a:pPr>
            <a:r>
              <a:rPr lang="ru-RU" sz="2400" dirty="0" smtClean="0"/>
              <a:t>     2).   </a:t>
            </a:r>
            <a:r>
              <a:rPr lang="ru-RU" sz="2400" dirty="0" smtClean="0">
                <a:solidFill>
                  <a:srgbClr val="002060"/>
                </a:solidFill>
              </a:rPr>
              <a:t>Уровни, функции которого зависят от конкретной технологической реализации сети:</a:t>
            </a:r>
          </a:p>
          <a:p>
            <a:pPr>
              <a:buNone/>
            </a:pPr>
            <a:r>
              <a:rPr lang="ru-RU" sz="2400" dirty="0" smtClean="0"/>
              <a:t>         - Протоколы транспортного уровня зависят от сети , т.к. они реализуют интерфейс к уровням , организующим передачу данных по сети. Устанавливаются на оконечных узлах. </a:t>
            </a:r>
          </a:p>
          <a:p>
            <a:pPr>
              <a:buNone/>
            </a:pPr>
            <a:r>
              <a:rPr lang="ru-RU" sz="2400" dirty="0" smtClean="0"/>
              <a:t>         - Уровень межсетевого взаимодействия (сетевой) и уровень сетевых интерфейсов ( канальный, физический) являются </a:t>
            </a:r>
            <a:r>
              <a:rPr lang="ru-RU" sz="2400" dirty="0" err="1" smtClean="0"/>
              <a:t>сетезависимыми</a:t>
            </a:r>
            <a:r>
              <a:rPr lang="ru-RU" sz="2400" dirty="0" smtClean="0">
                <a:solidFill>
                  <a:srgbClr val="002060"/>
                </a:solidFill>
              </a:rPr>
              <a:t>, </a:t>
            </a:r>
            <a:r>
              <a:rPr lang="ru-RU" sz="2400" dirty="0" smtClean="0"/>
              <a:t> программные модули их устанавливаются на всех хостах и шлюзах, </a:t>
            </a:r>
            <a:r>
              <a:rPr lang="ru-RU" sz="2400" dirty="0" err="1" smtClean="0"/>
              <a:t>маршрутизаторах</a:t>
            </a:r>
            <a:r>
              <a:rPr lang="ru-RU" sz="2400" dirty="0" smtClean="0"/>
              <a:t>.</a:t>
            </a:r>
          </a:p>
          <a:p>
            <a:endParaRPr lang="ru-RU" sz="2400" dirty="0" smtClean="0"/>
          </a:p>
          <a:p>
            <a:endParaRPr lang="ru-RU" sz="2400" dirty="0" smtClean="0"/>
          </a:p>
          <a:p>
            <a:r>
              <a:rPr lang="ru-RU" sz="2400" dirty="0" smtClean="0"/>
              <a:t> 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-243408"/>
            <a:ext cx="7772400" cy="1143000"/>
          </a:xfrm>
        </p:spPr>
        <p:txBody>
          <a:bodyPr/>
          <a:lstStyle/>
          <a:p>
            <a:r>
              <a:rPr lang="ru-RU" dirty="0" smtClean="0"/>
              <a:t>Модель </a:t>
            </a:r>
            <a:r>
              <a:rPr lang="en-US" dirty="0" smtClean="0"/>
              <a:t>OSI</a:t>
            </a:r>
            <a:endParaRPr lang="ru-RU" dirty="0"/>
          </a:p>
        </p:txBody>
      </p:sp>
      <p:pic>
        <p:nvPicPr>
          <p:cNvPr id="268290" name="Picture 2" descr="http://wiki.auditory.ru/images/c/c6/%D0%A1%D0%B5%D1%82%D0%B5%D0%B7%D0%B0%D0%B2%D0%B8%D1%81%D0%B8%D0%BC%D1%8B%D0%B5_%D0%B8_%D1%81%D0%B5%D1%82%D0%B5%D0%BD%D0%B5%D0%B7%D0%B0%D0%B2%D0%B8%D1%81%D0%B8%D0%BC%D1%8B%D0%B5_%D1%83%D1%80%D0%BE%D0%B2%D0%BD%D0%B8_%D0%BC%D0%BE%D0%B4%D0%B5%D0%BB%D0%B8_OSI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692696"/>
            <a:ext cx="8064896" cy="59772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562074"/>
          </a:xfrm>
        </p:spPr>
        <p:txBody>
          <a:bodyPr>
            <a:normAutofit fontScale="90000"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Название единиц данных, используемых в TCP/IP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08720"/>
            <a:ext cx="8712968" cy="5616624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Каждый коммуникационный протокол оперирует с некоторой  единицей передаваемых данных. В стеке </a:t>
            </a:r>
            <a:r>
              <a:rPr lang="en-US" dirty="0" smtClean="0"/>
              <a:t>TCP/IP </a:t>
            </a:r>
            <a:r>
              <a:rPr lang="ru-RU" dirty="0" smtClean="0"/>
              <a:t>используется терминология:</a:t>
            </a:r>
          </a:p>
          <a:p>
            <a:r>
              <a:rPr lang="ru-RU" i="1" u="sng" dirty="0" smtClean="0">
                <a:solidFill>
                  <a:srgbClr val="002060"/>
                </a:solidFill>
              </a:rPr>
              <a:t> Поток </a:t>
            </a:r>
            <a:r>
              <a:rPr lang="ru-RU" dirty="0" smtClean="0"/>
              <a:t>- это данные, поступающие от приложений на вход протоколов транспортного уровня TCP и UDP.  </a:t>
            </a:r>
          </a:p>
          <a:p>
            <a:pPr>
              <a:buNone/>
            </a:pPr>
            <a:r>
              <a:rPr lang="ru-RU" dirty="0" smtClean="0"/>
              <a:t>      Протокол TCP «нарезает» из потока данных сегменты.</a:t>
            </a:r>
          </a:p>
          <a:p>
            <a:pPr>
              <a:buNone/>
            </a:pPr>
            <a:r>
              <a:rPr lang="ru-RU" dirty="0" smtClean="0"/>
              <a:t>       Единицу данных протокола UDP часто называют дейтаграммой (или </a:t>
            </a:r>
            <a:r>
              <a:rPr lang="ru-RU" dirty="0" err="1" smtClean="0"/>
              <a:t>датаграммой</a:t>
            </a:r>
            <a:r>
              <a:rPr lang="ru-RU" dirty="0" smtClean="0"/>
              <a:t>). </a:t>
            </a:r>
          </a:p>
          <a:p>
            <a:r>
              <a:rPr lang="ru-RU" i="1" u="sng" dirty="0" smtClean="0">
                <a:solidFill>
                  <a:srgbClr val="002060"/>
                </a:solidFill>
              </a:rPr>
              <a:t>    Дейтаграмма </a:t>
            </a:r>
            <a:r>
              <a:rPr lang="ru-RU" dirty="0" smtClean="0"/>
              <a:t>– это общее название для единиц данных, которыми оперируют протоколы без установления соединений. </a:t>
            </a:r>
          </a:p>
          <a:p>
            <a:pPr>
              <a:buNone/>
            </a:pPr>
            <a:r>
              <a:rPr lang="ru-RU" dirty="0" smtClean="0"/>
              <a:t>     К таким протоколам относится и протокол межсетевого взаимодействия IP. </a:t>
            </a:r>
          </a:p>
          <a:p>
            <a:r>
              <a:rPr lang="ru-RU" i="1" u="sng" dirty="0" smtClean="0">
                <a:solidFill>
                  <a:srgbClr val="002060"/>
                </a:solidFill>
              </a:rPr>
              <a:t>  Пакет </a:t>
            </a:r>
            <a:r>
              <a:rPr lang="ru-RU" dirty="0" smtClean="0"/>
              <a:t>– это дейтаграмма протокола IP </a:t>
            </a:r>
            <a:r>
              <a:rPr lang="ru-RU" dirty="0" smtClean="0">
                <a:solidFill>
                  <a:srgbClr val="002060"/>
                </a:solidFill>
              </a:rPr>
              <a:t>.</a:t>
            </a:r>
            <a:endParaRPr lang="ru-RU" dirty="0" smtClean="0"/>
          </a:p>
          <a:p>
            <a:r>
              <a:rPr lang="ru-RU" u="sng" dirty="0" smtClean="0">
                <a:solidFill>
                  <a:srgbClr val="002060"/>
                </a:solidFill>
              </a:rPr>
              <a:t>  </a:t>
            </a:r>
            <a:r>
              <a:rPr lang="ru-RU" i="1" u="sng" dirty="0" smtClean="0">
                <a:solidFill>
                  <a:srgbClr val="002060"/>
                </a:solidFill>
              </a:rPr>
              <a:t>Кадры (фреймы</a:t>
            </a:r>
            <a:r>
              <a:rPr lang="ru-RU" dirty="0" smtClean="0">
                <a:solidFill>
                  <a:srgbClr val="002060"/>
                </a:solidFill>
              </a:rPr>
              <a:t>) – </a:t>
            </a:r>
            <a:r>
              <a:rPr lang="ru-RU" dirty="0" smtClean="0"/>
              <a:t>это единицы данных протоколов, на основе которых IP-пакеты переносятся через подсети составной сети. </a:t>
            </a:r>
          </a:p>
          <a:p>
            <a:r>
              <a:rPr lang="ru-RU" dirty="0" smtClean="0"/>
              <a:t>При этом не имеет значения, какое название используется для этой единицы данных в локальной технологии</a:t>
            </a:r>
          </a:p>
          <a:p>
            <a:pPr algn="just"/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Название единиц данных, используемых в </a:t>
            </a:r>
            <a:r>
              <a:rPr sz="3200" dirty="0" smtClean="0">
                <a:solidFill>
                  <a:srgbClr val="7030A0"/>
                </a:solidFill>
              </a:rPr>
              <a:t>TCP</a:t>
            </a:r>
            <a:r>
              <a:rPr lang="ru-RU" sz="3200" dirty="0" smtClean="0">
                <a:solidFill>
                  <a:srgbClr val="7030A0"/>
                </a:solidFill>
              </a:rPr>
              <a:t>/</a:t>
            </a:r>
            <a:r>
              <a:rPr sz="3200" dirty="0" smtClean="0">
                <a:solidFill>
                  <a:srgbClr val="7030A0"/>
                </a:solidFill>
              </a:rPr>
              <a:t>IP</a:t>
            </a:r>
            <a:endParaRPr lang="ru-RU" sz="3200" dirty="0">
              <a:solidFill>
                <a:srgbClr val="7030A0"/>
              </a:solidFill>
            </a:endParaRPr>
          </a:p>
        </p:txBody>
      </p:sp>
      <p:pic>
        <p:nvPicPr>
          <p:cNvPr id="30723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379037" y="1124744"/>
            <a:ext cx="8153403" cy="5544617"/>
          </a:xfrm>
          <a:prstGeom prst="rect">
            <a:avLst/>
          </a:prstGeom>
          <a:ln>
            <a:noFill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9" name="Содержимое 8"/>
          <p:cNvSpPr>
            <a:spLocks noGrp="1"/>
          </p:cNvSpPr>
          <p:nvPr>
            <p:ph sz="quarter" idx="2"/>
          </p:nvPr>
        </p:nvSpPr>
        <p:spPr>
          <a:xfrm>
            <a:off x="179512" y="1124744"/>
            <a:ext cx="8568952" cy="5544616"/>
          </a:xfrm>
        </p:spPr>
        <p:txBody>
          <a:bodyPr>
            <a:noAutofit/>
          </a:bodyPr>
          <a:lstStyle/>
          <a:p>
            <a:pPr algn="just">
              <a:buNone/>
            </a:pPr>
            <a:endParaRPr lang="ru-RU" sz="1800" dirty="0"/>
          </a:p>
        </p:txBody>
      </p:sp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468052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5.2 Типы адресов </a:t>
            </a:r>
            <a:r>
              <a:rPr lang="en-US" dirty="0" smtClean="0">
                <a:solidFill>
                  <a:srgbClr val="7030A0"/>
                </a:solidFill>
              </a:rPr>
              <a:t>TCP/IP </a:t>
            </a:r>
            <a:r>
              <a:rPr lang="ru-RU" dirty="0" smtClean="0">
                <a:solidFill>
                  <a:srgbClr val="7030A0"/>
                </a:solidFill>
              </a:rPr>
              <a:t>.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Адресация в сетях </a:t>
            </a:r>
            <a:r>
              <a:rPr lang="en-US" dirty="0" smtClean="0">
                <a:solidFill>
                  <a:srgbClr val="7030A0"/>
                </a:solidFill>
              </a:rPr>
              <a:t>TCP/IP </a:t>
            </a: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476672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3200" dirty="0" smtClean="0">
                <a:solidFill>
                  <a:srgbClr val="7030A0"/>
                </a:solidFill>
                <a:latin typeface="Century Gothic" pitchFamily="34" charset="0"/>
              </a:rPr>
              <a:t>Адресация в сетях </a:t>
            </a:r>
            <a:r>
              <a:rPr lang="en-US" sz="3200" dirty="0" smtClean="0">
                <a:solidFill>
                  <a:srgbClr val="7030A0"/>
                </a:solidFill>
                <a:latin typeface="Century Gothic" pitchFamily="34" charset="0"/>
              </a:rPr>
              <a:t>TCP/IP</a:t>
            </a:r>
            <a:endParaRPr lang="ru-RU" sz="3200" dirty="0" smtClean="0">
              <a:solidFill>
                <a:srgbClr val="7030A0"/>
              </a:solidFill>
              <a:latin typeface="Century Gothic" pitchFamily="34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404664"/>
            <a:ext cx="8820472" cy="6453336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400" dirty="0" smtClean="0">
                <a:solidFill>
                  <a:srgbClr val="002060"/>
                </a:solidFill>
              </a:rPr>
              <a:t>Типы адресов стека </a:t>
            </a:r>
            <a:r>
              <a:rPr lang="en-US" sz="2400" dirty="0" smtClean="0">
                <a:solidFill>
                  <a:srgbClr val="002060"/>
                </a:solidFill>
              </a:rPr>
              <a:t>TCP/IP</a:t>
            </a:r>
            <a:endParaRPr lang="ru-RU" sz="2400" dirty="0" smtClean="0">
              <a:solidFill>
                <a:srgbClr val="002060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Локальные (аппаратные) адреса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Сетевые адреса(</a:t>
            </a:r>
            <a:r>
              <a:rPr lang="en-US" sz="2400" dirty="0" smtClean="0"/>
              <a:t>IP</a:t>
            </a:r>
            <a:r>
              <a:rPr lang="ru-RU" sz="2400" dirty="0" smtClean="0"/>
              <a:t>-адреса)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Символьные (доменные) имена</a:t>
            </a:r>
          </a:p>
          <a:p>
            <a:pPr eaLnBrk="1" hangingPunct="1">
              <a:lnSpc>
                <a:spcPct val="80000"/>
              </a:lnSpc>
            </a:pPr>
            <a:r>
              <a:rPr lang="ru-RU" sz="2400" dirty="0" smtClean="0">
                <a:solidFill>
                  <a:srgbClr val="002060"/>
                </a:solidFill>
              </a:rPr>
              <a:t>Формат </a:t>
            </a:r>
            <a:r>
              <a:rPr lang="en-US" sz="2400" dirty="0" smtClean="0">
                <a:solidFill>
                  <a:srgbClr val="002060"/>
                </a:solidFill>
              </a:rPr>
              <a:t>IP</a:t>
            </a:r>
            <a:r>
              <a:rPr lang="ru-RU" sz="2400" dirty="0" smtClean="0">
                <a:solidFill>
                  <a:srgbClr val="002060"/>
                </a:solidFill>
              </a:rPr>
              <a:t> – адреса 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Номер сети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Номер узла в сети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Классы адресов </a:t>
            </a:r>
            <a:r>
              <a:rPr lang="en-US" sz="2400" dirty="0" smtClean="0"/>
              <a:t>A,B,C,D,E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Особые </a:t>
            </a:r>
            <a:r>
              <a:rPr lang="en-US" sz="2400" dirty="0" smtClean="0"/>
              <a:t>IP</a:t>
            </a:r>
            <a:r>
              <a:rPr lang="ru-RU" sz="2400" dirty="0" smtClean="0"/>
              <a:t>-адреса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Использование</a:t>
            </a:r>
            <a:r>
              <a:rPr lang="ru-RU" sz="2400" i="1" dirty="0" smtClean="0">
                <a:solidFill>
                  <a:srgbClr val="002060"/>
                </a:solidFill>
              </a:rPr>
              <a:t> масок </a:t>
            </a:r>
            <a:r>
              <a:rPr lang="ru-RU" sz="2400" dirty="0" smtClean="0"/>
              <a:t>при </a:t>
            </a:r>
            <a:r>
              <a:rPr lang="en-US" sz="2400" dirty="0" smtClean="0"/>
              <a:t>IP</a:t>
            </a:r>
            <a:r>
              <a:rPr lang="ru-RU" sz="2400" dirty="0" smtClean="0"/>
              <a:t> -адресации</a:t>
            </a:r>
          </a:p>
          <a:p>
            <a:pPr eaLnBrk="1" hangingPunct="1">
              <a:lnSpc>
                <a:spcPct val="80000"/>
              </a:lnSpc>
            </a:pPr>
            <a:r>
              <a:rPr lang="ru-RU" sz="2400" dirty="0" smtClean="0">
                <a:solidFill>
                  <a:srgbClr val="002060"/>
                </a:solidFill>
              </a:rPr>
              <a:t>Порядок назначения </a:t>
            </a:r>
            <a:r>
              <a:rPr lang="en-US" sz="2400" dirty="0" smtClean="0">
                <a:solidFill>
                  <a:srgbClr val="002060"/>
                </a:solidFill>
              </a:rPr>
              <a:t>IP</a:t>
            </a:r>
            <a:r>
              <a:rPr lang="ru-RU" sz="2400" dirty="0" smtClean="0">
                <a:solidFill>
                  <a:srgbClr val="002060"/>
                </a:solidFill>
              </a:rPr>
              <a:t> – адресов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Назначение адресов автономной сети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Централизованное распределение адресов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Технология </a:t>
            </a:r>
            <a:r>
              <a:rPr lang="en-US" sz="2400" dirty="0" smtClean="0"/>
              <a:t>CIDR</a:t>
            </a:r>
            <a:endParaRPr lang="ru-RU" sz="2400" dirty="0" smtClean="0"/>
          </a:p>
          <a:p>
            <a:pPr eaLnBrk="1" hangingPunct="1">
              <a:lnSpc>
                <a:spcPct val="80000"/>
              </a:lnSpc>
            </a:pPr>
            <a:r>
              <a:rPr lang="ru-RU" sz="2400" dirty="0" smtClean="0">
                <a:solidFill>
                  <a:srgbClr val="002060"/>
                </a:solidFill>
              </a:rPr>
              <a:t>Отображение </a:t>
            </a:r>
            <a:r>
              <a:rPr lang="en-US" sz="2400" dirty="0" smtClean="0">
                <a:solidFill>
                  <a:srgbClr val="002060"/>
                </a:solidFill>
              </a:rPr>
              <a:t>IP</a:t>
            </a:r>
            <a:r>
              <a:rPr lang="ru-RU" sz="2400" dirty="0" smtClean="0">
                <a:solidFill>
                  <a:srgbClr val="002060"/>
                </a:solidFill>
              </a:rPr>
              <a:t>-адресов на локальные адреса- протокол </a:t>
            </a:r>
            <a:r>
              <a:rPr lang="en-US" sz="2400" dirty="0" smtClean="0">
                <a:solidFill>
                  <a:srgbClr val="002060"/>
                </a:solidFill>
              </a:rPr>
              <a:t>ARP</a:t>
            </a:r>
            <a:endParaRPr lang="ru-RU" sz="2400" dirty="0" smtClean="0">
              <a:solidFill>
                <a:srgbClr val="00206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ru-RU" sz="2400" dirty="0" smtClean="0">
                <a:solidFill>
                  <a:srgbClr val="002060"/>
                </a:solidFill>
              </a:rPr>
              <a:t>Система 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DNS</a:t>
            </a:r>
            <a:r>
              <a:rPr lang="ru-RU" sz="2400" dirty="0" smtClean="0">
                <a:solidFill>
                  <a:srgbClr val="002060"/>
                </a:solidFill>
              </a:rPr>
              <a:t> (система доменных имен</a:t>
            </a:r>
            <a:r>
              <a:rPr lang="ru-RU" sz="2400" dirty="0" smtClean="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Протокол 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DHCP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(протокол динамического конфигурирования хостов) </a:t>
            </a:r>
          </a:p>
          <a:p>
            <a:pPr eaLnBrk="1" hangingPunct="1">
              <a:lnSpc>
                <a:spcPct val="80000"/>
              </a:lnSpc>
            </a:pP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76672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Типы адресов TCP/IP(1)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6" name="Содержимое 5"/>
          <p:cNvSpPr>
            <a:spLocks noGrp="1"/>
          </p:cNvSpPr>
          <p:nvPr>
            <p:ph sz="quarter" idx="1"/>
          </p:nvPr>
        </p:nvSpPr>
        <p:spPr>
          <a:xfrm>
            <a:off x="0" y="548680"/>
            <a:ext cx="9144000" cy="6552728"/>
          </a:xfrm>
        </p:spPr>
        <p:txBody>
          <a:bodyPr>
            <a:normAutofit fontScale="25000" lnSpcReduction="20000"/>
          </a:bodyPr>
          <a:lstStyle/>
          <a:p>
            <a:pPr algn="just">
              <a:buNone/>
            </a:pPr>
            <a:r>
              <a:rPr lang="ru-RU" sz="7400" dirty="0" smtClean="0">
                <a:solidFill>
                  <a:srgbClr val="002060"/>
                </a:solidFill>
              </a:rPr>
              <a:t>   </a:t>
            </a:r>
            <a:r>
              <a:rPr lang="ru-RU" sz="9600" dirty="0" smtClean="0">
                <a:solidFill>
                  <a:srgbClr val="002060"/>
                </a:solidFill>
              </a:rPr>
              <a:t>В стеке </a:t>
            </a:r>
            <a:r>
              <a:rPr lang="en-US" sz="9600" dirty="0" smtClean="0">
                <a:solidFill>
                  <a:srgbClr val="002060"/>
                </a:solidFill>
              </a:rPr>
              <a:t>TCP/IP </a:t>
            </a:r>
            <a:r>
              <a:rPr lang="ru-RU" sz="9600" dirty="0" smtClean="0">
                <a:solidFill>
                  <a:srgbClr val="002060"/>
                </a:solidFill>
              </a:rPr>
              <a:t>используются 3 типа адресов:</a:t>
            </a:r>
          </a:p>
          <a:p>
            <a:pPr algn="just">
              <a:buNone/>
            </a:pPr>
            <a:r>
              <a:rPr lang="ru-RU" sz="9600" dirty="0" smtClean="0">
                <a:solidFill>
                  <a:srgbClr val="002060"/>
                </a:solidFill>
              </a:rPr>
              <a:t>                 - Локальные или аппаратные адреса.</a:t>
            </a:r>
          </a:p>
          <a:p>
            <a:pPr algn="just">
              <a:buNone/>
            </a:pPr>
            <a:r>
              <a:rPr lang="ru-RU" sz="9600" dirty="0" smtClean="0">
                <a:solidFill>
                  <a:srgbClr val="002060"/>
                </a:solidFill>
              </a:rPr>
              <a:t>                 - Сетевые или </a:t>
            </a:r>
            <a:r>
              <a:rPr lang="en-US" sz="9600" dirty="0" smtClean="0">
                <a:solidFill>
                  <a:srgbClr val="002060"/>
                </a:solidFill>
              </a:rPr>
              <a:t>IP </a:t>
            </a:r>
            <a:r>
              <a:rPr lang="ru-RU" sz="9600" dirty="0" smtClean="0">
                <a:solidFill>
                  <a:srgbClr val="002060"/>
                </a:solidFill>
              </a:rPr>
              <a:t>адреса.</a:t>
            </a:r>
          </a:p>
          <a:p>
            <a:pPr algn="just">
              <a:buNone/>
            </a:pPr>
            <a:r>
              <a:rPr lang="ru-RU" sz="9600" dirty="0" smtClean="0">
                <a:solidFill>
                  <a:srgbClr val="002060"/>
                </a:solidFill>
              </a:rPr>
              <a:t>                 - Доменные имена.</a:t>
            </a:r>
          </a:p>
          <a:p>
            <a:r>
              <a:rPr lang="ru-RU" sz="9600" i="1" u="sng" dirty="0" smtClean="0">
                <a:solidFill>
                  <a:srgbClr val="002060"/>
                </a:solidFill>
              </a:rPr>
              <a:t>Локальные адреса </a:t>
            </a:r>
            <a:r>
              <a:rPr lang="ru-RU" sz="9600" u="sng" dirty="0" smtClean="0">
                <a:solidFill>
                  <a:srgbClr val="002060"/>
                </a:solidFill>
              </a:rPr>
              <a:t>- </a:t>
            </a:r>
            <a:r>
              <a:rPr lang="ru-RU" sz="9600" dirty="0" smtClean="0"/>
              <a:t> адреса, который используются для адресации узлов в пределах подсети. </a:t>
            </a:r>
          </a:p>
          <a:p>
            <a:pPr marL="363538" lvl="1" indent="12700">
              <a:buNone/>
            </a:pPr>
            <a:r>
              <a:rPr lang="ru-RU" sz="9600" dirty="0" smtClean="0"/>
              <a:t>Если подсетью  составной сети является локальная сеть, то локальный адрес – это МАС-адрес, который назначается сетевым адаптерам и интерфейсам маршрутизаторов.</a:t>
            </a:r>
          </a:p>
          <a:p>
            <a:pPr marL="363538" lvl="1" indent="12700">
              <a:buNone/>
            </a:pPr>
            <a:r>
              <a:rPr lang="ru-RU" sz="9600" dirty="0" smtClean="0"/>
              <a:t> МАС-адреса назначаются производителями оборудования и являются уникальными, так как управляются централизованно.</a:t>
            </a:r>
          </a:p>
          <a:p>
            <a:r>
              <a:rPr lang="ru-RU" sz="9600" u="sng" dirty="0" smtClean="0">
                <a:solidFill>
                  <a:srgbClr val="002060"/>
                </a:solidFill>
              </a:rPr>
              <a:t> </a:t>
            </a:r>
            <a:r>
              <a:rPr lang="ru-RU" sz="9600" i="1" u="sng" dirty="0" smtClean="0">
                <a:solidFill>
                  <a:srgbClr val="002060"/>
                </a:solidFill>
              </a:rPr>
              <a:t>Сетевые адреса или IP-адреса </a:t>
            </a:r>
            <a:r>
              <a:rPr lang="ru-RU" sz="9600" dirty="0" smtClean="0"/>
              <a:t>- используется для адресации узлов в пределах  всей составной сети. </a:t>
            </a:r>
          </a:p>
          <a:p>
            <a:pPr>
              <a:buNone/>
            </a:pPr>
            <a:r>
              <a:rPr lang="ru-RU" sz="9600" dirty="0" smtClean="0"/>
              <a:t>     Это основной тип адресов, на основании которых сетевой уровень передает пакеты между сетями. </a:t>
            </a:r>
          </a:p>
          <a:p>
            <a:pPr lvl="1"/>
            <a:r>
              <a:rPr lang="ru-RU" sz="9600" dirty="0" smtClean="0">
                <a:solidFill>
                  <a:srgbClr val="002060"/>
                </a:solidFill>
              </a:rPr>
              <a:t>IP-адреса назначаются администратором </a:t>
            </a:r>
            <a:r>
              <a:rPr lang="ru-RU" sz="9600" dirty="0" smtClean="0"/>
              <a:t>во время конфигурирования компьютеров и маршрутизаторов. </a:t>
            </a:r>
          </a:p>
          <a:p>
            <a:pPr lvl="1"/>
            <a:r>
              <a:rPr lang="en-US" sz="9600" dirty="0" smtClean="0">
                <a:solidFill>
                  <a:srgbClr val="002060"/>
                </a:solidFill>
              </a:rPr>
              <a:t>IP </a:t>
            </a:r>
            <a:r>
              <a:rPr lang="ru-RU" sz="9600" dirty="0" smtClean="0">
                <a:solidFill>
                  <a:srgbClr val="002060"/>
                </a:solidFill>
              </a:rPr>
              <a:t> адрес - это совокупность номера сети и номера узла 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Типы адресов TCP/IP (2)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052736"/>
            <a:ext cx="8892480" cy="5472608"/>
          </a:xfrm>
        </p:spPr>
        <p:txBody>
          <a:bodyPr>
            <a:normAutofit fontScale="85000" lnSpcReduction="10000"/>
          </a:bodyPr>
          <a:lstStyle/>
          <a:p>
            <a:r>
              <a:rPr lang="ru-RU" u="sng" dirty="0" smtClean="0">
                <a:solidFill>
                  <a:srgbClr val="002060"/>
                </a:solidFill>
              </a:rPr>
              <a:t>Например</a:t>
            </a: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ru-RU" dirty="0" smtClean="0"/>
              <a:t>, пакет направляется адресату через составную сеть и в его заголовке </a:t>
            </a:r>
            <a:r>
              <a:rPr lang="en-US" dirty="0" smtClean="0"/>
              <a:t>IP</a:t>
            </a:r>
            <a:r>
              <a:rPr lang="ru-RU" dirty="0" smtClean="0"/>
              <a:t>-</a:t>
            </a:r>
            <a:r>
              <a:rPr lang="en-US" dirty="0" smtClean="0"/>
              <a:t> </a:t>
            </a:r>
            <a:r>
              <a:rPr lang="ru-RU" dirty="0" smtClean="0"/>
              <a:t>адрес узла назначения:</a:t>
            </a:r>
          </a:p>
          <a:p>
            <a:pPr>
              <a:buNone/>
            </a:pPr>
            <a:r>
              <a:rPr lang="ru-RU" dirty="0" smtClean="0"/>
              <a:t>             - по номеру узла назначения каждый очередной </a:t>
            </a:r>
            <a:r>
              <a:rPr lang="ru-RU" dirty="0" err="1" smtClean="0"/>
              <a:t>маршрутизатор</a:t>
            </a:r>
            <a:r>
              <a:rPr lang="ru-RU" dirty="0" smtClean="0"/>
              <a:t> находит </a:t>
            </a:r>
            <a:r>
              <a:rPr lang="en-US" dirty="0" smtClean="0"/>
              <a:t>IP</a:t>
            </a:r>
            <a:r>
              <a:rPr lang="ru-RU" dirty="0" smtClean="0"/>
              <a:t>-адрес следующего и должен найти </a:t>
            </a:r>
            <a:r>
              <a:rPr lang="ru-RU" dirty="0" err="1" smtClean="0"/>
              <a:t>маршрутизатор</a:t>
            </a:r>
            <a:r>
              <a:rPr lang="ru-RU" dirty="0" smtClean="0"/>
              <a:t> с данным </a:t>
            </a:r>
            <a:r>
              <a:rPr lang="en-US" dirty="0" smtClean="0"/>
              <a:t>IP</a:t>
            </a:r>
            <a:r>
              <a:rPr lang="ru-RU" dirty="0" smtClean="0"/>
              <a:t>-</a:t>
            </a:r>
            <a:r>
              <a:rPr lang="en-US" dirty="0" smtClean="0"/>
              <a:t> </a:t>
            </a:r>
            <a:r>
              <a:rPr lang="ru-RU" dirty="0" smtClean="0"/>
              <a:t>адресом, но надо найти и  локальный адрес ( аппаратный);</a:t>
            </a:r>
          </a:p>
          <a:p>
            <a:pPr>
              <a:buNone/>
            </a:pPr>
            <a:r>
              <a:rPr lang="ru-RU" dirty="0" smtClean="0"/>
              <a:t>           </a:t>
            </a:r>
            <a:r>
              <a:rPr lang="ru-RU" dirty="0" smtClean="0">
                <a:solidFill>
                  <a:srgbClr val="002060"/>
                </a:solidFill>
              </a:rPr>
              <a:t>- между </a:t>
            </a:r>
            <a:r>
              <a:rPr lang="en-US" dirty="0" smtClean="0">
                <a:solidFill>
                  <a:srgbClr val="002060"/>
                </a:solidFill>
              </a:rPr>
              <a:t>IP </a:t>
            </a:r>
            <a:r>
              <a:rPr lang="ru-RU" dirty="0" smtClean="0">
                <a:solidFill>
                  <a:srgbClr val="002060"/>
                </a:solidFill>
              </a:rPr>
              <a:t>адресом и локальным нет зависимости </a:t>
            </a:r>
          </a:p>
          <a:p>
            <a:pPr>
              <a:buNone/>
            </a:pPr>
            <a:r>
              <a:rPr lang="ru-RU" dirty="0" smtClean="0"/>
              <a:t>           - чтобы установить соединение – необходимо преобразовать  </a:t>
            </a:r>
            <a:r>
              <a:rPr lang="en-US" dirty="0" smtClean="0"/>
              <a:t>IP- </a:t>
            </a:r>
            <a:r>
              <a:rPr lang="ru-RU" dirty="0" smtClean="0"/>
              <a:t>адреса в локальные  адреса     канального уровня - эту задачу решает  </a:t>
            </a:r>
            <a:r>
              <a:rPr lang="ru-RU" u="sng" dirty="0" smtClean="0">
                <a:solidFill>
                  <a:srgbClr val="002060"/>
                </a:solidFill>
              </a:rPr>
              <a:t>протокол </a:t>
            </a:r>
            <a:r>
              <a:rPr lang="en-US" u="sng" dirty="0" smtClean="0">
                <a:solidFill>
                  <a:srgbClr val="002060"/>
                </a:solidFill>
              </a:rPr>
              <a:t>ARP</a:t>
            </a:r>
            <a:r>
              <a:rPr lang="ru-RU" u="sng" dirty="0" smtClean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ru-RU" dirty="0" smtClean="0"/>
              <a:t> </a:t>
            </a:r>
            <a:endParaRPr lang="en-US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Типы адресов </a:t>
            </a:r>
            <a:r>
              <a:rPr lang="en-US" dirty="0" smtClean="0">
                <a:solidFill>
                  <a:srgbClr val="7030A0"/>
                </a:solidFill>
              </a:rPr>
              <a:t>TCP/IP ( </a:t>
            </a:r>
            <a:r>
              <a:rPr lang="ru-RU" dirty="0" smtClean="0">
                <a:solidFill>
                  <a:srgbClr val="7030A0"/>
                </a:solidFill>
              </a:rPr>
              <a:t>4)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rmAutofit fontScale="77500" lnSpcReduction="20000"/>
          </a:bodyPr>
          <a:lstStyle/>
          <a:p>
            <a:pPr marL="190500" lvl="1" indent="190500">
              <a:buClr>
                <a:srgbClr val="99CCFF"/>
              </a:buClr>
              <a:buNone/>
            </a:pPr>
            <a:r>
              <a:rPr lang="ru-RU" sz="4000" i="1" dirty="0" smtClean="0">
                <a:solidFill>
                  <a:srgbClr val="002060"/>
                </a:solidFill>
              </a:rPr>
              <a:t>3</a:t>
            </a:r>
            <a:r>
              <a:rPr lang="ru-RU" sz="4000" i="1" u="sng" dirty="0" smtClean="0">
                <a:solidFill>
                  <a:srgbClr val="002060"/>
                </a:solidFill>
              </a:rPr>
              <a:t>. Логический символьный</a:t>
            </a:r>
            <a:r>
              <a:rPr lang="ru-RU" sz="4000" i="1" dirty="0" smtClean="0">
                <a:solidFill>
                  <a:srgbClr val="002060"/>
                </a:solidFill>
              </a:rPr>
              <a:t> (например, DNS-имя).</a:t>
            </a:r>
          </a:p>
          <a:p>
            <a:pPr marL="190500" lvl="1" indent="190500">
              <a:buClr>
                <a:srgbClr val="99CCFF"/>
              </a:buClr>
              <a:buNone/>
            </a:pPr>
            <a:r>
              <a:rPr lang="ru-RU" sz="4000" i="1" dirty="0" smtClean="0">
                <a:solidFill>
                  <a:srgbClr val="002060"/>
                </a:solidFill>
              </a:rPr>
              <a:t>      </a:t>
            </a:r>
            <a:r>
              <a:rPr lang="ru-RU" sz="4000" dirty="0" smtClean="0"/>
              <a:t>Данная адресация соответствует прикладному уровню модели </a:t>
            </a:r>
            <a:r>
              <a:rPr lang="en-US" sz="4000" dirty="0" smtClean="0"/>
              <a:t>OSI</a:t>
            </a:r>
            <a:r>
              <a:rPr lang="ru-RU" sz="4000" dirty="0" smtClean="0"/>
              <a:t>.</a:t>
            </a:r>
          </a:p>
          <a:p>
            <a:pPr marL="190500" lvl="1" indent="190500">
              <a:buClr>
                <a:srgbClr val="99CCFF"/>
              </a:buClr>
              <a:buNone/>
            </a:pPr>
            <a:r>
              <a:rPr lang="ru-RU" sz="4000" dirty="0" smtClean="0"/>
              <a:t> </a:t>
            </a:r>
            <a:r>
              <a:rPr lang="ru-RU" sz="4000" dirty="0" smtClean="0">
                <a:solidFill>
                  <a:srgbClr val="002060"/>
                </a:solidFill>
              </a:rPr>
              <a:t>Символьные логические адреса введены для удобства пользования глобальными адресами. </a:t>
            </a:r>
          </a:p>
          <a:p>
            <a:pPr marL="190500" lvl="1" indent="190500">
              <a:buClr>
                <a:srgbClr val="99CCFF"/>
              </a:buClr>
              <a:buNone/>
            </a:pPr>
            <a:r>
              <a:rPr lang="ru-RU" sz="4000" dirty="0" smtClean="0"/>
              <a:t>    -  Одному символьному имени может соответствовать несколько </a:t>
            </a:r>
            <a:r>
              <a:rPr lang="en-US" sz="4000" dirty="0" smtClean="0"/>
              <a:t> IP - </a:t>
            </a:r>
            <a:r>
              <a:rPr lang="ru-RU" sz="4000" dirty="0" smtClean="0"/>
              <a:t>адресов сетевого уровня (например, распределенная структура серверов </a:t>
            </a:r>
            <a:r>
              <a:rPr lang="en-US" sz="4000" dirty="0" smtClean="0"/>
              <a:t>altavista.com</a:t>
            </a:r>
            <a:r>
              <a:rPr lang="ru-RU" sz="4000" dirty="0" smtClean="0"/>
              <a:t>)</a:t>
            </a:r>
            <a:r>
              <a:rPr lang="en-US" sz="4000" dirty="0" smtClean="0"/>
              <a:t> </a:t>
            </a:r>
            <a:r>
              <a:rPr lang="ru-RU" sz="4000" dirty="0" smtClean="0"/>
              <a:t>или 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ru-RU" sz="4000" dirty="0" smtClean="0"/>
              <a:t>      -   Одному </a:t>
            </a:r>
            <a:r>
              <a:rPr lang="en-US" sz="4000" dirty="0" smtClean="0"/>
              <a:t>IP </a:t>
            </a:r>
            <a:r>
              <a:rPr lang="ru-RU" sz="4000" dirty="0" smtClean="0"/>
              <a:t>адресу может соответствовать несколько символьных </a:t>
            </a:r>
            <a:r>
              <a:rPr lang="en-US" sz="4000" dirty="0" smtClean="0"/>
              <a:t> </a:t>
            </a:r>
            <a:r>
              <a:rPr lang="ru-RU" sz="4000" dirty="0" smtClean="0"/>
              <a:t>имен   (для создания виртуальных серверов, названий </a:t>
            </a:r>
            <a:r>
              <a:rPr lang="ru-RU" sz="4000" dirty="0" err="1" smtClean="0"/>
              <a:t>веб-сайтов</a:t>
            </a:r>
            <a:r>
              <a:rPr lang="ru-RU" sz="4000" dirty="0" smtClean="0"/>
              <a:t>).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ru-RU" sz="4000" i="1" u="sng" dirty="0" smtClean="0">
                <a:solidFill>
                  <a:srgbClr val="002060"/>
                </a:solidFill>
              </a:rPr>
              <a:t> Доменные имен</a:t>
            </a:r>
            <a:r>
              <a:rPr lang="ru-RU" sz="4000" u="sng" dirty="0" smtClean="0">
                <a:solidFill>
                  <a:srgbClr val="002060"/>
                </a:solidFill>
              </a:rPr>
              <a:t>а </a:t>
            </a:r>
            <a:r>
              <a:rPr lang="ru-RU" sz="4000" dirty="0" smtClean="0"/>
              <a:t> используются для  преобразования числового IP-адреса в простое и легко запоминаемое имя.</a:t>
            </a:r>
            <a:endParaRPr lang="en-US" sz="4000" dirty="0" smtClean="0"/>
          </a:p>
          <a:p>
            <a:pPr marL="190500" lvl="1" indent="190500">
              <a:buClr>
                <a:srgbClr val="99CCFF"/>
              </a:buClr>
              <a:buNone/>
            </a:pPr>
            <a:endParaRPr lang="ru-RU" sz="3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Типы адресов </a:t>
            </a:r>
            <a:r>
              <a:rPr lang="en-US" sz="3600" dirty="0" smtClean="0">
                <a:solidFill>
                  <a:srgbClr val="7030A0"/>
                </a:solidFill>
              </a:rPr>
              <a:t>TCP/IP ( </a:t>
            </a:r>
            <a:r>
              <a:rPr lang="ru-RU" sz="3600" dirty="0" smtClean="0">
                <a:solidFill>
                  <a:srgbClr val="7030A0"/>
                </a:solidFill>
              </a:rPr>
              <a:t>3)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Autofit/>
          </a:bodyPr>
          <a:lstStyle/>
          <a:p>
            <a:pPr>
              <a:lnSpc>
                <a:spcPct val="85000"/>
              </a:lnSpc>
              <a:spcBef>
                <a:spcPct val="30000"/>
              </a:spcBef>
              <a:buNone/>
            </a:pPr>
            <a:r>
              <a:rPr lang="ru-RU" sz="2400" dirty="0" smtClean="0"/>
              <a:t>    Полные доменные имена (FQDN), такие как http://www.cisco.com, человеку гораздо проще запомнить, чем 198.133.219.25</a:t>
            </a:r>
            <a:r>
              <a:rPr lang="en-US" sz="2400" dirty="0" smtClean="0"/>
              <a:t>.</a:t>
            </a:r>
            <a:endParaRPr lang="ru-RU" sz="2400" dirty="0" smtClean="0"/>
          </a:p>
          <a:p>
            <a:pPr>
              <a:buNone/>
            </a:pPr>
            <a:r>
              <a:rPr lang="ru-RU" sz="2400" dirty="0" smtClean="0"/>
              <a:t>          </a:t>
            </a:r>
            <a:r>
              <a:rPr lang="ru-RU" sz="2400" dirty="0" smtClean="0">
                <a:solidFill>
                  <a:srgbClr val="002060"/>
                </a:solidFill>
              </a:rPr>
              <a:t>Доменные имена строятся по иерархическому признаку.</a:t>
            </a:r>
            <a:r>
              <a:rPr lang="ru-RU" sz="2400" dirty="0" smtClean="0"/>
              <a:t>        Составляющие полного доменного имени в IP-сетях разделяются точкой и перечисляются в следующем порядке: </a:t>
            </a:r>
          </a:p>
          <a:p>
            <a:pPr lvl="1">
              <a:buFont typeface="Arial" pitchFamily="34" charset="0"/>
              <a:buChar char="•"/>
            </a:pPr>
            <a:r>
              <a:rPr lang="ru-RU" sz="2400" dirty="0" smtClean="0">
                <a:solidFill>
                  <a:srgbClr val="002060"/>
                </a:solidFill>
              </a:rPr>
              <a:t>сначала простое имя конечного узла (компьютера)</a:t>
            </a:r>
          </a:p>
          <a:p>
            <a:pPr lvl="1">
              <a:buFont typeface="Arial" pitchFamily="34" charset="0"/>
              <a:buChar char="•"/>
            </a:pPr>
            <a:r>
              <a:rPr lang="ru-RU" sz="2400" dirty="0" smtClean="0">
                <a:solidFill>
                  <a:srgbClr val="002060"/>
                </a:solidFill>
              </a:rPr>
              <a:t> затем имя группы узлов (например, имя организации),</a:t>
            </a:r>
          </a:p>
          <a:p>
            <a:pPr lvl="1">
              <a:buFont typeface="Arial" pitchFamily="34" charset="0"/>
              <a:buChar char="•"/>
            </a:pPr>
            <a:r>
              <a:rPr lang="ru-RU" sz="2400" dirty="0" smtClean="0">
                <a:solidFill>
                  <a:srgbClr val="002060"/>
                </a:solidFill>
              </a:rPr>
              <a:t> затем имя более крупной группы (</a:t>
            </a:r>
            <a:r>
              <a:rPr lang="ru-RU" sz="2400" dirty="0" err="1" smtClean="0">
                <a:solidFill>
                  <a:srgbClr val="002060"/>
                </a:solidFill>
              </a:rPr>
              <a:t>поддомена</a:t>
            </a:r>
            <a:r>
              <a:rPr lang="ru-RU" sz="2400" dirty="0" smtClean="0">
                <a:solidFill>
                  <a:srgbClr val="002060"/>
                </a:solidFill>
              </a:rPr>
              <a:t>)</a:t>
            </a:r>
          </a:p>
          <a:p>
            <a:pPr marL="366713" lvl="1"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и так до имени домена самого высокого уровня</a:t>
            </a:r>
          </a:p>
          <a:p>
            <a:pPr marL="366713" lvl="1"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</a:t>
            </a:r>
            <a:r>
              <a:rPr lang="ru-RU" sz="2400" dirty="0" smtClean="0"/>
              <a:t>(например, домена  по географическому принципу: RU – Россия, UK – Великобритания, SU – США). </a:t>
            </a:r>
          </a:p>
          <a:p>
            <a:pPr marL="366713" lvl="1">
              <a:buNone/>
            </a:pPr>
            <a:r>
              <a:rPr lang="ru-RU" sz="2400" u="sng" dirty="0" smtClean="0">
                <a:solidFill>
                  <a:srgbClr val="002060"/>
                </a:solidFill>
              </a:rPr>
              <a:t>Межд</a:t>
            </a:r>
            <a:r>
              <a:rPr lang="ru-RU" sz="2400" i="1" u="sng" dirty="0" smtClean="0">
                <a:solidFill>
                  <a:srgbClr val="002060"/>
                </a:solidFill>
              </a:rPr>
              <a:t>у доменным именем и </a:t>
            </a:r>
            <a:r>
              <a:rPr lang="en-US" sz="2400" i="1" u="sng" dirty="0" smtClean="0">
                <a:solidFill>
                  <a:srgbClr val="002060"/>
                </a:solidFill>
              </a:rPr>
              <a:t>IP</a:t>
            </a:r>
            <a:r>
              <a:rPr lang="ru-RU" sz="2400" i="1" u="sng" dirty="0" smtClean="0">
                <a:solidFill>
                  <a:srgbClr val="002060"/>
                </a:solidFill>
              </a:rPr>
              <a:t>- адресом узла нет никакой зависимости </a:t>
            </a:r>
            <a:r>
              <a:rPr lang="ru-RU" sz="2400" u="sng" dirty="0" smtClean="0"/>
              <a:t>, </a:t>
            </a:r>
            <a:r>
              <a:rPr lang="ru-RU" sz="2400" dirty="0" smtClean="0"/>
              <a:t>поэтому единственный способ установления соответствия –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это таблицы службы доменных имен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DNS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  <a:p>
            <a:pPr algn="just"/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340768"/>
            <a:ext cx="8712968" cy="4104456"/>
          </a:xfrm>
        </p:spPr>
        <p:txBody>
          <a:bodyPr>
            <a:norm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5.3. Организация доменных имен и доменов.</a:t>
            </a:r>
            <a:br>
              <a:rPr lang="ru-RU" sz="3200" dirty="0" smtClean="0">
                <a:solidFill>
                  <a:srgbClr val="7030A0"/>
                </a:solidFill>
              </a:rPr>
            </a:br>
            <a:r>
              <a:rPr lang="ru-RU" sz="3200" dirty="0" smtClean="0">
                <a:solidFill>
                  <a:srgbClr val="7030A0"/>
                </a:solidFill>
              </a:rPr>
              <a:t/>
            </a:r>
            <a:br>
              <a:rPr lang="ru-RU" sz="3200" dirty="0" smtClean="0">
                <a:solidFill>
                  <a:srgbClr val="7030A0"/>
                </a:solidFill>
              </a:rPr>
            </a:br>
            <a:r>
              <a:rPr lang="ru-RU" sz="3200" dirty="0" smtClean="0">
                <a:solidFill>
                  <a:srgbClr val="7030A0"/>
                </a:solidFill>
              </a:rPr>
              <a:t/>
            </a:r>
            <a:br>
              <a:rPr lang="ru-RU" sz="3200" dirty="0" smtClean="0">
                <a:solidFill>
                  <a:srgbClr val="7030A0"/>
                </a:solidFill>
              </a:rPr>
            </a:b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04056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Организация доменов и доменных имен (1)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92696"/>
            <a:ext cx="8784976" cy="5976664"/>
          </a:xfrm>
        </p:spPr>
        <p:txBody>
          <a:bodyPr>
            <a:noAutofit/>
          </a:bodyPr>
          <a:lstStyle/>
          <a:p>
            <a:r>
              <a:rPr lang="ru-RU" sz="2000" dirty="0" smtClean="0"/>
              <a:t>Для идентификации компьютеров в сетях </a:t>
            </a:r>
            <a:r>
              <a:rPr lang="en-US" sz="2000" dirty="0" smtClean="0"/>
              <a:t>TCP/IP </a:t>
            </a:r>
            <a:r>
              <a:rPr lang="ru-RU" sz="2000" dirty="0" smtClean="0"/>
              <a:t>используются  </a:t>
            </a:r>
            <a:r>
              <a:rPr lang="en-US" sz="2000" dirty="0" smtClean="0"/>
              <a:t>IP </a:t>
            </a:r>
            <a:r>
              <a:rPr lang="ru-RU" sz="2000" dirty="0" smtClean="0"/>
              <a:t>адреса, однако пользователи предпочитают работать с символьными именами.</a:t>
            </a:r>
          </a:p>
          <a:p>
            <a:r>
              <a:rPr lang="ru-RU" sz="2000" dirty="0" smtClean="0">
                <a:solidFill>
                  <a:srgbClr val="002060"/>
                </a:solidFill>
              </a:rPr>
              <a:t>В стеке </a:t>
            </a:r>
            <a:r>
              <a:rPr lang="en-US" sz="2000" dirty="0" smtClean="0">
                <a:solidFill>
                  <a:srgbClr val="002060"/>
                </a:solidFill>
              </a:rPr>
              <a:t>TCP/IP </a:t>
            </a:r>
            <a:r>
              <a:rPr lang="ru-RU" sz="2000" dirty="0" smtClean="0">
                <a:solidFill>
                  <a:srgbClr val="002060"/>
                </a:solidFill>
              </a:rPr>
              <a:t> применяется доменная система имен, имеющая иерархическую древовидную структуру</a:t>
            </a:r>
            <a:r>
              <a:rPr lang="ru-RU" sz="2000" dirty="0" smtClean="0"/>
              <a:t>, где возможно произвольное количество частей.</a:t>
            </a:r>
          </a:p>
          <a:p>
            <a:r>
              <a:rPr lang="ru-RU" sz="2000" dirty="0" smtClean="0">
                <a:solidFill>
                  <a:srgbClr val="002060"/>
                </a:solidFill>
              </a:rPr>
              <a:t>Дерево имен состоит из частей:</a:t>
            </a:r>
          </a:p>
          <a:p>
            <a:pPr>
              <a:buNone/>
            </a:pPr>
            <a:r>
              <a:rPr lang="ru-RU" sz="2000" dirty="0" smtClean="0"/>
              <a:t>     - начинается </a:t>
            </a:r>
            <a:r>
              <a:rPr lang="ru-RU" sz="2000" dirty="0" smtClean="0">
                <a:solidFill>
                  <a:srgbClr val="002060"/>
                </a:solidFill>
              </a:rPr>
              <a:t>с корня «.»</a:t>
            </a:r>
            <a:r>
              <a:rPr lang="ru-RU" sz="2000" dirty="0" smtClean="0"/>
              <a:t>, далее следует </a:t>
            </a:r>
          </a:p>
          <a:p>
            <a:pPr>
              <a:buNone/>
            </a:pPr>
            <a:r>
              <a:rPr lang="ru-RU" sz="2000" dirty="0" smtClean="0"/>
              <a:t>     - старшая символьная часть имени – </a:t>
            </a:r>
            <a:r>
              <a:rPr lang="ru-RU" sz="2000" dirty="0" smtClean="0">
                <a:solidFill>
                  <a:srgbClr val="002060"/>
                </a:solidFill>
              </a:rPr>
              <a:t>домен первого уровня</a:t>
            </a:r>
            <a:r>
              <a:rPr lang="ru-RU" sz="2000" dirty="0" smtClean="0"/>
              <a:t>, затем</a:t>
            </a:r>
          </a:p>
          <a:p>
            <a:pPr>
              <a:buNone/>
            </a:pPr>
            <a:r>
              <a:rPr lang="ru-RU" sz="2000" dirty="0" smtClean="0"/>
              <a:t>     -  вторая по старшинству </a:t>
            </a:r>
            <a:r>
              <a:rPr lang="ru-RU" sz="2000" dirty="0" smtClean="0">
                <a:solidFill>
                  <a:srgbClr val="002060"/>
                </a:solidFill>
              </a:rPr>
              <a:t>- домен второго уровня </a:t>
            </a:r>
            <a:r>
              <a:rPr lang="ru-RU" sz="2000" dirty="0" smtClean="0"/>
              <a:t>и т.д.</a:t>
            </a:r>
          </a:p>
          <a:p>
            <a:pPr>
              <a:buNone/>
            </a:pPr>
            <a:r>
              <a:rPr lang="ru-RU" sz="2000" dirty="0" smtClean="0"/>
              <a:t>      </a:t>
            </a:r>
            <a:r>
              <a:rPr lang="ru-RU" sz="2000" dirty="0" smtClean="0">
                <a:solidFill>
                  <a:srgbClr val="002060"/>
                </a:solidFill>
              </a:rPr>
              <a:t>- </a:t>
            </a:r>
            <a:r>
              <a:rPr lang="ru-RU" sz="2000" dirty="0" smtClean="0"/>
              <a:t>младшая часть имени </a:t>
            </a:r>
            <a:r>
              <a:rPr lang="ru-RU" sz="2000" dirty="0" smtClean="0">
                <a:solidFill>
                  <a:srgbClr val="002060"/>
                </a:solidFill>
              </a:rPr>
              <a:t>соответствует конечному узлу связи</a:t>
            </a:r>
            <a:r>
              <a:rPr lang="ru-RU" sz="2000" dirty="0" smtClean="0"/>
              <a:t>.</a:t>
            </a:r>
          </a:p>
          <a:p>
            <a:r>
              <a:rPr lang="ru-RU" sz="2000" u="sng" dirty="0" smtClean="0">
                <a:solidFill>
                  <a:srgbClr val="002060"/>
                </a:solidFill>
              </a:rPr>
              <a:t>Совокупность имен , </a:t>
            </a:r>
            <a:r>
              <a:rPr lang="ru-RU" sz="2000" dirty="0" smtClean="0">
                <a:solidFill>
                  <a:srgbClr val="002060"/>
                </a:solidFill>
              </a:rPr>
              <a:t>у которых несколько старших составных частей совпадают, </a:t>
            </a:r>
            <a:r>
              <a:rPr lang="ru-RU" sz="2000" u="sng" dirty="0" smtClean="0">
                <a:solidFill>
                  <a:srgbClr val="002060"/>
                </a:solidFill>
              </a:rPr>
              <a:t>образуют домен имен</a:t>
            </a:r>
            <a:r>
              <a:rPr lang="ru-RU" sz="2000" dirty="0" smtClean="0"/>
              <a:t>.</a:t>
            </a:r>
          </a:p>
          <a:p>
            <a:r>
              <a:rPr lang="ru-RU" sz="2000" dirty="0" smtClean="0">
                <a:solidFill>
                  <a:srgbClr val="002060"/>
                </a:solidFill>
              </a:rPr>
              <a:t>Если один домен входит в другой домен </a:t>
            </a:r>
            <a:r>
              <a:rPr lang="ru-RU" sz="2000" dirty="0" smtClean="0"/>
              <a:t>как его составная часть, то такой домен </a:t>
            </a:r>
            <a:r>
              <a:rPr lang="ru-RU" sz="2000" dirty="0" smtClean="0">
                <a:solidFill>
                  <a:srgbClr val="002060"/>
                </a:solidFill>
              </a:rPr>
              <a:t>называется </a:t>
            </a:r>
            <a:r>
              <a:rPr lang="ru-RU" sz="2000" dirty="0" err="1" smtClean="0">
                <a:solidFill>
                  <a:srgbClr val="002060"/>
                </a:solidFill>
              </a:rPr>
              <a:t>поддоменом</a:t>
            </a:r>
            <a:r>
              <a:rPr lang="ru-RU" sz="2000" dirty="0" smtClean="0">
                <a:solidFill>
                  <a:srgbClr val="002060"/>
                </a:solidFill>
              </a:rPr>
              <a:t> </a:t>
            </a:r>
            <a:r>
              <a:rPr lang="ru-RU" sz="2000" dirty="0" smtClean="0"/>
              <a:t>(дочерний домен).</a:t>
            </a:r>
          </a:p>
          <a:p>
            <a:r>
              <a:rPr lang="ru-RU" sz="2000" dirty="0" smtClean="0"/>
              <a:t>Коренной домен управляется центральными</a:t>
            </a:r>
            <a:r>
              <a:rPr lang="en-US" sz="2000" dirty="0" smtClean="0"/>
              <a:t> </a:t>
            </a:r>
            <a:r>
              <a:rPr lang="ru-RU" sz="2000" dirty="0" smtClean="0"/>
              <a:t>органами </a:t>
            </a:r>
            <a:r>
              <a:rPr lang="en-US" sz="2000" dirty="0" smtClean="0"/>
              <a:t>Internet</a:t>
            </a:r>
            <a:r>
              <a:rPr lang="ru-RU" sz="2000" dirty="0" smtClean="0"/>
              <a:t> </a:t>
            </a:r>
            <a:r>
              <a:rPr lang="en-US" sz="2000" dirty="0" smtClean="0"/>
              <a:t> (IANA,</a:t>
            </a:r>
            <a:r>
              <a:rPr lang="ru-RU" sz="2000" dirty="0" smtClean="0"/>
              <a:t> </a:t>
            </a:r>
            <a:r>
              <a:rPr lang="en-US" sz="2000" dirty="0" err="1" smtClean="0"/>
              <a:t>InterNIC</a:t>
            </a:r>
            <a:r>
              <a:rPr lang="en-US" sz="2000" dirty="0" smtClean="0"/>
              <a:t>).</a:t>
            </a:r>
            <a:endParaRPr lang="ru-RU" sz="2000" dirty="0" smtClean="0"/>
          </a:p>
          <a:p>
            <a:pPr>
              <a:buNone/>
            </a:pPr>
            <a:endParaRPr lang="ru-RU" sz="2000" dirty="0" smtClean="0"/>
          </a:p>
          <a:p>
            <a:endParaRPr lang="en-US" sz="2000" dirty="0" smtClean="0">
              <a:solidFill>
                <a:srgbClr val="002060"/>
              </a:solidFill>
            </a:endParaRPr>
          </a:p>
          <a:p>
            <a:endParaRPr lang="en-US" sz="2000" dirty="0" smtClean="0"/>
          </a:p>
          <a:p>
            <a:endParaRPr lang="ru-RU" sz="2000" dirty="0" smtClean="0"/>
          </a:p>
          <a:p>
            <a:endParaRPr lang="ru-RU" sz="2000" dirty="0" smtClean="0"/>
          </a:p>
          <a:p>
            <a:r>
              <a:rPr lang="ru-RU" sz="2000" dirty="0" smtClean="0"/>
              <a:t> 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91264" cy="1052736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Отображение символьных адресов на IP-адреса: служба DNS RFC 1034 и 1035</a:t>
            </a:r>
            <a:endParaRPr lang="ru-RU" sz="3200" dirty="0">
              <a:solidFill>
                <a:srgbClr val="7030A0"/>
              </a:solidFill>
            </a:endParaRPr>
          </a:p>
        </p:txBody>
      </p:sp>
      <p:pic>
        <p:nvPicPr>
          <p:cNvPr id="26626" name="Picture 2" descr="http://adminbook.ru/menu3/8/13/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052736"/>
            <a:ext cx="8352928" cy="5400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92696"/>
            <a:ext cx="8964488" cy="6165304"/>
          </a:xfrm>
        </p:spPr>
        <p:txBody>
          <a:bodyPr>
            <a:noAutofit/>
          </a:bodyPr>
          <a:lstStyle/>
          <a:p>
            <a:r>
              <a:rPr lang="ru-RU" sz="2000" dirty="0" smtClean="0">
                <a:solidFill>
                  <a:srgbClr val="002060"/>
                </a:solidFill>
              </a:rPr>
              <a:t>Домены верхнего уровня назначаются для каждой страны на организационной основе</a:t>
            </a:r>
            <a:r>
              <a:rPr lang="ru-RU" sz="2000" dirty="0" smtClean="0"/>
              <a:t>.</a:t>
            </a:r>
          </a:p>
          <a:p>
            <a:r>
              <a:rPr lang="ru-RU" sz="2000" dirty="0" smtClean="0"/>
              <a:t> Имена этих доменов должны соответствовать международному стандарту </a:t>
            </a:r>
            <a:r>
              <a:rPr lang="en-US" sz="2000" dirty="0" smtClean="0"/>
              <a:t>ISO 3166.</a:t>
            </a:r>
          </a:p>
          <a:p>
            <a:r>
              <a:rPr lang="ru-RU" sz="2000" dirty="0" smtClean="0">
                <a:solidFill>
                  <a:srgbClr val="002060"/>
                </a:solidFill>
              </a:rPr>
              <a:t>Для обозначения стран используются 3х и 2х буквенные обозначения </a:t>
            </a:r>
            <a:r>
              <a:rPr lang="ru-RU" sz="2000" dirty="0" smtClean="0"/>
              <a:t>:</a:t>
            </a:r>
          </a:p>
          <a:p>
            <a:pPr marL="725488">
              <a:buNone/>
              <a:tabLst>
                <a:tab pos="900113" algn="l"/>
              </a:tabLst>
            </a:pPr>
            <a:r>
              <a:rPr lang="ru-RU" sz="2000" dirty="0" smtClean="0"/>
              <a:t>           </a:t>
            </a:r>
            <a:r>
              <a:rPr lang="en-US" sz="2000" dirty="0" err="1" smtClean="0"/>
              <a:t>ru</a:t>
            </a:r>
            <a:r>
              <a:rPr lang="ru-RU" sz="2000" dirty="0" smtClean="0"/>
              <a:t>   - </a:t>
            </a:r>
            <a:r>
              <a:rPr lang="en-US" sz="2000" dirty="0" smtClean="0"/>
              <a:t> </a:t>
            </a:r>
            <a:r>
              <a:rPr lang="ru-RU" sz="2000" dirty="0" smtClean="0"/>
              <a:t>Россия</a:t>
            </a:r>
            <a:r>
              <a:rPr lang="en-US" sz="2000" dirty="0" smtClean="0"/>
              <a:t> </a:t>
            </a:r>
          </a:p>
          <a:p>
            <a:pPr marL="725488">
              <a:buNone/>
              <a:tabLst>
                <a:tab pos="900113" algn="l"/>
              </a:tabLst>
            </a:pPr>
            <a:r>
              <a:rPr lang="en-US" sz="2000" dirty="0" smtClean="0"/>
              <a:t>    </a:t>
            </a:r>
            <a:r>
              <a:rPr lang="ru-RU" sz="2000" dirty="0" smtClean="0"/>
              <a:t>       </a:t>
            </a:r>
            <a:r>
              <a:rPr lang="en-US" sz="2000" dirty="0" smtClean="0"/>
              <a:t>by</a:t>
            </a:r>
            <a:r>
              <a:rPr lang="ru-RU" sz="2000" dirty="0" smtClean="0"/>
              <a:t>    -  Беларусь</a:t>
            </a:r>
            <a:endParaRPr lang="en-US" sz="2000" dirty="0" smtClean="0"/>
          </a:p>
          <a:p>
            <a:pPr marL="725488">
              <a:buNone/>
              <a:tabLst>
                <a:tab pos="900113" algn="l"/>
              </a:tabLst>
            </a:pPr>
            <a:r>
              <a:rPr lang="en-US" sz="2000" dirty="0" smtClean="0"/>
              <a:t>     </a:t>
            </a:r>
            <a:r>
              <a:rPr lang="ru-RU" sz="2000" dirty="0" smtClean="0"/>
              <a:t>     </a:t>
            </a:r>
            <a:r>
              <a:rPr lang="en-US" sz="2000" dirty="0" smtClean="0"/>
              <a:t> us</a:t>
            </a:r>
            <a:r>
              <a:rPr lang="ru-RU" sz="2000" dirty="0" smtClean="0"/>
              <a:t>   -  США</a:t>
            </a:r>
            <a:endParaRPr lang="en-US" sz="2000" dirty="0" smtClean="0"/>
          </a:p>
          <a:p>
            <a:r>
              <a:rPr lang="ru-RU" sz="2000" dirty="0" smtClean="0"/>
              <a:t>   </a:t>
            </a:r>
            <a:r>
              <a:rPr lang="ru-RU" sz="2000" dirty="0" smtClean="0">
                <a:solidFill>
                  <a:srgbClr val="002060"/>
                </a:solidFill>
              </a:rPr>
              <a:t>Для различных типов организаций следующие обозначения</a:t>
            </a:r>
            <a:r>
              <a:rPr lang="ru-RU" sz="2000" dirty="0" smtClean="0"/>
              <a:t>:</a:t>
            </a:r>
          </a:p>
          <a:p>
            <a:pPr algn="just">
              <a:buNone/>
            </a:pPr>
            <a:r>
              <a:rPr lang="ru-RU" sz="2000" dirty="0" smtClean="0"/>
              <a:t>               </a:t>
            </a:r>
            <a:r>
              <a:rPr lang="ru-RU" sz="2000" dirty="0" err="1" smtClean="0"/>
              <a:t>com</a:t>
            </a:r>
            <a:r>
              <a:rPr lang="ru-RU" sz="2000" dirty="0" smtClean="0"/>
              <a:t> - коммерческие или промышленные предприятия</a:t>
            </a:r>
          </a:p>
          <a:p>
            <a:pPr lvl="2" algn="just">
              <a:buNone/>
            </a:pPr>
            <a:r>
              <a:rPr lang="en-US" sz="2000" dirty="0" err="1" smtClean="0"/>
              <a:t>edu</a:t>
            </a:r>
            <a:r>
              <a:rPr lang="en-US" sz="2000" dirty="0" smtClean="0"/>
              <a:t> – </a:t>
            </a:r>
            <a:r>
              <a:rPr lang="ru-RU" sz="2000" dirty="0" smtClean="0"/>
              <a:t>учебные организации</a:t>
            </a:r>
          </a:p>
          <a:p>
            <a:pPr lvl="2" algn="just">
              <a:buNone/>
            </a:pPr>
            <a:r>
              <a:rPr lang="en-US" sz="2000" dirty="0" err="1" smtClean="0"/>
              <a:t>gov</a:t>
            </a:r>
            <a:r>
              <a:rPr lang="en-US" sz="2000" dirty="0" smtClean="0"/>
              <a:t> – </a:t>
            </a:r>
            <a:r>
              <a:rPr lang="ru-RU" sz="2000" dirty="0" smtClean="0"/>
              <a:t>правительственные организации</a:t>
            </a:r>
            <a:r>
              <a:rPr lang="en-US" sz="2000" dirty="0" smtClean="0"/>
              <a:t> </a:t>
            </a:r>
            <a:endParaRPr lang="ru-RU" sz="2000" dirty="0" smtClean="0"/>
          </a:p>
          <a:p>
            <a:pPr lvl="2" algn="just">
              <a:buNone/>
            </a:pPr>
            <a:r>
              <a:rPr lang="en-US" sz="2000" dirty="0" err="1" smtClean="0"/>
              <a:t>Int</a:t>
            </a:r>
            <a:r>
              <a:rPr lang="ru-RU" sz="2000" dirty="0" smtClean="0"/>
              <a:t>- международные организации</a:t>
            </a:r>
          </a:p>
          <a:p>
            <a:pPr lvl="2" algn="just">
              <a:buNone/>
            </a:pPr>
            <a:r>
              <a:rPr lang="en-US" sz="2000" dirty="0" smtClean="0"/>
              <a:t>mil</a:t>
            </a:r>
            <a:r>
              <a:rPr lang="ru-RU" sz="2000" dirty="0" smtClean="0"/>
              <a:t>- для военных организаций </a:t>
            </a:r>
            <a:endParaRPr lang="en-US" sz="2000" dirty="0" smtClean="0"/>
          </a:p>
          <a:p>
            <a:pPr lvl="2" algn="just">
              <a:buNone/>
            </a:pPr>
            <a:r>
              <a:rPr lang="en-US" sz="2000" dirty="0" smtClean="0"/>
              <a:t>net</a:t>
            </a:r>
            <a:r>
              <a:rPr lang="ru-RU" sz="2000" dirty="0" smtClean="0"/>
              <a:t> – сети провайдера услуг</a:t>
            </a:r>
          </a:p>
          <a:p>
            <a:pPr lvl="2" algn="just">
              <a:buNone/>
            </a:pPr>
            <a:r>
              <a:rPr lang="ru-RU" sz="2000" dirty="0" smtClean="0"/>
              <a:t> </a:t>
            </a:r>
            <a:r>
              <a:rPr lang="ru-RU" sz="2000" dirty="0" err="1" smtClean="0"/>
              <a:t>org</a:t>
            </a:r>
            <a:r>
              <a:rPr lang="ru-RU" sz="2000" dirty="0" smtClean="0"/>
              <a:t> - некоммерческие организации и т.д.</a:t>
            </a:r>
          </a:p>
          <a:p>
            <a:endParaRPr lang="ru-RU" sz="2000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432048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Организация доменов и доменных имен (2)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432048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Организация доменов и доменных имен (3)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052736"/>
            <a:ext cx="8686800" cy="5805264"/>
          </a:xfrm>
        </p:spPr>
        <p:txBody>
          <a:bodyPr>
            <a:normAutofit/>
          </a:bodyPr>
          <a:lstStyle/>
          <a:p>
            <a:r>
              <a:rPr lang="ru-RU" sz="2800" dirty="0" smtClean="0">
                <a:solidFill>
                  <a:srgbClr val="002060"/>
                </a:solidFill>
              </a:rPr>
              <a:t>Каждый домен назначается  отдельной организации</a:t>
            </a:r>
            <a:r>
              <a:rPr lang="ru-RU" sz="2800" dirty="0" smtClean="0"/>
              <a:t>, которая разбивает его на </a:t>
            </a:r>
            <a:r>
              <a:rPr lang="ru-RU" sz="2800" dirty="0" err="1" smtClean="0"/>
              <a:t>поддомены</a:t>
            </a:r>
            <a:r>
              <a:rPr lang="ru-RU" sz="2800" dirty="0" smtClean="0"/>
              <a:t> и передает функции управления другим организациям, а для получения имени необходима  регистрация в стране.</a:t>
            </a:r>
          </a:p>
          <a:p>
            <a:r>
              <a:rPr lang="ru-RU" sz="2800" dirty="0" smtClean="0">
                <a:solidFill>
                  <a:srgbClr val="002060"/>
                </a:solidFill>
              </a:rPr>
              <a:t>Компьютеры входят в домен </a:t>
            </a:r>
            <a:r>
              <a:rPr lang="ru-RU" sz="2800" dirty="0" smtClean="0"/>
              <a:t>в соответствии со своими составными именами, при</a:t>
            </a:r>
            <a:r>
              <a:rPr lang="en-US" sz="2800" dirty="0" smtClean="0"/>
              <a:t> </a:t>
            </a:r>
            <a:r>
              <a:rPr lang="ru-RU" sz="2800" dirty="0" smtClean="0"/>
              <a:t>этом </a:t>
            </a:r>
            <a:r>
              <a:rPr lang="ru-RU" sz="2800" dirty="0" smtClean="0">
                <a:solidFill>
                  <a:srgbClr val="002060"/>
                </a:solidFill>
              </a:rPr>
              <a:t>их</a:t>
            </a:r>
          </a:p>
          <a:p>
            <a:pPr>
              <a:buNone/>
            </a:pPr>
            <a:r>
              <a:rPr lang="ru-RU" sz="2800" dirty="0" smtClean="0">
                <a:solidFill>
                  <a:srgbClr val="002060"/>
                </a:solidFill>
              </a:rPr>
              <a:t> </a:t>
            </a:r>
            <a:r>
              <a:rPr lang="en-US" sz="2800" dirty="0" smtClean="0">
                <a:solidFill>
                  <a:srgbClr val="002060"/>
                </a:solidFill>
              </a:rPr>
              <a:t>I</a:t>
            </a:r>
            <a:r>
              <a:rPr lang="ru-RU" sz="2800" dirty="0" smtClean="0">
                <a:solidFill>
                  <a:srgbClr val="002060"/>
                </a:solidFill>
              </a:rPr>
              <a:t>Р адреса могут принадлежать к различным сетям и подсетям.</a:t>
            </a:r>
          </a:p>
          <a:p>
            <a:r>
              <a:rPr lang="ru-RU" sz="2800" dirty="0" smtClean="0"/>
              <a:t>Доменная система реализована в Интернете</a:t>
            </a:r>
            <a:r>
              <a:rPr lang="ru-RU" dirty="0" smtClean="0">
                <a:solidFill>
                  <a:srgbClr val="002060"/>
                </a:solidFill>
              </a:rPr>
              <a:t>. 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endParaRPr lang="ru-RU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64704"/>
            <a:ext cx="8229600" cy="4104456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5.4Система доменных имен (</a:t>
            </a:r>
            <a:r>
              <a:rPr lang="en-US" dirty="0" smtClean="0">
                <a:solidFill>
                  <a:srgbClr val="7030A0"/>
                </a:solidFill>
              </a:rPr>
              <a:t>DNS</a:t>
            </a:r>
            <a:r>
              <a:rPr lang="ru-RU" dirty="0" smtClean="0">
                <a:solidFill>
                  <a:srgbClr val="7030A0"/>
                </a:solidFill>
              </a:rPr>
              <a:t>).</a:t>
            </a:r>
            <a:br>
              <a:rPr lang="ru-RU" dirty="0" smtClean="0">
                <a:solidFill>
                  <a:srgbClr val="7030A0"/>
                </a:solidFill>
              </a:rPr>
            </a:br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  <a:latin typeface="Arial" charset="0"/>
              </a:rPr>
              <a:t>Система  </a:t>
            </a:r>
            <a:r>
              <a:rPr lang="ru-RU" sz="3600" dirty="0">
                <a:solidFill>
                  <a:srgbClr val="7030A0"/>
                </a:solidFill>
                <a:latin typeface="Arial" charset="0"/>
              </a:rPr>
              <a:t>доменных имен (</a:t>
            </a:r>
            <a:r>
              <a:rPr lang="ru-RU" sz="3600" dirty="0">
                <a:solidFill>
                  <a:srgbClr val="7030A0"/>
                </a:solidFill>
              </a:rPr>
              <a:t>DNS</a:t>
            </a:r>
            <a:r>
              <a:rPr lang="ru-RU" sz="3600" dirty="0" smtClean="0">
                <a:solidFill>
                  <a:srgbClr val="7030A0"/>
                </a:solidFill>
              </a:rPr>
              <a:t>) (1)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836712"/>
            <a:ext cx="8784976" cy="5832648"/>
          </a:xfrm>
        </p:spPr>
        <p:txBody>
          <a:bodyPr>
            <a:noAutofit/>
          </a:bodyPr>
          <a:lstStyle/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ru-RU" sz="2400" dirty="0" smtClean="0">
                <a:solidFill>
                  <a:srgbClr val="002060"/>
                </a:solidFill>
              </a:rPr>
              <a:t>   Соответствие между </a:t>
            </a:r>
            <a:r>
              <a:rPr lang="en-US" sz="2400" dirty="0" smtClean="0">
                <a:solidFill>
                  <a:srgbClr val="002060"/>
                </a:solidFill>
              </a:rPr>
              <a:t>IP </a:t>
            </a:r>
            <a:r>
              <a:rPr lang="ru-RU" sz="2400" dirty="0" smtClean="0">
                <a:solidFill>
                  <a:srgbClr val="002060"/>
                </a:solidFill>
              </a:rPr>
              <a:t>адресами и доменными именами может устанавливаться:</a:t>
            </a:r>
          </a:p>
          <a:p>
            <a:pPr>
              <a:lnSpc>
                <a:spcPct val="85000"/>
              </a:lnSpc>
              <a:spcBef>
                <a:spcPct val="30000"/>
              </a:spcBef>
              <a:buNone/>
            </a:pPr>
            <a:r>
              <a:rPr lang="ru-RU" sz="2400" dirty="0" smtClean="0"/>
              <a:t>         -   средствами локального хоста;</a:t>
            </a:r>
          </a:p>
          <a:p>
            <a:pPr>
              <a:lnSpc>
                <a:spcPct val="85000"/>
              </a:lnSpc>
              <a:spcBef>
                <a:spcPct val="30000"/>
              </a:spcBef>
              <a:buNone/>
            </a:pPr>
            <a:r>
              <a:rPr lang="ru-RU" sz="2400" dirty="0" smtClean="0"/>
              <a:t>           - централизованно</a:t>
            </a:r>
            <a:r>
              <a:rPr lang="ru-RU" sz="2400" dirty="0" smtClean="0">
                <a:solidFill>
                  <a:srgbClr val="002060"/>
                </a:solidFill>
              </a:rPr>
              <a:t>.</a:t>
            </a:r>
            <a:endParaRPr lang="ru-RU" sz="2400" i="1" u="sng" dirty="0" smtClean="0">
              <a:solidFill>
                <a:srgbClr val="002060"/>
              </a:solidFill>
            </a:endParaRP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ru-RU" sz="2400" dirty="0" smtClean="0">
                <a:solidFill>
                  <a:srgbClr val="002060"/>
                </a:solidFill>
              </a:rPr>
              <a:t>     В сетях TCP/IP </a:t>
            </a:r>
            <a:r>
              <a:rPr lang="ru-RU" sz="2400" i="1" dirty="0" smtClean="0">
                <a:solidFill>
                  <a:srgbClr val="002060"/>
                </a:solidFill>
              </a:rPr>
              <a:t>используется  специальная  служба DNS </a:t>
            </a:r>
            <a:r>
              <a:rPr lang="ru-RU" sz="2400" dirty="0" smtClean="0">
                <a:solidFill>
                  <a:srgbClr val="002060"/>
                </a:solidFill>
              </a:rPr>
              <a:t>(</a:t>
            </a:r>
            <a:r>
              <a:rPr lang="en-US" sz="2400" i="1" dirty="0" smtClean="0">
                <a:solidFill>
                  <a:srgbClr val="002060"/>
                </a:solidFill>
              </a:rPr>
              <a:t>Domain Name System</a:t>
            </a:r>
            <a:r>
              <a:rPr lang="ru-RU" sz="2400" dirty="0" smtClean="0">
                <a:solidFill>
                  <a:srgbClr val="002060"/>
                </a:solidFill>
              </a:rPr>
              <a:t>) – система доменных имен.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en-US" sz="2400" u="sng" dirty="0" smtClean="0"/>
              <a:t>DNS</a:t>
            </a:r>
            <a:r>
              <a:rPr lang="ru-RU" sz="2400" u="sng" dirty="0" smtClean="0"/>
              <a:t> – это централизованная служба, основанная на распределенной базе отображений «</a:t>
            </a:r>
            <a:r>
              <a:rPr lang="en-US" sz="2400" u="sng" dirty="0" smtClean="0"/>
              <a:t>I</a:t>
            </a:r>
            <a:r>
              <a:rPr lang="ru-RU" sz="2400" u="sng" dirty="0" err="1" smtClean="0"/>
              <a:t>Р-адрес-доменное</a:t>
            </a:r>
            <a:r>
              <a:rPr lang="ru-RU" sz="2400" u="sng" dirty="0" smtClean="0"/>
              <a:t> имя».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ru-RU" sz="2400" dirty="0" smtClean="0"/>
              <a:t>       </a:t>
            </a:r>
            <a:r>
              <a:rPr lang="ru-RU" sz="2400" dirty="0" smtClean="0">
                <a:solidFill>
                  <a:srgbClr val="002060"/>
                </a:solidFill>
              </a:rPr>
              <a:t>Служба </a:t>
            </a:r>
            <a:r>
              <a:rPr lang="en-US" sz="2400" dirty="0" smtClean="0">
                <a:solidFill>
                  <a:srgbClr val="002060"/>
                </a:solidFill>
              </a:rPr>
              <a:t>DNS </a:t>
            </a:r>
            <a:r>
              <a:rPr lang="ru-RU" sz="2400" dirty="0" smtClean="0">
                <a:solidFill>
                  <a:srgbClr val="002060"/>
                </a:solidFill>
              </a:rPr>
              <a:t> использует протокол «клиент-  сервер»: </a:t>
            </a:r>
            <a:endParaRPr lang="ru-RU" sz="2400" i="1" dirty="0" smtClean="0">
              <a:solidFill>
                <a:srgbClr val="002060"/>
              </a:solidFill>
            </a:endParaRPr>
          </a:p>
          <a:p>
            <a:pPr>
              <a:lnSpc>
                <a:spcPct val="85000"/>
              </a:lnSpc>
              <a:spcBef>
                <a:spcPct val="30000"/>
              </a:spcBef>
              <a:buNone/>
            </a:pPr>
            <a:r>
              <a:rPr lang="ru-RU" sz="2400" i="1" dirty="0" smtClean="0"/>
              <a:t>               -  </a:t>
            </a:r>
            <a:r>
              <a:rPr lang="ru-RU" sz="2400" i="1" dirty="0" smtClean="0">
                <a:solidFill>
                  <a:srgbClr val="002060"/>
                </a:solidFill>
              </a:rPr>
              <a:t>DNS-серверы</a:t>
            </a:r>
            <a:r>
              <a:rPr lang="ru-RU" sz="2400" i="1" dirty="0" smtClean="0"/>
              <a:t> поддерживают распределенную базу отображений. </a:t>
            </a:r>
          </a:p>
          <a:p>
            <a:pPr>
              <a:lnSpc>
                <a:spcPct val="85000"/>
              </a:lnSpc>
              <a:spcBef>
                <a:spcPct val="30000"/>
              </a:spcBef>
              <a:buNone/>
            </a:pPr>
            <a:r>
              <a:rPr lang="ru-RU" sz="2400" i="1" dirty="0" smtClean="0"/>
              <a:t>              - </a:t>
            </a:r>
            <a:r>
              <a:rPr lang="ru-RU" sz="2400" i="1" dirty="0" smtClean="0">
                <a:solidFill>
                  <a:srgbClr val="002060"/>
                </a:solidFill>
              </a:rPr>
              <a:t>DNS–клиенты</a:t>
            </a:r>
            <a:r>
              <a:rPr lang="ru-RU" sz="2400" i="1" dirty="0" smtClean="0"/>
              <a:t> обращаются к серверам с запросами о предоставлении  доменного имени в </a:t>
            </a:r>
            <a:r>
              <a:rPr lang="en-US" sz="2400" i="1" dirty="0" smtClean="0"/>
              <a:t>IP</a:t>
            </a:r>
            <a:r>
              <a:rPr lang="ru-RU" sz="2400" i="1" dirty="0" smtClean="0"/>
              <a:t> адрес.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endParaRPr lang="ru-RU" sz="2400" b="1" dirty="0" smtClean="0"/>
          </a:p>
          <a:p>
            <a:pPr algn="just">
              <a:lnSpc>
                <a:spcPct val="85000"/>
              </a:lnSpc>
              <a:spcBef>
                <a:spcPct val="30000"/>
              </a:spcBef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3073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rgbClr val="7030A0"/>
                </a:solidFill>
                <a:latin typeface="Arial" charset="0"/>
              </a:rPr>
              <a:t>Система  доменных имен (</a:t>
            </a:r>
            <a:r>
              <a:rPr lang="ru-RU" sz="3600" dirty="0" smtClean="0">
                <a:solidFill>
                  <a:srgbClr val="7030A0"/>
                </a:solidFill>
              </a:rPr>
              <a:t>DNS) (2)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5544616"/>
          </a:xfrm>
        </p:spPr>
        <p:txBody>
          <a:bodyPr>
            <a:normAutofit/>
          </a:bodyPr>
          <a:lstStyle/>
          <a:p>
            <a:r>
              <a:rPr lang="ru-RU" sz="2800" i="1" dirty="0" smtClean="0">
                <a:solidFill>
                  <a:srgbClr val="002060"/>
                </a:solidFill>
              </a:rPr>
              <a:t> </a:t>
            </a:r>
            <a:r>
              <a:rPr lang="ru-RU" sz="2400" i="1" dirty="0" smtClean="0">
                <a:solidFill>
                  <a:srgbClr val="002060"/>
                </a:solidFill>
              </a:rPr>
              <a:t>DNS-сервер – это приложение</a:t>
            </a:r>
            <a:r>
              <a:rPr lang="ru-RU" sz="2400" dirty="0" smtClean="0">
                <a:solidFill>
                  <a:srgbClr val="002060"/>
                </a:solidFill>
              </a:rPr>
              <a:t>, предназначенное для ответов на </a:t>
            </a:r>
            <a:r>
              <a:rPr lang="en-US" sz="2400" dirty="0" smtClean="0">
                <a:solidFill>
                  <a:srgbClr val="002060"/>
                </a:solidFill>
              </a:rPr>
              <a:t>DNS </a:t>
            </a:r>
            <a:r>
              <a:rPr lang="ru-RU" sz="2400" dirty="0" smtClean="0">
                <a:solidFill>
                  <a:srgbClr val="002060"/>
                </a:solidFill>
              </a:rPr>
              <a:t>–</a:t>
            </a:r>
            <a:r>
              <a:rPr lang="en-US" sz="2400" dirty="0" smtClean="0">
                <a:solidFill>
                  <a:srgbClr val="002060"/>
                </a:solidFill>
              </a:rPr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запросы    по соответствующему протоколу.</a:t>
            </a:r>
          </a:p>
          <a:p>
            <a:endParaRPr lang="ru-RU" sz="2400" dirty="0" smtClean="0">
              <a:solidFill>
                <a:srgbClr val="002060"/>
              </a:solidFill>
            </a:endParaRPr>
          </a:p>
          <a:p>
            <a:r>
              <a:rPr lang="ru-RU" sz="2400" dirty="0" smtClean="0">
                <a:solidFill>
                  <a:srgbClr val="002060"/>
                </a:solidFill>
              </a:rPr>
              <a:t> </a:t>
            </a:r>
            <a:r>
              <a:rPr lang="ru-RU" sz="2400" dirty="0" smtClean="0"/>
              <a:t>DNS-сервером могут называть и  хост на котором запущено приложение.</a:t>
            </a:r>
          </a:p>
          <a:p>
            <a:endParaRPr lang="ru-RU" sz="2400" dirty="0" smtClean="0"/>
          </a:p>
          <a:p>
            <a:r>
              <a:rPr lang="ru-RU" sz="2400" dirty="0" smtClean="0">
                <a:solidFill>
                  <a:srgbClr val="002060"/>
                </a:solidFill>
              </a:rPr>
              <a:t>    Службы </a:t>
            </a:r>
            <a:r>
              <a:rPr lang="en-US" sz="2400" dirty="0" smtClean="0">
                <a:solidFill>
                  <a:srgbClr val="002060"/>
                </a:solidFill>
              </a:rPr>
              <a:t>DNS</a:t>
            </a:r>
            <a:r>
              <a:rPr lang="ru-RU" sz="2400" dirty="0" smtClean="0">
                <a:solidFill>
                  <a:srgbClr val="002060"/>
                </a:solidFill>
              </a:rPr>
              <a:t> опираются на иерархию доменов и </a:t>
            </a:r>
            <a:r>
              <a:rPr lang="ru-RU" sz="2400" u="sng" dirty="0" smtClean="0">
                <a:solidFill>
                  <a:srgbClr val="002060"/>
                </a:solidFill>
              </a:rPr>
              <a:t>каждый сервер службы</a:t>
            </a:r>
            <a:r>
              <a:rPr lang="en-US" sz="2400" u="sng" dirty="0" smtClean="0">
                <a:solidFill>
                  <a:srgbClr val="002060"/>
                </a:solidFill>
              </a:rPr>
              <a:t> DNS</a:t>
            </a:r>
            <a:r>
              <a:rPr lang="ru-RU" sz="2400" u="sng" dirty="0" smtClean="0">
                <a:solidFill>
                  <a:srgbClr val="002060"/>
                </a:solidFill>
              </a:rPr>
              <a:t> хранит только часть имен сети </a:t>
            </a:r>
            <a:r>
              <a:rPr lang="ru-RU" sz="2400" u="sng" dirty="0" smtClean="0"/>
              <a:t>. </a:t>
            </a:r>
          </a:p>
          <a:p>
            <a:endParaRPr lang="ru-RU" sz="2400" u="sng" dirty="0" smtClean="0"/>
          </a:p>
          <a:p>
            <a:r>
              <a:rPr lang="ru-RU" sz="2400" dirty="0" smtClean="0"/>
              <a:t>     </a:t>
            </a:r>
            <a:r>
              <a:rPr lang="ru-RU" sz="2400" dirty="0" smtClean="0">
                <a:solidFill>
                  <a:srgbClr val="002060"/>
                </a:solidFill>
              </a:rPr>
              <a:t>На серверах </a:t>
            </a:r>
            <a:r>
              <a:rPr lang="en-US" sz="2400" dirty="0" smtClean="0">
                <a:solidFill>
                  <a:srgbClr val="002060"/>
                </a:solidFill>
              </a:rPr>
              <a:t>DNS </a:t>
            </a:r>
            <a:r>
              <a:rPr lang="ru-RU" sz="2400" dirty="0" smtClean="0">
                <a:solidFill>
                  <a:srgbClr val="002060"/>
                </a:solidFill>
              </a:rPr>
              <a:t>хранятся базы данных</a:t>
            </a:r>
            <a:r>
              <a:rPr lang="ru-RU" sz="2400" dirty="0" smtClean="0"/>
              <a:t>,</a:t>
            </a:r>
          </a:p>
          <a:p>
            <a:pPr>
              <a:buNone/>
            </a:pPr>
            <a:r>
              <a:rPr lang="ru-RU" sz="2400" dirty="0" smtClean="0"/>
              <a:t>   в которых </a:t>
            </a:r>
            <a:r>
              <a:rPr lang="en-US" sz="2400" dirty="0" smtClean="0"/>
              <a:t>IP</a:t>
            </a:r>
            <a:r>
              <a:rPr lang="ru-RU" sz="2400" dirty="0" smtClean="0"/>
              <a:t>- адреса отображаются на имена хостов ,</a:t>
            </a:r>
          </a:p>
          <a:p>
            <a:pPr>
              <a:buNone/>
            </a:pPr>
            <a:r>
              <a:rPr lang="ru-RU" sz="2400" dirty="0" smtClean="0"/>
              <a:t> а </a:t>
            </a:r>
            <a:r>
              <a:rPr lang="en-US" sz="2400" dirty="0" smtClean="0"/>
              <a:t>IP-</a:t>
            </a:r>
            <a:r>
              <a:rPr lang="ru-RU" sz="2400" dirty="0" smtClean="0"/>
              <a:t>адреса  клиентских компьютеров конфигурируются с адресом сервера </a:t>
            </a:r>
            <a:r>
              <a:rPr lang="en-US" sz="2400" dirty="0" smtClean="0"/>
              <a:t>DNS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640960" cy="576064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  <a:latin typeface="Arial" charset="0"/>
              </a:rPr>
              <a:t>Система  доменных имен (</a:t>
            </a:r>
            <a:r>
              <a:rPr lang="ru-RU" sz="3600" dirty="0" smtClean="0">
                <a:solidFill>
                  <a:srgbClr val="7030A0"/>
                </a:solidFill>
              </a:rPr>
              <a:t>DNS) (3)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08720"/>
            <a:ext cx="8640960" cy="5544616"/>
          </a:xfrm>
        </p:spPr>
        <p:txBody>
          <a:bodyPr>
            <a:normAutofit lnSpcReduction="10000"/>
          </a:bodyPr>
          <a:lstStyle/>
          <a:p>
            <a:r>
              <a:rPr lang="ru-RU" sz="2400" dirty="0" smtClean="0">
                <a:solidFill>
                  <a:srgbClr val="002060"/>
                </a:solidFill>
              </a:rPr>
              <a:t>   </a:t>
            </a:r>
            <a:r>
              <a:rPr lang="ru-RU" dirty="0" smtClean="0">
                <a:solidFill>
                  <a:srgbClr val="002060"/>
                </a:solidFill>
              </a:rPr>
              <a:t>Для каждого домена имен создается свой</a:t>
            </a:r>
            <a:r>
              <a:rPr lang="en-US" dirty="0" smtClean="0">
                <a:solidFill>
                  <a:srgbClr val="002060"/>
                </a:solidFill>
              </a:rPr>
              <a:t> DNS</a:t>
            </a:r>
            <a:r>
              <a:rPr lang="ru-RU" dirty="0" smtClean="0">
                <a:solidFill>
                  <a:srgbClr val="002060"/>
                </a:solidFill>
              </a:rPr>
              <a:t>- сервер</a:t>
            </a:r>
            <a:r>
              <a:rPr lang="ru-RU" dirty="0" smtClean="0"/>
              <a:t>.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   Имеется 2 системы распределения имен на серверах:</a:t>
            </a:r>
          </a:p>
          <a:p>
            <a:pPr>
              <a:buNone/>
            </a:pPr>
            <a:r>
              <a:rPr lang="ru-RU" dirty="0" smtClean="0"/>
              <a:t>     1) сервер домена хранит соответствие «доменное имя – </a:t>
            </a:r>
            <a:r>
              <a:rPr lang="en-US" dirty="0" smtClean="0"/>
              <a:t>IP </a:t>
            </a:r>
            <a:r>
              <a:rPr lang="ru-RU" dirty="0" smtClean="0"/>
              <a:t>адрес» для всего домена , включая и </a:t>
            </a:r>
            <a:r>
              <a:rPr lang="ru-RU" dirty="0" err="1" smtClean="0"/>
              <a:t>поддомены</a:t>
            </a:r>
            <a:r>
              <a:rPr lang="ru-RU" dirty="0" smtClean="0"/>
              <a:t>;</a:t>
            </a:r>
          </a:p>
          <a:p>
            <a:pPr>
              <a:buNone/>
            </a:pPr>
            <a:r>
              <a:rPr lang="ru-RU" dirty="0" smtClean="0"/>
              <a:t>     2) сервер домена  хранит только имена, которые заканчиваются на следующем, ниже по уровню иерархии, по сравнению с именем домена.   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  <a:latin typeface="Arial" charset="0"/>
              </a:rPr>
              <a:t>Система  доменных имен (</a:t>
            </a:r>
            <a:r>
              <a:rPr lang="ru-RU" sz="3600" dirty="0" smtClean="0">
                <a:solidFill>
                  <a:srgbClr val="7030A0"/>
                </a:solidFill>
              </a:rPr>
              <a:t>DNS) (4)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472608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002060"/>
                </a:solidFill>
              </a:rPr>
              <a:t>Каждый </a:t>
            </a:r>
            <a:r>
              <a:rPr lang="en-US" sz="2800" dirty="0" smtClean="0">
                <a:solidFill>
                  <a:srgbClr val="002060"/>
                </a:solidFill>
              </a:rPr>
              <a:t>DNS</a:t>
            </a:r>
            <a:r>
              <a:rPr lang="ru-RU" sz="2800" dirty="0" smtClean="0">
                <a:solidFill>
                  <a:srgbClr val="002060"/>
                </a:solidFill>
              </a:rPr>
              <a:t> сервер содержит:</a:t>
            </a:r>
          </a:p>
          <a:p>
            <a:pPr>
              <a:buNone/>
            </a:pPr>
            <a:r>
              <a:rPr lang="ru-RU" sz="2800" dirty="0" smtClean="0"/>
              <a:t>         - таблицы отображения имен ;</a:t>
            </a:r>
          </a:p>
          <a:p>
            <a:pPr>
              <a:buNone/>
            </a:pPr>
            <a:r>
              <a:rPr lang="ru-RU" sz="2800" dirty="0" smtClean="0"/>
              <a:t>         - ссылки на </a:t>
            </a:r>
            <a:r>
              <a:rPr lang="en-US" sz="2800" dirty="0" smtClean="0"/>
              <a:t>DNS</a:t>
            </a:r>
            <a:r>
              <a:rPr lang="ru-RU" sz="2800" dirty="0" smtClean="0"/>
              <a:t>- серверы своих </a:t>
            </a:r>
            <a:r>
              <a:rPr lang="ru-RU" sz="2800" dirty="0" err="1" smtClean="0"/>
              <a:t>поддоменов</a:t>
            </a:r>
            <a:r>
              <a:rPr lang="ru-RU" sz="2800" dirty="0" smtClean="0"/>
              <a:t>.</a:t>
            </a:r>
          </a:p>
          <a:p>
            <a:r>
              <a:rPr lang="ru-RU" sz="2800" dirty="0" smtClean="0"/>
              <a:t>Эти ссылки связывают отдельные сервера в единую</a:t>
            </a:r>
            <a:r>
              <a:rPr lang="en-US" sz="2800" dirty="0" smtClean="0"/>
              <a:t> </a:t>
            </a:r>
            <a:r>
              <a:rPr lang="ru-RU" sz="2800" dirty="0" smtClean="0"/>
              <a:t>службу</a:t>
            </a:r>
            <a:r>
              <a:rPr lang="en-US" sz="2800" dirty="0" smtClean="0"/>
              <a:t> DNS</a:t>
            </a:r>
            <a:r>
              <a:rPr lang="ru-RU" sz="2800" dirty="0" smtClean="0"/>
              <a:t>.</a:t>
            </a:r>
          </a:p>
          <a:p>
            <a:r>
              <a:rPr lang="ru-RU" sz="2800" dirty="0" smtClean="0">
                <a:solidFill>
                  <a:srgbClr val="002060"/>
                </a:solidFill>
              </a:rPr>
              <a:t>    Ссылки – это </a:t>
            </a:r>
            <a:r>
              <a:rPr lang="en-US" sz="2800" dirty="0" smtClean="0">
                <a:solidFill>
                  <a:srgbClr val="002060"/>
                </a:solidFill>
              </a:rPr>
              <a:t>IP</a:t>
            </a:r>
            <a:r>
              <a:rPr lang="ru-RU" sz="2800" dirty="0" smtClean="0">
                <a:solidFill>
                  <a:srgbClr val="002060"/>
                </a:solidFill>
              </a:rPr>
              <a:t> адреса соответствующих серверов-</a:t>
            </a:r>
            <a:r>
              <a:rPr lang="en-US" sz="2800" dirty="0" smtClean="0">
                <a:solidFill>
                  <a:srgbClr val="002060"/>
                </a:solidFill>
              </a:rPr>
              <a:t>DNS</a:t>
            </a:r>
            <a:r>
              <a:rPr lang="ru-RU" sz="2800" dirty="0" smtClean="0">
                <a:solidFill>
                  <a:srgbClr val="002060"/>
                </a:solidFill>
              </a:rPr>
              <a:t>.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ru-RU" sz="2800" dirty="0" smtClean="0"/>
              <a:t>  </a:t>
            </a:r>
            <a:r>
              <a:rPr lang="ru-RU" sz="2800" dirty="0" smtClean="0">
                <a:solidFill>
                  <a:srgbClr val="002060"/>
                </a:solidFill>
              </a:rPr>
              <a:t> </a:t>
            </a:r>
            <a:r>
              <a:rPr lang="ru-RU" sz="2800" dirty="0" smtClean="0"/>
              <a:t>В системе </a:t>
            </a:r>
            <a:r>
              <a:rPr lang="en-US" sz="2800" dirty="0" smtClean="0"/>
              <a:t>Internet </a:t>
            </a:r>
            <a:r>
              <a:rPr lang="ru-RU" sz="2800" dirty="0" smtClean="0"/>
              <a:t>существует иерархия серверов-</a:t>
            </a:r>
            <a:r>
              <a:rPr lang="en-US" sz="2800" dirty="0" smtClean="0"/>
              <a:t>DNS</a:t>
            </a:r>
            <a:r>
              <a:rPr lang="ru-RU" sz="2800" dirty="0" smtClean="0"/>
              <a:t>.</a:t>
            </a:r>
          </a:p>
          <a:p>
            <a:pPr marL="342900" lvl="1" indent="-342900">
              <a:lnSpc>
                <a:spcPct val="85000"/>
              </a:lnSpc>
              <a:spcBef>
                <a:spcPct val="30000"/>
              </a:spcBef>
              <a:buFont typeface="Arial" pitchFamily="34" charset="0"/>
              <a:buChar char="•"/>
            </a:pPr>
            <a:r>
              <a:rPr lang="ru-RU" dirty="0" smtClean="0">
                <a:solidFill>
                  <a:srgbClr val="002060"/>
                </a:solidFill>
              </a:rPr>
              <a:t>База данных </a:t>
            </a:r>
            <a:r>
              <a:rPr lang="en-US" dirty="0" smtClean="0">
                <a:solidFill>
                  <a:srgbClr val="002060"/>
                </a:solidFill>
              </a:rPr>
              <a:t>DNS</a:t>
            </a:r>
            <a:r>
              <a:rPr lang="ru-RU" dirty="0" smtClean="0">
                <a:solidFill>
                  <a:srgbClr val="002060"/>
                </a:solidFill>
              </a:rPr>
              <a:t> хранится на центральном корневом  сервере </a:t>
            </a:r>
            <a:r>
              <a:rPr lang="ru-RU" dirty="0" smtClean="0"/>
              <a:t>и  здесь происходит автоматическое обновление .</a:t>
            </a:r>
            <a:endParaRPr 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8058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Иерархия DNS-серверов</a:t>
            </a:r>
            <a:r>
              <a:rPr lang="ru-RU" sz="3600" dirty="0" smtClean="0">
                <a:solidFill>
                  <a:srgbClr val="002060"/>
                </a:solidFill>
              </a:rPr>
              <a:t> </a:t>
            </a:r>
            <a:endParaRPr lang="ru-RU" sz="3600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51520" y="908720"/>
            <a:ext cx="8208912" cy="556523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800" dirty="0" smtClean="0">
                <a:solidFill>
                  <a:srgbClr val="002060"/>
                </a:solidFill>
              </a:rPr>
              <a:t>DNS – </a:t>
            </a:r>
            <a:r>
              <a:rPr lang="ru-RU" sz="2800" dirty="0" smtClean="0">
                <a:solidFill>
                  <a:srgbClr val="002060"/>
                </a:solidFill>
              </a:rPr>
              <a:t>сервера бывают</a:t>
            </a:r>
            <a:r>
              <a:rPr lang="ru-RU" sz="2800" dirty="0" smtClean="0"/>
              <a:t>:</a:t>
            </a:r>
          </a:p>
          <a:p>
            <a:pPr algn="just"/>
            <a:r>
              <a:rPr lang="ru-RU" sz="2800" dirty="0" smtClean="0"/>
              <a:t>  Корневой DNS-сервер</a:t>
            </a:r>
          </a:p>
          <a:p>
            <a:pPr algn="just"/>
            <a:r>
              <a:rPr lang="ru-RU" sz="2800" dirty="0" smtClean="0"/>
              <a:t>  Основной DNS-сервер </a:t>
            </a:r>
          </a:p>
          <a:p>
            <a:pPr algn="just"/>
            <a:r>
              <a:rPr lang="ru-RU" sz="2800" dirty="0" smtClean="0"/>
              <a:t>  Первичный сервер </a:t>
            </a:r>
          </a:p>
          <a:p>
            <a:pPr algn="just"/>
            <a:r>
              <a:rPr lang="ru-RU" sz="2800" dirty="0" smtClean="0"/>
              <a:t>  Вторичный сервер </a:t>
            </a:r>
          </a:p>
          <a:p>
            <a:pPr algn="just"/>
            <a:r>
              <a:rPr lang="ru-RU" sz="2800" dirty="0" smtClean="0"/>
              <a:t>  Кэширующий DNS-сервер </a:t>
            </a:r>
          </a:p>
          <a:p>
            <a:pPr algn="just"/>
            <a:r>
              <a:rPr lang="ru-RU" sz="2800" dirty="0" smtClean="0"/>
              <a:t>  Локальный DNS-сервер;</a:t>
            </a:r>
          </a:p>
          <a:p>
            <a:pPr algn="just"/>
            <a:r>
              <a:rPr lang="ru-RU" sz="2800" dirty="0" smtClean="0"/>
              <a:t>  </a:t>
            </a:r>
            <a:r>
              <a:rPr lang="ru-RU" sz="2800" dirty="0" err="1" smtClean="0"/>
              <a:t>Перенаправляющий</a:t>
            </a:r>
            <a:r>
              <a:rPr lang="ru-RU" sz="2800" dirty="0" smtClean="0"/>
              <a:t> DNS-сервер</a:t>
            </a:r>
          </a:p>
          <a:p>
            <a:pPr algn="just"/>
            <a:r>
              <a:rPr lang="ru-RU" sz="2800" dirty="0" smtClean="0"/>
              <a:t> Регистрирующий DNS-сервер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980728"/>
            <a:ext cx="8229600" cy="2952328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5.5 Способы определения доменных имен</a:t>
            </a:r>
            <a:br>
              <a:rPr lang="ru-RU" dirty="0" smtClean="0">
                <a:solidFill>
                  <a:srgbClr val="7030A0"/>
                </a:solidFill>
              </a:rPr>
            </a:br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1"/>
            <a:ext cx="9143999" cy="819943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ru-RU" sz="3600" b="1" dirty="0" smtClean="0">
                <a:solidFill>
                  <a:srgbClr val="7030A0"/>
                </a:solidFill>
              </a:rPr>
              <a:t>Система </a:t>
            </a:r>
            <a:r>
              <a:rPr lang="en-US" sz="3600" b="1" dirty="0" smtClean="0">
                <a:solidFill>
                  <a:srgbClr val="7030A0"/>
                </a:solidFill>
              </a:rPr>
              <a:t>DNS</a:t>
            </a:r>
            <a:r>
              <a:rPr lang="ru-RU" sz="3600" b="1" dirty="0" smtClean="0">
                <a:solidFill>
                  <a:srgbClr val="7030A0"/>
                </a:solidFill>
              </a:rPr>
              <a:t>.Процедуры разрешения имен</a:t>
            </a:r>
          </a:p>
        </p:txBody>
      </p:sp>
      <p:sp>
        <p:nvSpPr>
          <p:cNvPr id="1034" name="Text Box 4"/>
          <p:cNvSpPr txBox="1">
            <a:spLocks noChangeArrowheads="1"/>
          </p:cNvSpPr>
          <p:nvPr/>
        </p:nvSpPr>
        <p:spPr bwMode="auto">
          <a:xfrm>
            <a:off x="2700338" y="1916113"/>
            <a:ext cx="39608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ru-RU"/>
          </a:p>
        </p:txBody>
      </p:sp>
      <p:graphicFrame>
        <p:nvGraphicFramePr>
          <p:cNvPr id="2" name="Схема 1"/>
          <p:cNvGraphicFramePr/>
          <p:nvPr/>
        </p:nvGraphicFramePr>
        <p:xfrm>
          <a:off x="251520" y="1340768"/>
          <a:ext cx="8712968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35" name="Text Box 22"/>
          <p:cNvSpPr txBox="1">
            <a:spLocks noChangeArrowheads="1"/>
          </p:cNvSpPr>
          <p:nvPr/>
        </p:nvSpPr>
        <p:spPr bwMode="auto">
          <a:xfrm>
            <a:off x="179388" y="3933825"/>
            <a:ext cx="4105275" cy="925513"/>
          </a:xfrm>
          <a:prstGeom prst="rect">
            <a:avLst/>
          </a:prstGeom>
          <a:solidFill>
            <a:srgbClr val="F8960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DNS-</a:t>
            </a:r>
            <a:r>
              <a:rPr lang="ru-RU"/>
              <a:t>клиент сам выполняет последовательность запросов к разным </a:t>
            </a:r>
            <a:r>
              <a:rPr lang="en-US"/>
              <a:t>DNS-</a:t>
            </a:r>
            <a:r>
              <a:rPr lang="ru-RU"/>
              <a:t>серверам имен</a:t>
            </a:r>
          </a:p>
        </p:txBody>
      </p:sp>
      <p:sp>
        <p:nvSpPr>
          <p:cNvPr id="1036" name="Text Box 23"/>
          <p:cNvSpPr txBox="1">
            <a:spLocks noChangeArrowheads="1"/>
          </p:cNvSpPr>
          <p:nvPr/>
        </p:nvSpPr>
        <p:spPr bwMode="auto">
          <a:xfrm>
            <a:off x="4787900" y="3933825"/>
            <a:ext cx="4105275" cy="650875"/>
          </a:xfrm>
          <a:prstGeom prst="rect">
            <a:avLst/>
          </a:prstGeom>
          <a:solidFill>
            <a:srgbClr val="F8960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/>
              <a:t>DNS</a:t>
            </a:r>
            <a:r>
              <a:rPr lang="ru-RU"/>
              <a:t>-клиент перепоручает работу своему </a:t>
            </a:r>
            <a:r>
              <a:rPr lang="en-US"/>
              <a:t>DNS-</a:t>
            </a:r>
            <a:r>
              <a:rPr lang="ru-RU"/>
              <a:t>серверу</a:t>
            </a:r>
          </a:p>
        </p:txBody>
      </p:sp>
      <p:sp>
        <p:nvSpPr>
          <p:cNvPr id="1037" name="Line 28"/>
          <p:cNvSpPr>
            <a:spLocks noChangeShapeType="1"/>
          </p:cNvSpPr>
          <p:nvPr/>
        </p:nvSpPr>
        <p:spPr bwMode="auto">
          <a:xfrm>
            <a:off x="2268538" y="3644900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1038" name="Line 29"/>
          <p:cNvSpPr>
            <a:spLocks noChangeShapeType="1"/>
          </p:cNvSpPr>
          <p:nvPr/>
        </p:nvSpPr>
        <p:spPr bwMode="auto">
          <a:xfrm>
            <a:off x="7019925" y="3644900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648072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Способы определения доменных имен (1)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08720"/>
            <a:ext cx="8784976" cy="5760640"/>
          </a:xfrm>
        </p:spPr>
        <p:txBody>
          <a:bodyPr>
            <a:normAutofit lnSpcReduction="10000"/>
          </a:bodyPr>
          <a:lstStyle/>
          <a:p>
            <a:r>
              <a:rPr lang="ru-RU" sz="2400" dirty="0" smtClean="0">
                <a:solidFill>
                  <a:srgbClr val="002060"/>
                </a:solidFill>
              </a:rPr>
              <a:t>Существует 2 основные схемы разрешения</a:t>
            </a:r>
            <a:r>
              <a:rPr lang="en-US" sz="2400" dirty="0" smtClean="0">
                <a:solidFill>
                  <a:srgbClr val="002060"/>
                </a:solidFill>
              </a:rPr>
              <a:t> DNS</a:t>
            </a:r>
            <a:r>
              <a:rPr lang="ru-RU" sz="2400" dirty="0" smtClean="0">
                <a:solidFill>
                  <a:srgbClr val="002060"/>
                </a:solidFill>
              </a:rPr>
              <a:t> имен:</a:t>
            </a:r>
          </a:p>
          <a:p>
            <a:pPr>
              <a:buNone/>
            </a:pPr>
            <a:r>
              <a:rPr lang="ru-RU" sz="2400" dirty="0" smtClean="0"/>
              <a:t>            - работу по поиску</a:t>
            </a:r>
            <a:r>
              <a:rPr lang="en-US" sz="2400" dirty="0" smtClean="0"/>
              <a:t> IP-</a:t>
            </a:r>
            <a:r>
              <a:rPr lang="ru-RU" sz="2400" dirty="0" smtClean="0"/>
              <a:t>адресов </a:t>
            </a:r>
            <a:r>
              <a:rPr lang="ru-RU" sz="2400" dirty="0" smtClean="0">
                <a:solidFill>
                  <a:srgbClr val="002060"/>
                </a:solidFill>
              </a:rPr>
              <a:t>координирует</a:t>
            </a:r>
            <a:r>
              <a:rPr lang="en-US" sz="2400" dirty="0" smtClean="0">
                <a:solidFill>
                  <a:srgbClr val="002060"/>
                </a:solidFill>
              </a:rPr>
              <a:t> DNS</a:t>
            </a:r>
            <a:r>
              <a:rPr lang="ru-RU" sz="2400" dirty="0" smtClean="0">
                <a:solidFill>
                  <a:srgbClr val="002060"/>
                </a:solidFill>
              </a:rPr>
              <a:t> клиент – </a:t>
            </a:r>
            <a:r>
              <a:rPr lang="ru-RU" sz="2400" i="1" dirty="0" smtClean="0">
                <a:solidFill>
                  <a:srgbClr val="002060"/>
                </a:solidFill>
              </a:rPr>
              <a:t>итерационная процедура</a:t>
            </a:r>
            <a:r>
              <a:rPr lang="ru-RU" sz="2400" dirty="0" smtClean="0">
                <a:solidFill>
                  <a:srgbClr val="002060"/>
                </a:solidFill>
              </a:rPr>
              <a:t>;</a:t>
            </a:r>
          </a:p>
          <a:p>
            <a:pPr>
              <a:buNone/>
            </a:pPr>
            <a:r>
              <a:rPr lang="ru-RU" sz="2400" dirty="0" smtClean="0"/>
              <a:t>            -работу </a:t>
            </a:r>
            <a:r>
              <a:rPr lang="ru-RU" sz="2400" dirty="0" smtClean="0">
                <a:solidFill>
                  <a:srgbClr val="002060"/>
                </a:solidFill>
              </a:rPr>
              <a:t>выполняет сервер – рекурсивная процедура.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     </a:t>
            </a:r>
            <a:r>
              <a:rPr lang="ru-RU" sz="2400" u="sng" dirty="0" smtClean="0">
                <a:solidFill>
                  <a:srgbClr val="002060"/>
                </a:solidFill>
              </a:rPr>
              <a:t>Рассмотрим первый  вариант </a:t>
            </a:r>
            <a:r>
              <a:rPr lang="ru-RU" sz="2400" i="1" u="sng" dirty="0" smtClean="0">
                <a:solidFill>
                  <a:srgbClr val="002060"/>
                </a:solidFill>
              </a:rPr>
              <a:t>– итерационная процедура </a:t>
            </a:r>
            <a:r>
              <a:rPr lang="ru-RU" sz="2400" dirty="0" smtClean="0"/>
              <a:t>:</a:t>
            </a:r>
          </a:p>
          <a:p>
            <a:pPr marL="457200" indent="-457200">
              <a:buNone/>
            </a:pPr>
            <a:r>
              <a:rPr lang="ru-RU" sz="2400" dirty="0" smtClean="0"/>
              <a:t>     1)  </a:t>
            </a:r>
            <a:r>
              <a:rPr lang="en-US" sz="2400" dirty="0" smtClean="0">
                <a:solidFill>
                  <a:srgbClr val="002060"/>
                </a:solidFill>
              </a:rPr>
              <a:t>DNS</a:t>
            </a:r>
            <a:r>
              <a:rPr lang="ru-RU" sz="2400" dirty="0" smtClean="0">
                <a:solidFill>
                  <a:srgbClr val="002060"/>
                </a:solidFill>
              </a:rPr>
              <a:t>-клиент обращается </a:t>
            </a:r>
            <a:r>
              <a:rPr lang="ru-RU" sz="2400" dirty="0" smtClean="0"/>
              <a:t>к корневому</a:t>
            </a:r>
            <a:r>
              <a:rPr lang="en-US" sz="2400" dirty="0" smtClean="0"/>
              <a:t> DNS</a:t>
            </a:r>
            <a:r>
              <a:rPr lang="ru-RU" sz="2400" dirty="0" smtClean="0"/>
              <a:t>-серверу с указанием полного доменного имени.</a:t>
            </a:r>
          </a:p>
          <a:p>
            <a:pPr marL="457200" indent="-457200">
              <a:buNone/>
            </a:pPr>
            <a:r>
              <a:rPr lang="ru-RU" sz="2400" dirty="0" smtClean="0"/>
              <a:t>      2)  </a:t>
            </a:r>
            <a:r>
              <a:rPr lang="en-US" sz="2400" dirty="0" smtClean="0">
                <a:solidFill>
                  <a:srgbClr val="002060"/>
                </a:solidFill>
              </a:rPr>
              <a:t>DNS</a:t>
            </a:r>
            <a:r>
              <a:rPr lang="ru-RU" sz="2400" dirty="0" smtClean="0">
                <a:solidFill>
                  <a:srgbClr val="002060"/>
                </a:solidFill>
              </a:rPr>
              <a:t>-сервер</a:t>
            </a:r>
            <a:r>
              <a:rPr lang="en-US" sz="2400" dirty="0" smtClean="0">
                <a:solidFill>
                  <a:srgbClr val="002060"/>
                </a:solidFill>
              </a:rPr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отвечает </a:t>
            </a:r>
            <a:r>
              <a:rPr lang="ru-RU" sz="2400" dirty="0" smtClean="0"/>
              <a:t>, указывая адрес следующего</a:t>
            </a:r>
            <a:r>
              <a:rPr lang="en-US" sz="2400" dirty="0" smtClean="0"/>
              <a:t> DNS</a:t>
            </a:r>
            <a:r>
              <a:rPr lang="ru-RU" sz="2400" dirty="0" smtClean="0"/>
              <a:t>-сервера, обслуживающего</a:t>
            </a:r>
            <a:r>
              <a:rPr lang="en-US" sz="2400" dirty="0" smtClean="0"/>
              <a:t> DNS</a:t>
            </a:r>
            <a:r>
              <a:rPr lang="ru-RU" sz="2400" dirty="0" smtClean="0"/>
              <a:t> домен верхнего уровня , заданный в старшей части запрошенного имени.</a:t>
            </a:r>
          </a:p>
          <a:p>
            <a:pPr marL="457200" indent="-457200">
              <a:buNone/>
            </a:pPr>
            <a:r>
              <a:rPr lang="ru-RU" sz="2400" dirty="0" smtClean="0"/>
              <a:t>       3) </a:t>
            </a:r>
            <a:r>
              <a:rPr lang="en-US" sz="2400" dirty="0" smtClean="0">
                <a:solidFill>
                  <a:srgbClr val="002060"/>
                </a:solidFill>
              </a:rPr>
              <a:t>DNS</a:t>
            </a:r>
            <a:r>
              <a:rPr lang="ru-RU" sz="2400" dirty="0" smtClean="0">
                <a:solidFill>
                  <a:srgbClr val="002060"/>
                </a:solidFill>
              </a:rPr>
              <a:t> –клиент делает запрос </a:t>
            </a:r>
            <a:r>
              <a:rPr lang="ru-RU" sz="2400" dirty="0" smtClean="0"/>
              <a:t>следующего </a:t>
            </a:r>
            <a:r>
              <a:rPr lang="en-US" sz="2400" dirty="0" smtClean="0"/>
              <a:t> DNS</a:t>
            </a:r>
            <a:r>
              <a:rPr lang="ru-RU" sz="2400" dirty="0" smtClean="0"/>
              <a:t> –сервера , который отсылает его к  </a:t>
            </a:r>
            <a:r>
              <a:rPr lang="en-US" sz="2400" dirty="0" smtClean="0"/>
              <a:t> DNS</a:t>
            </a:r>
            <a:r>
              <a:rPr lang="ru-RU" sz="2400" dirty="0" smtClean="0"/>
              <a:t>- сервера нужного </a:t>
            </a:r>
            <a:r>
              <a:rPr lang="ru-RU" sz="2400" dirty="0" err="1" smtClean="0"/>
              <a:t>поддомена</a:t>
            </a:r>
            <a:r>
              <a:rPr lang="ru-RU" sz="2400" dirty="0" smtClean="0"/>
              <a:t> и т.д.пока не будет найден </a:t>
            </a:r>
            <a:r>
              <a:rPr lang="en-US" sz="2400" dirty="0" smtClean="0"/>
              <a:t> DNS</a:t>
            </a:r>
            <a:r>
              <a:rPr lang="ru-RU" sz="2400" dirty="0" smtClean="0"/>
              <a:t> –сервер , в котором хранится соответствие запрошенного имени </a:t>
            </a:r>
            <a:r>
              <a:rPr lang="en-US" sz="2400" dirty="0" smtClean="0"/>
              <a:t>IP</a:t>
            </a:r>
            <a:r>
              <a:rPr lang="ru-RU" sz="2400" dirty="0" smtClean="0"/>
              <a:t>-адресу. Этот сервер и дает ответ.     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634082"/>
          </a:xfrm>
        </p:spPr>
        <p:txBody>
          <a:bodyPr>
            <a:normAutofit fontScale="90000"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Пример итерационного определения доменного имени</a:t>
            </a:r>
            <a:endParaRPr lang="ru-RU" sz="3200" dirty="0">
              <a:solidFill>
                <a:srgbClr val="7030A0"/>
              </a:solidFill>
            </a:endParaRPr>
          </a:p>
        </p:txBody>
      </p:sp>
      <p:pic>
        <p:nvPicPr>
          <p:cNvPr id="29698" name="Picture 2" descr="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052736"/>
            <a:ext cx="8964488" cy="5805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251521" y="6021288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002060"/>
                </a:solidFill>
              </a:rPr>
              <a:t>Итерация  - повторение</a:t>
            </a:r>
            <a:endParaRPr lang="ru-RU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706090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Способы определения доменных имен (2)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5616624"/>
          </a:xfrm>
        </p:spPr>
        <p:txBody>
          <a:bodyPr>
            <a:normAutofit/>
          </a:bodyPr>
          <a:lstStyle/>
          <a:p>
            <a:r>
              <a:rPr lang="ru-RU" sz="2400" u="sng" dirty="0" smtClean="0">
                <a:solidFill>
                  <a:srgbClr val="002060"/>
                </a:solidFill>
              </a:rPr>
              <a:t>Рассмотрим второй вариант </a:t>
            </a:r>
            <a:r>
              <a:rPr lang="ru-RU" sz="2400" i="1" u="sng" dirty="0" smtClean="0">
                <a:solidFill>
                  <a:srgbClr val="002060"/>
                </a:solidFill>
              </a:rPr>
              <a:t>- рекурсивная передача</a:t>
            </a:r>
            <a:r>
              <a:rPr lang="ru-RU" sz="2400" i="1" dirty="0" smtClean="0"/>
              <a:t>:</a:t>
            </a:r>
          </a:p>
          <a:p>
            <a:pPr>
              <a:buNone/>
            </a:pPr>
            <a:r>
              <a:rPr lang="ru-RU" sz="2400" dirty="0" smtClean="0"/>
              <a:t>       1)</a:t>
            </a:r>
            <a:r>
              <a:rPr lang="en-US" sz="2400" dirty="0" smtClean="0">
                <a:solidFill>
                  <a:srgbClr val="002060"/>
                </a:solidFill>
              </a:rPr>
              <a:t> DNS</a:t>
            </a:r>
            <a:r>
              <a:rPr lang="ru-RU" sz="2400" dirty="0" smtClean="0">
                <a:solidFill>
                  <a:srgbClr val="002060"/>
                </a:solidFill>
              </a:rPr>
              <a:t>-клиент запрашивает локальный</a:t>
            </a:r>
            <a:r>
              <a:rPr lang="en-US" sz="2400" dirty="0" smtClean="0">
                <a:solidFill>
                  <a:srgbClr val="002060"/>
                </a:solidFill>
              </a:rPr>
              <a:t> DNS</a:t>
            </a:r>
            <a:r>
              <a:rPr lang="ru-RU" sz="2400" dirty="0" smtClean="0">
                <a:solidFill>
                  <a:srgbClr val="002060"/>
                </a:solidFill>
              </a:rPr>
              <a:t>- сервер</a:t>
            </a:r>
            <a:r>
              <a:rPr lang="ru-RU" sz="2400" dirty="0" smtClean="0"/>
              <a:t>, т.е.тот сервер , который обслуживает </a:t>
            </a:r>
            <a:r>
              <a:rPr lang="ru-RU" sz="2400" dirty="0" err="1" smtClean="0"/>
              <a:t>поддомен</a:t>
            </a:r>
            <a:r>
              <a:rPr lang="ru-RU" sz="2400" dirty="0" smtClean="0"/>
              <a:t>, к которому принадлежит имя клиента</a:t>
            </a:r>
          </a:p>
          <a:p>
            <a:pPr>
              <a:buNone/>
            </a:pPr>
            <a:r>
              <a:rPr lang="ru-RU" sz="2400" dirty="0" smtClean="0"/>
              <a:t>       2) </a:t>
            </a:r>
            <a:r>
              <a:rPr lang="ru-RU" sz="2400" dirty="0" smtClean="0">
                <a:solidFill>
                  <a:srgbClr val="002060"/>
                </a:solidFill>
              </a:rPr>
              <a:t>Если локальный</a:t>
            </a:r>
            <a:r>
              <a:rPr lang="en-US" sz="2400" dirty="0" smtClean="0">
                <a:solidFill>
                  <a:srgbClr val="002060"/>
                </a:solidFill>
              </a:rPr>
              <a:t> DNS</a:t>
            </a:r>
            <a:r>
              <a:rPr lang="ru-RU" sz="2400" dirty="0" smtClean="0">
                <a:solidFill>
                  <a:srgbClr val="002060"/>
                </a:solidFill>
              </a:rPr>
              <a:t>- сервер знает ответ </a:t>
            </a:r>
            <a:r>
              <a:rPr lang="ru-RU" sz="2400" dirty="0" smtClean="0"/>
              <a:t>– он возвращает его клиенту – это когда запрашиваемое имя входит в тот же </a:t>
            </a:r>
            <a:r>
              <a:rPr lang="ru-RU" sz="2400" dirty="0" err="1" smtClean="0"/>
              <a:t>поддомен</a:t>
            </a:r>
            <a:r>
              <a:rPr lang="ru-RU" sz="2400" dirty="0" smtClean="0"/>
              <a:t>.</a:t>
            </a:r>
          </a:p>
          <a:p>
            <a:pPr>
              <a:buNone/>
            </a:pPr>
            <a:r>
              <a:rPr lang="ru-RU" sz="2400" dirty="0" smtClean="0"/>
              <a:t>      3) </a:t>
            </a:r>
            <a:r>
              <a:rPr lang="ru-RU" sz="2400" dirty="0" smtClean="0">
                <a:solidFill>
                  <a:srgbClr val="002060"/>
                </a:solidFill>
              </a:rPr>
              <a:t>Если локальный сервер не знает ответ </a:t>
            </a:r>
            <a:r>
              <a:rPr lang="ru-RU" sz="2400" dirty="0" smtClean="0"/>
              <a:t>, то </a:t>
            </a:r>
            <a:r>
              <a:rPr lang="ru-RU" sz="2400" dirty="0" smtClean="0">
                <a:solidFill>
                  <a:srgbClr val="002060"/>
                </a:solidFill>
              </a:rPr>
              <a:t>он выполняет итеративные (повторные) запросы к корневому серверу </a:t>
            </a:r>
            <a:r>
              <a:rPr lang="ru-RU" sz="2400" dirty="0" smtClean="0"/>
              <a:t>и т.д. как и в первом варианте.</a:t>
            </a:r>
          </a:p>
          <a:p>
            <a:pPr>
              <a:buNone/>
            </a:pPr>
            <a:r>
              <a:rPr lang="ru-RU" sz="2400" dirty="0" smtClean="0"/>
              <a:t>     Получив ответ, он передает его клиенту , который просто ожидает его от своего локального </a:t>
            </a:r>
            <a:r>
              <a:rPr lang="en-US" sz="2400" dirty="0" smtClean="0"/>
              <a:t>DNS</a:t>
            </a:r>
            <a:r>
              <a:rPr lang="ru-RU" sz="2400" dirty="0" smtClean="0">
                <a:solidFill>
                  <a:srgbClr val="002060"/>
                </a:solidFill>
              </a:rPr>
              <a:t>-</a:t>
            </a:r>
            <a:r>
              <a:rPr lang="en-US" sz="2400" dirty="0" smtClean="0">
                <a:solidFill>
                  <a:srgbClr val="002060"/>
                </a:solidFill>
              </a:rPr>
              <a:t> </a:t>
            </a:r>
            <a:r>
              <a:rPr lang="ru-RU" sz="2400" dirty="0" smtClean="0"/>
              <a:t>сервера.  </a:t>
            </a:r>
          </a:p>
          <a:p>
            <a:r>
              <a:rPr lang="ru-RU" sz="2400" dirty="0" smtClean="0"/>
              <a:t>    Для ускорения поиска </a:t>
            </a:r>
            <a:r>
              <a:rPr lang="en-US" sz="2400" dirty="0" smtClean="0"/>
              <a:t>IP</a:t>
            </a:r>
            <a:r>
              <a:rPr lang="ru-RU" sz="2400" dirty="0" smtClean="0"/>
              <a:t> адресов </a:t>
            </a:r>
            <a:r>
              <a:rPr lang="en-US" sz="2400" dirty="0" smtClean="0"/>
              <a:t>DNS</a:t>
            </a:r>
            <a:r>
              <a:rPr lang="ru-RU" sz="2400" dirty="0" smtClean="0"/>
              <a:t>-серверы применяют процедуру кэширования ответов на определенное время.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Рекурсивный метод разрешения запросов</a:t>
            </a:r>
            <a:endParaRPr lang="ru-RU" sz="3200" dirty="0">
              <a:solidFill>
                <a:srgbClr val="7030A0"/>
              </a:solidFill>
            </a:endParaRPr>
          </a:p>
        </p:txBody>
      </p:sp>
      <p:pic>
        <p:nvPicPr>
          <p:cNvPr id="28674" name="Picture 2" descr="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052736"/>
            <a:ext cx="8712968" cy="5629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67544" y="6237312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err="1" smtClean="0">
                <a:solidFill>
                  <a:srgbClr val="002060"/>
                </a:solidFill>
              </a:rPr>
              <a:t>Рекурс</a:t>
            </a:r>
            <a:r>
              <a:rPr lang="ru-RU" sz="2400" dirty="0" smtClean="0">
                <a:solidFill>
                  <a:srgbClr val="002060"/>
                </a:solidFill>
              </a:rPr>
              <a:t> - возвращение</a:t>
            </a:r>
            <a:endParaRPr lang="ru-RU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467600" cy="418058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Алгоритм разрешения имен</a:t>
            </a:r>
            <a:endParaRPr lang="ru-RU" sz="3600" dirty="0">
              <a:solidFill>
                <a:srgbClr val="7030A0"/>
              </a:solidFill>
            </a:endParaRPr>
          </a:p>
        </p:txBody>
      </p:sp>
      <p:pic>
        <p:nvPicPr>
          <p:cNvPr id="30722" name="Picture 2" descr="http://www.ipm.kstu.ru/it/lec/2-2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025352"/>
            <a:ext cx="8640959" cy="5644008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51520" y="1052736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2060"/>
                </a:solidFill>
              </a:rPr>
              <a:t>Root - </a:t>
            </a:r>
            <a:r>
              <a:rPr lang="ru-RU" sz="2400" dirty="0" smtClean="0">
                <a:solidFill>
                  <a:srgbClr val="002060"/>
                </a:solidFill>
              </a:rPr>
              <a:t>корень</a:t>
            </a:r>
            <a:endParaRPr lang="ru-RU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0" y="1772816"/>
            <a:ext cx="8676456" cy="2664296"/>
          </a:xfrm>
        </p:spPr>
        <p:txBody>
          <a:bodyPr>
            <a:normAutofit/>
          </a:bodyPr>
          <a:lstStyle/>
          <a:p>
            <a:pPr algn="ctr"/>
            <a:r>
              <a:rPr lang="ru-RU" sz="4400" dirty="0" smtClean="0">
                <a:solidFill>
                  <a:srgbClr val="7030A0"/>
                </a:solidFill>
              </a:rPr>
              <a:t>5.6.Служба </a:t>
            </a:r>
            <a:r>
              <a:rPr lang="en-US" sz="4400" dirty="0" smtClean="0">
                <a:solidFill>
                  <a:srgbClr val="7030A0"/>
                </a:solidFill>
              </a:rPr>
              <a:t>ARP</a:t>
            </a:r>
            <a:r>
              <a:rPr lang="ru-RU" sz="4400" dirty="0" smtClean="0">
                <a:solidFill>
                  <a:srgbClr val="7030A0"/>
                </a:solidFill>
              </a:rPr>
              <a:t> – протокол разрешения адресов . Преобразование адресов </a:t>
            </a:r>
            <a:r>
              <a:rPr lang="en-US" sz="4400" dirty="0" smtClean="0">
                <a:solidFill>
                  <a:srgbClr val="7030A0"/>
                </a:solidFill>
              </a:rPr>
              <a:t>IP</a:t>
            </a:r>
            <a:r>
              <a:rPr lang="ru-RU" sz="4400" dirty="0" smtClean="0">
                <a:solidFill>
                  <a:srgbClr val="7030A0"/>
                </a:solidFill>
              </a:rPr>
              <a:t>- МАК </a:t>
            </a:r>
            <a:endParaRPr lang="ru-RU" sz="44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 Адреса </a:t>
            </a:r>
            <a:r>
              <a:rPr lang="en-US" sz="3600" dirty="0" smtClean="0">
                <a:solidFill>
                  <a:srgbClr val="7030A0"/>
                </a:solidFill>
              </a:rPr>
              <a:t>TCP/IP</a:t>
            </a:r>
            <a:r>
              <a:rPr lang="ru-RU" sz="3600" dirty="0" smtClean="0">
                <a:solidFill>
                  <a:srgbClr val="7030A0"/>
                </a:solidFill>
              </a:rPr>
              <a:t>.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08720"/>
            <a:ext cx="8712968" cy="5949280"/>
          </a:xfrm>
        </p:spPr>
        <p:txBody>
          <a:bodyPr>
            <a:normAutofit fontScale="77500" lnSpcReduction="20000"/>
          </a:bodyPr>
          <a:lstStyle/>
          <a:p>
            <a:pPr marL="190500" lvl="1" indent="190500">
              <a:buClr>
                <a:srgbClr val="99CCFF"/>
              </a:buClr>
              <a:buNone/>
            </a:pP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ru-RU" sz="3400" dirty="0" smtClean="0">
                <a:solidFill>
                  <a:srgbClr val="002060"/>
                </a:solidFill>
              </a:rPr>
              <a:t>1</a:t>
            </a:r>
            <a:r>
              <a:rPr lang="ru-RU" sz="3400" i="1" dirty="0" smtClean="0">
                <a:solidFill>
                  <a:srgbClr val="002060"/>
                </a:solidFill>
              </a:rPr>
              <a:t>.  </a:t>
            </a:r>
            <a:r>
              <a:rPr lang="ru-RU" sz="3400" i="1" u="sng" dirty="0" smtClean="0">
                <a:solidFill>
                  <a:srgbClr val="002060"/>
                </a:solidFill>
              </a:rPr>
              <a:t>Физический адрес</a:t>
            </a:r>
            <a:r>
              <a:rPr lang="ru-RU" sz="3400" i="1" dirty="0" smtClean="0">
                <a:solidFill>
                  <a:srgbClr val="002060"/>
                </a:solidFill>
              </a:rPr>
              <a:t> </a:t>
            </a:r>
          </a:p>
          <a:p>
            <a:pPr marL="190500" lvl="1" indent="190500">
              <a:buClr>
                <a:srgbClr val="99CCFF"/>
              </a:buClr>
              <a:buNone/>
            </a:pPr>
            <a:r>
              <a:rPr lang="ru-RU" sz="3400" i="1" dirty="0" smtClean="0">
                <a:solidFill>
                  <a:srgbClr val="002060"/>
                </a:solidFill>
              </a:rPr>
              <a:t>  </a:t>
            </a:r>
            <a:r>
              <a:rPr lang="ru-RU" sz="3400" dirty="0" smtClean="0">
                <a:solidFill>
                  <a:srgbClr val="002060"/>
                </a:solidFill>
              </a:rPr>
              <a:t>(</a:t>
            </a:r>
            <a:r>
              <a:rPr lang="en-US" sz="3400" dirty="0" smtClean="0">
                <a:solidFill>
                  <a:srgbClr val="002060"/>
                </a:solidFill>
              </a:rPr>
              <a:t> </a:t>
            </a:r>
            <a:r>
              <a:rPr lang="ru-RU" sz="3400" dirty="0" smtClean="0">
                <a:solidFill>
                  <a:srgbClr val="002060"/>
                </a:solidFill>
              </a:rPr>
              <a:t>например, </a:t>
            </a:r>
            <a:r>
              <a:rPr lang="en-US" sz="3400" dirty="0" smtClean="0">
                <a:solidFill>
                  <a:srgbClr val="002060"/>
                </a:solidFill>
              </a:rPr>
              <a:t>      </a:t>
            </a:r>
            <a:r>
              <a:rPr lang="ru-RU" sz="3400" dirty="0" smtClean="0">
                <a:solidFill>
                  <a:srgbClr val="002060"/>
                </a:solidFill>
              </a:rPr>
              <a:t>MAC-адрес</a:t>
            </a:r>
            <a:r>
              <a:rPr lang="en-US" sz="3400" dirty="0" smtClean="0">
                <a:solidFill>
                  <a:srgbClr val="002060"/>
                </a:solidFill>
              </a:rPr>
              <a:t> 00-0b-6a-85-b6-41</a:t>
            </a:r>
            <a:r>
              <a:rPr lang="ru-RU" sz="3400" dirty="0" smtClean="0">
                <a:solidFill>
                  <a:srgbClr val="002060"/>
                </a:solidFill>
              </a:rPr>
              <a:t>, АТМ адрес </a:t>
            </a:r>
            <a:r>
              <a:rPr lang="en-US" sz="3400" dirty="0" smtClean="0">
                <a:solidFill>
                  <a:srgbClr val="002060"/>
                </a:solidFill>
              </a:rPr>
              <a:t>NSAP  , </a:t>
            </a:r>
            <a:r>
              <a:rPr lang="ru-RU" sz="3400" dirty="0" smtClean="0">
                <a:solidFill>
                  <a:srgbClr val="002060"/>
                </a:solidFill>
              </a:rPr>
              <a:t>глобальный адрес X.25, </a:t>
            </a:r>
            <a:r>
              <a:rPr lang="en-US" sz="3400" dirty="0" smtClean="0">
                <a:solidFill>
                  <a:srgbClr val="002060"/>
                </a:solidFill>
              </a:rPr>
              <a:t>   </a:t>
            </a:r>
            <a:r>
              <a:rPr lang="ru-RU" sz="3400" dirty="0" smtClean="0">
                <a:solidFill>
                  <a:srgbClr val="002060"/>
                </a:solidFill>
              </a:rPr>
              <a:t>логический адрес канального уровня)</a:t>
            </a:r>
          </a:p>
          <a:p>
            <a:pPr marL="190500" lvl="1" indent="190500">
              <a:buClr>
                <a:srgbClr val="99CCFF"/>
              </a:buClr>
              <a:buNone/>
            </a:pPr>
            <a:r>
              <a:rPr lang="ru-RU" sz="3400" dirty="0" smtClean="0">
                <a:solidFill>
                  <a:srgbClr val="002060"/>
                </a:solidFill>
              </a:rPr>
              <a:t> 2</a:t>
            </a:r>
            <a:r>
              <a:rPr lang="ru-RU" sz="3400" i="1" dirty="0" smtClean="0">
                <a:solidFill>
                  <a:srgbClr val="002060"/>
                </a:solidFill>
              </a:rPr>
              <a:t>.  </a:t>
            </a:r>
            <a:r>
              <a:rPr lang="ru-RU" sz="3400" i="1" u="sng" dirty="0" smtClean="0">
                <a:solidFill>
                  <a:srgbClr val="002060"/>
                </a:solidFill>
              </a:rPr>
              <a:t>Сетевой адрес</a:t>
            </a:r>
            <a:r>
              <a:rPr lang="ru-RU" sz="3400" i="1" dirty="0" smtClean="0">
                <a:solidFill>
                  <a:srgbClr val="002060"/>
                </a:solidFill>
              </a:rPr>
              <a:t>       </a:t>
            </a:r>
          </a:p>
          <a:p>
            <a:pPr marL="190500" lvl="1" indent="190500">
              <a:buClr>
                <a:srgbClr val="99CCFF"/>
              </a:buClr>
              <a:buNone/>
            </a:pPr>
            <a:r>
              <a:rPr lang="ru-RU" sz="3400" i="1" dirty="0" smtClean="0">
                <a:solidFill>
                  <a:srgbClr val="002060"/>
                </a:solidFill>
              </a:rPr>
              <a:t>   </a:t>
            </a:r>
            <a:r>
              <a:rPr lang="ru-RU" sz="3400" dirty="0" smtClean="0">
                <a:solidFill>
                  <a:srgbClr val="002060"/>
                </a:solidFill>
              </a:rPr>
              <a:t>(</a:t>
            </a:r>
            <a:r>
              <a:rPr lang="en-US" sz="3400" dirty="0" smtClean="0">
                <a:solidFill>
                  <a:srgbClr val="002060"/>
                </a:solidFill>
              </a:rPr>
              <a:t> </a:t>
            </a:r>
            <a:r>
              <a:rPr lang="ru-RU" sz="3400" dirty="0" smtClean="0">
                <a:solidFill>
                  <a:srgbClr val="002060"/>
                </a:solidFill>
              </a:rPr>
              <a:t>например, IP-адрес имеет  две части: номер сети и номер интерфейса в этой сети).</a:t>
            </a:r>
          </a:p>
          <a:p>
            <a:pPr marL="190500" lvl="1" indent="190500">
              <a:buClr>
                <a:srgbClr val="99CCFF"/>
              </a:buClr>
              <a:buNone/>
            </a:pPr>
            <a:endParaRPr lang="ru-RU" sz="3400" dirty="0" smtClean="0">
              <a:solidFill>
                <a:srgbClr val="002060"/>
              </a:solidFill>
            </a:endParaRPr>
          </a:p>
          <a:p>
            <a:pPr marL="190500" lvl="1" indent="190500">
              <a:buClr>
                <a:srgbClr val="99CCFF"/>
              </a:buClr>
              <a:buNone/>
            </a:pPr>
            <a:r>
              <a:rPr lang="ru-RU" sz="3400" dirty="0" smtClean="0">
                <a:solidFill>
                  <a:srgbClr val="002060"/>
                </a:solidFill>
              </a:rPr>
              <a:t>  </a:t>
            </a:r>
            <a:r>
              <a:rPr lang="ru-RU" sz="3400" dirty="0" smtClean="0"/>
              <a:t> Узел может иметь несколько IP адресов по количеству сетей, к которым подключен.</a:t>
            </a:r>
          </a:p>
          <a:p>
            <a:pPr marL="190500" lvl="1" indent="190500">
              <a:buClr>
                <a:srgbClr val="99CCFF"/>
              </a:buClr>
              <a:buNone/>
            </a:pPr>
            <a:r>
              <a:rPr lang="ru-RU" sz="3400" dirty="0" smtClean="0"/>
              <a:t>    Одному физическому интерфейсу может быть приписано несколько </a:t>
            </a:r>
            <a:r>
              <a:rPr lang="en-US" sz="3400" dirty="0" smtClean="0"/>
              <a:t>IP </a:t>
            </a:r>
            <a:r>
              <a:rPr lang="ru-RU" sz="3400" dirty="0" smtClean="0"/>
              <a:t>адресов, или, наоборот, одному адресу сетевого уровня соответствует несколько адресов канального уровня,</a:t>
            </a:r>
          </a:p>
          <a:p>
            <a:pPr marL="190500" lvl="1" indent="190500">
              <a:buClr>
                <a:srgbClr val="99CCFF"/>
              </a:buClr>
              <a:buNone/>
            </a:pPr>
            <a:r>
              <a:rPr lang="ru-RU" sz="3400" dirty="0" smtClean="0"/>
              <a:t>     </a:t>
            </a:r>
          </a:p>
          <a:p>
            <a:pPr marL="190500" lvl="1" indent="190500">
              <a:buClr>
                <a:srgbClr val="99CCFF"/>
              </a:buClr>
              <a:buNone/>
            </a:pPr>
            <a:r>
              <a:rPr lang="ru-RU" sz="3600" i="1" dirty="0" smtClean="0">
                <a:solidFill>
                  <a:srgbClr val="002060"/>
                </a:solidFill>
              </a:rPr>
              <a:t>   </a:t>
            </a:r>
            <a:endParaRPr lang="ru-RU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0"/>
            <a:ext cx="8435280" cy="692696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Протокол </a:t>
            </a:r>
            <a:r>
              <a:rPr lang="en-US" sz="3600" dirty="0" smtClean="0">
                <a:solidFill>
                  <a:srgbClr val="7030A0"/>
                </a:solidFill>
              </a:rPr>
              <a:t>ARP</a:t>
            </a:r>
            <a:r>
              <a:rPr lang="ru-RU" sz="3600" dirty="0" smtClean="0">
                <a:solidFill>
                  <a:srgbClr val="7030A0"/>
                </a:solidFill>
              </a:rPr>
              <a:t> – разрешения адресов (1а)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836712"/>
            <a:ext cx="8784976" cy="5760640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002060"/>
                </a:solidFill>
              </a:rPr>
              <a:t>Основная задача при создании протокола </a:t>
            </a:r>
            <a:r>
              <a:rPr lang="en-US" sz="2800" dirty="0" smtClean="0">
                <a:solidFill>
                  <a:srgbClr val="002060"/>
                </a:solidFill>
              </a:rPr>
              <a:t>IP </a:t>
            </a:r>
            <a:r>
              <a:rPr lang="ru-RU" sz="2800" dirty="0" smtClean="0">
                <a:solidFill>
                  <a:srgbClr val="002060"/>
                </a:solidFill>
              </a:rPr>
              <a:t>– это обеспечение совместной работы в сети, состоящей из  подсетей, использующих разные сетевые  технологии</a:t>
            </a:r>
            <a:r>
              <a:rPr lang="ru-RU" sz="2800" dirty="0" smtClean="0"/>
              <a:t>.</a:t>
            </a:r>
          </a:p>
          <a:p>
            <a:endParaRPr lang="ru-RU" sz="2800" dirty="0" smtClean="0"/>
          </a:p>
          <a:p>
            <a:r>
              <a:rPr lang="ru-RU" sz="2800" dirty="0" smtClean="0"/>
              <a:t>При перемещении пакета по  составной сети, на каждом </a:t>
            </a:r>
            <a:r>
              <a:rPr lang="ru-RU" sz="2800" dirty="0" err="1" smtClean="0"/>
              <a:t>маршрутизаторе</a:t>
            </a:r>
            <a:r>
              <a:rPr lang="ru-RU" sz="2800" dirty="0" smtClean="0"/>
              <a:t> протокол </a:t>
            </a:r>
            <a:r>
              <a:rPr lang="en-US" sz="2800" dirty="0" smtClean="0"/>
              <a:t>I</a:t>
            </a:r>
            <a:r>
              <a:rPr lang="ru-RU" sz="2800" dirty="0" smtClean="0"/>
              <a:t>Р определяет в какую подсеть  и какому пограничному узлу надо направить пакет. </a:t>
            </a:r>
          </a:p>
          <a:p>
            <a:endParaRPr lang="ru-RU" sz="2800" dirty="0" smtClean="0"/>
          </a:p>
          <a:p>
            <a:r>
              <a:rPr lang="ru-RU" sz="2800" dirty="0" smtClean="0"/>
              <a:t>Пограничный узел – это </a:t>
            </a:r>
            <a:r>
              <a:rPr lang="ru-RU" sz="2800" dirty="0" err="1" smtClean="0"/>
              <a:t>маршрутизатор</a:t>
            </a:r>
            <a:r>
              <a:rPr lang="ru-RU" sz="2800" dirty="0" smtClean="0"/>
              <a:t>  и протоколу </a:t>
            </a:r>
            <a:r>
              <a:rPr lang="en-US" sz="2800" dirty="0" smtClean="0"/>
              <a:t>IP</a:t>
            </a:r>
            <a:r>
              <a:rPr lang="ru-RU" sz="2800" dirty="0" smtClean="0"/>
              <a:t> известен его адрес.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892480" cy="850106"/>
          </a:xfrm>
        </p:spPr>
        <p:txBody>
          <a:bodyPr>
            <a:normAutofit/>
          </a:bodyPr>
          <a:lstStyle/>
          <a:p>
            <a:pPr algn="l"/>
            <a:r>
              <a:rPr lang="ru-RU" sz="3200" dirty="0" smtClean="0">
                <a:solidFill>
                  <a:srgbClr val="7030A0"/>
                </a:solidFill>
              </a:rPr>
              <a:t>Протокол </a:t>
            </a:r>
            <a:r>
              <a:rPr lang="en-US" sz="3200" dirty="0" smtClean="0">
                <a:solidFill>
                  <a:srgbClr val="7030A0"/>
                </a:solidFill>
              </a:rPr>
              <a:t>ARP</a:t>
            </a:r>
            <a:r>
              <a:rPr lang="ru-RU" sz="3200" dirty="0" smtClean="0">
                <a:solidFill>
                  <a:srgbClr val="7030A0"/>
                </a:solidFill>
              </a:rPr>
              <a:t> – разрешения адресов (1б)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733256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 </a:t>
            </a:r>
            <a:r>
              <a:rPr lang="ru-RU" dirty="0" smtClean="0">
                <a:solidFill>
                  <a:srgbClr val="002060"/>
                </a:solidFill>
              </a:rPr>
              <a:t>Для того, чтобы другая  технология подсети могла   доставить пакет на следующий </a:t>
            </a:r>
            <a:r>
              <a:rPr lang="ru-RU" dirty="0" err="1" smtClean="0">
                <a:solidFill>
                  <a:srgbClr val="002060"/>
                </a:solidFill>
              </a:rPr>
              <a:t>маршрутизатор</a:t>
            </a:r>
            <a:r>
              <a:rPr lang="ru-RU" dirty="0" smtClean="0">
                <a:solidFill>
                  <a:srgbClr val="002060"/>
                </a:solidFill>
              </a:rPr>
              <a:t> необходимо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 smtClean="0"/>
              <a:t>          </a:t>
            </a:r>
            <a:r>
              <a:rPr lang="en-US" dirty="0" smtClean="0"/>
              <a:t>1)</a:t>
            </a:r>
            <a:r>
              <a:rPr lang="ru-RU" dirty="0" smtClean="0"/>
              <a:t> - упаковать пакет в кадр , соответствующего для данной подсети формата</a:t>
            </a:r>
            <a:r>
              <a:rPr lang="en-US" dirty="0" smtClean="0"/>
              <a:t> </a:t>
            </a:r>
            <a:r>
              <a:rPr lang="ru-RU" dirty="0" smtClean="0"/>
              <a:t>( например, </a:t>
            </a:r>
            <a:r>
              <a:rPr lang="en-US" dirty="0" smtClean="0"/>
              <a:t>Ethernet</a:t>
            </a:r>
            <a:r>
              <a:rPr lang="ru-RU" dirty="0" smtClean="0"/>
              <a:t>);</a:t>
            </a:r>
          </a:p>
          <a:p>
            <a:pPr>
              <a:buNone/>
            </a:pPr>
            <a:r>
              <a:rPr lang="ru-RU" dirty="0" smtClean="0"/>
              <a:t>         </a:t>
            </a:r>
            <a:r>
              <a:rPr lang="en-US" dirty="0" smtClean="0"/>
              <a:t>2)</a:t>
            </a:r>
            <a:r>
              <a:rPr lang="ru-RU" dirty="0" smtClean="0"/>
              <a:t> - снабдить кадр адресом , формат которого был бы понятен локальной технологии подсети ( например, преобразовать </a:t>
            </a:r>
            <a:r>
              <a:rPr lang="en-US" dirty="0" smtClean="0"/>
              <a:t>IP</a:t>
            </a:r>
            <a:r>
              <a:rPr lang="ru-RU" dirty="0" smtClean="0"/>
              <a:t>-</a:t>
            </a:r>
            <a:r>
              <a:rPr lang="en-US" dirty="0" smtClean="0"/>
              <a:t> </a:t>
            </a:r>
            <a:r>
              <a:rPr lang="ru-RU" dirty="0" smtClean="0"/>
              <a:t>адрес в МАК- адрес).</a:t>
            </a:r>
          </a:p>
          <a:p>
            <a:pPr>
              <a:buNone/>
            </a:pPr>
            <a:r>
              <a:rPr lang="ru-RU" dirty="0" smtClean="0"/>
              <a:t>         Решением этих проблем занимается уровень сетевых интерфейсов стека  </a:t>
            </a:r>
            <a:r>
              <a:rPr lang="en-US" dirty="0" smtClean="0"/>
              <a:t>TCP/IP. </a:t>
            </a:r>
          </a:p>
          <a:p>
            <a:pPr>
              <a:buNone/>
            </a:pPr>
            <a:r>
              <a:rPr lang="en-US" dirty="0" smtClean="0"/>
              <a:t>         </a:t>
            </a:r>
            <a:r>
              <a:rPr lang="ru-RU" u="sng" dirty="0" smtClean="0">
                <a:solidFill>
                  <a:srgbClr val="002060"/>
                </a:solidFill>
              </a:rPr>
              <a:t>Для определения локального адреса по </a:t>
            </a:r>
            <a:r>
              <a:rPr lang="en-US" u="sng" dirty="0" smtClean="0">
                <a:solidFill>
                  <a:srgbClr val="002060"/>
                </a:solidFill>
              </a:rPr>
              <a:t>IP </a:t>
            </a:r>
            <a:r>
              <a:rPr lang="ru-RU" u="sng" dirty="0" smtClean="0">
                <a:solidFill>
                  <a:srgbClr val="002060"/>
                </a:solidFill>
              </a:rPr>
              <a:t>адресу используется </a:t>
            </a:r>
            <a:r>
              <a:rPr lang="ru-RU" i="1" u="sng" dirty="0" smtClean="0">
                <a:solidFill>
                  <a:srgbClr val="002060"/>
                </a:solidFill>
              </a:rPr>
              <a:t>протокол разрешения адресов </a:t>
            </a:r>
            <a:r>
              <a:rPr lang="en-US" i="1" u="sng" dirty="0" smtClean="0">
                <a:solidFill>
                  <a:srgbClr val="002060"/>
                </a:solidFill>
              </a:rPr>
              <a:t>ARP </a:t>
            </a:r>
            <a:r>
              <a:rPr lang="ru-RU" i="1" u="sng" dirty="0" smtClean="0">
                <a:solidFill>
                  <a:srgbClr val="002060"/>
                </a:solidFill>
              </a:rPr>
              <a:t>(</a:t>
            </a:r>
            <a:r>
              <a:rPr lang="en-US" i="1" u="sng" dirty="0" smtClean="0">
                <a:solidFill>
                  <a:srgbClr val="002060"/>
                </a:solidFill>
              </a:rPr>
              <a:t>Address Resolution Protocol).</a:t>
            </a:r>
            <a:endParaRPr lang="ru-RU" i="1" u="sng" dirty="0" smtClean="0">
              <a:solidFill>
                <a:srgbClr val="002060"/>
              </a:solidFill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706" name="Picture 2" descr="C:\Users\Юра\Downloads\преообразование адресов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778098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sz="2800" dirty="0" smtClean="0">
                <a:solidFill>
                  <a:srgbClr val="7030A0"/>
                </a:solidFill>
              </a:rPr>
              <a:t>Преобразование </a:t>
            </a:r>
            <a:r>
              <a:rPr lang="en-US" sz="2800" dirty="0" smtClean="0">
                <a:solidFill>
                  <a:srgbClr val="7030A0"/>
                </a:solidFill>
              </a:rPr>
              <a:t>IP</a:t>
            </a:r>
            <a:r>
              <a:rPr lang="ru-RU" sz="2800" dirty="0" smtClean="0">
                <a:solidFill>
                  <a:srgbClr val="7030A0"/>
                </a:solidFill>
              </a:rPr>
              <a:t>-адресов на локальные адреса(1в)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052736"/>
            <a:ext cx="8964488" cy="5616624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400" dirty="0" smtClean="0"/>
              <a:t>Зависимости между локальным адресом (</a:t>
            </a:r>
            <a:r>
              <a:rPr lang="ru-RU" sz="2400" dirty="0" err="1" smtClean="0"/>
              <a:t>МАС-адресом</a:t>
            </a:r>
            <a:r>
              <a:rPr lang="ru-RU" sz="2400" dirty="0" smtClean="0"/>
              <a:t>) и его сетевым адресом (</a:t>
            </a:r>
            <a:r>
              <a:rPr lang="en-US" sz="2400" dirty="0" smtClean="0"/>
              <a:t>IP</a:t>
            </a:r>
            <a:r>
              <a:rPr lang="ru-RU" sz="2400" dirty="0" smtClean="0"/>
              <a:t>-адресом) не существует, следовательно, единственный способ установления соответствия — ведение таблиц. </a:t>
            </a:r>
          </a:p>
          <a:p>
            <a:pPr eaLnBrk="1" hangingPunct="1">
              <a:lnSpc>
                <a:spcPct val="80000"/>
              </a:lnSpc>
            </a:pPr>
            <a:r>
              <a:rPr lang="ru-RU" sz="2400" dirty="0" smtClean="0">
                <a:solidFill>
                  <a:srgbClr val="002060"/>
                </a:solidFill>
              </a:rPr>
              <a:t>Для определения локального адреса по </a:t>
            </a:r>
            <a:r>
              <a:rPr lang="en-US" sz="2400" dirty="0" smtClean="0">
                <a:solidFill>
                  <a:srgbClr val="002060"/>
                </a:solidFill>
              </a:rPr>
              <a:t>IP</a:t>
            </a:r>
            <a:r>
              <a:rPr lang="ru-RU" sz="2400" dirty="0" smtClean="0">
                <a:solidFill>
                  <a:srgbClr val="002060"/>
                </a:solidFill>
              </a:rPr>
              <a:t>-адресу используется 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протокол разрешения адресов (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ARP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 </a:t>
            </a:r>
          </a:p>
          <a:p>
            <a:pPr eaLnBrk="1" hangingPunct="1">
              <a:lnSpc>
                <a:spcPct val="80000"/>
              </a:lnSpc>
            </a:pPr>
            <a:endParaRPr lang="ru-RU" sz="2400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80000"/>
              </a:lnSpc>
            </a:pPr>
            <a:r>
              <a:rPr lang="ru-RU" sz="2400" b="1" dirty="0" smtClean="0"/>
              <a:t>Процесс перехода от </a:t>
            </a:r>
            <a:r>
              <a:rPr lang="en-US" sz="2400" b="1" dirty="0" smtClean="0"/>
              <a:t>IP</a:t>
            </a:r>
            <a:r>
              <a:rPr lang="ru-RU" sz="2400" b="1" dirty="0" smtClean="0"/>
              <a:t>-адреса к </a:t>
            </a:r>
            <a:r>
              <a:rPr lang="ru-RU" sz="2400" b="1" dirty="0" err="1" smtClean="0"/>
              <a:t>МАС-адресу</a:t>
            </a:r>
            <a:r>
              <a:rPr lang="ru-RU" sz="2400" b="1" dirty="0" smtClean="0"/>
              <a:t> происходит следующим образом: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Протокол </a:t>
            </a:r>
            <a:r>
              <a:rPr lang="en-US" sz="2400" b="1" dirty="0" smtClean="0"/>
              <a:t>IP</a:t>
            </a:r>
            <a:r>
              <a:rPr lang="ru-RU" sz="2400" dirty="0" smtClean="0"/>
              <a:t> обращается к протоколу </a:t>
            </a:r>
            <a:r>
              <a:rPr lang="en-US" sz="2400" b="1" dirty="0" smtClean="0"/>
              <a:t>ARP</a:t>
            </a:r>
            <a:r>
              <a:rPr lang="ru-RU" sz="2400" dirty="0" smtClean="0"/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Протокол </a:t>
            </a:r>
            <a:r>
              <a:rPr lang="en-US" sz="2400" b="1" dirty="0" smtClean="0"/>
              <a:t>ARP</a:t>
            </a:r>
            <a:r>
              <a:rPr lang="ru-RU" sz="2400" dirty="0" smtClean="0"/>
              <a:t> просматривает </a:t>
            </a:r>
            <a:r>
              <a:rPr lang="en-US" sz="2400" b="1" dirty="0" smtClean="0"/>
              <a:t>ARP</a:t>
            </a:r>
            <a:r>
              <a:rPr lang="ru-RU" sz="2400" dirty="0" smtClean="0"/>
              <a:t>-таблицу, где накапливается информация о соответствии между </a:t>
            </a:r>
            <a:r>
              <a:rPr lang="en-US" sz="2400" dirty="0" smtClean="0"/>
              <a:t>IP</a:t>
            </a:r>
            <a:r>
              <a:rPr lang="ru-RU" sz="2400" dirty="0" smtClean="0"/>
              <a:t>-адресами к </a:t>
            </a:r>
            <a:r>
              <a:rPr lang="ru-RU" sz="2400" dirty="0" err="1" smtClean="0"/>
              <a:t>МАС-адресами</a:t>
            </a:r>
            <a:r>
              <a:rPr lang="ru-RU" sz="2400" dirty="0" smtClean="0"/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Если в таблице отсутствует запрашиваемый </a:t>
            </a:r>
            <a:r>
              <a:rPr lang="en-US" sz="2400" dirty="0" smtClean="0"/>
              <a:t>IP</a:t>
            </a:r>
            <a:r>
              <a:rPr lang="ru-RU" sz="2400" dirty="0" smtClean="0"/>
              <a:t>-адрес, то он запоминается в буфере, а протокол </a:t>
            </a:r>
            <a:r>
              <a:rPr lang="en-US" sz="2400" dirty="0" smtClean="0"/>
              <a:t>ARP </a:t>
            </a:r>
            <a:r>
              <a:rPr lang="ru-RU" sz="2400" dirty="0" smtClean="0"/>
              <a:t>формирует </a:t>
            </a:r>
            <a:r>
              <a:rPr lang="en-US" sz="2400" b="1" dirty="0" smtClean="0"/>
              <a:t>ARP</a:t>
            </a:r>
            <a:r>
              <a:rPr lang="ru-RU" sz="2400" b="1" dirty="0" smtClean="0"/>
              <a:t>-запрос </a:t>
            </a:r>
            <a:r>
              <a:rPr lang="ru-RU" sz="2400" dirty="0" smtClean="0"/>
              <a:t>и</a:t>
            </a:r>
            <a:r>
              <a:rPr lang="ru-RU" sz="2400" b="1" dirty="0" smtClean="0"/>
              <a:t> </a:t>
            </a:r>
            <a:r>
              <a:rPr lang="ru-RU" sz="2400" dirty="0" smtClean="0"/>
              <a:t>рассылает.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784976" cy="706090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Преобразование </a:t>
            </a:r>
            <a:r>
              <a:rPr lang="en-US" sz="2800" dirty="0" smtClean="0">
                <a:solidFill>
                  <a:srgbClr val="7030A0"/>
                </a:solidFill>
              </a:rPr>
              <a:t>IP</a:t>
            </a:r>
            <a:r>
              <a:rPr lang="ru-RU" sz="2800" dirty="0" smtClean="0">
                <a:solidFill>
                  <a:srgbClr val="7030A0"/>
                </a:solidFill>
              </a:rPr>
              <a:t>-адресов на локальные адреса</a:t>
            </a:r>
            <a:endParaRPr lang="ru-RU" sz="2800" dirty="0">
              <a:solidFill>
                <a:srgbClr val="7030A0"/>
              </a:solidFill>
            </a:endParaRPr>
          </a:p>
        </p:txBody>
      </p:sp>
      <p:grpSp>
        <p:nvGrpSpPr>
          <p:cNvPr id="3" name="Группа 8"/>
          <p:cNvGrpSpPr/>
          <p:nvPr/>
        </p:nvGrpSpPr>
        <p:grpSpPr>
          <a:xfrm>
            <a:off x="611560" y="836712"/>
            <a:ext cx="8136904" cy="6021288"/>
            <a:chOff x="539552" y="836712"/>
            <a:chExt cx="7776864" cy="6021288"/>
          </a:xfrm>
        </p:grpSpPr>
        <p:pic>
          <p:nvPicPr>
            <p:cNvPr id="2050" name="Picture 2" descr="http://www.louiewong.com/wp-content/uploads/2010/09/ARP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39552" y="908720"/>
              <a:ext cx="7776864" cy="5949280"/>
            </a:xfrm>
            <a:prstGeom prst="rect">
              <a:avLst/>
            </a:prstGeom>
            <a:noFill/>
          </p:spPr>
        </p:pic>
        <p:sp>
          <p:nvSpPr>
            <p:cNvPr id="5" name="TextBox 4"/>
            <p:cNvSpPr txBox="1"/>
            <p:nvPr/>
          </p:nvSpPr>
          <p:spPr>
            <a:xfrm>
              <a:off x="1619672" y="836712"/>
              <a:ext cx="31683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 </a:t>
              </a:r>
              <a:r>
                <a:rPr lang="ru-RU" sz="16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формируется </a:t>
              </a:r>
              <a:r>
                <a:rPr lang="en-US" sz="16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ARP</a:t>
              </a:r>
              <a:r>
                <a:rPr lang="ru-RU" sz="16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- запрос</a:t>
              </a:r>
              <a:endPara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491880" y="5589240"/>
              <a:ext cx="2232248" cy="830997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r>
                <a:rPr lang="ru-RU" sz="1600" dirty="0" smtClean="0"/>
                <a:t>физический адрес узла  02-</a:t>
              </a:r>
              <a:r>
                <a:rPr lang="en-US" sz="1600" dirty="0" smtClean="0"/>
                <a:t>f5-05-a7-00-01</a:t>
              </a:r>
              <a:r>
                <a:rPr lang="ru-RU" sz="1600" dirty="0" smtClean="0"/>
                <a:t>   </a:t>
              </a:r>
              <a:endParaRPr lang="ru-RU" sz="16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059832" y="5319428"/>
              <a:ext cx="31683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 </a:t>
              </a:r>
              <a:r>
                <a:rPr lang="ru-RU" sz="16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формируется </a:t>
              </a:r>
              <a:r>
                <a:rPr lang="en-US" sz="16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ARP</a:t>
              </a:r>
              <a:r>
                <a:rPr lang="ru-RU" sz="16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- ответ</a:t>
              </a:r>
              <a:endPara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33119" y="1241866"/>
              <a:ext cx="2304256" cy="584775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r>
                <a:rPr lang="ru-RU" sz="1600" dirty="0" smtClean="0"/>
                <a:t>физический адрес узла  192.168.1.120   </a:t>
              </a:r>
              <a:endParaRPr lang="ru-RU" sz="1600" dirty="0"/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634082"/>
          </a:xfrm>
        </p:spPr>
        <p:txBody>
          <a:bodyPr>
            <a:normAutofit/>
          </a:bodyPr>
          <a:lstStyle/>
          <a:p>
            <a:pPr algn="ctr" eaLnBrk="1" hangingPunct="1"/>
            <a:r>
              <a:rPr lang="ru-RU" sz="2800" dirty="0" smtClean="0">
                <a:solidFill>
                  <a:srgbClr val="7030A0"/>
                </a:solidFill>
              </a:rPr>
              <a:t>Преобразование </a:t>
            </a:r>
            <a:r>
              <a:rPr lang="en-US" sz="2800" dirty="0" smtClean="0">
                <a:solidFill>
                  <a:srgbClr val="7030A0"/>
                </a:solidFill>
              </a:rPr>
              <a:t>IP</a:t>
            </a:r>
            <a:r>
              <a:rPr lang="ru-RU" sz="2800" dirty="0" smtClean="0">
                <a:solidFill>
                  <a:srgbClr val="7030A0"/>
                </a:solidFill>
              </a:rPr>
              <a:t>-адресов на локальные адреса(2)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052736"/>
            <a:ext cx="8577262" cy="5805264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Далее процесс перехода от </a:t>
            </a:r>
            <a:r>
              <a:rPr lang="en-US" sz="2800" dirty="0" smtClean="0"/>
              <a:t>IP</a:t>
            </a:r>
            <a:r>
              <a:rPr lang="ru-RU" sz="2800" dirty="0" smtClean="0"/>
              <a:t>-адреса к </a:t>
            </a:r>
            <a:r>
              <a:rPr lang="ru-RU" sz="2800" dirty="0" err="1" smtClean="0"/>
              <a:t>МАС-адресу</a:t>
            </a:r>
            <a:r>
              <a:rPr lang="ru-RU" sz="2800" dirty="0" smtClean="0"/>
              <a:t> происходит следующим образом: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 smtClean="0"/>
              <a:t>Все интерфейсы сети </a:t>
            </a:r>
            <a:r>
              <a:rPr lang="en-US" dirty="0" smtClean="0"/>
              <a:t>Ethernet</a:t>
            </a:r>
            <a:r>
              <a:rPr lang="ru-RU" dirty="0" smtClean="0"/>
              <a:t> получают </a:t>
            </a:r>
            <a:r>
              <a:rPr lang="en-US" b="1" dirty="0" smtClean="0"/>
              <a:t>ARP</a:t>
            </a:r>
            <a:r>
              <a:rPr lang="ru-RU" b="1" dirty="0" smtClean="0"/>
              <a:t>-запрос</a:t>
            </a:r>
            <a:r>
              <a:rPr lang="ru-RU" dirty="0" smtClean="0"/>
              <a:t> и направляют его «своему» протоколу </a:t>
            </a:r>
            <a:r>
              <a:rPr lang="en-US" dirty="0" smtClean="0"/>
              <a:t>ARP</a:t>
            </a:r>
            <a:r>
              <a:rPr lang="ru-RU" dirty="0" smtClean="0"/>
              <a:t>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smtClean="0"/>
              <a:t>ARP </a:t>
            </a:r>
            <a:r>
              <a:rPr lang="ru-RU" dirty="0" smtClean="0"/>
              <a:t>сравнивает указанный в запросе адрес </a:t>
            </a:r>
            <a:r>
              <a:rPr lang="en-US" b="1" dirty="0" smtClean="0"/>
              <a:t>IP</a:t>
            </a:r>
            <a:r>
              <a:rPr lang="ru-RU" b="1" dirty="0" smtClean="0"/>
              <a:t>1</a:t>
            </a:r>
            <a:r>
              <a:rPr lang="en-US" b="1" dirty="0" smtClean="0"/>
              <a:t> </a:t>
            </a:r>
            <a:r>
              <a:rPr lang="ru-RU" dirty="0" smtClean="0"/>
              <a:t>с </a:t>
            </a:r>
            <a:r>
              <a:rPr lang="en-US" b="1" dirty="0" smtClean="0"/>
              <a:t>IP</a:t>
            </a:r>
            <a:r>
              <a:rPr lang="ru-RU" b="1" dirty="0" smtClean="0"/>
              <a:t>-адресом</a:t>
            </a:r>
            <a:r>
              <a:rPr lang="ru-RU" dirty="0" smtClean="0"/>
              <a:t> интерфейса, на который поступил этот запрос. 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 smtClean="0"/>
              <a:t>Протокол </a:t>
            </a:r>
            <a:r>
              <a:rPr lang="en-US" dirty="0" smtClean="0"/>
              <a:t>ARP</a:t>
            </a:r>
            <a:r>
              <a:rPr lang="ru-RU" dirty="0" smtClean="0"/>
              <a:t>, который констатировал совпадение, формирует </a:t>
            </a:r>
            <a:r>
              <a:rPr lang="en-US" b="1" dirty="0" smtClean="0"/>
              <a:t>ARP</a:t>
            </a:r>
            <a:r>
              <a:rPr lang="ru-RU" b="1" dirty="0" smtClean="0"/>
              <a:t>-ответ</a:t>
            </a:r>
            <a:r>
              <a:rPr lang="ru-RU" dirty="0" smtClean="0"/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 smtClean="0"/>
              <a:t>В </a:t>
            </a:r>
            <a:r>
              <a:rPr lang="en-US" dirty="0" smtClean="0"/>
              <a:t>ARP</a:t>
            </a:r>
            <a:r>
              <a:rPr lang="ru-RU" dirty="0" smtClean="0"/>
              <a:t>-ответе </a:t>
            </a:r>
            <a:r>
              <a:rPr lang="ru-RU" dirty="0" err="1" smtClean="0"/>
              <a:t>маршрутизатор</a:t>
            </a:r>
            <a:r>
              <a:rPr lang="ru-RU" dirty="0" smtClean="0"/>
              <a:t> указывает локальный адрес </a:t>
            </a:r>
            <a:r>
              <a:rPr lang="en-US" b="1" dirty="0" smtClean="0"/>
              <a:t>MAC</a:t>
            </a:r>
            <a:r>
              <a:rPr lang="ru-RU" b="1" dirty="0" smtClean="0"/>
              <a:t>1</a:t>
            </a:r>
            <a:r>
              <a:rPr lang="ru-RU" dirty="0" smtClean="0"/>
              <a:t> своего интерфейса и отправляет его запрашивающему узлу, используя его локальный адрес. </a:t>
            </a:r>
            <a:br>
              <a:rPr lang="ru-RU" dirty="0" smtClean="0"/>
            </a:b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980728"/>
            <a:ext cx="8229600" cy="2664296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Работа протокола </a:t>
            </a:r>
            <a:r>
              <a:rPr lang="en-US" dirty="0" smtClean="0">
                <a:solidFill>
                  <a:srgbClr val="7030A0"/>
                </a:solidFill>
              </a:rPr>
              <a:t>ARP</a:t>
            </a:r>
            <a:endParaRPr lang="ru-RU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548680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Работа протокола </a:t>
            </a:r>
            <a:r>
              <a:rPr lang="en-US" sz="3600" dirty="0" smtClean="0">
                <a:solidFill>
                  <a:srgbClr val="7030A0"/>
                </a:solidFill>
              </a:rPr>
              <a:t>ARP</a:t>
            </a:r>
            <a:r>
              <a:rPr lang="ru-RU" sz="3600" dirty="0" smtClean="0">
                <a:solidFill>
                  <a:srgbClr val="7030A0"/>
                </a:solidFill>
              </a:rPr>
              <a:t>(1) 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20688"/>
            <a:ext cx="8964488" cy="6237312"/>
          </a:xfrm>
        </p:spPr>
        <p:txBody>
          <a:bodyPr>
            <a:noAutofit/>
          </a:bodyPr>
          <a:lstStyle/>
          <a:p>
            <a:r>
              <a:rPr lang="ru-RU" sz="2800" u="sng" dirty="0" smtClean="0">
                <a:solidFill>
                  <a:srgbClr val="002060"/>
                </a:solidFill>
              </a:rPr>
              <a:t>Рассмотрим работу протокола </a:t>
            </a:r>
            <a:r>
              <a:rPr lang="en-US" sz="2800" u="sng" dirty="0" smtClean="0">
                <a:solidFill>
                  <a:srgbClr val="002060"/>
                </a:solidFill>
              </a:rPr>
              <a:t>ARP</a:t>
            </a:r>
            <a:r>
              <a:rPr lang="ru-RU" sz="2800" u="sng" dirty="0" smtClean="0">
                <a:solidFill>
                  <a:srgbClr val="002060"/>
                </a:solidFill>
              </a:rPr>
              <a:t> в сетях с широковещанием </a:t>
            </a:r>
            <a:r>
              <a:rPr lang="ru-RU" sz="2800" dirty="0" smtClean="0"/>
              <a:t>.</a:t>
            </a:r>
          </a:p>
          <a:p>
            <a:r>
              <a:rPr lang="ru-RU" sz="2800" dirty="0" smtClean="0"/>
              <a:t>Каждый интерфейс знает свой МАК и</a:t>
            </a:r>
            <a:r>
              <a:rPr lang="en-US" sz="2800" dirty="0" smtClean="0"/>
              <a:t> IP-</a:t>
            </a:r>
            <a:r>
              <a:rPr lang="ru-RU" sz="2800" dirty="0" smtClean="0"/>
              <a:t> адрес .</a:t>
            </a:r>
          </a:p>
          <a:p>
            <a:r>
              <a:rPr lang="ru-RU" sz="2800" dirty="0" smtClean="0"/>
              <a:t> На каждом интерфейсе ( сетевой адаптер или порт </a:t>
            </a:r>
            <a:r>
              <a:rPr lang="ru-RU" sz="2800" dirty="0" err="1" smtClean="0"/>
              <a:t>маршрутизатора</a:t>
            </a:r>
            <a:r>
              <a:rPr lang="ru-RU" sz="2800" dirty="0" smtClean="0"/>
              <a:t>) поддерживается отдельная </a:t>
            </a:r>
          </a:p>
          <a:p>
            <a:pPr>
              <a:buNone/>
            </a:pPr>
            <a:r>
              <a:rPr lang="ru-RU" sz="2800" dirty="0" smtClean="0"/>
              <a:t>     </a:t>
            </a:r>
            <a:r>
              <a:rPr lang="en-US" sz="2800" dirty="0" smtClean="0"/>
              <a:t>ARP</a:t>
            </a:r>
            <a:r>
              <a:rPr lang="ru-RU" sz="2800" dirty="0" smtClean="0"/>
              <a:t>-таблица, определяющая соответствие между </a:t>
            </a:r>
          </a:p>
          <a:p>
            <a:pPr>
              <a:buNone/>
            </a:pPr>
            <a:r>
              <a:rPr lang="ru-RU" sz="2800" dirty="0" smtClean="0"/>
              <a:t>    </a:t>
            </a:r>
            <a:r>
              <a:rPr lang="en-US" sz="2800" dirty="0" smtClean="0"/>
              <a:t>IP-</a:t>
            </a:r>
            <a:r>
              <a:rPr lang="ru-RU" sz="2800" dirty="0" smtClean="0"/>
              <a:t>адресами и МАК- адресами других узлов данной подсети.</a:t>
            </a:r>
          </a:p>
          <a:p>
            <a:r>
              <a:rPr lang="ru-RU" sz="2800" dirty="0" smtClean="0">
                <a:solidFill>
                  <a:srgbClr val="002060"/>
                </a:solidFill>
              </a:rPr>
              <a:t>Модуль </a:t>
            </a:r>
            <a:r>
              <a:rPr lang="en-US" sz="2800" dirty="0" smtClean="0">
                <a:solidFill>
                  <a:srgbClr val="002060"/>
                </a:solidFill>
              </a:rPr>
              <a:t>IP</a:t>
            </a:r>
            <a:r>
              <a:rPr lang="ru-RU" sz="2800" dirty="0" smtClean="0">
                <a:solidFill>
                  <a:srgbClr val="002060"/>
                </a:solidFill>
              </a:rPr>
              <a:t> передает пакет на уровень сетевых интерфейсов </a:t>
            </a:r>
            <a:r>
              <a:rPr lang="ru-RU" sz="2800" dirty="0" smtClean="0"/>
              <a:t>, </a:t>
            </a:r>
            <a:r>
              <a:rPr lang="en-US" sz="2800" dirty="0" smtClean="0"/>
              <a:t>(</a:t>
            </a:r>
            <a:r>
              <a:rPr lang="ru-RU" sz="2800" dirty="0" smtClean="0"/>
              <a:t>например драйверу </a:t>
            </a:r>
            <a:r>
              <a:rPr lang="en-US" sz="2800" dirty="0" smtClean="0"/>
              <a:t>Ethernet)</a:t>
            </a:r>
            <a:r>
              <a:rPr lang="ru-RU" sz="2800" dirty="0" smtClean="0"/>
              <a:t>,  и модулю необходимо найти на основе известного</a:t>
            </a:r>
          </a:p>
          <a:p>
            <a:pPr>
              <a:buNone/>
            </a:pPr>
            <a:r>
              <a:rPr lang="ru-RU" sz="2800" dirty="0" smtClean="0"/>
              <a:t>    </a:t>
            </a:r>
            <a:r>
              <a:rPr lang="en-US" sz="2800" dirty="0" smtClean="0"/>
              <a:t> IP-</a:t>
            </a:r>
            <a:r>
              <a:rPr lang="ru-RU" sz="2800" dirty="0" smtClean="0"/>
              <a:t> адреса МАК- адрес узла назначения</a:t>
            </a:r>
            <a:r>
              <a:rPr lang="ru-RU" sz="2000" dirty="0" smtClean="0"/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7467600" cy="70609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Работа </a:t>
            </a:r>
            <a:r>
              <a:rPr lang="en-US" dirty="0" smtClean="0">
                <a:solidFill>
                  <a:srgbClr val="7030A0"/>
                </a:solidFill>
              </a:rPr>
              <a:t>ARP</a:t>
            </a:r>
            <a:endParaRPr lang="ru-RU" dirty="0">
              <a:solidFill>
                <a:srgbClr val="7030A0"/>
              </a:solidFill>
            </a:endParaRPr>
          </a:p>
        </p:txBody>
      </p:sp>
      <p:grpSp>
        <p:nvGrpSpPr>
          <p:cNvPr id="3" name="Группа 8"/>
          <p:cNvGrpSpPr/>
          <p:nvPr/>
        </p:nvGrpSpPr>
        <p:grpSpPr>
          <a:xfrm>
            <a:off x="611560" y="836712"/>
            <a:ext cx="8136904" cy="6021288"/>
            <a:chOff x="539552" y="836712"/>
            <a:chExt cx="7776864" cy="6021288"/>
          </a:xfrm>
        </p:grpSpPr>
        <p:pic>
          <p:nvPicPr>
            <p:cNvPr id="2050" name="Picture 2" descr="http://www.louiewong.com/wp-content/uploads/2010/09/ARP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39552" y="908720"/>
              <a:ext cx="7776864" cy="5949280"/>
            </a:xfrm>
            <a:prstGeom prst="rect">
              <a:avLst/>
            </a:prstGeom>
            <a:noFill/>
          </p:spPr>
        </p:pic>
        <p:sp>
          <p:nvSpPr>
            <p:cNvPr id="5" name="TextBox 4"/>
            <p:cNvSpPr txBox="1"/>
            <p:nvPr/>
          </p:nvSpPr>
          <p:spPr>
            <a:xfrm>
              <a:off x="1619672" y="836712"/>
              <a:ext cx="31683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 </a:t>
              </a:r>
              <a:r>
                <a:rPr lang="ru-RU" sz="16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формируется </a:t>
              </a:r>
              <a:r>
                <a:rPr lang="en-US" sz="16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ARP</a:t>
              </a:r>
              <a:r>
                <a:rPr lang="ru-RU" sz="16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- запрос</a:t>
              </a:r>
              <a:endPara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491880" y="5589240"/>
              <a:ext cx="2232248" cy="830997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r>
                <a:rPr lang="ru-RU" sz="1600" dirty="0" smtClean="0"/>
                <a:t>физический адрес узла  02-</a:t>
              </a:r>
              <a:r>
                <a:rPr lang="en-US" sz="1600" dirty="0" smtClean="0"/>
                <a:t>f5-05-a7-00-01</a:t>
              </a:r>
              <a:r>
                <a:rPr lang="ru-RU" sz="1600" dirty="0" smtClean="0"/>
                <a:t>   </a:t>
              </a:r>
              <a:endParaRPr lang="ru-RU" sz="16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059832" y="5319428"/>
              <a:ext cx="316835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 </a:t>
              </a:r>
              <a:r>
                <a:rPr lang="ru-RU" sz="16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формируется </a:t>
              </a:r>
              <a:r>
                <a:rPr lang="en-US" sz="16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ARP</a:t>
              </a:r>
              <a:r>
                <a:rPr lang="ru-RU" sz="16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- ответ</a:t>
              </a:r>
              <a:endParaRPr lang="ru-RU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633119" y="1241866"/>
              <a:ext cx="2304256" cy="584775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rtlCol="0">
              <a:spAutoFit/>
            </a:bodyPr>
            <a:lstStyle/>
            <a:p>
              <a:r>
                <a:rPr lang="ru-RU" sz="1600" dirty="0" smtClean="0"/>
                <a:t>физический адрес узла  192.168.1.120   </a:t>
              </a:r>
              <a:endParaRPr lang="ru-RU" sz="1600" dirty="0"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Работа протокола </a:t>
            </a:r>
            <a:r>
              <a:rPr lang="en-US" sz="3600" dirty="0" smtClean="0">
                <a:solidFill>
                  <a:srgbClr val="7030A0"/>
                </a:solidFill>
              </a:rPr>
              <a:t>ARP</a:t>
            </a:r>
            <a:r>
              <a:rPr lang="ru-RU" sz="3600" dirty="0" smtClean="0">
                <a:solidFill>
                  <a:srgbClr val="7030A0"/>
                </a:solidFill>
              </a:rPr>
              <a:t>(2) 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836712"/>
            <a:ext cx="8892480" cy="5832648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>
                <a:solidFill>
                  <a:srgbClr val="002060"/>
                </a:solidFill>
              </a:rPr>
              <a:t> Для этого протокол </a:t>
            </a:r>
            <a:r>
              <a:rPr lang="en-US" dirty="0" smtClean="0">
                <a:solidFill>
                  <a:srgbClr val="002060"/>
                </a:solidFill>
              </a:rPr>
              <a:t>IP </a:t>
            </a:r>
            <a:r>
              <a:rPr lang="ru-RU" dirty="0" smtClean="0">
                <a:solidFill>
                  <a:srgbClr val="002060"/>
                </a:solidFill>
              </a:rPr>
              <a:t>обращается к протоколу </a:t>
            </a:r>
            <a:r>
              <a:rPr lang="en-US" dirty="0" smtClean="0">
                <a:solidFill>
                  <a:srgbClr val="002060"/>
                </a:solidFill>
              </a:rPr>
              <a:t>ARP</a:t>
            </a:r>
            <a:r>
              <a:rPr lang="ru-RU" dirty="0" smtClean="0">
                <a:solidFill>
                  <a:srgbClr val="002060"/>
                </a:solidFill>
              </a:rPr>
              <a:t>: </a:t>
            </a:r>
          </a:p>
          <a:p>
            <a:pPr>
              <a:buNone/>
            </a:pPr>
            <a:r>
              <a:rPr lang="ru-RU" dirty="0" smtClean="0"/>
              <a:t>       1) </a:t>
            </a:r>
            <a:r>
              <a:rPr lang="ru-RU" dirty="0" smtClean="0">
                <a:solidFill>
                  <a:srgbClr val="002060"/>
                </a:solidFill>
              </a:rPr>
              <a:t>Протокол </a:t>
            </a:r>
            <a:r>
              <a:rPr lang="en-US" dirty="0" smtClean="0">
                <a:solidFill>
                  <a:srgbClr val="002060"/>
                </a:solidFill>
              </a:rPr>
              <a:t>ARP </a:t>
            </a:r>
            <a:r>
              <a:rPr lang="ru-RU" dirty="0" smtClean="0">
                <a:solidFill>
                  <a:srgbClr val="002060"/>
                </a:solidFill>
              </a:rPr>
              <a:t>просматривает </a:t>
            </a:r>
            <a:r>
              <a:rPr lang="en-US" dirty="0" smtClean="0">
                <a:solidFill>
                  <a:srgbClr val="002060"/>
                </a:solidFill>
              </a:rPr>
              <a:t>ARP</a:t>
            </a:r>
            <a:r>
              <a:rPr lang="ru-RU" dirty="0" smtClean="0">
                <a:solidFill>
                  <a:srgbClr val="002060"/>
                </a:solidFill>
              </a:rPr>
              <a:t>-таблицы </a:t>
            </a:r>
            <a:r>
              <a:rPr lang="ru-RU" dirty="0" smtClean="0"/>
              <a:t>соответствующего интерфейса,  </a:t>
            </a:r>
            <a:r>
              <a:rPr lang="ru-RU" dirty="0" smtClean="0">
                <a:solidFill>
                  <a:srgbClr val="002060"/>
                </a:solidFill>
              </a:rPr>
              <a:t>если нет нужного</a:t>
            </a:r>
            <a:r>
              <a:rPr lang="en-US" dirty="0" smtClean="0">
                <a:solidFill>
                  <a:srgbClr val="002060"/>
                </a:solidFill>
              </a:rPr>
              <a:t> IP-</a:t>
            </a:r>
            <a:r>
              <a:rPr lang="ru-RU" dirty="0" smtClean="0">
                <a:solidFill>
                  <a:srgbClr val="002060"/>
                </a:solidFill>
              </a:rPr>
              <a:t> адреса или таблица пуста </a:t>
            </a:r>
            <a:r>
              <a:rPr lang="ru-RU" dirty="0" smtClean="0"/>
              <a:t>, то исходящий</a:t>
            </a:r>
            <a:r>
              <a:rPr lang="en-US" dirty="0" smtClean="0"/>
              <a:t> IP-</a:t>
            </a:r>
            <a:r>
              <a:rPr lang="ru-RU" dirty="0" smtClean="0"/>
              <a:t>пакет запоминается в буфере , а </a:t>
            </a:r>
            <a:r>
              <a:rPr lang="ru-RU" dirty="0" smtClean="0">
                <a:solidFill>
                  <a:srgbClr val="002060"/>
                </a:solidFill>
              </a:rPr>
              <a:t>протокол </a:t>
            </a:r>
            <a:r>
              <a:rPr lang="en-US" dirty="0" smtClean="0">
                <a:solidFill>
                  <a:srgbClr val="002060"/>
                </a:solidFill>
              </a:rPr>
              <a:t>ARP</a:t>
            </a:r>
            <a:r>
              <a:rPr lang="ru-RU" dirty="0" smtClean="0">
                <a:solidFill>
                  <a:srgbClr val="002060"/>
                </a:solidFill>
              </a:rPr>
              <a:t> формирует запрос </a:t>
            </a:r>
            <a:r>
              <a:rPr lang="ru-RU" u="sng" dirty="0" smtClean="0">
                <a:solidFill>
                  <a:srgbClr val="002060"/>
                </a:solidFill>
              </a:rPr>
              <a:t>( </a:t>
            </a:r>
            <a:r>
              <a:rPr lang="ru-RU" i="1" u="sng" dirty="0" smtClean="0">
                <a:solidFill>
                  <a:srgbClr val="002060"/>
                </a:solidFill>
              </a:rPr>
              <a:t>А</a:t>
            </a:r>
            <a:r>
              <a:rPr lang="en-US" i="1" u="sng" dirty="0" smtClean="0">
                <a:solidFill>
                  <a:srgbClr val="002060"/>
                </a:solidFill>
              </a:rPr>
              <a:t>R</a:t>
            </a:r>
            <a:r>
              <a:rPr lang="ru-RU" i="1" u="sng" dirty="0" err="1" smtClean="0">
                <a:solidFill>
                  <a:srgbClr val="002060"/>
                </a:solidFill>
              </a:rPr>
              <a:t>Р-запрос</a:t>
            </a:r>
            <a:r>
              <a:rPr lang="ru-RU" dirty="0" smtClean="0"/>
              <a:t>)  , вкладывая его в кадр протокола канального уровня и</a:t>
            </a:r>
            <a:r>
              <a:rPr lang="ru-RU" dirty="0" smtClean="0">
                <a:solidFill>
                  <a:srgbClr val="002060"/>
                </a:solidFill>
              </a:rPr>
              <a:t> рассылая широковещательно.</a:t>
            </a:r>
          </a:p>
          <a:p>
            <a:pPr>
              <a:buNone/>
            </a:pPr>
            <a:r>
              <a:rPr lang="ru-RU" dirty="0" smtClean="0"/>
              <a:t>       2)  Все интерфейсы (узлы)  подсети получают </a:t>
            </a:r>
            <a:r>
              <a:rPr lang="en-US" dirty="0" smtClean="0"/>
              <a:t>ARP-</a:t>
            </a:r>
            <a:r>
              <a:rPr lang="ru-RU" dirty="0" smtClean="0"/>
              <a:t>запрос и сравнивают указанный там </a:t>
            </a:r>
            <a:r>
              <a:rPr lang="en-US" dirty="0" smtClean="0"/>
              <a:t>IP-</a:t>
            </a:r>
            <a:r>
              <a:rPr lang="ru-RU" dirty="0" smtClean="0"/>
              <a:t>адрес с собственным.</a:t>
            </a:r>
          </a:p>
          <a:p>
            <a:pPr>
              <a:buNone/>
            </a:pPr>
            <a:r>
              <a:rPr lang="ru-RU" dirty="0" smtClean="0"/>
              <a:t>        3</a:t>
            </a:r>
            <a:r>
              <a:rPr lang="ru-RU" dirty="0" smtClean="0">
                <a:solidFill>
                  <a:srgbClr val="002060"/>
                </a:solidFill>
              </a:rPr>
              <a:t>)  Интерфейс (узел) , определивший совпадение , формирует </a:t>
            </a:r>
            <a:r>
              <a:rPr lang="en-US" i="1" u="sng" dirty="0" smtClean="0">
                <a:solidFill>
                  <a:srgbClr val="002060"/>
                </a:solidFill>
              </a:rPr>
              <a:t>ARP</a:t>
            </a:r>
            <a:r>
              <a:rPr lang="ru-RU" i="1" u="sng" dirty="0" smtClean="0">
                <a:solidFill>
                  <a:srgbClr val="002060"/>
                </a:solidFill>
              </a:rPr>
              <a:t>-ответ, </a:t>
            </a:r>
            <a:r>
              <a:rPr lang="ru-RU" dirty="0" smtClean="0">
                <a:solidFill>
                  <a:srgbClr val="002060"/>
                </a:solidFill>
              </a:rPr>
              <a:t>вкладывая в него свой</a:t>
            </a:r>
          </a:p>
          <a:p>
            <a:pPr>
              <a:buNone/>
            </a:pPr>
            <a:r>
              <a:rPr lang="ru-RU" dirty="0" smtClean="0">
                <a:solidFill>
                  <a:srgbClr val="002060"/>
                </a:solidFill>
              </a:rPr>
              <a:t>       </a:t>
            </a:r>
            <a:r>
              <a:rPr lang="en-US" dirty="0" smtClean="0">
                <a:solidFill>
                  <a:srgbClr val="002060"/>
                </a:solidFill>
              </a:rPr>
              <a:t>IP</a:t>
            </a:r>
            <a:r>
              <a:rPr lang="ru-RU" dirty="0" smtClean="0">
                <a:solidFill>
                  <a:srgbClr val="002060"/>
                </a:solidFill>
              </a:rPr>
              <a:t>-адрес и свой локальный адрес и отправляет его</a:t>
            </a:r>
            <a:r>
              <a:rPr lang="ru-RU" dirty="0" smtClean="0"/>
              <a:t>. </a:t>
            </a:r>
          </a:p>
          <a:p>
            <a:pPr>
              <a:buNone/>
            </a:pPr>
            <a:r>
              <a:rPr lang="ru-RU" dirty="0" smtClean="0"/>
              <a:t>          4) Ответ получает модуль </a:t>
            </a:r>
            <a:r>
              <a:rPr lang="en-US" dirty="0" smtClean="0"/>
              <a:t>IP</a:t>
            </a:r>
            <a:r>
              <a:rPr lang="ru-RU" dirty="0" smtClean="0"/>
              <a:t> , отправивший</a:t>
            </a:r>
            <a:r>
              <a:rPr lang="en-US" dirty="0" smtClean="0"/>
              <a:t> ARP-</a:t>
            </a:r>
            <a:r>
              <a:rPr lang="ru-RU" dirty="0" smtClean="0"/>
              <a:t> запрос ,  в виде соответствующего МАК- адреса и помещает его в заголовок кадра </a:t>
            </a:r>
            <a:r>
              <a:rPr lang="en-US" dirty="0" smtClean="0"/>
              <a:t>Ethernet</a:t>
            </a:r>
            <a:r>
              <a:rPr lang="ru-RU" dirty="0" smtClean="0"/>
              <a:t>, ожидавшего отправления </a:t>
            </a:r>
            <a:r>
              <a:rPr lang="en-US" dirty="0" smtClean="0"/>
              <a:t>IP-</a:t>
            </a:r>
            <a:r>
              <a:rPr lang="ru-RU" dirty="0" smtClean="0"/>
              <a:t>пакета.</a:t>
            </a:r>
            <a:endParaRPr lang="en-US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http://www.ecst.csuchico.edu/~sim/547/img/278/Note11_2/ArpRar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276872"/>
            <a:ext cx="5676900" cy="298132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45" name="Rectangle 13"/>
          <p:cNvSpPr>
            <a:spLocks noChangeArrowheads="1"/>
          </p:cNvSpPr>
          <p:nvPr/>
        </p:nvSpPr>
        <p:spPr bwMode="auto">
          <a:xfrm>
            <a:off x="539552" y="0"/>
            <a:ext cx="76774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2800" dirty="0" smtClean="0">
                <a:solidFill>
                  <a:srgbClr val="7030A0"/>
                </a:solidFill>
                <a:latin typeface="Verdana" pitchFamily="34" charset="0"/>
              </a:rPr>
              <a:t>Протокол </a:t>
            </a:r>
            <a:r>
              <a:rPr lang="en-US" sz="2800" dirty="0" smtClean="0">
                <a:solidFill>
                  <a:srgbClr val="7030A0"/>
                </a:solidFill>
                <a:latin typeface="Verdana" pitchFamily="34" charset="0"/>
              </a:rPr>
              <a:t>ARP</a:t>
            </a:r>
            <a:r>
              <a:rPr lang="en-US" sz="2800" dirty="0">
                <a:solidFill>
                  <a:srgbClr val="7030A0"/>
                </a:solidFill>
                <a:latin typeface="Verdana" pitchFamily="34" charset="0"/>
              </a:rPr>
              <a:t>, </a:t>
            </a:r>
            <a:r>
              <a:rPr lang="en-US" sz="2800" dirty="0" smtClean="0">
                <a:solidFill>
                  <a:srgbClr val="7030A0"/>
                </a:solidFill>
                <a:latin typeface="Verdana" pitchFamily="34" charset="0"/>
              </a:rPr>
              <a:t>RARP</a:t>
            </a:r>
            <a:endParaRPr lang="ru-RU" sz="2800" dirty="0">
              <a:solidFill>
                <a:srgbClr val="7030A0"/>
              </a:solidFill>
              <a:latin typeface="Verdana" pitchFamily="34" charset="0"/>
            </a:endParaRPr>
          </a:p>
        </p:txBody>
      </p:sp>
      <p:sp>
        <p:nvSpPr>
          <p:cNvPr id="12299" name="Rectangle 14"/>
          <p:cNvSpPr>
            <a:spLocks noChangeArrowheads="1"/>
          </p:cNvSpPr>
          <p:nvPr/>
        </p:nvSpPr>
        <p:spPr bwMode="auto">
          <a:xfrm>
            <a:off x="179512" y="548681"/>
            <a:ext cx="8712968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 smtClean="0"/>
              <a:t>        Отображение физических МАК-адресов </a:t>
            </a:r>
            <a:r>
              <a:rPr lang="ru-RU" sz="2000" b="0" dirty="0"/>
              <a:t>на IP-адреса</a:t>
            </a:r>
            <a:r>
              <a:rPr lang="en-US" sz="2000" b="0" dirty="0"/>
              <a:t> </a:t>
            </a:r>
            <a:r>
              <a:rPr lang="ru-RU" sz="2000" b="0" dirty="0"/>
              <a:t>осуществляется при помощи протоколов </a:t>
            </a:r>
            <a:r>
              <a:rPr lang="ru-RU" sz="2000" dirty="0">
                <a:solidFill>
                  <a:srgbClr val="002060"/>
                </a:solidFill>
              </a:rPr>
              <a:t>ARP</a:t>
            </a:r>
            <a:r>
              <a:rPr lang="en-US" sz="2000" b="0" dirty="0">
                <a:solidFill>
                  <a:srgbClr val="002060"/>
                </a:solidFill>
              </a:rPr>
              <a:t> </a:t>
            </a:r>
            <a:r>
              <a:rPr lang="en-US" sz="2000" b="0" dirty="0"/>
              <a:t>(Address Resolution Protocol)</a:t>
            </a:r>
            <a:r>
              <a:rPr lang="ru-RU" sz="2000" b="0" dirty="0"/>
              <a:t> и </a:t>
            </a:r>
            <a:r>
              <a:rPr lang="ru-RU" sz="2000" dirty="0">
                <a:solidFill>
                  <a:srgbClr val="002060"/>
                </a:solidFill>
              </a:rPr>
              <a:t>RARP</a:t>
            </a:r>
            <a:r>
              <a:rPr lang="en-US" sz="2000" b="0" dirty="0"/>
              <a:t> (Reversed ARP)</a:t>
            </a:r>
            <a:r>
              <a:rPr lang="ru-RU" sz="2000" b="0" dirty="0"/>
              <a:t>.</a:t>
            </a:r>
            <a:br>
              <a:rPr lang="ru-RU" sz="2000" b="0" dirty="0"/>
            </a:br>
            <a:r>
              <a:rPr lang="ru-RU" sz="2000" b="0" dirty="0" smtClean="0"/>
              <a:t>        </a:t>
            </a:r>
            <a:r>
              <a:rPr lang="ru-RU" sz="2000" b="0" dirty="0" smtClean="0">
                <a:solidFill>
                  <a:srgbClr val="002060"/>
                </a:solidFill>
              </a:rPr>
              <a:t>Сетевой </a:t>
            </a:r>
            <a:r>
              <a:rPr lang="en-US" sz="2000" b="0" dirty="0">
                <a:solidFill>
                  <a:srgbClr val="002060"/>
                </a:solidFill>
              </a:rPr>
              <a:t>IP</a:t>
            </a:r>
            <a:r>
              <a:rPr lang="ru-RU" sz="2000" b="0" dirty="0">
                <a:solidFill>
                  <a:srgbClr val="002060"/>
                </a:solidFill>
              </a:rPr>
              <a:t> адрес не связан с МАС </a:t>
            </a:r>
            <a:r>
              <a:rPr lang="ru-RU" sz="2000" b="0" dirty="0" smtClean="0">
                <a:solidFill>
                  <a:srgbClr val="002060"/>
                </a:solidFill>
              </a:rPr>
              <a:t>адресом</a:t>
            </a:r>
            <a:r>
              <a:rPr lang="ru-RU" sz="2000" b="0" dirty="0" smtClean="0"/>
              <a:t>.</a:t>
            </a:r>
            <a:endParaRPr lang="en-US" sz="2000" b="0" dirty="0"/>
          </a:p>
          <a:p>
            <a:pPr>
              <a:buClr>
                <a:srgbClr val="FF0066"/>
              </a:buClr>
            </a:pPr>
            <a:r>
              <a:rPr lang="ru-RU" sz="2000" b="0" dirty="0" smtClean="0">
                <a:solidFill>
                  <a:srgbClr val="002060"/>
                </a:solidFill>
              </a:rPr>
              <a:t>      </a:t>
            </a:r>
            <a:r>
              <a:rPr lang="en-US" sz="2000" b="0" u="sng" dirty="0" smtClean="0">
                <a:solidFill>
                  <a:srgbClr val="002060"/>
                </a:solidFill>
              </a:rPr>
              <a:t>ARP</a:t>
            </a:r>
            <a:r>
              <a:rPr lang="ru-RU" sz="2000" b="0" u="sng" dirty="0" smtClean="0">
                <a:solidFill>
                  <a:srgbClr val="002060"/>
                </a:solidFill>
              </a:rPr>
              <a:t> - </a:t>
            </a:r>
            <a:r>
              <a:rPr lang="en-US" sz="2000" b="0" u="sng" dirty="0" smtClean="0">
                <a:solidFill>
                  <a:srgbClr val="002060"/>
                </a:solidFill>
              </a:rPr>
              <a:t> </a:t>
            </a:r>
            <a:r>
              <a:rPr lang="ru-RU" sz="2000" b="0" u="sng" dirty="0">
                <a:solidFill>
                  <a:srgbClr val="002060"/>
                </a:solidFill>
              </a:rPr>
              <a:t>широковещательный запрос требуемого МАС адреса по известному </a:t>
            </a:r>
            <a:r>
              <a:rPr lang="ru-RU" sz="2000" b="0" u="sng" dirty="0" smtClean="0">
                <a:solidFill>
                  <a:srgbClr val="002060"/>
                </a:solidFill>
              </a:rPr>
              <a:t>         IP адресу</a:t>
            </a:r>
            <a:r>
              <a:rPr lang="ru-RU" sz="2000" b="0" dirty="0" smtClean="0">
                <a:solidFill>
                  <a:srgbClr val="002060"/>
                </a:solidFill>
              </a:rPr>
              <a:t>.</a:t>
            </a:r>
            <a:endParaRPr lang="ru-RU" sz="2000" dirty="0" smtClean="0"/>
          </a:p>
          <a:p>
            <a:pPr>
              <a:buClr>
                <a:srgbClr val="FF0066"/>
              </a:buClr>
            </a:pPr>
            <a:r>
              <a:rPr lang="en-US" sz="2000" dirty="0" smtClean="0"/>
              <a:t>ARP-</a:t>
            </a:r>
            <a:r>
              <a:rPr lang="ru-RU" sz="2000" dirty="0" smtClean="0"/>
              <a:t>запросы и ответы имеют один и тот же формат пакета.</a:t>
            </a:r>
            <a:endParaRPr lang="en-US" sz="2000" b="0" dirty="0"/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dirty="0">
                <a:solidFill>
                  <a:srgbClr val="002060"/>
                </a:solidFill>
              </a:rPr>
              <a:t>Формат ARP</a:t>
            </a:r>
            <a:r>
              <a:rPr lang="en-US" sz="2000" dirty="0">
                <a:solidFill>
                  <a:srgbClr val="002060"/>
                </a:solidFill>
              </a:rPr>
              <a:t>/RARP</a:t>
            </a:r>
            <a:r>
              <a:rPr lang="ru-RU" sz="2000" dirty="0">
                <a:solidFill>
                  <a:srgbClr val="002060"/>
                </a:solidFill>
              </a:rPr>
              <a:t> пакета </a:t>
            </a:r>
            <a:r>
              <a:rPr lang="ru-RU" sz="2000" dirty="0" smtClean="0">
                <a:solidFill>
                  <a:srgbClr val="002060"/>
                </a:solidFill>
              </a:rPr>
              <a:t> </a:t>
            </a:r>
            <a:r>
              <a:rPr lang="ru-RU" sz="2000" b="0" dirty="0" smtClean="0"/>
              <a:t>(</a:t>
            </a:r>
            <a:r>
              <a:rPr lang="ru-RU" sz="2000" b="0" dirty="0"/>
              <a:t>инкапсулируется в</a:t>
            </a:r>
            <a:r>
              <a:rPr lang="en-US" sz="2000" b="0" dirty="0"/>
              <a:t> </a:t>
            </a:r>
            <a:r>
              <a:rPr lang="ru-RU" sz="2000" b="0" dirty="0"/>
              <a:t>кадр канального </a:t>
            </a:r>
            <a:r>
              <a:rPr lang="ru-RU" sz="2000" b="0" dirty="0" smtClean="0"/>
              <a:t>уровня.)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endParaRPr lang="ru-RU" sz="2000" b="0" dirty="0" smtClean="0"/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endParaRPr lang="ru-RU" sz="2000" b="0" dirty="0"/>
          </a:p>
        </p:txBody>
      </p:sp>
      <p:sp>
        <p:nvSpPr>
          <p:cNvPr id="684048" name="Rectangle 16"/>
          <p:cNvSpPr>
            <a:spLocks noChangeArrowheads="1"/>
          </p:cNvSpPr>
          <p:nvPr/>
        </p:nvSpPr>
        <p:spPr bwMode="auto">
          <a:xfrm>
            <a:off x="2771775" y="2344738"/>
            <a:ext cx="5357813" cy="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84182" name="Group 150"/>
          <p:cNvGraphicFramePr>
            <a:graphicFrameLocks noGrp="1"/>
          </p:cNvGraphicFramePr>
          <p:nvPr/>
        </p:nvGraphicFramePr>
        <p:xfrm>
          <a:off x="304800" y="3388963"/>
          <a:ext cx="8534400" cy="256032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4267200"/>
              </a:tblGrid>
              <a:tr h="32918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Тип сети (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 </a:t>
                      </a: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для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Eth</a:t>
                      </a: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Тип протокола (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0080h)</a:t>
                      </a:r>
                      <a:endParaRPr kumimoji="0" lang="ru-RU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9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Длина лок. адреса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Длина </a:t>
                      </a:r>
                      <a:r>
                        <a:rPr kumimoji="0" lang="ru-RU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сетев</a:t>
                      </a: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 адреса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Операция (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ARP=1, RARP=2)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918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Локальный адрес отправителя (байты 0-3)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2918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Локальный адрес отправителя (4-5)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IP 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адрес отправителя (0-1)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918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IP </a:t>
                      </a: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адрес отправителя (2-3)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Искомый локальный адрес (0-1)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918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Искомый локальный МАК адрес   (байты 2-5)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2918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Искомый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IP</a:t>
                      </a: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адрес (байты 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</a:t>
                      </a: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-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327" name="Rectangle 151"/>
          <p:cNvSpPr>
            <a:spLocks noChangeArrowheads="1"/>
          </p:cNvSpPr>
          <p:nvPr/>
        </p:nvSpPr>
        <p:spPr bwMode="auto">
          <a:xfrm>
            <a:off x="251520" y="6093296"/>
            <a:ext cx="8496944" cy="70788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ru-RU" sz="2000" b="0" dirty="0">
                <a:solidFill>
                  <a:srgbClr val="002060"/>
                </a:solidFill>
              </a:rPr>
              <a:t>При ARP запросе поле </a:t>
            </a:r>
            <a:r>
              <a:rPr lang="en-US" sz="2000" b="0" dirty="0">
                <a:solidFill>
                  <a:srgbClr val="002060"/>
                </a:solidFill>
              </a:rPr>
              <a:t>"</a:t>
            </a:r>
            <a:r>
              <a:rPr lang="ru-RU" sz="2000" b="0" dirty="0">
                <a:solidFill>
                  <a:srgbClr val="002060"/>
                </a:solidFill>
              </a:rPr>
              <a:t>искомый MAC адрес</a:t>
            </a:r>
            <a:r>
              <a:rPr lang="en-US" sz="2000" b="0" dirty="0">
                <a:solidFill>
                  <a:srgbClr val="002060"/>
                </a:solidFill>
              </a:rPr>
              <a:t>"</a:t>
            </a:r>
            <a:r>
              <a:rPr lang="ru-RU" sz="2000" b="0" dirty="0">
                <a:solidFill>
                  <a:srgbClr val="002060"/>
                </a:solidFill>
              </a:rPr>
              <a:t> оставляют незаполненным. Значение этого поля</a:t>
            </a:r>
            <a:r>
              <a:rPr lang="en-US" sz="2000" b="0" dirty="0">
                <a:solidFill>
                  <a:srgbClr val="002060"/>
                </a:solidFill>
              </a:rPr>
              <a:t> </a:t>
            </a:r>
            <a:r>
              <a:rPr lang="ru-RU" sz="2000" b="0" dirty="0">
                <a:solidFill>
                  <a:srgbClr val="002060"/>
                </a:solidFill>
              </a:rPr>
              <a:t>заполняется узлом, опознавшим свой IP.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268760"/>
            <a:ext cx="8229600" cy="3096344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5.8   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Порядок назначение и распределение </a:t>
            </a:r>
            <a:r>
              <a:rPr lang="en-US" dirty="0" smtClean="0">
                <a:solidFill>
                  <a:srgbClr val="7030A0"/>
                </a:solidFill>
              </a:rPr>
              <a:t>IP</a:t>
            </a:r>
            <a:r>
              <a:rPr lang="ru-RU" dirty="0" smtClean="0">
                <a:solidFill>
                  <a:srgbClr val="7030A0"/>
                </a:solidFill>
              </a:rPr>
              <a:t> адресов.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endParaRPr lang="ru-RU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sz="4200" b="1" smtClean="0">
                <a:solidFill>
                  <a:schemeClr val="folHlink"/>
                </a:solidFill>
                <a:latin typeface="Century Gothic" pitchFamily="34" charset="0"/>
              </a:rPr>
              <a:t>Адресация в сетях </a:t>
            </a:r>
            <a:r>
              <a:rPr lang="en-US" sz="4200" b="1" smtClean="0">
                <a:solidFill>
                  <a:schemeClr val="folHlink"/>
                </a:solidFill>
                <a:latin typeface="Century Gothic" pitchFamily="34" charset="0"/>
              </a:rPr>
              <a:t>TCP/IP</a:t>
            </a:r>
            <a:endParaRPr lang="ru-RU" sz="4200" b="1" smtClean="0">
              <a:solidFill>
                <a:schemeClr val="folHlink"/>
              </a:solidFill>
              <a:latin typeface="Century Gothic" pitchFamily="34" charset="0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96752"/>
            <a:ext cx="8424863" cy="5472607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000" dirty="0" smtClean="0"/>
              <a:t>Типы адресов стека </a:t>
            </a:r>
            <a:r>
              <a:rPr lang="en-US" sz="2000" b="1" dirty="0" smtClean="0"/>
              <a:t>TCP/IP</a:t>
            </a:r>
            <a:endParaRPr lang="ru-RU" sz="2000" b="1" dirty="0" smtClean="0"/>
          </a:p>
          <a:p>
            <a:pPr lvl="1" eaLnBrk="1" hangingPunct="1">
              <a:lnSpc>
                <a:spcPct val="80000"/>
              </a:lnSpc>
            </a:pPr>
            <a:r>
              <a:rPr lang="ru-RU" sz="2000" b="1" dirty="0" smtClean="0"/>
              <a:t>Локальные (аппаратные) адреса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000" b="1" dirty="0" smtClean="0"/>
              <a:t>Сетевые адреса(</a:t>
            </a:r>
            <a:r>
              <a:rPr lang="en-US" sz="2000" b="1" dirty="0" smtClean="0"/>
              <a:t>IP</a:t>
            </a:r>
            <a:r>
              <a:rPr lang="ru-RU" sz="2000" b="1" dirty="0" smtClean="0"/>
              <a:t>-адреса)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000" b="1" dirty="0" smtClean="0"/>
              <a:t>Символьные (доменные) имена</a:t>
            </a:r>
          </a:p>
          <a:p>
            <a:pPr eaLnBrk="1" hangingPunct="1">
              <a:lnSpc>
                <a:spcPct val="80000"/>
              </a:lnSpc>
            </a:pPr>
            <a:r>
              <a:rPr lang="ru-RU" sz="2000" dirty="0" smtClean="0"/>
              <a:t>Формат </a:t>
            </a:r>
            <a:r>
              <a:rPr lang="en-US" sz="2000" dirty="0" smtClean="0"/>
              <a:t>IP</a:t>
            </a:r>
            <a:r>
              <a:rPr lang="ru-RU" sz="2000" dirty="0" smtClean="0"/>
              <a:t> – адреса 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000" dirty="0" smtClean="0"/>
              <a:t>Номер сети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000" dirty="0" smtClean="0"/>
              <a:t>Номер узла в сети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000" dirty="0" smtClean="0"/>
              <a:t>Классы адресов </a:t>
            </a:r>
            <a:r>
              <a:rPr lang="en-US" sz="2000" dirty="0" smtClean="0"/>
              <a:t>A,B,C,D,E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000" dirty="0" smtClean="0"/>
              <a:t>Особые </a:t>
            </a:r>
            <a:r>
              <a:rPr lang="en-US" sz="2000" dirty="0" smtClean="0"/>
              <a:t>IP</a:t>
            </a:r>
            <a:r>
              <a:rPr lang="ru-RU" sz="2000" dirty="0" smtClean="0"/>
              <a:t>-адреса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000" dirty="0" smtClean="0"/>
              <a:t>Использование </a:t>
            </a:r>
            <a:r>
              <a:rPr lang="ru-RU" sz="2000" b="1" dirty="0" smtClean="0"/>
              <a:t>масок </a:t>
            </a:r>
            <a:r>
              <a:rPr lang="ru-RU" sz="2000" dirty="0" smtClean="0"/>
              <a:t>при </a:t>
            </a:r>
            <a:r>
              <a:rPr lang="en-US" sz="2000" dirty="0" smtClean="0"/>
              <a:t>IP</a:t>
            </a:r>
            <a:r>
              <a:rPr lang="ru-RU" sz="2000" dirty="0" smtClean="0"/>
              <a:t> -адресации</a:t>
            </a:r>
          </a:p>
          <a:p>
            <a:pPr eaLnBrk="1" hangingPunct="1">
              <a:lnSpc>
                <a:spcPct val="80000"/>
              </a:lnSpc>
            </a:pPr>
            <a:r>
              <a:rPr lang="ru-RU" sz="2000" dirty="0" smtClean="0"/>
              <a:t>Порядок назначения </a:t>
            </a:r>
            <a:r>
              <a:rPr lang="en-US" sz="2000" dirty="0" smtClean="0"/>
              <a:t>IP</a:t>
            </a:r>
            <a:r>
              <a:rPr lang="ru-RU" sz="2000" dirty="0" smtClean="0"/>
              <a:t> – адресов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000" dirty="0" smtClean="0"/>
              <a:t>Назначение адресов автономной сети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000" dirty="0" smtClean="0"/>
              <a:t>Централизованное распределение адресов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000" b="1" dirty="0" smtClean="0"/>
              <a:t>Технология </a:t>
            </a:r>
            <a:r>
              <a:rPr lang="en-US" sz="2000" b="1" dirty="0" smtClean="0"/>
              <a:t>CIDR</a:t>
            </a:r>
            <a:endParaRPr lang="ru-RU" sz="2000" b="1" dirty="0" smtClean="0"/>
          </a:p>
          <a:p>
            <a:pPr eaLnBrk="1" hangingPunct="1">
              <a:lnSpc>
                <a:spcPct val="80000"/>
              </a:lnSpc>
            </a:pPr>
            <a:r>
              <a:rPr lang="ru-RU" sz="2000" dirty="0" smtClean="0"/>
              <a:t>Отображение </a:t>
            </a:r>
            <a:r>
              <a:rPr lang="en-US" sz="2000" dirty="0" smtClean="0"/>
              <a:t>IP</a:t>
            </a:r>
            <a:r>
              <a:rPr lang="ru-RU" sz="2000" dirty="0" smtClean="0"/>
              <a:t>-адресов на локальные адреса</a:t>
            </a:r>
          </a:p>
          <a:p>
            <a:pPr eaLnBrk="1" hangingPunct="1">
              <a:lnSpc>
                <a:spcPct val="80000"/>
              </a:lnSpc>
            </a:pPr>
            <a:r>
              <a:rPr lang="ru-RU" sz="2000" dirty="0" smtClean="0"/>
              <a:t>Система </a:t>
            </a:r>
            <a:r>
              <a:rPr lang="en-US" sz="2000" b="1" dirty="0" smtClean="0"/>
              <a:t>DNS</a:t>
            </a:r>
            <a:r>
              <a:rPr lang="ru-RU" sz="2000" dirty="0" smtClean="0"/>
              <a:t> (система доменных имен)</a:t>
            </a:r>
          </a:p>
          <a:p>
            <a:pPr eaLnBrk="1" hangingPunct="1">
              <a:lnSpc>
                <a:spcPct val="80000"/>
              </a:lnSpc>
            </a:pPr>
            <a:r>
              <a:rPr lang="ru-RU" sz="2000" dirty="0" smtClean="0"/>
              <a:t>Протокол </a:t>
            </a:r>
            <a:r>
              <a:rPr lang="en-US" sz="2000" dirty="0" smtClean="0"/>
              <a:t>DHCP</a:t>
            </a:r>
            <a:r>
              <a:rPr lang="ru-RU" sz="2000" dirty="0" smtClean="0"/>
              <a:t> (протокол динамического конфигурирования хостов) </a:t>
            </a:r>
          </a:p>
          <a:p>
            <a:pPr eaLnBrk="1" hangingPunct="1">
              <a:lnSpc>
                <a:spcPct val="80000"/>
              </a:lnSpc>
            </a:pPr>
            <a:endParaRPr lang="ru-RU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04801"/>
            <a:ext cx="8893175" cy="819943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2800" dirty="0" smtClean="0">
                <a:solidFill>
                  <a:srgbClr val="7030A0"/>
                </a:solidFill>
              </a:rPr>
              <a:t>Порядок назначения </a:t>
            </a:r>
            <a:r>
              <a:rPr lang="en-US" sz="2800" dirty="0" smtClean="0">
                <a:solidFill>
                  <a:srgbClr val="7030A0"/>
                </a:solidFill>
              </a:rPr>
              <a:t>IP</a:t>
            </a:r>
            <a:r>
              <a:rPr lang="ru-RU" sz="2800" dirty="0" smtClean="0">
                <a:solidFill>
                  <a:srgbClr val="7030A0"/>
                </a:solidFill>
              </a:rPr>
              <a:t> – адресов.</a:t>
            </a:r>
            <a:br>
              <a:rPr lang="ru-RU" sz="2800" dirty="0" smtClean="0">
                <a:solidFill>
                  <a:srgbClr val="7030A0"/>
                </a:solidFill>
              </a:rPr>
            </a:br>
            <a:r>
              <a:rPr lang="ru-RU" sz="2800" dirty="0" smtClean="0">
                <a:solidFill>
                  <a:srgbClr val="7030A0"/>
                </a:solidFill>
              </a:rPr>
              <a:t>Централизованное распределение адресов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68760"/>
            <a:ext cx="8892480" cy="5400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В больших сетях уникальность сетевых адресов гарантируется централизованной, иерархически организованной системой их распределения.</a:t>
            </a:r>
          </a:p>
          <a:p>
            <a:pPr eaLnBrk="1" hangingPunct="1">
              <a:lnSpc>
                <a:spcPct val="80000"/>
              </a:lnSpc>
            </a:pPr>
            <a:endParaRPr lang="ru-RU" sz="2800" dirty="0" smtClean="0"/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Номер сети назначается только по рекомендации специального подразделения Интернета. </a:t>
            </a:r>
          </a:p>
          <a:p>
            <a:pPr eaLnBrk="1" hangingPunct="1">
              <a:lnSpc>
                <a:spcPct val="80000"/>
              </a:lnSpc>
            </a:pPr>
            <a:endParaRPr lang="ru-RU" sz="2800" dirty="0" smtClean="0"/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Главным органом регистрации глобальных адресов в Интернете с 1998 года является неправительственная некоммерческая организация </a:t>
            </a:r>
            <a:r>
              <a:rPr lang="en-US" sz="2800" b="1" dirty="0" smtClean="0"/>
              <a:t>ICANN </a:t>
            </a:r>
            <a:r>
              <a:rPr lang="ru-RU" sz="2800" dirty="0" smtClean="0"/>
              <a:t>(</a:t>
            </a:r>
            <a:r>
              <a:rPr lang="en-US" sz="2800" dirty="0" smtClean="0"/>
              <a:t>Internet Corporation for Assigned Names and Numbers</a:t>
            </a:r>
            <a:r>
              <a:rPr lang="ru-RU" sz="2800" dirty="0" smtClean="0"/>
              <a:t>). Эта организация координирует работу региональных отделов.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</p:spPr>
        <p:txBody>
          <a:bodyPr>
            <a:norm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Порядок назначения </a:t>
            </a:r>
            <a:r>
              <a:rPr lang="en-US" sz="2800" dirty="0" smtClean="0">
                <a:solidFill>
                  <a:srgbClr val="7030A0"/>
                </a:solidFill>
              </a:rPr>
              <a:t>IP</a:t>
            </a:r>
            <a:r>
              <a:rPr lang="ru-RU" sz="2800" dirty="0" smtClean="0">
                <a:solidFill>
                  <a:srgbClr val="7030A0"/>
                </a:solidFill>
              </a:rPr>
              <a:t> – адресов.</a:t>
            </a:r>
            <a:br>
              <a:rPr lang="ru-RU" sz="2800" dirty="0" smtClean="0">
                <a:solidFill>
                  <a:srgbClr val="7030A0"/>
                </a:solidFill>
              </a:rPr>
            </a:br>
            <a:r>
              <a:rPr lang="ru-RU" sz="2800" dirty="0" smtClean="0">
                <a:solidFill>
                  <a:srgbClr val="7030A0"/>
                </a:solidFill>
              </a:rPr>
              <a:t>Централизованное распределение адресов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052736"/>
            <a:ext cx="8892480" cy="5616624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2800" dirty="0" smtClean="0"/>
              <a:t>Региональные отделы выделяют блоки адресов сетей крупным поставщикам услуг, которые распределяют их между своими клиентами.</a:t>
            </a:r>
          </a:p>
          <a:p>
            <a:pPr>
              <a:lnSpc>
                <a:spcPct val="80000"/>
              </a:lnSpc>
            </a:pPr>
            <a:endParaRPr lang="ru-RU" sz="2800" dirty="0" smtClean="0"/>
          </a:p>
          <a:p>
            <a:pPr>
              <a:lnSpc>
                <a:spcPct val="80000"/>
              </a:lnSpc>
            </a:pPr>
            <a:r>
              <a:rPr lang="ru-RU" sz="2800" dirty="0" smtClean="0"/>
              <a:t>Проблемой централизованного распределения адресов является их дефицит. </a:t>
            </a:r>
          </a:p>
          <a:p>
            <a:pPr>
              <a:lnSpc>
                <a:spcPct val="80000"/>
              </a:lnSpc>
            </a:pPr>
            <a:r>
              <a:rPr lang="ru-RU" sz="2800" dirty="0" smtClean="0"/>
              <a:t>Для смягчения проблемы дефицита адресов разработчики стека TCP/IP предлагают разные подходы:</a:t>
            </a:r>
          </a:p>
          <a:p>
            <a:pPr lvl="1">
              <a:lnSpc>
                <a:spcPct val="80000"/>
              </a:lnSpc>
            </a:pPr>
            <a:r>
              <a:rPr lang="ru-RU" dirty="0" smtClean="0"/>
              <a:t>переход на новую версию протокола </a:t>
            </a:r>
            <a:r>
              <a:rPr lang="en-US" dirty="0" smtClean="0"/>
              <a:t>IP </a:t>
            </a:r>
            <a:r>
              <a:rPr lang="ru-RU" dirty="0" smtClean="0"/>
              <a:t>— </a:t>
            </a:r>
            <a:r>
              <a:rPr lang="ru-RU" b="1" dirty="0" smtClean="0"/>
              <a:t>протокол IPv6,</a:t>
            </a:r>
            <a:r>
              <a:rPr lang="ru-RU" dirty="0" smtClean="0"/>
              <a:t> в котором расширяется адресное пространство, </a:t>
            </a:r>
          </a:p>
          <a:p>
            <a:pPr lvl="1">
              <a:lnSpc>
                <a:spcPct val="80000"/>
              </a:lnSpc>
            </a:pPr>
            <a:r>
              <a:rPr lang="ru-RU" dirty="0" smtClean="0"/>
              <a:t>экономное расходование </a:t>
            </a:r>
            <a:r>
              <a:rPr lang="en-US" dirty="0" smtClean="0"/>
              <a:t>IP</a:t>
            </a:r>
            <a:r>
              <a:rPr lang="ru-RU" dirty="0" smtClean="0"/>
              <a:t>-адресов с помощью </a:t>
            </a:r>
            <a:r>
              <a:rPr lang="ru-RU" b="1" dirty="0" smtClean="0"/>
              <a:t>технологии </a:t>
            </a:r>
            <a:r>
              <a:rPr lang="en-US" b="1" dirty="0" smtClean="0"/>
              <a:t>CIDR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8641"/>
            <a:ext cx="9144000" cy="936103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2800" dirty="0" smtClean="0">
                <a:solidFill>
                  <a:srgbClr val="7030A0"/>
                </a:solidFill>
              </a:rPr>
              <a:t>Порядок назначения </a:t>
            </a:r>
            <a:r>
              <a:rPr lang="en-US" sz="2800" dirty="0" smtClean="0">
                <a:solidFill>
                  <a:srgbClr val="7030A0"/>
                </a:solidFill>
              </a:rPr>
              <a:t>IP</a:t>
            </a:r>
            <a:r>
              <a:rPr lang="ru-RU" sz="2800" dirty="0" smtClean="0">
                <a:solidFill>
                  <a:srgbClr val="7030A0"/>
                </a:solidFill>
              </a:rPr>
              <a:t> – адресов.</a:t>
            </a:r>
            <a:br>
              <a:rPr lang="ru-RU" sz="2800" dirty="0" smtClean="0">
                <a:solidFill>
                  <a:srgbClr val="7030A0"/>
                </a:solidFill>
              </a:rPr>
            </a:br>
            <a:r>
              <a:rPr lang="ru-RU" sz="2800" dirty="0" smtClean="0">
                <a:solidFill>
                  <a:srgbClr val="7030A0"/>
                </a:solidFill>
              </a:rPr>
              <a:t>Назначение адресов автономной сети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124744"/>
            <a:ext cx="8397750" cy="5399881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400" dirty="0" smtClean="0"/>
              <a:t>В небольшой автономной </a:t>
            </a:r>
            <a:r>
              <a:rPr lang="en-US" sz="2400" dirty="0" smtClean="0"/>
              <a:t>IP</a:t>
            </a:r>
            <a:r>
              <a:rPr lang="ru-RU" sz="2400" dirty="0" smtClean="0"/>
              <a:t>-сети условие уникальности номеров сетей и узлов может быть выполнено силами сетевого администратора.</a:t>
            </a:r>
          </a:p>
          <a:p>
            <a:pPr eaLnBrk="1" hangingPunct="1">
              <a:lnSpc>
                <a:spcPct val="80000"/>
              </a:lnSpc>
            </a:pPr>
            <a:r>
              <a:rPr lang="ru-RU" sz="2400" dirty="0" smtClean="0"/>
              <a:t>Чтобы избежать совпадений номеров при подсоединении сети к Интернету в его стандартах определены </a:t>
            </a:r>
            <a:r>
              <a:rPr lang="ru-RU" sz="2400" b="1" dirty="0" smtClean="0"/>
              <a:t>частные адреса, </a:t>
            </a:r>
            <a:r>
              <a:rPr lang="ru-RU" sz="2400" dirty="0" smtClean="0"/>
              <a:t>рекомендуемых для автономного использования: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b="1" dirty="0" smtClean="0"/>
              <a:t>в классе А</a:t>
            </a:r>
            <a:r>
              <a:rPr lang="ru-RU" sz="2400" dirty="0" smtClean="0"/>
              <a:t> — сеть 10.0.0.0;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b="1" dirty="0" smtClean="0"/>
              <a:t>в классе В</a:t>
            </a:r>
            <a:r>
              <a:rPr lang="ru-RU" sz="2400" dirty="0" smtClean="0"/>
              <a:t> — диапазон из 16 номеров сетей 172.16.0.0-172.31.0.0;</a:t>
            </a:r>
            <a:endParaRPr lang="ru-RU" sz="2400" i="1" dirty="0" smtClean="0"/>
          </a:p>
          <a:p>
            <a:pPr lvl="1" eaLnBrk="1" hangingPunct="1">
              <a:lnSpc>
                <a:spcPct val="80000"/>
              </a:lnSpc>
            </a:pPr>
            <a:r>
              <a:rPr lang="ru-RU" sz="2400" b="1" dirty="0" smtClean="0"/>
              <a:t>в классе С</a:t>
            </a:r>
            <a:r>
              <a:rPr lang="ru-RU" sz="2400" dirty="0" smtClean="0"/>
              <a:t> - диапазон из 255 номеров сетей  192.168.0.0-192.168.255.0.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Эти адреса, составляют огромное адресное пространство, достаточное для нумерации узлов автономных сетей любых размеров. 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Использование </a:t>
            </a:r>
            <a:r>
              <a:rPr lang="ru-RU" sz="2400" b="1" dirty="0" smtClean="0"/>
              <a:t>частных адресов</a:t>
            </a:r>
            <a:r>
              <a:rPr lang="ru-RU" sz="2400" dirty="0" smtClean="0"/>
              <a:t> для адресации автономных сетей делает возможным подключение к Интернету.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432048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 </a:t>
            </a:r>
            <a:r>
              <a:rPr lang="ru-RU" sz="3100" dirty="0" smtClean="0">
                <a:solidFill>
                  <a:srgbClr val="7030A0"/>
                </a:solidFill>
              </a:rPr>
              <a:t>Назначение и распределение </a:t>
            </a:r>
            <a:r>
              <a:rPr lang="en-US" sz="3100" dirty="0" smtClean="0">
                <a:solidFill>
                  <a:srgbClr val="7030A0"/>
                </a:solidFill>
              </a:rPr>
              <a:t>IP </a:t>
            </a:r>
            <a:r>
              <a:rPr lang="ru-RU" sz="3100" dirty="0" smtClean="0">
                <a:solidFill>
                  <a:srgbClr val="7030A0"/>
                </a:solidFill>
              </a:rPr>
              <a:t>адресов</a:t>
            </a:r>
            <a:endParaRPr lang="ru-RU" sz="31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80728"/>
            <a:ext cx="8784976" cy="5877272"/>
          </a:xfrm>
        </p:spPr>
        <p:txBody>
          <a:bodyPr>
            <a:noAutofit/>
          </a:bodyPr>
          <a:lstStyle/>
          <a:p>
            <a:r>
              <a:rPr lang="ru-RU" sz="2400" dirty="0" smtClean="0"/>
              <a:t>В сетях, подобных </a:t>
            </a:r>
            <a:r>
              <a:rPr lang="en-US" sz="2400" dirty="0" smtClean="0"/>
              <a:t>Internet</a:t>
            </a:r>
            <a:r>
              <a:rPr lang="ru-RU" sz="2400" dirty="0" smtClean="0"/>
              <a:t>, </a:t>
            </a:r>
            <a:r>
              <a:rPr lang="ru-RU" sz="2400" u="sng" dirty="0" smtClean="0">
                <a:solidFill>
                  <a:srgbClr val="002060"/>
                </a:solidFill>
              </a:rPr>
              <a:t>номер сети </a:t>
            </a:r>
            <a:r>
              <a:rPr lang="ru-RU" sz="2400" dirty="0" smtClean="0"/>
              <a:t>назначается по рекомендациям специального подразделения </a:t>
            </a:r>
            <a:r>
              <a:rPr lang="en-US" sz="2400" dirty="0" smtClean="0"/>
              <a:t>Internet</a:t>
            </a:r>
            <a:r>
              <a:rPr lang="ru-RU" sz="2400" dirty="0" smtClean="0"/>
              <a:t> и </a:t>
            </a:r>
            <a:r>
              <a:rPr lang="ru-RU" sz="2400" dirty="0" smtClean="0">
                <a:solidFill>
                  <a:srgbClr val="002060"/>
                </a:solidFill>
              </a:rPr>
              <a:t>с 1998 года главный орган назначения адресов </a:t>
            </a:r>
            <a:r>
              <a:rPr lang="en-US" sz="2400" dirty="0" smtClean="0">
                <a:solidFill>
                  <a:srgbClr val="002060"/>
                </a:solidFill>
              </a:rPr>
              <a:t>ICANN</a:t>
            </a:r>
            <a:r>
              <a:rPr lang="ru-RU" sz="2400" dirty="0" smtClean="0">
                <a:solidFill>
                  <a:srgbClr val="002060"/>
                </a:solidFill>
              </a:rPr>
              <a:t>, </a:t>
            </a:r>
            <a:r>
              <a:rPr lang="ru-RU" sz="2400" dirty="0" smtClean="0"/>
              <a:t>он координирует работу региональных отделов:</a:t>
            </a:r>
          </a:p>
          <a:p>
            <a:pPr>
              <a:buNone/>
            </a:pPr>
            <a:r>
              <a:rPr lang="ru-RU" sz="2400" dirty="0" smtClean="0"/>
              <a:t>           </a:t>
            </a:r>
            <a:r>
              <a:rPr lang="en-US" sz="2400" dirty="0" smtClean="0">
                <a:solidFill>
                  <a:srgbClr val="002060"/>
                </a:solidFill>
              </a:rPr>
              <a:t>ARIN</a:t>
            </a:r>
            <a:r>
              <a:rPr lang="ru-RU" sz="2400" dirty="0" smtClean="0">
                <a:solidFill>
                  <a:srgbClr val="002060"/>
                </a:solidFill>
              </a:rPr>
              <a:t> – Северная Америка;</a:t>
            </a: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         </a:t>
            </a:r>
            <a:r>
              <a:rPr lang="en-US" sz="2400" dirty="0" smtClean="0">
                <a:solidFill>
                  <a:srgbClr val="002060"/>
                </a:solidFill>
              </a:rPr>
              <a:t>RIPE</a:t>
            </a:r>
            <a:r>
              <a:rPr lang="ru-RU" sz="2400" dirty="0" smtClean="0">
                <a:solidFill>
                  <a:srgbClr val="002060"/>
                </a:solidFill>
              </a:rPr>
              <a:t> – Европа;              </a:t>
            </a:r>
            <a:r>
              <a:rPr lang="en-US" sz="2400" dirty="0" smtClean="0">
                <a:solidFill>
                  <a:srgbClr val="002060"/>
                </a:solidFill>
              </a:rPr>
              <a:t>APNIC</a:t>
            </a:r>
            <a:r>
              <a:rPr lang="ru-RU" sz="2400" dirty="0" smtClean="0">
                <a:solidFill>
                  <a:srgbClr val="002060"/>
                </a:solidFill>
              </a:rPr>
              <a:t> – Азия </a:t>
            </a:r>
          </a:p>
          <a:p>
            <a:r>
              <a:rPr lang="ru-RU" sz="2400" dirty="0" smtClean="0"/>
              <a:t>  Региональные отделы выделяют блоки адресов сетей -  крупным поставщикам услуг, а те, присваивают их своим клиентам -  более мелким поставщикам услуг.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Выделением </a:t>
            </a:r>
            <a:r>
              <a:rPr lang="en-US" sz="2400" dirty="0" smtClean="0">
                <a:solidFill>
                  <a:srgbClr val="002060"/>
                </a:solidFill>
              </a:rPr>
              <a:t>IP </a:t>
            </a:r>
            <a:r>
              <a:rPr lang="ru-RU" sz="2400" dirty="0" smtClean="0">
                <a:solidFill>
                  <a:srgbClr val="002060"/>
                </a:solidFill>
              </a:rPr>
              <a:t>адресов ведает</a:t>
            </a:r>
            <a:r>
              <a:rPr lang="ru-RU" sz="2400" dirty="0" smtClean="0"/>
              <a:t>:</a:t>
            </a:r>
          </a:p>
          <a:p>
            <a:pPr>
              <a:buNone/>
            </a:pPr>
            <a:r>
              <a:rPr lang="ru-RU" sz="2400" dirty="0" smtClean="0"/>
              <a:t>         -  в глобальном адресном пространстве -  </a:t>
            </a:r>
            <a:r>
              <a:rPr lang="ru-RU" sz="2400" dirty="0" err="1" smtClean="0"/>
              <a:t>InterNIC</a:t>
            </a:r>
            <a:r>
              <a:rPr lang="ru-RU" sz="2400" dirty="0" smtClean="0"/>
              <a:t> (</a:t>
            </a:r>
            <a:r>
              <a:rPr lang="ru-RU" sz="2400" dirty="0" err="1" smtClean="0"/>
              <a:t>Network</a:t>
            </a:r>
            <a:r>
              <a:rPr lang="ru-RU" sz="2400" dirty="0" smtClean="0"/>
              <a:t> </a:t>
            </a:r>
            <a:r>
              <a:rPr lang="ru-RU" sz="2400" dirty="0" err="1" smtClean="0"/>
              <a:t>Information</a:t>
            </a:r>
            <a:r>
              <a:rPr lang="ru-RU" sz="2400" dirty="0" smtClean="0"/>
              <a:t> </a:t>
            </a:r>
            <a:r>
              <a:rPr lang="ru-RU" sz="2400" dirty="0" err="1" smtClean="0"/>
              <a:t>Center</a:t>
            </a:r>
            <a:r>
              <a:rPr lang="ru-RU" sz="2400" dirty="0" smtClean="0"/>
              <a:t>);</a:t>
            </a:r>
          </a:p>
          <a:p>
            <a:pPr>
              <a:buNone/>
            </a:pPr>
            <a:r>
              <a:rPr lang="ru-RU" sz="2400" dirty="0" smtClean="0"/>
              <a:t>       - в России - </a:t>
            </a:r>
            <a:r>
              <a:rPr lang="ru-RU" sz="2400" dirty="0" err="1" smtClean="0"/>
              <a:t>Рос</a:t>
            </a:r>
            <a:r>
              <a:rPr lang="ru-RU" sz="1800" dirty="0" err="1" smtClean="0"/>
              <a:t>НИИРОС</a:t>
            </a:r>
            <a:r>
              <a:rPr lang="ru-RU" sz="2400" dirty="0" smtClean="0"/>
              <a:t> (Российский научно-исследовательский институт развития общественных сетей).</a:t>
            </a:r>
          </a:p>
          <a:p>
            <a:pPr>
              <a:buNone/>
            </a:pPr>
            <a:r>
              <a:rPr lang="ru-RU" sz="2400" dirty="0" smtClean="0"/>
              <a:t>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>
            <a:normAutofit/>
          </a:bodyPr>
          <a:lstStyle/>
          <a:p>
            <a:pPr algn="l"/>
            <a:r>
              <a:rPr lang="ru-RU" sz="3600" dirty="0" smtClean="0">
                <a:solidFill>
                  <a:srgbClr val="7030A0"/>
                </a:solidFill>
              </a:rPr>
              <a:t>Назначение и распределение </a:t>
            </a:r>
            <a:r>
              <a:rPr lang="en-US" sz="3600" dirty="0" smtClean="0">
                <a:solidFill>
                  <a:srgbClr val="7030A0"/>
                </a:solidFill>
              </a:rPr>
              <a:t>IP </a:t>
            </a:r>
            <a:r>
              <a:rPr lang="ru-RU" sz="3600" dirty="0" smtClean="0">
                <a:solidFill>
                  <a:srgbClr val="7030A0"/>
                </a:solidFill>
              </a:rPr>
              <a:t>адресов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u="sng" dirty="0" smtClean="0">
                <a:solidFill>
                  <a:srgbClr val="002060"/>
                </a:solidFill>
              </a:rPr>
              <a:t>Назначение</a:t>
            </a:r>
            <a:r>
              <a:rPr lang="en-US" u="sng" dirty="0" smtClean="0">
                <a:solidFill>
                  <a:srgbClr val="002060"/>
                </a:solidFill>
              </a:rPr>
              <a:t> IP-</a:t>
            </a:r>
            <a:r>
              <a:rPr lang="ru-RU" u="sng" dirty="0" smtClean="0">
                <a:solidFill>
                  <a:srgbClr val="002060"/>
                </a:solidFill>
              </a:rPr>
              <a:t> адресов узлам сети может происходить</a:t>
            </a:r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ru-RU" dirty="0" smtClean="0"/>
              <a:t>:</a:t>
            </a:r>
          </a:p>
          <a:p>
            <a:pPr algn="just">
              <a:buNone/>
            </a:pPr>
            <a:r>
              <a:rPr lang="ru-RU" dirty="0" smtClean="0"/>
              <a:t>         - вручную – администратором ;</a:t>
            </a:r>
          </a:p>
          <a:p>
            <a:pPr algn="just">
              <a:buNone/>
            </a:pPr>
            <a:r>
              <a:rPr lang="ru-RU" dirty="0" smtClean="0"/>
              <a:t>      </a:t>
            </a:r>
            <a:r>
              <a:rPr lang="en-US" dirty="0" smtClean="0"/>
              <a:t>  </a:t>
            </a:r>
            <a:r>
              <a:rPr lang="ru-RU" dirty="0" smtClean="0"/>
              <a:t>  </a:t>
            </a:r>
            <a:r>
              <a:rPr lang="ru-RU" dirty="0" smtClean="0">
                <a:solidFill>
                  <a:srgbClr val="002060"/>
                </a:solidFill>
              </a:rPr>
              <a:t>- автоматически – с использованием протокола </a:t>
            </a:r>
            <a:r>
              <a:rPr lang="en-US" i="1" u="sng" dirty="0" smtClean="0">
                <a:solidFill>
                  <a:srgbClr val="002060"/>
                </a:solidFill>
              </a:rPr>
              <a:t>DHCP</a:t>
            </a:r>
            <a:r>
              <a:rPr lang="ru-RU" i="1" u="sng" dirty="0" smtClean="0">
                <a:solidFill>
                  <a:srgbClr val="002060"/>
                </a:solidFill>
              </a:rPr>
              <a:t>.</a:t>
            </a:r>
          </a:p>
          <a:p>
            <a:pPr algn="just"/>
            <a:r>
              <a:rPr lang="ru-RU" dirty="0" smtClean="0"/>
              <a:t> Администратор определяет для сервера</a:t>
            </a:r>
            <a:r>
              <a:rPr lang="en-US" dirty="0" smtClean="0"/>
              <a:t> DHCP</a:t>
            </a:r>
            <a:r>
              <a:rPr lang="ru-RU" dirty="0" smtClean="0"/>
              <a:t> диапазон свободных адресов, из которых сервер автоматически выделяет адреса узлов в ответ на запрос.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090466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Форма записи </a:t>
            </a:r>
            <a:r>
              <a:rPr lang="en-US" dirty="0" smtClean="0">
                <a:solidFill>
                  <a:srgbClr val="7030A0"/>
                </a:solidFill>
              </a:rPr>
              <a:t>IP </a:t>
            </a:r>
            <a:r>
              <a:rPr lang="ru-RU" dirty="0" smtClean="0">
                <a:solidFill>
                  <a:srgbClr val="7030A0"/>
                </a:solidFill>
              </a:rPr>
              <a:t>адреса.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Форма записи </a:t>
            </a:r>
            <a:r>
              <a:rPr lang="en-US" sz="3600" dirty="0" smtClean="0">
                <a:solidFill>
                  <a:srgbClr val="7030A0"/>
                </a:solidFill>
              </a:rPr>
              <a:t>IP</a:t>
            </a:r>
            <a:r>
              <a:rPr lang="ru-RU" sz="3600" dirty="0" smtClean="0">
                <a:solidFill>
                  <a:srgbClr val="7030A0"/>
                </a:solidFill>
              </a:rPr>
              <a:t>- адреса(1</a:t>
            </a:r>
            <a:r>
              <a:rPr lang="ru-RU" sz="3200" dirty="0" smtClean="0">
                <a:solidFill>
                  <a:srgbClr val="7030A0"/>
                </a:solidFill>
              </a:rPr>
              <a:t>)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764704"/>
            <a:ext cx="8820472" cy="5832648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002060"/>
                </a:solidFill>
              </a:rPr>
              <a:t>IP</a:t>
            </a:r>
            <a:r>
              <a:rPr lang="ru-RU" sz="2400" dirty="0" smtClean="0">
                <a:solidFill>
                  <a:srgbClr val="002060"/>
                </a:solidFill>
              </a:rPr>
              <a:t> адреса идентифицируют не отдельный узел сети , а сетевое соединение (сетевой интерфейс).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Каждый </a:t>
            </a:r>
            <a:r>
              <a:rPr lang="en-US" sz="2400" dirty="0" smtClean="0">
                <a:solidFill>
                  <a:srgbClr val="002060"/>
                </a:solidFill>
              </a:rPr>
              <a:t>IP-</a:t>
            </a:r>
            <a:r>
              <a:rPr lang="ru-RU" sz="2400" dirty="0" smtClean="0">
                <a:solidFill>
                  <a:srgbClr val="002060"/>
                </a:solidFill>
              </a:rPr>
              <a:t> адрес состоит из двух частей </a:t>
            </a:r>
            <a:r>
              <a:rPr lang="ru-RU" sz="2400" dirty="0" smtClean="0"/>
              <a:t>и вместе они идентифицируют:</a:t>
            </a:r>
          </a:p>
          <a:p>
            <a:pPr>
              <a:buNone/>
            </a:pPr>
            <a:r>
              <a:rPr lang="ru-RU" sz="2400" dirty="0" smtClean="0"/>
              <a:t>         -  сеть, в котором расположено устройство,</a:t>
            </a:r>
          </a:p>
          <a:p>
            <a:pPr>
              <a:buNone/>
            </a:pPr>
            <a:r>
              <a:rPr lang="ru-RU" sz="2400" dirty="0" smtClean="0"/>
              <a:t>           -  и само устройство.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Одна часть </a:t>
            </a:r>
            <a:r>
              <a:rPr lang="en-US" sz="2400" dirty="0" smtClean="0">
                <a:solidFill>
                  <a:srgbClr val="002060"/>
                </a:solidFill>
              </a:rPr>
              <a:t>IP-</a:t>
            </a:r>
            <a:r>
              <a:rPr lang="ru-RU" sz="2400" dirty="0" smtClean="0">
                <a:solidFill>
                  <a:srgbClr val="002060"/>
                </a:solidFill>
              </a:rPr>
              <a:t> адреса представляет сеть , другая часть – хост </a:t>
            </a:r>
            <a:r>
              <a:rPr lang="ru-RU" sz="2400" dirty="0" smtClean="0"/>
              <a:t>(отдельный компьютер).</a:t>
            </a:r>
            <a:endParaRPr lang="ru-RU" sz="2400" dirty="0" smtClean="0">
              <a:solidFill>
                <a:srgbClr val="002060"/>
              </a:solidFill>
            </a:endParaRPr>
          </a:p>
          <a:p>
            <a:r>
              <a:rPr lang="ru-RU" sz="2400" dirty="0" smtClean="0"/>
              <a:t> </a:t>
            </a:r>
            <a:r>
              <a:rPr lang="en-US" sz="2400" dirty="0" smtClean="0"/>
              <a:t>IP </a:t>
            </a:r>
            <a:r>
              <a:rPr lang="ru-RU" sz="2400" dirty="0" smtClean="0"/>
              <a:t>–адрес имеет размер 4 Байта (32 бита) и состоит из двух частей:</a:t>
            </a: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          - номера сети и</a:t>
            </a: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          - номера узла в сети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Форма записи </a:t>
            </a:r>
            <a:r>
              <a:rPr lang="en-US" sz="2400" dirty="0" smtClean="0"/>
              <a:t>IP</a:t>
            </a:r>
            <a:r>
              <a:rPr lang="ru-RU" sz="2400" dirty="0" smtClean="0"/>
              <a:t>-адреса -  в виде 4 десятичных чисел (октетов), разделенных точкой.</a:t>
            </a:r>
          </a:p>
          <a:p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20688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Форма записи </a:t>
            </a:r>
            <a:r>
              <a:rPr lang="en-US" sz="3200" dirty="0" smtClean="0">
                <a:solidFill>
                  <a:srgbClr val="7030A0"/>
                </a:solidFill>
              </a:rPr>
              <a:t>IP-</a:t>
            </a:r>
            <a:r>
              <a:rPr lang="ru-RU" sz="3200" dirty="0" smtClean="0">
                <a:solidFill>
                  <a:srgbClr val="7030A0"/>
                </a:solidFill>
              </a:rPr>
              <a:t>адреса(2)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548680"/>
            <a:ext cx="9144000" cy="6309320"/>
          </a:xfrm>
        </p:spPr>
        <p:txBody>
          <a:bodyPr>
            <a:noAutofit/>
          </a:bodyPr>
          <a:lstStyle/>
          <a:p>
            <a:r>
              <a:rPr lang="en-US" sz="2400" dirty="0" smtClean="0"/>
              <a:t>IP- </a:t>
            </a:r>
            <a:r>
              <a:rPr lang="ru-RU" sz="2400" dirty="0" smtClean="0"/>
              <a:t>адрес состоит из двоичных цифр , т.е. битов .</a:t>
            </a:r>
          </a:p>
          <a:p>
            <a:pPr>
              <a:buNone/>
            </a:pPr>
            <a:r>
              <a:rPr lang="ru-RU" sz="2400" dirty="0" smtClean="0"/>
              <a:t>    Но трудно работать с длинными строками из 0 и 1 , поэтому обычно </a:t>
            </a:r>
            <a:r>
              <a:rPr lang="en-US" sz="2400" dirty="0" smtClean="0"/>
              <a:t>IP- </a:t>
            </a:r>
            <a:r>
              <a:rPr lang="ru-RU" sz="2400" dirty="0" smtClean="0"/>
              <a:t>адреса записываются в десятичном формате</a:t>
            </a:r>
            <a:r>
              <a:rPr lang="ru-RU" sz="2400" dirty="0" smtClean="0">
                <a:solidFill>
                  <a:srgbClr val="002060"/>
                </a:solidFill>
              </a:rPr>
              <a:t>.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 Десятичным числом является каждый раздел ,</a:t>
            </a: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   или октет </a:t>
            </a:r>
            <a:r>
              <a:rPr lang="en-US" sz="2400" dirty="0" smtClean="0">
                <a:solidFill>
                  <a:srgbClr val="002060"/>
                </a:solidFill>
              </a:rPr>
              <a:t>IP- </a:t>
            </a:r>
            <a:r>
              <a:rPr lang="ru-RU" sz="2400" dirty="0" smtClean="0">
                <a:solidFill>
                  <a:srgbClr val="002060"/>
                </a:solidFill>
              </a:rPr>
              <a:t>адреса.</a:t>
            </a:r>
          </a:p>
          <a:p>
            <a:r>
              <a:rPr lang="ru-RU" sz="2400" dirty="0" smtClean="0"/>
              <a:t>Октеты отделяются друг от друга точкой, которая является   условным символом.</a:t>
            </a:r>
          </a:p>
          <a:p>
            <a:pPr>
              <a:buNone/>
            </a:pPr>
            <a:r>
              <a:rPr lang="ru-RU" sz="2400" dirty="0" smtClean="0"/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Длина октета = 8 бит – это последовательность из восьми 0 и 1.</a:t>
            </a:r>
          </a:p>
          <a:p>
            <a:r>
              <a:rPr lang="en-US" sz="2400" dirty="0" smtClean="0"/>
              <a:t>IP- </a:t>
            </a:r>
            <a:r>
              <a:rPr lang="ru-RU" sz="2400" dirty="0" smtClean="0"/>
              <a:t>адрес состоит из 4 октетов по 8 бит каждый , всего 32 бита .</a:t>
            </a:r>
          </a:p>
          <a:p>
            <a:r>
              <a:rPr lang="ru-RU" sz="2400" dirty="0" smtClean="0"/>
              <a:t> Что означает, что максимальное количество различных</a:t>
            </a:r>
          </a:p>
          <a:p>
            <a:pPr>
              <a:buNone/>
            </a:pPr>
            <a:r>
              <a:rPr lang="ru-RU" sz="2400" dirty="0" smtClean="0"/>
              <a:t>   </a:t>
            </a:r>
            <a:r>
              <a:rPr lang="en-US" sz="2400" dirty="0" smtClean="0"/>
              <a:t>IP – </a:t>
            </a:r>
            <a:r>
              <a:rPr lang="ru-RU" sz="2400" dirty="0" smtClean="0"/>
              <a:t>адресов равно 2</a:t>
            </a:r>
            <a:r>
              <a:rPr lang="en-US" sz="2400" dirty="0" smtClean="0"/>
              <a:t>^</a:t>
            </a:r>
            <a:r>
              <a:rPr lang="ru-RU" sz="2400" dirty="0" smtClean="0"/>
              <a:t> или 4 294 967 296</a:t>
            </a:r>
          </a:p>
          <a:p>
            <a:pPr>
              <a:buNone/>
            </a:pPr>
            <a:r>
              <a:rPr lang="ru-RU" sz="2400" dirty="0" smtClean="0"/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Типичный </a:t>
            </a:r>
            <a:r>
              <a:rPr lang="en-US" sz="2400" dirty="0" smtClean="0">
                <a:solidFill>
                  <a:srgbClr val="002060"/>
                </a:solidFill>
              </a:rPr>
              <a:t>IP </a:t>
            </a:r>
            <a:r>
              <a:rPr lang="ru-RU" sz="2400" dirty="0" smtClean="0">
                <a:solidFill>
                  <a:srgbClr val="002060"/>
                </a:solidFill>
              </a:rPr>
              <a:t>адрес выглядит так 192.168.1.12</a:t>
            </a:r>
            <a:r>
              <a:rPr lang="ru-RU" sz="2400" dirty="0" smtClean="0"/>
              <a:t>. </a:t>
            </a:r>
          </a:p>
          <a:p>
            <a:r>
              <a:rPr lang="ru-RU" sz="2400" dirty="0" smtClean="0"/>
              <a:t>Запись адреса не предусматривает четкого разграничения между номером сети и номером узла.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8229600" cy="288032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Форма записи </a:t>
            </a:r>
            <a:r>
              <a:rPr lang="en-US" sz="3600" dirty="0" smtClean="0">
                <a:solidFill>
                  <a:srgbClr val="7030A0"/>
                </a:solidFill>
              </a:rPr>
              <a:t>IP-</a:t>
            </a:r>
            <a:r>
              <a:rPr lang="ru-RU" sz="3600" dirty="0" smtClean="0">
                <a:solidFill>
                  <a:srgbClr val="7030A0"/>
                </a:solidFill>
              </a:rPr>
              <a:t>адреса(3)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836712"/>
            <a:ext cx="8784976" cy="5760640"/>
          </a:xfrm>
        </p:spPr>
        <p:txBody>
          <a:bodyPr>
            <a:normAutofit fontScale="92500" lnSpcReduction="20000"/>
          </a:bodyPr>
          <a:lstStyle/>
          <a:p>
            <a:r>
              <a:rPr lang="ru-RU" sz="2800" dirty="0" smtClean="0">
                <a:solidFill>
                  <a:srgbClr val="002060"/>
                </a:solidFill>
              </a:rPr>
              <a:t>Сочетание адреса сети и адреса хоста для каждого компьютера уникально </a:t>
            </a:r>
            <a:r>
              <a:rPr lang="ru-RU" sz="2800" dirty="0" smtClean="0"/>
              <a:t>(вернее для каждого сетевого адаптера, т.к. есть компьютеры могут быть  с несколькими сетевыми адаптерами).</a:t>
            </a:r>
          </a:p>
          <a:p>
            <a:r>
              <a:rPr lang="ru-RU" sz="2800" dirty="0" smtClean="0">
                <a:solidFill>
                  <a:srgbClr val="002060"/>
                </a:solidFill>
              </a:rPr>
              <a:t>Например</a:t>
            </a:r>
            <a:r>
              <a:rPr lang="ru-RU" sz="2800" dirty="0" smtClean="0"/>
              <a:t>,</a:t>
            </a:r>
          </a:p>
          <a:p>
            <a:pPr>
              <a:buNone/>
            </a:pPr>
            <a:r>
              <a:rPr lang="ru-RU" sz="2800" dirty="0" smtClean="0"/>
              <a:t>     -  первые три раздела</a:t>
            </a:r>
            <a:r>
              <a:rPr lang="en-US" sz="2800" dirty="0" smtClean="0"/>
              <a:t>   IP</a:t>
            </a:r>
            <a:r>
              <a:rPr lang="ru-RU" sz="2800" dirty="0" smtClean="0"/>
              <a:t>- адреса </a:t>
            </a:r>
            <a:r>
              <a:rPr lang="ru-RU" sz="2800" dirty="0" smtClean="0">
                <a:solidFill>
                  <a:srgbClr val="002060"/>
                </a:solidFill>
              </a:rPr>
              <a:t>201.32.0</a:t>
            </a:r>
            <a:r>
              <a:rPr lang="ru-RU" sz="2800" dirty="0" smtClean="0"/>
              <a:t>.4  идентифицируют сеть.</a:t>
            </a:r>
          </a:p>
          <a:p>
            <a:pPr>
              <a:buNone/>
            </a:pPr>
            <a:r>
              <a:rPr lang="ru-RU" sz="2800" dirty="0" smtClean="0"/>
              <a:t>            </a:t>
            </a:r>
            <a:r>
              <a:rPr lang="ru-RU" sz="2800" dirty="0" smtClean="0">
                <a:solidFill>
                  <a:srgbClr val="002060"/>
                </a:solidFill>
              </a:rPr>
              <a:t>Раздел – это октет</a:t>
            </a:r>
            <a:r>
              <a:rPr lang="ru-RU" sz="2800" dirty="0" smtClean="0"/>
              <a:t>.</a:t>
            </a:r>
          </a:p>
          <a:p>
            <a:pPr>
              <a:buNone/>
            </a:pPr>
            <a:r>
              <a:rPr lang="ru-RU" sz="2800" dirty="0" smtClean="0"/>
              <a:t>    -  Последний четвертый октет- это сетевой интерфейс компьютера.  </a:t>
            </a:r>
          </a:p>
          <a:p>
            <a:pPr>
              <a:buNone/>
            </a:pPr>
            <a:r>
              <a:rPr lang="ru-RU" sz="2800" dirty="0" smtClean="0"/>
              <a:t>    -    Все компьютеры в этой подсети имеют  один и тот же номер сети – 201.32.0. </a:t>
            </a:r>
          </a:p>
          <a:p>
            <a:pPr>
              <a:buNone/>
            </a:pPr>
            <a:r>
              <a:rPr lang="ru-RU" sz="2800" dirty="0" smtClean="0"/>
              <a:t>    -   и каждый компьютер имеет свой номер хоста - .4, единственный в этой подсети. </a:t>
            </a:r>
          </a:p>
          <a:p>
            <a:pPr>
              <a:buNone/>
            </a:pPr>
            <a:r>
              <a:rPr lang="ru-RU" sz="2800" dirty="0" smtClean="0"/>
              <a:t>          </a:t>
            </a:r>
            <a:endParaRPr lang="ru-RU" sz="28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Форма записи </a:t>
            </a:r>
            <a:r>
              <a:rPr lang="en-US" sz="3600" dirty="0" smtClean="0">
                <a:solidFill>
                  <a:srgbClr val="7030A0"/>
                </a:solidFill>
              </a:rPr>
              <a:t>IP-</a:t>
            </a:r>
            <a:r>
              <a:rPr lang="ru-RU" sz="3600" dirty="0" smtClean="0">
                <a:solidFill>
                  <a:srgbClr val="7030A0"/>
                </a:solidFill>
              </a:rPr>
              <a:t>адреса(4)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08720"/>
            <a:ext cx="8964488" cy="594928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dirty="0" smtClean="0"/>
              <a:t> -  Если компьютер посылает сообщение по</a:t>
            </a:r>
          </a:p>
          <a:p>
            <a:pPr>
              <a:buNone/>
            </a:pPr>
            <a:r>
              <a:rPr lang="ru-RU" dirty="0" smtClean="0"/>
              <a:t> </a:t>
            </a:r>
            <a:r>
              <a:rPr lang="en-US" dirty="0" smtClean="0"/>
              <a:t>IP - </a:t>
            </a:r>
            <a:r>
              <a:rPr lang="ru-RU" dirty="0" smtClean="0"/>
              <a:t>адресу 201.32.0.4, в котором </a:t>
            </a:r>
            <a:r>
              <a:rPr lang="ru-RU" dirty="0" smtClean="0">
                <a:solidFill>
                  <a:srgbClr val="002060"/>
                </a:solidFill>
              </a:rPr>
              <a:t>число 201.32.0 -  представляет сеть, а число 4 – хост </a:t>
            </a:r>
            <a:r>
              <a:rPr lang="ru-RU" dirty="0" smtClean="0"/>
              <a:t>,то</a:t>
            </a:r>
          </a:p>
          <a:p>
            <a:pPr>
              <a:buNone/>
            </a:pPr>
            <a:r>
              <a:rPr lang="ru-RU" dirty="0" smtClean="0"/>
              <a:t>       - первым шагом будет доставка пакета  </a:t>
            </a:r>
          </a:p>
          <a:p>
            <a:pPr>
              <a:buNone/>
            </a:pPr>
            <a:r>
              <a:rPr lang="ru-RU" dirty="0" smtClean="0"/>
              <a:t>        в сеть 201.32.0. </a:t>
            </a:r>
          </a:p>
          <a:p>
            <a:pPr>
              <a:buNone/>
            </a:pPr>
            <a:r>
              <a:rPr lang="ru-RU" dirty="0" smtClean="0"/>
              <a:t>     -  После прибытия в сеть, </a:t>
            </a:r>
          </a:p>
          <a:p>
            <a:pPr>
              <a:buNone/>
            </a:pPr>
            <a:r>
              <a:rPr lang="ru-RU" dirty="0" smtClean="0"/>
              <a:t>      пакет маршрутизируется внутри сети</a:t>
            </a:r>
          </a:p>
          <a:p>
            <a:pPr>
              <a:buNone/>
            </a:pPr>
            <a:r>
              <a:rPr lang="ru-RU" dirty="0" smtClean="0"/>
              <a:t>       на компьютер с номером хоста, равным 4.</a:t>
            </a:r>
          </a:p>
          <a:p>
            <a:pPr>
              <a:buNone/>
            </a:pPr>
            <a:r>
              <a:rPr lang="ru-RU" dirty="0" smtClean="0"/>
              <a:t>  В нашем примере сеть идентифицируется тремя октетами.</a:t>
            </a:r>
          </a:p>
          <a:p>
            <a:pPr>
              <a:buNone/>
            </a:pPr>
            <a:r>
              <a:rPr lang="ru-RU" dirty="0" smtClean="0"/>
              <a:t> Однако так бывает не всегда .</a:t>
            </a:r>
          </a:p>
          <a:p>
            <a:pPr>
              <a:buNone/>
            </a:pPr>
            <a:r>
              <a:rPr lang="ru-RU" dirty="0" smtClean="0"/>
              <a:t> </a:t>
            </a:r>
            <a:r>
              <a:rPr lang="ru-RU" dirty="0" smtClean="0">
                <a:solidFill>
                  <a:srgbClr val="002060"/>
                </a:solidFill>
              </a:rPr>
              <a:t>В традиционной схеме </a:t>
            </a:r>
            <a:r>
              <a:rPr lang="en-US" dirty="0" smtClean="0">
                <a:solidFill>
                  <a:srgbClr val="002060"/>
                </a:solidFill>
              </a:rPr>
              <a:t>IP</a:t>
            </a:r>
            <a:r>
              <a:rPr lang="ru-RU" dirty="0" smtClean="0">
                <a:solidFill>
                  <a:srgbClr val="002060"/>
                </a:solidFill>
              </a:rPr>
              <a:t>, </a:t>
            </a:r>
          </a:p>
          <a:p>
            <a:pPr>
              <a:buNone/>
            </a:pPr>
            <a:r>
              <a:rPr lang="ru-RU" i="1" dirty="0" smtClean="0">
                <a:solidFill>
                  <a:srgbClr val="002060"/>
                </a:solidFill>
              </a:rPr>
              <a:t>части</a:t>
            </a:r>
            <a:r>
              <a:rPr lang="en-US" i="1" dirty="0" smtClean="0">
                <a:solidFill>
                  <a:srgbClr val="002060"/>
                </a:solidFill>
              </a:rPr>
              <a:t>  IP</a:t>
            </a:r>
            <a:r>
              <a:rPr lang="ru-RU" i="1" dirty="0" smtClean="0">
                <a:solidFill>
                  <a:srgbClr val="002060"/>
                </a:solidFill>
              </a:rPr>
              <a:t> – адреса, представляющие сеть и хост,</a:t>
            </a:r>
          </a:p>
          <a:p>
            <a:pPr>
              <a:buNone/>
            </a:pPr>
            <a:r>
              <a:rPr lang="ru-RU" i="1" dirty="0" smtClean="0">
                <a:solidFill>
                  <a:srgbClr val="002060"/>
                </a:solidFill>
              </a:rPr>
              <a:t> </a:t>
            </a:r>
            <a:r>
              <a:rPr lang="ru-RU" dirty="0" smtClean="0">
                <a:solidFill>
                  <a:srgbClr val="002060"/>
                </a:solidFill>
              </a:rPr>
              <a:t>могут иметь разные размеры для различных классов </a:t>
            </a:r>
            <a:r>
              <a:rPr lang="en-US" dirty="0" smtClean="0">
                <a:solidFill>
                  <a:srgbClr val="002060"/>
                </a:solidFill>
              </a:rPr>
              <a:t>IP </a:t>
            </a:r>
            <a:r>
              <a:rPr lang="ru-RU" dirty="0" smtClean="0">
                <a:solidFill>
                  <a:srgbClr val="002060"/>
                </a:solidFill>
              </a:rPr>
              <a:t>адреса. 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ru-RU" dirty="0" smtClean="0">
                <a:solidFill>
                  <a:srgbClr val="002060"/>
                </a:solidFill>
              </a:rPr>
              <a:t>  </a:t>
            </a:r>
            <a:endParaRPr lang="ru-RU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24744"/>
            <a:ext cx="8229600" cy="2880320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Способы адресации.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Общие сведения.</a:t>
            </a:r>
            <a:br>
              <a:rPr lang="ru-RU" dirty="0" smtClean="0">
                <a:solidFill>
                  <a:srgbClr val="7030A0"/>
                </a:solidFill>
              </a:rPr>
            </a:b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648072"/>
          </a:xfrm>
        </p:spPr>
        <p:txBody>
          <a:bodyPr>
            <a:norm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Способы адресации(1)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64704"/>
            <a:ext cx="8964488" cy="6093296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ru-RU" sz="2400" dirty="0" smtClean="0"/>
              <a:t> </a:t>
            </a:r>
            <a:r>
              <a:rPr lang="ru-RU" sz="2900" u="sng" dirty="0" smtClean="0">
                <a:solidFill>
                  <a:srgbClr val="002060"/>
                </a:solidFill>
              </a:rPr>
              <a:t>Существует 3 способа адресации, т.е. разграничения номера сети и узла</a:t>
            </a:r>
            <a:r>
              <a:rPr lang="ru-RU" sz="2900" dirty="0" smtClean="0">
                <a:solidFill>
                  <a:srgbClr val="002060"/>
                </a:solidFill>
              </a:rPr>
              <a:t>:</a:t>
            </a:r>
          </a:p>
          <a:p>
            <a:pPr algn="just">
              <a:buNone/>
            </a:pPr>
            <a:r>
              <a:rPr lang="ru-RU" sz="2900" dirty="0" smtClean="0"/>
              <a:t>       1)  структурированный</a:t>
            </a:r>
          </a:p>
          <a:p>
            <a:pPr algn="just">
              <a:buNone/>
            </a:pPr>
            <a:r>
              <a:rPr lang="ru-RU" sz="2900" dirty="0" smtClean="0"/>
              <a:t>        2) бесклассовый с использованием масок подсетей</a:t>
            </a:r>
          </a:p>
          <a:p>
            <a:pPr algn="just">
              <a:buNone/>
            </a:pPr>
            <a:r>
              <a:rPr lang="ru-RU" sz="2900" dirty="0" smtClean="0"/>
              <a:t>       3)  классовый  с использованием классов адресов.</a:t>
            </a:r>
          </a:p>
          <a:p>
            <a:pPr algn="just">
              <a:buNone/>
            </a:pPr>
            <a:r>
              <a:rPr lang="ru-RU" sz="2900" dirty="0" smtClean="0"/>
              <a:t>    1</a:t>
            </a:r>
            <a:r>
              <a:rPr lang="ru-RU" sz="29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ru-RU" sz="2900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 структурированном </a:t>
            </a:r>
          </a:p>
          <a:p>
            <a:pPr algn="just">
              <a:buNone/>
            </a:pPr>
            <a:r>
              <a:rPr lang="ru-RU" sz="2900" dirty="0" smtClean="0"/>
              <a:t>все 32- битовое поле адреса заранее делится на 2 части разной фиксированной длины :</a:t>
            </a:r>
          </a:p>
          <a:p>
            <a:pPr algn="just">
              <a:buNone/>
            </a:pPr>
            <a:r>
              <a:rPr lang="ru-RU" sz="2900" dirty="0" smtClean="0"/>
              <a:t>          - в одной –всегда будет номер сети ,</a:t>
            </a:r>
          </a:p>
          <a:p>
            <a:pPr algn="just">
              <a:buNone/>
            </a:pPr>
            <a:r>
              <a:rPr lang="ru-RU" sz="2900" dirty="0" smtClean="0"/>
              <a:t>           -  а в другой – номер узла. </a:t>
            </a:r>
          </a:p>
          <a:p>
            <a:pPr algn="just">
              <a:buNone/>
            </a:pPr>
            <a:r>
              <a:rPr lang="ru-RU" sz="2900" dirty="0" smtClean="0"/>
              <a:t>  </a:t>
            </a:r>
            <a:r>
              <a:rPr lang="ru-RU" sz="2900" i="1" dirty="0" smtClean="0"/>
              <a:t>Решение простое , но непрактичное , т.к. сети должны иметь одинаковое количество узлов.</a:t>
            </a:r>
          </a:p>
          <a:p>
            <a:pPr algn="just">
              <a:buNone/>
            </a:pPr>
            <a:r>
              <a:rPr lang="ru-RU" sz="2900" i="1" dirty="0" smtClean="0"/>
              <a:t>   </a:t>
            </a:r>
            <a:endParaRPr lang="ru-RU" sz="2900" i="1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Способы адресации - бесклассовый (2)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764704"/>
            <a:ext cx="8964488" cy="6093296"/>
          </a:xfrm>
        </p:spPr>
        <p:txBody>
          <a:bodyPr>
            <a:noAutofit/>
          </a:bodyPr>
          <a:lstStyle/>
          <a:p>
            <a:pPr marL="457200" indent="-457200">
              <a:buAutoNum type="arabicParenR" startAt="2"/>
            </a:pPr>
            <a:r>
              <a:rPr lang="ru-RU" sz="2400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Метод с использованием м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асок</a:t>
            </a:r>
          </a:p>
          <a:p>
            <a:pPr marL="457200" indent="-457200">
              <a:buNone/>
            </a:pPr>
            <a:r>
              <a:rPr lang="ru-RU" sz="2400" u="sng" dirty="0" smtClean="0">
                <a:solidFill>
                  <a:srgbClr val="002060"/>
                </a:solidFill>
              </a:rPr>
              <a:t> </a:t>
            </a:r>
            <a:r>
              <a:rPr lang="ru-RU" sz="2400" dirty="0" smtClean="0"/>
              <a:t>позволяет гибко установить границу между номером сети и узла.</a:t>
            </a:r>
          </a:p>
          <a:p>
            <a:pPr>
              <a:buNone/>
            </a:pPr>
            <a:r>
              <a:rPr lang="ru-RU" sz="2400" i="1" dirty="0" smtClean="0">
                <a:solidFill>
                  <a:srgbClr val="002060"/>
                </a:solidFill>
              </a:rPr>
              <a:t>Маска – это число , которое используется в паре  с </a:t>
            </a:r>
            <a:r>
              <a:rPr lang="en-US" sz="2400" i="1" dirty="0" smtClean="0">
                <a:solidFill>
                  <a:srgbClr val="002060"/>
                </a:solidFill>
              </a:rPr>
              <a:t>IP</a:t>
            </a:r>
            <a:r>
              <a:rPr lang="ru-RU" sz="2400" i="1" dirty="0" smtClean="0">
                <a:solidFill>
                  <a:srgbClr val="002060"/>
                </a:solidFill>
              </a:rPr>
              <a:t> </a:t>
            </a:r>
            <a:r>
              <a:rPr lang="en-US" sz="2400" i="1" dirty="0" smtClean="0">
                <a:solidFill>
                  <a:srgbClr val="002060"/>
                </a:solidFill>
              </a:rPr>
              <a:t>-</a:t>
            </a:r>
            <a:r>
              <a:rPr lang="ru-RU" sz="2400" i="1" dirty="0" smtClean="0">
                <a:solidFill>
                  <a:srgbClr val="002060"/>
                </a:solidFill>
              </a:rPr>
              <a:t> адресом</a:t>
            </a:r>
            <a:r>
              <a:rPr lang="ru-RU" sz="2400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ru-RU" sz="2400" b="1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>
              <a:buNone/>
            </a:pPr>
            <a:r>
              <a:rPr lang="ru-RU" sz="2400" dirty="0" smtClean="0"/>
              <a:t>     Граница между последовательностью 0 и 1 – это граница номера сети и номера узла .</a:t>
            </a:r>
          </a:p>
          <a:p>
            <a:pPr>
              <a:buNone/>
            </a:pPr>
            <a:r>
              <a:rPr lang="ru-RU" sz="2400" dirty="0" smtClean="0"/>
              <a:t>     Если маска , связанная с </a:t>
            </a:r>
            <a:r>
              <a:rPr lang="en-US" sz="2400" dirty="0" smtClean="0"/>
              <a:t>IP - </a:t>
            </a:r>
            <a:r>
              <a:rPr lang="ru-RU" sz="2400" dirty="0" smtClean="0"/>
              <a:t>адресом имеет вид:</a:t>
            </a:r>
            <a:r>
              <a:rPr lang="ru-RU" sz="2400" dirty="0" smtClean="0">
                <a:solidFill>
                  <a:srgbClr val="002060"/>
                </a:solidFill>
              </a:rPr>
              <a:t>  1111111111</a:t>
            </a:r>
            <a:r>
              <a:rPr lang="ru-RU" sz="2400" dirty="0" smtClean="0"/>
              <a:t>000000000000, </a:t>
            </a:r>
          </a:p>
          <a:p>
            <a:pPr>
              <a:buNone/>
            </a:pPr>
            <a:r>
              <a:rPr lang="ru-RU" sz="2400" dirty="0" smtClean="0"/>
              <a:t>то номеру сети соответствуют 10 старших разрядов.</a:t>
            </a:r>
            <a:endParaRPr lang="ru-RU" sz="2400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ru-RU" sz="2400" i="1" dirty="0" smtClean="0">
                <a:solidFill>
                  <a:srgbClr val="002060"/>
                </a:solidFill>
              </a:rPr>
              <a:t>    </a:t>
            </a:r>
            <a:r>
              <a:rPr lang="ru-RU" sz="2400" i="1" dirty="0" smtClean="0"/>
              <a:t> </a:t>
            </a:r>
            <a:r>
              <a:rPr lang="ru-RU" sz="2400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Двоичная запись маски содержит единицы в тех разрядах , которые     в </a:t>
            </a:r>
            <a:r>
              <a:rPr lang="en-US" sz="2400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 </a:t>
            </a:r>
            <a:r>
              <a:rPr lang="ru-RU" sz="2400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адресе должны быть номером сети.</a:t>
            </a:r>
          </a:p>
          <a:p>
            <a:pPr>
              <a:buNone/>
            </a:pPr>
            <a:r>
              <a:rPr lang="ru-RU" sz="2400" i="1" dirty="0" smtClean="0"/>
              <a:t>    </a:t>
            </a:r>
            <a:r>
              <a:rPr lang="ru-RU" sz="2400" dirty="0" smtClean="0"/>
              <a:t>Данный метод позволяет организовать множество сетей разного размера.</a:t>
            </a:r>
          </a:p>
          <a:p>
            <a:pPr>
              <a:buNone/>
            </a:pP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endParaRPr lang="ru-RU" sz="2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20688"/>
          </a:xfrm>
        </p:spPr>
        <p:txBody>
          <a:bodyPr>
            <a:norm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Способы адресации – классовый (3)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548680"/>
            <a:ext cx="8892480" cy="630932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ru-RU" sz="2400" i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i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3)   Метод с использованием классов 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</a:t>
            </a:r>
          </a:p>
          <a:p>
            <a:pPr>
              <a:buNone/>
            </a:pPr>
            <a:r>
              <a:rPr lang="ru-RU" sz="2400" i="1" dirty="0" smtClean="0"/>
              <a:t>традиционный метод решения проблемы.</a:t>
            </a:r>
          </a:p>
          <a:p>
            <a:pPr algn="just"/>
            <a:r>
              <a:rPr lang="ru-RU" sz="2400" i="1" dirty="0" smtClean="0"/>
              <a:t>     Он представляет компромисс к двум первым методам. </a:t>
            </a:r>
          </a:p>
          <a:p>
            <a:pPr algn="just"/>
            <a:r>
              <a:rPr lang="ru-RU" sz="2400" dirty="0" smtClean="0"/>
              <a:t>     Размер сети не является произвольный как при использовании масок, но и не является одинаковым как при установлении фиксированных границ.   </a:t>
            </a:r>
          </a:p>
          <a:p>
            <a:pPr algn="just"/>
            <a:r>
              <a:rPr lang="en-US" sz="2400" dirty="0" smtClean="0"/>
              <a:t>IP </a:t>
            </a:r>
            <a:r>
              <a:rPr lang="ru-RU" sz="2400" dirty="0" smtClean="0"/>
              <a:t>– адреса выделяются организацией </a:t>
            </a:r>
            <a:r>
              <a:rPr lang="en-US" sz="2400" dirty="0" smtClean="0"/>
              <a:t>IANA </a:t>
            </a:r>
            <a:r>
              <a:rPr lang="ru-RU" sz="2400" dirty="0" smtClean="0"/>
              <a:t>и логично их выделять компаниям блоками, т.к. для коммуникаций каждому компьютеру нужен уникальный номер.</a:t>
            </a:r>
          </a:p>
          <a:p>
            <a:pPr algn="just"/>
            <a:r>
              <a:rPr lang="ru-RU" sz="2400" dirty="0" smtClean="0"/>
              <a:t> Размер выделяемого блока зависит от размера сети.</a:t>
            </a:r>
          </a:p>
          <a:p>
            <a:pPr algn="just"/>
            <a:r>
              <a:rPr lang="ru-RU" sz="2400" dirty="0" smtClean="0"/>
              <a:t> Классы адресов назначались в зависимости от размера локальной сети, т.е. количества хостов.</a:t>
            </a:r>
          </a:p>
          <a:p>
            <a:pPr algn="just"/>
            <a:r>
              <a:rPr lang="ru-RU" sz="2400" dirty="0" smtClean="0">
                <a:solidFill>
                  <a:srgbClr val="002060"/>
                </a:solidFill>
              </a:rPr>
              <a:t>Деление </a:t>
            </a:r>
            <a:r>
              <a:rPr lang="en-US" sz="2400" dirty="0" smtClean="0">
                <a:solidFill>
                  <a:srgbClr val="002060"/>
                </a:solidFill>
              </a:rPr>
              <a:t>IP- </a:t>
            </a:r>
            <a:r>
              <a:rPr lang="ru-RU" sz="2400" dirty="0" smtClean="0">
                <a:solidFill>
                  <a:srgbClr val="002060"/>
                </a:solidFill>
              </a:rPr>
              <a:t>адресов на классы называется классовой адресацией. </a:t>
            </a:r>
          </a:p>
          <a:p>
            <a:pPr algn="just"/>
            <a:r>
              <a:rPr lang="ru-RU" sz="2400" dirty="0" smtClean="0">
                <a:solidFill>
                  <a:srgbClr val="002060"/>
                </a:solidFill>
              </a:rPr>
              <a:t>Для определения класса используются первые биты левого октета</a:t>
            </a:r>
            <a:r>
              <a:rPr lang="ru-RU" sz="2400" dirty="0" smtClean="0"/>
              <a:t>:</a:t>
            </a:r>
          </a:p>
          <a:p>
            <a:pPr marL="0" indent="0" algn="just">
              <a:buNone/>
            </a:pPr>
            <a:r>
              <a:rPr lang="en-US" sz="2400" dirty="0" smtClean="0"/>
              <a:t>          </a:t>
            </a:r>
            <a:r>
              <a:rPr lang="ru-RU" sz="2400" dirty="0" smtClean="0"/>
              <a:t>    </a:t>
            </a:r>
            <a:r>
              <a:rPr lang="ru-RU" sz="2400" dirty="0" smtClean="0"/>
              <a:t>адрес А- 0 , адрес В- 10, адрес С- 110</a:t>
            </a:r>
            <a:r>
              <a:rPr lang="ru-RU" sz="2400" dirty="0" smtClean="0"/>
              <a:t>, </a:t>
            </a:r>
            <a:r>
              <a:rPr lang="ru-RU" sz="2400" dirty="0" smtClean="0"/>
              <a:t>адрес </a:t>
            </a:r>
            <a:r>
              <a:rPr lang="en-US" sz="2400" dirty="0" smtClean="0"/>
              <a:t>D</a:t>
            </a:r>
            <a:r>
              <a:rPr lang="ru-RU" sz="2400" dirty="0" smtClean="0"/>
              <a:t>- 1110.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u-RU" dirty="0" smtClean="0">
                <a:solidFill>
                  <a:srgbClr val="7030A0"/>
                </a:solidFill>
              </a:rPr>
              <a:t>Классы </a:t>
            </a:r>
            <a:r>
              <a:rPr lang="en-US" dirty="0" smtClean="0">
                <a:solidFill>
                  <a:srgbClr val="7030A0"/>
                </a:solidFill>
              </a:rPr>
              <a:t>IP</a:t>
            </a:r>
            <a:r>
              <a:rPr lang="ru-RU" dirty="0" smtClean="0">
                <a:solidFill>
                  <a:srgbClr val="7030A0"/>
                </a:solidFill>
              </a:rPr>
              <a:t>-адресов </a:t>
            </a:r>
          </a:p>
        </p:txBody>
      </p:sp>
      <p:graphicFrame>
        <p:nvGraphicFramePr>
          <p:cNvPr id="2050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611560" y="1052736"/>
          <a:ext cx="7992888" cy="558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8516" name="Visio" r:id="rId3" imgW="4071509" imgH="3105388" progId="">
                  <p:embed/>
                </p:oleObj>
              </mc:Choice>
              <mc:Fallback>
                <p:oleObj name="Visio" r:id="rId3" imgW="4071509" imgH="3105388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1052736"/>
                        <a:ext cx="7992888" cy="558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>
                                <a:alpha val="50999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ru-RU" dirty="0" smtClean="0">
                <a:solidFill>
                  <a:srgbClr val="7030A0"/>
                </a:solidFill>
              </a:rPr>
              <a:t>Характеристики адресов(1вар)</a:t>
            </a:r>
          </a:p>
        </p:txBody>
      </p:sp>
      <p:graphicFrame>
        <p:nvGraphicFramePr>
          <p:cNvPr id="46083" name="Group 3"/>
          <p:cNvGraphicFramePr>
            <a:graphicFrameLocks noGrp="1"/>
          </p:cNvGraphicFramePr>
          <p:nvPr>
            <p:ph sz="quarter" idx="1"/>
          </p:nvPr>
        </p:nvGraphicFramePr>
        <p:xfrm>
          <a:off x="251520" y="980727"/>
          <a:ext cx="8712967" cy="3528391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952957"/>
                <a:gridCol w="1197382"/>
                <a:gridCol w="2124178"/>
                <a:gridCol w="2295088"/>
                <a:gridCol w="2143362"/>
              </a:tblGrid>
              <a:tr h="6336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Класс</a:t>
                      </a:r>
                      <a:endParaRPr kumimoji="0" lang="ru-RU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Первые биты</a:t>
                      </a:r>
                      <a:endParaRPr kumimoji="0" lang="ru-RU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Наименьший номер сети</a:t>
                      </a:r>
                      <a:endParaRPr kumimoji="0" lang="ru-RU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Наибольший номер сети</a:t>
                      </a:r>
                      <a:endParaRPr kumimoji="0" lang="ru-RU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Max </a:t>
                      </a:r>
                      <a:r>
                        <a:rPr kumimoji="0" lang="ru-RU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число узлов в сети</a:t>
                      </a:r>
                      <a:endParaRPr kumimoji="0" lang="ru-RU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7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1.0.0.0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126.0.0.0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ru-RU" sz="1600" u="none" strike="noStrike" cap="none" normalizeH="0" baseline="30000" smtClean="0">
                          <a:ln>
                            <a:noFill/>
                          </a:ln>
                          <a:effectLst/>
                        </a:rPr>
                        <a:t>24</a:t>
                      </a:r>
                      <a:endParaRPr kumimoji="0" lang="ru-RU" sz="16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7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128.0.0.0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191.255.0.0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ru-RU" sz="1600" u="none" strike="noStrike" cap="none" normalizeH="0" baseline="30000" smtClean="0">
                          <a:ln>
                            <a:noFill/>
                          </a:ln>
                          <a:effectLst/>
                        </a:rPr>
                        <a:t>16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7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110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192.0.1.0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223.255.255.0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r>
                        <a:rPr kumimoji="0" lang="ru-RU" sz="1600" u="none" strike="noStrike" cap="none" normalizeH="0" baseline="30000" dirty="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7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1110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224.0.0.0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239.255.255.255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Multicast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57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E</a:t>
                      </a:r>
                      <a:endParaRPr kumimoji="0" lang="ru-RU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11110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240.0.0.0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247.255.255.255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Зарезервирован</a:t>
                      </a:r>
                      <a:endParaRPr kumimoji="0" lang="ru-RU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marL="94002" marR="94002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51520" y="4581128"/>
            <a:ext cx="88924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2000" dirty="0" smtClean="0"/>
              <a:t>    </a:t>
            </a:r>
            <a:r>
              <a:rPr lang="ru-RU" sz="2000" dirty="0" smtClean="0">
                <a:solidFill>
                  <a:srgbClr val="002060"/>
                </a:solidFill>
              </a:rPr>
              <a:t>Групповой адрес (класс </a:t>
            </a:r>
            <a:r>
              <a:rPr lang="en-US" sz="2000" dirty="0" smtClean="0">
                <a:solidFill>
                  <a:srgbClr val="002060"/>
                </a:solidFill>
              </a:rPr>
              <a:t>D) </a:t>
            </a:r>
            <a:r>
              <a:rPr lang="ru-RU" sz="2000" dirty="0" smtClean="0">
                <a:solidFill>
                  <a:srgbClr val="002060"/>
                </a:solidFill>
              </a:rPr>
              <a:t>идентифицирует группу узлов, которые в общем случае могут принадлежать разным сетям</a:t>
            </a:r>
            <a:r>
              <a:rPr lang="ru-RU" sz="2000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 smtClean="0"/>
              <a:t>    Интерфейс, входящий в группу, получает, вместе с индивидуальным </a:t>
            </a:r>
            <a:r>
              <a:rPr lang="en-US" sz="2000" dirty="0" smtClean="0"/>
              <a:t>IP </a:t>
            </a:r>
            <a:r>
              <a:rPr lang="ru-RU" sz="2000" dirty="0" smtClean="0"/>
              <a:t>адресом еще и групповой. </a:t>
            </a:r>
          </a:p>
          <a:p>
            <a:pPr>
              <a:buFont typeface="Arial" pitchFamily="34" charset="0"/>
              <a:buChar char="•"/>
            </a:pPr>
            <a:r>
              <a:rPr lang="ru-RU" sz="2000" dirty="0" smtClean="0"/>
              <a:t>    </a:t>
            </a:r>
            <a:r>
              <a:rPr lang="ru-RU" sz="2000" dirty="0" smtClean="0">
                <a:solidFill>
                  <a:srgbClr val="002060"/>
                </a:solidFill>
              </a:rPr>
              <a:t>При отправке пакета с адресом класса </a:t>
            </a:r>
            <a:r>
              <a:rPr lang="en-US" sz="2000" dirty="0" smtClean="0">
                <a:solidFill>
                  <a:srgbClr val="002060"/>
                </a:solidFill>
              </a:rPr>
              <a:t>D</a:t>
            </a:r>
            <a:r>
              <a:rPr lang="ru-RU" sz="2000" dirty="0" smtClean="0">
                <a:solidFill>
                  <a:srgbClr val="002060"/>
                </a:solidFill>
              </a:rPr>
              <a:t> в качестве адреса получателя, он будет доставлен всем узлам, входящим в группу</a:t>
            </a:r>
            <a:endParaRPr lang="ru-RU" sz="2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792088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7030A0"/>
                </a:solidFill>
              </a:rPr>
              <a:t>Структура IP-адресов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79512" y="1052736"/>
          <a:ext cx="8640960" cy="54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756" r:id="rId3" imgW="5366004" imgH="3160776" progId="Word.Document.8">
                  <p:embed/>
                </p:oleObj>
              </mc:Choice>
              <mc:Fallback>
                <p:oleObj r:id="rId3" imgW="5366004" imgH="3160776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1052736"/>
                        <a:ext cx="8640960" cy="540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794" name="Line 2"/>
          <p:cNvSpPr>
            <a:spLocks noChangeShapeType="1"/>
          </p:cNvSpPr>
          <p:nvPr/>
        </p:nvSpPr>
        <p:spPr bwMode="auto">
          <a:xfrm>
            <a:off x="8610600" y="5334000"/>
            <a:ext cx="0" cy="10668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3795" name="Line 3"/>
          <p:cNvSpPr>
            <a:spLocks noChangeShapeType="1"/>
          </p:cNvSpPr>
          <p:nvPr/>
        </p:nvSpPr>
        <p:spPr bwMode="auto">
          <a:xfrm>
            <a:off x="8001000" y="6248400"/>
            <a:ext cx="762000" cy="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3796" name="Line 4"/>
          <p:cNvSpPr>
            <a:spLocks noChangeShapeType="1"/>
          </p:cNvSpPr>
          <p:nvPr/>
        </p:nvSpPr>
        <p:spPr bwMode="auto">
          <a:xfrm>
            <a:off x="8534400" y="5867400"/>
            <a:ext cx="0" cy="6096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3797" name="Line 5"/>
          <p:cNvSpPr>
            <a:spLocks noChangeShapeType="1"/>
          </p:cNvSpPr>
          <p:nvPr/>
        </p:nvSpPr>
        <p:spPr bwMode="auto">
          <a:xfrm>
            <a:off x="8382000" y="6172200"/>
            <a:ext cx="457200" cy="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3798" name="Line 6"/>
          <p:cNvSpPr>
            <a:spLocks noChangeShapeType="1"/>
          </p:cNvSpPr>
          <p:nvPr/>
        </p:nvSpPr>
        <p:spPr bwMode="auto">
          <a:xfrm flipV="1">
            <a:off x="8686800" y="5562600"/>
            <a:ext cx="0" cy="8382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3802" name="Line 10"/>
          <p:cNvSpPr>
            <a:spLocks noChangeShapeType="1"/>
          </p:cNvSpPr>
          <p:nvPr/>
        </p:nvSpPr>
        <p:spPr bwMode="auto">
          <a:xfrm>
            <a:off x="457200" y="884238"/>
            <a:ext cx="7772400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3803" name="Rectangle 11"/>
          <p:cNvSpPr>
            <a:spLocks noChangeArrowheads="1"/>
          </p:cNvSpPr>
          <p:nvPr/>
        </p:nvSpPr>
        <p:spPr bwMode="auto">
          <a:xfrm>
            <a:off x="533400" y="731838"/>
            <a:ext cx="381000" cy="381000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3804" name="Rectangle 12"/>
          <p:cNvSpPr>
            <a:spLocks noChangeArrowheads="1"/>
          </p:cNvSpPr>
          <p:nvPr/>
        </p:nvSpPr>
        <p:spPr bwMode="auto">
          <a:xfrm>
            <a:off x="609600" y="808038"/>
            <a:ext cx="381000" cy="381000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3805" name="Rectangle 13"/>
          <p:cNvSpPr>
            <a:spLocks noChangeArrowheads="1"/>
          </p:cNvSpPr>
          <p:nvPr/>
        </p:nvSpPr>
        <p:spPr bwMode="auto">
          <a:xfrm>
            <a:off x="611560" y="0"/>
            <a:ext cx="61926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dirty="0">
                <a:solidFill>
                  <a:srgbClr val="7030A0"/>
                </a:solidFill>
                <a:latin typeface="Verdana" pitchFamily="34" charset="0"/>
              </a:rPr>
              <a:t>Классы </a:t>
            </a:r>
            <a:r>
              <a:rPr lang="en-US" sz="3200" dirty="0">
                <a:solidFill>
                  <a:srgbClr val="7030A0"/>
                </a:solidFill>
                <a:latin typeface="Verdana" pitchFamily="34" charset="0"/>
              </a:rPr>
              <a:t>IP </a:t>
            </a:r>
            <a:r>
              <a:rPr lang="ru-RU" sz="3200" dirty="0" smtClean="0">
                <a:solidFill>
                  <a:srgbClr val="7030A0"/>
                </a:solidFill>
                <a:latin typeface="Verdana" pitchFamily="34" charset="0"/>
              </a:rPr>
              <a:t>адресов (2вар)</a:t>
            </a:r>
            <a:endParaRPr lang="ru-RU" sz="3200" dirty="0">
              <a:solidFill>
                <a:srgbClr val="7030A0"/>
              </a:solidFill>
              <a:latin typeface="Verdana" pitchFamily="34" charset="0"/>
            </a:endParaRPr>
          </a:p>
        </p:txBody>
      </p:sp>
      <p:sp>
        <p:nvSpPr>
          <p:cNvPr id="7179" name="Rectangle 14"/>
          <p:cNvSpPr>
            <a:spLocks noChangeArrowheads="1"/>
          </p:cNvSpPr>
          <p:nvPr/>
        </p:nvSpPr>
        <p:spPr bwMode="auto">
          <a:xfrm>
            <a:off x="179512" y="3789041"/>
            <a:ext cx="8712968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buClr>
                <a:srgbClr val="99CCFF"/>
              </a:buClr>
              <a:buFont typeface="Wingdings" pitchFamily="2" charset="2"/>
              <a:buNone/>
            </a:pPr>
            <a:r>
              <a:rPr lang="ru-RU" sz="2000" b="0" dirty="0" smtClean="0">
                <a:solidFill>
                  <a:srgbClr val="002060"/>
                </a:solidFill>
              </a:rPr>
              <a:t>         </a:t>
            </a:r>
            <a:r>
              <a:rPr lang="en-US" sz="2000" b="0" dirty="0" smtClean="0">
                <a:solidFill>
                  <a:srgbClr val="002060"/>
                </a:solidFill>
              </a:rPr>
              <a:t>IP </a:t>
            </a:r>
            <a:r>
              <a:rPr lang="ru-RU" sz="2000" b="0" dirty="0">
                <a:solidFill>
                  <a:srgbClr val="002060"/>
                </a:solidFill>
              </a:rPr>
              <a:t>адреса записываются в десятично-точечной нотации</a:t>
            </a:r>
            <a:r>
              <a:rPr lang="ru-RU" sz="2000" b="0" dirty="0" smtClean="0"/>
              <a:t>,</a:t>
            </a:r>
          </a:p>
          <a:p>
            <a:pPr algn="just">
              <a:buClr>
                <a:srgbClr val="99CCFF"/>
              </a:buClr>
              <a:buFont typeface="Wingdings" pitchFamily="2" charset="2"/>
              <a:buNone/>
            </a:pPr>
            <a:r>
              <a:rPr lang="ru-RU" sz="2000" b="0" dirty="0" smtClean="0"/>
              <a:t> </a:t>
            </a:r>
            <a:r>
              <a:rPr lang="ru-RU" sz="2000" b="0" dirty="0">
                <a:solidFill>
                  <a:srgbClr val="002060"/>
                </a:solidFill>
              </a:rPr>
              <a:t>каждый байт </a:t>
            </a:r>
            <a:r>
              <a:rPr lang="ru-RU" sz="2000" b="0" dirty="0"/>
              <a:t>(значения в диапазоне 0-255) </a:t>
            </a:r>
            <a:r>
              <a:rPr lang="ru-RU" sz="2000" b="0" dirty="0">
                <a:solidFill>
                  <a:srgbClr val="002060"/>
                </a:solidFill>
              </a:rPr>
              <a:t>отделяется от соседнего точкой</a:t>
            </a:r>
            <a:r>
              <a:rPr lang="ru-RU" sz="2000" b="0" dirty="0" smtClean="0">
                <a:solidFill>
                  <a:srgbClr val="002060"/>
                </a:solidFill>
              </a:rPr>
              <a:t>.</a:t>
            </a:r>
          </a:p>
          <a:p>
            <a:pPr algn="just">
              <a:buClr>
                <a:srgbClr val="99CCFF"/>
              </a:buClr>
              <a:buFont typeface="Wingdings" pitchFamily="2" charset="2"/>
              <a:buNone/>
            </a:pPr>
            <a:r>
              <a:rPr lang="ru-RU" sz="2000" dirty="0" smtClean="0">
                <a:solidFill>
                  <a:srgbClr val="002060"/>
                </a:solidFill>
              </a:rPr>
              <a:t>         </a:t>
            </a:r>
            <a:r>
              <a:rPr lang="ru-RU" sz="2000" b="0" dirty="0" smtClean="0">
                <a:solidFill>
                  <a:srgbClr val="002060"/>
                </a:solidFill>
              </a:rPr>
              <a:t> </a:t>
            </a:r>
            <a:r>
              <a:rPr lang="ru-RU" sz="2000" b="0" dirty="0"/>
              <a:t>Всего в Интернете возможно существование менее 2</a:t>
            </a:r>
            <a:r>
              <a:rPr lang="ru-RU" sz="2000" b="0" baseline="30000" dirty="0"/>
              <a:t>32</a:t>
            </a:r>
            <a:r>
              <a:rPr lang="ru-RU" sz="2000" b="0" dirty="0"/>
              <a:t> хостов (сетевых интерфейсов). </a:t>
            </a:r>
            <a:endParaRPr lang="ru-RU" sz="2000" b="0" dirty="0" smtClean="0"/>
          </a:p>
          <a:p>
            <a:pPr algn="just">
              <a:buClr>
                <a:srgbClr val="99CCFF"/>
              </a:buClr>
              <a:buFont typeface="Wingdings" pitchFamily="2" charset="2"/>
              <a:buNone/>
            </a:pPr>
            <a:r>
              <a:rPr lang="ru-RU" sz="2000" dirty="0" smtClean="0"/>
              <a:t>          </a:t>
            </a:r>
            <a:r>
              <a:rPr lang="ru-RU" sz="2000" b="0" dirty="0" smtClean="0">
                <a:solidFill>
                  <a:srgbClr val="002060"/>
                </a:solidFill>
              </a:rPr>
              <a:t>Выделение </a:t>
            </a:r>
            <a:r>
              <a:rPr lang="ru-RU" sz="2000" b="0" dirty="0">
                <a:solidFill>
                  <a:srgbClr val="002060"/>
                </a:solidFill>
              </a:rPr>
              <a:t>хоста в сети позволяет придерживаться четкой двухуровневой иерархической </a:t>
            </a:r>
            <a:r>
              <a:rPr lang="ru-RU" sz="2000" b="0" dirty="0" smtClean="0">
                <a:solidFill>
                  <a:srgbClr val="002060"/>
                </a:solidFill>
              </a:rPr>
              <a:t>структуры  (сеть – хост ).</a:t>
            </a:r>
            <a:endParaRPr lang="ru-RU" sz="2000" b="0" dirty="0">
              <a:solidFill>
                <a:srgbClr val="002060"/>
              </a:solidFill>
            </a:endParaRPr>
          </a:p>
          <a:p>
            <a:pPr algn="just">
              <a:buClr>
                <a:srgbClr val="99CCFF"/>
              </a:buClr>
              <a:buFont typeface="Wingdings" pitchFamily="2" charset="2"/>
              <a:buNone/>
            </a:pPr>
            <a:r>
              <a:rPr lang="ru-RU" sz="2000" b="0" dirty="0" smtClean="0"/>
              <a:t>         На </a:t>
            </a:r>
            <a:r>
              <a:rPr lang="ru-RU" sz="2000" b="0" dirty="0"/>
              <a:t>данный момент существует </a:t>
            </a:r>
            <a:r>
              <a:rPr lang="ru-RU" sz="2000" b="0" dirty="0">
                <a:solidFill>
                  <a:srgbClr val="002060"/>
                </a:solidFill>
              </a:rPr>
              <a:t>бесклассовая система адресации </a:t>
            </a:r>
            <a:r>
              <a:rPr lang="ru-RU" sz="2000" b="0" dirty="0"/>
              <a:t>(</a:t>
            </a:r>
            <a:r>
              <a:rPr lang="en-US" sz="2000" b="0" dirty="0"/>
              <a:t>Classless Internet Domain </a:t>
            </a:r>
            <a:r>
              <a:rPr lang="en-US" sz="2000" b="0" dirty="0" smtClean="0"/>
              <a:t>Routing</a:t>
            </a:r>
            <a:r>
              <a:rPr lang="ru-RU" sz="2000" b="0" i="1" u="sng" dirty="0" smtClean="0"/>
              <a:t>, </a:t>
            </a:r>
            <a:r>
              <a:rPr lang="en-US" sz="2000" b="0" i="1" u="sng" dirty="0" smtClean="0">
                <a:solidFill>
                  <a:srgbClr val="002060"/>
                </a:solidFill>
              </a:rPr>
              <a:t>CIDR</a:t>
            </a:r>
            <a:r>
              <a:rPr lang="ru-RU" sz="2000" b="0" i="1" u="sng" dirty="0" smtClean="0">
                <a:solidFill>
                  <a:srgbClr val="002060"/>
                </a:solidFill>
              </a:rPr>
              <a:t> </a:t>
            </a:r>
            <a:r>
              <a:rPr lang="en-US" sz="2000" b="0" dirty="0" smtClean="0">
                <a:solidFill>
                  <a:srgbClr val="002060"/>
                </a:solidFill>
              </a:rPr>
              <a:t>)</a:t>
            </a:r>
            <a:r>
              <a:rPr lang="ru-RU" sz="2000" b="0" dirty="0">
                <a:solidFill>
                  <a:srgbClr val="002060"/>
                </a:solidFill>
              </a:rPr>
              <a:t>, характеризуемая любой длиной номера сети и хоста в пределах 32 бит.</a:t>
            </a:r>
          </a:p>
        </p:txBody>
      </p:sp>
      <p:graphicFrame>
        <p:nvGraphicFramePr>
          <p:cNvPr id="673937" name="Group 145"/>
          <p:cNvGraphicFramePr>
            <a:graphicFrameLocks noGrp="1"/>
          </p:cNvGraphicFramePr>
          <p:nvPr/>
        </p:nvGraphicFramePr>
        <p:xfrm>
          <a:off x="381000" y="764706"/>
          <a:ext cx="8382000" cy="2880318"/>
        </p:xfrm>
        <a:graphic>
          <a:graphicData uri="http://schemas.openxmlformats.org/drawingml/2006/table">
            <a:tbl>
              <a:tblPr/>
              <a:tblGrid>
                <a:gridCol w="990600"/>
                <a:gridCol w="1066800"/>
                <a:gridCol w="1143000"/>
                <a:gridCol w="1066800"/>
                <a:gridCol w="1143000"/>
                <a:gridCol w="1143000"/>
                <a:gridCol w="1828800"/>
              </a:tblGrid>
              <a:tr h="4800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Класс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Структура 32-битного 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IP </a:t>
                      </a:r>
                      <a:r>
                        <a:rPr kumimoji="0" lang="ru-RU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адреса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</a:rPr>
                        <a:t>Диапазон сетей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48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Класс 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 № сети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№ хоста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1.0.0.0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126.0.0.0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Класс 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 № сети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№ хоста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128.0.0.0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191.255.0.0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Класс 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110 № сети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№ хоста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192.0.0.0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223.255.255.0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Класс 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endParaRPr kumimoji="0" lang="ru-RU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1110 групповой адрес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224.0.0.0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239.255.255.255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Класс Е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11110 зарезервирован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240.0.0.0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247.255.255.255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6792"/>
            <a:ext cx="8229600" cy="2664296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Формат </a:t>
            </a:r>
            <a:r>
              <a:rPr lang="en-US" dirty="0" smtClean="0">
                <a:solidFill>
                  <a:srgbClr val="7030A0"/>
                </a:solidFill>
              </a:rPr>
              <a:t>IP</a:t>
            </a:r>
            <a:r>
              <a:rPr lang="ru-RU" dirty="0" smtClean="0">
                <a:solidFill>
                  <a:srgbClr val="7030A0"/>
                </a:solidFill>
              </a:rPr>
              <a:t> – адреса.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 Особые </a:t>
            </a:r>
            <a:r>
              <a:rPr lang="en-US" dirty="0" smtClean="0">
                <a:solidFill>
                  <a:srgbClr val="7030A0"/>
                </a:solidFill>
              </a:rPr>
              <a:t>IP</a:t>
            </a:r>
            <a:r>
              <a:rPr lang="ru-RU" dirty="0" smtClean="0">
                <a:solidFill>
                  <a:srgbClr val="7030A0"/>
                </a:solidFill>
              </a:rPr>
              <a:t>-адреса.</a:t>
            </a:r>
            <a:endParaRPr lang="ru-RU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274638"/>
            <a:ext cx="8784976" cy="922114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3200" dirty="0" smtClean="0">
                <a:solidFill>
                  <a:srgbClr val="7030A0"/>
                </a:solidFill>
              </a:rPr>
              <a:t>Формат </a:t>
            </a:r>
            <a:r>
              <a:rPr lang="en-US" sz="3200" dirty="0" smtClean="0">
                <a:solidFill>
                  <a:srgbClr val="7030A0"/>
                </a:solidFill>
              </a:rPr>
              <a:t>IP</a:t>
            </a:r>
            <a:r>
              <a:rPr lang="ru-RU" sz="3200" dirty="0" smtClean="0">
                <a:solidFill>
                  <a:srgbClr val="7030A0"/>
                </a:solidFill>
              </a:rPr>
              <a:t> – адреса. Особые </a:t>
            </a:r>
            <a:r>
              <a:rPr lang="en-US" sz="3200" dirty="0" smtClean="0">
                <a:solidFill>
                  <a:srgbClr val="7030A0"/>
                </a:solidFill>
              </a:rPr>
              <a:t>IP</a:t>
            </a:r>
            <a:r>
              <a:rPr lang="ru-RU" sz="3200" dirty="0" smtClean="0">
                <a:solidFill>
                  <a:srgbClr val="7030A0"/>
                </a:solidFill>
              </a:rPr>
              <a:t>-адреса(1а)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268760"/>
            <a:ext cx="8964488" cy="558924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ru-RU" sz="2000" dirty="0" smtClean="0"/>
          </a:p>
          <a:p>
            <a:pPr eaLnBrk="1" hangingPunct="1">
              <a:lnSpc>
                <a:spcPct val="80000"/>
              </a:lnSpc>
            </a:pPr>
            <a:r>
              <a:rPr lang="ru-RU" sz="2000" dirty="0" smtClean="0"/>
              <a:t> 1</a:t>
            </a:r>
            <a:r>
              <a:rPr lang="ru-RU" sz="2800" dirty="0" smtClean="0"/>
              <a:t>). Если </a:t>
            </a:r>
            <a:r>
              <a:rPr lang="en-US" sz="2800" dirty="0" smtClean="0"/>
              <a:t>IP</a:t>
            </a:r>
            <a:r>
              <a:rPr lang="ru-RU" sz="2800" dirty="0" smtClean="0"/>
              <a:t>-адрес состоит только </a:t>
            </a:r>
            <a:r>
              <a:rPr lang="ru-RU" sz="2800" i="1" dirty="0" smtClean="0">
                <a:solidFill>
                  <a:srgbClr val="002060"/>
                </a:solidFill>
              </a:rPr>
              <a:t>из </a:t>
            </a:r>
            <a:r>
              <a:rPr lang="ru-RU" sz="2800" i="1" u="sng" dirty="0" smtClean="0">
                <a:solidFill>
                  <a:srgbClr val="002060"/>
                </a:solidFill>
              </a:rPr>
              <a:t>двоичных нулей</a:t>
            </a:r>
            <a:r>
              <a:rPr lang="ru-RU" sz="2800" dirty="0" smtClean="0"/>
              <a:t>, то он называется </a:t>
            </a:r>
            <a:r>
              <a:rPr lang="ru-RU" sz="2800" i="1" u="sng" dirty="0" smtClean="0">
                <a:solidFill>
                  <a:srgbClr val="002060"/>
                </a:solidFill>
              </a:rPr>
              <a:t>неопределенным адресом </a:t>
            </a:r>
            <a:r>
              <a:rPr lang="ru-RU" sz="2800" dirty="0" smtClean="0"/>
              <a:t>и обозначает адрес того узла, который сгенерировал этот пакет.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800" dirty="0" smtClean="0"/>
              <a:t>     Адрес такого вида в особых случаях помещается в заголовок </a:t>
            </a:r>
            <a:r>
              <a:rPr lang="en-US" sz="2800" dirty="0" smtClean="0"/>
              <a:t>IP</a:t>
            </a:r>
            <a:r>
              <a:rPr lang="ru-RU" sz="2800" dirty="0" smtClean="0"/>
              <a:t>-пакета в поле адреса отправителя.</a:t>
            </a:r>
          </a:p>
          <a:p>
            <a:pPr eaLnBrk="1" hangingPunct="1">
              <a:lnSpc>
                <a:spcPct val="80000"/>
              </a:lnSpc>
              <a:buNone/>
            </a:pPr>
            <a:endParaRPr lang="ru-RU" sz="2800" dirty="0" smtClean="0"/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 2). Если в поле адреса назначения в разрядах, соответствующих номеру узла, стоят</a:t>
            </a:r>
            <a:r>
              <a:rPr lang="ru-RU" sz="2800" u="sng" dirty="0" smtClean="0"/>
              <a:t> </a:t>
            </a:r>
            <a:r>
              <a:rPr lang="ru-RU" sz="2800" i="1" u="sng" dirty="0" smtClean="0">
                <a:solidFill>
                  <a:srgbClr val="002060"/>
                </a:solidFill>
              </a:rPr>
              <a:t>только единицы</a:t>
            </a:r>
            <a:r>
              <a:rPr lang="ru-RU" sz="2800" i="1" dirty="0" smtClean="0">
                <a:solidFill>
                  <a:srgbClr val="002060"/>
                </a:solidFill>
              </a:rPr>
              <a:t>, </a:t>
            </a:r>
            <a:r>
              <a:rPr lang="ru-RU" sz="2800" dirty="0" smtClean="0"/>
              <a:t>то пакет, имеющий такой адрес, </a:t>
            </a:r>
            <a:r>
              <a:rPr lang="ru-RU" sz="2800" dirty="0" smtClean="0">
                <a:solidFill>
                  <a:srgbClr val="002060"/>
                </a:solidFill>
              </a:rPr>
              <a:t>рассылается всем узлам сети, номер которой указан в адресе назначения.</a:t>
            </a:r>
          </a:p>
          <a:p>
            <a:pPr eaLnBrk="1" hangingPunct="1">
              <a:lnSpc>
                <a:spcPct val="80000"/>
              </a:lnSpc>
            </a:pPr>
            <a:endParaRPr lang="ru-RU" sz="2800" dirty="0" smtClean="0">
              <a:solidFill>
                <a:srgbClr val="00206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ru-RU" sz="2800" u="sng" dirty="0" smtClean="0"/>
              <a:t>     </a:t>
            </a:r>
            <a:r>
              <a:rPr lang="ru-RU" sz="2800" i="1" u="sng" dirty="0" smtClean="0">
                <a:solidFill>
                  <a:srgbClr val="002060"/>
                </a:solidFill>
              </a:rPr>
              <a:t>Такой тип адреса называется широковещательным</a:t>
            </a:r>
            <a:r>
              <a:rPr lang="ru-RU" sz="2800" i="1" dirty="0" smtClean="0">
                <a:solidFill>
                  <a:srgbClr val="002060"/>
                </a:solidFill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ru-RU" sz="17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80728"/>
          </a:xfrm>
        </p:spPr>
        <p:txBody>
          <a:bodyPr>
            <a:norm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Формат </a:t>
            </a:r>
            <a:r>
              <a:rPr lang="en-US" sz="3200" dirty="0" smtClean="0">
                <a:solidFill>
                  <a:srgbClr val="7030A0"/>
                </a:solidFill>
              </a:rPr>
              <a:t>IP</a:t>
            </a:r>
            <a:r>
              <a:rPr lang="ru-RU" sz="3200" dirty="0" smtClean="0">
                <a:solidFill>
                  <a:srgbClr val="7030A0"/>
                </a:solidFill>
              </a:rPr>
              <a:t> – адреса. Особые </a:t>
            </a:r>
            <a:r>
              <a:rPr lang="en-US" sz="3200" dirty="0" smtClean="0">
                <a:solidFill>
                  <a:srgbClr val="7030A0"/>
                </a:solidFill>
              </a:rPr>
              <a:t>IP</a:t>
            </a:r>
            <a:r>
              <a:rPr lang="ru-RU" sz="3200" dirty="0" smtClean="0">
                <a:solidFill>
                  <a:srgbClr val="7030A0"/>
                </a:solidFill>
              </a:rPr>
              <a:t>-адреса(1б)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532859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ru-RU" i="1" dirty="0" smtClean="0"/>
              <a:t>3). </a:t>
            </a:r>
            <a:r>
              <a:rPr lang="en-US" i="1" dirty="0" smtClean="0"/>
              <a:t>IP</a:t>
            </a:r>
            <a:r>
              <a:rPr lang="ru-RU" i="1" dirty="0" smtClean="0"/>
              <a:t>-адрес, </a:t>
            </a:r>
            <a:r>
              <a:rPr lang="ru-RU" i="1" dirty="0" smtClean="0">
                <a:solidFill>
                  <a:srgbClr val="002060"/>
                </a:solidFill>
              </a:rPr>
              <a:t>первый октет которого равен 127</a:t>
            </a:r>
            <a:r>
              <a:rPr lang="ru-RU" dirty="0" smtClean="0"/>
              <a:t>, является внутренним адресом стека протоколов компьютера (или </a:t>
            </a:r>
            <a:r>
              <a:rPr lang="ru-RU" dirty="0" err="1" smtClean="0"/>
              <a:t>маршрутизатора</a:t>
            </a:r>
            <a:r>
              <a:rPr lang="ru-RU" i="1" u="sng" dirty="0" smtClean="0">
                <a:solidFill>
                  <a:srgbClr val="002060"/>
                </a:solidFill>
              </a:rPr>
              <a:t>).</a:t>
            </a:r>
          </a:p>
          <a:p>
            <a:pPr>
              <a:lnSpc>
                <a:spcPct val="80000"/>
              </a:lnSpc>
              <a:buNone/>
            </a:pPr>
            <a:r>
              <a:rPr lang="ru-RU" dirty="0" smtClean="0"/>
              <a:t> Он используется для тестирования программ, а также для организации работы клиентской и серверной частей приложения, установленных на одном компьютере. 	</a:t>
            </a:r>
          </a:p>
          <a:p>
            <a:pPr>
              <a:lnSpc>
                <a:spcPct val="80000"/>
              </a:lnSpc>
              <a:buNone/>
            </a:pPr>
            <a:r>
              <a:rPr lang="ru-RU" dirty="0" smtClean="0"/>
              <a:t>Когда программа посылает данные по </a:t>
            </a:r>
            <a:r>
              <a:rPr lang="en-US" dirty="0" smtClean="0"/>
              <a:t>IP</a:t>
            </a:r>
            <a:r>
              <a:rPr lang="ru-RU" dirty="0" smtClean="0"/>
              <a:t>-адресу 127.0.0.0, то данные не передаются в сеть, а возвращаются модулям верхнего уровня того же компьютера как только что принятые.</a:t>
            </a:r>
          </a:p>
          <a:p>
            <a:pPr>
              <a:lnSpc>
                <a:spcPct val="80000"/>
              </a:lnSpc>
              <a:buNone/>
            </a:pPr>
            <a:r>
              <a:rPr lang="ru-RU" dirty="0" smtClean="0"/>
              <a:t> Маршрут перемещения данных образует «петлю», </a:t>
            </a:r>
            <a:r>
              <a:rPr lang="ru-RU" i="1" dirty="0" smtClean="0"/>
              <a:t>поэтому </a:t>
            </a:r>
            <a:r>
              <a:rPr lang="ru-RU" i="1" u="sng" dirty="0" smtClean="0">
                <a:solidFill>
                  <a:srgbClr val="002060"/>
                </a:solidFill>
              </a:rPr>
              <a:t>этот адрес называется адресом обратной петли.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pPr algn="ctr" eaLnBrk="1" hangingPunct="1"/>
            <a:r>
              <a:rPr lang="ru-RU" sz="2800" dirty="0" smtClean="0">
                <a:solidFill>
                  <a:srgbClr val="7030A0"/>
                </a:solidFill>
              </a:rPr>
              <a:t>Формат </a:t>
            </a:r>
            <a:r>
              <a:rPr lang="en-US" sz="2800" dirty="0" smtClean="0">
                <a:solidFill>
                  <a:srgbClr val="7030A0"/>
                </a:solidFill>
              </a:rPr>
              <a:t>IP</a:t>
            </a:r>
            <a:r>
              <a:rPr lang="ru-RU" sz="2800" dirty="0" smtClean="0">
                <a:solidFill>
                  <a:srgbClr val="7030A0"/>
                </a:solidFill>
              </a:rPr>
              <a:t> – адреса. Особые </a:t>
            </a:r>
            <a:r>
              <a:rPr lang="en-US" sz="2800" dirty="0" smtClean="0">
                <a:solidFill>
                  <a:srgbClr val="7030A0"/>
                </a:solidFill>
              </a:rPr>
              <a:t>IP</a:t>
            </a:r>
            <a:r>
              <a:rPr lang="ru-RU" sz="2800" dirty="0" smtClean="0">
                <a:solidFill>
                  <a:srgbClr val="7030A0"/>
                </a:solidFill>
              </a:rPr>
              <a:t>-адреса (2)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908720"/>
            <a:ext cx="8964488" cy="594928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800" b="1" dirty="0" smtClean="0"/>
              <a:t> </a:t>
            </a:r>
            <a:r>
              <a:rPr lang="ru-RU" sz="2800" i="1" u="sng" dirty="0" smtClean="0">
                <a:solidFill>
                  <a:srgbClr val="002060"/>
                </a:solidFill>
              </a:rPr>
              <a:t>4). Групповые адреса, </a:t>
            </a:r>
            <a:r>
              <a:rPr lang="ru-RU" sz="2800" dirty="0" smtClean="0"/>
              <a:t>относящиеся к классу </a:t>
            </a:r>
            <a:r>
              <a:rPr lang="en-US" sz="2800" dirty="0" smtClean="0"/>
              <a:t>D</a:t>
            </a:r>
            <a:r>
              <a:rPr lang="ru-RU" sz="2800" dirty="0" smtClean="0"/>
              <a:t>, предназначены для экономичного распространения в Интернете или большой корпоративной сети аудио или видеопрограмм, адресованных сразу большой аудитории слушателей или зрителей.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800" dirty="0" smtClean="0"/>
              <a:t>  Групповой адрес не делится на номера сети и узла и обрабатывается </a:t>
            </a:r>
            <a:r>
              <a:rPr lang="ru-RU" sz="2800" dirty="0" err="1" smtClean="0"/>
              <a:t>маршрутизатором</a:t>
            </a:r>
            <a:r>
              <a:rPr lang="ru-RU" sz="2800" dirty="0" smtClean="0"/>
              <a:t> особым образом.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800" i="1" dirty="0" smtClean="0">
                <a:solidFill>
                  <a:srgbClr val="002060"/>
                </a:solidFill>
              </a:rPr>
              <a:t>   Основное </a:t>
            </a:r>
            <a:r>
              <a:rPr lang="ru-RU" sz="2800" i="1" u="sng" dirty="0" smtClean="0">
                <a:solidFill>
                  <a:srgbClr val="002060"/>
                </a:solidFill>
              </a:rPr>
              <a:t>назначение групповых адресов</a:t>
            </a:r>
            <a:r>
              <a:rPr lang="ru-RU" sz="2800" i="1" dirty="0" smtClean="0">
                <a:solidFill>
                  <a:srgbClr val="002060"/>
                </a:solidFill>
              </a:rPr>
              <a:t> — распространение информации по схеме «один ко многим».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800" dirty="0" smtClean="0"/>
              <a:t>    От того, найдут групповые адреса широкое применение, зависит сможет ли Интернет создать серьезную конкуренцию радио и телевидению.</a:t>
            </a:r>
            <a:r>
              <a:rPr lang="ru-RU" sz="2100" dirty="0" smtClean="0"/>
              <a:t/>
            </a:r>
            <a:br>
              <a:rPr lang="ru-RU" sz="2100" dirty="0" smtClean="0"/>
            </a:br>
            <a:endParaRPr lang="ru-RU" sz="21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484784"/>
            <a:ext cx="8229600" cy="2088232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Бесклассовый способ адресации -</a:t>
            </a:r>
            <a:r>
              <a:rPr lang="en-US" dirty="0" smtClean="0">
                <a:solidFill>
                  <a:srgbClr val="7030A0"/>
                </a:solidFill>
              </a:rPr>
              <a:t>CIDR</a:t>
            </a:r>
            <a:r>
              <a:rPr lang="ru-RU" dirty="0" smtClean="0">
                <a:solidFill>
                  <a:srgbClr val="7030A0"/>
                </a:solidFill>
              </a:rPr>
              <a:t> </a:t>
            </a: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8640"/>
            <a:ext cx="9144000" cy="576064"/>
          </a:xfrm>
        </p:spPr>
        <p:txBody>
          <a:bodyPr>
            <a:normAutofit/>
          </a:bodyPr>
          <a:lstStyle/>
          <a:p>
            <a:pPr algn="l" eaLnBrk="1" hangingPunct="1"/>
            <a:r>
              <a:rPr lang="ru-RU" sz="2800" dirty="0" smtClean="0">
                <a:solidFill>
                  <a:srgbClr val="7030A0"/>
                </a:solidFill>
              </a:rPr>
              <a:t>Порядок назначения </a:t>
            </a:r>
            <a:r>
              <a:rPr lang="en-US" sz="2800" dirty="0" smtClean="0">
                <a:solidFill>
                  <a:srgbClr val="7030A0"/>
                </a:solidFill>
              </a:rPr>
              <a:t>IP</a:t>
            </a:r>
            <a:r>
              <a:rPr lang="ru-RU" sz="2800" dirty="0" smtClean="0">
                <a:solidFill>
                  <a:srgbClr val="7030A0"/>
                </a:solidFill>
              </a:rPr>
              <a:t> – адресов. Технология </a:t>
            </a:r>
            <a:r>
              <a:rPr lang="en-US" sz="2800" dirty="0" smtClean="0">
                <a:solidFill>
                  <a:srgbClr val="7030A0"/>
                </a:solidFill>
              </a:rPr>
              <a:t>CIDR</a:t>
            </a:r>
            <a:endParaRPr lang="ru-RU" sz="2800" dirty="0" smtClean="0">
              <a:solidFill>
                <a:srgbClr val="7030A0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052736"/>
            <a:ext cx="8569325" cy="5544616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800" dirty="0" smtClean="0">
                <a:solidFill>
                  <a:srgbClr val="002060"/>
                </a:solidFill>
              </a:rPr>
              <a:t>Технология бесклассовой </a:t>
            </a:r>
            <a:r>
              <a:rPr lang="ru-RU" sz="2800" dirty="0" err="1" smtClean="0">
                <a:solidFill>
                  <a:srgbClr val="002060"/>
                </a:solidFill>
              </a:rPr>
              <a:t>междоменной</a:t>
            </a:r>
            <a:r>
              <a:rPr lang="ru-RU" sz="2800" dirty="0" smtClean="0">
                <a:solidFill>
                  <a:srgbClr val="002060"/>
                </a:solidFill>
              </a:rPr>
              <a:t> маршрутизации </a:t>
            </a:r>
            <a:r>
              <a:rPr lang="en-US" sz="2800" dirty="0" smtClean="0">
                <a:solidFill>
                  <a:srgbClr val="002060"/>
                </a:solidFill>
              </a:rPr>
              <a:t>CIDR</a:t>
            </a:r>
            <a:r>
              <a:rPr lang="ru-RU" sz="2800" dirty="0" smtClean="0">
                <a:solidFill>
                  <a:srgbClr val="002060"/>
                </a:solidFill>
              </a:rPr>
              <a:t> </a:t>
            </a:r>
            <a:r>
              <a:rPr lang="ru-RU" sz="2800" dirty="0" smtClean="0"/>
              <a:t>(</a:t>
            </a:r>
            <a:r>
              <a:rPr lang="en-US" sz="2800" dirty="0" smtClean="0"/>
              <a:t>Classless Inter</a:t>
            </a:r>
            <a:r>
              <a:rPr lang="ru-RU" sz="2800" dirty="0" smtClean="0"/>
              <a:t>-</a:t>
            </a:r>
            <a:r>
              <a:rPr lang="en-US" sz="2800" dirty="0" smtClean="0"/>
              <a:t>Domain Routing</a:t>
            </a:r>
            <a:r>
              <a:rPr lang="ru-RU" sz="2800" dirty="0" smtClean="0"/>
              <a:t>) позволяет решить две задачи: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 smtClean="0"/>
              <a:t>Экономно расходовать адресное пространство (центрам распределения адресов удается избежать выдачи абонентам лишних адресов).</a:t>
            </a:r>
          </a:p>
          <a:p>
            <a:pPr lvl="1" eaLnBrk="1" hangingPunct="1">
              <a:lnSpc>
                <a:spcPct val="80000"/>
              </a:lnSpc>
            </a:pPr>
            <a:r>
              <a:rPr lang="ru-RU" dirty="0" smtClean="0"/>
              <a:t>Уменьшить число записей в таблице маршрутизации (одна запись в ней может представлять большое количество сетей).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Деление </a:t>
            </a:r>
            <a:r>
              <a:rPr lang="en-US" sz="2800" dirty="0" smtClean="0"/>
              <a:t>IP</a:t>
            </a:r>
            <a:r>
              <a:rPr lang="ru-RU" sz="2800" dirty="0" smtClean="0"/>
              <a:t>-адреса на номер сети и номер узла в технологии </a:t>
            </a:r>
            <a:r>
              <a:rPr lang="en-US" sz="2800" dirty="0" smtClean="0"/>
              <a:t>CIDR </a:t>
            </a:r>
            <a:r>
              <a:rPr lang="ru-RU" sz="2800" dirty="0" smtClean="0"/>
              <a:t>происходит </a:t>
            </a:r>
            <a:r>
              <a:rPr lang="ru-RU" sz="2800" b="1" dirty="0" smtClean="0"/>
              <a:t>на основе маски переменной длины</a:t>
            </a:r>
            <a:r>
              <a:rPr lang="ru-RU" sz="28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>
            <a:normAutofit/>
          </a:bodyPr>
          <a:lstStyle/>
          <a:p>
            <a:pPr eaLnBrk="1" hangingPunct="1"/>
            <a:r>
              <a:rPr lang="ru-RU" sz="2800" dirty="0" smtClean="0">
                <a:solidFill>
                  <a:srgbClr val="7030A0"/>
                </a:solidFill>
              </a:rPr>
              <a:t>Порядок назначения </a:t>
            </a:r>
            <a:r>
              <a:rPr lang="en-US" sz="2800" dirty="0" smtClean="0">
                <a:solidFill>
                  <a:srgbClr val="7030A0"/>
                </a:solidFill>
              </a:rPr>
              <a:t>IP</a:t>
            </a:r>
            <a:r>
              <a:rPr lang="ru-RU" sz="2800" dirty="0" smtClean="0">
                <a:solidFill>
                  <a:srgbClr val="7030A0"/>
                </a:solidFill>
              </a:rPr>
              <a:t> – адресов. Технология </a:t>
            </a:r>
            <a:r>
              <a:rPr lang="en-US" sz="2800" dirty="0" smtClean="0">
                <a:solidFill>
                  <a:srgbClr val="7030A0"/>
                </a:solidFill>
              </a:rPr>
              <a:t>CIDR</a:t>
            </a:r>
            <a:endParaRPr lang="ru-RU" sz="2800" dirty="0" smtClean="0">
              <a:solidFill>
                <a:srgbClr val="7030A0"/>
              </a:solidFill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1" y="908720"/>
            <a:ext cx="8892480" cy="576064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ru-RU" sz="2800" dirty="0" smtClean="0">
                <a:solidFill>
                  <a:srgbClr val="002060"/>
                </a:solidFill>
              </a:rPr>
              <a:t>Суть технологии </a:t>
            </a:r>
            <a:r>
              <a:rPr lang="en-US" sz="2800" dirty="0" smtClean="0">
                <a:solidFill>
                  <a:srgbClr val="002060"/>
                </a:solidFill>
              </a:rPr>
              <a:t>CIDR</a:t>
            </a:r>
            <a:r>
              <a:rPr lang="ru-RU" sz="2800" dirty="0" smtClean="0">
                <a:solidFill>
                  <a:srgbClr val="002060"/>
                </a:solidFill>
              </a:rPr>
              <a:t> </a:t>
            </a:r>
            <a:r>
              <a:rPr lang="ru-RU" sz="2800" dirty="0" smtClean="0"/>
              <a:t>заключается в следующем: 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 smtClean="0"/>
              <a:t>Каждому поставщику услуг Интернета назначается непрерывный диапазон </a:t>
            </a:r>
            <a:r>
              <a:rPr lang="en-US" dirty="0" smtClean="0"/>
              <a:t>IP</a:t>
            </a:r>
            <a:r>
              <a:rPr lang="ru-RU" dirty="0" smtClean="0"/>
              <a:t>-адресов.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 smtClean="0"/>
              <a:t>Все адреса каждого поставщика услуг имеют общую старшую часть – </a:t>
            </a:r>
            <a:r>
              <a:rPr lang="ru-RU" b="1" dirty="0" smtClean="0"/>
              <a:t>префикс </a:t>
            </a:r>
            <a:r>
              <a:rPr lang="ru-RU" dirty="0" smtClean="0"/>
              <a:t>(маршрутизация на магистралях Интернета осуществляется на основе префиксов, а не полных адресов сетей).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 smtClean="0"/>
              <a:t>Определяется одна запись для всех сетей, имеющих общий префикс.</a:t>
            </a:r>
          </a:p>
          <a:p>
            <a:pPr lvl="1" eaLnBrk="1" hangingPunct="1">
              <a:lnSpc>
                <a:spcPct val="90000"/>
              </a:lnSpc>
            </a:pPr>
            <a:r>
              <a:rPr lang="ru-RU" dirty="0" smtClean="0"/>
              <a:t>Такое объединение адресов позволяет ускорять работу маршрутизаторов и повышать пропускную способн</a:t>
            </a:r>
            <a:r>
              <a:rPr lang="ru-RU" b="1" dirty="0" smtClean="0"/>
              <a:t>о</a:t>
            </a:r>
            <a:r>
              <a:rPr lang="ru-RU" dirty="0" smtClean="0"/>
              <a:t>сть Интернета.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0"/>
            <a:ext cx="8517632" cy="476672"/>
          </a:xfrm>
        </p:spPr>
        <p:txBody>
          <a:bodyPr>
            <a:noAutofit/>
          </a:bodyPr>
          <a:lstStyle/>
          <a:p>
            <a:r>
              <a:rPr lang="ru-RU" sz="2800" dirty="0" smtClean="0">
                <a:solidFill>
                  <a:srgbClr val="7030A0"/>
                </a:solidFill>
              </a:rPr>
              <a:t>Бесклассовая адресация -  технология  </a:t>
            </a:r>
            <a:r>
              <a:rPr lang="en-US" sz="2800" dirty="0" smtClean="0">
                <a:solidFill>
                  <a:srgbClr val="7030A0"/>
                </a:solidFill>
              </a:rPr>
              <a:t>CIDR</a:t>
            </a:r>
            <a:r>
              <a:rPr lang="ru-RU" sz="2800" dirty="0" smtClean="0">
                <a:solidFill>
                  <a:srgbClr val="7030A0"/>
                </a:solidFill>
              </a:rPr>
              <a:t>(1) </a:t>
            </a:r>
            <a:endParaRPr lang="ru-RU" sz="28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20688"/>
            <a:ext cx="8712968" cy="6237312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При классовой адресации нерационально используются </a:t>
            </a:r>
            <a:r>
              <a:rPr lang="en-US" sz="2400" dirty="0" smtClean="0"/>
              <a:t>IP- </a:t>
            </a:r>
            <a:r>
              <a:rPr lang="ru-RU" sz="2400" dirty="0" smtClean="0"/>
              <a:t> адреса</a:t>
            </a:r>
            <a:r>
              <a:rPr lang="en-US" sz="2400" dirty="0" smtClean="0"/>
              <a:t> </a:t>
            </a:r>
            <a:r>
              <a:rPr lang="ru-RU" sz="2400" dirty="0" smtClean="0"/>
              <a:t>, </a:t>
            </a:r>
            <a:r>
              <a:rPr lang="en-US" sz="2400" dirty="0" smtClean="0"/>
              <a:t> </a:t>
            </a:r>
            <a:r>
              <a:rPr lang="ru-RU" sz="2400" dirty="0" smtClean="0"/>
              <a:t>что  привело к их нехватке, решение проблемы </a:t>
            </a:r>
            <a:r>
              <a:rPr lang="ru-RU" sz="2400" dirty="0" smtClean="0">
                <a:solidFill>
                  <a:srgbClr val="002060"/>
                </a:solidFill>
              </a:rPr>
              <a:t>:</a:t>
            </a:r>
          </a:p>
          <a:p>
            <a:pPr>
              <a:buNone/>
            </a:pPr>
            <a:r>
              <a:rPr lang="ru-RU" sz="2400" dirty="0" smtClean="0"/>
              <a:t>             </a:t>
            </a:r>
            <a:r>
              <a:rPr lang="ru-RU" sz="2400" i="1" dirty="0" smtClean="0"/>
              <a:t>1) реализация протокола </a:t>
            </a:r>
            <a:r>
              <a:rPr lang="en-US" sz="2400" i="1" dirty="0" smtClean="0"/>
              <a:t>IPV6</a:t>
            </a:r>
            <a:r>
              <a:rPr lang="ru-RU" sz="2400" i="1" dirty="0" smtClean="0"/>
              <a:t> ,в котором адресное пространство занимает 128 бит;</a:t>
            </a:r>
          </a:p>
          <a:p>
            <a:pPr>
              <a:buNone/>
            </a:pPr>
            <a:r>
              <a:rPr lang="ru-RU" sz="2400" dirty="0" smtClean="0"/>
              <a:t>            2) </a:t>
            </a:r>
            <a:r>
              <a:rPr lang="ru-RU" sz="2400" i="1" dirty="0" smtClean="0"/>
              <a:t>бесклассовая</a:t>
            </a:r>
            <a:r>
              <a:rPr lang="ru-RU" sz="2400" i="1" dirty="0" smtClean="0">
                <a:solidFill>
                  <a:srgbClr val="002060"/>
                </a:solidFill>
              </a:rPr>
              <a:t> адресация </a:t>
            </a:r>
            <a:r>
              <a:rPr lang="en-US" sz="2400" i="1" dirty="0" smtClean="0">
                <a:solidFill>
                  <a:srgbClr val="002060"/>
                </a:solidFill>
              </a:rPr>
              <a:t>CIDR</a:t>
            </a:r>
            <a:r>
              <a:rPr lang="ru-RU" sz="2400" i="1" dirty="0" smtClean="0">
                <a:solidFill>
                  <a:srgbClr val="002060"/>
                </a:solidFill>
              </a:rPr>
              <a:t>.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     Адресация </a:t>
            </a:r>
            <a:r>
              <a:rPr lang="en-US" sz="2400" dirty="0" smtClean="0">
                <a:solidFill>
                  <a:srgbClr val="002060"/>
                </a:solidFill>
              </a:rPr>
              <a:t>CIDR </a:t>
            </a:r>
            <a:r>
              <a:rPr lang="ru-RU" sz="2400" dirty="0" smtClean="0">
                <a:solidFill>
                  <a:srgbClr val="002060"/>
                </a:solidFill>
              </a:rPr>
              <a:t>– это </a:t>
            </a:r>
            <a:r>
              <a:rPr lang="ru-RU" sz="2400" dirty="0" smtClean="0"/>
              <a:t>технология бесклассовой </a:t>
            </a:r>
            <a:r>
              <a:rPr lang="ru-RU" sz="2400" dirty="0" err="1" smtClean="0"/>
              <a:t>междоменной</a:t>
            </a:r>
            <a:r>
              <a:rPr lang="ru-RU" sz="2400" dirty="0" smtClean="0"/>
              <a:t> маршрутизации, </a:t>
            </a:r>
            <a:r>
              <a:rPr lang="ru-RU" sz="2400" dirty="0" smtClean="0">
                <a:solidFill>
                  <a:srgbClr val="002060"/>
                </a:solidFill>
              </a:rPr>
              <a:t>она использует маски для гибкого распределения адресов и более эффективной маршрутизации. </a:t>
            </a:r>
            <a:r>
              <a:rPr lang="ru-RU" sz="2400" dirty="0" smtClean="0"/>
              <a:t>Допускается произвольное разделение </a:t>
            </a:r>
            <a:r>
              <a:rPr lang="en-US" sz="2400" dirty="0" smtClean="0"/>
              <a:t>IP-</a:t>
            </a:r>
            <a:r>
              <a:rPr lang="ru-RU" sz="2400" dirty="0" smtClean="0"/>
              <a:t> адреса на поля для нумерации сети и узлов. Клиенту выдают пул адресов</a:t>
            </a:r>
            <a:r>
              <a:rPr lang="ru-RU" sz="2400" dirty="0" smtClean="0">
                <a:solidFill>
                  <a:srgbClr val="002060"/>
                </a:solidFill>
              </a:rPr>
              <a:t>.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В методе </a:t>
            </a:r>
            <a:r>
              <a:rPr lang="en-US" sz="2400" dirty="0" smtClean="0">
                <a:solidFill>
                  <a:srgbClr val="002060"/>
                </a:solidFill>
              </a:rPr>
              <a:t>CIDR </a:t>
            </a:r>
            <a:r>
              <a:rPr lang="ru-RU" sz="2400" dirty="0" smtClean="0">
                <a:solidFill>
                  <a:srgbClr val="002060"/>
                </a:solidFill>
              </a:rPr>
              <a:t>используются не классы адресов , а суффиксы, добавленные к каждому </a:t>
            </a:r>
            <a:r>
              <a:rPr lang="en-US" sz="2400" dirty="0" smtClean="0">
                <a:solidFill>
                  <a:srgbClr val="002060"/>
                </a:solidFill>
              </a:rPr>
              <a:t>IP </a:t>
            </a:r>
            <a:r>
              <a:rPr lang="ru-RU" sz="2400" dirty="0" smtClean="0">
                <a:solidFill>
                  <a:srgbClr val="002060"/>
                </a:solidFill>
              </a:rPr>
              <a:t>адресу и определяющие число бит,  выделенное для сетевой части адреса.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 </a:t>
            </a:r>
            <a:r>
              <a:rPr lang="en-US" sz="2400" dirty="0" smtClean="0">
                <a:solidFill>
                  <a:srgbClr val="002060"/>
                </a:solidFill>
              </a:rPr>
              <a:t>IP </a:t>
            </a:r>
            <a:r>
              <a:rPr lang="ru-RU" sz="2400" dirty="0" smtClean="0">
                <a:solidFill>
                  <a:srgbClr val="002060"/>
                </a:solidFill>
              </a:rPr>
              <a:t>адреса отделяются от суффикса символом </a:t>
            </a:r>
            <a:r>
              <a:rPr lang="ru-RU" sz="2400" dirty="0" err="1" smtClean="0">
                <a:solidFill>
                  <a:srgbClr val="002060"/>
                </a:solidFill>
              </a:rPr>
              <a:t>слэша</a:t>
            </a:r>
            <a:r>
              <a:rPr lang="ru-RU" sz="2400" dirty="0" smtClean="0">
                <a:solidFill>
                  <a:srgbClr val="002060"/>
                </a:solidFill>
              </a:rPr>
              <a:t> (</a:t>
            </a:r>
            <a:r>
              <a:rPr lang="en-US" sz="2400" dirty="0" smtClean="0">
                <a:solidFill>
                  <a:srgbClr val="002060"/>
                </a:solidFill>
              </a:rPr>
              <a:t>/</a:t>
            </a:r>
            <a:r>
              <a:rPr lang="ru-RU" sz="2400" dirty="0" smtClean="0">
                <a:solidFill>
                  <a:srgbClr val="002060"/>
                </a:solidFill>
              </a:rPr>
              <a:t>).</a:t>
            </a:r>
          </a:p>
          <a:p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Autofit/>
          </a:bodyPr>
          <a:lstStyle/>
          <a:p>
            <a:pPr algn="l"/>
            <a:r>
              <a:rPr lang="ru-RU" sz="2800" dirty="0" smtClean="0">
                <a:solidFill>
                  <a:srgbClr val="7030A0"/>
                </a:solidFill>
              </a:rPr>
              <a:t>Бесклассовая адресация -  технология  </a:t>
            </a:r>
            <a:r>
              <a:rPr lang="en-US" sz="2800" dirty="0" smtClean="0">
                <a:solidFill>
                  <a:srgbClr val="7030A0"/>
                </a:solidFill>
              </a:rPr>
              <a:t>CIDR</a:t>
            </a:r>
            <a:r>
              <a:rPr lang="ru-RU" sz="2800" dirty="0" smtClean="0">
                <a:solidFill>
                  <a:srgbClr val="7030A0"/>
                </a:solidFill>
              </a:rPr>
              <a:t> (2)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80728"/>
            <a:ext cx="8640960" cy="5472608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 Адрес </a:t>
            </a:r>
            <a:r>
              <a:rPr lang="en-US" dirty="0" smtClean="0"/>
              <a:t>CIDR</a:t>
            </a:r>
            <a:r>
              <a:rPr lang="ru-RU" dirty="0" smtClean="0"/>
              <a:t> выглядит так:  192.168.1.0</a:t>
            </a:r>
            <a:r>
              <a:rPr lang="en-US" dirty="0" smtClean="0"/>
              <a:t>/24</a:t>
            </a:r>
            <a:r>
              <a:rPr lang="ru-RU" dirty="0" smtClean="0"/>
              <a:t> и символ 24 означает:</a:t>
            </a:r>
          </a:p>
          <a:p>
            <a:pPr>
              <a:buNone/>
            </a:pPr>
            <a:r>
              <a:rPr lang="ru-RU" dirty="0" smtClean="0"/>
              <a:t>        - крайние левые 24 бита </a:t>
            </a:r>
            <a:r>
              <a:rPr lang="en-US" dirty="0" smtClean="0"/>
              <a:t>IP </a:t>
            </a:r>
            <a:r>
              <a:rPr lang="ru-RU" dirty="0" smtClean="0"/>
              <a:t>адреса используются для хранения номера сети, а остальные 8 бит – номера хоста.</a:t>
            </a:r>
          </a:p>
          <a:p>
            <a:pPr>
              <a:buNone/>
            </a:pPr>
            <a:r>
              <a:rPr lang="ru-RU" dirty="0" smtClean="0"/>
              <a:t>         </a:t>
            </a:r>
            <a:r>
              <a:rPr lang="ru-RU" i="1" dirty="0" smtClean="0"/>
              <a:t> таким образом ,первые </a:t>
            </a:r>
            <a:r>
              <a:rPr lang="ru-RU" i="1" dirty="0" smtClean="0"/>
              <a:t>три октета – номер сети, а последний- номер хоста</a:t>
            </a:r>
            <a:r>
              <a:rPr lang="ru-RU" dirty="0" smtClean="0"/>
              <a:t>. </a:t>
            </a:r>
          </a:p>
          <a:p>
            <a:pPr>
              <a:buNone/>
            </a:pPr>
            <a:r>
              <a:rPr lang="ru-RU" dirty="0" smtClean="0"/>
              <a:t>         - В классовой адресации это была бы сеть класса С .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        Соответствие адресов </a:t>
            </a:r>
            <a:r>
              <a:rPr lang="en-US" dirty="0" smtClean="0">
                <a:solidFill>
                  <a:srgbClr val="002060"/>
                </a:solidFill>
              </a:rPr>
              <a:t>CIDR </a:t>
            </a:r>
            <a:r>
              <a:rPr lang="ru-RU" dirty="0" smtClean="0">
                <a:solidFill>
                  <a:srgbClr val="002060"/>
                </a:solidFill>
              </a:rPr>
              <a:t>классовым адресам</a:t>
            </a:r>
            <a:r>
              <a:rPr lang="ru-RU" dirty="0" smtClean="0"/>
              <a:t>:</a:t>
            </a:r>
          </a:p>
          <a:p>
            <a:pPr>
              <a:buNone/>
            </a:pPr>
            <a:r>
              <a:rPr lang="ru-RU" dirty="0" smtClean="0"/>
              <a:t>                </a:t>
            </a:r>
            <a:r>
              <a:rPr lang="en-US" dirty="0" smtClean="0"/>
              <a:t>/</a:t>
            </a:r>
            <a:r>
              <a:rPr lang="ru-RU" dirty="0" smtClean="0"/>
              <a:t>8 класс А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               </a:t>
            </a:r>
            <a:r>
              <a:rPr lang="en-US" dirty="0" smtClean="0"/>
              <a:t>/</a:t>
            </a:r>
            <a:r>
              <a:rPr lang="ru-RU" dirty="0" smtClean="0"/>
              <a:t>16 класс В</a:t>
            </a:r>
            <a:endParaRPr lang="en-US" dirty="0" smtClean="0"/>
          </a:p>
          <a:p>
            <a:pPr>
              <a:buNone/>
            </a:pPr>
            <a:r>
              <a:rPr lang="ru-RU" dirty="0" smtClean="0"/>
              <a:t>              </a:t>
            </a:r>
            <a:r>
              <a:rPr lang="en-US" dirty="0" smtClean="0"/>
              <a:t>/</a:t>
            </a:r>
            <a:r>
              <a:rPr lang="ru-RU" dirty="0" smtClean="0"/>
              <a:t>24 класс С </a:t>
            </a:r>
          </a:p>
          <a:p>
            <a:pPr>
              <a:buNone/>
            </a:pPr>
            <a:r>
              <a:rPr lang="ru-RU" dirty="0" smtClean="0"/>
              <a:t> В данном методе размещение </a:t>
            </a:r>
            <a:r>
              <a:rPr lang="en-US" dirty="0" smtClean="0"/>
              <a:t>IP </a:t>
            </a:r>
            <a:r>
              <a:rPr lang="ru-RU" dirty="0" smtClean="0"/>
              <a:t>адресов происходит эффективнее.</a:t>
            </a:r>
          </a:p>
          <a:p>
            <a:pPr>
              <a:buNone/>
            </a:pPr>
            <a:r>
              <a:rPr lang="ru-RU" dirty="0" smtClean="0"/>
              <a:t> Возможно использование </a:t>
            </a:r>
            <a:r>
              <a:rPr lang="ru-RU" dirty="0" err="1" smtClean="0"/>
              <a:t>префексов</a:t>
            </a:r>
            <a:r>
              <a:rPr lang="ru-RU" dirty="0" smtClean="0"/>
              <a:t> </a:t>
            </a:r>
            <a:r>
              <a:rPr lang="en-US" dirty="0" smtClean="0"/>
              <a:t>/12, /20, /21, /28 </a:t>
            </a:r>
            <a:r>
              <a:rPr lang="ru-RU" dirty="0" smtClean="0"/>
              <a:t>и т.д.</a:t>
            </a:r>
            <a:endParaRPr lang="ru-RU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32978"/>
            <a:ext cx="8856983" cy="648072"/>
          </a:xfrm>
        </p:spPr>
        <p:txBody>
          <a:bodyPr>
            <a:noAutofit/>
          </a:bodyPr>
          <a:lstStyle/>
          <a:p>
            <a:r>
              <a:rPr lang="ru-RU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Схема распределения адресного пространства в соответствии с </a:t>
            </a:r>
            <a:r>
              <a:rPr lang="ru-RU" sz="24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CIDR    (3)</a:t>
            </a:r>
            <a:endParaRPr lang="ru-RU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908720"/>
            <a:ext cx="8382000" cy="578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79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874442"/>
          </a:xfrm>
        </p:spPr>
        <p:txBody>
          <a:bodyPr/>
          <a:lstStyle/>
          <a:p>
            <a:r>
              <a:rPr lang="ru-RU" dirty="0" smtClean="0">
                <a:solidFill>
                  <a:srgbClr val="7030A0"/>
                </a:solidFill>
              </a:rPr>
              <a:t>Виды сообщения адресации</a:t>
            </a:r>
            <a:endParaRPr lang="ru-RU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20688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Сообщения адресации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548680"/>
            <a:ext cx="8892480" cy="63093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          Сообщения адресации бывают</a:t>
            </a:r>
            <a:r>
              <a:rPr lang="ru-RU" sz="2400" dirty="0" smtClean="0"/>
              <a:t>:</a:t>
            </a:r>
          </a:p>
          <a:p>
            <a:pPr>
              <a:buNone/>
            </a:pPr>
            <a:r>
              <a:rPr lang="ru-RU" sz="2400" dirty="0" smtClean="0"/>
              <a:t>       -одноадресные;</a:t>
            </a:r>
          </a:p>
          <a:p>
            <a:pPr>
              <a:buNone/>
            </a:pPr>
            <a:r>
              <a:rPr lang="ru-RU" sz="2400" dirty="0" smtClean="0"/>
              <a:t>       -широковещательные</a:t>
            </a:r>
          </a:p>
          <a:p>
            <a:r>
              <a:rPr lang="ru-RU" sz="2400" dirty="0" smtClean="0"/>
              <a:t>Сообщения передаваемые одному адресату называются </a:t>
            </a:r>
            <a:r>
              <a:rPr lang="ru-RU" sz="2400" i="1" dirty="0" smtClean="0">
                <a:solidFill>
                  <a:srgbClr val="002060"/>
                </a:solidFill>
              </a:rPr>
              <a:t>однонаправленными, одноадресные</a:t>
            </a:r>
            <a:r>
              <a:rPr lang="ru-RU" sz="2400" dirty="0" smtClean="0"/>
              <a:t>. </a:t>
            </a:r>
          </a:p>
          <a:p>
            <a:r>
              <a:rPr lang="ru-RU" sz="2400" i="1" dirty="0" smtClean="0">
                <a:solidFill>
                  <a:srgbClr val="002060"/>
                </a:solidFill>
              </a:rPr>
              <a:t>Широковещательные сообщения </a:t>
            </a:r>
            <a:r>
              <a:rPr lang="ru-RU" sz="2400" dirty="0" smtClean="0"/>
              <a:t>в </a:t>
            </a:r>
            <a:r>
              <a:rPr lang="en-US" sz="2400" dirty="0" smtClean="0"/>
              <a:t>Internet</a:t>
            </a:r>
            <a:r>
              <a:rPr lang="ru-RU" sz="2400" dirty="0" smtClean="0"/>
              <a:t> выполняют те же функции что и в локальных сетях, однако</a:t>
            </a:r>
            <a:r>
              <a:rPr lang="ru-RU" sz="2400" dirty="0" smtClean="0">
                <a:solidFill>
                  <a:srgbClr val="002060"/>
                </a:solidFill>
              </a:rPr>
              <a:t> они посылаются </a:t>
            </a:r>
            <a:r>
              <a:rPr lang="ru-RU" sz="2400" dirty="0" smtClean="0"/>
              <a:t>не всем </a:t>
            </a:r>
            <a:r>
              <a:rPr lang="ru-RU" sz="2400" dirty="0" smtClean="0">
                <a:solidFill>
                  <a:srgbClr val="002060"/>
                </a:solidFill>
              </a:rPr>
              <a:t>компьютерам, </a:t>
            </a:r>
            <a:r>
              <a:rPr lang="ru-RU" sz="2400" dirty="0" smtClean="0"/>
              <a:t>а </a:t>
            </a:r>
            <a:r>
              <a:rPr lang="ru-RU" sz="2400" dirty="0" smtClean="0">
                <a:solidFill>
                  <a:srgbClr val="002060"/>
                </a:solidFill>
              </a:rPr>
              <a:t>только входящим в широковещательную группу. Преимущества:</a:t>
            </a:r>
          </a:p>
          <a:p>
            <a:pPr>
              <a:buNone/>
            </a:pPr>
            <a:r>
              <a:rPr lang="ru-RU" sz="2400" dirty="0" smtClean="0"/>
              <a:t>      -Э</a:t>
            </a:r>
            <a:r>
              <a:rPr lang="ru-RU" sz="2400" i="1" dirty="0" smtClean="0"/>
              <a:t>кономия пропускной способности сети, </a:t>
            </a:r>
            <a:r>
              <a:rPr lang="ru-RU" sz="2400" dirty="0" smtClean="0"/>
              <a:t>т.к. по многим адресам передается один пакет  а не много пакетов по одному адресу.</a:t>
            </a:r>
          </a:p>
          <a:p>
            <a:pPr>
              <a:buNone/>
            </a:pPr>
            <a:r>
              <a:rPr lang="ru-RU" sz="2400" dirty="0" smtClean="0"/>
              <a:t>      </a:t>
            </a:r>
            <a:r>
              <a:rPr lang="ru-RU" sz="2400" i="1" dirty="0" smtClean="0"/>
              <a:t>- Не нужно знать адрес каждого компьютера</a:t>
            </a:r>
            <a:r>
              <a:rPr lang="ru-RU" sz="2400" dirty="0" smtClean="0"/>
              <a:t>, которому передается пакет</a:t>
            </a:r>
            <a:r>
              <a:rPr lang="ru-RU" sz="2400" i="1" dirty="0" smtClean="0"/>
              <a:t>. </a:t>
            </a:r>
          </a:p>
          <a:p>
            <a:pPr>
              <a:buNone/>
            </a:pPr>
            <a:r>
              <a:rPr lang="ru-RU" sz="2400" i="1" dirty="0" smtClean="0"/>
              <a:t>      - Нужно знать только широковещательный адрес </a:t>
            </a:r>
          </a:p>
          <a:p>
            <a:pPr>
              <a:buNone/>
            </a:pPr>
            <a:endParaRPr lang="ru-RU" sz="2400" i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ru-RU" sz="2400" i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ru-RU" sz="2400" i="1" dirty="0" smtClean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Широковещание 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08720"/>
            <a:ext cx="8640960" cy="5544616"/>
          </a:xfrm>
        </p:spPr>
        <p:txBody>
          <a:bodyPr>
            <a:normAutofit fontScale="85000" lnSpcReduction="10000"/>
          </a:bodyPr>
          <a:lstStyle/>
          <a:p>
            <a:r>
              <a:rPr lang="ru-RU" dirty="0" err="1" smtClean="0">
                <a:solidFill>
                  <a:srgbClr val="002060"/>
                </a:solidFill>
              </a:rPr>
              <a:t>Маршрутизаторы</a:t>
            </a:r>
            <a:r>
              <a:rPr lang="en-US" dirty="0" smtClean="0">
                <a:solidFill>
                  <a:srgbClr val="002060"/>
                </a:solidFill>
              </a:rPr>
              <a:t> Internet</a:t>
            </a:r>
            <a:r>
              <a:rPr lang="ru-RU" dirty="0" smtClean="0">
                <a:solidFill>
                  <a:srgbClr val="002060"/>
                </a:solidFill>
              </a:rPr>
              <a:t> конфигурированы на передачу только однонаправленных сообщений, </a:t>
            </a:r>
            <a:r>
              <a:rPr lang="ru-RU" i="1" dirty="0" smtClean="0"/>
              <a:t>они не могут обрабатывать широковещательные пакеты.</a:t>
            </a:r>
          </a:p>
          <a:p>
            <a:r>
              <a:rPr lang="ru-RU" dirty="0" smtClean="0"/>
              <a:t> </a:t>
            </a:r>
            <a:r>
              <a:rPr lang="ru-RU" dirty="0" smtClean="0">
                <a:solidFill>
                  <a:srgbClr val="002060"/>
                </a:solidFill>
              </a:rPr>
              <a:t>Для решения проблемы </a:t>
            </a:r>
            <a:r>
              <a:rPr lang="ru-RU" dirty="0" smtClean="0"/>
              <a:t>– разработана виртуальная сеть , </a:t>
            </a:r>
            <a:r>
              <a:rPr lang="ru-RU" dirty="0" smtClean="0">
                <a:solidFill>
                  <a:srgbClr val="002060"/>
                </a:solidFill>
              </a:rPr>
              <a:t>названная широковещательная магистраль </a:t>
            </a:r>
            <a:r>
              <a:rPr lang="ru-RU" dirty="0" smtClean="0"/>
              <a:t>– специальное ПО , работающее в </a:t>
            </a:r>
            <a:r>
              <a:rPr lang="en-US" dirty="0" smtClean="0"/>
              <a:t>Internet</a:t>
            </a:r>
            <a:r>
              <a:rPr lang="ru-RU" dirty="0" smtClean="0"/>
              <a:t>.</a:t>
            </a:r>
          </a:p>
          <a:p>
            <a:r>
              <a:rPr lang="ru-RU" dirty="0" smtClean="0"/>
              <a:t>Данные </a:t>
            </a:r>
            <a:r>
              <a:rPr lang="ru-RU" dirty="0" smtClean="0">
                <a:solidFill>
                  <a:srgbClr val="002060"/>
                </a:solidFill>
              </a:rPr>
              <a:t>программы широковещательной магистрали </a:t>
            </a:r>
            <a:r>
              <a:rPr lang="ru-RU" dirty="0" smtClean="0"/>
              <a:t>используют то же оборудование, что и  </a:t>
            </a:r>
            <a:r>
              <a:rPr lang="en-US" dirty="0" smtClean="0"/>
              <a:t>Internet</a:t>
            </a:r>
            <a:r>
              <a:rPr lang="ru-RU" dirty="0" smtClean="0"/>
              <a:t> ,  и </a:t>
            </a:r>
            <a:r>
              <a:rPr lang="ru-RU" dirty="0" smtClean="0">
                <a:solidFill>
                  <a:srgbClr val="002060"/>
                </a:solidFill>
              </a:rPr>
              <a:t>передают широковещательные пакеты внутри обычных однонаправленных пакетов</a:t>
            </a:r>
            <a:r>
              <a:rPr lang="ru-RU" dirty="0" smtClean="0"/>
              <a:t>.</a:t>
            </a:r>
          </a:p>
          <a:p>
            <a:r>
              <a:rPr lang="ru-RU" dirty="0" smtClean="0">
                <a:solidFill>
                  <a:srgbClr val="002060"/>
                </a:solidFill>
              </a:rPr>
              <a:t> </a:t>
            </a:r>
            <a:r>
              <a:rPr lang="ru-RU" dirty="0" smtClean="0"/>
              <a:t>Такая </a:t>
            </a:r>
            <a:r>
              <a:rPr lang="ru-RU" i="1" dirty="0" smtClean="0"/>
              <a:t>инкапсуляция скрывает  широковещательные пакеты от </a:t>
            </a:r>
            <a:r>
              <a:rPr lang="ru-RU" i="1" dirty="0" err="1" smtClean="0"/>
              <a:t>маршрутизатора</a:t>
            </a:r>
            <a:r>
              <a:rPr lang="ru-RU" i="1" dirty="0" smtClean="0"/>
              <a:t>, </a:t>
            </a:r>
            <a:r>
              <a:rPr lang="ru-RU" dirty="0" smtClean="0"/>
              <a:t>которые не могут их обработать. 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484784"/>
            <a:ext cx="8229600" cy="1944216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Протокол </a:t>
            </a:r>
            <a:r>
              <a:rPr lang="en-US" dirty="0" smtClean="0">
                <a:solidFill>
                  <a:srgbClr val="7030A0"/>
                </a:solidFill>
              </a:rPr>
              <a:t>DHCP </a:t>
            </a:r>
            <a:r>
              <a:rPr lang="ru-RU" dirty="0" smtClean="0">
                <a:solidFill>
                  <a:srgbClr val="7030A0"/>
                </a:solidFill>
              </a:rPr>
              <a:t> -протокол автоматического назначения</a:t>
            </a:r>
            <a:r>
              <a:rPr lang="en-US" dirty="0" smtClean="0">
                <a:solidFill>
                  <a:srgbClr val="7030A0"/>
                </a:solidFill>
              </a:rPr>
              <a:t/>
            </a:r>
            <a:br>
              <a:rPr lang="en-US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 </a:t>
            </a:r>
            <a:r>
              <a:rPr lang="en-US" dirty="0" smtClean="0">
                <a:solidFill>
                  <a:srgbClr val="7030A0"/>
                </a:solidFill>
              </a:rPr>
              <a:t>IP - </a:t>
            </a:r>
            <a:r>
              <a:rPr lang="ru-RU" dirty="0" smtClean="0">
                <a:solidFill>
                  <a:srgbClr val="7030A0"/>
                </a:solidFill>
              </a:rPr>
              <a:t>адресов</a:t>
            </a: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964488" cy="634082"/>
          </a:xfrm>
        </p:spPr>
        <p:txBody>
          <a:bodyPr>
            <a:noAutofit/>
          </a:bodyPr>
          <a:lstStyle/>
          <a:p>
            <a:pPr algn="l"/>
            <a:r>
              <a:rPr lang="ru-RU" sz="2800" dirty="0">
                <a:solidFill>
                  <a:srgbClr val="7030A0"/>
                </a:solidFill>
                <a:latin typeface="Arial" charset="0"/>
              </a:rPr>
              <a:t>Протокол динамической настройки узлов (DHCP</a:t>
            </a:r>
            <a:r>
              <a:rPr lang="ru-RU" sz="2800" dirty="0" smtClean="0">
                <a:solidFill>
                  <a:srgbClr val="7030A0"/>
                </a:solidFill>
                <a:latin typeface="Arial" charset="0"/>
              </a:rPr>
              <a:t>)(1)</a:t>
            </a:r>
            <a:endParaRPr lang="ru-RU" sz="2800" dirty="0">
              <a:solidFill>
                <a:srgbClr val="7030A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908720"/>
            <a:ext cx="8784976" cy="5760640"/>
          </a:xfrm>
        </p:spPr>
        <p:txBody>
          <a:bodyPr>
            <a:noAutofit/>
          </a:bodyPr>
          <a:lstStyle/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ru-RU" sz="2000" dirty="0">
                <a:solidFill>
                  <a:srgbClr val="002060"/>
                </a:solidFill>
              </a:rPr>
              <a:t>DHCP для IPv4 автоматизирует </a:t>
            </a:r>
            <a:r>
              <a:rPr lang="ru-RU" sz="2000" dirty="0" smtClean="0">
                <a:solidFill>
                  <a:srgbClr val="002060"/>
                </a:solidFill>
              </a:rPr>
              <a:t>назначение:</a:t>
            </a:r>
          </a:p>
          <a:p>
            <a:pPr>
              <a:lnSpc>
                <a:spcPct val="85000"/>
              </a:lnSpc>
              <a:spcBef>
                <a:spcPct val="30000"/>
              </a:spcBef>
              <a:buNone/>
            </a:pPr>
            <a:r>
              <a:rPr lang="ru-RU" sz="2000" dirty="0" smtClean="0"/>
              <a:t>          - </a:t>
            </a:r>
            <a:r>
              <a:rPr lang="ru-RU" sz="2000" dirty="0"/>
              <a:t>адресов IPv4, </a:t>
            </a:r>
            <a:endParaRPr lang="ru-RU" sz="2000" dirty="0" smtClean="0"/>
          </a:p>
          <a:p>
            <a:pPr>
              <a:lnSpc>
                <a:spcPct val="85000"/>
              </a:lnSpc>
              <a:spcBef>
                <a:spcPct val="30000"/>
              </a:spcBef>
              <a:buNone/>
            </a:pPr>
            <a:r>
              <a:rPr lang="ru-RU" sz="2000" dirty="0" smtClean="0"/>
              <a:t>           - масок </a:t>
            </a:r>
            <a:r>
              <a:rPr lang="ru-RU" sz="2000" dirty="0"/>
              <a:t>подсети</a:t>
            </a:r>
            <a:r>
              <a:rPr lang="ru-RU" sz="2000" dirty="0" smtClean="0"/>
              <a:t>,</a:t>
            </a:r>
          </a:p>
          <a:p>
            <a:pPr>
              <a:lnSpc>
                <a:spcPct val="85000"/>
              </a:lnSpc>
              <a:spcBef>
                <a:spcPct val="30000"/>
              </a:spcBef>
              <a:buNone/>
            </a:pPr>
            <a:r>
              <a:rPr lang="ru-RU" sz="2000" dirty="0" smtClean="0"/>
              <a:t>           - </a:t>
            </a:r>
            <a:r>
              <a:rPr lang="ru-RU" sz="2000" dirty="0"/>
              <a:t>шлюзов и других сетевых параметров IPv4. 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ru-RU" sz="2000" i="1" dirty="0">
                <a:solidFill>
                  <a:srgbClr val="002060"/>
                </a:solidFill>
              </a:rPr>
              <a:t>DHCP считается динамической адресацией по сравнению со статической адресацией</a:t>
            </a:r>
            <a:r>
              <a:rPr lang="ru-RU" sz="2000" dirty="0"/>
              <a:t>. </a:t>
            </a:r>
            <a:endParaRPr lang="ru-RU" sz="2000" dirty="0" smtClean="0"/>
          </a:p>
          <a:p>
            <a:pPr>
              <a:lnSpc>
                <a:spcPct val="85000"/>
              </a:lnSpc>
              <a:spcBef>
                <a:spcPct val="30000"/>
              </a:spcBef>
              <a:buNone/>
            </a:pPr>
            <a:r>
              <a:rPr lang="ru-RU" sz="2000" dirty="0" smtClean="0"/>
              <a:t>          -  При </a:t>
            </a:r>
            <a:r>
              <a:rPr lang="ru-RU" sz="2000" dirty="0"/>
              <a:t>статической адресации информация об IP-адресе вводится вручную.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ru-RU" sz="2000" i="1" dirty="0">
                <a:solidFill>
                  <a:srgbClr val="002060"/>
                </a:solidFill>
              </a:rPr>
              <a:t>При подключении узла к сети устанавливается связь с DHCP-сервером и запрашивается адрес</a:t>
            </a:r>
            <a:r>
              <a:rPr lang="ru-RU" sz="2000" i="1" dirty="0" smtClean="0">
                <a:solidFill>
                  <a:srgbClr val="002060"/>
                </a:solidFill>
              </a:rPr>
              <a:t>.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ru-RU" sz="2000" dirty="0" smtClean="0"/>
              <a:t> </a:t>
            </a:r>
            <a:r>
              <a:rPr lang="ru-RU" sz="2000" dirty="0"/>
              <a:t>DHCP-сервер выбирает адрес из заданного диапазона адресов, который называется пулом, и назначает его (сдает в аренду) узлу.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ru-RU" sz="2000" i="1" dirty="0">
                <a:solidFill>
                  <a:srgbClr val="002060"/>
                </a:solidFill>
              </a:rPr>
              <a:t>В большинстве сетей используется и DHCP, и статическая адресация</a:t>
            </a:r>
            <a:r>
              <a:rPr lang="ru-RU" sz="2000" dirty="0" smtClean="0">
                <a:solidFill>
                  <a:srgbClr val="002060"/>
                </a:solidFill>
              </a:rPr>
              <a:t>.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ru-RU" sz="2000" dirty="0" smtClean="0"/>
              <a:t> </a:t>
            </a:r>
            <a:r>
              <a:rPr lang="ru-RU" sz="2000" dirty="0">
                <a:solidFill>
                  <a:srgbClr val="002060"/>
                </a:solidFill>
              </a:rPr>
              <a:t>DHCP используется для узлов общего назначения</a:t>
            </a:r>
            <a:r>
              <a:rPr lang="ru-RU" sz="2000" dirty="0"/>
              <a:t>, таких как конечные пользовательские устройства. </a:t>
            </a:r>
            <a:endParaRPr lang="ru-RU" sz="2000" dirty="0" smtClean="0"/>
          </a:p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ru-RU" sz="2000" dirty="0" smtClean="0">
                <a:solidFill>
                  <a:srgbClr val="002060"/>
                </a:solidFill>
              </a:rPr>
              <a:t>Статическая </a:t>
            </a:r>
            <a:r>
              <a:rPr lang="ru-RU" sz="2000" dirty="0">
                <a:solidFill>
                  <a:srgbClr val="002060"/>
                </a:solidFill>
              </a:rPr>
              <a:t>адресация применяется для сетевых устройств: </a:t>
            </a:r>
            <a:r>
              <a:rPr lang="ru-RU" sz="2000" dirty="0"/>
              <a:t>шлюзов, коммутаторов, серверов и принтеров.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10412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274638"/>
            <a:ext cx="8964488" cy="77809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ru-RU" altLang="ru-RU" sz="2800" cap="none" dirty="0" smtClean="0">
                <a:solidFill>
                  <a:srgbClr val="7030A0"/>
                </a:solidFill>
                <a:latin typeface="Arial" charset="0"/>
              </a:rPr>
              <a:t>Протокол </a:t>
            </a:r>
            <a:r>
              <a:rPr lang="en-US" altLang="ru-RU" sz="2800" cap="none" dirty="0" smtClean="0">
                <a:solidFill>
                  <a:srgbClr val="7030A0"/>
                </a:solidFill>
                <a:latin typeface="Arial" charset="0"/>
              </a:rPr>
              <a:t>DHCP</a:t>
            </a:r>
            <a:r>
              <a:rPr lang="ru-RU" altLang="ru-RU" sz="2800" cap="none" dirty="0" smtClean="0">
                <a:solidFill>
                  <a:srgbClr val="7030A0"/>
                </a:solidFill>
                <a:latin typeface="Arial" charset="0"/>
              </a:rPr>
              <a:t>-</a:t>
            </a:r>
            <a:br>
              <a:rPr lang="ru-RU" altLang="ru-RU" sz="2800" cap="none" dirty="0" smtClean="0">
                <a:solidFill>
                  <a:srgbClr val="7030A0"/>
                </a:solidFill>
                <a:latin typeface="Arial" charset="0"/>
              </a:rPr>
            </a:br>
            <a:r>
              <a:rPr lang="ru-RU" altLang="ru-RU" sz="2800" dirty="0" smtClean="0">
                <a:solidFill>
                  <a:srgbClr val="7030A0"/>
                </a:solidFill>
                <a:latin typeface="Arial" charset="0"/>
              </a:rPr>
              <a:t>это</a:t>
            </a:r>
            <a:r>
              <a:rPr lang="ru-RU" altLang="ru-RU" sz="2800" cap="none" dirty="0" smtClean="0">
                <a:solidFill>
                  <a:srgbClr val="7030A0"/>
                </a:solidFill>
                <a:latin typeface="Arial" charset="0"/>
              </a:rPr>
              <a:t> протокол автоматического назначения </a:t>
            </a:r>
            <a:r>
              <a:rPr lang="en-US" altLang="ru-RU" sz="2800" cap="none" dirty="0" smtClean="0">
                <a:solidFill>
                  <a:srgbClr val="7030A0"/>
                </a:solidFill>
                <a:latin typeface="Arial" charset="0"/>
              </a:rPr>
              <a:t>IP - </a:t>
            </a:r>
            <a:r>
              <a:rPr lang="ru-RU" altLang="ru-RU" sz="2800" cap="none" dirty="0" smtClean="0">
                <a:solidFill>
                  <a:srgbClr val="7030A0"/>
                </a:solidFill>
                <a:latin typeface="Arial" charset="0"/>
              </a:rPr>
              <a:t>адресов</a:t>
            </a:r>
          </a:p>
        </p:txBody>
      </p:sp>
      <p:graphicFrame>
        <p:nvGraphicFramePr>
          <p:cNvPr id="35844" name="Object 4"/>
          <p:cNvGraphicFramePr>
            <a:graphicFrameLocks noGrp="1" noChangeAspect="1"/>
          </p:cNvGraphicFramePr>
          <p:nvPr>
            <p:ph type="dgm" idx="4294967295"/>
          </p:nvPr>
        </p:nvGraphicFramePr>
        <p:xfrm>
          <a:off x="1143000" y="2006600"/>
          <a:ext cx="6096000" cy="406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0308" name="Диаграмма" r:id="rId3" imgW="6096075" imgH="4057642" progId="MSGraph.Chart.8">
                  <p:embed followColorScheme="full"/>
                </p:oleObj>
              </mc:Choice>
              <mc:Fallback>
                <p:oleObj name="Диаграмма" r:id="rId3" imgW="6096075" imgH="4057642" progId="MSGraph.Chart.8">
                  <p:embed followColorScheme="full"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006600"/>
                        <a:ext cx="6096000" cy="4060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Схема 1"/>
          <p:cNvGraphicFramePr/>
          <p:nvPr/>
        </p:nvGraphicFramePr>
        <p:xfrm>
          <a:off x="251520" y="1124745"/>
          <a:ext cx="8640959" cy="5493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67833700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576064"/>
          </a:xfrm>
        </p:spPr>
        <p:txBody>
          <a:bodyPr>
            <a:normAutofit fontScale="90000"/>
          </a:bodyPr>
          <a:lstStyle/>
          <a:p>
            <a:r>
              <a:rPr lang="ru-RU" sz="2800" u="sng" dirty="0" smtClean="0">
                <a:solidFill>
                  <a:srgbClr val="7030A0"/>
                </a:solidFill>
              </a:rPr>
              <a:t>Автоматическое выделение адресов. Протокол </a:t>
            </a:r>
            <a:r>
              <a:rPr lang="en-US" sz="2800" u="sng" dirty="0" smtClean="0">
                <a:solidFill>
                  <a:srgbClr val="7030A0"/>
                </a:solidFill>
              </a:rPr>
              <a:t>DHCP</a:t>
            </a:r>
            <a:r>
              <a:rPr lang="ru-RU" sz="2800" u="sng" dirty="0" smtClean="0">
                <a:solidFill>
                  <a:srgbClr val="7030A0"/>
                </a:solidFill>
              </a:rPr>
              <a:t>(1)</a:t>
            </a:r>
            <a:endParaRPr lang="ru-RU" sz="2800" u="sng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764704"/>
            <a:ext cx="8712968" cy="6093296"/>
          </a:xfrm>
        </p:spPr>
        <p:txBody>
          <a:bodyPr>
            <a:noAutofit/>
          </a:bodyPr>
          <a:lstStyle/>
          <a:p>
            <a:r>
              <a:rPr lang="ru-RU" sz="2400" dirty="0" smtClean="0">
                <a:solidFill>
                  <a:srgbClr val="002060"/>
                </a:solidFill>
              </a:rPr>
              <a:t>Для коммуникации с помощью протокола </a:t>
            </a:r>
            <a:r>
              <a:rPr lang="en-US" sz="2400" dirty="0" smtClean="0">
                <a:solidFill>
                  <a:srgbClr val="002060"/>
                </a:solidFill>
              </a:rPr>
              <a:t>TCP/IP </a:t>
            </a:r>
            <a:r>
              <a:rPr lang="ru-RU" sz="2400" dirty="0" smtClean="0">
                <a:solidFill>
                  <a:srgbClr val="002060"/>
                </a:solidFill>
              </a:rPr>
              <a:t> хост должен иметь </a:t>
            </a:r>
            <a:r>
              <a:rPr lang="en-US" sz="2400" dirty="0" smtClean="0">
                <a:solidFill>
                  <a:srgbClr val="002060"/>
                </a:solidFill>
              </a:rPr>
              <a:t>IP </a:t>
            </a:r>
            <a:r>
              <a:rPr lang="ru-RU" sz="2400" dirty="0" smtClean="0">
                <a:solidFill>
                  <a:srgbClr val="002060"/>
                </a:solidFill>
              </a:rPr>
              <a:t>адрес, т.е. логический адрес, обрабатываемый на сетевом уровне</a:t>
            </a:r>
            <a:r>
              <a:rPr lang="ru-RU" sz="2400" dirty="0" smtClean="0"/>
              <a:t>.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Присвоить </a:t>
            </a:r>
            <a:r>
              <a:rPr lang="en-US" sz="2400" dirty="0" smtClean="0">
                <a:solidFill>
                  <a:srgbClr val="002060"/>
                </a:solidFill>
              </a:rPr>
              <a:t>IP </a:t>
            </a:r>
            <a:r>
              <a:rPr lang="ru-RU" sz="2400" dirty="0" smtClean="0">
                <a:solidFill>
                  <a:srgbClr val="002060"/>
                </a:solidFill>
              </a:rPr>
              <a:t>адрес компьютеру можно 2 способами :</a:t>
            </a:r>
          </a:p>
          <a:p>
            <a:pPr>
              <a:buNone/>
            </a:pPr>
            <a:r>
              <a:rPr lang="ru-RU" sz="2400" dirty="0" smtClean="0"/>
              <a:t>     - </a:t>
            </a:r>
            <a:r>
              <a:rPr lang="ru-RU" sz="2400" u="sng" dirty="0" smtClean="0">
                <a:solidFill>
                  <a:srgbClr val="002060"/>
                </a:solidFill>
              </a:rPr>
              <a:t>вручную  (статически)</a:t>
            </a:r>
            <a:r>
              <a:rPr lang="ru-RU" sz="2400" dirty="0" smtClean="0"/>
              <a:t> сетевым администратором , для этого адрес необходимо ввести при конфигурации параметров </a:t>
            </a:r>
            <a:r>
              <a:rPr lang="en-US" sz="2400" dirty="0" smtClean="0"/>
              <a:t>TCP/IP</a:t>
            </a:r>
            <a:r>
              <a:rPr lang="ru-RU" sz="2400" dirty="0" smtClean="0"/>
              <a:t>;</a:t>
            </a:r>
          </a:p>
          <a:p>
            <a:pPr>
              <a:buNone/>
            </a:pPr>
            <a:r>
              <a:rPr lang="ru-RU" sz="2400" dirty="0" smtClean="0"/>
              <a:t>    - </a:t>
            </a:r>
            <a:r>
              <a:rPr lang="ru-RU" sz="2400" u="sng" dirty="0" smtClean="0">
                <a:solidFill>
                  <a:srgbClr val="002060"/>
                </a:solidFill>
              </a:rPr>
              <a:t>автоматически  (динамически) </a:t>
            </a:r>
            <a:r>
              <a:rPr lang="ru-RU" sz="2400" dirty="0" smtClean="0">
                <a:solidFill>
                  <a:srgbClr val="002060"/>
                </a:solidFill>
              </a:rPr>
              <a:t>, с помощью</a:t>
            </a:r>
            <a:r>
              <a:rPr lang="en-US" sz="2400" dirty="0" smtClean="0">
                <a:solidFill>
                  <a:srgbClr val="002060"/>
                </a:solidFill>
              </a:rPr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 компьютера, который конфигурирован как </a:t>
            </a:r>
            <a:r>
              <a:rPr lang="ru-RU" sz="2400" dirty="0" smtClean="0">
                <a:solidFill>
                  <a:srgbClr val="002060"/>
                </a:solidFill>
              </a:rPr>
              <a:t>сервер </a:t>
            </a:r>
            <a:r>
              <a:rPr lang="en-US" sz="2400" u="sng" dirty="0" smtClean="0">
                <a:solidFill>
                  <a:srgbClr val="002060"/>
                </a:solidFill>
              </a:rPr>
              <a:t>DHCP</a:t>
            </a:r>
            <a:r>
              <a:rPr lang="ru-RU" sz="2400" u="sng" dirty="0" smtClean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ru-RU" sz="2400" dirty="0" smtClean="0">
                <a:solidFill>
                  <a:srgbClr val="002060"/>
                </a:solidFill>
              </a:rPr>
              <a:t> </a:t>
            </a:r>
            <a:r>
              <a:rPr lang="ru-RU" sz="2400" i="1" dirty="0" smtClean="0"/>
              <a:t>Он присваивает другим компьютерам </a:t>
            </a:r>
            <a:r>
              <a:rPr lang="en-US" sz="2400" i="1" dirty="0" smtClean="0"/>
              <a:t>IP </a:t>
            </a:r>
            <a:r>
              <a:rPr lang="ru-RU" sz="2400" i="1" dirty="0" smtClean="0"/>
              <a:t>адреса из пула (списка допустимых) номеров.</a:t>
            </a:r>
          </a:p>
          <a:p>
            <a:pPr>
              <a:buNone/>
            </a:pPr>
            <a:r>
              <a:rPr lang="ru-RU" sz="2400" dirty="0" smtClean="0"/>
              <a:t>       </a:t>
            </a:r>
            <a:r>
              <a:rPr lang="ru-RU" sz="2400" u="sng" dirty="0" smtClean="0">
                <a:solidFill>
                  <a:srgbClr val="002060"/>
                </a:solidFill>
              </a:rPr>
              <a:t>Протокол </a:t>
            </a:r>
            <a:r>
              <a:rPr lang="en-US" sz="2400" u="sng" dirty="0" smtClean="0">
                <a:solidFill>
                  <a:srgbClr val="002060"/>
                </a:solidFill>
              </a:rPr>
              <a:t>DHCP- </a:t>
            </a:r>
            <a:r>
              <a:rPr lang="ru-RU" sz="2400" dirty="0" smtClean="0">
                <a:solidFill>
                  <a:srgbClr val="002060"/>
                </a:solidFill>
              </a:rPr>
              <a:t>протокол динамической конфигурации хоста выполняется на компьютере - сервере </a:t>
            </a:r>
            <a:r>
              <a:rPr lang="en-US" sz="2400" dirty="0" smtClean="0">
                <a:solidFill>
                  <a:srgbClr val="002060"/>
                </a:solidFill>
              </a:rPr>
              <a:t>DHCP</a:t>
            </a:r>
            <a:r>
              <a:rPr lang="ru-RU" sz="2400" dirty="0" smtClean="0">
                <a:solidFill>
                  <a:srgbClr val="002060"/>
                </a:solidFill>
              </a:rPr>
              <a:t>, который автоматически назначает </a:t>
            </a:r>
            <a:r>
              <a:rPr lang="en-US" sz="2400" dirty="0" smtClean="0">
                <a:solidFill>
                  <a:srgbClr val="002060"/>
                </a:solidFill>
              </a:rPr>
              <a:t>IP </a:t>
            </a:r>
            <a:r>
              <a:rPr lang="ru-RU" sz="2400" dirty="0" smtClean="0">
                <a:solidFill>
                  <a:srgbClr val="002060"/>
                </a:solidFill>
              </a:rPr>
              <a:t>адреса </a:t>
            </a:r>
            <a:r>
              <a:rPr lang="ru-RU" sz="2400" dirty="0" smtClean="0"/>
              <a:t>компьютерам конфигурированными как клиенты.</a:t>
            </a:r>
          </a:p>
          <a:p>
            <a:pPr algn="just">
              <a:buNone/>
            </a:pPr>
            <a:endParaRPr lang="ru-RU" sz="2400" dirty="0" smtClean="0"/>
          </a:p>
          <a:p>
            <a:pPr algn="just">
              <a:buNone/>
            </a:pP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562074"/>
          </a:xfrm>
        </p:spPr>
        <p:txBody>
          <a:bodyPr>
            <a:normAutofit fontScale="90000"/>
          </a:bodyPr>
          <a:lstStyle/>
          <a:p>
            <a:r>
              <a:rPr lang="ru-RU" sz="2800" u="sng" dirty="0" smtClean="0">
                <a:solidFill>
                  <a:srgbClr val="7030A0"/>
                </a:solidFill>
              </a:rPr>
              <a:t>Автоматическое выделение адресов. Протокол </a:t>
            </a:r>
            <a:r>
              <a:rPr lang="en-US" sz="2800" u="sng" dirty="0" smtClean="0">
                <a:solidFill>
                  <a:srgbClr val="7030A0"/>
                </a:solidFill>
              </a:rPr>
              <a:t>DHCP</a:t>
            </a:r>
            <a:r>
              <a:rPr lang="ru-RU" sz="2800" u="sng" dirty="0" smtClean="0">
                <a:solidFill>
                  <a:srgbClr val="7030A0"/>
                </a:solidFill>
              </a:rPr>
              <a:t>(2)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08720"/>
            <a:ext cx="8712968" cy="5688632"/>
          </a:xfrm>
        </p:spPr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ru-RU" u="sng" dirty="0" smtClean="0">
                <a:solidFill>
                  <a:srgbClr val="002060"/>
                </a:solidFill>
              </a:rPr>
              <a:t>Выделение </a:t>
            </a:r>
            <a:r>
              <a:rPr lang="en-US" u="sng" dirty="0" smtClean="0">
                <a:solidFill>
                  <a:srgbClr val="002060"/>
                </a:solidFill>
              </a:rPr>
              <a:t>IP </a:t>
            </a:r>
            <a:r>
              <a:rPr lang="ru-RU" u="sng" dirty="0" smtClean="0">
                <a:solidFill>
                  <a:srgbClr val="002060"/>
                </a:solidFill>
              </a:rPr>
              <a:t>адреса клиенту происходит в несколько этапов</a:t>
            </a:r>
            <a:r>
              <a:rPr lang="ru-RU" u="sng" dirty="0" smtClean="0"/>
              <a:t>:</a:t>
            </a:r>
          </a:p>
          <a:p>
            <a:pPr>
              <a:buNone/>
            </a:pPr>
            <a:r>
              <a:rPr lang="ru-RU" dirty="0" smtClean="0"/>
              <a:t>1). К</a:t>
            </a:r>
            <a:r>
              <a:rPr lang="ru-RU" dirty="0" smtClean="0">
                <a:solidFill>
                  <a:srgbClr val="002060"/>
                </a:solidFill>
              </a:rPr>
              <a:t>омпьютер посылает в сеть широковещательное сообщение – </a:t>
            </a:r>
            <a:r>
              <a:rPr lang="ru-RU" u="sng" dirty="0" smtClean="0">
                <a:solidFill>
                  <a:srgbClr val="002060"/>
                </a:solidFill>
              </a:rPr>
              <a:t>открытие </a:t>
            </a:r>
            <a:r>
              <a:rPr lang="en-US" u="sng" dirty="0" smtClean="0">
                <a:solidFill>
                  <a:srgbClr val="002060"/>
                </a:solidFill>
              </a:rPr>
              <a:t>DHCP</a:t>
            </a:r>
            <a:r>
              <a:rPr lang="ru-RU" u="sng" dirty="0" smtClean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ru-RU" dirty="0" smtClean="0"/>
              <a:t>2</a:t>
            </a:r>
            <a:r>
              <a:rPr lang="ru-RU" dirty="0" smtClean="0">
                <a:solidFill>
                  <a:srgbClr val="002060"/>
                </a:solidFill>
              </a:rPr>
              <a:t>).  Сервер </a:t>
            </a:r>
            <a:r>
              <a:rPr lang="en-US" dirty="0" smtClean="0">
                <a:solidFill>
                  <a:srgbClr val="002060"/>
                </a:solidFill>
              </a:rPr>
              <a:t>DHCP</a:t>
            </a:r>
            <a:r>
              <a:rPr lang="ru-RU" dirty="0" smtClean="0">
                <a:solidFill>
                  <a:srgbClr val="002060"/>
                </a:solidFill>
              </a:rPr>
              <a:t> получает сообщение клиента и посылает в ответ- </a:t>
            </a:r>
            <a:r>
              <a:rPr lang="ru-RU" u="sng" dirty="0" smtClean="0">
                <a:solidFill>
                  <a:srgbClr val="002060"/>
                </a:solidFill>
              </a:rPr>
              <a:t>предложение </a:t>
            </a:r>
            <a:r>
              <a:rPr lang="en-US" u="sng" dirty="0" smtClean="0"/>
              <a:t>DHCP</a:t>
            </a:r>
            <a:r>
              <a:rPr lang="ru-RU" u="sng" dirty="0" smtClean="0"/>
              <a:t> , </a:t>
            </a:r>
            <a:r>
              <a:rPr lang="ru-RU" dirty="0" smtClean="0"/>
              <a:t>в котором клиенту предлагается адрес </a:t>
            </a:r>
            <a:r>
              <a:rPr lang="en-US" dirty="0" smtClean="0"/>
              <a:t>IP</a:t>
            </a:r>
            <a:r>
              <a:rPr lang="ru-RU" dirty="0" smtClean="0"/>
              <a:t> из списка допустимых номеров , адрес резервируется до получения ответа от клиента.</a:t>
            </a:r>
          </a:p>
          <a:p>
            <a:pPr>
              <a:buNone/>
            </a:pPr>
            <a:r>
              <a:rPr lang="ru-RU" dirty="0" smtClean="0"/>
              <a:t> Предложение будет передаваться по широковещательному адресу, т.к. клиент не имеет своего адреса 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ru-RU" altLang="ru-RU" sz="3600" cap="none" dirty="0" smtClean="0">
                <a:solidFill>
                  <a:srgbClr val="7030A0"/>
                </a:solidFill>
                <a:latin typeface="Arial" charset="0"/>
              </a:rPr>
              <a:t>Процедура получения </a:t>
            </a:r>
            <a:r>
              <a:rPr lang="en-US" altLang="ru-RU" sz="3600" cap="none" dirty="0" smtClean="0">
                <a:solidFill>
                  <a:srgbClr val="7030A0"/>
                </a:solidFill>
                <a:latin typeface="Arial" charset="0"/>
              </a:rPr>
              <a:t>IP</a:t>
            </a:r>
            <a:r>
              <a:rPr lang="ru-RU" altLang="ru-RU" sz="3600" cap="none" dirty="0" smtClean="0">
                <a:solidFill>
                  <a:srgbClr val="7030A0"/>
                </a:solidFill>
                <a:latin typeface="Arial" charset="0"/>
              </a:rPr>
              <a:t> - адреса</a:t>
            </a:r>
          </a:p>
        </p:txBody>
      </p:sp>
      <p:pic>
        <p:nvPicPr>
          <p:cNvPr id="40964" name="Picture 4" descr="1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68760"/>
            <a:ext cx="8136904" cy="520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6056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 fontScale="90000"/>
          </a:bodyPr>
          <a:lstStyle/>
          <a:p>
            <a:r>
              <a:rPr lang="ru-RU" sz="2800" u="sng" dirty="0" smtClean="0">
                <a:solidFill>
                  <a:srgbClr val="7030A0"/>
                </a:solidFill>
              </a:rPr>
              <a:t>Автоматическое выделение адресов. Протокол </a:t>
            </a:r>
            <a:r>
              <a:rPr lang="en-US" sz="2800" u="sng" dirty="0" smtClean="0">
                <a:solidFill>
                  <a:srgbClr val="7030A0"/>
                </a:solidFill>
              </a:rPr>
              <a:t>DHCP</a:t>
            </a:r>
            <a:r>
              <a:rPr lang="ru-RU" sz="2800" u="sng" dirty="0" smtClean="0">
                <a:solidFill>
                  <a:srgbClr val="7030A0"/>
                </a:solidFill>
              </a:rPr>
              <a:t>(3)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 fontScale="85000" lnSpcReduction="20000"/>
          </a:bodyPr>
          <a:lstStyle/>
          <a:p>
            <a:pPr algn="just">
              <a:buNone/>
            </a:pPr>
            <a:r>
              <a:rPr lang="ru-RU" dirty="0" smtClean="0"/>
              <a:t>3).Если в сети несколько серверов </a:t>
            </a:r>
            <a:r>
              <a:rPr lang="en-US" dirty="0" smtClean="0"/>
              <a:t>DHCP </a:t>
            </a:r>
            <a:r>
              <a:rPr lang="ru-RU" dirty="0" smtClean="0"/>
              <a:t>то клиент может получить и несколько адресов. </a:t>
            </a:r>
          </a:p>
          <a:p>
            <a:pPr algn="just">
              <a:buNone/>
            </a:pPr>
            <a:r>
              <a:rPr lang="ru-RU" dirty="0" smtClean="0">
                <a:solidFill>
                  <a:srgbClr val="002060"/>
                </a:solidFill>
              </a:rPr>
              <a:t>При поступлении третьего предложения , клиент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ru-RU" dirty="0" smtClean="0">
                <a:solidFill>
                  <a:srgbClr val="002060"/>
                </a:solidFill>
              </a:rPr>
              <a:t>посылает сообщение – </a:t>
            </a:r>
            <a:r>
              <a:rPr lang="ru-RU" u="sng" dirty="0" smtClean="0">
                <a:solidFill>
                  <a:srgbClr val="002060"/>
                </a:solidFill>
              </a:rPr>
              <a:t>запрос </a:t>
            </a:r>
            <a:r>
              <a:rPr lang="en-US" u="sng" dirty="0" smtClean="0">
                <a:solidFill>
                  <a:srgbClr val="002060"/>
                </a:solidFill>
              </a:rPr>
              <a:t>DHCP</a:t>
            </a:r>
            <a:r>
              <a:rPr lang="ru-RU" u="sng" dirty="0" smtClean="0">
                <a:solidFill>
                  <a:srgbClr val="002060"/>
                </a:solidFill>
              </a:rPr>
              <a:t>, </a:t>
            </a:r>
            <a:r>
              <a:rPr lang="ru-RU" dirty="0" smtClean="0"/>
              <a:t>что означает – он принял третье  предложение. </a:t>
            </a:r>
          </a:p>
          <a:p>
            <a:pPr algn="just">
              <a:buNone/>
            </a:pPr>
            <a:r>
              <a:rPr lang="ru-RU" dirty="0" smtClean="0"/>
              <a:t>Запрос тоже широковещательный и его получают все сервера и те чьи предложения не одобрены – возвращают зарезервированные адреса в список допустимых адресов.</a:t>
            </a:r>
          </a:p>
          <a:p>
            <a:pPr algn="just">
              <a:buNone/>
            </a:pPr>
            <a:r>
              <a:rPr lang="ru-RU" dirty="0" smtClean="0"/>
              <a:t>4).</a:t>
            </a:r>
            <a:r>
              <a:rPr lang="ru-RU" dirty="0" smtClean="0">
                <a:solidFill>
                  <a:srgbClr val="002060"/>
                </a:solidFill>
              </a:rPr>
              <a:t>Сервер посылает – подтверждение (АСК)  и присваивает клиенту </a:t>
            </a:r>
            <a:r>
              <a:rPr lang="en-US" dirty="0" smtClean="0">
                <a:solidFill>
                  <a:srgbClr val="002060"/>
                </a:solidFill>
              </a:rPr>
              <a:t>IP </a:t>
            </a:r>
            <a:r>
              <a:rPr lang="ru-RU" dirty="0" smtClean="0">
                <a:solidFill>
                  <a:srgbClr val="002060"/>
                </a:solidFill>
              </a:rPr>
              <a:t>адрес</a:t>
            </a:r>
            <a:r>
              <a:rPr lang="ru-RU" dirty="0" smtClean="0"/>
              <a:t>  который  действует в течении времени –  срока аренды адреса . </a:t>
            </a:r>
          </a:p>
          <a:p>
            <a:pPr algn="just">
              <a:buNone/>
            </a:pPr>
            <a:r>
              <a:rPr lang="ru-RU" dirty="0" smtClean="0"/>
              <a:t>Продолжительность срока аренды устанавливается администратором сети .</a:t>
            </a:r>
            <a:endParaRPr lang="ru-RU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136904" cy="908720"/>
          </a:xfrm>
        </p:spPr>
        <p:txBody>
          <a:bodyPr>
            <a:normAutofit/>
          </a:bodyPr>
          <a:lstStyle/>
          <a:p>
            <a:r>
              <a:rPr lang="ru-RU" sz="2400" dirty="0" smtClean="0">
                <a:solidFill>
                  <a:srgbClr val="7030A0"/>
                </a:solidFill>
              </a:rPr>
              <a:t>Автоматизация процесса назначения IP-адресов узлам сети - протокол DHCP</a:t>
            </a:r>
            <a:endParaRPr lang="ru-RU" sz="2400" dirty="0">
              <a:solidFill>
                <a:srgbClr val="7030A0"/>
              </a:solidFill>
            </a:endParaRPr>
          </a:p>
        </p:txBody>
      </p:sp>
      <p:pic>
        <p:nvPicPr>
          <p:cNvPr id="32772" name="Picture 4" descr="12-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07072"/>
            <a:ext cx="8604448" cy="56509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412776"/>
            <a:ext cx="8229600" cy="2664296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I</a:t>
            </a:r>
            <a:r>
              <a:rPr lang="ru-RU" dirty="0" smtClean="0">
                <a:solidFill>
                  <a:srgbClr val="7030A0"/>
                </a:solidFill>
              </a:rPr>
              <a:t/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5.6 Использование масок при </a:t>
            </a:r>
            <a:r>
              <a:rPr lang="en-US" dirty="0" smtClean="0">
                <a:solidFill>
                  <a:srgbClr val="7030A0"/>
                </a:solidFill>
              </a:rPr>
              <a:t>IP </a:t>
            </a:r>
            <a:r>
              <a:rPr lang="ru-RU" dirty="0" smtClean="0">
                <a:solidFill>
                  <a:srgbClr val="7030A0"/>
                </a:solidFill>
              </a:rPr>
              <a:t>адресации. 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Создание подсетей .</a:t>
            </a:r>
            <a:br>
              <a:rPr lang="ru-RU" dirty="0" smtClean="0">
                <a:solidFill>
                  <a:srgbClr val="7030A0"/>
                </a:solidFill>
              </a:rPr>
            </a:br>
            <a:r>
              <a:rPr lang="ru-RU" dirty="0" smtClean="0">
                <a:solidFill>
                  <a:srgbClr val="7030A0"/>
                </a:solidFill>
              </a:rPr>
              <a:t>Маска сети </a:t>
            </a:r>
            <a:br>
              <a:rPr lang="ru-RU" dirty="0" smtClean="0">
                <a:solidFill>
                  <a:srgbClr val="7030A0"/>
                </a:solidFill>
              </a:rPr>
            </a:b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432048"/>
          </a:xfrm>
        </p:spPr>
        <p:txBody>
          <a:bodyPr>
            <a:noAutofit/>
          </a:bodyPr>
          <a:lstStyle/>
          <a:p>
            <a:r>
              <a:rPr lang="ru-RU" sz="3200" dirty="0" smtClean="0">
                <a:solidFill>
                  <a:srgbClr val="7030A0"/>
                </a:solidFill>
              </a:rPr>
              <a:t>Использовании масок при </a:t>
            </a:r>
            <a:r>
              <a:rPr lang="en-US" sz="3200" dirty="0" smtClean="0">
                <a:solidFill>
                  <a:srgbClr val="7030A0"/>
                </a:solidFill>
              </a:rPr>
              <a:t>IP </a:t>
            </a:r>
            <a:r>
              <a:rPr lang="ru-RU" sz="3200" dirty="0" smtClean="0">
                <a:solidFill>
                  <a:srgbClr val="7030A0"/>
                </a:solidFill>
              </a:rPr>
              <a:t>адресации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620688"/>
            <a:ext cx="8964488" cy="6048672"/>
          </a:xfrm>
        </p:spPr>
        <p:txBody>
          <a:bodyPr>
            <a:normAutofit/>
          </a:bodyPr>
          <a:lstStyle/>
          <a:p>
            <a:r>
              <a:rPr lang="ru-RU" sz="2400" dirty="0" smtClean="0">
                <a:solidFill>
                  <a:srgbClr val="002060"/>
                </a:solidFill>
              </a:rPr>
              <a:t>Создание в сети подсетей – это разделение ее на части</a:t>
            </a:r>
            <a:r>
              <a:rPr lang="ru-RU" sz="2400" dirty="0" smtClean="0"/>
              <a:t>. При создании подсетей двухуровневая иерархия адресов становится трехуровневой.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Для создания подсети необходимо «одолжить» часть битов</a:t>
            </a:r>
            <a:r>
              <a:rPr lang="en-US" sz="2400" dirty="0" smtClean="0">
                <a:solidFill>
                  <a:srgbClr val="002060"/>
                </a:solidFill>
              </a:rPr>
              <a:t> IP</a:t>
            </a:r>
            <a:r>
              <a:rPr lang="ru-RU" sz="2400" dirty="0" smtClean="0">
                <a:solidFill>
                  <a:srgbClr val="002060"/>
                </a:solidFill>
              </a:rPr>
              <a:t>-</a:t>
            </a:r>
            <a:r>
              <a:rPr lang="en-US" sz="2400" dirty="0" smtClean="0">
                <a:solidFill>
                  <a:srgbClr val="002060"/>
                </a:solidFill>
              </a:rPr>
              <a:t> </a:t>
            </a:r>
            <a:r>
              <a:rPr lang="ru-RU" sz="2400" dirty="0" smtClean="0">
                <a:solidFill>
                  <a:srgbClr val="002060"/>
                </a:solidFill>
              </a:rPr>
              <a:t> адреса, выделенных для адреса хоста и записать в них второй уровень сетевого адреса, т.е. адрес подсети 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При создании подсети, процедуры протокола </a:t>
            </a:r>
            <a:r>
              <a:rPr lang="en-US" sz="2400" dirty="0" smtClean="0"/>
              <a:t>IP </a:t>
            </a:r>
            <a:r>
              <a:rPr lang="ru-RU" sz="2400" dirty="0" smtClean="0"/>
              <a:t>должны определить, какие биты относятся к сети а какие – к номеру хоста. </a:t>
            </a:r>
            <a:r>
              <a:rPr lang="ru-RU" sz="2400" dirty="0" smtClean="0">
                <a:solidFill>
                  <a:srgbClr val="002060"/>
                </a:solidFill>
              </a:rPr>
              <a:t>Делается с помощью маски подсети - 32 битового числа, </a:t>
            </a:r>
            <a:r>
              <a:rPr lang="ru-RU" sz="2400" dirty="0" smtClean="0"/>
              <a:t>выделенного администратором при конфигурации сети.</a:t>
            </a:r>
          </a:p>
          <a:p>
            <a:r>
              <a:rPr lang="ru-RU" sz="2400" dirty="0" smtClean="0">
                <a:solidFill>
                  <a:srgbClr val="002060"/>
                </a:solidFill>
              </a:rPr>
              <a:t>В маске   подсети , биты , определяющие номер сети установлены в 1, а биты определяющие номер хоста в 0.</a:t>
            </a:r>
          </a:p>
          <a:p>
            <a:r>
              <a:rPr lang="ru-RU" sz="2400" dirty="0" smtClean="0"/>
              <a:t>Часть адреса отведенная для номера сети называется «замаскированной» битами, содержащими 1.</a:t>
            </a:r>
          </a:p>
          <a:p>
            <a:endParaRPr lang="ru-RU" sz="2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pPr eaLnBrk="1" hangingPunct="1"/>
            <a:r>
              <a:rPr lang="ru-RU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Подсети</a:t>
            </a:r>
            <a:r>
              <a:rPr lang="ru-RU" dirty="0" smtClean="0">
                <a:solidFill>
                  <a:srgbClr val="7030A0"/>
                </a:solidFill>
                <a:latin typeface="Times New Roman" pitchFamily="18" charset="0"/>
              </a:rPr>
              <a:t> </a:t>
            </a: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395536" y="1124744"/>
          <a:ext cx="4572000" cy="280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8806" name="Точечный рисунок" r:id="rId3" imgW="3095238" imgH="933580" progId="PBrush">
                  <p:embed/>
                </p:oleObj>
              </mc:Choice>
              <mc:Fallback>
                <p:oleObj name="Точечный рисунок" r:id="rId3" imgW="3095238" imgH="933580" progId="PBrush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124744"/>
                        <a:ext cx="4572000" cy="280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304800" y="4005064"/>
            <a:ext cx="68594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400" dirty="0">
                <a:latin typeface="Times New Roman" pitchFamily="18" charset="0"/>
              </a:rPr>
              <a:t>Адресная иерархия при организации подсетей 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457200" y="4725144"/>
            <a:ext cx="75438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ru-RU" sz="2400" dirty="0">
                <a:latin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</a:rPr>
              <a:t>Не нужно запрашивать ещё один сетевой номер, прежде чем установить новую сеть в организации</a:t>
            </a:r>
            <a:r>
              <a:rPr lang="ru-RU" sz="2400" dirty="0">
                <a:latin typeface="Times New Roman" pitchFamily="18" charset="0"/>
              </a:rPr>
              <a:t>.</a:t>
            </a:r>
          </a:p>
        </p:txBody>
      </p:sp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5105400" y="1981200"/>
          <a:ext cx="3733800" cy="194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8807" name="Точечный рисунок" r:id="rId5" imgW="2962689" imgH="1542857" progId="PBrush">
                  <p:embed/>
                </p:oleObj>
              </mc:Choice>
              <mc:Fallback>
                <p:oleObj name="Точечный рисунок" r:id="rId5" imgW="2962689" imgH="1542857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981200"/>
                        <a:ext cx="3733800" cy="194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027"/>
          <p:cNvSpPr txBox="1">
            <a:spLocks noChangeArrowheads="1"/>
          </p:cNvSpPr>
          <p:nvPr/>
        </p:nvSpPr>
        <p:spPr bwMode="auto">
          <a:xfrm>
            <a:off x="1475656" y="260648"/>
            <a:ext cx="742354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ru-RU" sz="3200" dirty="0" smtClean="0">
                <a:solidFill>
                  <a:srgbClr val="7030A0"/>
                </a:solidFill>
              </a:rPr>
              <a:t>Служебные  </a:t>
            </a:r>
            <a:r>
              <a:rPr lang="en-US" sz="3200" dirty="0" smtClean="0">
                <a:solidFill>
                  <a:srgbClr val="7030A0"/>
                </a:solidFill>
              </a:rPr>
              <a:t>IP</a:t>
            </a:r>
            <a:r>
              <a:rPr lang="ru-RU" sz="3200" dirty="0" smtClean="0">
                <a:solidFill>
                  <a:srgbClr val="7030A0"/>
                </a:solidFill>
              </a:rPr>
              <a:t> - адреса </a:t>
            </a:r>
            <a:endParaRPr lang="ru-RU" sz="3200" dirty="0">
              <a:solidFill>
                <a:srgbClr val="7030A0"/>
              </a:solidFill>
            </a:endParaRPr>
          </a:p>
        </p:txBody>
      </p:sp>
      <p:sp>
        <p:nvSpPr>
          <p:cNvPr id="13315" name="Text Box 1028"/>
          <p:cNvSpPr txBox="1">
            <a:spLocks noChangeArrowheads="1"/>
          </p:cNvSpPr>
          <p:nvPr/>
        </p:nvSpPr>
        <p:spPr bwMode="auto">
          <a:xfrm>
            <a:off x="152400" y="764704"/>
            <a:ext cx="874008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000" dirty="0" smtClean="0">
                <a:cs typeface="Times New Roman" pitchFamily="18" charset="0"/>
              </a:rPr>
              <a:t>1</a:t>
            </a:r>
            <a:r>
              <a:rPr lang="ru-RU" sz="2400" dirty="0">
                <a:cs typeface="Times New Roman" pitchFamily="18" charset="0"/>
              </a:rPr>
              <a:t>.  </a:t>
            </a:r>
            <a:r>
              <a:rPr lang="ru-RU" sz="2400" dirty="0">
                <a:solidFill>
                  <a:srgbClr val="002060"/>
                </a:solidFill>
                <a:cs typeface="Times New Roman" pitchFamily="18" charset="0"/>
              </a:rPr>
              <a:t>IP-адрес 0.0.0.0</a:t>
            </a:r>
            <a:r>
              <a:rPr lang="ru-RU" sz="2400" i="1" dirty="0">
                <a:solidFill>
                  <a:srgbClr val="002060"/>
                </a:solidFill>
                <a:cs typeface="Times New Roman" pitchFamily="18" charset="0"/>
              </a:rPr>
              <a:t> </a:t>
            </a:r>
            <a:r>
              <a:rPr lang="ru-RU" sz="2400" dirty="0">
                <a:cs typeface="Times New Roman" pitchFamily="18" charset="0"/>
              </a:rPr>
              <a:t>используется хостом только при загрузке.</a:t>
            </a:r>
            <a:endParaRPr lang="ru-RU" sz="2400" dirty="0"/>
          </a:p>
          <a:p>
            <a:endParaRPr lang="ru-RU" sz="2400" dirty="0"/>
          </a:p>
          <a:p>
            <a:r>
              <a:rPr lang="en-US" sz="2400" dirty="0">
                <a:cs typeface="Times New Roman" pitchFamily="18" charset="0"/>
              </a:rPr>
              <a:t>2</a:t>
            </a:r>
            <a:r>
              <a:rPr lang="en-US" sz="2400" dirty="0" smtClean="0">
                <a:cs typeface="Times New Roman" pitchFamily="18" charset="0"/>
              </a:rPr>
              <a:t>.</a:t>
            </a:r>
            <a:r>
              <a:rPr lang="ru-RU" sz="2400" dirty="0" smtClean="0">
                <a:cs typeface="Times New Roman" pitchFamily="18" charset="0"/>
              </a:rPr>
              <a:t>  </a:t>
            </a:r>
            <a:r>
              <a:rPr lang="en-US" sz="2400" dirty="0">
                <a:cs typeface="Times New Roman" pitchFamily="18" charset="0"/>
              </a:rPr>
              <a:t> </a:t>
            </a:r>
            <a:r>
              <a:rPr lang="ru-RU" sz="2400" dirty="0">
                <a:solidFill>
                  <a:srgbClr val="002060"/>
                </a:solidFill>
                <a:cs typeface="Times New Roman" pitchFamily="18" charset="0"/>
              </a:rPr>
              <a:t> IP-адреса с нулевым номером сети обозначают текущую сеть.</a:t>
            </a:r>
            <a:endParaRPr lang="ru-RU" sz="2400" dirty="0">
              <a:solidFill>
                <a:srgbClr val="002060"/>
              </a:solidFill>
            </a:endParaRPr>
          </a:p>
          <a:p>
            <a:endParaRPr lang="ru-RU" sz="2400" dirty="0"/>
          </a:p>
          <a:p>
            <a:r>
              <a:rPr lang="ru-RU" sz="2400" dirty="0" smtClean="0">
                <a:cs typeface="Times New Roman" pitchFamily="18" charset="0"/>
              </a:rPr>
              <a:t>3    . </a:t>
            </a:r>
            <a:r>
              <a:rPr lang="ru-RU" sz="2400" dirty="0" smtClean="0">
                <a:solidFill>
                  <a:srgbClr val="002060"/>
                </a:solidFill>
                <a:cs typeface="Times New Roman" pitchFamily="18" charset="0"/>
              </a:rPr>
              <a:t>Адрес</a:t>
            </a:r>
            <a:r>
              <a:rPr lang="ru-RU" sz="2400" dirty="0">
                <a:solidFill>
                  <a:srgbClr val="002060"/>
                </a:solidFill>
                <a:cs typeface="Times New Roman" pitchFamily="18" charset="0"/>
              </a:rPr>
              <a:t>, состоящий </a:t>
            </a:r>
            <a:r>
              <a:rPr lang="ru-RU" sz="2400" dirty="0" smtClean="0">
                <a:solidFill>
                  <a:srgbClr val="002060"/>
                </a:solidFill>
                <a:cs typeface="Times New Roman" pitchFamily="18" charset="0"/>
              </a:rPr>
              <a:t>из </a:t>
            </a:r>
            <a:r>
              <a:rPr lang="ru-RU" sz="2400" dirty="0">
                <a:solidFill>
                  <a:srgbClr val="002060"/>
                </a:solidFill>
                <a:cs typeface="Times New Roman" pitchFamily="18" charset="0"/>
              </a:rPr>
              <a:t>всех единиц</a:t>
            </a:r>
            <a:r>
              <a:rPr lang="ru-RU" sz="2400" dirty="0">
                <a:cs typeface="Times New Roman" pitchFamily="18" charset="0"/>
              </a:rPr>
              <a:t>, обеспечивает широковещание </a:t>
            </a:r>
            <a:r>
              <a:rPr lang="ru-RU" sz="2400" dirty="0" smtClean="0">
                <a:cs typeface="Times New Roman" pitchFamily="18" charset="0"/>
              </a:rPr>
              <a:t>в </a:t>
            </a:r>
            <a:r>
              <a:rPr lang="ru-RU" sz="2400" dirty="0">
                <a:cs typeface="Times New Roman" pitchFamily="18" charset="0"/>
              </a:rPr>
              <a:t>пределах текущей (обычно локальной) сети.</a:t>
            </a:r>
            <a:endParaRPr lang="ru-RU" sz="2400" dirty="0"/>
          </a:p>
          <a:p>
            <a:endParaRPr lang="ru-RU" sz="2400" dirty="0"/>
          </a:p>
          <a:p>
            <a:r>
              <a:rPr lang="en-US" sz="2400" dirty="0">
                <a:cs typeface="Times New Roman" pitchFamily="18" charset="0"/>
              </a:rPr>
              <a:t>4</a:t>
            </a:r>
            <a:r>
              <a:rPr lang="en-US" sz="2400" dirty="0" smtClean="0">
                <a:cs typeface="Times New Roman" pitchFamily="18" charset="0"/>
              </a:rPr>
              <a:t>.</a:t>
            </a:r>
            <a:r>
              <a:rPr lang="ru-RU" sz="2400" dirty="0" smtClean="0">
                <a:cs typeface="Times New Roman" pitchFamily="18" charset="0"/>
              </a:rPr>
              <a:t>   </a:t>
            </a:r>
            <a:r>
              <a:rPr lang="en-US" sz="2400" dirty="0">
                <a:cs typeface="Times New Roman" pitchFamily="18" charset="0"/>
              </a:rPr>
              <a:t> </a:t>
            </a:r>
            <a:r>
              <a:rPr lang="ru-RU" sz="2400" dirty="0">
                <a:cs typeface="Times New Roman" pitchFamily="18" charset="0"/>
              </a:rPr>
              <a:t> </a:t>
            </a:r>
            <a:r>
              <a:rPr lang="ru-RU" sz="2400" dirty="0">
                <a:solidFill>
                  <a:srgbClr val="002060"/>
                </a:solidFill>
                <a:cs typeface="Times New Roman" pitchFamily="18" charset="0"/>
              </a:rPr>
              <a:t>Адреса, в которых указана сеть, но со всеми единицами в поле </a:t>
            </a:r>
            <a:r>
              <a:rPr lang="ru-RU" sz="2400" dirty="0" smtClean="0">
                <a:solidFill>
                  <a:srgbClr val="002060"/>
                </a:solidFill>
                <a:cs typeface="Times New Roman" pitchFamily="18" charset="0"/>
              </a:rPr>
              <a:t>номера</a:t>
            </a:r>
            <a:r>
              <a:rPr lang="ru-RU" sz="2400" dirty="0" smtClean="0">
                <a:solidFill>
                  <a:srgbClr val="002060"/>
                </a:solidFill>
              </a:rPr>
              <a:t> </a:t>
            </a:r>
            <a:r>
              <a:rPr lang="ru-RU" sz="2400" dirty="0" smtClean="0">
                <a:solidFill>
                  <a:srgbClr val="002060"/>
                </a:solidFill>
                <a:cs typeface="Times New Roman" pitchFamily="18" charset="0"/>
              </a:rPr>
              <a:t>хоста</a:t>
            </a:r>
            <a:r>
              <a:rPr lang="ru-RU" sz="2400" dirty="0">
                <a:cs typeface="Times New Roman" pitchFamily="18" charset="0"/>
              </a:rPr>
              <a:t>, обеспечивают широковещание в пределах любой удаленной сети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r>
              <a:rPr lang="en-US" sz="2400" dirty="0">
                <a:cs typeface="Times New Roman" pitchFamily="18" charset="0"/>
              </a:rPr>
              <a:t>5. </a:t>
            </a:r>
            <a:r>
              <a:rPr lang="ru-RU" sz="2400" dirty="0"/>
              <a:t> </a:t>
            </a:r>
            <a:r>
              <a:rPr lang="ru-RU" sz="2400" dirty="0" smtClean="0"/>
              <a:t>   </a:t>
            </a:r>
            <a:r>
              <a:rPr lang="ru-RU" sz="2400" dirty="0" smtClean="0">
                <a:solidFill>
                  <a:srgbClr val="002060"/>
                </a:solidFill>
              </a:rPr>
              <a:t>В</a:t>
            </a:r>
            <a:r>
              <a:rPr lang="ru-RU" sz="2400" dirty="0" smtClean="0">
                <a:solidFill>
                  <a:srgbClr val="002060"/>
                </a:solidFill>
                <a:cs typeface="Times New Roman" pitchFamily="18" charset="0"/>
              </a:rPr>
              <a:t>се </a:t>
            </a:r>
            <a:r>
              <a:rPr lang="ru-RU" sz="2400" dirty="0">
                <a:solidFill>
                  <a:srgbClr val="002060"/>
                </a:solidFill>
                <a:cs typeface="Times New Roman" pitchFamily="18" charset="0"/>
              </a:rPr>
              <a:t>адреса вида 127.хх.уу.zz зарезервированы </a:t>
            </a:r>
            <a:r>
              <a:rPr lang="ru-RU" sz="2400" dirty="0">
                <a:cs typeface="Times New Roman" pitchFamily="18" charset="0"/>
              </a:rPr>
              <a:t>для тестирования </a:t>
            </a:r>
            <a:r>
              <a:rPr lang="ru-RU" sz="2400" dirty="0" smtClean="0">
                <a:cs typeface="Times New Roman" pitchFamily="18" charset="0"/>
              </a:rPr>
              <a:t>сетевого </a:t>
            </a:r>
            <a:r>
              <a:rPr lang="ru-RU" sz="2400" dirty="0">
                <a:cs typeface="Times New Roman" pitchFamily="18" charset="0"/>
              </a:rPr>
              <a:t>программного обеспечения.  </a:t>
            </a:r>
          </a:p>
          <a:p>
            <a:endParaRPr lang="ru-RU" sz="2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1" name="Line 3"/>
          <p:cNvSpPr>
            <a:spLocks noChangeShapeType="1"/>
          </p:cNvSpPr>
          <p:nvPr/>
        </p:nvSpPr>
        <p:spPr bwMode="auto">
          <a:xfrm>
            <a:off x="8001000" y="6248400"/>
            <a:ext cx="762000" cy="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7892" name="Line 4"/>
          <p:cNvSpPr>
            <a:spLocks noChangeShapeType="1"/>
          </p:cNvSpPr>
          <p:nvPr/>
        </p:nvSpPr>
        <p:spPr bwMode="auto">
          <a:xfrm>
            <a:off x="8534400" y="5867400"/>
            <a:ext cx="0" cy="6096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7893" name="Line 5"/>
          <p:cNvSpPr>
            <a:spLocks noChangeShapeType="1"/>
          </p:cNvSpPr>
          <p:nvPr/>
        </p:nvSpPr>
        <p:spPr bwMode="auto">
          <a:xfrm>
            <a:off x="8382000" y="6172200"/>
            <a:ext cx="457200" cy="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7894" name="Line 6"/>
          <p:cNvSpPr>
            <a:spLocks noChangeShapeType="1"/>
          </p:cNvSpPr>
          <p:nvPr/>
        </p:nvSpPr>
        <p:spPr bwMode="auto">
          <a:xfrm flipV="1">
            <a:off x="8686800" y="5562600"/>
            <a:ext cx="0" cy="8382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u-RU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7901" name="Rectangle 13"/>
          <p:cNvSpPr>
            <a:spLocks noChangeArrowheads="1"/>
          </p:cNvSpPr>
          <p:nvPr/>
        </p:nvSpPr>
        <p:spPr bwMode="auto">
          <a:xfrm>
            <a:off x="827584" y="1"/>
            <a:ext cx="727280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dirty="0">
                <a:solidFill>
                  <a:srgbClr val="7030A0"/>
                </a:solidFill>
                <a:latin typeface="Verdana" pitchFamily="34" charset="0"/>
              </a:rPr>
              <a:t>Маска </a:t>
            </a:r>
            <a:r>
              <a:rPr lang="en-US" sz="3200" dirty="0">
                <a:solidFill>
                  <a:srgbClr val="7030A0"/>
                </a:solidFill>
                <a:latin typeface="Verdana" pitchFamily="34" charset="0"/>
              </a:rPr>
              <a:t>IP </a:t>
            </a:r>
            <a:r>
              <a:rPr lang="ru-RU" sz="3200" dirty="0" smtClean="0">
                <a:solidFill>
                  <a:srgbClr val="7030A0"/>
                </a:solidFill>
                <a:latin typeface="Verdana" pitchFamily="34" charset="0"/>
              </a:rPr>
              <a:t>адреса(1)</a:t>
            </a:r>
            <a:endParaRPr lang="ru-RU" sz="3200" dirty="0">
              <a:solidFill>
                <a:srgbClr val="7030A0"/>
              </a:solidFill>
              <a:latin typeface="Verdana" pitchFamily="34" charset="0"/>
            </a:endParaRPr>
          </a:p>
        </p:txBody>
      </p:sp>
      <p:sp>
        <p:nvSpPr>
          <p:cNvPr id="9227" name="Rectangle 14"/>
          <p:cNvSpPr>
            <a:spLocks noChangeArrowheads="1"/>
          </p:cNvSpPr>
          <p:nvPr/>
        </p:nvSpPr>
        <p:spPr bwMode="auto">
          <a:xfrm>
            <a:off x="179512" y="548680"/>
            <a:ext cx="8784976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ru-RU" sz="2000" b="0" dirty="0" smtClean="0"/>
              <a:t>    </a:t>
            </a:r>
            <a:r>
              <a:rPr lang="ru-RU" sz="2400" b="0" dirty="0" smtClean="0">
                <a:solidFill>
                  <a:srgbClr val="002060"/>
                </a:solidFill>
              </a:rPr>
              <a:t>Назначение </a:t>
            </a:r>
            <a:r>
              <a:rPr lang="ru-RU" sz="2400" b="0" dirty="0">
                <a:solidFill>
                  <a:srgbClr val="002060"/>
                </a:solidFill>
              </a:rPr>
              <a:t>маски </a:t>
            </a:r>
            <a:r>
              <a:rPr lang="en-US" sz="2400" b="0" dirty="0">
                <a:solidFill>
                  <a:srgbClr val="002060"/>
                </a:solidFill>
              </a:rPr>
              <a:t>IP </a:t>
            </a:r>
            <a:r>
              <a:rPr lang="ru-RU" sz="2400" b="0" dirty="0">
                <a:solidFill>
                  <a:srgbClr val="002060"/>
                </a:solidFill>
              </a:rPr>
              <a:t>адреса - отделять часть, отвечающую за номер сети от части, идентифицирующей номер хоста в данной сети</a:t>
            </a:r>
            <a:r>
              <a:rPr lang="ru-RU" sz="2400" b="0" dirty="0"/>
              <a:t>.</a:t>
            </a:r>
          </a:p>
          <a:p>
            <a:pPr algn="l">
              <a:buFont typeface="Arial" pitchFamily="34" charset="0"/>
              <a:buChar char="•"/>
            </a:pPr>
            <a:r>
              <a:rPr lang="ru-RU" sz="2400" dirty="0" smtClean="0"/>
              <a:t>    </a:t>
            </a:r>
            <a:r>
              <a:rPr lang="ru-RU" sz="2400" b="0" dirty="0" smtClean="0"/>
              <a:t>Использование</a:t>
            </a:r>
            <a:r>
              <a:rPr lang="ru-RU" sz="2400" b="0" dirty="0"/>
              <a:t>: маршрутизация и ограниченное широковещание.</a:t>
            </a:r>
          </a:p>
          <a:p>
            <a:pPr algn="l">
              <a:buFont typeface="Arial" pitchFamily="34" charset="0"/>
              <a:buChar char="•"/>
            </a:pPr>
            <a:r>
              <a:rPr lang="ru-RU" sz="2400" b="0" dirty="0" smtClean="0"/>
              <a:t>   </a:t>
            </a:r>
            <a:r>
              <a:rPr lang="ru-RU" sz="2400" b="0" dirty="0" smtClean="0">
                <a:solidFill>
                  <a:srgbClr val="002060"/>
                </a:solidFill>
              </a:rPr>
              <a:t>Маска</a:t>
            </a:r>
            <a:r>
              <a:rPr lang="en-US" sz="2400" b="0" dirty="0" smtClean="0">
                <a:solidFill>
                  <a:srgbClr val="002060"/>
                </a:solidFill>
              </a:rPr>
              <a:t> </a:t>
            </a:r>
            <a:r>
              <a:rPr lang="en-US" sz="2400" b="0" dirty="0">
                <a:solidFill>
                  <a:srgbClr val="002060"/>
                </a:solidFill>
              </a:rPr>
              <a:t>IP</a:t>
            </a:r>
            <a:r>
              <a:rPr lang="ru-RU" sz="2400" b="0" dirty="0">
                <a:solidFill>
                  <a:srgbClr val="002060"/>
                </a:solidFill>
              </a:rPr>
              <a:t> - это неразрывный последовательный бинарный ряд логических 1, оканчивающийся неразрывным рядом 0 общей длиной 32 бита</a:t>
            </a:r>
            <a:r>
              <a:rPr lang="ru-RU" sz="2400" b="0" dirty="0"/>
              <a:t>.</a:t>
            </a:r>
          </a:p>
          <a:p>
            <a:pPr algn="l">
              <a:buFont typeface="Arial" pitchFamily="34" charset="0"/>
              <a:buChar char="•"/>
            </a:pPr>
            <a:r>
              <a:rPr lang="ru-RU" sz="2400" b="0" u="sng" dirty="0" smtClean="0">
                <a:solidFill>
                  <a:srgbClr val="002060"/>
                </a:solidFill>
              </a:rPr>
              <a:t>    Например</a:t>
            </a:r>
            <a:r>
              <a:rPr lang="ru-RU" sz="2400" b="0" dirty="0"/>
              <a:t>, </a:t>
            </a:r>
          </a:p>
          <a:p>
            <a:pPr algn="l"/>
            <a:r>
              <a:rPr lang="ru-RU" sz="2400" b="0" i="1" dirty="0">
                <a:solidFill>
                  <a:srgbClr val="002060"/>
                </a:solidFill>
              </a:rPr>
              <a:t>маска </a:t>
            </a:r>
            <a:r>
              <a:rPr lang="en-US" sz="2400" b="0" i="1" dirty="0">
                <a:solidFill>
                  <a:srgbClr val="002060"/>
                </a:solidFill>
              </a:rPr>
              <a:t>IP </a:t>
            </a:r>
            <a:r>
              <a:rPr lang="ru-RU" sz="2400" b="0" i="1" dirty="0">
                <a:solidFill>
                  <a:srgbClr val="002060"/>
                </a:solidFill>
              </a:rPr>
              <a:t>адреса класса </a:t>
            </a:r>
            <a:r>
              <a:rPr lang="ru-RU" sz="2400" b="0" i="1" dirty="0" smtClean="0">
                <a:solidFill>
                  <a:srgbClr val="002060"/>
                </a:solidFill>
              </a:rPr>
              <a:t>А</a:t>
            </a:r>
            <a:r>
              <a:rPr lang="ru-RU" sz="2400" b="0" dirty="0" smtClean="0">
                <a:solidFill>
                  <a:srgbClr val="002060"/>
                </a:solidFill>
              </a:rPr>
              <a:t>:     </a:t>
            </a:r>
            <a:r>
              <a:rPr lang="ru-RU" sz="2400" b="0" dirty="0" smtClean="0"/>
              <a:t>11111111 </a:t>
            </a:r>
            <a:r>
              <a:rPr lang="ru-RU" sz="2400" b="0" dirty="0"/>
              <a:t>00000000 00000000 </a:t>
            </a:r>
            <a:r>
              <a:rPr lang="ru-RU" sz="2400" b="0" dirty="0" smtClean="0"/>
              <a:t>00000000     </a:t>
            </a:r>
            <a:r>
              <a:rPr lang="ru-RU" sz="2400" b="0" i="1" dirty="0" smtClean="0"/>
              <a:t>255.0.0.0.</a:t>
            </a:r>
            <a:endParaRPr lang="ru-RU" sz="2400" b="0" i="1" dirty="0"/>
          </a:p>
          <a:p>
            <a:pPr algn="l"/>
            <a:r>
              <a:rPr lang="ru-RU" sz="2400" b="0" i="1" dirty="0">
                <a:solidFill>
                  <a:srgbClr val="002060"/>
                </a:solidFill>
              </a:rPr>
              <a:t>маска </a:t>
            </a:r>
            <a:r>
              <a:rPr lang="en-US" sz="2400" b="0" i="1" dirty="0">
                <a:solidFill>
                  <a:srgbClr val="002060"/>
                </a:solidFill>
              </a:rPr>
              <a:t>IP </a:t>
            </a:r>
            <a:r>
              <a:rPr lang="ru-RU" sz="2400" b="0" i="1" dirty="0">
                <a:solidFill>
                  <a:srgbClr val="002060"/>
                </a:solidFill>
              </a:rPr>
              <a:t>адреса класса В</a:t>
            </a:r>
            <a:r>
              <a:rPr lang="ru-RU" sz="2400" b="0" dirty="0"/>
              <a:t>:	11111111 11111111 00000000 </a:t>
            </a:r>
            <a:r>
              <a:rPr lang="ru-RU" sz="2400" b="0" dirty="0" smtClean="0"/>
              <a:t>00000000      </a:t>
            </a:r>
            <a:r>
              <a:rPr lang="ru-RU" sz="2400" b="0" i="1" dirty="0" smtClean="0">
                <a:solidFill>
                  <a:srgbClr val="002060"/>
                </a:solidFill>
              </a:rPr>
              <a:t>255.255.0.0.</a:t>
            </a:r>
            <a:endParaRPr lang="ru-RU" sz="2400" b="0" i="1" dirty="0">
              <a:solidFill>
                <a:srgbClr val="002060"/>
              </a:solidFill>
            </a:endParaRPr>
          </a:p>
          <a:p>
            <a:pPr algn="l"/>
            <a:r>
              <a:rPr lang="ru-RU" sz="2400" b="0" i="1" dirty="0">
                <a:solidFill>
                  <a:srgbClr val="002060"/>
                </a:solidFill>
              </a:rPr>
              <a:t>маска </a:t>
            </a:r>
            <a:r>
              <a:rPr lang="en-US" sz="2400" b="0" i="1" dirty="0">
                <a:solidFill>
                  <a:srgbClr val="002060"/>
                </a:solidFill>
              </a:rPr>
              <a:t>IP </a:t>
            </a:r>
            <a:r>
              <a:rPr lang="ru-RU" sz="2400" b="0" i="1" dirty="0">
                <a:solidFill>
                  <a:srgbClr val="002060"/>
                </a:solidFill>
              </a:rPr>
              <a:t>адреса класса С</a:t>
            </a:r>
            <a:r>
              <a:rPr lang="ru-RU" sz="2400" b="0" dirty="0">
                <a:solidFill>
                  <a:srgbClr val="002060"/>
                </a:solidFill>
              </a:rPr>
              <a:t>:</a:t>
            </a:r>
            <a:r>
              <a:rPr lang="ru-RU" sz="2400" b="0" dirty="0"/>
              <a:t>	11111111 11111111 11111111 </a:t>
            </a:r>
            <a:r>
              <a:rPr lang="ru-RU" sz="2400" b="0" dirty="0" smtClean="0"/>
              <a:t>00000000    </a:t>
            </a:r>
            <a:r>
              <a:rPr lang="ru-RU" sz="2400" b="0" i="1" dirty="0" smtClean="0"/>
              <a:t>255.255.255.0.</a:t>
            </a:r>
          </a:p>
          <a:p>
            <a:pPr algn="l"/>
            <a:r>
              <a:rPr lang="ru-RU" sz="2400" b="0" dirty="0" smtClean="0">
                <a:solidFill>
                  <a:srgbClr val="002060"/>
                </a:solidFill>
              </a:rPr>
              <a:t>маска </a:t>
            </a:r>
            <a:r>
              <a:rPr lang="ru-RU" sz="2400" b="0" dirty="0">
                <a:solidFill>
                  <a:srgbClr val="002060"/>
                </a:solidFill>
              </a:rPr>
              <a:t>длиной в 22 бита:</a:t>
            </a:r>
            <a:r>
              <a:rPr lang="ru-RU" sz="2400" b="0" dirty="0"/>
              <a:t>	11111111 11111111 11111100 </a:t>
            </a:r>
            <a:r>
              <a:rPr lang="ru-RU" sz="2400" b="0" dirty="0" smtClean="0"/>
              <a:t>00000000</a:t>
            </a:r>
          </a:p>
          <a:p>
            <a:pPr algn="l"/>
            <a:r>
              <a:rPr lang="ru-RU" sz="2400" dirty="0" smtClean="0"/>
              <a:t>      </a:t>
            </a:r>
            <a:endParaRPr lang="ru-RU" sz="2400" b="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9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pPr eaLnBrk="1" hangingPunct="1"/>
            <a:r>
              <a:rPr lang="ru-RU" dirty="0" smtClean="0">
                <a:solidFill>
                  <a:srgbClr val="7030A0"/>
                </a:solidFill>
              </a:rPr>
              <a:t>Наложение маски на </a:t>
            </a:r>
            <a:r>
              <a:rPr lang="en-US" dirty="0" smtClean="0">
                <a:solidFill>
                  <a:srgbClr val="7030A0"/>
                </a:solidFill>
              </a:rPr>
              <a:t>IP-</a:t>
            </a:r>
            <a:r>
              <a:rPr lang="ru-RU" dirty="0" smtClean="0">
                <a:solidFill>
                  <a:srgbClr val="7030A0"/>
                </a:solidFill>
              </a:rPr>
              <a:t>адрес</a:t>
            </a:r>
          </a:p>
        </p:txBody>
      </p:sp>
      <p:graphicFrame>
        <p:nvGraphicFramePr>
          <p:cNvPr id="17411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323528" y="2564904"/>
          <a:ext cx="8636496" cy="194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852" name="Точечный рисунок" r:id="rId3" imgW="6400000" imgH="1123810" progId="PBrush">
                  <p:embed/>
                </p:oleObj>
              </mc:Choice>
              <mc:Fallback>
                <p:oleObj name="Точечный рисунок" r:id="rId3" imgW="6400000" imgH="1123810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2564904"/>
                        <a:ext cx="8636496" cy="19442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11"/>
          <p:cNvSpPr txBox="1">
            <a:spLocks noChangeArrowheads="1"/>
          </p:cNvSpPr>
          <p:nvPr/>
        </p:nvSpPr>
        <p:spPr bwMode="auto">
          <a:xfrm>
            <a:off x="1331913" y="1916832"/>
            <a:ext cx="35281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2400" dirty="0"/>
              <a:t>Маска 255.255.255.0</a:t>
            </a:r>
          </a:p>
        </p:txBody>
      </p:sp>
      <p:sp>
        <p:nvSpPr>
          <p:cNvPr id="17413" name="Text Box 12"/>
          <p:cNvSpPr txBox="1">
            <a:spLocks noChangeArrowheads="1"/>
          </p:cNvSpPr>
          <p:nvPr/>
        </p:nvSpPr>
        <p:spPr bwMode="auto">
          <a:xfrm>
            <a:off x="1331913" y="4797152"/>
            <a:ext cx="23764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IP-</a:t>
            </a:r>
            <a:r>
              <a:rPr lang="ru-RU" sz="2400" dirty="0"/>
              <a:t>адрес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  <a:latin typeface="Verdana" pitchFamily="34" charset="0"/>
              </a:rPr>
              <a:t>Маска </a:t>
            </a:r>
            <a:r>
              <a:rPr lang="en-US" dirty="0" smtClean="0">
                <a:solidFill>
                  <a:srgbClr val="7030A0"/>
                </a:solidFill>
                <a:latin typeface="Verdana" pitchFamily="34" charset="0"/>
              </a:rPr>
              <a:t>IP </a:t>
            </a:r>
            <a:r>
              <a:rPr lang="ru-RU" dirty="0" smtClean="0">
                <a:solidFill>
                  <a:srgbClr val="7030A0"/>
                </a:solidFill>
                <a:latin typeface="Verdana" pitchFamily="34" charset="0"/>
              </a:rPr>
              <a:t>адреса(2)</a:t>
            </a:r>
            <a:br>
              <a:rPr lang="ru-RU" dirty="0" smtClean="0">
                <a:solidFill>
                  <a:srgbClr val="7030A0"/>
                </a:solidFill>
                <a:latin typeface="Verdana" pitchFamily="34" charset="0"/>
              </a:rPr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08720"/>
            <a:ext cx="8892480" cy="5760640"/>
          </a:xfrm>
        </p:spPr>
        <p:txBody>
          <a:bodyPr>
            <a:normAutofit fontScale="55000" lnSpcReduction="20000"/>
          </a:bodyPr>
          <a:lstStyle/>
          <a:p>
            <a:r>
              <a:rPr lang="ru-RU" i="1" dirty="0" smtClean="0"/>
              <a:t> </a:t>
            </a:r>
            <a:r>
              <a:rPr lang="ru-RU" sz="4500" i="1" dirty="0" smtClean="0"/>
              <a:t>Данные маски (примеры выше) применимы к сетям не имеющих подсетей</a:t>
            </a:r>
            <a:r>
              <a:rPr lang="ru-RU" sz="4500" dirty="0" smtClean="0"/>
              <a:t>.</a:t>
            </a:r>
          </a:p>
          <a:p>
            <a:r>
              <a:rPr lang="ru-RU" sz="4500" dirty="0" smtClean="0"/>
              <a:t>  Иногда значение маски пишется справа после </a:t>
            </a:r>
            <a:r>
              <a:rPr lang="en-US" sz="4500" dirty="0" smtClean="0"/>
              <a:t>IP </a:t>
            </a:r>
            <a:r>
              <a:rPr lang="ru-RU" sz="4500" dirty="0" smtClean="0"/>
              <a:t>адреса через слеш и обозначает битовую длину части адреса, отвечающего за </a:t>
            </a:r>
            <a:r>
              <a:rPr lang="en-US" sz="4500" dirty="0" smtClean="0"/>
              <a:t>IP </a:t>
            </a:r>
            <a:r>
              <a:rPr lang="ru-RU" sz="4500" dirty="0" smtClean="0"/>
              <a:t>сеть </a:t>
            </a:r>
            <a:r>
              <a:rPr lang="ru-RU" sz="4500" dirty="0" smtClean="0"/>
              <a:t>, например</a:t>
            </a:r>
            <a:r>
              <a:rPr lang="ru-RU" sz="4500" dirty="0" smtClean="0"/>
              <a:t>:</a:t>
            </a:r>
          </a:p>
          <a:p>
            <a:pPr lvl="0">
              <a:buNone/>
            </a:pPr>
            <a:r>
              <a:rPr lang="ru-RU" sz="4500" dirty="0" smtClean="0"/>
              <a:t>              - 134.171.0.14/</a:t>
            </a:r>
            <a:r>
              <a:rPr lang="ru-RU" sz="4500" i="1" dirty="0" smtClean="0"/>
              <a:t>25</a:t>
            </a:r>
            <a:r>
              <a:rPr lang="ru-RU" sz="4500" dirty="0" smtClean="0"/>
              <a:t> </a:t>
            </a:r>
            <a:r>
              <a:rPr lang="ru-RU" sz="4500" dirty="0">
                <a:solidFill>
                  <a:prstClr val="black"/>
                </a:solidFill>
              </a:rPr>
              <a:t>– </a:t>
            </a:r>
            <a:r>
              <a:rPr lang="ru-RU" sz="4500" i="1" dirty="0">
                <a:solidFill>
                  <a:prstClr val="black"/>
                </a:solidFill>
              </a:rPr>
              <a:t>маска в 25 бит</a:t>
            </a:r>
            <a:r>
              <a:rPr lang="ru-RU" sz="4500" dirty="0">
                <a:solidFill>
                  <a:prstClr val="black"/>
                </a:solidFill>
              </a:rPr>
              <a:t>.</a:t>
            </a:r>
          </a:p>
          <a:p>
            <a:pPr>
              <a:buNone/>
            </a:pPr>
            <a:endParaRPr lang="ru-RU" sz="4500" dirty="0" smtClean="0"/>
          </a:p>
          <a:p>
            <a:r>
              <a:rPr lang="ru-RU" sz="4500" dirty="0" smtClean="0"/>
              <a:t>   Иногда в виде </a:t>
            </a:r>
            <a:r>
              <a:rPr lang="en-US" sz="4500" dirty="0" smtClean="0"/>
              <a:t>IP </a:t>
            </a:r>
            <a:r>
              <a:rPr lang="ru-RU" sz="4500" dirty="0" smtClean="0"/>
              <a:t>адреса, например:</a:t>
            </a:r>
          </a:p>
          <a:p>
            <a:pPr>
              <a:buNone/>
            </a:pPr>
            <a:r>
              <a:rPr lang="ru-RU" sz="4500" dirty="0" smtClean="0"/>
              <a:t>              -  </a:t>
            </a:r>
            <a:r>
              <a:rPr lang="ru-RU" sz="4500" dirty="0" smtClean="0"/>
              <a:t>255.255.255.128</a:t>
            </a:r>
          </a:p>
          <a:p>
            <a:pPr>
              <a:buNone/>
            </a:pPr>
            <a:r>
              <a:rPr lang="ru-RU" sz="4500" dirty="0" smtClean="0"/>
              <a:t> </a:t>
            </a:r>
            <a:r>
              <a:rPr lang="ru-RU" sz="4500" i="1" dirty="0" smtClean="0">
                <a:solidFill>
                  <a:srgbClr val="002060"/>
                </a:solidFill>
              </a:rPr>
              <a:t>Маска </a:t>
            </a:r>
            <a:r>
              <a:rPr lang="ru-RU" sz="4500" i="1" dirty="0" smtClean="0">
                <a:solidFill>
                  <a:srgbClr val="002060"/>
                </a:solidFill>
              </a:rPr>
              <a:t>подсети – это маска переменной длины -  пользовательская маска.</a:t>
            </a:r>
          </a:p>
          <a:p>
            <a:r>
              <a:rPr lang="ru-RU" sz="4500" i="1" dirty="0" smtClean="0"/>
              <a:t>Для расчета маски подсети надо определить</a:t>
            </a:r>
            <a:r>
              <a:rPr lang="ru-RU" sz="4500" dirty="0" smtClean="0"/>
              <a:t>:</a:t>
            </a:r>
          </a:p>
          <a:p>
            <a:pPr>
              <a:buNone/>
            </a:pPr>
            <a:r>
              <a:rPr lang="ru-RU" sz="4500" dirty="0" smtClean="0"/>
              <a:t>              -  сколько бит надо позаимствовать из числа бит , отведенных под номер хоста.</a:t>
            </a:r>
          </a:p>
          <a:p>
            <a:pPr>
              <a:buNone/>
            </a:pPr>
            <a:endParaRPr lang="ru-RU" sz="3600" dirty="0" smtClean="0"/>
          </a:p>
          <a:p>
            <a:pPr>
              <a:buNone/>
            </a:pPr>
            <a:r>
              <a:rPr lang="ru-RU" sz="3600" dirty="0" smtClean="0">
                <a:solidFill>
                  <a:srgbClr val="002060"/>
                </a:solidFill>
              </a:rPr>
              <a:t>      </a:t>
            </a:r>
            <a:endParaRPr lang="ru-RU" sz="36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Пример деления сети на подсети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836712"/>
            <a:ext cx="8784976" cy="5832648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 </a:t>
            </a:r>
            <a:r>
              <a:rPr lang="ru-RU" dirty="0" smtClean="0">
                <a:solidFill>
                  <a:srgbClr val="002060"/>
                </a:solidFill>
              </a:rPr>
              <a:t>Есть сеть класса В , 181.25.0.0. </a:t>
            </a:r>
            <a:r>
              <a:rPr lang="ru-RU" dirty="0" smtClean="0"/>
              <a:t>: </a:t>
            </a:r>
          </a:p>
          <a:p>
            <a:pPr>
              <a:buNone/>
            </a:pPr>
            <a:r>
              <a:rPr lang="ru-RU" dirty="0" smtClean="0"/>
              <a:t>           -  данная сеть может иметь до 65535 хостов</a:t>
            </a:r>
          </a:p>
          <a:p>
            <a:pPr>
              <a:buNone/>
            </a:pPr>
            <a:r>
              <a:rPr lang="ru-RU" dirty="0" smtClean="0"/>
              <a:t>           -  управление широковещанием невозможно </a:t>
            </a:r>
          </a:p>
          <a:p>
            <a:pPr>
              <a:buNone/>
            </a:pPr>
            <a:r>
              <a:rPr lang="ru-RU" dirty="0" smtClean="0"/>
              <a:t>   </a:t>
            </a:r>
            <a:r>
              <a:rPr lang="ru-RU" dirty="0" smtClean="0"/>
              <a:t>   </a:t>
            </a:r>
            <a:r>
              <a:rPr lang="ru-RU" dirty="0" smtClean="0"/>
              <a:t>Если</a:t>
            </a:r>
            <a:r>
              <a:rPr lang="ru-RU" dirty="0" smtClean="0"/>
              <a:t> </a:t>
            </a:r>
            <a:r>
              <a:rPr lang="ru-RU" dirty="0" smtClean="0"/>
              <a:t>необходимо разделить сеть на подсети :</a:t>
            </a:r>
          </a:p>
          <a:p>
            <a:pPr>
              <a:buNone/>
            </a:pPr>
            <a:r>
              <a:rPr lang="ru-RU" dirty="0" smtClean="0"/>
              <a:t>     1</a:t>
            </a:r>
            <a:r>
              <a:rPr lang="ru-RU" i="1" dirty="0" smtClean="0"/>
              <a:t>). Чтобы разделить </a:t>
            </a:r>
            <a:r>
              <a:rPr lang="ru-RU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сеть на 6 подсетей </a:t>
            </a:r>
            <a:r>
              <a:rPr lang="ru-RU" i="1" dirty="0" smtClean="0"/>
              <a:t>надо позаимствовать биты из адреса хоста для адреса подсети</a:t>
            </a:r>
            <a:r>
              <a:rPr lang="ru-RU" dirty="0" smtClean="0"/>
              <a:t>.</a:t>
            </a:r>
          </a:p>
          <a:p>
            <a:pPr>
              <a:buNone/>
            </a:pPr>
            <a:r>
              <a:rPr lang="ru-RU" dirty="0" smtClean="0"/>
              <a:t>    2). Создать маску подсети , с помощью которой процедуры </a:t>
            </a:r>
            <a:r>
              <a:rPr lang="en-US" dirty="0" smtClean="0"/>
              <a:t>IP</a:t>
            </a:r>
            <a:r>
              <a:rPr lang="ru-RU" dirty="0" smtClean="0"/>
              <a:t> смогут определить адрес подсети.</a:t>
            </a:r>
          </a:p>
          <a:p>
            <a:pPr>
              <a:buNone/>
            </a:pPr>
            <a:r>
              <a:rPr lang="ru-RU" dirty="0" smtClean="0"/>
              <a:t>     3). Определить число необходимых бит для маски из номера хоста:</a:t>
            </a:r>
          </a:p>
          <a:p>
            <a:pPr>
              <a:buNone/>
            </a:pPr>
            <a:r>
              <a:rPr lang="ru-RU" dirty="0" smtClean="0"/>
              <a:t>               2 в степени 3 = 8 надо вычесть 2 ( </a:t>
            </a:r>
            <a:r>
              <a:rPr lang="ru-RU" dirty="0" smtClean="0">
                <a:solidFill>
                  <a:srgbClr val="002060"/>
                </a:solidFill>
              </a:rPr>
              <a:t>есть </a:t>
            </a:r>
            <a:r>
              <a:rPr lang="ru-RU" u="sng" dirty="0" smtClean="0">
                <a:solidFill>
                  <a:srgbClr val="002060"/>
                </a:solidFill>
              </a:rPr>
              <a:t>правило</a:t>
            </a:r>
            <a:r>
              <a:rPr lang="ru-RU" dirty="0" smtClean="0">
                <a:solidFill>
                  <a:srgbClr val="002060"/>
                </a:solidFill>
              </a:rPr>
              <a:t> -  номер сети не может состоять только из 1 или 0</a:t>
            </a:r>
            <a:r>
              <a:rPr lang="ru-RU" dirty="0" smtClean="0"/>
              <a:t> ) и получится 6.</a:t>
            </a:r>
          </a:p>
          <a:p>
            <a:pPr>
              <a:buNone/>
            </a:pPr>
            <a:r>
              <a:rPr lang="ru-RU" dirty="0" smtClean="0">
                <a:solidFill>
                  <a:srgbClr val="002060"/>
                </a:solidFill>
              </a:rPr>
              <a:t>           </a:t>
            </a:r>
            <a:r>
              <a:rPr lang="ru-RU" u="sng" dirty="0" smtClean="0">
                <a:solidFill>
                  <a:srgbClr val="002060"/>
                </a:solidFill>
              </a:rPr>
              <a:t>Значит для  номера подсети нужно позаимствовать 3 бита из части адреса – номера хоста </a:t>
            </a:r>
            <a:r>
              <a:rPr lang="ru-RU" dirty="0" smtClean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ru-RU" dirty="0" smtClean="0"/>
              <a:t> </a:t>
            </a:r>
            <a:r>
              <a:rPr lang="ru-RU" i="1" dirty="0" smtClean="0"/>
              <a:t>Для этого в маске подсети превратить три первых 0 в 1, тогда  вид  </a:t>
            </a:r>
            <a:r>
              <a:rPr lang="ru-RU" dirty="0" smtClean="0"/>
              <a:t>маски подсети: 11111111.11111111.</a:t>
            </a:r>
            <a:r>
              <a:rPr lang="ru-RU" u="sng" dirty="0" smtClean="0">
                <a:solidFill>
                  <a:srgbClr val="002060"/>
                </a:solidFill>
              </a:rPr>
              <a:t>111</a:t>
            </a:r>
            <a:r>
              <a:rPr lang="ru-RU" dirty="0" smtClean="0">
                <a:solidFill>
                  <a:srgbClr val="002060"/>
                </a:solidFill>
              </a:rPr>
              <a:t>00000</a:t>
            </a:r>
            <a:r>
              <a:rPr lang="ru-RU" dirty="0" smtClean="0"/>
              <a:t>.00000000, в десятичном формате 255.255.224.0.</a:t>
            </a:r>
          </a:p>
          <a:p>
            <a:r>
              <a:rPr lang="ru-RU" dirty="0" smtClean="0"/>
              <a:t>В данной подсети разместятся 8192 адреса (2 в степени 13) – по числу нулей (0)  в маске, реально 8190, минус 2, исходя </a:t>
            </a:r>
            <a:r>
              <a:rPr lang="ru-RU" dirty="0" smtClean="0">
                <a:solidFill>
                  <a:srgbClr val="002060"/>
                </a:solidFill>
              </a:rPr>
              <a:t>из </a:t>
            </a:r>
            <a:r>
              <a:rPr lang="ru-RU" u="sng" dirty="0" smtClean="0">
                <a:solidFill>
                  <a:srgbClr val="002060"/>
                </a:solidFill>
              </a:rPr>
              <a:t>правила.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188640"/>
            <a:ext cx="8363272" cy="504056"/>
          </a:xfrm>
        </p:spPr>
        <p:txBody>
          <a:bodyPr>
            <a:noAutofit/>
          </a:bodyPr>
          <a:lstStyle/>
          <a:p>
            <a:pPr eaLnBrk="1" hangingPunct="1"/>
            <a:r>
              <a:rPr lang="ru-RU" sz="3600" dirty="0" smtClean="0">
                <a:solidFill>
                  <a:srgbClr val="7030A0"/>
                </a:solidFill>
              </a:rPr>
              <a:t>Маска подсети на примере класса </a:t>
            </a:r>
            <a:r>
              <a:rPr lang="en-US" sz="3600" dirty="0" smtClean="0">
                <a:solidFill>
                  <a:srgbClr val="7030A0"/>
                </a:solidFill>
              </a:rPr>
              <a:t>B</a:t>
            </a:r>
            <a:endParaRPr lang="ru-RU" sz="3600" dirty="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908720"/>
            <a:ext cx="8784976" cy="594928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ru-RU" sz="2800" dirty="0" smtClean="0">
                <a:solidFill>
                  <a:srgbClr val="002060"/>
                </a:solidFill>
              </a:rPr>
              <a:t>1.   До организации подсетей</a:t>
            </a:r>
          </a:p>
          <a:p>
            <a:pPr eaLnBrk="1" hangingPunct="1">
              <a:buFont typeface="Wingdings" pitchFamily="2" charset="2"/>
              <a:buNone/>
            </a:pPr>
            <a:r>
              <a:rPr lang="ru-RU" sz="2800" dirty="0" smtClean="0"/>
              <a:t>                                                         </a:t>
            </a:r>
            <a:r>
              <a:rPr lang="ru-RU" sz="2000" dirty="0" smtClean="0"/>
              <a:t>Маска 255.255.0.0</a:t>
            </a:r>
          </a:p>
          <a:p>
            <a:pPr eaLnBrk="1" hangingPunct="1">
              <a:buFont typeface="Wingdings" pitchFamily="2" charset="2"/>
              <a:buNone/>
            </a:pPr>
            <a:endParaRPr lang="ru-RU" sz="1800" dirty="0" smtClean="0"/>
          </a:p>
          <a:p>
            <a:pPr eaLnBrk="1" hangingPunct="1">
              <a:buFont typeface="Wingdings" pitchFamily="2" charset="2"/>
              <a:buNone/>
            </a:pPr>
            <a:endParaRPr lang="ru-RU" sz="2800" dirty="0" smtClean="0"/>
          </a:p>
          <a:p>
            <a:pPr eaLnBrk="1" hangingPunct="1">
              <a:buFont typeface="Wingdings" pitchFamily="2" charset="2"/>
              <a:buNone/>
            </a:pPr>
            <a:r>
              <a:rPr lang="ru-RU" sz="2800" dirty="0" smtClean="0">
                <a:solidFill>
                  <a:srgbClr val="002060"/>
                </a:solidFill>
              </a:rPr>
              <a:t>                           </a:t>
            </a:r>
          </a:p>
          <a:p>
            <a:pPr eaLnBrk="1" hangingPunct="1">
              <a:buFont typeface="Wingdings" pitchFamily="2" charset="2"/>
              <a:buNone/>
            </a:pPr>
            <a:r>
              <a:rPr lang="ru-RU" sz="2800" dirty="0" smtClean="0">
                <a:solidFill>
                  <a:srgbClr val="002060"/>
                </a:solidFill>
              </a:rPr>
              <a:t> 2. После организации 256 (2</a:t>
            </a:r>
            <a:r>
              <a:rPr lang="ru-RU" sz="2800" baseline="30000" dirty="0" smtClean="0">
                <a:solidFill>
                  <a:srgbClr val="002060"/>
                </a:solidFill>
              </a:rPr>
              <a:t>8</a:t>
            </a:r>
            <a:r>
              <a:rPr lang="ru-RU" sz="2800" dirty="0" smtClean="0">
                <a:solidFill>
                  <a:srgbClr val="002060"/>
                </a:solidFill>
              </a:rPr>
              <a:t>) подсетей</a:t>
            </a:r>
          </a:p>
          <a:p>
            <a:pPr eaLnBrk="1" hangingPunct="1">
              <a:buFont typeface="Wingdings" pitchFamily="2" charset="2"/>
              <a:buNone/>
            </a:pPr>
            <a:r>
              <a:rPr lang="ru-RU" sz="1800" dirty="0" smtClean="0"/>
              <a:t>                                                                                                                                                				</a:t>
            </a:r>
            <a:r>
              <a:rPr lang="ru-RU" sz="2000" dirty="0" smtClean="0"/>
              <a:t>                                        Маска 255.255.255.0</a:t>
            </a:r>
          </a:p>
          <a:p>
            <a:pPr eaLnBrk="1" hangingPunct="1">
              <a:buFont typeface="Wingdings" pitchFamily="2" charset="2"/>
              <a:buNone/>
            </a:pPr>
            <a:endParaRPr lang="ru-RU" sz="1800" dirty="0" smtClean="0"/>
          </a:p>
          <a:p>
            <a:pPr eaLnBrk="1" hangingPunct="1">
              <a:buFont typeface="Wingdings" pitchFamily="2" charset="2"/>
              <a:buNone/>
            </a:pPr>
            <a:endParaRPr lang="ru-RU" sz="1800" dirty="0" smtClean="0"/>
          </a:p>
          <a:p>
            <a:pPr eaLnBrk="1" hangingPunct="1">
              <a:buFont typeface="Wingdings" pitchFamily="2" charset="2"/>
              <a:buNone/>
            </a:pPr>
            <a:endParaRPr lang="ru-RU" sz="1800" dirty="0" smtClean="0"/>
          </a:p>
          <a:p>
            <a:pPr eaLnBrk="1" hangingPunct="1">
              <a:buFont typeface="Wingdings" pitchFamily="2" charset="2"/>
              <a:buNone/>
            </a:pPr>
            <a:r>
              <a:rPr lang="ru-RU" sz="2800" dirty="0" smtClean="0">
                <a:solidFill>
                  <a:srgbClr val="002060"/>
                </a:solidFill>
              </a:rPr>
              <a:t>Узел читает адрес при помощи маски:</a:t>
            </a:r>
          </a:p>
          <a:p>
            <a:pPr eaLnBrk="1" hangingPunct="1">
              <a:buFont typeface="Wingdings" pitchFamily="2" charset="2"/>
              <a:buNone/>
            </a:pPr>
            <a:r>
              <a:rPr lang="ru-RU" sz="2800" dirty="0" smtClean="0"/>
              <a:t>    -  </a:t>
            </a:r>
            <a:r>
              <a:rPr lang="ru-RU" sz="2800" i="1" dirty="0" smtClean="0"/>
              <a:t>биты адреса</a:t>
            </a:r>
            <a:r>
              <a:rPr lang="ru-RU" sz="2800" dirty="0" smtClean="0"/>
              <a:t>, определяющие </a:t>
            </a:r>
            <a:r>
              <a:rPr lang="ru-RU" sz="2800" i="1" dirty="0" smtClean="0"/>
              <a:t>номер </a:t>
            </a:r>
            <a:r>
              <a:rPr lang="en-US" sz="2800" i="1" dirty="0" smtClean="0"/>
              <a:t>IP-</a:t>
            </a:r>
            <a:r>
              <a:rPr lang="ru-RU" sz="2800" i="1" dirty="0" smtClean="0"/>
              <a:t>подсети в маске равны 1,</a:t>
            </a:r>
          </a:p>
          <a:p>
            <a:pPr eaLnBrk="1" hangingPunct="1">
              <a:buFont typeface="Wingdings" pitchFamily="2" charset="2"/>
              <a:buNone/>
            </a:pPr>
            <a:r>
              <a:rPr lang="ru-RU" sz="2800" dirty="0" smtClean="0"/>
              <a:t>     -  </a:t>
            </a:r>
            <a:r>
              <a:rPr lang="ru-RU" sz="2800" i="1" dirty="0" smtClean="0"/>
              <a:t>а биты адреса</a:t>
            </a:r>
            <a:r>
              <a:rPr lang="ru-RU" sz="2800" dirty="0" smtClean="0"/>
              <a:t>, определяющие </a:t>
            </a:r>
            <a:r>
              <a:rPr lang="ru-RU" sz="2800" i="1" dirty="0" smtClean="0"/>
              <a:t>номер узла равны 0.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39552" y="2060848"/>
            <a:ext cx="7416824" cy="576064"/>
            <a:chOff x="1881" y="2214"/>
            <a:chExt cx="7920" cy="1620"/>
          </a:xfrm>
        </p:grpSpPr>
        <p:sp>
          <p:nvSpPr>
            <p:cNvPr id="16400" name="Rectangle 5"/>
            <p:cNvSpPr>
              <a:spLocks noChangeArrowheads="1"/>
            </p:cNvSpPr>
            <p:nvPr/>
          </p:nvSpPr>
          <p:spPr bwMode="auto">
            <a:xfrm>
              <a:off x="3861" y="2214"/>
              <a:ext cx="198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401" name="Rectangle 6"/>
            <p:cNvSpPr>
              <a:spLocks noChangeArrowheads="1"/>
            </p:cNvSpPr>
            <p:nvPr/>
          </p:nvSpPr>
          <p:spPr bwMode="auto">
            <a:xfrm>
              <a:off x="5841" y="2214"/>
              <a:ext cx="1977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402" name="Rectangle 7"/>
            <p:cNvSpPr>
              <a:spLocks noChangeArrowheads="1"/>
            </p:cNvSpPr>
            <p:nvPr/>
          </p:nvSpPr>
          <p:spPr bwMode="auto">
            <a:xfrm>
              <a:off x="7801" y="2214"/>
              <a:ext cx="198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403" name="Rectangle 8"/>
            <p:cNvSpPr>
              <a:spLocks noChangeArrowheads="1"/>
            </p:cNvSpPr>
            <p:nvPr/>
          </p:nvSpPr>
          <p:spPr bwMode="auto">
            <a:xfrm>
              <a:off x="1881" y="2214"/>
              <a:ext cx="198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1200"/>
                <a:t>10</a:t>
              </a:r>
              <a:endParaRPr lang="ru-RU"/>
            </a:p>
          </p:txBody>
        </p:sp>
        <p:sp>
          <p:nvSpPr>
            <p:cNvPr id="16404" name="Freeform 9"/>
            <p:cNvSpPr>
              <a:spLocks/>
            </p:cNvSpPr>
            <p:nvPr/>
          </p:nvSpPr>
          <p:spPr bwMode="auto">
            <a:xfrm>
              <a:off x="5841" y="2754"/>
              <a:ext cx="3960" cy="360"/>
            </a:xfrm>
            <a:custGeom>
              <a:avLst/>
              <a:gdLst>
                <a:gd name="T0" fmla="*/ 0 w 3960"/>
                <a:gd name="T1" fmla="*/ 0 h 360"/>
                <a:gd name="T2" fmla="*/ 1980 w 3960"/>
                <a:gd name="T3" fmla="*/ 360 h 360"/>
                <a:gd name="T4" fmla="*/ 3960 w 3960"/>
                <a:gd name="T5" fmla="*/ 0 h 360"/>
                <a:gd name="T6" fmla="*/ 0 60000 65536"/>
                <a:gd name="T7" fmla="*/ 0 60000 65536"/>
                <a:gd name="T8" fmla="*/ 0 60000 65536"/>
                <a:gd name="T9" fmla="*/ 0 w 3960"/>
                <a:gd name="T10" fmla="*/ 0 h 360"/>
                <a:gd name="T11" fmla="*/ 3960 w 3960"/>
                <a:gd name="T12" fmla="*/ 360 h 3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60" h="360">
                  <a:moveTo>
                    <a:pt x="0" y="0"/>
                  </a:moveTo>
                  <a:cubicBezTo>
                    <a:pt x="660" y="180"/>
                    <a:pt x="1320" y="360"/>
                    <a:pt x="1980" y="360"/>
                  </a:cubicBezTo>
                  <a:cubicBezTo>
                    <a:pt x="2640" y="360"/>
                    <a:pt x="3300" y="180"/>
                    <a:pt x="396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405" name="Text Box 10"/>
            <p:cNvSpPr txBox="1">
              <a:spLocks noChangeArrowheads="1"/>
            </p:cNvSpPr>
            <p:nvPr/>
          </p:nvSpPr>
          <p:spPr bwMode="auto">
            <a:xfrm>
              <a:off x="3501" y="3294"/>
              <a:ext cx="162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2000" dirty="0"/>
                <a:t>Сеть</a:t>
              </a:r>
            </a:p>
          </p:txBody>
        </p:sp>
        <p:sp>
          <p:nvSpPr>
            <p:cNvPr id="16406" name="Text Box 11"/>
            <p:cNvSpPr txBox="1">
              <a:spLocks noChangeArrowheads="1"/>
            </p:cNvSpPr>
            <p:nvPr/>
          </p:nvSpPr>
          <p:spPr bwMode="auto">
            <a:xfrm>
              <a:off x="7101" y="3294"/>
              <a:ext cx="1620" cy="5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2000" dirty="0"/>
                <a:t>Узел</a:t>
              </a:r>
            </a:p>
          </p:txBody>
        </p:sp>
        <p:sp>
          <p:nvSpPr>
            <p:cNvPr id="16407" name="Freeform 12"/>
            <p:cNvSpPr>
              <a:spLocks/>
            </p:cNvSpPr>
            <p:nvPr/>
          </p:nvSpPr>
          <p:spPr bwMode="auto">
            <a:xfrm>
              <a:off x="2241" y="2754"/>
              <a:ext cx="3600" cy="360"/>
            </a:xfrm>
            <a:custGeom>
              <a:avLst/>
              <a:gdLst>
                <a:gd name="T0" fmla="*/ 0 w 3960"/>
                <a:gd name="T1" fmla="*/ 0 h 360"/>
                <a:gd name="T2" fmla="*/ 1352 w 3960"/>
                <a:gd name="T3" fmla="*/ 360 h 360"/>
                <a:gd name="T4" fmla="*/ 2705 w 3960"/>
                <a:gd name="T5" fmla="*/ 0 h 360"/>
                <a:gd name="T6" fmla="*/ 0 60000 65536"/>
                <a:gd name="T7" fmla="*/ 0 60000 65536"/>
                <a:gd name="T8" fmla="*/ 0 60000 65536"/>
                <a:gd name="T9" fmla="*/ 0 w 3960"/>
                <a:gd name="T10" fmla="*/ 0 h 360"/>
                <a:gd name="T11" fmla="*/ 3960 w 3960"/>
                <a:gd name="T12" fmla="*/ 360 h 3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60" h="360">
                  <a:moveTo>
                    <a:pt x="0" y="0"/>
                  </a:moveTo>
                  <a:cubicBezTo>
                    <a:pt x="660" y="180"/>
                    <a:pt x="1320" y="360"/>
                    <a:pt x="1980" y="360"/>
                  </a:cubicBezTo>
                  <a:cubicBezTo>
                    <a:pt x="2640" y="360"/>
                    <a:pt x="3300" y="180"/>
                    <a:pt x="396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611560" y="4005063"/>
            <a:ext cx="7560840" cy="719991"/>
            <a:chOff x="2061" y="4734"/>
            <a:chExt cx="8100" cy="2314"/>
          </a:xfrm>
        </p:grpSpPr>
        <p:sp>
          <p:nvSpPr>
            <p:cNvPr id="16390" name="Rectangle 14"/>
            <p:cNvSpPr>
              <a:spLocks noChangeArrowheads="1"/>
            </p:cNvSpPr>
            <p:nvPr/>
          </p:nvSpPr>
          <p:spPr bwMode="auto">
            <a:xfrm>
              <a:off x="4041" y="4734"/>
              <a:ext cx="198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391" name="Rectangle 15"/>
            <p:cNvSpPr>
              <a:spLocks noChangeArrowheads="1"/>
            </p:cNvSpPr>
            <p:nvPr/>
          </p:nvSpPr>
          <p:spPr bwMode="auto">
            <a:xfrm>
              <a:off x="6021" y="4734"/>
              <a:ext cx="1977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392" name="Rectangle 16"/>
            <p:cNvSpPr>
              <a:spLocks noChangeArrowheads="1"/>
            </p:cNvSpPr>
            <p:nvPr/>
          </p:nvSpPr>
          <p:spPr bwMode="auto">
            <a:xfrm>
              <a:off x="7981" y="4734"/>
              <a:ext cx="198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393" name="Rectangle 17"/>
            <p:cNvSpPr>
              <a:spLocks noChangeArrowheads="1"/>
            </p:cNvSpPr>
            <p:nvPr/>
          </p:nvSpPr>
          <p:spPr bwMode="auto">
            <a:xfrm>
              <a:off x="2061" y="4734"/>
              <a:ext cx="1980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1200"/>
                <a:t>10</a:t>
              </a:r>
              <a:endParaRPr lang="ru-RU"/>
            </a:p>
          </p:txBody>
        </p:sp>
        <p:sp>
          <p:nvSpPr>
            <p:cNvPr id="16394" name="Freeform 18"/>
            <p:cNvSpPr>
              <a:spLocks/>
            </p:cNvSpPr>
            <p:nvPr/>
          </p:nvSpPr>
          <p:spPr bwMode="auto">
            <a:xfrm>
              <a:off x="8001" y="5274"/>
              <a:ext cx="1980" cy="360"/>
            </a:xfrm>
            <a:custGeom>
              <a:avLst/>
              <a:gdLst>
                <a:gd name="T0" fmla="*/ 0 w 3960"/>
                <a:gd name="T1" fmla="*/ 0 h 360"/>
                <a:gd name="T2" fmla="*/ 124 w 3960"/>
                <a:gd name="T3" fmla="*/ 360 h 360"/>
                <a:gd name="T4" fmla="*/ 248 w 3960"/>
                <a:gd name="T5" fmla="*/ 0 h 360"/>
                <a:gd name="T6" fmla="*/ 0 60000 65536"/>
                <a:gd name="T7" fmla="*/ 0 60000 65536"/>
                <a:gd name="T8" fmla="*/ 0 60000 65536"/>
                <a:gd name="T9" fmla="*/ 0 w 3960"/>
                <a:gd name="T10" fmla="*/ 0 h 360"/>
                <a:gd name="T11" fmla="*/ 3960 w 3960"/>
                <a:gd name="T12" fmla="*/ 360 h 3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60" h="360">
                  <a:moveTo>
                    <a:pt x="0" y="0"/>
                  </a:moveTo>
                  <a:cubicBezTo>
                    <a:pt x="660" y="180"/>
                    <a:pt x="1320" y="360"/>
                    <a:pt x="1980" y="360"/>
                  </a:cubicBezTo>
                  <a:cubicBezTo>
                    <a:pt x="2640" y="360"/>
                    <a:pt x="3300" y="180"/>
                    <a:pt x="396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395" name="Text Box 19"/>
            <p:cNvSpPr txBox="1">
              <a:spLocks noChangeArrowheads="1"/>
            </p:cNvSpPr>
            <p:nvPr/>
          </p:nvSpPr>
          <p:spPr bwMode="auto">
            <a:xfrm>
              <a:off x="3372" y="5891"/>
              <a:ext cx="1620" cy="1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2000" dirty="0"/>
                <a:t>Сеть</a:t>
              </a:r>
            </a:p>
          </p:txBody>
        </p:sp>
        <p:sp>
          <p:nvSpPr>
            <p:cNvPr id="16396" name="Text Box 20"/>
            <p:cNvSpPr txBox="1">
              <a:spLocks noChangeArrowheads="1"/>
            </p:cNvSpPr>
            <p:nvPr/>
          </p:nvSpPr>
          <p:spPr bwMode="auto">
            <a:xfrm>
              <a:off x="8541" y="5814"/>
              <a:ext cx="1620" cy="10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2000" dirty="0"/>
                <a:t>Узел</a:t>
              </a:r>
            </a:p>
          </p:txBody>
        </p:sp>
        <p:sp>
          <p:nvSpPr>
            <p:cNvPr id="16397" name="Freeform 21"/>
            <p:cNvSpPr>
              <a:spLocks/>
            </p:cNvSpPr>
            <p:nvPr/>
          </p:nvSpPr>
          <p:spPr bwMode="auto">
            <a:xfrm>
              <a:off x="6021" y="5274"/>
              <a:ext cx="1980" cy="360"/>
            </a:xfrm>
            <a:custGeom>
              <a:avLst/>
              <a:gdLst>
                <a:gd name="T0" fmla="*/ 0 w 3960"/>
                <a:gd name="T1" fmla="*/ 0 h 360"/>
                <a:gd name="T2" fmla="*/ 124 w 3960"/>
                <a:gd name="T3" fmla="*/ 360 h 360"/>
                <a:gd name="T4" fmla="*/ 248 w 3960"/>
                <a:gd name="T5" fmla="*/ 0 h 360"/>
                <a:gd name="T6" fmla="*/ 0 60000 65536"/>
                <a:gd name="T7" fmla="*/ 0 60000 65536"/>
                <a:gd name="T8" fmla="*/ 0 60000 65536"/>
                <a:gd name="T9" fmla="*/ 0 w 3960"/>
                <a:gd name="T10" fmla="*/ 0 h 360"/>
                <a:gd name="T11" fmla="*/ 3960 w 3960"/>
                <a:gd name="T12" fmla="*/ 360 h 3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60" h="360">
                  <a:moveTo>
                    <a:pt x="0" y="0"/>
                  </a:moveTo>
                  <a:cubicBezTo>
                    <a:pt x="660" y="180"/>
                    <a:pt x="1320" y="360"/>
                    <a:pt x="1980" y="360"/>
                  </a:cubicBezTo>
                  <a:cubicBezTo>
                    <a:pt x="2640" y="360"/>
                    <a:pt x="3300" y="180"/>
                    <a:pt x="396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6398" name="Text Box 22"/>
            <p:cNvSpPr txBox="1">
              <a:spLocks noChangeArrowheads="1"/>
            </p:cNvSpPr>
            <p:nvPr/>
          </p:nvSpPr>
          <p:spPr bwMode="auto">
            <a:xfrm>
              <a:off x="6561" y="5814"/>
              <a:ext cx="1620" cy="10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r>
                <a:rPr lang="ru-RU" sz="2000" dirty="0"/>
                <a:t>Подсеть</a:t>
              </a:r>
            </a:p>
          </p:txBody>
        </p:sp>
        <p:sp>
          <p:nvSpPr>
            <p:cNvPr id="16399" name="Freeform 23"/>
            <p:cNvSpPr>
              <a:spLocks/>
            </p:cNvSpPr>
            <p:nvPr/>
          </p:nvSpPr>
          <p:spPr bwMode="auto">
            <a:xfrm>
              <a:off x="2421" y="5274"/>
              <a:ext cx="3600" cy="360"/>
            </a:xfrm>
            <a:custGeom>
              <a:avLst/>
              <a:gdLst>
                <a:gd name="T0" fmla="*/ 0 w 3960"/>
                <a:gd name="T1" fmla="*/ 0 h 360"/>
                <a:gd name="T2" fmla="*/ 1352 w 3960"/>
                <a:gd name="T3" fmla="*/ 360 h 360"/>
                <a:gd name="T4" fmla="*/ 2705 w 3960"/>
                <a:gd name="T5" fmla="*/ 0 h 360"/>
                <a:gd name="T6" fmla="*/ 0 60000 65536"/>
                <a:gd name="T7" fmla="*/ 0 60000 65536"/>
                <a:gd name="T8" fmla="*/ 0 60000 65536"/>
                <a:gd name="T9" fmla="*/ 0 w 3960"/>
                <a:gd name="T10" fmla="*/ 0 h 360"/>
                <a:gd name="T11" fmla="*/ 3960 w 3960"/>
                <a:gd name="T12" fmla="*/ 360 h 3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60" h="360">
                  <a:moveTo>
                    <a:pt x="0" y="0"/>
                  </a:moveTo>
                  <a:cubicBezTo>
                    <a:pt x="660" y="180"/>
                    <a:pt x="1320" y="360"/>
                    <a:pt x="1980" y="360"/>
                  </a:cubicBezTo>
                  <a:cubicBezTo>
                    <a:pt x="2640" y="360"/>
                    <a:pt x="3300" y="180"/>
                    <a:pt x="396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ru-RU" sz="3300" smtClean="0"/>
              <a:t>Формат </a:t>
            </a:r>
            <a:r>
              <a:rPr lang="en-US" sz="3300" smtClean="0"/>
              <a:t>IP</a:t>
            </a:r>
            <a:r>
              <a:rPr lang="ru-RU" sz="3300" smtClean="0"/>
              <a:t> – адреса. </a:t>
            </a:r>
            <a:br>
              <a:rPr lang="ru-RU" sz="3300" smtClean="0"/>
            </a:br>
            <a:r>
              <a:rPr lang="ru-RU" sz="3500" smtClean="0">
                <a:solidFill>
                  <a:schemeClr val="folHlink"/>
                </a:solidFill>
              </a:rPr>
              <a:t>Использование масок при </a:t>
            </a:r>
            <a:br>
              <a:rPr lang="ru-RU" sz="3500" smtClean="0">
                <a:solidFill>
                  <a:schemeClr val="folHlink"/>
                </a:solidFill>
              </a:rPr>
            </a:br>
            <a:r>
              <a:rPr lang="en-US" sz="3500" smtClean="0">
                <a:solidFill>
                  <a:schemeClr val="folHlink"/>
                </a:solidFill>
              </a:rPr>
              <a:t>IP</a:t>
            </a:r>
            <a:r>
              <a:rPr lang="ru-RU" sz="3500" smtClean="0">
                <a:solidFill>
                  <a:schemeClr val="folHlink"/>
                </a:solidFill>
              </a:rPr>
              <a:t> -адресации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752600"/>
            <a:ext cx="8135937" cy="4267200"/>
          </a:xfrm>
        </p:spPr>
        <p:txBody>
          <a:bodyPr/>
          <a:lstStyle/>
          <a:p>
            <a:pPr marL="495300" indent="-495300" algn="ctr" eaLnBrk="1" hangingPunct="1">
              <a:buFont typeface="Wingdings" pitchFamily="2" charset="2"/>
              <a:buNone/>
            </a:pPr>
            <a:r>
              <a:rPr lang="ru-RU" sz="2600" smtClean="0"/>
              <a:t>Возьмем пример </a:t>
            </a:r>
            <a:r>
              <a:rPr lang="en-US" sz="2600" smtClean="0"/>
              <a:t>IP</a:t>
            </a:r>
            <a:r>
              <a:rPr lang="ru-RU" sz="2600" smtClean="0"/>
              <a:t>-адрес класса В </a:t>
            </a:r>
            <a:r>
              <a:rPr lang="ru-RU" sz="2600" b="1" smtClean="0">
                <a:solidFill>
                  <a:srgbClr val="800000"/>
                </a:solidFill>
              </a:rPr>
              <a:t>129.64.134.5</a:t>
            </a:r>
          </a:p>
          <a:p>
            <a:pPr marL="495300" indent="-495300" algn="ctr" eaLnBrk="1" hangingPunct="1">
              <a:buFont typeface="Wingdings" pitchFamily="2" charset="2"/>
              <a:buAutoNum type="arabicPeriod"/>
            </a:pPr>
            <a:r>
              <a:rPr lang="ru-RU" sz="2600" smtClean="0"/>
              <a:t>	Если интерпретировать этот адрес на основе классов, то он имеет вид: </a:t>
            </a:r>
          </a:p>
        </p:txBody>
      </p:sp>
      <p:graphicFrame>
        <p:nvGraphicFramePr>
          <p:cNvPr id="35873" name="Group 33"/>
          <p:cNvGraphicFramePr>
            <a:graphicFrameLocks noGrp="1"/>
          </p:cNvGraphicFramePr>
          <p:nvPr>
            <p:ph sz="quarter" idx="3"/>
          </p:nvPr>
        </p:nvGraphicFramePr>
        <p:xfrm>
          <a:off x="1763713" y="3716338"/>
          <a:ext cx="5832475" cy="1820863"/>
        </p:xfrm>
        <a:graphic>
          <a:graphicData uri="http://schemas.openxmlformats.org/drawingml/2006/table">
            <a:tbl>
              <a:tblPr/>
              <a:tblGrid>
                <a:gridCol w="2916237"/>
                <a:gridCol w="2916238"/>
              </a:tblGrid>
              <a:tr h="792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Номер сети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B0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Номер узла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B07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129.64.0.0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0.0.134.5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04813"/>
            <a:ext cx="8001000" cy="1216025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sz="3300" smtClean="0"/>
              <a:t>Формат </a:t>
            </a:r>
            <a:r>
              <a:rPr lang="en-US" sz="3300" smtClean="0"/>
              <a:t>IP</a:t>
            </a:r>
            <a:r>
              <a:rPr lang="ru-RU" sz="3300" smtClean="0"/>
              <a:t> – адреса. </a:t>
            </a:r>
            <a:br>
              <a:rPr lang="ru-RU" sz="3300" smtClean="0"/>
            </a:br>
            <a:r>
              <a:rPr lang="ru-RU" sz="3500" smtClean="0">
                <a:solidFill>
                  <a:schemeClr val="tx1"/>
                </a:solidFill>
              </a:rPr>
              <a:t>Использование масок при </a:t>
            </a:r>
            <a:br>
              <a:rPr lang="ru-RU" sz="3500" smtClean="0">
                <a:solidFill>
                  <a:schemeClr val="tx1"/>
                </a:solidFill>
              </a:rPr>
            </a:br>
            <a:r>
              <a:rPr lang="en-US" sz="3500" smtClean="0">
                <a:solidFill>
                  <a:schemeClr val="tx1"/>
                </a:solidFill>
              </a:rPr>
              <a:t>IP</a:t>
            </a:r>
            <a:r>
              <a:rPr lang="ru-RU" sz="3500" smtClean="0">
                <a:solidFill>
                  <a:schemeClr val="tx1"/>
                </a:solidFill>
              </a:rPr>
              <a:t> -адресации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8181975" cy="739775"/>
          </a:xfrm>
        </p:spPr>
        <p:txBody>
          <a:bodyPr/>
          <a:lstStyle/>
          <a:p>
            <a:pPr marL="571500" indent="-571500" eaLnBrk="1" hangingPunct="1">
              <a:lnSpc>
                <a:spcPct val="80000"/>
              </a:lnSpc>
              <a:buFont typeface="Wingdings" pitchFamily="2" charset="2"/>
              <a:buAutoNum type="arabicPeriod" startAt="2"/>
            </a:pPr>
            <a:r>
              <a:rPr lang="ru-RU" sz="2200" smtClean="0"/>
              <a:t>Если использовать маску, то </a:t>
            </a:r>
          </a:p>
          <a:p>
            <a:pPr marL="571500" indent="-571500" algn="ctr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ru-RU" sz="2200" smtClean="0">
                <a:solidFill>
                  <a:srgbClr val="800000"/>
                </a:solidFill>
              </a:rPr>
              <a:t>ПРИМЕР:</a:t>
            </a:r>
            <a:r>
              <a:rPr lang="ru-RU" sz="2200" smtClean="0"/>
              <a:t> для </a:t>
            </a:r>
            <a:r>
              <a:rPr lang="en-US" sz="2200" smtClean="0"/>
              <a:t>IP</a:t>
            </a:r>
            <a:r>
              <a:rPr lang="ru-RU" sz="2200" smtClean="0"/>
              <a:t>-адреса укажем произвольно маску</a:t>
            </a:r>
          </a:p>
        </p:txBody>
      </p:sp>
      <p:graphicFrame>
        <p:nvGraphicFramePr>
          <p:cNvPr id="15438" name="Group 78"/>
          <p:cNvGraphicFramePr>
            <a:graphicFrameLocks noGrp="1"/>
          </p:cNvGraphicFramePr>
          <p:nvPr>
            <p:ph sz="quarter" idx="2"/>
          </p:nvPr>
        </p:nvGraphicFramePr>
        <p:xfrm>
          <a:off x="0" y="2565400"/>
          <a:ext cx="9144000" cy="2120265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</a:tblGrid>
              <a:tr h="473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IP</a:t>
                      </a:r>
                      <a:r>
                        <a:rPr kumimoji="0" lang="ru-RU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-адрес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B0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Маска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B07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129.64.134.5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255.255.128.0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в двоичном виде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F7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657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10000001.01000000.10000110.00000101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11111111.11111111.10000000.00000000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597" name="Line 62"/>
          <p:cNvSpPr>
            <a:spLocks noChangeShapeType="1"/>
          </p:cNvSpPr>
          <p:nvPr/>
        </p:nvSpPr>
        <p:spPr bwMode="auto">
          <a:xfrm>
            <a:off x="1908175" y="3500438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sp>
        <p:nvSpPr>
          <p:cNvPr id="24598" name="Line 63"/>
          <p:cNvSpPr>
            <a:spLocks noChangeShapeType="1"/>
          </p:cNvSpPr>
          <p:nvPr/>
        </p:nvSpPr>
        <p:spPr bwMode="auto">
          <a:xfrm>
            <a:off x="7164388" y="3500438"/>
            <a:ext cx="0" cy="649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ru-RU"/>
          </a:p>
        </p:txBody>
      </p:sp>
      <p:graphicFrame>
        <p:nvGraphicFramePr>
          <p:cNvPr id="15448" name="Group 88"/>
          <p:cNvGraphicFramePr>
            <a:graphicFrameLocks noGrp="1"/>
          </p:cNvGraphicFramePr>
          <p:nvPr>
            <p:ph sz="quarter" idx="3"/>
          </p:nvPr>
        </p:nvGraphicFramePr>
        <p:xfrm>
          <a:off x="395288" y="5229225"/>
          <a:ext cx="8280400" cy="1463040"/>
        </p:xfrm>
        <a:graphic>
          <a:graphicData uri="http://schemas.openxmlformats.org/drawingml/2006/table">
            <a:tbl>
              <a:tblPr/>
              <a:tblGrid>
                <a:gridCol w="4140200"/>
                <a:gridCol w="4140200"/>
              </a:tblGrid>
              <a:tr h="344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Номер сети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B0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Номер узла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B07"/>
                    </a:solidFill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10000001.01000000.1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0000110.00000101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129.64.128.0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0.0.6.5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613" name="AutoShape 81"/>
          <p:cNvSpPr>
            <a:spLocks/>
          </p:cNvSpPr>
          <p:nvPr/>
        </p:nvSpPr>
        <p:spPr bwMode="auto">
          <a:xfrm rot="-5400000">
            <a:off x="1026319" y="3339306"/>
            <a:ext cx="358775" cy="2411413"/>
          </a:xfrm>
          <a:prstGeom prst="leftBrace">
            <a:avLst>
              <a:gd name="adj1" fmla="val 5601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pPr algn="ctr"/>
            <a:endParaRPr lang="ru-RU" b="1"/>
          </a:p>
        </p:txBody>
      </p:sp>
      <p:sp>
        <p:nvSpPr>
          <p:cNvPr id="24614" name="AutoShape 82"/>
          <p:cNvSpPr>
            <a:spLocks/>
          </p:cNvSpPr>
          <p:nvPr/>
        </p:nvSpPr>
        <p:spPr bwMode="auto">
          <a:xfrm rot="-5400000">
            <a:off x="3204369" y="3572669"/>
            <a:ext cx="358775" cy="1944687"/>
          </a:xfrm>
          <a:prstGeom prst="leftBrace">
            <a:avLst>
              <a:gd name="adj1" fmla="val 4517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vert="eaVert" wrap="none" anchor="ctr"/>
          <a:lstStyle/>
          <a:p>
            <a:pPr algn="ctr"/>
            <a:endParaRPr lang="ru-RU" b="1"/>
          </a:p>
        </p:txBody>
      </p:sp>
      <p:sp>
        <p:nvSpPr>
          <p:cNvPr id="24615" name="AutoShape 83"/>
          <p:cNvSpPr>
            <a:spLocks noChangeArrowheads="1"/>
          </p:cNvSpPr>
          <p:nvPr/>
        </p:nvSpPr>
        <p:spPr bwMode="auto">
          <a:xfrm>
            <a:off x="2195513" y="4652963"/>
            <a:ext cx="863600" cy="576262"/>
          </a:xfrm>
          <a:prstGeom prst="downArrowCallout">
            <a:avLst>
              <a:gd name="adj1" fmla="val 37466"/>
              <a:gd name="adj2" fmla="val 37466"/>
              <a:gd name="adj3" fmla="val 16667"/>
              <a:gd name="adj4" fmla="val 66667"/>
            </a:avLst>
          </a:prstGeom>
          <a:solidFill>
            <a:srgbClr val="FDEB0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333375"/>
            <a:ext cx="8964488" cy="1079401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sz="3300" dirty="0" smtClean="0"/>
              <a:t>Формат </a:t>
            </a:r>
            <a:r>
              <a:rPr lang="en-US" sz="3300" dirty="0" smtClean="0"/>
              <a:t>IP</a:t>
            </a:r>
            <a:r>
              <a:rPr lang="ru-RU" sz="3300" dirty="0" smtClean="0"/>
              <a:t> – адреса. </a:t>
            </a:r>
            <a:br>
              <a:rPr lang="ru-RU" sz="3300" dirty="0" smtClean="0"/>
            </a:br>
            <a:r>
              <a:rPr lang="ru-RU" sz="3500" dirty="0" smtClean="0">
                <a:solidFill>
                  <a:schemeClr val="tx1"/>
                </a:solidFill>
              </a:rPr>
              <a:t>Использование масок при </a:t>
            </a:r>
            <a:r>
              <a:rPr lang="en-US" sz="3500" dirty="0" smtClean="0">
                <a:solidFill>
                  <a:schemeClr val="tx1"/>
                </a:solidFill>
              </a:rPr>
              <a:t>IP</a:t>
            </a:r>
            <a:r>
              <a:rPr lang="ru-RU" sz="3500" dirty="0" smtClean="0">
                <a:solidFill>
                  <a:schemeClr val="tx1"/>
                </a:solidFill>
              </a:rPr>
              <a:t> -адресации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557338"/>
            <a:ext cx="8397750" cy="1943670"/>
          </a:xfrm>
        </p:spPr>
        <p:txBody>
          <a:bodyPr>
            <a:normAutofit/>
          </a:bodyPr>
          <a:lstStyle/>
          <a:p>
            <a:pPr eaLnBrk="1" hangingPunct="1"/>
            <a:r>
              <a:rPr lang="ru-RU" sz="2000" dirty="0" smtClean="0"/>
              <a:t>Для стандартных классов сетей по умолчанию маски имеют следующие значения:</a:t>
            </a:r>
          </a:p>
          <a:p>
            <a:pPr lvl="1" eaLnBrk="1" hangingPunct="1"/>
            <a:r>
              <a:rPr lang="ru-RU" sz="2000" dirty="0" smtClean="0"/>
              <a:t>класс А - 11111111. 00000000. 00000000. 00000000 (255.0.0.0);</a:t>
            </a:r>
          </a:p>
          <a:p>
            <a:pPr lvl="1" eaLnBrk="1" hangingPunct="1"/>
            <a:r>
              <a:rPr lang="ru-RU" sz="2000" dirty="0" smtClean="0"/>
              <a:t>класс В - 11111111. 11111111. 00000000. 00000000 (255.255.0.0);</a:t>
            </a:r>
          </a:p>
          <a:p>
            <a:pPr lvl="1" eaLnBrk="1" hangingPunct="1"/>
            <a:r>
              <a:rPr lang="ru-RU" sz="2000" dirty="0" smtClean="0"/>
              <a:t>класс С - 11111111. 11111111. 11111111. 00000000 (255.255.255.0).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23528" y="3429000"/>
            <a:ext cx="8820471" cy="3305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ru-RU" sz="2400" b="1" dirty="0"/>
              <a:t>ВЫВОД:</a:t>
            </a:r>
            <a:r>
              <a:rPr lang="ru-RU" sz="2400" dirty="0"/>
              <a:t> </a:t>
            </a:r>
            <a:endParaRPr lang="ru-RU" sz="2400" dirty="0" smtClean="0"/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ru-RU" sz="2400" dirty="0" smtClean="0"/>
              <a:t>Механизм </a:t>
            </a:r>
            <a:r>
              <a:rPr lang="ru-RU" sz="2400" dirty="0"/>
              <a:t>масок широко распространен в </a:t>
            </a:r>
            <a:r>
              <a:rPr lang="en-US" sz="2400" dirty="0"/>
              <a:t>IP</a:t>
            </a:r>
            <a:r>
              <a:rPr lang="ru-RU" sz="2400" dirty="0"/>
              <a:t>-маршрутизации. </a:t>
            </a:r>
            <a:endParaRPr lang="ru-RU" sz="2400" dirty="0" smtClean="0"/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ru-RU" sz="2400" dirty="0" smtClean="0"/>
              <a:t>     С </a:t>
            </a:r>
            <a:r>
              <a:rPr lang="ru-RU" sz="2400" dirty="0"/>
              <a:t>их помощью администратор может разбивать одну сеть определенного класса, на несколько других, не требуя дополнительных номеров сетей — эта операция называется </a:t>
            </a:r>
            <a:r>
              <a:rPr lang="ru-RU" sz="2400" i="1" dirty="0"/>
              <a:t>разделением на подсети</a:t>
            </a:r>
            <a:r>
              <a:rPr lang="ru-RU" sz="2400" dirty="0"/>
              <a:t>. </a:t>
            </a:r>
            <a:endParaRPr lang="ru-RU" sz="2400" dirty="0" smtClean="0"/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ru-RU" sz="2400" dirty="0" smtClean="0"/>
              <a:t>    На </a:t>
            </a:r>
            <a:r>
              <a:rPr lang="ru-RU" sz="2400" dirty="0"/>
              <a:t>основе этого же механизма можно объединять адресные пространства нескольких сетей такая операция называется </a:t>
            </a:r>
            <a:r>
              <a:rPr lang="ru-RU" sz="2400" i="1" dirty="0"/>
              <a:t>объединением подсетей</a:t>
            </a:r>
            <a:r>
              <a:rPr lang="ru-RU" sz="2400" dirty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49" name="Rectangle 13"/>
          <p:cNvSpPr>
            <a:spLocks noChangeArrowheads="1"/>
          </p:cNvSpPr>
          <p:nvPr/>
        </p:nvSpPr>
        <p:spPr bwMode="auto">
          <a:xfrm>
            <a:off x="251520" y="260648"/>
            <a:ext cx="835292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dirty="0" smtClean="0">
                <a:solidFill>
                  <a:srgbClr val="7030A0"/>
                </a:solidFill>
                <a:latin typeface="Verdana" pitchFamily="34" charset="0"/>
              </a:rPr>
              <a:t> Примеры использования маски(1)</a:t>
            </a:r>
            <a:endParaRPr lang="ru-RU" sz="3200" dirty="0">
              <a:solidFill>
                <a:srgbClr val="7030A0"/>
              </a:solidFill>
              <a:latin typeface="Verdana" pitchFamily="34" charset="0"/>
            </a:endParaRPr>
          </a:p>
        </p:txBody>
      </p:sp>
      <p:sp>
        <p:nvSpPr>
          <p:cNvPr id="10251" name="Rectangle 14"/>
          <p:cNvSpPr>
            <a:spLocks noChangeArrowheads="1"/>
          </p:cNvSpPr>
          <p:nvPr/>
        </p:nvSpPr>
        <p:spPr bwMode="auto">
          <a:xfrm>
            <a:off x="179512" y="764704"/>
            <a:ext cx="8712968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dirty="0">
                <a:solidFill>
                  <a:srgbClr val="002060"/>
                </a:solidFill>
              </a:rPr>
              <a:t>Как определить номер узла в сети, номер сети, а также адрес ограниченного в пределах данной сети широковещания?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Для этого необходимо наложить побитно маску сети на заданный </a:t>
            </a:r>
            <a:r>
              <a:rPr lang="ru-RU" sz="2000" b="0" dirty="0" smtClean="0"/>
              <a:t> </a:t>
            </a:r>
            <a:r>
              <a:rPr lang="en-US" sz="2000" b="0" dirty="0" smtClean="0"/>
              <a:t>IP</a:t>
            </a:r>
            <a:r>
              <a:rPr lang="ru-RU" sz="2000" b="0" dirty="0" smtClean="0"/>
              <a:t> </a:t>
            </a:r>
            <a:r>
              <a:rPr lang="ru-RU" sz="2000" b="0" dirty="0"/>
              <a:t>адрес и проделать некоторые арифметические действия</a:t>
            </a:r>
            <a:r>
              <a:rPr lang="ru-RU" sz="2000" b="0" dirty="0" smtClean="0"/>
              <a:t>.</a:t>
            </a:r>
            <a:endParaRPr lang="ru-RU" sz="2000" b="0" dirty="0"/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i="1" dirty="0">
                <a:solidFill>
                  <a:srgbClr val="002060"/>
                </a:solidFill>
              </a:rPr>
              <a:t>Пример 1.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u="sng" dirty="0">
                <a:solidFill>
                  <a:srgbClr val="002060"/>
                </a:solidFill>
              </a:rPr>
              <a:t>Дано</a:t>
            </a:r>
            <a:r>
              <a:rPr lang="ru-RU" sz="2000" b="0" u="sng" dirty="0"/>
              <a:t>: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en-US" sz="2000" b="0" dirty="0"/>
              <a:t>IP </a:t>
            </a:r>
            <a:r>
              <a:rPr lang="ru-RU" sz="2000" b="0" dirty="0"/>
              <a:t>адрес </a:t>
            </a:r>
            <a:r>
              <a:rPr lang="en-US" sz="2000" b="0" dirty="0"/>
              <a:t>192.168.31.240</a:t>
            </a:r>
            <a:r>
              <a:rPr lang="ru-RU" sz="2000" b="0" dirty="0"/>
              <a:t>, сеть класса С (маска в 24 бита).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u="sng" dirty="0">
                <a:solidFill>
                  <a:srgbClr val="002060"/>
                </a:solidFill>
              </a:rPr>
              <a:t>Найти: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номер сети, номер узла в сети, а также адрес ограниченного в пределах данной сети широковещания.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endParaRPr lang="ru-RU" sz="2000" b="0" dirty="0"/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en-US" sz="2000" b="0" dirty="0"/>
              <a:t>IP </a:t>
            </a:r>
            <a:r>
              <a:rPr lang="ru-RU" sz="2000" b="0" dirty="0"/>
              <a:t>адрес		11000000 10101000 00011111 11110000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маска		11111111 11111111 11111111 00000000  (255.255.255.0)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---------------------------------------------------------------------------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номер сети	11000000 10101000 00011111 00000000  (192.168.31.0)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номер хоста	00000000 00000000 00000000 11110000  (0.0.0.240)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адрес </a:t>
            </a:r>
            <a:r>
              <a:rPr lang="ru-RU" sz="2000" b="0" dirty="0" err="1"/>
              <a:t>широковещ</a:t>
            </a:r>
            <a:r>
              <a:rPr lang="ru-RU" sz="2000" b="0" dirty="0"/>
              <a:t>.	11000000 10101000 00011111 11111111  (192.168.31.255)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97" name="Rectangle 13"/>
          <p:cNvSpPr>
            <a:spLocks noChangeArrowheads="1"/>
          </p:cNvSpPr>
          <p:nvPr/>
        </p:nvSpPr>
        <p:spPr bwMode="auto">
          <a:xfrm>
            <a:off x="0" y="228600"/>
            <a:ext cx="853244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dirty="0" smtClean="0">
                <a:solidFill>
                  <a:srgbClr val="7030A0"/>
                </a:solidFill>
                <a:latin typeface="Verdana" pitchFamily="34" charset="0"/>
              </a:rPr>
              <a:t>   Примеры использования маски (2)</a:t>
            </a:r>
            <a:endParaRPr lang="ru-RU" sz="3200" dirty="0">
              <a:solidFill>
                <a:srgbClr val="7030A0"/>
              </a:solidFill>
              <a:latin typeface="Verdana" pitchFamily="34" charset="0"/>
            </a:endParaRPr>
          </a:p>
        </p:txBody>
      </p:sp>
      <p:sp>
        <p:nvSpPr>
          <p:cNvPr id="11275" name="Rectangle 14"/>
          <p:cNvSpPr>
            <a:spLocks noChangeArrowheads="1"/>
          </p:cNvSpPr>
          <p:nvPr/>
        </p:nvSpPr>
        <p:spPr bwMode="auto">
          <a:xfrm>
            <a:off x="323528" y="764705"/>
            <a:ext cx="8820472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i="1" dirty="0">
                <a:solidFill>
                  <a:srgbClr val="002060"/>
                </a:solidFill>
              </a:rPr>
              <a:t>Пример 2</a:t>
            </a:r>
            <a:r>
              <a:rPr lang="ru-RU" sz="2000" b="0" i="1" dirty="0"/>
              <a:t>.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en-US" sz="2000" b="0" dirty="0"/>
              <a:t>IP </a:t>
            </a:r>
            <a:r>
              <a:rPr lang="ru-RU" sz="2000" b="0" dirty="0"/>
              <a:t>адрес </a:t>
            </a:r>
            <a:r>
              <a:rPr lang="en-US" sz="2000" b="0" dirty="0"/>
              <a:t>12.</a:t>
            </a:r>
            <a:r>
              <a:rPr lang="ru-RU" sz="2000" b="0" dirty="0"/>
              <a:t>200</a:t>
            </a:r>
            <a:r>
              <a:rPr lang="en-US" sz="2000" b="0" dirty="0"/>
              <a:t>.</a:t>
            </a:r>
            <a:r>
              <a:rPr lang="ru-RU" sz="2000" b="0" dirty="0"/>
              <a:t>17</a:t>
            </a:r>
            <a:r>
              <a:rPr lang="en-US" sz="2000" b="0" dirty="0"/>
              <a:t>.</a:t>
            </a:r>
            <a:r>
              <a:rPr lang="ru-RU" sz="2000" b="0" dirty="0"/>
              <a:t>2</a:t>
            </a:r>
            <a:r>
              <a:rPr lang="en-US" sz="2000" b="0" dirty="0"/>
              <a:t>4</a:t>
            </a:r>
            <a:r>
              <a:rPr lang="ru-RU" sz="2000" b="0" dirty="0"/>
              <a:t>2, сеть с маской в</a:t>
            </a:r>
            <a:r>
              <a:rPr lang="ru-RU" sz="2000" b="0" dirty="0">
                <a:solidFill>
                  <a:srgbClr val="002060"/>
                </a:solidFill>
              </a:rPr>
              <a:t> </a:t>
            </a:r>
            <a:r>
              <a:rPr lang="ru-RU" sz="2000" dirty="0">
                <a:solidFill>
                  <a:srgbClr val="002060"/>
                </a:solidFill>
              </a:rPr>
              <a:t>23</a:t>
            </a:r>
            <a:r>
              <a:rPr lang="ru-RU" sz="2000" b="0" dirty="0">
                <a:solidFill>
                  <a:srgbClr val="002060"/>
                </a:solidFill>
              </a:rPr>
              <a:t> </a:t>
            </a:r>
            <a:r>
              <a:rPr lang="ru-RU" sz="2000" b="0" dirty="0"/>
              <a:t>бита.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en-US" sz="2000" b="0" dirty="0"/>
              <a:t>IP </a:t>
            </a:r>
            <a:r>
              <a:rPr lang="ru-RU" sz="2000" b="0" dirty="0"/>
              <a:t>адрес		00001100 11001000 00010001 11110010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маска		11111111 11111111 11111110 00000000 (255.255.254.0)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---------------------------------------------------------------------------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номер сети	00001100 11001000 00010000 00000000  (12.200.16.0)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номер хоста	00000000 00000000 00000001 11110010  (0.0.1.242)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адрес </a:t>
            </a:r>
            <a:r>
              <a:rPr lang="ru-RU" sz="2000" b="0" dirty="0" err="1"/>
              <a:t>широковещ</a:t>
            </a:r>
            <a:r>
              <a:rPr lang="ru-RU" sz="2000" b="0" dirty="0"/>
              <a:t>.	00001100 11001000 00010001 11111111  (12.200.17.255) 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endParaRPr lang="ru-RU" sz="2000" b="0" dirty="0">
              <a:solidFill>
                <a:srgbClr val="002060"/>
              </a:solidFill>
            </a:endParaRP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>
                <a:solidFill>
                  <a:srgbClr val="002060"/>
                </a:solidFill>
              </a:rPr>
              <a:t>Пример 3.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en-US" sz="2000" b="0" dirty="0"/>
              <a:t>IP </a:t>
            </a:r>
            <a:r>
              <a:rPr lang="ru-RU" sz="2000" b="0" dirty="0"/>
              <a:t>адрес </a:t>
            </a:r>
            <a:r>
              <a:rPr lang="en-US" sz="2000" b="0" dirty="0"/>
              <a:t>12.</a:t>
            </a:r>
            <a:r>
              <a:rPr lang="ru-RU" sz="2000" b="0" dirty="0"/>
              <a:t>200</a:t>
            </a:r>
            <a:r>
              <a:rPr lang="en-US" sz="2000" b="0" dirty="0"/>
              <a:t>.17.242</a:t>
            </a:r>
            <a:r>
              <a:rPr lang="ru-RU" sz="2000" b="0" dirty="0"/>
              <a:t>, сеть с маской в </a:t>
            </a:r>
            <a:r>
              <a:rPr lang="ru-RU" sz="2000" dirty="0">
                <a:solidFill>
                  <a:srgbClr val="002060"/>
                </a:solidFill>
              </a:rPr>
              <a:t>2</a:t>
            </a:r>
            <a:r>
              <a:rPr lang="en-US" sz="2000" dirty="0">
                <a:solidFill>
                  <a:srgbClr val="002060"/>
                </a:solidFill>
              </a:rPr>
              <a:t>9</a:t>
            </a:r>
            <a:r>
              <a:rPr lang="ru-RU" sz="2000" b="0" dirty="0">
                <a:solidFill>
                  <a:srgbClr val="002060"/>
                </a:solidFill>
              </a:rPr>
              <a:t> </a:t>
            </a:r>
            <a:r>
              <a:rPr lang="ru-RU" sz="2000" b="0" dirty="0"/>
              <a:t>бит.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en-US" sz="2000" b="0" dirty="0"/>
              <a:t>IP </a:t>
            </a:r>
            <a:r>
              <a:rPr lang="ru-RU" sz="2000" b="0" dirty="0"/>
              <a:t>адрес		00001100 11001000 00010001 111</a:t>
            </a:r>
            <a:r>
              <a:rPr lang="en-US" sz="2000" b="0" dirty="0"/>
              <a:t>1</a:t>
            </a:r>
            <a:r>
              <a:rPr lang="ru-RU" sz="2000" b="0" dirty="0"/>
              <a:t>0010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маска		11111111 11111111 11111111 1</a:t>
            </a:r>
            <a:r>
              <a:rPr lang="en-US" sz="2000" b="0" dirty="0"/>
              <a:t>1111</a:t>
            </a:r>
            <a:r>
              <a:rPr lang="ru-RU" sz="2000" b="0" dirty="0"/>
              <a:t>000  (255.255.255.</a:t>
            </a:r>
            <a:r>
              <a:rPr lang="en-US" sz="2000" b="0" dirty="0"/>
              <a:t>248</a:t>
            </a:r>
            <a:r>
              <a:rPr lang="ru-RU" sz="2000" b="0" dirty="0"/>
              <a:t>)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---------------------------------------------------------------------------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номер сети	00001100 11001000 00010001 1</a:t>
            </a:r>
            <a:r>
              <a:rPr lang="en-US" sz="2000" b="0" dirty="0"/>
              <a:t>111</a:t>
            </a:r>
            <a:r>
              <a:rPr lang="ru-RU" sz="2000" b="0" dirty="0"/>
              <a:t>0000  (12.200.17.</a:t>
            </a:r>
            <a:r>
              <a:rPr lang="en-US" sz="2000" b="0" dirty="0"/>
              <a:t>240</a:t>
            </a:r>
            <a:r>
              <a:rPr lang="ru-RU" sz="2000" b="0" dirty="0"/>
              <a:t>)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номер хоста	00000000 00000000 00000000 0</a:t>
            </a:r>
            <a:r>
              <a:rPr lang="en-US" sz="2000" b="0" dirty="0"/>
              <a:t>000</a:t>
            </a:r>
            <a:r>
              <a:rPr lang="ru-RU" sz="2000" b="0" dirty="0"/>
              <a:t>0010  (0.0.0.</a:t>
            </a:r>
            <a:r>
              <a:rPr lang="en-US" sz="2000" b="0" dirty="0"/>
              <a:t>2</a:t>
            </a:r>
            <a:r>
              <a:rPr lang="ru-RU" sz="2000" b="0" dirty="0"/>
              <a:t>)</a:t>
            </a:r>
          </a:p>
          <a:p>
            <a:pPr algn="l">
              <a:buClr>
                <a:srgbClr val="FF0066"/>
              </a:buClr>
              <a:buFont typeface="Wingdings" pitchFamily="2" charset="2"/>
              <a:buNone/>
            </a:pPr>
            <a:r>
              <a:rPr lang="ru-RU" sz="2000" b="0" dirty="0"/>
              <a:t>адрес </a:t>
            </a:r>
            <a:r>
              <a:rPr lang="ru-RU" sz="2000" b="0" dirty="0" err="1"/>
              <a:t>широковещ</a:t>
            </a:r>
            <a:r>
              <a:rPr lang="ru-RU" sz="2000" b="0" dirty="0"/>
              <a:t>.	00001100 11001000 00010001 1111</a:t>
            </a:r>
            <a:r>
              <a:rPr lang="en-US" sz="2000" b="0" dirty="0"/>
              <a:t>0</a:t>
            </a:r>
            <a:r>
              <a:rPr lang="ru-RU" sz="2000" b="0" dirty="0"/>
              <a:t>111  </a:t>
            </a:r>
            <a:r>
              <a:rPr lang="ru-RU" sz="2000" b="0" dirty="0" smtClean="0"/>
              <a:t>2.200.17.2</a:t>
            </a:r>
            <a:r>
              <a:rPr lang="en-US" sz="2000" b="0" dirty="0"/>
              <a:t>47</a:t>
            </a:r>
            <a:r>
              <a:rPr lang="ru-RU" sz="2000" b="0" dirty="0"/>
              <a:t>)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rgbClr val="7030A0"/>
                </a:solidFill>
              </a:rPr>
              <a:t>Пример образования подсетей  </a:t>
            </a:r>
            <a:endParaRPr lang="ru-RU" sz="3600" dirty="0">
              <a:solidFill>
                <a:srgbClr val="7030A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142844" y="908720"/>
            <a:ext cx="8858312" cy="576064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ru-RU" sz="2600" dirty="0"/>
              <a:t>маска 225.255.192.0 </a:t>
            </a:r>
            <a:r>
              <a:rPr lang="ru-RU" sz="2600" dirty="0" smtClean="0"/>
              <a:t>    (</a:t>
            </a:r>
            <a:r>
              <a:rPr lang="ru-RU" sz="2600" dirty="0"/>
              <a:t>11111111 </a:t>
            </a:r>
            <a:r>
              <a:rPr lang="ru-RU" sz="2600" dirty="0" smtClean="0"/>
              <a:t> 11111111  11000000  </a:t>
            </a:r>
            <a:r>
              <a:rPr lang="ru-RU" sz="2600" dirty="0"/>
              <a:t>00000000)</a:t>
            </a:r>
          </a:p>
          <a:p>
            <a:pPr>
              <a:buNone/>
            </a:pPr>
            <a:r>
              <a:rPr lang="ru-RU" sz="2600" dirty="0"/>
              <a:t>номер сети </a:t>
            </a:r>
            <a:r>
              <a:rPr lang="ru-RU" sz="2600" dirty="0" smtClean="0"/>
              <a:t>129.44.0.0  </a:t>
            </a:r>
            <a:r>
              <a:rPr lang="ru-RU" sz="2600" dirty="0"/>
              <a:t>(10000001 00101100 </a:t>
            </a:r>
            <a:r>
              <a:rPr lang="ru-RU" sz="2600" dirty="0" smtClean="0"/>
              <a:t> 00000000  00000000)</a:t>
            </a:r>
          </a:p>
          <a:p>
            <a:pPr>
              <a:buNone/>
            </a:pPr>
            <a:endParaRPr lang="ru-RU" sz="2600" dirty="0" smtClean="0"/>
          </a:p>
          <a:p>
            <a:pPr>
              <a:buNone/>
            </a:pPr>
            <a:r>
              <a:rPr lang="ru-RU" sz="2600" dirty="0" smtClean="0"/>
              <a:t>Подсети:</a:t>
            </a:r>
          </a:p>
          <a:p>
            <a:pPr>
              <a:buNone/>
            </a:pPr>
            <a:r>
              <a:rPr lang="ru-RU" sz="2600" dirty="0" smtClean="0"/>
              <a:t>129.44.0.0     </a:t>
            </a:r>
            <a:r>
              <a:rPr lang="ru-RU" sz="2600" dirty="0"/>
              <a:t>(</a:t>
            </a:r>
            <a:r>
              <a:rPr lang="ru-RU" sz="2600" dirty="0" smtClean="0"/>
              <a:t>10000001  00101100  00000000  </a:t>
            </a:r>
            <a:r>
              <a:rPr lang="ru-RU" sz="2600" dirty="0"/>
              <a:t>00000000)</a:t>
            </a:r>
          </a:p>
          <a:p>
            <a:pPr>
              <a:buNone/>
            </a:pPr>
            <a:r>
              <a:rPr lang="ru-RU" sz="2600" dirty="0" smtClean="0"/>
              <a:t>129.44.64.0   (</a:t>
            </a:r>
            <a:r>
              <a:rPr lang="ru-RU" sz="2600" dirty="0"/>
              <a:t>10000001 </a:t>
            </a:r>
            <a:r>
              <a:rPr lang="ru-RU" sz="2600" dirty="0" smtClean="0"/>
              <a:t> 00101100  01000000  00000000</a:t>
            </a:r>
            <a:r>
              <a:rPr lang="ru-RU" sz="2600" dirty="0"/>
              <a:t>)</a:t>
            </a:r>
          </a:p>
          <a:p>
            <a:pPr>
              <a:buNone/>
            </a:pPr>
            <a:r>
              <a:rPr lang="ru-RU" sz="2600" dirty="0"/>
              <a:t>129.44.128.0 (</a:t>
            </a:r>
            <a:r>
              <a:rPr lang="ru-RU" sz="2600" dirty="0" smtClean="0"/>
              <a:t>10000001  </a:t>
            </a:r>
            <a:r>
              <a:rPr lang="ru-RU" sz="2600" dirty="0"/>
              <a:t>00101100 </a:t>
            </a:r>
            <a:r>
              <a:rPr lang="ru-RU" sz="2600" dirty="0" smtClean="0"/>
              <a:t> 10000000  00000000</a:t>
            </a:r>
            <a:r>
              <a:rPr lang="ru-RU" sz="2600" dirty="0"/>
              <a:t>)</a:t>
            </a:r>
          </a:p>
          <a:p>
            <a:pPr>
              <a:buNone/>
            </a:pPr>
            <a:r>
              <a:rPr lang="ru-RU" sz="2600" dirty="0"/>
              <a:t>129.44.192.0 (10000001 </a:t>
            </a:r>
            <a:r>
              <a:rPr lang="ru-RU" sz="2600" dirty="0" smtClean="0"/>
              <a:t> 00101100  </a:t>
            </a:r>
            <a:r>
              <a:rPr lang="ru-RU" sz="2600" dirty="0"/>
              <a:t>11000000 </a:t>
            </a:r>
            <a:r>
              <a:rPr lang="ru-RU" sz="2600" dirty="0" smtClean="0"/>
              <a:t>  00000000)</a:t>
            </a:r>
            <a:endParaRPr lang="ru-RU" sz="2600" dirty="0"/>
          </a:p>
          <a:p>
            <a:pPr>
              <a:buNone/>
            </a:pPr>
            <a:endParaRPr lang="ru-RU" sz="2600" dirty="0" smtClean="0"/>
          </a:p>
          <a:p>
            <a:pPr>
              <a:buNone/>
            </a:pPr>
            <a:r>
              <a:rPr lang="ru-RU" sz="2600" dirty="0" smtClean="0"/>
              <a:t>    </a:t>
            </a:r>
            <a:r>
              <a:rPr lang="en-US" sz="2600" dirty="0" smtClean="0"/>
              <a:t>I</a:t>
            </a:r>
            <a:r>
              <a:rPr lang="ru-RU" sz="2600" dirty="0" smtClean="0"/>
              <a:t>p-адрес:</a:t>
            </a:r>
            <a:endParaRPr lang="ru-RU" sz="2600" dirty="0"/>
          </a:p>
          <a:p>
            <a:pPr>
              <a:buNone/>
            </a:pPr>
            <a:r>
              <a:rPr lang="ru-RU" sz="2600" dirty="0" smtClean="0"/>
              <a:t>    129.44.141.15(10000001  </a:t>
            </a:r>
            <a:r>
              <a:rPr lang="ru-RU" sz="2600" dirty="0"/>
              <a:t>00101100  10001101 00001111</a:t>
            </a:r>
            <a:r>
              <a:rPr lang="ru-RU" sz="2600" dirty="0" smtClean="0"/>
              <a:t>)</a:t>
            </a:r>
          </a:p>
          <a:p>
            <a:pPr>
              <a:buNone/>
            </a:pPr>
            <a:r>
              <a:rPr lang="ru-RU" sz="2600" dirty="0" smtClean="0"/>
              <a:t>    при </a:t>
            </a:r>
            <a:r>
              <a:rPr lang="ru-RU" sz="2600" dirty="0"/>
              <a:t>использовании маски </a:t>
            </a:r>
            <a:r>
              <a:rPr lang="ru-RU" sz="2600" dirty="0" smtClean="0"/>
              <a:t>: </a:t>
            </a:r>
            <a:endParaRPr lang="ru-RU" sz="2600" dirty="0"/>
          </a:p>
          <a:p>
            <a:pPr>
              <a:buNone/>
            </a:pPr>
            <a:r>
              <a:rPr lang="ru-RU" sz="2600" dirty="0"/>
              <a:t>129.44.128.0 - номер сети и 0.0.13.15 -  номер узла.</a:t>
            </a:r>
            <a:endParaRPr lang="ru-RU" sz="2600" dirty="0" smtClean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</p:txBody>
      </p:sp>
      <p:sp>
        <p:nvSpPr>
          <p:cNvPr id="5" name="Стрелка вверх 4">
            <a:hlinkClick r:id="rId2" action="ppaction://hlinkpres?slideindex=5&amp;slidetitle=Подсети"/>
          </p:cNvPr>
          <p:cNvSpPr/>
          <p:nvPr/>
        </p:nvSpPr>
        <p:spPr>
          <a:xfrm>
            <a:off x="8501090" y="6072206"/>
            <a:ext cx="357190" cy="50006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dirty="0" smtClean="0">
                <a:solidFill>
                  <a:srgbClr val="7030A0"/>
                </a:solidFill>
              </a:rPr>
              <a:t>Выводы 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196752"/>
            <a:ext cx="8397750" cy="5111973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ru-RU" sz="2800" dirty="0" smtClean="0"/>
              <a:t>В стеке TCP/IP используются </a:t>
            </a:r>
            <a:r>
              <a:rPr lang="ru-RU" sz="2800" b="1" dirty="0" smtClean="0"/>
              <a:t>три типа адресов:</a:t>
            </a:r>
            <a:r>
              <a:rPr lang="ru-RU" sz="2800" dirty="0" smtClean="0"/>
              <a:t> локальные (аппаратные),</a:t>
            </a:r>
            <a:r>
              <a:rPr lang="en-US" sz="2800" dirty="0" smtClean="0"/>
              <a:t>IP</a:t>
            </a:r>
            <a:r>
              <a:rPr lang="ru-RU" sz="2800" dirty="0" smtClean="0"/>
              <a:t>-адреса и символьные (доменные) имена.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800" dirty="0" smtClean="0"/>
              <a:t> Все эти типы адресов присваиваются узлам составной сети независимо друг от друга.</a:t>
            </a:r>
            <a:endParaRPr lang="en-US" sz="2800" dirty="0" smtClean="0"/>
          </a:p>
          <a:p>
            <a:pPr algn="just" eaLnBrk="1" hangingPunct="1">
              <a:lnSpc>
                <a:spcPct val="80000"/>
              </a:lnSpc>
            </a:pPr>
            <a:r>
              <a:rPr lang="en-US" sz="2800" b="1" dirty="0" smtClean="0"/>
              <a:t>IP</a:t>
            </a:r>
            <a:r>
              <a:rPr lang="ru-RU" sz="2800" b="1" dirty="0" smtClean="0"/>
              <a:t>-адрес</a:t>
            </a:r>
            <a:r>
              <a:rPr lang="ru-RU" sz="2800" dirty="0" smtClean="0"/>
              <a:t> имеет длину 4 байта и состоит из номера сети и номера узла.</a:t>
            </a:r>
          </a:p>
          <a:p>
            <a:pPr algn="just" eaLnBrk="1" hangingPunct="1">
              <a:lnSpc>
                <a:spcPct val="80000"/>
              </a:lnSpc>
            </a:pPr>
            <a:r>
              <a:rPr lang="ru-RU" sz="2800" dirty="0" smtClean="0"/>
              <a:t> Для определения границы, отделяющей номер сети от номера узла, сегодня используется </a:t>
            </a:r>
            <a:r>
              <a:rPr lang="ru-RU" sz="2800" b="1" dirty="0" smtClean="0"/>
              <a:t>два подхода</a:t>
            </a:r>
            <a:r>
              <a:rPr lang="ru-RU" sz="2800" dirty="0" smtClean="0"/>
              <a:t>: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800" dirty="0" smtClean="0"/>
              <a:t>            -  Первый основан на классах адресов,</a:t>
            </a:r>
          </a:p>
          <a:p>
            <a:pPr algn="just" eaLnBrk="1" hangingPunct="1">
              <a:lnSpc>
                <a:spcPct val="80000"/>
              </a:lnSpc>
              <a:buNone/>
            </a:pPr>
            <a:r>
              <a:rPr lang="ru-RU" sz="2800" dirty="0" smtClean="0"/>
              <a:t>             -  Второй — определении масок.</a:t>
            </a:r>
          </a:p>
          <a:p>
            <a:pPr eaLnBrk="1" hangingPunct="1">
              <a:lnSpc>
                <a:spcPct val="80000"/>
              </a:lnSpc>
            </a:pPr>
            <a:endParaRPr lang="ru-RU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700808"/>
            <a:ext cx="8229600" cy="4104456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rgbClr val="7030A0"/>
                </a:solidFill>
              </a:rPr>
              <a:t>Выводы по стеку протоколов </a:t>
            </a:r>
            <a:r>
              <a:rPr lang="en-US" dirty="0" smtClean="0">
                <a:solidFill>
                  <a:srgbClr val="7030A0"/>
                </a:solidFill>
              </a:rPr>
              <a:t>TCP/IP</a:t>
            </a:r>
            <a:br>
              <a:rPr lang="en-US" dirty="0" smtClean="0">
                <a:solidFill>
                  <a:srgbClr val="7030A0"/>
                </a:solidFill>
              </a:rPr>
            </a:br>
            <a:r>
              <a:rPr lang="en-US" dirty="0" smtClean="0">
                <a:solidFill>
                  <a:srgbClr val="7030A0"/>
                </a:solidFill>
              </a:rPr>
              <a:t>(1-4)</a:t>
            </a:r>
            <a:endParaRPr lang="ru-RU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dirty="0" smtClean="0">
                <a:solidFill>
                  <a:srgbClr val="7030A0"/>
                </a:solidFill>
              </a:rPr>
              <a:t>Выводы</a:t>
            </a:r>
            <a:r>
              <a:rPr lang="en-US" dirty="0" smtClean="0">
                <a:solidFill>
                  <a:srgbClr val="7030A0"/>
                </a:solidFill>
              </a:rPr>
              <a:t>(1)</a:t>
            </a:r>
            <a:endParaRPr lang="ru-RU" dirty="0" smtClean="0">
              <a:solidFill>
                <a:srgbClr val="7030A0"/>
              </a:solidFill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908720"/>
            <a:ext cx="8577262" cy="594928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Класс адреса определяется значениями нескольких первых битов адреса.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 </a:t>
            </a:r>
            <a:r>
              <a:rPr lang="ru-RU" sz="2800" b="1" dirty="0" smtClean="0"/>
              <a:t>В адресах класса А</a:t>
            </a:r>
            <a:r>
              <a:rPr lang="ru-RU" sz="2800" dirty="0" smtClean="0"/>
              <a:t> под номер сети отводится один байт, а остальные три байта — под номер узла, поэтому они используются в самых больших сетях. 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Для небольших сетей больше подходят адреса </a:t>
            </a:r>
            <a:r>
              <a:rPr lang="ru-RU" sz="2800" b="1" dirty="0" smtClean="0"/>
              <a:t>класса С</a:t>
            </a:r>
            <a:r>
              <a:rPr lang="ru-RU" sz="2800" dirty="0" smtClean="0"/>
              <a:t>, в которых номер сети занимает три байта, а для нумерации узлов может быть использован только один байт. 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Промежуточное положение занимают </a:t>
            </a:r>
            <a:r>
              <a:rPr lang="ru-RU" sz="2800" b="1" dirty="0" smtClean="0"/>
              <a:t>адреса класса В.</a:t>
            </a:r>
            <a:r>
              <a:rPr lang="ru-RU" sz="2800" dirty="0" smtClean="0"/>
              <a:t> Для разделения </a:t>
            </a:r>
            <a:r>
              <a:rPr lang="en-US" sz="2800" dirty="0" smtClean="0"/>
              <a:t>IP</a:t>
            </a:r>
            <a:r>
              <a:rPr lang="ru-RU" sz="2800" dirty="0" smtClean="0"/>
              <a:t>-адреса на номер сети и номер узла используется связанная с этим адресом маска. </a:t>
            </a:r>
          </a:p>
          <a:p>
            <a:pPr eaLnBrk="1" hangingPunct="1">
              <a:lnSpc>
                <a:spcPct val="80000"/>
              </a:lnSpc>
            </a:pPr>
            <a:r>
              <a:rPr lang="ru-RU" sz="2800" dirty="0" smtClean="0"/>
              <a:t>Двоичная запись маски содержит единицы в тех разрядах, которые в данном </a:t>
            </a:r>
            <a:r>
              <a:rPr lang="en-US" sz="2800" dirty="0" smtClean="0"/>
              <a:t>IP</a:t>
            </a:r>
            <a:r>
              <a:rPr lang="ru-RU" sz="2800" dirty="0" smtClean="0"/>
              <a:t>-адресе должны интерпретироваться как номер сети.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504056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dirty="0" smtClean="0">
                <a:solidFill>
                  <a:srgbClr val="7030A0"/>
                </a:solidFill>
              </a:rPr>
              <a:t>Выводы</a:t>
            </a:r>
            <a:r>
              <a:rPr lang="en-US" dirty="0" smtClean="0">
                <a:solidFill>
                  <a:srgbClr val="7030A0"/>
                </a:solidFill>
              </a:rPr>
              <a:t>(2)</a:t>
            </a:r>
            <a:endParaRPr lang="ru-RU" dirty="0" smtClean="0">
              <a:solidFill>
                <a:srgbClr val="7030A0"/>
              </a:solidFill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764704"/>
            <a:ext cx="8964488" cy="6093296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 b="1" dirty="0" smtClean="0"/>
              <a:t>IP</a:t>
            </a:r>
            <a:r>
              <a:rPr lang="ru-RU" sz="2400" b="1" dirty="0" smtClean="0"/>
              <a:t>-адреса</a:t>
            </a:r>
            <a:r>
              <a:rPr lang="ru-RU" sz="2400" dirty="0" smtClean="0"/>
              <a:t> уникально идентифицируют узел в пределах составной сети, поэтому они должны назначаться централизовано.</a:t>
            </a:r>
          </a:p>
          <a:p>
            <a:pPr eaLnBrk="1" hangingPunct="1">
              <a:lnSpc>
                <a:spcPct val="80000"/>
              </a:lnSpc>
            </a:pPr>
            <a:r>
              <a:rPr lang="ru-RU" sz="2400" i="1" dirty="0" smtClean="0">
                <a:solidFill>
                  <a:srgbClr val="002060"/>
                </a:solidFill>
              </a:rPr>
              <a:t>Если сеть автономная</a:t>
            </a:r>
            <a:r>
              <a:rPr lang="ru-RU" sz="2400" dirty="0" smtClean="0"/>
              <a:t>, то уникальность </a:t>
            </a:r>
            <a:r>
              <a:rPr lang="en-US" sz="2400" dirty="0" smtClean="0"/>
              <a:t>IP</a:t>
            </a:r>
            <a:r>
              <a:rPr lang="ru-RU" sz="2400" dirty="0" smtClean="0"/>
              <a:t>-адресов в пределах этой сети может быть обеспечена администратором сети. При этом он может выбирать для нумерации сетей и узлов любые синтаксически правильные </a:t>
            </a:r>
            <a:r>
              <a:rPr lang="en-US" sz="2400" dirty="0" smtClean="0"/>
              <a:t>IP</a:t>
            </a:r>
            <a:r>
              <a:rPr lang="ru-RU" sz="2400" dirty="0" smtClean="0"/>
              <a:t>-адреса.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Однако предпочтительнее в этом случае применять адреса, специально выделенные для автономных сетей (так </a:t>
            </a:r>
            <a:r>
              <a:rPr lang="ru-RU" sz="2400" i="1" dirty="0" smtClean="0">
                <a:solidFill>
                  <a:srgbClr val="002060"/>
                </a:solidFill>
              </a:rPr>
              <a:t>называемые частные адреса).</a:t>
            </a:r>
          </a:p>
          <a:p>
            <a:pPr eaLnBrk="1" hangingPunct="1">
              <a:lnSpc>
                <a:spcPct val="80000"/>
              </a:lnSpc>
            </a:pPr>
            <a:r>
              <a:rPr lang="ru-RU" sz="2400" dirty="0" smtClean="0">
                <a:solidFill>
                  <a:srgbClr val="002060"/>
                </a:solidFill>
              </a:rPr>
              <a:t>Если сеть очень велика, как, например, 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Интернет, </a:t>
            </a:r>
            <a:r>
              <a:rPr lang="ru-RU" sz="2400" dirty="0" smtClean="0"/>
              <a:t>то </a:t>
            </a:r>
            <a:r>
              <a:rPr lang="ru-RU" sz="2400" b="1" dirty="0" smtClean="0"/>
              <a:t>процесс назначения </a:t>
            </a:r>
            <a:r>
              <a:rPr lang="en-US" sz="2400" b="1" dirty="0" smtClean="0"/>
              <a:t>IP</a:t>
            </a:r>
            <a:r>
              <a:rPr lang="ru-RU" sz="2400" b="1" dirty="0" smtClean="0"/>
              <a:t>-адресов</a:t>
            </a:r>
            <a:r>
              <a:rPr lang="ru-RU" sz="2400" dirty="0" smtClean="0"/>
              <a:t> усложняется, разбиваясь на два этапа. 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Первый — 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распределение номеров сетей </a:t>
            </a:r>
            <a:r>
              <a:rPr lang="ru-RU" sz="2400" dirty="0" smtClean="0"/>
              <a:t>— регулируется спе­циальным административным органом, обеспечивающим однозначность нумерации сетей.</a:t>
            </a:r>
          </a:p>
          <a:p>
            <a:pPr lvl="1" eaLnBrk="1" hangingPunct="1">
              <a:lnSpc>
                <a:spcPct val="80000"/>
              </a:lnSpc>
            </a:pPr>
            <a:r>
              <a:rPr lang="ru-RU" sz="2400" dirty="0" smtClean="0"/>
              <a:t>После того как сеть получила номер, наступает второй этап — 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назначение номеров узлам сети.</a:t>
            </a:r>
          </a:p>
          <a:p>
            <a:pPr eaLnBrk="1" hangingPunct="1">
              <a:lnSpc>
                <a:spcPct val="80000"/>
              </a:lnSpc>
            </a:pPr>
            <a:endParaRPr lang="ru-RU" sz="19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dirty="0" smtClean="0">
                <a:solidFill>
                  <a:srgbClr val="7030A0"/>
                </a:solidFill>
              </a:rPr>
              <a:t>Выводы</a:t>
            </a:r>
            <a:r>
              <a:rPr lang="en-US" dirty="0" smtClean="0">
                <a:solidFill>
                  <a:srgbClr val="7030A0"/>
                </a:solidFill>
              </a:rPr>
              <a:t>(3)</a:t>
            </a:r>
            <a:endParaRPr lang="ru-RU" dirty="0" smtClean="0">
              <a:solidFill>
                <a:srgbClr val="7030A0"/>
              </a:solidFill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0728"/>
            <a:ext cx="8686800" cy="568863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Назначение </a:t>
            </a:r>
            <a:r>
              <a:rPr lang="en-US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IP</a:t>
            </a:r>
            <a:r>
              <a:rPr lang="ru-RU" sz="24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-адресов </a:t>
            </a:r>
            <a:r>
              <a:rPr lang="ru-RU" sz="2400" dirty="0" smtClean="0"/>
              <a:t>узлам сети может происходить: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      - либо вручную (администратор сам ведет списки свободных и занятых адресов и конфигурирует сетевой интерфейс),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       - либо автоматически (с использованием </a:t>
            </a:r>
            <a:r>
              <a:rPr lang="ru-RU" sz="2400" dirty="0" smtClean="0">
                <a:solidFill>
                  <a:srgbClr val="002060"/>
                </a:solidFill>
              </a:rPr>
              <a:t>протокола </a:t>
            </a:r>
            <a:r>
              <a:rPr lang="en-US" sz="2400" dirty="0" smtClean="0">
                <a:solidFill>
                  <a:srgbClr val="002060"/>
                </a:solidFill>
              </a:rPr>
              <a:t>DHCP</a:t>
            </a:r>
            <a:r>
              <a:rPr lang="ru-RU" sz="2400" dirty="0" smtClean="0">
                <a:solidFill>
                  <a:srgbClr val="002060"/>
                </a:solidFill>
              </a:rPr>
              <a:t>).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В последнем случае администратор заранее назначает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</a:t>
            </a:r>
            <a:r>
              <a:rPr lang="en-US" sz="2400" dirty="0" smtClean="0"/>
              <a:t>DHCP</a:t>
            </a:r>
            <a:r>
              <a:rPr lang="ru-RU" sz="2400" dirty="0" smtClean="0"/>
              <a:t>-серверу диапазон свободных для распределения адресов, из которого последний автоматически выделяет адреса узлам в ответ на поступившие от них запросы. </a:t>
            </a:r>
          </a:p>
          <a:p>
            <a:pPr eaLnBrk="1" hangingPunct="1">
              <a:lnSpc>
                <a:spcPct val="80000"/>
              </a:lnSpc>
            </a:pPr>
            <a:r>
              <a:rPr lang="ru-RU" sz="2400" dirty="0" smtClean="0">
                <a:solidFill>
                  <a:srgbClr val="002060"/>
                </a:solidFill>
              </a:rPr>
              <a:t>Установление соответствия между </a:t>
            </a:r>
            <a:r>
              <a:rPr lang="en-US" sz="2400" dirty="0" smtClean="0">
                <a:solidFill>
                  <a:srgbClr val="002060"/>
                </a:solidFill>
              </a:rPr>
              <a:t>IP</a:t>
            </a:r>
            <a:r>
              <a:rPr lang="ru-RU" sz="2400" dirty="0" smtClean="0">
                <a:solidFill>
                  <a:srgbClr val="002060"/>
                </a:solidFill>
              </a:rPr>
              <a:t>-адресом и аппаратным адресом сетевого интерфейса осуществляется протоколом разрешения адресов (</a:t>
            </a:r>
            <a:r>
              <a:rPr lang="en-US" sz="2400" dirty="0" smtClean="0">
                <a:solidFill>
                  <a:srgbClr val="002060"/>
                </a:solidFill>
              </a:rPr>
              <a:t>ARP</a:t>
            </a:r>
            <a:r>
              <a:rPr lang="ru-RU" sz="2400" dirty="0" smtClean="0">
                <a:solidFill>
                  <a:srgbClr val="002060"/>
                </a:solidFill>
              </a:rPr>
              <a:t>).</a:t>
            </a:r>
          </a:p>
          <a:p>
            <a:pPr eaLnBrk="1" hangingPunct="1">
              <a:lnSpc>
                <a:spcPct val="80000"/>
              </a:lnSpc>
            </a:pPr>
            <a:r>
              <a:rPr lang="ru-RU" sz="2400" dirty="0" smtClean="0"/>
              <a:t>Протокол </a:t>
            </a:r>
            <a:r>
              <a:rPr lang="en-US" sz="2400" dirty="0" smtClean="0"/>
              <a:t>ARP</a:t>
            </a:r>
            <a:r>
              <a:rPr lang="ru-RU" sz="2400" dirty="0" smtClean="0"/>
              <a:t>, работающий в сетях </a:t>
            </a:r>
            <a:r>
              <a:rPr lang="en-US" sz="2400" dirty="0" smtClean="0"/>
              <a:t>Ethernet</a:t>
            </a:r>
            <a:r>
              <a:rPr lang="ru-RU" sz="2400" dirty="0" smtClean="0"/>
              <a:t>, </a:t>
            </a:r>
            <a:r>
              <a:rPr lang="en-US" sz="2400" dirty="0" smtClean="0"/>
              <a:t>Token Ring</a:t>
            </a:r>
            <a:r>
              <a:rPr lang="ru-RU" sz="2400" dirty="0" smtClean="0"/>
              <a:t>, </a:t>
            </a:r>
            <a:r>
              <a:rPr lang="en-US" sz="2400" dirty="0" smtClean="0"/>
              <a:t>FDDI</a:t>
            </a:r>
            <a:r>
              <a:rPr lang="ru-RU" sz="2400" dirty="0" smtClean="0"/>
              <a:t>, для трансляции </a:t>
            </a:r>
            <a:r>
              <a:rPr lang="en-US" sz="2400" dirty="0" smtClean="0"/>
              <a:t>IP</a:t>
            </a:r>
            <a:r>
              <a:rPr lang="ru-RU" sz="2400" dirty="0" smtClean="0"/>
              <a:t>-адреса в МАС-адрес выполняет </a:t>
            </a:r>
            <a:r>
              <a:rPr lang="en-US" sz="2400" dirty="0" smtClean="0"/>
              <a:t>ARP</a:t>
            </a:r>
            <a:r>
              <a:rPr lang="ru-RU" sz="2400" dirty="0" smtClean="0"/>
              <a:t>-запрос. 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ru-RU" sz="2400" dirty="0" smtClean="0"/>
              <a:t>    Поступающие </a:t>
            </a:r>
            <a:r>
              <a:rPr lang="en-US" sz="2400" dirty="0" smtClean="0"/>
              <a:t>ARP</a:t>
            </a:r>
            <a:r>
              <a:rPr lang="ru-RU" sz="2400" dirty="0" smtClean="0"/>
              <a:t>-ответы запоминаются в таблицах, создаваемых на каждом сетевом интерфейсе. </a:t>
            </a:r>
          </a:p>
          <a:p>
            <a:pPr eaLnBrk="1" hangingPunct="1">
              <a:lnSpc>
                <a:spcPct val="80000"/>
              </a:lnSpc>
            </a:pPr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dirty="0" smtClean="0">
                <a:solidFill>
                  <a:srgbClr val="7030A0"/>
                </a:solidFill>
              </a:rPr>
              <a:t>Выводы</a:t>
            </a:r>
            <a:r>
              <a:rPr lang="en-US" dirty="0" smtClean="0">
                <a:solidFill>
                  <a:srgbClr val="7030A0"/>
                </a:solidFill>
              </a:rPr>
              <a:t>(4)</a:t>
            </a:r>
            <a:endParaRPr lang="ru-RU" dirty="0" smtClean="0">
              <a:solidFill>
                <a:srgbClr val="7030A0"/>
              </a:solidFill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712"/>
            <a:ext cx="8686800" cy="568863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ru-RU" sz="2800" dirty="0" smtClean="0"/>
              <a:t>В стеке TCP/IP применяется </a:t>
            </a:r>
            <a:r>
              <a:rPr lang="ru-RU" sz="2800" dirty="0" smtClean="0">
                <a:solidFill>
                  <a:srgbClr val="002060"/>
                </a:solidFill>
              </a:rPr>
              <a:t>система доменных символьных имен, которая имеет иерархическую структуру.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dirty="0" smtClean="0"/>
              <a:t> Совокупность имен, у которых несколько старших составных частей </a:t>
            </a:r>
            <a:r>
              <a:rPr lang="ru-RU" sz="2800" dirty="0" smtClean="0">
                <a:solidFill>
                  <a:srgbClr val="002060"/>
                </a:solidFill>
              </a:rPr>
              <a:t>образуют домен имен</a:t>
            </a:r>
            <a:r>
              <a:rPr lang="ru-RU" sz="2800" dirty="0" smtClean="0"/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dirty="0" smtClean="0"/>
              <a:t>Доменные имена назначаются централизованно, если сеть является частью Интернета,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ru-RU" sz="2800" dirty="0" smtClean="0"/>
              <a:t>     в противном случае — локально.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dirty="0" smtClean="0">
                <a:solidFill>
                  <a:srgbClr val="002060"/>
                </a:solidFill>
              </a:rPr>
              <a:t>Соответствие между доменными именами и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ru-RU" sz="2800" dirty="0" smtClean="0">
                <a:solidFill>
                  <a:srgbClr val="002060"/>
                </a:solidFill>
              </a:rPr>
              <a:t>    </a:t>
            </a:r>
            <a:r>
              <a:rPr lang="en-US" sz="2800" dirty="0" smtClean="0">
                <a:solidFill>
                  <a:srgbClr val="002060"/>
                </a:solidFill>
              </a:rPr>
              <a:t>IP</a:t>
            </a:r>
            <a:r>
              <a:rPr lang="ru-RU" sz="2800" dirty="0" smtClean="0">
                <a:solidFill>
                  <a:srgbClr val="002060"/>
                </a:solidFill>
              </a:rPr>
              <a:t>-адресами может устанавливаться с помощью централизованной службы </a:t>
            </a:r>
            <a:r>
              <a:rPr lang="en-US" sz="2800" dirty="0" smtClean="0">
                <a:solidFill>
                  <a:srgbClr val="002060"/>
                </a:solidFill>
              </a:rPr>
              <a:t>DNS</a:t>
            </a:r>
            <a:r>
              <a:rPr lang="ru-RU" sz="2800" dirty="0" smtClean="0">
                <a:solidFill>
                  <a:srgbClr val="002060"/>
                </a:solidFill>
              </a:rPr>
              <a:t>, </a:t>
            </a:r>
            <a:r>
              <a:rPr lang="ru-RU" sz="2800" dirty="0" smtClean="0"/>
              <a:t>основанной на распределенной базе отображений «доменное имя — </a:t>
            </a:r>
            <a:r>
              <a:rPr lang="en-US" sz="2800" dirty="0" smtClean="0"/>
              <a:t>IP</a:t>
            </a:r>
            <a:r>
              <a:rPr lang="ru-RU" sz="2800" dirty="0" smtClean="0"/>
              <a:t>-адрес».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Классическая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3430</TotalTime>
  <Words>7404</Words>
  <Application>Microsoft Office PowerPoint</Application>
  <PresentationFormat>Экран (4:3)</PresentationFormat>
  <Paragraphs>871</Paragraphs>
  <Slides>118</Slides>
  <Notes>5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4</vt:i4>
      </vt:variant>
      <vt:variant>
        <vt:lpstr>Заголовки слайдов</vt:lpstr>
      </vt:variant>
      <vt:variant>
        <vt:i4>118</vt:i4>
      </vt:variant>
    </vt:vector>
  </HeadingPairs>
  <TitlesOfParts>
    <vt:vector size="123" baseType="lpstr">
      <vt:lpstr>Тема Office</vt:lpstr>
      <vt:lpstr>Visio</vt:lpstr>
      <vt:lpstr>Документ Microsoft Word 97-2003</vt:lpstr>
      <vt:lpstr>Диаграмма</vt:lpstr>
      <vt:lpstr>Точечный рисунок</vt:lpstr>
      <vt:lpstr>1.Стек протоколов TCP/IP.  2.Типы и классы адресов.  3.Форма записи IP- адреса. 4.маска IP- адреса и ее использование 5. формат и поля IP – пакета 6. протокол DhcP  7. протокол IP  </vt:lpstr>
      <vt:lpstr>Адресация в сетях TCP/IP</vt:lpstr>
      <vt:lpstr>Презентация PowerPoint</vt:lpstr>
      <vt:lpstr>Модель протокола  TCP/ IP</vt:lpstr>
      <vt:lpstr>Презентация PowerPoint</vt:lpstr>
      <vt:lpstr>Презентация PowerPoint</vt:lpstr>
      <vt:lpstr>Презентация PowerPoint</vt:lpstr>
      <vt:lpstr>Стек протоколов TCP/IP   (1)</vt:lpstr>
      <vt:lpstr>Стек протоколов TCP/IP   (2)</vt:lpstr>
      <vt:lpstr>Составляющие модели TCP/IP</vt:lpstr>
      <vt:lpstr>Стек протоколов TCP/IP ( 3)</vt:lpstr>
      <vt:lpstr>Стек протоколов TCP/IP ( 4 )</vt:lpstr>
      <vt:lpstr>Стек протоколов TCP/IP ( 5)</vt:lpstr>
      <vt:lpstr>Презентация PowerPoint</vt:lpstr>
      <vt:lpstr>Сетенезависимые уровни стека TCP/IP</vt:lpstr>
      <vt:lpstr>Модель OSI</vt:lpstr>
      <vt:lpstr>Название единиц данных, используемых в TCP/IP</vt:lpstr>
      <vt:lpstr>Название единиц данных, используемых в TCP/IP</vt:lpstr>
      <vt:lpstr>     5.2 Типы адресов TCP/IP . Адресация в сетях TCP/IP    </vt:lpstr>
      <vt:lpstr>Адресация в сетях TCP/IP</vt:lpstr>
      <vt:lpstr>Типы адресов TCP/IP(1)</vt:lpstr>
      <vt:lpstr>Типы адресов TCP/IP (2)</vt:lpstr>
      <vt:lpstr>Типы адресов TCP/IP ( 4)</vt:lpstr>
      <vt:lpstr>Типы адресов TCP/IP ( 3)</vt:lpstr>
      <vt:lpstr>5.3. Организация доменных имен и доменов.   </vt:lpstr>
      <vt:lpstr>Организация доменов и доменных имен (1)</vt:lpstr>
      <vt:lpstr>Отображение символьных адресов на IP-адреса: служба DNS RFC 1034 и 1035</vt:lpstr>
      <vt:lpstr>Организация доменов и доменных имен (2)</vt:lpstr>
      <vt:lpstr>Организация доменов и доменных имен (3)</vt:lpstr>
      <vt:lpstr>5.4Система доменных имен (DNS). </vt:lpstr>
      <vt:lpstr>Система  доменных имен (DNS) (1)</vt:lpstr>
      <vt:lpstr>Система  доменных имен (DNS) (2)</vt:lpstr>
      <vt:lpstr>Система  доменных имен (DNS) (3)</vt:lpstr>
      <vt:lpstr>Система  доменных имен (DNS) (4)</vt:lpstr>
      <vt:lpstr>Иерархия DNS-серверов </vt:lpstr>
      <vt:lpstr>5.5 Способы определения доменных имен </vt:lpstr>
      <vt:lpstr>Система DNS.Процедуры разрешения имен</vt:lpstr>
      <vt:lpstr>Способы определения доменных имен (1)</vt:lpstr>
      <vt:lpstr>Пример итерационного определения доменного имени</vt:lpstr>
      <vt:lpstr>Способы определения доменных имен (2)</vt:lpstr>
      <vt:lpstr>Рекурсивный метод разрешения запросов</vt:lpstr>
      <vt:lpstr>Алгоритм разрешения имен</vt:lpstr>
      <vt:lpstr>Презентация PowerPoint</vt:lpstr>
      <vt:lpstr> Адреса TCP/IP.</vt:lpstr>
      <vt:lpstr>Протокол ARP – разрешения адресов (1а)</vt:lpstr>
      <vt:lpstr>Протокол ARP – разрешения адресов (1б)</vt:lpstr>
      <vt:lpstr>Презентация PowerPoint</vt:lpstr>
      <vt:lpstr>Преобразование IP-адресов на локальные адреса(1в)</vt:lpstr>
      <vt:lpstr>Преобразование IP-адресов на локальные адреса</vt:lpstr>
      <vt:lpstr>Преобразование IP-адресов на локальные адреса(2)</vt:lpstr>
      <vt:lpstr>Работа протокола ARP</vt:lpstr>
      <vt:lpstr>Работа протокола ARP(1) </vt:lpstr>
      <vt:lpstr>Работа ARP</vt:lpstr>
      <vt:lpstr>Работа протокола ARP(2) </vt:lpstr>
      <vt:lpstr>Презентация PowerPoint</vt:lpstr>
      <vt:lpstr>Презентация PowerPoint</vt:lpstr>
      <vt:lpstr>5.8    Порядок назначение и распределение IP адресов.  </vt:lpstr>
      <vt:lpstr>Адресация в сетях TCP/IP</vt:lpstr>
      <vt:lpstr>Порядок назначения IP – адресов. Централизованное распределение адресов</vt:lpstr>
      <vt:lpstr>Порядок назначения IP – адресов. Централизованное распределение адресов</vt:lpstr>
      <vt:lpstr>Порядок назначения IP – адресов. Назначение адресов автономной сети</vt:lpstr>
      <vt:lpstr> Назначение и распределение IP адресов</vt:lpstr>
      <vt:lpstr>Назначение и распределение IP адресов</vt:lpstr>
      <vt:lpstr>Форма записи IP адреса.  </vt:lpstr>
      <vt:lpstr>Форма записи IP- адреса(1)</vt:lpstr>
      <vt:lpstr>Форма записи IP-адреса(2)</vt:lpstr>
      <vt:lpstr>Форма записи IP-адреса(3)</vt:lpstr>
      <vt:lpstr>Форма записи IP-адреса(4)</vt:lpstr>
      <vt:lpstr>Способы адресации. Общие сведения. </vt:lpstr>
      <vt:lpstr>Способы адресации(1)</vt:lpstr>
      <vt:lpstr>Способы адресации - бесклассовый (2)</vt:lpstr>
      <vt:lpstr>Способы адресации – классовый (3)</vt:lpstr>
      <vt:lpstr>Классы IP-адресов </vt:lpstr>
      <vt:lpstr>Характеристики адресов(1вар)</vt:lpstr>
      <vt:lpstr>Структура IP-адресов</vt:lpstr>
      <vt:lpstr>Презентация PowerPoint</vt:lpstr>
      <vt:lpstr>Формат IP – адреса.  Особые IP-адреса.</vt:lpstr>
      <vt:lpstr>Формат IP – адреса. Особые IP-адреса(1а)</vt:lpstr>
      <vt:lpstr>Формат IP – адреса. Особые IP-адреса(1б)</vt:lpstr>
      <vt:lpstr>Формат IP – адреса. Особые IP-адреса (2)</vt:lpstr>
      <vt:lpstr>Бесклассовый способ адресации -CIDR </vt:lpstr>
      <vt:lpstr>Порядок назначения IP – адресов. Технология CIDR</vt:lpstr>
      <vt:lpstr>Порядок назначения IP – адресов. Технология CIDR</vt:lpstr>
      <vt:lpstr>Бесклассовая адресация -  технология  CIDR(1) </vt:lpstr>
      <vt:lpstr>Бесклассовая адресация -  технология  CIDR (2)</vt:lpstr>
      <vt:lpstr>Схема распределения адресного пространства в соответствии с CIDR    (3)</vt:lpstr>
      <vt:lpstr>Виды сообщения адресации</vt:lpstr>
      <vt:lpstr>Сообщения адресации</vt:lpstr>
      <vt:lpstr>Широковещание </vt:lpstr>
      <vt:lpstr>Протокол DHCP  -протокол автоматического назначения  IP - адресов</vt:lpstr>
      <vt:lpstr>Протокол динамической настройки узлов (DHCP)(1)</vt:lpstr>
      <vt:lpstr>Протокол DHCP- это протокол автоматического назначения IP - адресов</vt:lpstr>
      <vt:lpstr>Автоматическое выделение адресов. Протокол DHCP(1)</vt:lpstr>
      <vt:lpstr>Автоматическое выделение адресов. Протокол DHCP(2)</vt:lpstr>
      <vt:lpstr>Процедура получения IP - адреса</vt:lpstr>
      <vt:lpstr>Автоматическое выделение адресов. Протокол DHCP(3)</vt:lpstr>
      <vt:lpstr>Автоматизация процесса назначения IP-адресов узлам сети - протокол DHCP</vt:lpstr>
      <vt:lpstr>I 5.6 Использование масок при IP адресации.  Создание подсетей . Маска сети  </vt:lpstr>
      <vt:lpstr>Использовании масок при IP адресации</vt:lpstr>
      <vt:lpstr>Подсети </vt:lpstr>
      <vt:lpstr>Презентация PowerPoint</vt:lpstr>
      <vt:lpstr>Презентация PowerPoint</vt:lpstr>
      <vt:lpstr>Наложение маски на IP-адрес</vt:lpstr>
      <vt:lpstr>Маска IP адреса(2) </vt:lpstr>
      <vt:lpstr>Пример деления сети на подсети</vt:lpstr>
      <vt:lpstr>Маска подсети на примере класса B</vt:lpstr>
      <vt:lpstr>Формат IP – адреса.  Использование масок при  IP -адресации</vt:lpstr>
      <vt:lpstr>Формат IP – адреса.  Использование масок при  IP -адресации</vt:lpstr>
      <vt:lpstr>Формат IP – адреса.  Использование масок при IP -адресации</vt:lpstr>
      <vt:lpstr>Презентация PowerPoint</vt:lpstr>
      <vt:lpstr>Презентация PowerPoint</vt:lpstr>
      <vt:lpstr>Пример образования подсетей  </vt:lpstr>
      <vt:lpstr>Выводы </vt:lpstr>
      <vt:lpstr>Выводы по стеку протоколов TCP/IP (1-4)</vt:lpstr>
      <vt:lpstr>Выводы(1)</vt:lpstr>
      <vt:lpstr>Выводы(2)</vt:lpstr>
      <vt:lpstr>Выводы(3)</vt:lpstr>
      <vt:lpstr>Выводы(4)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Сетевой уровень протокола TCP IP</dc:title>
  <dc:creator>Настя</dc:creator>
  <cp:lastModifiedBy>HOMENOK</cp:lastModifiedBy>
  <cp:revision>619</cp:revision>
  <dcterms:created xsi:type="dcterms:W3CDTF">2022-03-21T11:01:31Z</dcterms:created>
  <dcterms:modified xsi:type="dcterms:W3CDTF">2023-04-14T15:15:21Z</dcterms:modified>
</cp:coreProperties>
</file>