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Default Extension="wmf" ContentType="image/x-wmf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0"/>
  </p:notesMasterIdLst>
  <p:sldIdLst>
    <p:sldId id="256" r:id="rId2"/>
    <p:sldId id="390" r:id="rId3"/>
    <p:sldId id="258" r:id="rId4"/>
    <p:sldId id="308" r:id="rId5"/>
    <p:sldId id="310" r:id="rId6"/>
    <p:sldId id="266" r:id="rId7"/>
    <p:sldId id="267" r:id="rId8"/>
    <p:sldId id="391" r:id="rId9"/>
    <p:sldId id="259" r:id="rId10"/>
    <p:sldId id="268" r:id="rId11"/>
    <p:sldId id="307" r:id="rId12"/>
    <p:sldId id="270" r:id="rId13"/>
    <p:sldId id="392" r:id="rId14"/>
    <p:sldId id="311" r:id="rId15"/>
    <p:sldId id="312" r:id="rId16"/>
    <p:sldId id="376" r:id="rId17"/>
    <p:sldId id="379" r:id="rId18"/>
    <p:sldId id="275" r:id="rId19"/>
    <p:sldId id="380" r:id="rId20"/>
    <p:sldId id="370" r:id="rId21"/>
    <p:sldId id="365" r:id="rId22"/>
    <p:sldId id="366" r:id="rId23"/>
    <p:sldId id="318" r:id="rId24"/>
    <p:sldId id="317" r:id="rId25"/>
    <p:sldId id="395" r:id="rId26"/>
    <p:sldId id="396" r:id="rId27"/>
    <p:sldId id="397" r:id="rId28"/>
    <p:sldId id="387" r:id="rId29"/>
    <p:sldId id="384" r:id="rId30"/>
    <p:sldId id="385" r:id="rId31"/>
    <p:sldId id="350" r:id="rId32"/>
    <p:sldId id="346" r:id="rId33"/>
    <p:sldId id="388" r:id="rId34"/>
    <p:sldId id="393" r:id="rId35"/>
    <p:sldId id="351" r:id="rId36"/>
    <p:sldId id="325" r:id="rId37"/>
    <p:sldId id="394" r:id="rId38"/>
    <p:sldId id="352" r:id="rId39"/>
    <p:sldId id="362" r:id="rId40"/>
    <p:sldId id="363" r:id="rId41"/>
    <p:sldId id="357" r:id="rId42"/>
    <p:sldId id="358" r:id="rId43"/>
    <p:sldId id="359" r:id="rId44"/>
    <p:sldId id="360" r:id="rId45"/>
    <p:sldId id="332" r:id="rId46"/>
    <p:sldId id="389" r:id="rId47"/>
    <p:sldId id="343" r:id="rId48"/>
    <p:sldId id="333" r:id="rId49"/>
    <p:sldId id="337" r:id="rId50"/>
    <p:sldId id="418" r:id="rId51"/>
    <p:sldId id="340" r:id="rId52"/>
    <p:sldId id="341" r:id="rId53"/>
    <p:sldId id="324" r:id="rId54"/>
    <p:sldId id="411" r:id="rId55"/>
    <p:sldId id="399" r:id="rId56"/>
    <p:sldId id="400" r:id="rId57"/>
    <p:sldId id="401" r:id="rId58"/>
    <p:sldId id="402" r:id="rId59"/>
    <p:sldId id="403" r:id="rId60"/>
    <p:sldId id="404" r:id="rId61"/>
    <p:sldId id="405" r:id="rId62"/>
    <p:sldId id="406" r:id="rId63"/>
    <p:sldId id="407" r:id="rId64"/>
    <p:sldId id="408" r:id="rId65"/>
    <p:sldId id="409" r:id="rId66"/>
    <p:sldId id="410" r:id="rId67"/>
    <p:sldId id="284" r:id="rId68"/>
    <p:sldId id="413" r:id="rId69"/>
    <p:sldId id="285" r:id="rId70"/>
    <p:sldId id="416" r:id="rId71"/>
    <p:sldId id="286" r:id="rId72"/>
    <p:sldId id="412" r:id="rId73"/>
    <p:sldId id="377" r:id="rId74"/>
    <p:sldId id="288" r:id="rId75"/>
    <p:sldId id="289" r:id="rId76"/>
    <p:sldId id="414" r:id="rId77"/>
    <p:sldId id="417" r:id="rId78"/>
    <p:sldId id="415" r:id="rId7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1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E0D7FA-86B4-4CA2-BF63-4F3C76EB76ED}" type="datetimeFigureOut">
              <a:rPr lang="ru-RU" smtClean="0"/>
              <a:pPr/>
              <a:t>28.04.2023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CD6B4F-DC96-4B9B-AFD6-42643DBA7F4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103229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708AD2-E3D8-4453-A2CA-92BDC8EBFC4B}" type="slidenum">
              <a:rPr lang="ru-RU" smtClean="0"/>
              <a:pPr/>
              <a:t>5</a:t>
            </a:fld>
            <a:endParaRPr lang="ru-RU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ru-RU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ru-RU" smtClean="0"/>
          </a:p>
        </p:txBody>
      </p:sp>
      <p:sp>
        <p:nvSpPr>
          <p:cNvPr id="41988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7C738D-0979-4D39-BA43-92E6B887F259}" type="slidenum">
              <a:rPr lang="ru-RU" smtClean="0"/>
              <a:pPr>
                <a:defRPr/>
              </a:pPr>
              <a:t>9</a:t>
            </a:fld>
            <a:endParaRPr lang="ru-R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28.04.2023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28.04.2023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28.04.2023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28.04.2023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28.04.2023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28.04.2023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8"/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70667"/>
            <a:ext cx="6619245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5024967"/>
            <a:ext cx="6619244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pPr/>
              <a:t>4/28/2023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28.04.2023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760640"/>
          </a:xfrm>
        </p:spPr>
        <p:txBody>
          <a:bodyPr/>
          <a:lstStyle/>
          <a:p>
            <a:r>
              <a:rPr lang="ru-RU" dirty="0" smtClean="0">
                <a:solidFill>
                  <a:srgbClr val="7030A0"/>
                </a:solidFill>
              </a:rPr>
              <a:t>6 лекция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en-US" dirty="0" smtClean="0">
                <a:solidFill>
                  <a:srgbClr val="7030A0"/>
                </a:solidFill>
              </a:rPr>
              <a:t>IP </a:t>
            </a:r>
            <a:r>
              <a:rPr lang="ru-RU" dirty="0" smtClean="0">
                <a:solidFill>
                  <a:srgbClr val="7030A0"/>
                </a:solidFill>
              </a:rPr>
              <a:t>протокол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Формат кадра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 Маршрутизация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en-US" dirty="0" smtClean="0">
                <a:solidFill>
                  <a:srgbClr val="7030A0"/>
                </a:solidFill>
              </a:rPr>
              <a:t>IPv4</a:t>
            </a:r>
            <a:br>
              <a:rPr lang="en-US" dirty="0" smtClean="0">
                <a:solidFill>
                  <a:srgbClr val="7030A0"/>
                </a:solidFill>
              </a:rPr>
            </a:br>
            <a:r>
              <a:rPr lang="en-US" dirty="0" smtClean="0">
                <a:solidFill>
                  <a:srgbClr val="7030A0"/>
                </a:solidFill>
              </a:rPr>
              <a:t>IPv6</a:t>
            </a:r>
            <a:br>
              <a:rPr lang="en-US" dirty="0" smtClean="0">
                <a:solidFill>
                  <a:srgbClr val="7030A0"/>
                </a:solidFill>
              </a:rPr>
            </a:br>
            <a:r>
              <a:rPr lang="en-US" dirty="0" smtClean="0">
                <a:solidFill>
                  <a:srgbClr val="7030A0"/>
                </a:solidFill>
              </a:rPr>
              <a:t>OSPF</a:t>
            </a:r>
            <a:endParaRPr lang="ru-RU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484784"/>
            <a:ext cx="8229600" cy="2520280"/>
          </a:xfrm>
        </p:spPr>
        <p:txBody>
          <a:bodyPr>
            <a:normAutofit/>
          </a:bodyPr>
          <a:lstStyle/>
          <a:p>
            <a:r>
              <a:rPr lang="ru-RU" sz="4000" dirty="0" smtClean="0">
                <a:solidFill>
                  <a:srgbClr val="7030A0"/>
                </a:solidFill>
              </a:rPr>
              <a:t>Основные операции  протокола </a:t>
            </a:r>
            <a:r>
              <a:rPr lang="en-US" sz="4000" dirty="0" smtClean="0">
                <a:solidFill>
                  <a:srgbClr val="7030A0"/>
                </a:solidFill>
              </a:rPr>
              <a:t>IP</a:t>
            </a:r>
            <a:r>
              <a:rPr lang="ru-RU" sz="4000" dirty="0" smtClean="0">
                <a:solidFill>
                  <a:srgbClr val="7030A0"/>
                </a:solidFill>
              </a:rPr>
              <a:t>  </a:t>
            </a:r>
            <a:endParaRPr lang="ru-RU" sz="40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6712"/>
          </a:xfrm>
        </p:spPr>
        <p:txBody>
          <a:bodyPr>
            <a:normAutofit/>
          </a:bodyPr>
          <a:lstStyle/>
          <a:p>
            <a:r>
              <a:rPr lang="ru-RU" sz="4000" dirty="0" smtClean="0">
                <a:solidFill>
                  <a:srgbClr val="7030A0"/>
                </a:solidFill>
              </a:rPr>
              <a:t>Межсетевой уровень(1)</a:t>
            </a:r>
            <a:endParaRPr lang="ru-RU" sz="40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908720"/>
            <a:ext cx="8892480" cy="561662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Предоставляет услуги, позволяющие конечным устройствам обмениваться </a:t>
            </a:r>
            <a:r>
              <a:rPr lang="ru-RU" sz="2800" dirty="0" smtClean="0"/>
              <a:t>данными.</a:t>
            </a:r>
            <a:endParaRPr lang="ru-RU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IP версии 4 (IPv4) и IP версии 6 (IPv6) являются протоколами связи основного сетевого уровня.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02060"/>
                </a:solidFill>
              </a:rPr>
              <a:t>Сетевой слой выполняет четыре основные операции: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Адресация оконечных </a:t>
            </a:r>
            <a:r>
              <a:rPr lang="ru-RU" dirty="0" smtClean="0"/>
              <a:t>устройств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 smtClean="0"/>
              <a:t>Фрагментация   (</a:t>
            </a:r>
            <a:r>
              <a:rPr lang="en-US" dirty="0" smtClean="0"/>
              <a:t>IPv4)</a:t>
            </a:r>
            <a:endParaRPr lang="ru-RU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Инкапсуляция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Маршрутизация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 err="1"/>
              <a:t>Деинкапсуляция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716039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04056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Межсетевой уровень(2)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692696"/>
            <a:ext cx="8712968" cy="59046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Сетевой уровень устанавливает максимальный блок передачи </a:t>
            </a:r>
            <a:r>
              <a:rPr lang="ru-RU" dirty="0" smtClean="0"/>
              <a:t>данных </a:t>
            </a:r>
            <a:r>
              <a:rPr lang="ru-RU" dirty="0"/>
              <a:t>(MTU</a:t>
            </a:r>
            <a:r>
              <a:rPr lang="ru-RU" dirty="0" smtClean="0"/>
              <a:t>):</a:t>
            </a:r>
            <a:endParaRPr lang="ru-RU" dirty="0"/>
          </a:p>
          <a:p>
            <a:pPr lvl="1"/>
            <a:r>
              <a:rPr lang="ru-RU" sz="3200" dirty="0"/>
              <a:t>Сетевой уровень получает это из управляющей информации, </a:t>
            </a:r>
            <a:r>
              <a:rPr lang="ru-RU" sz="3200" dirty="0" smtClean="0"/>
              <a:t>отправленной транспортным уровнем</a:t>
            </a:r>
            <a:r>
              <a:rPr lang="ru-RU" sz="3200" dirty="0"/>
              <a:t>.</a:t>
            </a:r>
          </a:p>
          <a:p>
            <a:pPr lvl="1"/>
            <a:r>
              <a:rPr lang="ru-RU" sz="3200" dirty="0"/>
              <a:t>Затем сеть устанавливает размер MTU.</a:t>
            </a:r>
          </a:p>
          <a:p>
            <a:pPr marL="0" indent="0">
              <a:buNone/>
            </a:pPr>
            <a:r>
              <a:rPr lang="ru-RU" dirty="0">
                <a:solidFill>
                  <a:srgbClr val="002060"/>
                </a:solidFill>
              </a:rPr>
              <a:t>Фрагментация — это когда уровень 3 разбивает пакет IPv4 на более мелкие единицы.</a:t>
            </a:r>
          </a:p>
          <a:p>
            <a:pPr lvl="1"/>
            <a:r>
              <a:rPr lang="ru-RU" sz="3200" i="1" dirty="0"/>
              <a:t>Фрагментация вызывает задержку</a:t>
            </a:r>
            <a:r>
              <a:rPr lang="ru-RU" sz="3200" dirty="0"/>
              <a:t>.</a:t>
            </a:r>
          </a:p>
          <a:p>
            <a:pPr lvl="1"/>
            <a:r>
              <a:rPr lang="ru-RU" sz="3200" dirty="0"/>
              <a:t>IPv6 не фрагментирует пакеты.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4150004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477" name="Rectangle 13"/>
          <p:cNvSpPr>
            <a:spLocks noChangeArrowheads="1"/>
          </p:cNvSpPr>
          <p:nvPr/>
        </p:nvSpPr>
        <p:spPr bwMode="auto">
          <a:xfrm>
            <a:off x="395536" y="228600"/>
            <a:ext cx="777686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dirty="0">
                <a:solidFill>
                  <a:srgbClr val="7030A0"/>
                </a:solidFill>
                <a:latin typeface="Verdana" pitchFamily="34" charset="0"/>
              </a:rPr>
              <a:t>IP </a:t>
            </a:r>
            <a:r>
              <a:rPr lang="ru-RU" sz="3200" dirty="0" smtClean="0">
                <a:solidFill>
                  <a:srgbClr val="7030A0"/>
                </a:solidFill>
                <a:latin typeface="Verdana" pitchFamily="34" charset="0"/>
              </a:rPr>
              <a:t>фрагментация(1)</a:t>
            </a:r>
            <a:endParaRPr lang="ru-RU" sz="3200" dirty="0">
              <a:solidFill>
                <a:srgbClr val="7030A0"/>
              </a:solidFill>
              <a:latin typeface="Verdana" pitchFamily="34" charset="0"/>
            </a:endParaRPr>
          </a:p>
        </p:txBody>
      </p:sp>
      <p:sp>
        <p:nvSpPr>
          <p:cNvPr id="702478" name="Rectangle 14"/>
          <p:cNvSpPr>
            <a:spLocks noChangeArrowheads="1"/>
          </p:cNvSpPr>
          <p:nvPr/>
        </p:nvSpPr>
        <p:spPr bwMode="auto">
          <a:xfrm>
            <a:off x="2771775" y="2344738"/>
            <a:ext cx="5357813" cy="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468" name="Rectangle 15"/>
          <p:cNvSpPr>
            <a:spLocks noChangeArrowheads="1"/>
          </p:cNvSpPr>
          <p:nvPr/>
        </p:nvSpPr>
        <p:spPr bwMode="auto">
          <a:xfrm>
            <a:off x="250825" y="764704"/>
            <a:ext cx="8893175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buClr>
                <a:srgbClr val="99CCFF"/>
              </a:buClr>
              <a:buFont typeface="Wingdings" pitchFamily="2" charset="2"/>
              <a:buNone/>
            </a:pPr>
            <a:r>
              <a:rPr lang="ru-RU" sz="2000" b="0" dirty="0"/>
              <a:t>      Приложениям, которые пользуются </a:t>
            </a:r>
            <a:r>
              <a:rPr lang="en-US" sz="2000" b="0" dirty="0"/>
              <a:t>UDP </a:t>
            </a:r>
            <a:r>
              <a:rPr lang="ru-RU" sz="2000" b="0" dirty="0"/>
              <a:t>для отправки данных, </a:t>
            </a:r>
            <a:r>
              <a:rPr lang="en-US" sz="2000" b="0" dirty="0"/>
              <a:t> </a:t>
            </a:r>
            <a:r>
              <a:rPr lang="ru-RU" sz="2000" b="0" dirty="0"/>
              <a:t>нет необходимости заботиться о размере получившейся в </a:t>
            </a:r>
            <a:r>
              <a:rPr lang="ru-RU" sz="2000" b="0" dirty="0" smtClean="0"/>
              <a:t>результате</a:t>
            </a:r>
          </a:p>
          <a:p>
            <a:pPr algn="l">
              <a:buClr>
                <a:srgbClr val="99CCFF"/>
              </a:buClr>
              <a:buFont typeface="Wingdings" pitchFamily="2" charset="2"/>
              <a:buNone/>
            </a:pPr>
            <a:r>
              <a:rPr lang="ru-RU" sz="2000" b="0" dirty="0" smtClean="0"/>
              <a:t> </a:t>
            </a:r>
            <a:r>
              <a:rPr lang="en-US" sz="2000" b="0" dirty="0" smtClean="0"/>
              <a:t>IP</a:t>
            </a:r>
            <a:r>
              <a:rPr lang="ru-RU" sz="2000" b="0" dirty="0" smtClean="0"/>
              <a:t>- </a:t>
            </a:r>
            <a:r>
              <a:rPr lang="ru-RU" sz="2000" b="0" dirty="0"/>
              <a:t>датаграммы (лишь бы она не выходила за пределы 64кб, максимального размера).</a:t>
            </a:r>
          </a:p>
          <a:p>
            <a:pPr algn="l">
              <a:buClr>
                <a:srgbClr val="99CCFF"/>
              </a:buClr>
              <a:buFont typeface="Wingdings" pitchFamily="2" charset="2"/>
              <a:buNone/>
            </a:pPr>
            <a:r>
              <a:rPr lang="ru-RU" sz="2000" b="0" dirty="0"/>
              <a:t>      Если она по размеру больше, чем </a:t>
            </a:r>
            <a:r>
              <a:rPr lang="en-US" sz="2000" b="0" dirty="0"/>
              <a:t>MTU</a:t>
            </a:r>
            <a:r>
              <a:rPr lang="ru-RU" sz="2000" b="0" dirty="0"/>
              <a:t> для данной сети, </a:t>
            </a:r>
            <a:r>
              <a:rPr lang="en-US" sz="2000" b="0" dirty="0"/>
              <a:t>IP </a:t>
            </a:r>
            <a:r>
              <a:rPr lang="ru-RU" sz="2000" b="0" dirty="0" err="1"/>
              <a:t>датаграмма</a:t>
            </a:r>
            <a:r>
              <a:rPr lang="ru-RU" sz="2000" b="0" dirty="0"/>
              <a:t> будет фрагментирована. На рисунке приведен пример фрагментации поверх </a:t>
            </a:r>
            <a:r>
              <a:rPr lang="en-US" sz="2000" b="0" dirty="0"/>
              <a:t>Ethernet</a:t>
            </a:r>
            <a:r>
              <a:rPr lang="ru-RU" sz="2000" b="0" dirty="0"/>
              <a:t>.</a:t>
            </a:r>
          </a:p>
        </p:txBody>
      </p:sp>
      <p:graphicFrame>
        <p:nvGraphicFramePr>
          <p:cNvPr id="702506" name="Group 42"/>
          <p:cNvGraphicFramePr>
            <a:graphicFrameLocks noGrp="1"/>
          </p:cNvGraphicFramePr>
          <p:nvPr/>
        </p:nvGraphicFramePr>
        <p:xfrm>
          <a:off x="1676400" y="3124200"/>
          <a:ext cx="5715000" cy="640080"/>
        </p:xfrm>
        <a:graphic>
          <a:graphicData uri="http://schemas.openxmlformats.org/drawingml/2006/table">
            <a:tbl>
              <a:tblPr/>
              <a:tblGrid>
                <a:gridCol w="1228725"/>
                <a:gridCol w="1227138"/>
                <a:gridCol w="3259137"/>
              </a:tblGrid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Заголовок 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IP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Заголовок 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UDP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Данные 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UDP</a:t>
                      </a: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(1473 байта)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02507" name="Group 43"/>
          <p:cNvGraphicFramePr>
            <a:graphicFrameLocks noGrp="1"/>
          </p:cNvGraphicFramePr>
          <p:nvPr/>
        </p:nvGraphicFramePr>
        <p:xfrm>
          <a:off x="533400" y="4724400"/>
          <a:ext cx="5715000" cy="640080"/>
        </p:xfrm>
        <a:graphic>
          <a:graphicData uri="http://schemas.openxmlformats.org/drawingml/2006/table">
            <a:tbl>
              <a:tblPr/>
              <a:tblGrid>
                <a:gridCol w="1228725"/>
                <a:gridCol w="1227138"/>
                <a:gridCol w="3259137"/>
              </a:tblGrid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Заголовок 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IP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Заголовок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UDP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Данные 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UDP</a:t>
                      </a: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(1472 байта)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02552" name="Group 88"/>
          <p:cNvGraphicFramePr>
            <a:graphicFrameLocks noGrp="1"/>
          </p:cNvGraphicFramePr>
          <p:nvPr/>
        </p:nvGraphicFramePr>
        <p:xfrm>
          <a:off x="6629400" y="4724400"/>
          <a:ext cx="2057400" cy="640080"/>
        </p:xfrm>
        <a:graphic>
          <a:graphicData uri="http://schemas.openxmlformats.org/drawingml/2006/table">
            <a:tbl>
              <a:tblPr/>
              <a:tblGrid>
                <a:gridCol w="1219200"/>
                <a:gridCol w="838200"/>
              </a:tblGrid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Заголовок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IP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UDP  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 байт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497" name="Rectangle 73"/>
          <p:cNvSpPr>
            <a:spLocks noChangeArrowheads="1"/>
          </p:cNvSpPr>
          <p:nvPr/>
        </p:nvSpPr>
        <p:spPr bwMode="auto">
          <a:xfrm>
            <a:off x="1835696" y="5589240"/>
            <a:ext cx="179967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2400" b="0" dirty="0"/>
              <a:t>пакет 1</a:t>
            </a:r>
          </a:p>
        </p:txBody>
      </p:sp>
      <p:sp>
        <p:nvSpPr>
          <p:cNvPr id="19498" name="Rectangle 74"/>
          <p:cNvSpPr>
            <a:spLocks noChangeArrowheads="1"/>
          </p:cNvSpPr>
          <p:nvPr/>
        </p:nvSpPr>
        <p:spPr bwMode="auto">
          <a:xfrm>
            <a:off x="6300193" y="5661248"/>
            <a:ext cx="170080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2400" b="0" dirty="0"/>
              <a:t>пакет 2</a:t>
            </a:r>
          </a:p>
        </p:txBody>
      </p:sp>
      <p:sp>
        <p:nvSpPr>
          <p:cNvPr id="702544" name="Line 80"/>
          <p:cNvSpPr>
            <a:spLocks noChangeShapeType="1"/>
          </p:cNvSpPr>
          <p:nvPr/>
        </p:nvSpPr>
        <p:spPr bwMode="auto">
          <a:xfrm flipV="1">
            <a:off x="533400" y="3733800"/>
            <a:ext cx="1143000" cy="9906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02545" name="Line 81"/>
          <p:cNvSpPr>
            <a:spLocks noChangeShapeType="1"/>
          </p:cNvSpPr>
          <p:nvPr/>
        </p:nvSpPr>
        <p:spPr bwMode="auto">
          <a:xfrm flipH="1">
            <a:off x="1752600" y="3733800"/>
            <a:ext cx="1143000" cy="9906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02546" name="Line 82"/>
          <p:cNvSpPr>
            <a:spLocks noChangeShapeType="1"/>
          </p:cNvSpPr>
          <p:nvPr/>
        </p:nvSpPr>
        <p:spPr bwMode="auto">
          <a:xfrm flipH="1">
            <a:off x="2971800" y="3733800"/>
            <a:ext cx="1143000" cy="9906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02547" name="Line 83"/>
          <p:cNvSpPr>
            <a:spLocks noChangeShapeType="1"/>
          </p:cNvSpPr>
          <p:nvPr/>
        </p:nvSpPr>
        <p:spPr bwMode="auto">
          <a:xfrm>
            <a:off x="7391400" y="3733800"/>
            <a:ext cx="1295400" cy="9906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02548" name="Line 84"/>
          <p:cNvSpPr>
            <a:spLocks noChangeShapeType="1"/>
          </p:cNvSpPr>
          <p:nvPr/>
        </p:nvSpPr>
        <p:spPr bwMode="auto">
          <a:xfrm>
            <a:off x="7162800" y="3733800"/>
            <a:ext cx="685800" cy="9906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02549" name="Line 85"/>
          <p:cNvSpPr>
            <a:spLocks noChangeShapeType="1"/>
          </p:cNvSpPr>
          <p:nvPr/>
        </p:nvSpPr>
        <p:spPr bwMode="auto">
          <a:xfrm flipH="1">
            <a:off x="6248400" y="3733800"/>
            <a:ext cx="914400" cy="9906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02550" name="Line 86"/>
          <p:cNvSpPr>
            <a:spLocks noChangeShapeType="1"/>
          </p:cNvSpPr>
          <p:nvPr/>
        </p:nvSpPr>
        <p:spPr bwMode="auto">
          <a:xfrm>
            <a:off x="7162800" y="31242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IP </a:t>
            </a:r>
            <a:r>
              <a:rPr lang="ru-RU" dirty="0">
                <a:solidFill>
                  <a:srgbClr val="7030A0"/>
                </a:solidFill>
              </a:rPr>
              <a:t>инкапсуляция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Протокол IP инкапсулирует сегмент </a:t>
            </a:r>
            <a:r>
              <a:rPr lang="ru-RU" dirty="0"/>
              <a:t>транспортного уровня.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IP может использовать пакет IPv4 или IPv6 </a:t>
            </a:r>
            <a:r>
              <a:rPr lang="ru-RU" dirty="0"/>
              <a:t>и не влияет на сегмент уровня 4.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IP-пакет будет проверяться всеми устройствами уровня 3 по мере прохождения сети.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IP-адресация не изменяется от источника к адресату.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959851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7030A0"/>
                </a:solidFill>
              </a:rPr>
              <a:t>IP инкапсуляция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472608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2960" y="1845734"/>
            <a:ext cx="5756503" cy="435186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358657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772816"/>
            <a:ext cx="8229600" cy="2088232"/>
          </a:xfrm>
        </p:spPr>
        <p:txBody>
          <a:bodyPr/>
          <a:lstStyle/>
          <a:p>
            <a:r>
              <a:rPr lang="ru-RU" dirty="0" smtClean="0">
                <a:solidFill>
                  <a:srgbClr val="7030A0"/>
                </a:solidFill>
              </a:rPr>
              <a:t>Характеристики протокола IP</a:t>
            </a: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sz="36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Межсетевой протокол IP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179512" y="980728"/>
            <a:ext cx="8461448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</a:rPr>
              <a:t>    Межсетевой </a:t>
            </a:r>
            <a:r>
              <a:rPr lang="ru-RU" sz="2400" dirty="0">
                <a:latin typeface="Times New Roman" pitchFamily="18" charset="0"/>
              </a:rPr>
              <a:t>протокол (</a:t>
            </a:r>
            <a:r>
              <a:rPr lang="ru-RU" sz="2400" dirty="0" err="1">
                <a:latin typeface="Times New Roman" pitchFamily="18" charset="0"/>
              </a:rPr>
              <a:t>Internet</a:t>
            </a:r>
            <a:r>
              <a:rPr lang="ru-RU" sz="2400" dirty="0">
                <a:latin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</a:rPr>
              <a:t>pr</a:t>
            </a:r>
            <a:r>
              <a:rPr lang="en-US" sz="2400" dirty="0">
                <a:latin typeface="Times New Roman" pitchFamily="18" charset="0"/>
              </a:rPr>
              <a:t>o</a:t>
            </a:r>
            <a:r>
              <a:rPr lang="ru-RU" sz="2400" dirty="0" err="1">
                <a:latin typeface="Times New Roman" pitchFamily="18" charset="0"/>
              </a:rPr>
              <a:t>tocol</a:t>
            </a:r>
            <a:r>
              <a:rPr lang="ru-RU" sz="2400" dirty="0">
                <a:latin typeface="Times New Roman" pitchFamily="18" charset="0"/>
              </a:rPr>
              <a:t>, 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</a:rPr>
              <a:t>IP) предназначен для связи сетей передачи данных</a:t>
            </a:r>
            <a:r>
              <a:rPr lang="ru-RU" sz="2400" dirty="0">
                <a:latin typeface="Times New Roman" pitchFamily="18" charset="0"/>
              </a:rPr>
              <a:t>, использующих коммутацию пакетов.</a:t>
            </a:r>
          </a:p>
          <a:p>
            <a:pPr>
              <a:spcBef>
                <a:spcPct val="50000"/>
              </a:spcBef>
              <a:buFont typeface="Arial" pitchFamily="34" charset="0"/>
              <a:buChar char="•"/>
            </a:pPr>
            <a:r>
              <a:rPr lang="ru-RU" sz="2400" dirty="0">
                <a:latin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</a:rPr>
              <a:t>   </a:t>
            </a: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</a:rPr>
              <a:t>Данный 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</a:rPr>
              <a:t>протокол предоставляет услуги без установления связи </a:t>
            </a:r>
            <a:r>
              <a:rPr lang="ru-RU" sz="2400" dirty="0">
                <a:latin typeface="Times New Roman" pitchFamily="18" charset="0"/>
              </a:rPr>
              <a:t>между источником и </a:t>
            </a:r>
            <a:r>
              <a:rPr lang="ru-RU" sz="2400" dirty="0" smtClean="0">
                <a:latin typeface="Times New Roman" pitchFamily="18" charset="0"/>
              </a:rPr>
              <a:t>получателем.</a:t>
            </a:r>
            <a:endParaRPr lang="ru-RU" sz="2400" dirty="0">
              <a:latin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51520" y="3068960"/>
            <a:ext cx="8640960" cy="290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</a:rPr>
              <a:t>  </a:t>
            </a: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</a:rPr>
              <a:t>Определяет форму передачи информации по </a:t>
            </a: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</a:rPr>
              <a:t>IP</a:t>
            </a: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</a:rPr>
              <a:t> сети.</a:t>
            </a:r>
          </a:p>
          <a:p>
            <a:pPr>
              <a:spcBef>
                <a:spcPct val="50000"/>
              </a:spcBef>
              <a:buFont typeface="Arial" charset="0"/>
              <a:buChar char="•"/>
            </a:pPr>
            <a:r>
              <a:rPr lang="ru-RU" sz="2400" dirty="0" smtClean="0">
                <a:latin typeface="Times New Roman" pitchFamily="18" charset="0"/>
              </a:rPr>
              <a:t>  </a:t>
            </a: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</a:rPr>
              <a:t>Устанавливает принципы адресации </a:t>
            </a:r>
            <a:r>
              <a:rPr lang="ru-RU" sz="2400" dirty="0" smtClean="0">
                <a:latin typeface="Times New Roman" pitchFamily="18" charset="0"/>
              </a:rPr>
              <a:t>в глобальной сети.</a:t>
            </a:r>
          </a:p>
          <a:p>
            <a:pPr>
              <a:spcBef>
                <a:spcPct val="50000"/>
              </a:spcBef>
              <a:buFont typeface="Arial" charset="0"/>
              <a:buChar char="•"/>
            </a:pPr>
            <a:r>
              <a:rPr lang="ru-RU" sz="2400" dirty="0" smtClean="0">
                <a:latin typeface="Times New Roman" pitchFamily="18" charset="0"/>
              </a:rPr>
              <a:t>  </a:t>
            </a: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</a:rPr>
              <a:t>Определяет принципы маршрутизации </a:t>
            </a: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</a:rPr>
              <a:t>IP</a:t>
            </a: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</a:rPr>
              <a:t> пакетов.</a:t>
            </a:r>
          </a:p>
          <a:p>
            <a:pPr>
              <a:spcBef>
                <a:spcPct val="50000"/>
              </a:spcBef>
            </a:pPr>
            <a:r>
              <a:rPr lang="ru-RU" sz="2400" dirty="0" smtClean="0">
                <a:latin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</a:rPr>
              <a:t>IP </a:t>
            </a:r>
            <a:r>
              <a:rPr lang="ru-RU" sz="2400" dirty="0" smtClean="0">
                <a:latin typeface="Times New Roman" pitchFamily="18" charset="0"/>
              </a:rPr>
              <a:t>среда – переносит </a:t>
            </a:r>
            <a:r>
              <a:rPr lang="en-US" sz="2400" dirty="0" smtClean="0">
                <a:latin typeface="Times New Roman" pitchFamily="18" charset="0"/>
              </a:rPr>
              <a:t>IP</a:t>
            </a:r>
            <a:r>
              <a:rPr lang="ru-RU" sz="2400" dirty="0" smtClean="0">
                <a:latin typeface="Times New Roman" pitchFamily="18" charset="0"/>
              </a:rPr>
              <a:t> пакеты к узлу, </a:t>
            </a:r>
            <a:r>
              <a:rPr lang="en-US" sz="2400" dirty="0" smtClean="0">
                <a:latin typeface="Times New Roman" pitchFamily="18" charset="0"/>
              </a:rPr>
              <a:t>IP</a:t>
            </a:r>
            <a:r>
              <a:rPr lang="ru-RU" sz="2400" dirty="0" smtClean="0">
                <a:latin typeface="Times New Roman" pitchFamily="18" charset="0"/>
              </a:rPr>
              <a:t> адрес которого указан в графе получателя.</a:t>
            </a:r>
          </a:p>
          <a:p>
            <a:pPr>
              <a:spcBef>
                <a:spcPct val="50000"/>
              </a:spcBef>
            </a:pPr>
            <a:endParaRPr lang="ru-RU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20688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7030A0"/>
                </a:solidFill>
              </a:rPr>
              <a:t>Характеристики протокола IP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692696"/>
            <a:ext cx="8964488" cy="61653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 smtClean="0"/>
              <a:t>            </a:t>
            </a:r>
            <a:r>
              <a:rPr lang="ru-RU" sz="2400" dirty="0" smtClean="0"/>
              <a:t>IP протокол  </a:t>
            </a:r>
            <a:r>
              <a:rPr lang="ru-RU" sz="2400" dirty="0"/>
              <a:t>может быть описан </a:t>
            </a:r>
            <a:r>
              <a:rPr lang="ru-RU" sz="2400" dirty="0" smtClean="0"/>
              <a:t>как:</a:t>
            </a:r>
            <a:endParaRPr lang="ru-RU" sz="2400" dirty="0"/>
          </a:p>
          <a:p>
            <a:pPr lvl="1"/>
            <a:r>
              <a:rPr lang="ru-RU" sz="2400" dirty="0" smtClean="0"/>
              <a:t>Протокол без </a:t>
            </a:r>
            <a:r>
              <a:rPr lang="ru-RU" sz="2400" dirty="0"/>
              <a:t>установления соединения </a:t>
            </a:r>
          </a:p>
          <a:p>
            <a:pPr lvl="1"/>
            <a:r>
              <a:rPr lang="ru-RU" sz="2400" dirty="0"/>
              <a:t>Негарантированная доставка</a:t>
            </a:r>
          </a:p>
          <a:p>
            <a:pPr lvl="1"/>
            <a:r>
              <a:rPr lang="ru-RU" sz="2400" dirty="0"/>
              <a:t>Независимость от </a:t>
            </a:r>
            <a:r>
              <a:rPr lang="ru-RU" sz="2400" dirty="0" smtClean="0"/>
              <a:t>среды</a:t>
            </a:r>
            <a:endParaRPr lang="en-US" sz="2400" dirty="0" smtClean="0"/>
          </a:p>
          <a:p>
            <a:pPr marL="0" indent="0" algn="ctr">
              <a:buNone/>
            </a:pPr>
            <a:r>
              <a:rPr lang="en-US" sz="2400" dirty="0" smtClean="0">
                <a:solidFill>
                  <a:srgbClr val="0070C0"/>
                </a:solidFill>
              </a:rPr>
              <a:t>1</a:t>
            </a:r>
            <a:r>
              <a:rPr lang="ru-RU" sz="2400" dirty="0" smtClean="0">
                <a:solidFill>
                  <a:srgbClr val="0070C0"/>
                </a:solidFill>
              </a:rPr>
              <a:t>. Протокол IP - без установления соединения. </a:t>
            </a:r>
          </a:p>
          <a:p>
            <a:r>
              <a:rPr lang="ru-RU" sz="2400" i="1" dirty="0" smtClean="0"/>
              <a:t>IP не устанавливает соединение с пунктом назначения </a:t>
            </a:r>
            <a:r>
              <a:rPr lang="ru-RU" sz="2400" dirty="0" smtClean="0"/>
              <a:t>до отправки пакета.</a:t>
            </a:r>
          </a:p>
          <a:p>
            <a:r>
              <a:rPr lang="ru-RU" sz="2400" dirty="0" smtClean="0"/>
              <a:t>Управляющая информация не требуется (синхронизация, подтверждения и т.д.).</a:t>
            </a:r>
          </a:p>
          <a:p>
            <a:r>
              <a:rPr lang="ru-RU" sz="2400" dirty="0" smtClean="0"/>
              <a:t>Пункт назначения получит пакет, когда он прибудет, но предварительные уведомления по IP не отправляются.</a:t>
            </a:r>
          </a:p>
          <a:p>
            <a:r>
              <a:rPr lang="ru-RU" sz="2400" i="1" dirty="0" smtClean="0">
                <a:solidFill>
                  <a:srgbClr val="0070C0"/>
                </a:solidFill>
              </a:rPr>
              <a:t>Если существует потребность в трафике, ориентированном на соединение, то другой протокол будет обрабатывать это (обычно TCP на транспортном уровне).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="" xmlns:p14="http://schemas.microsoft.com/office/powerpoint/2010/main" val="2945679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altLang="en-US" sz="3200" dirty="0" smtClean="0">
                <a:solidFill>
                  <a:srgbClr val="7030A0"/>
                </a:solidFill>
              </a:rPr>
              <a:t>2.   </a:t>
            </a:r>
            <a:r>
              <a:rPr lang="en-US" altLang="en-US" sz="3200" dirty="0" smtClean="0">
                <a:solidFill>
                  <a:srgbClr val="7030A0"/>
                </a:solidFill>
              </a:rPr>
              <a:t>IP</a:t>
            </a:r>
            <a:r>
              <a:rPr lang="ru-RU" altLang="en-US" sz="3200" dirty="0" smtClean="0">
                <a:solidFill>
                  <a:srgbClr val="7030A0"/>
                </a:solidFill>
              </a:rPr>
              <a:t> - протокол н</a:t>
            </a:r>
            <a:r>
              <a:rPr lang="ru-RU" sz="3200" dirty="0" smtClean="0">
                <a:solidFill>
                  <a:srgbClr val="7030A0"/>
                </a:solidFill>
              </a:rPr>
              <a:t>егарантированной доставки</a:t>
            </a:r>
            <a:endParaRPr lang="ru-RU" sz="32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544616"/>
          </a:xfrm>
        </p:spPr>
        <p:txBody>
          <a:bodyPr/>
          <a:lstStyle/>
          <a:p>
            <a:pPr marL="0" indent="0" algn="just">
              <a:buNone/>
            </a:pPr>
            <a:r>
              <a:rPr lang="ru-RU" i="1" dirty="0">
                <a:solidFill>
                  <a:srgbClr val="0070C0"/>
                </a:solidFill>
              </a:rPr>
              <a:t>IP - негарантированная </a:t>
            </a:r>
            <a:r>
              <a:rPr lang="ru-RU" i="1" dirty="0" smtClean="0">
                <a:solidFill>
                  <a:srgbClr val="0070C0"/>
                </a:solidFill>
              </a:rPr>
              <a:t>доставка:</a:t>
            </a:r>
            <a:endParaRPr lang="ru-RU" i="1" dirty="0">
              <a:solidFill>
                <a:srgbClr val="0070C0"/>
              </a:solidFill>
            </a:endParaRPr>
          </a:p>
          <a:p>
            <a:pPr algn="just">
              <a:buNone/>
            </a:pPr>
            <a:r>
              <a:rPr lang="ru-RU" dirty="0" smtClean="0"/>
              <a:t>    -  IP </a:t>
            </a:r>
            <a:r>
              <a:rPr lang="ru-RU" dirty="0"/>
              <a:t>не гарантирует доставку пакета.</a:t>
            </a:r>
          </a:p>
          <a:p>
            <a:pPr algn="just">
              <a:buNone/>
            </a:pPr>
            <a:r>
              <a:rPr lang="ru-RU" dirty="0" smtClean="0"/>
              <a:t>    - Таким </a:t>
            </a:r>
            <a:r>
              <a:rPr lang="ru-RU" dirty="0"/>
              <a:t>образом, IP сокращает накладные расходы, поскольку отсутствует механизм для повторной отправки данных, которые не получены.</a:t>
            </a:r>
          </a:p>
          <a:p>
            <a:pPr algn="just">
              <a:buNone/>
            </a:pPr>
            <a:r>
              <a:rPr lang="ru-RU" dirty="0" smtClean="0"/>
              <a:t>    - IP </a:t>
            </a:r>
            <a:r>
              <a:rPr lang="ru-RU" dirty="0"/>
              <a:t>не ожидает подтверждения.</a:t>
            </a:r>
          </a:p>
          <a:p>
            <a:pPr algn="just">
              <a:buNone/>
            </a:pPr>
            <a:r>
              <a:rPr lang="ru-RU" dirty="0" smtClean="0"/>
              <a:t>    -  IP </a:t>
            </a:r>
            <a:r>
              <a:rPr lang="ru-RU" dirty="0"/>
              <a:t>не знает, работает ли другое устройство или получило ли другое устройство пакет.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090557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712968" cy="648072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3.  </a:t>
            </a:r>
            <a:r>
              <a:rPr lang="en-US" sz="3600" dirty="0" smtClean="0">
                <a:solidFill>
                  <a:srgbClr val="7030A0"/>
                </a:solidFill>
              </a:rPr>
              <a:t>IP </a:t>
            </a:r>
            <a:r>
              <a:rPr lang="ru-RU" sz="3600" dirty="0" smtClean="0">
                <a:solidFill>
                  <a:srgbClr val="7030A0"/>
                </a:solidFill>
              </a:rPr>
              <a:t>протокол - независим </a:t>
            </a:r>
            <a:r>
              <a:rPr lang="ru-RU" sz="3600" dirty="0">
                <a:solidFill>
                  <a:srgbClr val="7030A0"/>
                </a:solidFill>
              </a:rPr>
              <a:t>от среды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764704"/>
            <a:ext cx="8964488" cy="5904656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sz="2800" dirty="0">
                <a:solidFill>
                  <a:srgbClr val="0070C0"/>
                </a:solidFill>
              </a:rPr>
              <a:t>IP ненадежен:  </a:t>
            </a:r>
          </a:p>
          <a:p>
            <a:pPr lvl="1"/>
            <a:r>
              <a:rPr lang="en-US" dirty="0" smtClean="0"/>
              <a:t>IP</a:t>
            </a:r>
            <a:r>
              <a:rPr lang="ru-RU" dirty="0" smtClean="0"/>
              <a:t> </a:t>
            </a:r>
            <a:r>
              <a:rPr lang="ru-RU" dirty="0"/>
              <a:t>не может управлять или исправлять недоставленные или поврежденные пакеты.</a:t>
            </a:r>
          </a:p>
          <a:p>
            <a:pPr lvl="1"/>
            <a:r>
              <a:rPr lang="ru-RU" dirty="0"/>
              <a:t>IP не может повторно передать информацию после ошибки.</a:t>
            </a:r>
          </a:p>
          <a:p>
            <a:pPr lvl="1"/>
            <a:r>
              <a:rPr lang="ru-RU" dirty="0"/>
              <a:t>IP не может </a:t>
            </a:r>
            <a:r>
              <a:rPr lang="ru-RU" dirty="0" smtClean="0"/>
              <a:t>восстановить последовательность </a:t>
            </a:r>
            <a:r>
              <a:rPr lang="ru-RU" dirty="0"/>
              <a:t>пакетов.</a:t>
            </a:r>
          </a:p>
          <a:p>
            <a:pPr lvl="1"/>
            <a:r>
              <a:rPr lang="ru-RU" dirty="0"/>
              <a:t>IP должен полагаться на другие </a:t>
            </a:r>
            <a:r>
              <a:rPr lang="ru-RU" dirty="0" smtClean="0"/>
              <a:t>протоколы </a:t>
            </a:r>
            <a:r>
              <a:rPr lang="ru-RU" dirty="0"/>
              <a:t>для этих функций.</a:t>
            </a:r>
          </a:p>
          <a:p>
            <a:pPr marL="0" indent="0" algn="ctr">
              <a:buNone/>
            </a:pPr>
            <a:r>
              <a:rPr lang="ru-RU" sz="2800" dirty="0">
                <a:solidFill>
                  <a:srgbClr val="0070C0"/>
                </a:solidFill>
              </a:rPr>
              <a:t>IP независим от </a:t>
            </a:r>
            <a:r>
              <a:rPr lang="ru-RU" sz="2800" dirty="0" smtClean="0">
                <a:solidFill>
                  <a:srgbClr val="0070C0"/>
                </a:solidFill>
              </a:rPr>
              <a:t>среды</a:t>
            </a:r>
            <a:r>
              <a:rPr lang="ru-RU" sz="2800" dirty="0">
                <a:solidFill>
                  <a:srgbClr val="0070C0"/>
                </a:solidFill>
              </a:rPr>
              <a:t>:</a:t>
            </a:r>
          </a:p>
          <a:p>
            <a:pPr lvl="1"/>
            <a:r>
              <a:rPr lang="ru-RU" dirty="0"/>
              <a:t>IP не имеет отношения к типу кадра, необходимому на канальном уровне, или к типу носителя на физическом уровне.</a:t>
            </a:r>
          </a:p>
          <a:p>
            <a:pPr lvl="1"/>
            <a:r>
              <a:rPr lang="ru-RU" dirty="0"/>
              <a:t>IP может передаваться по любому типу носителя</a:t>
            </a:r>
            <a:r>
              <a:rPr lang="ru-RU" dirty="0" smtClean="0"/>
              <a:t>:</a:t>
            </a:r>
          </a:p>
          <a:p>
            <a:pPr lvl="1">
              <a:buNone/>
            </a:pPr>
            <a:r>
              <a:rPr lang="ru-RU" dirty="0" smtClean="0"/>
              <a:t> </a:t>
            </a:r>
            <a:r>
              <a:rPr lang="ru-RU" dirty="0"/>
              <a:t>медь, оптоволокно или беспроводные каналы.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82171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268760"/>
            <a:ext cx="8229600" cy="2664296"/>
          </a:xfrm>
        </p:spPr>
        <p:txBody>
          <a:bodyPr/>
          <a:lstStyle/>
          <a:p>
            <a:r>
              <a:rPr lang="ru-RU" dirty="0" smtClean="0">
                <a:solidFill>
                  <a:srgbClr val="7030A0"/>
                </a:solidFill>
              </a:rPr>
              <a:t>Заголовок пакета IPv4</a:t>
            </a: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432048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7030A0"/>
                </a:solidFill>
              </a:rPr>
              <a:t>Заголовок пакета </a:t>
            </a:r>
            <a:r>
              <a:rPr lang="ru-RU" sz="3600" dirty="0" smtClean="0">
                <a:solidFill>
                  <a:srgbClr val="7030A0"/>
                </a:solidFill>
              </a:rPr>
              <a:t>IPv4</a:t>
            </a:r>
            <a:r>
              <a:rPr lang="en-US" sz="3600" dirty="0" smtClean="0">
                <a:solidFill>
                  <a:srgbClr val="7030A0"/>
                </a:solidFill>
              </a:rPr>
              <a:t>  (1)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620688"/>
            <a:ext cx="8712968" cy="60486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dirty="0" smtClean="0">
                <a:solidFill>
                  <a:srgbClr val="002060"/>
                </a:solidFill>
              </a:rPr>
              <a:t>             IPv4 </a:t>
            </a:r>
            <a:r>
              <a:rPr lang="ru-RU" sz="2800" dirty="0">
                <a:solidFill>
                  <a:srgbClr val="002060"/>
                </a:solidFill>
              </a:rPr>
              <a:t>является одним из основных протоколов связи сетевого уровня</a:t>
            </a:r>
            <a:r>
              <a:rPr lang="ru-RU" sz="2800" dirty="0" smtClean="0"/>
              <a:t>.</a:t>
            </a:r>
          </a:p>
          <a:p>
            <a:pPr marL="0" indent="0">
              <a:buNone/>
            </a:pPr>
            <a:r>
              <a:rPr lang="ru-RU" sz="2800" dirty="0" smtClean="0"/>
              <a:t>            </a:t>
            </a:r>
            <a:r>
              <a:rPr lang="en-US" sz="2800" i="1" dirty="0" smtClean="0"/>
              <a:t>IP</a:t>
            </a:r>
            <a:r>
              <a:rPr lang="ru-RU" sz="2800" i="1" dirty="0" smtClean="0"/>
              <a:t>-</a:t>
            </a:r>
            <a:r>
              <a:rPr lang="en-US" sz="2800" i="1" dirty="0" smtClean="0"/>
              <a:t> </a:t>
            </a:r>
            <a:r>
              <a:rPr lang="ru-RU" sz="2800" i="1" dirty="0" smtClean="0"/>
              <a:t>пакет инкапсулируется в кадр канального уровня, </a:t>
            </a:r>
            <a:r>
              <a:rPr lang="ru-RU" sz="2800" dirty="0" smtClean="0"/>
              <a:t>чаще всего его заголовки являются вложенными в кадр </a:t>
            </a:r>
            <a:r>
              <a:rPr lang="en-US" sz="2800" dirty="0" smtClean="0"/>
              <a:t>Ethernet</a:t>
            </a:r>
            <a:r>
              <a:rPr lang="ru-RU" sz="2800" dirty="0" smtClean="0"/>
              <a:t> </a:t>
            </a:r>
            <a:r>
              <a:rPr lang="en-US" sz="2800" dirty="0" smtClean="0"/>
              <a:t>IEEE </a:t>
            </a:r>
            <a:r>
              <a:rPr lang="ru-RU" sz="2800" dirty="0" smtClean="0"/>
              <a:t>802.2.</a:t>
            </a:r>
            <a:endParaRPr lang="ru-RU" sz="2800" dirty="0"/>
          </a:p>
          <a:p>
            <a:pPr marL="0" indent="0">
              <a:buNone/>
            </a:pPr>
            <a:r>
              <a:rPr lang="ru-RU" sz="2800" dirty="0" smtClean="0"/>
              <a:t>        </a:t>
            </a:r>
            <a:r>
              <a:rPr lang="ru-RU" sz="2800" i="1" dirty="0" smtClean="0">
                <a:solidFill>
                  <a:srgbClr val="002060"/>
                </a:solidFill>
              </a:rPr>
              <a:t>Функции сетевого заголовка</a:t>
            </a:r>
            <a:r>
              <a:rPr lang="ru-RU" sz="2800" i="1" dirty="0" smtClean="0"/>
              <a:t>:</a:t>
            </a:r>
          </a:p>
          <a:p>
            <a:pPr marL="0" indent="0">
              <a:buNone/>
            </a:pPr>
            <a:r>
              <a:rPr lang="ru-RU" sz="2800" dirty="0" smtClean="0"/>
              <a:t>        -  Он  </a:t>
            </a:r>
            <a:r>
              <a:rPr lang="ru-RU" sz="2800" dirty="0"/>
              <a:t>гарантирует, что пакет отправляется в правильном направлении (к месту назначения).</a:t>
            </a:r>
          </a:p>
          <a:p>
            <a:pPr lvl="1"/>
            <a:r>
              <a:rPr lang="ru-RU" dirty="0"/>
              <a:t>Он содержит информацию для обработки сетевого уровня в различных полях.</a:t>
            </a:r>
          </a:p>
          <a:p>
            <a:pPr lvl="1"/>
            <a:r>
              <a:rPr lang="ru-RU" dirty="0"/>
              <a:t>Информация в заголовке используется всеми устройствами уровня 3, которые обрабатывают </a:t>
            </a:r>
            <a:r>
              <a:rPr lang="ru-RU" dirty="0" smtClean="0"/>
              <a:t>пакет.</a:t>
            </a:r>
            <a:endParaRPr lang="ru-RU" dirty="0"/>
          </a:p>
          <a:p>
            <a:endParaRPr lang="ru-RU" sz="2800" dirty="0"/>
          </a:p>
        </p:txBody>
      </p:sp>
    </p:spTree>
    <p:extLst>
      <p:ext uri="{BB962C8B-B14F-4D97-AF65-F5344CB8AC3E}">
        <p14:creationId xmlns="" xmlns:p14="http://schemas.microsoft.com/office/powerpoint/2010/main" val="165251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260648"/>
            <a:ext cx="8229600" cy="562074"/>
          </a:xfrm>
        </p:spPr>
        <p:txBody>
          <a:bodyPr>
            <a:noAutofit/>
          </a:bodyPr>
          <a:lstStyle/>
          <a:p>
            <a:r>
              <a:rPr lang="ru-RU" sz="3600" dirty="0">
                <a:solidFill>
                  <a:srgbClr val="7030A0"/>
                </a:solidFill>
              </a:rPr>
              <a:t>Заголовок пакета </a:t>
            </a:r>
            <a:r>
              <a:rPr lang="ru-RU" sz="3600" dirty="0" smtClean="0">
                <a:solidFill>
                  <a:srgbClr val="7030A0"/>
                </a:solidFill>
              </a:rPr>
              <a:t>IPv4</a:t>
            </a:r>
            <a:r>
              <a:rPr lang="en-US" sz="3600" dirty="0" smtClean="0">
                <a:solidFill>
                  <a:srgbClr val="7030A0"/>
                </a:solidFill>
              </a:rPr>
              <a:t> (2)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908720"/>
            <a:ext cx="8892480" cy="59492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>
                <a:solidFill>
                  <a:srgbClr val="002060"/>
                </a:solidFill>
              </a:rPr>
              <a:t>Характеристики </a:t>
            </a:r>
            <a:r>
              <a:rPr lang="ru-RU" sz="2800" dirty="0" smtClean="0">
                <a:solidFill>
                  <a:srgbClr val="002060"/>
                </a:solidFill>
              </a:rPr>
              <a:t> заголовка IPv4:</a:t>
            </a:r>
          </a:p>
          <a:p>
            <a:pPr marL="0" indent="0">
              <a:buNone/>
            </a:pPr>
            <a:r>
              <a:rPr lang="ru-RU" sz="2800" dirty="0" smtClean="0"/>
              <a:t>       - Он показан в двоичном формате.</a:t>
            </a:r>
          </a:p>
          <a:p>
            <a:pPr lvl="1"/>
            <a:r>
              <a:rPr lang="ru-RU" dirty="0" smtClean="0"/>
              <a:t>Содержит </a:t>
            </a:r>
            <a:r>
              <a:rPr lang="ru-RU" dirty="0"/>
              <a:t>несколько полей информации</a:t>
            </a:r>
          </a:p>
          <a:p>
            <a:pPr lvl="1"/>
            <a:r>
              <a:rPr lang="ru-RU" dirty="0"/>
              <a:t>Диаграмма читается слева направо, 4 байта на строку</a:t>
            </a:r>
          </a:p>
          <a:p>
            <a:pPr lvl="1"/>
            <a:r>
              <a:rPr lang="ru-RU" dirty="0">
                <a:solidFill>
                  <a:srgbClr val="002060"/>
                </a:solidFill>
              </a:rPr>
              <a:t>Двумя наиболее важными полями </a:t>
            </a:r>
            <a:r>
              <a:rPr lang="ru-RU" dirty="0" smtClean="0">
                <a:solidFill>
                  <a:srgbClr val="002060"/>
                </a:solidFill>
              </a:rPr>
              <a:t>являются</a:t>
            </a:r>
            <a:r>
              <a:rPr lang="ru-RU" i="1" dirty="0" smtClean="0"/>
              <a:t>:   </a:t>
            </a:r>
          </a:p>
          <a:p>
            <a:pPr lvl="1">
              <a:buNone/>
            </a:pPr>
            <a:r>
              <a:rPr lang="ru-RU" i="1" dirty="0" smtClean="0"/>
              <a:t>      1). </a:t>
            </a:r>
            <a:r>
              <a:rPr lang="ru-RU" dirty="0" smtClean="0"/>
              <a:t>Источник </a:t>
            </a:r>
            <a:r>
              <a:rPr lang="ru-RU" dirty="0"/>
              <a:t>и пункт назначения</a:t>
            </a:r>
            <a:r>
              <a:rPr lang="ru-RU" i="1" dirty="0" smtClean="0"/>
              <a:t>.</a:t>
            </a:r>
          </a:p>
          <a:p>
            <a:pPr lvl="1">
              <a:buNone/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r>
              <a:rPr lang="ru-RU" dirty="0" smtClean="0"/>
              <a:t>2). Поле «Длина заголовка» занимает 4 бита и указывает значение длины заголовка.</a:t>
            </a:r>
          </a:p>
          <a:p>
            <a:pPr lvl="1">
              <a:buNone/>
            </a:pPr>
            <a:r>
              <a:rPr lang="ru-RU" dirty="0" smtClean="0"/>
              <a:t>Обычно сам формат заголовка имеет длину в 20 байт, </a:t>
            </a:r>
          </a:p>
          <a:p>
            <a:pPr lvl="1">
              <a:buNone/>
            </a:pPr>
            <a:r>
              <a:rPr lang="ru-RU" dirty="0" smtClean="0"/>
              <a:t>но при необходимости длина может быть увеличена до 60 байт за счет поля «Параметры».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="" xmlns:p14="http://schemas.microsoft.com/office/powerpoint/2010/main" val="50799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4" name="Picture 2" descr="C:\Users\Юра\Downloads\загол ип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332656"/>
            <a:ext cx="8712968" cy="65253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sz="3600" dirty="0" smtClean="0">
                <a:solidFill>
                  <a:srgbClr val="7030A0"/>
                </a:solidFill>
                <a:latin typeface="Times New Roman" pitchFamily="18" charset="0"/>
              </a:rPr>
              <a:t>Формат заголовка пакета </a:t>
            </a:r>
            <a:r>
              <a:rPr lang="en-US" sz="3600" dirty="0" smtClean="0">
                <a:solidFill>
                  <a:srgbClr val="7030A0"/>
                </a:solidFill>
                <a:latin typeface="Times New Roman" pitchFamily="18" charset="0"/>
              </a:rPr>
              <a:t>IP</a:t>
            </a:r>
            <a:r>
              <a:rPr lang="ru-RU" sz="3600" dirty="0" smtClean="0">
                <a:solidFill>
                  <a:srgbClr val="7030A0"/>
                </a:solidFill>
                <a:latin typeface="Times New Roman" pitchFamily="18" charset="0"/>
              </a:rPr>
              <a:t> </a:t>
            </a:r>
            <a:r>
              <a:rPr lang="en-US" sz="3600" dirty="0" smtClean="0">
                <a:solidFill>
                  <a:srgbClr val="7030A0"/>
                </a:solidFill>
                <a:latin typeface="Times New Roman" pitchFamily="18" charset="0"/>
              </a:rPr>
              <a:t>v.4 (1)</a:t>
            </a:r>
            <a:endParaRPr lang="ru-RU" sz="3600" dirty="0" smtClean="0">
              <a:solidFill>
                <a:srgbClr val="7030A0"/>
              </a:solidFill>
              <a:latin typeface="Times New Roman" pitchFamily="18" charset="0"/>
            </a:endParaRPr>
          </a:p>
        </p:txBody>
      </p:sp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323528" y="980728"/>
          <a:ext cx="8568952" cy="5544616"/>
        </p:xfrm>
        <a:graphic>
          <a:graphicData uri="http://schemas.openxmlformats.org/presentationml/2006/ole">
            <p:oleObj spid="_x0000_s104464" name="Точечный рисунок" r:id="rId3" imgW="5439534" imgH="2438095" progId="PBrush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8162925" cy="620688"/>
          </a:xfrm>
        </p:spPr>
        <p:txBody>
          <a:bodyPr>
            <a:noAutofit/>
          </a:bodyPr>
          <a:lstStyle/>
          <a:p>
            <a:pPr eaLnBrk="1" hangingPunct="1"/>
            <a:r>
              <a:rPr lang="ru-RU" sz="3600" dirty="0" smtClean="0">
                <a:solidFill>
                  <a:srgbClr val="7030A0"/>
                </a:solidFill>
                <a:latin typeface="Times New Roman" pitchFamily="18" charset="0"/>
              </a:rPr>
              <a:t>Формат заголовка  пакета </a:t>
            </a:r>
            <a:r>
              <a:rPr lang="en-US" sz="3600" dirty="0" smtClean="0">
                <a:solidFill>
                  <a:srgbClr val="7030A0"/>
                </a:solidFill>
                <a:latin typeface="Times New Roman" pitchFamily="18" charset="0"/>
              </a:rPr>
              <a:t>IP</a:t>
            </a:r>
            <a:r>
              <a:rPr lang="ru-RU" sz="3600" dirty="0" smtClean="0">
                <a:solidFill>
                  <a:srgbClr val="7030A0"/>
                </a:solidFill>
                <a:latin typeface="Times New Roman" pitchFamily="18" charset="0"/>
              </a:rPr>
              <a:t> (</a:t>
            </a:r>
            <a:r>
              <a:rPr lang="en-US" sz="3600" dirty="0" smtClean="0">
                <a:solidFill>
                  <a:srgbClr val="7030A0"/>
                </a:solidFill>
                <a:latin typeface="Times New Roman" pitchFamily="18" charset="0"/>
              </a:rPr>
              <a:t>2)</a:t>
            </a:r>
            <a:endParaRPr lang="ru-RU" sz="3600" dirty="0" smtClean="0">
              <a:solidFill>
                <a:srgbClr val="7030A0"/>
              </a:solidFill>
              <a:latin typeface="Times New Roman" pitchFamily="18" charset="0"/>
            </a:endParaRP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179512" y="548680"/>
            <a:ext cx="8964488" cy="6309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ru-RU" sz="2400" dirty="0" smtClean="0">
                <a:latin typeface="Times New Roman" pitchFamily="18" charset="0"/>
              </a:rPr>
              <a:t>     </a:t>
            </a:r>
            <a:r>
              <a:rPr lang="ru-RU" sz="2000" u="sng" dirty="0" smtClean="0">
                <a:solidFill>
                  <a:srgbClr val="002060"/>
                </a:solidFill>
                <a:latin typeface="Times New Roman" pitchFamily="18" charset="0"/>
              </a:rPr>
              <a:t>VER</a:t>
            </a:r>
            <a:r>
              <a:rPr lang="ru-RU" sz="2000" u="sng" dirty="0" smtClean="0">
                <a:latin typeface="Times New Roman" pitchFamily="18" charset="0"/>
              </a:rPr>
              <a:t>S </a:t>
            </a:r>
            <a:r>
              <a:rPr lang="ru-RU" sz="2000" dirty="0">
                <a:latin typeface="Times New Roman" pitchFamily="18" charset="0"/>
              </a:rPr>
              <a:t>- содержит номер версии протокола IP.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ru-RU" sz="2000" dirty="0" smtClean="0">
                <a:solidFill>
                  <a:srgbClr val="002060"/>
                </a:solidFill>
                <a:latin typeface="Times New Roman" pitchFamily="18" charset="0"/>
              </a:rPr>
              <a:t>      </a:t>
            </a:r>
            <a:r>
              <a:rPr lang="ru-RU" sz="2000" u="sng" dirty="0" smtClean="0">
                <a:solidFill>
                  <a:srgbClr val="002060"/>
                </a:solidFill>
                <a:latin typeface="Times New Roman" pitchFamily="18" charset="0"/>
              </a:rPr>
              <a:t>HLEN</a:t>
            </a:r>
            <a:r>
              <a:rPr lang="ru-RU" sz="2000" dirty="0" smtClean="0">
                <a:solidFill>
                  <a:srgbClr val="002060"/>
                </a:solidFill>
                <a:latin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</a:rPr>
              <a:t>- длина заголовка пакета. Обычно имеет значение </a:t>
            </a:r>
            <a:r>
              <a:rPr lang="ru-RU" sz="2000" dirty="0" smtClean="0">
                <a:latin typeface="Times New Roman" pitchFamily="18" charset="0"/>
              </a:rPr>
              <a:t>20 байт. </a:t>
            </a:r>
            <a:endParaRPr lang="ru-RU" sz="2000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ru-RU" sz="2000" u="sng" dirty="0" smtClean="0">
                <a:latin typeface="Times New Roman" pitchFamily="18" charset="0"/>
              </a:rPr>
              <a:t>     </a:t>
            </a:r>
            <a:r>
              <a:rPr lang="ru-RU" sz="2000" u="sng" dirty="0" smtClean="0">
                <a:solidFill>
                  <a:srgbClr val="002060"/>
                </a:solidFill>
                <a:latin typeface="Times New Roman" pitchFamily="18" charset="0"/>
              </a:rPr>
              <a:t>Тип службы</a:t>
            </a:r>
            <a:r>
              <a:rPr lang="ru-RU" sz="2000" dirty="0" smtClean="0">
                <a:solidFill>
                  <a:srgbClr val="002060"/>
                </a:solidFill>
                <a:latin typeface="Times New Roman" pitchFamily="18" charset="0"/>
              </a:rPr>
              <a:t>.</a:t>
            </a:r>
            <a:r>
              <a:rPr lang="ru-RU" sz="2000" dirty="0" smtClean="0">
                <a:latin typeface="Times New Roman" pitchFamily="18" charset="0"/>
              </a:rPr>
              <a:t>  </a:t>
            </a:r>
            <a:r>
              <a:rPr lang="ru-RU" sz="2000" dirty="0">
                <a:latin typeface="Times New Roman" pitchFamily="18" charset="0"/>
              </a:rPr>
              <a:t>Используется для установления приоритета при доставке данного </a:t>
            </a:r>
            <a:r>
              <a:rPr lang="ru-RU" sz="2000" dirty="0" smtClean="0">
                <a:latin typeface="Times New Roman" pitchFamily="18" charset="0"/>
              </a:rPr>
              <a:t>пакета.</a:t>
            </a:r>
          </a:p>
          <a:p>
            <a:pPr>
              <a:spcBef>
                <a:spcPct val="50000"/>
              </a:spcBef>
            </a:pPr>
            <a:r>
              <a:rPr lang="ru-RU" sz="2000" u="sng" dirty="0" smtClean="0">
                <a:solidFill>
                  <a:srgbClr val="002060"/>
                </a:solidFill>
                <a:latin typeface="Times New Roman" pitchFamily="18" charset="0"/>
              </a:rPr>
              <a:t>     Длина пакета </a:t>
            </a:r>
            <a:r>
              <a:rPr lang="ru-RU" sz="2000" dirty="0" smtClean="0">
                <a:latin typeface="Times New Roman" pitchFamily="18" charset="0"/>
              </a:rPr>
              <a:t>-общая   длина  пакета </a:t>
            </a:r>
            <a:r>
              <a:rPr lang="ru-RU" sz="2000" dirty="0" smtClean="0">
                <a:solidFill>
                  <a:srgbClr val="002060"/>
                </a:solidFill>
                <a:latin typeface="Times New Roman" pitchFamily="18" charset="0"/>
              </a:rPr>
              <a:t>с учетом заголовка  и поля данных в </a:t>
            </a:r>
            <a:r>
              <a:rPr lang="ru-RU" sz="2000" dirty="0">
                <a:solidFill>
                  <a:srgbClr val="002060"/>
                </a:solidFill>
                <a:latin typeface="Times New Roman" pitchFamily="18" charset="0"/>
              </a:rPr>
              <a:t>байтах,</a:t>
            </a:r>
            <a:r>
              <a:rPr lang="ru-RU" sz="2000" dirty="0">
                <a:latin typeface="Times New Roman" pitchFamily="18" charset="0"/>
              </a:rPr>
              <a:t> один пакет может содержать до 65535 байт </a:t>
            </a:r>
            <a:r>
              <a:rPr lang="ru-RU" sz="2000" dirty="0" smtClean="0">
                <a:latin typeface="Times New Roman" pitchFamily="18" charset="0"/>
              </a:rPr>
              <a:t>данных (пакеты</a:t>
            </a:r>
            <a:r>
              <a:rPr lang="en-US" sz="2000" dirty="0" smtClean="0">
                <a:latin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</a:rPr>
              <a:t>Ithernet</a:t>
            </a:r>
            <a:r>
              <a:rPr lang="ru-RU" sz="2000" dirty="0" smtClean="0">
                <a:latin typeface="Times New Roman" pitchFamily="18" charset="0"/>
              </a:rPr>
              <a:t> имеют макс. длину 1500 байт). </a:t>
            </a:r>
            <a:endParaRPr lang="ru-RU" sz="2000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ru-RU" sz="2000" u="sng" dirty="0" smtClean="0">
                <a:latin typeface="Times New Roman" pitchFamily="18" charset="0"/>
              </a:rPr>
              <a:t>     </a:t>
            </a:r>
            <a:r>
              <a:rPr lang="ru-RU" sz="2000" u="sng" dirty="0" smtClean="0">
                <a:solidFill>
                  <a:srgbClr val="002060"/>
                </a:solidFill>
                <a:latin typeface="Times New Roman" pitchFamily="18" charset="0"/>
              </a:rPr>
              <a:t>Поле </a:t>
            </a:r>
            <a:r>
              <a:rPr lang="ru-RU" sz="2000" u="sng" dirty="0">
                <a:solidFill>
                  <a:srgbClr val="002060"/>
                </a:solidFill>
                <a:latin typeface="Times New Roman" pitchFamily="18" charset="0"/>
              </a:rPr>
              <a:t>идентификации</a:t>
            </a:r>
            <a:r>
              <a:rPr lang="ru-RU" sz="2000" u="sng" dirty="0">
                <a:latin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</a:rPr>
              <a:t>используется </a:t>
            </a:r>
            <a:r>
              <a:rPr lang="ru-RU" sz="2000" dirty="0" smtClean="0">
                <a:latin typeface="Times New Roman" pitchFamily="18" charset="0"/>
              </a:rPr>
              <a:t> для распознавания пакетов , образовавшихся при </a:t>
            </a:r>
            <a:r>
              <a:rPr lang="ru-RU" sz="2000" dirty="0">
                <a:latin typeface="Times New Roman" pitchFamily="18" charset="0"/>
              </a:rPr>
              <a:t>фрагментации </a:t>
            </a:r>
            <a:r>
              <a:rPr lang="ru-RU" sz="2000" dirty="0" smtClean="0">
                <a:latin typeface="Times New Roman" pitchFamily="18" charset="0"/>
              </a:rPr>
              <a:t> исходного пакета</a:t>
            </a:r>
            <a:r>
              <a:rPr lang="ru-RU" sz="2000" dirty="0">
                <a:latin typeface="Times New Roman" pitchFamily="18" charset="0"/>
              </a:rPr>
              <a:t>. </a:t>
            </a:r>
            <a:endParaRPr lang="ru-RU" sz="2000" dirty="0" smtClean="0"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ru-RU" sz="2000" dirty="0" smtClean="0">
                <a:latin typeface="Times New Roman" pitchFamily="18" charset="0"/>
              </a:rPr>
              <a:t>     Все </a:t>
            </a:r>
            <a:r>
              <a:rPr lang="ru-RU" sz="2000" dirty="0">
                <a:latin typeface="Times New Roman" pitchFamily="18" charset="0"/>
              </a:rPr>
              <a:t>образовавшиеся </a:t>
            </a:r>
            <a:r>
              <a:rPr lang="ru-RU" sz="2000" dirty="0" smtClean="0">
                <a:latin typeface="Times New Roman" pitchFamily="18" charset="0"/>
              </a:rPr>
              <a:t>при  фрагментации </a:t>
            </a:r>
            <a:r>
              <a:rPr lang="ru-RU" sz="2000" dirty="0">
                <a:latin typeface="Times New Roman" pitchFamily="18" charset="0"/>
              </a:rPr>
              <a:t>пакеты должны иметь в этом поле одно и тоже значение.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ru-RU" sz="2000" dirty="0" smtClean="0">
                <a:solidFill>
                  <a:srgbClr val="002060"/>
                </a:solidFill>
                <a:latin typeface="Times New Roman" pitchFamily="18" charset="0"/>
              </a:rPr>
              <a:t>     </a:t>
            </a:r>
            <a:r>
              <a:rPr lang="ru-RU" sz="2000" u="sng" dirty="0" smtClean="0">
                <a:solidFill>
                  <a:srgbClr val="002060"/>
                </a:solidFill>
                <a:latin typeface="Times New Roman" pitchFamily="18" charset="0"/>
              </a:rPr>
              <a:t>Флаги</a:t>
            </a:r>
            <a:r>
              <a:rPr lang="ru-RU" sz="2000" dirty="0" smtClean="0">
                <a:solidFill>
                  <a:srgbClr val="002060"/>
                </a:solidFill>
                <a:latin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</a:rPr>
              <a:t>- поле содержит три бита, из которых используются только 2. </a:t>
            </a:r>
            <a:endParaRPr lang="ru-RU" sz="2000" dirty="0" smtClean="0"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ru-RU" sz="2000" dirty="0" smtClean="0">
                <a:latin typeface="Times New Roman" pitchFamily="18" charset="0"/>
              </a:rPr>
              <a:t>  Один </a:t>
            </a:r>
            <a:r>
              <a:rPr lang="ru-RU" sz="2000" dirty="0">
                <a:latin typeface="Times New Roman" pitchFamily="18" charset="0"/>
              </a:rPr>
              <a:t>из этих битов является признаком того, что данный </a:t>
            </a:r>
            <a:r>
              <a:rPr lang="ru-RU" sz="2000" dirty="0" smtClean="0">
                <a:latin typeface="Times New Roman" pitchFamily="18" charset="0"/>
              </a:rPr>
              <a:t>пакет нельзя фрагментировать (</a:t>
            </a:r>
            <a:r>
              <a:rPr lang="en-US" sz="2000" dirty="0" smtClean="0">
                <a:latin typeface="Times New Roman" pitchFamily="18" charset="0"/>
              </a:rPr>
              <a:t>DF)</a:t>
            </a:r>
            <a:r>
              <a:rPr lang="ru-RU" sz="2000" dirty="0" smtClean="0">
                <a:latin typeface="Times New Roman" pitchFamily="18" charset="0"/>
              </a:rPr>
              <a:t>.   </a:t>
            </a:r>
            <a:r>
              <a:rPr lang="ru-RU" sz="2000" dirty="0">
                <a:latin typeface="Times New Roman" pitchFamily="18" charset="0"/>
              </a:rPr>
              <a:t>Другой указывает на то, что этот пакет является составляющей частью фрагментированного </a:t>
            </a:r>
            <a:r>
              <a:rPr lang="ru-RU" sz="2000" dirty="0" smtClean="0">
                <a:latin typeface="Times New Roman" pitchFamily="18" charset="0"/>
              </a:rPr>
              <a:t>пакета (</a:t>
            </a:r>
            <a:r>
              <a:rPr lang="en-US" sz="2000" dirty="0" smtClean="0">
                <a:latin typeface="Times New Roman" pitchFamily="18" charset="0"/>
              </a:rPr>
              <a:t>MF)</a:t>
            </a:r>
            <a:r>
              <a:rPr lang="ru-RU" sz="2000" dirty="0" smtClean="0">
                <a:latin typeface="Times New Roman" pitchFamily="18" charset="0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ru-RU" sz="2000" dirty="0" smtClean="0">
                <a:latin typeface="Times New Roman" pitchFamily="18" charset="0"/>
              </a:rPr>
              <a:t> </a:t>
            </a:r>
            <a:endParaRPr lang="ru-RU" sz="2000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76672"/>
          </a:xfrm>
        </p:spPr>
        <p:txBody>
          <a:bodyPr>
            <a:noAutofit/>
          </a:bodyPr>
          <a:lstStyle/>
          <a:p>
            <a:r>
              <a:rPr lang="ru-RU" sz="3200" dirty="0" smtClean="0">
                <a:solidFill>
                  <a:srgbClr val="7030A0"/>
                </a:solidFill>
                <a:latin typeface="Times New Roman" pitchFamily="18" charset="0"/>
              </a:rPr>
              <a:t>Формат заголовка пакета </a:t>
            </a:r>
            <a:r>
              <a:rPr lang="en-US" sz="3200" dirty="0" smtClean="0">
                <a:solidFill>
                  <a:srgbClr val="7030A0"/>
                </a:solidFill>
                <a:latin typeface="Times New Roman" pitchFamily="18" charset="0"/>
              </a:rPr>
              <a:t>IP</a:t>
            </a:r>
            <a:r>
              <a:rPr lang="ru-RU" sz="3200" dirty="0" smtClean="0">
                <a:solidFill>
                  <a:srgbClr val="7030A0"/>
                </a:solidFill>
                <a:latin typeface="Times New Roman" pitchFamily="18" charset="0"/>
              </a:rPr>
              <a:t> (3</a:t>
            </a:r>
            <a:r>
              <a:rPr lang="en-US" sz="3200" dirty="0" smtClean="0">
                <a:solidFill>
                  <a:srgbClr val="7030A0"/>
                </a:solidFill>
                <a:latin typeface="Times New Roman" pitchFamily="18" charset="0"/>
              </a:rPr>
              <a:t>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Autofit/>
          </a:bodyPr>
          <a:lstStyle/>
          <a:p>
            <a:pPr>
              <a:spcBef>
                <a:spcPct val="50000"/>
              </a:spcBef>
              <a:buNone/>
            </a:pP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  <a:cs typeface="Cordia New" pitchFamily="34" charset="-34"/>
              </a:rPr>
              <a:t> Поле  «</a:t>
            </a:r>
            <a:r>
              <a:rPr lang="ru-RU" sz="2000" u="sng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Смещение фрагмента» </a:t>
            </a:r>
            <a:r>
              <a:rPr lang="ru-RU" sz="20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–  </a:t>
            </a:r>
            <a:r>
              <a:rPr lang="ru-RU" sz="2000" dirty="0" smtClean="0">
                <a:cs typeface="Arial" pitchFamily="34" charset="0"/>
              </a:rPr>
              <a:t>данное</a:t>
            </a:r>
            <a:r>
              <a:rPr lang="ru-RU" sz="2000" dirty="0" smtClean="0">
                <a:solidFill>
                  <a:srgbClr val="002060"/>
                </a:solidFill>
                <a:cs typeface="Arial" pitchFamily="34" charset="0"/>
              </a:rPr>
              <a:t> поле используется, когда требуется фрагментация  пакета и показывает, где следует размещать данные при сборке исходного пакета.</a:t>
            </a:r>
          </a:p>
          <a:p>
            <a:pPr>
              <a:spcBef>
                <a:spcPct val="50000"/>
              </a:spcBef>
              <a:buNone/>
            </a:pPr>
            <a:r>
              <a:rPr lang="ru-RU" sz="2000" dirty="0" smtClean="0"/>
              <a:t> Числовые значения, записываемые в поле «Смещение фрагмента» имеют одно ограничение — это значение должно быть всегда кратно восьми.</a:t>
            </a:r>
            <a:endParaRPr lang="ru-RU" sz="2000" dirty="0" smtClean="0">
              <a:cs typeface="Arial" pitchFamily="34" charset="0"/>
            </a:endParaRPr>
          </a:p>
          <a:p>
            <a:pPr>
              <a:spcBef>
                <a:spcPct val="50000"/>
              </a:spcBef>
              <a:buNone/>
            </a:pPr>
            <a:r>
              <a:rPr lang="ru-RU" sz="2000" dirty="0" smtClean="0">
                <a:solidFill>
                  <a:srgbClr val="002060"/>
                </a:solidFill>
                <a:cs typeface="Arial" pitchFamily="34" charset="0"/>
              </a:rPr>
              <a:t> Предположим что между узлами А и Б необходимо передавать IP-пакеты размером 7600 байт</a:t>
            </a:r>
            <a:r>
              <a:rPr lang="ru-RU" sz="2000" dirty="0" smtClean="0">
                <a:cs typeface="Arial" pitchFamily="34" charset="0"/>
              </a:rPr>
              <a:t>, но максимально допустимый размер пакета, который можно передать в канале связи равен 1500 байт, следовательно, при передаче исходного пакета будет выполняться фрагментация, а заодно будет задано и смещение для поля данных .</a:t>
            </a:r>
          </a:p>
          <a:p>
            <a:pPr>
              <a:spcBef>
                <a:spcPct val="50000"/>
              </a:spcBef>
            </a:pPr>
            <a:endParaRPr lang="ru-RU" sz="2000" dirty="0" smtClean="0">
              <a:latin typeface="Times New Roman" pitchFamily="18" charset="0"/>
            </a:endParaRPr>
          </a:p>
        </p:txBody>
      </p:sp>
      <p:pic>
        <p:nvPicPr>
          <p:cNvPr id="4" name="Picture 2" descr="C:\Users\Юра\Downloads\4.3.6-Поле-смещение-в-IP-пакете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4005064"/>
            <a:ext cx="8496944" cy="266429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Прием фрагментированного пакета</a:t>
            </a:r>
            <a:endParaRPr lang="ru-RU" sz="3600" dirty="0">
              <a:solidFill>
                <a:srgbClr val="7030A0"/>
              </a:solidFill>
            </a:endParaRPr>
          </a:p>
        </p:txBody>
      </p:sp>
      <p:pic>
        <p:nvPicPr>
          <p:cNvPr id="104450" name="Picture 2" descr="C:\Users\Юра\Downloads\4.3.7-Компьютер-принимает-фрагментированный-пакет (1)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980728"/>
            <a:ext cx="8496944" cy="568863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76672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  <a:latin typeface="Times New Roman" pitchFamily="18" charset="0"/>
              </a:rPr>
              <a:t>Формат заголовка пакета </a:t>
            </a:r>
            <a:r>
              <a:rPr lang="en-US" sz="3600" dirty="0" smtClean="0">
                <a:solidFill>
                  <a:srgbClr val="7030A0"/>
                </a:solidFill>
                <a:latin typeface="Times New Roman" pitchFamily="18" charset="0"/>
              </a:rPr>
              <a:t>IP</a:t>
            </a:r>
            <a:r>
              <a:rPr lang="ru-RU" sz="3600" dirty="0" smtClean="0">
                <a:solidFill>
                  <a:srgbClr val="7030A0"/>
                </a:solidFill>
                <a:latin typeface="Times New Roman" pitchFamily="18" charset="0"/>
              </a:rPr>
              <a:t> (4)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476672"/>
            <a:ext cx="8964488" cy="6381328"/>
          </a:xfrm>
        </p:spPr>
        <p:txBody>
          <a:bodyPr>
            <a:normAutofit fontScale="25000" lnSpcReduction="20000"/>
          </a:bodyPr>
          <a:lstStyle/>
          <a:p>
            <a:pPr algn="just">
              <a:spcBef>
                <a:spcPct val="50000"/>
              </a:spcBef>
            </a:pPr>
            <a:r>
              <a:rPr lang="ru-RU" sz="9600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Время жизни  </a:t>
            </a:r>
            <a:r>
              <a:rPr lang="en-US" sz="9600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(TTL) </a:t>
            </a:r>
            <a:r>
              <a:rPr lang="ru-RU" sz="9600" dirty="0" smtClean="0">
                <a:latin typeface="Times New Roman" pitchFamily="18" charset="0"/>
                <a:cs typeface="Times New Roman" pitchFamily="18" charset="0"/>
              </a:rPr>
              <a:t>– означает предельный срок , в течение которого пакет может перемещаться по сети</a:t>
            </a:r>
            <a:r>
              <a:rPr lang="ru-RU" sz="96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9600" dirty="0" smtClean="0">
                <a:latin typeface="Times New Roman" pitchFamily="18" charset="0"/>
                <a:cs typeface="Times New Roman" pitchFamily="18" charset="0"/>
              </a:rPr>
              <a:t>и  не блуждать до бесконечности .</a:t>
            </a:r>
          </a:p>
          <a:p>
            <a:pPr algn="just">
              <a:spcBef>
                <a:spcPct val="50000"/>
              </a:spcBef>
            </a:pP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ru-RU" sz="9600" dirty="0" smtClean="0">
                <a:latin typeface="Times New Roman" pitchFamily="18" charset="0"/>
                <a:cs typeface="Times New Roman" pitchFamily="18" charset="0"/>
              </a:rPr>
              <a:t>TTL – это число в диапазоне от 0 до 255, это число </a:t>
            </a:r>
            <a:r>
              <a:rPr lang="ru-RU" sz="9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определяет максимально допустимое число узлов, через которое может пройти пакет</a:t>
            </a:r>
            <a:r>
              <a:rPr lang="ru-RU" sz="9600" dirty="0" smtClean="0">
                <a:latin typeface="Times New Roman" pitchFamily="18" charset="0"/>
                <a:cs typeface="Times New Roman" pitchFamily="18" charset="0"/>
              </a:rPr>
              <a:t> перед тем, как он будет уничтожен. </a:t>
            </a:r>
            <a:endParaRPr lang="en-US" sz="96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50000"/>
              </a:spcBef>
            </a:pPr>
            <a:r>
              <a:rPr lang="ru-RU" sz="9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Время жизни для пакета задается узлом источником.</a:t>
            </a:r>
            <a:r>
              <a:rPr lang="ru-RU" sz="96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96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50000"/>
              </a:spcBef>
            </a:pPr>
            <a:r>
              <a:rPr lang="ru-RU" sz="9600" dirty="0" smtClean="0">
                <a:latin typeface="Times New Roman" pitchFamily="18" charset="0"/>
                <a:cs typeface="Times New Roman" pitchFamily="18" charset="0"/>
              </a:rPr>
              <a:t> Получается следующим образом: </a:t>
            </a:r>
          </a:p>
          <a:p>
            <a:pPr algn="just">
              <a:spcBef>
                <a:spcPct val="50000"/>
              </a:spcBef>
              <a:buNone/>
            </a:pPr>
            <a:r>
              <a:rPr lang="ru-RU" sz="9600" dirty="0" smtClean="0">
                <a:latin typeface="Times New Roman" pitchFamily="18" charset="0"/>
                <a:cs typeface="Times New Roman" pitchFamily="18" charset="0"/>
              </a:rPr>
              <a:t>      - Первый узел сформировал пакет и задал для него значение TTL = 20,</a:t>
            </a:r>
          </a:p>
          <a:p>
            <a:pPr algn="just">
              <a:spcBef>
                <a:spcPct val="50000"/>
              </a:spcBef>
              <a:buNone/>
            </a:pPr>
            <a:r>
              <a:rPr lang="ru-RU" sz="9600" dirty="0" smtClean="0">
                <a:latin typeface="Times New Roman" pitchFamily="18" charset="0"/>
                <a:cs typeface="Times New Roman" pitchFamily="18" charset="0"/>
              </a:rPr>
              <a:t>       -Первый </a:t>
            </a:r>
            <a:r>
              <a:rPr lang="ru-RU" sz="9600" dirty="0" err="1" smtClean="0">
                <a:latin typeface="Times New Roman" pitchFamily="18" charset="0"/>
                <a:cs typeface="Times New Roman" pitchFamily="18" charset="0"/>
              </a:rPr>
              <a:t>маршрутизатор</a:t>
            </a:r>
            <a:r>
              <a:rPr lang="ru-RU" sz="9600" dirty="0" smtClean="0">
                <a:latin typeface="Times New Roman" pitchFamily="18" charset="0"/>
                <a:cs typeface="Times New Roman" pitchFamily="18" charset="0"/>
              </a:rPr>
              <a:t>, получивший этот пакет, вычтет единицу из двадцати, получит 19, запишет новое значение в поле TTL=19 и отправит пакет дальше. </a:t>
            </a:r>
          </a:p>
          <a:p>
            <a:pPr algn="just">
              <a:spcBef>
                <a:spcPct val="50000"/>
              </a:spcBef>
              <a:buNone/>
            </a:pPr>
            <a:r>
              <a:rPr lang="ru-RU" sz="9600" dirty="0" smtClean="0">
                <a:latin typeface="Times New Roman" pitchFamily="18" charset="0"/>
                <a:cs typeface="Times New Roman" pitchFamily="18" charset="0"/>
              </a:rPr>
              <a:t>      - Процесс вычитание и передачи будет происходить до тех пор, пока пакет не будет доставлен получателю, либо пока значение TTL не будет равным нулю, и тот маршрутизатор, на котором будет TTL =0 уничтожает пакет.</a:t>
            </a:r>
          </a:p>
          <a:p>
            <a:pPr algn="just">
              <a:spcBef>
                <a:spcPct val="50000"/>
              </a:spcBef>
            </a:pPr>
            <a:endParaRPr lang="ru-RU" sz="96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50000"/>
              </a:spcBef>
            </a:pPr>
            <a:endParaRPr lang="ru-RU" sz="8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1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  <a:latin typeface="Times New Roman" pitchFamily="18" charset="0"/>
              </a:rPr>
              <a:t>Формат заголовка пакета </a:t>
            </a:r>
            <a:r>
              <a:rPr lang="en-US" sz="3600" dirty="0" smtClean="0">
                <a:solidFill>
                  <a:srgbClr val="7030A0"/>
                </a:solidFill>
                <a:latin typeface="Times New Roman" pitchFamily="18" charset="0"/>
              </a:rPr>
              <a:t>IP</a:t>
            </a:r>
            <a:r>
              <a:rPr lang="ru-RU" sz="3600" dirty="0" smtClean="0">
                <a:solidFill>
                  <a:srgbClr val="7030A0"/>
                </a:solidFill>
                <a:latin typeface="Times New Roman" pitchFamily="18" charset="0"/>
              </a:rPr>
              <a:t> (5)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 fontScale="40000" lnSpcReduction="20000"/>
          </a:bodyPr>
          <a:lstStyle/>
          <a:p>
            <a:pPr>
              <a:spcBef>
                <a:spcPct val="50000"/>
              </a:spcBef>
            </a:pPr>
            <a:r>
              <a:rPr lang="ru-RU" sz="5900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Протокол</a:t>
            </a:r>
            <a:r>
              <a:rPr lang="ru-RU" sz="59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5900" dirty="0" smtClean="0">
                <a:latin typeface="Times New Roman" pitchFamily="18" charset="0"/>
                <a:cs typeface="Times New Roman" pitchFamily="18" charset="0"/>
              </a:rPr>
              <a:t>- содержит информацию о том, данные какого протокола транспортного уровня несет в себе данный пакет. </a:t>
            </a:r>
          </a:p>
          <a:p>
            <a:pPr>
              <a:spcBef>
                <a:spcPct val="50000"/>
              </a:spcBef>
            </a:pPr>
            <a:r>
              <a:rPr lang="ru-RU" sz="59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Контрольная сумма заголовка </a:t>
            </a:r>
            <a:r>
              <a:rPr lang="ru-RU" sz="5900" dirty="0" smtClean="0">
                <a:latin typeface="Times New Roman" pitchFamily="18" charset="0"/>
                <a:cs typeface="Times New Roman" pitchFamily="18" charset="0"/>
              </a:rPr>
              <a:t>используется для проверки целостности заголовка при передаче. При прохождении каждого </a:t>
            </a:r>
            <a:r>
              <a:rPr lang="ru-RU" sz="5900" dirty="0" err="1" smtClean="0">
                <a:latin typeface="Times New Roman" pitchFamily="18" charset="0"/>
                <a:cs typeface="Times New Roman" pitchFamily="18" charset="0"/>
              </a:rPr>
              <a:t>маршрутизатора</a:t>
            </a:r>
            <a:r>
              <a:rPr lang="ru-RU" sz="5900" dirty="0" smtClean="0">
                <a:latin typeface="Times New Roman" pitchFamily="18" charset="0"/>
                <a:cs typeface="Times New Roman" pitchFamily="18" charset="0"/>
              </a:rPr>
              <a:t> пересчитывается заново, т. к. </a:t>
            </a:r>
            <a:r>
              <a:rPr lang="ru-RU" sz="5900" dirty="0" err="1" smtClean="0">
                <a:latin typeface="Times New Roman" pitchFamily="18" charset="0"/>
                <a:cs typeface="Times New Roman" pitchFamily="18" charset="0"/>
              </a:rPr>
              <a:t>маршрутизаторы</a:t>
            </a:r>
            <a:r>
              <a:rPr lang="ru-RU" sz="5900" dirty="0" smtClean="0">
                <a:latin typeface="Times New Roman" pitchFamily="18" charset="0"/>
                <a:cs typeface="Times New Roman" pitchFamily="18" charset="0"/>
              </a:rPr>
              <a:t> изменяют значение поля "Время жизни".</a:t>
            </a:r>
            <a:r>
              <a:rPr lang="ru-RU" sz="59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ru-RU" sz="59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ru-RU" sz="5900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Параметры IP </a:t>
            </a:r>
            <a:r>
              <a:rPr lang="ru-RU" sz="5900" dirty="0" smtClean="0">
                <a:latin typeface="Times New Roman" pitchFamily="18" charset="0"/>
                <a:cs typeface="Times New Roman" pitchFamily="18" charset="0"/>
              </a:rPr>
              <a:t>(если есть) - для тестирования или отладки сети     (например, запись маршрута или обязательное прохождение по маршруту).</a:t>
            </a:r>
          </a:p>
          <a:p>
            <a:pPr>
              <a:spcBef>
                <a:spcPct val="50000"/>
              </a:spcBef>
            </a:pPr>
            <a:r>
              <a:rPr lang="ru-RU" sz="5900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Заполнение (Выравнивание) </a:t>
            </a:r>
            <a:r>
              <a:rPr lang="ru-RU" sz="5900" dirty="0" smtClean="0">
                <a:latin typeface="Times New Roman" pitchFamily="18" charset="0"/>
                <a:cs typeface="Times New Roman" pitchFamily="18" charset="0"/>
              </a:rPr>
              <a:t>используется для того чтобы гарантировать завершение </a:t>
            </a:r>
            <a:r>
              <a:rPr lang="en-US" sz="5900" dirty="0" smtClean="0">
                <a:latin typeface="Times New Roman" pitchFamily="18" charset="0"/>
                <a:cs typeface="Times New Roman" pitchFamily="18" charset="0"/>
              </a:rPr>
              <a:t> IP </a:t>
            </a:r>
            <a:r>
              <a:rPr lang="ru-RU" sz="5900" dirty="0" smtClean="0">
                <a:latin typeface="Times New Roman" pitchFamily="18" charset="0"/>
                <a:cs typeface="Times New Roman" pitchFamily="18" charset="0"/>
              </a:rPr>
              <a:t>заголовка на 32 байтовой границе.</a:t>
            </a:r>
          </a:p>
          <a:p>
            <a:pPr>
              <a:spcBef>
                <a:spcPct val="50000"/>
              </a:spcBef>
              <a:buNone/>
            </a:pPr>
            <a:r>
              <a:rPr lang="ru-RU" sz="5900" dirty="0" smtClean="0"/>
              <a:t>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Недостатки   </a:t>
            </a:r>
            <a:r>
              <a:rPr lang="ru-RU" sz="3600" dirty="0">
                <a:solidFill>
                  <a:srgbClr val="7030A0"/>
                </a:solidFill>
              </a:rPr>
              <a:t>IPv4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908720"/>
            <a:ext cx="8964488" cy="594928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2800" dirty="0">
                <a:solidFill>
                  <a:srgbClr val="002060"/>
                </a:solidFill>
              </a:rPr>
              <a:t>IPv4 имеет три основных ограничения:</a:t>
            </a:r>
          </a:p>
          <a:p>
            <a:pPr lvl="1"/>
            <a:r>
              <a:rPr lang="ru-RU" dirty="0">
                <a:solidFill>
                  <a:srgbClr val="002060"/>
                </a:solidFill>
              </a:rPr>
              <a:t>Истощение адресов IPv4 </a:t>
            </a:r>
            <a:r>
              <a:rPr lang="ru-RU" dirty="0"/>
              <a:t>— в </a:t>
            </a:r>
            <a:r>
              <a:rPr lang="ru-RU" dirty="0" smtClean="0"/>
              <a:t>настоящее </a:t>
            </a:r>
            <a:r>
              <a:rPr lang="ru-RU" dirty="0"/>
              <a:t>время исчерпали возможности IPv4 адресации.</a:t>
            </a:r>
          </a:p>
          <a:p>
            <a:pPr lvl="1"/>
            <a:r>
              <a:rPr lang="ru-RU" dirty="0">
                <a:solidFill>
                  <a:srgbClr val="002060"/>
                </a:solidFill>
              </a:rPr>
              <a:t>Отсутствие сквозного подключения </a:t>
            </a:r>
            <a:r>
              <a:rPr lang="ru-RU" dirty="0" smtClean="0"/>
              <a:t>– </a:t>
            </a:r>
          </a:p>
          <a:p>
            <a:pPr lvl="1">
              <a:buNone/>
            </a:pPr>
            <a:r>
              <a:rPr lang="ru-RU" dirty="0" smtClean="0"/>
              <a:t>чтобы </a:t>
            </a:r>
            <a:r>
              <a:rPr lang="ru-RU" dirty="0"/>
              <a:t>IPv4 существовал </a:t>
            </a:r>
            <a:r>
              <a:rPr lang="ru-RU" dirty="0" smtClean="0"/>
              <a:t> </a:t>
            </a:r>
            <a:r>
              <a:rPr lang="ru-RU" dirty="0"/>
              <a:t>долго, были </a:t>
            </a:r>
            <a:r>
              <a:rPr lang="ru-RU" dirty="0" smtClean="0"/>
              <a:t>созданы:</a:t>
            </a:r>
          </a:p>
          <a:p>
            <a:pPr lvl="1">
              <a:buNone/>
            </a:pPr>
            <a:r>
              <a:rPr lang="ru-RU" dirty="0" smtClean="0"/>
              <a:t>   - </a:t>
            </a:r>
            <a:r>
              <a:rPr lang="ru-RU" dirty="0"/>
              <a:t>частная адресация </a:t>
            </a:r>
            <a:endParaRPr lang="ru-RU" dirty="0" smtClean="0"/>
          </a:p>
          <a:p>
            <a:pPr lvl="1">
              <a:buNone/>
            </a:pPr>
            <a:r>
              <a:rPr lang="ru-RU" dirty="0" smtClean="0"/>
              <a:t>   - и NAT(технология трансляции сетевых адресов)- </a:t>
            </a:r>
          </a:p>
          <a:p>
            <a:pPr lvl="1">
              <a:buNone/>
              <a:tabLst>
                <a:tab pos="627063" algn="l"/>
              </a:tabLst>
            </a:pPr>
            <a:r>
              <a:rPr lang="ru-RU" dirty="0" smtClean="0"/>
              <a:t>    это продвижение пакетов во внешней сети Интернет на основании адресов, отличных от адресов  во внутренней корпоративной сети. </a:t>
            </a:r>
          </a:p>
          <a:p>
            <a:pPr lvl="1">
              <a:buNone/>
            </a:pPr>
            <a:r>
              <a:rPr lang="ru-RU" dirty="0" smtClean="0"/>
              <a:t>Это </a:t>
            </a:r>
            <a:r>
              <a:rPr lang="ru-RU" dirty="0"/>
              <a:t>положило конец прямой связи с публичной </a:t>
            </a:r>
            <a:r>
              <a:rPr lang="ru-RU" dirty="0" smtClean="0"/>
              <a:t>адресацией</a:t>
            </a:r>
            <a:r>
              <a:rPr lang="ru-RU" dirty="0"/>
              <a:t>.</a:t>
            </a:r>
          </a:p>
          <a:p>
            <a:pPr lvl="1"/>
            <a:r>
              <a:rPr lang="ru-RU" dirty="0">
                <a:solidFill>
                  <a:srgbClr val="002060"/>
                </a:solidFill>
              </a:rPr>
              <a:t>Повышенная сложность сети </a:t>
            </a:r>
            <a:r>
              <a:rPr lang="ru-RU" dirty="0" smtClean="0"/>
              <a:t>—</a:t>
            </a:r>
          </a:p>
          <a:p>
            <a:pPr lvl="1">
              <a:buNone/>
            </a:pPr>
            <a:r>
              <a:rPr lang="ru-RU" dirty="0" smtClean="0"/>
              <a:t>    </a:t>
            </a:r>
            <a:r>
              <a:rPr lang="ru-RU" dirty="0"/>
              <a:t>NAT была задумана как временное решение, она создает такие проблемы в сети как побочный эффект манипулирования адресацией сетевых заголовков. </a:t>
            </a:r>
            <a:endParaRPr lang="ru-RU" dirty="0" smtClean="0"/>
          </a:p>
          <a:p>
            <a:pPr lvl="1">
              <a:buNone/>
            </a:pPr>
            <a:r>
              <a:rPr lang="ru-RU" dirty="0" smtClean="0"/>
              <a:t>    NAT </a:t>
            </a:r>
            <a:r>
              <a:rPr lang="ru-RU" dirty="0"/>
              <a:t>вызывает проблемы с задержкой и устранением неполадок.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890053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980728"/>
            <a:ext cx="7772400" cy="345638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7030A0"/>
                </a:solidFill>
              </a:rPr>
              <a:t>IP  </a:t>
            </a:r>
            <a:r>
              <a:rPr lang="ru-RU" sz="4000" dirty="0" smtClean="0">
                <a:solidFill>
                  <a:srgbClr val="7030A0"/>
                </a:solidFill>
              </a:rPr>
              <a:t>Маршрутизация </a:t>
            </a:r>
            <a:endParaRPr lang="en-US" sz="4000" dirty="0" smtClean="0">
              <a:solidFill>
                <a:srgbClr val="7030A0"/>
              </a:solidFill>
            </a:endParaRPr>
          </a:p>
          <a:p>
            <a:pPr algn="ctr"/>
            <a:r>
              <a:rPr lang="ru-RU" sz="4000" dirty="0" smtClean="0">
                <a:solidFill>
                  <a:srgbClr val="7030A0"/>
                </a:solidFill>
              </a:rPr>
              <a:t>Протоколы маршрутизации</a:t>
            </a:r>
            <a:endParaRPr lang="en-US" sz="4000" dirty="0" smtClean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332656"/>
            <a:ext cx="8229600" cy="63408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sz="3600" dirty="0" smtClean="0">
                <a:solidFill>
                  <a:srgbClr val="7030A0"/>
                </a:solidFill>
              </a:rPr>
              <a:t>Протоколы маршрутизации (1)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980728"/>
            <a:ext cx="8640960" cy="5328592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ru-RU" dirty="0" smtClean="0">
                <a:solidFill>
                  <a:srgbClr val="0070C0"/>
                </a:solidFill>
              </a:rPr>
              <a:t>Назначение протоколов маршрутизации:</a:t>
            </a:r>
          </a:p>
          <a:p>
            <a:pPr eaLnBrk="1" hangingPunct="1"/>
            <a:r>
              <a:rPr lang="ru-RU" dirty="0" smtClean="0"/>
              <a:t>    Распространяют топологическую информацию по сети.</a:t>
            </a:r>
          </a:p>
          <a:p>
            <a:pPr eaLnBrk="1" hangingPunct="1"/>
            <a:r>
              <a:rPr lang="ru-RU" dirty="0" smtClean="0"/>
              <a:t>   </a:t>
            </a:r>
            <a:r>
              <a:rPr lang="ru-RU" dirty="0" smtClean="0">
                <a:solidFill>
                  <a:srgbClr val="002060"/>
                </a:solidFill>
              </a:rPr>
              <a:t>Строят топологическую карту сети.</a:t>
            </a:r>
          </a:p>
          <a:p>
            <a:pPr eaLnBrk="1" hangingPunct="1"/>
            <a:r>
              <a:rPr lang="ru-RU" dirty="0" smtClean="0"/>
              <a:t>   </a:t>
            </a:r>
            <a:r>
              <a:rPr lang="ru-RU" dirty="0" smtClean="0">
                <a:solidFill>
                  <a:srgbClr val="002060"/>
                </a:solidFill>
              </a:rPr>
              <a:t>Рассчитывают наилучший </a:t>
            </a:r>
            <a:r>
              <a:rPr lang="ru-RU" dirty="0" smtClean="0"/>
              <a:t>(относительно некоторой метрики) </a:t>
            </a:r>
            <a:r>
              <a:rPr lang="ru-RU" dirty="0" smtClean="0">
                <a:solidFill>
                  <a:srgbClr val="002060"/>
                </a:solidFill>
              </a:rPr>
              <a:t>маршрут.</a:t>
            </a:r>
          </a:p>
          <a:p>
            <a:pPr eaLnBrk="1" hangingPunct="1"/>
            <a:r>
              <a:rPr lang="ru-RU" dirty="0" smtClean="0"/>
              <a:t>   </a:t>
            </a:r>
            <a:r>
              <a:rPr lang="ru-RU" dirty="0" smtClean="0">
                <a:solidFill>
                  <a:srgbClr val="002060"/>
                </a:solidFill>
              </a:rPr>
              <a:t>Формируют таблицу маршрутизации </a:t>
            </a:r>
            <a:r>
              <a:rPr lang="en-US" dirty="0" smtClean="0">
                <a:solidFill>
                  <a:srgbClr val="002060"/>
                </a:solidFill>
              </a:rPr>
              <a:t>IP</a:t>
            </a:r>
            <a:r>
              <a:rPr lang="ru-RU" dirty="0" smtClean="0">
                <a:solidFill>
                  <a:srgbClr val="002060"/>
                </a:solidFill>
              </a:rPr>
              <a:t>.</a:t>
            </a:r>
          </a:p>
          <a:p>
            <a:pPr eaLnBrk="1" hangingPunct="1"/>
            <a:r>
              <a:rPr lang="ru-RU" dirty="0" smtClean="0"/>
              <a:t>   Динамически изменяют маршрут при изменениях на сети.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pPr eaLnBrk="1" hangingPunct="1"/>
            <a:r>
              <a:rPr lang="ru-RU" sz="36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IP-таблица маршрутов</a:t>
            </a:r>
            <a:r>
              <a:rPr lang="ru-RU" sz="3600" dirty="0" smtClean="0">
                <a:solidFill>
                  <a:srgbClr val="7030A0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467544" y="980728"/>
            <a:ext cx="8424936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Arial" pitchFamily="34" charset="0"/>
              <a:buChar char="•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   Таблица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маршрутов содержит по одной строке для каждого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маршрута.</a:t>
            </a:r>
          </a:p>
          <a:p>
            <a:pPr>
              <a:spcBef>
                <a:spcPct val="50000"/>
              </a:spcBef>
              <a:buFont typeface="Arial" pitchFamily="34" charset="0"/>
              <a:buChar char="•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Основными </a:t>
            </a:r>
            <a:r>
              <a:rPr lang="ru-RU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столбцами таблицы маршрутов </a:t>
            </a:r>
            <a:r>
              <a:rPr lang="ru-RU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являются:</a:t>
            </a:r>
          </a:p>
          <a:p>
            <a:pPr>
              <a:spcBef>
                <a:spcPct val="50000"/>
              </a:spcBef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      -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номер сети,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       - флаг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прямой или косвенной маршрутизации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>
              <a:spcBef>
                <a:spcPct val="50000"/>
              </a:spcBef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        - IP-адрес  </a:t>
            </a:r>
          </a:p>
          <a:p>
            <a:pPr>
              <a:spcBef>
                <a:spcPct val="50000"/>
              </a:spcBef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         - номер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сетевого интерфейса.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50000"/>
              </a:spcBef>
              <a:buFont typeface="Arial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Эта </a:t>
            </a:r>
            <a:r>
              <a:rPr lang="ru-RU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таблица используется модулем IP при обработке каждого отправляемого </a:t>
            </a:r>
            <a:r>
              <a:rPr lang="ru-RU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IP-пакета</a:t>
            </a:r>
            <a:r>
              <a:rPr lang="ru-RU" sz="24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2400" i="1" dirty="0" smtClean="0">
                <a:solidFill>
                  <a:srgbClr val="002060"/>
                </a:solidFill>
                <a:latin typeface="Times New Roman" pitchFamily="18" charset="0"/>
              </a:rPr>
              <a:t> </a:t>
            </a:r>
            <a:endParaRPr lang="ru-RU" sz="2400" i="1" dirty="0">
              <a:solidFill>
                <a:srgbClr val="00206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 smtClean="0">
                <a:solidFill>
                  <a:srgbClr val="7030A0"/>
                </a:solidFill>
              </a:rPr>
              <a:t>IP-</a:t>
            </a:r>
            <a:r>
              <a:rPr lang="ru-RU" sz="3600" dirty="0" smtClean="0">
                <a:solidFill>
                  <a:srgbClr val="7030A0"/>
                </a:solidFill>
              </a:rPr>
              <a:t>маршрутизация </a:t>
            </a:r>
          </a:p>
        </p:txBody>
      </p:sp>
      <p:graphicFrame>
        <p:nvGraphicFramePr>
          <p:cNvPr id="20483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251520" y="1052736"/>
          <a:ext cx="8712968" cy="5616624"/>
        </p:xfrm>
        <a:graphic>
          <a:graphicData uri="http://schemas.openxmlformats.org/presentationml/2006/ole">
            <p:oleObj spid="_x0000_s166928" name="VISIO" r:id="rId3" imgW="9607296" imgH="6106668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r>
              <a:rPr lang="ru-RU" sz="2800" dirty="0" smtClean="0">
                <a:solidFill>
                  <a:srgbClr val="7030A0"/>
                </a:solidFill>
              </a:rPr>
              <a:t>Типы  маршрутов в таблице </a:t>
            </a:r>
            <a:r>
              <a:rPr lang="ru-RU" sz="2800" dirty="0">
                <a:solidFill>
                  <a:srgbClr val="7030A0"/>
                </a:solidFill>
              </a:rPr>
              <a:t>маршрутизации IP-маршрутизатора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836712"/>
            <a:ext cx="8640960" cy="576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rgbClr val="002060"/>
                </a:solidFill>
              </a:rPr>
              <a:t>       В </a:t>
            </a:r>
            <a:r>
              <a:rPr lang="ru-RU" sz="2400" dirty="0">
                <a:solidFill>
                  <a:srgbClr val="002060"/>
                </a:solidFill>
              </a:rPr>
              <a:t>таблице маршрутизации маршрутизатора есть </a:t>
            </a:r>
            <a:r>
              <a:rPr lang="ru-RU" sz="2400" u="sng" dirty="0">
                <a:solidFill>
                  <a:srgbClr val="002060"/>
                </a:solidFill>
              </a:rPr>
              <a:t>три типа маршрутов: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Прямое подключение </a:t>
            </a:r>
            <a:r>
              <a:rPr lang="ru-RU" sz="2400" dirty="0"/>
              <a:t>— эти маршруты автоматически добавляются маршрутизатором при условии, что интерфейс активен и имеет адресации.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Удаленные маршруты </a:t>
            </a:r>
            <a:r>
              <a:rPr lang="ru-RU" sz="2400" dirty="0"/>
              <a:t>— эти маршруты не имеет прямого подключения, они могут быть </a:t>
            </a:r>
            <a:r>
              <a:rPr lang="ru-RU" sz="2400" dirty="0" smtClean="0"/>
              <a:t>настроены:</a:t>
            </a:r>
            <a:endParaRPr lang="ru-RU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dirty="0"/>
              <a:t>Вручную — со статическим маршрутом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dirty="0"/>
              <a:t>Динамически — используя протокол маршрутизации, чтобы маршрутизаторы делились информацией друг с другом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Маршрут по умолчанию </a:t>
            </a:r>
            <a:r>
              <a:rPr lang="ru-RU" sz="2400" dirty="0"/>
              <a:t>— это перенаправляет весь трафик в определенное направление, если </a:t>
            </a:r>
            <a:r>
              <a:rPr lang="ru-RU" sz="2400" dirty="0" smtClean="0"/>
              <a:t>в </a:t>
            </a:r>
            <a:r>
              <a:rPr lang="ru-RU" sz="2400" dirty="0"/>
              <a:t>таблице маршрутизации нет </a:t>
            </a:r>
            <a:r>
              <a:rPr lang="ru-RU" sz="2400" dirty="0" smtClean="0"/>
              <a:t>совпадения. </a:t>
            </a:r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999588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Протоколы маршрутизации (1)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908720"/>
            <a:ext cx="8712968" cy="57606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dirty="0" smtClean="0"/>
              <a:t>            Протоколы маршрутизации могут быть :</a:t>
            </a:r>
          </a:p>
          <a:p>
            <a:pPr>
              <a:buNone/>
            </a:pP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- Распределенными .</a:t>
            </a:r>
          </a:p>
          <a:p>
            <a:pPr>
              <a:buNone/>
            </a:pPr>
            <a:r>
              <a:rPr lang="ru-RU" sz="2400" dirty="0" smtClean="0"/>
              <a:t> При котором отсутствуют выделенные </a:t>
            </a:r>
            <a:r>
              <a:rPr lang="ru-RU" sz="2400" dirty="0" err="1" smtClean="0"/>
              <a:t>маршрутизаторы</a:t>
            </a:r>
            <a:r>
              <a:rPr lang="ru-RU" sz="2400" dirty="0" smtClean="0"/>
              <a:t>, которые собирали и обобщали топологическую информацию и эта работа распределяется между всеми  </a:t>
            </a:r>
            <a:r>
              <a:rPr lang="ru-RU" sz="2400" dirty="0" err="1" smtClean="0"/>
              <a:t>маршрутизаторами</a:t>
            </a:r>
            <a:r>
              <a:rPr lang="ru-RU" sz="2400" dirty="0" smtClean="0"/>
              <a:t> сети.</a:t>
            </a:r>
          </a:p>
          <a:p>
            <a:pPr>
              <a:buNone/>
            </a:pPr>
            <a:r>
              <a:rPr lang="ru-RU" sz="2400" dirty="0" smtClean="0"/>
              <a:t>Каждый маршрутизатор строит свою собственную таблицу, основываясь на данных получаемых по протоколу маршрутизации</a:t>
            </a:r>
            <a:r>
              <a:rPr lang="en-US" sz="2400" dirty="0" smtClean="0"/>
              <a:t>  </a:t>
            </a:r>
            <a:r>
              <a:rPr lang="ru-RU" sz="2400" dirty="0" smtClean="0"/>
              <a:t>от остальных маршрутизаторах</a:t>
            </a:r>
            <a:r>
              <a:rPr lang="en-US" sz="2400" dirty="0" smtClean="0"/>
              <a:t> </a:t>
            </a:r>
            <a:r>
              <a:rPr lang="ru-RU" sz="2400" dirty="0" smtClean="0"/>
              <a:t> сети.</a:t>
            </a:r>
          </a:p>
          <a:p>
            <a:pPr>
              <a:buNone/>
            </a:pPr>
            <a:r>
              <a:rPr lang="ru-RU" sz="2400" dirty="0" smtClean="0"/>
              <a:t>               </a:t>
            </a: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Централизованными</a:t>
            </a:r>
            <a:r>
              <a:rPr lang="ru-RU" sz="2400" dirty="0" smtClean="0"/>
              <a:t>.</a:t>
            </a:r>
          </a:p>
          <a:p>
            <a:pPr>
              <a:buNone/>
            </a:pPr>
            <a:r>
              <a:rPr lang="ru-RU" sz="2400" dirty="0" smtClean="0"/>
              <a:t>  В сети существует один </a:t>
            </a:r>
            <a:r>
              <a:rPr lang="ru-RU" sz="2400" dirty="0" err="1" smtClean="0"/>
              <a:t>маршрутизатор</a:t>
            </a:r>
            <a:r>
              <a:rPr lang="ru-RU" sz="2400" dirty="0" smtClean="0"/>
              <a:t> ( «М»), который собирает всю информацию о топологии и состоянии сети от других «М».</a:t>
            </a:r>
          </a:p>
          <a:p>
            <a:pPr>
              <a:buNone/>
            </a:pPr>
            <a:r>
              <a:rPr lang="ru-RU" sz="2400" dirty="0" smtClean="0"/>
              <a:t>  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Протоколы маршрутизации(2)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908720"/>
            <a:ext cx="8712968" cy="5688632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ru-RU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- Централизованными</a:t>
            </a:r>
            <a:r>
              <a:rPr lang="ru-RU" sz="2800" dirty="0" smtClean="0"/>
              <a:t>.(продолжение)</a:t>
            </a:r>
            <a:endParaRPr lang="ru-RU" sz="2800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ru-RU" sz="2800" dirty="0" smtClean="0">
                <a:solidFill>
                  <a:srgbClr val="002060"/>
                </a:solidFill>
              </a:rPr>
              <a:t> Выделенный  «М»( сервер маршрутов) может выбрать несколько вариантов  поведения:</a:t>
            </a:r>
          </a:p>
          <a:p>
            <a:pPr>
              <a:buNone/>
            </a:pPr>
            <a:endParaRPr lang="ru-RU" sz="2800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ru-RU" sz="2800" dirty="0" smtClean="0"/>
              <a:t>        1) Может построить таблицы </a:t>
            </a:r>
            <a:r>
              <a:rPr lang="ru-RU" sz="2800" dirty="0" err="1" smtClean="0"/>
              <a:t>маршрутизаци</a:t>
            </a:r>
            <a:r>
              <a:rPr lang="ru-RU" sz="2800" dirty="0" smtClean="0"/>
              <a:t>  для всех остальных «М»сети, а затем распространить их по сети, чтобы каждый «М» получил собственную таблицу и в дальнейшем сам принимал решение о продвижении пакетов.</a:t>
            </a:r>
          </a:p>
          <a:p>
            <a:endParaRPr lang="ru-RU" sz="2800" dirty="0" smtClean="0"/>
          </a:p>
          <a:p>
            <a:pPr>
              <a:buNone/>
            </a:pPr>
            <a:r>
              <a:rPr lang="ru-RU" sz="2800" dirty="0" smtClean="0"/>
              <a:t>       2) Центральный «М» может сообщить о выбранных маршрутах только конечным узлам (пограничным «М»), чтобы они направляли в сеть пакеты в соответствии с техникой маршрутизации от источника.</a:t>
            </a:r>
          </a:p>
          <a:p>
            <a:r>
              <a:rPr lang="ru-RU" sz="2800" dirty="0" smtClean="0">
                <a:solidFill>
                  <a:srgbClr val="002060"/>
                </a:solidFill>
              </a:rPr>
              <a:t>В сети может быть несколько выделенных маршрутизаторов, и каждый обслуживает определенную групп.</a:t>
            </a:r>
            <a:endParaRPr lang="ru-RU" sz="28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Назначение протоколов маршрутизации(1)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760640"/>
          </a:xfrm>
        </p:spPr>
        <p:txBody>
          <a:bodyPr>
            <a:noAutofit/>
          </a:bodyPr>
          <a:lstStyle/>
          <a:p>
            <a:r>
              <a:rPr lang="ru-RU" sz="2000" dirty="0" smtClean="0"/>
              <a:t>Продвижение пакета в составных сетях осуществляется на основе таблицы маршрутизации. Содержание ее зависит от используемого протокола.</a:t>
            </a:r>
          </a:p>
          <a:p>
            <a:r>
              <a:rPr lang="ru-RU" sz="2000" dirty="0" smtClean="0">
                <a:solidFill>
                  <a:srgbClr val="002060"/>
                </a:solidFill>
              </a:rPr>
              <a:t>Каждая запись таблицы маршрутизации связывает адрес сети назначения с адресом ( номером) выходного интерфейса на который нужно передать пакет с этим адресом .</a:t>
            </a:r>
          </a:p>
          <a:p>
            <a:r>
              <a:rPr lang="ru-RU" sz="2000" i="1" dirty="0" smtClean="0"/>
              <a:t>Каждый </a:t>
            </a:r>
            <a:r>
              <a:rPr lang="ru-RU" sz="2000" i="1" dirty="0" err="1" smtClean="0"/>
              <a:t>маршрутизатор</a:t>
            </a:r>
            <a:r>
              <a:rPr lang="ru-RU" sz="2000" i="1" dirty="0" smtClean="0"/>
              <a:t> сети имеет свою таблицу, определяющую один шаг из многошагового процесса перемещения пакета по сети</a:t>
            </a:r>
            <a:r>
              <a:rPr lang="ru-RU" sz="2000" dirty="0" smtClean="0"/>
              <a:t>.</a:t>
            </a:r>
          </a:p>
          <a:p>
            <a:r>
              <a:rPr lang="ru-RU" sz="2000" dirty="0" smtClean="0">
                <a:solidFill>
                  <a:srgbClr val="0070C0"/>
                </a:solidFill>
              </a:rPr>
              <a:t>Задача продвижения пакета по сети в каждом </a:t>
            </a:r>
            <a:r>
              <a:rPr lang="ru-RU" sz="2000" dirty="0" err="1" smtClean="0">
                <a:solidFill>
                  <a:srgbClr val="0070C0"/>
                </a:solidFill>
              </a:rPr>
              <a:t>маршрутизаторе</a:t>
            </a:r>
            <a:r>
              <a:rPr lang="ru-RU" sz="2000" dirty="0" smtClean="0">
                <a:solidFill>
                  <a:srgbClr val="0070C0"/>
                </a:solidFill>
              </a:rPr>
              <a:t> распадается на 2 задачи:</a:t>
            </a:r>
          </a:p>
          <a:p>
            <a:pPr>
              <a:buNone/>
            </a:pPr>
            <a:r>
              <a:rPr lang="ru-RU" sz="2000" dirty="0" smtClean="0"/>
              <a:t>          1) обработка пакета с помощью имеющейся таблицы маршрутизации;</a:t>
            </a:r>
          </a:p>
          <a:p>
            <a:pPr>
              <a:buNone/>
            </a:pPr>
            <a:r>
              <a:rPr lang="ru-RU" sz="2000" dirty="0" smtClean="0"/>
              <a:t>          2) построение таблицы маршрутизации</a:t>
            </a:r>
            <a:r>
              <a:rPr lang="ru-RU" sz="2400" dirty="0" smtClean="0"/>
              <a:t>.</a:t>
            </a:r>
          </a:p>
          <a:p>
            <a:pPr>
              <a:buNone/>
            </a:pPr>
            <a:r>
              <a:rPr lang="ru-RU" sz="2400" dirty="0" smtClean="0"/>
              <a:t> </a:t>
            </a:r>
            <a:r>
              <a:rPr lang="ru-RU" sz="2400" dirty="0" smtClean="0">
                <a:solidFill>
                  <a:srgbClr val="002060"/>
                </a:solidFill>
              </a:rPr>
              <a:t>Назначение протокола маршрутизации- это построение таблиц маршрутизации</a:t>
            </a:r>
            <a:endParaRPr lang="ru-RU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Назначение протоколов маршрутизации (2)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764704"/>
            <a:ext cx="8712968" cy="6093296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rgbClr val="002060"/>
                </a:solidFill>
              </a:rPr>
              <a:t>Для построения таблиц , </a:t>
            </a:r>
            <a:r>
              <a:rPr lang="ru-RU" sz="2400" dirty="0" err="1" smtClean="0">
                <a:solidFill>
                  <a:srgbClr val="002060"/>
                </a:solidFill>
              </a:rPr>
              <a:t>маршрутизаторы</a:t>
            </a:r>
            <a:r>
              <a:rPr lang="ru-RU" sz="2400" dirty="0" smtClean="0">
                <a:solidFill>
                  <a:srgbClr val="002060"/>
                </a:solidFill>
              </a:rPr>
              <a:t> обмениваются служебной информацией о топологии составной сети, </a:t>
            </a:r>
          </a:p>
          <a:p>
            <a:pPr>
              <a:buNone/>
            </a:pPr>
            <a:r>
              <a:rPr lang="ru-RU" sz="2400" dirty="0" smtClean="0">
                <a:solidFill>
                  <a:srgbClr val="002060"/>
                </a:solidFill>
              </a:rPr>
              <a:t>     на основе которой каждый </a:t>
            </a:r>
            <a:r>
              <a:rPr lang="ru-RU" sz="2400" dirty="0" err="1" smtClean="0">
                <a:solidFill>
                  <a:srgbClr val="002060"/>
                </a:solidFill>
              </a:rPr>
              <a:t>маршрутизатор</a:t>
            </a:r>
            <a:r>
              <a:rPr lang="ru-RU" sz="2400" dirty="0" smtClean="0">
                <a:solidFill>
                  <a:srgbClr val="002060"/>
                </a:solidFill>
              </a:rPr>
              <a:t> выбирает маршруты к узлам назначения .</a:t>
            </a:r>
          </a:p>
          <a:p>
            <a:r>
              <a:rPr lang="ru-RU" sz="2400" dirty="0" smtClean="0"/>
              <a:t>Создаваемые таблицы обеспечивают </a:t>
            </a:r>
            <a:r>
              <a:rPr lang="ru-RU" sz="2400" dirty="0" smtClean="0">
                <a:solidFill>
                  <a:srgbClr val="002060"/>
                </a:solidFill>
              </a:rPr>
              <a:t>рациональность маршрута следования пакетов через сеть </a:t>
            </a:r>
            <a:r>
              <a:rPr lang="ru-RU" sz="2400" dirty="0" smtClean="0"/>
              <a:t>, при этом </a:t>
            </a:r>
            <a:r>
              <a:rPr lang="ru-RU" sz="2400" dirty="0" smtClean="0">
                <a:solidFill>
                  <a:srgbClr val="002060"/>
                </a:solidFill>
              </a:rPr>
              <a:t>критерии выбора – различны:</a:t>
            </a:r>
          </a:p>
          <a:p>
            <a:pPr>
              <a:buNone/>
            </a:pPr>
            <a:r>
              <a:rPr lang="ru-RU" sz="2400" dirty="0" smtClean="0"/>
              <a:t>         - </a:t>
            </a:r>
            <a:r>
              <a:rPr lang="ru-RU" sz="2400" i="1" dirty="0" smtClean="0"/>
              <a:t>«кратчайший маршрут», </a:t>
            </a:r>
            <a:r>
              <a:rPr lang="ru-RU" sz="2400" dirty="0" smtClean="0"/>
              <a:t>где под расстоянием понимается количество промежуточных маршрутизаторов .</a:t>
            </a:r>
          </a:p>
          <a:p>
            <a:pPr>
              <a:buNone/>
            </a:pPr>
            <a:r>
              <a:rPr lang="ru-RU" sz="2400" dirty="0" smtClean="0"/>
              <a:t>       - </a:t>
            </a:r>
            <a:r>
              <a:rPr lang="ru-RU" sz="2400" i="1" dirty="0" smtClean="0"/>
              <a:t>комплексный показатель </a:t>
            </a:r>
            <a:r>
              <a:rPr lang="ru-RU" sz="2400" dirty="0" smtClean="0"/>
              <a:t>, </a:t>
            </a:r>
            <a:r>
              <a:rPr lang="ru-RU" sz="2400" smtClean="0"/>
              <a:t>учитывающий номинальную </a:t>
            </a:r>
            <a:r>
              <a:rPr lang="ru-RU" sz="2400" dirty="0" smtClean="0"/>
              <a:t>пропускную способность сети между маршрутизаторами;</a:t>
            </a:r>
          </a:p>
          <a:p>
            <a:pPr>
              <a:buNone/>
            </a:pPr>
            <a:r>
              <a:rPr lang="ru-RU" sz="2400" dirty="0" smtClean="0"/>
              <a:t>       - </a:t>
            </a:r>
            <a:r>
              <a:rPr lang="ru-RU" sz="2400" i="1" dirty="0" smtClean="0"/>
              <a:t>надежность каналов или вносимые ими задержки</a:t>
            </a:r>
            <a:r>
              <a:rPr lang="ru-RU" sz="2400" dirty="0" smtClean="0"/>
              <a:t>. </a:t>
            </a:r>
          </a:p>
          <a:p>
            <a:r>
              <a:rPr lang="ru-RU" sz="2400" dirty="0" smtClean="0"/>
              <a:t> </a:t>
            </a:r>
            <a:r>
              <a:rPr lang="ru-RU" sz="2400" dirty="0" smtClean="0">
                <a:solidFill>
                  <a:srgbClr val="002060"/>
                </a:solidFill>
              </a:rPr>
              <a:t>Протокол маршрутизации должен создавать в </a:t>
            </a:r>
            <a:r>
              <a:rPr lang="ru-RU" sz="2400" dirty="0" err="1" smtClean="0">
                <a:solidFill>
                  <a:srgbClr val="002060"/>
                </a:solidFill>
              </a:rPr>
              <a:t>маршрутизаторах</a:t>
            </a:r>
            <a:r>
              <a:rPr lang="ru-RU" sz="2400" dirty="0" smtClean="0">
                <a:solidFill>
                  <a:srgbClr val="002060"/>
                </a:solidFill>
              </a:rPr>
              <a:t> сети согласованные друг с другом таблицы.</a:t>
            </a:r>
            <a:endParaRPr lang="ru-RU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648072"/>
          </a:xfrm>
        </p:spPr>
        <p:txBody>
          <a:bodyPr>
            <a:noAutofit/>
          </a:bodyPr>
          <a:lstStyle/>
          <a:p>
            <a:r>
              <a:rPr lang="ru-RU" sz="2800" dirty="0" smtClean="0">
                <a:solidFill>
                  <a:srgbClr val="7030A0"/>
                </a:solidFill>
              </a:rPr>
              <a:t>Источники и типы записей в таблице маршрутизации</a:t>
            </a:r>
            <a:r>
              <a:rPr lang="ru-RU" sz="2800" dirty="0" smtClean="0"/>
              <a:t/>
            </a:r>
            <a:br>
              <a:rPr lang="ru-RU" sz="2800" dirty="0" smtClean="0"/>
            </a:b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692696"/>
            <a:ext cx="8964488" cy="6165304"/>
          </a:xfrm>
        </p:spPr>
        <p:txBody>
          <a:bodyPr/>
          <a:lstStyle/>
          <a:p>
            <a:r>
              <a:rPr lang="ru-RU" dirty="0" smtClean="0"/>
              <a:t>Существует несколько источников записей:</a:t>
            </a:r>
          </a:p>
          <a:p>
            <a:pPr>
              <a:buNone/>
            </a:pPr>
            <a:r>
              <a:rPr lang="en-US" dirty="0" smtClean="0"/>
              <a:t>     </a:t>
            </a:r>
            <a:r>
              <a:rPr lang="en-US" sz="2800" dirty="0" smtClean="0"/>
              <a:t>-</a:t>
            </a:r>
            <a:r>
              <a:rPr lang="ru-RU" sz="2800" dirty="0" smtClean="0"/>
              <a:t>   </a:t>
            </a:r>
            <a:r>
              <a:rPr lang="ru-RU" sz="2800" dirty="0" smtClean="0">
                <a:solidFill>
                  <a:srgbClr val="002060"/>
                </a:solidFill>
              </a:rPr>
              <a:t>программное обеспечение стека </a:t>
            </a:r>
            <a:r>
              <a:rPr lang="en-US" sz="2800" dirty="0" smtClean="0">
                <a:solidFill>
                  <a:srgbClr val="002060"/>
                </a:solidFill>
              </a:rPr>
              <a:t>TCP/IP</a:t>
            </a:r>
            <a:r>
              <a:rPr lang="ru-RU" sz="2800" dirty="0" smtClean="0"/>
              <a:t>, </a:t>
            </a:r>
          </a:p>
          <a:p>
            <a:pPr>
              <a:buNone/>
            </a:pPr>
            <a:r>
              <a:rPr lang="ru-RU" sz="2800" dirty="0" smtClean="0"/>
              <a:t>     которое  при инициализации </a:t>
            </a:r>
            <a:r>
              <a:rPr lang="ru-RU" sz="2800" dirty="0" err="1" smtClean="0"/>
              <a:t>маршрутизатора</a:t>
            </a:r>
            <a:r>
              <a:rPr lang="ru-RU" sz="2800" dirty="0" smtClean="0"/>
              <a:t> автоматически заносит в таблицу несколько записей, в результате создается минимальная таблица маршрута ;</a:t>
            </a:r>
          </a:p>
          <a:p>
            <a:pPr>
              <a:buNone/>
            </a:pPr>
            <a:r>
              <a:rPr lang="en-US" sz="2800" dirty="0" smtClean="0"/>
              <a:t>     -</a:t>
            </a:r>
            <a:r>
              <a:rPr lang="ru-RU" sz="2800" dirty="0" smtClean="0"/>
              <a:t>   </a:t>
            </a:r>
            <a:r>
              <a:rPr lang="ru-RU" sz="2800" dirty="0" smtClean="0">
                <a:solidFill>
                  <a:srgbClr val="002060"/>
                </a:solidFill>
              </a:rPr>
              <a:t>администратор сети формирует записи</a:t>
            </a:r>
            <a:r>
              <a:rPr lang="ru-RU" sz="2800" dirty="0" smtClean="0"/>
              <a:t>. </a:t>
            </a:r>
          </a:p>
          <a:p>
            <a:pPr>
              <a:buNone/>
            </a:pPr>
            <a:r>
              <a:rPr lang="ru-RU" sz="2800" dirty="0" smtClean="0"/>
              <a:t>     Эти записи могут быть постоянными и временными и являются  статическими  ;</a:t>
            </a:r>
          </a:p>
          <a:p>
            <a:pPr>
              <a:buNone/>
            </a:pPr>
            <a:r>
              <a:rPr lang="en-US" sz="2800" dirty="0" smtClean="0"/>
              <a:t>     -  </a:t>
            </a:r>
            <a:r>
              <a:rPr lang="ru-RU" sz="2800" dirty="0" smtClean="0"/>
              <a:t>   </a:t>
            </a:r>
            <a:r>
              <a:rPr lang="ru-RU" sz="2800" dirty="0" smtClean="0">
                <a:solidFill>
                  <a:srgbClr val="002060"/>
                </a:solidFill>
              </a:rPr>
              <a:t>динамические протоколы маршрутизации </a:t>
            </a:r>
            <a:r>
              <a:rPr lang="ru-RU" sz="2800" dirty="0" smtClean="0"/>
              <a:t>–</a:t>
            </a:r>
          </a:p>
          <a:p>
            <a:pPr>
              <a:buNone/>
            </a:pPr>
            <a:r>
              <a:rPr lang="ru-RU" sz="2800" dirty="0" smtClean="0"/>
              <a:t>          </a:t>
            </a:r>
            <a:r>
              <a:rPr lang="en-US" sz="2800" dirty="0" smtClean="0"/>
              <a:t>RIP, OSPF.</a:t>
            </a:r>
          </a:p>
          <a:p>
            <a:pPr>
              <a:buNone/>
            </a:pP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018458"/>
          </a:xfrm>
        </p:spPr>
        <p:txBody>
          <a:bodyPr/>
          <a:lstStyle/>
          <a:p>
            <a:r>
              <a:rPr lang="ru-RU" dirty="0" smtClean="0">
                <a:solidFill>
                  <a:srgbClr val="7030A0"/>
                </a:solidFill>
              </a:rPr>
              <a:t>Маршрутизация без таблиц</a:t>
            </a:r>
            <a:endParaRPr lang="ru-RU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76672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1. Маршрутизация без таблиц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548680"/>
            <a:ext cx="8784976" cy="5976664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ru-RU" sz="2000" dirty="0" smtClean="0"/>
              <a:t>Способы продвижения пакетов в </a:t>
            </a:r>
            <a:r>
              <a:rPr lang="ru-RU" sz="2000" dirty="0" smtClean="0">
                <a:solidFill>
                  <a:srgbClr val="002060"/>
                </a:solidFill>
              </a:rPr>
              <a:t>составных сетях ,которые </a:t>
            </a:r>
            <a:r>
              <a:rPr lang="ru-RU" sz="2000" u="sng" dirty="0" smtClean="0">
                <a:solidFill>
                  <a:srgbClr val="002060"/>
                </a:solidFill>
              </a:rPr>
              <a:t>не требуют таблиц маршрутизации в </a:t>
            </a:r>
            <a:r>
              <a:rPr lang="ru-RU" sz="2000" u="sng" dirty="0" err="1" smtClean="0">
                <a:solidFill>
                  <a:srgbClr val="002060"/>
                </a:solidFill>
              </a:rPr>
              <a:t>маршрутизаторах</a:t>
            </a:r>
            <a:r>
              <a:rPr lang="ru-RU" sz="2000" u="sng" dirty="0" smtClean="0">
                <a:solidFill>
                  <a:srgbClr val="002060"/>
                </a:solidFill>
              </a:rPr>
              <a:t>, а значит и протоколов</a:t>
            </a:r>
            <a:r>
              <a:rPr lang="ru-RU" sz="2000" dirty="0" smtClean="0"/>
              <a:t>:</a:t>
            </a:r>
          </a:p>
          <a:p>
            <a:pPr algn="just">
              <a:buNone/>
            </a:pPr>
            <a:r>
              <a:rPr lang="ru-RU" sz="2000" dirty="0" smtClean="0"/>
              <a:t>   1)  </a:t>
            </a:r>
            <a:r>
              <a:rPr lang="ru-RU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Лавинная маршрутизация </a:t>
            </a:r>
            <a:r>
              <a:rPr lang="ru-RU" sz="2000" dirty="0" smtClean="0"/>
              <a:t>, когда каждый М (</a:t>
            </a:r>
            <a:r>
              <a:rPr lang="ru-RU" sz="2000" dirty="0" err="1" smtClean="0"/>
              <a:t>маршрутизатор</a:t>
            </a:r>
            <a:r>
              <a:rPr lang="ru-RU" sz="2000" dirty="0" smtClean="0"/>
              <a:t>) передает пакет всем своим соседям.</a:t>
            </a:r>
          </a:p>
          <a:p>
            <a:pPr algn="just">
              <a:buNone/>
            </a:pPr>
            <a:r>
              <a:rPr lang="ru-RU" sz="2000" dirty="0" smtClean="0"/>
              <a:t>     Нерациональный способ - расточительно используется пропускная способность сети, но он работоспособен.</a:t>
            </a:r>
          </a:p>
          <a:p>
            <a:pPr algn="just">
              <a:buNone/>
            </a:pPr>
            <a:r>
              <a:rPr lang="ru-RU" sz="2000" dirty="0" smtClean="0"/>
              <a:t> 2)  </a:t>
            </a:r>
            <a:r>
              <a:rPr lang="ru-RU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Маршрутизация управляемая событиями</a:t>
            </a:r>
            <a:r>
              <a:rPr lang="ru-RU" sz="2000" dirty="0" smtClean="0"/>
              <a:t>, когда пакет направляется к определенной сети по маршруту , который уже  был успешно использован . </a:t>
            </a:r>
          </a:p>
          <a:p>
            <a:pPr algn="just">
              <a:buNone/>
            </a:pPr>
            <a:r>
              <a:rPr lang="ru-RU" sz="2000" dirty="0" smtClean="0"/>
              <a:t>     Эффективный метод , но требует обратной связи.</a:t>
            </a:r>
          </a:p>
          <a:p>
            <a:pPr algn="just">
              <a:buNone/>
            </a:pPr>
            <a:r>
              <a:rPr lang="ru-RU" sz="2000" dirty="0" smtClean="0"/>
              <a:t>      Использовался на ранней стадии  развития Интернета. </a:t>
            </a:r>
          </a:p>
          <a:p>
            <a:pPr algn="just">
              <a:buNone/>
            </a:pPr>
            <a:r>
              <a:rPr lang="ru-RU" sz="2000" dirty="0" smtClean="0"/>
              <a:t>     Может использовать таблицы.</a:t>
            </a:r>
          </a:p>
          <a:p>
            <a:pPr algn="just">
              <a:buNone/>
            </a:pPr>
            <a:r>
              <a:rPr lang="ru-RU" sz="2000" dirty="0" smtClean="0"/>
              <a:t>     3)  </a:t>
            </a:r>
            <a:r>
              <a:rPr lang="ru-RU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Маршрутизация от источника</a:t>
            </a:r>
          </a:p>
          <a:p>
            <a:pPr algn="just">
              <a:buNone/>
            </a:pPr>
            <a:r>
              <a:rPr lang="ru-RU" sz="2000" dirty="0" smtClean="0"/>
              <a:t>    В этом случае отправитель помещает в пакет информацию о промежуточных  </a:t>
            </a:r>
            <a:r>
              <a:rPr lang="ru-RU" sz="2000" dirty="0" err="1" smtClean="0"/>
              <a:t>маршрутизаторах</a:t>
            </a:r>
            <a:r>
              <a:rPr lang="ru-RU" sz="2000" dirty="0" smtClean="0"/>
              <a:t> , которые должны участвовать в передаче пакета к сети назначения.</a:t>
            </a:r>
          </a:p>
          <a:p>
            <a:pPr algn="just">
              <a:buNone/>
            </a:pPr>
            <a:r>
              <a:rPr lang="ru-RU" sz="2000" dirty="0" smtClean="0"/>
              <a:t>  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490066"/>
          </a:xfrm>
        </p:spPr>
        <p:txBody>
          <a:bodyPr>
            <a:normAutofit fontScale="90000"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Маршрутизация  </a:t>
            </a:r>
            <a:r>
              <a:rPr lang="ru-RU" sz="3200" dirty="0">
                <a:solidFill>
                  <a:srgbClr val="7030A0"/>
                </a:solidFill>
              </a:rPr>
              <a:t>пакетов </a:t>
            </a:r>
            <a:r>
              <a:rPr lang="ru-RU" sz="3200" dirty="0" smtClean="0">
                <a:solidFill>
                  <a:srgbClr val="7030A0"/>
                </a:solidFill>
              </a:rPr>
              <a:t>от источника</a:t>
            </a:r>
            <a:endParaRPr lang="ru-RU" sz="32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908720"/>
            <a:ext cx="8712968" cy="5949280"/>
          </a:xfrm>
        </p:spPr>
        <p:txBody>
          <a:bodyPr>
            <a:normAutofit fontScale="92500" lnSpcReduction="20000"/>
          </a:bodyPr>
          <a:lstStyle/>
          <a:p>
            <a:r>
              <a:rPr lang="ru-RU" sz="2800" dirty="0">
                <a:solidFill>
                  <a:srgbClr val="002060"/>
                </a:solidFill>
              </a:rPr>
              <a:t>Пакеты всегда создаются в источнике.</a:t>
            </a:r>
          </a:p>
          <a:p>
            <a:r>
              <a:rPr lang="ru-RU" sz="2800" dirty="0"/>
              <a:t>Каждое хост-устройство создает свою собственную таблицу маршрутизации.</a:t>
            </a:r>
          </a:p>
          <a:p>
            <a:r>
              <a:rPr lang="ru-RU" sz="2800" dirty="0">
                <a:solidFill>
                  <a:srgbClr val="002060"/>
                </a:solidFill>
              </a:rPr>
              <a:t>Хост может отправлять пакеты следующим </a:t>
            </a:r>
            <a:r>
              <a:rPr lang="ru-RU" sz="2800" dirty="0" smtClean="0">
                <a:solidFill>
                  <a:srgbClr val="002060"/>
                </a:solidFill>
              </a:rPr>
              <a:t>образом</a:t>
            </a:r>
            <a:r>
              <a:rPr lang="ru-RU" sz="2800" dirty="0" smtClean="0"/>
              <a:t>:</a:t>
            </a:r>
          </a:p>
          <a:p>
            <a:pPr lvl="1">
              <a:buNone/>
            </a:pPr>
            <a:r>
              <a:rPr lang="ru-RU" dirty="0" smtClean="0"/>
              <a:t>  -    </a:t>
            </a:r>
            <a:r>
              <a:rPr lang="ru-RU" i="1" dirty="0" smtClean="0"/>
              <a:t>Сам  хост </a:t>
            </a:r>
            <a:r>
              <a:rPr lang="ru-RU" dirty="0" smtClean="0"/>
              <a:t>— 127.0.0.1 (IPv4),: :1 (IPv6);</a:t>
            </a:r>
          </a:p>
          <a:p>
            <a:pPr lvl="1">
              <a:buNone/>
            </a:pPr>
            <a:r>
              <a:rPr lang="ru-RU" dirty="0" smtClean="0"/>
              <a:t>  -   </a:t>
            </a:r>
            <a:r>
              <a:rPr lang="ru-RU" i="1" dirty="0" smtClean="0"/>
              <a:t>Локальные </a:t>
            </a:r>
            <a:r>
              <a:rPr lang="ru-RU" i="1" dirty="0"/>
              <a:t>узлы </a:t>
            </a:r>
            <a:r>
              <a:rPr lang="ru-RU" dirty="0"/>
              <a:t>— место назначения находится в одной локальной </a:t>
            </a:r>
            <a:r>
              <a:rPr lang="ru-RU" dirty="0" smtClean="0"/>
              <a:t>сети;</a:t>
            </a:r>
            <a:endParaRPr lang="ru-RU" dirty="0"/>
          </a:p>
          <a:p>
            <a:pPr lvl="1">
              <a:buNone/>
            </a:pPr>
            <a:r>
              <a:rPr lang="ru-RU" dirty="0" smtClean="0"/>
              <a:t>   -  </a:t>
            </a:r>
            <a:r>
              <a:rPr lang="ru-RU" i="1" dirty="0" smtClean="0"/>
              <a:t>Удаленные </a:t>
            </a:r>
            <a:r>
              <a:rPr lang="ru-RU" i="1" dirty="0"/>
              <a:t>хосты </a:t>
            </a:r>
            <a:r>
              <a:rPr lang="ru-RU" dirty="0"/>
              <a:t>— устройства не находятся в одной локальной </a:t>
            </a:r>
            <a:r>
              <a:rPr lang="ru-RU" dirty="0" smtClean="0"/>
              <a:t>сети.</a:t>
            </a:r>
          </a:p>
          <a:p>
            <a:pPr lvl="1">
              <a:buFont typeface="Arial" pitchFamily="34" charset="0"/>
              <a:buChar char="•"/>
            </a:pPr>
            <a:r>
              <a:rPr lang="ru-RU" dirty="0" smtClean="0">
                <a:solidFill>
                  <a:srgbClr val="002060"/>
                </a:solidFill>
              </a:rPr>
              <a:t>На основе информации, вложенной в пакет, каждый  </a:t>
            </a:r>
            <a:r>
              <a:rPr lang="ru-RU" dirty="0" err="1" smtClean="0">
                <a:solidFill>
                  <a:srgbClr val="002060"/>
                </a:solidFill>
              </a:rPr>
              <a:t>маршрутизатор</a:t>
            </a:r>
            <a:r>
              <a:rPr lang="ru-RU" dirty="0" smtClean="0">
                <a:solidFill>
                  <a:srgbClr val="002060"/>
                </a:solidFill>
              </a:rPr>
              <a:t> («М») считывает адрес следующего «М» и передает ему пакет для обработки</a:t>
            </a:r>
            <a:r>
              <a:rPr lang="ru-RU" dirty="0" smtClean="0"/>
              <a:t>.</a:t>
            </a:r>
          </a:p>
          <a:p>
            <a:pPr lvl="1">
              <a:buFont typeface="Arial" pitchFamily="34" charset="0"/>
              <a:buChar char="•"/>
            </a:pPr>
            <a:r>
              <a:rPr lang="ru-RU" dirty="0" smtClean="0"/>
              <a:t>Маршрут может прокладывать :</a:t>
            </a:r>
          </a:p>
          <a:p>
            <a:pPr lvl="1">
              <a:buNone/>
            </a:pPr>
            <a:r>
              <a:rPr lang="ru-RU" dirty="0" smtClean="0"/>
              <a:t>        - либо вручную администратор, </a:t>
            </a:r>
          </a:p>
          <a:p>
            <a:pPr lvl="1">
              <a:buNone/>
            </a:pPr>
            <a:r>
              <a:rPr lang="ru-RU" dirty="0" smtClean="0"/>
              <a:t>        - либо узел-отправитель автоматически.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722617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442394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Маршрутизация на основе таблиц</a:t>
            </a:r>
            <a:endParaRPr lang="ru-RU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2.  Маршрутизация на основе таблиц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764704"/>
            <a:ext cx="8820472" cy="590465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sz="2800" dirty="0" smtClean="0"/>
              <a:t>   </a:t>
            </a:r>
            <a:r>
              <a:rPr lang="ru-RU" sz="2400" dirty="0" smtClean="0"/>
              <a:t>Различают 2 вида :</a:t>
            </a:r>
          </a:p>
          <a:p>
            <a:pPr>
              <a:buNone/>
            </a:pPr>
            <a:r>
              <a:rPr lang="ru-RU" sz="2400" dirty="0" smtClean="0"/>
              <a:t>     - </a:t>
            </a: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Статическая маршрутизация</a:t>
            </a:r>
            <a:r>
              <a:rPr lang="ru-RU" sz="2400" dirty="0" smtClean="0"/>
              <a:t>.</a:t>
            </a:r>
          </a:p>
          <a:p>
            <a:pPr>
              <a:buNone/>
            </a:pPr>
            <a:r>
              <a:rPr lang="ru-RU" sz="2400" dirty="0" smtClean="0"/>
              <a:t> Таблицы составляются и вводятся в память каждого </a:t>
            </a:r>
            <a:r>
              <a:rPr lang="ru-RU" sz="2400" dirty="0" err="1" smtClean="0"/>
              <a:t>маршрутизатора</a:t>
            </a:r>
            <a:r>
              <a:rPr lang="ru-RU" sz="2400" dirty="0" smtClean="0"/>
              <a:t> вручную администратором сети, срок их жизни- бесконечен.</a:t>
            </a:r>
          </a:p>
          <a:p>
            <a:pPr>
              <a:buNone/>
            </a:pPr>
            <a:r>
              <a:rPr lang="ru-RU" sz="2400" dirty="0" smtClean="0"/>
              <a:t>  Все изменения состояния какого-нибудь элемента сети администратору необходимо срочно вносить эти изменения в таблицу. </a:t>
            </a:r>
          </a:p>
          <a:p>
            <a:pPr>
              <a:buNone/>
            </a:pPr>
            <a:r>
              <a:rPr lang="ru-RU" sz="2400" dirty="0" smtClean="0"/>
              <a:t>   </a:t>
            </a:r>
            <a:r>
              <a:rPr lang="ru-RU" sz="2400" dirty="0" smtClean="0">
                <a:solidFill>
                  <a:srgbClr val="002060"/>
                </a:solidFill>
              </a:rPr>
              <a:t>Протоколы маршрутизации не требуются  -  работу выполняет администратор</a:t>
            </a:r>
            <a:r>
              <a:rPr lang="ru-RU" sz="2400" dirty="0" smtClean="0"/>
              <a:t>.</a:t>
            </a:r>
          </a:p>
          <a:p>
            <a:pPr>
              <a:buNone/>
            </a:pPr>
            <a:r>
              <a:rPr lang="ru-RU" sz="2400" dirty="0" smtClean="0"/>
              <a:t>         -  </a:t>
            </a: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Динамическая (Адаптивная ) маршрутизация </a:t>
            </a:r>
            <a:r>
              <a:rPr lang="ru-RU" sz="2400" dirty="0" smtClean="0"/>
              <a:t>обеспечивает автоматическое обновление таблиц маршрутизации после изменения конфигурации сети.</a:t>
            </a:r>
          </a:p>
          <a:p>
            <a:pPr>
              <a:buNone/>
            </a:pPr>
            <a:r>
              <a:rPr lang="ru-RU" sz="2400" dirty="0" smtClean="0"/>
              <a:t>     </a:t>
            </a:r>
            <a:r>
              <a:rPr lang="ru-RU" sz="2400" u="sng" dirty="0" smtClean="0">
                <a:solidFill>
                  <a:srgbClr val="002060"/>
                </a:solidFill>
              </a:rPr>
              <a:t>Для адаптации таблиц нужны адаптивные протоколы маршрутизации</a:t>
            </a:r>
            <a:r>
              <a:rPr lang="ru-RU" sz="2400" u="sng" dirty="0" smtClean="0"/>
              <a:t> </a:t>
            </a:r>
            <a:r>
              <a:rPr lang="ru-RU" sz="2400" dirty="0" smtClean="0"/>
              <a:t>.</a:t>
            </a:r>
          </a:p>
          <a:p>
            <a:pPr>
              <a:buNone/>
            </a:pPr>
            <a:r>
              <a:rPr lang="ru-RU" sz="2400" dirty="0" smtClean="0"/>
              <a:t>   Эти протоколы работают на основе  алгоритмов, которые позволяют всем  </a:t>
            </a:r>
            <a:r>
              <a:rPr lang="ru-RU" sz="2400" dirty="0" err="1" smtClean="0"/>
              <a:t>маршрутизаторам</a:t>
            </a:r>
            <a:r>
              <a:rPr lang="ru-RU" sz="2400" dirty="0" smtClean="0"/>
              <a:t> собирать информацию о топологии связей в сети.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rgbClr val="7030A0"/>
                </a:solidFill>
              </a:rPr>
              <a:t>Статическая </a:t>
            </a:r>
            <a:r>
              <a:rPr lang="ru-RU" sz="3600" dirty="0" smtClean="0">
                <a:solidFill>
                  <a:srgbClr val="7030A0"/>
                </a:solidFill>
              </a:rPr>
              <a:t>маршрутизация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rgbClr val="002060"/>
                </a:solidFill>
              </a:rPr>
              <a:t>Характеристики статического маршрута</a:t>
            </a:r>
            <a:r>
              <a:rPr lang="ru-RU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Настраивается вручную.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Необходимо настроить администратором вручную при изменении </a:t>
            </a:r>
            <a:r>
              <a:rPr lang="ru-RU" dirty="0" smtClean="0"/>
              <a:t>топологии.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i="1" dirty="0"/>
              <a:t>Подходит для небольших сетей без резервирования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Часто используется в сочетании с протоколом динамической маршрутизации для настройки маршрута по </a:t>
            </a:r>
            <a:r>
              <a:rPr lang="ru-RU" dirty="0" smtClean="0"/>
              <a:t>умолчанию.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303686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rgbClr val="7030A0"/>
                </a:solidFill>
              </a:rPr>
              <a:t>Динамическая </a:t>
            </a:r>
            <a:r>
              <a:rPr lang="ru-RU" sz="3600" dirty="0" smtClean="0">
                <a:solidFill>
                  <a:srgbClr val="7030A0"/>
                </a:solidFill>
              </a:rPr>
              <a:t>маршрутизация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052736"/>
            <a:ext cx="8892480" cy="5328592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>
                <a:solidFill>
                  <a:srgbClr val="002060"/>
                </a:solidFill>
              </a:rPr>
              <a:t>Динамические маршруты автоматически обеспечивают</a:t>
            </a:r>
            <a:r>
              <a:rPr lang="ru-RU" sz="28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Обнаружение удаленных сетей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Обновление данных маршрутизации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Выбор оптимального пути к сетям назначения.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Поиск новых наилучших путей при изменении топологии</a:t>
            </a:r>
          </a:p>
          <a:p>
            <a:pPr marL="0" indent="0">
              <a:buNone/>
            </a:pPr>
            <a:r>
              <a:rPr lang="ru-RU" sz="2800" dirty="0">
                <a:solidFill>
                  <a:srgbClr val="002060"/>
                </a:solidFill>
              </a:rPr>
              <a:t>Динамическая маршрутизация также может совместно использовать статические маршруты по умолчанию с другими маршрутизаторами.</a:t>
            </a:r>
          </a:p>
          <a:p>
            <a:endParaRPr lang="ru-RU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83716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712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Адаптивная (Динамическая )маршрутизация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08720"/>
            <a:ext cx="8686800" cy="57606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dirty="0" smtClean="0"/>
              <a:t>  </a:t>
            </a:r>
            <a:r>
              <a:rPr lang="ru-RU" sz="2800" dirty="0" smtClean="0">
                <a:solidFill>
                  <a:srgbClr val="002060"/>
                </a:solidFill>
              </a:rPr>
              <a:t>Адаптивные алгоритмы маршрутизации должны отвечать требованиям</a:t>
            </a:r>
            <a:r>
              <a:rPr lang="ru-RU" sz="2800" dirty="0" smtClean="0"/>
              <a:t>:</a:t>
            </a:r>
          </a:p>
          <a:p>
            <a:pPr>
              <a:buNone/>
            </a:pPr>
            <a:r>
              <a:rPr lang="ru-RU" sz="2800" dirty="0" smtClean="0"/>
              <a:t> 1) должны обеспечить</a:t>
            </a:r>
            <a:r>
              <a:rPr lang="ru-RU" sz="2800" dirty="0" smtClean="0">
                <a:solidFill>
                  <a:srgbClr val="002060"/>
                </a:solidFill>
              </a:rPr>
              <a:t> рациональность и оптимальность маршрута </a:t>
            </a:r>
            <a:r>
              <a:rPr lang="ru-RU" sz="2800" dirty="0" smtClean="0"/>
              <a:t>;</a:t>
            </a:r>
          </a:p>
          <a:p>
            <a:pPr>
              <a:buNone/>
            </a:pPr>
            <a:r>
              <a:rPr lang="ru-RU" sz="2800" dirty="0" smtClean="0"/>
              <a:t>  2) </a:t>
            </a:r>
            <a:r>
              <a:rPr lang="ru-RU" sz="2800" dirty="0" smtClean="0">
                <a:solidFill>
                  <a:srgbClr val="002060"/>
                </a:solidFill>
              </a:rPr>
              <a:t>алгоритмы должны быть простыми</a:t>
            </a:r>
            <a:r>
              <a:rPr lang="ru-RU" sz="2800" dirty="0" smtClean="0"/>
              <a:t>, чтобы при их  реализации не тратилось много сетевых ресурсов</a:t>
            </a:r>
          </a:p>
          <a:p>
            <a:pPr>
              <a:buNone/>
            </a:pPr>
            <a:r>
              <a:rPr lang="ru-RU" sz="2800" dirty="0" smtClean="0"/>
              <a:t>    ( большой </a:t>
            </a:r>
            <a:r>
              <a:rPr lang="ru-RU" sz="2800" dirty="0" err="1" smtClean="0"/>
              <a:t>обьем</a:t>
            </a:r>
            <a:r>
              <a:rPr lang="ru-RU" sz="2800" dirty="0" smtClean="0"/>
              <a:t> вычислений или порождать интенсивный служебный трафик);</a:t>
            </a:r>
          </a:p>
          <a:p>
            <a:pPr>
              <a:buNone/>
            </a:pPr>
            <a:r>
              <a:rPr lang="ru-RU" sz="2800" dirty="0" smtClean="0"/>
              <a:t>  3) должны </a:t>
            </a:r>
            <a:r>
              <a:rPr lang="ru-RU" sz="2800" dirty="0" smtClean="0">
                <a:solidFill>
                  <a:srgbClr val="002060"/>
                </a:solidFill>
              </a:rPr>
              <a:t>обладать свойством сходимости </a:t>
            </a:r>
            <a:r>
              <a:rPr lang="ru-RU" sz="2800" dirty="0" smtClean="0"/>
              <a:t>– всегда приводить к однозначному результату за </a:t>
            </a:r>
            <a:r>
              <a:rPr lang="ru-RU" sz="2400" dirty="0" smtClean="0"/>
              <a:t>приемлемое время.  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92696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Адаптивные протоколы маршрутизации (1)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48072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Адаптивные протоколы обмена маршрутной  информацией, по типу алгоритмов, делятся на 2 группы :</a:t>
            </a:r>
          </a:p>
          <a:p>
            <a:pPr>
              <a:buNone/>
            </a:pPr>
            <a:r>
              <a:rPr lang="ru-RU" sz="2400" dirty="0" smtClean="0"/>
              <a:t>       - 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дистанционно – векторные алгоритмы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DVA )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>
              <a:buNone/>
            </a:pP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- алгоритмы состояния связей  (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LSA </a:t>
            </a:r>
            <a:r>
              <a:rPr lang="en-US" sz="2400" dirty="0" smtClean="0"/>
              <a:t>)</a:t>
            </a:r>
            <a:r>
              <a:rPr lang="ru-RU" sz="2400" dirty="0" smtClean="0"/>
              <a:t>. </a:t>
            </a:r>
          </a:p>
          <a:p>
            <a:pPr>
              <a:buNone/>
            </a:pPr>
            <a:r>
              <a:rPr lang="ru-RU" sz="2400" u="sng" dirty="0" smtClean="0"/>
              <a:t> </a:t>
            </a:r>
            <a:r>
              <a:rPr lang="ru-RU" sz="2400" u="sng" dirty="0" smtClean="0">
                <a:solidFill>
                  <a:srgbClr val="002060"/>
                </a:solidFill>
              </a:rPr>
              <a:t>А.) При дистанционно –векторном алгоритме  </a:t>
            </a:r>
            <a:r>
              <a:rPr lang="ru-RU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DVA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ru-RU" sz="2400" dirty="0" smtClean="0">
                <a:solidFill>
                  <a:srgbClr val="002060"/>
                </a:solidFill>
              </a:rPr>
              <a:t> </a:t>
            </a:r>
            <a:r>
              <a:rPr lang="ru-RU" sz="2400" dirty="0" smtClean="0"/>
              <a:t>     каждый </a:t>
            </a:r>
            <a:r>
              <a:rPr lang="ru-RU" sz="2400" dirty="0" err="1" smtClean="0"/>
              <a:t>маршутизатор</a:t>
            </a:r>
            <a:r>
              <a:rPr lang="ru-RU" sz="2400" dirty="0" smtClean="0"/>
              <a:t>  («М») периодически и широковещательно </a:t>
            </a:r>
            <a:r>
              <a:rPr lang="ru-RU" sz="2400" dirty="0" smtClean="0">
                <a:solidFill>
                  <a:srgbClr val="002060"/>
                </a:solidFill>
              </a:rPr>
              <a:t>рассылает</a:t>
            </a:r>
            <a:r>
              <a:rPr lang="ru-RU" sz="2400" dirty="0" smtClean="0"/>
              <a:t> </a:t>
            </a:r>
            <a:r>
              <a:rPr lang="ru-RU" sz="2400" dirty="0" smtClean="0">
                <a:solidFill>
                  <a:srgbClr val="002060"/>
                </a:solidFill>
              </a:rPr>
              <a:t>по сети вектор</a:t>
            </a:r>
            <a:r>
              <a:rPr lang="ru-RU" sz="2400" dirty="0" smtClean="0"/>
              <a:t>:</a:t>
            </a:r>
          </a:p>
          <a:p>
            <a:pPr>
              <a:buNone/>
            </a:pPr>
            <a:r>
              <a:rPr lang="ru-RU" sz="2400" dirty="0" smtClean="0"/>
              <a:t>        -1)  компоненты (метрики)  которого – </a:t>
            </a:r>
            <a:r>
              <a:rPr lang="ru-RU" sz="2400" dirty="0" smtClean="0">
                <a:solidFill>
                  <a:srgbClr val="002060"/>
                </a:solidFill>
              </a:rPr>
              <a:t>это расстояния от данного «М» до всех известных ему сетей.</a:t>
            </a:r>
            <a:r>
              <a:rPr lang="ru-RU" sz="2400" dirty="0" smtClean="0"/>
              <a:t> </a:t>
            </a:r>
          </a:p>
          <a:p>
            <a:pPr>
              <a:buNone/>
            </a:pPr>
            <a:r>
              <a:rPr lang="ru-RU" sz="2400" dirty="0" smtClean="0">
                <a:solidFill>
                  <a:srgbClr val="002060"/>
                </a:solidFill>
              </a:rPr>
              <a:t>Расстояние – это число </a:t>
            </a:r>
            <a:r>
              <a:rPr lang="ru-RU" sz="2400" dirty="0" err="1" smtClean="0">
                <a:solidFill>
                  <a:srgbClr val="002060"/>
                </a:solidFill>
              </a:rPr>
              <a:t>хопов</a:t>
            </a:r>
            <a:r>
              <a:rPr lang="ru-RU" sz="2400" dirty="0" smtClean="0">
                <a:solidFill>
                  <a:srgbClr val="002060"/>
                </a:solidFill>
              </a:rPr>
              <a:t> ( промежуточных маршрутизаторов). </a:t>
            </a:r>
            <a:r>
              <a:rPr lang="ru-RU" sz="2400" dirty="0" smtClean="0"/>
              <a:t>Пакеты  протоколов маршрутизации – это объявления, т.к. с их помощью «М» объявляет всем  остальным«М» все сведения о сети.</a:t>
            </a:r>
          </a:p>
          <a:p>
            <a:pPr>
              <a:buNone/>
            </a:pPr>
            <a:r>
              <a:rPr lang="ru-RU" sz="2400" dirty="0" smtClean="0"/>
              <a:t>         -2) компонентами (метрикой ) являются </a:t>
            </a:r>
            <a:r>
              <a:rPr lang="ru-RU" sz="2400" dirty="0" smtClean="0">
                <a:solidFill>
                  <a:srgbClr val="002060"/>
                </a:solidFill>
              </a:rPr>
              <a:t>и промежуточные «М», и время прохождения пакетов по сети между соседними «М». </a:t>
            </a:r>
            <a:endParaRPr lang="en-US" sz="2400" dirty="0" smtClean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Адаптивные протоколы маршрутизации (2)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764704"/>
            <a:ext cx="8964488" cy="648072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ru-RU" sz="2400" dirty="0" smtClean="0">
                <a:solidFill>
                  <a:srgbClr val="002060"/>
                </a:solidFill>
              </a:rPr>
              <a:t>          </a:t>
            </a:r>
            <a:r>
              <a:rPr lang="en-US" sz="2400" dirty="0" smtClean="0">
                <a:solidFill>
                  <a:srgbClr val="002060"/>
                </a:solidFill>
              </a:rPr>
              <a:t>DVA</a:t>
            </a:r>
            <a:r>
              <a:rPr lang="ru-RU" sz="2400" dirty="0" smtClean="0">
                <a:solidFill>
                  <a:srgbClr val="002060"/>
                </a:solidFill>
              </a:rPr>
              <a:t>( продолжение)</a:t>
            </a:r>
            <a:r>
              <a:rPr lang="en-US" sz="2400" dirty="0" smtClean="0">
                <a:solidFill>
                  <a:srgbClr val="002060"/>
                </a:solidFill>
              </a:rPr>
              <a:t> </a:t>
            </a:r>
            <a:endParaRPr lang="ru-RU" sz="2400" dirty="0" smtClean="0">
              <a:solidFill>
                <a:srgbClr val="002060"/>
              </a:solidFill>
            </a:endParaRPr>
          </a:p>
          <a:p>
            <a:pPr algn="just"/>
            <a:r>
              <a:rPr lang="ru-RU" sz="2400" dirty="0" smtClean="0">
                <a:solidFill>
                  <a:srgbClr val="002060"/>
                </a:solidFill>
              </a:rPr>
              <a:t>При получении вектора от соседа</a:t>
            </a:r>
            <a:r>
              <a:rPr lang="ru-RU" sz="2400" i="1" dirty="0" smtClean="0"/>
              <a:t>:</a:t>
            </a:r>
          </a:p>
          <a:p>
            <a:pPr algn="just">
              <a:buNone/>
            </a:pPr>
            <a:r>
              <a:rPr lang="ru-RU" sz="2400" dirty="0" smtClean="0"/>
              <a:t>     -  «М» наращивает указанные в векторе (объявлении) расстояния до сетей на величину расстояния до данного соседа,</a:t>
            </a:r>
          </a:p>
          <a:p>
            <a:pPr algn="just">
              <a:buNone/>
            </a:pPr>
            <a:r>
              <a:rPr lang="ru-RU" sz="2400" dirty="0" smtClean="0"/>
              <a:t>       -  добавляет к нему информацию об известных ему других сетях,  </a:t>
            </a:r>
          </a:p>
          <a:p>
            <a:pPr algn="just">
              <a:buNone/>
            </a:pPr>
            <a:r>
              <a:rPr lang="ru-RU" sz="2400" dirty="0" smtClean="0"/>
              <a:t>         -   затем снова рассылает новое значение вектора по сети.</a:t>
            </a:r>
          </a:p>
          <a:p>
            <a:pPr algn="just"/>
            <a:r>
              <a:rPr lang="ru-RU" sz="2400" dirty="0" smtClean="0"/>
              <a:t>   В конце концов , каждый «М» узнает информацию обо всех имеющихся в интерсети сетях и о расстоянии до них через соседние </a:t>
            </a:r>
            <a:r>
              <a:rPr lang="ru-RU" sz="2400" dirty="0" err="1" smtClean="0"/>
              <a:t>маршрутизаторы</a:t>
            </a:r>
            <a:r>
              <a:rPr lang="ru-RU" sz="2400" dirty="0" smtClean="0"/>
              <a:t>.</a:t>
            </a:r>
          </a:p>
          <a:p>
            <a:pPr algn="just"/>
            <a:r>
              <a:rPr lang="ru-RU" sz="2400" dirty="0" smtClean="0">
                <a:solidFill>
                  <a:srgbClr val="002060"/>
                </a:solidFill>
              </a:rPr>
              <a:t>Затем выбирает из нескольких альтернативных маршрутов  к каждой сети тот маршрут, который обладает наименьшей метрикой.</a:t>
            </a:r>
          </a:p>
          <a:p>
            <a:pPr algn="just"/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DVA </a:t>
            </a: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метод работает в небольших сетях.</a:t>
            </a:r>
          </a:p>
          <a:p>
            <a:pPr algn="just"/>
            <a:r>
              <a:rPr lang="ru-RU" sz="2400" dirty="0" smtClean="0">
                <a:solidFill>
                  <a:srgbClr val="002060"/>
                </a:solidFill>
              </a:rPr>
              <a:t>Основной протокол – </a:t>
            </a:r>
            <a:r>
              <a:rPr lang="en-US" sz="2400" dirty="0" smtClean="0">
                <a:solidFill>
                  <a:srgbClr val="002060"/>
                </a:solidFill>
              </a:rPr>
              <a:t>RIP  (RIP IP  </a:t>
            </a:r>
            <a:r>
              <a:rPr lang="ru-RU" sz="2400" dirty="0" smtClean="0">
                <a:solidFill>
                  <a:srgbClr val="002060"/>
                </a:solidFill>
              </a:rPr>
              <a:t>работает с протоколом </a:t>
            </a:r>
            <a:r>
              <a:rPr lang="en-US" sz="2400" dirty="0" smtClean="0">
                <a:solidFill>
                  <a:srgbClr val="002060"/>
                </a:solidFill>
              </a:rPr>
              <a:t>IP)</a:t>
            </a:r>
            <a:endParaRPr lang="ru-RU" sz="2400" dirty="0" smtClean="0">
              <a:solidFill>
                <a:srgbClr val="002060"/>
              </a:solidFill>
            </a:endParaRPr>
          </a:p>
          <a:p>
            <a:pPr algn="just"/>
            <a:endParaRPr lang="ru-RU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964488" cy="432048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Адаптивные протоколы маршрутизации (3)</a:t>
            </a:r>
            <a:endParaRPr lang="ru-RU" sz="3600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764704"/>
            <a:ext cx="8640960" cy="609329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u="sng" dirty="0" smtClean="0">
                <a:solidFill>
                  <a:srgbClr val="002060"/>
                </a:solidFill>
              </a:rPr>
              <a:t>        </a:t>
            </a:r>
            <a:r>
              <a:rPr lang="ru-RU" sz="2400" u="sng" dirty="0" smtClean="0">
                <a:solidFill>
                  <a:srgbClr val="002060"/>
                </a:solidFill>
              </a:rPr>
              <a:t>Б)  Алгоритм состояния связей (</a:t>
            </a:r>
            <a:r>
              <a:rPr lang="en-US" sz="2400" u="sng" dirty="0" smtClean="0">
                <a:solidFill>
                  <a:srgbClr val="002060"/>
                </a:solidFill>
              </a:rPr>
              <a:t>LSA)</a:t>
            </a:r>
            <a:r>
              <a:rPr lang="ru-RU" sz="2400" u="sng" dirty="0" smtClean="0">
                <a:solidFill>
                  <a:srgbClr val="002060"/>
                </a:solidFill>
              </a:rPr>
              <a:t>         </a:t>
            </a:r>
            <a:r>
              <a:rPr lang="ru-RU" sz="2400" dirty="0" smtClean="0"/>
              <a:t>обеспечивает каждый «М» информацией, достаточной для построения точного графа связей сети.</a:t>
            </a:r>
          </a:p>
          <a:p>
            <a:pPr>
              <a:buNone/>
            </a:pPr>
            <a:r>
              <a:rPr lang="ru-RU" sz="2400" dirty="0" smtClean="0"/>
              <a:t>  </a:t>
            </a:r>
            <a:r>
              <a:rPr lang="ru-RU" sz="2400" dirty="0" smtClean="0">
                <a:solidFill>
                  <a:srgbClr val="002060"/>
                </a:solidFill>
              </a:rPr>
              <a:t>Все «М»работают на основании одинаковых графов </a:t>
            </a:r>
            <a:r>
              <a:rPr lang="ru-RU" sz="2400" dirty="0" smtClean="0"/>
              <a:t>, что делает процесс маршрутизации устойчивым к изменениям конфигурации.</a:t>
            </a:r>
          </a:p>
          <a:p>
            <a:pPr>
              <a:buNone/>
            </a:pPr>
            <a:r>
              <a:rPr lang="ru-RU" sz="2400" dirty="0" smtClean="0"/>
              <a:t>     </a:t>
            </a:r>
            <a:r>
              <a:rPr lang="ru-RU" sz="2400" dirty="0" smtClean="0">
                <a:solidFill>
                  <a:srgbClr val="002060"/>
                </a:solidFill>
              </a:rPr>
              <a:t>Вершины графа </a:t>
            </a:r>
            <a:r>
              <a:rPr lang="ru-RU" sz="2400" dirty="0" smtClean="0"/>
              <a:t>– и </a:t>
            </a:r>
            <a:r>
              <a:rPr lang="ru-RU" sz="2400" dirty="0" err="1" smtClean="0"/>
              <a:t>маршрутизаторы</a:t>
            </a:r>
            <a:r>
              <a:rPr lang="ru-RU" sz="2400" dirty="0" smtClean="0"/>
              <a:t> ,</a:t>
            </a:r>
          </a:p>
          <a:p>
            <a:pPr>
              <a:buNone/>
            </a:pPr>
            <a:r>
              <a:rPr lang="ru-RU" sz="2400" dirty="0" smtClean="0"/>
              <a:t>                                      - и объединяемые ими сети.</a:t>
            </a:r>
          </a:p>
          <a:p>
            <a:pPr>
              <a:buNone/>
            </a:pPr>
            <a:r>
              <a:rPr lang="ru-RU" sz="2400" dirty="0" smtClean="0"/>
              <a:t>    </a:t>
            </a:r>
            <a:r>
              <a:rPr lang="ru-RU" sz="2400" dirty="0" smtClean="0">
                <a:solidFill>
                  <a:srgbClr val="002060"/>
                </a:solidFill>
              </a:rPr>
              <a:t>Распространяемая по сети информация состоит из описания связей  типа:</a:t>
            </a:r>
          </a:p>
          <a:p>
            <a:pPr>
              <a:buNone/>
            </a:pPr>
            <a:r>
              <a:rPr lang="ru-RU" sz="2400" dirty="0" smtClean="0"/>
              <a:t>               - </a:t>
            </a:r>
            <a:r>
              <a:rPr lang="ru-RU" sz="2400" dirty="0" err="1" smtClean="0"/>
              <a:t>маршрутизатор</a:t>
            </a:r>
            <a:r>
              <a:rPr lang="ru-RU" sz="2400" dirty="0" smtClean="0"/>
              <a:t> – </a:t>
            </a:r>
            <a:r>
              <a:rPr lang="ru-RU" sz="2400" dirty="0" err="1" smtClean="0"/>
              <a:t>маршрутизатор</a:t>
            </a:r>
            <a:endParaRPr lang="ru-RU" sz="2400" dirty="0" smtClean="0"/>
          </a:p>
          <a:p>
            <a:pPr>
              <a:buNone/>
            </a:pPr>
            <a:r>
              <a:rPr lang="ru-RU" sz="2400" dirty="0" smtClean="0"/>
              <a:t>                - </a:t>
            </a:r>
            <a:r>
              <a:rPr lang="ru-RU" sz="2400" dirty="0" err="1" smtClean="0"/>
              <a:t>маршрутизатор</a:t>
            </a:r>
            <a:r>
              <a:rPr lang="ru-RU" sz="2400" dirty="0" smtClean="0"/>
              <a:t> - сеть .</a:t>
            </a:r>
          </a:p>
          <a:p>
            <a:pPr>
              <a:buNone/>
            </a:pPr>
            <a:r>
              <a:rPr lang="ru-RU" sz="2400" dirty="0" smtClean="0"/>
              <a:t>«М» периодически обменивается короткими  пакетами</a:t>
            </a:r>
            <a:r>
              <a:rPr lang="en-US" sz="2400" dirty="0" smtClean="0"/>
              <a:t> </a:t>
            </a:r>
            <a:r>
              <a:rPr lang="ru-RU" sz="2400" dirty="0" smtClean="0"/>
              <a:t>«</a:t>
            </a:r>
            <a:r>
              <a:rPr lang="en-US" sz="2400" dirty="0" smtClean="0"/>
              <a:t>HELLO</a:t>
            </a:r>
            <a:r>
              <a:rPr lang="ru-RU" sz="2400" dirty="0" smtClean="0"/>
              <a:t>»</a:t>
            </a:r>
          </a:p>
          <a:p>
            <a:pPr>
              <a:buNone/>
            </a:pPr>
            <a:r>
              <a:rPr lang="ru-RU" sz="2400" dirty="0" smtClean="0"/>
              <a:t>со своими соседями для установления изменений состояния связи.</a:t>
            </a:r>
            <a:r>
              <a:rPr lang="en-US" sz="2400" dirty="0" smtClean="0"/>
              <a:t> </a:t>
            </a:r>
            <a:r>
              <a:rPr lang="ru-RU" sz="2400" dirty="0" smtClean="0"/>
              <a:t>Служебный трафик менее интенсивный чем у </a:t>
            </a:r>
            <a:r>
              <a:rPr lang="en-US" sz="2400" dirty="0" smtClean="0"/>
              <a:t>DVA</a:t>
            </a:r>
            <a:r>
              <a:rPr lang="ru-RU" sz="2400" dirty="0" smtClean="0"/>
              <a:t>.</a:t>
            </a:r>
          </a:p>
          <a:p>
            <a:pPr>
              <a:buNone/>
            </a:pP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Основной протокол – 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OSPF (Open Shortest Path First)</a:t>
            </a:r>
            <a:endParaRPr lang="ru-RU" sz="24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1628799"/>
            <a:ext cx="8496944" cy="2448273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rgbClr val="7030A0"/>
                </a:solidFill>
              </a:rPr>
              <a:t>Работа маршрутизации по пересылке пакетов</a:t>
            </a:r>
            <a:endParaRPr lang="ru-RU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62644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04056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Функции </a:t>
            </a:r>
            <a:r>
              <a:rPr lang="ru-RU" sz="3600" dirty="0">
                <a:solidFill>
                  <a:srgbClr val="7030A0"/>
                </a:solidFill>
              </a:rPr>
              <a:t>маршрутизатора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764704"/>
            <a:ext cx="8712968" cy="5904656"/>
          </a:xfrm>
        </p:spPr>
        <p:txBody>
          <a:bodyPr>
            <a:normAutofit lnSpcReduction="10000"/>
          </a:bodyPr>
          <a:lstStyle/>
          <a:p>
            <a:pPr marL="0" indent="0"/>
            <a:r>
              <a:rPr lang="ru-RU" sz="2400" dirty="0" smtClean="0">
                <a:solidFill>
                  <a:srgbClr val="000000"/>
                </a:solidFill>
              </a:rPr>
              <a:t>          Когда </a:t>
            </a:r>
            <a:r>
              <a:rPr lang="ru-RU" sz="2400" dirty="0" err="1">
                <a:solidFill>
                  <a:srgbClr val="000000"/>
                </a:solidFill>
              </a:rPr>
              <a:t>маршрутизатор</a:t>
            </a:r>
            <a:r>
              <a:rPr lang="ru-RU" sz="2400" dirty="0">
                <a:solidFill>
                  <a:srgbClr val="000000"/>
                </a:solidFill>
              </a:rPr>
              <a:t> получает IP-пакет на одном интерфейсе, он определяет, какой интерфейс следует использовать для пересылки пакета до места назначения</a:t>
            </a:r>
            <a:r>
              <a:rPr lang="ru-RU" sz="2400" dirty="0" smtClean="0">
                <a:solidFill>
                  <a:srgbClr val="000000"/>
                </a:solidFill>
              </a:rPr>
              <a:t>.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rgbClr val="000000"/>
                </a:solidFill>
              </a:rPr>
              <a:t> </a:t>
            </a:r>
            <a:r>
              <a:rPr lang="ru-RU" sz="2400" dirty="0">
                <a:solidFill>
                  <a:srgbClr val="002060"/>
                </a:solidFill>
              </a:rPr>
              <a:t>Это называется маршрутизация</a:t>
            </a:r>
            <a:r>
              <a:rPr lang="ru-RU" sz="2400" dirty="0" smtClean="0">
                <a:solidFill>
                  <a:srgbClr val="000000"/>
                </a:solidFill>
              </a:rPr>
              <a:t>.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rgbClr val="000000"/>
                </a:solidFill>
              </a:rPr>
              <a:t>        </a:t>
            </a:r>
            <a:r>
              <a:rPr lang="ru-RU" sz="2400" i="1" dirty="0">
                <a:solidFill>
                  <a:srgbClr val="000000"/>
                </a:solidFill>
              </a:rPr>
              <a:t>Интерфейс,</a:t>
            </a:r>
            <a:r>
              <a:rPr lang="ru-RU" sz="2400" dirty="0">
                <a:solidFill>
                  <a:srgbClr val="000000"/>
                </a:solidFill>
              </a:rPr>
              <a:t> который использует </a:t>
            </a:r>
            <a:r>
              <a:rPr lang="ru-RU" sz="2400" dirty="0" err="1" smtClean="0">
                <a:solidFill>
                  <a:srgbClr val="000000"/>
                </a:solidFill>
              </a:rPr>
              <a:t>маршрутизатор</a:t>
            </a:r>
            <a:r>
              <a:rPr lang="ru-RU" sz="2400" dirty="0" smtClean="0">
                <a:solidFill>
                  <a:srgbClr val="000000"/>
                </a:solidFill>
              </a:rPr>
              <a:t>  </a:t>
            </a:r>
            <a:r>
              <a:rPr lang="ru-RU" sz="2400" dirty="0">
                <a:solidFill>
                  <a:srgbClr val="000000"/>
                </a:solidFill>
              </a:rPr>
              <a:t>для пересылки пакета, может </a:t>
            </a:r>
            <a:r>
              <a:rPr lang="ru-RU" sz="2400" dirty="0" smtClean="0">
                <a:solidFill>
                  <a:srgbClr val="000000"/>
                </a:solidFill>
              </a:rPr>
              <a:t>быть: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rgbClr val="000000"/>
                </a:solidFill>
              </a:rPr>
              <a:t>     -  </a:t>
            </a:r>
            <a:r>
              <a:rPr lang="ru-RU" sz="2400" dirty="0">
                <a:solidFill>
                  <a:srgbClr val="000000"/>
                </a:solidFill>
              </a:rPr>
              <a:t>конечной точкой маршрута, или </a:t>
            </a:r>
            <a:r>
              <a:rPr lang="ru-RU" sz="2400" dirty="0" smtClean="0">
                <a:solidFill>
                  <a:srgbClr val="000000"/>
                </a:solidFill>
              </a:rPr>
              <a:t>же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rgbClr val="000000"/>
                </a:solidFill>
              </a:rPr>
              <a:t>      - сетью</a:t>
            </a:r>
            <a:r>
              <a:rPr lang="ru-RU" sz="2400" dirty="0">
                <a:solidFill>
                  <a:srgbClr val="000000"/>
                </a:solidFill>
              </a:rPr>
              <a:t>, подключенной к другому маршрутизатору, используемому для достижения сети назначения</a:t>
            </a:r>
            <a:r>
              <a:rPr lang="ru-RU" sz="2400" dirty="0" smtClean="0">
                <a:solidFill>
                  <a:srgbClr val="000000"/>
                </a:solidFill>
              </a:rPr>
              <a:t>.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rgbClr val="000000"/>
                </a:solidFill>
              </a:rPr>
              <a:t>       </a:t>
            </a:r>
            <a:r>
              <a:rPr lang="ru-RU" sz="2400" dirty="0">
                <a:solidFill>
                  <a:srgbClr val="000000"/>
                </a:solidFill>
              </a:rPr>
              <a:t>Каждая сеть, к которой подключается </a:t>
            </a:r>
            <a:r>
              <a:rPr lang="ru-RU" sz="2400" dirty="0" err="1">
                <a:solidFill>
                  <a:srgbClr val="000000"/>
                </a:solidFill>
              </a:rPr>
              <a:t>маршрутизатор</a:t>
            </a:r>
            <a:r>
              <a:rPr lang="ru-RU" sz="2400" dirty="0">
                <a:solidFill>
                  <a:srgbClr val="000000"/>
                </a:solidFill>
              </a:rPr>
              <a:t>, обычно требует отдельного </a:t>
            </a:r>
            <a:r>
              <a:rPr lang="ru-RU" sz="2400" dirty="0" smtClean="0">
                <a:solidFill>
                  <a:srgbClr val="000000"/>
                </a:solidFill>
              </a:rPr>
              <a:t>интерфейса.</a:t>
            </a:r>
          </a:p>
          <a:p>
            <a:pPr marL="0" indent="0">
              <a:buNone/>
            </a:pPr>
            <a:r>
              <a:rPr lang="ru-RU" sz="2400" u="sng" dirty="0" smtClean="0">
                <a:solidFill>
                  <a:srgbClr val="000000"/>
                </a:solidFill>
              </a:rPr>
              <a:t>        </a:t>
            </a:r>
            <a:r>
              <a:rPr lang="ru-RU" sz="2400" u="sng" dirty="0" smtClean="0">
                <a:solidFill>
                  <a:srgbClr val="002060"/>
                </a:solidFill>
              </a:rPr>
              <a:t>Основными </a:t>
            </a:r>
            <a:r>
              <a:rPr lang="ru-RU" sz="2400" u="sng" dirty="0">
                <a:solidFill>
                  <a:srgbClr val="002060"/>
                </a:solidFill>
              </a:rPr>
              <a:t>функциями маршрутизатора </a:t>
            </a:r>
            <a:r>
              <a:rPr lang="ru-RU" sz="2400" u="sng" dirty="0">
                <a:solidFill>
                  <a:srgbClr val="000000"/>
                </a:solidFill>
              </a:rPr>
              <a:t>являются </a:t>
            </a:r>
            <a:r>
              <a:rPr lang="ru-RU" sz="2400" u="sng" dirty="0">
                <a:solidFill>
                  <a:srgbClr val="002060"/>
                </a:solidFill>
              </a:rPr>
              <a:t>определение </a:t>
            </a:r>
            <a:r>
              <a:rPr lang="ru-RU" sz="2400" u="sng" dirty="0" smtClean="0">
                <a:solidFill>
                  <a:srgbClr val="002060"/>
                </a:solidFill>
              </a:rPr>
              <a:t>кротчайшего </a:t>
            </a:r>
            <a:r>
              <a:rPr lang="ru-RU" sz="2400" u="sng" dirty="0">
                <a:solidFill>
                  <a:srgbClr val="002060"/>
                </a:solidFill>
              </a:rPr>
              <a:t>пути для пересылки пакетов </a:t>
            </a:r>
            <a:r>
              <a:rPr lang="ru-RU" sz="2400" dirty="0">
                <a:solidFill>
                  <a:srgbClr val="000000"/>
                </a:solidFill>
              </a:rPr>
              <a:t>на основе информации, содержащейся в таблице маршрутизации, и пересылка пакетов к месту назначения</a:t>
            </a:r>
            <a:endParaRPr lang="ru-RU" sz="2400" dirty="0"/>
          </a:p>
        </p:txBody>
      </p:sp>
    </p:spTree>
    <p:extLst>
      <p:ext uri="{BB962C8B-B14F-4D97-AF65-F5344CB8AC3E}">
        <p14:creationId xmlns="" xmlns:p14="http://schemas.microsoft.com/office/powerpoint/2010/main" val="2093408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rmAutofit/>
          </a:bodyPr>
          <a:lstStyle/>
          <a:p>
            <a:r>
              <a:rPr lang="ru-RU" sz="2800" dirty="0" smtClean="0">
                <a:solidFill>
                  <a:srgbClr val="7030A0"/>
                </a:solidFill>
              </a:rPr>
              <a:t>Процесс принятия решения об адресации пакетов (1)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620688"/>
            <a:ext cx="8712968" cy="6048672"/>
          </a:xfrm>
        </p:spPr>
        <p:txBody>
          <a:bodyPr>
            <a:normAutofit lnSpcReduction="10000"/>
          </a:bodyPr>
          <a:lstStyle/>
          <a:p>
            <a:pPr marL="514350" indent="-514350">
              <a:buNone/>
            </a:pPr>
            <a:r>
              <a:rPr lang="ru-RU" sz="2600" dirty="0" smtClean="0">
                <a:solidFill>
                  <a:srgbClr val="000000"/>
                </a:solidFill>
                <a:latin typeface="CiscoSans"/>
              </a:rPr>
              <a:t>1</a:t>
            </a:r>
            <a:r>
              <a:rPr lang="ru-RU" sz="2600" b="1" dirty="0" smtClean="0">
                <a:solidFill>
                  <a:srgbClr val="000000"/>
                </a:solidFill>
                <a:latin typeface="CiscoSans"/>
              </a:rPr>
              <a:t>. </a:t>
            </a:r>
            <a:r>
              <a:rPr lang="ru-RU" sz="2600" dirty="0" smtClean="0">
                <a:solidFill>
                  <a:srgbClr val="000000"/>
                </a:solidFill>
              </a:rPr>
              <a:t>Кадр канального уровня с инкапсулированным IP-пакетом поступает на входной интерфейс </a:t>
            </a:r>
            <a:r>
              <a:rPr lang="ru-RU" sz="2600" dirty="0" err="1" smtClean="0">
                <a:solidFill>
                  <a:srgbClr val="000000"/>
                </a:solidFill>
              </a:rPr>
              <a:t>маршрутизатора</a:t>
            </a:r>
            <a:r>
              <a:rPr lang="ru-RU" sz="2600" dirty="0" smtClean="0">
                <a:solidFill>
                  <a:srgbClr val="000000"/>
                </a:solidFill>
              </a:rPr>
              <a:t>.</a:t>
            </a:r>
          </a:p>
          <a:p>
            <a:pPr marL="514350" indent="-514350">
              <a:buNone/>
            </a:pPr>
            <a:r>
              <a:rPr lang="ru-RU" sz="2600" dirty="0" smtClean="0">
                <a:solidFill>
                  <a:srgbClr val="000000"/>
                </a:solidFill>
              </a:rPr>
              <a:t> 2. Маршрутизатор проверяет IP-адрес назначения в заголовке пакета и обращается к своей таблице IP-маршрутизации.</a:t>
            </a:r>
          </a:p>
          <a:p>
            <a:pPr marL="514350" indent="-514350">
              <a:buNone/>
            </a:pPr>
            <a:r>
              <a:rPr lang="ru-RU" sz="2600" dirty="0" smtClean="0">
                <a:solidFill>
                  <a:srgbClr val="000000"/>
                </a:solidFill>
              </a:rPr>
              <a:t>3. Маршрутизатор находит самый оптимальный маршрут  в таблице маршрутизации.</a:t>
            </a:r>
          </a:p>
          <a:p>
            <a:pPr marL="514350" indent="-514350">
              <a:buNone/>
            </a:pPr>
            <a:r>
              <a:rPr lang="ru-RU" sz="2600" dirty="0" smtClean="0">
                <a:solidFill>
                  <a:srgbClr val="000000"/>
                </a:solidFill>
              </a:rPr>
              <a:t>4  Маршрутизатор инкапсулирует пакет в кадр  канального уровня выходного интерфейса  и пересылает его:</a:t>
            </a:r>
          </a:p>
          <a:p>
            <a:pPr marL="514350" indent="-514350">
              <a:buNone/>
            </a:pPr>
            <a:r>
              <a:rPr lang="ru-RU" sz="2600" dirty="0" smtClean="0">
                <a:solidFill>
                  <a:srgbClr val="000000"/>
                </a:solidFill>
              </a:rPr>
              <a:t> </a:t>
            </a:r>
            <a:r>
              <a:rPr lang="ru-RU" sz="2600" dirty="0" smtClean="0">
                <a:solidFill>
                  <a:srgbClr val="002060"/>
                </a:solidFill>
              </a:rPr>
              <a:t>Назначением может быть устройство, подключенное к сети, или маршрутизатор следующего перехода</a:t>
            </a:r>
            <a:r>
              <a:rPr lang="ru-RU" sz="2600" dirty="0" smtClean="0">
                <a:solidFill>
                  <a:srgbClr val="000000"/>
                </a:solidFill>
              </a:rPr>
              <a:t>.</a:t>
            </a:r>
          </a:p>
          <a:p>
            <a:pPr marL="514350" indent="-514350">
              <a:buNone/>
            </a:pPr>
            <a:r>
              <a:rPr lang="ru-RU" sz="2600" dirty="0" smtClean="0">
                <a:solidFill>
                  <a:srgbClr val="000000"/>
                </a:solidFill>
              </a:rPr>
              <a:t>5. Однако если нет соответствующей записи маршрута, пакет отбрасывается</a:t>
            </a:r>
            <a:r>
              <a:rPr lang="ru-RU" sz="2600" dirty="0" smtClean="0">
                <a:solidFill>
                  <a:srgbClr val="000000"/>
                </a:solidFill>
                <a:latin typeface="CiscoSans"/>
              </a:rPr>
              <a:t>.</a:t>
            </a:r>
          </a:p>
          <a:p>
            <a:pPr marL="514350" indent="-514350">
              <a:buNone/>
            </a:pPr>
            <a:r>
              <a:rPr lang="ru-RU" sz="2400" dirty="0" smtClean="0">
                <a:solidFill>
                  <a:srgbClr val="000000"/>
                </a:solidFill>
                <a:latin typeface="CiscoSans"/>
              </a:rPr>
              <a:t>Рассмотрим подробно согласно рисунку</a:t>
            </a:r>
            <a:r>
              <a:rPr lang="ru-RU" sz="2600" dirty="0" smtClean="0">
                <a:solidFill>
                  <a:srgbClr val="000000"/>
                </a:solidFill>
                <a:latin typeface="CiscoSans"/>
              </a:rPr>
              <a:t>. 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60648"/>
            <a:ext cx="9144000" cy="562074"/>
          </a:xfrm>
        </p:spPr>
        <p:txBody>
          <a:bodyPr>
            <a:normAutofit/>
          </a:bodyPr>
          <a:lstStyle/>
          <a:p>
            <a:r>
              <a:rPr lang="ru-RU" sz="2800" dirty="0">
                <a:solidFill>
                  <a:srgbClr val="7030A0"/>
                </a:solidFill>
              </a:rPr>
              <a:t>Процесс принятия решения о переадресации пакетов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8121" y="980728"/>
            <a:ext cx="3953625" cy="5663912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ru-RU" sz="2200" dirty="0" smtClean="0">
                <a:solidFill>
                  <a:srgbClr val="000000"/>
                </a:solidFill>
              </a:rPr>
              <a:t>Кадр </a:t>
            </a:r>
            <a:r>
              <a:rPr lang="ru-RU" sz="2200" dirty="0">
                <a:solidFill>
                  <a:srgbClr val="000000"/>
                </a:solidFill>
              </a:rPr>
              <a:t>канального уровня с инкапсулированным IP-пакетом поступает на входной интерфейс</a:t>
            </a:r>
            <a:r>
              <a:rPr lang="ru-RU" sz="2200" dirty="0" smtClean="0">
                <a:solidFill>
                  <a:srgbClr val="000000"/>
                </a:solidFill>
              </a:rPr>
              <a:t>.</a:t>
            </a:r>
          </a:p>
          <a:p>
            <a:pPr>
              <a:buFont typeface="+mj-lt"/>
              <a:buAutoNum type="arabicPeriod"/>
            </a:pPr>
            <a:endParaRPr lang="ru-RU" sz="2200" dirty="0">
              <a:solidFill>
                <a:srgbClr val="000000"/>
              </a:solidFill>
            </a:endParaRPr>
          </a:p>
          <a:p>
            <a:pPr>
              <a:buFont typeface="+mj-lt"/>
              <a:buAutoNum type="arabicPeriod"/>
            </a:pPr>
            <a:r>
              <a:rPr lang="ru-RU" sz="2200" dirty="0">
                <a:solidFill>
                  <a:srgbClr val="000000"/>
                </a:solidFill>
              </a:rPr>
              <a:t> Маршрутизатор проверяет IP-адрес назначения в заголовке пакета и обращается к своей таблице IP-маршрутизации</a:t>
            </a:r>
            <a:r>
              <a:rPr lang="ru-RU" sz="2200" dirty="0" smtClean="0">
                <a:solidFill>
                  <a:srgbClr val="000000"/>
                </a:solidFill>
              </a:rPr>
              <a:t>.</a:t>
            </a:r>
          </a:p>
          <a:p>
            <a:pPr>
              <a:buFont typeface="+mj-lt"/>
              <a:buAutoNum type="arabicPeriod"/>
            </a:pPr>
            <a:endParaRPr lang="ru-RU" sz="2200" dirty="0">
              <a:solidFill>
                <a:srgbClr val="000000"/>
              </a:solidFill>
            </a:endParaRPr>
          </a:p>
          <a:p>
            <a:pPr>
              <a:buFont typeface="+mj-lt"/>
              <a:buAutoNum type="arabicPeriod"/>
            </a:pPr>
            <a:r>
              <a:rPr lang="ru-RU" sz="2200" dirty="0">
                <a:solidFill>
                  <a:srgbClr val="000000"/>
                </a:solidFill>
              </a:rPr>
              <a:t> Маршрутизатор находит самый длинный совпадающий префикс в таблице маршрутизации.</a:t>
            </a:r>
          </a:p>
          <a:p>
            <a:endParaRPr lang="ru-RU" dirty="0"/>
          </a:p>
        </p:txBody>
      </p:sp>
      <p:pic>
        <p:nvPicPr>
          <p:cNvPr id="4" name="Content Placeholder 6">
            <a:extLst>
              <a:ext uri="{FF2B5EF4-FFF2-40B4-BE49-F238E27FC236}">
                <a16:creationId xmlns="" xmlns:a16="http://schemas.microsoft.com/office/drawing/2014/main" id="{D3D31508-58E9-F545-9C2A-54FF5511C25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11960" y="1169368"/>
            <a:ext cx="4760123" cy="568863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326758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0"/>
            <a:ext cx="8964488" cy="692696"/>
          </a:xfrm>
        </p:spPr>
        <p:txBody>
          <a:bodyPr>
            <a:noAutofit/>
          </a:bodyPr>
          <a:lstStyle/>
          <a:p>
            <a:r>
              <a:rPr lang="ru-RU" sz="2800" dirty="0" smtClean="0">
                <a:solidFill>
                  <a:srgbClr val="7030A0"/>
                </a:solidFill>
              </a:rPr>
              <a:t>3.1 </a:t>
            </a:r>
            <a:r>
              <a:rPr lang="ru-RU" sz="2800" dirty="0" smtClean="0">
                <a:solidFill>
                  <a:srgbClr val="7030A0"/>
                </a:solidFill>
              </a:rPr>
              <a:t>Переадресация пакета на устройство  с прямым подключением к данному </a:t>
            </a:r>
            <a:r>
              <a:rPr lang="ru-RU" sz="2800" dirty="0" err="1" smtClean="0">
                <a:solidFill>
                  <a:srgbClr val="7030A0"/>
                </a:solidFill>
              </a:rPr>
              <a:t>маршрутизатору</a:t>
            </a:r>
            <a:r>
              <a:rPr lang="ru-RU" sz="2800" smtClean="0">
                <a:solidFill>
                  <a:srgbClr val="7030A0"/>
                </a:solidFill>
              </a:rPr>
              <a:t>(4)</a:t>
            </a:r>
            <a:endParaRPr lang="ru-RU" sz="28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980728"/>
            <a:ext cx="8964488" cy="5877272"/>
          </a:xfrm>
        </p:spPr>
        <p:txBody>
          <a:bodyPr>
            <a:noAutofit/>
          </a:bodyPr>
          <a:lstStyle/>
          <a:p>
            <a:pPr marL="285750" indent="-285750"/>
            <a:r>
              <a:rPr lang="ru-RU" sz="2800" dirty="0" smtClean="0">
                <a:solidFill>
                  <a:srgbClr val="002060"/>
                </a:solidFill>
              </a:rPr>
              <a:t>После </a:t>
            </a:r>
            <a:r>
              <a:rPr lang="ru-RU" sz="2800" dirty="0" smtClean="0">
                <a:solidFill>
                  <a:srgbClr val="002060"/>
                </a:solidFill>
              </a:rPr>
              <a:t>того, как </a:t>
            </a:r>
            <a:r>
              <a:rPr lang="ru-RU" sz="2800" dirty="0" err="1" smtClean="0">
                <a:solidFill>
                  <a:srgbClr val="002060"/>
                </a:solidFill>
              </a:rPr>
              <a:t>маршрутизатор</a:t>
            </a:r>
            <a:r>
              <a:rPr lang="ru-RU" sz="2800" dirty="0" smtClean="0">
                <a:solidFill>
                  <a:srgbClr val="002060"/>
                </a:solidFill>
              </a:rPr>
              <a:t> определил оптимальный путь, он может выполнить следующие действия:</a:t>
            </a:r>
          </a:p>
          <a:p>
            <a:pPr marL="285750" indent="-285750">
              <a:buNone/>
            </a:pPr>
            <a:r>
              <a:rPr lang="ru-RU" sz="2800" dirty="0" smtClean="0">
                <a:solidFill>
                  <a:srgbClr val="000000"/>
                </a:solidFill>
              </a:rPr>
              <a:t>    1) Если запись маршрута указывает, что </a:t>
            </a:r>
            <a:r>
              <a:rPr lang="ru-RU" sz="2800" dirty="0" err="1" smtClean="0">
                <a:solidFill>
                  <a:srgbClr val="000000"/>
                </a:solidFill>
              </a:rPr>
              <a:t>выходный</a:t>
            </a:r>
            <a:r>
              <a:rPr lang="ru-RU" sz="2800" dirty="0" smtClean="0">
                <a:solidFill>
                  <a:srgbClr val="000000"/>
                </a:solidFill>
              </a:rPr>
              <a:t> интерфейс является </a:t>
            </a:r>
            <a:r>
              <a:rPr lang="ru-RU" sz="2800" dirty="0" smtClean="0">
                <a:solidFill>
                  <a:srgbClr val="002060"/>
                </a:solidFill>
              </a:rPr>
              <a:t>напрямую</a:t>
            </a:r>
            <a:r>
              <a:rPr lang="ru-RU" sz="2800" dirty="0" smtClean="0">
                <a:solidFill>
                  <a:srgbClr val="000000"/>
                </a:solidFill>
              </a:rPr>
              <a:t> подключенной сетью, </a:t>
            </a:r>
            <a:r>
              <a:rPr lang="ru-RU" sz="2800" dirty="0" smtClean="0">
                <a:solidFill>
                  <a:srgbClr val="002060"/>
                </a:solidFill>
              </a:rPr>
              <a:t>пакет может быть перенаправлен непосредственно на устройство назначения</a:t>
            </a:r>
            <a:r>
              <a:rPr lang="ru-RU" sz="2800" dirty="0" smtClean="0">
                <a:solidFill>
                  <a:srgbClr val="000000"/>
                </a:solidFill>
              </a:rPr>
              <a:t>. Обычно это </a:t>
            </a:r>
            <a:r>
              <a:rPr lang="ru-RU" sz="2800" dirty="0" err="1" smtClean="0">
                <a:solidFill>
                  <a:srgbClr val="000000"/>
                </a:solidFill>
              </a:rPr>
              <a:t>Ethernet</a:t>
            </a:r>
            <a:r>
              <a:rPr lang="ru-RU" sz="2800" dirty="0" smtClean="0">
                <a:solidFill>
                  <a:srgbClr val="000000"/>
                </a:solidFill>
              </a:rPr>
              <a:t> LAN (4).</a:t>
            </a:r>
          </a:p>
          <a:p>
            <a:pPr marL="285750" indent="-285750"/>
            <a:r>
              <a:rPr lang="ru-RU" sz="2800" dirty="0" smtClean="0">
                <a:solidFill>
                  <a:srgbClr val="002060"/>
                </a:solidFill>
              </a:rPr>
              <a:t>Чтобы инкапсулировать пакет в кадр </a:t>
            </a:r>
            <a:r>
              <a:rPr lang="ru-RU" sz="2800" dirty="0" err="1" smtClean="0">
                <a:solidFill>
                  <a:srgbClr val="002060"/>
                </a:solidFill>
              </a:rPr>
              <a:t>Ethernet</a:t>
            </a:r>
            <a:r>
              <a:rPr lang="ru-RU" sz="2800" dirty="0" smtClean="0">
                <a:solidFill>
                  <a:srgbClr val="002060"/>
                </a:solidFill>
              </a:rPr>
              <a:t>, </a:t>
            </a:r>
            <a:r>
              <a:rPr lang="ru-RU" sz="2800" dirty="0" err="1" smtClean="0">
                <a:solidFill>
                  <a:srgbClr val="002060"/>
                </a:solidFill>
              </a:rPr>
              <a:t>маршрутизатор</a:t>
            </a:r>
            <a:r>
              <a:rPr lang="ru-RU" sz="2800" dirty="0" smtClean="0">
                <a:solidFill>
                  <a:srgbClr val="002060"/>
                </a:solidFill>
              </a:rPr>
              <a:t> должен определить MAC-адрес </a:t>
            </a:r>
            <a:r>
              <a:rPr lang="ru-RU" sz="2800" dirty="0" smtClean="0">
                <a:solidFill>
                  <a:srgbClr val="000000"/>
                </a:solidFill>
              </a:rPr>
              <a:t>назначения, связанный с IP-адресом назначения пакета (</a:t>
            </a:r>
            <a:r>
              <a:rPr lang="en-US" sz="2800" dirty="0" smtClean="0">
                <a:solidFill>
                  <a:srgbClr val="000000"/>
                </a:solidFill>
              </a:rPr>
              <a:t>ARP)</a:t>
            </a:r>
            <a:r>
              <a:rPr lang="ru-RU" sz="2800" dirty="0" smtClean="0">
                <a:solidFill>
                  <a:srgbClr val="000000"/>
                </a:solidFill>
              </a:rPr>
              <a:t>.</a:t>
            </a:r>
          </a:p>
          <a:p>
            <a:pPr marL="285750" indent="-285750">
              <a:buNone/>
            </a:pPr>
            <a:r>
              <a:rPr lang="ru-RU" sz="2800" dirty="0" smtClean="0">
                <a:solidFill>
                  <a:srgbClr val="000000"/>
                </a:solidFill>
              </a:rPr>
              <a:t> Процесс зависит от того, является ли пакет пакетом IPv4 или IPv6.</a:t>
            </a:r>
            <a:endParaRPr lang="ru-RU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864096"/>
          </a:xfrm>
        </p:spPr>
        <p:txBody>
          <a:bodyPr>
            <a:noAutofit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Процесс принятия решения о переадресации пакетов</a:t>
            </a:r>
            <a:endParaRPr lang="ru-RU" sz="3200" dirty="0"/>
          </a:p>
        </p:txBody>
      </p:sp>
      <p:pic>
        <p:nvPicPr>
          <p:cNvPr id="4" name="Content Placeholder 6">
            <a:extLst>
              <a:ext uri="{FF2B5EF4-FFF2-40B4-BE49-F238E27FC236}">
                <a16:creationId xmlns="" xmlns:a16="http://schemas.microsoft.com/office/drawing/2014/main" id="{D3D31508-58E9-F545-9C2A-54FF5511C2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23528" y="1052736"/>
            <a:ext cx="8820472" cy="547260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712"/>
          </a:xfrm>
        </p:spPr>
        <p:txBody>
          <a:bodyPr>
            <a:noAutofit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3.2 Пересылка </a:t>
            </a:r>
            <a:r>
              <a:rPr lang="ru-RU" sz="3200" dirty="0" smtClean="0">
                <a:solidFill>
                  <a:srgbClr val="7030A0"/>
                </a:solidFill>
              </a:rPr>
              <a:t>пакета на </a:t>
            </a:r>
            <a:r>
              <a:rPr lang="ru-RU" sz="3200" dirty="0" err="1" smtClean="0">
                <a:solidFill>
                  <a:srgbClr val="7030A0"/>
                </a:solidFill>
              </a:rPr>
              <a:t>маршрутизатор</a:t>
            </a:r>
            <a:r>
              <a:rPr lang="ru-RU" sz="3200" dirty="0" smtClean="0">
                <a:solidFill>
                  <a:srgbClr val="7030A0"/>
                </a:solidFill>
              </a:rPr>
              <a:t> следующего </a:t>
            </a:r>
            <a:r>
              <a:rPr lang="ru-RU" sz="3200" dirty="0" smtClean="0">
                <a:solidFill>
                  <a:srgbClr val="7030A0"/>
                </a:solidFill>
              </a:rPr>
              <a:t>перехода(4)</a:t>
            </a:r>
            <a:endParaRPr lang="ru-RU" sz="32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08720"/>
            <a:ext cx="9144000" cy="594928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2400" dirty="0" smtClean="0">
                <a:solidFill>
                  <a:srgbClr val="002060"/>
                </a:solidFill>
              </a:rPr>
              <a:t>    </a:t>
            </a:r>
            <a:r>
              <a:rPr lang="ru-RU" sz="2800" dirty="0" smtClean="0">
                <a:solidFill>
                  <a:srgbClr val="000000"/>
                </a:solidFill>
              </a:rPr>
              <a:t> </a:t>
            </a:r>
            <a:r>
              <a:rPr lang="en-US" sz="2800" dirty="0" smtClean="0">
                <a:solidFill>
                  <a:srgbClr val="000000"/>
                </a:solidFill>
              </a:rPr>
              <a:t>2)</a:t>
            </a:r>
            <a:r>
              <a:rPr lang="ru-RU" sz="2800" dirty="0" smtClean="0">
                <a:solidFill>
                  <a:srgbClr val="000000"/>
                </a:solidFill>
              </a:rPr>
              <a:t> Если запись маршрута указывает, </a:t>
            </a:r>
            <a:r>
              <a:rPr lang="ru-RU" sz="2800" dirty="0" smtClean="0">
                <a:solidFill>
                  <a:srgbClr val="002060"/>
                </a:solidFill>
              </a:rPr>
              <a:t>что IP-адрес назначения находится в удаленной сети</a:t>
            </a:r>
            <a:r>
              <a:rPr lang="ru-RU" sz="2800" dirty="0" smtClean="0">
                <a:solidFill>
                  <a:srgbClr val="000000"/>
                </a:solidFill>
              </a:rPr>
              <a:t>, т.е. устройство в сети, не подключенное напрямую, </a:t>
            </a:r>
            <a:r>
              <a:rPr lang="ru-RU" sz="2800" dirty="0" smtClean="0">
                <a:solidFill>
                  <a:srgbClr val="002060"/>
                </a:solidFill>
              </a:rPr>
              <a:t>то пакет должен быть перенаправлен на </a:t>
            </a:r>
            <a:r>
              <a:rPr lang="ru-RU" sz="2800" dirty="0" err="1" smtClean="0">
                <a:solidFill>
                  <a:srgbClr val="002060"/>
                </a:solidFill>
              </a:rPr>
              <a:t>маршрутизатор</a:t>
            </a:r>
            <a:r>
              <a:rPr lang="ru-RU" sz="2800" dirty="0" smtClean="0">
                <a:solidFill>
                  <a:srgbClr val="002060"/>
                </a:solidFill>
              </a:rPr>
              <a:t> следующего перехода.</a:t>
            </a:r>
          </a:p>
          <a:p>
            <a:pPr>
              <a:buNone/>
            </a:pPr>
            <a:r>
              <a:rPr lang="ru-RU" sz="2800" u="sng" dirty="0" smtClean="0">
                <a:solidFill>
                  <a:srgbClr val="000000"/>
                </a:solidFill>
              </a:rPr>
              <a:t>Адрес следующего перехода указывается в таблице маршрутизации</a:t>
            </a:r>
            <a:r>
              <a:rPr lang="ru-RU" sz="2800" dirty="0" smtClean="0">
                <a:solidFill>
                  <a:srgbClr val="000000"/>
                </a:solidFill>
              </a:rPr>
              <a:t>.</a:t>
            </a:r>
          </a:p>
          <a:p>
            <a:pPr>
              <a:buNone/>
            </a:pPr>
            <a:r>
              <a:rPr lang="ru-RU" sz="2800" dirty="0" smtClean="0">
                <a:solidFill>
                  <a:srgbClr val="000000"/>
                </a:solidFill>
              </a:rPr>
              <a:t>      Если </a:t>
            </a:r>
            <a:r>
              <a:rPr lang="ru-RU" sz="2800" dirty="0" err="1" smtClean="0">
                <a:solidFill>
                  <a:srgbClr val="000000"/>
                </a:solidFill>
              </a:rPr>
              <a:t>маршрутизатор</a:t>
            </a:r>
            <a:r>
              <a:rPr lang="ru-RU" sz="2800" dirty="0" smtClean="0">
                <a:solidFill>
                  <a:srgbClr val="000000"/>
                </a:solidFill>
              </a:rPr>
              <a:t> пересылки и </a:t>
            </a:r>
            <a:r>
              <a:rPr lang="ru-RU" sz="2800" dirty="0" err="1" smtClean="0">
                <a:solidFill>
                  <a:srgbClr val="000000"/>
                </a:solidFill>
              </a:rPr>
              <a:t>маршрутизатор</a:t>
            </a:r>
            <a:r>
              <a:rPr lang="ru-RU" sz="2800" dirty="0" smtClean="0">
                <a:solidFill>
                  <a:srgbClr val="000000"/>
                </a:solidFill>
              </a:rPr>
              <a:t> следующего перехода находятся в сети </a:t>
            </a:r>
            <a:r>
              <a:rPr lang="ru-RU" sz="2800" dirty="0" err="1" smtClean="0">
                <a:solidFill>
                  <a:srgbClr val="000000"/>
                </a:solidFill>
              </a:rPr>
              <a:t>Ethernet</a:t>
            </a:r>
            <a:r>
              <a:rPr lang="ru-RU" sz="2800" dirty="0" smtClean="0">
                <a:solidFill>
                  <a:srgbClr val="000000"/>
                </a:solidFill>
              </a:rPr>
              <a:t>, аналогичный процесс  будет </a:t>
            </a:r>
            <a:r>
              <a:rPr lang="ru-RU" sz="2800" dirty="0" smtClean="0">
                <a:solidFill>
                  <a:srgbClr val="002060"/>
                </a:solidFill>
              </a:rPr>
              <a:t>происходить для определения MAC-адреса назначения пакета (</a:t>
            </a:r>
            <a:r>
              <a:rPr lang="en-US" sz="2800" dirty="0" smtClean="0">
                <a:solidFill>
                  <a:srgbClr val="002060"/>
                </a:solidFill>
              </a:rPr>
              <a:t>A</a:t>
            </a:r>
            <a:r>
              <a:rPr lang="ru-RU" sz="2800" dirty="0" smtClean="0">
                <a:solidFill>
                  <a:srgbClr val="002060"/>
                </a:solidFill>
              </a:rPr>
              <a:t>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80728"/>
          </a:xfrm>
        </p:spPr>
        <p:txBody>
          <a:bodyPr>
            <a:normAutofit fontScale="90000"/>
          </a:bodyPr>
          <a:lstStyle/>
          <a:p>
            <a:pPr marL="514350" indent="-514350"/>
            <a:r>
              <a:rPr lang="ru-RU" sz="2800" dirty="0" smtClean="0">
                <a:solidFill>
                  <a:srgbClr val="7030A0"/>
                </a:solidFill>
              </a:rPr>
              <a:t>3.3 </a:t>
            </a:r>
            <a:r>
              <a:rPr lang="ru-RU" sz="3600" dirty="0" smtClean="0">
                <a:solidFill>
                  <a:srgbClr val="7030A0"/>
                </a:solidFill>
              </a:rPr>
              <a:t>Отбрасывает </a:t>
            </a:r>
            <a:r>
              <a:rPr lang="ru-RU" sz="3600" dirty="0" smtClean="0">
                <a:solidFill>
                  <a:srgbClr val="7030A0"/>
                </a:solidFill>
              </a:rPr>
              <a:t>пакет – нет совпадений в таблице </a:t>
            </a:r>
            <a:r>
              <a:rPr lang="ru-RU" sz="3600" dirty="0" smtClean="0">
                <a:solidFill>
                  <a:srgbClr val="7030A0"/>
                </a:solidFill>
              </a:rPr>
              <a:t>маршрутизации(5)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/>
          <a:lstStyle/>
          <a:p>
            <a:pPr>
              <a:buNone/>
            </a:pPr>
            <a:endParaRPr lang="ru-RU" dirty="0" smtClean="0">
              <a:solidFill>
                <a:srgbClr val="002060"/>
              </a:solidFill>
            </a:endParaRPr>
          </a:p>
          <a:p>
            <a:r>
              <a:rPr lang="ru-RU" dirty="0" smtClean="0">
                <a:solidFill>
                  <a:srgbClr val="000000"/>
                </a:solidFill>
              </a:rPr>
              <a:t>Если в таблице маршрутизации нет соответствия между IP-адресом назначения и префиксом, и если маршрут по умолчанию отсутствует, пакет будет отброшен.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pPr eaLnBrk="1" hangingPunct="1"/>
            <a:r>
              <a:rPr lang="ru-RU" sz="3600" dirty="0" smtClean="0">
                <a:solidFill>
                  <a:srgbClr val="7030A0"/>
                </a:solidFill>
              </a:rPr>
              <a:t>Протоколы маршрутизации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196752"/>
            <a:ext cx="8208912" cy="4929411"/>
          </a:xfrm>
        </p:spPr>
        <p:txBody>
          <a:bodyPr/>
          <a:lstStyle/>
          <a:p>
            <a:pPr eaLnBrk="1" hangingPunct="1"/>
            <a:r>
              <a:rPr lang="en-US" sz="2800" dirty="0" smtClean="0">
                <a:solidFill>
                  <a:srgbClr val="002060"/>
                </a:solidFill>
              </a:rPr>
              <a:t>IGP – </a:t>
            </a:r>
            <a:r>
              <a:rPr lang="ru-RU" sz="2800" dirty="0" smtClean="0">
                <a:solidFill>
                  <a:srgbClr val="002060"/>
                </a:solidFill>
              </a:rPr>
              <a:t>протоколы маршрутизации внутреннего шлюза:</a:t>
            </a:r>
          </a:p>
          <a:p>
            <a:pPr lvl="1" eaLnBrk="1" hangingPunct="1"/>
            <a:r>
              <a:rPr lang="en-US" dirty="0" smtClean="0">
                <a:solidFill>
                  <a:srgbClr val="002060"/>
                </a:solidFill>
              </a:rPr>
              <a:t>RIP</a:t>
            </a:r>
            <a:r>
              <a:rPr lang="en-US" dirty="0" smtClean="0"/>
              <a:t> (Routing Information Protocol)</a:t>
            </a:r>
            <a:r>
              <a:rPr lang="ru-RU" dirty="0" smtClean="0"/>
              <a:t> – протокол  дистанционно векторный </a:t>
            </a:r>
            <a:endParaRPr lang="en-US" dirty="0" smtClean="0"/>
          </a:p>
          <a:p>
            <a:pPr lvl="1" eaLnBrk="1" hangingPunct="1"/>
            <a:r>
              <a:rPr lang="en-US" dirty="0" smtClean="0">
                <a:solidFill>
                  <a:srgbClr val="002060"/>
                </a:solidFill>
              </a:rPr>
              <a:t>OSPF</a:t>
            </a:r>
            <a:r>
              <a:rPr lang="en-US" dirty="0" smtClean="0"/>
              <a:t> (Open Shortest Path First))</a:t>
            </a:r>
            <a:r>
              <a:rPr lang="ru-RU" dirty="0" smtClean="0"/>
              <a:t> –протокол  состояния связей</a:t>
            </a:r>
            <a:endParaRPr lang="en-US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</a:rPr>
              <a:t>BGP</a:t>
            </a:r>
            <a:r>
              <a:rPr lang="en-US" dirty="0" smtClean="0"/>
              <a:t> (Boarder Gateway Protocol)</a:t>
            </a:r>
            <a:r>
              <a:rPr lang="ru-RU" dirty="0" smtClean="0"/>
              <a:t>, </a:t>
            </a:r>
            <a:r>
              <a:rPr lang="en-US" sz="2800" dirty="0" smtClean="0">
                <a:solidFill>
                  <a:srgbClr val="002060"/>
                </a:solidFill>
              </a:rPr>
              <a:t>EGP</a:t>
            </a:r>
            <a:r>
              <a:rPr lang="ru-RU" sz="2800" dirty="0" smtClean="0">
                <a:solidFill>
                  <a:srgbClr val="002060"/>
                </a:solidFill>
              </a:rPr>
              <a:t>   </a:t>
            </a:r>
            <a:r>
              <a:rPr lang="en-US" sz="2800" dirty="0" smtClean="0">
                <a:solidFill>
                  <a:srgbClr val="002060"/>
                </a:solidFill>
              </a:rPr>
              <a:t> – </a:t>
            </a:r>
            <a:r>
              <a:rPr lang="ru-RU" sz="2800" dirty="0" smtClean="0">
                <a:solidFill>
                  <a:srgbClr val="002060"/>
                </a:solidFill>
              </a:rPr>
              <a:t>протоколы маршрутизации Интернета внешнего шлюза</a:t>
            </a:r>
          </a:p>
          <a:p>
            <a:pPr lvl="1" eaLnBrk="1" hangingPunct="1">
              <a:buNone/>
            </a:pPr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836712"/>
            <a:ext cx="8229600" cy="3874442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accent2"/>
                </a:solidFill>
              </a:rPr>
              <a:t>Особенности и характеристики OSPF - протокола маршрутизации по состоянию каналов </a:t>
            </a:r>
            <a:endParaRPr lang="ru-RU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76064"/>
          </a:xfrm>
        </p:spPr>
        <p:txBody>
          <a:bodyPr>
            <a:noAutofit/>
          </a:bodyPr>
          <a:lstStyle/>
          <a:p>
            <a:r>
              <a:rPr lang="ru-RU" sz="3600" dirty="0">
                <a:solidFill>
                  <a:srgbClr val="7030A0"/>
                </a:solidFill>
              </a:rPr>
              <a:t>Введение в </a:t>
            </a:r>
            <a:r>
              <a:rPr lang="ru-RU" sz="3600" dirty="0" smtClean="0">
                <a:solidFill>
                  <a:srgbClr val="7030A0"/>
                </a:solidFill>
              </a:rPr>
              <a:t>OSPF (1)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692696"/>
            <a:ext cx="8892480" cy="6165304"/>
          </a:xfrm>
        </p:spPr>
        <p:txBody>
          <a:bodyPr>
            <a:normAutofit fontScale="92500" lnSpcReduction="2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3100" dirty="0">
                <a:solidFill>
                  <a:srgbClr val="002060"/>
                </a:solidFill>
              </a:rPr>
              <a:t>OSPF — протокол маршрутизации по состоянию каналов</a:t>
            </a:r>
            <a:r>
              <a:rPr lang="ru-RU" sz="3100" dirty="0">
                <a:solidFill>
                  <a:srgbClr val="000000"/>
                </a:solidFill>
              </a:rPr>
              <a:t>, который был разработан в качестве альтернативы протоколу маршрутизации на базе векторов расстояния RIP</a:t>
            </a:r>
            <a:r>
              <a:rPr lang="ru-RU" sz="3100" dirty="0" smtClean="0">
                <a:solidFill>
                  <a:srgbClr val="000000"/>
                </a:solidFill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3100" dirty="0" smtClean="0">
                <a:solidFill>
                  <a:srgbClr val="000000"/>
                </a:solidFill>
              </a:rPr>
              <a:t> </a:t>
            </a:r>
            <a:r>
              <a:rPr lang="ru-RU" sz="3100" dirty="0">
                <a:solidFill>
                  <a:srgbClr val="000000"/>
                </a:solidFill>
              </a:rPr>
              <a:t>Протокол OSPF имеет ряд значительных преимуществ в сравнении с протоколом RIP, обеспечивая более быструю сходимость и возможность масштабирования в целях реализации сетей большего размера.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3100" dirty="0">
                <a:solidFill>
                  <a:srgbClr val="002060"/>
                </a:solidFill>
              </a:rPr>
              <a:t>Протокол OSPF является бесклассовым протоколом маршрутизации,</a:t>
            </a:r>
            <a:r>
              <a:rPr lang="ru-RU" sz="3100" dirty="0">
                <a:solidFill>
                  <a:srgbClr val="000000"/>
                </a:solidFill>
              </a:rPr>
              <a:t> использующим концепцию разделения на области в целях масштабируемости. Администратор сети может разделить домен маршрутизации на отдельные области, которые помогают управлять трафиком обновления маршрутизации. 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133866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Введение в OSPF (2)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 fontScale="92500" lnSpcReduction="10000"/>
          </a:bodyPr>
          <a:lstStyle/>
          <a:p>
            <a:pPr marL="415985" lvl="1" indent="-342900" algn="just">
              <a:buFont typeface="Arial" panose="020B0604020202020204" pitchFamily="34" charset="0"/>
              <a:buChar char="•"/>
            </a:pPr>
            <a:r>
              <a:rPr lang="ru-RU" sz="3100" dirty="0" smtClean="0">
                <a:solidFill>
                  <a:srgbClr val="000000"/>
                </a:solidFill>
              </a:rPr>
              <a:t>Канал — это интерфейс </a:t>
            </a:r>
            <a:r>
              <a:rPr lang="ru-RU" sz="3100" dirty="0" err="1" smtClean="0">
                <a:solidFill>
                  <a:srgbClr val="000000"/>
                </a:solidFill>
              </a:rPr>
              <a:t>маршрутизатора</a:t>
            </a:r>
            <a:r>
              <a:rPr lang="ru-RU" sz="3100" dirty="0" smtClean="0">
                <a:solidFill>
                  <a:srgbClr val="000000"/>
                </a:solidFill>
              </a:rPr>
              <a:t>, сегмент сети, который соединяет два </a:t>
            </a:r>
            <a:r>
              <a:rPr lang="ru-RU" sz="3100" dirty="0" err="1" smtClean="0">
                <a:solidFill>
                  <a:srgbClr val="000000"/>
                </a:solidFill>
              </a:rPr>
              <a:t>маршрутизатора</a:t>
            </a:r>
            <a:r>
              <a:rPr lang="ru-RU" sz="3100" dirty="0" smtClean="0">
                <a:solidFill>
                  <a:srgbClr val="000000"/>
                </a:solidFill>
              </a:rPr>
              <a:t> или тупиковую сеть, такую как </a:t>
            </a:r>
            <a:r>
              <a:rPr lang="ru-RU" sz="3100" dirty="0" err="1" smtClean="0">
                <a:solidFill>
                  <a:srgbClr val="000000"/>
                </a:solidFill>
              </a:rPr>
              <a:t>Ethernet</a:t>
            </a:r>
            <a:r>
              <a:rPr lang="ru-RU" sz="3100" dirty="0" smtClean="0">
                <a:solidFill>
                  <a:srgbClr val="000000"/>
                </a:solidFill>
              </a:rPr>
              <a:t> LAN, которая подключена к одному </a:t>
            </a:r>
            <a:r>
              <a:rPr lang="ru-RU" sz="3100" dirty="0" err="1" smtClean="0">
                <a:solidFill>
                  <a:srgbClr val="000000"/>
                </a:solidFill>
              </a:rPr>
              <a:t>маршрутизатору</a:t>
            </a:r>
            <a:r>
              <a:rPr lang="ru-RU" sz="3100" dirty="0" smtClean="0">
                <a:solidFill>
                  <a:srgbClr val="000000"/>
                </a:solidFill>
              </a:rPr>
              <a:t>. </a:t>
            </a:r>
          </a:p>
          <a:p>
            <a:pPr marL="415985" lvl="1" indent="-342900" algn="just">
              <a:buFont typeface="Arial" panose="020B0604020202020204" pitchFamily="34" charset="0"/>
              <a:buChar char="•"/>
            </a:pPr>
            <a:r>
              <a:rPr lang="ru-RU" sz="3100" dirty="0" smtClean="0">
                <a:solidFill>
                  <a:srgbClr val="000000"/>
                </a:solidFill>
              </a:rPr>
              <a:t>Данные о состоянии этих каналов также называются состоянием канала.</a:t>
            </a:r>
          </a:p>
          <a:p>
            <a:pPr marL="415985" lvl="1" indent="-342900" algn="just">
              <a:buFont typeface="Arial" panose="020B0604020202020204" pitchFamily="34" charset="0"/>
              <a:buChar char="•"/>
            </a:pPr>
            <a:r>
              <a:rPr lang="ru-RU" sz="3100" dirty="0" smtClean="0">
                <a:solidFill>
                  <a:srgbClr val="000000"/>
                </a:solidFill>
              </a:rPr>
              <a:t> </a:t>
            </a:r>
            <a:r>
              <a:rPr lang="ru-RU" sz="3100" dirty="0" smtClean="0">
                <a:solidFill>
                  <a:srgbClr val="002060"/>
                </a:solidFill>
              </a:rPr>
              <a:t>Вся информация о состоянии канала </a:t>
            </a:r>
            <a:r>
              <a:rPr lang="ru-RU" sz="3100" dirty="0" smtClean="0">
                <a:solidFill>
                  <a:srgbClr val="000000"/>
                </a:solidFill>
              </a:rPr>
              <a:t>включает:</a:t>
            </a:r>
          </a:p>
          <a:p>
            <a:pPr marL="415985" lvl="1" indent="-342900" algn="just">
              <a:buNone/>
            </a:pPr>
            <a:r>
              <a:rPr lang="ru-RU" sz="3100" dirty="0" smtClean="0">
                <a:solidFill>
                  <a:srgbClr val="000000"/>
                </a:solidFill>
              </a:rPr>
              <a:t>          -  префикс сети,</a:t>
            </a:r>
          </a:p>
          <a:p>
            <a:pPr marL="415985" lvl="1" indent="-342900" algn="just">
              <a:buNone/>
            </a:pPr>
            <a:r>
              <a:rPr lang="ru-RU" sz="3100" dirty="0" smtClean="0">
                <a:solidFill>
                  <a:srgbClr val="000000"/>
                </a:solidFill>
              </a:rPr>
              <a:t>          - длину префикса и</a:t>
            </a:r>
          </a:p>
          <a:p>
            <a:pPr marL="415985" lvl="1" indent="-342900" algn="just">
              <a:buFont typeface="Arial" panose="020B0604020202020204" pitchFamily="34" charset="0"/>
              <a:buChar char="•"/>
            </a:pPr>
            <a:r>
              <a:rPr lang="ru-RU" sz="3100" dirty="0" smtClean="0">
                <a:solidFill>
                  <a:srgbClr val="000000"/>
                </a:solidFill>
              </a:rPr>
              <a:t>      - стоимость.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4704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rgbClr val="7030A0"/>
                </a:solidFill>
              </a:rPr>
              <a:t>Компоненты OSPF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692696"/>
            <a:ext cx="8964488" cy="6165303"/>
          </a:xfrm>
        </p:spPr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smtClean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000000"/>
                </a:solidFill>
              </a:rPr>
              <a:t>Все протоколы используют сообщения протокола маршрутизации для обмена данными маршрутизации. </a:t>
            </a:r>
            <a:endParaRPr lang="ru-RU" sz="2000" dirty="0" smtClean="0">
              <a:solidFill>
                <a:srgbClr val="00000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smtClean="0">
                <a:solidFill>
                  <a:srgbClr val="000000"/>
                </a:solidFill>
              </a:rPr>
              <a:t>Сообщения </a:t>
            </a:r>
            <a:r>
              <a:rPr lang="ru-RU" sz="2000" dirty="0">
                <a:solidFill>
                  <a:srgbClr val="000000"/>
                </a:solidFill>
              </a:rPr>
              <a:t>позволяют выстраивать структуры данных, которые впоследствии обрабатываются посредством алгоритма маршрутизации.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2060"/>
                </a:solidFill>
              </a:rPr>
              <a:t>Маршрутизаторы, использующие OSPF, обмениваются сообщениями для передачи информации о маршрутизации с использованием пяти типов пакетов:</a:t>
            </a:r>
          </a:p>
          <a:p>
            <a:pPr marL="415985" lvl="1" indent="-342900" algn="just">
              <a:buNone/>
            </a:pPr>
            <a:r>
              <a:rPr lang="ru-RU" sz="2000" dirty="0" smtClean="0">
                <a:solidFill>
                  <a:srgbClr val="000000"/>
                </a:solidFill>
              </a:rPr>
              <a:t>       - пакет </a:t>
            </a:r>
            <a:r>
              <a:rPr lang="ru-RU" sz="2000" dirty="0">
                <a:solidFill>
                  <a:srgbClr val="000000"/>
                </a:solidFill>
              </a:rPr>
              <a:t>приветствия (</a:t>
            </a:r>
            <a:r>
              <a:rPr lang="ru-RU" sz="2000" dirty="0" err="1">
                <a:solidFill>
                  <a:srgbClr val="000000"/>
                </a:solidFill>
              </a:rPr>
              <a:t>hello</a:t>
            </a:r>
            <a:r>
              <a:rPr lang="ru-RU" sz="2000" dirty="0">
                <a:solidFill>
                  <a:srgbClr val="000000"/>
                </a:solidFill>
              </a:rPr>
              <a:t>);</a:t>
            </a:r>
          </a:p>
          <a:p>
            <a:pPr marL="415985" lvl="1" indent="-342900" algn="just">
              <a:buNone/>
            </a:pPr>
            <a:r>
              <a:rPr lang="ru-RU" sz="2000" dirty="0" smtClean="0">
                <a:solidFill>
                  <a:srgbClr val="000000"/>
                </a:solidFill>
              </a:rPr>
              <a:t>        - пакет </a:t>
            </a:r>
            <a:r>
              <a:rPr lang="ru-RU" sz="2000" dirty="0">
                <a:solidFill>
                  <a:srgbClr val="000000"/>
                </a:solidFill>
              </a:rPr>
              <a:t>описания базы данных;</a:t>
            </a:r>
          </a:p>
          <a:p>
            <a:pPr marL="415985" lvl="1" indent="-342900" algn="just">
              <a:buNone/>
            </a:pPr>
            <a:r>
              <a:rPr lang="ru-RU" sz="2000" dirty="0" smtClean="0">
                <a:solidFill>
                  <a:srgbClr val="000000"/>
                </a:solidFill>
              </a:rPr>
              <a:t>        - пакет </a:t>
            </a:r>
            <a:r>
              <a:rPr lang="ru-RU" sz="2000" dirty="0">
                <a:solidFill>
                  <a:srgbClr val="000000"/>
                </a:solidFill>
              </a:rPr>
              <a:t>состояния канала;</a:t>
            </a:r>
          </a:p>
          <a:p>
            <a:pPr marL="415985" lvl="1" indent="-342900" algn="just">
              <a:buNone/>
            </a:pPr>
            <a:r>
              <a:rPr lang="ru-RU" sz="2000" dirty="0" smtClean="0">
                <a:solidFill>
                  <a:srgbClr val="000000"/>
                </a:solidFill>
              </a:rPr>
              <a:t>        - пакет </a:t>
            </a:r>
            <a:r>
              <a:rPr lang="ru-RU" sz="2000" dirty="0">
                <a:solidFill>
                  <a:srgbClr val="000000"/>
                </a:solidFill>
              </a:rPr>
              <a:t>обновления состояния канала;</a:t>
            </a:r>
          </a:p>
          <a:p>
            <a:pPr marL="415985" lvl="1" indent="-342900" algn="just">
              <a:buNone/>
            </a:pPr>
            <a:r>
              <a:rPr lang="ru-RU" sz="2000" dirty="0" smtClean="0">
                <a:solidFill>
                  <a:srgbClr val="000000"/>
                </a:solidFill>
              </a:rPr>
              <a:t>       - пакет </a:t>
            </a:r>
            <a:r>
              <a:rPr lang="ru-RU" sz="2000" dirty="0">
                <a:solidFill>
                  <a:srgbClr val="000000"/>
                </a:solidFill>
              </a:rPr>
              <a:t>подтверждения состояния канала.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2060"/>
                </a:solidFill>
              </a:rPr>
              <a:t>Эти пакеты используются для обнаружения соседних маршрутизаторов, а также для обмена данными маршрутизации в целях предоставления точных данных о сети.</a:t>
            </a:r>
          </a:p>
          <a:p>
            <a:pPr algn="just"/>
            <a:endParaRPr lang="ru-RU" sz="2000" dirty="0"/>
          </a:p>
        </p:txBody>
      </p:sp>
    </p:spTree>
    <p:extLst>
      <p:ext uri="{BB962C8B-B14F-4D97-AF65-F5344CB8AC3E}">
        <p14:creationId xmlns="" xmlns:p14="http://schemas.microsoft.com/office/powerpoint/2010/main" val="3767929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20688"/>
          </a:xfrm>
        </p:spPr>
        <p:txBody>
          <a:bodyPr>
            <a:normAutofit fontScale="90000"/>
          </a:bodyPr>
          <a:lstStyle/>
          <a:p>
            <a:r>
              <a:rPr lang="ru-RU" dirty="0"/>
              <a:t>Компоненты OSPF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548681"/>
            <a:ext cx="8964488" cy="648072"/>
          </a:xfrm>
        </p:spPr>
        <p:txBody>
          <a:bodyPr>
            <a:normAutofit/>
          </a:bodyPr>
          <a:lstStyle/>
          <a:p>
            <a:pPr marL="0" indent="0"/>
            <a:r>
              <a:rPr lang="ru-RU" sz="1800" dirty="0">
                <a:solidFill>
                  <a:srgbClr val="000000"/>
                </a:solidFill>
              </a:rPr>
              <a:t>Сообщения OSPF используются для создания и обслуживания трех баз данных OSPF:</a:t>
            </a:r>
          </a:p>
          <a:p>
            <a:endParaRPr lang="ru-RU" dirty="0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xmlns="" id="{C035E0F6-1590-2743-ACDB-974CED43E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423475427"/>
              </p:ext>
            </p:extLst>
          </p:nvPr>
        </p:nvGraphicFramePr>
        <p:xfrm>
          <a:off x="354874" y="1124745"/>
          <a:ext cx="8479972" cy="5544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376">
                  <a:extLst>
                    <a:ext uri="{9D8B030D-6E8A-4147-A177-3AD203B41FA5}">
                      <a16:colId xmlns:a16="http://schemas.microsoft.com/office/drawing/2014/main" xmlns="" val="3422732320"/>
                    </a:ext>
                  </a:extLst>
                </a:gridCol>
                <a:gridCol w="1405452">
                  <a:extLst>
                    <a:ext uri="{9D8B030D-6E8A-4147-A177-3AD203B41FA5}">
                      <a16:colId xmlns:a16="http://schemas.microsoft.com/office/drawing/2014/main" xmlns="" val="2245351421"/>
                    </a:ext>
                  </a:extLst>
                </a:gridCol>
                <a:gridCol w="5987144">
                  <a:extLst>
                    <a:ext uri="{9D8B030D-6E8A-4147-A177-3AD203B41FA5}">
                      <a16:colId xmlns:a16="http://schemas.microsoft.com/office/drawing/2014/main" xmlns="" val="2633712722"/>
                    </a:ext>
                  </a:extLst>
                </a:gridCol>
              </a:tblGrid>
              <a:tr h="614729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600" dirty="0">
                          <a:effectLst/>
                        </a:rPr>
                        <a:t>База данных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600" dirty="0">
                          <a:effectLst/>
                        </a:rPr>
                        <a:t>Таблица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600" dirty="0">
                          <a:effectLst/>
                        </a:rPr>
                        <a:t>Описание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2223893512"/>
                  </a:ext>
                </a:extLst>
              </a:tr>
              <a:tr h="1386154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>
                          <a:effectLst/>
                        </a:rPr>
                        <a:t>База данных смежности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>
                          <a:effectLst/>
                        </a:rPr>
                        <a:t>Таблица соседей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>
                          <a:effectLst/>
                        </a:rPr>
                        <a:t>Список всех соседних маршрутизаторов, с которыми установлен двусторонний обмен данными.</a:t>
                      </a:r>
                    </a:p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>
                          <a:effectLst/>
                        </a:rPr>
                        <a:t>Для каждого маршрутизатора существует уникальная таблица.</a:t>
                      </a:r>
                    </a:p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>
                          <a:effectLst/>
                        </a:rPr>
                        <a:t>Соседние устройства можно просмотреть с помощью команды </a:t>
                      </a:r>
                      <a:r>
                        <a:rPr lang="ru-RU" sz="1600" b="1" i="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</a:t>
                      </a:r>
                      <a:r>
                        <a:rPr lang="ru-RU" sz="1600" b="1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sz="1600" b="1" i="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ip</a:t>
                      </a:r>
                      <a:r>
                        <a:rPr lang="ru-RU" sz="1600" b="1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sz="1600" b="1" i="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ospf</a:t>
                      </a:r>
                      <a:r>
                        <a:rPr lang="ru-RU" sz="1600" b="1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sz="1600" b="1" i="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neighbor</a:t>
                      </a:r>
                      <a:r>
                        <a:rPr lang="ru-RU" sz="1600" b="0" dirty="0">
                          <a:effectLst/>
                        </a:rPr>
                        <a:t>.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1168337165"/>
                  </a:ext>
                </a:extLst>
              </a:tr>
              <a:tr h="1643295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>
                          <a:effectLst/>
                        </a:rPr>
                        <a:t>База данных состояний каналов (LSDB)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>
                          <a:effectLst/>
                        </a:rPr>
                        <a:t>Таблица топологии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>
                          <a:effectLst/>
                        </a:rPr>
                        <a:t>Содержит данные обо всех маршрутизаторах в сети.</a:t>
                      </a:r>
                    </a:p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>
                          <a:effectLst/>
                        </a:rPr>
                        <a:t>Эта база данных представляет топологию LSDB.</a:t>
                      </a:r>
                    </a:p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>
                          <a:effectLst/>
                        </a:rPr>
                        <a:t>Все маршрутизаторы в области используют идентичные базы данных состояний каналов (LSDB).</a:t>
                      </a:r>
                    </a:p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>
                          <a:effectLst/>
                        </a:rPr>
                        <a:t>Базу данных можно просмотреть с помощью команды </a:t>
                      </a:r>
                      <a:r>
                        <a:rPr lang="ru-RU" sz="1600" b="1" i="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</a:t>
                      </a:r>
                      <a:r>
                        <a:rPr lang="ru-RU" sz="1600" b="1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sz="1600" b="1" i="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ip</a:t>
                      </a:r>
                      <a:r>
                        <a:rPr lang="ru-RU" sz="1600" b="1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sz="1600" b="1" i="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ospf</a:t>
                      </a:r>
                      <a:r>
                        <a:rPr lang="ru-RU" sz="1600" b="1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sz="1600" b="1" i="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database</a:t>
                      </a:r>
                      <a:r>
                        <a:rPr lang="ru-RU" sz="1600" b="0" dirty="0">
                          <a:effectLst/>
                        </a:rPr>
                        <a:t>.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1226137261"/>
                  </a:ext>
                </a:extLst>
              </a:tr>
              <a:tr h="1900438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>
                          <a:effectLst/>
                        </a:rPr>
                        <a:t>База данных пересылки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>
                          <a:effectLst/>
                        </a:rPr>
                        <a:t>Таблица маршрутизации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>
                          <a:effectLst/>
                        </a:rPr>
                        <a:t>Содержит данные о маршрутах, созданных при запуске алгоритма в базе данных состояний каналов.</a:t>
                      </a:r>
                    </a:p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>
                          <a:effectLst/>
                        </a:rPr>
                        <a:t>Каждый </a:t>
                      </a:r>
                      <a:r>
                        <a:rPr lang="ru-RU" sz="1600" b="0" dirty="0" err="1">
                          <a:effectLst/>
                        </a:rPr>
                        <a:t>маршрутизатор</a:t>
                      </a:r>
                      <a:r>
                        <a:rPr lang="ru-RU" sz="1600" b="0" dirty="0">
                          <a:effectLst/>
                        </a:rPr>
                        <a:t> использует уникальную таблицу маршрутизации, которая содержит данные о способе и месте отправки пакетов на другие маршрутизаторы.</a:t>
                      </a:r>
                    </a:p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>
                          <a:effectLst/>
                        </a:rPr>
                        <a:t>Маршруты можно просмотреть с помощью команды </a:t>
                      </a:r>
                      <a:r>
                        <a:rPr lang="ru-RU" sz="1600" b="1" i="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</a:t>
                      </a:r>
                      <a:r>
                        <a:rPr lang="ru-RU" sz="1600" b="1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sz="1600" b="1" i="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ip</a:t>
                      </a:r>
                      <a:r>
                        <a:rPr lang="ru-RU" sz="1600" b="1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sz="1600" b="1" i="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route</a:t>
                      </a:r>
                      <a:r>
                        <a:rPr lang="ru-RU" sz="1600" b="0" dirty="0">
                          <a:effectLst/>
                        </a:rPr>
                        <a:t>.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1793819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514018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Autofit/>
          </a:bodyPr>
          <a:lstStyle/>
          <a:p>
            <a:r>
              <a:rPr lang="ru-RU" sz="3600" dirty="0">
                <a:solidFill>
                  <a:srgbClr val="7030A0"/>
                </a:solidFill>
              </a:rPr>
              <a:t>Компоненты OSPF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980728"/>
            <a:ext cx="8424936" cy="568863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u="sng" dirty="0">
                <a:solidFill>
                  <a:srgbClr val="002060"/>
                </a:solidFill>
              </a:rPr>
              <a:t>Маршрутизатор формирует таблицу топологии </a:t>
            </a:r>
            <a:r>
              <a:rPr lang="ru-RU" sz="2400" dirty="0">
                <a:solidFill>
                  <a:srgbClr val="000000"/>
                </a:solidFill>
              </a:rPr>
              <a:t>с использованием </a:t>
            </a:r>
            <a:r>
              <a:rPr lang="ru-RU" sz="2400" dirty="0"/>
              <a:t>результатов вычислений, основанных на алгоритме кратчайшего пути (SPF) </a:t>
            </a:r>
            <a:r>
              <a:rPr lang="ru-RU" sz="2400" dirty="0" err="1"/>
              <a:t>Дейкстры</a:t>
            </a:r>
            <a:r>
              <a:rPr lang="ru-RU" sz="24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000000"/>
                </a:solidFill>
              </a:rPr>
              <a:t> </a:t>
            </a:r>
            <a:r>
              <a:rPr lang="ru-RU" sz="2400" dirty="0">
                <a:solidFill>
                  <a:srgbClr val="002060"/>
                </a:solidFill>
              </a:rPr>
              <a:t>Алгоритм поиска кратчайшего пути основывается на данных о совокупной стоимости доступа к точке </a:t>
            </a:r>
            <a:r>
              <a:rPr lang="ru-RU" sz="2400" dirty="0" smtClean="0">
                <a:solidFill>
                  <a:srgbClr val="002060"/>
                </a:solidFill>
              </a:rPr>
              <a:t>назначения:</a:t>
            </a:r>
            <a:endParaRPr lang="ru-RU" sz="2400" dirty="0">
              <a:solidFill>
                <a:srgbClr val="002060"/>
              </a:solidFill>
            </a:endParaRPr>
          </a:p>
          <a:p>
            <a:pPr marL="342900" indent="-342900">
              <a:buNone/>
            </a:pPr>
            <a:r>
              <a:rPr lang="ru-RU" sz="2400" dirty="0" smtClean="0">
                <a:solidFill>
                  <a:srgbClr val="000000"/>
                </a:solidFill>
              </a:rPr>
              <a:t>      - Алгоритм </a:t>
            </a:r>
            <a:r>
              <a:rPr lang="ru-RU" sz="2400" dirty="0">
                <a:solidFill>
                  <a:srgbClr val="000000"/>
                </a:solidFill>
              </a:rPr>
              <a:t>поиска кратчайшего пути </a:t>
            </a:r>
            <a:r>
              <a:rPr lang="ru-RU" sz="2400" dirty="0">
                <a:solidFill>
                  <a:srgbClr val="002060"/>
                </a:solidFill>
              </a:rPr>
              <a:t>создаёт дерево кратчайших путей </a:t>
            </a:r>
            <a:r>
              <a:rPr lang="ru-RU" sz="2400" dirty="0">
                <a:solidFill>
                  <a:srgbClr val="000000"/>
                </a:solidFill>
              </a:rPr>
              <a:t>SPF путём размещения каждого маршрутизатора в корне дерева и расчёта кратчайших путей к каждому из узлов. </a:t>
            </a:r>
            <a:endParaRPr lang="ru-RU" sz="2400" dirty="0" smtClean="0">
              <a:solidFill>
                <a:srgbClr val="000000"/>
              </a:solidFill>
            </a:endParaRPr>
          </a:p>
          <a:p>
            <a:pPr marL="342900" indent="-342900">
              <a:buNone/>
            </a:pPr>
            <a:r>
              <a:rPr lang="ru-RU" sz="2400" dirty="0" smtClean="0">
                <a:solidFill>
                  <a:srgbClr val="000000"/>
                </a:solidFill>
              </a:rPr>
              <a:t>      - После </a:t>
            </a:r>
            <a:r>
              <a:rPr lang="ru-RU" sz="2400" dirty="0">
                <a:solidFill>
                  <a:srgbClr val="000000"/>
                </a:solidFill>
              </a:rPr>
              <a:t>этого дерево кратчайших путей SPF используется </a:t>
            </a:r>
            <a:r>
              <a:rPr lang="ru-RU" sz="2400" dirty="0">
                <a:solidFill>
                  <a:srgbClr val="002060"/>
                </a:solidFill>
              </a:rPr>
              <a:t>для расчёта оптимальных маршрутов</a:t>
            </a:r>
            <a:r>
              <a:rPr lang="ru-RU" sz="2400" dirty="0">
                <a:solidFill>
                  <a:srgbClr val="000000"/>
                </a:solidFill>
              </a:rPr>
              <a:t>. </a:t>
            </a:r>
            <a:endParaRPr lang="ru-RU" sz="2400" dirty="0" smtClean="0">
              <a:solidFill>
                <a:srgbClr val="000000"/>
              </a:solidFill>
            </a:endParaRPr>
          </a:p>
          <a:p>
            <a:pPr marL="342900" indent="-342900">
              <a:buNone/>
            </a:pPr>
            <a:r>
              <a:rPr lang="ru-RU" sz="2400" dirty="0" smtClean="0">
                <a:solidFill>
                  <a:srgbClr val="000000"/>
                </a:solidFill>
              </a:rPr>
              <a:t>      -  Протокол </a:t>
            </a:r>
            <a:r>
              <a:rPr lang="ru-RU" sz="2400" dirty="0">
                <a:solidFill>
                  <a:srgbClr val="000000"/>
                </a:solidFill>
              </a:rPr>
              <a:t>OSPF </a:t>
            </a:r>
            <a:r>
              <a:rPr lang="ru-RU" sz="2400" dirty="0">
                <a:solidFill>
                  <a:srgbClr val="002060"/>
                </a:solidFill>
              </a:rPr>
              <a:t>вносит оптимальные маршруты в базу данных пересылки,</a:t>
            </a:r>
            <a:r>
              <a:rPr lang="ru-RU" sz="2400" dirty="0">
                <a:solidFill>
                  <a:srgbClr val="000000"/>
                </a:solidFill>
              </a:rPr>
              <a:t> которая применяется для создания таблицы маршрутизации.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255863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0"/>
            <a:ext cx="8964488" cy="922114"/>
          </a:xfrm>
        </p:spPr>
        <p:txBody>
          <a:bodyPr>
            <a:noAutofit/>
          </a:bodyPr>
          <a:lstStyle/>
          <a:p>
            <a:r>
              <a:rPr lang="ru-RU" sz="3200" dirty="0">
                <a:solidFill>
                  <a:srgbClr val="7030A0"/>
                </a:solidFill>
              </a:rPr>
              <a:t>Принцип работы маршрутизации по состоянию канала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124744"/>
            <a:ext cx="8712968" cy="5400600"/>
          </a:xfrm>
        </p:spPr>
        <p:txBody>
          <a:bodyPr>
            <a:normAutofit/>
          </a:bodyPr>
          <a:lstStyle/>
          <a:p>
            <a:pPr marL="0" indent="0"/>
            <a:r>
              <a:rPr lang="ru-RU" dirty="0" smtClean="0">
                <a:solidFill>
                  <a:srgbClr val="000000"/>
                </a:solidFill>
              </a:rPr>
              <a:t>    </a:t>
            </a:r>
            <a:r>
              <a:rPr lang="ru-RU" sz="2800" dirty="0" smtClean="0">
                <a:solidFill>
                  <a:srgbClr val="000000"/>
                </a:solidFill>
              </a:rPr>
              <a:t>Для </a:t>
            </a:r>
            <a:r>
              <a:rPr lang="ru-RU" sz="2800" dirty="0">
                <a:solidFill>
                  <a:srgbClr val="000000"/>
                </a:solidFill>
              </a:rPr>
              <a:t>предоставления данных маршрутизации маршрутизаторы, использующие протокол OSPF, выполняют следующие общие </a:t>
            </a:r>
            <a:r>
              <a:rPr lang="ru-RU" sz="2800" dirty="0">
                <a:solidFill>
                  <a:srgbClr val="002060"/>
                </a:solidFill>
              </a:rPr>
              <a:t>этапы маршрутизации по состоянию канала для достижения состояния сходимости: </a:t>
            </a:r>
            <a:endParaRPr lang="ru-RU" sz="2800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ru-RU" sz="2800" dirty="0" smtClean="0">
                <a:solidFill>
                  <a:srgbClr val="000000"/>
                </a:solidFill>
              </a:rPr>
              <a:t>      1. Установление </a:t>
            </a:r>
            <a:r>
              <a:rPr lang="ru-RU" sz="2800" dirty="0">
                <a:solidFill>
                  <a:srgbClr val="000000"/>
                </a:solidFill>
              </a:rPr>
              <a:t>отношений смежности с соседними </a:t>
            </a:r>
            <a:r>
              <a:rPr lang="ru-RU" sz="2800" dirty="0" smtClean="0">
                <a:solidFill>
                  <a:srgbClr val="000000"/>
                </a:solidFill>
              </a:rPr>
              <a:t>устройствами.</a:t>
            </a:r>
            <a:endParaRPr lang="ru-RU" sz="2800" dirty="0">
              <a:solidFill>
                <a:srgbClr val="000000"/>
              </a:solidFill>
            </a:endParaRPr>
          </a:p>
          <a:p>
            <a:pPr marL="342900" indent="-342900">
              <a:buNone/>
            </a:pPr>
            <a:r>
              <a:rPr lang="ru-RU" sz="2800" dirty="0" smtClean="0">
                <a:solidFill>
                  <a:srgbClr val="000000"/>
                </a:solidFill>
              </a:rPr>
              <a:t>    2.Обмен объявлениями о состоянии каналов.</a:t>
            </a:r>
          </a:p>
          <a:p>
            <a:pPr marL="342900" indent="-342900">
              <a:buNone/>
            </a:pPr>
            <a:r>
              <a:rPr lang="ru-RU" sz="2800" dirty="0" smtClean="0">
                <a:solidFill>
                  <a:srgbClr val="000000"/>
                </a:solidFill>
              </a:rPr>
              <a:t>    3.Создание базы данных состояния связи.</a:t>
            </a:r>
          </a:p>
          <a:p>
            <a:pPr marL="342900" indent="-342900">
              <a:buNone/>
            </a:pPr>
            <a:r>
              <a:rPr lang="ru-RU" sz="2800" dirty="0" smtClean="0">
                <a:solidFill>
                  <a:srgbClr val="000000"/>
                </a:solidFill>
              </a:rPr>
              <a:t>    4.Исполнение </a:t>
            </a:r>
            <a:r>
              <a:rPr lang="ru-RU" sz="2800" dirty="0">
                <a:solidFill>
                  <a:srgbClr val="000000"/>
                </a:solidFill>
              </a:rPr>
              <a:t>алгоритма </a:t>
            </a:r>
            <a:r>
              <a:rPr lang="ru-RU" sz="2800" dirty="0" smtClean="0">
                <a:solidFill>
                  <a:srgbClr val="000000"/>
                </a:solidFill>
              </a:rPr>
              <a:t>SPF.</a:t>
            </a:r>
            <a:endParaRPr lang="ru-RU" sz="2800" dirty="0">
              <a:solidFill>
                <a:srgbClr val="000000"/>
              </a:solidFill>
            </a:endParaRPr>
          </a:p>
          <a:p>
            <a:pPr marL="342900" indent="-342900">
              <a:buNone/>
            </a:pPr>
            <a:r>
              <a:rPr lang="ru-RU" sz="2800" dirty="0" smtClean="0">
                <a:solidFill>
                  <a:srgbClr val="000000"/>
                </a:solidFill>
              </a:rPr>
              <a:t>    5.Выбор </a:t>
            </a:r>
            <a:r>
              <a:rPr lang="ru-RU" sz="2800" dirty="0">
                <a:solidFill>
                  <a:srgbClr val="000000"/>
                </a:solidFill>
              </a:rPr>
              <a:t>лучшего </a:t>
            </a:r>
            <a:r>
              <a:rPr lang="ru-RU" sz="2800" dirty="0" smtClean="0">
                <a:solidFill>
                  <a:srgbClr val="000000"/>
                </a:solidFill>
              </a:rPr>
              <a:t>маршрута.</a:t>
            </a:r>
            <a:endParaRPr lang="ru-RU" sz="2800" dirty="0">
              <a:solidFill>
                <a:srgbClr val="000000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4236145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46050"/>
          </a:xfrm>
        </p:spPr>
        <p:txBody>
          <a:bodyPr>
            <a:noAutofit/>
          </a:bodyPr>
          <a:lstStyle/>
          <a:p>
            <a:r>
              <a:rPr lang="ru-RU" sz="3600" dirty="0" err="1">
                <a:solidFill>
                  <a:srgbClr val="7030A0"/>
                </a:solidFill>
              </a:rPr>
              <a:t>Однообластной</a:t>
            </a:r>
            <a:r>
              <a:rPr lang="ru-RU" sz="3600" dirty="0">
                <a:solidFill>
                  <a:srgbClr val="7030A0"/>
                </a:solidFill>
              </a:rPr>
              <a:t> и </a:t>
            </a:r>
            <a:r>
              <a:rPr lang="ru-RU" sz="3600" dirty="0" err="1" smtClean="0">
                <a:solidFill>
                  <a:srgbClr val="7030A0"/>
                </a:solidFill>
              </a:rPr>
              <a:t>многообластной</a:t>
            </a:r>
            <a:r>
              <a:rPr lang="ru-RU" sz="3600" dirty="0" smtClean="0">
                <a:solidFill>
                  <a:srgbClr val="7030A0"/>
                </a:solidFill>
              </a:rPr>
              <a:t> </a:t>
            </a:r>
            <a:r>
              <a:rPr lang="ru-RU" sz="3600" dirty="0">
                <a:solidFill>
                  <a:srgbClr val="7030A0"/>
                </a:solidFill>
              </a:rPr>
              <a:t>OSPF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764704"/>
            <a:ext cx="8892480" cy="6093296"/>
          </a:xfrm>
        </p:spPr>
        <p:txBody>
          <a:bodyPr>
            <a:normAutofit fontScale="77500" lnSpcReduction="20000"/>
          </a:bodyPr>
          <a:lstStyle/>
          <a:p>
            <a:pPr marL="0" indent="0"/>
            <a:r>
              <a:rPr lang="ru-RU" dirty="0" smtClean="0">
                <a:solidFill>
                  <a:srgbClr val="000000"/>
                </a:solidFill>
              </a:rPr>
              <a:t>    Для повышения эффективности </a:t>
            </a:r>
            <a:r>
              <a:rPr lang="ru-RU" dirty="0">
                <a:solidFill>
                  <a:srgbClr val="000000"/>
                </a:solidFill>
              </a:rPr>
              <a:t>и </a:t>
            </a:r>
            <a:r>
              <a:rPr lang="ru-RU" dirty="0" err="1" smtClean="0">
                <a:solidFill>
                  <a:srgbClr val="000000"/>
                </a:solidFill>
              </a:rPr>
              <a:t>масштабируемости</a:t>
            </a:r>
            <a:r>
              <a:rPr lang="ru-RU" dirty="0" smtClean="0">
                <a:solidFill>
                  <a:srgbClr val="000000"/>
                </a:solidFill>
              </a:rPr>
              <a:t> , </a:t>
            </a:r>
            <a:r>
              <a:rPr lang="ru-RU" dirty="0">
                <a:solidFill>
                  <a:srgbClr val="000000"/>
                </a:solidFill>
              </a:rPr>
              <a:t>протокол OSPF поддерживает иерархическую маршрутизацию с помощью областей. </a:t>
            </a:r>
            <a:endParaRPr lang="ru-RU" dirty="0" smtClean="0">
              <a:solidFill>
                <a:srgbClr val="000000"/>
              </a:solidFill>
            </a:endParaRPr>
          </a:p>
          <a:p>
            <a:pPr marL="0" indent="0"/>
            <a:r>
              <a:rPr lang="ru-RU" dirty="0" smtClean="0">
                <a:solidFill>
                  <a:srgbClr val="002060"/>
                </a:solidFill>
              </a:rPr>
              <a:t>    Область </a:t>
            </a:r>
            <a:r>
              <a:rPr lang="ru-RU" dirty="0">
                <a:solidFill>
                  <a:srgbClr val="002060"/>
                </a:solidFill>
              </a:rPr>
              <a:t>OSPF – это группа маршрутизаторов, использующих одинаковые данные о состоянии канала в своих базах данных состояний каналов. </a:t>
            </a:r>
            <a:endParaRPr lang="ru-RU" dirty="0" smtClean="0">
              <a:solidFill>
                <a:srgbClr val="002060"/>
              </a:solidFill>
            </a:endParaRPr>
          </a:p>
          <a:p>
            <a:pPr marL="0" indent="0"/>
            <a:r>
              <a:rPr lang="ru-RU" dirty="0" smtClean="0">
                <a:solidFill>
                  <a:srgbClr val="002060"/>
                </a:solidFill>
              </a:rPr>
              <a:t>    </a:t>
            </a:r>
            <a:r>
              <a:rPr lang="ru-RU" dirty="0" smtClean="0">
                <a:solidFill>
                  <a:srgbClr val="000000"/>
                </a:solidFill>
              </a:rPr>
              <a:t>Протокол </a:t>
            </a:r>
            <a:r>
              <a:rPr lang="ru-RU" dirty="0">
                <a:solidFill>
                  <a:srgbClr val="000000"/>
                </a:solidFill>
              </a:rPr>
              <a:t>OSPF можно реализовать одним из двух способов: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OSPF для одной области </a:t>
            </a:r>
            <a:r>
              <a:rPr lang="ru-RU" dirty="0" smtClean="0">
                <a:solidFill>
                  <a:srgbClr val="000000"/>
                </a:solidFill>
              </a:rPr>
              <a:t>–</a:t>
            </a:r>
          </a:p>
          <a:p>
            <a:pPr marL="342900" indent="-342900">
              <a:buNone/>
            </a:pPr>
            <a:r>
              <a:rPr lang="ru-RU" dirty="0" smtClean="0">
                <a:solidFill>
                  <a:srgbClr val="000000"/>
                </a:solidFill>
              </a:rPr>
              <a:t> </a:t>
            </a:r>
            <a:r>
              <a:rPr lang="ru-RU" dirty="0">
                <a:solidFill>
                  <a:srgbClr val="000000"/>
                </a:solidFill>
              </a:rPr>
              <a:t>Все маршрутизаторы находятся в одной области. Рекомендуется использовать область 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OSPF для нескольких областей </a:t>
            </a:r>
            <a:r>
              <a:rPr lang="ru-RU" dirty="0" smtClean="0">
                <a:solidFill>
                  <a:srgbClr val="000000"/>
                </a:solidFill>
              </a:rPr>
              <a:t>—</a:t>
            </a:r>
          </a:p>
          <a:p>
            <a:pPr marL="342900" indent="-342900">
              <a:buNone/>
            </a:pPr>
            <a:r>
              <a:rPr lang="ru-RU" dirty="0" smtClean="0">
                <a:solidFill>
                  <a:srgbClr val="000000"/>
                </a:solidFill>
              </a:rPr>
              <a:t> Протокол </a:t>
            </a:r>
            <a:r>
              <a:rPr lang="ru-RU" dirty="0">
                <a:solidFill>
                  <a:srgbClr val="000000"/>
                </a:solidFill>
              </a:rPr>
              <a:t>OSPF используется посредством нескольких областей в иерархическом порядке. </a:t>
            </a:r>
            <a:endParaRPr lang="ru-RU" dirty="0" smtClean="0">
              <a:solidFill>
                <a:srgbClr val="000000"/>
              </a:solidFill>
            </a:endParaRPr>
          </a:p>
          <a:p>
            <a:pPr marL="342900" indent="-342900">
              <a:buNone/>
            </a:pPr>
            <a:r>
              <a:rPr lang="ru-RU" dirty="0" smtClean="0">
                <a:solidFill>
                  <a:srgbClr val="000000"/>
                </a:solidFill>
              </a:rPr>
              <a:t> Все </a:t>
            </a:r>
            <a:r>
              <a:rPr lang="ru-RU" dirty="0">
                <a:solidFill>
                  <a:srgbClr val="000000"/>
                </a:solidFill>
              </a:rPr>
              <a:t>области должны быть подключены к магистральной области (область 0</a:t>
            </a:r>
            <a:r>
              <a:rPr lang="ru-RU" dirty="0" smtClean="0">
                <a:solidFill>
                  <a:srgbClr val="000000"/>
                </a:solidFill>
              </a:rPr>
              <a:t>).</a:t>
            </a:r>
          </a:p>
          <a:p>
            <a:pPr marL="342900" indent="-342900">
              <a:buNone/>
            </a:pPr>
            <a:r>
              <a:rPr lang="ru-RU" dirty="0" smtClean="0">
                <a:solidFill>
                  <a:srgbClr val="000000"/>
                </a:solidFill>
              </a:rPr>
              <a:t> </a:t>
            </a:r>
            <a:r>
              <a:rPr lang="ru-RU" dirty="0">
                <a:solidFill>
                  <a:srgbClr val="002060"/>
                </a:solidFill>
              </a:rPr>
              <a:t>Маршрутизаторы, соединяющие области, называются граничными маршрутизаторами области (ABR).</a:t>
            </a:r>
          </a:p>
          <a:p>
            <a:endParaRPr lang="ru-RU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4960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sz="3600" dirty="0" err="1">
                <a:solidFill>
                  <a:srgbClr val="7030A0"/>
                </a:solidFill>
              </a:rPr>
              <a:t>Однообластной</a:t>
            </a:r>
            <a:r>
              <a:rPr lang="ru-RU" sz="3600" dirty="0">
                <a:solidFill>
                  <a:srgbClr val="7030A0"/>
                </a:solidFill>
              </a:rPr>
              <a:t> и </a:t>
            </a:r>
            <a:r>
              <a:rPr lang="ru-RU" sz="3600" dirty="0" err="1" smtClean="0">
                <a:solidFill>
                  <a:srgbClr val="7030A0"/>
                </a:solidFill>
              </a:rPr>
              <a:t>многообластной</a:t>
            </a:r>
            <a:r>
              <a:rPr lang="ru-RU" sz="3600" dirty="0" smtClean="0">
                <a:solidFill>
                  <a:srgbClr val="7030A0"/>
                </a:solidFill>
              </a:rPr>
              <a:t> OSPF(2)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764704"/>
            <a:ext cx="8892480" cy="5760640"/>
          </a:xfrm>
        </p:spPr>
        <p:txBody>
          <a:bodyPr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2060"/>
                </a:solidFill>
              </a:rPr>
              <a:t>Варианты проектирования иерархической топологии OSPF для нескольких областей </a:t>
            </a:r>
            <a:r>
              <a:rPr lang="ru-RU" sz="2400" dirty="0"/>
              <a:t>предоставляют следующие </a:t>
            </a:r>
            <a:r>
              <a:rPr lang="ru-RU" sz="2400" dirty="0">
                <a:solidFill>
                  <a:srgbClr val="002060"/>
                </a:solidFill>
              </a:rPr>
              <a:t>преимущества</a:t>
            </a:r>
            <a:r>
              <a:rPr lang="ru-RU" sz="2400" dirty="0">
                <a:solidFill>
                  <a:srgbClr val="000000"/>
                </a:solidFill>
              </a:rPr>
              <a:t>:</a:t>
            </a:r>
          </a:p>
          <a:p>
            <a:pPr marL="358835" lvl="1" indent="-28575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002060"/>
                </a:solidFill>
              </a:rPr>
              <a:t>      Меньший </a:t>
            </a:r>
            <a:r>
              <a:rPr lang="ru-RU" sz="2400" dirty="0">
                <a:solidFill>
                  <a:srgbClr val="002060"/>
                </a:solidFill>
              </a:rPr>
              <a:t>размер таблицы маршрутизации </a:t>
            </a:r>
            <a:r>
              <a:rPr lang="ru-RU" sz="2400" dirty="0" smtClean="0">
                <a:solidFill>
                  <a:srgbClr val="000000"/>
                </a:solidFill>
              </a:rPr>
              <a:t>– </a:t>
            </a:r>
          </a:p>
          <a:p>
            <a:pPr marL="358835" lvl="1" indent="-285750" algn="just">
              <a:buNone/>
            </a:pPr>
            <a:r>
              <a:rPr lang="ru-RU" sz="2400" dirty="0" smtClean="0">
                <a:solidFill>
                  <a:srgbClr val="000000"/>
                </a:solidFill>
              </a:rPr>
              <a:t>таблицы </a:t>
            </a:r>
            <a:r>
              <a:rPr lang="ru-RU" sz="2400" dirty="0">
                <a:solidFill>
                  <a:srgbClr val="000000"/>
                </a:solidFill>
              </a:rPr>
              <a:t>меньше, поскольку в таблице маршрутизации меньше записей: </a:t>
            </a:r>
            <a:endParaRPr lang="ru-RU" sz="2400" dirty="0" smtClean="0">
              <a:solidFill>
                <a:srgbClr val="000000"/>
              </a:solidFill>
            </a:endParaRPr>
          </a:p>
          <a:p>
            <a:pPr marL="358835" lvl="1" indent="-285750" algn="just">
              <a:buNone/>
            </a:pPr>
            <a:r>
              <a:rPr lang="ru-RU" sz="2400" dirty="0" smtClean="0">
                <a:solidFill>
                  <a:srgbClr val="000000"/>
                </a:solidFill>
              </a:rPr>
              <a:t>     - Сетевые </a:t>
            </a:r>
            <a:r>
              <a:rPr lang="ru-RU" sz="2400" dirty="0">
                <a:solidFill>
                  <a:srgbClr val="000000"/>
                </a:solidFill>
              </a:rPr>
              <a:t>адреса могут быть суммированы между областями</a:t>
            </a:r>
            <a:r>
              <a:rPr lang="ru-RU" sz="2400" dirty="0" smtClean="0">
                <a:solidFill>
                  <a:srgbClr val="000000"/>
                </a:solidFill>
              </a:rPr>
              <a:t>.</a:t>
            </a:r>
          </a:p>
          <a:p>
            <a:pPr marL="358835" lvl="1" indent="-285750" algn="just">
              <a:buNone/>
            </a:pPr>
            <a:r>
              <a:rPr lang="ru-RU" sz="2400" dirty="0" smtClean="0">
                <a:solidFill>
                  <a:srgbClr val="000000"/>
                </a:solidFill>
              </a:rPr>
              <a:t>     -  </a:t>
            </a:r>
            <a:r>
              <a:rPr lang="ru-RU" sz="2400" dirty="0">
                <a:solidFill>
                  <a:srgbClr val="000000"/>
                </a:solidFill>
              </a:rPr>
              <a:t>Функция объединения маршрутов отключена по умолчанию.</a:t>
            </a:r>
          </a:p>
          <a:p>
            <a:pPr marL="358835" lvl="1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2060"/>
                </a:solidFill>
              </a:rPr>
              <a:t>Снижение издержек обновления состояния каналов </a:t>
            </a:r>
            <a:r>
              <a:rPr lang="ru-RU" sz="2400" dirty="0" smtClean="0">
                <a:solidFill>
                  <a:srgbClr val="000000"/>
                </a:solidFill>
              </a:rPr>
              <a:t>—</a:t>
            </a:r>
          </a:p>
          <a:p>
            <a:pPr marL="358835" lvl="1" indent="-285750" algn="just">
              <a:buNone/>
            </a:pPr>
            <a:r>
              <a:rPr lang="ru-RU" sz="2400" dirty="0" smtClean="0">
                <a:solidFill>
                  <a:srgbClr val="000000"/>
                </a:solidFill>
              </a:rPr>
              <a:t> </a:t>
            </a:r>
            <a:r>
              <a:rPr lang="ru-RU" sz="2400" dirty="0">
                <a:solidFill>
                  <a:srgbClr val="000000"/>
                </a:solidFill>
              </a:rPr>
              <a:t>применение протокола OSPF для нескольких областей уменьшает размер областей и способствует </a:t>
            </a:r>
            <a:r>
              <a:rPr lang="ru-RU" sz="2400" dirty="0">
                <a:solidFill>
                  <a:srgbClr val="002060"/>
                </a:solidFill>
              </a:rPr>
              <a:t>уменьшению требований к процессорным ресурсам и памяти.</a:t>
            </a:r>
          </a:p>
          <a:p>
            <a:pPr marL="358835" lvl="1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2060"/>
                </a:solidFill>
              </a:rPr>
              <a:t>Снижение частоты расчетов SPF</a:t>
            </a:r>
            <a:r>
              <a:rPr lang="ru-RU" sz="2400" dirty="0" smtClean="0">
                <a:solidFill>
                  <a:srgbClr val="002060"/>
                </a:solidFill>
              </a:rPr>
              <a:t>.</a:t>
            </a:r>
          </a:p>
          <a:p>
            <a:pPr marL="358835" lvl="1" indent="-285750" algn="just">
              <a:buNone/>
            </a:pPr>
            <a:r>
              <a:rPr lang="ru-RU" sz="2400" dirty="0" smtClean="0">
                <a:solidFill>
                  <a:srgbClr val="002060"/>
                </a:solidFill>
              </a:rPr>
              <a:t>  </a:t>
            </a:r>
            <a:r>
              <a:rPr lang="ru-RU" sz="2400" i="1" dirty="0">
                <a:solidFill>
                  <a:srgbClr val="000000"/>
                </a:solidFill>
              </a:rPr>
              <a:t>Влияние изменений топологии локализуется в пределах </a:t>
            </a:r>
            <a:r>
              <a:rPr lang="ru-RU" sz="2400" i="1" dirty="0" smtClean="0">
                <a:solidFill>
                  <a:srgbClr val="000000"/>
                </a:solidFill>
              </a:rPr>
              <a:t>области.</a:t>
            </a:r>
          </a:p>
          <a:p>
            <a:pPr marL="358835" lvl="1" indent="-285750" algn="just">
              <a:buNone/>
            </a:pPr>
            <a:r>
              <a:rPr lang="ru-RU" sz="2400" dirty="0" smtClean="0">
                <a:solidFill>
                  <a:srgbClr val="000000"/>
                </a:solidFill>
              </a:rPr>
              <a:t> </a:t>
            </a:r>
            <a:endParaRPr lang="ru-RU" sz="2400" dirty="0"/>
          </a:p>
        </p:txBody>
      </p:sp>
    </p:spTree>
    <p:extLst>
      <p:ext uri="{BB962C8B-B14F-4D97-AF65-F5344CB8AC3E}">
        <p14:creationId xmlns="" xmlns:p14="http://schemas.microsoft.com/office/powerpoint/2010/main" val="137126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Типы пакетов OSPF</a:t>
            </a:r>
            <a:endParaRPr lang="en-US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908721"/>
            <a:ext cx="8229600" cy="1296143"/>
          </a:xfrm>
        </p:spPr>
        <p:txBody>
          <a:bodyPr>
            <a:normAutofit fontScale="77500" lnSpcReduction="20000"/>
          </a:bodyPr>
          <a:lstStyle/>
          <a:p>
            <a:r>
              <a:rPr lang="ru-RU" dirty="0">
                <a:solidFill>
                  <a:srgbClr val="000000"/>
                </a:solidFill>
              </a:rPr>
              <a:t>В таблице перечислены пять различных типов пакетов состояния связи (LSP), используемых OSPFv2. OSPFv3 использует аналогичные типы пакетов.</a:t>
            </a:r>
          </a:p>
          <a:p>
            <a:endParaRPr lang="en-US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xmlns="" id="{0FDFA63D-A8CB-4C1C-BF6C-D20F28D639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680501269"/>
              </p:ext>
            </p:extLst>
          </p:nvPr>
        </p:nvGraphicFramePr>
        <p:xfrm>
          <a:off x="323528" y="2060847"/>
          <a:ext cx="8496944" cy="456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554">
                  <a:extLst>
                    <a:ext uri="{9D8B030D-6E8A-4147-A177-3AD203B41FA5}">
                      <a16:colId xmlns:a16="http://schemas.microsoft.com/office/drawing/2014/main" xmlns="" val="437161920"/>
                    </a:ext>
                  </a:extLst>
                </a:gridCol>
                <a:gridCol w="3071320">
                  <a:extLst>
                    <a:ext uri="{9D8B030D-6E8A-4147-A177-3AD203B41FA5}">
                      <a16:colId xmlns:a16="http://schemas.microsoft.com/office/drawing/2014/main" xmlns="" val="383234256"/>
                    </a:ext>
                  </a:extLst>
                </a:gridCol>
                <a:gridCol w="4847070">
                  <a:extLst>
                    <a:ext uri="{9D8B030D-6E8A-4147-A177-3AD203B41FA5}">
                      <a16:colId xmlns:a16="http://schemas.microsoft.com/office/drawing/2014/main" xmlns="" val="642217950"/>
                    </a:ext>
                  </a:extLst>
                </a:gridCol>
              </a:tblGrid>
              <a:tr h="407513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800" b="1" dirty="0">
                          <a:effectLst/>
                        </a:rPr>
                        <a:t>Тип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800" b="1" dirty="0">
                          <a:effectLst/>
                        </a:rPr>
                        <a:t>Имя пакета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800" b="1">
                          <a:effectLst/>
                        </a:rPr>
                        <a:t>Описание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827652468"/>
                  </a:ext>
                </a:extLst>
              </a:tr>
              <a:tr h="1012480">
                <a:tc>
                  <a:txBody>
                    <a:bodyPr/>
                    <a:lstStyle/>
                    <a:p>
                      <a:pPr rtl="0" fontAlgn="ctr"/>
                      <a:r>
                        <a:rPr lang="ru-RU" sz="1800" b="0">
                          <a:effectLst/>
                        </a:rPr>
                        <a:t>1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marL="0" marR="0" indent="0" algn="l" defTabSz="6857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Приветствие (</a:t>
                      </a: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Hello)</a:t>
                      </a:r>
                      <a:endParaRPr lang="ru-RU" sz="1800" b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800" b="0">
                          <a:effectLst/>
                        </a:rPr>
                        <a:t>Выполняет обнаружение соседних узлов и устанавливает отношения смежности между ними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4133330987"/>
                  </a:ext>
                </a:extLst>
              </a:tr>
              <a:tr h="709997">
                <a:tc>
                  <a:txBody>
                    <a:bodyPr/>
                    <a:lstStyle/>
                    <a:p>
                      <a:pPr rtl="0" fontAlgn="ctr"/>
                      <a:r>
                        <a:rPr lang="ru-RU" sz="1800" b="0">
                          <a:effectLst/>
                        </a:rPr>
                        <a:t>2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800" b="0">
                          <a:effectLst/>
                        </a:rPr>
                        <a:t>Дескриптор базы данных (DBD)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800" b="0">
                          <a:effectLst/>
                        </a:rPr>
                        <a:t>Проверяет синхронизацию баз данных между маршрутизаторами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2426783081"/>
                  </a:ext>
                </a:extLst>
              </a:tr>
              <a:tr h="1012480">
                <a:tc>
                  <a:txBody>
                    <a:bodyPr/>
                    <a:lstStyle/>
                    <a:p>
                      <a:pPr rtl="0" fontAlgn="ctr"/>
                      <a:r>
                        <a:rPr lang="ru-RU" sz="1800" b="0">
                          <a:effectLst/>
                        </a:rPr>
                        <a:t>3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800" b="0">
                          <a:effectLst/>
                        </a:rPr>
                        <a:t>Запрос состояния канала (LSR)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800" b="0">
                          <a:effectLst/>
                        </a:rPr>
                        <a:t>Запрашивает записи о состояниях определённых каналов на различных маршрутизаторах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2444553229"/>
                  </a:ext>
                </a:extLst>
              </a:tr>
              <a:tr h="709997">
                <a:tc>
                  <a:txBody>
                    <a:bodyPr/>
                    <a:lstStyle/>
                    <a:p>
                      <a:pPr rtl="0" fontAlgn="ctr"/>
                      <a:r>
                        <a:rPr lang="ru-RU" sz="1800" b="0">
                          <a:effectLst/>
                        </a:rPr>
                        <a:t>4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800" b="0">
                          <a:effectLst/>
                        </a:rPr>
                        <a:t>Обновление состояния канала (LSU)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800" b="0">
                          <a:effectLst/>
                        </a:rPr>
                        <a:t>Отправляет запрашиваемые записи о состоянии канала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652161687"/>
                  </a:ext>
                </a:extLst>
              </a:tr>
              <a:tr h="709997">
                <a:tc>
                  <a:txBody>
                    <a:bodyPr/>
                    <a:lstStyle/>
                    <a:p>
                      <a:pPr rtl="0" fontAlgn="ctr"/>
                      <a:r>
                        <a:rPr lang="ru-RU" sz="1800" b="0">
                          <a:effectLst/>
                        </a:rPr>
                        <a:t>5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800" b="0">
                          <a:effectLst/>
                        </a:rPr>
                        <a:t>Подтверждение состояния канала (LSAck)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800" b="0" dirty="0">
                          <a:effectLst/>
                        </a:rPr>
                        <a:t>Подтверждает другие типы пакетов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1835698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12592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4704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rgbClr val="7030A0"/>
                </a:solidFill>
              </a:rPr>
              <a:t>Приветствия OSPF</a:t>
            </a:r>
            <a:endParaRPr lang="en-US" sz="36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692696"/>
            <a:ext cx="8507288" cy="5832648"/>
          </a:xfrm>
        </p:spPr>
        <p:txBody>
          <a:bodyPr>
            <a:normAutofit/>
          </a:bodyPr>
          <a:lstStyle/>
          <a:p>
            <a:pPr marL="0" indent="0"/>
            <a:r>
              <a:rPr lang="ru-RU" sz="2400" dirty="0">
                <a:solidFill>
                  <a:srgbClr val="002060"/>
                </a:solidFill>
              </a:rPr>
              <a:t>Пакеты протокола OSPF 1-го типа— это пакеты приветствия (</a:t>
            </a:r>
            <a:r>
              <a:rPr lang="ru-RU" sz="2400" dirty="0" err="1">
                <a:solidFill>
                  <a:srgbClr val="002060"/>
                </a:solidFill>
              </a:rPr>
              <a:t>hello</a:t>
            </a:r>
            <a:r>
              <a:rPr lang="ru-RU" sz="2400" dirty="0" smtClean="0">
                <a:solidFill>
                  <a:srgbClr val="002060"/>
                </a:solidFill>
              </a:rPr>
              <a:t>).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rgbClr val="000000"/>
                </a:solidFill>
              </a:rPr>
              <a:t>      </a:t>
            </a:r>
            <a:r>
              <a:rPr lang="ru-RU" sz="2400" dirty="0">
                <a:solidFill>
                  <a:srgbClr val="000000"/>
                </a:solidFill>
              </a:rPr>
              <a:t>Они используются для </a:t>
            </a:r>
            <a:r>
              <a:rPr lang="ru-RU" sz="2400" dirty="0">
                <a:solidFill>
                  <a:srgbClr val="002060"/>
                </a:solidFill>
              </a:rPr>
              <a:t>выполнения следующих действий</a:t>
            </a:r>
            <a:r>
              <a:rPr lang="ru-RU" sz="2400" dirty="0">
                <a:solidFill>
                  <a:srgbClr val="000000"/>
                </a:solidFill>
              </a:rPr>
              <a:t>:</a:t>
            </a:r>
          </a:p>
          <a:p>
            <a:pPr marL="342900" indent="-342900">
              <a:buNone/>
            </a:pPr>
            <a:r>
              <a:rPr lang="ru-RU" sz="2400" dirty="0" smtClean="0">
                <a:solidFill>
                  <a:srgbClr val="000000"/>
                </a:solidFill>
              </a:rPr>
              <a:t>          - Обнаружение </a:t>
            </a:r>
            <a:r>
              <a:rPr lang="ru-RU" sz="2400" dirty="0">
                <a:solidFill>
                  <a:srgbClr val="000000"/>
                </a:solidFill>
              </a:rPr>
              <a:t>соседних устройств OSPF и установление отношений смежности с ними.</a:t>
            </a:r>
          </a:p>
          <a:p>
            <a:pPr marL="342900" indent="-342900">
              <a:buNone/>
            </a:pPr>
            <a:r>
              <a:rPr lang="ru-RU" sz="2400" dirty="0" smtClean="0">
                <a:solidFill>
                  <a:srgbClr val="000000"/>
                </a:solidFill>
              </a:rPr>
              <a:t>         - Объявление </a:t>
            </a:r>
            <a:r>
              <a:rPr lang="ru-RU" sz="2400" dirty="0">
                <a:solidFill>
                  <a:srgbClr val="000000"/>
                </a:solidFill>
              </a:rPr>
              <a:t>параметров, при которых два маршрутизатора обязаны согласиться установить отношения смежности.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</a:rPr>
              <a:t>В сетях с </a:t>
            </a:r>
            <a:r>
              <a:rPr lang="ru-RU" sz="2400" dirty="0">
                <a:solidFill>
                  <a:srgbClr val="002060"/>
                </a:solidFill>
              </a:rPr>
              <a:t>множественным доступом (</a:t>
            </a:r>
            <a:r>
              <a:rPr lang="ru-RU" sz="2400" dirty="0" err="1">
                <a:solidFill>
                  <a:srgbClr val="002060"/>
                </a:solidFill>
              </a:rPr>
              <a:t>Ethernet</a:t>
            </a:r>
            <a:r>
              <a:rPr lang="ru-RU" sz="2400" dirty="0">
                <a:solidFill>
                  <a:srgbClr val="002060"/>
                </a:solidFill>
              </a:rPr>
              <a:t>) необходимо </a:t>
            </a:r>
            <a:r>
              <a:rPr lang="ru-RU" sz="2400" dirty="0" smtClean="0">
                <a:solidFill>
                  <a:srgbClr val="002060"/>
                </a:solidFill>
              </a:rPr>
              <a:t>выбрать</a:t>
            </a:r>
          </a:p>
          <a:p>
            <a:pPr marL="342900" indent="-342900">
              <a:buNone/>
            </a:pPr>
            <a:r>
              <a:rPr lang="ru-RU" sz="2400" dirty="0" smtClean="0">
                <a:solidFill>
                  <a:srgbClr val="000000"/>
                </a:solidFill>
              </a:rPr>
              <a:t>      -  </a:t>
            </a:r>
            <a:r>
              <a:rPr lang="ru-RU" sz="2400" dirty="0">
                <a:solidFill>
                  <a:srgbClr val="000000"/>
                </a:solidFill>
              </a:rPr>
              <a:t>выделенный </a:t>
            </a:r>
            <a:r>
              <a:rPr lang="ru-RU" sz="2400" dirty="0" err="1">
                <a:solidFill>
                  <a:srgbClr val="000000"/>
                </a:solidFill>
              </a:rPr>
              <a:t>маршрутизатор</a:t>
            </a:r>
            <a:r>
              <a:rPr lang="ru-RU" sz="2400" dirty="0">
                <a:solidFill>
                  <a:srgbClr val="000000"/>
                </a:solidFill>
              </a:rPr>
              <a:t> (DR) </a:t>
            </a:r>
            <a:r>
              <a:rPr lang="ru-RU" sz="2400" dirty="0" smtClean="0">
                <a:solidFill>
                  <a:srgbClr val="000000"/>
                </a:solidFill>
              </a:rPr>
              <a:t>и</a:t>
            </a:r>
          </a:p>
          <a:p>
            <a:pPr marL="342900" indent="-342900">
              <a:buNone/>
            </a:pPr>
            <a:r>
              <a:rPr lang="ru-RU" sz="2400" dirty="0" smtClean="0">
                <a:solidFill>
                  <a:srgbClr val="000000"/>
                </a:solidFill>
              </a:rPr>
              <a:t>       - </a:t>
            </a:r>
            <a:r>
              <a:rPr lang="ru-RU" sz="2400" dirty="0">
                <a:solidFill>
                  <a:srgbClr val="000000"/>
                </a:solidFill>
              </a:rPr>
              <a:t>резервный выделенный </a:t>
            </a:r>
            <a:r>
              <a:rPr lang="ru-RU" sz="2400" dirty="0" err="1">
                <a:solidFill>
                  <a:srgbClr val="000000"/>
                </a:solidFill>
              </a:rPr>
              <a:t>маршрутизатор</a:t>
            </a:r>
            <a:r>
              <a:rPr lang="ru-RU" sz="2400" dirty="0">
                <a:solidFill>
                  <a:srgbClr val="000000"/>
                </a:solidFill>
              </a:rPr>
              <a:t> (BDR</a:t>
            </a:r>
            <a:r>
              <a:rPr lang="ru-RU" sz="2400" dirty="0" smtClean="0">
                <a:solidFill>
                  <a:srgbClr val="000000"/>
                </a:solidFill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002060"/>
                </a:solidFill>
              </a:rPr>
              <a:t>Для </a:t>
            </a:r>
            <a:r>
              <a:rPr lang="ru-RU" sz="2400" dirty="0">
                <a:solidFill>
                  <a:srgbClr val="002060"/>
                </a:solidFill>
              </a:rPr>
              <a:t>каналов типа «точка-точка» наличие DR или BDR не требуется.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315840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04056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7030A0"/>
                </a:solidFill>
              </a:rPr>
              <a:t>Рабочие состояния OSPF</a:t>
            </a:r>
            <a:endParaRPr lang="en-US" sz="36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904655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xmlns="" id="{7CC4ED20-1835-4E39-8129-20609E886A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789487713"/>
              </p:ext>
            </p:extLst>
          </p:nvPr>
        </p:nvGraphicFramePr>
        <p:xfrm>
          <a:off x="467544" y="764704"/>
          <a:ext cx="8208912" cy="5950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905">
                  <a:extLst>
                    <a:ext uri="{9D8B030D-6E8A-4147-A177-3AD203B41FA5}">
                      <a16:colId xmlns:a16="http://schemas.microsoft.com/office/drawing/2014/main" xmlns="" val="1337402727"/>
                    </a:ext>
                  </a:extLst>
                </a:gridCol>
                <a:gridCol w="6542007">
                  <a:extLst>
                    <a:ext uri="{9D8B030D-6E8A-4147-A177-3AD203B41FA5}">
                      <a16:colId xmlns:a16="http://schemas.microsoft.com/office/drawing/2014/main" xmlns="" val="54742232"/>
                    </a:ext>
                  </a:extLst>
                </a:gridCol>
              </a:tblGrid>
              <a:tr h="488860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dirty="0">
                          <a:effectLst/>
                        </a:rPr>
                        <a:t>Состояние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dirty="0">
                          <a:effectLst/>
                        </a:rPr>
                        <a:t>Описание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3210007909"/>
                  </a:ext>
                </a:extLst>
              </a:tr>
              <a:tr h="1504282">
                <a:tc>
                  <a:txBody>
                    <a:bodyPr/>
                    <a:lstStyle/>
                    <a:p>
                      <a:pPr rtl="0" fontAlgn="ctr"/>
                      <a:r>
                        <a:rPr lang="ru-RU" sz="2000" b="1">
                          <a:effectLst/>
                        </a:rPr>
                        <a:t>Состояние Down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effectLst/>
                        </a:rPr>
                        <a:t>Не получено ни одного пакета приветствия = </a:t>
                      </a:r>
                      <a:r>
                        <a:rPr lang="ru-RU" sz="2000" b="0" dirty="0" err="1">
                          <a:effectLst/>
                        </a:rPr>
                        <a:t>Down</a:t>
                      </a:r>
                      <a:r>
                        <a:rPr lang="ru-RU" sz="2000" b="0" dirty="0">
                          <a:effectLst/>
                        </a:rPr>
                        <a:t>.</a:t>
                      </a:r>
                    </a:p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effectLst/>
                        </a:rPr>
                        <a:t>Маршрутизатор отправляет пакеты приветствия.</a:t>
                      </a:r>
                    </a:p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effectLst/>
                        </a:rPr>
                        <a:t>Переход в состояние </a:t>
                      </a:r>
                      <a:r>
                        <a:rPr lang="ru-RU" sz="2000" b="0" dirty="0" err="1">
                          <a:effectLst/>
                        </a:rPr>
                        <a:t>Init</a:t>
                      </a:r>
                      <a:r>
                        <a:rPr lang="ru-RU" sz="2000" b="0" dirty="0">
                          <a:effectLst/>
                        </a:rPr>
                        <a:t>.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2086309283"/>
                  </a:ext>
                </a:extLst>
              </a:tr>
              <a:tr h="1978720">
                <a:tc>
                  <a:txBody>
                    <a:bodyPr/>
                    <a:lstStyle/>
                    <a:p>
                      <a:pPr rtl="0" fontAlgn="ctr"/>
                      <a:r>
                        <a:rPr lang="ru-RU" sz="2000" b="1">
                          <a:effectLst/>
                        </a:rPr>
                        <a:t>Состояние Init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>
                          <a:effectLst/>
                        </a:rPr>
                        <a:t>Пакеты приветствия принимаются от соседних устройств.</a:t>
                      </a:r>
                    </a:p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>
                          <a:effectLst/>
                        </a:rPr>
                        <a:t>Они содержат идентификатор отправляющего маршрутизатора.</a:t>
                      </a:r>
                    </a:p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>
                          <a:effectLst/>
                        </a:rPr>
                        <a:t>Переход в состояние Two-Way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3251744716"/>
                  </a:ext>
                </a:extLst>
              </a:tr>
              <a:tr h="1978720">
                <a:tc>
                  <a:txBody>
                    <a:bodyPr/>
                    <a:lstStyle/>
                    <a:p>
                      <a:pPr rtl="0" fontAlgn="ctr"/>
                      <a:r>
                        <a:rPr lang="ru-RU" sz="2000" b="1">
                          <a:effectLst/>
                        </a:rPr>
                        <a:t>Состояние Two-Way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effectLst/>
                        </a:rPr>
                        <a:t>В этом состоянии связь между двумя маршрутизаторами является двунаправленной.</a:t>
                      </a:r>
                    </a:p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effectLst/>
                        </a:rPr>
                        <a:t>На многоканальных каналах маршрутизаторы выбирают DR и BDR.</a:t>
                      </a:r>
                    </a:p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effectLst/>
                        </a:rPr>
                        <a:t>Переход в состояние </a:t>
                      </a:r>
                      <a:r>
                        <a:rPr lang="ru-RU" sz="2000" b="0" dirty="0" err="1">
                          <a:effectLst/>
                        </a:rPr>
                        <a:t>ExStart</a:t>
                      </a:r>
                      <a:r>
                        <a:rPr lang="ru-RU" sz="2000" b="0" dirty="0">
                          <a:effectLst/>
                        </a:rPr>
                        <a:t>.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3657586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745050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0"/>
            <a:ext cx="8892480" cy="692696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7030A0"/>
                </a:solidFill>
              </a:rPr>
              <a:t>Рабочие состояния OSPF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908720"/>
            <a:ext cx="8229600" cy="594928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xmlns="" id="{7CC4ED20-1835-4E39-8129-20609E886A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2691344347"/>
              </p:ext>
            </p:extLst>
          </p:nvPr>
        </p:nvGraphicFramePr>
        <p:xfrm>
          <a:off x="179512" y="836712"/>
          <a:ext cx="8784976" cy="6021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6521">
                  <a:extLst>
                    <a:ext uri="{9D8B030D-6E8A-4147-A177-3AD203B41FA5}">
                      <a16:colId xmlns:a16="http://schemas.microsoft.com/office/drawing/2014/main" xmlns="" val="1337402727"/>
                    </a:ext>
                  </a:extLst>
                </a:gridCol>
                <a:gridCol w="7148455">
                  <a:extLst>
                    <a:ext uri="{9D8B030D-6E8A-4147-A177-3AD203B41FA5}">
                      <a16:colId xmlns:a16="http://schemas.microsoft.com/office/drawing/2014/main" xmlns="" val="54742232"/>
                    </a:ext>
                  </a:extLst>
                </a:gridCol>
              </a:tblGrid>
              <a:tr h="411024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800" dirty="0">
                          <a:effectLst/>
                        </a:rPr>
                        <a:t>Состояние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800" dirty="0">
                          <a:effectLst/>
                        </a:rPr>
                        <a:t>Описание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3210007909"/>
                  </a:ext>
                </a:extLst>
              </a:tr>
              <a:tr h="1326293">
                <a:tc>
                  <a:txBody>
                    <a:bodyPr/>
                    <a:lstStyle/>
                    <a:p>
                      <a:pPr rtl="0" fontAlgn="ctr"/>
                      <a:r>
                        <a:rPr lang="ru-RU" sz="1800" b="1">
                          <a:effectLst/>
                        </a:rPr>
                        <a:t>Состояние ExStart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800" b="0" dirty="0">
                          <a:effectLst/>
                        </a:rPr>
                        <a:t>В сетях «точка-точка» два маршрутизатора определяют, какой </a:t>
                      </a:r>
                      <a:r>
                        <a:rPr lang="ru-RU" sz="1800" b="0" dirty="0" err="1">
                          <a:effectLst/>
                        </a:rPr>
                        <a:t>маршрутизатор</a:t>
                      </a:r>
                      <a:r>
                        <a:rPr lang="ru-RU" sz="1800" b="0" dirty="0">
                          <a:effectLst/>
                        </a:rPr>
                        <a:t> будет инициировать обмен пакетами DBD, и определяют исходный номер последовательности пакетов DBD.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1224079440"/>
                  </a:ext>
                </a:extLst>
              </a:tr>
              <a:tr h="1631383">
                <a:tc>
                  <a:txBody>
                    <a:bodyPr/>
                    <a:lstStyle/>
                    <a:p>
                      <a:pPr rtl="0" fontAlgn="ctr"/>
                      <a:r>
                        <a:rPr lang="ru-RU" sz="1800" b="1" dirty="0">
                          <a:effectLst/>
                        </a:rPr>
                        <a:t>Состояние </a:t>
                      </a:r>
                      <a:r>
                        <a:rPr lang="ru-RU" sz="1800" b="1" dirty="0" err="1">
                          <a:effectLst/>
                        </a:rPr>
                        <a:t>Exchange</a:t>
                      </a:r>
                      <a:endParaRPr lang="ru-RU" sz="1800" b="1" dirty="0">
                        <a:effectLst/>
                      </a:endParaRP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800" b="0">
                          <a:effectLst/>
                        </a:rPr>
                        <a:t>Маршрутизаторы обмениваются пакетами DBD (описание базы данных).</a:t>
                      </a:r>
                    </a:p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800" b="0">
                          <a:effectLst/>
                        </a:rPr>
                        <a:t>Если требуются сведения о маршрутизаторе, выполняется переход в состояние Loading; в противном случае — в состояние Full.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1822317577"/>
                  </a:ext>
                </a:extLst>
              </a:tr>
              <a:tr h="1936474">
                <a:tc>
                  <a:txBody>
                    <a:bodyPr/>
                    <a:lstStyle/>
                    <a:p>
                      <a:pPr rtl="0" fontAlgn="ctr"/>
                      <a:r>
                        <a:rPr lang="ru-RU" sz="1800" b="1">
                          <a:effectLst/>
                        </a:rPr>
                        <a:t>Состояние Loading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800" b="0" dirty="0">
                          <a:effectLst/>
                        </a:rPr>
                        <a:t>LSR (запрос состояния канала) и LSU (пакет обновления состояния канала) используются для получения дополнительной информации о маршруте.</a:t>
                      </a:r>
                    </a:p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800" b="0" dirty="0">
                          <a:effectLst/>
                        </a:rPr>
                        <a:t>Маршруты обрабатываются посредством алгоритма поиска кратчайшего пути.</a:t>
                      </a:r>
                    </a:p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800" b="0" dirty="0">
                          <a:effectLst/>
                        </a:rPr>
                        <a:t>Переход в состояние </a:t>
                      </a:r>
                      <a:r>
                        <a:rPr lang="ru-RU" sz="1800" b="0" dirty="0" err="1">
                          <a:effectLst/>
                        </a:rPr>
                        <a:t>Full</a:t>
                      </a:r>
                      <a:r>
                        <a:rPr lang="ru-RU" sz="1800" b="0" dirty="0">
                          <a:effectLst/>
                        </a:rPr>
                        <a:t>.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2209947322"/>
                  </a:ext>
                </a:extLst>
              </a:tr>
              <a:tr h="716114">
                <a:tc>
                  <a:txBody>
                    <a:bodyPr/>
                    <a:lstStyle/>
                    <a:p>
                      <a:pPr rtl="0" fontAlgn="ctr"/>
                      <a:r>
                        <a:rPr lang="ru-RU" sz="1800" b="1">
                          <a:effectLst/>
                        </a:rPr>
                        <a:t>Состояние Full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800" b="0" dirty="0">
                          <a:effectLst/>
                        </a:rPr>
                        <a:t>База данных состояния канала маршрутизатора полностью синхронизирована.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748123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71191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/>
                </a:solidFill>
              </a:rPr>
              <a:t>Пакеты IPv6</a:t>
            </a: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175470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7030A0"/>
                </a:solidFill>
              </a:rPr>
              <a:t>Ограничения пакетов IPv4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908720"/>
            <a:ext cx="8964488" cy="59492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800" dirty="0">
                <a:solidFill>
                  <a:srgbClr val="002060"/>
                </a:solidFill>
              </a:rPr>
              <a:t>IPv4 имеет три основных </a:t>
            </a:r>
            <a:r>
              <a:rPr lang="ru-RU" sz="2800" dirty="0" smtClean="0">
                <a:solidFill>
                  <a:srgbClr val="002060"/>
                </a:solidFill>
              </a:rPr>
              <a:t>ограничения:</a:t>
            </a:r>
          </a:p>
          <a:p>
            <a:pPr marL="444500" indent="-444500">
              <a:buNone/>
            </a:pPr>
            <a:r>
              <a:rPr lang="ru-RU" dirty="0" smtClean="0"/>
              <a:t>     1).Истощение </a:t>
            </a:r>
            <a:r>
              <a:rPr lang="ru-RU" dirty="0"/>
              <a:t>адресов IPv4 — в </a:t>
            </a:r>
            <a:r>
              <a:rPr lang="ru-RU" dirty="0" smtClean="0"/>
              <a:t>настоящее </a:t>
            </a:r>
            <a:r>
              <a:rPr lang="ru-RU" dirty="0"/>
              <a:t>время </a:t>
            </a:r>
            <a:r>
              <a:rPr lang="ru-RU" dirty="0" smtClean="0"/>
              <a:t>     исчерпали </a:t>
            </a:r>
            <a:r>
              <a:rPr lang="ru-RU" dirty="0"/>
              <a:t>возможности IPv4 адресации.</a:t>
            </a:r>
          </a:p>
          <a:p>
            <a:pPr lvl="1">
              <a:buNone/>
            </a:pPr>
            <a:r>
              <a:rPr lang="ru-RU" dirty="0" smtClean="0"/>
              <a:t>2).Отсутствие </a:t>
            </a:r>
            <a:r>
              <a:rPr lang="ru-RU" dirty="0"/>
              <a:t>сквозного подключения - чтобы IPv4 существовал так долго, были созданы частная адресация и NAT</a:t>
            </a:r>
            <a:r>
              <a:rPr lang="ru-RU" dirty="0" smtClean="0"/>
              <a:t>.</a:t>
            </a:r>
          </a:p>
          <a:p>
            <a:pPr lvl="1">
              <a:buNone/>
            </a:pPr>
            <a:r>
              <a:rPr lang="ru-RU" dirty="0" smtClean="0"/>
              <a:t> </a:t>
            </a:r>
            <a:r>
              <a:rPr lang="ru-RU" dirty="0"/>
              <a:t>Это положило конец прямой связи с публичной </a:t>
            </a:r>
            <a:r>
              <a:rPr lang="ru-RU" dirty="0" smtClean="0"/>
              <a:t>адресацией</a:t>
            </a:r>
            <a:r>
              <a:rPr lang="ru-RU" dirty="0"/>
              <a:t>.</a:t>
            </a:r>
          </a:p>
          <a:p>
            <a:pPr lvl="1">
              <a:buNone/>
            </a:pPr>
            <a:r>
              <a:rPr lang="ru-RU" dirty="0" smtClean="0"/>
              <a:t>3).Повышенная </a:t>
            </a:r>
            <a:r>
              <a:rPr lang="ru-RU" dirty="0"/>
              <a:t>сложность сети — NAT была задумана как временное решение, она создает такие проблемы в сети как побочный эффект манипулирования адресацией сетевых заголовков</a:t>
            </a:r>
            <a:r>
              <a:rPr lang="ru-RU" dirty="0" smtClean="0"/>
              <a:t>.</a:t>
            </a:r>
          </a:p>
          <a:p>
            <a:pPr lvl="1">
              <a:buNone/>
            </a:pPr>
            <a:r>
              <a:rPr lang="ru-RU" dirty="0" smtClean="0"/>
              <a:t> </a:t>
            </a:r>
            <a:r>
              <a:rPr lang="ru-RU" dirty="0"/>
              <a:t>NAT вызывает проблемы с задержкой и устранением неполадок.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890053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7030A0"/>
                </a:solidFill>
              </a:rPr>
              <a:t>ОбзорIPv6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836712"/>
            <a:ext cx="8568952" cy="568863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IPv6 преодолевает ограничения IPv4.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Преимущества, которые обеспечивает IPv6: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Увеличено адресное пространство </a:t>
            </a:r>
            <a:r>
              <a:rPr lang="ru-RU" dirty="0"/>
              <a:t>— на основе 128-битного адреса, а не 32 битного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Улучшенная обработка пакетов. </a:t>
            </a:r>
            <a:r>
              <a:rPr lang="ru-RU" dirty="0"/>
              <a:t>Структура заголовка IPv6 была упрощена благодаря уменьшению количества полей.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Устраняет необходимость в NAT </a:t>
            </a:r>
            <a:r>
              <a:rPr lang="ru-RU" dirty="0"/>
              <a:t>— поскольку существует огромное количество адресации, нет необходимости использовать частную адресацию внутри и сопоставляться с общим публичным адресом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96493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7030A0"/>
                </a:solidFill>
              </a:rPr>
              <a:t>Преобразование </a:t>
            </a:r>
            <a:r>
              <a:rPr lang="en-US" dirty="0" smtClean="0">
                <a:solidFill>
                  <a:srgbClr val="7030A0"/>
                </a:solidFill>
              </a:rPr>
              <a:t>IP4</a:t>
            </a:r>
            <a:r>
              <a:rPr lang="ru-RU" dirty="0" smtClean="0">
                <a:solidFill>
                  <a:srgbClr val="7030A0"/>
                </a:solidFill>
              </a:rPr>
              <a:t> в</a:t>
            </a:r>
            <a:r>
              <a:rPr lang="en-US" dirty="0" smtClean="0">
                <a:solidFill>
                  <a:srgbClr val="7030A0"/>
                </a:solidFill>
              </a:rPr>
              <a:t> I</a:t>
            </a:r>
            <a:r>
              <a:rPr lang="ru-RU" dirty="0" smtClean="0">
                <a:solidFill>
                  <a:srgbClr val="7030A0"/>
                </a:solidFill>
              </a:rPr>
              <a:t>Р</a:t>
            </a:r>
            <a:r>
              <a:rPr lang="en-US" dirty="0" smtClean="0">
                <a:solidFill>
                  <a:srgbClr val="7030A0"/>
                </a:solidFill>
              </a:rPr>
              <a:t>6</a:t>
            </a:r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78178" name="Picture 2" descr="C:\Users\Юра\Desktop\сетевые протоколы\Изображения\Лекция_5_Стек_протоколов_TCP_IP\9) Преобразование IPv6 в IPv4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4900" y="1986756"/>
            <a:ext cx="6934200" cy="3752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60648"/>
            <a:ext cx="8686800" cy="706090"/>
          </a:xfrm>
        </p:spPr>
        <p:txBody>
          <a:bodyPr>
            <a:noAutofit/>
          </a:bodyPr>
          <a:lstStyle/>
          <a:p>
            <a:r>
              <a:rPr lang="ru-RU" sz="2800" dirty="0">
                <a:solidFill>
                  <a:srgbClr val="7030A0"/>
                </a:solidFill>
              </a:rPr>
              <a:t>IPv6 Поля заголовков пакетов IPv4 в заголовке пакетов IPv6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006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Заголовок IPv6 упрощен, но не меньше по размеру.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02060"/>
                </a:solidFill>
              </a:rPr>
              <a:t>Заголовок фиксируется с длиной 40 байт или октетов</a:t>
            </a:r>
            <a:r>
              <a:rPr lang="ru-RU" sz="2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 smtClean="0"/>
              <a:t>Некоторые </a:t>
            </a:r>
            <a:r>
              <a:rPr lang="ru-RU" sz="2800" dirty="0"/>
              <a:t>поля IPv4 были удалены для повышения производительности:</a:t>
            </a:r>
          </a:p>
          <a:p>
            <a:pPr lvl="1"/>
            <a:r>
              <a:rPr lang="ru-RU" dirty="0"/>
              <a:t>Флаг</a:t>
            </a:r>
          </a:p>
          <a:p>
            <a:pPr lvl="1"/>
            <a:r>
              <a:rPr lang="ru-RU" dirty="0"/>
              <a:t>Смещение фрагмента</a:t>
            </a:r>
          </a:p>
          <a:p>
            <a:pPr lvl="1"/>
            <a:r>
              <a:rPr lang="ru-RU" dirty="0"/>
              <a:t>Контрольная сумма заголовка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79647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IPv6 Поля заголовков пакетов IPv4 в заголовке пакетов IPv6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018" y="1737360"/>
            <a:ext cx="5403668" cy="4666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2809400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6" name="Picture 2" descr="C:\Users\Юра\Downloads\формаи ип пак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8640"/>
            <a:ext cx="8964488" cy="64087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ru-RU" dirty="0"/>
              <a:t>Заголовок пакета IPv6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052737"/>
            <a:ext cx="8784976" cy="64807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sz="4000" dirty="0"/>
              <a:t>Среди наиболее важных полей в заголовке IPv4 можно выделить следующие.</a:t>
            </a:r>
          </a:p>
          <a:p>
            <a:pPr lvl="1"/>
            <a:endParaRPr lang="en-CA" altLang="en-US" dirty="0"/>
          </a:p>
          <a:p>
            <a:endParaRPr lang="ru-RU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784177352"/>
              </p:ext>
            </p:extLst>
          </p:nvPr>
        </p:nvGraphicFramePr>
        <p:xfrm>
          <a:off x="251520" y="1772815"/>
          <a:ext cx="8892480" cy="5085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73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951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0420">
                <a:tc>
                  <a:txBody>
                    <a:bodyPr/>
                    <a:lstStyle/>
                    <a:p>
                      <a:pPr rtl="0"/>
                      <a:r>
                        <a:rPr lang="ru-RU" dirty="0"/>
                        <a:t>Функция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dirty="0"/>
                        <a:t>Описание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0420">
                <a:tc>
                  <a:txBody>
                    <a:bodyPr/>
                    <a:lstStyle/>
                    <a:p>
                      <a:pPr rtl="0"/>
                      <a:r>
                        <a:rPr lang="ru-RU" b="1"/>
                        <a:t>Версия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/>
                        <a:t>Это</a:t>
                      </a:r>
                      <a:r>
                        <a:rPr lang="ru-RU" baseline="0"/>
                        <a:t> для IPv6, в отличие от v4, 4-битное поле = 0110 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6959">
                <a:tc>
                  <a:txBody>
                    <a:bodyPr/>
                    <a:lstStyle/>
                    <a:p>
                      <a:pPr rtl="0"/>
                      <a:r>
                        <a:rPr lang="ru-RU" b="1"/>
                        <a:t>Класс трафика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/>
                        <a:t>Используется для QoS</a:t>
                      </a:r>
                      <a:r>
                        <a:rPr lang="ru-RU" baseline="0"/>
                        <a:t>: эквивалентно поле DiffServ — DS 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83235">
                <a:tc>
                  <a:txBody>
                    <a:bodyPr/>
                    <a:lstStyle/>
                    <a:p>
                      <a:pPr rtl="0"/>
                      <a:r>
                        <a:rPr lang="ru-RU" b="1"/>
                        <a:t>Метка потока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baseline="0"/>
                        <a:t>Сообщает устройству обрабатывать идентичные метки потока таким же образом, </a:t>
                      </a:r>
                      <a:r>
                        <a:rPr lang="ru-RU"/>
                        <a:t>20-битное поле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83235">
                <a:tc>
                  <a:txBody>
                    <a:bodyPr/>
                    <a:lstStyle/>
                    <a:p>
                      <a:pPr rtl="0"/>
                      <a:r>
                        <a:rPr lang="ru-RU" b="1"/>
                        <a:t>Длина полезной нагрузки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/>
                        <a:t>Это 16-битное поле указывает длину блока данных или полезной нагрузки пакета IPv6.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70039">
                <a:tc>
                  <a:txBody>
                    <a:bodyPr/>
                    <a:lstStyle/>
                    <a:p>
                      <a:pPr rtl="0"/>
                      <a:r>
                        <a:rPr lang="ru-RU" b="1"/>
                        <a:t>Следующий заголовок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dirty="0" err="1"/>
                        <a:t>I.D.s</a:t>
                      </a:r>
                      <a:r>
                        <a:rPr lang="ru-RU" baseline="0" dirty="0"/>
                        <a:t> протокол следующего уровня: ICMP, TCP, UDP и т.д.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66959">
                <a:tc>
                  <a:txBody>
                    <a:bodyPr/>
                    <a:lstStyle/>
                    <a:p>
                      <a:pPr rtl="0"/>
                      <a:r>
                        <a:rPr lang="ru-RU" b="1"/>
                        <a:t>Предел переходов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/>
                        <a:t>Заменяет</a:t>
                      </a:r>
                      <a:r>
                        <a:rPr lang="ru-RU" baseline="0"/>
                        <a:t> поле TTL </a:t>
                      </a:r>
                      <a:r>
                        <a:rPr lang="ru-RU"/>
                        <a:t>Счетчик переходов уровня 3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66959">
                <a:tc>
                  <a:txBody>
                    <a:bodyPr/>
                    <a:lstStyle/>
                    <a:p>
                      <a:pPr rtl="0"/>
                      <a:r>
                        <a:rPr lang="ru-RU" b="1"/>
                        <a:t>IPv4-адрес источника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dirty="0"/>
                        <a:t>128-битный адрес источника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66959">
                <a:tc>
                  <a:txBody>
                    <a:bodyPr/>
                    <a:lstStyle/>
                    <a:p>
                      <a:pPr rtl="0"/>
                      <a:r>
                        <a:rPr lang="ru-RU" b="1"/>
                        <a:t>IP-адрес назначения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dirty="0"/>
                        <a:t>128-битный</a:t>
                      </a:r>
                      <a:r>
                        <a:rPr lang="ru-RU" baseline="0" dirty="0"/>
                        <a:t> </a:t>
                      </a:r>
                      <a:r>
                        <a:rPr lang="ru-RU" baseline="0" dirty="0" smtClean="0"/>
                        <a:t>адрес </a:t>
                      </a:r>
                      <a:r>
                        <a:rPr lang="ru-RU" dirty="0" smtClean="0"/>
                        <a:t>назначения</a:t>
                      </a:r>
                      <a:endParaRPr lang="ru-RU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493971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7030A0"/>
                </a:solidFill>
              </a:rPr>
              <a:t>Заголовок пакета IPv6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800" dirty="0"/>
              <a:t>IPv6 пакет также может содержать заголовки расширений (EH). </a:t>
            </a:r>
          </a:p>
          <a:p>
            <a:pPr marL="0" indent="0">
              <a:buNone/>
            </a:pPr>
            <a:r>
              <a:rPr lang="ru-RU" sz="2800" dirty="0"/>
              <a:t>Характеристики заголовков EH: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предоставляют дополнительную информацию о сетевом уровне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являются необязательными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помещаются между заголовком IPv6 и полезной нагрузкой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используются для фрагментации, обеспечения безопасности, поддержки мобильности и многого другого.</a:t>
            </a:r>
          </a:p>
          <a:p>
            <a:pPr lvl="1"/>
            <a:endParaRPr lang="en-CA" altLang="en-US" dirty="0"/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471243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892480" cy="850106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rgbClr val="7030A0"/>
                </a:solidFill>
              </a:rPr>
              <a:t>Решение о переадресации пакетов узлом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24744"/>
            <a:ext cx="8686800" cy="554461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Пакеты всегда создаются в источнике.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Каждое хост-устройство создает свою собственную таблицу маршрутизации.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Хост может отправлять пакеты следующим образом:</a:t>
            </a:r>
          </a:p>
          <a:p>
            <a:pPr lvl="1"/>
            <a:r>
              <a:rPr lang="ru-RU" dirty="0"/>
              <a:t>Сам — 127.0.0.1 (IPv4),: :1 (IPv6)</a:t>
            </a:r>
          </a:p>
          <a:p>
            <a:pPr lvl="1"/>
            <a:r>
              <a:rPr lang="ru-RU" dirty="0"/>
              <a:t>Локальные узлы — место назначения находится в одной локальной сети</a:t>
            </a:r>
          </a:p>
          <a:p>
            <a:pPr lvl="1"/>
            <a:r>
              <a:rPr lang="ru-RU" dirty="0"/>
              <a:t>Удаленные хосты — устройства не находятся в одной локальной сети 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="" xmlns:p14="http://schemas.microsoft.com/office/powerpoint/2010/main" val="3722617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964488" cy="1143000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Согласование технологий </a:t>
            </a:r>
            <a:r>
              <a:rPr lang="en-US" sz="3600" dirty="0" smtClean="0">
                <a:solidFill>
                  <a:srgbClr val="7030A0"/>
                </a:solidFill>
              </a:rPr>
              <a:t>IP4</a:t>
            </a:r>
            <a:r>
              <a:rPr lang="ru-RU" sz="3600" dirty="0" smtClean="0">
                <a:solidFill>
                  <a:srgbClr val="7030A0"/>
                </a:solidFill>
              </a:rPr>
              <a:t> и </a:t>
            </a:r>
            <a:r>
              <a:rPr lang="en-US" sz="3600" dirty="0" smtClean="0">
                <a:solidFill>
                  <a:srgbClr val="7030A0"/>
                </a:solidFill>
              </a:rPr>
              <a:t> IP6</a:t>
            </a:r>
            <a:r>
              <a:rPr lang="ru-RU" sz="3600" dirty="0" smtClean="0">
                <a:solidFill>
                  <a:srgbClr val="7030A0"/>
                </a:solidFill>
              </a:rPr>
              <a:t/>
            </a:r>
            <a:br>
              <a:rPr lang="ru-RU" sz="3600" dirty="0" smtClean="0">
                <a:solidFill>
                  <a:srgbClr val="7030A0"/>
                </a:solidFill>
              </a:rPr>
            </a:br>
            <a:r>
              <a:rPr lang="ru-RU" sz="3600" dirty="0" smtClean="0">
                <a:solidFill>
                  <a:srgbClr val="7030A0"/>
                </a:solidFill>
              </a:rPr>
              <a:t> путем </a:t>
            </a:r>
            <a:r>
              <a:rPr lang="ru-RU" sz="3600" dirty="0" err="1" smtClean="0">
                <a:solidFill>
                  <a:srgbClr val="7030A0"/>
                </a:solidFill>
              </a:rPr>
              <a:t>туннелирования</a:t>
            </a:r>
            <a:r>
              <a:rPr lang="ru-RU" sz="3600" dirty="0" smtClean="0">
                <a:solidFill>
                  <a:srgbClr val="7030A0"/>
                </a:solidFill>
              </a:rPr>
              <a:t> (инкапсуляции)</a:t>
            </a:r>
            <a:endParaRPr lang="ru-RU" sz="3600" dirty="0">
              <a:solidFill>
                <a:srgbClr val="7030A0"/>
              </a:solidFill>
            </a:endParaRPr>
          </a:p>
        </p:txBody>
      </p:sp>
      <p:pic>
        <p:nvPicPr>
          <p:cNvPr id="179202" name="Picture 2" descr="C:\Users\Юра\Desktop\сетевые протоколы\Изображения\Лекция_5_Стек_протоколов_TCP_IP\10) Согласование технологий IPv4 и IPv6 путем туннелирования (инкапсуляции)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628800"/>
            <a:ext cx="8640960" cy="48965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712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rgbClr val="7030A0"/>
                </a:solidFill>
              </a:rPr>
              <a:t>Решение о переадресации пакетов узлом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836712"/>
            <a:ext cx="8676456" cy="5832648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Исходное устройство определяет, является ли место назначения локальным или удаленным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i="1" dirty="0">
                <a:solidFill>
                  <a:srgbClr val="002060"/>
                </a:solidFill>
              </a:rPr>
              <a:t>Метод определения: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800" dirty="0"/>
              <a:t>IPv4 — Источник использует свой собственный IP-адрес и маску подсети, а также IP-адрес назначения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800" dirty="0"/>
              <a:t>IPv6 — Источник использует сетевой адрес и префикс, объявленные локальным маршрутизатором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Локальный трафик сбрасывается из интерфейса хоста для обработки промежуточным устройством.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Удаленный трафик перенаправляется непосредственно на шлюз по умолчанию в локальной сети.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409417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1620</TotalTime>
  <Words>5026</Words>
  <Application>Microsoft Office PowerPoint</Application>
  <PresentationFormat>Экран (4:3)</PresentationFormat>
  <Paragraphs>522</Paragraphs>
  <Slides>78</Slides>
  <Notes>2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78</vt:i4>
      </vt:variant>
    </vt:vector>
  </HeadingPairs>
  <TitlesOfParts>
    <vt:vector size="81" baseType="lpstr">
      <vt:lpstr>Тема Office</vt:lpstr>
      <vt:lpstr>Точечный рисунок</vt:lpstr>
      <vt:lpstr>VISIO</vt:lpstr>
      <vt:lpstr>6 лекция  IP протокол Формат кадра  Маршрутизация IPv4 IPv6 OSPF</vt:lpstr>
      <vt:lpstr>Основные операции  протокола IP  </vt:lpstr>
      <vt:lpstr>Межсетевой уровень(1)</vt:lpstr>
      <vt:lpstr>Межсетевой уровень(2)</vt:lpstr>
      <vt:lpstr>Слайд 5</vt:lpstr>
      <vt:lpstr>IP инкапсуляция</vt:lpstr>
      <vt:lpstr>IP инкапсуляция</vt:lpstr>
      <vt:lpstr>Характеристики протокола IP</vt:lpstr>
      <vt:lpstr>Межсетевой протокол IP</vt:lpstr>
      <vt:lpstr>Характеристики протокола IP</vt:lpstr>
      <vt:lpstr>2.   IP - протокол негарантированной доставки</vt:lpstr>
      <vt:lpstr>3.  IP протокол - независим от среды</vt:lpstr>
      <vt:lpstr>Заголовок пакета IPv4</vt:lpstr>
      <vt:lpstr>Заголовок пакета IPv4  (1)</vt:lpstr>
      <vt:lpstr>Заголовок пакета IPv4 (2)</vt:lpstr>
      <vt:lpstr>Слайд 16</vt:lpstr>
      <vt:lpstr>Формат заголовка пакета IP v.4 (1)</vt:lpstr>
      <vt:lpstr>Формат заголовка  пакета IP (2)</vt:lpstr>
      <vt:lpstr>Формат заголовка пакета IP (3)</vt:lpstr>
      <vt:lpstr>Прием фрагментированного пакета</vt:lpstr>
      <vt:lpstr>Формат заголовка пакета IP (4)</vt:lpstr>
      <vt:lpstr>Формат заголовка пакета IP (5)</vt:lpstr>
      <vt:lpstr>Недостатки   IPv4</vt:lpstr>
      <vt:lpstr>Слайд 24</vt:lpstr>
      <vt:lpstr>Протоколы маршрутизации (1)</vt:lpstr>
      <vt:lpstr>IP-таблица маршрутов </vt:lpstr>
      <vt:lpstr>IP-маршрутизация </vt:lpstr>
      <vt:lpstr>Типы  маршрутов в таблице маршрутизации IP-маршрутизатора</vt:lpstr>
      <vt:lpstr>Протоколы маршрутизации (1)</vt:lpstr>
      <vt:lpstr>Протоколы маршрутизации(2)</vt:lpstr>
      <vt:lpstr>Назначение протоколов маршрутизации(1)</vt:lpstr>
      <vt:lpstr>Назначение протоколов маршрутизации (2)</vt:lpstr>
      <vt:lpstr>Источники и типы записей в таблице маршрутизации </vt:lpstr>
      <vt:lpstr>Маршрутизация без таблиц</vt:lpstr>
      <vt:lpstr>1. Маршрутизация без таблиц</vt:lpstr>
      <vt:lpstr>Маршрутизация  пакетов от источника</vt:lpstr>
      <vt:lpstr>Маршрутизация на основе таблиц</vt:lpstr>
      <vt:lpstr>2.  Маршрутизация на основе таблиц</vt:lpstr>
      <vt:lpstr>Статическая маршрутизация</vt:lpstr>
      <vt:lpstr>Динамическая маршрутизация</vt:lpstr>
      <vt:lpstr>Адаптивная (Динамическая )маршрутизация</vt:lpstr>
      <vt:lpstr>Адаптивные протоколы маршрутизации (1)</vt:lpstr>
      <vt:lpstr>Адаптивные протоколы маршрутизации (2)</vt:lpstr>
      <vt:lpstr>Адаптивные протоколы маршрутизации (3)</vt:lpstr>
      <vt:lpstr>Работа маршрутизации по пересылке пакетов</vt:lpstr>
      <vt:lpstr>Функции маршрутизатора</vt:lpstr>
      <vt:lpstr>Процесс принятия решения об адресации пакетов (1)</vt:lpstr>
      <vt:lpstr>Процесс принятия решения о переадресации пакетов</vt:lpstr>
      <vt:lpstr>3.1 Переадресация пакета на устройство  с прямым подключением к данному маршрутизатору(4)</vt:lpstr>
      <vt:lpstr>Процесс принятия решения о переадресации пакетов</vt:lpstr>
      <vt:lpstr>3.2 Пересылка пакета на маршрутизатор следующего перехода(4)</vt:lpstr>
      <vt:lpstr>3.3 Отбрасывает пакет – нет совпадений в таблице маршрутизации(5)</vt:lpstr>
      <vt:lpstr>Протоколы маршрутизации</vt:lpstr>
      <vt:lpstr>Особенности и характеристики OSPF - протокола маршрутизации по состоянию каналов </vt:lpstr>
      <vt:lpstr>Введение в OSPF (1)</vt:lpstr>
      <vt:lpstr>Введение в OSPF (2)</vt:lpstr>
      <vt:lpstr>Компоненты OSPF</vt:lpstr>
      <vt:lpstr>Компоненты OSPF</vt:lpstr>
      <vt:lpstr>Компоненты OSPF</vt:lpstr>
      <vt:lpstr>Принцип работы маршрутизации по состоянию канала</vt:lpstr>
      <vt:lpstr>Однообластной и многообластной OSPF</vt:lpstr>
      <vt:lpstr>Однообластной и многообластной OSPF(2)</vt:lpstr>
      <vt:lpstr>Типы пакетов OSPF</vt:lpstr>
      <vt:lpstr>Приветствия OSPF</vt:lpstr>
      <vt:lpstr>Рабочие состояния OSPF</vt:lpstr>
      <vt:lpstr>Рабочие состояния OSPF</vt:lpstr>
      <vt:lpstr>Пакеты IPv6</vt:lpstr>
      <vt:lpstr>Ограничения пакетов IPv4</vt:lpstr>
      <vt:lpstr>ОбзорIPv6</vt:lpstr>
      <vt:lpstr>Преобразование IP4 в IР6</vt:lpstr>
      <vt:lpstr>IPv6 Поля заголовков пакетов IPv4 в заголовке пакетов IPv6</vt:lpstr>
      <vt:lpstr>IPv6 Поля заголовков пакетов IPv4 в заголовке пакетов IPv6</vt:lpstr>
      <vt:lpstr>Слайд 73</vt:lpstr>
      <vt:lpstr>Заголовок пакета IPv6</vt:lpstr>
      <vt:lpstr>Заголовок пакета IPv6</vt:lpstr>
      <vt:lpstr>Решение о переадресации пакетов узлом</vt:lpstr>
      <vt:lpstr>Согласование технологий IP4 и  IP6  путем туннелирования (инкапсуляции)</vt:lpstr>
      <vt:lpstr>Решение о переадресации пакетов узлом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 лекция IP протокол Формат кадра  Маршрутизация</dc:title>
  <dc:creator>Настя</dc:creator>
  <cp:lastModifiedBy>Анастасия</cp:lastModifiedBy>
  <cp:revision>240</cp:revision>
  <dcterms:created xsi:type="dcterms:W3CDTF">2022-04-03T18:31:47Z</dcterms:created>
  <dcterms:modified xsi:type="dcterms:W3CDTF">2023-04-27T22:15:45Z</dcterms:modified>
</cp:coreProperties>
</file>