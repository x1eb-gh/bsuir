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9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97.xml" ContentType="application/vnd.openxmlformats-officedocument.presentationml.slide+xml"/>
  <Override PartName="/ppt/slides/slide10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0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gif" ContentType="image/gif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108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10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71" r:id="rId3"/>
    <p:sldId id="472" r:id="rId4"/>
    <p:sldId id="473" r:id="rId5"/>
    <p:sldId id="474" r:id="rId6"/>
    <p:sldId id="475" r:id="rId7"/>
    <p:sldId id="476" r:id="rId8"/>
    <p:sldId id="477" r:id="rId9"/>
    <p:sldId id="500" r:id="rId10"/>
    <p:sldId id="482" r:id="rId11"/>
    <p:sldId id="483" r:id="rId12"/>
    <p:sldId id="484" r:id="rId13"/>
    <p:sldId id="491" r:id="rId14"/>
    <p:sldId id="485" r:id="rId15"/>
    <p:sldId id="489" r:id="rId16"/>
    <p:sldId id="486" r:id="rId17"/>
    <p:sldId id="478" r:id="rId18"/>
    <p:sldId id="479" r:id="rId19"/>
    <p:sldId id="480" r:id="rId20"/>
    <p:sldId id="422" r:id="rId21"/>
    <p:sldId id="421" r:id="rId22"/>
    <p:sldId id="382" r:id="rId23"/>
    <p:sldId id="423" r:id="rId24"/>
    <p:sldId id="424" r:id="rId25"/>
    <p:sldId id="420" r:id="rId26"/>
    <p:sldId id="417" r:id="rId27"/>
    <p:sldId id="384" r:id="rId28"/>
    <p:sldId id="383" r:id="rId29"/>
    <p:sldId id="436" r:id="rId30"/>
    <p:sldId id="447" r:id="rId31"/>
    <p:sldId id="426" r:id="rId32"/>
    <p:sldId id="387" r:id="rId33"/>
    <p:sldId id="427" r:id="rId34"/>
    <p:sldId id="430" r:id="rId35"/>
    <p:sldId id="428" r:id="rId36"/>
    <p:sldId id="429" r:id="rId37"/>
    <p:sldId id="389" r:id="rId38"/>
    <p:sldId id="437" r:id="rId39"/>
    <p:sldId id="399" r:id="rId40"/>
    <p:sldId id="425" r:id="rId41"/>
    <p:sldId id="419" r:id="rId42"/>
    <p:sldId id="401" r:id="rId43"/>
    <p:sldId id="386" r:id="rId44"/>
    <p:sldId id="342" r:id="rId45"/>
    <p:sldId id="449" r:id="rId46"/>
    <p:sldId id="339" r:id="rId47"/>
    <p:sldId id="413" r:id="rId48"/>
    <p:sldId id="408" r:id="rId49"/>
    <p:sldId id="409" r:id="rId50"/>
    <p:sldId id="332" r:id="rId51"/>
    <p:sldId id="333" r:id="rId52"/>
    <p:sldId id="334" r:id="rId53"/>
    <p:sldId id="441" r:id="rId54"/>
    <p:sldId id="439" r:id="rId55"/>
    <p:sldId id="444" r:id="rId56"/>
    <p:sldId id="262" r:id="rId57"/>
    <p:sldId id="442" r:id="rId58"/>
    <p:sldId id="443" r:id="rId59"/>
    <p:sldId id="435" r:id="rId60"/>
    <p:sldId id="406" r:id="rId61"/>
    <p:sldId id="395" r:id="rId62"/>
    <p:sldId id="338" r:id="rId63"/>
    <p:sldId id="438" r:id="rId64"/>
    <p:sldId id="330" r:id="rId65"/>
    <p:sldId id="268" r:id="rId66"/>
    <p:sldId id="267" r:id="rId67"/>
    <p:sldId id="269" r:id="rId68"/>
    <p:sldId id="326" r:id="rId69"/>
    <p:sldId id="345" r:id="rId70"/>
    <p:sldId id="501" r:id="rId71"/>
    <p:sldId id="502" r:id="rId72"/>
    <p:sldId id="503" r:id="rId73"/>
    <p:sldId id="504" r:id="rId74"/>
    <p:sldId id="505" r:id="rId75"/>
    <p:sldId id="506" r:id="rId76"/>
    <p:sldId id="507" r:id="rId77"/>
    <p:sldId id="454" r:id="rId78"/>
    <p:sldId id="451" r:id="rId79"/>
    <p:sldId id="452" r:id="rId80"/>
    <p:sldId id="453" r:id="rId81"/>
    <p:sldId id="431" r:id="rId82"/>
    <p:sldId id="432" r:id="rId83"/>
    <p:sldId id="433" r:id="rId84"/>
    <p:sldId id="434" r:id="rId85"/>
    <p:sldId id="402" r:id="rId86"/>
    <p:sldId id="271" r:id="rId87"/>
    <p:sldId id="272" r:id="rId88"/>
    <p:sldId id="391" r:id="rId89"/>
    <p:sldId id="273" r:id="rId90"/>
    <p:sldId id="403" r:id="rId91"/>
    <p:sldId id="404" r:id="rId92"/>
    <p:sldId id="405" r:id="rId93"/>
    <p:sldId id="274" r:id="rId94"/>
    <p:sldId id="392" r:id="rId95"/>
    <p:sldId id="275" r:id="rId96"/>
    <p:sldId id="348" r:id="rId97"/>
    <p:sldId id="343" r:id="rId98"/>
    <p:sldId id="344" r:id="rId99"/>
    <p:sldId id="281" r:id="rId100"/>
    <p:sldId id="349" r:id="rId101"/>
    <p:sldId id="351" r:id="rId102"/>
    <p:sldId id="407" r:id="rId103"/>
    <p:sldId id="360" r:id="rId104"/>
    <p:sldId id="398" r:id="rId105"/>
    <p:sldId id="282" r:id="rId106"/>
    <p:sldId id="283" r:id="rId107"/>
    <p:sldId id="284" r:id="rId108"/>
    <p:sldId id="285" r:id="rId109"/>
    <p:sldId id="286" r:id="rId110"/>
    <p:sldId id="322" r:id="rId1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0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slide" Target="slides/slide109.xml"/><Relationship Id="rId115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04EAF-1BE8-4470-818F-CF3B512BFCF6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CDBE-0C5B-4D82-9664-02DDDFF5D82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04EAF-1BE8-4470-818F-CF3B512BFCF6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CDBE-0C5B-4D82-9664-02DDDFF5D82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04EAF-1BE8-4470-818F-CF3B512BFCF6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CDBE-0C5B-4D82-9664-02DDDFF5D82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04EAF-1BE8-4470-818F-CF3B512BFCF6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CDBE-0C5B-4D82-9664-02DDDFF5D82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04EAF-1BE8-4470-818F-CF3B512BFCF6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CDBE-0C5B-4D82-9664-02DDDFF5D82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04EAF-1BE8-4470-818F-CF3B512BFCF6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CDBE-0C5B-4D82-9664-02DDDFF5D82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04EAF-1BE8-4470-818F-CF3B512BFCF6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CDBE-0C5B-4D82-9664-02DDDFF5D82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04EAF-1BE8-4470-818F-CF3B512BFCF6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CDBE-0C5B-4D82-9664-02DDDFF5D82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04EAF-1BE8-4470-818F-CF3B512BFCF6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CDBE-0C5B-4D82-9664-02DDDFF5D82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04EAF-1BE8-4470-818F-CF3B512BFCF6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CDBE-0C5B-4D82-9664-02DDDFF5D82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04EAF-1BE8-4470-818F-CF3B512BFCF6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CDBE-0C5B-4D82-9664-02DDDFF5D82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04EAF-1BE8-4470-818F-CF3B512BFCF6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0CDBE-0C5B-4D82-9664-02DDDFF5D82E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gif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gif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rgbClr val="002060"/>
                </a:solidFill>
              </a:rPr>
              <a:t>4.Системы передачи  АТМ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b="1" dirty="0" smtClean="0">
                <a:solidFill>
                  <a:srgbClr val="002060"/>
                </a:solidFill>
              </a:rPr>
              <a:t>Асинхронная транспортная сеть</a:t>
            </a:r>
            <a:endParaRPr lang="ru-RU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Развитие транспортных сетей</a:t>
            </a:r>
            <a:endParaRPr lang="ru-RU" sz="3600" b="1" dirty="0">
              <a:solidFill>
                <a:srgbClr val="002060"/>
              </a:solidFill>
            </a:endParaRPr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l="13911" t="44548" r="9375" b="23250"/>
          <a:stretch>
            <a:fillRect/>
          </a:stretch>
        </p:blipFill>
        <p:spPr bwMode="auto">
          <a:xfrm>
            <a:off x="0" y="1268760"/>
            <a:ext cx="9144000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l="2727" t="5901" b="1115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l="3604" t="6606" r="3604" b="21694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l="2586" t="6742" r="2586" b="8989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Содержимое 5"/>
          <p:cNvPicPr>
            <a:picLocks noGrp="1"/>
          </p:cNvPicPr>
          <p:nvPr>
            <p:ph idx="1"/>
          </p:nvPr>
        </p:nvPicPr>
        <p:blipFill>
          <a:blip r:embed="rId2" cstate="print"/>
          <a:srcRect l="3774" t="5682" r="3774" b="795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t="5042" b="8981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b="7589"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/>
          <p:nvPr/>
        </p:nvPicPr>
        <p:blipFill>
          <a:blip r:embed="rId2" cstate="print"/>
          <a:srcRect l="5865" t="35382" r="6635" b="14951"/>
          <a:stretch>
            <a:fillRect/>
          </a:stretch>
        </p:blipFill>
        <p:spPr bwMode="auto">
          <a:xfrm>
            <a:off x="0" y="1556792"/>
            <a:ext cx="9144000" cy="5301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0"/>
            <a:ext cx="8964488" cy="1417638"/>
          </a:xfrm>
        </p:spPr>
        <p:txBody>
          <a:bodyPr>
            <a:normAutofit fontScale="90000"/>
          </a:bodyPr>
          <a:lstStyle/>
          <a:p>
            <a:r>
              <a:rPr lang="ru-RU" sz="3600" b="1" dirty="0" smtClean="0">
                <a:solidFill>
                  <a:schemeClr val="accent3"/>
                </a:solidFill>
              </a:rPr>
              <a:t>Принцип ATM-мультиплексирования</a:t>
            </a:r>
            <a:br>
              <a:rPr lang="ru-RU" sz="3600" b="1" dirty="0" smtClean="0">
                <a:solidFill>
                  <a:schemeClr val="accent3"/>
                </a:solidFill>
              </a:rPr>
            </a:br>
            <a:r>
              <a:rPr lang="ru-RU" sz="3600" b="1" dirty="0" smtClean="0">
                <a:solidFill>
                  <a:schemeClr val="accent3"/>
                </a:solidFill>
              </a:rPr>
              <a:t> </a:t>
            </a:r>
            <a:r>
              <a:rPr lang="ru-RU" sz="2200" b="1" dirty="0" smtClean="0">
                <a:solidFill>
                  <a:schemeClr val="accent3"/>
                </a:solidFill>
              </a:rPr>
              <a:t>а) структура;    б) поток при временном разделении;</a:t>
            </a:r>
            <a:br>
              <a:rPr lang="ru-RU" sz="2200" b="1" dirty="0" smtClean="0">
                <a:solidFill>
                  <a:schemeClr val="accent3"/>
                </a:solidFill>
              </a:rPr>
            </a:br>
            <a:r>
              <a:rPr lang="ru-RU" sz="2200" b="1" dirty="0" smtClean="0">
                <a:solidFill>
                  <a:schemeClr val="accent3"/>
                </a:solidFill>
              </a:rPr>
              <a:t> в) поток при ATM-мультиплексировании (далее рассматривается)</a:t>
            </a:r>
            <a:endParaRPr lang="ru-RU" sz="2200" b="1" dirty="0">
              <a:solidFill>
                <a:schemeClr val="accent3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12642" name="Picture 2" descr="Принцип ATM-мультиплексирования а) структура; б) поток при временном разделении; в) поток при ATM-мультиплексировании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484784"/>
            <a:ext cx="9144000" cy="537321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114300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chemeClr val="accent3"/>
                </a:solidFill>
              </a:rPr>
              <a:t>Принцип ATM-мультиплексирования</a:t>
            </a:r>
            <a:br>
              <a:rPr lang="ru-RU" sz="3200" b="1" dirty="0" smtClean="0">
                <a:solidFill>
                  <a:schemeClr val="accent3"/>
                </a:solidFill>
              </a:rPr>
            </a:br>
            <a:r>
              <a:rPr lang="ru-RU" sz="3200" b="1" dirty="0" smtClean="0">
                <a:solidFill>
                  <a:schemeClr val="accent3"/>
                </a:solidFill>
              </a:rPr>
              <a:t> б) поток при временном разделении;</a:t>
            </a:r>
            <a:endParaRPr lang="ru-RU" sz="3200" b="1" dirty="0">
              <a:solidFill>
                <a:schemeClr val="accent3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196752"/>
            <a:ext cx="9144000" cy="5661248"/>
          </a:xfrm>
        </p:spPr>
        <p:txBody>
          <a:bodyPr>
            <a:noAutofit/>
          </a:bodyPr>
          <a:lstStyle/>
          <a:p>
            <a:r>
              <a:rPr lang="ru-RU" sz="2400" dirty="0" smtClean="0">
                <a:solidFill>
                  <a:schemeClr val="accent3"/>
                </a:solidFill>
              </a:rPr>
              <a:t>На входы мультиплексора поступает различная </a:t>
            </a:r>
            <a:r>
              <a:rPr lang="ru-RU" sz="2400" i="1" dirty="0" smtClean="0">
                <a:solidFill>
                  <a:schemeClr val="accent3"/>
                </a:solidFill>
              </a:rPr>
              <a:t>информация</a:t>
            </a:r>
            <a:r>
              <a:rPr lang="ru-RU" sz="2400" dirty="0" smtClean="0">
                <a:solidFill>
                  <a:schemeClr val="accent3"/>
                </a:solidFill>
              </a:rPr>
              <a:t>.</a:t>
            </a:r>
          </a:p>
          <a:p>
            <a:r>
              <a:rPr lang="ru-RU" sz="2400" dirty="0" smtClean="0">
                <a:solidFill>
                  <a:schemeClr val="accent3"/>
                </a:solidFill>
              </a:rPr>
              <a:t> </a:t>
            </a:r>
            <a:r>
              <a:rPr lang="ru-RU" sz="2400" b="1" dirty="0" smtClean="0">
                <a:solidFill>
                  <a:schemeClr val="accent3"/>
                </a:solidFill>
              </a:rPr>
              <a:t>При методе ВРК </a:t>
            </a:r>
            <a:r>
              <a:rPr lang="ru-RU" sz="2400" dirty="0" smtClean="0">
                <a:solidFill>
                  <a:schemeClr val="accent3"/>
                </a:solidFill>
              </a:rPr>
              <a:t>информационный </a:t>
            </a:r>
            <a:r>
              <a:rPr lang="ru-RU" sz="2400" i="1" dirty="0" smtClean="0">
                <a:solidFill>
                  <a:schemeClr val="accent3"/>
                </a:solidFill>
              </a:rPr>
              <a:t>поток</a:t>
            </a:r>
            <a:r>
              <a:rPr lang="ru-RU" sz="2400" dirty="0" smtClean="0">
                <a:solidFill>
                  <a:schemeClr val="accent3"/>
                </a:solidFill>
              </a:rPr>
              <a:t> периодически последовательно опрашивается </a:t>
            </a:r>
            <a:r>
              <a:rPr lang="ru-RU" sz="2400" i="1" dirty="0" smtClean="0">
                <a:solidFill>
                  <a:schemeClr val="accent3"/>
                </a:solidFill>
              </a:rPr>
              <a:t>по</a:t>
            </a:r>
            <a:r>
              <a:rPr lang="ru-RU" sz="2400" dirty="0" smtClean="0">
                <a:solidFill>
                  <a:schemeClr val="accent3"/>
                </a:solidFill>
              </a:rPr>
              <a:t> порядок номеров портов:</a:t>
            </a:r>
          </a:p>
          <a:p>
            <a:pPr>
              <a:buNone/>
            </a:pPr>
            <a:r>
              <a:rPr lang="ru-RU" sz="2400" dirty="0" smtClean="0">
                <a:solidFill>
                  <a:schemeClr val="accent3"/>
                </a:solidFill>
              </a:rPr>
              <a:t>         - </a:t>
            </a:r>
            <a:r>
              <a:rPr lang="ru-RU" sz="2400" b="1" dirty="0" smtClean="0">
                <a:solidFill>
                  <a:schemeClr val="accent3"/>
                </a:solidFill>
              </a:rPr>
              <a:t>Если имеется </a:t>
            </a:r>
            <a:r>
              <a:rPr lang="ru-RU" sz="2400" b="1" i="1" dirty="0" smtClean="0">
                <a:solidFill>
                  <a:schemeClr val="accent3"/>
                </a:solidFill>
              </a:rPr>
              <a:t>информация</a:t>
            </a:r>
            <a:r>
              <a:rPr lang="ru-RU" sz="2400" dirty="0" smtClean="0">
                <a:solidFill>
                  <a:schemeClr val="accent3"/>
                </a:solidFill>
              </a:rPr>
              <a:t>, то она передается в канал в виде блока информации, занимающего определенную временную позицию.</a:t>
            </a:r>
          </a:p>
          <a:p>
            <a:pPr>
              <a:buNone/>
            </a:pPr>
            <a:r>
              <a:rPr lang="ru-RU" sz="2400" b="1" dirty="0" smtClean="0">
                <a:solidFill>
                  <a:schemeClr val="accent3"/>
                </a:solidFill>
              </a:rPr>
              <a:t>        - Если </a:t>
            </a:r>
            <a:r>
              <a:rPr lang="ru-RU" sz="2400" b="1" i="1" dirty="0" smtClean="0">
                <a:solidFill>
                  <a:schemeClr val="accent3"/>
                </a:solidFill>
              </a:rPr>
              <a:t>информация</a:t>
            </a:r>
            <a:r>
              <a:rPr lang="ru-RU" sz="2400" b="1" dirty="0" smtClean="0">
                <a:solidFill>
                  <a:schemeClr val="accent3"/>
                </a:solidFill>
              </a:rPr>
              <a:t> отсутствует</a:t>
            </a:r>
            <a:r>
              <a:rPr lang="ru-RU" sz="2400" dirty="0" smtClean="0">
                <a:solidFill>
                  <a:schemeClr val="accent3"/>
                </a:solidFill>
              </a:rPr>
              <a:t>, то этот блок уходит в канал "пусто" либо в канал, заполненный служебной информацией.</a:t>
            </a:r>
          </a:p>
          <a:p>
            <a:r>
              <a:rPr lang="ru-RU" sz="2400" b="1" dirty="0" smtClean="0">
                <a:solidFill>
                  <a:schemeClr val="accent3"/>
                </a:solidFill>
              </a:rPr>
              <a:t>Система с опросом ориентирована на постоянное соединение с каналом, поскольку передает непосредственно информацию от источника.</a:t>
            </a:r>
          </a:p>
          <a:p>
            <a:r>
              <a:rPr lang="ru-RU" sz="2400" dirty="0" smtClean="0">
                <a:solidFill>
                  <a:schemeClr val="accent3"/>
                </a:solidFill>
              </a:rPr>
              <a:t>В этом случае при небольшой плотности передаваемой информации большие ресурсы сети загружены непроизводительно.</a:t>
            </a:r>
          </a:p>
          <a:p>
            <a:r>
              <a:rPr lang="ru-RU" sz="2400" dirty="0" smtClean="0"/>
              <a:t> </a:t>
            </a:r>
            <a:endParaRPr lang="ru-RU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706090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chemeClr val="accent3"/>
                </a:solidFill>
              </a:rPr>
              <a:t>Принцип ATM-мультиплексирования</a:t>
            </a:r>
            <a:endParaRPr lang="ru-RU" sz="3600" dirty="0">
              <a:solidFill>
                <a:schemeClr val="accent3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124744"/>
            <a:ext cx="8964488" cy="5733256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 smtClean="0">
                <a:solidFill>
                  <a:schemeClr val="accent3"/>
                </a:solidFill>
              </a:rPr>
              <a:t>Достоинством системы с ВРК</a:t>
            </a:r>
            <a:r>
              <a:rPr lang="ru-RU" dirty="0" smtClean="0">
                <a:solidFill>
                  <a:schemeClr val="accent3"/>
                </a:solidFill>
              </a:rPr>
              <a:t> является минимальная задержка информации, которая определяется циклом опроса.</a:t>
            </a:r>
          </a:p>
          <a:p>
            <a:r>
              <a:rPr lang="ru-RU" b="1" dirty="0" smtClean="0">
                <a:solidFill>
                  <a:schemeClr val="accent3"/>
                </a:solidFill>
              </a:rPr>
              <a:t>Недостатком системы с ВРК</a:t>
            </a:r>
            <a:r>
              <a:rPr lang="ru-RU" dirty="0" smtClean="0">
                <a:solidFill>
                  <a:schemeClr val="accent3"/>
                </a:solidFill>
              </a:rPr>
              <a:t> является задержка информации при большой нагрузке, связанная с пребыванием в очереди.</a:t>
            </a:r>
          </a:p>
          <a:p>
            <a:r>
              <a:rPr lang="ru-RU" dirty="0" smtClean="0">
                <a:solidFill>
                  <a:schemeClr val="accent3"/>
                </a:solidFill>
              </a:rPr>
              <a:t> Этот недостаток уменьшается принятыми </a:t>
            </a:r>
            <a:r>
              <a:rPr lang="ru-RU" b="1" dirty="0" smtClean="0">
                <a:solidFill>
                  <a:schemeClr val="accent3"/>
                </a:solidFill>
              </a:rPr>
              <a:t>стратегиями ведения очередей и структурой коммутаторов </a:t>
            </a:r>
            <a:r>
              <a:rPr lang="ru-RU" b="1" i="1" dirty="0" smtClean="0">
                <a:solidFill>
                  <a:schemeClr val="accent3"/>
                </a:solidFill>
              </a:rPr>
              <a:t>ATM</a:t>
            </a:r>
            <a:r>
              <a:rPr lang="ru-RU" b="1" dirty="0" smtClean="0">
                <a:solidFill>
                  <a:schemeClr val="accent3"/>
                </a:solidFill>
              </a:rPr>
              <a:t>.</a:t>
            </a:r>
          </a:p>
          <a:p>
            <a:r>
              <a:rPr lang="ru-RU" dirty="0" smtClean="0">
                <a:solidFill>
                  <a:schemeClr val="accent3"/>
                </a:solidFill>
              </a:rPr>
              <a:t> Применение методов, ориентированных на соединение, позволяет уменьшить объем служебной информации, связанной с адресацией, а фиксированная сравнительно короткая величина пакета уменьшает время пребывания в очереди.</a:t>
            </a:r>
          </a:p>
          <a:p>
            <a:endParaRPr lang="ru-RU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994122"/>
          </a:xfrm>
        </p:spPr>
        <p:txBody>
          <a:bodyPr>
            <a:normAutofit fontScale="90000"/>
          </a:bodyPr>
          <a:lstStyle/>
          <a:p>
            <a:r>
              <a:rPr lang="ru-RU" sz="3600" b="1" dirty="0" smtClean="0">
                <a:solidFill>
                  <a:schemeClr val="accent3"/>
                </a:solidFill>
              </a:rPr>
              <a:t>Принцип ATM-мультиплексирования</a:t>
            </a:r>
            <a:br>
              <a:rPr lang="ru-RU" sz="3600" b="1" dirty="0" smtClean="0">
                <a:solidFill>
                  <a:schemeClr val="accent3"/>
                </a:solidFill>
              </a:rPr>
            </a:br>
            <a:r>
              <a:rPr lang="ru-RU" sz="3600" dirty="0" smtClean="0">
                <a:solidFill>
                  <a:schemeClr val="accent3"/>
                </a:solidFill>
              </a:rPr>
              <a:t> </a:t>
            </a:r>
            <a:r>
              <a:rPr lang="ru-RU" sz="3600" b="1" dirty="0" smtClean="0">
                <a:solidFill>
                  <a:schemeClr val="accent3"/>
                </a:solidFill>
              </a:rPr>
              <a:t>в) поток при ATM - </a:t>
            </a:r>
            <a:r>
              <a:rPr lang="ru-RU" sz="3600" b="1" dirty="0" err="1" smtClean="0">
                <a:solidFill>
                  <a:schemeClr val="accent3"/>
                </a:solidFill>
              </a:rPr>
              <a:t>мультиплексировани</a:t>
            </a:r>
            <a:endParaRPr lang="ru-RU" sz="3600" b="1" dirty="0">
              <a:solidFill>
                <a:schemeClr val="accent3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 smtClean="0">
                <a:solidFill>
                  <a:schemeClr val="accent3"/>
                </a:solidFill>
              </a:rPr>
              <a:t>При пакетной коммутации ( рис. в) </a:t>
            </a:r>
            <a:r>
              <a:rPr lang="ru-RU" b="1" i="1" dirty="0" smtClean="0">
                <a:solidFill>
                  <a:schemeClr val="accent3"/>
                </a:solidFill>
              </a:rPr>
              <a:t>мультиплексор</a:t>
            </a:r>
            <a:r>
              <a:rPr lang="ru-RU" b="1" dirty="0" smtClean="0">
                <a:solidFill>
                  <a:schemeClr val="accent3"/>
                </a:solidFill>
              </a:rPr>
              <a:t> размещает полученную информацию в одну или несколько очередей (промежуточный </a:t>
            </a:r>
            <a:r>
              <a:rPr lang="ru-RU" b="1" i="1" dirty="0" smtClean="0">
                <a:solidFill>
                  <a:schemeClr val="accent3"/>
                </a:solidFill>
              </a:rPr>
              <a:t>буфер</a:t>
            </a:r>
            <a:r>
              <a:rPr lang="ru-RU" b="1" dirty="0" smtClean="0">
                <a:solidFill>
                  <a:schemeClr val="accent3"/>
                </a:solidFill>
              </a:rPr>
              <a:t>) </a:t>
            </a:r>
            <a:r>
              <a:rPr lang="ru-RU" dirty="0" smtClean="0">
                <a:solidFill>
                  <a:schemeClr val="accent3"/>
                </a:solidFill>
              </a:rPr>
              <a:t>и обслуживает эту </a:t>
            </a:r>
            <a:r>
              <a:rPr lang="ru-RU" i="1" dirty="0" smtClean="0">
                <a:solidFill>
                  <a:schemeClr val="accent3"/>
                </a:solidFill>
              </a:rPr>
              <a:t>очередь</a:t>
            </a:r>
            <a:r>
              <a:rPr lang="ru-RU" dirty="0" smtClean="0">
                <a:solidFill>
                  <a:schemeClr val="accent3"/>
                </a:solidFill>
              </a:rPr>
              <a:t> в соответствии с заданной стратегией, которая определяет порядок считывания поступивших ячеек.</a:t>
            </a:r>
          </a:p>
          <a:p>
            <a:r>
              <a:rPr lang="ru-RU" dirty="0" smtClean="0">
                <a:solidFill>
                  <a:schemeClr val="accent3"/>
                </a:solidFill>
              </a:rPr>
              <a:t> При передаче формируется пакет (в </a:t>
            </a:r>
            <a:r>
              <a:rPr lang="ru-RU" i="1" dirty="0" smtClean="0">
                <a:solidFill>
                  <a:schemeClr val="accent3"/>
                </a:solidFill>
              </a:rPr>
              <a:t>ATM</a:t>
            </a:r>
            <a:r>
              <a:rPr lang="ru-RU" dirty="0" smtClean="0">
                <a:solidFill>
                  <a:schemeClr val="accent3"/>
                </a:solidFill>
              </a:rPr>
              <a:t> ограниченной длины — 53 байта), в котором передается все сообщение или часть его.</a:t>
            </a:r>
          </a:p>
          <a:p>
            <a:r>
              <a:rPr lang="ru-RU" dirty="0" smtClean="0">
                <a:solidFill>
                  <a:schemeClr val="accent3"/>
                </a:solidFill>
              </a:rPr>
              <a:t> </a:t>
            </a:r>
            <a:r>
              <a:rPr lang="ru-RU" b="1" dirty="0" smtClean="0">
                <a:solidFill>
                  <a:schemeClr val="accent3"/>
                </a:solidFill>
              </a:rPr>
              <a:t>Если далее </a:t>
            </a:r>
            <a:r>
              <a:rPr lang="ru-RU" b="1" i="1" dirty="0" smtClean="0">
                <a:solidFill>
                  <a:schemeClr val="accent3"/>
                </a:solidFill>
              </a:rPr>
              <a:t>очередь</a:t>
            </a:r>
            <a:r>
              <a:rPr lang="ru-RU" b="1" dirty="0" smtClean="0">
                <a:solidFill>
                  <a:schemeClr val="accent3"/>
                </a:solidFill>
              </a:rPr>
              <a:t> (</a:t>
            </a:r>
            <a:r>
              <a:rPr lang="ru-RU" b="1" i="1" dirty="0" smtClean="0">
                <a:solidFill>
                  <a:schemeClr val="accent3"/>
                </a:solidFill>
              </a:rPr>
              <a:t>буфер</a:t>
            </a:r>
            <a:r>
              <a:rPr lang="ru-RU" b="1" dirty="0" smtClean="0">
                <a:solidFill>
                  <a:schemeClr val="accent3"/>
                </a:solidFill>
              </a:rPr>
              <a:t>) пустая, то соединение разъединяется и свободно для другого соединения</a:t>
            </a:r>
            <a:r>
              <a:rPr lang="ru-RU" dirty="0" smtClean="0">
                <a:solidFill>
                  <a:schemeClr val="accent3"/>
                </a:solidFill>
              </a:rPr>
              <a:t>.</a:t>
            </a:r>
          </a:p>
          <a:p>
            <a:r>
              <a:rPr lang="ru-RU" dirty="0" smtClean="0">
                <a:solidFill>
                  <a:schemeClr val="accent3"/>
                </a:solidFill>
              </a:rPr>
              <a:t> Таким образом, этот метод обеспечивает меньшую нагрузку на </a:t>
            </a:r>
            <a:r>
              <a:rPr lang="ru-RU" i="1" dirty="0" smtClean="0">
                <a:solidFill>
                  <a:schemeClr val="accent3"/>
                </a:solidFill>
              </a:rPr>
              <a:t>сеть</a:t>
            </a:r>
            <a:r>
              <a:rPr lang="ru-RU" dirty="0" smtClean="0">
                <a:solidFill>
                  <a:schemeClr val="accent3"/>
                </a:solidFill>
              </a:rPr>
              <a:t>. Стратегия ведения очереди предоставляет возможность обеспечивать различное </a:t>
            </a:r>
            <a:r>
              <a:rPr lang="ru-RU" i="1" dirty="0" smtClean="0">
                <a:solidFill>
                  <a:schemeClr val="accent3"/>
                </a:solidFill>
              </a:rPr>
              <a:t>качество обслуживания</a:t>
            </a:r>
            <a:r>
              <a:rPr lang="ru-RU" dirty="0" smtClean="0">
                <a:solidFill>
                  <a:schemeClr val="accent3"/>
                </a:solidFill>
              </a:rPr>
              <a:t> для различных потоков.</a:t>
            </a:r>
          </a:p>
          <a:p>
            <a:r>
              <a:rPr lang="ru-RU" dirty="0" smtClean="0">
                <a:solidFill>
                  <a:schemeClr val="accent3"/>
                </a:solidFill>
              </a:rPr>
              <a:t> </a:t>
            </a:r>
            <a:r>
              <a:rPr lang="ru-RU" b="1" dirty="0" smtClean="0">
                <a:solidFill>
                  <a:schemeClr val="accent3"/>
                </a:solidFill>
              </a:rPr>
              <a:t>Система передачи называется асинхронной потому, что при передаче ячеек она не связана ни с какой синхронизацией кадров, </a:t>
            </a:r>
            <a:r>
              <a:rPr lang="ru-RU" b="1" dirty="0" err="1" smtClean="0">
                <a:solidFill>
                  <a:schemeClr val="accent3"/>
                </a:solidFill>
              </a:rPr>
              <a:t>сверхкадров</a:t>
            </a:r>
            <a:r>
              <a:rPr lang="ru-RU" b="1" dirty="0" smtClean="0">
                <a:solidFill>
                  <a:schemeClr val="accent3"/>
                </a:solidFill>
              </a:rPr>
              <a:t> </a:t>
            </a:r>
            <a:r>
              <a:rPr lang="ru-RU" dirty="0" smtClean="0">
                <a:solidFill>
                  <a:schemeClr val="accent3"/>
                </a:solidFill>
              </a:rPr>
              <a:t>и т. п., как это происходит в системах с ВРК.</a:t>
            </a:r>
          </a:p>
          <a:p>
            <a:endParaRPr lang="ru-RU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964488" cy="850106"/>
          </a:xfrm>
        </p:spPr>
        <p:txBody>
          <a:bodyPr>
            <a:noAutofit/>
          </a:bodyPr>
          <a:lstStyle/>
          <a:p>
            <a:r>
              <a:rPr lang="ru-RU" sz="3600" b="1" dirty="0" smtClean="0">
                <a:solidFill>
                  <a:schemeClr val="accent3"/>
                </a:solidFill>
              </a:rPr>
              <a:t>Принцип ATM-мультиплексирования.</a:t>
            </a:r>
            <a:br>
              <a:rPr lang="ru-RU" sz="3600" b="1" dirty="0" smtClean="0">
                <a:solidFill>
                  <a:schemeClr val="accent3"/>
                </a:solidFill>
              </a:rPr>
            </a:br>
            <a:r>
              <a:rPr lang="ru-RU" sz="3600" b="1" dirty="0" smtClean="0">
                <a:solidFill>
                  <a:schemeClr val="accent3"/>
                </a:solidFill>
              </a:rPr>
              <a:t>Таблица коммутации</a:t>
            </a:r>
            <a:endParaRPr lang="ru-RU" sz="3600" dirty="0">
              <a:solidFill>
                <a:schemeClr val="accent3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196752"/>
            <a:ext cx="9144000" cy="5661248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>
                <a:solidFill>
                  <a:schemeClr val="accent3"/>
                </a:solidFill>
              </a:rPr>
              <a:t> Рисунок далее показывает один из вариантов </a:t>
            </a:r>
            <a:r>
              <a:rPr lang="ru-RU" b="1" dirty="0" smtClean="0">
                <a:solidFill>
                  <a:schemeClr val="accent3"/>
                </a:solidFill>
              </a:rPr>
              <a:t>коммутатора с пространственно- временным разделением потока</a:t>
            </a:r>
            <a:r>
              <a:rPr lang="ru-RU" dirty="0" smtClean="0">
                <a:solidFill>
                  <a:schemeClr val="accent3"/>
                </a:solidFill>
              </a:rPr>
              <a:t>. </a:t>
            </a:r>
          </a:p>
          <a:p>
            <a:r>
              <a:rPr lang="ru-RU" dirty="0" smtClean="0">
                <a:solidFill>
                  <a:schemeClr val="accent3"/>
                </a:solidFill>
              </a:rPr>
              <a:t>На рисунке показана </a:t>
            </a:r>
            <a:r>
              <a:rPr lang="ru-RU" b="1" i="1" dirty="0" smtClean="0">
                <a:solidFill>
                  <a:schemeClr val="accent3"/>
                </a:solidFill>
              </a:rPr>
              <a:t>таблица соответствия</a:t>
            </a:r>
            <a:r>
              <a:rPr lang="ru-RU" b="1" dirty="0" smtClean="0">
                <a:solidFill>
                  <a:schemeClr val="accent3"/>
                </a:solidFill>
              </a:rPr>
              <a:t> для двух входных портов </a:t>
            </a:r>
            <a:r>
              <a:rPr lang="ru-RU" b="1" i="1" dirty="0" smtClean="0">
                <a:solidFill>
                  <a:schemeClr val="accent3"/>
                </a:solidFill>
              </a:rPr>
              <a:t>ATM</a:t>
            </a:r>
            <a:r>
              <a:rPr lang="ru-RU" b="1" dirty="0" smtClean="0">
                <a:solidFill>
                  <a:schemeClr val="accent3"/>
                </a:solidFill>
              </a:rPr>
              <a:t>-коммутатора</a:t>
            </a:r>
            <a:r>
              <a:rPr lang="ru-RU" dirty="0" smtClean="0">
                <a:solidFill>
                  <a:schemeClr val="accent3"/>
                </a:solidFill>
              </a:rPr>
              <a:t>.</a:t>
            </a:r>
          </a:p>
          <a:p>
            <a:r>
              <a:rPr lang="ru-RU" dirty="0" smtClean="0">
                <a:solidFill>
                  <a:schemeClr val="accent3"/>
                </a:solidFill>
              </a:rPr>
              <a:t> Во </a:t>
            </a:r>
            <a:r>
              <a:rPr lang="ru-RU" i="1" dirty="0" smtClean="0">
                <a:solidFill>
                  <a:schemeClr val="accent3"/>
                </a:solidFill>
              </a:rPr>
              <a:t>входной</a:t>
            </a:r>
            <a:r>
              <a:rPr lang="ru-RU" dirty="0" smtClean="0">
                <a:solidFill>
                  <a:schemeClr val="accent3"/>
                </a:solidFill>
              </a:rPr>
              <a:t> </a:t>
            </a:r>
            <a:r>
              <a:rPr lang="ru-RU" i="1" dirty="0" smtClean="0">
                <a:solidFill>
                  <a:schemeClr val="accent3"/>
                </a:solidFill>
              </a:rPr>
              <a:t>порт</a:t>
            </a:r>
            <a:r>
              <a:rPr lang="ru-RU" dirty="0" smtClean="0">
                <a:solidFill>
                  <a:schemeClr val="accent3"/>
                </a:solidFill>
              </a:rPr>
              <a:t> 5 поступает </a:t>
            </a:r>
            <a:r>
              <a:rPr lang="ru-RU" i="1" dirty="0" smtClean="0">
                <a:solidFill>
                  <a:schemeClr val="accent3"/>
                </a:solidFill>
              </a:rPr>
              <a:t>поток</a:t>
            </a:r>
            <a:r>
              <a:rPr lang="ru-RU" dirty="0" smtClean="0">
                <a:solidFill>
                  <a:schemeClr val="accent3"/>
                </a:solidFill>
              </a:rPr>
              <a:t> ячеек, переносящий речевую информацию и имеющий в заголовке </a:t>
            </a:r>
            <a:r>
              <a:rPr lang="ru-RU" i="1" dirty="0" smtClean="0">
                <a:solidFill>
                  <a:schemeClr val="accent3"/>
                </a:solidFill>
              </a:rPr>
              <a:t>идентификатор</a:t>
            </a:r>
            <a:r>
              <a:rPr lang="ru-RU" dirty="0" smtClean="0">
                <a:solidFill>
                  <a:schemeClr val="accent3"/>
                </a:solidFill>
              </a:rPr>
              <a:t> 12, а также </a:t>
            </a:r>
            <a:r>
              <a:rPr lang="ru-RU" i="1" dirty="0" smtClean="0">
                <a:solidFill>
                  <a:schemeClr val="accent3"/>
                </a:solidFill>
              </a:rPr>
              <a:t>поток</a:t>
            </a:r>
            <a:r>
              <a:rPr lang="ru-RU" dirty="0" smtClean="0">
                <a:solidFill>
                  <a:schemeClr val="accent3"/>
                </a:solidFill>
              </a:rPr>
              <a:t>, переносящий видеоинформацию, который имеет в заголовке </a:t>
            </a:r>
            <a:r>
              <a:rPr lang="ru-RU" i="1" dirty="0" smtClean="0">
                <a:solidFill>
                  <a:schemeClr val="accent3"/>
                </a:solidFill>
              </a:rPr>
              <a:t>идентификатор</a:t>
            </a:r>
            <a:r>
              <a:rPr lang="ru-RU" dirty="0" smtClean="0">
                <a:solidFill>
                  <a:schemeClr val="accent3"/>
                </a:solidFill>
              </a:rPr>
              <a:t> 21.</a:t>
            </a:r>
          </a:p>
          <a:p>
            <a:r>
              <a:rPr lang="ru-RU" dirty="0" smtClean="0">
                <a:solidFill>
                  <a:schemeClr val="accent3"/>
                </a:solidFill>
              </a:rPr>
              <a:t> Когда </a:t>
            </a:r>
            <a:r>
              <a:rPr lang="ru-RU" i="1" dirty="0" smtClean="0">
                <a:solidFill>
                  <a:schemeClr val="accent3"/>
                </a:solidFill>
              </a:rPr>
              <a:t>ячейка</a:t>
            </a:r>
            <a:r>
              <a:rPr lang="ru-RU" dirty="0" smtClean="0">
                <a:solidFill>
                  <a:schemeClr val="accent3"/>
                </a:solidFill>
              </a:rPr>
              <a:t> с идентификатором 12 поступает на </a:t>
            </a:r>
            <a:r>
              <a:rPr lang="ru-RU" i="1" dirty="0" smtClean="0">
                <a:solidFill>
                  <a:schemeClr val="accent3"/>
                </a:solidFill>
              </a:rPr>
              <a:t>входной</a:t>
            </a:r>
            <a:r>
              <a:rPr lang="ru-RU" dirty="0" smtClean="0">
                <a:solidFill>
                  <a:schemeClr val="accent3"/>
                </a:solidFill>
              </a:rPr>
              <a:t> </a:t>
            </a:r>
            <a:r>
              <a:rPr lang="ru-RU" i="1" dirty="0" smtClean="0">
                <a:solidFill>
                  <a:schemeClr val="accent3"/>
                </a:solidFill>
              </a:rPr>
              <a:t>порт</a:t>
            </a:r>
            <a:r>
              <a:rPr lang="ru-RU" dirty="0" smtClean="0">
                <a:solidFill>
                  <a:schemeClr val="accent3"/>
                </a:solidFill>
              </a:rPr>
              <a:t> 5, отыскивается входное </a:t>
            </a:r>
            <a:r>
              <a:rPr lang="ru-RU" i="1" dirty="0" smtClean="0">
                <a:solidFill>
                  <a:schemeClr val="accent3"/>
                </a:solidFill>
              </a:rPr>
              <a:t>значение</a:t>
            </a:r>
            <a:r>
              <a:rPr lang="ru-RU" dirty="0" smtClean="0">
                <a:solidFill>
                  <a:schemeClr val="accent3"/>
                </a:solidFill>
              </a:rPr>
              <a:t> 12 в таблице коммутатора, которая показывает (см. значения </a:t>
            </a:r>
            <a:r>
              <a:rPr lang="ru-RU" i="1" dirty="0" smtClean="0">
                <a:solidFill>
                  <a:schemeClr val="accent3"/>
                </a:solidFill>
              </a:rPr>
              <a:t>по</a:t>
            </a:r>
            <a:r>
              <a:rPr lang="ru-RU" dirty="0" smtClean="0">
                <a:solidFill>
                  <a:schemeClr val="accent3"/>
                </a:solidFill>
              </a:rPr>
              <a:t> строке), что эта </a:t>
            </a:r>
            <a:r>
              <a:rPr lang="ru-RU" i="1" dirty="0" smtClean="0">
                <a:solidFill>
                  <a:schemeClr val="accent3"/>
                </a:solidFill>
              </a:rPr>
              <a:t>ячейка</a:t>
            </a:r>
            <a:r>
              <a:rPr lang="ru-RU" dirty="0" smtClean="0">
                <a:solidFill>
                  <a:schemeClr val="accent3"/>
                </a:solidFill>
              </a:rPr>
              <a:t> должна быть перенесена в выходной </a:t>
            </a:r>
            <a:r>
              <a:rPr lang="ru-RU" i="1" dirty="0" smtClean="0">
                <a:solidFill>
                  <a:schemeClr val="accent3"/>
                </a:solidFill>
              </a:rPr>
              <a:t>порт</a:t>
            </a:r>
            <a:r>
              <a:rPr lang="ru-RU" dirty="0" smtClean="0">
                <a:solidFill>
                  <a:schemeClr val="accent3"/>
                </a:solidFill>
              </a:rPr>
              <a:t> 1 с изменением значения идентификатора в заголовке на 17.</a:t>
            </a:r>
          </a:p>
          <a:p>
            <a:r>
              <a:rPr lang="ru-RU" dirty="0" smtClean="0">
                <a:solidFill>
                  <a:schemeClr val="accent3"/>
                </a:solidFill>
              </a:rPr>
              <a:t> Таким же образом </a:t>
            </a:r>
            <a:r>
              <a:rPr lang="ru-RU" i="1" dirty="0" smtClean="0">
                <a:solidFill>
                  <a:schemeClr val="accent3"/>
                </a:solidFill>
              </a:rPr>
              <a:t>ячейка</a:t>
            </a:r>
            <a:r>
              <a:rPr lang="ru-RU" dirty="0" smtClean="0">
                <a:solidFill>
                  <a:schemeClr val="accent3"/>
                </a:solidFill>
              </a:rPr>
              <a:t>, пребывающая в </a:t>
            </a:r>
            <a:r>
              <a:rPr lang="ru-RU" i="1" dirty="0" smtClean="0">
                <a:solidFill>
                  <a:schemeClr val="accent3"/>
                </a:solidFill>
              </a:rPr>
              <a:t>порт</a:t>
            </a:r>
            <a:r>
              <a:rPr lang="ru-RU" dirty="0" smtClean="0">
                <a:solidFill>
                  <a:schemeClr val="accent3"/>
                </a:solidFill>
              </a:rPr>
              <a:t> со значением идентификатора 21, передается в </a:t>
            </a:r>
            <a:r>
              <a:rPr lang="ru-RU" i="1" dirty="0" smtClean="0">
                <a:solidFill>
                  <a:schemeClr val="accent3"/>
                </a:solidFill>
              </a:rPr>
              <a:t>порт</a:t>
            </a:r>
            <a:r>
              <a:rPr lang="ru-RU" dirty="0" smtClean="0">
                <a:solidFill>
                  <a:schemeClr val="accent3"/>
                </a:solidFill>
              </a:rPr>
              <a:t> N с изменением значения идентификатора на 70.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8964488" cy="1008112"/>
          </a:xfrm>
        </p:spPr>
        <p:txBody>
          <a:bodyPr>
            <a:noAutofit/>
          </a:bodyPr>
          <a:lstStyle/>
          <a:p>
            <a:r>
              <a:rPr lang="ru-RU" sz="3600" b="1" dirty="0" smtClean="0">
                <a:solidFill>
                  <a:schemeClr val="accent3"/>
                </a:solidFill>
              </a:rPr>
              <a:t>Принцип ATM-мультиплексирования.</a:t>
            </a:r>
            <a:br>
              <a:rPr lang="ru-RU" sz="3600" b="1" dirty="0" smtClean="0">
                <a:solidFill>
                  <a:schemeClr val="accent3"/>
                </a:solidFill>
              </a:rPr>
            </a:br>
            <a:r>
              <a:rPr lang="ru-RU" sz="3600" b="1" dirty="0" smtClean="0">
                <a:solidFill>
                  <a:schemeClr val="accent3"/>
                </a:solidFill>
              </a:rPr>
              <a:t>Таблица коммутации</a:t>
            </a:r>
            <a:endParaRPr lang="ru-RU" sz="3600" dirty="0">
              <a:solidFill>
                <a:schemeClr val="accent3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ATM-коммутатор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556792"/>
            <a:ext cx="8748464" cy="48965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008112"/>
          </a:xfrm>
        </p:spPr>
        <p:txBody>
          <a:bodyPr>
            <a:noAutofit/>
          </a:bodyPr>
          <a:lstStyle/>
          <a:p>
            <a:r>
              <a:rPr lang="ru-RU" sz="2800" b="1" dirty="0" smtClean="0">
                <a:solidFill>
                  <a:schemeClr val="accent3"/>
                </a:solidFill>
              </a:rPr>
              <a:t>Принцип ATM-мультиплексирования.</a:t>
            </a:r>
            <a:br>
              <a:rPr lang="ru-RU" sz="2800" b="1" dirty="0" smtClean="0">
                <a:solidFill>
                  <a:schemeClr val="accent3"/>
                </a:solidFill>
              </a:rPr>
            </a:br>
            <a:r>
              <a:rPr lang="ru-RU" sz="2800" b="1" dirty="0" smtClean="0">
                <a:solidFill>
                  <a:schemeClr val="accent3"/>
                </a:solidFill>
              </a:rPr>
              <a:t>Таблица коммутации (далее рассматривается</a:t>
            </a:r>
            <a:r>
              <a:rPr lang="ru-RU" sz="3600" b="1" dirty="0" smtClean="0">
                <a:solidFill>
                  <a:schemeClr val="accent3"/>
                </a:solidFill>
              </a:rPr>
              <a:t>)</a:t>
            </a:r>
            <a:endParaRPr lang="ru-RU" sz="3600" dirty="0">
              <a:solidFill>
                <a:schemeClr val="accent3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268760"/>
            <a:ext cx="9144000" cy="5589240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 smtClean="0">
                <a:solidFill>
                  <a:schemeClr val="accent3"/>
                </a:solidFill>
              </a:rPr>
              <a:t>При постоянных виртуальных соединениях </a:t>
            </a:r>
            <a:r>
              <a:rPr lang="ru-RU" b="1" i="1" dirty="0" smtClean="0">
                <a:solidFill>
                  <a:schemeClr val="accent3"/>
                </a:solidFill>
              </a:rPr>
              <a:t>таблица</a:t>
            </a:r>
            <a:r>
              <a:rPr lang="ru-RU" b="1" dirty="0" smtClean="0">
                <a:solidFill>
                  <a:schemeClr val="accent3"/>
                </a:solidFill>
              </a:rPr>
              <a:t> соответствия сохраняется на долгое время</a:t>
            </a:r>
            <a:r>
              <a:rPr lang="ru-RU" dirty="0" smtClean="0">
                <a:solidFill>
                  <a:schemeClr val="accent3"/>
                </a:solidFill>
              </a:rPr>
              <a:t>.</a:t>
            </a:r>
          </a:p>
          <a:p>
            <a:r>
              <a:rPr lang="ru-RU" dirty="0" smtClean="0">
                <a:solidFill>
                  <a:schemeClr val="accent3"/>
                </a:solidFill>
              </a:rPr>
              <a:t> </a:t>
            </a:r>
            <a:r>
              <a:rPr lang="ru-RU" b="1" dirty="0" smtClean="0">
                <a:solidFill>
                  <a:schemeClr val="accent3"/>
                </a:solidFill>
              </a:rPr>
              <a:t>При коммутируемом виртуальном соединении </a:t>
            </a:r>
            <a:r>
              <a:rPr lang="ru-RU" b="1" i="1" dirty="0" smtClean="0">
                <a:solidFill>
                  <a:schemeClr val="accent3"/>
                </a:solidFill>
              </a:rPr>
              <a:t>таблица</a:t>
            </a:r>
            <a:r>
              <a:rPr lang="ru-RU" b="1" dirty="0" smtClean="0">
                <a:solidFill>
                  <a:schemeClr val="accent3"/>
                </a:solidFill>
              </a:rPr>
              <a:t> заполняется на время обмена информацией</a:t>
            </a:r>
            <a:r>
              <a:rPr lang="ru-RU" dirty="0" smtClean="0">
                <a:solidFill>
                  <a:schemeClr val="accent3"/>
                </a:solidFill>
              </a:rPr>
              <a:t>.</a:t>
            </a:r>
          </a:p>
          <a:p>
            <a:r>
              <a:rPr lang="ru-RU" dirty="0" smtClean="0">
                <a:solidFill>
                  <a:schemeClr val="accent3"/>
                </a:solidFill>
              </a:rPr>
              <a:t> При рассмотрении работы этого коммутатора можно заметить, </a:t>
            </a:r>
            <a:r>
              <a:rPr lang="ru-RU" b="1" dirty="0" smtClean="0">
                <a:solidFill>
                  <a:schemeClr val="accent3"/>
                </a:solidFill>
              </a:rPr>
              <a:t>что при коммутации </a:t>
            </a:r>
            <a:r>
              <a:rPr lang="ru-RU" b="1" i="1" dirty="0" smtClean="0">
                <a:solidFill>
                  <a:schemeClr val="accent3"/>
                </a:solidFill>
              </a:rPr>
              <a:t>поток</a:t>
            </a:r>
            <a:r>
              <a:rPr lang="ru-RU" b="1" dirty="0" smtClean="0">
                <a:solidFill>
                  <a:schemeClr val="accent3"/>
                </a:solidFill>
              </a:rPr>
              <a:t> разделяется во входном порту на отдельные пакеты и далее заново собирается во входном порту.</a:t>
            </a:r>
          </a:p>
          <a:p>
            <a:r>
              <a:rPr lang="ru-RU" dirty="0" smtClean="0">
                <a:solidFill>
                  <a:schemeClr val="accent3"/>
                </a:solidFill>
              </a:rPr>
              <a:t> В данном случае большую роль играет основная </a:t>
            </a:r>
            <a:r>
              <a:rPr lang="ru-RU" b="1" dirty="0" smtClean="0">
                <a:solidFill>
                  <a:schemeClr val="accent3"/>
                </a:solidFill>
              </a:rPr>
              <a:t>особенность </a:t>
            </a:r>
            <a:r>
              <a:rPr lang="ru-RU" b="1" i="1" dirty="0" smtClean="0">
                <a:solidFill>
                  <a:schemeClr val="accent3"/>
                </a:solidFill>
              </a:rPr>
              <a:t>ATM</a:t>
            </a:r>
            <a:r>
              <a:rPr lang="ru-RU" b="1" dirty="0" smtClean="0">
                <a:solidFill>
                  <a:schemeClr val="accent3"/>
                </a:solidFill>
              </a:rPr>
              <a:t> — использование относительно коротких пакетов.</a:t>
            </a:r>
          </a:p>
          <a:p>
            <a:r>
              <a:rPr lang="ru-RU" dirty="0" smtClean="0">
                <a:solidFill>
                  <a:schemeClr val="accent3"/>
                </a:solidFill>
              </a:rPr>
              <a:t> Это намного упрощает выполнение коммутации и увеличивает скорость работы.</a:t>
            </a:r>
          </a:p>
          <a:p>
            <a:r>
              <a:rPr lang="ru-RU" dirty="0" smtClean="0">
                <a:solidFill>
                  <a:schemeClr val="accent3"/>
                </a:solidFill>
              </a:rPr>
              <a:t> </a:t>
            </a:r>
            <a:r>
              <a:rPr lang="ru-RU" b="1" dirty="0" smtClean="0">
                <a:solidFill>
                  <a:schemeClr val="accent3"/>
                </a:solidFill>
              </a:rPr>
              <a:t>Есть возможность создавать коммутаторы со скоростью несколько сотен </a:t>
            </a:r>
            <a:r>
              <a:rPr lang="ru-RU" b="1" i="1" dirty="0" smtClean="0">
                <a:solidFill>
                  <a:schemeClr val="accent3"/>
                </a:solidFill>
              </a:rPr>
              <a:t>мегабит</a:t>
            </a:r>
            <a:r>
              <a:rPr lang="ru-RU" b="1" dirty="0" smtClean="0">
                <a:solidFill>
                  <a:schemeClr val="accent3"/>
                </a:solidFill>
              </a:rPr>
              <a:t> в секунду.</a:t>
            </a:r>
          </a:p>
          <a:p>
            <a:r>
              <a:rPr lang="ru-RU" dirty="0" smtClean="0">
                <a:solidFill>
                  <a:schemeClr val="accent3"/>
                </a:solidFill>
              </a:rPr>
              <a:t> Использование коротких пакетов позволяет с высокой точностью управлять расписанием передачи пакетов, поскольку короткие пакеты уменьшают </a:t>
            </a:r>
            <a:r>
              <a:rPr lang="ru-RU" i="1" dirty="0" smtClean="0">
                <a:solidFill>
                  <a:schemeClr val="accent3"/>
                </a:solidFill>
              </a:rPr>
              <a:t>время ожидания</a:t>
            </a:r>
            <a:r>
              <a:rPr lang="ru-RU" dirty="0" smtClean="0">
                <a:solidFill>
                  <a:schemeClr val="accent3"/>
                </a:solidFill>
              </a:rPr>
              <a:t> в очереди, пока передающая линия получит </a:t>
            </a:r>
            <a:r>
              <a:rPr lang="ru-RU" i="1" dirty="0" smtClean="0">
                <a:solidFill>
                  <a:schemeClr val="accent3"/>
                </a:solidFill>
              </a:rPr>
              <a:t>доступ</a:t>
            </a:r>
            <a:r>
              <a:rPr lang="ru-RU" dirty="0" smtClean="0">
                <a:solidFill>
                  <a:schemeClr val="accent3"/>
                </a:solidFill>
              </a:rPr>
              <a:t> к следующему передатчику.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0"/>
            <a:ext cx="8892480" cy="1196752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/>
            </a:r>
            <a:br>
              <a:rPr lang="ru-RU" dirty="0" smtClean="0"/>
            </a:br>
            <a:r>
              <a:rPr lang="ru-RU" dirty="0"/>
              <a:t/>
            </a:r>
            <a:br>
              <a:rPr lang="ru-RU" dirty="0"/>
            </a:br>
            <a:r>
              <a:rPr lang="ru-RU" b="1" dirty="0" smtClean="0">
                <a:solidFill>
                  <a:srgbClr val="002060"/>
                </a:solidFill>
              </a:rPr>
              <a:t> </a:t>
            </a:r>
            <a:r>
              <a:rPr lang="ru-RU" sz="3600" b="1" dirty="0">
                <a:solidFill>
                  <a:srgbClr val="002060"/>
                </a:solidFill>
              </a:rPr>
              <a:t>Структура уровней широкополосной цифровой сети с интеграцией </a:t>
            </a:r>
            <a:r>
              <a:rPr lang="ru-RU" sz="3600" b="1" dirty="0" smtClean="0">
                <a:solidFill>
                  <a:srgbClr val="002060"/>
                </a:solidFill>
              </a:rPr>
              <a:t>услуг В-</a:t>
            </a:r>
            <a:r>
              <a:rPr lang="en-US" sz="3600" b="1" dirty="0" smtClean="0">
                <a:solidFill>
                  <a:srgbClr val="002060"/>
                </a:solidFill>
              </a:rPr>
              <a:t>ISDN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2050" name="Picture 2" descr="C:\Users\Юра\Downloads\структура уровней В-isdn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340768"/>
            <a:ext cx="8352928" cy="551723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Модель В-</a:t>
            </a:r>
            <a:r>
              <a:rPr lang="en-US" sz="3600" b="1" dirty="0" smtClean="0">
                <a:solidFill>
                  <a:srgbClr val="002060"/>
                </a:solidFill>
              </a:rPr>
              <a:t>ISDN</a:t>
            </a:r>
            <a:r>
              <a:rPr lang="ru-RU" sz="3600" b="1" dirty="0" smtClean="0">
                <a:solidFill>
                  <a:srgbClr val="002060"/>
                </a:solidFill>
              </a:rPr>
              <a:t>/АТМ</a:t>
            </a:r>
            <a:endParaRPr lang="ru-RU" sz="3600" b="1" dirty="0">
              <a:solidFill>
                <a:srgbClr val="002060"/>
              </a:solidFill>
            </a:endParaRPr>
          </a:p>
        </p:txBody>
      </p:sp>
      <p:pic>
        <p:nvPicPr>
          <p:cNvPr id="5122" name="Picture 2" descr="C:\Users\Юра\Downloads\модельв-ISDN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340768"/>
            <a:ext cx="7848872" cy="525658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24744"/>
            <a:ext cx="8229600" cy="2016224"/>
          </a:xfrm>
        </p:spPr>
        <p:txBody>
          <a:bodyPr>
            <a:normAutofit fontScale="90000"/>
          </a:bodyPr>
          <a:lstStyle/>
          <a:p>
            <a:r>
              <a:rPr lang="ru-RU" altLang="ru-RU" b="1" dirty="0" smtClean="0">
                <a:solidFill>
                  <a:srgbClr val="002060"/>
                </a:solidFill>
              </a:rPr>
              <a:t>4.1.Т</a:t>
            </a:r>
            <a:r>
              <a:rPr lang="ru-RU" altLang="ru-RU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</a:t>
            </a:r>
            <a:r>
              <a:rPr lang="ru-RU" altLang="ru-RU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/>
            </a:r>
            <a:br>
              <a:rPr lang="ru-RU" altLang="ru-RU" dirty="0" smtClean="0">
                <a:solidFill>
                  <a:srgbClr val="002060"/>
                </a:solidFill>
                <a:cs typeface="Times New Roman" panose="02020603050405020304" pitchFamily="18" charset="0"/>
              </a:rPr>
            </a:br>
            <a:r>
              <a:rPr lang="ru-RU" b="1" dirty="0" smtClean="0">
                <a:solidFill>
                  <a:srgbClr val="002060"/>
                </a:solidFill>
              </a:rPr>
              <a:t> Уровни модели АТМ.</a:t>
            </a:r>
            <a:br>
              <a:rPr lang="ru-RU" b="1" dirty="0" smtClean="0">
                <a:solidFill>
                  <a:srgbClr val="002060"/>
                </a:solidFill>
              </a:rPr>
            </a:br>
            <a:endParaRPr lang="ru-RU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r="1963" b="33414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b="6601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4704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Модель АТМ. Уровни.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052736"/>
            <a:ext cx="9144000" cy="5805264"/>
          </a:xfrm>
        </p:spPr>
        <p:txBody>
          <a:bodyPr>
            <a:normAutofit/>
          </a:bodyPr>
          <a:lstStyle/>
          <a:p>
            <a:r>
              <a:rPr lang="ru-RU" sz="2800" dirty="0" smtClean="0"/>
              <a:t>Для </a:t>
            </a:r>
            <a:r>
              <a:rPr lang="ru-RU" sz="2800" dirty="0"/>
              <a:t>поддержки пользовательских </a:t>
            </a:r>
            <a:r>
              <a:rPr lang="ru-RU" sz="2800" dirty="0" smtClean="0"/>
              <a:t>приложений имеется три основных уровня : </a:t>
            </a:r>
          </a:p>
          <a:p>
            <a:pPr>
              <a:buNone/>
            </a:pPr>
            <a:r>
              <a:rPr lang="ru-RU" sz="2800" dirty="0" smtClean="0"/>
              <a:t>         - адаптации</a:t>
            </a:r>
            <a:r>
              <a:rPr lang="ru-RU" sz="2800" dirty="0"/>
              <a:t> </a:t>
            </a:r>
            <a:r>
              <a:rPr lang="ru-RU" sz="2800" dirty="0" smtClean="0"/>
              <a:t>ATM (</a:t>
            </a:r>
            <a:r>
              <a:rPr lang="en-US" sz="2800" dirty="0" smtClean="0"/>
              <a:t>AAL)</a:t>
            </a:r>
            <a:r>
              <a:rPr lang="ru-RU" sz="2800" dirty="0" smtClean="0"/>
              <a:t>,</a:t>
            </a:r>
          </a:p>
          <a:p>
            <a:pPr>
              <a:buNone/>
            </a:pPr>
            <a:r>
              <a:rPr lang="ru-RU" sz="2800" dirty="0"/>
              <a:t> </a:t>
            </a:r>
            <a:r>
              <a:rPr lang="ru-RU" sz="2800" dirty="0" smtClean="0"/>
              <a:t>        -  </a:t>
            </a:r>
            <a:r>
              <a:rPr lang="ru-RU" sz="2800" dirty="0"/>
              <a:t>уровень ATM</a:t>
            </a:r>
            <a:r>
              <a:rPr lang="ru-RU" sz="2800" dirty="0" smtClean="0"/>
              <a:t>.</a:t>
            </a:r>
          </a:p>
          <a:p>
            <a:pPr>
              <a:buNone/>
            </a:pPr>
            <a:r>
              <a:rPr lang="ru-RU" sz="2800" dirty="0" smtClean="0"/>
              <a:t>         - физический</a:t>
            </a:r>
          </a:p>
          <a:p>
            <a:pPr>
              <a:buNone/>
            </a:pPr>
            <a:endParaRPr lang="ru-RU" sz="2800" dirty="0" smtClean="0"/>
          </a:p>
          <a:p>
            <a:pPr>
              <a:buNone/>
            </a:pPr>
            <a:r>
              <a:rPr lang="ru-RU" sz="2800" dirty="0"/>
              <a:t> </a:t>
            </a:r>
            <a:r>
              <a:rPr lang="ru-RU" sz="2800" dirty="0" smtClean="0"/>
              <a:t> </a:t>
            </a:r>
            <a:r>
              <a:rPr lang="ru-RU" sz="2800" b="1" dirty="0" smtClean="0"/>
              <a:t>Уровень </a:t>
            </a:r>
            <a:r>
              <a:rPr lang="ru-RU" sz="2800" b="1" dirty="0"/>
              <a:t>адаптации  </a:t>
            </a:r>
            <a:r>
              <a:rPr lang="ru-RU" sz="2800" b="1" i="1" dirty="0" smtClean="0"/>
              <a:t>ATM (</a:t>
            </a:r>
            <a:r>
              <a:rPr lang="ru-RU" sz="2800" dirty="0"/>
              <a:t> </a:t>
            </a:r>
            <a:r>
              <a:rPr lang="ru-RU" sz="2800" b="1" i="1" dirty="0" smtClean="0"/>
              <a:t>AAL</a:t>
            </a:r>
            <a:r>
              <a:rPr lang="ru-RU" sz="2800" dirty="0" smtClean="0"/>
              <a:t> ) имеет </a:t>
            </a:r>
            <a:r>
              <a:rPr lang="ru-RU" sz="2800" dirty="0"/>
              <a:t>несколько типов, функции которых определяются различными классами нагрузки </a:t>
            </a:r>
            <a:r>
              <a:rPr lang="ru-RU" sz="2800" dirty="0" smtClean="0"/>
              <a:t>пользователя (рисунок и пояснения ниже). </a:t>
            </a:r>
          </a:p>
          <a:p>
            <a:pPr>
              <a:buNone/>
            </a:pPr>
            <a:r>
              <a:rPr lang="ru-RU" sz="2800" dirty="0"/>
              <a:t> </a:t>
            </a:r>
            <a:r>
              <a:rPr lang="ru-RU" sz="2800" dirty="0" smtClean="0"/>
              <a:t>      </a:t>
            </a:r>
            <a:endParaRPr lang="ru-RU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b="5658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 b="466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r="12988" b="11466"/>
          <a:stretch>
            <a:fillRect/>
          </a:stretch>
        </p:blipFill>
        <p:spPr bwMode="auto">
          <a:xfrm>
            <a:off x="0" y="0"/>
            <a:ext cx="9144000" cy="6669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 fontScale="90000"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/>
            </a:r>
            <a:br>
              <a:rPr lang="ru-RU" sz="3600" b="1" dirty="0" smtClean="0">
                <a:solidFill>
                  <a:srgbClr val="002060"/>
                </a:solidFill>
              </a:rPr>
            </a:br>
            <a:r>
              <a:rPr lang="ru-RU" sz="3600" b="1" dirty="0" smtClean="0">
                <a:solidFill>
                  <a:srgbClr val="002060"/>
                </a:solidFill>
              </a:rPr>
              <a:t>Модель АТМ. Уровень  </a:t>
            </a:r>
            <a:r>
              <a:rPr lang="ru-RU" sz="3600" b="1" i="1" dirty="0" smtClean="0">
                <a:solidFill>
                  <a:srgbClr val="002060"/>
                </a:solidFill>
              </a:rPr>
              <a:t>AAL</a:t>
            </a:r>
            <a:r>
              <a:rPr lang="ru-RU" b="1" dirty="0">
                <a:solidFill>
                  <a:srgbClr val="002060"/>
                </a:solidFill>
              </a:rPr>
              <a:t/>
            </a:r>
            <a:br>
              <a:rPr lang="ru-RU" b="1" dirty="0">
                <a:solidFill>
                  <a:srgbClr val="002060"/>
                </a:solidFill>
              </a:rPr>
            </a:b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196752"/>
            <a:ext cx="8784976" cy="547260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800" b="1" dirty="0"/>
              <a:t> </a:t>
            </a:r>
            <a:r>
              <a:rPr lang="ru-RU" sz="2800" b="1" dirty="0" smtClean="0"/>
              <a:t>Задачи уровня </a:t>
            </a:r>
            <a:r>
              <a:rPr lang="ru-RU" sz="2800" b="1" i="1" dirty="0" smtClean="0"/>
              <a:t>AAL:</a:t>
            </a:r>
            <a:endParaRPr lang="ru-RU" sz="2800" b="1" dirty="0" smtClean="0"/>
          </a:p>
          <a:p>
            <a:pPr>
              <a:buNone/>
            </a:pPr>
            <a:r>
              <a:rPr lang="ru-RU" sz="2800" b="1" dirty="0" smtClean="0"/>
              <a:t>      -  </a:t>
            </a:r>
            <a:r>
              <a:rPr lang="ru-RU" sz="2800" dirty="0" smtClean="0"/>
              <a:t>преобразовать информацию,</a:t>
            </a:r>
          </a:p>
          <a:p>
            <a:pPr>
              <a:buNone/>
            </a:pPr>
            <a:r>
              <a:rPr lang="ru-RU" sz="2800" dirty="0" smtClean="0"/>
              <a:t>      -  разбить на блоки в 48-байт и</a:t>
            </a:r>
          </a:p>
          <a:p>
            <a:pPr>
              <a:buNone/>
            </a:pPr>
            <a:r>
              <a:rPr lang="ru-RU" sz="2800" dirty="0" smtClean="0"/>
              <a:t>      -  предоставить для передачи через</a:t>
            </a:r>
          </a:p>
          <a:p>
            <a:pPr>
              <a:buNone/>
            </a:pPr>
            <a:r>
              <a:rPr lang="ru-RU" sz="2800" dirty="0" smtClean="0"/>
              <a:t>         уровень </a:t>
            </a:r>
            <a:r>
              <a:rPr lang="ru-RU" sz="2800" i="1" dirty="0" smtClean="0"/>
              <a:t>ATM</a:t>
            </a:r>
            <a:r>
              <a:rPr lang="ru-RU" sz="2800" dirty="0" smtClean="0"/>
              <a:t>,  который позволяет системе передать все характерные особенности данного приложения (например, тактовые последовательности). </a:t>
            </a:r>
          </a:p>
          <a:p>
            <a:r>
              <a:rPr lang="ru-RU" sz="2800" dirty="0" smtClean="0"/>
              <a:t>Можно отметить, </a:t>
            </a:r>
            <a:r>
              <a:rPr lang="ru-RU" sz="2800" b="1" dirty="0" smtClean="0"/>
              <a:t>что функции </a:t>
            </a:r>
            <a:r>
              <a:rPr lang="ru-RU" sz="2800" b="1" i="1" dirty="0" smtClean="0"/>
              <a:t>AAL</a:t>
            </a:r>
            <a:r>
              <a:rPr lang="ru-RU" sz="2800" b="1" dirty="0" smtClean="0"/>
              <a:t> могут размещаться в оконечном оборудовании,</a:t>
            </a:r>
          </a:p>
          <a:p>
            <a:pPr>
              <a:buNone/>
            </a:pPr>
            <a:r>
              <a:rPr lang="ru-RU" sz="2800" b="1" dirty="0" smtClean="0"/>
              <a:t>   </a:t>
            </a:r>
            <a:r>
              <a:rPr lang="ru-RU" sz="2800" dirty="0" smtClean="0"/>
              <a:t> другие функции — выполняться сетью.</a:t>
            </a:r>
            <a:endParaRPr lang="ru-RU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80728"/>
          </a:xfrm>
        </p:spPr>
        <p:txBody>
          <a:bodyPr>
            <a:noAutofit/>
          </a:bodyPr>
          <a:lstStyle/>
          <a:p>
            <a:r>
              <a:rPr lang="ru-RU" sz="3200" b="1" dirty="0" smtClean="0">
                <a:solidFill>
                  <a:srgbClr val="002060"/>
                </a:solidFill>
              </a:rPr>
              <a:t>Преобразование различной информации на уровне AAL.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268760"/>
            <a:ext cx="9144000" cy="55892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800" dirty="0" smtClean="0"/>
              <a:t>   На рисунке далее  </a:t>
            </a:r>
            <a:r>
              <a:rPr lang="ru-RU" sz="2800" b="1" dirty="0"/>
              <a:t>показаны источники</a:t>
            </a:r>
            <a:r>
              <a:rPr lang="ru-RU" sz="2800" dirty="0"/>
              <a:t>, </a:t>
            </a:r>
            <a:r>
              <a:rPr lang="ru-RU" sz="2800" b="1" dirty="0"/>
              <a:t>порождающие различные типы </a:t>
            </a:r>
            <a:r>
              <a:rPr lang="ru-RU" sz="2800" b="1" dirty="0" smtClean="0"/>
              <a:t>нагрузок:</a:t>
            </a:r>
            <a:endParaRPr lang="ru-RU" sz="2800" b="1" dirty="0"/>
          </a:p>
          <a:p>
            <a:pPr>
              <a:buNone/>
            </a:pPr>
            <a:r>
              <a:rPr lang="ru-RU" sz="2800" dirty="0" smtClean="0"/>
              <a:t>       - передача речи - </a:t>
            </a:r>
            <a:r>
              <a:rPr lang="ru-RU" sz="2800" b="1" dirty="0" smtClean="0"/>
              <a:t>регулярный </a:t>
            </a:r>
            <a:r>
              <a:rPr lang="ru-RU" sz="2800" b="1" dirty="0"/>
              <a:t>поток</a:t>
            </a:r>
            <a:r>
              <a:rPr lang="ru-RU" sz="2800" dirty="0"/>
              <a:t>, который поступает от преобразователя аналоговой информации в цифровые отсчеты(A/D);</a:t>
            </a:r>
          </a:p>
          <a:p>
            <a:pPr>
              <a:buNone/>
            </a:pPr>
            <a:r>
              <a:rPr lang="ru-RU" sz="2800" dirty="0" smtClean="0"/>
              <a:t>      -  передача видео - </a:t>
            </a:r>
            <a:r>
              <a:rPr lang="ru-RU" sz="2800" b="1" dirty="0" smtClean="0"/>
              <a:t>кадры </a:t>
            </a:r>
            <a:r>
              <a:rPr lang="ru-RU" sz="2800" b="1" dirty="0"/>
              <a:t>изображения</a:t>
            </a:r>
            <a:r>
              <a:rPr lang="ru-RU" sz="2800" dirty="0"/>
              <a:t>, которые после сжатия представляют собой пакеты различной длины;</a:t>
            </a:r>
          </a:p>
          <a:p>
            <a:pPr>
              <a:buNone/>
            </a:pPr>
            <a:r>
              <a:rPr lang="ru-RU" sz="2800" dirty="0" smtClean="0"/>
              <a:t>     - передача данных - </a:t>
            </a:r>
            <a:r>
              <a:rPr lang="ru-RU" sz="2800" b="1" dirty="0" smtClean="0"/>
              <a:t>поток </a:t>
            </a:r>
            <a:r>
              <a:rPr lang="ru-RU" sz="2800" b="1" dirty="0"/>
              <a:t>данных</a:t>
            </a:r>
            <a:r>
              <a:rPr lang="ru-RU" sz="2800" dirty="0"/>
              <a:t>, который представляет собой поток пакетов с пульсирующей длиной.</a:t>
            </a:r>
          </a:p>
          <a:p>
            <a:endParaRPr lang="ru-RU" sz="2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80728"/>
          </a:xfrm>
        </p:spPr>
        <p:txBody>
          <a:bodyPr>
            <a:normAutofit/>
          </a:bodyPr>
          <a:lstStyle/>
          <a:p>
            <a:r>
              <a:rPr lang="ru-RU" sz="2800" b="1" dirty="0" smtClean="0">
                <a:solidFill>
                  <a:srgbClr val="002060"/>
                </a:solidFill>
              </a:rPr>
              <a:t>Преобразование различной информации на уровне AAL.</a:t>
            </a:r>
            <a:endParaRPr lang="ru-RU" sz="2800" b="1" dirty="0">
              <a:solidFill>
                <a:srgbClr val="002060"/>
              </a:solidFill>
            </a:endParaRPr>
          </a:p>
        </p:txBody>
      </p:sp>
      <p:pic>
        <p:nvPicPr>
          <p:cNvPr id="4" name="Содержимое 3" descr="Преобразование различной информации на уровне AAL На рисунке показаны источники, порождающие различные типы нагрузки: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908720"/>
            <a:ext cx="889248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002060"/>
                </a:solidFill>
              </a:rPr>
              <a:t/>
            </a:r>
            <a:br>
              <a:rPr lang="ru-RU" b="1" dirty="0" smtClean="0">
                <a:solidFill>
                  <a:srgbClr val="002060"/>
                </a:solidFill>
              </a:rPr>
            </a:br>
            <a:r>
              <a:rPr lang="ru-RU" sz="4000" b="1" dirty="0" smtClean="0">
                <a:solidFill>
                  <a:srgbClr val="002060"/>
                </a:solidFill>
              </a:rPr>
              <a:t>Модель АТМ. Уровень  </a:t>
            </a:r>
            <a:r>
              <a:rPr lang="ru-RU" sz="4000" b="1" i="1" dirty="0" smtClean="0">
                <a:solidFill>
                  <a:srgbClr val="002060"/>
                </a:solidFill>
              </a:rPr>
              <a:t>AAL</a:t>
            </a:r>
            <a:r>
              <a:rPr lang="ru-RU" sz="4000" b="1" dirty="0" smtClean="0">
                <a:solidFill>
                  <a:srgbClr val="002060"/>
                </a:solidFill>
              </a:rPr>
              <a:t/>
            </a:r>
            <a:br>
              <a:rPr lang="ru-RU" sz="4000" b="1" dirty="0" smtClean="0">
                <a:solidFill>
                  <a:srgbClr val="002060"/>
                </a:solidFill>
              </a:rPr>
            </a:br>
            <a:endParaRPr lang="ru-RU" sz="40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 r="15385" b="5714"/>
          <a:stretch>
            <a:fillRect/>
          </a:stretch>
        </p:blipFill>
        <p:spPr bwMode="auto">
          <a:xfrm>
            <a:off x="179512" y="980728"/>
            <a:ext cx="8964488" cy="5877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792088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Модель АТМ. Уровень  </a:t>
            </a:r>
            <a:r>
              <a:rPr lang="ru-RU" sz="3600" b="1" i="1" dirty="0" smtClean="0">
                <a:solidFill>
                  <a:srgbClr val="002060"/>
                </a:solidFill>
              </a:rPr>
              <a:t>AAL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 b="6601"/>
          <a:stretch>
            <a:fillRect/>
          </a:stretch>
        </p:blipFill>
        <p:spPr bwMode="auto">
          <a:xfrm>
            <a:off x="395536" y="908720"/>
            <a:ext cx="8424936" cy="576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Модель АТМ. Уровень АТМ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 b="5653"/>
          <a:stretch>
            <a:fillRect/>
          </a:stretch>
        </p:blipFill>
        <p:spPr bwMode="auto">
          <a:xfrm>
            <a:off x="0" y="1196752"/>
            <a:ext cx="9144000" cy="5661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80728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Модель АТМ. Уровень АТМ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908720"/>
            <a:ext cx="8784976" cy="5949280"/>
          </a:xfrm>
        </p:spPr>
        <p:txBody>
          <a:bodyPr>
            <a:noAutofit/>
          </a:bodyPr>
          <a:lstStyle/>
          <a:p>
            <a:endParaRPr lang="ru-RU" sz="2800" b="1" dirty="0" smtClean="0"/>
          </a:p>
          <a:p>
            <a:r>
              <a:rPr lang="ru-RU" sz="2800" b="1" dirty="0" smtClean="0"/>
              <a:t>ATM-уровень</a:t>
            </a:r>
            <a:r>
              <a:rPr lang="ru-RU" sz="2800" dirty="0" smtClean="0"/>
              <a:t> занимается только </a:t>
            </a:r>
            <a:r>
              <a:rPr lang="ru-RU" sz="2800" b="1" dirty="0" smtClean="0"/>
              <a:t>последовательной передачей </a:t>
            </a:r>
            <a:r>
              <a:rPr lang="ru-RU" sz="2800" b="1" i="1" dirty="0" smtClean="0"/>
              <a:t>ATM</a:t>
            </a:r>
            <a:r>
              <a:rPr lang="ru-RU" sz="2800" b="1" dirty="0" smtClean="0"/>
              <a:t>-ячеек,</a:t>
            </a:r>
            <a:r>
              <a:rPr lang="ru-RU" sz="2800" dirty="0" smtClean="0"/>
              <a:t> полученных от уровня </a:t>
            </a:r>
            <a:r>
              <a:rPr lang="ru-RU" sz="2800" i="1" dirty="0" smtClean="0"/>
              <a:t>AAL</a:t>
            </a:r>
            <a:r>
              <a:rPr lang="ru-RU" sz="2800" dirty="0" smtClean="0"/>
              <a:t>, в установленном </a:t>
            </a:r>
            <a:r>
              <a:rPr lang="ru-RU" sz="2800" i="1" dirty="0" smtClean="0"/>
              <a:t>по</a:t>
            </a:r>
            <a:r>
              <a:rPr lang="ru-RU" sz="2800" dirty="0" smtClean="0"/>
              <a:t> сети соединении (установлением соединения занимается </a:t>
            </a:r>
            <a:r>
              <a:rPr lang="ru-RU" sz="2800" i="1" dirty="0" smtClean="0"/>
              <a:t>плоскость</a:t>
            </a:r>
            <a:r>
              <a:rPr lang="ru-RU" sz="2800" dirty="0" smtClean="0"/>
              <a:t> управления). </a:t>
            </a:r>
          </a:p>
          <a:p>
            <a:r>
              <a:rPr lang="ru-RU" sz="2800" i="1" dirty="0" smtClean="0"/>
              <a:t>ATM</a:t>
            </a:r>
            <a:r>
              <a:rPr lang="ru-RU" sz="2800" dirty="0" smtClean="0"/>
              <a:t>-уровень </a:t>
            </a:r>
            <a:r>
              <a:rPr lang="ru-RU" sz="2800" b="1" dirty="0" smtClean="0"/>
              <a:t>принимает 48-байтовые блоки информации от </a:t>
            </a:r>
            <a:r>
              <a:rPr lang="ru-RU" sz="2800" b="1" i="1" dirty="0" smtClean="0"/>
              <a:t>AAL</a:t>
            </a:r>
            <a:r>
              <a:rPr lang="ru-RU" sz="2800" b="1" dirty="0" smtClean="0"/>
              <a:t> </a:t>
            </a:r>
            <a:r>
              <a:rPr lang="ru-RU" sz="2800" dirty="0" smtClean="0"/>
              <a:t>и </a:t>
            </a:r>
            <a:r>
              <a:rPr lang="ru-RU" sz="2800" b="1" dirty="0" smtClean="0"/>
              <a:t>дополняет их  5-байтовым заголовком, формируя ячейку - ATM</a:t>
            </a:r>
            <a:r>
              <a:rPr lang="ru-RU" sz="2800" dirty="0" smtClean="0"/>
              <a:t>. </a:t>
            </a:r>
          </a:p>
          <a:p>
            <a:r>
              <a:rPr lang="ru-RU" sz="2800" b="1" dirty="0" smtClean="0"/>
              <a:t>Заголовок содержит метку</a:t>
            </a:r>
            <a:r>
              <a:rPr lang="ru-RU" sz="2800" dirty="0" smtClean="0"/>
              <a:t>, которая определяет свойства устанавливаемого соединения и используется коммутатором </a:t>
            </a:r>
            <a:r>
              <a:rPr lang="ru-RU" sz="2800" b="1" dirty="0" smtClean="0"/>
              <a:t>для определения следующего участка пути</a:t>
            </a:r>
            <a:r>
              <a:rPr lang="ru-RU" sz="2800" dirty="0" smtClean="0"/>
              <a:t>, </a:t>
            </a:r>
            <a:r>
              <a:rPr lang="ru-RU" sz="2800" b="1" dirty="0" smtClean="0"/>
              <a:t>а также типа приоритета</a:t>
            </a:r>
            <a:r>
              <a:rPr lang="ru-RU" sz="2800" dirty="0" smtClean="0"/>
              <a:t>.</a:t>
            </a:r>
          </a:p>
          <a:p>
            <a:pPr>
              <a:buNone/>
            </a:pPr>
            <a:r>
              <a:rPr lang="ru-RU" sz="2800" dirty="0" smtClean="0"/>
              <a:t> </a:t>
            </a:r>
          </a:p>
          <a:p>
            <a:pPr>
              <a:buNone/>
            </a:pPr>
            <a:endParaRPr lang="ru-RU" sz="2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640960" cy="706090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Модель АТМ. Уровень АТМ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 r="2434" b="5544"/>
          <a:stretch>
            <a:fillRect/>
          </a:stretch>
        </p:blipFill>
        <p:spPr bwMode="auto">
          <a:xfrm>
            <a:off x="0" y="1268760"/>
            <a:ext cx="8892480" cy="5589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Модель АТМ. Уровень АТМ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 b="5263"/>
          <a:stretch>
            <a:fillRect/>
          </a:stretch>
        </p:blipFill>
        <p:spPr bwMode="auto">
          <a:xfrm>
            <a:off x="179512" y="1196752"/>
            <a:ext cx="8964488" cy="5661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/>
            </a:r>
            <a:br>
              <a:rPr lang="ru-RU" sz="3600" b="1" dirty="0" smtClean="0">
                <a:solidFill>
                  <a:srgbClr val="002060"/>
                </a:solidFill>
              </a:rPr>
            </a:br>
            <a:r>
              <a:rPr lang="ru-RU" sz="3600" b="1" dirty="0" smtClean="0">
                <a:solidFill>
                  <a:srgbClr val="002060"/>
                </a:solidFill>
              </a:rPr>
              <a:t>Модель АТМ. Уровень АТМ</a:t>
            </a:r>
            <a:br>
              <a:rPr lang="ru-RU" sz="3600" b="1" dirty="0" smtClean="0">
                <a:solidFill>
                  <a:srgbClr val="002060"/>
                </a:solidFill>
              </a:rPr>
            </a:b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 b="20833"/>
          <a:stretch>
            <a:fillRect/>
          </a:stretch>
        </p:blipFill>
        <p:spPr bwMode="auto">
          <a:xfrm>
            <a:off x="0" y="1268760"/>
            <a:ext cx="9144000" cy="5589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Модель АТМ. Уровень АТМ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 b="6849"/>
          <a:stretch>
            <a:fillRect/>
          </a:stretch>
        </p:blipFill>
        <p:spPr bwMode="auto">
          <a:xfrm>
            <a:off x="0" y="1340768"/>
            <a:ext cx="9144000" cy="5517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16632"/>
            <a:ext cx="9144000" cy="792088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Модель АТМ. Уровень АТМ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08720"/>
            <a:ext cx="9144000" cy="5949280"/>
          </a:xfrm>
        </p:spPr>
        <p:txBody>
          <a:bodyPr>
            <a:normAutofit fontScale="77500" lnSpcReduction="20000"/>
          </a:bodyPr>
          <a:lstStyle/>
          <a:p>
            <a:r>
              <a:rPr lang="ru-RU" b="1" i="1" dirty="0" smtClean="0"/>
              <a:t>ATM может обеспечить различное качество обслуживания разным соединениям</a:t>
            </a:r>
            <a:r>
              <a:rPr lang="ru-RU" i="1" dirty="0" smtClean="0"/>
              <a:t>.</a:t>
            </a:r>
            <a:endParaRPr lang="ru-RU" dirty="0" smtClean="0"/>
          </a:p>
          <a:p>
            <a:r>
              <a:rPr lang="ru-RU" dirty="0" smtClean="0"/>
              <a:t>Это оговаривается до предоставления услуги специальным соглашением между пользователем и поставщиком услуг, которое называется контрактом на услуги (</a:t>
            </a:r>
            <a:r>
              <a:rPr lang="ru-RU" i="1" dirty="0" err="1" smtClean="0"/>
              <a:t>service</a:t>
            </a:r>
            <a:r>
              <a:rPr lang="ru-RU" dirty="0" smtClean="0"/>
              <a:t> </a:t>
            </a:r>
            <a:r>
              <a:rPr lang="ru-RU" i="1" dirty="0" err="1" smtClean="0"/>
              <a:t>contract</a:t>
            </a:r>
            <a:r>
              <a:rPr lang="ru-RU" dirty="0" smtClean="0"/>
              <a:t>).</a:t>
            </a:r>
            <a:endParaRPr lang="ru-RU" i="1" dirty="0" smtClean="0"/>
          </a:p>
          <a:p>
            <a:r>
              <a:rPr lang="ru-RU" b="1" dirty="0" smtClean="0"/>
              <a:t>Пользователь вырабатывает требования</a:t>
            </a:r>
            <a:r>
              <a:rPr lang="ru-RU" dirty="0" smtClean="0"/>
              <a:t>, которые определяются предоставляемой им нагрузкой и коэффициентом качества (</a:t>
            </a:r>
            <a:r>
              <a:rPr lang="ru-RU" dirty="0" err="1" smtClean="0"/>
              <a:t>QoS</a:t>
            </a:r>
            <a:r>
              <a:rPr lang="ru-RU" dirty="0" smtClean="0"/>
              <a:t>) при установлении связи.</a:t>
            </a:r>
          </a:p>
          <a:p>
            <a:r>
              <a:rPr lang="ru-RU" dirty="0" smtClean="0"/>
              <a:t> </a:t>
            </a:r>
            <a:r>
              <a:rPr lang="ru-RU" i="1" dirty="0" smtClean="0"/>
              <a:t>Если</a:t>
            </a:r>
            <a:r>
              <a:rPr lang="ru-RU" b="1" i="1" dirty="0" smtClean="0"/>
              <a:t> сеть может предоставить требуемое качество</a:t>
            </a:r>
            <a:r>
              <a:rPr lang="ru-RU" i="1" dirty="0" smtClean="0"/>
              <a:t>, то контракт устанавливает гарантированный </a:t>
            </a:r>
            <a:r>
              <a:rPr lang="ru-RU" i="1" dirty="0" err="1" smtClean="0"/>
              <a:t>QoS</a:t>
            </a:r>
            <a:r>
              <a:rPr lang="ru-RU" i="1" dirty="0" smtClean="0"/>
              <a:t>, пока пользователь выполняет все характеристики установленного трафика</a:t>
            </a:r>
            <a:r>
              <a:rPr lang="ru-RU" dirty="0" smtClean="0"/>
              <a:t>.</a:t>
            </a:r>
          </a:p>
          <a:p>
            <a:r>
              <a:rPr lang="ru-RU" dirty="0" smtClean="0"/>
              <a:t> Механизм ведения очереди и расписания в</a:t>
            </a:r>
          </a:p>
          <a:p>
            <a:pPr>
              <a:buNone/>
            </a:pPr>
            <a:r>
              <a:rPr lang="ru-RU" dirty="0"/>
              <a:t> </a:t>
            </a:r>
            <a:r>
              <a:rPr lang="ru-RU" dirty="0" smtClean="0"/>
              <a:t>    </a:t>
            </a:r>
            <a:r>
              <a:rPr lang="ru-RU" i="1" dirty="0" smtClean="0"/>
              <a:t>ATM</a:t>
            </a:r>
            <a:r>
              <a:rPr lang="ru-RU" dirty="0" smtClean="0"/>
              <a:t>-коммутаторах обеспечивает возможность поставки информации с заданным </a:t>
            </a:r>
            <a:r>
              <a:rPr lang="ru-RU" dirty="0" err="1" smtClean="0"/>
              <a:t>QoS</a:t>
            </a:r>
            <a:r>
              <a:rPr lang="ru-RU" dirty="0" smtClean="0"/>
              <a:t>.</a:t>
            </a:r>
          </a:p>
          <a:p>
            <a:r>
              <a:rPr lang="ru-RU" b="1" dirty="0" smtClean="0"/>
              <a:t> Для того чтобы доставить информацию с предписанным </a:t>
            </a:r>
            <a:r>
              <a:rPr lang="ru-RU" b="1" dirty="0" err="1" smtClean="0"/>
              <a:t>QoS</a:t>
            </a:r>
            <a:r>
              <a:rPr lang="ru-RU" b="1" dirty="0" smtClean="0"/>
              <a:t>, </a:t>
            </a:r>
            <a:r>
              <a:rPr lang="ru-RU" b="1" i="1" dirty="0" smtClean="0"/>
              <a:t>ATM</a:t>
            </a:r>
            <a:r>
              <a:rPr lang="ru-RU" b="1" dirty="0" smtClean="0"/>
              <a:t>-сети используют механизм контроля.</a:t>
            </a:r>
            <a:endParaRPr lang="ru-RU" b="1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Модель АТМ. Уровень физический.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r="12988" b="11466"/>
          <a:stretch>
            <a:fillRect/>
          </a:stretch>
        </p:blipFill>
        <p:spPr bwMode="auto">
          <a:xfrm>
            <a:off x="0" y="1124744"/>
            <a:ext cx="91440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6712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rgbClr val="002060"/>
                </a:solidFill>
              </a:rPr>
              <a:t>Модель АТМ. Уровень физический.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764704"/>
            <a:ext cx="8964488" cy="5832648"/>
          </a:xfrm>
        </p:spPr>
        <p:txBody>
          <a:bodyPr>
            <a:noAutofit/>
          </a:bodyPr>
          <a:lstStyle/>
          <a:p>
            <a:r>
              <a:rPr lang="ru-RU" sz="2400" b="1" dirty="0"/>
              <a:t>Физический уровень</a:t>
            </a:r>
            <a:r>
              <a:rPr lang="ru-RU" sz="2400" dirty="0"/>
              <a:t> </a:t>
            </a:r>
            <a:r>
              <a:rPr lang="ru-RU" sz="2400" dirty="0" smtClean="0"/>
              <a:t>(рисунок ниже) разделяется </a:t>
            </a:r>
            <a:r>
              <a:rPr lang="ru-RU" sz="2400" dirty="0"/>
              <a:t>на два </a:t>
            </a:r>
            <a:r>
              <a:rPr lang="ru-RU" sz="2400" dirty="0" smtClean="0"/>
              <a:t>подуровня:</a:t>
            </a:r>
          </a:p>
          <a:p>
            <a:pPr>
              <a:buNone/>
            </a:pPr>
            <a:r>
              <a:rPr lang="ru-RU" sz="2400" b="1" dirty="0" smtClean="0"/>
              <a:t> -Подуровень согласования с системой передачи TCS </a:t>
            </a:r>
            <a:r>
              <a:rPr lang="ru-RU" sz="2400" dirty="0" smtClean="0"/>
              <a:t>— (</a:t>
            </a:r>
            <a:r>
              <a:rPr lang="ru-RU" sz="2400" i="1" dirty="0" err="1" smtClean="0"/>
              <a:t>Transmission</a:t>
            </a:r>
            <a:r>
              <a:rPr lang="ru-RU" sz="2400" dirty="0" smtClean="0"/>
              <a:t> </a:t>
            </a:r>
            <a:r>
              <a:rPr lang="ru-RU" sz="2400" i="1" dirty="0" err="1" smtClean="0"/>
              <a:t>Convergence</a:t>
            </a:r>
            <a:r>
              <a:rPr lang="ru-RU" sz="2400" dirty="0" smtClean="0"/>
              <a:t> </a:t>
            </a:r>
            <a:r>
              <a:rPr lang="ru-RU" sz="2400" i="1" dirty="0" err="1" smtClean="0"/>
              <a:t>Sublayer</a:t>
            </a:r>
            <a:r>
              <a:rPr lang="ru-RU" sz="2400" dirty="0" smtClean="0"/>
              <a:t>):</a:t>
            </a:r>
          </a:p>
          <a:p>
            <a:pPr>
              <a:buNone/>
            </a:pPr>
            <a:r>
              <a:rPr lang="ru-RU" sz="2400" dirty="0" smtClean="0"/>
              <a:t>        - устанавливает границы </a:t>
            </a:r>
            <a:r>
              <a:rPr lang="ru-RU" sz="2400" i="1" dirty="0" smtClean="0"/>
              <a:t>ATM</a:t>
            </a:r>
            <a:r>
              <a:rPr lang="ru-RU" sz="2400" dirty="0" smtClean="0"/>
              <a:t>-ячеек в потоке </a:t>
            </a:r>
            <a:r>
              <a:rPr lang="ru-RU" sz="2400" i="1" dirty="0" smtClean="0"/>
              <a:t>бит</a:t>
            </a:r>
            <a:r>
              <a:rPr lang="ru-RU" sz="2400" dirty="0" smtClean="0"/>
              <a:t>;   </a:t>
            </a:r>
          </a:p>
          <a:p>
            <a:pPr>
              <a:buNone/>
            </a:pPr>
            <a:r>
              <a:rPr lang="ru-RU" sz="2400" dirty="0" smtClean="0"/>
              <a:t>        - генерирует и контролирует контрольную сумму; </a:t>
            </a:r>
          </a:p>
          <a:p>
            <a:pPr>
              <a:buNone/>
            </a:pPr>
            <a:r>
              <a:rPr lang="ru-RU" sz="2400" dirty="0" smtClean="0"/>
              <a:t>        - вставляет и удаляет "свободные" </a:t>
            </a:r>
            <a:r>
              <a:rPr lang="ru-RU" sz="2400" i="1" dirty="0" smtClean="0"/>
              <a:t>ATM</a:t>
            </a:r>
            <a:r>
              <a:rPr lang="ru-RU" sz="2400" dirty="0" smtClean="0"/>
              <a:t>-ячейки в формат, предназначенный для передачи по заданной физической среде.</a:t>
            </a:r>
            <a:endParaRPr lang="ru-RU" sz="2400" dirty="0"/>
          </a:p>
          <a:p>
            <a:pPr>
              <a:buNone/>
            </a:pPr>
            <a:r>
              <a:rPr lang="ru-RU" sz="2400" i="1" dirty="0" smtClean="0"/>
              <a:t>        - </a:t>
            </a:r>
            <a:r>
              <a:rPr lang="ru-RU" sz="2400" b="1" dirty="0" smtClean="0"/>
              <a:t>Подуровень</a:t>
            </a:r>
            <a:r>
              <a:rPr lang="ru-RU" sz="2400" b="1" dirty="0"/>
              <a:t>, зависящий от физической </a:t>
            </a:r>
            <a:r>
              <a:rPr lang="ru-RU" sz="2400" b="1" dirty="0" smtClean="0"/>
              <a:t>среды</a:t>
            </a:r>
            <a:r>
              <a:rPr lang="ru-RU" sz="2400" dirty="0" smtClean="0"/>
              <a:t> </a:t>
            </a:r>
            <a:r>
              <a:rPr lang="ru-RU" sz="2400" b="1" dirty="0" smtClean="0"/>
              <a:t>PMD</a:t>
            </a:r>
            <a:r>
              <a:rPr lang="ru-RU" sz="2400" i="1" dirty="0" smtClean="0"/>
              <a:t> </a:t>
            </a:r>
            <a:r>
              <a:rPr lang="ru-RU" sz="2400" dirty="0" smtClean="0"/>
              <a:t> (</a:t>
            </a:r>
            <a:r>
              <a:rPr lang="ru-RU" sz="2400" i="1" dirty="0" err="1" smtClean="0"/>
              <a:t>Physical</a:t>
            </a:r>
            <a:r>
              <a:rPr lang="ru-RU" sz="2400" dirty="0" smtClean="0"/>
              <a:t> </a:t>
            </a:r>
            <a:r>
              <a:rPr lang="ru-RU" sz="2400" dirty="0" err="1" smtClean="0"/>
              <a:t>MediumDependent</a:t>
            </a:r>
            <a:r>
              <a:rPr lang="ru-RU" sz="2400" dirty="0" smtClean="0"/>
              <a:t>),  </a:t>
            </a:r>
            <a:r>
              <a:rPr lang="ru-RU" sz="2400" b="1" dirty="0" smtClean="0"/>
              <a:t>определяет возможность передачи </a:t>
            </a:r>
            <a:r>
              <a:rPr lang="ru-RU" sz="2400" b="1" i="1" dirty="0" smtClean="0"/>
              <a:t>бит</a:t>
            </a:r>
            <a:r>
              <a:rPr lang="ru-RU" sz="2400" b="1" dirty="0"/>
              <a:t> через конкретную </a:t>
            </a:r>
            <a:r>
              <a:rPr lang="ru-RU" sz="2400" b="1" dirty="0" smtClean="0"/>
              <a:t>среду, обеспечивая:</a:t>
            </a:r>
          </a:p>
          <a:p>
            <a:pPr>
              <a:buNone/>
            </a:pPr>
            <a:r>
              <a:rPr lang="ru-RU" sz="2400" dirty="0"/>
              <a:t> </a:t>
            </a:r>
            <a:r>
              <a:rPr lang="ru-RU" sz="2400" dirty="0" smtClean="0"/>
              <a:t>         </a:t>
            </a:r>
            <a:r>
              <a:rPr lang="ru-RU" sz="2400" i="1" dirty="0" smtClean="0"/>
              <a:t>- </a:t>
            </a:r>
            <a:r>
              <a:rPr lang="ru-RU" sz="2400" i="1" dirty="0"/>
              <a:t>линейное кодирование, </a:t>
            </a:r>
            <a:endParaRPr lang="ru-RU" sz="2400" i="1" dirty="0" smtClean="0"/>
          </a:p>
          <a:p>
            <a:pPr>
              <a:buNone/>
            </a:pPr>
            <a:r>
              <a:rPr lang="ru-RU" sz="2400" i="1" dirty="0"/>
              <a:t> </a:t>
            </a:r>
            <a:r>
              <a:rPr lang="ru-RU" sz="2400" i="1" dirty="0" smtClean="0"/>
              <a:t>         - синхронизация,</a:t>
            </a:r>
          </a:p>
          <a:p>
            <a:pPr>
              <a:buNone/>
            </a:pPr>
            <a:r>
              <a:rPr lang="ru-RU" sz="2400" i="1" dirty="0"/>
              <a:t> </a:t>
            </a:r>
            <a:r>
              <a:rPr lang="ru-RU" sz="2400" i="1" dirty="0" smtClean="0"/>
              <a:t>         - </a:t>
            </a:r>
            <a:r>
              <a:rPr lang="ru-RU" sz="2400" i="1" dirty="0"/>
              <a:t>восстановление формы </a:t>
            </a:r>
            <a:r>
              <a:rPr lang="ru-RU" sz="2400" i="1" dirty="0" smtClean="0"/>
              <a:t>сигнала, и т.д.</a:t>
            </a:r>
          </a:p>
          <a:p>
            <a:pPr>
              <a:buNone/>
            </a:pPr>
            <a:r>
              <a:rPr lang="ru-RU" sz="2400" i="1" dirty="0" smtClean="0"/>
              <a:t>    </a:t>
            </a:r>
            <a:endParaRPr lang="ru-RU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Модель АТМ. Уровень физический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 r="2828" b="9363"/>
          <a:stretch>
            <a:fillRect/>
          </a:stretch>
        </p:blipFill>
        <p:spPr bwMode="auto">
          <a:xfrm>
            <a:off x="0" y="1196752"/>
            <a:ext cx="9144000" cy="5661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6712"/>
          </a:xfrm>
        </p:spPr>
        <p:txBody>
          <a:bodyPr>
            <a:normAutofit/>
          </a:bodyPr>
          <a:lstStyle/>
          <a:p>
            <a:r>
              <a:rPr lang="ru-RU" b="1" dirty="0" smtClean="0">
                <a:solidFill>
                  <a:srgbClr val="002060"/>
                </a:solidFill>
              </a:rPr>
              <a:t>Модель АТМ. Уровень физический.</a:t>
            </a:r>
            <a:endParaRPr lang="ru-RU" dirty="0"/>
          </a:p>
        </p:txBody>
      </p:sp>
      <p:pic>
        <p:nvPicPr>
          <p:cNvPr id="6146" name="Picture 2" descr="C:\Users\Юра\Downloads\физический уровень АТМ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26999" r="17005"/>
          <a:stretch>
            <a:fillRect/>
          </a:stretch>
        </p:blipFill>
        <p:spPr bwMode="auto">
          <a:xfrm>
            <a:off x="467544" y="908720"/>
            <a:ext cx="8352928" cy="59492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964488" cy="90872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rgbClr val="002060"/>
                </a:solidFill>
              </a:rPr>
              <a:t>Модель АТМ. Уровень физический. 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6093296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ru-RU" dirty="0"/>
              <a:t> </a:t>
            </a:r>
            <a:r>
              <a:rPr lang="ru-RU" dirty="0" smtClean="0"/>
              <a:t>   </a:t>
            </a:r>
            <a:r>
              <a:rPr lang="ru-RU" b="1" dirty="0" smtClean="0"/>
              <a:t>Имеется большое число физических уровней, предназначенных для обеспечения различных сетевых сценариев</a:t>
            </a:r>
            <a:r>
              <a:rPr lang="ru-RU" dirty="0" smtClean="0"/>
              <a:t>:</a:t>
            </a:r>
          </a:p>
          <a:p>
            <a:pPr>
              <a:buNone/>
            </a:pPr>
            <a:r>
              <a:rPr lang="ru-RU" dirty="0" smtClean="0"/>
              <a:t>          - локальных или региональных сетей,</a:t>
            </a:r>
          </a:p>
          <a:p>
            <a:pPr>
              <a:buNone/>
            </a:pPr>
            <a:r>
              <a:rPr lang="ru-RU" dirty="0"/>
              <a:t> </a:t>
            </a:r>
            <a:r>
              <a:rPr lang="ru-RU" dirty="0" smtClean="0"/>
              <a:t>        -  учрежденческих сетей.</a:t>
            </a:r>
          </a:p>
          <a:p>
            <a:pPr>
              <a:buNone/>
            </a:pPr>
            <a:r>
              <a:rPr lang="ru-RU" b="1" dirty="0" smtClean="0"/>
              <a:t>  Для распространения сигнала чаще всего используется волоконно-оптическая линия связи (ВОЛС).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ru-RU" dirty="0" smtClean="0"/>
              <a:t>  </a:t>
            </a:r>
            <a:r>
              <a:rPr lang="ru-RU" b="1" dirty="0" smtClean="0"/>
              <a:t>ATM адаптируется для применения в уже существующих стандартах физического уровня, таких как</a:t>
            </a:r>
            <a:r>
              <a:rPr lang="ru-RU" dirty="0" smtClean="0"/>
              <a:t>:</a:t>
            </a:r>
          </a:p>
          <a:p>
            <a:pPr>
              <a:buNone/>
            </a:pPr>
            <a:r>
              <a:rPr lang="ru-RU" dirty="0"/>
              <a:t> </a:t>
            </a:r>
            <a:r>
              <a:rPr lang="ru-RU" dirty="0" smtClean="0"/>
              <a:t>       -  </a:t>
            </a:r>
            <a:r>
              <a:rPr lang="ru-RU" i="1" dirty="0" smtClean="0"/>
              <a:t>SDH</a:t>
            </a:r>
            <a:r>
              <a:rPr lang="ru-RU" dirty="0" smtClean="0"/>
              <a:t> (155,2 Мбит/с), </a:t>
            </a:r>
          </a:p>
          <a:p>
            <a:pPr>
              <a:buNone/>
            </a:pPr>
            <a:r>
              <a:rPr lang="ru-RU" dirty="0"/>
              <a:t> </a:t>
            </a:r>
            <a:r>
              <a:rPr lang="ru-RU" dirty="0" smtClean="0"/>
              <a:t>       - E1 (2,048 Мбит/с) </a:t>
            </a:r>
          </a:p>
          <a:p>
            <a:pPr>
              <a:buNone/>
            </a:pPr>
            <a:r>
              <a:rPr lang="ru-RU" dirty="0"/>
              <a:t> </a:t>
            </a:r>
            <a:r>
              <a:rPr lang="ru-RU" dirty="0" smtClean="0"/>
              <a:t>       - E3(34,4 Мбит/с)</a:t>
            </a:r>
          </a:p>
          <a:p>
            <a:pPr>
              <a:buNone/>
            </a:pPr>
            <a:r>
              <a:rPr lang="ru-RU" dirty="0"/>
              <a:t> </a:t>
            </a:r>
            <a:r>
              <a:rPr lang="ru-RU" dirty="0" smtClean="0"/>
              <a:t>       - E4 (139 Мбит/с) . </a:t>
            </a:r>
          </a:p>
          <a:p>
            <a:pPr>
              <a:buNone/>
            </a:pPr>
            <a:r>
              <a:rPr lang="ru-RU" dirty="0"/>
              <a:t> </a:t>
            </a:r>
            <a:endParaRPr lang="ru-RU" b="1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80728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rgbClr val="002060"/>
                </a:solidFill>
              </a:rPr>
              <a:t>Размещение уровней на плоскости пользователя</a:t>
            </a:r>
            <a:endParaRPr lang="ru-RU" sz="3200" b="1" dirty="0">
              <a:solidFill>
                <a:srgbClr val="002060"/>
              </a:solidFill>
            </a:endParaRPr>
          </a:p>
        </p:txBody>
      </p:sp>
      <p:pic>
        <p:nvPicPr>
          <p:cNvPr id="4" name="Содержимое 3" descr="Размещение уровней на плоскости пользователя"/>
          <p:cNvPicPr>
            <a:picLocks noGrp="1"/>
          </p:cNvPicPr>
          <p:nvPr>
            <p:ph idx="1"/>
          </p:nvPr>
        </p:nvPicPr>
        <p:blipFill>
          <a:blip r:embed="rId2" cstate="print"/>
          <a:srcRect b="2817"/>
          <a:stretch>
            <a:fillRect/>
          </a:stretch>
        </p:blipFill>
        <p:spPr bwMode="auto">
          <a:xfrm>
            <a:off x="179512" y="1052736"/>
            <a:ext cx="8964488" cy="4968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869160"/>
            <a:ext cx="7772400" cy="792088"/>
          </a:xfrm>
        </p:spPr>
        <p:txBody>
          <a:bodyPr/>
          <a:lstStyle/>
          <a:p>
            <a:r>
              <a:rPr lang="ru-RU" altLang="ru-RU" dirty="0" smtClean="0">
                <a:solidFill>
                  <a:srgbClr val="002060"/>
                </a:solidFill>
              </a:rPr>
              <a:t>4.Т</a:t>
            </a:r>
            <a:r>
              <a:rPr lang="ru-RU" altLang="ru-RU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</a:t>
            </a:r>
            <a:r>
              <a:rPr lang="ru-RU" altLang="ru-RU" dirty="0">
                <a:solidFill>
                  <a:srgbClr val="002060"/>
                </a:solidFill>
                <a:cs typeface="Times New Roman" panose="02020603050405020304" pitchFamily="18" charset="0"/>
              </a:rPr>
              <a:t>АТМ.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79512" y="404665"/>
            <a:ext cx="8784976" cy="4104456"/>
          </a:xfrm>
        </p:spPr>
        <p:txBody>
          <a:bodyPr>
            <a:normAutofit/>
          </a:bodyPr>
          <a:lstStyle/>
          <a:p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4.1.1 Применение</a:t>
            </a:r>
          </a:p>
          <a:p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4.1.2  Характеристика сети. Типы соединений.</a:t>
            </a:r>
          </a:p>
          <a:p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4.2</a:t>
            </a:r>
            <a:r>
              <a:rPr lang="ru-RU" altLang="ru-RU" sz="2800" dirty="0" smtClean="0">
                <a:solidFill>
                  <a:srgbClr val="002060"/>
                </a:solidFill>
              </a:rPr>
              <a:t> </a:t>
            </a:r>
            <a:r>
              <a:rPr lang="ru-RU" altLang="ru-RU" sz="2800" b="1" dirty="0" smtClean="0">
                <a:solidFill>
                  <a:srgbClr val="002060"/>
                </a:solidFill>
              </a:rPr>
              <a:t>Т</a:t>
            </a:r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Подключение сетей.</a:t>
            </a:r>
            <a:b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</a:br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       Интерфейсы</a:t>
            </a:r>
            <a:r>
              <a:rPr lang="en-US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UNI,NNI</a:t>
            </a:r>
            <a:endParaRPr lang="ru-RU" altLang="ru-RU" sz="2800" b="1" dirty="0" smtClean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4.3 АТМ коммутация. Техника виртуальных каналов</a:t>
            </a:r>
          </a:p>
          <a:p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4</a:t>
            </a:r>
            <a:r>
              <a:rPr lang="ru-RU" altLang="ru-RU" sz="2800" b="1" dirty="0" smtClean="0">
                <a:solidFill>
                  <a:srgbClr val="002060"/>
                </a:solidFill>
              </a:rPr>
              <a:t>.4 Т</a:t>
            </a:r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Формат ячейки. Передача ячеек.</a:t>
            </a:r>
            <a:r>
              <a:rPr lang="ru-RU" sz="2800" b="1" dirty="0" smtClean="0"/>
              <a:t/>
            </a:r>
            <a:br>
              <a:rPr lang="ru-RU" sz="2800" b="1" dirty="0" smtClean="0"/>
            </a:br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/>
            </a:r>
            <a:b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</a:br>
            <a:endParaRPr lang="ru-RU" sz="2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514402"/>
          </a:xfrm>
        </p:spPr>
        <p:txBody>
          <a:bodyPr>
            <a:normAutofit/>
          </a:bodyPr>
          <a:lstStyle/>
          <a:p>
            <a:r>
              <a:rPr lang="ru-RU" altLang="ru-RU" b="1" dirty="0" smtClean="0">
                <a:solidFill>
                  <a:srgbClr val="002060"/>
                </a:solidFill>
              </a:rPr>
              <a:t>4.1.Т</a:t>
            </a:r>
            <a:r>
              <a:rPr lang="ru-RU" altLang="ru-RU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</a:t>
            </a:r>
            <a:br>
              <a:rPr lang="ru-RU" altLang="ru-RU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</a:br>
            <a:r>
              <a:rPr lang="ru-RU" altLang="ru-RU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4.1.1 Применение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0"/>
            <a:ext cx="8424936" cy="764704"/>
          </a:xfrm>
        </p:spPr>
        <p:txBody>
          <a:bodyPr>
            <a:normAutofit/>
          </a:bodyPr>
          <a:lstStyle/>
          <a:p>
            <a:r>
              <a:rPr lang="ru-RU" altLang="ru-RU" sz="3600" b="1" dirty="0" smtClean="0">
                <a:solidFill>
                  <a:srgbClr val="002060"/>
                </a:solidFill>
              </a:rPr>
              <a:t>4.1.1 Т</a:t>
            </a:r>
            <a: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Применение.</a:t>
            </a:r>
            <a:endParaRPr lang="ru-RU" sz="3600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t="11842" b="5263"/>
          <a:stretch>
            <a:fillRect/>
          </a:stretch>
        </p:blipFill>
        <p:spPr bwMode="auto">
          <a:xfrm>
            <a:off x="0" y="836712"/>
            <a:ext cx="9144000" cy="5832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778098"/>
          </a:xfrm>
        </p:spPr>
        <p:txBody>
          <a:bodyPr>
            <a:normAutofit fontScale="90000"/>
          </a:bodyPr>
          <a:lstStyle/>
          <a:p>
            <a:r>
              <a:rPr lang="ru-RU" altLang="ru-RU" sz="3600" b="1" dirty="0" smtClean="0">
                <a:solidFill>
                  <a:srgbClr val="002060"/>
                </a:solidFill>
              </a:rPr>
              <a:t>4.1.1Т</a:t>
            </a:r>
            <a: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Применение</a:t>
            </a:r>
            <a:r>
              <a:rPr lang="en-US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Сети </a:t>
            </a:r>
            <a:r>
              <a:rPr lang="en-US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LAN/MAN</a:t>
            </a:r>
            <a:endParaRPr lang="ru-RU" sz="3600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t="11769" b="5499"/>
          <a:stretch>
            <a:fillRect/>
          </a:stretch>
        </p:blipFill>
        <p:spPr bwMode="auto">
          <a:xfrm>
            <a:off x="251520" y="1628800"/>
            <a:ext cx="8496944" cy="52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922114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>
                <a:solidFill>
                  <a:srgbClr val="002060"/>
                </a:solidFill>
              </a:rPr>
              <a:t>4.1.1Согласование технология АТМ с технологией </a:t>
            </a:r>
            <a:r>
              <a:rPr lang="en-US" sz="3200" b="1" dirty="0" smtClean="0">
                <a:solidFill>
                  <a:srgbClr val="002060"/>
                </a:solidFill>
              </a:rPr>
              <a:t>SDH</a:t>
            </a:r>
            <a:endParaRPr lang="ru-RU" sz="3200" b="1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5536" y="1340768"/>
            <a:ext cx="8496944" cy="5184576"/>
          </a:xfrm>
        </p:spPr>
        <p:txBody>
          <a:bodyPr>
            <a:normAutofit/>
          </a:bodyPr>
          <a:lstStyle/>
          <a:p>
            <a:r>
              <a:rPr lang="ru-RU" sz="2800" b="1" dirty="0" smtClean="0"/>
              <a:t>Технология АТМ хорошо согласуется с технологией </a:t>
            </a:r>
            <a:r>
              <a:rPr lang="en-US" sz="2800" b="1" dirty="0" smtClean="0"/>
              <a:t>SDH</a:t>
            </a:r>
            <a:r>
              <a:rPr lang="ru-RU" sz="2800" dirty="0" smtClean="0"/>
              <a:t>:</a:t>
            </a:r>
          </a:p>
          <a:p>
            <a:pPr>
              <a:buNone/>
            </a:pPr>
            <a:r>
              <a:rPr lang="ru-RU" sz="2800" dirty="0" smtClean="0"/>
              <a:t>      АТМ – ячейки могут быть помещены в синхронный транспортный модуль </a:t>
            </a:r>
            <a:r>
              <a:rPr lang="en-US" sz="2800" dirty="0" smtClean="0"/>
              <a:t>STM-1</a:t>
            </a:r>
            <a:r>
              <a:rPr lang="ru-RU" sz="2800" dirty="0" smtClean="0"/>
              <a:t>.</a:t>
            </a:r>
          </a:p>
          <a:p>
            <a:r>
              <a:rPr lang="ru-RU" sz="2800" dirty="0" smtClean="0"/>
              <a:t>Для этого его упаковывают в виртуальный контейнер </a:t>
            </a:r>
            <a:r>
              <a:rPr lang="en-US" sz="2800" dirty="0" smtClean="0"/>
              <a:t>VC-</a:t>
            </a:r>
            <a:r>
              <a:rPr lang="ru-RU" sz="2800" dirty="0" smtClean="0"/>
              <a:t>4, а в заголовке </a:t>
            </a:r>
            <a:r>
              <a:rPr lang="en-US" sz="2800" dirty="0" smtClean="0"/>
              <a:t>POH </a:t>
            </a:r>
            <a:r>
              <a:rPr lang="ru-RU" sz="2800" dirty="0" smtClean="0"/>
              <a:t>этого контейнера отмечают начало записи АТМ- ячеек, затем модуль помещают в модуль </a:t>
            </a:r>
            <a:r>
              <a:rPr lang="en-US" sz="2800" dirty="0" smtClean="0"/>
              <a:t>STM-1</a:t>
            </a:r>
            <a:r>
              <a:rPr lang="ru-RU" sz="2800" dirty="0" smtClean="0"/>
              <a:t>.</a:t>
            </a:r>
          </a:p>
          <a:p>
            <a:endParaRPr lang="ru-RU" sz="2800" dirty="0" smtClean="0"/>
          </a:p>
          <a:p>
            <a:r>
              <a:rPr lang="ru-RU" sz="2800" dirty="0" smtClean="0"/>
              <a:t> Размещение ячеек АТМ в кадрах  </a:t>
            </a:r>
            <a:r>
              <a:rPr lang="en-US" sz="2800" dirty="0" smtClean="0"/>
              <a:t>SDH</a:t>
            </a:r>
            <a:r>
              <a:rPr lang="ru-RU" sz="2800" dirty="0" smtClean="0"/>
              <a:t> представлено на рисунке.</a:t>
            </a:r>
            <a:endParaRPr lang="ru-RU" sz="2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Содержимое 3" descr="https://myslide.ru/documents_4/d775aa0f163d8528b4213a0fd0ce5095/img17.jpg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778098"/>
          </a:xfrm>
        </p:spPr>
        <p:txBody>
          <a:bodyPr>
            <a:normAutofit fontScale="90000"/>
          </a:bodyPr>
          <a:lstStyle/>
          <a:p>
            <a:pPr algn="l"/>
            <a:r>
              <a:rPr lang="ru-RU" altLang="ru-RU" sz="3200" b="1" dirty="0" smtClean="0">
                <a:solidFill>
                  <a:srgbClr val="002060"/>
                </a:solidFill>
              </a:rPr>
              <a:t>4.1.1Т</a:t>
            </a:r>
            <a:r>
              <a:rPr lang="ru-RU" altLang="ru-RU" sz="32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</a:t>
            </a:r>
            <a:r>
              <a:rPr lang="en-US" altLang="ru-RU" sz="32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32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как </a:t>
            </a:r>
            <a:r>
              <a:rPr lang="en-US" altLang="ru-RU" sz="32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WAN </a:t>
            </a:r>
            <a:r>
              <a:rPr lang="ru-RU" altLang="ru-RU" sz="32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базировалась на </a:t>
            </a:r>
            <a:r>
              <a:rPr lang="en-US" altLang="ru-RU" sz="32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SDH</a:t>
            </a:r>
            <a:endParaRPr lang="ru-RU" sz="3200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t="13360" b="5499"/>
          <a:stretch>
            <a:fillRect/>
          </a:stretch>
        </p:blipFill>
        <p:spPr bwMode="auto">
          <a:xfrm>
            <a:off x="179512" y="1196752"/>
            <a:ext cx="8964488" cy="5328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ru-RU" altLang="ru-RU" sz="2800" b="1" dirty="0" smtClean="0">
                <a:solidFill>
                  <a:srgbClr val="002060"/>
                </a:solidFill>
              </a:rPr>
              <a:t>4.1.1Т</a:t>
            </a:r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</a:t>
            </a:r>
            <a:r>
              <a:rPr lang="en-US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en-US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SDH </a:t>
            </a:r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каналы (тайм</a:t>
            </a:r>
            <a:r>
              <a:rPr lang="en-US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-</a:t>
            </a:r>
            <a:r>
              <a:rPr lang="en-US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слоты </a:t>
            </a:r>
            <a:r>
              <a:rPr lang="en-US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S-TDM)</a:t>
            </a:r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endParaRPr lang="ru-RU" sz="2800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t="12728" b="6131"/>
          <a:stretch>
            <a:fillRect/>
          </a:stretch>
        </p:blipFill>
        <p:spPr bwMode="auto">
          <a:xfrm>
            <a:off x="251520" y="1340768"/>
            <a:ext cx="8496944" cy="525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964488" cy="792088"/>
          </a:xfrm>
        </p:spPr>
        <p:txBody>
          <a:bodyPr>
            <a:normAutofit/>
          </a:bodyPr>
          <a:lstStyle/>
          <a:p>
            <a:r>
              <a:rPr lang="ru-RU" altLang="ru-RU" sz="2800" b="1" dirty="0" smtClean="0">
                <a:solidFill>
                  <a:srgbClr val="002060"/>
                </a:solidFill>
              </a:rPr>
              <a:t>4.1.1 Т</a:t>
            </a:r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</a:t>
            </a:r>
            <a:r>
              <a:rPr lang="en-US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ATM-VC</a:t>
            </a:r>
            <a:r>
              <a:rPr lang="ru-RU" altLang="ru-RU" sz="28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ВНУТРИ</a:t>
            </a:r>
            <a:r>
              <a:rPr lang="en-US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SDH</a:t>
            </a:r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- КАНАЛОВ</a:t>
            </a:r>
            <a:endParaRPr lang="ru-RU" sz="2800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t="11769" b="5499"/>
          <a:stretch>
            <a:fillRect/>
          </a:stretch>
        </p:blipFill>
        <p:spPr bwMode="auto">
          <a:xfrm>
            <a:off x="251520" y="908720"/>
            <a:ext cx="8712968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412776"/>
            <a:ext cx="8229600" cy="1944216"/>
          </a:xfrm>
        </p:spPr>
        <p:txBody>
          <a:bodyPr>
            <a:normAutofit/>
          </a:bodyPr>
          <a:lstStyle/>
          <a:p>
            <a:r>
              <a:rPr lang="ru-RU" altLang="ru-RU" b="1" dirty="0" smtClean="0">
                <a:solidFill>
                  <a:srgbClr val="002060"/>
                </a:solidFill>
              </a:rPr>
              <a:t>4.1.2 Т</a:t>
            </a:r>
            <a:r>
              <a:rPr lang="ru-RU" altLang="ru-RU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</a:t>
            </a:r>
            <a:r>
              <a:rPr lang="ru-RU" altLang="ru-RU" b="1" dirty="0" smtClean="0">
                <a:solidFill>
                  <a:srgbClr val="002060"/>
                </a:solidFill>
              </a:rPr>
              <a:t>Характеристика.</a:t>
            </a:r>
            <a:endParaRPr lang="ru-RU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80728"/>
          </a:xfrm>
        </p:spPr>
        <p:txBody>
          <a:bodyPr>
            <a:normAutofit/>
          </a:bodyPr>
          <a:lstStyle/>
          <a:p>
            <a:r>
              <a:rPr lang="ru-RU" altLang="ru-RU" sz="3600" b="1" dirty="0" smtClean="0">
                <a:solidFill>
                  <a:srgbClr val="002060"/>
                </a:solidFill>
              </a:rPr>
              <a:t>4.1Т</a:t>
            </a:r>
            <a: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</a:t>
            </a:r>
            <a:r>
              <a:rPr lang="ru-RU" altLang="ru-RU" sz="3600" b="1" dirty="0" smtClean="0">
                <a:solidFill>
                  <a:srgbClr val="002060"/>
                </a:solidFill>
              </a:rPr>
              <a:t> Характеристика.</a:t>
            </a:r>
            <a:endParaRPr lang="ru-RU" sz="36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08720"/>
            <a:ext cx="9144000" cy="594928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ru-RU" sz="2800" dirty="0" smtClean="0"/>
              <a:t>Технология АТМ разрабатывалась как единая универсальная транспортная технология поколения сетей с интеграцией услуг, так называемых широкополосных цифровых сетей </a:t>
            </a:r>
            <a:r>
              <a:rPr lang="en-US" sz="2800" dirty="0" smtClean="0"/>
              <a:t>(</a:t>
            </a:r>
            <a:r>
              <a:rPr lang="ru-RU" sz="2800" dirty="0" smtClean="0"/>
              <a:t>B-ISDN). </a:t>
            </a:r>
            <a:endParaRPr lang="en-US" sz="2800" dirty="0" smtClean="0"/>
          </a:p>
          <a:p>
            <a:pPr marL="342000" indent="-34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q"/>
            </a:pPr>
            <a:r>
              <a:rPr lang="ru-RU" sz="2800" dirty="0" smtClean="0"/>
              <a:t>Уникальность технологии АТМ состоит в совместимости со всеми базовыми сетевыми технологиями глобальной сети Интернет и  локальных сетей.</a:t>
            </a:r>
          </a:p>
          <a:p>
            <a:pPr marL="342000" indent="-34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q"/>
            </a:pPr>
            <a:r>
              <a:rPr lang="ru-RU" altLang="ru-RU" sz="2800" b="1" dirty="0" smtClean="0"/>
              <a:t> Технология АТМ предполагает запись любого вида информации в ячейку фиксированной длины .</a:t>
            </a:r>
          </a:p>
          <a:p>
            <a:pPr marL="342000" indent="-34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q"/>
            </a:pPr>
            <a:r>
              <a:rPr lang="ru-RU" altLang="ru-RU" sz="2800" dirty="0" smtClean="0"/>
              <a:t>Технология АТМ -  быстрая коммутация коротких пакетов фиксированной  длины (53 байт), называемых ячейками - это технология коммутации ячеек.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706090"/>
          </a:xfrm>
        </p:spPr>
        <p:txBody>
          <a:bodyPr>
            <a:normAutofit/>
          </a:bodyPr>
          <a:lstStyle/>
          <a:p>
            <a:r>
              <a:rPr lang="ru-RU" altLang="ru-RU" sz="2800" b="1" dirty="0" smtClean="0">
                <a:solidFill>
                  <a:srgbClr val="002060"/>
                </a:solidFill>
              </a:rPr>
              <a:t>4.1.2 Т</a:t>
            </a:r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</a:t>
            </a:r>
            <a:r>
              <a:rPr lang="ru-RU" sz="2800" b="1" dirty="0" smtClean="0">
                <a:solidFill>
                  <a:srgbClr val="002060"/>
                </a:solidFill>
              </a:rPr>
              <a:t>Формирование каналов в АТМ</a:t>
            </a:r>
            <a:endParaRPr lang="ru-RU" sz="2800" b="1" dirty="0">
              <a:solidFill>
                <a:srgbClr val="002060"/>
              </a:solidFill>
            </a:endParaRPr>
          </a:p>
        </p:txBody>
      </p:sp>
      <p:pic>
        <p:nvPicPr>
          <p:cNvPr id="1026" name="Picture 2" descr="C:\Users\Юра\Downloads\формирование канало в АТМ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412776"/>
            <a:ext cx="8892480" cy="54452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rmAutofit fontScale="90000"/>
          </a:bodyPr>
          <a:lstStyle/>
          <a:p>
            <a:r>
              <a:rPr lang="ru-RU" altLang="ru-RU" sz="3600" b="1" dirty="0" smtClean="0">
                <a:solidFill>
                  <a:srgbClr val="002060"/>
                </a:solidFill>
              </a:rPr>
              <a:t>4.1.2 Т</a:t>
            </a:r>
            <a: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Характеристика сети.</a:t>
            </a:r>
            <a:endParaRPr lang="ru-RU" sz="3600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t="12903" b="22581"/>
          <a:stretch>
            <a:fillRect/>
          </a:stretch>
        </p:blipFill>
        <p:spPr bwMode="auto">
          <a:xfrm>
            <a:off x="0" y="764704"/>
            <a:ext cx="9143999" cy="576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504056"/>
          </a:xfrm>
        </p:spPr>
        <p:txBody>
          <a:bodyPr>
            <a:noAutofit/>
          </a:bodyPr>
          <a:lstStyle/>
          <a:p>
            <a:r>
              <a:rPr lang="ru-RU" altLang="ru-RU" sz="3200" b="1" dirty="0" smtClean="0">
                <a:solidFill>
                  <a:srgbClr val="002060"/>
                </a:solidFill>
              </a:rPr>
              <a:t>4.1.3 Т</a:t>
            </a:r>
            <a:r>
              <a:rPr lang="ru-RU" altLang="ru-RU" sz="32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Коммутация ячеек.</a:t>
            </a:r>
            <a:endParaRPr lang="ru-RU" sz="3200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t="11769" b="16636"/>
          <a:stretch>
            <a:fillRect/>
          </a:stretch>
        </p:blipFill>
        <p:spPr bwMode="auto">
          <a:xfrm>
            <a:off x="0" y="908720"/>
            <a:ext cx="9143999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6712"/>
          </a:xfrm>
        </p:spPr>
        <p:txBody>
          <a:bodyPr>
            <a:noAutofit/>
          </a:bodyPr>
          <a:lstStyle/>
          <a:p>
            <a:r>
              <a:rPr lang="ru-RU" altLang="ru-RU" sz="2400" b="1" dirty="0" smtClean="0">
                <a:solidFill>
                  <a:srgbClr val="002060"/>
                </a:solidFill>
              </a:rPr>
              <a:t>4.1.2 Т</a:t>
            </a:r>
            <a:r>
              <a:rPr lang="ru-RU" altLang="ru-RU" sz="2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Интеграция голоса, видео и данных.</a:t>
            </a:r>
            <a:endParaRPr lang="ru-RU" sz="2400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t="12048" b="10843"/>
          <a:stretch>
            <a:fillRect/>
          </a:stretch>
        </p:blipFill>
        <p:spPr bwMode="auto">
          <a:xfrm>
            <a:off x="0" y="764704"/>
            <a:ext cx="9144000" cy="5832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6712"/>
          </a:xfrm>
        </p:spPr>
        <p:txBody>
          <a:bodyPr>
            <a:normAutofit/>
          </a:bodyPr>
          <a:lstStyle/>
          <a:p>
            <a:r>
              <a:rPr lang="ru-RU" altLang="ru-RU" sz="3200" b="1" dirty="0" smtClean="0">
                <a:solidFill>
                  <a:srgbClr val="002060"/>
                </a:solidFill>
              </a:rPr>
              <a:t>4.1.2 Т</a:t>
            </a:r>
            <a:r>
              <a:rPr lang="ru-RU" altLang="ru-RU" sz="32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Характеристика сети.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 t="12578" b="22000"/>
          <a:stretch>
            <a:fillRect/>
          </a:stretch>
        </p:blipFill>
        <p:spPr bwMode="auto">
          <a:xfrm>
            <a:off x="0" y="836712"/>
            <a:ext cx="9144000" cy="6021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706090"/>
          </a:xfrm>
        </p:spPr>
        <p:txBody>
          <a:bodyPr>
            <a:normAutofit/>
          </a:bodyPr>
          <a:lstStyle/>
          <a:p>
            <a:pPr algn="l"/>
            <a:r>
              <a:rPr lang="ru-RU" altLang="ru-RU" sz="3200" b="1" i="1" dirty="0" smtClean="0">
                <a:solidFill>
                  <a:srgbClr val="002060"/>
                </a:solidFill>
              </a:rPr>
              <a:t>4.Т</a:t>
            </a:r>
            <a:r>
              <a:rPr lang="ru-RU" altLang="ru-RU" sz="3200" b="1" i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</a:t>
            </a:r>
            <a:r>
              <a:rPr lang="ru-RU" altLang="ru-RU" sz="32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Характеристика сети</a:t>
            </a:r>
            <a:r>
              <a:rPr lang="ru-RU" altLang="ru-RU" sz="3200" b="1" i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.</a:t>
            </a:r>
            <a:r>
              <a:rPr lang="ru-RU" altLang="ru-RU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08720"/>
            <a:ext cx="9144000" cy="5949280"/>
          </a:xfrm>
        </p:spPr>
        <p:txBody>
          <a:bodyPr>
            <a:normAutofit lnSpcReduction="10000"/>
          </a:bodyPr>
          <a:lstStyle/>
          <a:p>
            <a:pPr marL="342000" indent="-342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altLang="ru-RU" sz="2400" b="1" dirty="0" smtClean="0"/>
              <a:t>Сети АТМ относят к сетям с установлением соединений</a:t>
            </a:r>
            <a:r>
              <a:rPr lang="ru-RU" altLang="ru-RU" sz="2400" dirty="0" smtClean="0"/>
              <a:t>, которые бывают двух типов:</a:t>
            </a:r>
          </a:p>
          <a:p>
            <a:pPr marL="341313" indent="-341313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altLang="ru-RU" sz="2400" b="1" dirty="0" smtClean="0"/>
              <a:t>    -</a:t>
            </a:r>
            <a:r>
              <a:rPr lang="ru-RU" altLang="ru-RU" sz="2400" dirty="0" smtClean="0"/>
              <a:t> Постоянные устанавливаются и разрываются администратором сети</a:t>
            </a:r>
            <a:r>
              <a:rPr lang="en-US" altLang="ru-RU" sz="2400" dirty="0" smtClean="0"/>
              <a:t>(</a:t>
            </a:r>
            <a:r>
              <a:rPr lang="ru-RU" altLang="ru-RU" sz="2400" dirty="0" smtClean="0"/>
              <a:t> </a:t>
            </a:r>
            <a:r>
              <a:rPr lang="en-US" altLang="ru-RU" sz="2400" dirty="0" smtClean="0"/>
              <a:t>PVC )</a:t>
            </a:r>
            <a:r>
              <a:rPr lang="ru-RU" altLang="ru-RU" sz="2400" dirty="0" smtClean="0"/>
              <a:t>.</a:t>
            </a:r>
          </a:p>
          <a:p>
            <a:pPr marL="268288"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altLang="ru-RU" sz="2400" dirty="0" smtClean="0"/>
              <a:t>   - Динамические устанавливаются и ликвидируются автоматически для сеанса связи</a:t>
            </a:r>
            <a:r>
              <a:rPr lang="en-US" altLang="ru-RU" sz="2400" dirty="0" smtClean="0"/>
              <a:t> (SVC)</a:t>
            </a:r>
            <a:r>
              <a:rPr lang="ru-RU" altLang="ru-RU" sz="2400" dirty="0" smtClean="0"/>
              <a:t>.</a:t>
            </a:r>
            <a:endParaRPr lang="en-US" altLang="ru-RU" sz="2400" dirty="0" smtClean="0"/>
          </a:p>
          <a:p>
            <a:pPr marL="342000" indent="-342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altLang="ru-RU" sz="2400" b="1" dirty="0" smtClean="0"/>
              <a:t>Каждое соединение получает свой идентификатор</a:t>
            </a:r>
            <a:r>
              <a:rPr lang="ru-RU" altLang="ru-RU" sz="2400" dirty="0" smtClean="0"/>
              <a:t>, который указывается в заголовке ячеек. </a:t>
            </a:r>
          </a:p>
          <a:p>
            <a:pPr marL="342000" indent="-342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altLang="ru-RU" sz="2400" b="1" dirty="0" smtClean="0"/>
              <a:t>При установлении соединения </a:t>
            </a:r>
            <a:r>
              <a:rPr lang="ru-RU" altLang="ru-RU" sz="2400" dirty="0" smtClean="0"/>
              <a:t>каждому коммутатору на выбранном пути следования данных </a:t>
            </a:r>
            <a:r>
              <a:rPr lang="ru-RU" alt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передается таблица соответствия идентификаторов и портов коммутаторов. </a:t>
            </a:r>
          </a:p>
          <a:p>
            <a:pPr marL="342000" indent="-342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altLang="ru-RU" sz="2400" dirty="0" smtClean="0"/>
              <a:t>Коммутатор, распознав идентификатор, направляет ячейку в нужный порт.</a:t>
            </a:r>
          </a:p>
          <a:p>
            <a:pPr marL="342000" indent="-342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altLang="ru-RU" sz="2400" dirty="0" smtClean="0"/>
              <a:t> Непосредственное указание в заголовке адресов получателя и отправителя не требуется, заголовок короткий - всего 5 байтов.  </a:t>
            </a:r>
          </a:p>
          <a:p>
            <a:pPr marL="342000" lvl="1" indent="-342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endParaRPr lang="en-US" altLang="ru-RU" sz="2400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0"/>
            <a:ext cx="8964488" cy="764704"/>
          </a:xfrm>
        </p:spPr>
        <p:txBody>
          <a:bodyPr>
            <a:normAutofit/>
          </a:bodyPr>
          <a:lstStyle/>
          <a:p>
            <a:r>
              <a:rPr lang="ru-RU" altLang="ru-RU" sz="3200" b="1" dirty="0" smtClean="0">
                <a:solidFill>
                  <a:srgbClr val="002060"/>
                </a:solidFill>
              </a:rPr>
              <a:t>4</a:t>
            </a:r>
            <a:r>
              <a:rPr lang="ru-RU" altLang="ru-RU" sz="3200" b="1" dirty="0">
                <a:solidFill>
                  <a:srgbClr val="002060"/>
                </a:solidFill>
              </a:rPr>
              <a:t>.</a:t>
            </a:r>
            <a:r>
              <a:rPr lang="en-US" altLang="ru-RU" sz="3200" b="1" dirty="0" smtClean="0">
                <a:solidFill>
                  <a:srgbClr val="002060"/>
                </a:solidFill>
              </a:rPr>
              <a:t>1</a:t>
            </a:r>
            <a:r>
              <a:rPr lang="ru-RU" altLang="ru-RU" sz="3200" b="1" dirty="0" smtClean="0">
                <a:solidFill>
                  <a:srgbClr val="002060"/>
                </a:solidFill>
              </a:rPr>
              <a:t>.2 Т</a:t>
            </a:r>
            <a:r>
              <a:rPr lang="ru-RU" altLang="ru-RU" sz="32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Типы </a:t>
            </a:r>
            <a:r>
              <a:rPr lang="en-US" altLang="ru-RU" sz="32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ATM –</a:t>
            </a:r>
            <a:r>
              <a:rPr lang="ru-RU" altLang="ru-RU" sz="32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соединений.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124744"/>
            <a:ext cx="9144000" cy="5733256"/>
          </a:xfrm>
        </p:spPr>
        <p:txBody>
          <a:bodyPr anchor="ctr">
            <a:normAutofit/>
          </a:bodyPr>
          <a:lstStyle/>
          <a:p>
            <a:r>
              <a:rPr lang="ru-RU" sz="2800" b="1" dirty="0" smtClean="0"/>
              <a:t>В соответствии с числом подключаемых пользователей режим  ATM поддерживает два типа соединений:</a:t>
            </a:r>
            <a:endParaRPr lang="en-US" sz="2800" b="1" dirty="0" smtClean="0"/>
          </a:p>
          <a:p>
            <a:pPr>
              <a:buNone/>
            </a:pPr>
            <a:r>
              <a:rPr lang="en-US" sz="2800" dirty="0" smtClean="0"/>
              <a:t>         -</a:t>
            </a:r>
            <a:r>
              <a:rPr lang="ru-RU" sz="2800" dirty="0" smtClean="0"/>
              <a:t> «</a:t>
            </a:r>
            <a:r>
              <a:rPr lang="ru-RU" sz="2800" i="1" dirty="0" smtClean="0"/>
              <a:t> точка-точка</a:t>
            </a:r>
            <a:r>
              <a:rPr lang="ru-RU" sz="2800" dirty="0" smtClean="0"/>
              <a:t>» и</a:t>
            </a:r>
            <a:endParaRPr lang="en-US" sz="2800" dirty="0" smtClean="0"/>
          </a:p>
          <a:p>
            <a:pPr>
              <a:buNone/>
            </a:pPr>
            <a:r>
              <a:rPr lang="en-US" sz="2800" dirty="0"/>
              <a:t> </a:t>
            </a:r>
            <a:r>
              <a:rPr lang="en-US" sz="2800" dirty="0" smtClean="0"/>
              <a:t>       - </a:t>
            </a:r>
            <a:r>
              <a:rPr lang="ru-RU" sz="2800" dirty="0" smtClean="0"/>
              <a:t>«точка — много точек».</a:t>
            </a:r>
          </a:p>
          <a:p>
            <a:r>
              <a:rPr lang="ru-RU" sz="2800" dirty="0" smtClean="0"/>
              <a:t> </a:t>
            </a:r>
            <a:r>
              <a:rPr lang="ru-RU" sz="2800" b="1" dirty="0" smtClean="0"/>
              <a:t>Связь "точка-точка" </a:t>
            </a:r>
            <a:r>
              <a:rPr lang="ru-RU" sz="2800" dirty="0" smtClean="0"/>
              <a:t>может быть однонаправленной или двунаправленной. </a:t>
            </a:r>
          </a:p>
          <a:p>
            <a:pPr>
              <a:buNone/>
            </a:pPr>
            <a:r>
              <a:rPr lang="ru-RU" sz="2800" dirty="0" smtClean="0"/>
              <a:t>В последнем случае для каждого направления может быть установлено свое </a:t>
            </a:r>
            <a:r>
              <a:rPr lang="ru-RU" sz="2800" dirty="0" err="1" smtClean="0"/>
              <a:t>QoS</a:t>
            </a:r>
            <a:r>
              <a:rPr lang="ru-RU" sz="2800" dirty="0" smtClean="0"/>
              <a:t>. </a:t>
            </a:r>
          </a:p>
          <a:p>
            <a:r>
              <a:rPr lang="ru-RU" sz="2800" b="1" i="1" dirty="0" smtClean="0"/>
              <a:t>Связь</a:t>
            </a:r>
            <a:r>
              <a:rPr lang="ru-RU" sz="2800" b="1" dirty="0" smtClean="0"/>
              <a:t> " точка — много точек" </a:t>
            </a:r>
            <a:r>
              <a:rPr lang="ru-RU" sz="2800" dirty="0" smtClean="0"/>
              <a:t>всегда однонаправленная и устанавливается от одного пользователя ко многим.</a:t>
            </a:r>
            <a:r>
              <a:rPr lang="ru-RU" dirty="0" smtClean="0"/>
              <a:t> 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778098"/>
          </a:xfrm>
        </p:spPr>
        <p:txBody>
          <a:bodyPr>
            <a:normAutofit fontScale="90000"/>
          </a:bodyPr>
          <a:lstStyle/>
          <a:p>
            <a:r>
              <a:rPr lang="ru-RU" altLang="ru-RU" sz="3200" b="1" dirty="0" smtClean="0">
                <a:solidFill>
                  <a:srgbClr val="002060"/>
                </a:solidFill>
              </a:rPr>
              <a:t>4.1.2 Т</a:t>
            </a:r>
            <a:r>
              <a:rPr lang="ru-RU" altLang="ru-RU" sz="32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Характеристика сети .</a:t>
            </a:r>
            <a:br>
              <a:rPr lang="ru-RU" altLang="ru-RU" sz="32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</a:br>
            <a:r>
              <a:rPr lang="ru-RU" altLang="ru-RU" sz="32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Типы </a:t>
            </a:r>
            <a:r>
              <a:rPr lang="en-US" altLang="ru-RU" sz="32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ATM -</a:t>
            </a:r>
            <a:r>
              <a:rPr lang="ru-RU" altLang="ru-RU" sz="32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соединений</a:t>
            </a:r>
            <a:endParaRPr lang="ru-RU" sz="3200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t="13360" b="5499"/>
          <a:stretch>
            <a:fillRect/>
          </a:stretch>
        </p:blipFill>
        <p:spPr bwMode="auto">
          <a:xfrm>
            <a:off x="899592" y="1268760"/>
            <a:ext cx="7992887" cy="5589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52736"/>
          </a:xfrm>
        </p:spPr>
        <p:txBody>
          <a:bodyPr>
            <a:noAutofit/>
          </a:bodyPr>
          <a:lstStyle/>
          <a:p>
            <a:r>
              <a:rPr lang="ru-RU" altLang="ru-RU" sz="3600" b="1" dirty="0" smtClean="0">
                <a:solidFill>
                  <a:srgbClr val="002060"/>
                </a:solidFill>
              </a:rPr>
              <a:t>4.1.2 Т</a:t>
            </a:r>
            <a: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</a:t>
            </a:r>
            <a:r>
              <a:rPr lang="ru-RU" altLang="ru-RU" sz="3600" b="1" dirty="0" smtClean="0">
                <a:solidFill>
                  <a:srgbClr val="002060"/>
                </a:solidFill>
              </a:rPr>
              <a:t>Характеристика.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196752"/>
            <a:ext cx="9144000" cy="5661248"/>
          </a:xfrm>
        </p:spPr>
        <p:txBody>
          <a:bodyPr>
            <a:normAutofit fontScale="70000" lnSpcReduction="20000"/>
          </a:bodyPr>
          <a:lstStyle/>
          <a:p>
            <a:pPr marL="342000" indent="-3420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ru-RU" altLang="ru-RU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Статистическое мультиплексирование</a:t>
            </a:r>
            <a:r>
              <a:rPr lang="ru-RU" altLang="ru-RU" sz="3600" dirty="0" smtClean="0"/>
              <a:t>. </a:t>
            </a:r>
          </a:p>
          <a:p>
            <a:pPr marL="342000" indent="-342000">
              <a:lnSpc>
                <a:spcPct val="100000"/>
              </a:lnSpc>
              <a:spcBef>
                <a:spcPts val="0"/>
              </a:spcBef>
              <a:buNone/>
            </a:pPr>
            <a:endParaRPr lang="ru-RU" altLang="ru-RU" sz="3600" dirty="0" smtClean="0"/>
          </a:p>
          <a:p>
            <a:pPr marL="342000" indent="-3420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ru-RU" altLang="ru-RU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</a:t>
            </a:r>
            <a:r>
              <a:rPr lang="ru-RU" altLang="ru-RU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иртуальны</a:t>
            </a:r>
            <a:r>
              <a:rPr lang="ru-RU" altLang="ru-RU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</a:t>
            </a:r>
            <a:r>
              <a:rPr lang="ru-RU" altLang="ru-RU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канал</a:t>
            </a:r>
            <a:r>
              <a:rPr lang="ru-RU" altLang="ru-RU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ы</a:t>
            </a:r>
            <a:r>
              <a:rPr lang="ru-RU" altLang="ru-RU" sz="3600" dirty="0" smtClean="0"/>
              <a:t> с </a:t>
            </a:r>
            <a:r>
              <a:rPr lang="ru-RU" altLang="ru-RU" sz="3600" dirty="0" smtClean="0">
                <a:cs typeface="Times New Roman" panose="02020603050405020304" pitchFamily="18" charset="0"/>
              </a:rPr>
              <a:t>динамическ</a:t>
            </a:r>
            <a:r>
              <a:rPr lang="ru-RU" altLang="ru-RU" sz="3600" dirty="0" smtClean="0"/>
              <a:t>им</a:t>
            </a:r>
            <a:r>
              <a:rPr lang="ru-RU" altLang="ru-RU" sz="3600" dirty="0" smtClean="0">
                <a:cs typeface="Times New Roman" panose="02020603050405020304" pitchFamily="18" charset="0"/>
              </a:rPr>
              <a:t> перераспределение</a:t>
            </a:r>
            <a:r>
              <a:rPr lang="ru-RU" altLang="ru-RU" sz="3600" dirty="0" smtClean="0"/>
              <a:t>м</a:t>
            </a:r>
            <a:r>
              <a:rPr lang="ru-RU" altLang="ru-RU" sz="3600" dirty="0" smtClean="0">
                <a:cs typeface="Times New Roman" panose="02020603050405020304" pitchFamily="18" charset="0"/>
              </a:rPr>
              <a:t> нагрузки.</a:t>
            </a:r>
            <a:endParaRPr lang="ru-RU" altLang="ru-RU" sz="3600" dirty="0" smtClean="0"/>
          </a:p>
          <a:p>
            <a:pPr marL="342000" indent="-3420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ru-RU" altLang="ru-RU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</a:t>
            </a:r>
            <a:r>
              <a:rPr lang="ru-RU" altLang="ru-RU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оммутаци</a:t>
            </a:r>
            <a:r>
              <a:rPr lang="ru-RU" altLang="ru-RU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я</a:t>
            </a:r>
            <a:r>
              <a:rPr lang="ru-RU" altLang="ru-RU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кадров </a:t>
            </a:r>
            <a:r>
              <a:rPr lang="ru-RU" altLang="ru-RU" sz="3600" dirty="0" smtClean="0">
                <a:cs typeface="Times New Roman" panose="02020603050405020304" pitchFamily="18" charset="0"/>
              </a:rPr>
              <a:t>(в отличие от коммутации пакетов). Контрольный код (четырехбайтный циклический) по информационной части сообщения имеется только в конце последнего пакета сообщения.</a:t>
            </a:r>
          </a:p>
          <a:p>
            <a:pPr marL="342000" indent="-3420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ru-RU" altLang="ru-RU" sz="3600" dirty="0" smtClean="0">
                <a:cs typeface="Times New Roman" panose="02020603050405020304" pitchFamily="18" charset="0"/>
              </a:rPr>
              <a:t> </a:t>
            </a:r>
            <a:r>
              <a:rPr lang="ru-RU" altLang="ru-RU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</a:t>
            </a:r>
            <a:r>
              <a:rPr lang="ru-RU" altLang="ru-RU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аршрутизаци</a:t>
            </a:r>
            <a:r>
              <a:rPr lang="ru-RU" altLang="ru-RU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я</a:t>
            </a:r>
            <a:r>
              <a:rPr lang="ru-RU" altLang="ru-RU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от источника</a:t>
            </a:r>
            <a:r>
              <a:rPr lang="ru-RU" altLang="ru-RU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altLang="ru-RU" sz="3600" dirty="0" smtClean="0"/>
              <a:t>-</a:t>
            </a:r>
            <a:r>
              <a:rPr lang="ru-RU" altLang="ru-RU" sz="3600" dirty="0" smtClean="0">
                <a:cs typeface="Times New Roman" panose="02020603050405020304" pitchFamily="18" charset="0"/>
              </a:rPr>
              <a:t> номер маршрута помещается в заголовок пакета, не нужно заново определять маршрут по таблицам маршрутизаторов при прохождении через сеть.</a:t>
            </a:r>
          </a:p>
          <a:p>
            <a:pPr marL="342000" indent="-342000">
              <a:lnSpc>
                <a:spcPct val="100000"/>
              </a:lnSpc>
              <a:spcBef>
                <a:spcPts val="0"/>
              </a:spcBef>
              <a:buNone/>
            </a:pPr>
            <a:endParaRPr lang="ru-RU" altLang="ru-RU" sz="3600" i="1" dirty="0" smtClean="0"/>
          </a:p>
          <a:p>
            <a:pPr marL="342000" indent="-3420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ru-RU" altLang="ru-RU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</a:t>
            </a:r>
            <a:r>
              <a:rPr lang="ru-RU" altLang="ru-RU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иксированная длина пакетов (кадров):</a:t>
            </a:r>
          </a:p>
          <a:p>
            <a:pPr marL="342000" indent="-3420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altLang="ru-RU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       -  </a:t>
            </a:r>
            <a:r>
              <a:rPr lang="ru-RU" altLang="ru-RU" sz="3600" dirty="0" smtClean="0">
                <a:cs typeface="Times New Roman" panose="02020603050405020304" pitchFamily="18" charset="0"/>
              </a:rPr>
              <a:t>упрощает алгоритмы управления и буферизации данных, </a:t>
            </a:r>
          </a:p>
          <a:p>
            <a:pPr marL="342000" indent="-3420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altLang="ru-RU" sz="3600" dirty="0" smtClean="0">
                <a:cs typeface="Times New Roman" panose="02020603050405020304" pitchFamily="18" charset="0"/>
              </a:rPr>
              <a:t>        - исключает необходимость инкапсуляции; </a:t>
            </a:r>
          </a:p>
          <a:p>
            <a:pPr marL="342000" indent="-3420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altLang="ru-RU" sz="3600" dirty="0" smtClean="0">
                <a:cs typeface="Times New Roman" panose="02020603050405020304" pitchFamily="18" charset="0"/>
              </a:rPr>
              <a:t>        - исключает необходимость конвертирования пакетов при</a:t>
            </a:r>
          </a:p>
          <a:p>
            <a:pPr marL="342000" indent="-3420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altLang="ru-RU" sz="3600" dirty="0" smtClean="0">
                <a:cs typeface="Times New Roman" panose="02020603050405020304" pitchFamily="18" charset="0"/>
              </a:rPr>
              <a:t>            смене форматов в промежуточных сетях</a:t>
            </a:r>
            <a:r>
              <a:rPr lang="ru-RU" altLang="ru-RU" sz="3600" dirty="0" smtClean="0"/>
              <a:t>.</a:t>
            </a:r>
            <a:endParaRPr lang="ru-RU" altLang="ru-RU" sz="3600" dirty="0" smtClean="0"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916832"/>
            <a:ext cx="9144000" cy="3852143"/>
          </a:xfrm>
        </p:spPr>
        <p:txBody>
          <a:bodyPr>
            <a:normAutofit/>
          </a:bodyPr>
          <a:lstStyle/>
          <a:p>
            <a:pPr algn="ctr"/>
            <a:r>
              <a:rPr lang="ru-RU" altLang="ru-RU" sz="3200" dirty="0" smtClean="0">
                <a:solidFill>
                  <a:srgbClr val="002060"/>
                </a:solidFill>
              </a:rPr>
              <a:t>4.2.Т</a:t>
            </a:r>
            <a:r>
              <a:rPr lang="ru-RU" altLang="ru-RU" sz="32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</a:t>
            </a:r>
            <a:r>
              <a:rPr lang="ru-RU" altLang="ru-RU" sz="3200" dirty="0">
                <a:solidFill>
                  <a:srgbClr val="002060"/>
                </a:solidFill>
                <a:cs typeface="Times New Roman" panose="02020603050405020304" pitchFamily="18" charset="0"/>
              </a:rPr>
              <a:t>АТМ</a:t>
            </a:r>
            <a:r>
              <a:rPr lang="ru-RU" altLang="ru-RU" sz="32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br>
              <a:rPr lang="ru-RU" altLang="ru-RU" sz="3200" dirty="0" smtClean="0">
                <a:solidFill>
                  <a:srgbClr val="002060"/>
                </a:solidFill>
                <a:cs typeface="Times New Roman" panose="02020603050405020304" pitchFamily="18" charset="0"/>
              </a:rPr>
            </a:br>
            <a:r>
              <a:rPr lang="ru-RU" altLang="ru-RU" sz="32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Подключение сетей.</a:t>
            </a:r>
            <a:br>
              <a:rPr lang="ru-RU" altLang="ru-RU" sz="3200" dirty="0" smtClean="0">
                <a:solidFill>
                  <a:srgbClr val="002060"/>
                </a:solidFill>
                <a:cs typeface="Times New Roman" panose="02020603050405020304" pitchFamily="18" charset="0"/>
              </a:rPr>
            </a:br>
            <a:r>
              <a:rPr lang="ru-RU" altLang="ru-RU" sz="32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3200" dirty="0">
                <a:solidFill>
                  <a:srgbClr val="002060"/>
                </a:solidFill>
                <a:cs typeface="Times New Roman" panose="02020603050405020304" pitchFamily="18" charset="0"/>
              </a:rPr>
              <a:t>Интерфейсы</a:t>
            </a:r>
            <a:r>
              <a:rPr lang="en-US" altLang="ru-RU" sz="3200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en-US" altLang="ru-RU" sz="32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UNI,NNI</a:t>
            </a:r>
            <a:r>
              <a:rPr lang="ru-RU" altLang="ru-RU" sz="3200" dirty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r>
              <a:rPr lang="ru-RU" altLang="ru-RU" sz="3200" dirty="0" smtClean="0">
                <a:solidFill>
                  <a:srgbClr val="002060"/>
                </a:solidFill>
              </a:rPr>
              <a:t> </a:t>
            </a:r>
            <a:r>
              <a:rPr lang="ru-RU" altLang="ru-RU" sz="36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/>
            </a:r>
            <a:br>
              <a:rPr lang="ru-RU" altLang="ru-RU" sz="3600" dirty="0" smtClean="0">
                <a:solidFill>
                  <a:srgbClr val="002060"/>
                </a:solidFill>
                <a:cs typeface="Times New Roman" panose="02020603050405020304" pitchFamily="18" charset="0"/>
              </a:rPr>
            </a:br>
            <a:r>
              <a:rPr lang="ru-RU" altLang="ru-RU" sz="36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endParaRPr lang="ru-RU" sz="36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820472" cy="792088"/>
          </a:xfrm>
        </p:spPr>
        <p:txBody>
          <a:bodyPr>
            <a:normAutofit fontScale="90000"/>
          </a:bodyPr>
          <a:lstStyle/>
          <a:p>
            <a:pPr algn="l"/>
            <a:r>
              <a:rPr lang="ru-RU" altLang="ru-RU" sz="3200" b="1" dirty="0" smtClean="0">
                <a:solidFill>
                  <a:srgbClr val="002060"/>
                </a:solidFill>
              </a:rPr>
              <a:t>4.2 Т</a:t>
            </a:r>
            <a:r>
              <a:rPr lang="ru-RU" altLang="ru-RU" sz="32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Топология. Интерфейсы </a:t>
            </a:r>
            <a:r>
              <a:rPr lang="en-US" altLang="ru-RU" sz="32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UNI</a:t>
            </a:r>
            <a:r>
              <a:rPr lang="ru-RU" altLang="ru-RU" sz="32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en-US" altLang="ru-RU" sz="32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,NNI</a:t>
            </a:r>
            <a:endParaRPr lang="ru-RU" sz="3200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t="11137" r="7043" b="5499"/>
          <a:stretch>
            <a:fillRect/>
          </a:stretch>
        </p:blipFill>
        <p:spPr bwMode="auto">
          <a:xfrm>
            <a:off x="179512" y="980728"/>
            <a:ext cx="8964488" cy="576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706090"/>
          </a:xfrm>
        </p:spPr>
        <p:txBody>
          <a:bodyPr>
            <a:normAutofit/>
          </a:bodyPr>
          <a:lstStyle/>
          <a:p>
            <a:r>
              <a:rPr lang="ru-RU" altLang="ru-RU" sz="3600" b="1" dirty="0" smtClean="0">
                <a:solidFill>
                  <a:srgbClr val="002060"/>
                </a:solidFill>
              </a:rPr>
              <a:t>4.2 Т</a:t>
            </a:r>
            <a: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Интерфейсы</a:t>
            </a:r>
            <a:r>
              <a:rPr lang="en-US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UNI</a:t>
            </a:r>
            <a: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en-US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,NNI</a:t>
            </a:r>
            <a: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 </a:t>
            </a:r>
            <a:endParaRPr lang="ru-RU" sz="3600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t="11415" b="8681"/>
          <a:stretch>
            <a:fillRect/>
          </a:stretch>
        </p:blipFill>
        <p:spPr bwMode="auto">
          <a:xfrm>
            <a:off x="0" y="1124744"/>
            <a:ext cx="91440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892480" cy="648072"/>
          </a:xfrm>
        </p:spPr>
        <p:txBody>
          <a:bodyPr>
            <a:normAutofit/>
          </a:bodyPr>
          <a:lstStyle/>
          <a:p>
            <a:r>
              <a:rPr lang="ru-RU" altLang="ru-RU" sz="3600" b="1" dirty="0" smtClean="0">
                <a:solidFill>
                  <a:srgbClr val="002060"/>
                </a:solidFill>
              </a:rPr>
              <a:t>4.2 Т</a:t>
            </a:r>
            <a: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</a:t>
            </a:r>
            <a:r>
              <a:rPr lang="en-US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Интерфейсы</a:t>
            </a:r>
            <a:r>
              <a:rPr lang="en-US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UNI</a:t>
            </a:r>
            <a: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en-US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,NNI</a:t>
            </a:r>
            <a: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08720"/>
            <a:ext cx="9144000" cy="5688632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ru-RU" u="sng" dirty="0" smtClean="0"/>
              <a:t> Различные заголовки ATM-ячеек предназначены для использования в интерфейсах</a:t>
            </a:r>
            <a:r>
              <a:rPr lang="ru-RU" dirty="0" smtClean="0"/>
              <a:t>:</a:t>
            </a:r>
          </a:p>
          <a:p>
            <a:pPr>
              <a:buNone/>
            </a:pPr>
            <a:r>
              <a:rPr lang="ru-RU" dirty="0" smtClean="0"/>
              <a:t>       - "пользователь-пользователь" (UNI), </a:t>
            </a:r>
          </a:p>
          <a:p>
            <a:pPr>
              <a:buNone/>
            </a:pPr>
            <a:r>
              <a:rPr lang="ru-RU" dirty="0" smtClean="0"/>
              <a:t>       - «сеть-сеть" (NNI).</a:t>
            </a:r>
          </a:p>
          <a:p>
            <a:pPr>
              <a:buNone/>
            </a:pPr>
            <a:r>
              <a:rPr lang="ru-RU" dirty="0" smtClean="0"/>
              <a:t>  </a:t>
            </a:r>
            <a:r>
              <a:rPr lang="ru-RU" b="1" dirty="0" smtClean="0"/>
              <a:t>Интерфейс "пользователь-пользователь" (UNI) используется при обмене между</a:t>
            </a:r>
            <a:r>
              <a:rPr lang="ru-RU" dirty="0" smtClean="0"/>
              <a:t>:</a:t>
            </a:r>
          </a:p>
          <a:p>
            <a:pPr>
              <a:buNone/>
            </a:pPr>
            <a:r>
              <a:rPr lang="ru-RU" dirty="0" smtClean="0"/>
              <a:t>     - оконечным оборудованием пользователей сети ATM</a:t>
            </a:r>
          </a:p>
          <a:p>
            <a:pPr>
              <a:buNone/>
            </a:pPr>
            <a:r>
              <a:rPr lang="ru-RU" dirty="0" smtClean="0"/>
              <a:t>     - для обмена пользователей сети ATM со станциями</a:t>
            </a:r>
          </a:p>
          <a:p>
            <a:pPr>
              <a:buNone/>
            </a:pPr>
            <a:r>
              <a:rPr lang="ru-RU" dirty="0" smtClean="0"/>
              <a:t>      ATM-сети организации,</a:t>
            </a:r>
          </a:p>
          <a:p>
            <a:pPr>
              <a:buNone/>
            </a:pPr>
            <a:r>
              <a:rPr lang="ru-RU" dirty="0" smtClean="0"/>
              <a:t>     - между станциями ATM организаций и     общедоступной ATM-сетью.</a:t>
            </a:r>
          </a:p>
          <a:p>
            <a:pPr>
              <a:buNone/>
            </a:pPr>
            <a:r>
              <a:rPr lang="ru-RU" b="1" dirty="0" smtClean="0"/>
              <a:t>Интерфейс "сеть-сеть" (NNI) используется при связи </a:t>
            </a:r>
          </a:p>
          <a:p>
            <a:pPr>
              <a:buNone/>
            </a:pPr>
            <a:r>
              <a:rPr lang="ru-RU" b="1" dirty="0"/>
              <a:t> </a:t>
            </a:r>
            <a:r>
              <a:rPr lang="ru-RU" b="1" dirty="0" smtClean="0"/>
              <a:t>   </a:t>
            </a:r>
            <a:r>
              <a:rPr lang="ru-RU" dirty="0" smtClean="0"/>
              <a:t>между узлами (станциями) одной и той же сети.</a:t>
            </a:r>
          </a:p>
          <a:p>
            <a:pPr>
              <a:buNone/>
            </a:pPr>
            <a:r>
              <a:rPr lang="ru-RU" dirty="0" smtClean="0"/>
              <a:t>      </a:t>
            </a:r>
            <a:endParaRPr lang="ru-RU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6712"/>
          </a:xfrm>
        </p:spPr>
        <p:txBody>
          <a:bodyPr>
            <a:normAutofit/>
          </a:bodyPr>
          <a:lstStyle/>
          <a:p>
            <a:r>
              <a:rPr lang="ru-RU" altLang="ru-RU" sz="2800" b="1" dirty="0" smtClean="0">
                <a:solidFill>
                  <a:srgbClr val="002060"/>
                </a:solidFill>
              </a:rPr>
              <a:t>4.2 Т</a:t>
            </a:r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Применение АТМ- интерфейсов.</a:t>
            </a:r>
            <a:endParaRPr lang="ru-RU" sz="2800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b="3948"/>
          <a:stretch>
            <a:fillRect/>
          </a:stretch>
        </p:blipFill>
        <p:spPr bwMode="auto">
          <a:xfrm>
            <a:off x="179512" y="836712"/>
            <a:ext cx="8964488" cy="576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484784"/>
            <a:ext cx="8712968" cy="2232248"/>
          </a:xfrm>
        </p:spPr>
        <p:txBody>
          <a:bodyPr>
            <a:normAutofit fontScale="90000"/>
          </a:bodyPr>
          <a:lstStyle/>
          <a:p>
            <a:r>
              <a:rPr lang="ru-RU" altLang="ru-RU" sz="3600" b="1" dirty="0" smtClean="0">
                <a:solidFill>
                  <a:srgbClr val="002060"/>
                </a:solidFill>
              </a:rPr>
              <a:t>4.3.Т</a:t>
            </a:r>
            <a: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</a:t>
            </a:r>
            <a:b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</a:br>
            <a: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Принцип АТМ- мультиплексирования.</a:t>
            </a:r>
            <a:b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</a:br>
            <a: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Принципы коммутации.</a:t>
            </a:r>
            <a: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/>
            </a:r>
            <a:b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</a:br>
            <a: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Виртуальное соединение.</a:t>
            </a:r>
            <a:endParaRPr lang="ru-RU" sz="3600" b="1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0"/>
            <a:ext cx="8964488" cy="1417638"/>
          </a:xfrm>
        </p:spPr>
        <p:txBody>
          <a:bodyPr>
            <a:normAutofit fontScale="90000"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Принцип ATM-мультиплексирования</a:t>
            </a:r>
            <a:br>
              <a:rPr lang="ru-RU" sz="3600" b="1" dirty="0" smtClean="0">
                <a:solidFill>
                  <a:srgbClr val="002060"/>
                </a:solidFill>
              </a:rPr>
            </a:br>
            <a:r>
              <a:rPr lang="ru-RU" sz="3600" b="1" dirty="0" smtClean="0">
                <a:solidFill>
                  <a:srgbClr val="002060"/>
                </a:solidFill>
              </a:rPr>
              <a:t> </a:t>
            </a:r>
            <a:r>
              <a:rPr lang="ru-RU" sz="2200" b="1" dirty="0" smtClean="0">
                <a:solidFill>
                  <a:srgbClr val="002060"/>
                </a:solidFill>
              </a:rPr>
              <a:t>а) структура;    б) поток при временном разделении;</a:t>
            </a:r>
            <a:br>
              <a:rPr lang="ru-RU" sz="2200" b="1" dirty="0" smtClean="0">
                <a:solidFill>
                  <a:srgbClr val="002060"/>
                </a:solidFill>
              </a:rPr>
            </a:br>
            <a:r>
              <a:rPr lang="ru-RU" sz="2200" b="1" dirty="0" smtClean="0">
                <a:solidFill>
                  <a:srgbClr val="002060"/>
                </a:solidFill>
              </a:rPr>
              <a:t> в) поток при </a:t>
            </a:r>
            <a:r>
              <a:rPr lang="ru-RU" sz="2200" b="1" dirty="0" err="1" smtClean="0">
                <a:solidFill>
                  <a:srgbClr val="002060"/>
                </a:solidFill>
              </a:rPr>
              <a:t>ATM-мультиплексировани</a:t>
            </a:r>
            <a:endParaRPr lang="ru-RU" sz="2200" b="1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12642" name="Picture 2" descr="Принцип ATM-мультиплексирования а) структура; б) поток при временном разделении; в) поток при ATM-мультиплексировании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700808"/>
            <a:ext cx="8892480" cy="51571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114300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rgbClr val="002060"/>
                </a:solidFill>
              </a:rPr>
              <a:t>Принцип ATM-мультиплексирования</a:t>
            </a:r>
            <a:br>
              <a:rPr lang="ru-RU" sz="3200" b="1" dirty="0" smtClean="0">
                <a:solidFill>
                  <a:srgbClr val="002060"/>
                </a:solidFill>
              </a:rPr>
            </a:br>
            <a:r>
              <a:rPr lang="ru-RU" sz="3200" b="1" dirty="0" smtClean="0">
                <a:solidFill>
                  <a:srgbClr val="002060"/>
                </a:solidFill>
              </a:rPr>
              <a:t> б) поток при временном разделении;</a:t>
            </a:r>
            <a:endParaRPr lang="ru-RU" sz="3200" b="1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196752"/>
            <a:ext cx="9144000" cy="5661248"/>
          </a:xfrm>
        </p:spPr>
        <p:txBody>
          <a:bodyPr>
            <a:noAutofit/>
          </a:bodyPr>
          <a:lstStyle/>
          <a:p>
            <a:r>
              <a:rPr lang="ru-RU" sz="2400" dirty="0" smtClean="0"/>
              <a:t>На входы мультиплексора поступает различная </a:t>
            </a:r>
            <a:r>
              <a:rPr lang="ru-RU" sz="2400" i="1" dirty="0" smtClean="0"/>
              <a:t>информация</a:t>
            </a:r>
            <a:r>
              <a:rPr lang="ru-RU" sz="2400" dirty="0" smtClean="0"/>
              <a:t>.</a:t>
            </a:r>
          </a:p>
          <a:p>
            <a:r>
              <a:rPr lang="ru-RU" sz="2400" dirty="0" smtClean="0"/>
              <a:t> </a:t>
            </a:r>
            <a:r>
              <a:rPr lang="ru-RU" sz="2400" b="1" dirty="0" smtClean="0"/>
              <a:t>При методе ВРК </a:t>
            </a:r>
            <a:r>
              <a:rPr lang="ru-RU" sz="2400" dirty="0" smtClean="0"/>
              <a:t>информационный </a:t>
            </a:r>
            <a:r>
              <a:rPr lang="ru-RU" sz="2400" i="1" dirty="0" smtClean="0"/>
              <a:t>поток</a:t>
            </a:r>
            <a:r>
              <a:rPr lang="ru-RU" sz="2400" dirty="0" smtClean="0"/>
              <a:t> периодически последовательно опрашивается </a:t>
            </a:r>
            <a:r>
              <a:rPr lang="ru-RU" sz="2400" i="1" dirty="0" smtClean="0"/>
              <a:t>по</a:t>
            </a:r>
            <a:r>
              <a:rPr lang="ru-RU" sz="2400" dirty="0" smtClean="0"/>
              <a:t> порядок номеров портов:</a:t>
            </a:r>
          </a:p>
          <a:p>
            <a:pPr>
              <a:buNone/>
            </a:pPr>
            <a:r>
              <a:rPr lang="ru-RU" sz="2400" dirty="0" smtClean="0"/>
              <a:t>         - </a:t>
            </a:r>
            <a:r>
              <a:rPr lang="ru-RU" sz="2400" b="1" dirty="0" smtClean="0"/>
              <a:t>Если имеется </a:t>
            </a:r>
            <a:r>
              <a:rPr lang="ru-RU" sz="2400" b="1" i="1" dirty="0" smtClean="0"/>
              <a:t>информация</a:t>
            </a:r>
            <a:r>
              <a:rPr lang="ru-RU" sz="2400" dirty="0" smtClean="0"/>
              <a:t>, то она передается в канал в виде блока информации, занимающего определенную временную позицию.</a:t>
            </a:r>
          </a:p>
          <a:p>
            <a:pPr>
              <a:buNone/>
            </a:pPr>
            <a:r>
              <a:rPr lang="ru-RU" sz="2400" b="1" dirty="0" smtClean="0"/>
              <a:t>        - Если </a:t>
            </a:r>
            <a:r>
              <a:rPr lang="ru-RU" sz="2400" b="1" i="1" dirty="0" smtClean="0"/>
              <a:t>информация</a:t>
            </a:r>
            <a:r>
              <a:rPr lang="ru-RU" sz="2400" b="1" dirty="0" smtClean="0"/>
              <a:t> отсутствует</a:t>
            </a:r>
            <a:r>
              <a:rPr lang="ru-RU" sz="2400" dirty="0" smtClean="0"/>
              <a:t>, то этот блок уходит в канал "пусто" либо в канал, заполненный служебной информацией.</a:t>
            </a:r>
          </a:p>
          <a:p>
            <a:r>
              <a:rPr lang="ru-RU" sz="2400" b="1" dirty="0" smtClean="0"/>
              <a:t>Система с опросом ориентирована на постоянное соединение с каналом, поскольку передает непосредственно информацию от источника.</a:t>
            </a:r>
          </a:p>
          <a:p>
            <a:r>
              <a:rPr lang="ru-RU" sz="2400" dirty="0" smtClean="0"/>
              <a:t>В этом случае при небольшой плотности передаваемой информации большие ресурсы сети загружены непроизводительно.</a:t>
            </a:r>
          </a:p>
          <a:p>
            <a:r>
              <a:rPr lang="ru-RU" sz="2400" dirty="0" smtClean="0"/>
              <a:t> </a:t>
            </a:r>
            <a:endParaRPr lang="ru-RU" sz="2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706090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Принцип ATM-мультиплексирования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124744"/>
            <a:ext cx="8964488" cy="5733256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 smtClean="0"/>
              <a:t>Достоинством системы с ВРК</a:t>
            </a:r>
            <a:r>
              <a:rPr lang="ru-RU" dirty="0" smtClean="0"/>
              <a:t> является минимальная задержка информации, которая определяется циклом опроса.</a:t>
            </a:r>
          </a:p>
          <a:p>
            <a:r>
              <a:rPr lang="ru-RU" b="1" dirty="0" smtClean="0"/>
              <a:t>Недостатком системы с ВРК</a:t>
            </a:r>
            <a:r>
              <a:rPr lang="ru-RU" dirty="0" smtClean="0"/>
              <a:t> является задержка информации при большой нагрузке, связанная с пребыванием в очереди.</a:t>
            </a:r>
          </a:p>
          <a:p>
            <a:r>
              <a:rPr lang="ru-RU" dirty="0" smtClean="0"/>
              <a:t> Этот недостаток уменьшается принятыми </a:t>
            </a:r>
            <a:r>
              <a:rPr lang="ru-RU" b="1" dirty="0" smtClean="0"/>
              <a:t>стратегиями ведения очередей и структурой коммутаторов </a:t>
            </a:r>
            <a:r>
              <a:rPr lang="ru-RU" b="1" i="1" dirty="0" smtClean="0"/>
              <a:t>ATM</a:t>
            </a:r>
            <a:r>
              <a:rPr lang="ru-RU" b="1" dirty="0" smtClean="0"/>
              <a:t>.</a:t>
            </a:r>
          </a:p>
          <a:p>
            <a:r>
              <a:rPr lang="ru-RU" dirty="0" smtClean="0"/>
              <a:t> Применение методов, ориентированных на соединение, позволяет уменьшить объем служебной информации, связанной с адресацией, а фиксированная сравнительно короткая величина пакета уменьшает время пребывания в очереди.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994122"/>
          </a:xfrm>
        </p:spPr>
        <p:txBody>
          <a:bodyPr>
            <a:normAutofit fontScale="90000"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Принцип ATM-мультиплексирования</a:t>
            </a:r>
            <a:br>
              <a:rPr lang="ru-RU" sz="3600" b="1" dirty="0" smtClean="0">
                <a:solidFill>
                  <a:srgbClr val="002060"/>
                </a:solidFill>
              </a:rPr>
            </a:br>
            <a:r>
              <a:rPr lang="ru-RU" sz="3600" dirty="0" smtClean="0"/>
              <a:t> </a:t>
            </a:r>
            <a:r>
              <a:rPr lang="ru-RU" sz="3600" b="1" dirty="0" smtClean="0">
                <a:solidFill>
                  <a:srgbClr val="002060"/>
                </a:solidFill>
              </a:rPr>
              <a:t>в) поток при </a:t>
            </a:r>
            <a:r>
              <a:rPr lang="ru-RU" sz="3600" b="1" dirty="0" err="1" smtClean="0">
                <a:solidFill>
                  <a:srgbClr val="002060"/>
                </a:solidFill>
              </a:rPr>
              <a:t>ATM-мультиплексировани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 smtClean="0"/>
              <a:t>При пакетной коммутации ( рис. в) </a:t>
            </a:r>
            <a:r>
              <a:rPr lang="ru-RU" b="1" i="1" dirty="0" smtClean="0"/>
              <a:t>мультиплексор</a:t>
            </a:r>
            <a:r>
              <a:rPr lang="ru-RU" b="1" dirty="0" smtClean="0"/>
              <a:t> размещает полученную информацию в одну или несколько очередей (промежуточный </a:t>
            </a:r>
            <a:r>
              <a:rPr lang="ru-RU" b="1" i="1" dirty="0" smtClean="0"/>
              <a:t>буфер</a:t>
            </a:r>
            <a:r>
              <a:rPr lang="ru-RU" b="1" dirty="0" smtClean="0"/>
              <a:t>) </a:t>
            </a:r>
            <a:r>
              <a:rPr lang="ru-RU" dirty="0" smtClean="0"/>
              <a:t>и обслуживает эту </a:t>
            </a:r>
            <a:r>
              <a:rPr lang="ru-RU" i="1" dirty="0" smtClean="0"/>
              <a:t>очередь</a:t>
            </a:r>
            <a:r>
              <a:rPr lang="ru-RU" dirty="0" smtClean="0"/>
              <a:t> в соответствии с заданной стратегией, которая определяет порядок считывания поступивших ячеек.</a:t>
            </a:r>
          </a:p>
          <a:p>
            <a:r>
              <a:rPr lang="ru-RU" dirty="0" smtClean="0"/>
              <a:t> При передаче формируется пакет (в </a:t>
            </a:r>
            <a:r>
              <a:rPr lang="ru-RU" i="1" dirty="0" smtClean="0"/>
              <a:t>ATM</a:t>
            </a:r>
            <a:r>
              <a:rPr lang="ru-RU" dirty="0" smtClean="0"/>
              <a:t> ограниченной длины </a:t>
            </a:r>
            <a:r>
              <a:rPr lang="ru-RU" dirty="0" smtClean="0"/>
              <a:t>—</a:t>
            </a:r>
          </a:p>
          <a:p>
            <a:pPr>
              <a:buNone/>
            </a:pPr>
            <a:r>
              <a:rPr lang="ru-RU" dirty="0" smtClean="0"/>
              <a:t> </a:t>
            </a:r>
            <a:r>
              <a:rPr lang="ru-RU" dirty="0" smtClean="0"/>
              <a:t>     </a:t>
            </a:r>
            <a:r>
              <a:rPr lang="ru-RU" dirty="0" smtClean="0"/>
              <a:t> </a:t>
            </a:r>
            <a:r>
              <a:rPr lang="ru-RU" dirty="0" smtClean="0"/>
              <a:t>53 байта), в котором передается все сообщение или часть его.</a:t>
            </a:r>
          </a:p>
          <a:p>
            <a:r>
              <a:rPr lang="ru-RU" dirty="0" smtClean="0"/>
              <a:t> </a:t>
            </a:r>
            <a:r>
              <a:rPr lang="ru-RU" b="1" dirty="0" smtClean="0"/>
              <a:t>Если далее </a:t>
            </a:r>
            <a:r>
              <a:rPr lang="ru-RU" b="1" i="1" dirty="0" smtClean="0"/>
              <a:t>очередь</a:t>
            </a:r>
            <a:r>
              <a:rPr lang="ru-RU" b="1" dirty="0" smtClean="0"/>
              <a:t> (</a:t>
            </a:r>
            <a:r>
              <a:rPr lang="ru-RU" b="1" i="1" dirty="0" smtClean="0"/>
              <a:t>буфер</a:t>
            </a:r>
            <a:r>
              <a:rPr lang="ru-RU" b="1" dirty="0" smtClean="0"/>
              <a:t>) пустая, то соединение разъединяется и свободно для другого соединения</a:t>
            </a:r>
            <a:r>
              <a:rPr lang="ru-RU" dirty="0" smtClean="0"/>
              <a:t>.</a:t>
            </a:r>
          </a:p>
          <a:p>
            <a:r>
              <a:rPr lang="ru-RU" dirty="0" smtClean="0"/>
              <a:t> Таким образом, этот метод обеспечивает меньшую нагрузку на </a:t>
            </a:r>
            <a:r>
              <a:rPr lang="ru-RU" i="1" dirty="0" smtClean="0"/>
              <a:t>сеть</a:t>
            </a:r>
            <a:r>
              <a:rPr lang="ru-RU" dirty="0" smtClean="0"/>
              <a:t>. Стратегия ведения очереди предоставляет возможность обеспечивать различное </a:t>
            </a:r>
            <a:r>
              <a:rPr lang="ru-RU" i="1" dirty="0" smtClean="0"/>
              <a:t>качество обслуживания</a:t>
            </a:r>
            <a:r>
              <a:rPr lang="ru-RU" dirty="0" smtClean="0"/>
              <a:t> для различных потоков.</a:t>
            </a:r>
          </a:p>
          <a:p>
            <a:r>
              <a:rPr lang="ru-RU" dirty="0" smtClean="0"/>
              <a:t> </a:t>
            </a:r>
            <a:r>
              <a:rPr lang="ru-RU" b="1" dirty="0" smtClean="0"/>
              <a:t>Система передачи называется асинхронной потому, что при передаче ячеек она не связана ни с какой синхронизацией кадров, </a:t>
            </a:r>
            <a:r>
              <a:rPr lang="ru-RU" b="1" dirty="0" smtClean="0"/>
              <a:t>сверх кадров </a:t>
            </a:r>
            <a:r>
              <a:rPr lang="ru-RU" dirty="0" smtClean="0"/>
              <a:t>и т. п., как это происходит в системах с ВРК.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964488" cy="850106"/>
          </a:xfrm>
        </p:spPr>
        <p:txBody>
          <a:bodyPr>
            <a:no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Принцип ATM-мультиплексирования.</a:t>
            </a:r>
            <a:br>
              <a:rPr lang="ru-RU" sz="3600" b="1" dirty="0" smtClean="0">
                <a:solidFill>
                  <a:srgbClr val="002060"/>
                </a:solidFill>
              </a:rPr>
            </a:br>
            <a:r>
              <a:rPr lang="ru-RU" sz="3600" b="1" dirty="0" smtClean="0">
                <a:solidFill>
                  <a:srgbClr val="002060"/>
                </a:solidFill>
              </a:rPr>
              <a:t>Таблица коммутации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196752"/>
            <a:ext cx="9144000" cy="5661248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 Рисунок далее показывает один из вариантов </a:t>
            </a:r>
            <a:r>
              <a:rPr lang="ru-RU" b="1" dirty="0" smtClean="0"/>
              <a:t>коммутатора с пространственно- временным разделением потока</a:t>
            </a:r>
            <a:r>
              <a:rPr lang="ru-RU" dirty="0" smtClean="0"/>
              <a:t>. </a:t>
            </a:r>
          </a:p>
          <a:p>
            <a:r>
              <a:rPr lang="ru-RU" dirty="0" smtClean="0"/>
              <a:t>На рисунке показана </a:t>
            </a:r>
            <a:r>
              <a:rPr lang="ru-RU" b="1" i="1" dirty="0" smtClean="0"/>
              <a:t>таблица соответствия</a:t>
            </a:r>
            <a:r>
              <a:rPr lang="ru-RU" b="1" dirty="0" smtClean="0"/>
              <a:t> для двух входных портов </a:t>
            </a:r>
            <a:r>
              <a:rPr lang="ru-RU" b="1" i="1" dirty="0" smtClean="0"/>
              <a:t>ATM</a:t>
            </a:r>
            <a:r>
              <a:rPr lang="ru-RU" b="1" dirty="0" smtClean="0"/>
              <a:t>-коммутатора</a:t>
            </a:r>
            <a:r>
              <a:rPr lang="ru-RU" dirty="0" smtClean="0"/>
              <a:t>.</a:t>
            </a:r>
          </a:p>
          <a:p>
            <a:r>
              <a:rPr lang="ru-RU" dirty="0" smtClean="0"/>
              <a:t> Во </a:t>
            </a:r>
            <a:r>
              <a:rPr lang="ru-RU" i="1" dirty="0" smtClean="0"/>
              <a:t>входной</a:t>
            </a:r>
            <a:r>
              <a:rPr lang="ru-RU" dirty="0" smtClean="0"/>
              <a:t> </a:t>
            </a:r>
            <a:r>
              <a:rPr lang="ru-RU" i="1" dirty="0" smtClean="0"/>
              <a:t>порт</a:t>
            </a:r>
            <a:r>
              <a:rPr lang="ru-RU" dirty="0" smtClean="0"/>
              <a:t> 5 поступает </a:t>
            </a:r>
            <a:r>
              <a:rPr lang="ru-RU" i="1" dirty="0" smtClean="0"/>
              <a:t>поток</a:t>
            </a:r>
            <a:r>
              <a:rPr lang="ru-RU" dirty="0" smtClean="0"/>
              <a:t> ячеек, переносящий речевую информацию и имеющий в заголовке </a:t>
            </a:r>
            <a:r>
              <a:rPr lang="ru-RU" i="1" dirty="0" smtClean="0"/>
              <a:t>идентификатор</a:t>
            </a:r>
            <a:r>
              <a:rPr lang="ru-RU" dirty="0" smtClean="0"/>
              <a:t> 12, а также </a:t>
            </a:r>
            <a:r>
              <a:rPr lang="ru-RU" i="1" dirty="0" smtClean="0"/>
              <a:t>поток</a:t>
            </a:r>
            <a:r>
              <a:rPr lang="ru-RU" dirty="0" smtClean="0"/>
              <a:t>, переносящий видеоинформацию, который имеет в заголовке </a:t>
            </a:r>
            <a:r>
              <a:rPr lang="ru-RU" i="1" dirty="0" smtClean="0"/>
              <a:t>идентификатор</a:t>
            </a:r>
            <a:r>
              <a:rPr lang="ru-RU" dirty="0" smtClean="0"/>
              <a:t> 21.</a:t>
            </a:r>
          </a:p>
          <a:p>
            <a:r>
              <a:rPr lang="ru-RU" dirty="0" smtClean="0"/>
              <a:t> Когда </a:t>
            </a:r>
            <a:r>
              <a:rPr lang="ru-RU" i="1" dirty="0" smtClean="0"/>
              <a:t>ячейка</a:t>
            </a:r>
            <a:r>
              <a:rPr lang="ru-RU" dirty="0" smtClean="0"/>
              <a:t> с идентификатором 12 поступает на </a:t>
            </a:r>
            <a:r>
              <a:rPr lang="ru-RU" i="1" dirty="0" smtClean="0"/>
              <a:t>входной</a:t>
            </a:r>
            <a:r>
              <a:rPr lang="ru-RU" dirty="0" smtClean="0"/>
              <a:t> </a:t>
            </a:r>
            <a:r>
              <a:rPr lang="ru-RU" i="1" dirty="0" smtClean="0"/>
              <a:t>порт</a:t>
            </a:r>
            <a:r>
              <a:rPr lang="ru-RU" dirty="0" smtClean="0"/>
              <a:t> 5, отыскивается входное </a:t>
            </a:r>
            <a:r>
              <a:rPr lang="ru-RU" i="1" dirty="0" smtClean="0"/>
              <a:t>значение</a:t>
            </a:r>
            <a:r>
              <a:rPr lang="ru-RU" dirty="0" smtClean="0"/>
              <a:t> 12 в таблице коммутатора, которая показывает (см. значения </a:t>
            </a:r>
            <a:r>
              <a:rPr lang="ru-RU" i="1" dirty="0" smtClean="0"/>
              <a:t>по</a:t>
            </a:r>
            <a:r>
              <a:rPr lang="ru-RU" dirty="0" smtClean="0"/>
              <a:t> строке), что эта </a:t>
            </a:r>
            <a:r>
              <a:rPr lang="ru-RU" i="1" dirty="0" smtClean="0"/>
              <a:t>ячейка</a:t>
            </a:r>
            <a:r>
              <a:rPr lang="ru-RU" dirty="0" smtClean="0"/>
              <a:t> должна быть перенесена в выходной </a:t>
            </a:r>
            <a:r>
              <a:rPr lang="ru-RU" i="1" dirty="0" smtClean="0"/>
              <a:t>порт</a:t>
            </a:r>
            <a:r>
              <a:rPr lang="ru-RU" dirty="0" smtClean="0"/>
              <a:t> 1 с изменением значения идентификатора в заголовке на 17.</a:t>
            </a:r>
          </a:p>
          <a:p>
            <a:r>
              <a:rPr lang="ru-RU" dirty="0" smtClean="0"/>
              <a:t> Таким же образом </a:t>
            </a:r>
            <a:r>
              <a:rPr lang="ru-RU" i="1" dirty="0" smtClean="0"/>
              <a:t>ячейка</a:t>
            </a:r>
            <a:r>
              <a:rPr lang="ru-RU" dirty="0" smtClean="0"/>
              <a:t>, пребывающая в </a:t>
            </a:r>
            <a:r>
              <a:rPr lang="ru-RU" i="1" dirty="0" smtClean="0"/>
              <a:t>порт</a:t>
            </a:r>
            <a:r>
              <a:rPr lang="ru-RU" dirty="0" smtClean="0"/>
              <a:t> со значением идентификатора 21, передается в </a:t>
            </a:r>
            <a:r>
              <a:rPr lang="ru-RU" i="1" dirty="0" smtClean="0"/>
              <a:t>порт</a:t>
            </a:r>
            <a:r>
              <a:rPr lang="ru-RU" dirty="0" smtClean="0"/>
              <a:t> N с изменением значения идентификатора на 70.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8964488" cy="1008112"/>
          </a:xfrm>
        </p:spPr>
        <p:txBody>
          <a:bodyPr>
            <a:no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Принцип ATM-мультиплексирования.</a:t>
            </a:r>
            <a:br>
              <a:rPr lang="ru-RU" sz="3600" b="1" dirty="0" smtClean="0">
                <a:solidFill>
                  <a:srgbClr val="002060"/>
                </a:solidFill>
              </a:rPr>
            </a:br>
            <a:r>
              <a:rPr lang="ru-RU" sz="3600" b="1" dirty="0" smtClean="0">
                <a:solidFill>
                  <a:srgbClr val="002060"/>
                </a:solidFill>
              </a:rPr>
              <a:t>Таблица коммутации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ATM-коммутатор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556792"/>
            <a:ext cx="8748464" cy="48965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008112"/>
          </a:xfrm>
        </p:spPr>
        <p:txBody>
          <a:bodyPr>
            <a:no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Принцип ATM-мультиплексирования.</a:t>
            </a:r>
            <a:br>
              <a:rPr lang="ru-RU" sz="3600" b="1" dirty="0" smtClean="0">
                <a:solidFill>
                  <a:srgbClr val="002060"/>
                </a:solidFill>
              </a:rPr>
            </a:br>
            <a:r>
              <a:rPr lang="ru-RU" sz="3600" b="1" dirty="0" smtClean="0">
                <a:solidFill>
                  <a:srgbClr val="002060"/>
                </a:solidFill>
              </a:rPr>
              <a:t>Таблица коммутации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268760"/>
            <a:ext cx="9144000" cy="5589240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 smtClean="0"/>
              <a:t>При постоянных виртуальных соединениях </a:t>
            </a:r>
            <a:r>
              <a:rPr lang="ru-RU" b="1" i="1" dirty="0" smtClean="0"/>
              <a:t>таблица</a:t>
            </a:r>
            <a:r>
              <a:rPr lang="ru-RU" b="1" dirty="0" smtClean="0"/>
              <a:t> соответствия сохраняется на долгое время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b="1" dirty="0" smtClean="0"/>
              <a:t>При коммутируемом виртуальном соединении </a:t>
            </a:r>
            <a:r>
              <a:rPr lang="ru-RU" b="1" i="1" dirty="0" smtClean="0"/>
              <a:t>таблица</a:t>
            </a:r>
            <a:r>
              <a:rPr lang="ru-RU" b="1" dirty="0" smtClean="0"/>
              <a:t> заполняется на время обмена информацией</a:t>
            </a:r>
            <a:r>
              <a:rPr lang="ru-RU" dirty="0" smtClean="0"/>
              <a:t>.</a:t>
            </a:r>
          </a:p>
          <a:p>
            <a:r>
              <a:rPr lang="ru-RU" dirty="0" smtClean="0"/>
              <a:t> При рассмотрении работы этого коммутатора можно заметить, </a:t>
            </a:r>
            <a:r>
              <a:rPr lang="ru-RU" b="1" dirty="0" smtClean="0"/>
              <a:t>что при коммутации </a:t>
            </a:r>
            <a:r>
              <a:rPr lang="ru-RU" b="1" i="1" dirty="0" smtClean="0"/>
              <a:t>поток</a:t>
            </a:r>
            <a:r>
              <a:rPr lang="ru-RU" b="1" dirty="0" smtClean="0"/>
              <a:t> разделяется во входном порту на отдельные пакеты и далее заново собирается во входном порту.</a:t>
            </a:r>
          </a:p>
          <a:p>
            <a:r>
              <a:rPr lang="ru-RU" dirty="0" smtClean="0"/>
              <a:t> В данном случае большую роль играет основная </a:t>
            </a:r>
            <a:r>
              <a:rPr lang="ru-RU" b="1" dirty="0" smtClean="0"/>
              <a:t>особенность </a:t>
            </a:r>
            <a:r>
              <a:rPr lang="ru-RU" b="1" i="1" dirty="0" smtClean="0"/>
              <a:t>ATM</a:t>
            </a:r>
            <a:r>
              <a:rPr lang="ru-RU" b="1" dirty="0" smtClean="0"/>
              <a:t> — использование относительно коротких пакетов.</a:t>
            </a:r>
          </a:p>
          <a:p>
            <a:r>
              <a:rPr lang="ru-RU" dirty="0" smtClean="0"/>
              <a:t> Это намного упрощает выполнение коммутации и увеличивает скорость работы.</a:t>
            </a:r>
          </a:p>
          <a:p>
            <a:r>
              <a:rPr lang="ru-RU" dirty="0" smtClean="0"/>
              <a:t> </a:t>
            </a:r>
            <a:r>
              <a:rPr lang="ru-RU" b="1" dirty="0" smtClean="0"/>
              <a:t>Есть возможность создавать коммутаторы со скоростью несколько сотен </a:t>
            </a:r>
            <a:r>
              <a:rPr lang="ru-RU" b="1" i="1" dirty="0" smtClean="0"/>
              <a:t>мегабит</a:t>
            </a:r>
            <a:r>
              <a:rPr lang="ru-RU" b="1" dirty="0" smtClean="0"/>
              <a:t> в секунду.</a:t>
            </a:r>
          </a:p>
          <a:p>
            <a:r>
              <a:rPr lang="ru-RU" dirty="0" smtClean="0"/>
              <a:t> Использование коротких пакетов позволяет с высокой точностью управлять расписанием передачи пакетов, поскольку короткие пакеты уменьшают </a:t>
            </a:r>
            <a:r>
              <a:rPr lang="ru-RU" i="1" dirty="0" smtClean="0"/>
              <a:t>время ожидания</a:t>
            </a:r>
            <a:r>
              <a:rPr lang="ru-RU" dirty="0" smtClean="0"/>
              <a:t> в очереди, пока передающая линия получит </a:t>
            </a:r>
            <a:r>
              <a:rPr lang="ru-RU" i="1" dirty="0" smtClean="0"/>
              <a:t>доступ</a:t>
            </a:r>
            <a:r>
              <a:rPr lang="ru-RU" dirty="0" smtClean="0"/>
              <a:t> к следующему передатчику.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720080"/>
          </a:xfrm>
        </p:spPr>
        <p:txBody>
          <a:bodyPr>
            <a:normAutofit/>
          </a:bodyPr>
          <a:lstStyle/>
          <a:p>
            <a:r>
              <a:rPr lang="ru-RU" altLang="ru-RU" sz="3200" b="1" dirty="0" smtClean="0">
                <a:solidFill>
                  <a:srgbClr val="002060"/>
                </a:solidFill>
              </a:rPr>
              <a:t>4.3 Т</a:t>
            </a:r>
            <a:r>
              <a:rPr lang="ru-RU" altLang="ru-RU" sz="32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Виртуальные каналы </a:t>
            </a:r>
            <a:endParaRPr lang="ru-RU" sz="3200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t="11769" b="29364"/>
          <a:stretch>
            <a:fillRect/>
          </a:stretch>
        </p:blipFill>
        <p:spPr bwMode="auto">
          <a:xfrm>
            <a:off x="323528" y="1052736"/>
            <a:ext cx="8424935" cy="5805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r>
              <a:rPr lang="ru-RU" altLang="ru-RU" sz="2800" b="1" dirty="0" smtClean="0">
                <a:solidFill>
                  <a:srgbClr val="002060"/>
                </a:solidFill>
              </a:rPr>
              <a:t>4.1.3 Т</a:t>
            </a:r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</a:t>
            </a:r>
            <a:r>
              <a:rPr lang="ru-RU" altLang="ru-RU" sz="2800" b="1" dirty="0" smtClean="0">
                <a:solidFill>
                  <a:srgbClr val="002060"/>
                </a:solidFill>
              </a:rPr>
              <a:t>Техника </a:t>
            </a:r>
            <a:r>
              <a:rPr lang="ru-RU" altLang="ru-RU" sz="2800" b="1" dirty="0">
                <a:solidFill>
                  <a:srgbClr val="002060"/>
                </a:solidFill>
              </a:rPr>
              <a:t>виртуальных </a:t>
            </a:r>
            <a:r>
              <a:rPr lang="ru-RU" altLang="ru-RU" sz="2800" b="1" dirty="0" smtClean="0">
                <a:solidFill>
                  <a:srgbClr val="002060"/>
                </a:solidFill>
              </a:rPr>
              <a:t>каналов(1/3</a:t>
            </a:r>
            <a:r>
              <a:rPr lang="ru-RU" altLang="ru-RU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ru-RU" altLang="ru-RU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771" name="Text Box 1027"/>
          <p:cNvSpPr txBox="1">
            <a:spLocks noChangeArrowheads="1"/>
          </p:cNvSpPr>
          <p:nvPr/>
        </p:nvSpPr>
        <p:spPr bwMode="auto">
          <a:xfrm>
            <a:off x="111942" y="908720"/>
            <a:ext cx="9037949" cy="6145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ru-RU" altLang="ru-RU" sz="2400" b="1" dirty="0"/>
              <a:t>Техника виртуальных каналов заключается в разделении операций маршрутизации и коммутации пакетов. </a:t>
            </a:r>
            <a:endParaRPr lang="ru-RU" altLang="ru-RU" sz="2400" b="1" dirty="0" smtClean="0"/>
          </a:p>
          <a:p>
            <a:r>
              <a:rPr lang="ru-RU" altLang="ru-RU" sz="2400" b="1" dirty="0" smtClean="0"/>
              <a:t>     - Первый </a:t>
            </a:r>
            <a:r>
              <a:rPr lang="ru-RU" altLang="ru-RU" sz="2400" b="1" dirty="0"/>
              <a:t>пакет </a:t>
            </a:r>
            <a:r>
              <a:rPr lang="ru-RU" altLang="ru-RU" sz="2400" dirty="0"/>
              <a:t>таких сетей содержит адрес вызываемого абонента </a:t>
            </a:r>
            <a:r>
              <a:rPr lang="ru-RU" altLang="ru-RU" sz="2400" b="1" dirty="0"/>
              <a:t>и прокладывает виртуальный путь в сети</a:t>
            </a:r>
            <a:r>
              <a:rPr lang="ru-RU" altLang="ru-RU" sz="2400" dirty="0"/>
              <a:t>, настраивая промежуточные коммутаторы. </a:t>
            </a:r>
            <a:endParaRPr lang="ru-RU" altLang="ru-RU" sz="2400" dirty="0" smtClean="0"/>
          </a:p>
          <a:p>
            <a:r>
              <a:rPr lang="ru-RU" altLang="ru-RU" sz="2400" b="1" dirty="0" smtClean="0"/>
              <a:t>      - Остальные </a:t>
            </a:r>
            <a:r>
              <a:rPr lang="ru-RU" altLang="ru-RU" sz="2400" b="1" dirty="0"/>
              <a:t>пакеты </a:t>
            </a:r>
            <a:r>
              <a:rPr lang="ru-RU" altLang="ru-RU" sz="2400" dirty="0"/>
              <a:t>проходят по виртуальному каналу в режиме </a:t>
            </a:r>
            <a:r>
              <a:rPr lang="ru-RU" altLang="ru-RU" sz="2400" b="1" dirty="0"/>
              <a:t>коммутации на основании номера виртуального канала</a:t>
            </a:r>
            <a:r>
              <a:rPr lang="ru-RU" altLang="ru-RU" sz="2400" dirty="0"/>
              <a:t>, который является локальным адресом для каждого порта каждого коммутатора.</a:t>
            </a:r>
          </a:p>
          <a:p>
            <a:r>
              <a:rPr lang="ru-RU" altLang="ru-RU" sz="2400" b="1" dirty="0" smtClean="0"/>
              <a:t>Преимущества</a:t>
            </a:r>
            <a:r>
              <a:rPr lang="ru-RU" altLang="ru-RU" sz="2400" dirty="0" smtClean="0"/>
              <a:t>: </a:t>
            </a:r>
            <a:r>
              <a:rPr lang="ru-RU" altLang="ru-RU" sz="2400" dirty="0"/>
              <a:t>ускоренная коммутация пакетов по номеру виртуального канала, а также сокращение адресной части пакета, а значит, и избыточности заголовка. </a:t>
            </a:r>
            <a:endParaRPr lang="en-US" altLang="ru-RU" sz="2400" dirty="0" smtClean="0"/>
          </a:p>
          <a:p>
            <a:r>
              <a:rPr lang="ru-RU" altLang="ru-RU" sz="2400" b="1" dirty="0" smtClean="0"/>
              <a:t>Недостатки</a:t>
            </a:r>
            <a:r>
              <a:rPr lang="ru-RU" altLang="ru-RU" sz="2400" dirty="0" smtClean="0"/>
              <a:t>: невозможность </a:t>
            </a:r>
            <a:r>
              <a:rPr lang="ru-RU" altLang="ru-RU" sz="2400" dirty="0"/>
              <a:t>распараллеливания потока данных между двумя абонентами по параллельным путям, а также неэффективность установления виртуального пути для кратковременных потоков данных</a:t>
            </a:r>
            <a:r>
              <a:rPr lang="ru-RU" altLang="ru-RU" sz="2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74851930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648072"/>
          </a:xfrm>
        </p:spPr>
        <p:txBody>
          <a:bodyPr>
            <a:noAutofit/>
          </a:bodyPr>
          <a:lstStyle/>
          <a:p>
            <a:pPr algn="l"/>
            <a:r>
              <a:rPr lang="ru-RU" altLang="ru-RU" sz="2800" b="1" dirty="0" smtClean="0">
                <a:solidFill>
                  <a:srgbClr val="002060"/>
                </a:solidFill>
              </a:rPr>
              <a:t>4.1.3 Т</a:t>
            </a:r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</a:t>
            </a:r>
            <a:r>
              <a:rPr lang="ru-RU" altLang="ru-RU" sz="2800" b="1" dirty="0" smtClean="0">
                <a:solidFill>
                  <a:srgbClr val="002060"/>
                </a:solidFill>
              </a:rPr>
              <a:t>Техника виртуальных каналов(2/3)</a:t>
            </a:r>
            <a:endParaRPr lang="ru-RU" sz="28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5904656"/>
          </a:xfrm>
        </p:spPr>
        <p:txBody>
          <a:bodyPr>
            <a:normAutofit fontScale="85000" lnSpcReduction="10000"/>
          </a:bodyPr>
          <a:lstStyle/>
          <a:p>
            <a:endParaRPr lang="ru-RU" altLang="ru-RU" b="1" u="sng" dirty="0" smtClean="0">
              <a:solidFill>
                <a:srgbClr val="000000"/>
              </a:solidFill>
            </a:endParaRPr>
          </a:p>
          <a:p>
            <a:r>
              <a:rPr lang="ru-RU" altLang="ru-RU" b="1" u="sng" dirty="0" smtClean="0">
                <a:solidFill>
                  <a:srgbClr val="000000"/>
                </a:solidFill>
              </a:rPr>
              <a:t>Виртуальный канал</a:t>
            </a:r>
            <a:r>
              <a:rPr lang="ru-RU" altLang="ru-RU" u="sng" dirty="0" smtClean="0">
                <a:solidFill>
                  <a:srgbClr val="000000"/>
                </a:solidFill>
              </a:rPr>
              <a:t> </a:t>
            </a:r>
            <a:r>
              <a:rPr lang="ru-RU" altLang="ru-RU" dirty="0" smtClean="0">
                <a:solidFill>
                  <a:srgbClr val="000000"/>
                </a:solidFill>
              </a:rPr>
              <a:t>— однонаправленное соединение для передачи ячеек, имеющих единый идентификатор.</a:t>
            </a:r>
          </a:p>
          <a:p>
            <a:r>
              <a:rPr lang="ru-RU" altLang="ru-RU" dirty="0" smtClean="0">
                <a:solidFill>
                  <a:srgbClr val="000000"/>
                </a:solidFill>
              </a:rPr>
              <a:t> Когда виртуальный канал устанавливается, он получает уникальную метку, называемую идентификатором виртуального канала  (</a:t>
            </a:r>
            <a:r>
              <a:rPr lang="ru-RU" altLang="ru-RU" dirty="0" err="1" smtClean="0">
                <a:solidFill>
                  <a:srgbClr val="000000"/>
                </a:solidFill>
              </a:rPr>
              <a:t>Virtual</a:t>
            </a:r>
            <a:r>
              <a:rPr lang="ru-RU" altLang="ru-RU" dirty="0" smtClean="0">
                <a:solidFill>
                  <a:srgbClr val="000000"/>
                </a:solidFill>
              </a:rPr>
              <a:t> </a:t>
            </a:r>
            <a:r>
              <a:rPr lang="ru-RU" altLang="ru-RU" dirty="0" err="1" smtClean="0">
                <a:solidFill>
                  <a:srgbClr val="000000"/>
                </a:solidFill>
              </a:rPr>
              <a:t>Circuit</a:t>
            </a:r>
            <a:r>
              <a:rPr lang="ru-RU" altLang="ru-RU" dirty="0" smtClean="0">
                <a:solidFill>
                  <a:srgbClr val="000000"/>
                </a:solidFill>
              </a:rPr>
              <a:t> </a:t>
            </a:r>
            <a:r>
              <a:rPr lang="ru-RU" altLang="ru-RU" dirty="0" err="1" smtClean="0">
                <a:solidFill>
                  <a:srgbClr val="000000"/>
                </a:solidFill>
              </a:rPr>
              <a:t>Identifiers</a:t>
            </a:r>
            <a:r>
              <a:rPr lang="ru-RU" altLang="ru-RU" dirty="0" smtClean="0">
                <a:solidFill>
                  <a:srgbClr val="000000"/>
                </a:solidFill>
              </a:rPr>
              <a:t>, </a:t>
            </a:r>
            <a:r>
              <a:rPr lang="ru-RU" altLang="ru-RU" b="1" dirty="0" smtClean="0">
                <a:solidFill>
                  <a:srgbClr val="000000"/>
                </a:solidFill>
              </a:rPr>
              <a:t>VCI)</a:t>
            </a:r>
            <a:r>
              <a:rPr lang="ru-RU" altLang="ru-RU" dirty="0" smtClean="0">
                <a:solidFill>
                  <a:srgbClr val="000000"/>
                </a:solidFill>
              </a:rPr>
              <a:t>. </a:t>
            </a:r>
          </a:p>
          <a:p>
            <a:r>
              <a:rPr lang="ru-RU" altLang="ru-RU" dirty="0" smtClean="0">
                <a:solidFill>
                  <a:srgbClr val="000000"/>
                </a:solidFill>
              </a:rPr>
              <a:t>Этот </a:t>
            </a:r>
            <a:r>
              <a:rPr lang="ru-RU" altLang="ru-RU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идентификатор используется двумя устройствами</a:t>
            </a:r>
            <a:r>
              <a:rPr lang="ru-RU" altLang="ru-RU" dirty="0" smtClean="0">
                <a:solidFill>
                  <a:srgbClr val="000000"/>
                </a:solidFill>
              </a:rPr>
              <a:t>, участвующими в процессе передачи данных </a:t>
            </a:r>
            <a:r>
              <a:rPr lang="ru-RU" altLang="ru-RU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для определения направления коммутации ячеек</a:t>
            </a:r>
            <a:r>
              <a:rPr lang="ru-RU" altLang="ru-RU" dirty="0" smtClean="0">
                <a:solidFill>
                  <a:srgbClr val="000000"/>
                </a:solidFill>
              </a:rPr>
              <a:t>, принадлежащих к этому виртуальному каналу. </a:t>
            </a:r>
          </a:p>
          <a:p>
            <a:r>
              <a:rPr lang="ru-RU" altLang="ru-RU" b="1" dirty="0" smtClean="0">
                <a:solidFill>
                  <a:srgbClr val="000000"/>
                </a:solidFill>
              </a:rPr>
              <a:t>Идентификатор изменяется при передаче ячеек от коммутатора к коммутатору. </a:t>
            </a:r>
          </a:p>
          <a:p>
            <a:r>
              <a:rPr lang="ru-RU" altLang="ru-RU" dirty="0" smtClean="0">
                <a:solidFill>
                  <a:srgbClr val="000000"/>
                </a:solidFill>
              </a:rPr>
              <a:t>Это позволяет каждому коммутатору определять дальнейшее направление отсылки ячейки.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6712"/>
          </a:xfrm>
        </p:spPr>
        <p:txBody>
          <a:bodyPr>
            <a:normAutofit/>
          </a:bodyPr>
          <a:lstStyle/>
          <a:p>
            <a:pPr algn="l"/>
            <a:r>
              <a:rPr lang="ru-RU" altLang="ru-RU" sz="2800" b="1" dirty="0" smtClean="0">
                <a:solidFill>
                  <a:srgbClr val="002060"/>
                </a:solidFill>
              </a:rPr>
              <a:t>4.1.3 Т</a:t>
            </a:r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</a:t>
            </a:r>
            <a:r>
              <a:rPr lang="ru-RU" altLang="ru-RU" sz="2800" b="1" dirty="0" smtClean="0">
                <a:solidFill>
                  <a:srgbClr val="002060"/>
                </a:solidFill>
              </a:rPr>
              <a:t>Техника виртуальных каналов(3/3)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96752"/>
            <a:ext cx="8363272" cy="5400600"/>
          </a:xfrm>
        </p:spPr>
        <p:txBody>
          <a:bodyPr>
            <a:normAutofit fontScale="92500" lnSpcReduction="10000"/>
          </a:bodyPr>
          <a:lstStyle/>
          <a:p>
            <a:r>
              <a:rPr lang="ru-RU" altLang="ru-RU" b="1" u="sng" dirty="0" smtClean="0">
                <a:solidFill>
                  <a:srgbClr val="000000"/>
                </a:solidFill>
              </a:rPr>
              <a:t>Виртуальный путь </a:t>
            </a:r>
            <a:r>
              <a:rPr lang="ru-RU" altLang="ru-RU" dirty="0" smtClean="0">
                <a:solidFill>
                  <a:srgbClr val="000000"/>
                </a:solidFill>
              </a:rPr>
              <a:t>— объединяет группу однонаправленных виртуальных каналов, которые имеют общий идентификатор пути.</a:t>
            </a:r>
          </a:p>
          <a:p>
            <a:r>
              <a:rPr lang="ru-RU" altLang="ru-RU" dirty="0" smtClean="0">
                <a:solidFill>
                  <a:srgbClr val="000000"/>
                </a:solidFill>
              </a:rPr>
              <a:t> Виртуальные каналы имеют схожие сетевые требования, но могут иметь разных абонентов. </a:t>
            </a:r>
          </a:p>
          <a:p>
            <a:r>
              <a:rPr lang="ru-RU" altLang="ru-RU" dirty="0" smtClean="0">
                <a:solidFill>
                  <a:srgbClr val="000000"/>
                </a:solidFill>
              </a:rPr>
              <a:t>Виртуальные пути имеют свой уникальный идентификатор виртуального пути</a:t>
            </a:r>
          </a:p>
          <a:p>
            <a:pPr>
              <a:buNone/>
            </a:pPr>
            <a:r>
              <a:rPr lang="ru-RU" altLang="ru-RU" dirty="0" smtClean="0">
                <a:solidFill>
                  <a:srgbClr val="000000"/>
                </a:solidFill>
              </a:rPr>
              <a:t>       (</a:t>
            </a:r>
            <a:r>
              <a:rPr lang="ru-RU" altLang="ru-RU" dirty="0" err="1" smtClean="0">
                <a:solidFill>
                  <a:srgbClr val="000000"/>
                </a:solidFill>
              </a:rPr>
              <a:t>Virtual</a:t>
            </a:r>
            <a:r>
              <a:rPr lang="ru-RU" altLang="ru-RU" dirty="0" smtClean="0">
                <a:solidFill>
                  <a:srgbClr val="000000"/>
                </a:solidFill>
              </a:rPr>
              <a:t> </a:t>
            </a:r>
            <a:r>
              <a:rPr lang="ru-RU" altLang="ru-RU" dirty="0" err="1" smtClean="0">
                <a:solidFill>
                  <a:srgbClr val="000000"/>
                </a:solidFill>
              </a:rPr>
              <a:t>Path</a:t>
            </a:r>
            <a:r>
              <a:rPr lang="ru-RU" altLang="ru-RU" dirty="0" smtClean="0">
                <a:solidFill>
                  <a:srgbClr val="000000"/>
                </a:solidFill>
              </a:rPr>
              <a:t> </a:t>
            </a:r>
            <a:r>
              <a:rPr lang="ru-RU" altLang="ru-RU" dirty="0" err="1" smtClean="0">
                <a:solidFill>
                  <a:srgbClr val="000000"/>
                </a:solidFill>
              </a:rPr>
              <a:t>Identifiers</a:t>
            </a:r>
            <a:r>
              <a:rPr lang="ru-RU" altLang="ru-RU" dirty="0" smtClean="0">
                <a:solidFill>
                  <a:srgbClr val="000000"/>
                </a:solidFill>
              </a:rPr>
              <a:t>, </a:t>
            </a:r>
            <a:r>
              <a:rPr lang="ru-RU" altLang="ru-RU" b="1" dirty="0" smtClean="0">
                <a:solidFill>
                  <a:srgbClr val="000000"/>
                </a:solidFill>
              </a:rPr>
              <a:t>VPI)</a:t>
            </a:r>
            <a:r>
              <a:rPr lang="ru-RU" altLang="ru-RU" dirty="0" smtClean="0">
                <a:solidFill>
                  <a:srgbClr val="000000"/>
                </a:solidFill>
              </a:rPr>
              <a:t>.</a:t>
            </a:r>
          </a:p>
          <a:p>
            <a:r>
              <a:rPr lang="ru-RU" altLang="ru-RU" dirty="0" smtClean="0">
                <a:solidFill>
                  <a:srgbClr val="000000"/>
                </a:solidFill>
              </a:rPr>
              <a:t> По аналогии с идентификаторами виртуальных каналов</a:t>
            </a:r>
            <a:r>
              <a:rPr lang="ru-RU" altLang="ru-RU" b="1" dirty="0" smtClean="0">
                <a:solidFill>
                  <a:srgbClr val="000000"/>
                </a:solidFill>
              </a:rPr>
              <a:t> VCI</a:t>
            </a:r>
            <a:r>
              <a:rPr lang="ru-RU" altLang="ru-RU" dirty="0" smtClean="0">
                <a:solidFill>
                  <a:srgbClr val="000000"/>
                </a:solidFill>
              </a:rPr>
              <a:t> ,</a:t>
            </a:r>
            <a:r>
              <a:rPr lang="ru-RU" altLang="ru-RU" b="1" dirty="0" smtClean="0">
                <a:solidFill>
                  <a:srgbClr val="000000"/>
                </a:solidFill>
              </a:rPr>
              <a:t>       VPI -</a:t>
            </a:r>
            <a:r>
              <a:rPr lang="ru-RU" altLang="ru-RU" dirty="0" smtClean="0">
                <a:solidFill>
                  <a:srgbClr val="000000"/>
                </a:solidFill>
              </a:rPr>
              <a:t> идентификатор</a:t>
            </a:r>
            <a:r>
              <a:rPr lang="ru-RU" altLang="ru-RU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altLang="ru-RU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присваивается ячейкам для выполнения их коммутации с одного порта на другой. </a:t>
            </a:r>
            <a:endParaRPr lang="ru-RU" altLang="ru-RU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ru-RU" altLang="ru-RU" sz="3600" b="1" dirty="0" smtClean="0">
                <a:solidFill>
                  <a:srgbClr val="002060"/>
                </a:solidFill>
              </a:rPr>
              <a:t>4.3 Т</a:t>
            </a:r>
            <a: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Коммутация.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 b="6601"/>
          <a:stretch>
            <a:fillRect/>
          </a:stretch>
        </p:blipFill>
        <p:spPr bwMode="auto">
          <a:xfrm>
            <a:off x="0" y="1340768"/>
            <a:ext cx="9144000" cy="5517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Autofit/>
          </a:bodyPr>
          <a:lstStyle/>
          <a:p>
            <a:r>
              <a:rPr lang="ru-RU" altLang="ru-RU" sz="3600" b="1" dirty="0" smtClean="0">
                <a:solidFill>
                  <a:srgbClr val="002060"/>
                </a:solidFill>
              </a:rPr>
              <a:t>4.3 Т</a:t>
            </a:r>
            <a: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Коммутация.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 r="3347" b="5263"/>
          <a:stretch>
            <a:fillRect/>
          </a:stretch>
        </p:blipFill>
        <p:spPr bwMode="auto">
          <a:xfrm>
            <a:off x="0" y="1052736"/>
            <a:ext cx="9144000" cy="5805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altLang="ru-RU" sz="4000" b="1" dirty="0" smtClean="0">
                <a:solidFill>
                  <a:srgbClr val="002060"/>
                </a:solidFill>
              </a:rPr>
              <a:t>4.3 Т</a:t>
            </a:r>
            <a:r>
              <a:rPr lang="ru-RU" altLang="ru-RU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Коммутация</a:t>
            </a:r>
            <a:r>
              <a:rPr lang="ru-RU" altLang="ru-RU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 b="6579"/>
          <a:stretch>
            <a:fillRect/>
          </a:stretch>
        </p:blipFill>
        <p:spPr bwMode="auto">
          <a:xfrm>
            <a:off x="251520" y="1196752"/>
            <a:ext cx="8892480" cy="547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8720"/>
          </a:xfrm>
        </p:spPr>
        <p:txBody>
          <a:bodyPr>
            <a:normAutofit/>
          </a:bodyPr>
          <a:lstStyle/>
          <a:p>
            <a:r>
              <a:rPr lang="ru-RU" altLang="ru-RU" sz="3600" b="1" dirty="0" smtClean="0">
                <a:solidFill>
                  <a:srgbClr val="002060"/>
                </a:solidFill>
              </a:rPr>
              <a:t>4.3 Т</a:t>
            </a:r>
            <a: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Коммутация.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 b="5479"/>
          <a:stretch>
            <a:fillRect/>
          </a:stretch>
        </p:blipFill>
        <p:spPr bwMode="auto">
          <a:xfrm>
            <a:off x="0" y="1268760"/>
            <a:ext cx="9144000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 fontScale="90000"/>
          </a:bodyPr>
          <a:lstStyle/>
          <a:p>
            <a:r>
              <a:rPr lang="ru-RU" altLang="ru-RU" sz="3200" b="1" dirty="0" smtClean="0">
                <a:solidFill>
                  <a:srgbClr val="002060"/>
                </a:solidFill>
              </a:rPr>
              <a:t>4.3 Т</a:t>
            </a:r>
            <a:r>
              <a:rPr lang="ru-RU" altLang="ru-RU" sz="32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Виртуальное соединение (1/11).</a:t>
            </a:r>
            <a:endParaRPr lang="ru-RU" sz="3200" dirty="0"/>
          </a:p>
        </p:txBody>
      </p:sp>
      <p:pic>
        <p:nvPicPr>
          <p:cNvPr id="4" name="Содержимое 3" descr="Соотношение между виртуальными путями и виртуальными каналами"/>
          <p:cNvPicPr>
            <a:picLocks noGrp="1"/>
          </p:cNvPicPr>
          <p:nvPr>
            <p:ph idx="1"/>
          </p:nvPr>
        </p:nvPicPr>
        <p:blipFill>
          <a:blip r:embed="rId2" cstate="print"/>
          <a:srcRect l="3434" r="8584"/>
          <a:stretch>
            <a:fillRect/>
          </a:stretch>
        </p:blipFill>
        <p:spPr bwMode="auto">
          <a:xfrm>
            <a:off x="0" y="4581128"/>
            <a:ext cx="8892480" cy="2276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Прямоугольник 5"/>
          <p:cNvSpPr/>
          <p:nvPr/>
        </p:nvSpPr>
        <p:spPr>
          <a:xfrm>
            <a:off x="0" y="692696"/>
            <a:ext cx="9144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i="1" dirty="0" smtClean="0"/>
              <a:t>     </a:t>
            </a:r>
            <a:r>
              <a:rPr lang="ru-RU" sz="2000" b="1" dirty="0" smtClean="0"/>
              <a:t>ATM ориентировано на установление соединения, которое в данном случае является виртуальным</a:t>
            </a:r>
            <a:r>
              <a:rPr lang="ru-RU" sz="2000" dirty="0" smtClean="0"/>
              <a:t>.</a:t>
            </a:r>
          </a:p>
          <a:p>
            <a:r>
              <a:rPr lang="ru-RU" sz="2000" dirty="0" smtClean="0"/>
              <a:t>     Виртуальное соединение — это логическое соединение, организуемое между отправителем и получателем</a:t>
            </a:r>
            <a:r>
              <a:rPr lang="ru-RU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</a:p>
          <a:p>
            <a:pPr>
              <a:tabLst>
                <a:tab pos="8955088" algn="l"/>
              </a:tabLst>
            </a:pPr>
            <a:r>
              <a:rPr lang="ru-RU" sz="2000" b="1" dirty="0" smtClean="0"/>
              <a:t>Принадлежность ячейки к виртуальному соединению VCC </a:t>
            </a:r>
            <a:r>
              <a:rPr lang="ru-RU" sz="2000" dirty="0" smtClean="0"/>
              <a:t>(</a:t>
            </a:r>
            <a:r>
              <a:rPr lang="ru-RU" sz="2000" dirty="0" err="1" smtClean="0"/>
              <a:t>Virtual</a:t>
            </a:r>
            <a:r>
              <a:rPr lang="ru-RU" sz="2000" dirty="0" smtClean="0"/>
              <a:t> </a:t>
            </a:r>
            <a:r>
              <a:rPr lang="ru-RU" sz="2000" dirty="0" err="1" smtClean="0"/>
              <a:t>Channel</a:t>
            </a:r>
            <a:r>
              <a:rPr lang="ru-RU" sz="2000" dirty="0" smtClean="0"/>
              <a:t> </a:t>
            </a:r>
            <a:r>
              <a:rPr lang="ru-RU" sz="2000" dirty="0" err="1" smtClean="0"/>
              <a:t>Connection</a:t>
            </a:r>
            <a:r>
              <a:rPr lang="ru-RU" sz="2000" dirty="0" smtClean="0"/>
              <a:t>) — </a:t>
            </a:r>
            <a:r>
              <a:rPr lang="ru-RU" sz="2000" b="1" dirty="0" smtClean="0"/>
              <a:t>распознается по номеру виртуального соединения состоящему из номера: </a:t>
            </a:r>
          </a:p>
          <a:p>
            <a:pPr>
              <a:tabLst>
                <a:tab pos="8955088" algn="l"/>
              </a:tabLst>
            </a:pPr>
            <a:r>
              <a:rPr lang="ru-RU" sz="2000" dirty="0" smtClean="0"/>
              <a:t>     - виртуального канала VC (</a:t>
            </a:r>
            <a:r>
              <a:rPr lang="ru-RU" sz="2000" dirty="0" err="1" smtClean="0"/>
              <a:t>Virtual</a:t>
            </a:r>
            <a:r>
              <a:rPr lang="ru-RU" sz="2000" dirty="0" smtClean="0"/>
              <a:t> </a:t>
            </a:r>
            <a:r>
              <a:rPr lang="ru-RU" sz="2000" dirty="0" err="1" smtClean="0"/>
              <a:t>Channel</a:t>
            </a:r>
            <a:r>
              <a:rPr lang="ru-RU" sz="2000" dirty="0"/>
              <a:t>)</a:t>
            </a:r>
            <a:endParaRPr lang="ru-RU" sz="2000" dirty="0" smtClean="0"/>
          </a:p>
          <a:p>
            <a:pPr>
              <a:tabLst>
                <a:tab pos="8955088" algn="l"/>
              </a:tabLst>
            </a:pPr>
            <a:r>
              <a:rPr lang="ru-RU" sz="2000" dirty="0" smtClean="0"/>
              <a:t>     - виртуального пути VP  (</a:t>
            </a:r>
            <a:r>
              <a:rPr lang="ru-RU" sz="2000" dirty="0" err="1" smtClean="0"/>
              <a:t>Virtual</a:t>
            </a:r>
            <a:r>
              <a:rPr lang="ru-RU" sz="2000" dirty="0" smtClean="0"/>
              <a:t> </a:t>
            </a:r>
            <a:r>
              <a:rPr lang="ru-RU" sz="2000" dirty="0" err="1" smtClean="0"/>
              <a:t>Path</a:t>
            </a:r>
            <a:r>
              <a:rPr lang="ru-RU" sz="2000" dirty="0" smtClean="0"/>
              <a:t>). </a:t>
            </a:r>
          </a:p>
          <a:p>
            <a:pPr>
              <a:tabLst>
                <a:tab pos="8955088" algn="l"/>
              </a:tabLst>
            </a:pPr>
            <a:r>
              <a:rPr lang="ru-RU" sz="2000" dirty="0" smtClean="0"/>
              <a:t>После установления виртуального канала для передачи ячеек не требуется номер выделения и обработка адресов конечных точек.</a:t>
            </a:r>
          </a:p>
          <a:p>
            <a:pPr>
              <a:tabLst>
                <a:tab pos="8955088" algn="l"/>
              </a:tabLst>
            </a:pPr>
            <a:r>
              <a:rPr lang="ru-RU" sz="2000" b="1" dirty="0" smtClean="0"/>
              <a:t> Виртуальный путь — это группа, объединяющая однонаправленные виртуальные каналы</a:t>
            </a:r>
            <a:r>
              <a:rPr lang="ru-RU" sz="2000" dirty="0" smtClean="0"/>
              <a:t>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8892480" cy="936104"/>
          </a:xfrm>
        </p:spPr>
        <p:txBody>
          <a:bodyPr>
            <a:normAutofit fontScale="90000"/>
          </a:bodyPr>
          <a:lstStyle/>
          <a:p>
            <a:r>
              <a:rPr lang="ru-RU" altLang="ru-RU" sz="3600" b="1" dirty="0" smtClean="0">
                <a:solidFill>
                  <a:srgbClr val="002060"/>
                </a:solidFill>
              </a:rPr>
              <a:t>4.3 Т</a:t>
            </a:r>
            <a: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Виртуальные каналы(2/11).</a:t>
            </a:r>
            <a:endParaRPr lang="ru-RU" sz="3600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l="5850" t="11769" r="11816" b="10272"/>
          <a:stretch>
            <a:fillRect/>
          </a:stretch>
        </p:blipFill>
        <p:spPr bwMode="auto">
          <a:xfrm>
            <a:off x="323528" y="1196752"/>
            <a:ext cx="8568952" cy="5328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6712"/>
          </a:xfrm>
        </p:spPr>
        <p:txBody>
          <a:bodyPr>
            <a:normAutofit fontScale="90000"/>
          </a:bodyPr>
          <a:lstStyle/>
          <a:p>
            <a:r>
              <a:rPr lang="ru-RU" altLang="ru-RU" sz="3200" b="1" dirty="0" smtClean="0">
                <a:solidFill>
                  <a:srgbClr val="002060"/>
                </a:solidFill>
              </a:rPr>
              <a:t>4.3 Т</a:t>
            </a:r>
            <a:r>
              <a:rPr lang="ru-RU" altLang="ru-RU" sz="32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Виртуальная адресация (3/11).</a:t>
            </a:r>
            <a:endParaRPr lang="ru-RU" sz="3200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t="11769" b="27773"/>
          <a:stretch>
            <a:fillRect/>
          </a:stretch>
        </p:blipFill>
        <p:spPr bwMode="auto">
          <a:xfrm>
            <a:off x="467544" y="980728"/>
            <a:ext cx="8352928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6712"/>
          </a:xfrm>
        </p:spPr>
        <p:txBody>
          <a:bodyPr>
            <a:normAutofit fontScale="90000"/>
          </a:bodyPr>
          <a:lstStyle/>
          <a:p>
            <a:r>
              <a:rPr lang="ru-RU" altLang="ru-RU" sz="3600" b="1" dirty="0" smtClean="0">
                <a:solidFill>
                  <a:srgbClr val="002060"/>
                </a:solidFill>
              </a:rPr>
              <a:t>4.3 Т</a:t>
            </a:r>
            <a: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</a:t>
            </a:r>
            <a:r>
              <a:rPr lang="ru-RU" sz="3600" b="1" dirty="0" smtClean="0">
                <a:solidFill>
                  <a:srgbClr val="002060"/>
                </a:solidFill>
              </a:rPr>
              <a:t>НАЗНАЧЕНИЕ </a:t>
            </a:r>
            <a:r>
              <a:rPr lang="en-US" sz="3600" b="1" dirty="0" smtClean="0">
                <a:solidFill>
                  <a:srgbClr val="002060"/>
                </a:solidFill>
              </a:rPr>
              <a:t>VPI</a:t>
            </a:r>
            <a:r>
              <a:rPr lang="ru-RU" sz="3600" b="1" dirty="0" smtClean="0">
                <a:solidFill>
                  <a:srgbClr val="002060"/>
                </a:solidFill>
              </a:rPr>
              <a:t>,</a:t>
            </a:r>
            <a:r>
              <a:rPr lang="en-US" sz="3600" b="1" dirty="0" smtClean="0">
                <a:solidFill>
                  <a:srgbClr val="002060"/>
                </a:solidFill>
              </a:rPr>
              <a:t> VCI</a:t>
            </a:r>
            <a:r>
              <a:rPr lang="ru-RU" sz="3600" b="1" dirty="0" smtClean="0">
                <a:solidFill>
                  <a:srgbClr val="002060"/>
                </a:solidFill>
              </a:rPr>
              <a:t> (4/11)</a:t>
            </a:r>
            <a:endParaRPr lang="ru-RU" sz="3600" b="1" dirty="0">
              <a:solidFill>
                <a:srgbClr val="002060"/>
              </a:solidFill>
            </a:endParaRPr>
          </a:p>
        </p:txBody>
      </p:sp>
      <p:pic>
        <p:nvPicPr>
          <p:cNvPr id="3074" name="Picture 2" descr="C:\Users\Юра\Downloads\НАЗНАЧЕНИЕ ИНДЕФИКАТОРОВ атм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9025" y="1268760"/>
            <a:ext cx="8784975" cy="55892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8964488" cy="778098"/>
          </a:xfrm>
        </p:spPr>
        <p:txBody>
          <a:bodyPr>
            <a:normAutofit fontScale="90000"/>
          </a:bodyPr>
          <a:lstStyle/>
          <a:p>
            <a:r>
              <a:rPr lang="ru-RU" altLang="ru-RU" sz="3200" b="1" dirty="0" smtClean="0">
                <a:solidFill>
                  <a:srgbClr val="002060"/>
                </a:solidFill>
              </a:rPr>
              <a:t>4.3 Т</a:t>
            </a:r>
            <a:r>
              <a:rPr lang="ru-RU" altLang="ru-RU" sz="32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Виртуальная адресация (5/11).</a:t>
            </a:r>
            <a:endParaRPr lang="ru-RU" sz="3200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t="11137" b="37951"/>
          <a:stretch>
            <a:fillRect/>
          </a:stretch>
        </p:blipFill>
        <p:spPr bwMode="auto">
          <a:xfrm>
            <a:off x="539552" y="1196752"/>
            <a:ext cx="8352928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50106"/>
          </a:xfrm>
        </p:spPr>
        <p:txBody>
          <a:bodyPr>
            <a:normAutofit fontScale="90000"/>
          </a:bodyPr>
          <a:lstStyle/>
          <a:p>
            <a:r>
              <a:rPr lang="ru-RU" altLang="ru-RU" sz="2800" b="1" dirty="0" smtClean="0">
                <a:solidFill>
                  <a:srgbClr val="002060"/>
                </a:solidFill>
              </a:rPr>
              <a:t>4.3 Т</a:t>
            </a:r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 </a:t>
            </a:r>
            <a:r>
              <a:rPr lang="ru-RU" altLang="ru-RU" sz="2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br>
              <a:rPr lang="ru-RU" altLang="ru-RU" sz="2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</a:br>
            <a:r>
              <a:rPr kumimoji="0" lang="ru-RU" sz="2370" b="1" i="0" u="none" strike="noStrike" cap="none" normalizeH="0" dirty="0" smtClean="0">
                <a:ln>
                  <a:noFill/>
                </a:ln>
                <a:solidFill>
                  <a:srgbClr val="002060"/>
                </a:solidFill>
                <a:effectLst/>
                <a:latin typeface="Tahoma" pitchFamily="34" charset="0"/>
                <a:ea typeface="Calibri" pitchFamily="34" charset="0"/>
                <a:cs typeface="Tahoma" pitchFamily="34" charset="0"/>
              </a:rPr>
              <a:t>Использование идентификаторов путей, </a:t>
            </a:r>
            <a:r>
              <a:rPr kumimoji="0" lang="ru-RU" sz="2330" b="1" i="0" u="none" strike="noStrike" cap="none" normalizeH="0" dirty="0" smtClean="0">
                <a:ln>
                  <a:noFill/>
                </a:ln>
                <a:solidFill>
                  <a:srgbClr val="002060"/>
                </a:solidFill>
                <a:effectLst/>
                <a:latin typeface="Tahoma" pitchFamily="34" charset="0"/>
                <a:ea typeface="Calibri" pitchFamily="34" charset="0"/>
                <a:cs typeface="Tahoma" pitchFamily="34" charset="0"/>
              </a:rPr>
              <a:t>каналов (6/11</a:t>
            </a:r>
            <a:r>
              <a:rPr kumimoji="0" lang="ru-RU" sz="2370" b="1" i="0" u="none" strike="noStrike" cap="none" normalizeH="0" dirty="0" smtClean="0">
                <a:ln>
                  <a:noFill/>
                </a:ln>
                <a:solidFill>
                  <a:srgbClr val="002060"/>
                </a:solidFill>
                <a:effectLst/>
                <a:latin typeface="Tahoma" pitchFamily="34" charset="0"/>
                <a:ea typeface="Calibri" pitchFamily="34" charset="0"/>
                <a:cs typeface="Tahoma" pitchFamily="34" charset="0"/>
              </a:rPr>
              <a:t>)</a:t>
            </a:r>
            <a:endParaRPr lang="ru-RU" sz="2370" b="1" dirty="0">
              <a:solidFill>
                <a:srgbClr val="002060"/>
              </a:solidFill>
            </a:endParaRPr>
          </a:p>
        </p:txBody>
      </p:sp>
      <p:pic>
        <p:nvPicPr>
          <p:cNvPr id="4" name="Содержимое 3" descr="Использование идентификаторов путей и каналов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628800"/>
            <a:ext cx="9144000" cy="504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22722"/>
          </a:xfrm>
        </p:spPr>
        <p:txBody>
          <a:bodyPr>
            <a:normAutofit fontScale="90000"/>
          </a:bodyPr>
          <a:lstStyle/>
          <a:p>
            <a:r>
              <a:rPr lang="ru-RU" altLang="ru-RU" sz="3100" b="1" dirty="0" smtClean="0">
                <a:solidFill>
                  <a:srgbClr val="002060"/>
                </a:solidFill>
              </a:rPr>
              <a:t>4.3 Т</a:t>
            </a:r>
            <a:r>
              <a:rPr lang="ru-RU" altLang="ru-RU" sz="31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 . </a:t>
            </a:r>
            <a:r>
              <a:rPr lang="ru-RU" altLang="ru-RU" sz="2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/>
            </a:r>
            <a:br>
              <a:rPr lang="ru-RU" altLang="ru-RU" sz="2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</a:b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ahoma" pitchFamily="34" charset="0"/>
                <a:ea typeface="Calibri" pitchFamily="34" charset="0"/>
                <a:cs typeface="Tahoma" pitchFamily="34" charset="0"/>
              </a:rPr>
              <a:t>Использование идентификаторов путей и каналов (7/11)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08720"/>
            <a:ext cx="9144000" cy="5949280"/>
          </a:xfrm>
        </p:spPr>
        <p:txBody>
          <a:bodyPr>
            <a:normAutofit lnSpcReduction="10000"/>
          </a:bodyPr>
          <a:lstStyle/>
          <a:p>
            <a:r>
              <a:rPr lang="ru-RU" sz="2000" b="1" dirty="0" smtClean="0"/>
              <a:t>При коммутации можно выделить:</a:t>
            </a:r>
          </a:p>
          <a:p>
            <a:pPr>
              <a:buNone/>
            </a:pPr>
            <a:r>
              <a:rPr lang="ru-RU" sz="2000" b="1" dirty="0"/>
              <a:t> </a:t>
            </a:r>
            <a:r>
              <a:rPr lang="ru-RU" sz="2000" b="1" dirty="0" smtClean="0"/>
              <a:t>       - коммутаторы каналов и </a:t>
            </a:r>
          </a:p>
          <a:p>
            <a:pPr>
              <a:buNone/>
            </a:pPr>
            <a:r>
              <a:rPr lang="ru-RU" sz="2000" b="1" dirty="0"/>
              <a:t> </a:t>
            </a:r>
            <a:r>
              <a:rPr lang="ru-RU" sz="2000" b="1" dirty="0" smtClean="0"/>
              <a:t>       -  коммутаторы путей</a:t>
            </a:r>
            <a:r>
              <a:rPr lang="ru-RU" sz="2000" dirty="0" smtClean="0"/>
              <a:t>,</a:t>
            </a:r>
          </a:p>
          <a:p>
            <a:pPr>
              <a:buNone/>
            </a:pPr>
            <a:r>
              <a:rPr lang="ru-RU" sz="2000" dirty="0"/>
              <a:t> </a:t>
            </a:r>
            <a:r>
              <a:rPr lang="ru-RU" sz="2000" dirty="0" smtClean="0"/>
              <a:t>   которые в соответствии со значением соответствующих идентификаторов коммутируют информацию и меняют ее в соответствии с маршрутом.</a:t>
            </a:r>
          </a:p>
          <a:p>
            <a:r>
              <a:rPr lang="ru-RU" sz="2000" dirty="0" smtClean="0"/>
              <a:t>На рисунке (6/11) показано использование идентификаторов путей и каналов.</a:t>
            </a:r>
          </a:p>
          <a:p>
            <a:r>
              <a:rPr lang="ru-RU" sz="2000" dirty="0" smtClean="0"/>
              <a:t>На рисунке  изображены пять виртуальных соединений, начальная и конечная точки которых отмечены одинаковыми буквами (</a:t>
            </a:r>
            <a:r>
              <a:rPr lang="ru-RU" sz="2000" dirty="0" err="1" smtClean="0"/>
              <a:t>a</a:t>
            </a:r>
            <a:r>
              <a:rPr lang="ru-RU" sz="2000" dirty="0" smtClean="0"/>
              <a:t>, </a:t>
            </a:r>
            <a:r>
              <a:rPr lang="ru-RU" sz="2000" dirty="0" err="1" smtClean="0"/>
              <a:t>b</a:t>
            </a:r>
            <a:r>
              <a:rPr lang="ru-RU" sz="2000" dirty="0" smtClean="0"/>
              <a:t>, </a:t>
            </a:r>
            <a:r>
              <a:rPr lang="ru-RU" sz="2000" dirty="0" err="1" smtClean="0"/>
              <a:t>c</a:t>
            </a:r>
            <a:r>
              <a:rPr lang="ru-RU" sz="2000" dirty="0" smtClean="0"/>
              <a:t>, </a:t>
            </a:r>
            <a:r>
              <a:rPr lang="ru-RU" sz="2000" dirty="0" err="1" smtClean="0"/>
              <a:t>d</a:t>
            </a:r>
            <a:r>
              <a:rPr lang="ru-RU" sz="2000" dirty="0" smtClean="0"/>
              <a:t>, </a:t>
            </a:r>
            <a:r>
              <a:rPr lang="ru-RU" sz="2000" dirty="0" err="1" smtClean="0"/>
              <a:t>e</a:t>
            </a:r>
            <a:r>
              <a:rPr lang="ru-RU" sz="2000" dirty="0" smtClean="0"/>
              <a:t>).</a:t>
            </a:r>
          </a:p>
          <a:p>
            <a:pPr>
              <a:buNone/>
            </a:pPr>
            <a:r>
              <a:rPr lang="ru-RU" sz="2000" dirty="0" smtClean="0"/>
              <a:t>        На рисунке также изображены виртуальные пути, которым присвоены соответствующие идентификаторы виртуальных путей (</a:t>
            </a:r>
            <a:r>
              <a:rPr lang="en-US" sz="2000" dirty="0" smtClean="0"/>
              <a:t>VPI</a:t>
            </a:r>
            <a:r>
              <a:rPr lang="ru-RU" sz="2000" dirty="0" smtClean="0"/>
              <a:t> ).</a:t>
            </a:r>
          </a:p>
          <a:p>
            <a:r>
              <a:rPr lang="ru-RU" sz="2000" dirty="0" smtClean="0"/>
              <a:t> При этом: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           -  VPI 1</a:t>
            </a:r>
            <a:r>
              <a:rPr lang="ru-RU" sz="2000" dirty="0" smtClean="0"/>
              <a:t>    содержит</a:t>
            </a:r>
            <a:r>
              <a:rPr lang="en-US" sz="2000" dirty="0" smtClean="0"/>
              <a:t> </a:t>
            </a:r>
            <a:r>
              <a:rPr lang="ru-RU" sz="2000" dirty="0" smtClean="0"/>
              <a:t>3 виртуальных канала (они на рисунке обведены эллипсом), 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           -  VPI 2</a:t>
            </a:r>
            <a:r>
              <a:rPr lang="ru-RU" sz="2000" dirty="0" smtClean="0"/>
              <a:t> — 2 виртуальных канала, 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           -  VPI 3</a:t>
            </a:r>
            <a:r>
              <a:rPr lang="ru-RU" sz="2000" dirty="0" smtClean="0"/>
              <a:t>  — 3 виртуальных канала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           - </a:t>
            </a:r>
            <a:r>
              <a:rPr lang="ru-RU" sz="2000" dirty="0" smtClean="0"/>
              <a:t>  </a:t>
            </a:r>
            <a:r>
              <a:rPr lang="en-US" sz="2000" dirty="0" smtClean="0"/>
              <a:t>VPI 4</a:t>
            </a:r>
            <a:r>
              <a:rPr lang="ru-RU" sz="2000" dirty="0" smtClean="0"/>
              <a:t> — 2 виртуальных канала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        </a:t>
            </a:r>
            <a:r>
              <a:rPr lang="ru-RU" sz="2000" dirty="0" smtClean="0"/>
              <a:t>  </a:t>
            </a:r>
            <a:r>
              <a:rPr lang="en-US" sz="2000" dirty="0" smtClean="0"/>
              <a:t>  -</a:t>
            </a:r>
            <a:r>
              <a:rPr lang="ru-RU" sz="2000" dirty="0" smtClean="0"/>
              <a:t> </a:t>
            </a:r>
            <a:r>
              <a:rPr lang="en-US" sz="2000" dirty="0" smtClean="0"/>
              <a:t> VPI 5</a:t>
            </a:r>
            <a:r>
              <a:rPr lang="ru-RU" sz="2000" dirty="0" smtClean="0"/>
              <a:t>  — 2 виртуальных канала.</a:t>
            </a:r>
            <a:endParaRPr lang="en-US" sz="2000" dirty="0" smtClean="0"/>
          </a:p>
          <a:p>
            <a:r>
              <a:rPr lang="ru-RU" sz="2000" dirty="0" smtClean="0"/>
              <a:t> </a:t>
            </a:r>
            <a:endParaRPr lang="ru-RU" sz="2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6712"/>
          </a:xfrm>
        </p:spPr>
        <p:txBody>
          <a:bodyPr>
            <a:normAutofit fontScale="90000"/>
          </a:bodyPr>
          <a:lstStyle/>
          <a:p>
            <a:r>
              <a:rPr lang="ru-RU" altLang="ru-RU" sz="2800" b="1" dirty="0" smtClean="0">
                <a:solidFill>
                  <a:srgbClr val="002060"/>
                </a:solidFill>
              </a:rPr>
              <a:t>4.3 Т</a:t>
            </a:r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 . </a:t>
            </a:r>
            <a:r>
              <a:rPr lang="ru-RU" altLang="ru-RU" sz="2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/>
            </a:r>
            <a:br>
              <a:rPr lang="ru-RU" altLang="ru-RU" sz="2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</a:b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ahoma" pitchFamily="34" charset="0"/>
                <a:ea typeface="Calibri" pitchFamily="34" charset="0"/>
                <a:cs typeface="Tahoma" pitchFamily="34" charset="0"/>
              </a:rPr>
              <a:t>Использование идентификаторов путей , каналов(8/11)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836712"/>
            <a:ext cx="9144000" cy="5832648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 smtClean="0"/>
              <a:t>Виртуальные соединения </a:t>
            </a:r>
            <a:r>
              <a:rPr lang="ru-RU" b="1" dirty="0" err="1" smtClean="0"/>
              <a:t>a</a:t>
            </a:r>
            <a:r>
              <a:rPr lang="ru-RU" b="1" dirty="0" smtClean="0"/>
              <a:t>, </a:t>
            </a:r>
            <a:r>
              <a:rPr lang="ru-RU" b="1" dirty="0" err="1" smtClean="0"/>
              <a:t>b</a:t>
            </a:r>
            <a:r>
              <a:rPr lang="ru-RU" b="1" dirty="0" smtClean="0"/>
              <a:t>, </a:t>
            </a:r>
            <a:r>
              <a:rPr lang="ru-RU" b="1" dirty="0" err="1" smtClean="0"/>
              <a:t>c</a:t>
            </a:r>
            <a:r>
              <a:rPr lang="ru-RU" b="1" dirty="0" smtClean="0"/>
              <a:t> проходят:</a:t>
            </a:r>
          </a:p>
          <a:p>
            <a:pPr>
              <a:buNone/>
            </a:pPr>
            <a:r>
              <a:rPr lang="ru-RU" dirty="0" smtClean="0"/>
              <a:t>             -  через коммутатор </a:t>
            </a:r>
            <a:r>
              <a:rPr lang="en-US" dirty="0" smtClean="0"/>
              <a:t>1</a:t>
            </a:r>
            <a:r>
              <a:rPr lang="ru-RU" dirty="0" smtClean="0"/>
              <a:t> виртуальный путь (идентификатором </a:t>
            </a:r>
            <a:r>
              <a:rPr lang="en-US" dirty="0" smtClean="0"/>
              <a:t> -  VPI 1</a:t>
            </a:r>
            <a:r>
              <a:rPr lang="ru-RU" dirty="0" smtClean="0"/>
              <a:t>)</a:t>
            </a:r>
          </a:p>
          <a:p>
            <a:pPr>
              <a:buNone/>
            </a:pPr>
            <a:r>
              <a:rPr lang="ru-RU" dirty="0"/>
              <a:t> </a:t>
            </a:r>
            <a:r>
              <a:rPr lang="ru-RU" dirty="0" smtClean="0"/>
              <a:t>            -  через коммутатор 2      виртуальный путь (идентификатор </a:t>
            </a:r>
            <a:r>
              <a:rPr lang="en-US" dirty="0" smtClean="0"/>
              <a:t> -  VPI 3</a:t>
            </a:r>
            <a:r>
              <a:rPr lang="ru-RU" dirty="0" smtClean="0"/>
              <a:t>) </a:t>
            </a:r>
            <a:endParaRPr lang="en-US" dirty="0" smtClean="0"/>
          </a:p>
          <a:p>
            <a:r>
              <a:rPr lang="ru-RU" dirty="0" smtClean="0"/>
              <a:t>   </a:t>
            </a:r>
            <a:r>
              <a:rPr lang="ru-RU" b="1" dirty="0" smtClean="0"/>
              <a:t> Коммутатор 3 </a:t>
            </a:r>
            <a:r>
              <a:rPr lang="ru-RU" dirty="0" smtClean="0"/>
              <a:t>разделяет каналы, входившие в</a:t>
            </a:r>
            <a:r>
              <a:rPr lang="en-US" dirty="0" smtClean="0"/>
              <a:t>  VPI</a:t>
            </a:r>
            <a:r>
              <a:rPr lang="ru-RU" dirty="0" smtClean="0"/>
              <a:t> 3 :</a:t>
            </a:r>
          </a:p>
          <a:p>
            <a:pPr>
              <a:buNone/>
            </a:pPr>
            <a:r>
              <a:rPr lang="ru-RU" dirty="0" smtClean="0"/>
              <a:t>             - информация одного виртуального канала направляется к оконечному оборудованию   виртуального соединения </a:t>
            </a:r>
            <a:r>
              <a:rPr lang="ru-RU" dirty="0" err="1" smtClean="0"/>
              <a:t>a</a:t>
            </a:r>
            <a:r>
              <a:rPr lang="ru-RU" dirty="0" smtClean="0"/>
              <a:t>, </a:t>
            </a:r>
          </a:p>
          <a:p>
            <a:pPr>
              <a:buNone/>
            </a:pPr>
            <a:r>
              <a:rPr lang="ru-RU" dirty="0" smtClean="0"/>
              <a:t>          - другие два канала образуют виртуальный путь с идентификатором</a:t>
            </a:r>
            <a:r>
              <a:rPr lang="en-US" dirty="0" smtClean="0"/>
              <a:t> VPI </a:t>
            </a:r>
            <a:r>
              <a:rPr lang="ru-RU" dirty="0" smtClean="0"/>
              <a:t>5.</a:t>
            </a:r>
          </a:p>
          <a:p>
            <a:r>
              <a:rPr lang="ru-RU" b="1" dirty="0" smtClean="0"/>
              <a:t> Виртуальное соединения </a:t>
            </a:r>
            <a:r>
              <a:rPr lang="ru-RU" b="1" dirty="0" err="1" smtClean="0"/>
              <a:t>d</a:t>
            </a:r>
            <a:r>
              <a:rPr lang="ru-RU" b="1" dirty="0" smtClean="0"/>
              <a:t>, </a:t>
            </a:r>
            <a:r>
              <a:rPr lang="ru-RU" b="1" dirty="0" err="1" smtClean="0"/>
              <a:t>e</a:t>
            </a:r>
            <a:r>
              <a:rPr lang="ru-RU" b="1" dirty="0" smtClean="0"/>
              <a:t> проходят:</a:t>
            </a:r>
          </a:p>
          <a:p>
            <a:pPr>
              <a:buNone/>
            </a:pPr>
            <a:r>
              <a:rPr lang="ru-RU" b="1" dirty="0" smtClean="0"/>
              <a:t>   - </a:t>
            </a:r>
            <a:r>
              <a:rPr lang="ru-RU" dirty="0" smtClean="0"/>
              <a:t>через 1- </a:t>
            </a:r>
            <a:r>
              <a:rPr lang="ru-RU" dirty="0" err="1" smtClean="0"/>
              <a:t>й</a:t>
            </a:r>
            <a:r>
              <a:rPr lang="ru-RU" dirty="0" smtClean="0"/>
              <a:t> коммутатор по виртуальному пути с идентификатором</a:t>
            </a:r>
            <a:r>
              <a:rPr lang="en-US" dirty="0" smtClean="0"/>
              <a:t> VPI </a:t>
            </a:r>
            <a:r>
              <a:rPr lang="ru-RU" dirty="0" smtClean="0"/>
              <a:t>2.</a:t>
            </a:r>
          </a:p>
          <a:p>
            <a:pPr>
              <a:buNone/>
            </a:pPr>
            <a:r>
              <a:rPr lang="ru-RU" dirty="0" smtClean="0"/>
              <a:t>    - При этом один канал (изображенный сплошной линией, проходящей через коммутатор) — полупостоянный, т. е. канал, установленный на достаточно большое время и не переустанавливаемый при каждом соединении.</a:t>
            </a:r>
          </a:p>
          <a:p>
            <a:pPr>
              <a:buNone/>
            </a:pPr>
            <a:r>
              <a:rPr lang="ru-RU" dirty="0" smtClean="0"/>
              <a:t>     </a:t>
            </a:r>
            <a:r>
              <a:rPr lang="ru-RU" b="1" dirty="0" smtClean="0"/>
              <a:t>Коммутатор 2</a:t>
            </a:r>
            <a:r>
              <a:rPr lang="ru-RU" dirty="0" smtClean="0"/>
              <a:t> направляет этот поток по пути с идентификатором</a:t>
            </a:r>
            <a:r>
              <a:rPr lang="en-US" dirty="0" smtClean="0"/>
              <a:t> VPI </a:t>
            </a:r>
            <a:r>
              <a:rPr lang="ru-RU" dirty="0" smtClean="0"/>
              <a:t>4  , и далее он поступает на оконечное оборудование.</a:t>
            </a:r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</p:spPr>
        <p:txBody>
          <a:bodyPr>
            <a:normAutofit fontScale="90000"/>
          </a:bodyPr>
          <a:lstStyle/>
          <a:p>
            <a:pPr algn="l"/>
            <a:r>
              <a:rPr lang="ru-RU" altLang="ru-RU" sz="3200" b="1" dirty="0" smtClean="0">
                <a:solidFill>
                  <a:srgbClr val="002060"/>
                </a:solidFill>
              </a:rPr>
              <a:t>4.3 Т</a:t>
            </a:r>
            <a:r>
              <a:rPr lang="ru-RU" altLang="ru-RU" sz="32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Виртуальная пути и каналы (9/11).</a:t>
            </a:r>
            <a:endParaRPr lang="ru-RU" sz="3200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t="11769" b="18227"/>
          <a:stretch>
            <a:fillRect/>
          </a:stretch>
        </p:blipFill>
        <p:spPr bwMode="auto">
          <a:xfrm>
            <a:off x="467544" y="980728"/>
            <a:ext cx="8496944" cy="5616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r>
              <a:rPr lang="ru-RU" altLang="ru-RU" sz="2800" b="1" dirty="0" smtClean="0">
                <a:solidFill>
                  <a:srgbClr val="002060"/>
                </a:solidFill>
              </a:rPr>
              <a:t>4.3 Т</a:t>
            </a:r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</a:t>
            </a:r>
            <a:r>
              <a:rPr lang="ru-RU" sz="2800" b="1" dirty="0" smtClean="0">
                <a:solidFill>
                  <a:srgbClr val="002060"/>
                </a:solidFill>
              </a:rPr>
              <a:t>Структура коммутатора АТМ. (10/11)</a:t>
            </a:r>
            <a:endParaRPr lang="ru-RU" sz="2800" b="1" dirty="0">
              <a:solidFill>
                <a:srgbClr val="002060"/>
              </a:solidFill>
            </a:endParaRPr>
          </a:p>
        </p:txBody>
      </p:sp>
      <p:pic>
        <p:nvPicPr>
          <p:cNvPr id="4098" name="Picture 2" descr="C:\Users\Юра\Downloads\структкра коммутатора АТМ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908720"/>
            <a:ext cx="8712968" cy="583264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16632"/>
            <a:ext cx="9144000" cy="792088"/>
          </a:xfrm>
        </p:spPr>
        <p:txBody>
          <a:bodyPr>
            <a:noAutofit/>
          </a:bodyPr>
          <a:lstStyle/>
          <a:p>
            <a:r>
              <a:rPr lang="ru-RU" altLang="ru-RU" sz="2400" b="1" dirty="0" smtClean="0">
                <a:solidFill>
                  <a:srgbClr val="002060"/>
                </a:solidFill>
              </a:rPr>
              <a:t>4.3 Т</a:t>
            </a:r>
            <a:r>
              <a:rPr lang="ru-RU" altLang="ru-RU" sz="2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</a:t>
            </a:r>
            <a:br>
              <a:rPr lang="ru-RU" altLang="ru-RU" sz="2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</a:br>
            <a:r>
              <a:rPr lang="ru-RU" altLang="ru-RU" sz="2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Виртуальные каналы, адресация </a:t>
            </a:r>
            <a:r>
              <a:rPr lang="en-US" altLang="ru-RU" sz="2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VPI/VCI</a:t>
            </a:r>
            <a:r>
              <a:rPr lang="ru-RU" altLang="ru-RU" sz="2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(11/11)</a:t>
            </a:r>
            <a:endParaRPr lang="ru-RU" sz="2400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t="12728" b="10904"/>
          <a:stretch>
            <a:fillRect/>
          </a:stretch>
        </p:blipFill>
        <p:spPr bwMode="auto">
          <a:xfrm>
            <a:off x="323528" y="1340768"/>
            <a:ext cx="8496944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052736"/>
            <a:ext cx="8229600" cy="3744416"/>
          </a:xfrm>
        </p:spPr>
        <p:txBody>
          <a:bodyPr>
            <a:normAutofit/>
          </a:bodyPr>
          <a:lstStyle/>
          <a:p>
            <a:r>
              <a:rPr lang="ru-RU" altLang="ru-RU" sz="3600" b="1" dirty="0" smtClean="0">
                <a:solidFill>
                  <a:srgbClr val="002060"/>
                </a:solidFill>
              </a:rPr>
              <a:t>4.4.Т</a:t>
            </a:r>
            <a: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</a:t>
            </a:r>
            <a:b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</a:br>
            <a: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Формат ячейки. Передача ячеек.</a:t>
            </a:r>
            <a:r>
              <a:rPr lang="ru-RU" sz="3600" b="1" dirty="0" smtClean="0"/>
              <a:t/>
            </a:r>
            <a:br>
              <a:rPr lang="ru-RU" sz="3600" b="1" dirty="0" smtClean="0"/>
            </a:br>
            <a:endParaRPr lang="ru-RU" sz="3600" b="1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0"/>
            <a:ext cx="8640960" cy="1052736"/>
          </a:xfrm>
        </p:spPr>
        <p:txBody>
          <a:bodyPr>
            <a:normAutofit/>
          </a:bodyPr>
          <a:lstStyle/>
          <a:p>
            <a:r>
              <a:rPr lang="ru-RU" altLang="ru-RU" sz="3600" b="1" dirty="0" smtClean="0">
                <a:solidFill>
                  <a:srgbClr val="002060"/>
                </a:solidFill>
              </a:rPr>
              <a:t>4.4 Т</a:t>
            </a:r>
            <a: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Формат ячейки</a:t>
            </a:r>
            <a:endParaRPr lang="ru-RU" sz="3600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t="11769" r="9430" b="15045"/>
          <a:stretch>
            <a:fillRect/>
          </a:stretch>
        </p:blipFill>
        <p:spPr bwMode="auto">
          <a:xfrm>
            <a:off x="611560" y="1124744"/>
            <a:ext cx="7632848" cy="525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706090"/>
          </a:xfrm>
        </p:spPr>
        <p:txBody>
          <a:bodyPr>
            <a:normAutofit/>
          </a:bodyPr>
          <a:lstStyle/>
          <a:p>
            <a:r>
              <a:rPr lang="ru-RU" altLang="ru-RU" sz="3200" b="1" i="1" dirty="0" smtClean="0">
                <a:solidFill>
                  <a:srgbClr val="002060"/>
                </a:solidFill>
              </a:rPr>
              <a:t>4.4 </a:t>
            </a:r>
            <a:r>
              <a:rPr lang="ru-RU" altLang="ru-RU" sz="3200" b="1" dirty="0" smtClean="0">
                <a:solidFill>
                  <a:srgbClr val="002060"/>
                </a:solidFill>
              </a:rPr>
              <a:t>Т</a:t>
            </a:r>
            <a:r>
              <a:rPr lang="ru-RU" altLang="ru-RU" sz="32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Формат ячейки</a:t>
            </a:r>
            <a:r>
              <a:rPr lang="ru-RU" altLang="ru-RU" sz="3200" b="1" i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196752"/>
            <a:ext cx="9144000" cy="5661248"/>
          </a:xfrm>
        </p:spPr>
        <p:txBody>
          <a:bodyPr>
            <a:normAutofit/>
          </a:bodyPr>
          <a:lstStyle/>
          <a:p>
            <a:pPr marL="342000" indent="-34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q"/>
            </a:pPr>
            <a:r>
              <a:rPr lang="ru-RU" altLang="ru-RU" dirty="0" smtClean="0"/>
              <a:t> </a:t>
            </a:r>
            <a:r>
              <a:rPr lang="ru-RU" altLang="ru-RU" sz="2800" dirty="0" smtClean="0"/>
              <a:t>Ячейка содержит полезную информацию пользователя (48байт) и  заголовок (5байт). </a:t>
            </a:r>
          </a:p>
          <a:p>
            <a:pPr marL="342000" indent="-34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q"/>
            </a:pPr>
            <a:r>
              <a:rPr lang="ru-RU" altLang="ru-RU" sz="2800" dirty="0" smtClean="0"/>
              <a:t>Поскольку ячейки одинаковой длины , то нет необходимости отделять  их друг от друга служебной информацией (начало, конец).</a:t>
            </a:r>
          </a:p>
          <a:p>
            <a:pPr marL="342000" indent="-34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q"/>
            </a:pPr>
            <a:r>
              <a:rPr lang="ru-RU" altLang="ru-RU" sz="2800" dirty="0" smtClean="0"/>
              <a:t>Цифровая информация от пользователя заполняет ячейки, если нет информации -  передаются пустые ячейки, т.е. ячейки формируются по мере потребности. </a:t>
            </a:r>
          </a:p>
          <a:p>
            <a:pPr marL="342000" indent="-34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q"/>
            </a:pPr>
            <a:r>
              <a:rPr lang="ru-RU" altLang="ru-RU" sz="2800" dirty="0" smtClean="0"/>
              <a:t>При непрерывной передачи ячейки следуют через строго определенное  время.</a:t>
            </a:r>
          </a:p>
          <a:p>
            <a:pPr marL="342000" indent="-342000">
              <a:lnSpc>
                <a:spcPct val="100000"/>
              </a:lnSpc>
              <a:spcBef>
                <a:spcPts val="600"/>
              </a:spcBef>
              <a:buNone/>
            </a:pPr>
            <a:endParaRPr lang="ru-RU" altLang="ru-RU" dirty="0" smtClean="0"/>
          </a:p>
          <a:p>
            <a:pPr marL="342000" indent="-342000">
              <a:lnSpc>
                <a:spcPct val="100000"/>
              </a:lnSpc>
              <a:spcBef>
                <a:spcPts val="600"/>
              </a:spcBef>
              <a:buNone/>
            </a:pPr>
            <a:endParaRPr lang="ru-RU" alt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4704"/>
          </a:xfrm>
        </p:spPr>
        <p:txBody>
          <a:bodyPr>
            <a:normAutofit fontScale="90000"/>
          </a:bodyPr>
          <a:lstStyle/>
          <a:p>
            <a:r>
              <a:rPr lang="ru-RU" altLang="ru-RU" sz="3600" b="1" dirty="0" smtClean="0">
                <a:solidFill>
                  <a:srgbClr val="002060"/>
                </a:solidFill>
              </a:rPr>
              <a:t>4.4 Т</a:t>
            </a:r>
            <a: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Формат ячейки (1 вар.).</a:t>
            </a:r>
            <a:endParaRPr lang="ru-RU" sz="3600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t="11689" r="38149" b="7792"/>
          <a:stretch>
            <a:fillRect/>
          </a:stretch>
        </p:blipFill>
        <p:spPr bwMode="auto">
          <a:xfrm>
            <a:off x="1259632" y="980728"/>
            <a:ext cx="7884368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634082"/>
          </a:xfrm>
        </p:spPr>
        <p:txBody>
          <a:bodyPr>
            <a:normAutofit fontScale="90000"/>
          </a:bodyPr>
          <a:lstStyle/>
          <a:p>
            <a:pPr algn="l"/>
            <a:r>
              <a:rPr lang="ru-RU" altLang="ru-RU" sz="3200" b="1" dirty="0" smtClean="0">
                <a:solidFill>
                  <a:srgbClr val="002060"/>
                </a:solidFill>
              </a:rPr>
              <a:t>4.4 Т</a:t>
            </a:r>
            <a:r>
              <a:rPr lang="ru-RU" altLang="ru-RU" sz="32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</a:t>
            </a:r>
            <a:r>
              <a:rPr lang="ru-RU" sz="3200" b="1" dirty="0" smtClean="0">
                <a:solidFill>
                  <a:srgbClr val="002060"/>
                </a:solidFill>
              </a:rPr>
              <a:t>Формат заголовка ячейки (2 вар.) </a:t>
            </a:r>
            <a:endParaRPr lang="ru-RU" sz="3200" b="1" dirty="0">
              <a:solidFill>
                <a:srgbClr val="002060"/>
              </a:solidFill>
            </a:endParaRPr>
          </a:p>
        </p:txBody>
      </p:sp>
      <p:pic>
        <p:nvPicPr>
          <p:cNvPr id="4" name="Содержимое 3" descr="Формат заголовка ячейки ATM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980728"/>
            <a:ext cx="864096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634082"/>
          </a:xfrm>
        </p:spPr>
        <p:txBody>
          <a:bodyPr>
            <a:normAutofit fontScale="90000"/>
          </a:bodyPr>
          <a:lstStyle/>
          <a:p>
            <a:r>
              <a:rPr lang="ru-RU" altLang="ru-RU" sz="3200" b="1" dirty="0" smtClean="0">
                <a:solidFill>
                  <a:srgbClr val="002060"/>
                </a:solidFill>
              </a:rPr>
              <a:t>4.4 Т</a:t>
            </a:r>
            <a:r>
              <a:rPr lang="ru-RU" altLang="ru-RU" sz="32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</a:t>
            </a:r>
            <a:r>
              <a:rPr lang="ru-RU" sz="3200" b="1" dirty="0" smtClean="0">
                <a:solidFill>
                  <a:srgbClr val="002060"/>
                </a:solidFill>
              </a:rPr>
              <a:t>Формат заголовка ячейки (1/8) 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052736"/>
            <a:ext cx="9144000" cy="5805264"/>
          </a:xfrm>
        </p:spPr>
        <p:txBody>
          <a:bodyPr>
            <a:normAutofit/>
          </a:bodyPr>
          <a:lstStyle/>
          <a:p>
            <a:r>
              <a:rPr lang="ru-RU" b="1" dirty="0" smtClean="0"/>
              <a:t>Идентификатор виртуального пути VP</a:t>
            </a:r>
            <a:r>
              <a:rPr lang="en-US" b="1" dirty="0" smtClean="0"/>
              <a:t>I</a:t>
            </a:r>
            <a:r>
              <a:rPr lang="ru-RU" b="1" dirty="0" smtClean="0"/>
              <a:t> </a:t>
            </a:r>
          </a:p>
          <a:p>
            <a:pPr>
              <a:buNone/>
            </a:pPr>
            <a:r>
              <a:rPr lang="ru-RU" b="1" dirty="0" smtClean="0"/>
              <a:t> </a:t>
            </a:r>
            <a:r>
              <a:rPr lang="ru-RU" dirty="0" smtClean="0"/>
              <a:t>(VP</a:t>
            </a:r>
            <a:r>
              <a:rPr lang="en-US" dirty="0" smtClean="0"/>
              <a:t>I</a:t>
            </a:r>
            <a:r>
              <a:rPr lang="ru-RU" dirty="0" smtClean="0"/>
              <a:t> — </a:t>
            </a:r>
            <a:r>
              <a:rPr lang="ru-RU" dirty="0" err="1" smtClean="0"/>
              <a:t>Identifier</a:t>
            </a:r>
            <a:r>
              <a:rPr lang="ru-RU" dirty="0" smtClean="0"/>
              <a:t> </a:t>
            </a:r>
            <a:r>
              <a:rPr lang="ru-RU" dirty="0" err="1" smtClean="0"/>
              <a:t>Virtual</a:t>
            </a:r>
            <a:r>
              <a:rPr lang="ru-RU" dirty="0" smtClean="0"/>
              <a:t> </a:t>
            </a:r>
            <a:r>
              <a:rPr lang="ru-RU" dirty="0" err="1" smtClean="0"/>
              <a:t>Path</a:t>
            </a:r>
            <a:r>
              <a:rPr lang="ru-RU" dirty="0" smtClean="0"/>
              <a:t> ) —</a:t>
            </a:r>
            <a:r>
              <a:rPr lang="ru-RU" sz="2800" dirty="0" smtClean="0"/>
              <a:t> </a:t>
            </a:r>
            <a:r>
              <a:rPr lang="ru-RU" sz="2800" b="1" dirty="0" smtClean="0"/>
              <a:t>поле длиной: </a:t>
            </a:r>
          </a:p>
          <a:p>
            <a:pPr>
              <a:buNone/>
            </a:pPr>
            <a:r>
              <a:rPr lang="ru-RU" sz="2800" dirty="0" smtClean="0"/>
              <a:t>    -  </a:t>
            </a:r>
            <a:r>
              <a:rPr lang="ru-RU" sz="2800" b="1" dirty="0" smtClean="0"/>
              <a:t>8 бит в интерфейсе «пользователь-пользователь» и</a:t>
            </a:r>
          </a:p>
          <a:p>
            <a:pPr>
              <a:buNone/>
            </a:pPr>
            <a:r>
              <a:rPr lang="ru-RU" sz="2800" b="1" dirty="0"/>
              <a:t> </a:t>
            </a:r>
            <a:r>
              <a:rPr lang="ru-RU" sz="2800" b="1" dirty="0" smtClean="0"/>
              <a:t>   - 12 бит в интерфейсе «сеть-сеть»</a:t>
            </a:r>
            <a:r>
              <a:rPr lang="ru-RU" sz="2800" dirty="0" smtClean="0"/>
              <a:t> " (используются биты, освободившиеся от поля "управление нагрузкой"). </a:t>
            </a:r>
            <a:endParaRPr lang="ru-RU" sz="2800" b="1" dirty="0" smtClean="0"/>
          </a:p>
          <a:p>
            <a:r>
              <a:rPr lang="ru-RU" sz="2800" dirty="0" smtClean="0"/>
              <a:t> Это поле позволяет отобразить идентификатор </a:t>
            </a:r>
            <a:r>
              <a:rPr lang="ru-RU" sz="2800" dirty="0" err="1" smtClean="0"/>
              <a:t>идентификатор</a:t>
            </a:r>
            <a:r>
              <a:rPr lang="ru-RU" sz="2800" dirty="0" smtClean="0"/>
              <a:t>    виртуальных путей в заданном</a:t>
            </a:r>
          </a:p>
          <a:p>
            <a:pPr>
              <a:buNone/>
            </a:pPr>
            <a:r>
              <a:rPr lang="ru-RU" sz="2800" dirty="0"/>
              <a:t> </a:t>
            </a:r>
            <a:r>
              <a:rPr lang="ru-RU" sz="2800" dirty="0" smtClean="0"/>
              <a:t>     UNI-соединении. </a:t>
            </a:r>
          </a:p>
          <a:p>
            <a:r>
              <a:rPr lang="ru-RU" sz="2800" b="1" dirty="0" smtClean="0"/>
              <a:t>Виртуальный путь содержит пучок виртуальных каналов, которые последовательно подключаются при установлении соединения по сети.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</p:spPr>
        <p:txBody>
          <a:bodyPr>
            <a:noAutofit/>
          </a:bodyPr>
          <a:lstStyle/>
          <a:p>
            <a:r>
              <a:rPr lang="ru-RU" altLang="ru-RU" sz="2800" b="1" dirty="0" smtClean="0">
                <a:solidFill>
                  <a:srgbClr val="002060"/>
                </a:solidFill>
              </a:rPr>
              <a:t>4.4 Т</a:t>
            </a:r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</a:t>
            </a:r>
            <a:r>
              <a:rPr lang="ru-RU" sz="2800" b="1" dirty="0" smtClean="0">
                <a:solidFill>
                  <a:srgbClr val="002060"/>
                </a:solidFill>
              </a:rPr>
              <a:t>Формат заголовка ячейки (2/8)</a:t>
            </a:r>
            <a:endParaRPr lang="ru-RU" sz="2800" b="1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80728"/>
            <a:ext cx="9144000" cy="5877272"/>
          </a:xfrm>
        </p:spPr>
        <p:txBody>
          <a:bodyPr>
            <a:normAutofit lnSpcReduction="10000"/>
          </a:bodyPr>
          <a:lstStyle/>
          <a:p>
            <a:r>
              <a:rPr lang="ru-RU" sz="2800" b="1" dirty="0" smtClean="0"/>
              <a:t>Для определения направления передачи АТМ- ячейки, в ее заголовке отводится 2 байта под идентификацию виртуального канала (</a:t>
            </a:r>
            <a:r>
              <a:rPr lang="en-US" sz="2800" b="1" dirty="0" smtClean="0"/>
              <a:t>VCI</a:t>
            </a:r>
            <a:r>
              <a:rPr lang="ru-RU" sz="2800" b="1" dirty="0" smtClean="0"/>
              <a:t>).</a:t>
            </a:r>
          </a:p>
          <a:p>
            <a:r>
              <a:rPr lang="ru-RU" sz="2800" b="1" dirty="0" smtClean="0"/>
              <a:t>Виртуальный канал </a:t>
            </a:r>
            <a:r>
              <a:rPr lang="ru-RU" sz="2800" dirty="0" smtClean="0"/>
              <a:t>– это фиксированный маршрут движения всех ячеек во время сеанса связи от одного пользователя к другому.</a:t>
            </a:r>
          </a:p>
          <a:p>
            <a:r>
              <a:rPr lang="ru-RU" sz="2800" dirty="0" smtClean="0"/>
              <a:t> Маршрут состоит из последовательности портов коммутаторов, через которые эти ячейки проходят.</a:t>
            </a:r>
          </a:p>
          <a:p>
            <a:r>
              <a:rPr lang="ru-RU" sz="2800" b="1" dirty="0" smtClean="0"/>
              <a:t>Коммутатор , прочитав идентификатор канала в заголовке ячейки, направляет ее из одного порта в другой</a:t>
            </a:r>
            <a:r>
              <a:rPr lang="ru-RU" sz="2800" dirty="0" smtClean="0"/>
              <a:t>.</a:t>
            </a:r>
          </a:p>
          <a:p>
            <a:r>
              <a:rPr lang="ru-RU" sz="2800" dirty="0" smtClean="0"/>
              <a:t>Коммутатор может переключать целые группы виртуальных  каналов</a:t>
            </a:r>
            <a:r>
              <a:rPr lang="ru-RU" sz="2400" dirty="0" smtClean="0"/>
              <a:t>.</a:t>
            </a:r>
          </a:p>
          <a:p>
            <a:endParaRPr lang="ru-RU" sz="2400" dirty="0" smtClean="0"/>
          </a:p>
          <a:p>
            <a:endParaRPr lang="ru-RU" sz="24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8964488" cy="706090"/>
          </a:xfrm>
        </p:spPr>
        <p:txBody>
          <a:bodyPr>
            <a:normAutofit fontScale="90000"/>
          </a:bodyPr>
          <a:lstStyle/>
          <a:p>
            <a:r>
              <a:rPr lang="ru-RU" altLang="ru-RU" sz="3200" b="1" dirty="0" smtClean="0">
                <a:solidFill>
                  <a:srgbClr val="002060"/>
                </a:solidFill>
              </a:rPr>
              <a:t>4.4 Т</a:t>
            </a:r>
            <a:r>
              <a:rPr lang="ru-RU" altLang="ru-RU" sz="32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</a:t>
            </a:r>
            <a:r>
              <a:rPr lang="ru-RU" sz="3200" b="1" dirty="0" smtClean="0">
                <a:solidFill>
                  <a:srgbClr val="002060"/>
                </a:solidFill>
              </a:rPr>
              <a:t>Формат заголовка ячейки(3/8) 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340768"/>
            <a:ext cx="9144000" cy="5517232"/>
          </a:xfrm>
        </p:spPr>
        <p:txBody>
          <a:bodyPr>
            <a:normAutofit/>
          </a:bodyPr>
          <a:lstStyle/>
          <a:p>
            <a:r>
              <a:rPr lang="ru-RU" sz="2800" b="1" dirty="0" smtClean="0"/>
              <a:t>Идентификатор виртуального канала VC</a:t>
            </a:r>
            <a:r>
              <a:rPr lang="en-US" sz="2800" b="1" dirty="0" smtClean="0"/>
              <a:t>I</a:t>
            </a:r>
            <a:r>
              <a:rPr lang="ru-RU" sz="2800" b="1" dirty="0" smtClean="0"/>
              <a:t> </a:t>
            </a:r>
          </a:p>
          <a:p>
            <a:pPr>
              <a:buNone/>
            </a:pPr>
            <a:r>
              <a:rPr lang="ru-RU" sz="2800" dirty="0"/>
              <a:t> </a:t>
            </a:r>
            <a:r>
              <a:rPr lang="ru-RU" sz="2800" dirty="0" smtClean="0"/>
              <a:t>      (VC</a:t>
            </a:r>
            <a:r>
              <a:rPr lang="en-US" sz="2800" dirty="0" smtClean="0"/>
              <a:t>I</a:t>
            </a:r>
            <a:r>
              <a:rPr lang="ru-RU" sz="2800" dirty="0" smtClean="0"/>
              <a:t> — </a:t>
            </a:r>
            <a:r>
              <a:rPr lang="ru-RU" sz="2800" dirty="0" err="1" smtClean="0"/>
              <a:t>Identifier</a:t>
            </a:r>
            <a:r>
              <a:rPr lang="ru-RU" sz="2800" dirty="0" smtClean="0"/>
              <a:t> </a:t>
            </a:r>
            <a:r>
              <a:rPr lang="ru-RU" sz="2800" dirty="0" err="1" smtClean="0"/>
              <a:t>Virtual</a:t>
            </a:r>
            <a:r>
              <a:rPr lang="ru-RU" sz="2800" dirty="0" smtClean="0"/>
              <a:t> </a:t>
            </a:r>
            <a:r>
              <a:rPr lang="ru-RU" sz="2800" dirty="0" err="1" smtClean="0"/>
              <a:t>Channel</a:t>
            </a:r>
            <a:r>
              <a:rPr lang="ru-RU" sz="2800" dirty="0" smtClean="0"/>
              <a:t>) — </a:t>
            </a:r>
          </a:p>
          <a:p>
            <a:pPr>
              <a:buNone/>
            </a:pPr>
            <a:r>
              <a:rPr lang="ru-RU" sz="2800" dirty="0"/>
              <a:t> </a:t>
            </a:r>
            <a:r>
              <a:rPr lang="ru-RU" sz="2800" dirty="0" smtClean="0"/>
              <a:t>   </a:t>
            </a:r>
            <a:r>
              <a:rPr lang="ru-RU" sz="2800" b="1" dirty="0" smtClean="0"/>
              <a:t>поле из 16 бит, что позволяет отобразить позицию  виртуальных каналов.</a:t>
            </a:r>
          </a:p>
          <a:p>
            <a:pPr>
              <a:buNone/>
            </a:pPr>
            <a:endParaRPr lang="ru-RU" sz="2800" b="1" dirty="0" smtClean="0"/>
          </a:p>
          <a:p>
            <a:r>
              <a:rPr lang="ru-RU" sz="2800" dirty="0" smtClean="0"/>
              <a:t>  </a:t>
            </a:r>
            <a:r>
              <a:rPr lang="ru-RU" sz="2800" b="1" dirty="0" smtClean="0"/>
              <a:t>Идентификаторы виртуального пути и канала</a:t>
            </a:r>
          </a:p>
          <a:p>
            <a:pPr>
              <a:buNone/>
            </a:pPr>
            <a:r>
              <a:rPr lang="ru-RU" sz="2800" b="1" dirty="0"/>
              <a:t> </a:t>
            </a:r>
            <a:r>
              <a:rPr lang="ru-RU" sz="2800" b="1" dirty="0" smtClean="0"/>
              <a:t>     (VР</a:t>
            </a:r>
            <a:r>
              <a:rPr lang="en-US" sz="2800" b="1" dirty="0" smtClean="0"/>
              <a:t>I</a:t>
            </a:r>
            <a:r>
              <a:rPr lang="ru-RU" sz="2800" b="1" dirty="0" smtClean="0"/>
              <a:t> и VC</a:t>
            </a:r>
            <a:r>
              <a:rPr lang="en-US" sz="2800" b="1" dirty="0" smtClean="0"/>
              <a:t>I</a:t>
            </a:r>
            <a:r>
              <a:rPr lang="ru-RU" sz="2800" b="1" dirty="0" smtClean="0"/>
              <a:t>) совместно показывают положение данного соединения в данном маршруте.</a:t>
            </a:r>
          </a:p>
          <a:p>
            <a:endParaRPr lang="ru-RU" sz="2800" dirty="0" smtClean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792088"/>
          </a:xfrm>
        </p:spPr>
        <p:txBody>
          <a:bodyPr>
            <a:normAutofit fontScale="90000"/>
          </a:bodyPr>
          <a:lstStyle/>
          <a:p>
            <a:r>
              <a:rPr lang="ru-RU" altLang="ru-RU" sz="3200" b="1" dirty="0" smtClean="0">
                <a:solidFill>
                  <a:srgbClr val="002060"/>
                </a:solidFill>
              </a:rPr>
              <a:t>4.4 Т</a:t>
            </a:r>
            <a:r>
              <a:rPr lang="ru-RU" altLang="ru-RU" sz="32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</a:t>
            </a:r>
            <a:r>
              <a:rPr lang="ru-RU" sz="3200" b="1" dirty="0" smtClean="0">
                <a:solidFill>
                  <a:srgbClr val="002060"/>
                </a:solidFill>
              </a:rPr>
              <a:t>Формат заголовка ячейки (4/8) 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80728"/>
            <a:ext cx="9144000" cy="5877272"/>
          </a:xfrm>
        </p:spPr>
        <p:txBody>
          <a:bodyPr>
            <a:normAutofit lnSpcReduction="10000"/>
          </a:bodyPr>
          <a:lstStyle/>
          <a:p>
            <a:r>
              <a:rPr lang="ru-RU" sz="2800" dirty="0" smtClean="0"/>
              <a:t>Поскольку во многих случаях используется не все указанное количество каналов, соответственно не задействуется полный объем полей идентификатора.</a:t>
            </a:r>
            <a:endParaRPr lang="ru-RU" sz="2800" b="1" dirty="0" smtClean="0"/>
          </a:p>
          <a:p>
            <a:r>
              <a:rPr lang="ru-RU" sz="2800" b="1" dirty="0" smtClean="0"/>
              <a:t>Поэтому для такого случая установлены следующие правила :</a:t>
            </a:r>
          </a:p>
          <a:p>
            <a:pPr lvl="0">
              <a:buNone/>
            </a:pPr>
            <a:r>
              <a:rPr lang="ru-RU" sz="2800" dirty="0" smtClean="0"/>
              <a:t>           - биты, используемые для идентификаторов пути и канала,  должны быть смежными; </a:t>
            </a:r>
          </a:p>
          <a:p>
            <a:pPr lvl="0">
              <a:buNone/>
            </a:pPr>
            <a:r>
              <a:rPr lang="ru-RU" sz="2800" dirty="0" smtClean="0"/>
              <a:t>           - биты, не используемые ни пользователем, ни       сетью,  должны устанавливаться в  ноль;</a:t>
            </a:r>
          </a:p>
          <a:p>
            <a:pPr lvl="0">
              <a:buNone/>
            </a:pPr>
            <a:r>
              <a:rPr lang="ru-RU" sz="2800" dirty="0" smtClean="0"/>
              <a:t>             - битовая комбинация всегда должна начинаться   с младшего разряда.</a:t>
            </a:r>
          </a:p>
          <a:p>
            <a:r>
              <a:rPr lang="ru-RU" sz="2800" b="1" dirty="0" smtClean="0"/>
              <a:t>Тип полезной нагрузки</a:t>
            </a:r>
            <a:r>
              <a:rPr lang="ru-RU" sz="2800" dirty="0" smtClean="0"/>
              <a:t> - </a:t>
            </a:r>
            <a:r>
              <a:rPr lang="ru-RU" sz="2800" i="1" dirty="0" smtClean="0"/>
              <a:t>поле</a:t>
            </a:r>
            <a:r>
              <a:rPr lang="ru-RU" sz="2800" dirty="0" smtClean="0"/>
              <a:t> длиной 3 бита; позволяет определить  8 типов полезной нагрузки.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80728"/>
          </a:xfrm>
        </p:spPr>
        <p:txBody>
          <a:bodyPr>
            <a:normAutofit fontScale="90000"/>
          </a:bodyPr>
          <a:lstStyle/>
          <a:p>
            <a:r>
              <a:rPr lang="ru-RU" altLang="ru-RU" sz="3600" b="1" dirty="0" smtClean="0">
                <a:solidFill>
                  <a:srgbClr val="002060"/>
                </a:solidFill>
              </a:rPr>
              <a:t>4.4 Т</a:t>
            </a:r>
            <a:r>
              <a:rPr lang="ru-RU" altLang="ru-RU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Таблица коммутации (5/10). Сводная (общая)</a:t>
            </a:r>
            <a:endParaRPr lang="ru-RU" sz="3600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t="13360" b="5499"/>
          <a:stretch>
            <a:fillRect/>
          </a:stretch>
        </p:blipFill>
        <p:spPr bwMode="auto">
          <a:xfrm>
            <a:off x="395536" y="1196752"/>
            <a:ext cx="8424936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16632"/>
            <a:ext cx="9144000" cy="792088"/>
          </a:xfrm>
        </p:spPr>
        <p:txBody>
          <a:bodyPr>
            <a:noAutofit/>
          </a:bodyPr>
          <a:lstStyle/>
          <a:p>
            <a:r>
              <a:rPr lang="ru-RU" altLang="ru-RU" sz="2400" b="1" dirty="0" smtClean="0">
                <a:solidFill>
                  <a:srgbClr val="002060"/>
                </a:solidFill>
              </a:rPr>
              <a:t>4.Т</a:t>
            </a:r>
            <a:r>
              <a:rPr lang="ru-RU" altLang="ru-RU" sz="2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Передача ячеек/ замена меток(6/10).</a:t>
            </a:r>
            <a:br>
              <a:rPr lang="ru-RU" altLang="ru-RU" sz="2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</a:br>
            <a:r>
              <a:rPr lang="ru-RU" altLang="ru-RU" sz="2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По каждому коммутатору запись.</a:t>
            </a:r>
            <a:endParaRPr lang="ru-RU" sz="2400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t="8765" b="6510"/>
          <a:stretch>
            <a:fillRect/>
          </a:stretch>
        </p:blipFill>
        <p:spPr bwMode="auto">
          <a:xfrm>
            <a:off x="323528" y="1052736"/>
            <a:ext cx="8568952" cy="5616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634082"/>
          </a:xfrm>
        </p:spPr>
        <p:txBody>
          <a:bodyPr>
            <a:normAutofit fontScale="90000"/>
          </a:bodyPr>
          <a:lstStyle/>
          <a:p>
            <a:r>
              <a:rPr lang="ru-RU" altLang="ru-RU" sz="2800" b="1" dirty="0" smtClean="0">
                <a:solidFill>
                  <a:srgbClr val="002060"/>
                </a:solidFill>
              </a:rPr>
              <a:t>4.Т</a:t>
            </a:r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Передача ячеек/ замена меток. </a:t>
            </a:r>
            <a:b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</a:br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По каждому коммутатору запись. (7/10).</a:t>
            </a:r>
            <a:endParaRPr lang="ru-RU" sz="2800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t="9546" b="6131"/>
          <a:stretch>
            <a:fillRect/>
          </a:stretch>
        </p:blipFill>
        <p:spPr bwMode="auto">
          <a:xfrm>
            <a:off x="323528" y="1124744"/>
            <a:ext cx="8568952" cy="547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 fontScale="90000"/>
          </a:bodyPr>
          <a:lstStyle/>
          <a:p>
            <a:r>
              <a:rPr lang="ru-RU" altLang="ru-RU" sz="2800" b="1" dirty="0" smtClean="0">
                <a:solidFill>
                  <a:srgbClr val="002060"/>
                </a:solidFill>
              </a:rPr>
              <a:t>4.Т</a:t>
            </a:r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Передача ячеек/ замена меток.</a:t>
            </a:r>
            <a:b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</a:br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По каждому коммутатору запись (8/10).</a:t>
            </a:r>
            <a:endParaRPr lang="ru-RU" sz="2800" dirty="0"/>
          </a:p>
        </p:txBody>
      </p:sp>
      <p:pic>
        <p:nvPicPr>
          <p:cNvPr id="6" name="Содержимое 5"/>
          <p:cNvPicPr>
            <a:picLocks noGrp="1"/>
          </p:cNvPicPr>
          <p:nvPr>
            <p:ph idx="1"/>
          </p:nvPr>
        </p:nvPicPr>
        <p:blipFill>
          <a:blip r:embed="rId2" cstate="print"/>
          <a:srcRect t="8516" b="4906"/>
          <a:stretch>
            <a:fillRect/>
          </a:stretch>
        </p:blipFill>
        <p:spPr bwMode="auto">
          <a:xfrm>
            <a:off x="251520" y="908720"/>
            <a:ext cx="864096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16632"/>
            <a:ext cx="9144000" cy="720080"/>
          </a:xfrm>
        </p:spPr>
        <p:txBody>
          <a:bodyPr>
            <a:normAutofit fontScale="90000"/>
          </a:bodyPr>
          <a:lstStyle/>
          <a:p>
            <a:r>
              <a:rPr lang="ru-RU" altLang="ru-RU" sz="2800" b="1" dirty="0" smtClean="0">
                <a:solidFill>
                  <a:srgbClr val="002060"/>
                </a:solidFill>
              </a:rPr>
              <a:t>4.Т</a:t>
            </a:r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ехнология АТМ. Передача ячеек/ замена меток.</a:t>
            </a:r>
            <a:b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</a:br>
            <a:r>
              <a:rPr lang="ru-RU" altLang="ru-RU" sz="2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По каждому коммутатору запись (9/10).</a:t>
            </a:r>
            <a:endParaRPr lang="ru-RU" sz="2800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t="8861" b="5063"/>
          <a:stretch>
            <a:fillRect/>
          </a:stretch>
        </p:blipFill>
        <p:spPr bwMode="auto">
          <a:xfrm>
            <a:off x="251520" y="836712"/>
            <a:ext cx="8640960" cy="5832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88640"/>
            <a:ext cx="8017497" cy="657226"/>
          </a:xfrm>
        </p:spPr>
        <p:txBody>
          <a:bodyPr/>
          <a:lstStyle/>
          <a:p>
            <a:pPr algn="ctr">
              <a:lnSpc>
                <a:spcPct val="80000"/>
              </a:lnSpc>
            </a:pPr>
            <a:r>
              <a:rPr lang="ru-RU" altLang="ru-RU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Спектр технологий коммутации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4149080"/>
            <a:ext cx="9143999" cy="270892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ru-RU" sz="2000" dirty="0" smtClean="0">
                <a:solidFill>
                  <a:srgbClr val="000000"/>
                </a:solidFill>
              </a:rPr>
              <a:t> </a:t>
            </a:r>
            <a:r>
              <a:rPr lang="ru-RU" altLang="ru-RU" sz="2000" dirty="0" smtClean="0">
                <a:solidFill>
                  <a:srgbClr val="000000"/>
                </a:solidFill>
              </a:rPr>
              <a:t>Р</a:t>
            </a:r>
            <a:r>
              <a:rPr lang="ru-RU" altLang="ru-RU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ежимы </a:t>
            </a:r>
            <a:r>
              <a:rPr lang="ru-RU" alt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передачи в центре</a:t>
            </a:r>
            <a:r>
              <a:rPr lang="ru-RU" altLang="ru-RU" sz="2000" dirty="0">
                <a:solidFill>
                  <a:srgbClr val="000000"/>
                </a:solidFill>
              </a:rPr>
              <a:t> спектра</a:t>
            </a:r>
            <a:r>
              <a:rPr lang="ru-RU" alt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 являются наиболее оптимальными </a:t>
            </a:r>
            <a:r>
              <a:rPr lang="ru-RU" altLang="ru-RU" sz="2000" dirty="0">
                <a:solidFill>
                  <a:srgbClr val="000000"/>
                </a:solidFill>
              </a:rPr>
              <a:t>по</a:t>
            </a:r>
            <a:r>
              <a:rPr lang="ru-RU" alt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 сложности реализации и возможности работы с переменными скоростями.</a:t>
            </a:r>
            <a:endParaRPr lang="ru-RU" altLang="ru-RU" sz="200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ru-RU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Главное </a:t>
            </a:r>
            <a:r>
              <a:rPr lang="ru-RU" alt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достоинство </a:t>
            </a:r>
            <a:r>
              <a:rPr lang="ru-RU" altLang="ru-RU" sz="2000" dirty="0">
                <a:solidFill>
                  <a:srgbClr val="000000"/>
                </a:solidFill>
              </a:rPr>
              <a:t>АТМ -</a:t>
            </a:r>
            <a:r>
              <a:rPr lang="ru-RU" alt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 возможность передачи любых видов </a:t>
            </a:r>
            <a:r>
              <a:rPr lang="ru-RU" altLang="ru-RU" sz="2000" dirty="0">
                <a:solidFill>
                  <a:srgbClr val="000000"/>
                </a:solidFill>
              </a:rPr>
              <a:t>информации</a:t>
            </a:r>
            <a:r>
              <a:rPr lang="ru-RU" alt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 независимо от </a:t>
            </a:r>
            <a:r>
              <a:rPr lang="ru-RU" altLang="ru-RU" sz="2000" dirty="0">
                <a:solidFill>
                  <a:srgbClr val="000000"/>
                </a:solidFill>
              </a:rPr>
              <a:t>требуемых </a:t>
            </a:r>
            <a:r>
              <a:rPr lang="ru-RU" alt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скорост</a:t>
            </a:r>
            <a:r>
              <a:rPr lang="ru-RU" altLang="ru-RU" sz="2000" dirty="0">
                <a:solidFill>
                  <a:srgbClr val="000000"/>
                </a:solidFill>
              </a:rPr>
              <a:t>и,</a:t>
            </a:r>
            <a:r>
              <a:rPr lang="ru-RU" alt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 качества и импульсивности трафика.  </a:t>
            </a:r>
            <a:endParaRPr lang="en-US" altLang="ru-RU" sz="20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ru-RU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Наиболее известн</a:t>
            </a:r>
            <a:r>
              <a:rPr lang="ru-RU" altLang="ru-RU" sz="2000" dirty="0" smtClean="0">
                <a:solidFill>
                  <a:srgbClr val="000000"/>
                </a:solidFill>
              </a:rPr>
              <a:t>ая технология –</a:t>
            </a:r>
            <a:r>
              <a:rPr lang="ru-RU" altLang="ru-RU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АТМ</a:t>
            </a:r>
            <a:r>
              <a:rPr lang="ru-RU" altLang="ru-RU" sz="2000" dirty="0" smtClean="0">
                <a:solidFill>
                  <a:srgbClr val="000000"/>
                </a:solidFill>
              </a:rPr>
              <a:t>, в которой</a:t>
            </a:r>
            <a:r>
              <a:rPr lang="ru-RU" altLang="ru-RU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реализуется асинхронное взаимодействие между тактовой частотой передатчика и приемника.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altLang="ru-RU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Разница между этими частотами сглаживается за счет вставки\удаления</a:t>
            </a:r>
            <a:r>
              <a:rPr lang="ru-RU" altLang="ru-RU" sz="2000" dirty="0" smtClean="0">
                <a:solidFill>
                  <a:srgbClr val="000000"/>
                </a:solidFill>
              </a:rPr>
              <a:t> </a:t>
            </a:r>
            <a:r>
              <a:rPr lang="ru-RU" altLang="ru-RU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пакетов, не содержащих полезной информации в информационный поток.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endParaRPr lang="ru-RU" altLang="ru-RU" sz="20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39552" y="854747"/>
            <a:ext cx="8208912" cy="3294333"/>
            <a:chOff x="0" y="1355"/>
            <a:chExt cx="5952" cy="2157"/>
          </a:xfrm>
        </p:grpSpPr>
        <p:sp>
          <p:nvSpPr>
            <p:cNvPr id="14341" name="AutoShape 5"/>
            <p:cNvSpPr>
              <a:spLocks noChangeArrowheads="1"/>
            </p:cNvSpPr>
            <p:nvPr/>
          </p:nvSpPr>
          <p:spPr bwMode="auto">
            <a:xfrm>
              <a:off x="0" y="1680"/>
              <a:ext cx="5760" cy="288"/>
            </a:xfrm>
            <a:custGeom>
              <a:avLst/>
              <a:gdLst>
                <a:gd name="G0" fmla="+- 17736 0 0"/>
                <a:gd name="G1" fmla="+- 8100 0 0"/>
                <a:gd name="G2" fmla="+- 21600 0 8100"/>
                <a:gd name="G3" fmla="+- 10800 0 8100"/>
                <a:gd name="G4" fmla="+- 21600 0 17736"/>
                <a:gd name="G5" fmla="*/ G4 G3 10800"/>
                <a:gd name="G6" fmla="+- 21600 0 G5"/>
                <a:gd name="T0" fmla="*/ 17736 w 21600"/>
                <a:gd name="T1" fmla="*/ 0 h 21600"/>
                <a:gd name="T2" fmla="*/ 0 w 21600"/>
                <a:gd name="T3" fmla="*/ 10800 h 21600"/>
                <a:gd name="T4" fmla="*/ 17736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7736" y="0"/>
                  </a:moveTo>
                  <a:lnTo>
                    <a:pt x="17736" y="8100"/>
                  </a:lnTo>
                  <a:lnTo>
                    <a:pt x="3375" y="8100"/>
                  </a:lnTo>
                  <a:lnTo>
                    <a:pt x="3375" y="13500"/>
                  </a:lnTo>
                  <a:lnTo>
                    <a:pt x="17736" y="13500"/>
                  </a:lnTo>
                  <a:lnTo>
                    <a:pt x="17736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8100"/>
                  </a:moveTo>
                  <a:lnTo>
                    <a:pt x="1350" y="13500"/>
                  </a:lnTo>
                  <a:lnTo>
                    <a:pt x="2700" y="13500"/>
                  </a:lnTo>
                  <a:lnTo>
                    <a:pt x="2700" y="8100"/>
                  </a:lnTo>
                  <a:close/>
                </a:path>
                <a:path w="21600" h="21600">
                  <a:moveTo>
                    <a:pt x="0" y="8100"/>
                  </a:moveTo>
                  <a:lnTo>
                    <a:pt x="0" y="13500"/>
                  </a:lnTo>
                  <a:lnTo>
                    <a:pt x="675" y="13500"/>
                  </a:lnTo>
                  <a:lnTo>
                    <a:pt x="675" y="8100"/>
                  </a:lnTo>
                  <a:close/>
                </a:path>
              </a:pathLst>
            </a:custGeom>
            <a:solidFill>
              <a:srgbClr val="DE5E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4342" name="Text Box 6"/>
            <p:cNvSpPr txBox="1">
              <a:spLocks noChangeArrowheads="1"/>
            </p:cNvSpPr>
            <p:nvPr/>
          </p:nvSpPr>
          <p:spPr bwMode="auto">
            <a:xfrm>
              <a:off x="48" y="1355"/>
              <a:ext cx="1536" cy="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ru-RU" altLang="ru-RU"/>
                <a:t>Постоянная скорость передачи</a:t>
              </a:r>
            </a:p>
          </p:txBody>
        </p:sp>
        <p:sp>
          <p:nvSpPr>
            <p:cNvPr id="14343" name="Text Box 7"/>
            <p:cNvSpPr txBox="1">
              <a:spLocks noChangeArrowheads="1"/>
            </p:cNvSpPr>
            <p:nvPr/>
          </p:nvSpPr>
          <p:spPr bwMode="auto">
            <a:xfrm>
              <a:off x="4128" y="1370"/>
              <a:ext cx="1536" cy="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ru-RU" altLang="ru-RU"/>
                <a:t>Изменяющаяся скорость передачи</a:t>
              </a:r>
            </a:p>
          </p:txBody>
        </p:sp>
        <p:sp>
          <p:nvSpPr>
            <p:cNvPr id="14344" name="AutoShape 8"/>
            <p:cNvSpPr>
              <a:spLocks noChangeArrowheads="1"/>
            </p:cNvSpPr>
            <p:nvPr/>
          </p:nvSpPr>
          <p:spPr bwMode="auto">
            <a:xfrm flipH="1" flipV="1">
              <a:off x="0" y="3072"/>
              <a:ext cx="5664" cy="288"/>
            </a:xfrm>
            <a:custGeom>
              <a:avLst/>
              <a:gdLst>
                <a:gd name="G0" fmla="+- 17736 0 0"/>
                <a:gd name="G1" fmla="+- 8100 0 0"/>
                <a:gd name="G2" fmla="+- 21600 0 8100"/>
                <a:gd name="G3" fmla="+- 10800 0 8100"/>
                <a:gd name="G4" fmla="+- 21600 0 17736"/>
                <a:gd name="G5" fmla="*/ G4 G3 10800"/>
                <a:gd name="G6" fmla="+- 21600 0 G5"/>
                <a:gd name="T0" fmla="*/ 17736 w 21600"/>
                <a:gd name="T1" fmla="*/ 0 h 21600"/>
                <a:gd name="T2" fmla="*/ 0 w 21600"/>
                <a:gd name="T3" fmla="*/ 10800 h 21600"/>
                <a:gd name="T4" fmla="*/ 17736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7736" y="0"/>
                  </a:moveTo>
                  <a:lnTo>
                    <a:pt x="17736" y="8100"/>
                  </a:lnTo>
                  <a:lnTo>
                    <a:pt x="3375" y="8100"/>
                  </a:lnTo>
                  <a:lnTo>
                    <a:pt x="3375" y="13500"/>
                  </a:lnTo>
                  <a:lnTo>
                    <a:pt x="17736" y="13500"/>
                  </a:lnTo>
                  <a:lnTo>
                    <a:pt x="17736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8100"/>
                  </a:moveTo>
                  <a:lnTo>
                    <a:pt x="1350" y="13500"/>
                  </a:lnTo>
                  <a:lnTo>
                    <a:pt x="2700" y="13500"/>
                  </a:lnTo>
                  <a:lnTo>
                    <a:pt x="2700" y="8100"/>
                  </a:lnTo>
                  <a:close/>
                </a:path>
                <a:path w="21600" h="21600">
                  <a:moveTo>
                    <a:pt x="0" y="8100"/>
                  </a:moveTo>
                  <a:lnTo>
                    <a:pt x="0" y="13500"/>
                  </a:lnTo>
                  <a:lnTo>
                    <a:pt x="675" y="13500"/>
                  </a:lnTo>
                  <a:lnTo>
                    <a:pt x="675" y="8100"/>
                  </a:lnTo>
                  <a:close/>
                </a:path>
              </a:pathLst>
            </a:custGeom>
            <a:solidFill>
              <a:srgbClr val="DE5E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4345" name="Text Box 9"/>
            <p:cNvSpPr txBox="1">
              <a:spLocks noChangeArrowheads="1"/>
            </p:cNvSpPr>
            <p:nvPr/>
          </p:nvSpPr>
          <p:spPr bwMode="auto">
            <a:xfrm>
              <a:off x="48" y="3333"/>
              <a:ext cx="1248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ru-RU" altLang="ru-RU"/>
                <a:t>Простота</a:t>
              </a:r>
            </a:p>
          </p:txBody>
        </p:sp>
        <p:sp>
          <p:nvSpPr>
            <p:cNvPr id="14346" name="Text Box 10"/>
            <p:cNvSpPr txBox="1">
              <a:spLocks noChangeArrowheads="1"/>
            </p:cNvSpPr>
            <p:nvPr/>
          </p:nvSpPr>
          <p:spPr bwMode="auto">
            <a:xfrm>
              <a:off x="4704" y="3285"/>
              <a:ext cx="1248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ru-RU" altLang="ru-RU"/>
                <a:t>Сложность</a:t>
              </a:r>
            </a:p>
          </p:txBody>
        </p:sp>
        <p:sp>
          <p:nvSpPr>
            <p:cNvPr id="14347" name="Rectangle 11"/>
            <p:cNvSpPr>
              <a:spLocks noChangeArrowheads="1"/>
            </p:cNvSpPr>
            <p:nvPr/>
          </p:nvSpPr>
          <p:spPr bwMode="auto">
            <a:xfrm>
              <a:off x="0" y="2016"/>
              <a:ext cx="912" cy="100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Коммутация </a:t>
              </a:r>
            </a:p>
            <a:p>
              <a:pPr algn="ctr"/>
              <a:r>
                <a:rPr lang="ru-RU" altLang="ru-RU"/>
                <a:t>каналов</a:t>
              </a:r>
            </a:p>
          </p:txBody>
        </p:sp>
        <p:sp>
          <p:nvSpPr>
            <p:cNvPr id="14348" name="Rectangle 12"/>
            <p:cNvSpPr>
              <a:spLocks noChangeArrowheads="1"/>
            </p:cNvSpPr>
            <p:nvPr/>
          </p:nvSpPr>
          <p:spPr bwMode="auto">
            <a:xfrm>
              <a:off x="912" y="2016"/>
              <a:ext cx="960" cy="100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 dirty="0"/>
                <a:t>Много-</a:t>
              </a:r>
            </a:p>
            <a:p>
              <a:pPr algn="ctr"/>
              <a:r>
                <a:rPr lang="ru-RU" altLang="ru-RU" dirty="0"/>
                <a:t>Скоростная</a:t>
              </a:r>
            </a:p>
            <a:p>
              <a:pPr algn="ctr"/>
              <a:r>
                <a:rPr lang="ru-RU" altLang="ru-RU" dirty="0"/>
                <a:t> коммутация </a:t>
              </a:r>
            </a:p>
            <a:p>
              <a:pPr algn="ctr"/>
              <a:r>
                <a:rPr lang="ru-RU" altLang="ru-RU" dirty="0"/>
                <a:t>каналов</a:t>
              </a:r>
            </a:p>
          </p:txBody>
        </p:sp>
        <p:sp>
          <p:nvSpPr>
            <p:cNvPr id="14349" name="Rectangle 13"/>
            <p:cNvSpPr>
              <a:spLocks noChangeArrowheads="1"/>
            </p:cNvSpPr>
            <p:nvPr/>
          </p:nvSpPr>
          <p:spPr bwMode="auto">
            <a:xfrm>
              <a:off x="1872" y="2016"/>
              <a:ext cx="912" cy="100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Быстрая </a:t>
              </a:r>
            </a:p>
            <a:p>
              <a:pPr algn="ctr"/>
              <a:r>
                <a:rPr lang="ru-RU" altLang="ru-RU"/>
                <a:t>коммутация</a:t>
              </a:r>
            </a:p>
            <a:p>
              <a:pPr algn="ctr"/>
              <a:r>
                <a:rPr lang="ru-RU" altLang="ru-RU"/>
                <a:t>каналов</a:t>
              </a:r>
            </a:p>
          </p:txBody>
        </p:sp>
        <p:sp>
          <p:nvSpPr>
            <p:cNvPr id="14350" name="Rectangle 14"/>
            <p:cNvSpPr>
              <a:spLocks noChangeArrowheads="1"/>
            </p:cNvSpPr>
            <p:nvPr/>
          </p:nvSpPr>
          <p:spPr bwMode="auto">
            <a:xfrm>
              <a:off x="2784" y="2016"/>
              <a:ext cx="480" cy="100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АТМ</a:t>
              </a:r>
            </a:p>
          </p:txBody>
        </p:sp>
        <p:sp>
          <p:nvSpPr>
            <p:cNvPr id="14351" name="Rectangle 15"/>
            <p:cNvSpPr>
              <a:spLocks noChangeArrowheads="1"/>
            </p:cNvSpPr>
            <p:nvPr/>
          </p:nvSpPr>
          <p:spPr bwMode="auto">
            <a:xfrm>
              <a:off x="3264" y="2016"/>
              <a:ext cx="912" cy="100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Быстрая</a:t>
              </a:r>
            </a:p>
            <a:p>
              <a:pPr algn="ctr"/>
              <a:r>
                <a:rPr lang="ru-RU" altLang="ru-RU"/>
                <a:t> коммутация </a:t>
              </a:r>
            </a:p>
            <a:p>
              <a:pPr algn="ctr"/>
              <a:r>
                <a:rPr lang="ru-RU" altLang="ru-RU"/>
                <a:t>пакетов</a:t>
              </a:r>
            </a:p>
          </p:txBody>
        </p:sp>
        <p:sp>
          <p:nvSpPr>
            <p:cNvPr id="14352" name="Rectangle 16"/>
            <p:cNvSpPr>
              <a:spLocks noChangeArrowheads="1"/>
            </p:cNvSpPr>
            <p:nvPr/>
          </p:nvSpPr>
          <p:spPr bwMode="auto">
            <a:xfrm>
              <a:off x="4176" y="2016"/>
              <a:ext cx="576" cy="100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ru-RU"/>
                <a:t>Frame</a:t>
              </a:r>
            </a:p>
            <a:p>
              <a:pPr algn="ctr"/>
              <a:r>
                <a:rPr lang="en-US" altLang="ru-RU"/>
                <a:t>Relay</a:t>
              </a:r>
              <a:endParaRPr lang="ru-RU" altLang="ru-RU"/>
            </a:p>
          </p:txBody>
        </p:sp>
        <p:sp>
          <p:nvSpPr>
            <p:cNvPr id="14353" name="Rectangle 17"/>
            <p:cNvSpPr>
              <a:spLocks noChangeArrowheads="1"/>
            </p:cNvSpPr>
            <p:nvPr/>
          </p:nvSpPr>
          <p:spPr bwMode="auto">
            <a:xfrm>
              <a:off x="4752" y="2016"/>
              <a:ext cx="1008" cy="100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Коммутация</a:t>
              </a:r>
            </a:p>
            <a:p>
              <a:pPr algn="ctr"/>
              <a:r>
                <a:rPr lang="ru-RU" altLang="ru-RU"/>
                <a:t>пакетов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1304200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947</TotalTime>
  <Words>1854</Words>
  <Application>Microsoft Office PowerPoint</Application>
  <PresentationFormat>Экран (4:3)</PresentationFormat>
  <Paragraphs>357</Paragraphs>
  <Slides>110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110</vt:i4>
      </vt:variant>
    </vt:vector>
  </HeadingPairs>
  <TitlesOfParts>
    <vt:vector size="111" baseType="lpstr">
      <vt:lpstr>Тема Office</vt:lpstr>
      <vt:lpstr>4.Системы передачи  АТМ</vt:lpstr>
      <vt:lpstr>Развитие транспортных сетей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Принцип ATM-мультиплексирования  а) структура;    б) поток при временном разделении;  в) поток при ATM-мультиплексировании (далее рассматривается)</vt:lpstr>
      <vt:lpstr>Принцип ATM-мультиплексирования  б) поток при временном разделении;</vt:lpstr>
      <vt:lpstr>Принцип ATM-мультиплексирования</vt:lpstr>
      <vt:lpstr>Принцип ATM-мультиплексирования  в) поток при ATM - мультиплексировани</vt:lpstr>
      <vt:lpstr>Принцип ATM-мультиплексирования. Таблица коммутации</vt:lpstr>
      <vt:lpstr>Принцип ATM-мультиплексирования. Таблица коммутации</vt:lpstr>
      <vt:lpstr>Принцип ATM-мультиплексирования. Таблица коммутации (далее рассматривается)</vt:lpstr>
      <vt:lpstr>   Структура уровней широкополосной цифровой сети с интеграцией услуг В-ISDN  </vt:lpstr>
      <vt:lpstr>Модель В-ISDN/АТМ</vt:lpstr>
      <vt:lpstr>4.1.Технология АТМ.  Уровни модели АТМ. </vt:lpstr>
      <vt:lpstr>Слайд 20</vt:lpstr>
      <vt:lpstr>Слайд 21</vt:lpstr>
      <vt:lpstr>Модель АТМ. Уровни.</vt:lpstr>
      <vt:lpstr>Слайд 23</vt:lpstr>
      <vt:lpstr>Слайд 24</vt:lpstr>
      <vt:lpstr>Слайд 25</vt:lpstr>
      <vt:lpstr> Модель АТМ. Уровень  AAL </vt:lpstr>
      <vt:lpstr>Преобразование различной информации на уровне AAL.</vt:lpstr>
      <vt:lpstr>Преобразование различной информации на уровне AAL.</vt:lpstr>
      <vt:lpstr> Модель АТМ. Уровень  AAL </vt:lpstr>
      <vt:lpstr>Модель АТМ. Уровень  AAL</vt:lpstr>
      <vt:lpstr>Модель АТМ. Уровень АТМ</vt:lpstr>
      <vt:lpstr>Модель АТМ. Уровень АТМ</vt:lpstr>
      <vt:lpstr>Модель АТМ. Уровень АТМ</vt:lpstr>
      <vt:lpstr>Модель АТМ. Уровень АТМ</vt:lpstr>
      <vt:lpstr> Модель АТМ. Уровень АТМ </vt:lpstr>
      <vt:lpstr>Модель АТМ. Уровень АТМ</vt:lpstr>
      <vt:lpstr>Модель АТМ. Уровень АТМ</vt:lpstr>
      <vt:lpstr>Модель АТМ. Уровень физический.</vt:lpstr>
      <vt:lpstr>Модель АТМ. Уровень физический.</vt:lpstr>
      <vt:lpstr>Модель АТМ. Уровень физический</vt:lpstr>
      <vt:lpstr>Модель АТМ. Уровень физический.</vt:lpstr>
      <vt:lpstr>Модель АТМ. Уровень физический. </vt:lpstr>
      <vt:lpstr>Размещение уровней на плоскости пользователя</vt:lpstr>
      <vt:lpstr>4.Технология АТМ.</vt:lpstr>
      <vt:lpstr>4.1.Технология АТМ. 4.1.1 Применение</vt:lpstr>
      <vt:lpstr>4.1.1 Технология АТМ. Применение.</vt:lpstr>
      <vt:lpstr>4.1.1Технология АТМ. Применение.Сети LAN/MAN</vt:lpstr>
      <vt:lpstr>4.1.1Согласование технология АТМ с технологией SDH</vt:lpstr>
      <vt:lpstr>Слайд 49</vt:lpstr>
      <vt:lpstr>4.1.1Технология АТМ как WAN базировалась на SDH</vt:lpstr>
      <vt:lpstr>4.1.1Технология АТМ.  SDH каналы (тайм - слоты S-TDM).</vt:lpstr>
      <vt:lpstr>4.1.1 Технология АТМ.  ATM-VC  ВНУТРИ SDH- КАНАЛОВ</vt:lpstr>
      <vt:lpstr>4.1.2 Технология АТМ. Характеристика.</vt:lpstr>
      <vt:lpstr>4.1Технология АТМ. Характеристика.</vt:lpstr>
      <vt:lpstr>4.1.2 Технология АТМ. Формирование каналов в АТМ</vt:lpstr>
      <vt:lpstr>4.1.2 Технология АТМ. Характеристика сети.</vt:lpstr>
      <vt:lpstr>4.1.3 Технология АТМ. Коммутация ячеек.</vt:lpstr>
      <vt:lpstr>4.1.2 Технология АТМ. Интеграция голоса, видео и данных.</vt:lpstr>
      <vt:lpstr>4.1.2 Технология АТМ. Характеристика сети.</vt:lpstr>
      <vt:lpstr>4.Технология АТМ. Характеристика сети. </vt:lpstr>
      <vt:lpstr>4.1.2 Технология АТМ. Типы ATM –соединений.</vt:lpstr>
      <vt:lpstr>4.1.2 Технология АТМ. Характеристика сети . Типы ATM -соединений</vt:lpstr>
      <vt:lpstr>4.1.2 Технология АТМ. Характеристика.</vt:lpstr>
      <vt:lpstr>4.2.Технология АТМ. Подключение сетей.  Интерфейсы UNI,NNI.   </vt:lpstr>
      <vt:lpstr>4.2 Технология АТМ. Топология. Интерфейсы UNI ,NNI</vt:lpstr>
      <vt:lpstr>4.2 Технология АТМ. Интерфейсы UNI ,NNI. </vt:lpstr>
      <vt:lpstr>4.2 Технология АТМ. Интерфейсы UNI ,NNI.</vt:lpstr>
      <vt:lpstr>4.2 Технология АТМ. Применение АТМ- интерфейсов.</vt:lpstr>
      <vt:lpstr>4.3.Технология АТМ.  Принцип АТМ- мультиплексирования. Принципы коммутации. Виртуальное соединение.</vt:lpstr>
      <vt:lpstr>Принцип ATM-мультиплексирования  а) структура;    б) поток при временном разделении;  в) поток при ATM-мультиплексировани</vt:lpstr>
      <vt:lpstr>Принцип ATM-мультиплексирования  б) поток при временном разделении;</vt:lpstr>
      <vt:lpstr>Принцип ATM-мультиплексирования</vt:lpstr>
      <vt:lpstr>Принцип ATM-мультиплексирования  в) поток при ATM-мультиплексировани</vt:lpstr>
      <vt:lpstr>Принцип ATM-мультиплексирования. Таблица коммутации</vt:lpstr>
      <vt:lpstr>Принцип ATM-мультиплексирования. Таблица коммутации</vt:lpstr>
      <vt:lpstr>Принцип ATM-мультиплексирования. Таблица коммутации</vt:lpstr>
      <vt:lpstr>4.3 Технология АТМ. Виртуальные каналы </vt:lpstr>
      <vt:lpstr>4.1.3 Технология АТМ. Техника виртуальных каналов(1/3)</vt:lpstr>
      <vt:lpstr>4.1.3 Технология АТМ. Техника виртуальных каналов(2/3)</vt:lpstr>
      <vt:lpstr>4.1.3 Технология АТМ. Техника виртуальных каналов(3/3)</vt:lpstr>
      <vt:lpstr>4.3 Технология АТМ. Коммутация.</vt:lpstr>
      <vt:lpstr>4.3 Технология АТМ. Коммутация.</vt:lpstr>
      <vt:lpstr>4.3 Технология АТМ. Коммутация.</vt:lpstr>
      <vt:lpstr>4.3 Технология АТМ. Коммутация.</vt:lpstr>
      <vt:lpstr>4.3 Технология АТМ. Виртуальное соединение (1/11).</vt:lpstr>
      <vt:lpstr>4.3 Технология АТМ. Виртуальные каналы(2/11).</vt:lpstr>
      <vt:lpstr>4.3 Технология АТМ. Виртуальная адресация (3/11).</vt:lpstr>
      <vt:lpstr>4.3 Технология АТМ. НАЗНАЧЕНИЕ VPI, VCI (4/11)</vt:lpstr>
      <vt:lpstr>4.3 Технология АТМ. Виртуальная адресация (5/11).</vt:lpstr>
      <vt:lpstr>4.3 Технология АТМ . Использование идентификаторов путей, каналов (6/11)</vt:lpstr>
      <vt:lpstr>4.3 Технология АТМ .  Использование идентификаторов путей и каналов (7/11)</vt:lpstr>
      <vt:lpstr>4.3 Технология АТМ .  Использование идентификаторов путей , каналов(8/11)</vt:lpstr>
      <vt:lpstr>4.3 Технология АТМ. Виртуальная пути и каналы (9/11).</vt:lpstr>
      <vt:lpstr>4.3 Технология АТМ. Структура коммутатора АТМ. (10/11)</vt:lpstr>
      <vt:lpstr>4.3 Технология АТМ.  Виртуальные каналы, адресация VPI/VCI (11/11)</vt:lpstr>
      <vt:lpstr>4.4.Технология АТМ.  Формат ячейки. Передача ячеек. </vt:lpstr>
      <vt:lpstr>4.4 Технология АТМ. Формат ячейки</vt:lpstr>
      <vt:lpstr>4.4 Технология АТМ. Формат ячейки.</vt:lpstr>
      <vt:lpstr>4.4 Технология АТМ. Формат ячейки (1 вар.).</vt:lpstr>
      <vt:lpstr>4.4 Технология АТМ. Формат заголовка ячейки (2 вар.) </vt:lpstr>
      <vt:lpstr>4.4 Технология АТМ. Формат заголовка ячейки (1/8) </vt:lpstr>
      <vt:lpstr>4.4 Технология АТМ. Формат заголовка ячейки (2/8)</vt:lpstr>
      <vt:lpstr>4.4 Технология АТМ. Формат заголовка ячейки(3/8) </vt:lpstr>
      <vt:lpstr>4.4 Технология АТМ. Формат заголовка ячейки (4/8) </vt:lpstr>
      <vt:lpstr>4.4 Технология АТМ. Таблица коммутации (5/10). Сводная (общая)</vt:lpstr>
      <vt:lpstr>4.Технология АТМ. Передача ячеек/ замена меток(6/10). По каждому коммутатору запись.</vt:lpstr>
      <vt:lpstr>4.Технология АТМ. Передача ячеек/ замена меток.   По каждому коммутатору запись. (7/10).</vt:lpstr>
      <vt:lpstr>4.Технология АТМ. Передача ячеек/ замена меток. По каждому коммутатору запись (8/10).</vt:lpstr>
      <vt:lpstr>4.Технология АТМ. Передача ячеек/ замена меток.  По каждому коммутатору запись (9/10).</vt:lpstr>
      <vt:lpstr>Спектр технологий коммутации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Системы передачи  АТМ</dc:title>
  <dc:creator>Анастасия</dc:creator>
  <cp:lastModifiedBy>Анастасия</cp:lastModifiedBy>
  <cp:revision>107</cp:revision>
  <dcterms:created xsi:type="dcterms:W3CDTF">2025-11-16T11:03:13Z</dcterms:created>
  <dcterms:modified xsi:type="dcterms:W3CDTF">2025-11-22T19:21:44Z</dcterms:modified>
</cp:coreProperties>
</file>