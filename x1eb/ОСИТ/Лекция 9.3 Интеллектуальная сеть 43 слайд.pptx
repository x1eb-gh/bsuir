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19" r:id="rId5"/>
    <p:sldId id="279" r:id="rId6"/>
    <p:sldId id="271" r:id="rId7"/>
    <p:sldId id="296" r:id="rId8"/>
    <p:sldId id="278" r:id="rId9"/>
    <p:sldId id="277" r:id="rId10"/>
    <p:sldId id="303" r:id="rId11"/>
    <p:sldId id="320" r:id="rId12"/>
    <p:sldId id="290" r:id="rId13"/>
    <p:sldId id="321" r:id="rId14"/>
    <p:sldId id="291" r:id="rId15"/>
    <p:sldId id="292" r:id="rId16"/>
    <p:sldId id="304" r:id="rId17"/>
    <p:sldId id="305" r:id="rId18"/>
    <p:sldId id="297" r:id="rId19"/>
    <p:sldId id="298" r:id="rId20"/>
    <p:sldId id="306" r:id="rId21"/>
    <p:sldId id="282" r:id="rId22"/>
    <p:sldId id="283" r:id="rId23"/>
    <p:sldId id="284" r:id="rId24"/>
    <p:sldId id="285" r:id="rId25"/>
    <p:sldId id="286" r:id="rId26"/>
    <p:sldId id="287" r:id="rId27"/>
    <p:sldId id="288" r:id="rId28"/>
    <p:sldId id="276" r:id="rId29"/>
    <p:sldId id="302" r:id="rId30"/>
    <p:sldId id="301" r:id="rId31"/>
    <p:sldId id="307" r:id="rId32"/>
    <p:sldId id="308" r:id="rId33"/>
    <p:sldId id="309" r:id="rId34"/>
    <p:sldId id="310" r:id="rId35"/>
    <p:sldId id="311" r:id="rId36"/>
    <p:sldId id="312" r:id="rId37"/>
    <p:sldId id="313" r:id="rId38"/>
    <p:sldId id="316" r:id="rId39"/>
    <p:sldId id="317" r:id="rId40"/>
    <p:sldId id="318" r:id="rId41"/>
    <p:sldId id="275" r:id="rId42"/>
    <p:sldId id="272" r:id="rId43"/>
    <p:sldId id="273" r:id="rId4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300"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emf"/><Relationship Id="rId4" Type="http://schemas.openxmlformats.org/officeDocument/2006/relationships/image" Target="../media/image2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5EE6F7-0806-49E1-865D-02B4932E58D7}" type="slidenum">
              <a:rPr lang="ru-RU" smtClean="0"/>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57200" y="277813"/>
            <a:ext cx="8229600" cy="58531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C355B-4654-4340-9DB7-9C275D7DD41B}" type="datetimeFigureOut">
              <a:rPr lang="ru-RU" smtClean="0"/>
              <a:pPr/>
              <a:t>23.11.2025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5EE6F7-0806-49E1-865D-02B4932E58D7}"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3.bin"/><Relationship Id="rId7" Type="http://schemas.openxmlformats.org/officeDocument/2006/relationships/image" Target="../media/image22.jpe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oleObject" Target="../embeddings/oleObject4.bin"/><Relationship Id="rId10" Type="http://schemas.openxmlformats.org/officeDocument/2006/relationships/image" Target="../media/image23.jpeg"/><Relationship Id="rId4" Type="http://schemas.openxmlformats.org/officeDocument/2006/relationships/image" Target="../media/image21.jpeg"/><Relationship Id="rId9"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dirty="0" smtClean="0">
                <a:solidFill>
                  <a:srgbClr val="002060"/>
                </a:solidFill>
              </a:rPr>
              <a:t>Лекция 8.2</a:t>
            </a:r>
            <a:endParaRPr lang="ru-RU" b="1" dirty="0">
              <a:solidFill>
                <a:srgbClr val="002060"/>
              </a:solidFill>
            </a:endParaRPr>
          </a:p>
        </p:txBody>
      </p:sp>
      <p:sp>
        <p:nvSpPr>
          <p:cNvPr id="3" name="Подзаголовок 2"/>
          <p:cNvSpPr>
            <a:spLocks noGrp="1"/>
          </p:cNvSpPr>
          <p:nvPr>
            <p:ph type="subTitle" idx="1"/>
          </p:nvPr>
        </p:nvSpPr>
        <p:spPr/>
        <p:txBody>
          <a:bodyPr>
            <a:normAutofit/>
          </a:bodyPr>
          <a:lstStyle/>
          <a:p>
            <a:r>
              <a:rPr lang="ru-RU" sz="4400" b="1" dirty="0" smtClean="0">
                <a:solidFill>
                  <a:srgbClr val="002060"/>
                </a:solidFill>
              </a:rPr>
              <a:t>Интеллектуальная сеть (</a:t>
            </a:r>
            <a:r>
              <a:rPr lang="en-US" sz="4400" b="1" dirty="0" smtClean="0">
                <a:solidFill>
                  <a:srgbClr val="002060"/>
                </a:solidFill>
              </a:rPr>
              <a:t>IN)</a:t>
            </a:r>
            <a:endParaRPr lang="ru-RU"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fld id="{5604C56C-BAB1-4909-BBFD-06C2BF352289}" type="slidenum">
              <a:rPr lang="ru-RU"/>
              <a:pPr>
                <a:defRPr/>
              </a:pPr>
              <a:t>2</a:t>
            </a:fld>
            <a:endParaRPr lang="ru-RU"/>
          </a:p>
        </p:txBody>
      </p:sp>
      <p:sp>
        <p:nvSpPr>
          <p:cNvPr id="350212" name="Rectangle 4"/>
          <p:cNvSpPr>
            <a:spLocks noChangeArrowheads="1"/>
          </p:cNvSpPr>
          <p:nvPr/>
        </p:nvSpPr>
        <p:spPr bwMode="auto">
          <a:xfrm>
            <a:off x="468313" y="476251"/>
            <a:ext cx="8229600" cy="576486"/>
          </a:xfrm>
          <a:prstGeom prst="rect">
            <a:avLst/>
          </a:prstGeom>
          <a:noFill/>
          <a:ln w="9525">
            <a:noFill/>
            <a:miter lim="800000"/>
            <a:headEnd/>
            <a:tailEnd/>
          </a:ln>
          <a:effectLst/>
        </p:spPr>
        <p:txBody>
          <a:bodyPr anchor="ctr"/>
          <a:lstStyle/>
          <a:p>
            <a:pPr algn="ctr"/>
            <a:r>
              <a:rPr lang="ru-RU" sz="3600" b="1" dirty="0">
                <a:solidFill>
                  <a:srgbClr val="002060"/>
                </a:solidFill>
                <a:latin typeface="Arial" charset="0"/>
              </a:rPr>
              <a:t>Определение</a:t>
            </a:r>
            <a:r>
              <a:rPr lang="en-US" sz="3600" dirty="0">
                <a:solidFill>
                  <a:srgbClr val="000000"/>
                </a:solidFill>
                <a:latin typeface="Arial" charset="0"/>
              </a:rPr>
              <a:t> </a:t>
            </a:r>
            <a:endParaRPr lang="ru-RU" sz="3600" dirty="0">
              <a:solidFill>
                <a:srgbClr val="000000"/>
              </a:solidFill>
              <a:latin typeface="Arial" charset="0"/>
            </a:endParaRPr>
          </a:p>
        </p:txBody>
      </p:sp>
      <p:sp>
        <p:nvSpPr>
          <p:cNvPr id="23556" name="Rectangle 5"/>
          <p:cNvSpPr>
            <a:spLocks noChangeArrowheads="1"/>
          </p:cNvSpPr>
          <p:nvPr/>
        </p:nvSpPr>
        <p:spPr bwMode="auto">
          <a:xfrm>
            <a:off x="179512" y="1379326"/>
            <a:ext cx="8964488" cy="5262979"/>
          </a:xfrm>
          <a:prstGeom prst="rect">
            <a:avLst/>
          </a:prstGeom>
          <a:noFill/>
          <a:ln w="9525">
            <a:noFill/>
            <a:miter lim="800000"/>
            <a:headEnd/>
            <a:tailEnd/>
          </a:ln>
          <a:effectLst/>
        </p:spPr>
        <p:txBody>
          <a:bodyPr wrap="square" anchor="ctr">
            <a:spAutoFit/>
          </a:bodyPr>
          <a:lstStyle/>
          <a:p>
            <a:pPr indent="452438">
              <a:tabLst>
                <a:tab pos="571500" algn="l"/>
              </a:tabLst>
            </a:pPr>
            <a:r>
              <a:rPr lang="ru-RU" sz="2400" b="1" u="sng" dirty="0">
                <a:solidFill>
                  <a:srgbClr val="000000"/>
                </a:solidFill>
                <a:latin typeface="Times New Roman" pitchFamily="18" charset="0"/>
              </a:rPr>
              <a:t>Интеллектуальная сеть</a:t>
            </a:r>
            <a:r>
              <a:rPr lang="ru-RU" sz="2400" u="sng" dirty="0">
                <a:solidFill>
                  <a:srgbClr val="000000"/>
                </a:solidFill>
                <a:latin typeface="Times New Roman" pitchFamily="18" charset="0"/>
              </a:rPr>
              <a:t> </a:t>
            </a:r>
            <a:r>
              <a:rPr lang="ru-RU" sz="2400" dirty="0">
                <a:solidFill>
                  <a:srgbClr val="000000"/>
                </a:solidFill>
                <a:latin typeface="Times New Roman" pitchFamily="18" charset="0"/>
              </a:rPr>
              <a:t>- это архитектурная концепция предоставления новых услуг связи, обладающих следующими основными характеристиками:</a:t>
            </a:r>
          </a:p>
          <a:p>
            <a:pPr marL="93663" indent="7938">
              <a:buFont typeface="Arial" pitchFamily="34" charset="0"/>
              <a:buChar char="•"/>
              <a:tabLst>
                <a:tab pos="571500" algn="l"/>
              </a:tabLst>
            </a:pPr>
            <a:r>
              <a:rPr lang="ru-RU" sz="2400" dirty="0" smtClean="0">
                <a:solidFill>
                  <a:srgbClr val="000000"/>
                </a:solidFill>
                <a:latin typeface="Times New Roman" pitchFamily="18" charset="0"/>
              </a:rPr>
              <a:t>   широкое </a:t>
            </a:r>
            <a:r>
              <a:rPr lang="ru-RU" sz="2400" dirty="0">
                <a:solidFill>
                  <a:srgbClr val="000000"/>
                </a:solidFill>
                <a:latin typeface="Times New Roman" pitchFamily="18" charset="0"/>
              </a:rPr>
              <a:t>использование современных методов </a:t>
            </a:r>
            <a:r>
              <a:rPr lang="ru-RU" sz="2400" dirty="0" smtClean="0">
                <a:solidFill>
                  <a:srgbClr val="000000"/>
                </a:solidFill>
                <a:latin typeface="Times New Roman" pitchFamily="18" charset="0"/>
              </a:rPr>
              <a:t>обработки           информации</a:t>
            </a:r>
            <a:r>
              <a:rPr lang="ru-RU" sz="2400" dirty="0">
                <a:solidFill>
                  <a:srgbClr val="000000"/>
                </a:solidFill>
                <a:latin typeface="Times New Roman" pitchFamily="18" charset="0"/>
              </a:rPr>
              <a:t>;</a:t>
            </a:r>
          </a:p>
          <a:p>
            <a:pPr indent="452438">
              <a:buFontTx/>
              <a:buChar char="•"/>
              <a:tabLst>
                <a:tab pos="571500" algn="l"/>
              </a:tabLst>
            </a:pPr>
            <a:r>
              <a:rPr lang="ru-RU" sz="2400" dirty="0">
                <a:solidFill>
                  <a:srgbClr val="000000"/>
                </a:solidFill>
                <a:latin typeface="Times New Roman" pitchFamily="18" charset="0"/>
              </a:rPr>
              <a:t>эффективное использование сетевых ресурсов;</a:t>
            </a:r>
          </a:p>
          <a:p>
            <a:pPr indent="452438">
              <a:buFontTx/>
              <a:buChar char="•"/>
              <a:tabLst>
                <a:tab pos="571500" algn="l"/>
              </a:tabLst>
            </a:pPr>
            <a:r>
              <a:rPr lang="ru-RU" sz="2400" dirty="0">
                <a:solidFill>
                  <a:srgbClr val="000000"/>
                </a:solidFill>
                <a:latin typeface="Times New Roman" pitchFamily="18" charset="0"/>
              </a:rPr>
              <a:t>модульность и многоцелевое назначение сетевых функций;</a:t>
            </a:r>
          </a:p>
          <a:p>
            <a:pPr indent="452438">
              <a:buFontTx/>
              <a:buChar char="•"/>
              <a:tabLst>
                <a:tab pos="571500" algn="l"/>
              </a:tabLst>
            </a:pPr>
            <a:r>
              <a:rPr lang="ru-RU" sz="2400" dirty="0">
                <a:solidFill>
                  <a:srgbClr val="000000"/>
                </a:solidFill>
                <a:latin typeface="Times New Roman" pitchFamily="18" charset="0"/>
              </a:rPr>
              <a:t>интегрированные возможности разработки и внедрения услуг средствами модульных и многоцелевых сетевых функций;</a:t>
            </a:r>
          </a:p>
          <a:p>
            <a:pPr indent="452438">
              <a:buFontTx/>
              <a:buChar char="•"/>
              <a:tabLst>
                <a:tab pos="571500" algn="l"/>
              </a:tabLst>
            </a:pPr>
            <a:r>
              <a:rPr lang="ru-RU" sz="2400" dirty="0">
                <a:solidFill>
                  <a:srgbClr val="000000"/>
                </a:solidFill>
                <a:latin typeface="Times New Roman" pitchFamily="18" charset="0"/>
              </a:rPr>
              <a:t>стандартизованное взаимодействие сетевых функций посредством независимых от услуг сетевых интерфейсов;</a:t>
            </a:r>
          </a:p>
          <a:p>
            <a:pPr indent="452438">
              <a:buFontTx/>
              <a:buChar char="•"/>
              <a:tabLst>
                <a:tab pos="571500" algn="l"/>
              </a:tabLst>
            </a:pPr>
            <a:r>
              <a:rPr lang="ru-RU" sz="2400" dirty="0">
                <a:solidFill>
                  <a:srgbClr val="000000"/>
                </a:solidFill>
                <a:latin typeface="Times New Roman" pitchFamily="18" charset="0"/>
              </a:rPr>
              <a:t>возможность управления некоторыми атрибутами услуг со стороны абонентов и пользователей;</a:t>
            </a:r>
          </a:p>
          <a:p>
            <a:pPr indent="452438">
              <a:buFontTx/>
              <a:buChar char="•"/>
              <a:tabLst>
                <a:tab pos="571500" algn="l"/>
              </a:tabLst>
            </a:pPr>
            <a:r>
              <a:rPr lang="ru-RU" sz="2400" dirty="0">
                <a:solidFill>
                  <a:srgbClr val="000000"/>
                </a:solidFill>
                <a:latin typeface="Times New Roman" pitchFamily="18" charset="0"/>
              </a:rPr>
              <a:t>стандартизованное управление логикой услуг.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50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fld id="{B002D730-D2A6-4174-B5B9-1A6141356876}" type="slidenum">
              <a:rPr lang="ru-RU"/>
              <a:pPr>
                <a:defRPr/>
              </a:pPr>
              <a:t>3</a:t>
            </a:fld>
            <a:endParaRPr lang="ru-RU"/>
          </a:p>
        </p:txBody>
      </p:sp>
      <p:sp>
        <p:nvSpPr>
          <p:cNvPr id="351236" name="Rectangle 4"/>
          <p:cNvSpPr>
            <a:spLocks noChangeArrowheads="1"/>
          </p:cNvSpPr>
          <p:nvPr/>
        </p:nvSpPr>
        <p:spPr bwMode="auto">
          <a:xfrm>
            <a:off x="468313" y="1"/>
            <a:ext cx="8229600" cy="692695"/>
          </a:xfrm>
          <a:prstGeom prst="rect">
            <a:avLst/>
          </a:prstGeom>
          <a:noFill/>
          <a:ln w="9525">
            <a:noFill/>
            <a:miter lim="800000"/>
            <a:headEnd/>
            <a:tailEnd/>
          </a:ln>
          <a:effectLst/>
        </p:spPr>
        <p:txBody>
          <a:bodyPr anchor="ctr"/>
          <a:lstStyle/>
          <a:p>
            <a:pPr algn="ctr"/>
            <a:r>
              <a:rPr lang="ru-RU" sz="3600" b="1" dirty="0">
                <a:solidFill>
                  <a:srgbClr val="002060"/>
                </a:solidFill>
                <a:latin typeface="Arial" charset="0"/>
              </a:rPr>
              <a:t>Эволюция </a:t>
            </a:r>
            <a:r>
              <a:rPr lang="en-US" sz="3600" b="1" dirty="0">
                <a:solidFill>
                  <a:srgbClr val="002060"/>
                </a:solidFill>
                <a:latin typeface="Arial" charset="0"/>
              </a:rPr>
              <a:t>IN </a:t>
            </a:r>
            <a:endParaRPr lang="ru-RU" sz="3600" b="1" dirty="0">
              <a:solidFill>
                <a:srgbClr val="002060"/>
              </a:solidFill>
              <a:latin typeface="Arial" charset="0"/>
            </a:endParaRPr>
          </a:p>
        </p:txBody>
      </p:sp>
      <p:sp>
        <p:nvSpPr>
          <p:cNvPr id="24580" name="Text Box 5"/>
          <p:cNvSpPr txBox="1">
            <a:spLocks noChangeArrowheads="1"/>
          </p:cNvSpPr>
          <p:nvPr/>
        </p:nvSpPr>
        <p:spPr bwMode="auto">
          <a:xfrm>
            <a:off x="0" y="620688"/>
            <a:ext cx="9144000" cy="6402333"/>
          </a:xfrm>
          <a:prstGeom prst="rect">
            <a:avLst/>
          </a:prstGeom>
          <a:noFill/>
          <a:ln w="9525">
            <a:noFill/>
            <a:miter lim="800000"/>
            <a:headEnd/>
            <a:tailEnd/>
          </a:ln>
          <a:effectLst/>
        </p:spPr>
        <p:txBody>
          <a:bodyPr wrap="square">
            <a:spAutoFit/>
          </a:bodyPr>
          <a:lstStyle/>
          <a:p>
            <a:pPr indent="452438">
              <a:spcBef>
                <a:spcPct val="50000"/>
              </a:spcBef>
            </a:pPr>
            <a:r>
              <a:rPr lang="ru-RU" sz="2400" dirty="0">
                <a:solidFill>
                  <a:srgbClr val="000000"/>
                </a:solidFill>
                <a:latin typeface="Times New Roman" pitchFamily="18" charset="0"/>
              </a:rPr>
              <a:t>1967 – «Услуга </a:t>
            </a:r>
            <a:r>
              <a:rPr lang="ru-RU" sz="2400" dirty="0" smtClean="0">
                <a:solidFill>
                  <a:srgbClr val="000000"/>
                </a:solidFill>
                <a:latin typeface="Times New Roman" pitchFamily="18" charset="0"/>
              </a:rPr>
              <a:t>800»</a:t>
            </a:r>
          </a:p>
          <a:p>
            <a:pPr indent="452438">
              <a:spcBef>
                <a:spcPct val="50000"/>
              </a:spcBef>
            </a:pPr>
            <a:r>
              <a:rPr lang="ru-RU" sz="2400" dirty="0" smtClean="0">
                <a:solidFill>
                  <a:srgbClr val="000000"/>
                </a:solidFill>
                <a:latin typeface="Times New Roman" pitchFamily="18" charset="0"/>
              </a:rPr>
              <a:t>1984 </a:t>
            </a:r>
            <a:r>
              <a:rPr lang="ru-RU" sz="2400" dirty="0">
                <a:solidFill>
                  <a:srgbClr val="000000"/>
                </a:solidFill>
                <a:latin typeface="Times New Roman" pitchFamily="18" charset="0"/>
              </a:rPr>
              <a:t>– Концепция Интеллектуальной сети разработана с учетом следующих пожеланий операторов связи:</a:t>
            </a:r>
          </a:p>
          <a:p>
            <a:pPr indent="452438" algn="just">
              <a:buFontTx/>
              <a:buChar char="•"/>
            </a:pPr>
            <a:r>
              <a:rPr lang="ru-RU" sz="2400" dirty="0">
                <a:solidFill>
                  <a:srgbClr val="000000"/>
                </a:solidFill>
                <a:latin typeface="Times New Roman" pitchFamily="18" charset="0"/>
              </a:rPr>
              <a:t>быстрое введение новых сервисов; </a:t>
            </a:r>
          </a:p>
          <a:p>
            <a:pPr indent="452438" algn="just">
              <a:buFontTx/>
              <a:buChar char="•"/>
            </a:pPr>
            <a:r>
              <a:rPr lang="ru-RU" sz="2400" dirty="0">
                <a:solidFill>
                  <a:srgbClr val="000000"/>
                </a:solidFill>
                <a:latin typeface="Times New Roman" pitchFamily="18" charset="0"/>
              </a:rPr>
              <a:t>возможность видоизменения (настройки) сервисов; </a:t>
            </a:r>
          </a:p>
          <a:p>
            <a:pPr indent="452438" algn="just">
              <a:buFontTx/>
              <a:buChar char="•"/>
            </a:pPr>
            <a:r>
              <a:rPr lang="ru-RU" sz="2400" dirty="0">
                <a:solidFill>
                  <a:srgbClr val="000000"/>
                </a:solidFill>
                <a:latin typeface="Times New Roman" pitchFamily="18" charset="0"/>
              </a:rPr>
              <a:t>независимость от производителя; </a:t>
            </a:r>
          </a:p>
          <a:p>
            <a:pPr indent="452438" algn="just">
              <a:buFontTx/>
              <a:buChar char="•"/>
            </a:pPr>
            <a:r>
              <a:rPr lang="ru-RU" sz="2400" dirty="0">
                <a:solidFill>
                  <a:srgbClr val="000000"/>
                </a:solidFill>
                <a:latin typeface="Times New Roman" pitchFamily="18" charset="0"/>
              </a:rPr>
              <a:t>наличие стандартных интерфейсов.</a:t>
            </a:r>
          </a:p>
          <a:p>
            <a:pPr indent="452438" algn="just"/>
            <a:r>
              <a:rPr lang="en-US" sz="2400" b="1" dirty="0">
                <a:solidFill>
                  <a:srgbClr val="000000"/>
                </a:solidFill>
                <a:latin typeface="Times New Roman" pitchFamily="18" charset="0"/>
              </a:rPr>
              <a:t>IN/1</a:t>
            </a:r>
            <a:r>
              <a:rPr lang="ru-RU" sz="2400" b="1" dirty="0">
                <a:solidFill>
                  <a:srgbClr val="000000"/>
                </a:solidFill>
                <a:latin typeface="Times New Roman" pitchFamily="18" charset="0"/>
              </a:rPr>
              <a:t> (</a:t>
            </a:r>
            <a:r>
              <a:rPr lang="en-US" sz="2400" b="1" dirty="0">
                <a:solidFill>
                  <a:srgbClr val="000000"/>
                </a:solidFill>
                <a:latin typeface="Times New Roman" pitchFamily="18" charset="0"/>
              </a:rPr>
              <a:t>Intelligent Network 1)</a:t>
            </a:r>
            <a:r>
              <a:rPr lang="en-US" sz="2400" dirty="0">
                <a:solidFill>
                  <a:srgbClr val="000000"/>
                </a:solidFill>
                <a:latin typeface="Times New Roman" pitchFamily="18" charset="0"/>
              </a:rPr>
              <a:t> – </a:t>
            </a:r>
            <a:r>
              <a:rPr lang="ru-RU" sz="2400" dirty="0">
                <a:solidFill>
                  <a:srgbClr val="000000"/>
                </a:solidFill>
                <a:latin typeface="Times New Roman" pitchFamily="18" charset="0"/>
              </a:rPr>
              <a:t>логика выполнения сервиса была впервые вынесена за пределы телефонных коммутаторов и реализована в базах данных.</a:t>
            </a:r>
            <a:endParaRPr lang="en-US" sz="2400" dirty="0">
              <a:solidFill>
                <a:srgbClr val="000000"/>
              </a:solidFill>
              <a:latin typeface="Times New Roman" pitchFamily="18" charset="0"/>
            </a:endParaRPr>
          </a:p>
          <a:p>
            <a:pPr indent="452438" algn="just"/>
            <a:r>
              <a:rPr lang="en-US" sz="2400" b="1" dirty="0">
                <a:solidFill>
                  <a:srgbClr val="000000"/>
                </a:solidFill>
                <a:latin typeface="Times New Roman" pitchFamily="18" charset="0"/>
              </a:rPr>
              <a:t>AIN Release 1 (Advanced Intelligent Network)</a:t>
            </a:r>
            <a:r>
              <a:rPr lang="ru-RU" sz="2400" dirty="0">
                <a:solidFill>
                  <a:srgbClr val="000000"/>
                </a:solidFill>
                <a:latin typeface="Times New Roman" pitchFamily="18" charset="0"/>
              </a:rPr>
              <a:t> – усовершенствованная интеллектуальная сеть. </a:t>
            </a:r>
            <a:endParaRPr lang="ru-RU" sz="2400" dirty="0" smtClean="0">
              <a:solidFill>
                <a:srgbClr val="000000"/>
              </a:solidFill>
              <a:latin typeface="Times New Roman" pitchFamily="18" charset="0"/>
            </a:endParaRPr>
          </a:p>
          <a:p>
            <a:pPr indent="452438" algn="just"/>
            <a:r>
              <a:rPr lang="ru-RU" sz="2400" dirty="0" smtClean="0">
                <a:solidFill>
                  <a:srgbClr val="000000"/>
                </a:solidFill>
                <a:latin typeface="Times New Roman" pitchFamily="18" charset="0"/>
              </a:rPr>
              <a:t>Общая </a:t>
            </a:r>
            <a:r>
              <a:rPr lang="ru-RU" sz="2400" dirty="0">
                <a:solidFill>
                  <a:srgbClr val="000000"/>
                </a:solidFill>
                <a:latin typeface="Times New Roman" pitchFamily="18" charset="0"/>
              </a:rPr>
              <a:t>логика выполнения сервиса стала независима от конкретного вида услуг, а различия в услугах выражались в компоновке конструктивных блоков и специфической для данной услуги информации</a:t>
            </a:r>
            <a:r>
              <a:rPr lang="ru-RU" sz="2000" dirty="0">
                <a:solidFill>
                  <a:srgbClr val="000000"/>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51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a:bodyPr>
          <a:lstStyle/>
          <a:p>
            <a:r>
              <a:rPr lang="ru-RU" sz="3600" dirty="0" smtClean="0">
                <a:solidFill>
                  <a:srgbClr val="002060"/>
                </a:solidFill>
              </a:rPr>
              <a:t>Область применения услуги ИСС</a:t>
            </a:r>
            <a:endParaRPr lang="ru-RU" sz="3600" dirty="0">
              <a:solidFill>
                <a:srgbClr val="002060"/>
              </a:solidFill>
            </a:endParaRPr>
          </a:p>
        </p:txBody>
      </p:sp>
      <p:sp>
        <p:nvSpPr>
          <p:cNvPr id="3" name="Содержимое 2"/>
          <p:cNvSpPr>
            <a:spLocks noGrp="1"/>
          </p:cNvSpPr>
          <p:nvPr>
            <p:ph idx="1"/>
          </p:nvPr>
        </p:nvSpPr>
        <p:spPr>
          <a:xfrm>
            <a:off x="0" y="908720"/>
            <a:ext cx="8964488" cy="5760640"/>
          </a:xfrm>
        </p:spPr>
        <p:txBody>
          <a:bodyPr>
            <a:normAutofit fontScale="85000" lnSpcReduction="10000"/>
          </a:bodyPr>
          <a:lstStyle/>
          <a:p>
            <a:pPr>
              <a:buNone/>
            </a:pPr>
            <a:endParaRPr lang="ru-RU" dirty="0" smtClean="0"/>
          </a:p>
          <a:p>
            <a:r>
              <a:rPr lang="ru-RU" dirty="0" smtClean="0"/>
              <a:t>Создание автоматизированной справочной службы;</a:t>
            </a:r>
            <a:br>
              <a:rPr lang="ru-RU" dirty="0" smtClean="0"/>
            </a:br>
            <a:endParaRPr lang="ru-RU" dirty="0" smtClean="0"/>
          </a:p>
          <a:p>
            <a:r>
              <a:rPr lang="ru-RU" dirty="0" smtClean="0"/>
              <a:t>Создание службы поддержки клиентов (</a:t>
            </a:r>
            <a:r>
              <a:rPr lang="ru-RU" dirty="0" err="1" smtClean="0"/>
              <a:t>Call-center</a:t>
            </a:r>
            <a:r>
              <a:rPr lang="ru-RU" dirty="0" smtClean="0"/>
              <a:t>);</a:t>
            </a:r>
            <a:br>
              <a:rPr lang="ru-RU" dirty="0" smtClean="0"/>
            </a:br>
            <a:endParaRPr lang="ru-RU" dirty="0" smtClean="0"/>
          </a:p>
          <a:p>
            <a:r>
              <a:rPr lang="ru-RU" dirty="0" smtClean="0"/>
              <a:t>Проведение массовых телефонных опросов с участием телевидения (телеголосование);</a:t>
            </a:r>
            <a:br>
              <a:rPr lang="ru-RU" dirty="0" smtClean="0"/>
            </a:br>
            <a:endParaRPr lang="ru-RU" dirty="0" smtClean="0"/>
          </a:p>
          <a:p>
            <a:r>
              <a:rPr lang="ru-RU" dirty="0" smtClean="0"/>
              <a:t>Предоставление интерактивных и платных телефонных услуг;</a:t>
            </a:r>
            <a:br>
              <a:rPr lang="ru-RU" dirty="0" smtClean="0"/>
            </a:br>
            <a:endParaRPr lang="ru-RU" dirty="0" smtClean="0"/>
          </a:p>
          <a:p>
            <a:r>
              <a:rPr lang="ru-RU" dirty="0" smtClean="0"/>
              <a:t>Организация </a:t>
            </a:r>
            <a:r>
              <a:rPr lang="ru-RU" dirty="0" err="1" smtClean="0"/>
              <a:t>телемаркетинга</a:t>
            </a:r>
            <a:r>
              <a:rPr lang="ru-RU" dirty="0" smtClean="0"/>
              <a:t> (продажа товаров и услуг по телефону).</a:t>
            </a:r>
          </a:p>
          <a:p>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052736"/>
          </a:xfrm>
        </p:spPr>
        <p:txBody>
          <a:bodyPr>
            <a:normAutofit/>
          </a:bodyPr>
          <a:lstStyle/>
          <a:p>
            <a:r>
              <a:rPr lang="en-US" sz="3600" b="1" dirty="0" smtClean="0">
                <a:solidFill>
                  <a:srgbClr val="002060"/>
                </a:solidFill>
                <a:latin typeface="Times New Roman" pitchFamily="18" charset="0"/>
              </a:rPr>
              <a:t>IN/1</a:t>
            </a:r>
            <a:r>
              <a:rPr lang="ru-RU" sz="3600" b="1" dirty="0" smtClean="0">
                <a:solidFill>
                  <a:srgbClr val="002060"/>
                </a:solidFill>
                <a:latin typeface="Times New Roman" pitchFamily="18" charset="0"/>
              </a:rPr>
              <a:t> (</a:t>
            </a:r>
            <a:r>
              <a:rPr lang="en-US" sz="3600" b="1" dirty="0" smtClean="0">
                <a:solidFill>
                  <a:srgbClr val="002060"/>
                </a:solidFill>
                <a:latin typeface="Times New Roman" pitchFamily="18" charset="0"/>
              </a:rPr>
              <a:t>Intelligent Network 1)</a:t>
            </a:r>
            <a:endParaRPr lang="ru-RU" sz="3600" dirty="0">
              <a:solidFill>
                <a:srgbClr val="002060"/>
              </a:solidFill>
            </a:endParaRPr>
          </a:p>
        </p:txBody>
      </p:sp>
      <p:pic>
        <p:nvPicPr>
          <p:cNvPr id="4" name="Содержимое 3" descr="https://cf.ppt-online.org/files/slide/g/gDMRskzYeyfc9lWPi7XIFKr4h28wjAuUEStG6d/slide-10.jpg"/>
          <p:cNvPicPr>
            <a:picLocks noGrp="1"/>
          </p:cNvPicPr>
          <p:nvPr>
            <p:ph idx="1"/>
          </p:nvPr>
        </p:nvPicPr>
        <p:blipFill>
          <a:blip r:embed="rId2" cstate="print"/>
          <a:srcRect l="8236" t="6996" r="4657" b="5499"/>
          <a:stretch>
            <a:fillRect/>
          </a:stretch>
        </p:blipFill>
        <p:spPr bwMode="auto">
          <a:xfrm>
            <a:off x="251520" y="836712"/>
            <a:ext cx="8892480" cy="602128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2530" name="Object 2"/>
          <p:cNvGraphicFramePr>
            <a:graphicFrameLocks noChangeAspect="1"/>
          </p:cNvGraphicFramePr>
          <p:nvPr/>
        </p:nvGraphicFramePr>
        <p:xfrm>
          <a:off x="0" y="260648"/>
          <a:ext cx="9158288" cy="6597352"/>
        </p:xfrm>
        <a:graphic>
          <a:graphicData uri="http://schemas.openxmlformats.org/presentationml/2006/ole">
            <p:oleObj spid="_x0000_s3074" name="Visio" r:id="rId3" imgW="12376404" imgH="4756404" progId="">
              <p:embed/>
            </p:oleObj>
          </a:graphicData>
        </a:graphic>
      </p:graphicFrame>
    </p:spTree>
  </p:cSld>
  <p:clrMapOvr>
    <a:masterClrMapping/>
  </p:clrMapOvr>
  <p:transition spd="slow" advClick="0" advTm="15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908720"/>
          </a:xfrm>
        </p:spPr>
        <p:txBody>
          <a:bodyPr>
            <a:normAutofit fontScale="90000"/>
          </a:bodyPr>
          <a:lstStyle/>
          <a:p>
            <a:pPr algn="l"/>
            <a:r>
              <a:rPr lang="ru-RU" b="1" dirty="0" smtClean="0"/>
              <a:t/>
            </a:r>
            <a:br>
              <a:rPr lang="ru-RU" b="1" dirty="0" smtClean="0"/>
            </a:br>
            <a:r>
              <a:rPr lang="ru-RU" b="1" dirty="0" smtClean="0"/>
              <a:t/>
            </a:r>
            <a:br>
              <a:rPr lang="ru-RU" b="1" dirty="0" smtClean="0"/>
            </a:br>
            <a:r>
              <a:rPr lang="ru-RU" sz="3100" b="1" dirty="0" smtClean="0">
                <a:solidFill>
                  <a:srgbClr val="002060"/>
                </a:solidFill>
              </a:rPr>
              <a:t>Интеллектуальные сети связи . Общие представления</a:t>
            </a:r>
            <a:r>
              <a:rPr lang="ru-RU" b="1" dirty="0" smtClean="0"/>
              <a:t/>
            </a:r>
            <a:br>
              <a:rPr lang="ru-RU" b="1" dirty="0" smtClean="0"/>
            </a:br>
            <a:r>
              <a:rPr lang="ru-RU" b="1" dirty="0" smtClean="0"/>
              <a:t/>
            </a:r>
            <a:br>
              <a:rPr lang="ru-RU" b="1" dirty="0" smtClean="0"/>
            </a:br>
            <a:endParaRPr lang="ru-RU" dirty="0"/>
          </a:p>
        </p:txBody>
      </p:sp>
      <p:sp>
        <p:nvSpPr>
          <p:cNvPr id="3" name="Содержимое 2"/>
          <p:cNvSpPr>
            <a:spLocks noGrp="1"/>
          </p:cNvSpPr>
          <p:nvPr>
            <p:ph idx="1"/>
          </p:nvPr>
        </p:nvSpPr>
        <p:spPr>
          <a:xfrm>
            <a:off x="0" y="764704"/>
            <a:ext cx="9144000" cy="6093296"/>
          </a:xfrm>
        </p:spPr>
        <p:txBody>
          <a:bodyPr>
            <a:normAutofit fontScale="70000" lnSpcReduction="20000"/>
          </a:bodyPr>
          <a:lstStyle/>
          <a:p>
            <a:r>
              <a:rPr lang="ru-RU" b="1" dirty="0" smtClean="0"/>
              <a:t>Интеллектуальная сеть базируется на трех основополагающих   компонентах независимости  : </a:t>
            </a:r>
          </a:p>
          <a:p>
            <a:pPr>
              <a:buNone/>
            </a:pPr>
            <a:r>
              <a:rPr lang="ru-RU" b="1" dirty="0" smtClean="0"/>
              <a:t>         -  </a:t>
            </a:r>
            <a:r>
              <a:rPr lang="ru-RU" dirty="0" smtClean="0"/>
              <a:t>от вида услуг, </a:t>
            </a:r>
          </a:p>
          <a:p>
            <a:pPr>
              <a:buNone/>
            </a:pPr>
            <a:r>
              <a:rPr lang="ru-RU" dirty="0" smtClean="0"/>
              <a:t>         -  структуры сети и</a:t>
            </a:r>
          </a:p>
          <a:p>
            <a:pPr>
              <a:buNone/>
            </a:pPr>
            <a:r>
              <a:rPr lang="ru-RU" dirty="0" smtClean="0"/>
              <a:t>         -  производителя оборудования. </a:t>
            </a:r>
          </a:p>
          <a:p>
            <a:r>
              <a:rPr lang="ru-RU" dirty="0" smtClean="0"/>
              <a:t>   </a:t>
            </a:r>
            <a:r>
              <a:rPr lang="ru-RU" b="1" dirty="0" smtClean="0"/>
              <a:t>Интеллектуальные сети базируются на ресурсах телефонных сетей общего пользования </a:t>
            </a:r>
            <a:r>
              <a:rPr lang="ru-RU" dirty="0" smtClean="0"/>
              <a:t>и обеспечивают пользователя доступом и выполнением некоторого набора интеллектуальных услуг .</a:t>
            </a:r>
          </a:p>
          <a:p>
            <a:r>
              <a:rPr lang="ru-RU" b="1" dirty="0" smtClean="0"/>
              <a:t>Примером наиболее часто применяемых интеллектуальных услуг является "служба 800</a:t>
            </a:r>
            <a:r>
              <a:rPr lang="ru-RU" dirty="0" smtClean="0"/>
              <a:t>" — служба, развитая во многих странах .</a:t>
            </a:r>
          </a:p>
          <a:p>
            <a:r>
              <a:rPr lang="ru-RU" dirty="0" smtClean="0"/>
              <a:t>Часто эта служба используется для создания служб, оплачиваемых входящим абонентом. Например, компании, рекламирующие товары или услуги, могут получить номер (после набора 800), где они могут подробно ответить на возникающие вопросы. При этом соединение будет идти независимо от географического расположения исходящего абонента.</a:t>
            </a:r>
          </a:p>
          <a:p>
            <a:r>
              <a:rPr lang="ru-RU" dirty="0" smtClean="0"/>
              <a:t> Для удобства заказчика вместо цифр может использоваться набор букв, обозначающих имя компании (например, FORD). В общем виде можно сказать, что интеллектуальная сеть представляет собой надстройку или дальнейшее расширение сети общего пользования.</a:t>
            </a:r>
          </a:p>
          <a:p>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764704"/>
          </a:xfrm>
        </p:spPr>
        <p:txBody>
          <a:bodyPr>
            <a:normAutofit fontScale="90000"/>
          </a:bodyPr>
          <a:lstStyle/>
          <a:p>
            <a:r>
              <a:rPr lang="ru-RU" b="1" dirty="0" smtClean="0">
                <a:solidFill>
                  <a:srgbClr val="002060"/>
                </a:solidFill>
                <a:latin typeface="Arial" charset="0"/>
              </a:rPr>
              <a:t>Место </a:t>
            </a:r>
            <a:r>
              <a:rPr lang="en-US" b="1" dirty="0" smtClean="0">
                <a:solidFill>
                  <a:srgbClr val="002060"/>
                </a:solidFill>
                <a:latin typeface="Arial" charset="0"/>
              </a:rPr>
              <a:t>IN</a:t>
            </a:r>
            <a:r>
              <a:rPr lang="ru-RU" b="1" dirty="0" smtClean="0">
                <a:solidFill>
                  <a:srgbClr val="002060"/>
                </a:solidFill>
                <a:latin typeface="Arial" charset="0"/>
              </a:rPr>
              <a:t> в общей схеме ТФОП</a:t>
            </a:r>
            <a:endParaRPr lang="ru-RU" dirty="0"/>
          </a:p>
        </p:txBody>
      </p:sp>
      <p:pic>
        <p:nvPicPr>
          <p:cNvPr id="4" name="Содержимое 3" descr="https://cf.ppt-online.org/files/slide/g/gDMRskzYeyfc9lWPi7XIFKr4h28wjAuUEStG6d/slide-22.jpg"/>
          <p:cNvPicPr>
            <a:picLocks noGrp="1"/>
          </p:cNvPicPr>
          <p:nvPr>
            <p:ph idx="1"/>
          </p:nvPr>
        </p:nvPicPr>
        <p:blipFill>
          <a:blip r:embed="rId2" cstate="print"/>
          <a:srcRect l="4255" t="8587" r="2973" b="11863"/>
          <a:stretch>
            <a:fillRect/>
          </a:stretch>
        </p:blipFill>
        <p:spPr bwMode="auto">
          <a:xfrm>
            <a:off x="251520" y="980728"/>
            <a:ext cx="8892480" cy="561662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20.jpg"/>
          <p:cNvPicPr>
            <a:picLocks noGrp="1"/>
          </p:cNvPicPr>
          <p:nvPr>
            <p:ph idx="1"/>
          </p:nvPr>
        </p:nvPicPr>
        <p:blipFill>
          <a:blip r:embed="rId2" cstate="print">
            <a:lum contrast="30000"/>
          </a:blip>
          <a:srcRect l="1963" r="3469" b="7225"/>
          <a:stretch>
            <a:fillRect/>
          </a:stretch>
        </p:blipFill>
        <p:spPr bwMode="auto">
          <a:xfrm>
            <a:off x="0" y="0"/>
            <a:ext cx="9144000" cy="6858000"/>
          </a:xfrm>
          <a:prstGeom prst="rect">
            <a:avLst/>
          </a:prstGeom>
          <a:noFill/>
          <a:ln w="9525">
            <a:solidFill>
              <a:schemeClr val="bg2"/>
            </a:solid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60" name="Rectangle 4"/>
          <p:cNvSpPr>
            <a:spLocks noChangeArrowheads="1"/>
          </p:cNvSpPr>
          <p:nvPr/>
        </p:nvSpPr>
        <p:spPr bwMode="auto">
          <a:xfrm>
            <a:off x="468313" y="188913"/>
            <a:ext cx="8229600" cy="665162"/>
          </a:xfrm>
          <a:prstGeom prst="rect">
            <a:avLst/>
          </a:prstGeom>
          <a:noFill/>
          <a:ln w="9525">
            <a:noFill/>
            <a:miter lim="800000"/>
            <a:headEnd/>
            <a:tailEnd/>
          </a:ln>
          <a:effectLst/>
        </p:spPr>
        <p:txBody>
          <a:bodyPr anchor="ctr"/>
          <a:lstStyle/>
          <a:p>
            <a:pPr algn="ctr"/>
            <a:r>
              <a:rPr lang="ru-RU" sz="3600" b="1" dirty="0">
                <a:solidFill>
                  <a:srgbClr val="002060"/>
                </a:solidFill>
                <a:latin typeface="Arial" charset="0"/>
              </a:rPr>
              <a:t>Архитектура </a:t>
            </a:r>
            <a:r>
              <a:rPr lang="en-US" sz="3600" b="1" dirty="0">
                <a:solidFill>
                  <a:srgbClr val="002060"/>
                </a:solidFill>
                <a:latin typeface="Arial" charset="0"/>
              </a:rPr>
              <a:t>IN </a:t>
            </a:r>
            <a:endParaRPr lang="ru-RU" sz="3600" b="1" dirty="0">
              <a:solidFill>
                <a:srgbClr val="002060"/>
              </a:solidFill>
              <a:latin typeface="Arial" charset="0"/>
            </a:endParaRPr>
          </a:p>
        </p:txBody>
      </p:sp>
      <p:pic>
        <p:nvPicPr>
          <p:cNvPr id="27652" name="Picture 5" descr="19-1"/>
          <p:cNvPicPr>
            <a:picLocks noChangeAspect="1" noChangeArrowheads="1"/>
          </p:cNvPicPr>
          <p:nvPr/>
        </p:nvPicPr>
        <p:blipFill>
          <a:blip r:embed="rId2" cstate="print"/>
          <a:srcRect/>
          <a:stretch>
            <a:fillRect/>
          </a:stretch>
        </p:blipFill>
        <p:spPr bwMode="auto">
          <a:xfrm>
            <a:off x="0" y="849313"/>
            <a:ext cx="9144000" cy="4419600"/>
          </a:xfrm>
          <a:prstGeom prst="rect">
            <a:avLst/>
          </a:prstGeom>
          <a:noFill/>
          <a:ln w="9525">
            <a:noFill/>
            <a:miter lim="800000"/>
            <a:headEnd/>
            <a:tailEnd/>
          </a:ln>
        </p:spPr>
      </p:pic>
      <p:sp>
        <p:nvSpPr>
          <p:cNvPr id="27653" name="Text Box 6"/>
          <p:cNvSpPr txBox="1">
            <a:spLocks noChangeArrowheads="1"/>
          </p:cNvSpPr>
          <p:nvPr/>
        </p:nvSpPr>
        <p:spPr bwMode="auto">
          <a:xfrm>
            <a:off x="0" y="5373216"/>
            <a:ext cx="9144000" cy="1169551"/>
          </a:xfrm>
          <a:prstGeom prst="rect">
            <a:avLst/>
          </a:prstGeom>
          <a:noFill/>
          <a:ln w="9525">
            <a:noFill/>
            <a:miter lim="800000"/>
            <a:headEnd/>
            <a:tailEnd/>
          </a:ln>
          <a:effectLst/>
        </p:spPr>
        <p:txBody>
          <a:bodyPr wrap="square">
            <a:spAutoFit/>
          </a:bodyPr>
          <a:lstStyle/>
          <a:p>
            <a:pPr algn="just">
              <a:lnSpc>
                <a:spcPct val="50000"/>
              </a:lnSpc>
              <a:spcBef>
                <a:spcPct val="50000"/>
              </a:spcBef>
            </a:pPr>
            <a:r>
              <a:rPr lang="en-US" sz="2000" b="1" dirty="0">
                <a:solidFill>
                  <a:srgbClr val="000000"/>
                </a:solidFill>
                <a:latin typeface="Times New Roman" pitchFamily="18" charset="0"/>
              </a:rPr>
              <a:t>IP (Intellectual Peripheral) </a:t>
            </a:r>
            <a:r>
              <a:rPr lang="en-US" sz="2000" dirty="0">
                <a:solidFill>
                  <a:srgbClr val="000000"/>
                </a:solidFill>
                <a:latin typeface="Times New Roman" pitchFamily="18" charset="0"/>
              </a:rPr>
              <a:t>– </a:t>
            </a:r>
            <a:r>
              <a:rPr lang="ru-RU" sz="2000" b="1" dirty="0">
                <a:solidFill>
                  <a:srgbClr val="000000"/>
                </a:solidFill>
                <a:latin typeface="Times New Roman" pitchFamily="18" charset="0"/>
              </a:rPr>
              <a:t>интеллектуальная </a:t>
            </a:r>
            <a:r>
              <a:rPr lang="ru-RU" sz="2000" b="1" dirty="0" smtClean="0">
                <a:solidFill>
                  <a:srgbClr val="000000"/>
                </a:solidFill>
                <a:latin typeface="Times New Roman" pitchFamily="18" charset="0"/>
              </a:rPr>
              <a:t>периферия</a:t>
            </a:r>
          </a:p>
          <a:p>
            <a:pPr algn="just">
              <a:lnSpc>
                <a:spcPct val="50000"/>
              </a:lnSpc>
              <a:spcBef>
                <a:spcPct val="50000"/>
              </a:spcBef>
            </a:pPr>
            <a:r>
              <a:rPr lang="en-US" sz="2000" b="1" dirty="0" smtClean="0">
                <a:solidFill>
                  <a:srgbClr val="000000"/>
                </a:solidFill>
                <a:latin typeface="Times New Roman" pitchFamily="18" charset="0"/>
              </a:rPr>
              <a:t>SCP – </a:t>
            </a:r>
            <a:r>
              <a:rPr lang="ru-RU" sz="2000" b="1" dirty="0" smtClean="0">
                <a:solidFill>
                  <a:srgbClr val="000000"/>
                </a:solidFill>
                <a:latin typeface="Times New Roman" pitchFamily="18" charset="0"/>
              </a:rPr>
              <a:t>узел управления услугами</a:t>
            </a:r>
          </a:p>
          <a:p>
            <a:pPr algn="just">
              <a:lnSpc>
                <a:spcPct val="50000"/>
              </a:lnSpc>
              <a:spcBef>
                <a:spcPct val="50000"/>
              </a:spcBef>
            </a:pPr>
            <a:r>
              <a:rPr lang="en-US" sz="2000" b="1" dirty="0" smtClean="0">
                <a:solidFill>
                  <a:srgbClr val="000000"/>
                </a:solidFill>
                <a:latin typeface="Times New Roman" pitchFamily="18" charset="0"/>
              </a:rPr>
              <a:t>SSP </a:t>
            </a:r>
            <a:r>
              <a:rPr lang="ru-RU" sz="2000" b="1" dirty="0" smtClean="0">
                <a:solidFill>
                  <a:srgbClr val="000000"/>
                </a:solidFill>
                <a:latin typeface="Times New Roman" pitchFamily="18" charset="0"/>
              </a:rPr>
              <a:t> - узел коммутации услуг</a:t>
            </a:r>
          </a:p>
          <a:p>
            <a:pPr algn="just">
              <a:lnSpc>
                <a:spcPct val="50000"/>
              </a:lnSpc>
              <a:spcBef>
                <a:spcPct val="50000"/>
              </a:spcBef>
            </a:pPr>
            <a:r>
              <a:rPr lang="ru-RU" sz="2000" b="1" dirty="0" smtClean="0">
                <a:solidFill>
                  <a:srgbClr val="000000"/>
                </a:solidFill>
                <a:latin typeface="Times New Roman" pitchFamily="18" charset="0"/>
              </a:rPr>
              <a:t>О</a:t>
            </a:r>
            <a:r>
              <a:rPr lang="en-US" sz="2000" b="1" dirty="0" smtClean="0">
                <a:solidFill>
                  <a:srgbClr val="000000"/>
                </a:solidFill>
                <a:latin typeface="Times New Roman" pitchFamily="18" charset="0"/>
              </a:rPr>
              <a:t>S</a:t>
            </a:r>
            <a:r>
              <a:rPr lang="ru-RU" sz="2000" b="1" dirty="0" smtClean="0">
                <a:solidFill>
                  <a:srgbClr val="000000"/>
                </a:solidFill>
                <a:latin typeface="Times New Roman" pitchFamily="18" charset="0"/>
              </a:rPr>
              <a:t>   - система оперативного управления  </a:t>
            </a:r>
            <a:endParaRPr lang="ru-RU" sz="2000" b="1" dirty="0">
              <a:solidFill>
                <a:srgbClr val="000000"/>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52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68"/>
          <p:cNvSpPr>
            <a:spLocks noChangeShapeType="1"/>
          </p:cNvSpPr>
          <p:nvPr/>
        </p:nvSpPr>
        <p:spPr bwMode="auto">
          <a:xfrm flipV="1">
            <a:off x="4932363" y="2519363"/>
            <a:ext cx="46037" cy="622300"/>
          </a:xfrm>
          <a:prstGeom prst="line">
            <a:avLst/>
          </a:prstGeom>
          <a:noFill/>
          <a:ln w="63500">
            <a:solidFill>
              <a:srgbClr val="FF0000"/>
            </a:solidFill>
            <a:round/>
            <a:headEnd/>
            <a:tailEnd/>
          </a:ln>
        </p:spPr>
        <p:txBody>
          <a:bodyPr lIns="90000" tIns="46800" rIns="90000" bIns="46800">
            <a:spAutoFit/>
          </a:bodyPr>
          <a:lstStyle/>
          <a:p>
            <a:endParaRPr lang="ru-RU"/>
          </a:p>
        </p:txBody>
      </p:sp>
      <p:sp>
        <p:nvSpPr>
          <p:cNvPr id="380931" name="Rectangle 3"/>
          <p:cNvSpPr>
            <a:spLocks noGrp="1" noChangeArrowheads="1"/>
          </p:cNvSpPr>
          <p:nvPr>
            <p:ph type="title"/>
          </p:nvPr>
        </p:nvSpPr>
        <p:spPr>
          <a:xfrm>
            <a:off x="179512" y="260350"/>
            <a:ext cx="8929563" cy="1080418"/>
          </a:xfrm>
        </p:spPr>
        <p:txBody>
          <a:bodyPr>
            <a:normAutofit/>
          </a:bodyPr>
          <a:lstStyle/>
          <a:p>
            <a:pPr eaLnBrk="1" hangingPunct="1">
              <a:defRPr/>
            </a:pPr>
            <a:r>
              <a:rPr lang="ru-RU" altLang="ru-RU" sz="3600" b="1" dirty="0" smtClean="0">
                <a:solidFill>
                  <a:srgbClr val="002060"/>
                </a:solidFill>
              </a:rPr>
              <a:t>Предоставление интеллектуальных услуг</a:t>
            </a:r>
          </a:p>
        </p:txBody>
      </p:sp>
      <p:sp>
        <p:nvSpPr>
          <p:cNvPr id="39940" name="AutoShape 5"/>
          <p:cNvSpPr>
            <a:spLocks noChangeArrowheads="1"/>
          </p:cNvSpPr>
          <p:nvPr/>
        </p:nvSpPr>
        <p:spPr bwMode="auto">
          <a:xfrm>
            <a:off x="4708525" y="3013075"/>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9941" name="AutoShape 6"/>
          <p:cNvSpPr>
            <a:spLocks noChangeArrowheads="1"/>
          </p:cNvSpPr>
          <p:nvPr/>
        </p:nvSpPr>
        <p:spPr bwMode="auto">
          <a:xfrm>
            <a:off x="5554663"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9942" name="AutoShape 7"/>
          <p:cNvSpPr>
            <a:spLocks noChangeArrowheads="1"/>
          </p:cNvSpPr>
          <p:nvPr/>
        </p:nvSpPr>
        <p:spPr bwMode="auto">
          <a:xfrm>
            <a:off x="3248025"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9943" name="AutoShape 8"/>
          <p:cNvSpPr>
            <a:spLocks noChangeArrowheads="1"/>
          </p:cNvSpPr>
          <p:nvPr/>
        </p:nvSpPr>
        <p:spPr bwMode="auto">
          <a:xfrm>
            <a:off x="4978400"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9944" name="AutoShape 9"/>
          <p:cNvSpPr>
            <a:spLocks noChangeArrowheads="1"/>
          </p:cNvSpPr>
          <p:nvPr/>
        </p:nvSpPr>
        <p:spPr bwMode="auto">
          <a:xfrm>
            <a:off x="4400550"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9945" name="AutoShape 10"/>
          <p:cNvSpPr>
            <a:spLocks noChangeArrowheads="1"/>
          </p:cNvSpPr>
          <p:nvPr/>
        </p:nvSpPr>
        <p:spPr bwMode="auto">
          <a:xfrm>
            <a:off x="2582863" y="595788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46" name="AutoShape 11"/>
          <p:cNvSpPr>
            <a:spLocks noChangeArrowheads="1"/>
          </p:cNvSpPr>
          <p:nvPr/>
        </p:nvSpPr>
        <p:spPr bwMode="auto">
          <a:xfrm>
            <a:off x="3609975" y="58674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47" name="AutoShape 12"/>
          <p:cNvSpPr>
            <a:spLocks noChangeArrowheads="1"/>
          </p:cNvSpPr>
          <p:nvPr/>
        </p:nvSpPr>
        <p:spPr bwMode="auto">
          <a:xfrm>
            <a:off x="3303588" y="6272213"/>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48" name="AutoShape 13"/>
          <p:cNvSpPr>
            <a:spLocks noChangeArrowheads="1"/>
          </p:cNvSpPr>
          <p:nvPr/>
        </p:nvSpPr>
        <p:spPr bwMode="auto">
          <a:xfrm>
            <a:off x="3078163" y="591343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49" name="AutoShape 14"/>
          <p:cNvSpPr>
            <a:spLocks noChangeArrowheads="1"/>
          </p:cNvSpPr>
          <p:nvPr/>
        </p:nvSpPr>
        <p:spPr bwMode="auto">
          <a:xfrm>
            <a:off x="2413000" y="544353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0" name="AutoShape 15"/>
          <p:cNvSpPr>
            <a:spLocks noChangeArrowheads="1"/>
          </p:cNvSpPr>
          <p:nvPr/>
        </p:nvSpPr>
        <p:spPr bwMode="auto">
          <a:xfrm>
            <a:off x="3898900" y="62992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1" name="AutoShape 16"/>
          <p:cNvSpPr>
            <a:spLocks noChangeArrowheads="1"/>
          </p:cNvSpPr>
          <p:nvPr/>
        </p:nvSpPr>
        <p:spPr bwMode="auto">
          <a:xfrm>
            <a:off x="2268538" y="63627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2" name="AutoShape 17"/>
          <p:cNvSpPr>
            <a:spLocks noChangeArrowheads="1"/>
          </p:cNvSpPr>
          <p:nvPr/>
        </p:nvSpPr>
        <p:spPr bwMode="auto">
          <a:xfrm>
            <a:off x="2717800" y="631825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3" name="AutoShape 18"/>
          <p:cNvSpPr>
            <a:spLocks noChangeArrowheads="1"/>
          </p:cNvSpPr>
          <p:nvPr/>
        </p:nvSpPr>
        <p:spPr bwMode="auto">
          <a:xfrm>
            <a:off x="3122613" y="53721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4" name="AutoShape 19"/>
          <p:cNvSpPr>
            <a:spLocks noChangeArrowheads="1"/>
          </p:cNvSpPr>
          <p:nvPr/>
        </p:nvSpPr>
        <p:spPr bwMode="auto">
          <a:xfrm>
            <a:off x="3798888" y="532765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55" name="AutoShape 20"/>
          <p:cNvSpPr>
            <a:spLocks noChangeArrowheads="1"/>
          </p:cNvSpPr>
          <p:nvPr/>
        </p:nvSpPr>
        <p:spPr bwMode="auto">
          <a:xfrm>
            <a:off x="3824288"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pic>
        <p:nvPicPr>
          <p:cNvPr id="35860" name="Picture 21" descr="comp058"/>
          <p:cNvPicPr>
            <a:picLocks noChangeAspect="1" noChangeArrowheads="1"/>
          </p:cNvPicPr>
          <p:nvPr/>
        </p:nvPicPr>
        <p:blipFill>
          <a:blip r:embed="rId2" cstate="print"/>
          <a:srcRect/>
          <a:stretch>
            <a:fillRect/>
          </a:stretch>
        </p:blipFill>
        <p:spPr bwMode="auto">
          <a:xfrm>
            <a:off x="4752975" y="1844675"/>
            <a:ext cx="428625" cy="720725"/>
          </a:xfrm>
          <a:prstGeom prst="rect">
            <a:avLst/>
          </a:prstGeom>
          <a:noFill/>
          <a:ln w="9525">
            <a:noFill/>
            <a:miter lim="800000"/>
            <a:headEnd/>
            <a:tailEnd/>
          </a:ln>
        </p:spPr>
      </p:pic>
      <p:sp>
        <p:nvSpPr>
          <p:cNvPr id="39957" name="AutoShape 22"/>
          <p:cNvSpPr>
            <a:spLocks noChangeArrowheads="1"/>
          </p:cNvSpPr>
          <p:nvPr/>
        </p:nvSpPr>
        <p:spPr bwMode="auto">
          <a:xfrm>
            <a:off x="6148388" y="4229100"/>
            <a:ext cx="431800" cy="373063"/>
          </a:xfrm>
          <a:prstGeom prst="triangle">
            <a:avLst>
              <a:gd name="adj" fmla="val 69852"/>
            </a:avLst>
          </a:prstGeom>
          <a:solidFill>
            <a:srgbClr val="0000FF"/>
          </a:solidFill>
          <a:ln w="9525">
            <a:solidFill>
              <a:srgbClr val="0000FF"/>
            </a:solidFill>
            <a:miter lim="800000"/>
            <a:headEnd/>
            <a:tailEnd/>
          </a:ln>
          <a:effectLst>
            <a:outerShdw dist="85194" dir="1593903" algn="ctr" rotWithShape="0">
              <a:schemeClr val="bg2">
                <a:alpha val="50000"/>
              </a:schemeClr>
            </a:outerShdw>
          </a:effectLst>
        </p:spPr>
        <p:txBody>
          <a:bodyPr wrap="none" anchor="ctr"/>
          <a:lstStyle/>
          <a:p>
            <a:pPr eaLnBrk="1" hangingPunct="1">
              <a:defRPr/>
            </a:pPr>
            <a:endParaRPr lang="ru-RU"/>
          </a:p>
        </p:txBody>
      </p:sp>
      <p:sp>
        <p:nvSpPr>
          <p:cNvPr id="35862" name="Freeform 23"/>
          <p:cNvSpPr>
            <a:spLocks/>
          </p:cNvSpPr>
          <p:nvPr/>
        </p:nvSpPr>
        <p:spPr bwMode="auto">
          <a:xfrm>
            <a:off x="3538538" y="3375025"/>
            <a:ext cx="1306512" cy="855663"/>
          </a:xfrm>
          <a:custGeom>
            <a:avLst/>
            <a:gdLst>
              <a:gd name="T0" fmla="*/ 0 w 823"/>
              <a:gd name="T1" fmla="*/ 1358365588 h 539"/>
              <a:gd name="T2" fmla="*/ 1728826807 w 823"/>
              <a:gd name="T3" fmla="*/ 662802173 h 539"/>
              <a:gd name="T4" fmla="*/ 2071567824 w 823"/>
              <a:gd name="T5" fmla="*/ 0 h 539"/>
              <a:gd name="T6" fmla="*/ 0 60000 65536"/>
              <a:gd name="T7" fmla="*/ 0 60000 65536"/>
              <a:gd name="T8" fmla="*/ 0 60000 65536"/>
              <a:gd name="T9" fmla="*/ 0 w 823"/>
              <a:gd name="T10" fmla="*/ 0 h 539"/>
              <a:gd name="T11" fmla="*/ 823 w 823"/>
              <a:gd name="T12" fmla="*/ 539 h 539"/>
            </a:gdLst>
            <a:ahLst/>
            <a:cxnLst>
              <a:cxn ang="T6">
                <a:pos x="T0" y="T1"/>
              </a:cxn>
              <a:cxn ang="T7">
                <a:pos x="T2" y="T3"/>
              </a:cxn>
              <a:cxn ang="T8">
                <a:pos x="T4" y="T5"/>
              </a:cxn>
            </a:cxnLst>
            <a:rect l="T9" t="T10" r="T11" b="T12"/>
            <a:pathLst>
              <a:path w="823" h="539">
                <a:moveTo>
                  <a:pt x="0" y="539"/>
                </a:moveTo>
                <a:cubicBezTo>
                  <a:pt x="114" y="493"/>
                  <a:pt x="549" y="353"/>
                  <a:pt x="686" y="263"/>
                </a:cubicBezTo>
                <a:cubicBezTo>
                  <a:pt x="823" y="173"/>
                  <a:pt x="794" y="55"/>
                  <a:pt x="822" y="0"/>
                </a:cubicBezTo>
              </a:path>
            </a:pathLst>
          </a:custGeom>
          <a:noFill/>
          <a:ln w="2540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63" name="Freeform 24"/>
          <p:cNvSpPr>
            <a:spLocks/>
          </p:cNvSpPr>
          <p:nvPr/>
        </p:nvSpPr>
        <p:spPr bwMode="auto">
          <a:xfrm>
            <a:off x="4122738" y="3375025"/>
            <a:ext cx="765175" cy="855663"/>
          </a:xfrm>
          <a:custGeom>
            <a:avLst/>
            <a:gdLst>
              <a:gd name="T0" fmla="*/ 0 w 482"/>
              <a:gd name="T1" fmla="*/ 1358365588 h 539"/>
              <a:gd name="T2" fmla="*/ 997982019 w 482"/>
              <a:gd name="T3" fmla="*/ 647681234 h 539"/>
              <a:gd name="T4" fmla="*/ 1214715402 w 482"/>
              <a:gd name="T5" fmla="*/ 0 h 539"/>
              <a:gd name="T6" fmla="*/ 0 60000 65536"/>
              <a:gd name="T7" fmla="*/ 0 60000 65536"/>
              <a:gd name="T8" fmla="*/ 0 60000 65536"/>
              <a:gd name="T9" fmla="*/ 0 w 482"/>
              <a:gd name="T10" fmla="*/ 0 h 539"/>
              <a:gd name="T11" fmla="*/ 482 w 482"/>
              <a:gd name="T12" fmla="*/ 539 h 539"/>
            </a:gdLst>
            <a:ahLst/>
            <a:cxnLst>
              <a:cxn ang="T6">
                <a:pos x="T0" y="T1"/>
              </a:cxn>
              <a:cxn ang="T7">
                <a:pos x="T2" y="T3"/>
              </a:cxn>
              <a:cxn ang="T8">
                <a:pos x="T4" y="T5"/>
              </a:cxn>
            </a:cxnLst>
            <a:rect l="T9" t="T10" r="T11" b="T12"/>
            <a:pathLst>
              <a:path w="482" h="539">
                <a:moveTo>
                  <a:pt x="0" y="539"/>
                </a:moveTo>
                <a:cubicBezTo>
                  <a:pt x="66" y="492"/>
                  <a:pt x="316" y="347"/>
                  <a:pt x="396" y="257"/>
                </a:cubicBezTo>
                <a:cubicBezTo>
                  <a:pt x="476" y="167"/>
                  <a:pt x="464" y="54"/>
                  <a:pt x="482" y="0"/>
                </a:cubicBezTo>
              </a:path>
            </a:pathLst>
          </a:custGeom>
          <a:noFill/>
          <a:ln w="2540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64" name="Freeform 25"/>
          <p:cNvSpPr>
            <a:spLocks/>
          </p:cNvSpPr>
          <p:nvPr/>
        </p:nvSpPr>
        <p:spPr bwMode="auto">
          <a:xfrm>
            <a:off x="4708525" y="3375025"/>
            <a:ext cx="225425" cy="855663"/>
          </a:xfrm>
          <a:custGeom>
            <a:avLst/>
            <a:gdLst>
              <a:gd name="T0" fmla="*/ 0 w 142"/>
              <a:gd name="T1" fmla="*/ 1358365588 h 539"/>
              <a:gd name="T2" fmla="*/ 279738116 w 142"/>
              <a:gd name="T3" fmla="*/ 572076536 h 539"/>
              <a:gd name="T4" fmla="*/ 357862133 w 142"/>
              <a:gd name="T5" fmla="*/ 0 h 539"/>
              <a:gd name="T6" fmla="*/ 0 60000 65536"/>
              <a:gd name="T7" fmla="*/ 0 60000 65536"/>
              <a:gd name="T8" fmla="*/ 0 60000 65536"/>
              <a:gd name="T9" fmla="*/ 0 w 142"/>
              <a:gd name="T10" fmla="*/ 0 h 539"/>
              <a:gd name="T11" fmla="*/ 142 w 142"/>
              <a:gd name="T12" fmla="*/ 539 h 539"/>
            </a:gdLst>
            <a:ahLst/>
            <a:cxnLst>
              <a:cxn ang="T6">
                <a:pos x="T0" y="T1"/>
              </a:cxn>
              <a:cxn ang="T7">
                <a:pos x="T2" y="T3"/>
              </a:cxn>
              <a:cxn ang="T8">
                <a:pos x="T4" y="T5"/>
              </a:cxn>
            </a:cxnLst>
            <a:rect l="T9" t="T10" r="T11" b="T12"/>
            <a:pathLst>
              <a:path w="142" h="539">
                <a:moveTo>
                  <a:pt x="0" y="539"/>
                </a:moveTo>
                <a:cubicBezTo>
                  <a:pt x="18" y="487"/>
                  <a:pt x="87" y="317"/>
                  <a:pt x="111" y="227"/>
                </a:cubicBezTo>
                <a:cubicBezTo>
                  <a:pt x="135" y="137"/>
                  <a:pt x="136" y="47"/>
                  <a:pt x="142" y="0"/>
                </a:cubicBezTo>
              </a:path>
            </a:pathLst>
          </a:custGeom>
          <a:noFill/>
          <a:ln w="2540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65" name="Freeform 26"/>
          <p:cNvSpPr>
            <a:spLocks/>
          </p:cNvSpPr>
          <p:nvPr/>
        </p:nvSpPr>
        <p:spPr bwMode="auto">
          <a:xfrm>
            <a:off x="4964113" y="3375025"/>
            <a:ext cx="284162" cy="855663"/>
          </a:xfrm>
          <a:custGeom>
            <a:avLst/>
            <a:gdLst>
              <a:gd name="T0" fmla="*/ 451106426 w 179"/>
              <a:gd name="T1" fmla="*/ 1358365588 h 539"/>
              <a:gd name="T2" fmla="*/ 70564252 w 179"/>
              <a:gd name="T3" fmla="*/ 526713718 h 539"/>
              <a:gd name="T4" fmla="*/ 22680571 w 179"/>
              <a:gd name="T5" fmla="*/ 0 h 539"/>
              <a:gd name="T6" fmla="*/ 0 60000 65536"/>
              <a:gd name="T7" fmla="*/ 0 60000 65536"/>
              <a:gd name="T8" fmla="*/ 0 60000 65536"/>
              <a:gd name="T9" fmla="*/ 0 w 179"/>
              <a:gd name="T10" fmla="*/ 0 h 539"/>
              <a:gd name="T11" fmla="*/ 179 w 179"/>
              <a:gd name="T12" fmla="*/ 539 h 539"/>
            </a:gdLst>
            <a:ahLst/>
            <a:cxnLst>
              <a:cxn ang="T6">
                <a:pos x="T0" y="T1"/>
              </a:cxn>
              <a:cxn ang="T7">
                <a:pos x="T2" y="T3"/>
              </a:cxn>
              <a:cxn ang="T8">
                <a:pos x="T4" y="T5"/>
              </a:cxn>
            </a:cxnLst>
            <a:rect l="T9" t="T10" r="T11" b="T12"/>
            <a:pathLst>
              <a:path w="179" h="539">
                <a:moveTo>
                  <a:pt x="179" y="539"/>
                </a:moveTo>
                <a:cubicBezTo>
                  <a:pt x="154" y="484"/>
                  <a:pt x="56" y="299"/>
                  <a:pt x="28" y="209"/>
                </a:cubicBezTo>
                <a:cubicBezTo>
                  <a:pt x="0" y="119"/>
                  <a:pt x="13" y="44"/>
                  <a:pt x="9" y="0"/>
                </a:cubicBezTo>
              </a:path>
            </a:pathLst>
          </a:custGeom>
          <a:noFill/>
          <a:ln w="2540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66" name="Freeform 27"/>
          <p:cNvSpPr>
            <a:spLocks/>
          </p:cNvSpPr>
          <p:nvPr/>
        </p:nvSpPr>
        <p:spPr bwMode="auto">
          <a:xfrm>
            <a:off x="4997450" y="3375025"/>
            <a:ext cx="838200" cy="855663"/>
          </a:xfrm>
          <a:custGeom>
            <a:avLst/>
            <a:gdLst>
              <a:gd name="T0" fmla="*/ 1330642282 w 528"/>
              <a:gd name="T1" fmla="*/ 1358365588 h 539"/>
              <a:gd name="T2" fmla="*/ 214214075 w 528"/>
              <a:gd name="T3" fmla="*/ 556955597 h 539"/>
              <a:gd name="T4" fmla="*/ 42843443 w 528"/>
              <a:gd name="T5" fmla="*/ 0 h 539"/>
              <a:gd name="T6" fmla="*/ 0 60000 65536"/>
              <a:gd name="T7" fmla="*/ 0 60000 65536"/>
              <a:gd name="T8" fmla="*/ 0 60000 65536"/>
              <a:gd name="T9" fmla="*/ 0 w 528"/>
              <a:gd name="T10" fmla="*/ 0 h 539"/>
              <a:gd name="T11" fmla="*/ 528 w 528"/>
              <a:gd name="T12" fmla="*/ 539 h 539"/>
            </a:gdLst>
            <a:ahLst/>
            <a:cxnLst>
              <a:cxn ang="T6">
                <a:pos x="T0" y="T1"/>
              </a:cxn>
              <a:cxn ang="T7">
                <a:pos x="T2" y="T3"/>
              </a:cxn>
              <a:cxn ang="T8">
                <a:pos x="T4" y="T5"/>
              </a:cxn>
            </a:cxnLst>
            <a:rect l="T9" t="T10" r="T11" b="T12"/>
            <a:pathLst>
              <a:path w="528" h="539">
                <a:moveTo>
                  <a:pt x="528" y="539"/>
                </a:moveTo>
                <a:cubicBezTo>
                  <a:pt x="454" y="486"/>
                  <a:pt x="170" y="311"/>
                  <a:pt x="85" y="221"/>
                </a:cubicBezTo>
                <a:cubicBezTo>
                  <a:pt x="0" y="131"/>
                  <a:pt x="31" y="46"/>
                  <a:pt x="17" y="0"/>
                </a:cubicBezTo>
              </a:path>
            </a:pathLst>
          </a:custGeom>
          <a:noFill/>
          <a:ln w="2540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67" name="Freeform 28"/>
          <p:cNvSpPr>
            <a:spLocks/>
          </p:cNvSpPr>
          <p:nvPr/>
        </p:nvSpPr>
        <p:spPr bwMode="auto">
          <a:xfrm>
            <a:off x="5032375" y="3375025"/>
            <a:ext cx="1385888" cy="900113"/>
          </a:xfrm>
          <a:custGeom>
            <a:avLst/>
            <a:gdLst>
              <a:gd name="T0" fmla="*/ 2147483647 w 873"/>
              <a:gd name="T1" fmla="*/ 1428929963 h 567"/>
              <a:gd name="T2" fmla="*/ 355342953 w 873"/>
              <a:gd name="T3" fmla="*/ 541834654 h 567"/>
              <a:gd name="T4" fmla="*/ 57964417 w 873"/>
              <a:gd name="T5" fmla="*/ 0 h 567"/>
              <a:gd name="T6" fmla="*/ 0 60000 65536"/>
              <a:gd name="T7" fmla="*/ 0 60000 65536"/>
              <a:gd name="T8" fmla="*/ 0 60000 65536"/>
              <a:gd name="T9" fmla="*/ 0 w 873"/>
              <a:gd name="T10" fmla="*/ 0 h 567"/>
              <a:gd name="T11" fmla="*/ 873 w 873"/>
              <a:gd name="T12" fmla="*/ 567 h 567"/>
            </a:gdLst>
            <a:ahLst/>
            <a:cxnLst>
              <a:cxn ang="T6">
                <a:pos x="T0" y="T1"/>
              </a:cxn>
              <a:cxn ang="T7">
                <a:pos x="T2" y="T3"/>
              </a:cxn>
              <a:cxn ang="T8">
                <a:pos x="T4" y="T5"/>
              </a:cxn>
            </a:cxnLst>
            <a:rect l="T9" t="T10" r="T11" b="T12"/>
            <a:pathLst>
              <a:path w="873" h="567">
                <a:moveTo>
                  <a:pt x="873" y="567"/>
                </a:moveTo>
                <a:cubicBezTo>
                  <a:pt x="751" y="508"/>
                  <a:pt x="282" y="309"/>
                  <a:pt x="141" y="215"/>
                </a:cubicBezTo>
                <a:cubicBezTo>
                  <a:pt x="0" y="121"/>
                  <a:pt x="48" y="45"/>
                  <a:pt x="23" y="0"/>
                </a:cubicBezTo>
              </a:path>
            </a:pathLst>
          </a:custGeom>
          <a:noFill/>
          <a:ln w="2540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68" name="Oval 29"/>
          <p:cNvSpPr>
            <a:spLocks noChangeArrowheads="1"/>
          </p:cNvSpPr>
          <p:nvPr/>
        </p:nvSpPr>
        <p:spPr bwMode="auto">
          <a:xfrm>
            <a:off x="3627438" y="4092575"/>
            <a:ext cx="404812"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69" name="Oval 30"/>
          <p:cNvSpPr>
            <a:spLocks noChangeArrowheads="1"/>
          </p:cNvSpPr>
          <p:nvPr/>
        </p:nvSpPr>
        <p:spPr bwMode="auto">
          <a:xfrm>
            <a:off x="4527550" y="4092575"/>
            <a:ext cx="404813"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70" name="Oval 31"/>
          <p:cNvSpPr>
            <a:spLocks noChangeArrowheads="1"/>
          </p:cNvSpPr>
          <p:nvPr/>
        </p:nvSpPr>
        <p:spPr bwMode="auto">
          <a:xfrm>
            <a:off x="4573588" y="3463925"/>
            <a:ext cx="765175" cy="88900"/>
          </a:xfrm>
          <a:prstGeom prst="ellipse">
            <a:avLst/>
          </a:prstGeom>
          <a:noFill/>
          <a:ln w="25400">
            <a:solidFill>
              <a:schemeClr val="tx1"/>
            </a:solidFill>
            <a:round/>
            <a:headEnd/>
            <a:tailEnd/>
          </a:ln>
        </p:spPr>
        <p:txBody>
          <a:bodyPr lIns="90000" tIns="46800" rIns="90000" bIns="46800" anchor="ctr">
            <a:spAutoFit/>
          </a:bodyPr>
          <a:lstStyle/>
          <a:p>
            <a:pPr eaLnBrk="1" hangingPunct="1"/>
            <a:endParaRPr lang="ru-RU"/>
          </a:p>
        </p:txBody>
      </p:sp>
      <p:sp>
        <p:nvSpPr>
          <p:cNvPr id="35871" name="Oval 32"/>
          <p:cNvSpPr>
            <a:spLocks noChangeArrowheads="1"/>
          </p:cNvSpPr>
          <p:nvPr/>
        </p:nvSpPr>
        <p:spPr bwMode="auto">
          <a:xfrm>
            <a:off x="4078288" y="4092575"/>
            <a:ext cx="404812"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72" name="Oval 33"/>
          <p:cNvSpPr>
            <a:spLocks noChangeArrowheads="1"/>
          </p:cNvSpPr>
          <p:nvPr/>
        </p:nvSpPr>
        <p:spPr bwMode="auto">
          <a:xfrm>
            <a:off x="4978400" y="4092575"/>
            <a:ext cx="404813"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73" name="Oval 34"/>
          <p:cNvSpPr>
            <a:spLocks noChangeArrowheads="1"/>
          </p:cNvSpPr>
          <p:nvPr/>
        </p:nvSpPr>
        <p:spPr bwMode="auto">
          <a:xfrm>
            <a:off x="5473700" y="4092575"/>
            <a:ext cx="404813"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74" name="Oval 35"/>
          <p:cNvSpPr>
            <a:spLocks noChangeArrowheads="1"/>
          </p:cNvSpPr>
          <p:nvPr/>
        </p:nvSpPr>
        <p:spPr bwMode="auto">
          <a:xfrm>
            <a:off x="5922963" y="4092575"/>
            <a:ext cx="404812" cy="46038"/>
          </a:xfrm>
          <a:prstGeom prst="ellipse">
            <a:avLst/>
          </a:prstGeom>
          <a:noFill/>
          <a:ln w="9525">
            <a:solidFill>
              <a:schemeClr val="tx1"/>
            </a:solidFill>
            <a:round/>
            <a:headEnd/>
            <a:tailEnd/>
          </a:ln>
        </p:spPr>
        <p:txBody>
          <a:bodyPr lIns="90000" tIns="46800" rIns="90000" bIns="46800" anchor="ctr">
            <a:spAutoFit/>
          </a:bodyPr>
          <a:lstStyle/>
          <a:p>
            <a:pPr eaLnBrk="1" hangingPunct="1"/>
            <a:endParaRPr lang="ru-RU"/>
          </a:p>
        </p:txBody>
      </p:sp>
      <p:sp>
        <p:nvSpPr>
          <p:cNvPr id="35875" name="Freeform 36"/>
          <p:cNvSpPr>
            <a:spLocks/>
          </p:cNvSpPr>
          <p:nvPr/>
        </p:nvSpPr>
        <p:spPr bwMode="auto">
          <a:xfrm>
            <a:off x="2638425" y="4589463"/>
            <a:ext cx="630238" cy="854075"/>
          </a:xfrm>
          <a:custGeom>
            <a:avLst/>
            <a:gdLst>
              <a:gd name="T0" fmla="*/ 0 w 397"/>
              <a:gd name="T1" fmla="*/ 1355843844 h 538"/>
              <a:gd name="T2" fmla="*/ 826611850 w 397"/>
              <a:gd name="T3" fmla="*/ 630038975 h 538"/>
              <a:gd name="T4" fmla="*/ 1000503708 w 397"/>
              <a:gd name="T5" fmla="*/ 0 h 538"/>
              <a:gd name="T6" fmla="*/ 0 60000 65536"/>
              <a:gd name="T7" fmla="*/ 0 60000 65536"/>
              <a:gd name="T8" fmla="*/ 0 60000 65536"/>
              <a:gd name="T9" fmla="*/ 0 w 397"/>
              <a:gd name="T10" fmla="*/ 0 h 538"/>
              <a:gd name="T11" fmla="*/ 397 w 397"/>
              <a:gd name="T12" fmla="*/ 538 h 538"/>
            </a:gdLst>
            <a:ahLst/>
            <a:cxnLst>
              <a:cxn ang="T6">
                <a:pos x="T0" y="T1"/>
              </a:cxn>
              <a:cxn ang="T7">
                <a:pos x="T2" y="T3"/>
              </a:cxn>
              <a:cxn ang="T8">
                <a:pos x="T4" y="T5"/>
              </a:cxn>
            </a:cxnLst>
            <a:rect l="T9" t="T10" r="T11" b="T12"/>
            <a:pathLst>
              <a:path w="397" h="538">
                <a:moveTo>
                  <a:pt x="0" y="538"/>
                </a:moveTo>
                <a:cubicBezTo>
                  <a:pt x="55" y="490"/>
                  <a:pt x="262" y="340"/>
                  <a:pt x="328" y="250"/>
                </a:cubicBezTo>
                <a:cubicBezTo>
                  <a:pt x="394" y="160"/>
                  <a:pt x="383" y="52"/>
                  <a:pt x="397" y="0"/>
                </a:cubicBezTo>
              </a:path>
            </a:pathLst>
          </a:custGeom>
          <a:noFill/>
          <a:ln w="1905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76" name="Freeform 37"/>
          <p:cNvSpPr>
            <a:spLocks/>
          </p:cNvSpPr>
          <p:nvPr/>
        </p:nvSpPr>
        <p:spPr bwMode="auto">
          <a:xfrm>
            <a:off x="2457450" y="4589463"/>
            <a:ext cx="882650" cy="1800225"/>
          </a:xfrm>
          <a:custGeom>
            <a:avLst/>
            <a:gdLst>
              <a:gd name="T0" fmla="*/ 0 w 556"/>
              <a:gd name="T1" fmla="*/ 2147483647 h 1134"/>
              <a:gd name="T2" fmla="*/ 1174392694 w 556"/>
              <a:gd name="T3" fmla="*/ 720764576 h 1134"/>
              <a:gd name="T4" fmla="*/ 1358364813 w 556"/>
              <a:gd name="T5" fmla="*/ 0 h 1134"/>
              <a:gd name="T6" fmla="*/ 0 60000 65536"/>
              <a:gd name="T7" fmla="*/ 0 60000 65536"/>
              <a:gd name="T8" fmla="*/ 0 60000 65536"/>
              <a:gd name="T9" fmla="*/ 0 w 556"/>
              <a:gd name="T10" fmla="*/ 0 h 1134"/>
              <a:gd name="T11" fmla="*/ 556 w 556"/>
              <a:gd name="T12" fmla="*/ 1134 h 1134"/>
            </a:gdLst>
            <a:ahLst/>
            <a:cxnLst>
              <a:cxn ang="T6">
                <a:pos x="T0" y="T1"/>
              </a:cxn>
              <a:cxn ang="T7">
                <a:pos x="T2" y="T3"/>
              </a:cxn>
              <a:cxn ang="T8">
                <a:pos x="T4" y="T5"/>
              </a:cxn>
            </a:cxnLst>
            <a:rect l="T9" t="T10" r="T11" b="T12"/>
            <a:pathLst>
              <a:path w="556" h="1134">
                <a:moveTo>
                  <a:pt x="0" y="1134"/>
                </a:moveTo>
                <a:cubicBezTo>
                  <a:pt x="78" y="993"/>
                  <a:pt x="376" y="475"/>
                  <a:pt x="466" y="286"/>
                </a:cubicBezTo>
                <a:cubicBezTo>
                  <a:pt x="556" y="97"/>
                  <a:pt x="524" y="60"/>
                  <a:pt x="53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77" name="Freeform 38"/>
          <p:cNvSpPr>
            <a:spLocks/>
          </p:cNvSpPr>
          <p:nvPr/>
        </p:nvSpPr>
        <p:spPr bwMode="auto">
          <a:xfrm>
            <a:off x="2773363" y="4589463"/>
            <a:ext cx="584200" cy="1393825"/>
          </a:xfrm>
          <a:custGeom>
            <a:avLst/>
            <a:gdLst>
              <a:gd name="T0" fmla="*/ 0 w 368"/>
              <a:gd name="T1" fmla="*/ 2147483647 h 878"/>
              <a:gd name="T2" fmla="*/ 748487150 w 368"/>
              <a:gd name="T3" fmla="*/ 932457950 h 878"/>
              <a:gd name="T4" fmla="*/ 927417589 w 368"/>
              <a:gd name="T5" fmla="*/ 0 h 878"/>
              <a:gd name="T6" fmla="*/ 0 60000 65536"/>
              <a:gd name="T7" fmla="*/ 0 60000 65536"/>
              <a:gd name="T8" fmla="*/ 0 60000 65536"/>
              <a:gd name="T9" fmla="*/ 0 w 368"/>
              <a:gd name="T10" fmla="*/ 0 h 878"/>
              <a:gd name="T11" fmla="*/ 368 w 368"/>
              <a:gd name="T12" fmla="*/ 878 h 878"/>
            </a:gdLst>
            <a:ahLst/>
            <a:cxnLst>
              <a:cxn ang="T6">
                <a:pos x="T0" y="T1"/>
              </a:cxn>
              <a:cxn ang="T7">
                <a:pos x="T2" y="T3"/>
              </a:cxn>
              <a:cxn ang="T8">
                <a:pos x="T4" y="T5"/>
              </a:cxn>
            </a:cxnLst>
            <a:rect l="T9" t="T10" r="T11" b="T12"/>
            <a:pathLst>
              <a:path w="368" h="878">
                <a:moveTo>
                  <a:pt x="0" y="878"/>
                </a:moveTo>
                <a:cubicBezTo>
                  <a:pt x="49" y="793"/>
                  <a:pt x="236" y="516"/>
                  <a:pt x="297" y="370"/>
                </a:cubicBezTo>
                <a:cubicBezTo>
                  <a:pt x="358" y="224"/>
                  <a:pt x="353" y="77"/>
                  <a:pt x="368" y="0"/>
                </a:cubicBezTo>
              </a:path>
            </a:pathLst>
          </a:custGeom>
          <a:noFill/>
          <a:ln w="1905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78" name="Freeform 39"/>
          <p:cNvSpPr>
            <a:spLocks/>
          </p:cNvSpPr>
          <p:nvPr/>
        </p:nvSpPr>
        <p:spPr bwMode="auto">
          <a:xfrm>
            <a:off x="2908300" y="4591050"/>
            <a:ext cx="495300" cy="1709738"/>
          </a:xfrm>
          <a:custGeom>
            <a:avLst/>
            <a:gdLst>
              <a:gd name="T0" fmla="*/ 0 w 312"/>
              <a:gd name="T1" fmla="*/ 2147483647 h 1077"/>
              <a:gd name="T2" fmla="*/ 655240567 w 312"/>
              <a:gd name="T3" fmla="*/ 960180567 h 1077"/>
              <a:gd name="T4" fmla="*/ 786288641 w 312"/>
              <a:gd name="T5" fmla="*/ 0 h 1077"/>
              <a:gd name="T6" fmla="*/ 0 60000 65536"/>
              <a:gd name="T7" fmla="*/ 0 60000 65536"/>
              <a:gd name="T8" fmla="*/ 0 60000 65536"/>
              <a:gd name="T9" fmla="*/ 0 w 312"/>
              <a:gd name="T10" fmla="*/ 0 h 1077"/>
              <a:gd name="T11" fmla="*/ 312 w 312"/>
              <a:gd name="T12" fmla="*/ 1077 h 1077"/>
            </a:gdLst>
            <a:ahLst/>
            <a:cxnLst>
              <a:cxn ang="T6">
                <a:pos x="T0" y="T1"/>
              </a:cxn>
              <a:cxn ang="T7">
                <a:pos x="T2" y="T3"/>
              </a:cxn>
              <a:cxn ang="T8">
                <a:pos x="T4" y="T5"/>
              </a:cxn>
            </a:cxnLst>
            <a:rect l="T9" t="T10" r="T11" b="T12"/>
            <a:pathLst>
              <a:path w="312" h="1077">
                <a:moveTo>
                  <a:pt x="0" y="1077"/>
                </a:moveTo>
                <a:cubicBezTo>
                  <a:pt x="43" y="961"/>
                  <a:pt x="208" y="560"/>
                  <a:pt x="260" y="381"/>
                </a:cubicBezTo>
                <a:cubicBezTo>
                  <a:pt x="312" y="202"/>
                  <a:pt x="301" y="79"/>
                  <a:pt x="312"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79" name="Freeform 40"/>
          <p:cNvSpPr>
            <a:spLocks/>
          </p:cNvSpPr>
          <p:nvPr/>
        </p:nvSpPr>
        <p:spPr bwMode="auto">
          <a:xfrm>
            <a:off x="3313113" y="4589463"/>
            <a:ext cx="134937" cy="809625"/>
          </a:xfrm>
          <a:custGeom>
            <a:avLst/>
            <a:gdLst>
              <a:gd name="T0" fmla="*/ 0 w 85"/>
              <a:gd name="T1" fmla="*/ 1285279777 h 510"/>
              <a:gd name="T2" fmla="*/ 163808746 w 85"/>
              <a:gd name="T3" fmla="*/ 690522846 h 510"/>
              <a:gd name="T4" fmla="*/ 214211716 w 85"/>
              <a:gd name="T5" fmla="*/ 0 h 510"/>
              <a:gd name="T6" fmla="*/ 0 60000 65536"/>
              <a:gd name="T7" fmla="*/ 0 60000 65536"/>
              <a:gd name="T8" fmla="*/ 0 60000 65536"/>
              <a:gd name="T9" fmla="*/ 0 w 85"/>
              <a:gd name="T10" fmla="*/ 0 h 510"/>
              <a:gd name="T11" fmla="*/ 85 w 85"/>
              <a:gd name="T12" fmla="*/ 510 h 510"/>
            </a:gdLst>
            <a:ahLst/>
            <a:cxnLst>
              <a:cxn ang="T6">
                <a:pos x="T0" y="T1"/>
              </a:cxn>
              <a:cxn ang="T7">
                <a:pos x="T2" y="T3"/>
              </a:cxn>
              <a:cxn ang="T8">
                <a:pos x="T4" y="T5"/>
              </a:cxn>
            </a:cxnLst>
            <a:rect l="T9" t="T10" r="T11" b="T12"/>
            <a:pathLst>
              <a:path w="85" h="510">
                <a:moveTo>
                  <a:pt x="0" y="510"/>
                </a:moveTo>
                <a:cubicBezTo>
                  <a:pt x="11" y="471"/>
                  <a:pt x="51" y="359"/>
                  <a:pt x="65" y="274"/>
                </a:cubicBezTo>
                <a:cubicBezTo>
                  <a:pt x="79" y="189"/>
                  <a:pt x="81" y="57"/>
                  <a:pt x="85"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80" name="Freeform 41"/>
          <p:cNvSpPr>
            <a:spLocks/>
          </p:cNvSpPr>
          <p:nvPr/>
        </p:nvSpPr>
        <p:spPr bwMode="auto">
          <a:xfrm>
            <a:off x="3268663" y="4589463"/>
            <a:ext cx="223837" cy="1349375"/>
          </a:xfrm>
          <a:custGeom>
            <a:avLst/>
            <a:gdLst>
              <a:gd name="T0" fmla="*/ 0 w 141"/>
              <a:gd name="T1" fmla="*/ 2142132991 h 850"/>
              <a:gd name="T2" fmla="*/ 294856800 w 141"/>
              <a:gd name="T3" fmla="*/ 796369345 h 850"/>
              <a:gd name="T4" fmla="*/ 355340389 w 141"/>
              <a:gd name="T5" fmla="*/ 0 h 850"/>
              <a:gd name="T6" fmla="*/ 0 60000 65536"/>
              <a:gd name="T7" fmla="*/ 0 60000 65536"/>
              <a:gd name="T8" fmla="*/ 0 60000 65536"/>
              <a:gd name="T9" fmla="*/ 0 w 141"/>
              <a:gd name="T10" fmla="*/ 0 h 850"/>
              <a:gd name="T11" fmla="*/ 141 w 141"/>
              <a:gd name="T12" fmla="*/ 850 h 850"/>
            </a:gdLst>
            <a:ahLst/>
            <a:cxnLst>
              <a:cxn ang="T6">
                <a:pos x="T0" y="T1"/>
              </a:cxn>
              <a:cxn ang="T7">
                <a:pos x="T2" y="T3"/>
              </a:cxn>
              <a:cxn ang="T8">
                <a:pos x="T4" y="T5"/>
              </a:cxn>
            </a:cxnLst>
            <a:rect l="T9" t="T10" r="T11" b="T12"/>
            <a:pathLst>
              <a:path w="141" h="850">
                <a:moveTo>
                  <a:pt x="0" y="850"/>
                </a:moveTo>
                <a:cubicBezTo>
                  <a:pt x="19" y="761"/>
                  <a:pt x="94" y="458"/>
                  <a:pt x="117" y="316"/>
                </a:cubicBezTo>
                <a:cubicBezTo>
                  <a:pt x="140" y="174"/>
                  <a:pt x="136" y="66"/>
                  <a:pt x="141"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81" name="Freeform 42"/>
          <p:cNvSpPr>
            <a:spLocks/>
          </p:cNvSpPr>
          <p:nvPr/>
        </p:nvSpPr>
        <p:spPr bwMode="auto">
          <a:xfrm>
            <a:off x="3492500" y="4591050"/>
            <a:ext cx="46038" cy="1665288"/>
          </a:xfrm>
          <a:custGeom>
            <a:avLst/>
            <a:gdLst>
              <a:gd name="T0" fmla="*/ 0 w 29"/>
              <a:gd name="T1" fmla="*/ 2147483647 h 1049"/>
              <a:gd name="T2" fmla="*/ 60484416 w 29"/>
              <a:gd name="T3" fmla="*/ 597277925 h 1049"/>
              <a:gd name="T4" fmla="*/ 73086124 w 29"/>
              <a:gd name="T5" fmla="*/ 0 h 1049"/>
              <a:gd name="T6" fmla="*/ 0 60000 65536"/>
              <a:gd name="T7" fmla="*/ 0 60000 65536"/>
              <a:gd name="T8" fmla="*/ 0 60000 65536"/>
              <a:gd name="T9" fmla="*/ 0 w 29"/>
              <a:gd name="T10" fmla="*/ 0 h 1049"/>
              <a:gd name="T11" fmla="*/ 29 w 29"/>
              <a:gd name="T12" fmla="*/ 1049 h 1049"/>
            </a:gdLst>
            <a:ahLst/>
            <a:cxnLst>
              <a:cxn ang="T6">
                <a:pos x="T0" y="T1"/>
              </a:cxn>
              <a:cxn ang="T7">
                <a:pos x="T2" y="T3"/>
              </a:cxn>
              <a:cxn ang="T8">
                <a:pos x="T4" y="T5"/>
              </a:cxn>
            </a:cxnLst>
            <a:rect l="T9" t="T10" r="T11" b="T12"/>
            <a:pathLst>
              <a:path w="29" h="1049">
                <a:moveTo>
                  <a:pt x="0" y="1049"/>
                </a:moveTo>
                <a:cubicBezTo>
                  <a:pt x="4" y="914"/>
                  <a:pt x="19" y="412"/>
                  <a:pt x="24" y="237"/>
                </a:cubicBezTo>
                <a:cubicBezTo>
                  <a:pt x="29" y="62"/>
                  <a:pt x="28" y="49"/>
                  <a:pt x="2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82" name="Freeform 43"/>
          <p:cNvSpPr>
            <a:spLocks/>
          </p:cNvSpPr>
          <p:nvPr/>
        </p:nvSpPr>
        <p:spPr bwMode="auto">
          <a:xfrm>
            <a:off x="3568700" y="4589463"/>
            <a:ext cx="239713" cy="1304925"/>
          </a:xfrm>
          <a:custGeom>
            <a:avLst/>
            <a:gdLst>
              <a:gd name="T0" fmla="*/ 380545127 w 151"/>
              <a:gd name="T1" fmla="*/ 2071568616 h 822"/>
              <a:gd name="T2" fmla="*/ 60483877 w 151"/>
              <a:gd name="T3" fmla="*/ 645160007 h 822"/>
              <a:gd name="T4" fmla="*/ 22682244 w 151"/>
              <a:gd name="T5" fmla="*/ 0 h 822"/>
              <a:gd name="T6" fmla="*/ 0 60000 65536"/>
              <a:gd name="T7" fmla="*/ 0 60000 65536"/>
              <a:gd name="T8" fmla="*/ 0 60000 65536"/>
              <a:gd name="T9" fmla="*/ 0 w 151"/>
              <a:gd name="T10" fmla="*/ 0 h 822"/>
              <a:gd name="T11" fmla="*/ 151 w 151"/>
              <a:gd name="T12" fmla="*/ 822 h 822"/>
            </a:gdLst>
            <a:ahLst/>
            <a:cxnLst>
              <a:cxn ang="T6">
                <a:pos x="T0" y="T1"/>
              </a:cxn>
              <a:cxn ang="T7">
                <a:pos x="T2" y="T3"/>
              </a:cxn>
              <a:cxn ang="T8">
                <a:pos x="T4" y="T5"/>
              </a:cxn>
            </a:cxnLst>
            <a:rect l="T9" t="T10" r="T11" b="T12"/>
            <a:pathLst>
              <a:path w="151" h="822">
                <a:moveTo>
                  <a:pt x="151" y="822"/>
                </a:moveTo>
                <a:cubicBezTo>
                  <a:pt x="130" y="728"/>
                  <a:pt x="48" y="393"/>
                  <a:pt x="24" y="256"/>
                </a:cubicBezTo>
                <a:cubicBezTo>
                  <a:pt x="0" y="119"/>
                  <a:pt x="12" y="53"/>
                  <a:pt x="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83" name="Freeform 44"/>
          <p:cNvSpPr>
            <a:spLocks/>
          </p:cNvSpPr>
          <p:nvPr/>
        </p:nvSpPr>
        <p:spPr bwMode="auto">
          <a:xfrm>
            <a:off x="3598863" y="4591050"/>
            <a:ext cx="481012" cy="1709738"/>
          </a:xfrm>
          <a:custGeom>
            <a:avLst/>
            <a:gdLst>
              <a:gd name="T0" fmla="*/ 763605647 w 303"/>
              <a:gd name="T1" fmla="*/ 2147483647 h 1077"/>
              <a:gd name="T2" fmla="*/ 118446429 w 303"/>
              <a:gd name="T3" fmla="*/ 718245408 h 1077"/>
              <a:gd name="T4" fmla="*/ 50403065 w 303"/>
              <a:gd name="T5" fmla="*/ 0 h 1077"/>
              <a:gd name="T6" fmla="*/ 0 60000 65536"/>
              <a:gd name="T7" fmla="*/ 0 60000 65536"/>
              <a:gd name="T8" fmla="*/ 0 60000 65536"/>
              <a:gd name="T9" fmla="*/ 0 w 303"/>
              <a:gd name="T10" fmla="*/ 0 h 1077"/>
              <a:gd name="T11" fmla="*/ 303 w 303"/>
              <a:gd name="T12" fmla="*/ 1077 h 1077"/>
            </a:gdLst>
            <a:ahLst/>
            <a:cxnLst>
              <a:cxn ang="T6">
                <a:pos x="T0" y="T1"/>
              </a:cxn>
              <a:cxn ang="T7">
                <a:pos x="T2" y="T3"/>
              </a:cxn>
              <a:cxn ang="T8">
                <a:pos x="T4" y="T5"/>
              </a:cxn>
            </a:cxnLst>
            <a:rect l="T9" t="T10" r="T11" b="T12"/>
            <a:pathLst>
              <a:path w="303" h="1077">
                <a:moveTo>
                  <a:pt x="303" y="1077"/>
                </a:moveTo>
                <a:cubicBezTo>
                  <a:pt x="260" y="945"/>
                  <a:pt x="94" y="464"/>
                  <a:pt x="47" y="285"/>
                </a:cubicBezTo>
                <a:cubicBezTo>
                  <a:pt x="0" y="106"/>
                  <a:pt x="26" y="59"/>
                  <a:pt x="20"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84" name="Freeform 45"/>
          <p:cNvSpPr>
            <a:spLocks/>
          </p:cNvSpPr>
          <p:nvPr/>
        </p:nvSpPr>
        <p:spPr bwMode="auto">
          <a:xfrm>
            <a:off x="3668713" y="4589463"/>
            <a:ext cx="319087" cy="765175"/>
          </a:xfrm>
          <a:custGeom>
            <a:avLst/>
            <a:gdLst>
              <a:gd name="T0" fmla="*/ 506549863 w 201"/>
              <a:gd name="T1" fmla="*/ 1214715402 h 482"/>
              <a:gd name="T2" fmla="*/ 83164232 w 201"/>
              <a:gd name="T3" fmla="*/ 554434433 h 482"/>
              <a:gd name="T4" fmla="*/ 7559664 w 201"/>
              <a:gd name="T5" fmla="*/ 0 h 482"/>
              <a:gd name="T6" fmla="*/ 0 60000 65536"/>
              <a:gd name="T7" fmla="*/ 0 60000 65536"/>
              <a:gd name="T8" fmla="*/ 0 60000 65536"/>
              <a:gd name="T9" fmla="*/ 0 w 201"/>
              <a:gd name="T10" fmla="*/ 0 h 482"/>
              <a:gd name="T11" fmla="*/ 201 w 201"/>
              <a:gd name="T12" fmla="*/ 482 h 482"/>
            </a:gdLst>
            <a:ahLst/>
            <a:cxnLst>
              <a:cxn ang="T6">
                <a:pos x="T0" y="T1"/>
              </a:cxn>
              <a:cxn ang="T7">
                <a:pos x="T2" y="T3"/>
              </a:cxn>
              <a:cxn ang="T8">
                <a:pos x="T4" y="T5"/>
              </a:cxn>
            </a:cxnLst>
            <a:rect l="T9" t="T10" r="T11" b="T12"/>
            <a:pathLst>
              <a:path w="201" h="482">
                <a:moveTo>
                  <a:pt x="201" y="482"/>
                </a:moveTo>
                <a:cubicBezTo>
                  <a:pt x="173" y="438"/>
                  <a:pt x="66" y="300"/>
                  <a:pt x="33" y="220"/>
                </a:cubicBezTo>
                <a:cubicBezTo>
                  <a:pt x="0" y="140"/>
                  <a:pt x="9" y="46"/>
                  <a:pt x="3"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9981" name="AutoShape 46"/>
          <p:cNvSpPr>
            <a:spLocks noChangeArrowheads="1"/>
          </p:cNvSpPr>
          <p:nvPr/>
        </p:nvSpPr>
        <p:spPr bwMode="auto">
          <a:xfrm>
            <a:off x="5472113" y="595788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2" name="AutoShape 47"/>
          <p:cNvSpPr>
            <a:spLocks noChangeArrowheads="1"/>
          </p:cNvSpPr>
          <p:nvPr/>
        </p:nvSpPr>
        <p:spPr bwMode="auto">
          <a:xfrm>
            <a:off x="6499225" y="58674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3" name="AutoShape 48"/>
          <p:cNvSpPr>
            <a:spLocks noChangeArrowheads="1"/>
          </p:cNvSpPr>
          <p:nvPr/>
        </p:nvSpPr>
        <p:spPr bwMode="auto">
          <a:xfrm>
            <a:off x="6192838" y="6272213"/>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4" name="AutoShape 49"/>
          <p:cNvSpPr>
            <a:spLocks noChangeArrowheads="1"/>
          </p:cNvSpPr>
          <p:nvPr/>
        </p:nvSpPr>
        <p:spPr bwMode="auto">
          <a:xfrm>
            <a:off x="5967413" y="591343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5" name="AutoShape 50"/>
          <p:cNvSpPr>
            <a:spLocks noChangeArrowheads="1"/>
          </p:cNvSpPr>
          <p:nvPr/>
        </p:nvSpPr>
        <p:spPr bwMode="auto">
          <a:xfrm>
            <a:off x="5302250" y="5443538"/>
            <a:ext cx="288925" cy="249237"/>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6" name="AutoShape 51"/>
          <p:cNvSpPr>
            <a:spLocks noChangeArrowheads="1"/>
          </p:cNvSpPr>
          <p:nvPr/>
        </p:nvSpPr>
        <p:spPr bwMode="auto">
          <a:xfrm>
            <a:off x="6788150" y="62992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7" name="AutoShape 52"/>
          <p:cNvSpPr>
            <a:spLocks noChangeArrowheads="1"/>
          </p:cNvSpPr>
          <p:nvPr/>
        </p:nvSpPr>
        <p:spPr bwMode="auto">
          <a:xfrm>
            <a:off x="5157788" y="63627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8" name="AutoShape 53"/>
          <p:cNvSpPr>
            <a:spLocks noChangeArrowheads="1"/>
          </p:cNvSpPr>
          <p:nvPr/>
        </p:nvSpPr>
        <p:spPr bwMode="auto">
          <a:xfrm>
            <a:off x="5607050" y="631825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89" name="AutoShape 54"/>
          <p:cNvSpPr>
            <a:spLocks noChangeArrowheads="1"/>
          </p:cNvSpPr>
          <p:nvPr/>
        </p:nvSpPr>
        <p:spPr bwMode="auto">
          <a:xfrm>
            <a:off x="6011863" y="537210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9990" name="AutoShape 55"/>
          <p:cNvSpPr>
            <a:spLocks noChangeArrowheads="1"/>
          </p:cNvSpPr>
          <p:nvPr/>
        </p:nvSpPr>
        <p:spPr bwMode="auto">
          <a:xfrm>
            <a:off x="6688138" y="5327650"/>
            <a:ext cx="288925" cy="249238"/>
          </a:xfrm>
          <a:prstGeom prst="triangle">
            <a:avLst>
              <a:gd name="adj" fmla="val 69852"/>
            </a:avLst>
          </a:prstGeom>
          <a:solidFill>
            <a:srgbClr val="0000FF"/>
          </a:solidFill>
          <a:ln w="9525">
            <a:solidFill>
              <a:srgbClr val="0000FF"/>
            </a:solidFill>
            <a:miter lim="800000"/>
            <a:headEnd/>
            <a:tailEnd/>
          </a:ln>
          <a:effectLst>
            <a:outerShdw dist="45791" dir="2021404" algn="ctr" rotWithShape="0">
              <a:schemeClr val="bg2">
                <a:alpha val="50000"/>
              </a:schemeClr>
            </a:outerShdw>
          </a:effectLst>
        </p:spPr>
        <p:txBody>
          <a:bodyPr wrap="none" anchor="ctr"/>
          <a:lstStyle/>
          <a:p>
            <a:pPr eaLnBrk="1" hangingPunct="1">
              <a:defRPr/>
            </a:pPr>
            <a:endParaRPr lang="ru-RU"/>
          </a:p>
        </p:txBody>
      </p:sp>
      <p:sp>
        <p:nvSpPr>
          <p:cNvPr id="35895" name="Freeform 56"/>
          <p:cNvSpPr>
            <a:spLocks/>
          </p:cNvSpPr>
          <p:nvPr/>
        </p:nvSpPr>
        <p:spPr bwMode="auto">
          <a:xfrm>
            <a:off x="5527675" y="4589463"/>
            <a:ext cx="630238" cy="854075"/>
          </a:xfrm>
          <a:custGeom>
            <a:avLst/>
            <a:gdLst>
              <a:gd name="T0" fmla="*/ 0 w 397"/>
              <a:gd name="T1" fmla="*/ 1355843844 h 538"/>
              <a:gd name="T2" fmla="*/ 826611850 w 397"/>
              <a:gd name="T3" fmla="*/ 630038975 h 538"/>
              <a:gd name="T4" fmla="*/ 1000503708 w 397"/>
              <a:gd name="T5" fmla="*/ 0 h 538"/>
              <a:gd name="T6" fmla="*/ 0 60000 65536"/>
              <a:gd name="T7" fmla="*/ 0 60000 65536"/>
              <a:gd name="T8" fmla="*/ 0 60000 65536"/>
              <a:gd name="T9" fmla="*/ 0 w 397"/>
              <a:gd name="T10" fmla="*/ 0 h 538"/>
              <a:gd name="T11" fmla="*/ 397 w 397"/>
              <a:gd name="T12" fmla="*/ 538 h 538"/>
            </a:gdLst>
            <a:ahLst/>
            <a:cxnLst>
              <a:cxn ang="T6">
                <a:pos x="T0" y="T1"/>
              </a:cxn>
              <a:cxn ang="T7">
                <a:pos x="T2" y="T3"/>
              </a:cxn>
              <a:cxn ang="T8">
                <a:pos x="T4" y="T5"/>
              </a:cxn>
            </a:cxnLst>
            <a:rect l="T9" t="T10" r="T11" b="T12"/>
            <a:pathLst>
              <a:path w="397" h="538">
                <a:moveTo>
                  <a:pt x="0" y="538"/>
                </a:moveTo>
                <a:cubicBezTo>
                  <a:pt x="55" y="490"/>
                  <a:pt x="262" y="340"/>
                  <a:pt x="328" y="250"/>
                </a:cubicBezTo>
                <a:cubicBezTo>
                  <a:pt x="394" y="160"/>
                  <a:pt x="383" y="52"/>
                  <a:pt x="397" y="0"/>
                </a:cubicBezTo>
              </a:path>
            </a:pathLst>
          </a:custGeom>
          <a:noFill/>
          <a:ln w="1905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96" name="Freeform 57"/>
          <p:cNvSpPr>
            <a:spLocks/>
          </p:cNvSpPr>
          <p:nvPr/>
        </p:nvSpPr>
        <p:spPr bwMode="auto">
          <a:xfrm>
            <a:off x="5346700" y="4589463"/>
            <a:ext cx="882650" cy="1800225"/>
          </a:xfrm>
          <a:custGeom>
            <a:avLst/>
            <a:gdLst>
              <a:gd name="T0" fmla="*/ 0 w 556"/>
              <a:gd name="T1" fmla="*/ 2147483647 h 1134"/>
              <a:gd name="T2" fmla="*/ 1174392694 w 556"/>
              <a:gd name="T3" fmla="*/ 720764576 h 1134"/>
              <a:gd name="T4" fmla="*/ 1358364813 w 556"/>
              <a:gd name="T5" fmla="*/ 0 h 1134"/>
              <a:gd name="T6" fmla="*/ 0 60000 65536"/>
              <a:gd name="T7" fmla="*/ 0 60000 65536"/>
              <a:gd name="T8" fmla="*/ 0 60000 65536"/>
              <a:gd name="T9" fmla="*/ 0 w 556"/>
              <a:gd name="T10" fmla="*/ 0 h 1134"/>
              <a:gd name="T11" fmla="*/ 556 w 556"/>
              <a:gd name="T12" fmla="*/ 1134 h 1134"/>
            </a:gdLst>
            <a:ahLst/>
            <a:cxnLst>
              <a:cxn ang="T6">
                <a:pos x="T0" y="T1"/>
              </a:cxn>
              <a:cxn ang="T7">
                <a:pos x="T2" y="T3"/>
              </a:cxn>
              <a:cxn ang="T8">
                <a:pos x="T4" y="T5"/>
              </a:cxn>
            </a:cxnLst>
            <a:rect l="T9" t="T10" r="T11" b="T12"/>
            <a:pathLst>
              <a:path w="556" h="1134">
                <a:moveTo>
                  <a:pt x="0" y="1134"/>
                </a:moveTo>
                <a:cubicBezTo>
                  <a:pt x="78" y="993"/>
                  <a:pt x="376" y="475"/>
                  <a:pt x="466" y="286"/>
                </a:cubicBezTo>
                <a:cubicBezTo>
                  <a:pt x="556" y="97"/>
                  <a:pt x="524" y="60"/>
                  <a:pt x="53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97" name="Freeform 58"/>
          <p:cNvSpPr>
            <a:spLocks/>
          </p:cNvSpPr>
          <p:nvPr/>
        </p:nvSpPr>
        <p:spPr bwMode="auto">
          <a:xfrm>
            <a:off x="5662613" y="4589463"/>
            <a:ext cx="584200" cy="1393825"/>
          </a:xfrm>
          <a:custGeom>
            <a:avLst/>
            <a:gdLst>
              <a:gd name="T0" fmla="*/ 0 w 368"/>
              <a:gd name="T1" fmla="*/ 2147483647 h 878"/>
              <a:gd name="T2" fmla="*/ 748487150 w 368"/>
              <a:gd name="T3" fmla="*/ 932457950 h 878"/>
              <a:gd name="T4" fmla="*/ 927417589 w 368"/>
              <a:gd name="T5" fmla="*/ 0 h 878"/>
              <a:gd name="T6" fmla="*/ 0 60000 65536"/>
              <a:gd name="T7" fmla="*/ 0 60000 65536"/>
              <a:gd name="T8" fmla="*/ 0 60000 65536"/>
              <a:gd name="T9" fmla="*/ 0 w 368"/>
              <a:gd name="T10" fmla="*/ 0 h 878"/>
              <a:gd name="T11" fmla="*/ 368 w 368"/>
              <a:gd name="T12" fmla="*/ 878 h 878"/>
            </a:gdLst>
            <a:ahLst/>
            <a:cxnLst>
              <a:cxn ang="T6">
                <a:pos x="T0" y="T1"/>
              </a:cxn>
              <a:cxn ang="T7">
                <a:pos x="T2" y="T3"/>
              </a:cxn>
              <a:cxn ang="T8">
                <a:pos x="T4" y="T5"/>
              </a:cxn>
            </a:cxnLst>
            <a:rect l="T9" t="T10" r="T11" b="T12"/>
            <a:pathLst>
              <a:path w="368" h="878">
                <a:moveTo>
                  <a:pt x="0" y="878"/>
                </a:moveTo>
                <a:cubicBezTo>
                  <a:pt x="49" y="793"/>
                  <a:pt x="236" y="516"/>
                  <a:pt x="297" y="370"/>
                </a:cubicBezTo>
                <a:cubicBezTo>
                  <a:pt x="358" y="224"/>
                  <a:pt x="353" y="77"/>
                  <a:pt x="368" y="0"/>
                </a:cubicBezTo>
              </a:path>
            </a:pathLst>
          </a:custGeom>
          <a:noFill/>
          <a:ln w="19050" cap="flat" cmpd="sng">
            <a:solidFill>
              <a:schemeClr val="tx1"/>
            </a:solidFill>
            <a:prstDash val="solid"/>
            <a:round/>
            <a:headEnd type="none" w="med" len="med"/>
            <a:tailEnd type="none" w="med" len="med"/>
          </a:ln>
        </p:spPr>
        <p:txBody>
          <a:bodyPr lIns="90000" tIns="46800" rIns="90000" bIns="46800">
            <a:spAutoFit/>
          </a:bodyPr>
          <a:lstStyle/>
          <a:p>
            <a:endParaRPr lang="ru-RU"/>
          </a:p>
        </p:txBody>
      </p:sp>
      <p:sp>
        <p:nvSpPr>
          <p:cNvPr id="35898" name="Freeform 59"/>
          <p:cNvSpPr>
            <a:spLocks/>
          </p:cNvSpPr>
          <p:nvPr/>
        </p:nvSpPr>
        <p:spPr bwMode="auto">
          <a:xfrm>
            <a:off x="5797550" y="4591050"/>
            <a:ext cx="495300" cy="1709738"/>
          </a:xfrm>
          <a:custGeom>
            <a:avLst/>
            <a:gdLst>
              <a:gd name="T0" fmla="*/ 0 w 312"/>
              <a:gd name="T1" fmla="*/ 2147483647 h 1077"/>
              <a:gd name="T2" fmla="*/ 655240567 w 312"/>
              <a:gd name="T3" fmla="*/ 960180567 h 1077"/>
              <a:gd name="T4" fmla="*/ 786288641 w 312"/>
              <a:gd name="T5" fmla="*/ 0 h 1077"/>
              <a:gd name="T6" fmla="*/ 0 60000 65536"/>
              <a:gd name="T7" fmla="*/ 0 60000 65536"/>
              <a:gd name="T8" fmla="*/ 0 60000 65536"/>
              <a:gd name="T9" fmla="*/ 0 w 312"/>
              <a:gd name="T10" fmla="*/ 0 h 1077"/>
              <a:gd name="T11" fmla="*/ 312 w 312"/>
              <a:gd name="T12" fmla="*/ 1077 h 1077"/>
            </a:gdLst>
            <a:ahLst/>
            <a:cxnLst>
              <a:cxn ang="T6">
                <a:pos x="T0" y="T1"/>
              </a:cxn>
              <a:cxn ang="T7">
                <a:pos x="T2" y="T3"/>
              </a:cxn>
              <a:cxn ang="T8">
                <a:pos x="T4" y="T5"/>
              </a:cxn>
            </a:cxnLst>
            <a:rect l="T9" t="T10" r="T11" b="T12"/>
            <a:pathLst>
              <a:path w="312" h="1077">
                <a:moveTo>
                  <a:pt x="0" y="1077"/>
                </a:moveTo>
                <a:cubicBezTo>
                  <a:pt x="43" y="961"/>
                  <a:pt x="208" y="560"/>
                  <a:pt x="260" y="381"/>
                </a:cubicBezTo>
                <a:cubicBezTo>
                  <a:pt x="312" y="202"/>
                  <a:pt x="301" y="79"/>
                  <a:pt x="312"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899" name="Freeform 60"/>
          <p:cNvSpPr>
            <a:spLocks/>
          </p:cNvSpPr>
          <p:nvPr/>
        </p:nvSpPr>
        <p:spPr bwMode="auto">
          <a:xfrm>
            <a:off x="6202363" y="4589463"/>
            <a:ext cx="134937" cy="809625"/>
          </a:xfrm>
          <a:custGeom>
            <a:avLst/>
            <a:gdLst>
              <a:gd name="T0" fmla="*/ 0 w 85"/>
              <a:gd name="T1" fmla="*/ 1285279777 h 510"/>
              <a:gd name="T2" fmla="*/ 163808746 w 85"/>
              <a:gd name="T3" fmla="*/ 690522846 h 510"/>
              <a:gd name="T4" fmla="*/ 214211716 w 85"/>
              <a:gd name="T5" fmla="*/ 0 h 510"/>
              <a:gd name="T6" fmla="*/ 0 60000 65536"/>
              <a:gd name="T7" fmla="*/ 0 60000 65536"/>
              <a:gd name="T8" fmla="*/ 0 60000 65536"/>
              <a:gd name="T9" fmla="*/ 0 w 85"/>
              <a:gd name="T10" fmla="*/ 0 h 510"/>
              <a:gd name="T11" fmla="*/ 85 w 85"/>
              <a:gd name="T12" fmla="*/ 510 h 510"/>
            </a:gdLst>
            <a:ahLst/>
            <a:cxnLst>
              <a:cxn ang="T6">
                <a:pos x="T0" y="T1"/>
              </a:cxn>
              <a:cxn ang="T7">
                <a:pos x="T2" y="T3"/>
              </a:cxn>
              <a:cxn ang="T8">
                <a:pos x="T4" y="T5"/>
              </a:cxn>
            </a:cxnLst>
            <a:rect l="T9" t="T10" r="T11" b="T12"/>
            <a:pathLst>
              <a:path w="85" h="510">
                <a:moveTo>
                  <a:pt x="0" y="510"/>
                </a:moveTo>
                <a:cubicBezTo>
                  <a:pt x="11" y="471"/>
                  <a:pt x="51" y="359"/>
                  <a:pt x="65" y="274"/>
                </a:cubicBezTo>
                <a:cubicBezTo>
                  <a:pt x="79" y="189"/>
                  <a:pt x="81" y="57"/>
                  <a:pt x="85"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0" name="Freeform 61"/>
          <p:cNvSpPr>
            <a:spLocks/>
          </p:cNvSpPr>
          <p:nvPr/>
        </p:nvSpPr>
        <p:spPr bwMode="auto">
          <a:xfrm>
            <a:off x="6157913" y="4589463"/>
            <a:ext cx="223837" cy="1349375"/>
          </a:xfrm>
          <a:custGeom>
            <a:avLst/>
            <a:gdLst>
              <a:gd name="T0" fmla="*/ 0 w 141"/>
              <a:gd name="T1" fmla="*/ 2142132991 h 850"/>
              <a:gd name="T2" fmla="*/ 294856800 w 141"/>
              <a:gd name="T3" fmla="*/ 796369345 h 850"/>
              <a:gd name="T4" fmla="*/ 355340389 w 141"/>
              <a:gd name="T5" fmla="*/ 0 h 850"/>
              <a:gd name="T6" fmla="*/ 0 60000 65536"/>
              <a:gd name="T7" fmla="*/ 0 60000 65536"/>
              <a:gd name="T8" fmla="*/ 0 60000 65536"/>
              <a:gd name="T9" fmla="*/ 0 w 141"/>
              <a:gd name="T10" fmla="*/ 0 h 850"/>
              <a:gd name="T11" fmla="*/ 141 w 141"/>
              <a:gd name="T12" fmla="*/ 850 h 850"/>
            </a:gdLst>
            <a:ahLst/>
            <a:cxnLst>
              <a:cxn ang="T6">
                <a:pos x="T0" y="T1"/>
              </a:cxn>
              <a:cxn ang="T7">
                <a:pos x="T2" y="T3"/>
              </a:cxn>
              <a:cxn ang="T8">
                <a:pos x="T4" y="T5"/>
              </a:cxn>
            </a:cxnLst>
            <a:rect l="T9" t="T10" r="T11" b="T12"/>
            <a:pathLst>
              <a:path w="141" h="850">
                <a:moveTo>
                  <a:pt x="0" y="850"/>
                </a:moveTo>
                <a:cubicBezTo>
                  <a:pt x="19" y="761"/>
                  <a:pt x="94" y="458"/>
                  <a:pt x="117" y="316"/>
                </a:cubicBezTo>
                <a:cubicBezTo>
                  <a:pt x="140" y="174"/>
                  <a:pt x="136" y="66"/>
                  <a:pt x="141"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1" name="Freeform 62"/>
          <p:cNvSpPr>
            <a:spLocks/>
          </p:cNvSpPr>
          <p:nvPr/>
        </p:nvSpPr>
        <p:spPr bwMode="auto">
          <a:xfrm>
            <a:off x="6381750" y="4591050"/>
            <a:ext cx="46038" cy="1665288"/>
          </a:xfrm>
          <a:custGeom>
            <a:avLst/>
            <a:gdLst>
              <a:gd name="T0" fmla="*/ 0 w 29"/>
              <a:gd name="T1" fmla="*/ 2147483647 h 1049"/>
              <a:gd name="T2" fmla="*/ 60484416 w 29"/>
              <a:gd name="T3" fmla="*/ 597277925 h 1049"/>
              <a:gd name="T4" fmla="*/ 73086124 w 29"/>
              <a:gd name="T5" fmla="*/ 0 h 1049"/>
              <a:gd name="T6" fmla="*/ 0 60000 65536"/>
              <a:gd name="T7" fmla="*/ 0 60000 65536"/>
              <a:gd name="T8" fmla="*/ 0 60000 65536"/>
              <a:gd name="T9" fmla="*/ 0 w 29"/>
              <a:gd name="T10" fmla="*/ 0 h 1049"/>
              <a:gd name="T11" fmla="*/ 29 w 29"/>
              <a:gd name="T12" fmla="*/ 1049 h 1049"/>
            </a:gdLst>
            <a:ahLst/>
            <a:cxnLst>
              <a:cxn ang="T6">
                <a:pos x="T0" y="T1"/>
              </a:cxn>
              <a:cxn ang="T7">
                <a:pos x="T2" y="T3"/>
              </a:cxn>
              <a:cxn ang="T8">
                <a:pos x="T4" y="T5"/>
              </a:cxn>
            </a:cxnLst>
            <a:rect l="T9" t="T10" r="T11" b="T12"/>
            <a:pathLst>
              <a:path w="29" h="1049">
                <a:moveTo>
                  <a:pt x="0" y="1049"/>
                </a:moveTo>
                <a:cubicBezTo>
                  <a:pt x="4" y="914"/>
                  <a:pt x="19" y="412"/>
                  <a:pt x="24" y="237"/>
                </a:cubicBezTo>
                <a:cubicBezTo>
                  <a:pt x="29" y="62"/>
                  <a:pt x="28" y="49"/>
                  <a:pt x="2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2" name="Freeform 63"/>
          <p:cNvSpPr>
            <a:spLocks/>
          </p:cNvSpPr>
          <p:nvPr/>
        </p:nvSpPr>
        <p:spPr bwMode="auto">
          <a:xfrm>
            <a:off x="6457950" y="4589463"/>
            <a:ext cx="239713" cy="1304925"/>
          </a:xfrm>
          <a:custGeom>
            <a:avLst/>
            <a:gdLst>
              <a:gd name="T0" fmla="*/ 380545127 w 151"/>
              <a:gd name="T1" fmla="*/ 2071568616 h 822"/>
              <a:gd name="T2" fmla="*/ 60483877 w 151"/>
              <a:gd name="T3" fmla="*/ 645160007 h 822"/>
              <a:gd name="T4" fmla="*/ 22682244 w 151"/>
              <a:gd name="T5" fmla="*/ 0 h 822"/>
              <a:gd name="T6" fmla="*/ 0 60000 65536"/>
              <a:gd name="T7" fmla="*/ 0 60000 65536"/>
              <a:gd name="T8" fmla="*/ 0 60000 65536"/>
              <a:gd name="T9" fmla="*/ 0 w 151"/>
              <a:gd name="T10" fmla="*/ 0 h 822"/>
              <a:gd name="T11" fmla="*/ 151 w 151"/>
              <a:gd name="T12" fmla="*/ 822 h 822"/>
            </a:gdLst>
            <a:ahLst/>
            <a:cxnLst>
              <a:cxn ang="T6">
                <a:pos x="T0" y="T1"/>
              </a:cxn>
              <a:cxn ang="T7">
                <a:pos x="T2" y="T3"/>
              </a:cxn>
              <a:cxn ang="T8">
                <a:pos x="T4" y="T5"/>
              </a:cxn>
            </a:cxnLst>
            <a:rect l="T9" t="T10" r="T11" b="T12"/>
            <a:pathLst>
              <a:path w="151" h="822">
                <a:moveTo>
                  <a:pt x="151" y="822"/>
                </a:moveTo>
                <a:cubicBezTo>
                  <a:pt x="130" y="728"/>
                  <a:pt x="48" y="393"/>
                  <a:pt x="24" y="256"/>
                </a:cubicBezTo>
                <a:cubicBezTo>
                  <a:pt x="0" y="119"/>
                  <a:pt x="12" y="53"/>
                  <a:pt x="9"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3" name="Freeform 64"/>
          <p:cNvSpPr>
            <a:spLocks/>
          </p:cNvSpPr>
          <p:nvPr/>
        </p:nvSpPr>
        <p:spPr bwMode="auto">
          <a:xfrm>
            <a:off x="6488113" y="4591050"/>
            <a:ext cx="481012" cy="1709738"/>
          </a:xfrm>
          <a:custGeom>
            <a:avLst/>
            <a:gdLst>
              <a:gd name="T0" fmla="*/ 763605647 w 303"/>
              <a:gd name="T1" fmla="*/ 2147483647 h 1077"/>
              <a:gd name="T2" fmla="*/ 118446429 w 303"/>
              <a:gd name="T3" fmla="*/ 718245408 h 1077"/>
              <a:gd name="T4" fmla="*/ 50403065 w 303"/>
              <a:gd name="T5" fmla="*/ 0 h 1077"/>
              <a:gd name="T6" fmla="*/ 0 60000 65536"/>
              <a:gd name="T7" fmla="*/ 0 60000 65536"/>
              <a:gd name="T8" fmla="*/ 0 60000 65536"/>
              <a:gd name="T9" fmla="*/ 0 w 303"/>
              <a:gd name="T10" fmla="*/ 0 h 1077"/>
              <a:gd name="T11" fmla="*/ 303 w 303"/>
              <a:gd name="T12" fmla="*/ 1077 h 1077"/>
            </a:gdLst>
            <a:ahLst/>
            <a:cxnLst>
              <a:cxn ang="T6">
                <a:pos x="T0" y="T1"/>
              </a:cxn>
              <a:cxn ang="T7">
                <a:pos x="T2" y="T3"/>
              </a:cxn>
              <a:cxn ang="T8">
                <a:pos x="T4" y="T5"/>
              </a:cxn>
            </a:cxnLst>
            <a:rect l="T9" t="T10" r="T11" b="T12"/>
            <a:pathLst>
              <a:path w="303" h="1077">
                <a:moveTo>
                  <a:pt x="303" y="1077"/>
                </a:moveTo>
                <a:cubicBezTo>
                  <a:pt x="260" y="945"/>
                  <a:pt x="94" y="464"/>
                  <a:pt x="47" y="285"/>
                </a:cubicBezTo>
                <a:cubicBezTo>
                  <a:pt x="0" y="106"/>
                  <a:pt x="26" y="59"/>
                  <a:pt x="20"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4" name="Freeform 65"/>
          <p:cNvSpPr>
            <a:spLocks/>
          </p:cNvSpPr>
          <p:nvPr/>
        </p:nvSpPr>
        <p:spPr bwMode="auto">
          <a:xfrm>
            <a:off x="6557963" y="4589463"/>
            <a:ext cx="319087" cy="765175"/>
          </a:xfrm>
          <a:custGeom>
            <a:avLst/>
            <a:gdLst>
              <a:gd name="T0" fmla="*/ 506549863 w 201"/>
              <a:gd name="T1" fmla="*/ 1214715402 h 482"/>
              <a:gd name="T2" fmla="*/ 83164232 w 201"/>
              <a:gd name="T3" fmla="*/ 554434433 h 482"/>
              <a:gd name="T4" fmla="*/ 7559664 w 201"/>
              <a:gd name="T5" fmla="*/ 0 h 482"/>
              <a:gd name="T6" fmla="*/ 0 60000 65536"/>
              <a:gd name="T7" fmla="*/ 0 60000 65536"/>
              <a:gd name="T8" fmla="*/ 0 60000 65536"/>
              <a:gd name="T9" fmla="*/ 0 w 201"/>
              <a:gd name="T10" fmla="*/ 0 h 482"/>
              <a:gd name="T11" fmla="*/ 201 w 201"/>
              <a:gd name="T12" fmla="*/ 482 h 482"/>
            </a:gdLst>
            <a:ahLst/>
            <a:cxnLst>
              <a:cxn ang="T6">
                <a:pos x="T0" y="T1"/>
              </a:cxn>
              <a:cxn ang="T7">
                <a:pos x="T2" y="T3"/>
              </a:cxn>
              <a:cxn ang="T8">
                <a:pos x="T4" y="T5"/>
              </a:cxn>
            </a:cxnLst>
            <a:rect l="T9" t="T10" r="T11" b="T12"/>
            <a:pathLst>
              <a:path w="201" h="482">
                <a:moveTo>
                  <a:pt x="201" y="482"/>
                </a:moveTo>
                <a:cubicBezTo>
                  <a:pt x="173" y="438"/>
                  <a:pt x="66" y="300"/>
                  <a:pt x="33" y="220"/>
                </a:cubicBezTo>
                <a:cubicBezTo>
                  <a:pt x="0" y="140"/>
                  <a:pt x="9" y="46"/>
                  <a:pt x="3" y="0"/>
                </a:cubicBezTo>
              </a:path>
            </a:pathLst>
          </a:custGeom>
          <a:noFill/>
          <a:ln w="19050" cap="flat" cmpd="sng">
            <a:solidFill>
              <a:schemeClr val="tx1"/>
            </a:solidFill>
            <a:prstDash val="solid"/>
            <a:round/>
            <a:headEnd type="none" w="med" len="med"/>
            <a:tailEnd type="none" w="med" len="med"/>
          </a:ln>
        </p:spPr>
        <p:txBody>
          <a:bodyPr wrap="none" lIns="90000" tIns="46800" rIns="90000" bIns="46800">
            <a:spAutoFit/>
          </a:bodyPr>
          <a:lstStyle/>
          <a:p>
            <a:endParaRPr lang="ru-RU"/>
          </a:p>
        </p:txBody>
      </p:sp>
      <p:sp>
        <p:nvSpPr>
          <p:cNvPr id="35905" name="Oval 66"/>
          <p:cNvSpPr>
            <a:spLocks noChangeArrowheads="1"/>
          </p:cNvSpPr>
          <p:nvPr/>
        </p:nvSpPr>
        <p:spPr bwMode="auto">
          <a:xfrm>
            <a:off x="3087688" y="4724400"/>
            <a:ext cx="765175" cy="88900"/>
          </a:xfrm>
          <a:prstGeom prst="ellipse">
            <a:avLst/>
          </a:prstGeom>
          <a:noFill/>
          <a:ln w="25400">
            <a:solidFill>
              <a:schemeClr val="tx1"/>
            </a:solidFill>
            <a:round/>
            <a:headEnd/>
            <a:tailEnd/>
          </a:ln>
        </p:spPr>
        <p:txBody>
          <a:bodyPr lIns="90000" tIns="46800" rIns="90000" bIns="46800" anchor="ctr">
            <a:spAutoFit/>
          </a:bodyPr>
          <a:lstStyle/>
          <a:p>
            <a:pPr eaLnBrk="1" hangingPunct="1"/>
            <a:endParaRPr lang="ru-RU"/>
          </a:p>
        </p:txBody>
      </p:sp>
      <p:sp>
        <p:nvSpPr>
          <p:cNvPr id="35906" name="Oval 67"/>
          <p:cNvSpPr>
            <a:spLocks noChangeArrowheads="1"/>
          </p:cNvSpPr>
          <p:nvPr/>
        </p:nvSpPr>
        <p:spPr bwMode="auto">
          <a:xfrm>
            <a:off x="5969000" y="4724400"/>
            <a:ext cx="765175" cy="88900"/>
          </a:xfrm>
          <a:prstGeom prst="ellipse">
            <a:avLst/>
          </a:prstGeom>
          <a:noFill/>
          <a:ln w="25400">
            <a:solidFill>
              <a:schemeClr val="tx1"/>
            </a:solidFill>
            <a:round/>
            <a:headEnd/>
            <a:tailEnd/>
          </a:ln>
        </p:spPr>
        <p:txBody>
          <a:bodyPr lIns="90000" tIns="46800" rIns="90000" bIns="46800" anchor="ctr">
            <a:spAutoFit/>
          </a:bodyPr>
          <a:lstStyle/>
          <a:p>
            <a:pPr eaLnBrk="1" hangingPunct="1"/>
            <a:endParaRPr lang="ru-RU"/>
          </a:p>
        </p:txBody>
      </p:sp>
      <p:sp>
        <p:nvSpPr>
          <p:cNvPr id="35907" name="Text Box 69"/>
          <p:cNvSpPr txBox="1">
            <a:spLocks noChangeArrowheads="1"/>
          </p:cNvSpPr>
          <p:nvPr/>
        </p:nvSpPr>
        <p:spPr bwMode="auto">
          <a:xfrm>
            <a:off x="7273925" y="4275138"/>
            <a:ext cx="695325" cy="304800"/>
          </a:xfrm>
          <a:prstGeom prst="rect">
            <a:avLst/>
          </a:prstGeom>
          <a:noFill/>
          <a:ln w="9525">
            <a:noFill/>
            <a:miter lim="800000"/>
            <a:headEnd/>
            <a:tailEnd/>
          </a:ln>
        </p:spPr>
        <p:txBody>
          <a:bodyPr wrap="none" lIns="90000" tIns="46800" rIns="90000" bIns="46800">
            <a:spAutoFit/>
          </a:bodyPr>
          <a:lstStyle/>
          <a:p>
            <a:r>
              <a:rPr lang="ru-RU" altLang="ru-RU" sz="1400">
                <a:latin typeface="Times New Roman" pitchFamily="18" charset="0"/>
              </a:rPr>
              <a:t>АМТС</a:t>
            </a:r>
          </a:p>
        </p:txBody>
      </p:sp>
      <p:sp>
        <p:nvSpPr>
          <p:cNvPr id="35908" name="Text Box 70"/>
          <p:cNvSpPr txBox="1">
            <a:spLocks noChangeArrowheads="1"/>
          </p:cNvSpPr>
          <p:nvPr/>
        </p:nvSpPr>
        <p:spPr bwMode="auto">
          <a:xfrm>
            <a:off x="7273925" y="5759450"/>
            <a:ext cx="536575" cy="304800"/>
          </a:xfrm>
          <a:prstGeom prst="rect">
            <a:avLst/>
          </a:prstGeom>
          <a:noFill/>
          <a:ln w="9525">
            <a:noFill/>
            <a:miter lim="800000"/>
            <a:headEnd/>
            <a:tailEnd/>
          </a:ln>
        </p:spPr>
        <p:txBody>
          <a:bodyPr wrap="none" lIns="90000" tIns="46800" rIns="90000" bIns="46800">
            <a:spAutoFit/>
          </a:bodyPr>
          <a:lstStyle/>
          <a:p>
            <a:r>
              <a:rPr lang="ru-RU" altLang="ru-RU" sz="1400">
                <a:latin typeface="Times New Roman" pitchFamily="18" charset="0"/>
              </a:rPr>
              <a:t>АТС</a:t>
            </a:r>
          </a:p>
        </p:txBody>
      </p:sp>
      <p:sp>
        <p:nvSpPr>
          <p:cNvPr id="35909" name="Text Box 71"/>
          <p:cNvSpPr txBox="1">
            <a:spLocks noChangeArrowheads="1"/>
          </p:cNvSpPr>
          <p:nvPr/>
        </p:nvSpPr>
        <p:spPr bwMode="auto">
          <a:xfrm>
            <a:off x="7273925" y="3194050"/>
            <a:ext cx="869950" cy="304800"/>
          </a:xfrm>
          <a:prstGeom prst="rect">
            <a:avLst/>
          </a:prstGeom>
          <a:noFill/>
          <a:ln w="9525">
            <a:noFill/>
            <a:miter lim="800000"/>
            <a:headEnd/>
            <a:tailEnd/>
          </a:ln>
        </p:spPr>
        <p:txBody>
          <a:bodyPr wrap="none" lIns="90000" tIns="46800" rIns="90000" bIns="46800">
            <a:spAutoFit/>
          </a:bodyPr>
          <a:lstStyle/>
          <a:p>
            <a:r>
              <a:rPr lang="ru-RU" altLang="ru-RU" sz="1400">
                <a:latin typeface="Times New Roman" pitchFamily="18" charset="0"/>
              </a:rPr>
              <a:t>МЦК/ТУ</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600" b="1" dirty="0" smtClean="0">
                <a:solidFill>
                  <a:srgbClr val="002060"/>
                </a:solidFill>
              </a:rPr>
              <a:t>Архитектура Интеллектуальной сети(1 вар)</a:t>
            </a:r>
            <a:endParaRPr lang="ru-RU" sz="3600" b="1" dirty="0">
              <a:solidFill>
                <a:srgbClr val="002060"/>
              </a:solidFill>
            </a:endParaRPr>
          </a:p>
        </p:txBody>
      </p:sp>
      <p:pic>
        <p:nvPicPr>
          <p:cNvPr id="4" name="Содержимое 3" descr="Принцип построения Интеллектуальной сети"/>
          <p:cNvPicPr>
            <a:picLocks noGrp="1"/>
          </p:cNvPicPr>
          <p:nvPr>
            <p:ph idx="1"/>
          </p:nvPr>
        </p:nvPicPr>
        <p:blipFill>
          <a:blip r:embed="rId2" cstate="print"/>
          <a:srcRect/>
          <a:stretch>
            <a:fillRect/>
          </a:stretch>
        </p:blipFill>
        <p:spPr bwMode="auto">
          <a:xfrm>
            <a:off x="827584" y="836712"/>
            <a:ext cx="7488832" cy="602128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67"/>
          <p:cNvSpPr>
            <a:spLocks noChangeShapeType="1"/>
          </p:cNvSpPr>
          <p:nvPr/>
        </p:nvSpPr>
        <p:spPr bwMode="auto">
          <a:xfrm>
            <a:off x="4140200" y="3860800"/>
            <a:ext cx="360363" cy="71438"/>
          </a:xfrm>
          <a:prstGeom prst="line">
            <a:avLst/>
          </a:prstGeom>
          <a:noFill/>
          <a:ln w="17463">
            <a:solidFill>
              <a:srgbClr val="0000FF"/>
            </a:solidFill>
            <a:round/>
            <a:headEnd/>
            <a:tailEnd/>
          </a:ln>
        </p:spPr>
        <p:txBody>
          <a:bodyPr/>
          <a:lstStyle/>
          <a:p>
            <a:endParaRPr lang="ru-RU"/>
          </a:p>
        </p:txBody>
      </p:sp>
      <p:sp>
        <p:nvSpPr>
          <p:cNvPr id="384003" name="Rectangle 3"/>
          <p:cNvSpPr>
            <a:spLocks noGrp="1" noChangeArrowheads="1"/>
          </p:cNvSpPr>
          <p:nvPr>
            <p:ph type="title"/>
          </p:nvPr>
        </p:nvSpPr>
        <p:spPr>
          <a:xfrm>
            <a:off x="179512" y="260350"/>
            <a:ext cx="8929563" cy="1162050"/>
          </a:xfrm>
        </p:spPr>
        <p:txBody>
          <a:bodyPr>
            <a:noAutofit/>
          </a:bodyPr>
          <a:lstStyle/>
          <a:p>
            <a:pPr eaLnBrk="1" hangingPunct="1">
              <a:defRPr/>
            </a:pPr>
            <a:r>
              <a:rPr lang="ru-RU" altLang="ru-RU" sz="3600" b="1" dirty="0" smtClean="0">
                <a:solidFill>
                  <a:srgbClr val="002060"/>
                </a:solidFill>
              </a:rPr>
              <a:t>Построение классической Интеллектуальной сети</a:t>
            </a:r>
          </a:p>
        </p:txBody>
      </p:sp>
      <p:sp>
        <p:nvSpPr>
          <p:cNvPr id="36868" name="Line 4"/>
          <p:cNvSpPr>
            <a:spLocks noChangeShapeType="1"/>
          </p:cNvSpPr>
          <p:nvPr/>
        </p:nvSpPr>
        <p:spPr bwMode="auto">
          <a:xfrm>
            <a:off x="4881563" y="3255963"/>
            <a:ext cx="1587" cy="322262"/>
          </a:xfrm>
          <a:prstGeom prst="line">
            <a:avLst/>
          </a:prstGeom>
          <a:noFill/>
          <a:ln w="17463">
            <a:solidFill>
              <a:srgbClr val="0000FF"/>
            </a:solidFill>
            <a:round/>
            <a:headEnd/>
            <a:tailEnd/>
          </a:ln>
        </p:spPr>
        <p:txBody>
          <a:bodyPr/>
          <a:lstStyle/>
          <a:p>
            <a:endParaRPr lang="ru-RU"/>
          </a:p>
        </p:txBody>
      </p:sp>
      <p:sp>
        <p:nvSpPr>
          <p:cNvPr id="36869" name="Line 5"/>
          <p:cNvSpPr>
            <a:spLocks noChangeShapeType="1"/>
          </p:cNvSpPr>
          <p:nvPr/>
        </p:nvSpPr>
        <p:spPr bwMode="auto">
          <a:xfrm>
            <a:off x="5203825" y="5076825"/>
            <a:ext cx="858838" cy="322263"/>
          </a:xfrm>
          <a:prstGeom prst="line">
            <a:avLst/>
          </a:prstGeom>
          <a:noFill/>
          <a:ln w="17463">
            <a:solidFill>
              <a:srgbClr val="0000FF"/>
            </a:solidFill>
            <a:round/>
            <a:headEnd/>
            <a:tailEnd/>
          </a:ln>
        </p:spPr>
        <p:txBody>
          <a:bodyPr/>
          <a:lstStyle/>
          <a:p>
            <a:endParaRPr lang="ru-RU"/>
          </a:p>
        </p:txBody>
      </p:sp>
      <p:sp>
        <p:nvSpPr>
          <p:cNvPr id="36870" name="Line 6"/>
          <p:cNvSpPr>
            <a:spLocks noChangeShapeType="1"/>
          </p:cNvSpPr>
          <p:nvPr/>
        </p:nvSpPr>
        <p:spPr bwMode="auto">
          <a:xfrm flipV="1">
            <a:off x="3806825" y="5076825"/>
            <a:ext cx="644525" cy="428625"/>
          </a:xfrm>
          <a:prstGeom prst="line">
            <a:avLst/>
          </a:prstGeom>
          <a:noFill/>
          <a:ln w="17463">
            <a:solidFill>
              <a:srgbClr val="0000FF"/>
            </a:solidFill>
            <a:round/>
            <a:headEnd/>
            <a:tailEnd/>
          </a:ln>
        </p:spPr>
        <p:txBody>
          <a:bodyPr/>
          <a:lstStyle/>
          <a:p>
            <a:endParaRPr lang="ru-RU"/>
          </a:p>
        </p:txBody>
      </p:sp>
      <p:sp>
        <p:nvSpPr>
          <p:cNvPr id="36871" name="Line 7"/>
          <p:cNvSpPr>
            <a:spLocks noChangeShapeType="1"/>
          </p:cNvSpPr>
          <p:nvPr/>
        </p:nvSpPr>
        <p:spPr bwMode="auto">
          <a:xfrm>
            <a:off x="4881563" y="4221163"/>
            <a:ext cx="1587" cy="534987"/>
          </a:xfrm>
          <a:prstGeom prst="line">
            <a:avLst/>
          </a:prstGeom>
          <a:noFill/>
          <a:ln w="17463">
            <a:solidFill>
              <a:srgbClr val="0000FF"/>
            </a:solidFill>
            <a:round/>
            <a:headEnd/>
            <a:tailEnd/>
          </a:ln>
        </p:spPr>
        <p:txBody>
          <a:bodyPr/>
          <a:lstStyle/>
          <a:p>
            <a:endParaRPr lang="ru-RU"/>
          </a:p>
        </p:txBody>
      </p:sp>
      <p:sp>
        <p:nvSpPr>
          <p:cNvPr id="36872" name="Rectangle 8"/>
          <p:cNvSpPr>
            <a:spLocks noChangeArrowheads="1"/>
          </p:cNvSpPr>
          <p:nvPr/>
        </p:nvSpPr>
        <p:spPr bwMode="auto">
          <a:xfrm>
            <a:off x="5435600" y="3789363"/>
            <a:ext cx="444500"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SCP</a:t>
            </a:r>
            <a:endParaRPr lang="ru-RU" altLang="ru-RU" sz="1400">
              <a:latin typeface="Times New Roman" pitchFamily="18" charset="0"/>
            </a:endParaRPr>
          </a:p>
        </p:txBody>
      </p:sp>
      <p:sp>
        <p:nvSpPr>
          <p:cNvPr id="36873" name="Rectangle 9"/>
          <p:cNvSpPr>
            <a:spLocks noChangeArrowheads="1"/>
          </p:cNvSpPr>
          <p:nvPr/>
        </p:nvSpPr>
        <p:spPr bwMode="auto">
          <a:xfrm>
            <a:off x="3332163" y="2205038"/>
            <a:ext cx="468312"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SMS</a:t>
            </a:r>
            <a:endParaRPr lang="ru-RU" altLang="ru-RU" sz="1400">
              <a:latin typeface="Times New Roman" pitchFamily="18" charset="0"/>
            </a:endParaRPr>
          </a:p>
        </p:txBody>
      </p:sp>
      <p:sp>
        <p:nvSpPr>
          <p:cNvPr id="36874" name="Line 10"/>
          <p:cNvSpPr>
            <a:spLocks noChangeShapeType="1"/>
          </p:cNvSpPr>
          <p:nvPr/>
        </p:nvSpPr>
        <p:spPr bwMode="auto">
          <a:xfrm>
            <a:off x="3806825" y="5826125"/>
            <a:ext cx="2147888" cy="1588"/>
          </a:xfrm>
          <a:prstGeom prst="line">
            <a:avLst/>
          </a:prstGeom>
          <a:noFill/>
          <a:ln w="17463">
            <a:solidFill>
              <a:srgbClr val="0000FF"/>
            </a:solidFill>
            <a:round/>
            <a:headEnd/>
            <a:tailEnd/>
          </a:ln>
        </p:spPr>
        <p:txBody>
          <a:bodyPr/>
          <a:lstStyle/>
          <a:p>
            <a:endParaRPr lang="ru-RU"/>
          </a:p>
        </p:txBody>
      </p:sp>
      <p:sp>
        <p:nvSpPr>
          <p:cNvPr id="36875" name="Line 11"/>
          <p:cNvSpPr>
            <a:spLocks noChangeShapeType="1"/>
          </p:cNvSpPr>
          <p:nvPr/>
        </p:nvSpPr>
        <p:spPr bwMode="auto">
          <a:xfrm>
            <a:off x="3378200" y="2827338"/>
            <a:ext cx="2576513" cy="1587"/>
          </a:xfrm>
          <a:prstGeom prst="line">
            <a:avLst/>
          </a:prstGeom>
          <a:noFill/>
          <a:ln w="17463">
            <a:solidFill>
              <a:srgbClr val="0000FF"/>
            </a:solidFill>
            <a:round/>
            <a:headEnd/>
            <a:tailEnd/>
          </a:ln>
        </p:spPr>
        <p:txBody>
          <a:bodyPr/>
          <a:lstStyle/>
          <a:p>
            <a:endParaRPr lang="ru-RU"/>
          </a:p>
        </p:txBody>
      </p:sp>
      <p:sp>
        <p:nvSpPr>
          <p:cNvPr id="36876" name="Oval 12"/>
          <p:cNvSpPr>
            <a:spLocks noChangeArrowheads="1"/>
          </p:cNvSpPr>
          <p:nvPr/>
        </p:nvSpPr>
        <p:spPr bwMode="auto">
          <a:xfrm>
            <a:off x="4343400" y="4648200"/>
            <a:ext cx="1076325" cy="644525"/>
          </a:xfrm>
          <a:prstGeom prst="ellipse">
            <a:avLst/>
          </a:prstGeom>
          <a:solidFill>
            <a:srgbClr val="FFFFFF"/>
          </a:solidFill>
          <a:ln w="17463">
            <a:solidFill>
              <a:srgbClr val="0000FF"/>
            </a:solidFill>
            <a:round/>
            <a:headEnd/>
            <a:tailEnd/>
          </a:ln>
        </p:spPr>
        <p:txBody>
          <a:bodyPr/>
          <a:lstStyle/>
          <a:p>
            <a:pPr eaLnBrk="1" hangingPunct="1"/>
            <a:endParaRPr lang="ru-RU"/>
          </a:p>
        </p:txBody>
      </p:sp>
      <p:sp>
        <p:nvSpPr>
          <p:cNvPr id="36877" name="Rectangle 13"/>
          <p:cNvSpPr>
            <a:spLocks noChangeArrowheads="1"/>
          </p:cNvSpPr>
          <p:nvPr/>
        </p:nvSpPr>
        <p:spPr bwMode="auto">
          <a:xfrm>
            <a:off x="4400550" y="4778375"/>
            <a:ext cx="862013" cy="258763"/>
          </a:xfrm>
          <a:prstGeom prst="rect">
            <a:avLst/>
          </a:prstGeom>
          <a:noFill/>
          <a:ln w="9525">
            <a:noFill/>
            <a:miter lim="800000"/>
            <a:headEnd/>
            <a:tailEnd/>
          </a:ln>
        </p:spPr>
        <p:txBody>
          <a:bodyPr wrap="none" lIns="0" tIns="0" rIns="0" bIns="0">
            <a:spAutoFit/>
          </a:bodyPr>
          <a:lstStyle/>
          <a:p>
            <a:r>
              <a:rPr lang="ru-RU" altLang="ru-RU" sz="1700">
                <a:solidFill>
                  <a:srgbClr val="000000"/>
                </a:solidFill>
              </a:rPr>
              <a:t>ОКС №7</a:t>
            </a:r>
            <a:endParaRPr lang="ru-RU" altLang="ru-RU" sz="1400">
              <a:latin typeface="Times New Roman" pitchFamily="18" charset="0"/>
            </a:endParaRPr>
          </a:p>
        </p:txBody>
      </p:sp>
      <p:sp>
        <p:nvSpPr>
          <p:cNvPr id="36878" name="Oval 14"/>
          <p:cNvSpPr>
            <a:spLocks noChangeArrowheads="1"/>
          </p:cNvSpPr>
          <p:nvPr/>
        </p:nvSpPr>
        <p:spPr bwMode="auto">
          <a:xfrm>
            <a:off x="4129088" y="2505075"/>
            <a:ext cx="1395412" cy="750888"/>
          </a:xfrm>
          <a:prstGeom prst="ellipse">
            <a:avLst/>
          </a:prstGeom>
          <a:solidFill>
            <a:srgbClr val="FFFFFF"/>
          </a:solidFill>
          <a:ln w="17463">
            <a:solidFill>
              <a:srgbClr val="0000FF"/>
            </a:solidFill>
            <a:round/>
            <a:headEnd/>
            <a:tailEnd/>
          </a:ln>
        </p:spPr>
        <p:txBody>
          <a:bodyPr/>
          <a:lstStyle/>
          <a:p>
            <a:pPr eaLnBrk="1" hangingPunct="1"/>
            <a:endParaRPr lang="ru-RU"/>
          </a:p>
        </p:txBody>
      </p:sp>
      <p:sp>
        <p:nvSpPr>
          <p:cNvPr id="36879" name="Rectangle 15"/>
          <p:cNvSpPr>
            <a:spLocks noChangeArrowheads="1"/>
          </p:cNvSpPr>
          <p:nvPr/>
        </p:nvSpPr>
        <p:spPr bwMode="auto">
          <a:xfrm>
            <a:off x="4454525" y="2635250"/>
            <a:ext cx="757238" cy="258763"/>
          </a:xfrm>
          <a:prstGeom prst="rect">
            <a:avLst/>
          </a:prstGeom>
          <a:noFill/>
          <a:ln w="9525">
            <a:noFill/>
            <a:miter lim="800000"/>
            <a:headEnd/>
            <a:tailEnd/>
          </a:ln>
        </p:spPr>
        <p:txBody>
          <a:bodyPr wrap="none" lIns="0" tIns="0" rIns="0" bIns="0">
            <a:spAutoFit/>
          </a:bodyPr>
          <a:lstStyle/>
          <a:p>
            <a:r>
              <a:rPr lang="ru-RU" altLang="ru-RU" sz="1700">
                <a:solidFill>
                  <a:srgbClr val="000000"/>
                </a:solidFill>
              </a:rPr>
              <a:t>TCP/IP </a:t>
            </a:r>
            <a:endParaRPr lang="ru-RU" altLang="ru-RU" sz="1400">
              <a:latin typeface="Times New Roman" pitchFamily="18" charset="0"/>
            </a:endParaRPr>
          </a:p>
        </p:txBody>
      </p:sp>
      <p:sp>
        <p:nvSpPr>
          <p:cNvPr id="36880" name="Rectangle 16"/>
          <p:cNvSpPr>
            <a:spLocks noChangeArrowheads="1"/>
          </p:cNvSpPr>
          <p:nvPr/>
        </p:nvSpPr>
        <p:spPr bwMode="auto">
          <a:xfrm>
            <a:off x="4395788" y="2849563"/>
            <a:ext cx="873125"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или X.25</a:t>
            </a:r>
            <a:endParaRPr lang="ru-RU" altLang="ru-RU" sz="1400">
              <a:latin typeface="Times New Roman" pitchFamily="18" charset="0"/>
            </a:endParaRPr>
          </a:p>
        </p:txBody>
      </p:sp>
      <p:sp>
        <p:nvSpPr>
          <p:cNvPr id="36881" name="Rectangle 17"/>
          <p:cNvSpPr>
            <a:spLocks noChangeArrowheads="1"/>
          </p:cNvSpPr>
          <p:nvPr/>
        </p:nvSpPr>
        <p:spPr bwMode="auto">
          <a:xfrm>
            <a:off x="4579938" y="4992688"/>
            <a:ext cx="504825"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INAP</a:t>
            </a:r>
            <a:endParaRPr lang="ru-RU" altLang="ru-RU" sz="1400">
              <a:latin typeface="Times New Roman" pitchFamily="18" charset="0"/>
            </a:endParaRPr>
          </a:p>
        </p:txBody>
      </p:sp>
      <p:sp>
        <p:nvSpPr>
          <p:cNvPr id="36882" name="Rectangle 18"/>
          <p:cNvSpPr>
            <a:spLocks noChangeArrowheads="1"/>
          </p:cNvSpPr>
          <p:nvPr/>
        </p:nvSpPr>
        <p:spPr bwMode="auto">
          <a:xfrm>
            <a:off x="2900363" y="4868863"/>
            <a:ext cx="698500"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SSP/IP</a:t>
            </a:r>
            <a:endParaRPr lang="ru-RU" altLang="ru-RU" sz="1400">
              <a:latin typeface="Times New Roman" pitchFamily="18" charset="0"/>
            </a:endParaRPr>
          </a:p>
        </p:txBody>
      </p:sp>
      <p:sp>
        <p:nvSpPr>
          <p:cNvPr id="36883" name="Oval 19"/>
          <p:cNvSpPr>
            <a:spLocks noChangeArrowheads="1"/>
          </p:cNvSpPr>
          <p:nvPr/>
        </p:nvSpPr>
        <p:spPr bwMode="auto">
          <a:xfrm>
            <a:off x="4343400" y="5503863"/>
            <a:ext cx="1076325" cy="644525"/>
          </a:xfrm>
          <a:prstGeom prst="ellipse">
            <a:avLst/>
          </a:prstGeom>
          <a:solidFill>
            <a:srgbClr val="FFFFFF"/>
          </a:solidFill>
          <a:ln w="17463">
            <a:solidFill>
              <a:srgbClr val="0000FF"/>
            </a:solidFill>
            <a:round/>
            <a:headEnd/>
            <a:tailEnd/>
          </a:ln>
        </p:spPr>
        <p:txBody>
          <a:bodyPr/>
          <a:lstStyle/>
          <a:p>
            <a:pPr eaLnBrk="1" hangingPunct="1"/>
            <a:endParaRPr lang="ru-RU"/>
          </a:p>
        </p:txBody>
      </p:sp>
      <p:sp>
        <p:nvSpPr>
          <p:cNvPr id="36884" name="Rectangle 20"/>
          <p:cNvSpPr>
            <a:spLocks noChangeArrowheads="1"/>
          </p:cNvSpPr>
          <p:nvPr/>
        </p:nvSpPr>
        <p:spPr bwMode="auto">
          <a:xfrm>
            <a:off x="4522788" y="5634038"/>
            <a:ext cx="619125"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ТФОП</a:t>
            </a:r>
            <a:endParaRPr lang="ru-RU" altLang="ru-RU" sz="1400">
              <a:latin typeface="Times New Roman" pitchFamily="18" charset="0"/>
            </a:endParaRPr>
          </a:p>
        </p:txBody>
      </p:sp>
      <p:sp>
        <p:nvSpPr>
          <p:cNvPr id="36885" name="Rectangle 21"/>
          <p:cNvSpPr>
            <a:spLocks noChangeArrowheads="1"/>
          </p:cNvSpPr>
          <p:nvPr/>
        </p:nvSpPr>
        <p:spPr bwMode="auto">
          <a:xfrm>
            <a:off x="6356350" y="4868863"/>
            <a:ext cx="433388"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SSP</a:t>
            </a:r>
            <a:endParaRPr lang="ru-RU" altLang="ru-RU" sz="1400">
              <a:latin typeface="Times New Roman" pitchFamily="18" charset="0"/>
            </a:endParaRPr>
          </a:p>
        </p:txBody>
      </p:sp>
      <p:sp>
        <p:nvSpPr>
          <p:cNvPr id="36886" name="Rectangle 22"/>
          <p:cNvSpPr>
            <a:spLocks noChangeArrowheads="1"/>
          </p:cNvSpPr>
          <p:nvPr/>
        </p:nvSpPr>
        <p:spPr bwMode="auto">
          <a:xfrm>
            <a:off x="5708650" y="2205038"/>
            <a:ext cx="588963"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SCEP</a:t>
            </a:r>
            <a:endParaRPr lang="ru-RU" altLang="ru-RU" sz="1400">
              <a:latin typeface="Times New Roman" pitchFamily="18" charset="0"/>
            </a:endParaRPr>
          </a:p>
        </p:txBody>
      </p:sp>
      <p:pic>
        <p:nvPicPr>
          <p:cNvPr id="36887" name="Picture 23" descr="Рисунок1"/>
          <p:cNvPicPr>
            <a:picLocks noChangeAspect="1" noChangeArrowheads="1"/>
          </p:cNvPicPr>
          <p:nvPr/>
        </p:nvPicPr>
        <p:blipFill>
          <a:blip r:embed="rId2" cstate="print"/>
          <a:srcRect/>
          <a:stretch>
            <a:fillRect/>
          </a:stretch>
        </p:blipFill>
        <p:spPr bwMode="auto">
          <a:xfrm>
            <a:off x="3203575" y="2420938"/>
            <a:ext cx="603250" cy="884237"/>
          </a:xfrm>
          <a:prstGeom prst="rect">
            <a:avLst/>
          </a:prstGeom>
          <a:noFill/>
          <a:ln w="9525">
            <a:noFill/>
            <a:miter lim="800000"/>
            <a:headEnd/>
            <a:tailEnd/>
          </a:ln>
        </p:spPr>
      </p:pic>
      <p:pic>
        <p:nvPicPr>
          <p:cNvPr id="36888" name="Picture 24" descr="Рисунок1"/>
          <p:cNvPicPr>
            <a:picLocks noChangeAspect="1" noChangeArrowheads="1"/>
          </p:cNvPicPr>
          <p:nvPr/>
        </p:nvPicPr>
        <p:blipFill>
          <a:blip r:embed="rId2" cstate="print"/>
          <a:srcRect/>
          <a:stretch>
            <a:fillRect/>
          </a:stretch>
        </p:blipFill>
        <p:spPr bwMode="auto">
          <a:xfrm>
            <a:off x="5795963" y="2420938"/>
            <a:ext cx="603250" cy="884237"/>
          </a:xfrm>
          <a:prstGeom prst="rect">
            <a:avLst/>
          </a:prstGeom>
          <a:noFill/>
          <a:ln w="9525">
            <a:noFill/>
            <a:miter lim="800000"/>
            <a:headEnd/>
            <a:tailEnd/>
          </a:ln>
        </p:spPr>
      </p:pic>
      <p:pic>
        <p:nvPicPr>
          <p:cNvPr id="36889" name="Picture 25" descr="Рисунок1"/>
          <p:cNvPicPr>
            <a:picLocks noChangeAspect="1" noChangeArrowheads="1"/>
          </p:cNvPicPr>
          <p:nvPr/>
        </p:nvPicPr>
        <p:blipFill>
          <a:blip r:embed="rId2" cstate="print"/>
          <a:srcRect/>
          <a:stretch>
            <a:fillRect/>
          </a:stretch>
        </p:blipFill>
        <p:spPr bwMode="auto">
          <a:xfrm>
            <a:off x="4859338" y="3429000"/>
            <a:ext cx="603250" cy="884238"/>
          </a:xfrm>
          <a:prstGeom prst="rect">
            <a:avLst/>
          </a:prstGeom>
          <a:noFill/>
          <a:ln w="9525">
            <a:noFill/>
            <a:miter lim="800000"/>
            <a:headEnd/>
            <a:tailEnd/>
          </a:ln>
        </p:spPr>
      </p:pic>
      <p:pic>
        <p:nvPicPr>
          <p:cNvPr id="36890" name="Picture 26" descr="Рисунок1"/>
          <p:cNvPicPr>
            <a:picLocks noChangeAspect="1" noChangeArrowheads="1"/>
          </p:cNvPicPr>
          <p:nvPr/>
        </p:nvPicPr>
        <p:blipFill>
          <a:blip r:embed="rId2" cstate="print"/>
          <a:srcRect/>
          <a:stretch>
            <a:fillRect/>
          </a:stretch>
        </p:blipFill>
        <p:spPr bwMode="auto">
          <a:xfrm>
            <a:off x="4427538" y="3429000"/>
            <a:ext cx="603250" cy="884238"/>
          </a:xfrm>
          <a:prstGeom prst="rect">
            <a:avLst/>
          </a:prstGeom>
          <a:noFill/>
          <a:ln w="9525">
            <a:noFill/>
            <a:miter lim="800000"/>
            <a:headEnd/>
            <a:tailEnd/>
          </a:ln>
        </p:spPr>
      </p:pic>
      <p:pic>
        <p:nvPicPr>
          <p:cNvPr id="36891" name="Picture 27" descr="Рисунок1"/>
          <p:cNvPicPr>
            <a:picLocks noChangeAspect="1" noChangeArrowheads="1"/>
          </p:cNvPicPr>
          <p:nvPr/>
        </p:nvPicPr>
        <p:blipFill>
          <a:blip r:embed="rId2" cstate="print"/>
          <a:srcRect/>
          <a:stretch>
            <a:fillRect/>
          </a:stretch>
        </p:blipFill>
        <p:spPr bwMode="auto">
          <a:xfrm>
            <a:off x="3419475" y="5156200"/>
            <a:ext cx="603250" cy="884238"/>
          </a:xfrm>
          <a:prstGeom prst="rect">
            <a:avLst/>
          </a:prstGeom>
          <a:noFill/>
          <a:ln w="9525">
            <a:noFill/>
            <a:miter lim="800000"/>
            <a:headEnd/>
            <a:tailEnd/>
          </a:ln>
        </p:spPr>
      </p:pic>
      <p:pic>
        <p:nvPicPr>
          <p:cNvPr id="36892" name="Picture 28" descr="Рисунок1"/>
          <p:cNvPicPr>
            <a:picLocks noChangeAspect="1" noChangeArrowheads="1"/>
          </p:cNvPicPr>
          <p:nvPr/>
        </p:nvPicPr>
        <p:blipFill>
          <a:blip r:embed="rId2" cstate="print"/>
          <a:srcRect/>
          <a:stretch>
            <a:fillRect/>
          </a:stretch>
        </p:blipFill>
        <p:spPr bwMode="auto">
          <a:xfrm>
            <a:off x="2987675" y="5156200"/>
            <a:ext cx="603250" cy="884238"/>
          </a:xfrm>
          <a:prstGeom prst="rect">
            <a:avLst/>
          </a:prstGeom>
          <a:noFill/>
          <a:ln w="9525">
            <a:noFill/>
            <a:miter lim="800000"/>
            <a:headEnd/>
            <a:tailEnd/>
          </a:ln>
        </p:spPr>
      </p:pic>
      <p:pic>
        <p:nvPicPr>
          <p:cNvPr id="36893" name="Picture 29" descr="Рисунок1"/>
          <p:cNvPicPr>
            <a:picLocks noChangeAspect="1" noChangeArrowheads="1"/>
          </p:cNvPicPr>
          <p:nvPr/>
        </p:nvPicPr>
        <p:blipFill>
          <a:blip r:embed="rId2" cstate="print"/>
          <a:srcRect/>
          <a:stretch>
            <a:fillRect/>
          </a:stretch>
        </p:blipFill>
        <p:spPr bwMode="auto">
          <a:xfrm>
            <a:off x="2555875" y="5156200"/>
            <a:ext cx="603250" cy="884238"/>
          </a:xfrm>
          <a:prstGeom prst="rect">
            <a:avLst/>
          </a:prstGeom>
          <a:noFill/>
          <a:ln w="9525">
            <a:noFill/>
            <a:miter lim="800000"/>
            <a:headEnd/>
            <a:tailEnd/>
          </a:ln>
        </p:spPr>
      </p:pic>
      <p:pic>
        <p:nvPicPr>
          <p:cNvPr id="36894" name="Picture 30" descr="Рисунок1"/>
          <p:cNvPicPr>
            <a:picLocks noChangeAspect="1" noChangeArrowheads="1"/>
          </p:cNvPicPr>
          <p:nvPr/>
        </p:nvPicPr>
        <p:blipFill>
          <a:blip r:embed="rId2" cstate="print"/>
          <a:srcRect/>
          <a:stretch>
            <a:fillRect/>
          </a:stretch>
        </p:blipFill>
        <p:spPr bwMode="auto">
          <a:xfrm>
            <a:off x="6659563" y="5229225"/>
            <a:ext cx="603250" cy="884238"/>
          </a:xfrm>
          <a:prstGeom prst="rect">
            <a:avLst/>
          </a:prstGeom>
          <a:noFill/>
          <a:ln w="9525">
            <a:noFill/>
            <a:miter lim="800000"/>
            <a:headEnd/>
            <a:tailEnd/>
          </a:ln>
        </p:spPr>
      </p:pic>
      <p:pic>
        <p:nvPicPr>
          <p:cNvPr id="36895" name="Picture 31" descr="Рисунок1"/>
          <p:cNvPicPr>
            <a:picLocks noChangeAspect="1" noChangeArrowheads="1"/>
          </p:cNvPicPr>
          <p:nvPr/>
        </p:nvPicPr>
        <p:blipFill>
          <a:blip r:embed="rId2" cstate="print"/>
          <a:srcRect/>
          <a:stretch>
            <a:fillRect/>
          </a:stretch>
        </p:blipFill>
        <p:spPr bwMode="auto">
          <a:xfrm>
            <a:off x="6227763" y="5229225"/>
            <a:ext cx="603250" cy="884238"/>
          </a:xfrm>
          <a:prstGeom prst="rect">
            <a:avLst/>
          </a:prstGeom>
          <a:noFill/>
          <a:ln w="9525">
            <a:noFill/>
            <a:miter lim="800000"/>
            <a:headEnd/>
            <a:tailEnd/>
          </a:ln>
        </p:spPr>
      </p:pic>
      <p:pic>
        <p:nvPicPr>
          <p:cNvPr id="36896" name="Picture 32" descr="Рисунок1"/>
          <p:cNvPicPr>
            <a:picLocks noChangeAspect="1" noChangeArrowheads="1"/>
          </p:cNvPicPr>
          <p:nvPr/>
        </p:nvPicPr>
        <p:blipFill>
          <a:blip r:embed="rId2" cstate="print"/>
          <a:srcRect/>
          <a:stretch>
            <a:fillRect/>
          </a:stretch>
        </p:blipFill>
        <p:spPr bwMode="auto">
          <a:xfrm>
            <a:off x="5795963" y="5229225"/>
            <a:ext cx="603250" cy="884238"/>
          </a:xfrm>
          <a:prstGeom prst="rect">
            <a:avLst/>
          </a:prstGeom>
          <a:noFill/>
          <a:ln w="9525">
            <a:noFill/>
            <a:miter lim="800000"/>
            <a:headEnd/>
            <a:tailEnd/>
          </a:ln>
        </p:spPr>
      </p:pic>
      <p:pic>
        <p:nvPicPr>
          <p:cNvPr id="36897" name="Picture 36" descr="Data"/>
          <p:cNvPicPr>
            <a:picLocks noChangeAspect="1" noChangeArrowheads="1"/>
          </p:cNvPicPr>
          <p:nvPr/>
        </p:nvPicPr>
        <p:blipFill>
          <a:blip r:embed="rId3" cstate="print"/>
          <a:srcRect/>
          <a:stretch>
            <a:fillRect/>
          </a:stretch>
        </p:blipFill>
        <p:spPr bwMode="auto">
          <a:xfrm>
            <a:off x="3419475" y="3573463"/>
            <a:ext cx="792163" cy="576262"/>
          </a:xfrm>
          <a:prstGeom prst="rect">
            <a:avLst/>
          </a:prstGeom>
          <a:noFill/>
          <a:ln w="9525">
            <a:noFill/>
            <a:miter lim="800000"/>
            <a:headEnd/>
            <a:tailEnd/>
          </a:ln>
        </p:spPr>
      </p:pic>
      <p:sp>
        <p:nvSpPr>
          <p:cNvPr id="36898" name="Rectangle 68"/>
          <p:cNvSpPr>
            <a:spLocks noChangeArrowheads="1"/>
          </p:cNvSpPr>
          <p:nvPr/>
        </p:nvSpPr>
        <p:spPr bwMode="auto">
          <a:xfrm>
            <a:off x="2916238" y="3716338"/>
            <a:ext cx="287337" cy="258762"/>
          </a:xfrm>
          <a:prstGeom prst="rect">
            <a:avLst/>
          </a:prstGeom>
          <a:noFill/>
          <a:ln w="9525">
            <a:noFill/>
            <a:miter lim="800000"/>
            <a:headEnd/>
            <a:tailEnd/>
          </a:ln>
        </p:spPr>
        <p:txBody>
          <a:bodyPr wrap="none" lIns="0" tIns="0" rIns="0" bIns="0">
            <a:spAutoFit/>
          </a:bodyPr>
          <a:lstStyle/>
          <a:p>
            <a:r>
              <a:rPr lang="ru-RU" altLang="ru-RU" sz="1700">
                <a:solidFill>
                  <a:srgbClr val="000000"/>
                </a:solidFill>
              </a:rPr>
              <a:t>БД</a:t>
            </a:r>
            <a:endParaRPr lang="ru-RU" altLang="ru-RU" sz="1400">
              <a:latin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fontScale="90000"/>
          </a:bodyPr>
          <a:lstStyle/>
          <a:p>
            <a:r>
              <a:rPr lang="ru-RU" b="1" dirty="0" smtClean="0"/>
              <a:t/>
            </a:r>
            <a:br>
              <a:rPr lang="ru-RU" b="1" dirty="0" smtClean="0"/>
            </a:br>
            <a:r>
              <a:rPr lang="ru-RU" sz="3100" b="1" dirty="0" smtClean="0">
                <a:solidFill>
                  <a:srgbClr val="002060"/>
                </a:solidFill>
              </a:rPr>
              <a:t>Принципы построения интеллектуальной сети(1/2)</a:t>
            </a:r>
            <a:r>
              <a:rPr lang="ru-RU" sz="3600" dirty="0" smtClean="0">
                <a:solidFill>
                  <a:srgbClr val="002060"/>
                </a:solidFill>
              </a:rPr>
              <a:t/>
            </a:r>
            <a:br>
              <a:rPr lang="ru-RU" sz="3600" dirty="0" smtClean="0">
                <a:solidFill>
                  <a:srgbClr val="002060"/>
                </a:solidFill>
              </a:rPr>
            </a:br>
            <a:endParaRPr lang="ru-RU" sz="3600" dirty="0">
              <a:solidFill>
                <a:srgbClr val="002060"/>
              </a:solidFill>
            </a:endParaRPr>
          </a:p>
        </p:txBody>
      </p:sp>
      <p:sp>
        <p:nvSpPr>
          <p:cNvPr id="3" name="Содержимое 2"/>
          <p:cNvSpPr>
            <a:spLocks noGrp="1"/>
          </p:cNvSpPr>
          <p:nvPr>
            <p:ph idx="1"/>
          </p:nvPr>
        </p:nvSpPr>
        <p:spPr>
          <a:xfrm>
            <a:off x="0" y="764704"/>
            <a:ext cx="9144000" cy="6093296"/>
          </a:xfrm>
        </p:spPr>
        <p:txBody>
          <a:bodyPr>
            <a:noAutofit/>
          </a:bodyPr>
          <a:lstStyle/>
          <a:p>
            <a:r>
              <a:rPr lang="ru-RU" sz="2000" b="1" dirty="0" smtClean="0"/>
              <a:t>Станции, подключающие абонентов к интеллектуальной сети, включены в обычную телефонную сеть и называются Узлом Коммутации Услуг </a:t>
            </a:r>
            <a:r>
              <a:rPr lang="ru-RU" sz="2000" b="1" i="1" dirty="0" smtClean="0"/>
              <a:t>SSP.</a:t>
            </a:r>
          </a:p>
          <a:p>
            <a:r>
              <a:rPr lang="ru-RU" sz="2000" dirty="0" smtClean="0"/>
              <a:t>  </a:t>
            </a:r>
            <a:r>
              <a:rPr lang="ru-RU" sz="2000" b="1" dirty="0" smtClean="0"/>
              <a:t>Узлом Коммутации Услуг </a:t>
            </a:r>
            <a:r>
              <a:rPr lang="ru-RU" sz="2000" b="1" i="1" dirty="0" smtClean="0"/>
              <a:t>SSP</a:t>
            </a:r>
            <a:r>
              <a:rPr lang="ru-RU" sz="2000" b="1" dirty="0" smtClean="0"/>
              <a:t> осуществляется первоначальный прием номера</a:t>
            </a:r>
            <a:r>
              <a:rPr lang="ru-RU" sz="2000" dirty="0" smtClean="0"/>
              <a:t> и подключение соединения к </a:t>
            </a:r>
            <a:r>
              <a:rPr lang="ru-RU" sz="2000" b="1" dirty="0" smtClean="0"/>
              <a:t>узлу управления услугами </a:t>
            </a:r>
            <a:r>
              <a:rPr lang="en-US" sz="2000" b="1" dirty="0" smtClean="0"/>
              <a:t>SCP</a:t>
            </a:r>
            <a:r>
              <a:rPr lang="ru-RU" sz="2000" b="1" dirty="0" smtClean="0"/>
              <a:t>. </a:t>
            </a:r>
            <a:r>
              <a:rPr lang="ru-RU" sz="2000" dirty="0" smtClean="0"/>
              <a:t>  </a:t>
            </a:r>
            <a:r>
              <a:rPr lang="en-US" sz="2000" b="1" u="sng" dirty="0" smtClean="0"/>
              <a:t>         </a:t>
            </a:r>
            <a:endParaRPr lang="ru-RU" sz="2000" u="sng" dirty="0" smtClean="0"/>
          </a:p>
          <a:p>
            <a:r>
              <a:rPr lang="ru-RU" sz="2000" b="1" dirty="0" smtClean="0"/>
              <a:t>Передача  информации к узлу управления услугами </a:t>
            </a:r>
            <a:r>
              <a:rPr lang="en-US" sz="2000" b="1" dirty="0" smtClean="0"/>
              <a:t>SCP</a:t>
            </a:r>
            <a:r>
              <a:rPr lang="ru-RU" sz="2000" b="1" dirty="0" smtClean="0"/>
              <a:t> </a:t>
            </a:r>
            <a:r>
              <a:rPr lang="ru-RU" sz="2000" dirty="0" smtClean="0"/>
              <a:t>осуществляется  по протоколу ОКС7  с подсистемой INAP, т. е. системой, предназначенной для передачи сигналов  интеллектуальной сети. </a:t>
            </a:r>
          </a:p>
          <a:p>
            <a:r>
              <a:rPr lang="ru-RU" sz="2000" dirty="0" smtClean="0"/>
              <a:t>В обычную станцию могут быть включены приборы для реализации дополнительных функций </a:t>
            </a:r>
            <a:r>
              <a:rPr lang="ru-RU" sz="2000" b="1" dirty="0" smtClean="0"/>
              <a:t>Интеллектуальная Периферия </a:t>
            </a:r>
            <a:r>
              <a:rPr lang="ru-RU" sz="2000" b="1" dirty="0" err="1" smtClean="0"/>
              <a:t>IPr</a:t>
            </a:r>
            <a:r>
              <a:rPr lang="ru-RU" sz="2000" b="1" dirty="0" smtClean="0"/>
              <a:t> </a:t>
            </a:r>
            <a:r>
              <a:rPr lang="ru-RU" sz="2000" dirty="0" smtClean="0"/>
              <a:t>—например, </a:t>
            </a:r>
            <a:r>
              <a:rPr lang="ru-RU" sz="2000" b="1" dirty="0" smtClean="0"/>
              <a:t>поддерживающие диалоги с абонентами</a:t>
            </a:r>
            <a:r>
              <a:rPr lang="ru-RU" sz="2000" dirty="0" smtClean="0"/>
              <a:t>:</a:t>
            </a:r>
          </a:p>
          <a:p>
            <a:pPr>
              <a:buNone/>
            </a:pPr>
            <a:r>
              <a:rPr lang="ru-RU" sz="2000" dirty="0" smtClean="0"/>
              <a:t>           -</a:t>
            </a:r>
            <a:r>
              <a:rPr lang="en-US" sz="2000" dirty="0" smtClean="0"/>
              <a:t> </a:t>
            </a:r>
            <a:r>
              <a:rPr lang="ru-RU" sz="2000" dirty="0" smtClean="0"/>
              <a:t>это приглашение к набору цифр, </a:t>
            </a:r>
          </a:p>
          <a:p>
            <a:pPr>
              <a:buNone/>
            </a:pPr>
            <a:r>
              <a:rPr lang="ru-RU" sz="2000" dirty="0" smtClean="0"/>
              <a:t>           - информация о стоимости услуги</a:t>
            </a:r>
          </a:p>
          <a:p>
            <a:pPr>
              <a:buNone/>
            </a:pPr>
            <a:r>
              <a:rPr lang="ru-RU" sz="2000" dirty="0" smtClean="0"/>
              <a:t>           -  величине кредита и т. п. </a:t>
            </a:r>
          </a:p>
          <a:p>
            <a:pPr>
              <a:buNone/>
            </a:pPr>
            <a:r>
              <a:rPr lang="ru-RU" sz="2000" dirty="0" smtClean="0"/>
              <a:t>       Вся информация, дополнительно поступающая от абонента, представлена в многочастотном коде. </a:t>
            </a:r>
          </a:p>
          <a:p>
            <a:pPr>
              <a:buNone/>
            </a:pPr>
            <a:r>
              <a:rPr lang="ru-RU" sz="2000" dirty="0" smtClean="0"/>
              <a:t>       </a:t>
            </a:r>
            <a:r>
              <a:rPr lang="ru-RU" sz="2000" b="1" dirty="0" smtClean="0"/>
              <a:t>Для подключения </a:t>
            </a:r>
            <a:r>
              <a:rPr lang="ru-RU" sz="2000" b="1" i="1" dirty="0" err="1" smtClean="0"/>
              <a:t>IPr</a:t>
            </a:r>
            <a:r>
              <a:rPr lang="ru-RU" sz="2000" b="1" dirty="0" smtClean="0"/>
              <a:t> к узлу коммутации (</a:t>
            </a:r>
            <a:r>
              <a:rPr lang="ru-RU" sz="2000" b="1" i="1" dirty="0" smtClean="0"/>
              <a:t>SCP</a:t>
            </a:r>
            <a:r>
              <a:rPr lang="ru-RU" sz="2000" b="1" dirty="0" smtClean="0"/>
              <a:t>) используются соединительные линии с сигнализацией,</a:t>
            </a:r>
            <a:r>
              <a:rPr lang="ru-RU" sz="2000" dirty="0" smtClean="0"/>
              <a:t> которая реализует протоколы DSS1 первичного доступа ISDN.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a:bodyPr>
          <a:lstStyle/>
          <a:p>
            <a:r>
              <a:rPr lang="ru-RU" sz="2800" b="1" dirty="0" smtClean="0">
                <a:solidFill>
                  <a:srgbClr val="002060"/>
                </a:solidFill>
              </a:rPr>
              <a:t>Принципы построения интеллектуальной сети(2/2)</a:t>
            </a:r>
            <a:endParaRPr lang="ru-RU" sz="2800" dirty="0"/>
          </a:p>
        </p:txBody>
      </p:sp>
      <p:sp>
        <p:nvSpPr>
          <p:cNvPr id="3" name="Содержимое 2"/>
          <p:cNvSpPr>
            <a:spLocks noGrp="1"/>
          </p:cNvSpPr>
          <p:nvPr>
            <p:ph idx="1"/>
          </p:nvPr>
        </p:nvSpPr>
        <p:spPr>
          <a:xfrm>
            <a:off x="0" y="692696"/>
            <a:ext cx="9144000" cy="6165304"/>
          </a:xfrm>
        </p:spPr>
        <p:txBody>
          <a:bodyPr>
            <a:normAutofit fontScale="62500" lnSpcReduction="20000"/>
          </a:bodyPr>
          <a:lstStyle/>
          <a:p>
            <a:r>
              <a:rPr lang="ru-RU" sz="3800" b="1" u="sng" dirty="0" smtClean="0"/>
              <a:t>Узел управления услугами </a:t>
            </a:r>
            <a:r>
              <a:rPr lang="ru-RU" sz="3800" b="1" i="1" u="sng" dirty="0" smtClean="0"/>
              <a:t>SCP</a:t>
            </a:r>
            <a:r>
              <a:rPr lang="ru-RU" sz="3800" b="1" dirty="0" smtClean="0"/>
              <a:t> (Service </a:t>
            </a:r>
            <a:r>
              <a:rPr lang="ru-RU" sz="3800" b="1" dirty="0" err="1" smtClean="0"/>
              <a:t>Control</a:t>
            </a:r>
            <a:r>
              <a:rPr lang="ru-RU" sz="3800" b="1" dirty="0" smtClean="0"/>
              <a:t> </a:t>
            </a:r>
            <a:r>
              <a:rPr lang="ru-RU" sz="3800" b="1" dirty="0" err="1" smtClean="0"/>
              <a:t>Point</a:t>
            </a:r>
            <a:r>
              <a:rPr lang="ru-RU" sz="3800" b="1" dirty="0" smtClean="0"/>
              <a:t>) </a:t>
            </a:r>
            <a:r>
              <a:rPr lang="ru-RU" sz="3800" dirty="0" smtClean="0"/>
              <a:t>содержит программы, централизовано реализующие логику услуг.</a:t>
            </a:r>
          </a:p>
          <a:p>
            <a:r>
              <a:rPr lang="ru-RU" sz="3800" dirty="0" smtClean="0"/>
              <a:t> В зависимости от принятой информации он дистанционно, с помощью канала сигнализации управляет коммутационным узлом </a:t>
            </a:r>
            <a:r>
              <a:rPr lang="ru-RU" sz="3800" i="1" dirty="0" smtClean="0"/>
              <a:t>SSP</a:t>
            </a:r>
            <a:r>
              <a:rPr lang="ru-RU" sz="3800" dirty="0" smtClean="0"/>
              <a:t>. </a:t>
            </a:r>
          </a:p>
          <a:p>
            <a:r>
              <a:rPr lang="ru-RU" sz="3800" dirty="0" smtClean="0"/>
              <a:t>Например, осуществляет переадресацию вызова на другой коммутационный узел и другие дополнительные коммутационные действия. </a:t>
            </a:r>
          </a:p>
          <a:p>
            <a:r>
              <a:rPr lang="ru-RU" sz="3800" b="1" u="sng" dirty="0" smtClean="0"/>
              <a:t>Коммутационный узел </a:t>
            </a:r>
            <a:r>
              <a:rPr lang="ru-RU" sz="3800" b="1" i="1" u="sng" dirty="0" smtClean="0"/>
              <a:t>SSP </a:t>
            </a:r>
            <a:r>
              <a:rPr lang="ru-RU" sz="3800" dirty="0" smtClean="0"/>
              <a:t>после выполнения коммутационных действий приостанавливает свою работу до получения новых инструкций от узла управления услугами</a:t>
            </a:r>
            <a:r>
              <a:rPr lang="ru-RU" sz="3800" b="1" i="1" dirty="0" smtClean="0"/>
              <a:t> SCP</a:t>
            </a:r>
            <a:r>
              <a:rPr lang="ru-RU" sz="3800" dirty="0" smtClean="0"/>
              <a:t>, вплоть до разъединения.</a:t>
            </a:r>
          </a:p>
          <a:p>
            <a:r>
              <a:rPr lang="ru-RU" sz="3800" b="1" u="sng" dirty="0" smtClean="0"/>
              <a:t>Система эксплуатационного управления и среда создания услуг (SMP/SCEP </a:t>
            </a:r>
            <a:r>
              <a:rPr lang="ru-RU" sz="3800" dirty="0" smtClean="0"/>
              <a:t>— Service </a:t>
            </a:r>
            <a:r>
              <a:rPr lang="ru-RU" sz="3800" dirty="0" err="1" smtClean="0"/>
              <a:t>management</a:t>
            </a:r>
            <a:r>
              <a:rPr lang="ru-RU" sz="3800" dirty="0" smtClean="0"/>
              <a:t> </a:t>
            </a:r>
            <a:r>
              <a:rPr lang="ru-RU" sz="3800" dirty="0" err="1" smtClean="0"/>
              <a:t>point</a:t>
            </a:r>
            <a:r>
              <a:rPr lang="ru-RU" sz="3800" dirty="0" smtClean="0"/>
              <a:t> / Service </a:t>
            </a:r>
            <a:r>
              <a:rPr lang="ru-RU" sz="3800" dirty="0" err="1" smtClean="0"/>
              <a:t>Creation</a:t>
            </a:r>
            <a:r>
              <a:rPr lang="ru-RU" sz="3800" dirty="0" smtClean="0"/>
              <a:t> </a:t>
            </a:r>
            <a:r>
              <a:rPr lang="ru-RU" sz="3800" dirty="0" err="1" smtClean="0"/>
              <a:t>Environment</a:t>
            </a:r>
            <a:r>
              <a:rPr lang="ru-RU" sz="3800" dirty="0" smtClean="0"/>
              <a:t> </a:t>
            </a:r>
            <a:r>
              <a:rPr lang="ru-RU" sz="3800" dirty="0" err="1" smtClean="0"/>
              <a:t>Point</a:t>
            </a:r>
            <a:r>
              <a:rPr lang="ru-RU" sz="3800" dirty="0" smtClean="0"/>
              <a:t>) предоставляют оператору возможность:</a:t>
            </a:r>
          </a:p>
          <a:p>
            <a:pPr>
              <a:buNone/>
            </a:pPr>
            <a:r>
              <a:rPr lang="ru-RU" sz="3800" dirty="0" smtClean="0"/>
              <a:t>          - управлять, контролировать;</a:t>
            </a:r>
          </a:p>
          <a:p>
            <a:pPr>
              <a:buNone/>
            </a:pPr>
            <a:r>
              <a:rPr lang="ru-RU" sz="3800" dirty="0" smtClean="0"/>
              <a:t>          - создавать, активизировать;</a:t>
            </a:r>
          </a:p>
          <a:p>
            <a:pPr>
              <a:buNone/>
            </a:pPr>
            <a:r>
              <a:rPr lang="ru-RU" sz="3800" dirty="0" smtClean="0"/>
              <a:t>          - отменять услуги.</a:t>
            </a:r>
          </a:p>
          <a:p>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490066"/>
          </a:xfrm>
        </p:spPr>
        <p:txBody>
          <a:bodyPr>
            <a:noAutofit/>
          </a:bodyPr>
          <a:lstStyle/>
          <a:p>
            <a:pPr algn="l"/>
            <a:r>
              <a:rPr lang="ru-RU" sz="3600" b="1" dirty="0" smtClean="0">
                <a:solidFill>
                  <a:srgbClr val="002060"/>
                </a:solidFill>
              </a:rPr>
              <a:t>Пример работы интеллектуальной сети (1/2)</a:t>
            </a:r>
            <a:endParaRPr lang="ru-RU" sz="3600" b="1" dirty="0">
              <a:solidFill>
                <a:srgbClr val="002060"/>
              </a:solidFill>
            </a:endParaRPr>
          </a:p>
        </p:txBody>
      </p:sp>
      <p:sp>
        <p:nvSpPr>
          <p:cNvPr id="3" name="Содержимое 2"/>
          <p:cNvSpPr>
            <a:spLocks noGrp="1"/>
          </p:cNvSpPr>
          <p:nvPr>
            <p:ph idx="1"/>
          </p:nvPr>
        </p:nvSpPr>
        <p:spPr>
          <a:xfrm>
            <a:off x="0" y="836712"/>
            <a:ext cx="9144000" cy="6021288"/>
          </a:xfrm>
        </p:spPr>
        <p:txBody>
          <a:bodyPr>
            <a:normAutofit fontScale="55000" lnSpcReduction="20000"/>
          </a:bodyPr>
          <a:lstStyle/>
          <a:p>
            <a:r>
              <a:rPr lang="ru-RU" sz="3800" u="sng" dirty="0" smtClean="0"/>
              <a:t>Рассмотрим пример работы интеллектуальной сети при реализации услуги "междугороднее соединение по заранее оплаченной карте".</a:t>
            </a:r>
            <a:r>
              <a:rPr lang="ru-RU" sz="3800" dirty="0" smtClean="0"/>
              <a:t> </a:t>
            </a:r>
          </a:p>
          <a:p>
            <a:r>
              <a:rPr lang="ru-RU" sz="3800" dirty="0" smtClean="0"/>
              <a:t>Услуга заключается в том, что абонент заранее покупает карту, при этом он оплачивает определенное количество минут. </a:t>
            </a:r>
          </a:p>
          <a:p>
            <a:r>
              <a:rPr lang="ru-RU" sz="3800" b="1" dirty="0" smtClean="0"/>
              <a:t>С помощью системы управления </a:t>
            </a:r>
            <a:r>
              <a:rPr lang="ru-RU" sz="3800" b="1" i="1" dirty="0" smtClean="0"/>
              <a:t>SCP </a:t>
            </a:r>
            <a:r>
              <a:rPr lang="ru-RU" sz="3800" b="1" dirty="0" smtClean="0"/>
              <a:t>интеллектуальной сетью необходимо</a:t>
            </a:r>
            <a:r>
              <a:rPr lang="ru-RU" sz="3800" dirty="0" smtClean="0"/>
              <a:t>:</a:t>
            </a:r>
          </a:p>
          <a:p>
            <a:pPr>
              <a:buNone/>
            </a:pPr>
            <a:r>
              <a:rPr lang="ru-RU" sz="3800" dirty="0" smtClean="0"/>
              <a:t>        -   проверить правильность специального номера идентификатора карты,</a:t>
            </a:r>
          </a:p>
          <a:p>
            <a:pPr>
              <a:buNone/>
            </a:pPr>
            <a:r>
              <a:rPr lang="ru-RU" sz="3800" dirty="0" smtClean="0"/>
              <a:t>        -   убедиться, что у абонента не исчерпан лимит, и</a:t>
            </a:r>
          </a:p>
          <a:p>
            <a:pPr>
              <a:buNone/>
            </a:pPr>
            <a:r>
              <a:rPr lang="ru-RU" sz="3800" dirty="0" smtClean="0"/>
              <a:t>        -  указать маршрут соединения, поскольку соединение может проходить  </a:t>
            </a:r>
          </a:p>
          <a:p>
            <a:pPr>
              <a:buNone/>
            </a:pPr>
            <a:r>
              <a:rPr lang="ru-RU" sz="3800" dirty="0" smtClean="0"/>
              <a:t>           по  отдельной сети, распространяющей эту карту.</a:t>
            </a:r>
          </a:p>
          <a:p>
            <a:r>
              <a:rPr lang="ru-RU" sz="3800" b="1" dirty="0" smtClean="0"/>
              <a:t>Рассмотрим кратко этот процесс</a:t>
            </a:r>
            <a:r>
              <a:rPr lang="ru-RU" sz="3800" dirty="0" smtClean="0"/>
              <a:t>.</a:t>
            </a:r>
          </a:p>
          <a:p>
            <a:pPr>
              <a:buNone/>
            </a:pPr>
            <a:r>
              <a:rPr lang="ru-RU" sz="3800" dirty="0" smtClean="0"/>
              <a:t>      - После снятия абонентом трубки процесс идет обычным путем.</a:t>
            </a:r>
          </a:p>
          <a:p>
            <a:pPr>
              <a:buNone/>
            </a:pPr>
            <a:r>
              <a:rPr lang="ru-RU" sz="3800" dirty="0" smtClean="0"/>
              <a:t>      - После приема номера (или его части) определяется, что соединение требует выхода </a:t>
            </a:r>
            <a:r>
              <a:rPr lang="ru-RU" sz="3800" b="1" dirty="0" smtClean="0"/>
              <a:t>на узел управления услугами (</a:t>
            </a:r>
            <a:r>
              <a:rPr lang="ru-RU" sz="3800" b="1" i="1" dirty="0" smtClean="0"/>
              <a:t>SCP</a:t>
            </a:r>
            <a:r>
              <a:rPr lang="ru-RU" sz="3800" dirty="0" smtClean="0"/>
              <a:t>).</a:t>
            </a:r>
          </a:p>
          <a:p>
            <a:pPr>
              <a:buNone/>
            </a:pPr>
            <a:r>
              <a:rPr lang="ru-RU" sz="3800" dirty="0" smtClean="0"/>
              <a:t>     -  Устанавливается соответствующее соединение, и </a:t>
            </a:r>
            <a:r>
              <a:rPr lang="ru-RU" sz="3800" b="1" dirty="0" smtClean="0"/>
              <a:t> на </a:t>
            </a:r>
            <a:r>
              <a:rPr lang="ru-RU" sz="3800" b="1" dirty="0" err="1" smtClean="0"/>
              <a:t>на</a:t>
            </a:r>
            <a:r>
              <a:rPr lang="ru-RU" sz="3800" b="1" dirty="0" smtClean="0"/>
              <a:t> узел управления услугами </a:t>
            </a:r>
            <a:r>
              <a:rPr lang="ru-RU" sz="3800" b="1" i="1" dirty="0" smtClean="0"/>
              <a:t>SCP</a:t>
            </a:r>
            <a:r>
              <a:rPr lang="ru-RU" sz="3800" dirty="0" smtClean="0"/>
              <a:t> посылается сигнал, содержащий набранный номер. </a:t>
            </a:r>
          </a:p>
          <a:p>
            <a:pPr>
              <a:buNone/>
            </a:pPr>
            <a:r>
              <a:rPr lang="ru-RU" sz="3800" dirty="0" smtClean="0"/>
              <a:t>     - На станции (</a:t>
            </a:r>
            <a:r>
              <a:rPr lang="ru-RU" sz="3800" b="1" dirty="0" smtClean="0"/>
              <a:t>узле коммутации </a:t>
            </a:r>
            <a:r>
              <a:rPr lang="ru-RU" sz="3800" b="1" i="1" dirty="0" smtClean="0"/>
              <a:t>SSP</a:t>
            </a:r>
            <a:r>
              <a:rPr lang="ru-RU" sz="3800" b="1" dirty="0" smtClean="0"/>
              <a:t>) </a:t>
            </a:r>
            <a:r>
              <a:rPr lang="ru-RU" sz="3800" dirty="0" smtClean="0"/>
              <a:t>процесс приостанавливается.</a:t>
            </a:r>
          </a:p>
          <a:p>
            <a:pPr>
              <a:buNone/>
            </a:pPr>
            <a:r>
              <a:rPr lang="ru-RU" dirty="0" smtClean="0"/>
              <a:t/>
            </a:r>
            <a:br>
              <a:rPr lang="ru-RU" dirty="0" smtClean="0"/>
            </a:b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20688"/>
          </a:xfrm>
        </p:spPr>
        <p:txBody>
          <a:bodyPr>
            <a:noAutofit/>
          </a:bodyPr>
          <a:lstStyle/>
          <a:p>
            <a:pPr algn="l"/>
            <a:r>
              <a:rPr lang="ru-RU" sz="3600" b="1" dirty="0" smtClean="0">
                <a:solidFill>
                  <a:srgbClr val="002060"/>
                </a:solidFill>
              </a:rPr>
              <a:t>Пример работы интеллектуальной сети (2/2)</a:t>
            </a:r>
            <a:endParaRPr lang="ru-RU" sz="3600" b="1" dirty="0"/>
          </a:p>
        </p:txBody>
      </p:sp>
      <p:sp>
        <p:nvSpPr>
          <p:cNvPr id="3" name="Содержимое 2"/>
          <p:cNvSpPr>
            <a:spLocks noGrp="1"/>
          </p:cNvSpPr>
          <p:nvPr>
            <p:ph idx="1"/>
          </p:nvPr>
        </p:nvSpPr>
        <p:spPr>
          <a:xfrm>
            <a:off x="0" y="548680"/>
            <a:ext cx="9144000" cy="6309320"/>
          </a:xfrm>
        </p:spPr>
        <p:txBody>
          <a:bodyPr>
            <a:noAutofit/>
          </a:bodyPr>
          <a:lstStyle/>
          <a:p>
            <a:pPr>
              <a:buNone/>
            </a:pPr>
            <a:r>
              <a:rPr lang="ru-RU" sz="2000" b="1" dirty="0" smtClean="0"/>
              <a:t>Узел управления услугами </a:t>
            </a:r>
            <a:r>
              <a:rPr lang="ru-RU" sz="2000" b="1" i="1" dirty="0" smtClean="0"/>
              <a:t>SCP</a:t>
            </a:r>
            <a:r>
              <a:rPr lang="ru-RU" sz="2000" b="1" dirty="0" smtClean="0"/>
              <a:t>, проведя анализ номера</a:t>
            </a:r>
            <a:r>
              <a:rPr lang="ru-RU" sz="2000" dirty="0" smtClean="0"/>
              <a:t>, дает команду</a:t>
            </a:r>
          </a:p>
          <a:p>
            <a:pPr>
              <a:buNone/>
            </a:pPr>
            <a:r>
              <a:rPr lang="ru-RU" sz="2000" b="1" dirty="0" smtClean="0"/>
              <a:t>     в узел коммутации  </a:t>
            </a:r>
            <a:r>
              <a:rPr lang="ru-RU" sz="2000" b="1" i="1" dirty="0" smtClean="0"/>
              <a:t>SSP</a:t>
            </a:r>
            <a:r>
              <a:rPr lang="ru-RU" sz="2000" dirty="0" smtClean="0"/>
              <a:t> для подключения интеллектуальной периферии.</a:t>
            </a:r>
          </a:p>
          <a:p>
            <a:r>
              <a:rPr lang="ru-RU" sz="2000" dirty="0" smtClean="0"/>
              <a:t> </a:t>
            </a:r>
            <a:r>
              <a:rPr lang="ru-RU" sz="2000" b="1" dirty="0" smtClean="0"/>
              <a:t>Далее узел коммутации </a:t>
            </a:r>
            <a:r>
              <a:rPr lang="ru-RU" sz="2000" b="1" i="1" dirty="0" smtClean="0"/>
              <a:t>SSP</a:t>
            </a:r>
            <a:r>
              <a:rPr lang="ru-RU" sz="2000" dirty="0" smtClean="0"/>
              <a:t> включает механический голос: </a:t>
            </a:r>
          </a:p>
          <a:p>
            <a:pPr>
              <a:buNone/>
            </a:pPr>
            <a:r>
              <a:rPr lang="ru-RU" sz="2000" dirty="0" smtClean="0"/>
              <a:t>        "Наберите код карты".</a:t>
            </a:r>
          </a:p>
          <a:p>
            <a:r>
              <a:rPr lang="ru-RU" sz="2000" dirty="0" smtClean="0"/>
              <a:t>Код карты принимается или транслируется </a:t>
            </a:r>
            <a:r>
              <a:rPr lang="ru-RU" sz="2000" b="1" dirty="0" smtClean="0"/>
              <a:t>через узел коммутации  </a:t>
            </a:r>
            <a:r>
              <a:rPr lang="ru-RU" sz="2000" b="1" i="1" dirty="0" smtClean="0"/>
              <a:t>SSP</a:t>
            </a:r>
            <a:r>
              <a:rPr lang="ru-RU" sz="2000" dirty="0" smtClean="0"/>
              <a:t>, и после окончания приема подается сигнал в</a:t>
            </a:r>
            <a:r>
              <a:rPr lang="ru-RU" sz="2000" b="1" dirty="0" smtClean="0"/>
              <a:t> систему управления  </a:t>
            </a:r>
            <a:r>
              <a:rPr lang="ru-RU" sz="2000" b="1" i="1" dirty="0" smtClean="0"/>
              <a:t>SCP.</a:t>
            </a:r>
            <a:r>
              <a:rPr lang="ru-RU" sz="2000" dirty="0" smtClean="0"/>
              <a:t> </a:t>
            </a:r>
            <a:r>
              <a:rPr lang="ru-RU" sz="2000" b="1" dirty="0" smtClean="0"/>
              <a:t>Коммутационный узел  </a:t>
            </a:r>
            <a:r>
              <a:rPr lang="ru-RU" sz="2000" b="1" i="1" dirty="0" smtClean="0"/>
              <a:t>SSP </a:t>
            </a:r>
            <a:r>
              <a:rPr lang="ru-RU" sz="2000" dirty="0" smtClean="0"/>
              <a:t>снова приостанавливает работу в ожидании анализа кода.</a:t>
            </a:r>
          </a:p>
          <a:p>
            <a:r>
              <a:rPr lang="ru-RU" sz="2000" b="1" dirty="0" smtClean="0"/>
              <a:t>От узла управления услугами (</a:t>
            </a:r>
            <a:r>
              <a:rPr lang="ru-RU" sz="2000" b="1" i="1" dirty="0" smtClean="0"/>
              <a:t>SCP</a:t>
            </a:r>
            <a:r>
              <a:rPr lang="ru-RU" sz="2000" dirty="0" smtClean="0"/>
              <a:t>) может прийти один из двух сигналов </a:t>
            </a:r>
          </a:p>
          <a:p>
            <a:pPr>
              <a:buNone/>
            </a:pPr>
            <a:r>
              <a:rPr lang="ru-RU" sz="2000" dirty="0" smtClean="0"/>
              <a:t>     (Код правильный или неправильный): </a:t>
            </a:r>
          </a:p>
          <a:p>
            <a:pPr>
              <a:buNone/>
            </a:pPr>
            <a:r>
              <a:rPr lang="ru-RU" sz="2000" dirty="0" smtClean="0"/>
              <a:t>     </a:t>
            </a:r>
            <a:r>
              <a:rPr lang="ru-RU" sz="2000" b="1" dirty="0" smtClean="0"/>
              <a:t>- По неправильному код</a:t>
            </a:r>
            <a:r>
              <a:rPr lang="ru-RU" sz="2000" dirty="0" smtClean="0"/>
              <a:t>у узел коммутации</a:t>
            </a:r>
            <a:r>
              <a:rPr lang="ru-RU" sz="2000" b="1" i="1" dirty="0" smtClean="0"/>
              <a:t> SSP</a:t>
            </a:r>
            <a:r>
              <a:rPr lang="ru-RU" sz="2000" dirty="0" smtClean="0"/>
              <a:t> информирует абонента с помощью интеллектуальной периферии (механический голос "Набранный код неправильный") и завершает соединение (возможно, предоставив абоненту право на повторное число попыток).</a:t>
            </a:r>
          </a:p>
          <a:p>
            <a:pPr>
              <a:buNone/>
            </a:pPr>
            <a:r>
              <a:rPr lang="ru-RU" sz="2000" dirty="0" smtClean="0"/>
              <a:t>      </a:t>
            </a:r>
            <a:r>
              <a:rPr lang="ru-RU" sz="2000" b="1" dirty="0" smtClean="0"/>
              <a:t>- При правильном коде у узла управления услугами</a:t>
            </a:r>
            <a:r>
              <a:rPr lang="ru-RU" sz="2000" b="1" i="1" dirty="0" smtClean="0"/>
              <a:t> SCP</a:t>
            </a:r>
            <a:r>
              <a:rPr lang="ru-RU" sz="2000" dirty="0" smtClean="0"/>
              <a:t>  запрашивается информация о маршруте соединения (каналы могут принадлежать нескольким компаниям, и поэтому должен быть указан точный маршрут, гарантирующий указанную на карте стоимость соединения).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600" b="1" dirty="0" smtClean="0">
                <a:solidFill>
                  <a:srgbClr val="002060"/>
                </a:solidFill>
              </a:rPr>
              <a:t>Архитектура Интеллектуальной сети (2 вар.)</a:t>
            </a:r>
            <a:endParaRPr lang="ru-RU" sz="3600" dirty="0"/>
          </a:p>
        </p:txBody>
      </p:sp>
      <p:sp>
        <p:nvSpPr>
          <p:cNvPr id="3" name="Содержимое 2"/>
          <p:cNvSpPr>
            <a:spLocks noGrp="1"/>
          </p:cNvSpPr>
          <p:nvPr>
            <p:ph idx="1"/>
          </p:nvPr>
        </p:nvSpPr>
        <p:spPr>
          <a:xfrm>
            <a:off x="0" y="620688"/>
            <a:ext cx="8964488" cy="5976664"/>
          </a:xfrm>
        </p:spPr>
        <p:txBody>
          <a:bodyPr>
            <a:normAutofit/>
          </a:bodyPr>
          <a:lstStyle/>
          <a:p>
            <a:r>
              <a:rPr lang="ru-RU" sz="2400" dirty="0" smtClean="0"/>
              <a:t>Далее более подробно рассматриваются основные блоки </a:t>
            </a:r>
            <a:r>
              <a:rPr lang="ru-RU" sz="2400" dirty="0" smtClean="0">
                <a:solidFill>
                  <a:srgbClr val="002060"/>
                </a:solidFill>
              </a:rPr>
              <a:t>Интеллектуальной сети.</a:t>
            </a:r>
          </a:p>
          <a:p>
            <a:endParaRPr lang="ru-RU" sz="2400" dirty="0"/>
          </a:p>
        </p:txBody>
      </p:sp>
      <p:pic>
        <p:nvPicPr>
          <p:cNvPr id="4" name="Рисунок 3" descr="https://siblec.ru/img/62/img/p10_3.gif"/>
          <p:cNvPicPr/>
          <p:nvPr/>
        </p:nvPicPr>
        <p:blipFill>
          <a:blip r:embed="rId2" cstate="print"/>
          <a:srcRect/>
          <a:stretch>
            <a:fillRect/>
          </a:stretch>
        </p:blipFill>
        <p:spPr bwMode="auto">
          <a:xfrm>
            <a:off x="0" y="1484784"/>
            <a:ext cx="9144000" cy="537321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980728"/>
          </a:xfrm>
        </p:spPr>
        <p:txBody>
          <a:bodyPr>
            <a:normAutofit/>
          </a:bodyPr>
          <a:lstStyle/>
          <a:p>
            <a:r>
              <a:rPr lang="ru-RU" sz="3600" b="1" dirty="0" smtClean="0">
                <a:solidFill>
                  <a:srgbClr val="002060"/>
                </a:solidFill>
              </a:rPr>
              <a:t>Архитектура Интеллектуальной сети</a:t>
            </a:r>
            <a:endParaRPr lang="ru-RU" sz="3600" dirty="0"/>
          </a:p>
        </p:txBody>
      </p:sp>
      <p:sp>
        <p:nvSpPr>
          <p:cNvPr id="3" name="Содержимое 2"/>
          <p:cNvSpPr>
            <a:spLocks noGrp="1"/>
          </p:cNvSpPr>
          <p:nvPr>
            <p:ph idx="1"/>
          </p:nvPr>
        </p:nvSpPr>
        <p:spPr>
          <a:xfrm>
            <a:off x="0" y="836712"/>
            <a:ext cx="9144000" cy="6021288"/>
          </a:xfrm>
        </p:spPr>
        <p:txBody>
          <a:bodyPr>
            <a:normAutofit fontScale="62500" lnSpcReduction="20000"/>
          </a:bodyPr>
          <a:lstStyle/>
          <a:p>
            <a:r>
              <a:rPr lang="ru-RU" b="1" i="1" dirty="0" smtClean="0"/>
              <a:t>Пункт коммутации услуг</a:t>
            </a:r>
            <a:r>
              <a:rPr lang="ru-RU" b="1" dirty="0" smtClean="0"/>
              <a:t> (SSP) </a:t>
            </a:r>
            <a:r>
              <a:rPr lang="ru-RU" dirty="0" smtClean="0"/>
              <a:t>обеспечивает доступ абонентов сети связи общего пользования к услугам IN и поддерживает протоколы взаимодействия с другими элементами IN.</a:t>
            </a:r>
          </a:p>
          <a:p>
            <a:r>
              <a:rPr lang="ru-RU" dirty="0" smtClean="0"/>
              <a:t> В этом пункте происходит фиксация того, что принятый вызов от абонента требует обращения к услугам IN и направление соответствующего запроса к узлу управления услуг (SCP).</a:t>
            </a:r>
          </a:p>
          <a:p>
            <a:r>
              <a:rPr lang="ru-RU" dirty="0" smtClean="0"/>
              <a:t> После оснащения коммутационного оборудования узла сети функциями SSP услуги IN могут вводиться и удаляться путем соответствующих изменений конфигурации SSP, производимых техническим персоналом через обычный интерфейс оператора. Никаких изменений системного прикладного программного обеспечения (версии ПО) узла сети при этом не требуется.</a:t>
            </a:r>
          </a:p>
          <a:p>
            <a:r>
              <a:rPr lang="ru-RU" b="1" dirty="0" smtClean="0"/>
              <a:t>Пункт управления услуг (SCP)</a:t>
            </a:r>
            <a:r>
              <a:rPr lang="ru-RU" i="1" dirty="0" smtClean="0"/>
              <a:t> </a:t>
            </a:r>
            <a:r>
              <a:rPr lang="ru-RU" dirty="0" smtClean="0"/>
              <a:t>содержит программы, централизованно реализующие логику услуг, программные средства, поддерживающие протоколы взаимодействия с другими элементами сети, системное программное обеспечение, а также базу данных реального времени.</a:t>
            </a:r>
          </a:p>
          <a:p>
            <a:r>
              <a:rPr lang="ru-RU" b="1" dirty="0" smtClean="0"/>
              <a:t>Интеллектуальная периферия (IN </a:t>
            </a:r>
            <a:r>
              <a:rPr lang="ru-RU" b="1" dirty="0" err="1" smtClean="0"/>
              <a:t>Peripherals</a:t>
            </a:r>
            <a:r>
              <a:rPr lang="ru-RU" b="1" dirty="0" smtClean="0"/>
              <a:t>, IP) </a:t>
            </a:r>
            <a:r>
              <a:rPr lang="ru-RU" dirty="0" smtClean="0"/>
              <a:t>выполняет вспомогательные функции, поддерживающие диалог с абонентом, такие как передача приглашения к набору дополнительных цифр номера, прием цифр, передаваемых абонентом многочастотным способом (DTMF), распознавание речи и некоторые другие.</a:t>
            </a:r>
          </a:p>
          <a:p>
            <a:r>
              <a:rPr lang="ru-RU" dirty="0" smtClean="0"/>
              <a:t> Интеллектуальная периферия может либо быть встроена в SSP, либо реализована в обособленном оборудовании. Интеллектуальная периферия управляется со стороны SCP по протоколу INAP.</a:t>
            </a:r>
          </a:p>
          <a:p>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836712"/>
          </a:xfrm>
        </p:spPr>
        <p:txBody>
          <a:bodyPr>
            <a:normAutofit/>
          </a:bodyPr>
          <a:lstStyle/>
          <a:p>
            <a:r>
              <a:rPr lang="ru-RU" sz="3600" b="1" dirty="0" smtClean="0">
                <a:solidFill>
                  <a:srgbClr val="002060"/>
                </a:solidFill>
              </a:rPr>
              <a:t>Архитектура Интеллектуальной сети</a:t>
            </a:r>
            <a:endParaRPr lang="ru-RU" sz="3600" dirty="0"/>
          </a:p>
        </p:txBody>
      </p:sp>
      <p:sp>
        <p:nvSpPr>
          <p:cNvPr id="3" name="Содержимое 2"/>
          <p:cNvSpPr>
            <a:spLocks noGrp="1"/>
          </p:cNvSpPr>
          <p:nvPr>
            <p:ph idx="1"/>
          </p:nvPr>
        </p:nvSpPr>
        <p:spPr>
          <a:xfrm>
            <a:off x="0" y="692696"/>
            <a:ext cx="9144000" cy="6165304"/>
          </a:xfrm>
        </p:spPr>
        <p:txBody>
          <a:bodyPr>
            <a:normAutofit fontScale="62500" lnSpcReduction="20000"/>
          </a:bodyPr>
          <a:lstStyle/>
          <a:p>
            <a:r>
              <a:rPr lang="ru-RU" dirty="0" smtClean="0"/>
              <a:t>Для подключения IP к SSP используются соединительные линии с сигнализацией ОКС № 7, или линии первичного доступа ISDN с цифровой абонентской сигнализацией DSS1.</a:t>
            </a:r>
          </a:p>
          <a:p>
            <a:r>
              <a:rPr lang="ru-RU" b="1" i="1" dirty="0" smtClean="0"/>
              <a:t>Система эксплуатационного управления и среда создания услуг </a:t>
            </a:r>
            <a:r>
              <a:rPr lang="ru-RU" b="1" dirty="0" smtClean="0"/>
              <a:t>SMP/SCEP</a:t>
            </a:r>
            <a:r>
              <a:rPr lang="ru-RU" b="1" i="1" dirty="0" smtClean="0"/>
              <a:t> (</a:t>
            </a:r>
            <a:r>
              <a:rPr lang="ru-RU" b="1" dirty="0" smtClean="0"/>
              <a:t>Service </a:t>
            </a:r>
            <a:r>
              <a:rPr lang="ru-RU" b="1" dirty="0" err="1" smtClean="0"/>
              <a:t>management</a:t>
            </a:r>
            <a:r>
              <a:rPr lang="ru-RU" b="1" dirty="0" smtClean="0"/>
              <a:t> </a:t>
            </a:r>
            <a:r>
              <a:rPr lang="ru-RU" b="1" dirty="0" err="1" smtClean="0"/>
              <a:t>point</a:t>
            </a:r>
            <a:r>
              <a:rPr lang="ru-RU" b="1" dirty="0" smtClean="0"/>
              <a:t>/Service </a:t>
            </a:r>
            <a:r>
              <a:rPr lang="ru-RU" b="1" dirty="0" err="1" smtClean="0"/>
              <a:t>creation</a:t>
            </a:r>
            <a:r>
              <a:rPr lang="ru-RU" b="1" dirty="0" smtClean="0"/>
              <a:t> </a:t>
            </a:r>
            <a:r>
              <a:rPr lang="ru-RU" b="1" dirty="0" err="1" smtClean="0"/>
              <a:t>environment</a:t>
            </a:r>
            <a:r>
              <a:rPr lang="ru-RU" b="1" dirty="0" smtClean="0"/>
              <a:t> </a:t>
            </a:r>
            <a:r>
              <a:rPr lang="ru-RU" b="1" dirty="0" err="1" smtClean="0"/>
              <a:t>point</a:t>
            </a:r>
            <a:r>
              <a:rPr lang="ru-RU" b="1" i="1" dirty="0" smtClean="0"/>
              <a:t>) </a:t>
            </a:r>
            <a:r>
              <a:rPr lang="ru-RU" dirty="0" smtClean="0"/>
              <a:t>предоставляют оператору сети возможности контроля и управления параметрами и конфигурацией услуг IN.</a:t>
            </a:r>
          </a:p>
          <a:p>
            <a:r>
              <a:rPr lang="ru-RU" dirty="0" smtClean="0"/>
              <a:t>Среда создания услуг содержит средства конструирования, модификации и тестирования услуг до начала коммерческой эксплуатации и средства загрузки соответствующих программ в SMP. </a:t>
            </a:r>
          </a:p>
          <a:p>
            <a:r>
              <a:rPr lang="ru-RU" b="1" dirty="0" smtClean="0"/>
              <a:t>Пункт управления услугами (SMP) </a:t>
            </a:r>
            <a:r>
              <a:rPr lang="ru-RU" dirty="0" smtClean="0"/>
              <a:t>обеспечивает эксплуатационное управление действующими услугами, а также управление подготовкой новых услуг и их вводом в эксплуатацию.</a:t>
            </a:r>
          </a:p>
          <a:p>
            <a:r>
              <a:rPr lang="ru-RU" b="1" dirty="0" smtClean="0"/>
              <a:t>Взаимодействие между SMP SCEP и SCP обеспечивается с помощью протоколов TCP/IP.</a:t>
            </a:r>
          </a:p>
          <a:p>
            <a:r>
              <a:rPr lang="ru-RU" dirty="0" smtClean="0"/>
              <a:t>Для каждого этапа ITU-T определяет те услуги, которые можно реализовать на базе имеющейся технологии.</a:t>
            </a:r>
          </a:p>
          <a:p>
            <a:r>
              <a:rPr lang="ru-RU" dirty="0" smtClean="0"/>
              <a:t> Перечни услуг (и их составных элементов), определяемые для разных этапов, получили название наборов возможностей (</a:t>
            </a:r>
            <a:r>
              <a:rPr lang="ru-RU" dirty="0" err="1" smtClean="0"/>
              <a:t>Capability</a:t>
            </a:r>
            <a:r>
              <a:rPr lang="ru-RU" dirty="0" smtClean="0"/>
              <a:t> </a:t>
            </a:r>
            <a:r>
              <a:rPr lang="ru-RU" dirty="0" err="1" smtClean="0"/>
              <a:t>Sets</a:t>
            </a:r>
            <a:r>
              <a:rPr lang="ru-RU" dirty="0" smtClean="0"/>
              <a:t>, CS). </a:t>
            </a:r>
          </a:p>
          <a:p>
            <a:r>
              <a:rPr lang="ru-RU" dirty="0" smtClean="0"/>
              <a:t>Для каждого такого набора предусмотрен отдельный пакет рекомендаций</a:t>
            </a:r>
          </a:p>
          <a:p>
            <a:pPr>
              <a:buNone/>
            </a:pPr>
            <a:r>
              <a:rPr lang="ru-RU" dirty="0" smtClean="0"/>
              <a:t>      ITU-T, причем все возможности, определенные для предыдущего набора, обязательно входят в следующий набор.</a:t>
            </a:r>
          </a:p>
          <a:p>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27.jpg"/>
          <p:cNvPicPr>
            <a:picLocks noGrp="1"/>
          </p:cNvPicPr>
          <p:nvPr>
            <p:ph idx="1"/>
          </p:nvPr>
        </p:nvPicPr>
        <p:blipFill>
          <a:blip r:embed="rId2" cstate="print"/>
          <a:srcRect l="20285" t="27679" r="9313" b="13454"/>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28.jpg"/>
          <p:cNvPicPr>
            <a:picLocks noGrp="1"/>
          </p:cNvPicPr>
          <p:nvPr>
            <p:ph idx="1"/>
          </p:nvPr>
        </p:nvPicPr>
        <p:blipFill>
          <a:blip r:embed="rId2" cstate="print"/>
          <a:srcRect l="7759" t="25664" b="14081"/>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29.jpg"/>
          <p:cNvPicPr>
            <a:picLocks noGrp="1"/>
          </p:cNvPicPr>
          <p:nvPr>
            <p:ph idx="1"/>
          </p:nvPr>
        </p:nvPicPr>
        <p:blipFill>
          <a:blip r:embed="rId2" cstate="print"/>
          <a:srcRect l="14414" t="26900" r="9009" b="12201"/>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30.jpg"/>
          <p:cNvPicPr>
            <a:picLocks noGrp="1"/>
          </p:cNvPicPr>
          <p:nvPr>
            <p:ph idx="1"/>
          </p:nvPr>
        </p:nvPicPr>
        <p:blipFill>
          <a:blip r:embed="rId2" cstate="print"/>
          <a:srcRect l="18261" t="32724" r="15652" b="22139"/>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31.jpg"/>
          <p:cNvPicPr>
            <a:picLocks noGrp="1"/>
          </p:cNvPicPr>
          <p:nvPr>
            <p:ph idx="1"/>
          </p:nvPr>
        </p:nvPicPr>
        <p:blipFill>
          <a:blip r:embed="rId2" cstate="print"/>
          <a:srcRect l="22414" t="30682" r="13793" b="19318"/>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32.jpg"/>
          <p:cNvPicPr>
            <a:picLocks noGrp="1"/>
          </p:cNvPicPr>
          <p:nvPr>
            <p:ph idx="1"/>
          </p:nvPr>
        </p:nvPicPr>
        <p:blipFill>
          <a:blip r:embed="rId2" cstate="print"/>
          <a:srcRect l="19167" t="30898" r="15000" b="20547"/>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descr="https://cf.ppt-online.org/files/slide/g/gDMRskzYeyfc9lWPi7XIFKr4h28wjAuUEStG6d/slide-33.jpg"/>
          <p:cNvPicPr>
            <a:picLocks noGrp="1"/>
          </p:cNvPicPr>
          <p:nvPr>
            <p:ph idx="1"/>
          </p:nvPr>
        </p:nvPicPr>
        <p:blipFill>
          <a:blip r:embed="rId2" cstate="print"/>
          <a:srcRect l="11413" t="25843" r="4326" b="13483"/>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706090"/>
          </a:xfrm>
        </p:spPr>
        <p:txBody>
          <a:bodyPr>
            <a:normAutofit fontScale="90000"/>
          </a:bodyPr>
          <a:lstStyle/>
          <a:p>
            <a:r>
              <a:rPr lang="ru-RU" sz="3200" b="1" dirty="0" smtClean="0">
                <a:solidFill>
                  <a:srgbClr val="002060"/>
                </a:solidFill>
                <a:latin typeface="Times New Roman" pitchFamily="18" charset="0"/>
              </a:rPr>
              <a:t>Обобщенная функциональная архитектура </a:t>
            </a:r>
            <a:r>
              <a:rPr lang="en-US" sz="3200" b="1" dirty="0" smtClean="0">
                <a:solidFill>
                  <a:srgbClr val="002060"/>
                </a:solidFill>
                <a:latin typeface="Times New Roman" pitchFamily="18" charset="0"/>
              </a:rPr>
              <a:t>IN</a:t>
            </a:r>
            <a:r>
              <a:rPr lang="ru-RU" sz="3200" dirty="0" smtClean="0">
                <a:solidFill>
                  <a:srgbClr val="000000"/>
                </a:solidFill>
                <a:latin typeface="Times New Roman" pitchFamily="18" charset="0"/>
              </a:rPr>
              <a:t/>
            </a:r>
            <a:br>
              <a:rPr lang="ru-RU" sz="3200" dirty="0" smtClean="0">
                <a:solidFill>
                  <a:srgbClr val="000000"/>
                </a:solidFill>
                <a:latin typeface="Times New Roman" pitchFamily="18" charset="0"/>
              </a:rPr>
            </a:br>
            <a:endParaRPr lang="ru-RU" sz="3200" dirty="0"/>
          </a:p>
        </p:txBody>
      </p:sp>
      <p:graphicFrame>
        <p:nvGraphicFramePr>
          <p:cNvPr id="5122" name="Object 2"/>
          <p:cNvGraphicFramePr>
            <a:graphicFrameLocks noChangeAspect="1"/>
          </p:cNvGraphicFramePr>
          <p:nvPr>
            <p:ph idx="1"/>
          </p:nvPr>
        </p:nvGraphicFramePr>
        <p:xfrm>
          <a:off x="1" y="980728"/>
          <a:ext cx="9144000" cy="5877272"/>
        </p:xfrm>
        <a:graphic>
          <a:graphicData uri="http://schemas.openxmlformats.org/presentationml/2006/ole">
            <p:oleObj spid="_x0000_s5122" name="Visio" r:id="rId3" imgW="9524595" imgH="4724147" progId="">
              <p:embed/>
            </p:oleObj>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5724525" y="1125538"/>
            <a:ext cx="1584325" cy="4895850"/>
          </a:xfrm>
          <a:prstGeom prst="rect">
            <a:avLst/>
          </a:prstGeom>
          <a:solidFill>
            <a:srgbClr val="FFFFFF"/>
          </a:solidFill>
          <a:ln w="1588">
            <a:solidFill>
              <a:srgbClr val="000000"/>
            </a:solidFill>
            <a:miter lim="800000"/>
            <a:headEnd/>
            <a:tailEnd/>
          </a:ln>
        </p:spPr>
        <p:txBody>
          <a:bodyPr/>
          <a:lstStyle/>
          <a:p>
            <a:pPr algn="ctr"/>
            <a:endParaRPr lang="fr-FR" sz="2000">
              <a:latin typeface="Tahoma" pitchFamily="34" charset="0"/>
            </a:endParaRPr>
          </a:p>
        </p:txBody>
      </p:sp>
      <p:sp>
        <p:nvSpPr>
          <p:cNvPr id="29699" name="Rectangle 3"/>
          <p:cNvSpPr>
            <a:spLocks noChangeArrowheads="1"/>
          </p:cNvSpPr>
          <p:nvPr/>
        </p:nvSpPr>
        <p:spPr bwMode="auto">
          <a:xfrm>
            <a:off x="6083300" y="1557338"/>
            <a:ext cx="1152525" cy="720725"/>
          </a:xfrm>
          <a:prstGeom prst="rect">
            <a:avLst/>
          </a:prstGeom>
          <a:solidFill>
            <a:schemeClr val="accent1"/>
          </a:solidFill>
          <a:ln w="9525">
            <a:solidFill>
              <a:schemeClr val="tx1"/>
            </a:solidFill>
            <a:miter lim="800000"/>
            <a:headEnd/>
            <a:tailEnd/>
          </a:ln>
        </p:spPr>
        <p:txBody>
          <a:bodyPr wrap="none" anchor="ctr"/>
          <a:lstStyle/>
          <a:p>
            <a:pPr algn="ctr"/>
            <a:r>
              <a:rPr lang="en-US" sz="1400">
                <a:latin typeface="Tahoma" pitchFamily="34" charset="0"/>
              </a:rPr>
              <a:t>Call Control</a:t>
            </a:r>
            <a:endParaRPr lang="ru-RU" sz="1400">
              <a:latin typeface="Tahoma" pitchFamily="34" charset="0"/>
            </a:endParaRPr>
          </a:p>
        </p:txBody>
      </p:sp>
      <p:sp>
        <p:nvSpPr>
          <p:cNvPr id="623620" name="Cloud"/>
          <p:cNvSpPr>
            <a:spLocks noChangeAspect="1" noEditPoints="1" noChangeArrowheads="1"/>
          </p:cNvSpPr>
          <p:nvPr/>
        </p:nvSpPr>
        <p:spPr bwMode="auto">
          <a:xfrm>
            <a:off x="71438" y="1557338"/>
            <a:ext cx="1331912" cy="12128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2"/>
          </a:solidFill>
          <a:ln w="9525">
            <a:solidFill>
              <a:srgbClr val="000000"/>
            </a:solidFill>
            <a:miter lim="800000"/>
            <a:headEnd/>
            <a:tailEnd/>
          </a:ln>
          <a:effectLst>
            <a:outerShdw dist="107763" dir="2700000" algn="ctr" rotWithShape="0">
              <a:srgbClr val="808080"/>
            </a:outerShdw>
          </a:effectLst>
        </p:spPr>
        <p:txBody>
          <a:bodyPr/>
          <a:lstStyle/>
          <a:p>
            <a:pPr>
              <a:defRPr/>
            </a:pPr>
            <a:endParaRPr lang="ru-RU">
              <a:effectLst>
                <a:outerShdw blurRad="38100" dist="38100" dir="2700000" algn="tl">
                  <a:srgbClr val="000000">
                    <a:alpha val="43137"/>
                  </a:srgbClr>
                </a:outerShdw>
              </a:effectLst>
            </a:endParaRPr>
          </a:p>
        </p:txBody>
      </p:sp>
      <p:sp>
        <p:nvSpPr>
          <p:cNvPr id="29701" name="Text Box 5"/>
          <p:cNvSpPr txBox="1">
            <a:spLocks noChangeArrowheads="1"/>
          </p:cNvSpPr>
          <p:nvPr/>
        </p:nvSpPr>
        <p:spPr bwMode="auto">
          <a:xfrm>
            <a:off x="177800" y="1892300"/>
            <a:ext cx="938213" cy="457200"/>
          </a:xfrm>
          <a:prstGeom prst="rect">
            <a:avLst/>
          </a:prstGeom>
          <a:noFill/>
          <a:ln w="9525">
            <a:noFill/>
            <a:miter lim="800000"/>
            <a:headEnd/>
            <a:tailEnd/>
          </a:ln>
        </p:spPr>
        <p:txBody>
          <a:bodyPr>
            <a:spAutoFit/>
          </a:bodyPr>
          <a:lstStyle/>
          <a:p>
            <a:pPr algn="ctr"/>
            <a:r>
              <a:rPr kumimoji="1" lang="ru-RU" sz="2400" b="1">
                <a:latin typeface="Tahoma" pitchFamily="34" charset="0"/>
              </a:rPr>
              <a:t>ИС</a:t>
            </a:r>
          </a:p>
        </p:txBody>
      </p:sp>
      <p:grpSp>
        <p:nvGrpSpPr>
          <p:cNvPr id="2" name="Group 6"/>
          <p:cNvGrpSpPr>
            <a:grpSpLocks/>
          </p:cNvGrpSpPr>
          <p:nvPr/>
        </p:nvGrpSpPr>
        <p:grpSpPr bwMode="auto">
          <a:xfrm>
            <a:off x="2124075" y="1844675"/>
            <a:ext cx="1150938" cy="574675"/>
            <a:chOff x="3606" y="2478"/>
            <a:chExt cx="1270" cy="498"/>
          </a:xfrm>
        </p:grpSpPr>
        <p:graphicFrame>
          <p:nvGraphicFramePr>
            <p:cNvPr id="29740" name="Object 7"/>
            <p:cNvGraphicFramePr>
              <a:graphicFrameLocks noChangeAspect="1"/>
            </p:cNvGraphicFramePr>
            <p:nvPr/>
          </p:nvGraphicFramePr>
          <p:xfrm>
            <a:off x="3606" y="2478"/>
            <a:ext cx="1270" cy="498"/>
          </p:xfrm>
          <a:graphic>
            <a:graphicData uri="http://schemas.openxmlformats.org/presentationml/2006/ole">
              <p:oleObj spid="_x0000_s31746" name="CorelDRAW" r:id="rId3" imgW="758160" imgH="279000" progId="">
                <p:embed/>
              </p:oleObj>
            </a:graphicData>
          </a:graphic>
        </p:graphicFrame>
        <p:pic>
          <p:nvPicPr>
            <p:cNvPr id="29741" name="Picture 8" descr="Pi_120"/>
            <p:cNvPicPr>
              <a:picLocks noChangeAspect="1" noChangeArrowheads="1"/>
            </p:cNvPicPr>
            <p:nvPr/>
          </p:nvPicPr>
          <p:blipFill>
            <a:blip r:embed="rId4" cstate="print"/>
            <a:srcRect/>
            <a:stretch>
              <a:fillRect/>
            </a:stretch>
          </p:blipFill>
          <p:spPr bwMode="auto">
            <a:xfrm>
              <a:off x="3696" y="2704"/>
              <a:ext cx="136" cy="136"/>
            </a:xfrm>
            <a:prstGeom prst="rect">
              <a:avLst/>
            </a:prstGeom>
            <a:noFill/>
            <a:ln w="9525">
              <a:noFill/>
              <a:miter lim="800000"/>
              <a:headEnd/>
              <a:tailEnd/>
            </a:ln>
          </p:spPr>
        </p:pic>
      </p:grpSp>
      <p:sp>
        <p:nvSpPr>
          <p:cNvPr id="623625" name="Line 9"/>
          <p:cNvSpPr>
            <a:spLocks noChangeShapeType="1"/>
          </p:cNvSpPr>
          <p:nvPr/>
        </p:nvSpPr>
        <p:spPr bwMode="auto">
          <a:xfrm flipV="1">
            <a:off x="3203575" y="1773238"/>
            <a:ext cx="2881313" cy="287337"/>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29704" name="Text Box 10"/>
          <p:cNvSpPr txBox="1">
            <a:spLocks noChangeArrowheads="1"/>
          </p:cNvSpPr>
          <p:nvPr/>
        </p:nvSpPr>
        <p:spPr bwMode="auto">
          <a:xfrm>
            <a:off x="1604963" y="4883150"/>
            <a:ext cx="454025" cy="274638"/>
          </a:xfrm>
          <a:prstGeom prst="rect">
            <a:avLst/>
          </a:prstGeom>
          <a:noFill/>
          <a:ln w="9525">
            <a:noFill/>
            <a:miter lim="800000"/>
            <a:headEnd/>
            <a:tailEnd/>
          </a:ln>
        </p:spPr>
        <p:txBody>
          <a:bodyPr wrap="none">
            <a:spAutoFit/>
          </a:bodyPr>
          <a:lstStyle/>
          <a:p>
            <a:r>
              <a:rPr kumimoji="1" lang="en-US" sz="1200" b="1">
                <a:latin typeface="Tahoma" pitchFamily="34" charset="0"/>
              </a:rPr>
              <a:t>SIP</a:t>
            </a:r>
            <a:endParaRPr kumimoji="1" lang="ru-RU" sz="1200" b="1">
              <a:latin typeface="Tahoma" pitchFamily="34" charset="0"/>
            </a:endParaRPr>
          </a:p>
        </p:txBody>
      </p:sp>
      <p:sp>
        <p:nvSpPr>
          <p:cNvPr id="29705" name="Rectangle 11"/>
          <p:cNvSpPr>
            <a:spLocks noChangeArrowheads="1"/>
          </p:cNvSpPr>
          <p:nvPr/>
        </p:nvSpPr>
        <p:spPr bwMode="auto">
          <a:xfrm>
            <a:off x="6084888" y="2492375"/>
            <a:ext cx="1152525" cy="792163"/>
          </a:xfrm>
          <a:prstGeom prst="rect">
            <a:avLst/>
          </a:prstGeom>
          <a:solidFill>
            <a:schemeClr val="accent1"/>
          </a:solidFill>
          <a:ln w="9525">
            <a:solidFill>
              <a:schemeClr val="tx1"/>
            </a:solidFill>
            <a:miter lim="800000"/>
            <a:headEnd/>
            <a:tailEnd/>
          </a:ln>
        </p:spPr>
        <p:txBody>
          <a:bodyPr wrap="none" anchor="ctr"/>
          <a:lstStyle/>
          <a:p>
            <a:pPr algn="ctr"/>
            <a:r>
              <a:rPr lang="en-US" sz="1400">
                <a:latin typeface="Tahoma" pitchFamily="34" charset="0"/>
              </a:rPr>
              <a:t>Service Logic</a:t>
            </a:r>
            <a:endParaRPr lang="ru-RU" sz="1400">
              <a:latin typeface="Tahoma" pitchFamily="34" charset="0"/>
            </a:endParaRPr>
          </a:p>
        </p:txBody>
      </p:sp>
      <p:sp>
        <p:nvSpPr>
          <p:cNvPr id="29706" name="Rectangle 12"/>
          <p:cNvSpPr>
            <a:spLocks noChangeArrowheads="1"/>
          </p:cNvSpPr>
          <p:nvPr/>
        </p:nvSpPr>
        <p:spPr bwMode="auto">
          <a:xfrm>
            <a:off x="6084888" y="4437063"/>
            <a:ext cx="1152525" cy="792162"/>
          </a:xfrm>
          <a:prstGeom prst="rect">
            <a:avLst/>
          </a:prstGeom>
          <a:solidFill>
            <a:schemeClr val="accent1"/>
          </a:solidFill>
          <a:ln w="9525">
            <a:solidFill>
              <a:schemeClr val="tx1"/>
            </a:solidFill>
            <a:miter lim="800000"/>
            <a:headEnd/>
            <a:tailEnd/>
          </a:ln>
        </p:spPr>
        <p:txBody>
          <a:bodyPr wrap="none" anchor="ctr"/>
          <a:lstStyle/>
          <a:p>
            <a:pPr algn="ctr"/>
            <a:r>
              <a:rPr lang="en-US" sz="1400">
                <a:latin typeface="Tahoma" pitchFamily="34" charset="0"/>
              </a:rPr>
              <a:t>Billing </a:t>
            </a:r>
          </a:p>
          <a:p>
            <a:pPr algn="ctr"/>
            <a:r>
              <a:rPr lang="en-US" sz="1400">
                <a:latin typeface="Tahoma" pitchFamily="34" charset="0"/>
              </a:rPr>
              <a:t>interface</a:t>
            </a:r>
            <a:endParaRPr lang="ru-RU" sz="1400">
              <a:latin typeface="Tahoma" pitchFamily="34" charset="0"/>
            </a:endParaRPr>
          </a:p>
        </p:txBody>
      </p:sp>
      <p:sp>
        <p:nvSpPr>
          <p:cNvPr id="29707" name="Rectangle 13"/>
          <p:cNvSpPr>
            <a:spLocks noChangeArrowheads="1"/>
          </p:cNvSpPr>
          <p:nvPr/>
        </p:nvSpPr>
        <p:spPr bwMode="auto">
          <a:xfrm>
            <a:off x="6084888" y="3500438"/>
            <a:ext cx="1152525" cy="720725"/>
          </a:xfrm>
          <a:prstGeom prst="rect">
            <a:avLst/>
          </a:prstGeom>
          <a:solidFill>
            <a:schemeClr val="accent1"/>
          </a:solidFill>
          <a:ln w="9525">
            <a:solidFill>
              <a:schemeClr val="tx1"/>
            </a:solidFill>
            <a:miter lim="800000"/>
            <a:headEnd/>
            <a:tailEnd/>
          </a:ln>
        </p:spPr>
        <p:txBody>
          <a:bodyPr wrap="none" anchor="ctr"/>
          <a:lstStyle/>
          <a:p>
            <a:pPr algn="ctr"/>
            <a:r>
              <a:rPr lang="en-US" sz="1400">
                <a:latin typeface="Tahoma" pitchFamily="34" charset="0"/>
              </a:rPr>
              <a:t>API interface</a:t>
            </a:r>
            <a:endParaRPr lang="ru-RU" sz="1400">
              <a:latin typeface="Tahoma" pitchFamily="34" charset="0"/>
            </a:endParaRPr>
          </a:p>
        </p:txBody>
      </p:sp>
      <p:sp>
        <p:nvSpPr>
          <p:cNvPr id="623630" name="Line 14"/>
          <p:cNvSpPr>
            <a:spLocks noChangeShapeType="1"/>
          </p:cNvSpPr>
          <p:nvPr/>
        </p:nvSpPr>
        <p:spPr bwMode="auto">
          <a:xfrm>
            <a:off x="7235825" y="3716338"/>
            <a:ext cx="865188" cy="0"/>
          </a:xfrm>
          <a:prstGeom prst="line">
            <a:avLst/>
          </a:prstGeom>
          <a:noFill/>
          <a:ln w="9525">
            <a:solidFill>
              <a:schemeClr val="tx1"/>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31" name="Line 15"/>
          <p:cNvSpPr>
            <a:spLocks noChangeShapeType="1"/>
          </p:cNvSpPr>
          <p:nvPr/>
        </p:nvSpPr>
        <p:spPr bwMode="auto">
          <a:xfrm>
            <a:off x="7235825" y="4581525"/>
            <a:ext cx="865188" cy="0"/>
          </a:xfrm>
          <a:prstGeom prst="line">
            <a:avLst/>
          </a:prstGeom>
          <a:noFill/>
          <a:ln w="9525">
            <a:solidFill>
              <a:schemeClr val="tx1"/>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graphicFrame>
        <p:nvGraphicFramePr>
          <p:cNvPr id="29710" name="Object 16"/>
          <p:cNvGraphicFramePr>
            <a:graphicFrameLocks noGrp="1" noChangeAspect="1"/>
          </p:cNvGraphicFramePr>
          <p:nvPr>
            <p:ph/>
          </p:nvPr>
        </p:nvGraphicFramePr>
        <p:xfrm>
          <a:off x="3829050" y="2643188"/>
          <a:ext cx="1484313" cy="1123950"/>
        </p:xfrm>
        <a:graphic>
          <a:graphicData uri="http://schemas.openxmlformats.org/presentationml/2006/ole">
            <p:oleObj spid="_x0000_s31747" name="Visio" r:id="rId5" imgW="1483995" imgH="1123696" progId="">
              <p:embed/>
            </p:oleObj>
          </a:graphicData>
        </a:graphic>
      </p:graphicFrame>
      <p:graphicFrame>
        <p:nvGraphicFramePr>
          <p:cNvPr id="29711" name="Object 17"/>
          <p:cNvGraphicFramePr>
            <a:graphicFrameLocks noChangeAspect="1"/>
          </p:cNvGraphicFramePr>
          <p:nvPr/>
        </p:nvGraphicFramePr>
        <p:xfrm>
          <a:off x="7812088" y="3429000"/>
          <a:ext cx="1225550" cy="504825"/>
        </p:xfrm>
        <a:graphic>
          <a:graphicData uri="http://schemas.openxmlformats.org/presentationml/2006/ole">
            <p:oleObj spid="_x0000_s31748" name="CorelDRAW" r:id="rId6" imgW="758160" imgH="279000" progId="">
              <p:embed/>
            </p:oleObj>
          </a:graphicData>
        </a:graphic>
      </p:graphicFrame>
      <p:sp>
        <p:nvSpPr>
          <p:cNvPr id="29712" name="Text Box 18"/>
          <p:cNvSpPr txBox="1">
            <a:spLocks noChangeArrowheads="1"/>
          </p:cNvSpPr>
          <p:nvPr/>
        </p:nvSpPr>
        <p:spPr bwMode="auto">
          <a:xfrm>
            <a:off x="7359650" y="4527550"/>
            <a:ext cx="798513" cy="639763"/>
          </a:xfrm>
          <a:prstGeom prst="rect">
            <a:avLst/>
          </a:prstGeom>
          <a:noFill/>
          <a:ln w="9525">
            <a:noFill/>
            <a:miter lim="800000"/>
            <a:headEnd/>
            <a:tailEnd/>
          </a:ln>
        </p:spPr>
        <p:txBody>
          <a:bodyPr wrap="none">
            <a:spAutoFit/>
          </a:bodyPr>
          <a:lstStyle/>
          <a:p>
            <a:r>
              <a:rPr kumimoji="1" lang="en-US" sz="1200" b="1">
                <a:latin typeface="Tahoma" pitchFamily="34" charset="0"/>
              </a:rPr>
              <a:t>XML, </a:t>
            </a:r>
          </a:p>
          <a:p>
            <a:r>
              <a:rPr kumimoji="1" lang="en-US" sz="1200" b="1">
                <a:latin typeface="Tahoma" pitchFamily="34" charset="0"/>
              </a:rPr>
              <a:t>ODBC</a:t>
            </a:r>
            <a:r>
              <a:rPr kumimoji="1" lang="ru-RU" sz="1200" b="1">
                <a:latin typeface="Tahoma" pitchFamily="34" charset="0"/>
              </a:rPr>
              <a:t>, </a:t>
            </a:r>
            <a:endParaRPr kumimoji="1" lang="en-US" sz="1200" b="1">
              <a:latin typeface="Tahoma" pitchFamily="34" charset="0"/>
            </a:endParaRPr>
          </a:p>
          <a:p>
            <a:r>
              <a:rPr kumimoji="1" lang="en-US" sz="1200" b="1">
                <a:latin typeface="Tahoma" pitchFamily="34" charset="0"/>
              </a:rPr>
              <a:t>RADIUS</a:t>
            </a:r>
            <a:endParaRPr kumimoji="1" lang="ru-RU" sz="1200" b="1">
              <a:latin typeface="Tahoma" pitchFamily="34" charset="0"/>
            </a:endParaRPr>
          </a:p>
        </p:txBody>
      </p:sp>
      <p:sp>
        <p:nvSpPr>
          <p:cNvPr id="29713" name="Text Box 19"/>
          <p:cNvSpPr txBox="1">
            <a:spLocks noChangeArrowheads="1"/>
          </p:cNvSpPr>
          <p:nvPr/>
        </p:nvSpPr>
        <p:spPr bwMode="auto">
          <a:xfrm>
            <a:off x="7921625" y="2924175"/>
            <a:ext cx="1189038" cy="457200"/>
          </a:xfrm>
          <a:prstGeom prst="rect">
            <a:avLst/>
          </a:prstGeom>
          <a:noFill/>
          <a:ln w="9525">
            <a:noFill/>
            <a:miter lim="800000"/>
            <a:headEnd/>
            <a:tailEnd/>
          </a:ln>
        </p:spPr>
        <p:txBody>
          <a:bodyPr wrap="none">
            <a:spAutoFit/>
          </a:bodyPr>
          <a:lstStyle/>
          <a:p>
            <a:r>
              <a:rPr kumimoji="1" lang="ru-RU" sz="1200" b="1">
                <a:latin typeface="Tahoma" pitchFamily="34" charset="0"/>
              </a:rPr>
              <a:t>Внешние</a:t>
            </a:r>
            <a:r>
              <a:rPr kumimoji="1" lang="en-US" sz="1200" b="1">
                <a:latin typeface="Tahoma" pitchFamily="34" charset="0"/>
              </a:rPr>
              <a:t> </a:t>
            </a:r>
          </a:p>
          <a:p>
            <a:r>
              <a:rPr kumimoji="1" lang="ru-RU" sz="1200" b="1">
                <a:latin typeface="Tahoma" pitchFamily="34" charset="0"/>
              </a:rPr>
              <a:t>приложения</a:t>
            </a:r>
          </a:p>
        </p:txBody>
      </p:sp>
      <p:sp>
        <p:nvSpPr>
          <p:cNvPr id="623636" name="Line 20"/>
          <p:cNvSpPr>
            <a:spLocks noChangeShapeType="1"/>
          </p:cNvSpPr>
          <p:nvPr/>
        </p:nvSpPr>
        <p:spPr bwMode="auto">
          <a:xfrm>
            <a:off x="6659563" y="3284538"/>
            <a:ext cx="0" cy="215900"/>
          </a:xfrm>
          <a:prstGeom prst="line">
            <a:avLst/>
          </a:prstGeom>
          <a:noFill/>
          <a:ln w="9525">
            <a:solidFill>
              <a:schemeClr val="tx1"/>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37" name="Line 21"/>
          <p:cNvSpPr>
            <a:spLocks noChangeShapeType="1"/>
          </p:cNvSpPr>
          <p:nvPr/>
        </p:nvSpPr>
        <p:spPr bwMode="auto">
          <a:xfrm>
            <a:off x="6659563" y="2276475"/>
            <a:ext cx="0" cy="217488"/>
          </a:xfrm>
          <a:prstGeom prst="line">
            <a:avLst/>
          </a:prstGeom>
          <a:noFill/>
          <a:ln w="9525">
            <a:solidFill>
              <a:schemeClr val="tx1"/>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38" name="Line 22"/>
          <p:cNvSpPr>
            <a:spLocks noChangeShapeType="1"/>
          </p:cNvSpPr>
          <p:nvPr/>
        </p:nvSpPr>
        <p:spPr bwMode="auto">
          <a:xfrm>
            <a:off x="6659563" y="4221163"/>
            <a:ext cx="0" cy="215900"/>
          </a:xfrm>
          <a:prstGeom prst="line">
            <a:avLst/>
          </a:prstGeom>
          <a:noFill/>
          <a:ln w="9525">
            <a:solidFill>
              <a:schemeClr val="tx1"/>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29717" name="Text Box 23"/>
          <p:cNvSpPr txBox="1">
            <a:spLocks noChangeArrowheads="1"/>
          </p:cNvSpPr>
          <p:nvPr/>
        </p:nvSpPr>
        <p:spPr bwMode="auto">
          <a:xfrm>
            <a:off x="6013450" y="5237163"/>
            <a:ext cx="1295400" cy="639762"/>
          </a:xfrm>
          <a:prstGeom prst="rect">
            <a:avLst/>
          </a:prstGeom>
          <a:noFill/>
          <a:ln w="9525">
            <a:noFill/>
            <a:miter lim="800000"/>
            <a:headEnd/>
            <a:tailEnd/>
          </a:ln>
        </p:spPr>
        <p:txBody>
          <a:bodyPr>
            <a:spAutoFit/>
          </a:bodyPr>
          <a:lstStyle/>
          <a:p>
            <a:pPr algn="ctr"/>
            <a:r>
              <a:rPr kumimoji="1" lang="en-US" sz="1200" b="1">
                <a:latin typeface="Tahoma" pitchFamily="34" charset="0"/>
              </a:rPr>
              <a:t>Call Management Subsystem </a:t>
            </a:r>
            <a:endParaRPr kumimoji="1" lang="ru-RU" sz="1200" b="1">
              <a:latin typeface="Tahoma" pitchFamily="34" charset="0"/>
            </a:endParaRPr>
          </a:p>
        </p:txBody>
      </p:sp>
      <p:sp>
        <p:nvSpPr>
          <p:cNvPr id="29718" name="Text Box 24"/>
          <p:cNvSpPr txBox="1">
            <a:spLocks noChangeArrowheads="1"/>
          </p:cNvSpPr>
          <p:nvPr/>
        </p:nvSpPr>
        <p:spPr bwMode="auto">
          <a:xfrm>
            <a:off x="2125663" y="3860800"/>
            <a:ext cx="1295400" cy="639763"/>
          </a:xfrm>
          <a:prstGeom prst="rect">
            <a:avLst/>
          </a:prstGeom>
          <a:noFill/>
          <a:ln w="9525">
            <a:noFill/>
            <a:miter lim="800000"/>
            <a:headEnd/>
            <a:tailEnd/>
          </a:ln>
        </p:spPr>
        <p:txBody>
          <a:bodyPr>
            <a:spAutoFit/>
          </a:bodyPr>
          <a:lstStyle/>
          <a:p>
            <a:pPr algn="ctr"/>
            <a:r>
              <a:rPr kumimoji="1" lang="en-US" sz="1200" b="1">
                <a:latin typeface="Tahoma" pitchFamily="34" charset="0"/>
              </a:rPr>
              <a:t>ISUP Interface Subsystem </a:t>
            </a:r>
            <a:endParaRPr kumimoji="1" lang="ru-RU" sz="1200" b="1">
              <a:latin typeface="Tahoma" pitchFamily="34" charset="0"/>
            </a:endParaRPr>
          </a:p>
        </p:txBody>
      </p:sp>
      <p:sp>
        <p:nvSpPr>
          <p:cNvPr id="29719" name="Text Box 25"/>
          <p:cNvSpPr txBox="1">
            <a:spLocks noChangeArrowheads="1"/>
          </p:cNvSpPr>
          <p:nvPr/>
        </p:nvSpPr>
        <p:spPr bwMode="auto">
          <a:xfrm>
            <a:off x="2197100" y="5373688"/>
            <a:ext cx="1295400" cy="639762"/>
          </a:xfrm>
          <a:prstGeom prst="rect">
            <a:avLst/>
          </a:prstGeom>
          <a:noFill/>
          <a:ln w="9525">
            <a:noFill/>
            <a:miter lim="800000"/>
            <a:headEnd/>
            <a:tailEnd/>
          </a:ln>
        </p:spPr>
        <p:txBody>
          <a:bodyPr>
            <a:spAutoFit/>
          </a:bodyPr>
          <a:lstStyle/>
          <a:p>
            <a:pPr algn="ctr"/>
            <a:r>
              <a:rPr kumimoji="1" lang="en-US" sz="1200" b="1">
                <a:latin typeface="Tahoma" pitchFamily="34" charset="0"/>
              </a:rPr>
              <a:t>VoIP Interface Subsystem </a:t>
            </a:r>
            <a:endParaRPr kumimoji="1" lang="ru-RU" sz="1200" b="1">
              <a:latin typeface="Tahoma" pitchFamily="34" charset="0"/>
            </a:endParaRPr>
          </a:p>
        </p:txBody>
      </p:sp>
      <p:pic>
        <p:nvPicPr>
          <p:cNvPr id="29720" name="Picture 26" descr="Pi_120"/>
          <p:cNvPicPr>
            <a:picLocks noChangeAspect="1" noChangeArrowheads="1"/>
          </p:cNvPicPr>
          <p:nvPr/>
        </p:nvPicPr>
        <p:blipFill>
          <a:blip r:embed="rId7" cstate="print"/>
          <a:srcRect/>
          <a:stretch>
            <a:fillRect/>
          </a:stretch>
        </p:blipFill>
        <p:spPr bwMode="auto">
          <a:xfrm>
            <a:off x="6948488" y="1196975"/>
            <a:ext cx="287337" cy="279400"/>
          </a:xfrm>
          <a:prstGeom prst="rect">
            <a:avLst/>
          </a:prstGeom>
          <a:noFill/>
          <a:ln w="9525">
            <a:noFill/>
            <a:miter lim="800000"/>
            <a:headEnd/>
            <a:tailEnd/>
          </a:ln>
        </p:spPr>
      </p:pic>
      <p:sp>
        <p:nvSpPr>
          <p:cNvPr id="623643" name="Line 27"/>
          <p:cNvSpPr>
            <a:spLocks noChangeShapeType="1"/>
          </p:cNvSpPr>
          <p:nvPr/>
        </p:nvSpPr>
        <p:spPr bwMode="auto">
          <a:xfrm flipV="1">
            <a:off x="3348038" y="1916113"/>
            <a:ext cx="2736850" cy="1728787"/>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44" name="Line 28"/>
          <p:cNvSpPr>
            <a:spLocks noChangeShapeType="1"/>
          </p:cNvSpPr>
          <p:nvPr/>
        </p:nvSpPr>
        <p:spPr bwMode="auto">
          <a:xfrm flipV="1">
            <a:off x="3419475" y="2133600"/>
            <a:ext cx="2665413" cy="2879725"/>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graphicFrame>
        <p:nvGraphicFramePr>
          <p:cNvPr id="29723" name="Object 29"/>
          <p:cNvGraphicFramePr>
            <a:graphicFrameLocks noChangeAspect="1"/>
          </p:cNvGraphicFramePr>
          <p:nvPr/>
        </p:nvGraphicFramePr>
        <p:xfrm>
          <a:off x="2195513" y="3357563"/>
          <a:ext cx="1152525" cy="576262"/>
        </p:xfrm>
        <a:graphic>
          <a:graphicData uri="http://schemas.openxmlformats.org/presentationml/2006/ole">
            <p:oleObj spid="_x0000_s31749" name="CorelDRAW" r:id="rId8" imgW="758160" imgH="279000" progId="">
              <p:embed/>
            </p:oleObj>
          </a:graphicData>
        </a:graphic>
      </p:graphicFrame>
      <p:graphicFrame>
        <p:nvGraphicFramePr>
          <p:cNvPr id="29724" name="Object 30"/>
          <p:cNvGraphicFramePr>
            <a:graphicFrameLocks noChangeAspect="1"/>
          </p:cNvGraphicFramePr>
          <p:nvPr/>
        </p:nvGraphicFramePr>
        <p:xfrm>
          <a:off x="2268538" y="4797425"/>
          <a:ext cx="1152525" cy="576263"/>
        </p:xfrm>
        <a:graphic>
          <a:graphicData uri="http://schemas.openxmlformats.org/presentationml/2006/ole">
            <p:oleObj spid="_x0000_s31750" name="CorelDRAW" r:id="rId9" imgW="758160" imgH="279000" progId="">
              <p:embed/>
            </p:oleObj>
          </a:graphicData>
        </a:graphic>
      </p:graphicFrame>
      <p:sp>
        <p:nvSpPr>
          <p:cNvPr id="623647" name="Cloud"/>
          <p:cNvSpPr>
            <a:spLocks noChangeAspect="1" noEditPoints="1" noChangeArrowheads="1"/>
          </p:cNvSpPr>
          <p:nvPr/>
        </p:nvSpPr>
        <p:spPr bwMode="auto">
          <a:xfrm>
            <a:off x="111125" y="3152775"/>
            <a:ext cx="1365250" cy="12128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2"/>
          </a:solidFill>
          <a:ln w="9525">
            <a:solidFill>
              <a:srgbClr val="000000"/>
            </a:solidFill>
            <a:miter lim="800000"/>
            <a:headEnd/>
            <a:tailEnd/>
          </a:ln>
          <a:effectLst>
            <a:outerShdw dist="107763" dir="2700000" algn="ctr" rotWithShape="0">
              <a:srgbClr val="808080"/>
            </a:outerShdw>
          </a:effectLst>
        </p:spPr>
        <p:txBody>
          <a:bodyPr/>
          <a:lstStyle/>
          <a:p>
            <a:pPr>
              <a:defRPr/>
            </a:pPr>
            <a:endParaRPr lang="ru-RU">
              <a:effectLst>
                <a:outerShdw blurRad="38100" dist="38100" dir="2700000" algn="tl">
                  <a:srgbClr val="000000">
                    <a:alpha val="43137"/>
                  </a:srgbClr>
                </a:outerShdw>
              </a:effectLst>
            </a:endParaRPr>
          </a:p>
        </p:txBody>
      </p:sp>
      <p:sp>
        <p:nvSpPr>
          <p:cNvPr id="623648" name="Cloud"/>
          <p:cNvSpPr>
            <a:spLocks noChangeAspect="1" noEditPoints="1" noChangeArrowheads="1"/>
          </p:cNvSpPr>
          <p:nvPr/>
        </p:nvSpPr>
        <p:spPr bwMode="auto">
          <a:xfrm>
            <a:off x="111125" y="4724400"/>
            <a:ext cx="1365250" cy="12128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2"/>
          </a:solidFill>
          <a:ln w="9525">
            <a:solidFill>
              <a:srgbClr val="000000"/>
            </a:solidFill>
            <a:miter lim="800000"/>
            <a:headEnd/>
            <a:tailEnd/>
          </a:ln>
          <a:effectLst>
            <a:outerShdw dist="107763" dir="2700000" algn="ctr" rotWithShape="0">
              <a:srgbClr val="808080"/>
            </a:outerShdw>
          </a:effectLst>
        </p:spPr>
        <p:txBody>
          <a:bodyPr/>
          <a:lstStyle/>
          <a:p>
            <a:pPr>
              <a:defRPr/>
            </a:pPr>
            <a:endParaRPr lang="ru-RU">
              <a:effectLst>
                <a:outerShdw blurRad="38100" dist="38100" dir="2700000" algn="tl">
                  <a:srgbClr val="000000">
                    <a:alpha val="43137"/>
                  </a:srgbClr>
                </a:outerShdw>
              </a:effectLst>
            </a:endParaRPr>
          </a:p>
        </p:txBody>
      </p:sp>
      <p:sp>
        <p:nvSpPr>
          <p:cNvPr id="29727" name="Text Box 33"/>
          <p:cNvSpPr txBox="1">
            <a:spLocks noChangeArrowheads="1"/>
          </p:cNvSpPr>
          <p:nvPr/>
        </p:nvSpPr>
        <p:spPr bwMode="auto">
          <a:xfrm>
            <a:off x="107950" y="3476625"/>
            <a:ext cx="1079500" cy="581025"/>
          </a:xfrm>
          <a:prstGeom prst="rect">
            <a:avLst/>
          </a:prstGeom>
          <a:noFill/>
          <a:ln w="9525">
            <a:noFill/>
            <a:miter lim="800000"/>
            <a:headEnd/>
            <a:tailEnd/>
          </a:ln>
        </p:spPr>
        <p:txBody>
          <a:bodyPr>
            <a:spAutoFit/>
          </a:bodyPr>
          <a:lstStyle/>
          <a:p>
            <a:pPr algn="ctr"/>
            <a:r>
              <a:rPr kumimoji="1" lang="en-US" sz="1600" b="1">
                <a:latin typeface="Tahoma" pitchFamily="34" charset="0"/>
              </a:rPr>
              <a:t>TDM</a:t>
            </a:r>
            <a:r>
              <a:rPr kumimoji="1" lang="ru-RU" sz="1600" b="1">
                <a:latin typeface="Tahoma" pitchFamily="34" charset="0"/>
              </a:rPr>
              <a:t>-</a:t>
            </a:r>
            <a:r>
              <a:rPr kumimoji="1" lang="en-US" sz="1600" b="1">
                <a:latin typeface="Tahoma" pitchFamily="34" charset="0"/>
              </a:rPr>
              <a:t> </a:t>
            </a:r>
            <a:r>
              <a:rPr kumimoji="1" lang="ru-RU" sz="1600" b="1">
                <a:latin typeface="Tahoma" pitchFamily="34" charset="0"/>
              </a:rPr>
              <a:t>сеть</a:t>
            </a:r>
          </a:p>
        </p:txBody>
      </p:sp>
      <p:sp>
        <p:nvSpPr>
          <p:cNvPr id="29728" name="Text Box 34"/>
          <p:cNvSpPr txBox="1">
            <a:spLocks noChangeArrowheads="1"/>
          </p:cNvSpPr>
          <p:nvPr/>
        </p:nvSpPr>
        <p:spPr bwMode="auto">
          <a:xfrm>
            <a:off x="323850" y="5084763"/>
            <a:ext cx="1079500" cy="457200"/>
          </a:xfrm>
          <a:prstGeom prst="rect">
            <a:avLst/>
          </a:prstGeom>
          <a:noFill/>
          <a:ln w="9525">
            <a:noFill/>
            <a:miter lim="800000"/>
            <a:headEnd/>
            <a:tailEnd/>
          </a:ln>
        </p:spPr>
        <p:txBody>
          <a:bodyPr>
            <a:spAutoFit/>
          </a:bodyPr>
          <a:lstStyle/>
          <a:p>
            <a:r>
              <a:rPr kumimoji="1" lang="en-US" sz="2400" b="1">
                <a:latin typeface="Tahoma" pitchFamily="34" charset="0"/>
              </a:rPr>
              <a:t>NGN</a:t>
            </a:r>
            <a:endParaRPr kumimoji="1" lang="ru-RU" sz="2400" b="1">
              <a:latin typeface="Tahoma" pitchFamily="34" charset="0"/>
            </a:endParaRPr>
          </a:p>
        </p:txBody>
      </p:sp>
      <p:sp>
        <p:nvSpPr>
          <p:cNvPr id="623651" name="Line 35"/>
          <p:cNvSpPr>
            <a:spLocks noChangeShapeType="1"/>
          </p:cNvSpPr>
          <p:nvPr/>
        </p:nvSpPr>
        <p:spPr bwMode="auto">
          <a:xfrm>
            <a:off x="1403350" y="5157788"/>
            <a:ext cx="865188" cy="0"/>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52" name="Line 36"/>
          <p:cNvSpPr>
            <a:spLocks noChangeShapeType="1"/>
          </p:cNvSpPr>
          <p:nvPr/>
        </p:nvSpPr>
        <p:spPr bwMode="auto">
          <a:xfrm>
            <a:off x="1331913" y="3646488"/>
            <a:ext cx="863600" cy="0"/>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53" name="Rectangle 37"/>
          <p:cNvSpPr>
            <a:spLocks noChangeArrowheads="1"/>
          </p:cNvSpPr>
          <p:nvPr/>
        </p:nvSpPr>
        <p:spPr bwMode="auto">
          <a:xfrm>
            <a:off x="0" y="188641"/>
            <a:ext cx="9144000" cy="670198"/>
          </a:xfrm>
          <a:prstGeom prst="rect">
            <a:avLst/>
          </a:prstGeom>
          <a:noFill/>
          <a:ln w="9525">
            <a:noFill/>
            <a:miter lim="800000"/>
            <a:headEnd/>
            <a:tailEnd/>
          </a:ln>
          <a:effectLst/>
        </p:spPr>
        <p:txBody>
          <a:bodyPr anchor="b"/>
          <a:lstStyle/>
          <a:p>
            <a:pPr algn="ctr">
              <a:lnSpc>
                <a:spcPct val="80000"/>
              </a:lnSpc>
              <a:spcBef>
                <a:spcPct val="5000"/>
              </a:spcBef>
              <a:defRPr/>
            </a:pPr>
            <a:endParaRPr lang="ru-RU" sz="2400" b="1" dirty="0" smtClean="0">
              <a:solidFill>
                <a:srgbClr val="002060"/>
              </a:solidFill>
              <a:latin typeface="Tahoma" charset="0"/>
            </a:endParaRPr>
          </a:p>
          <a:p>
            <a:pPr algn="ctr">
              <a:lnSpc>
                <a:spcPct val="80000"/>
              </a:lnSpc>
              <a:spcBef>
                <a:spcPct val="5000"/>
              </a:spcBef>
              <a:defRPr/>
            </a:pPr>
            <a:endParaRPr lang="ru-RU" sz="2400" b="1" dirty="0">
              <a:solidFill>
                <a:srgbClr val="002060"/>
              </a:solidFill>
              <a:latin typeface="Tahoma" charset="0"/>
            </a:endParaRPr>
          </a:p>
          <a:p>
            <a:pPr algn="ctr">
              <a:lnSpc>
                <a:spcPct val="80000"/>
              </a:lnSpc>
              <a:spcBef>
                <a:spcPct val="5000"/>
              </a:spcBef>
              <a:defRPr/>
            </a:pPr>
            <a:endParaRPr lang="ru-RU" sz="2400" b="1" dirty="0" smtClean="0">
              <a:solidFill>
                <a:srgbClr val="002060"/>
              </a:solidFill>
              <a:latin typeface="Tahoma" charset="0"/>
            </a:endParaRPr>
          </a:p>
          <a:p>
            <a:pPr algn="ctr">
              <a:lnSpc>
                <a:spcPct val="80000"/>
              </a:lnSpc>
              <a:spcBef>
                <a:spcPct val="5000"/>
              </a:spcBef>
              <a:defRPr/>
            </a:pPr>
            <a:endParaRPr lang="ru-RU" sz="2400" b="1" dirty="0">
              <a:solidFill>
                <a:srgbClr val="002060"/>
              </a:solidFill>
              <a:latin typeface="Tahoma" charset="0"/>
            </a:endParaRPr>
          </a:p>
          <a:p>
            <a:pPr algn="ctr">
              <a:lnSpc>
                <a:spcPct val="80000"/>
              </a:lnSpc>
              <a:spcBef>
                <a:spcPct val="5000"/>
              </a:spcBef>
              <a:defRPr/>
            </a:pPr>
            <a:endParaRPr lang="ru-RU" sz="2400" b="1" dirty="0" smtClean="0">
              <a:solidFill>
                <a:srgbClr val="002060"/>
              </a:solidFill>
              <a:latin typeface="Tahoma" charset="0"/>
            </a:endParaRPr>
          </a:p>
          <a:p>
            <a:pPr algn="ctr">
              <a:lnSpc>
                <a:spcPct val="80000"/>
              </a:lnSpc>
              <a:spcBef>
                <a:spcPct val="5000"/>
              </a:spcBef>
              <a:defRPr/>
            </a:pPr>
            <a:endParaRPr lang="ru-RU" sz="2400" b="1" dirty="0">
              <a:solidFill>
                <a:srgbClr val="002060"/>
              </a:solidFill>
              <a:latin typeface="Tahoma" charset="0"/>
            </a:endParaRPr>
          </a:p>
          <a:p>
            <a:pPr algn="ctr">
              <a:lnSpc>
                <a:spcPct val="80000"/>
              </a:lnSpc>
              <a:spcBef>
                <a:spcPct val="5000"/>
              </a:spcBef>
              <a:defRPr/>
            </a:pPr>
            <a:r>
              <a:rPr lang="ru-RU" sz="2400" b="1" dirty="0" smtClean="0">
                <a:solidFill>
                  <a:srgbClr val="002060"/>
                </a:solidFill>
                <a:latin typeface="Tahoma" charset="0"/>
              </a:rPr>
              <a:t>Платформа </a:t>
            </a:r>
            <a:r>
              <a:rPr lang="ru-RU" sz="2400" b="1" dirty="0">
                <a:solidFill>
                  <a:srgbClr val="002060"/>
                </a:solidFill>
                <a:latin typeface="Tahoma" charset="0"/>
              </a:rPr>
              <a:t>интеллектуальных услуг нового поколения</a:t>
            </a:r>
          </a:p>
        </p:txBody>
      </p:sp>
      <p:pic>
        <p:nvPicPr>
          <p:cNvPr id="29732" name="Picture 38" descr="Pi_120"/>
          <p:cNvPicPr>
            <a:picLocks noChangeAspect="1" noChangeArrowheads="1"/>
          </p:cNvPicPr>
          <p:nvPr/>
        </p:nvPicPr>
        <p:blipFill>
          <a:blip r:embed="rId10" cstate="print"/>
          <a:srcRect/>
          <a:stretch>
            <a:fillRect/>
          </a:stretch>
        </p:blipFill>
        <p:spPr bwMode="auto">
          <a:xfrm>
            <a:off x="2268538" y="3573463"/>
            <a:ext cx="161925" cy="157162"/>
          </a:xfrm>
          <a:prstGeom prst="rect">
            <a:avLst/>
          </a:prstGeom>
          <a:noFill/>
          <a:ln w="9525">
            <a:noFill/>
            <a:miter lim="800000"/>
            <a:headEnd/>
            <a:tailEnd/>
          </a:ln>
        </p:spPr>
      </p:pic>
      <p:pic>
        <p:nvPicPr>
          <p:cNvPr id="29733" name="Picture 39" descr="Pi_120"/>
          <p:cNvPicPr>
            <a:picLocks noChangeAspect="1" noChangeArrowheads="1"/>
          </p:cNvPicPr>
          <p:nvPr/>
        </p:nvPicPr>
        <p:blipFill>
          <a:blip r:embed="rId10" cstate="print"/>
          <a:srcRect/>
          <a:stretch>
            <a:fillRect/>
          </a:stretch>
        </p:blipFill>
        <p:spPr bwMode="auto">
          <a:xfrm>
            <a:off x="2322513" y="5013325"/>
            <a:ext cx="161925" cy="157163"/>
          </a:xfrm>
          <a:prstGeom prst="rect">
            <a:avLst/>
          </a:prstGeom>
          <a:noFill/>
          <a:ln w="9525">
            <a:noFill/>
            <a:miter lim="800000"/>
            <a:headEnd/>
            <a:tailEnd/>
          </a:ln>
        </p:spPr>
      </p:pic>
      <p:sp>
        <p:nvSpPr>
          <p:cNvPr id="623656" name="Line 40"/>
          <p:cNvSpPr>
            <a:spLocks noChangeShapeType="1"/>
          </p:cNvSpPr>
          <p:nvPr/>
        </p:nvSpPr>
        <p:spPr bwMode="auto">
          <a:xfrm>
            <a:off x="1258888" y="2060575"/>
            <a:ext cx="865187" cy="0"/>
          </a:xfrm>
          <a:prstGeom prst="line">
            <a:avLst/>
          </a:prstGeom>
          <a:noFill/>
          <a:ln w="28575">
            <a:solidFill>
              <a:srgbClr val="000000"/>
            </a:solidFill>
            <a:miter lim="800000"/>
            <a:headEnd/>
            <a:tailEnd/>
          </a:ln>
          <a:effectLst/>
        </p:spPr>
        <p:txBody>
          <a:bodyPr wrap="none"/>
          <a:lstStyle/>
          <a:p>
            <a:pPr>
              <a:defRPr/>
            </a:pPr>
            <a:endParaRPr lang="ru-RU">
              <a:effectLst>
                <a:outerShdw blurRad="38100" dist="38100" dir="2700000" algn="tl">
                  <a:srgbClr val="000000">
                    <a:alpha val="43137"/>
                  </a:srgbClr>
                </a:outerShdw>
              </a:effectLst>
            </a:endParaRPr>
          </a:p>
        </p:txBody>
      </p:sp>
      <p:sp>
        <p:nvSpPr>
          <p:cNvPr id="623657" name="Cloud"/>
          <p:cNvSpPr>
            <a:spLocks noChangeAspect="1" noEditPoints="1" noChangeArrowheads="1"/>
          </p:cNvSpPr>
          <p:nvPr/>
        </p:nvSpPr>
        <p:spPr bwMode="auto">
          <a:xfrm>
            <a:off x="4067175" y="1484313"/>
            <a:ext cx="1149350" cy="39592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2"/>
          </a:solidFill>
          <a:ln w="9525">
            <a:solidFill>
              <a:srgbClr val="000000"/>
            </a:solidFill>
            <a:miter lim="800000"/>
            <a:headEnd/>
            <a:tailEnd/>
          </a:ln>
          <a:effectLst>
            <a:outerShdw dist="107763" dir="2700000" algn="ctr" rotWithShape="0">
              <a:srgbClr val="808080"/>
            </a:outerShdw>
          </a:effectLst>
        </p:spPr>
        <p:txBody>
          <a:bodyPr/>
          <a:lstStyle/>
          <a:p>
            <a:pPr>
              <a:defRPr/>
            </a:pPr>
            <a:endParaRPr lang="ru-RU">
              <a:effectLst>
                <a:outerShdw blurRad="38100" dist="38100" dir="2700000" algn="tl">
                  <a:srgbClr val="000000">
                    <a:alpha val="43137"/>
                  </a:srgbClr>
                </a:outerShdw>
              </a:effectLst>
            </a:endParaRPr>
          </a:p>
        </p:txBody>
      </p:sp>
      <p:sp>
        <p:nvSpPr>
          <p:cNvPr id="29736" name="Text Box 42"/>
          <p:cNvSpPr txBox="1">
            <a:spLocks noChangeArrowheads="1"/>
          </p:cNvSpPr>
          <p:nvPr/>
        </p:nvSpPr>
        <p:spPr bwMode="auto">
          <a:xfrm>
            <a:off x="4122738" y="3068638"/>
            <a:ext cx="1169987" cy="581025"/>
          </a:xfrm>
          <a:prstGeom prst="rect">
            <a:avLst/>
          </a:prstGeom>
          <a:noFill/>
          <a:ln w="9525">
            <a:noFill/>
            <a:miter lim="800000"/>
            <a:headEnd/>
            <a:tailEnd/>
          </a:ln>
        </p:spPr>
        <p:txBody>
          <a:bodyPr wrap="none">
            <a:spAutoFit/>
          </a:bodyPr>
          <a:lstStyle/>
          <a:p>
            <a:r>
              <a:rPr kumimoji="1" lang="en-US" sz="1600" b="1">
                <a:latin typeface="Tahoma" pitchFamily="34" charset="0"/>
              </a:rPr>
              <a:t>TCP/IP</a:t>
            </a:r>
          </a:p>
          <a:p>
            <a:r>
              <a:rPr kumimoji="1" lang="en-US" sz="1600" b="1">
                <a:latin typeface="Tahoma" pitchFamily="34" charset="0"/>
              </a:rPr>
              <a:t>backbone</a:t>
            </a:r>
            <a:endParaRPr kumimoji="1" lang="ru-RU" sz="1600" b="1">
              <a:latin typeface="Tahoma" pitchFamily="34" charset="0"/>
            </a:endParaRPr>
          </a:p>
        </p:txBody>
      </p:sp>
      <p:sp>
        <p:nvSpPr>
          <p:cNvPr id="29737" name="Text Box 43"/>
          <p:cNvSpPr txBox="1">
            <a:spLocks noChangeArrowheads="1"/>
          </p:cNvSpPr>
          <p:nvPr/>
        </p:nvSpPr>
        <p:spPr bwMode="auto">
          <a:xfrm>
            <a:off x="1979613" y="2420938"/>
            <a:ext cx="1295400" cy="639762"/>
          </a:xfrm>
          <a:prstGeom prst="rect">
            <a:avLst/>
          </a:prstGeom>
          <a:noFill/>
          <a:ln w="9525">
            <a:noFill/>
            <a:miter lim="800000"/>
            <a:headEnd/>
            <a:tailEnd/>
          </a:ln>
        </p:spPr>
        <p:txBody>
          <a:bodyPr>
            <a:spAutoFit/>
          </a:bodyPr>
          <a:lstStyle/>
          <a:p>
            <a:pPr algn="ctr"/>
            <a:r>
              <a:rPr kumimoji="1" lang="en-US" sz="1200" b="1">
                <a:latin typeface="Tahoma" pitchFamily="34" charset="0"/>
              </a:rPr>
              <a:t>INAP Interface Subsystem </a:t>
            </a:r>
            <a:endParaRPr kumimoji="1" lang="ru-RU" sz="1200" b="1">
              <a:latin typeface="Tahoma" pitchFamily="34" charset="0"/>
            </a:endParaRPr>
          </a:p>
        </p:txBody>
      </p:sp>
      <p:sp>
        <p:nvSpPr>
          <p:cNvPr id="29738" name="Text Box 44"/>
          <p:cNvSpPr txBox="1">
            <a:spLocks noChangeArrowheads="1"/>
          </p:cNvSpPr>
          <p:nvPr/>
        </p:nvSpPr>
        <p:spPr bwMode="auto">
          <a:xfrm>
            <a:off x="1447800" y="3387725"/>
            <a:ext cx="820738" cy="244475"/>
          </a:xfrm>
          <a:prstGeom prst="rect">
            <a:avLst/>
          </a:prstGeom>
          <a:noFill/>
          <a:ln w="9525">
            <a:noFill/>
            <a:miter lim="800000"/>
            <a:headEnd/>
            <a:tailEnd/>
          </a:ln>
        </p:spPr>
        <p:txBody>
          <a:bodyPr wrap="none">
            <a:spAutoFit/>
          </a:bodyPr>
          <a:lstStyle/>
          <a:p>
            <a:r>
              <a:rPr kumimoji="1" lang="en-US" sz="1000" b="1">
                <a:latin typeface="Tahoma" pitchFamily="34" charset="0"/>
              </a:rPr>
              <a:t>SS7/ISUP</a:t>
            </a:r>
            <a:endParaRPr kumimoji="1" lang="ru-RU" sz="1000" b="1">
              <a:latin typeface="Tahoma" pitchFamily="34" charset="0"/>
            </a:endParaRPr>
          </a:p>
        </p:txBody>
      </p:sp>
      <p:sp>
        <p:nvSpPr>
          <p:cNvPr id="29739" name="Text Box 45"/>
          <p:cNvSpPr txBox="1">
            <a:spLocks noChangeArrowheads="1"/>
          </p:cNvSpPr>
          <p:nvPr/>
        </p:nvSpPr>
        <p:spPr bwMode="auto">
          <a:xfrm>
            <a:off x="1403350" y="1790700"/>
            <a:ext cx="936625" cy="701675"/>
          </a:xfrm>
          <a:prstGeom prst="rect">
            <a:avLst/>
          </a:prstGeom>
          <a:noFill/>
          <a:ln w="9525">
            <a:noFill/>
            <a:miter lim="800000"/>
            <a:headEnd/>
            <a:tailEnd/>
          </a:ln>
        </p:spPr>
        <p:txBody>
          <a:bodyPr>
            <a:spAutoFit/>
          </a:bodyPr>
          <a:lstStyle/>
          <a:p>
            <a:r>
              <a:rPr kumimoji="1" lang="en-US" sz="1000" b="1">
                <a:latin typeface="Tahoma" pitchFamily="34" charset="0"/>
              </a:rPr>
              <a:t>SS7/INAP</a:t>
            </a:r>
            <a:endParaRPr kumimoji="1" lang="ru-RU" sz="1000" b="1">
              <a:latin typeface="Tahoma" pitchFamily="34" charset="0"/>
            </a:endParaRPr>
          </a:p>
          <a:p>
            <a:r>
              <a:rPr kumimoji="1" lang="ru-RU" sz="1000" b="1">
                <a:latin typeface="Tahoma" pitchFamily="34" charset="0"/>
              </a:rPr>
              <a:t/>
            </a:r>
            <a:br>
              <a:rPr kumimoji="1" lang="ru-RU" sz="1000" b="1">
                <a:latin typeface="Tahoma" pitchFamily="34" charset="0"/>
              </a:rPr>
            </a:br>
            <a:r>
              <a:rPr kumimoji="1" lang="ru-RU" sz="1000" b="1">
                <a:latin typeface="Tahoma" pitchFamily="34" charset="0"/>
              </a:rPr>
              <a:t> (</a:t>
            </a:r>
            <a:r>
              <a:rPr kumimoji="1" lang="en-US" sz="1000" b="1">
                <a:latin typeface="Tahoma" pitchFamily="34" charset="0"/>
              </a:rPr>
              <a:t>E1 </a:t>
            </a:r>
            <a:r>
              <a:rPr kumimoji="1" lang="ru-RU" sz="1000" b="1">
                <a:latin typeface="Tahoma" pitchFamily="34" charset="0"/>
              </a:rPr>
              <a:t>или </a:t>
            </a:r>
            <a:r>
              <a:rPr kumimoji="1" lang="en-US" sz="1000" b="1">
                <a:latin typeface="Tahoma" pitchFamily="34" charset="0"/>
              </a:rPr>
              <a:t/>
            </a:r>
            <a:br>
              <a:rPr kumimoji="1" lang="en-US" sz="1000" b="1">
                <a:latin typeface="Tahoma" pitchFamily="34" charset="0"/>
              </a:rPr>
            </a:br>
            <a:r>
              <a:rPr kumimoji="1" lang="en-US" sz="1000" b="1">
                <a:latin typeface="Tahoma" pitchFamily="34" charset="0"/>
              </a:rPr>
              <a:t>SIGTRAN</a:t>
            </a:r>
            <a:r>
              <a:rPr kumimoji="1" lang="ru-RU" sz="1000" b="1">
                <a:latin typeface="Tahoma" pitchFamily="34" charset="0"/>
              </a:rPr>
              <a: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47738" y="2438400"/>
            <a:ext cx="6262687" cy="3581400"/>
            <a:chOff x="2227" y="1812"/>
            <a:chExt cx="1190" cy="578"/>
          </a:xfrm>
        </p:grpSpPr>
        <p:sp>
          <p:nvSpPr>
            <p:cNvPr id="567299" name="Oval 3"/>
            <p:cNvSpPr>
              <a:spLocks noChangeArrowheads="1"/>
            </p:cNvSpPr>
            <p:nvPr/>
          </p:nvSpPr>
          <p:spPr bwMode="auto">
            <a:xfrm>
              <a:off x="2599" y="1829"/>
              <a:ext cx="288" cy="188"/>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0" name="Oval 4"/>
            <p:cNvSpPr>
              <a:spLocks noChangeArrowheads="1"/>
            </p:cNvSpPr>
            <p:nvPr/>
          </p:nvSpPr>
          <p:spPr bwMode="auto">
            <a:xfrm>
              <a:off x="2839" y="1812"/>
              <a:ext cx="233" cy="152"/>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1" name="Oval 5"/>
            <p:cNvSpPr>
              <a:spLocks noChangeArrowheads="1"/>
            </p:cNvSpPr>
            <p:nvPr/>
          </p:nvSpPr>
          <p:spPr bwMode="auto">
            <a:xfrm>
              <a:off x="3048" y="1972"/>
              <a:ext cx="369" cy="239"/>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2" name="Oval 6"/>
            <p:cNvSpPr>
              <a:spLocks noChangeArrowheads="1"/>
            </p:cNvSpPr>
            <p:nvPr/>
          </p:nvSpPr>
          <p:spPr bwMode="auto">
            <a:xfrm>
              <a:off x="2358" y="2079"/>
              <a:ext cx="417" cy="275"/>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3" name="Oval 7"/>
            <p:cNvSpPr>
              <a:spLocks noChangeArrowheads="1"/>
            </p:cNvSpPr>
            <p:nvPr/>
          </p:nvSpPr>
          <p:spPr bwMode="auto">
            <a:xfrm>
              <a:off x="2943" y="2111"/>
              <a:ext cx="312" cy="207"/>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4" name="Oval 8"/>
            <p:cNvSpPr>
              <a:spLocks noChangeArrowheads="1"/>
            </p:cNvSpPr>
            <p:nvPr/>
          </p:nvSpPr>
          <p:spPr bwMode="auto">
            <a:xfrm>
              <a:off x="2252" y="2134"/>
              <a:ext cx="237" cy="149"/>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5" name="Oval 9"/>
            <p:cNvSpPr>
              <a:spLocks noChangeArrowheads="1"/>
            </p:cNvSpPr>
            <p:nvPr/>
          </p:nvSpPr>
          <p:spPr bwMode="auto">
            <a:xfrm>
              <a:off x="2227" y="2009"/>
              <a:ext cx="232" cy="150"/>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6" name="Oval 10"/>
            <p:cNvSpPr>
              <a:spLocks noChangeArrowheads="1"/>
            </p:cNvSpPr>
            <p:nvPr/>
          </p:nvSpPr>
          <p:spPr bwMode="auto">
            <a:xfrm>
              <a:off x="2334" y="1865"/>
              <a:ext cx="369" cy="242"/>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7" name="Oval 11"/>
            <p:cNvSpPr>
              <a:spLocks noChangeArrowheads="1"/>
            </p:cNvSpPr>
            <p:nvPr/>
          </p:nvSpPr>
          <p:spPr bwMode="auto">
            <a:xfrm>
              <a:off x="2652" y="2147"/>
              <a:ext cx="368" cy="243"/>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8" name="Oval 12"/>
            <p:cNvSpPr>
              <a:spLocks noChangeArrowheads="1"/>
            </p:cNvSpPr>
            <p:nvPr/>
          </p:nvSpPr>
          <p:spPr bwMode="auto">
            <a:xfrm>
              <a:off x="3102" y="1884"/>
              <a:ext cx="289" cy="187"/>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09" name="Oval 13"/>
            <p:cNvSpPr>
              <a:spLocks noChangeArrowheads="1"/>
            </p:cNvSpPr>
            <p:nvPr/>
          </p:nvSpPr>
          <p:spPr bwMode="auto">
            <a:xfrm>
              <a:off x="3024" y="1812"/>
              <a:ext cx="261" cy="169"/>
            </a:xfrm>
            <a:prstGeom prst="ellipse">
              <a:avLst/>
            </a:prstGeom>
            <a:solidFill>
              <a:srgbClr val="E7F65C"/>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0" name="Freeform 14"/>
            <p:cNvSpPr>
              <a:spLocks/>
            </p:cNvSpPr>
            <p:nvPr/>
          </p:nvSpPr>
          <p:spPr bwMode="auto">
            <a:xfrm>
              <a:off x="2323" y="1855"/>
              <a:ext cx="1027" cy="461"/>
            </a:xfrm>
            <a:custGeom>
              <a:avLst/>
              <a:gdLst/>
              <a:ahLst/>
              <a:cxnLst>
                <a:cxn ang="0">
                  <a:pos x="634" y="90"/>
                </a:cxn>
                <a:cxn ang="0">
                  <a:pos x="719" y="26"/>
                </a:cxn>
                <a:cxn ang="0">
                  <a:pos x="1101" y="30"/>
                </a:cxn>
                <a:cxn ang="0">
                  <a:pos x="1372" y="0"/>
                </a:cxn>
                <a:cxn ang="0">
                  <a:pos x="1715" y="108"/>
                </a:cxn>
                <a:cxn ang="0">
                  <a:pos x="1886" y="78"/>
                </a:cxn>
                <a:cxn ang="0">
                  <a:pos x="1981" y="90"/>
                </a:cxn>
                <a:cxn ang="0">
                  <a:pos x="2000" y="364"/>
                </a:cxn>
                <a:cxn ang="0">
                  <a:pos x="2053" y="409"/>
                </a:cxn>
                <a:cxn ang="0">
                  <a:pos x="1895" y="621"/>
                </a:cxn>
                <a:cxn ang="0">
                  <a:pos x="1723" y="476"/>
                </a:cxn>
                <a:cxn ang="0">
                  <a:pos x="1677" y="549"/>
                </a:cxn>
                <a:cxn ang="0">
                  <a:pos x="1434" y="842"/>
                </a:cxn>
                <a:cxn ang="0">
                  <a:pos x="618" y="923"/>
                </a:cxn>
                <a:cxn ang="0">
                  <a:pos x="199" y="862"/>
                </a:cxn>
                <a:cxn ang="0">
                  <a:pos x="66" y="685"/>
                </a:cxn>
                <a:cxn ang="0">
                  <a:pos x="66" y="498"/>
                </a:cxn>
                <a:cxn ang="0">
                  <a:pos x="0" y="344"/>
                </a:cxn>
                <a:cxn ang="0">
                  <a:pos x="634" y="90"/>
                </a:cxn>
              </a:cxnLst>
              <a:rect l="0" t="0" r="r" b="b"/>
              <a:pathLst>
                <a:path w="2053" h="923">
                  <a:moveTo>
                    <a:pt x="634" y="90"/>
                  </a:moveTo>
                  <a:lnTo>
                    <a:pt x="719" y="26"/>
                  </a:lnTo>
                  <a:lnTo>
                    <a:pt x="1101" y="30"/>
                  </a:lnTo>
                  <a:lnTo>
                    <a:pt x="1372" y="0"/>
                  </a:lnTo>
                  <a:lnTo>
                    <a:pt x="1715" y="108"/>
                  </a:lnTo>
                  <a:lnTo>
                    <a:pt x="1886" y="78"/>
                  </a:lnTo>
                  <a:lnTo>
                    <a:pt x="1981" y="90"/>
                  </a:lnTo>
                  <a:lnTo>
                    <a:pt x="2000" y="364"/>
                  </a:lnTo>
                  <a:lnTo>
                    <a:pt x="2053" y="409"/>
                  </a:lnTo>
                  <a:lnTo>
                    <a:pt x="1895" y="621"/>
                  </a:lnTo>
                  <a:lnTo>
                    <a:pt x="1723" y="476"/>
                  </a:lnTo>
                  <a:lnTo>
                    <a:pt x="1677" y="549"/>
                  </a:lnTo>
                  <a:lnTo>
                    <a:pt x="1434" y="842"/>
                  </a:lnTo>
                  <a:lnTo>
                    <a:pt x="618" y="923"/>
                  </a:lnTo>
                  <a:lnTo>
                    <a:pt x="199" y="862"/>
                  </a:lnTo>
                  <a:lnTo>
                    <a:pt x="66" y="685"/>
                  </a:lnTo>
                  <a:lnTo>
                    <a:pt x="66" y="498"/>
                  </a:lnTo>
                  <a:lnTo>
                    <a:pt x="0" y="344"/>
                  </a:lnTo>
                  <a:lnTo>
                    <a:pt x="634" y="90"/>
                  </a:lnTo>
                  <a:close/>
                </a:path>
              </a:pathLst>
            </a:custGeom>
            <a:solidFill>
              <a:srgbClr val="E7F65C"/>
            </a:solidFill>
            <a:ln w="9525">
              <a:noFill/>
              <a:round/>
              <a:headEnd/>
              <a:tailEnd/>
            </a:ln>
          </p:spPr>
          <p:txBody>
            <a:bodyPr/>
            <a:lstStyle/>
            <a:p>
              <a:pPr>
                <a:defRPr/>
              </a:pPr>
              <a:endParaRPr lang="ru-RU">
                <a:effectLst>
                  <a:outerShdw blurRad="38100" dist="38100" dir="2700000" algn="tl">
                    <a:srgbClr val="000000">
                      <a:alpha val="43137"/>
                    </a:srgbClr>
                  </a:outerShdw>
                </a:effectLst>
              </a:endParaRPr>
            </a:p>
          </p:txBody>
        </p:sp>
      </p:grpSp>
      <p:grpSp>
        <p:nvGrpSpPr>
          <p:cNvPr id="3" name="Group 15"/>
          <p:cNvGrpSpPr>
            <a:grpSpLocks/>
          </p:cNvGrpSpPr>
          <p:nvPr/>
        </p:nvGrpSpPr>
        <p:grpSpPr bwMode="auto">
          <a:xfrm>
            <a:off x="5943600" y="1066800"/>
            <a:ext cx="2954338" cy="1676400"/>
            <a:chOff x="2227" y="1812"/>
            <a:chExt cx="1190" cy="578"/>
          </a:xfrm>
        </p:grpSpPr>
        <p:sp>
          <p:nvSpPr>
            <p:cNvPr id="567312" name="Oval 16"/>
            <p:cNvSpPr>
              <a:spLocks noChangeArrowheads="1"/>
            </p:cNvSpPr>
            <p:nvPr/>
          </p:nvSpPr>
          <p:spPr bwMode="auto">
            <a:xfrm>
              <a:off x="2599" y="1829"/>
              <a:ext cx="288" cy="188"/>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3" name="Oval 17"/>
            <p:cNvSpPr>
              <a:spLocks noChangeArrowheads="1"/>
            </p:cNvSpPr>
            <p:nvPr/>
          </p:nvSpPr>
          <p:spPr bwMode="auto">
            <a:xfrm>
              <a:off x="2839" y="1812"/>
              <a:ext cx="233" cy="152"/>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4" name="Oval 18"/>
            <p:cNvSpPr>
              <a:spLocks noChangeArrowheads="1"/>
            </p:cNvSpPr>
            <p:nvPr/>
          </p:nvSpPr>
          <p:spPr bwMode="auto">
            <a:xfrm>
              <a:off x="3048" y="1972"/>
              <a:ext cx="369" cy="239"/>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5" name="Oval 19"/>
            <p:cNvSpPr>
              <a:spLocks noChangeArrowheads="1"/>
            </p:cNvSpPr>
            <p:nvPr/>
          </p:nvSpPr>
          <p:spPr bwMode="auto">
            <a:xfrm>
              <a:off x="2358" y="2079"/>
              <a:ext cx="417" cy="275"/>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6" name="Oval 20"/>
            <p:cNvSpPr>
              <a:spLocks noChangeArrowheads="1"/>
            </p:cNvSpPr>
            <p:nvPr/>
          </p:nvSpPr>
          <p:spPr bwMode="auto">
            <a:xfrm>
              <a:off x="2943" y="2111"/>
              <a:ext cx="312" cy="207"/>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7" name="Oval 21"/>
            <p:cNvSpPr>
              <a:spLocks noChangeArrowheads="1"/>
            </p:cNvSpPr>
            <p:nvPr/>
          </p:nvSpPr>
          <p:spPr bwMode="auto">
            <a:xfrm>
              <a:off x="2252" y="2134"/>
              <a:ext cx="237" cy="149"/>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8" name="Oval 22"/>
            <p:cNvSpPr>
              <a:spLocks noChangeArrowheads="1"/>
            </p:cNvSpPr>
            <p:nvPr/>
          </p:nvSpPr>
          <p:spPr bwMode="auto">
            <a:xfrm>
              <a:off x="2227" y="2009"/>
              <a:ext cx="232" cy="150"/>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19" name="Oval 23"/>
            <p:cNvSpPr>
              <a:spLocks noChangeArrowheads="1"/>
            </p:cNvSpPr>
            <p:nvPr/>
          </p:nvSpPr>
          <p:spPr bwMode="auto">
            <a:xfrm>
              <a:off x="2334" y="1865"/>
              <a:ext cx="369" cy="242"/>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20" name="Oval 24"/>
            <p:cNvSpPr>
              <a:spLocks noChangeArrowheads="1"/>
            </p:cNvSpPr>
            <p:nvPr/>
          </p:nvSpPr>
          <p:spPr bwMode="auto">
            <a:xfrm>
              <a:off x="2652" y="2147"/>
              <a:ext cx="368" cy="243"/>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21" name="Oval 25"/>
            <p:cNvSpPr>
              <a:spLocks noChangeArrowheads="1"/>
            </p:cNvSpPr>
            <p:nvPr/>
          </p:nvSpPr>
          <p:spPr bwMode="auto">
            <a:xfrm>
              <a:off x="3102" y="1884"/>
              <a:ext cx="289" cy="187"/>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22" name="Oval 26"/>
            <p:cNvSpPr>
              <a:spLocks noChangeArrowheads="1"/>
            </p:cNvSpPr>
            <p:nvPr/>
          </p:nvSpPr>
          <p:spPr bwMode="auto">
            <a:xfrm>
              <a:off x="3024" y="1812"/>
              <a:ext cx="262" cy="169"/>
            </a:xfrm>
            <a:prstGeom prst="ellipse">
              <a:avLst/>
            </a:prstGeom>
            <a:solidFill>
              <a:srgbClr val="CCFFFF"/>
            </a:solidFill>
            <a:ln w="9525">
              <a:solidFill>
                <a:srgbClr val="000000"/>
              </a:solidFill>
              <a:round/>
              <a:headEnd/>
              <a:tailEnd/>
            </a:ln>
          </p:spPr>
          <p:txBody>
            <a:bodyPr/>
            <a:lstStyle/>
            <a:p>
              <a:pPr>
                <a:defRPr/>
              </a:pPr>
              <a:endParaRPr lang="ru-RU">
                <a:effectLst>
                  <a:outerShdw blurRad="38100" dist="38100" dir="2700000" algn="tl">
                    <a:srgbClr val="000000">
                      <a:alpha val="43137"/>
                    </a:srgbClr>
                  </a:outerShdw>
                </a:effectLst>
              </a:endParaRPr>
            </a:p>
          </p:txBody>
        </p:sp>
        <p:sp>
          <p:nvSpPr>
            <p:cNvPr id="567323" name="Freeform 27"/>
            <p:cNvSpPr>
              <a:spLocks/>
            </p:cNvSpPr>
            <p:nvPr/>
          </p:nvSpPr>
          <p:spPr bwMode="auto">
            <a:xfrm>
              <a:off x="2323" y="1855"/>
              <a:ext cx="1027" cy="461"/>
            </a:xfrm>
            <a:custGeom>
              <a:avLst/>
              <a:gdLst/>
              <a:ahLst/>
              <a:cxnLst>
                <a:cxn ang="0">
                  <a:pos x="634" y="90"/>
                </a:cxn>
                <a:cxn ang="0">
                  <a:pos x="719" y="26"/>
                </a:cxn>
                <a:cxn ang="0">
                  <a:pos x="1101" y="30"/>
                </a:cxn>
                <a:cxn ang="0">
                  <a:pos x="1372" y="0"/>
                </a:cxn>
                <a:cxn ang="0">
                  <a:pos x="1715" y="108"/>
                </a:cxn>
                <a:cxn ang="0">
                  <a:pos x="1886" y="78"/>
                </a:cxn>
                <a:cxn ang="0">
                  <a:pos x="1981" y="90"/>
                </a:cxn>
                <a:cxn ang="0">
                  <a:pos x="2000" y="364"/>
                </a:cxn>
                <a:cxn ang="0">
                  <a:pos x="2053" y="409"/>
                </a:cxn>
                <a:cxn ang="0">
                  <a:pos x="1895" y="621"/>
                </a:cxn>
                <a:cxn ang="0">
                  <a:pos x="1723" y="476"/>
                </a:cxn>
                <a:cxn ang="0">
                  <a:pos x="1677" y="549"/>
                </a:cxn>
                <a:cxn ang="0">
                  <a:pos x="1434" y="842"/>
                </a:cxn>
                <a:cxn ang="0">
                  <a:pos x="618" y="923"/>
                </a:cxn>
                <a:cxn ang="0">
                  <a:pos x="199" y="862"/>
                </a:cxn>
                <a:cxn ang="0">
                  <a:pos x="66" y="685"/>
                </a:cxn>
                <a:cxn ang="0">
                  <a:pos x="66" y="498"/>
                </a:cxn>
                <a:cxn ang="0">
                  <a:pos x="0" y="344"/>
                </a:cxn>
                <a:cxn ang="0">
                  <a:pos x="634" y="90"/>
                </a:cxn>
              </a:cxnLst>
              <a:rect l="0" t="0" r="r" b="b"/>
              <a:pathLst>
                <a:path w="2053" h="923">
                  <a:moveTo>
                    <a:pt x="634" y="90"/>
                  </a:moveTo>
                  <a:lnTo>
                    <a:pt x="719" y="26"/>
                  </a:lnTo>
                  <a:lnTo>
                    <a:pt x="1101" y="30"/>
                  </a:lnTo>
                  <a:lnTo>
                    <a:pt x="1372" y="0"/>
                  </a:lnTo>
                  <a:lnTo>
                    <a:pt x="1715" y="108"/>
                  </a:lnTo>
                  <a:lnTo>
                    <a:pt x="1886" y="78"/>
                  </a:lnTo>
                  <a:lnTo>
                    <a:pt x="1981" y="90"/>
                  </a:lnTo>
                  <a:lnTo>
                    <a:pt x="2000" y="364"/>
                  </a:lnTo>
                  <a:lnTo>
                    <a:pt x="2053" y="409"/>
                  </a:lnTo>
                  <a:lnTo>
                    <a:pt x="1895" y="621"/>
                  </a:lnTo>
                  <a:lnTo>
                    <a:pt x="1723" y="476"/>
                  </a:lnTo>
                  <a:lnTo>
                    <a:pt x="1677" y="549"/>
                  </a:lnTo>
                  <a:lnTo>
                    <a:pt x="1434" y="842"/>
                  </a:lnTo>
                  <a:lnTo>
                    <a:pt x="618" y="923"/>
                  </a:lnTo>
                  <a:lnTo>
                    <a:pt x="199" y="862"/>
                  </a:lnTo>
                  <a:lnTo>
                    <a:pt x="66" y="685"/>
                  </a:lnTo>
                  <a:lnTo>
                    <a:pt x="66" y="498"/>
                  </a:lnTo>
                  <a:lnTo>
                    <a:pt x="0" y="344"/>
                  </a:lnTo>
                  <a:lnTo>
                    <a:pt x="634" y="90"/>
                  </a:lnTo>
                  <a:close/>
                </a:path>
              </a:pathLst>
            </a:custGeom>
            <a:solidFill>
              <a:srgbClr val="CCFFFF"/>
            </a:solidFill>
            <a:ln w="9525">
              <a:noFill/>
              <a:round/>
              <a:headEnd/>
              <a:tailEnd/>
            </a:ln>
          </p:spPr>
          <p:txBody>
            <a:bodyPr/>
            <a:lstStyle/>
            <a:p>
              <a:pPr>
                <a:defRPr/>
              </a:pPr>
              <a:endParaRPr lang="ru-RU">
                <a:effectLst>
                  <a:outerShdw blurRad="38100" dist="38100" dir="2700000" algn="tl">
                    <a:srgbClr val="000000">
                      <a:alpha val="43137"/>
                    </a:srgbClr>
                  </a:outerShdw>
                </a:effectLst>
              </a:endParaRPr>
            </a:p>
          </p:txBody>
        </p:sp>
      </p:grpSp>
      <p:sp>
        <p:nvSpPr>
          <p:cNvPr id="23556" name="Rectangle 28"/>
          <p:cNvSpPr>
            <a:spLocks noGrp="1" noChangeArrowheads="1"/>
          </p:cNvSpPr>
          <p:nvPr>
            <p:ph type="title"/>
          </p:nvPr>
        </p:nvSpPr>
        <p:spPr>
          <a:xfrm>
            <a:off x="0" y="228600"/>
            <a:ext cx="8686800" cy="533400"/>
          </a:xfrm>
        </p:spPr>
        <p:txBody>
          <a:bodyPr>
            <a:normAutofit fontScale="90000"/>
          </a:bodyPr>
          <a:lstStyle/>
          <a:p>
            <a:pPr eaLnBrk="1" hangingPunct="1"/>
            <a:r>
              <a:rPr lang="ru-RU" sz="3200" b="1" dirty="0">
                <a:solidFill>
                  <a:schemeClr val="tx1"/>
                </a:solidFill>
                <a:latin typeface="Arial" pitchFamily="34" charset="0"/>
              </a:rPr>
              <a:t>   </a:t>
            </a:r>
            <a:r>
              <a:rPr lang="ru-RU" sz="4000" b="1" dirty="0">
                <a:solidFill>
                  <a:srgbClr val="002060"/>
                </a:solidFill>
                <a:latin typeface="Arial" pitchFamily="34" charset="0"/>
              </a:rPr>
              <a:t>Архитектура </a:t>
            </a:r>
            <a:r>
              <a:rPr lang="en-US" sz="4000" b="1" dirty="0">
                <a:solidFill>
                  <a:srgbClr val="002060"/>
                </a:solidFill>
                <a:latin typeface="Arial" pitchFamily="34" charset="0"/>
              </a:rPr>
              <a:t>IN + IP</a:t>
            </a:r>
            <a:r>
              <a:rPr lang="ru-RU" sz="4000" b="1" dirty="0" smtClean="0">
                <a:solidFill>
                  <a:srgbClr val="002060"/>
                </a:solidFill>
                <a:latin typeface="Arial" pitchFamily="34" charset="0"/>
              </a:rPr>
              <a:t>-услуги</a:t>
            </a:r>
            <a:endParaRPr lang="en-US" sz="4000" b="1" dirty="0">
              <a:solidFill>
                <a:srgbClr val="002060"/>
              </a:solidFill>
              <a:latin typeface="Arial" pitchFamily="34" charset="0"/>
            </a:endParaRPr>
          </a:p>
        </p:txBody>
      </p:sp>
      <p:sp>
        <p:nvSpPr>
          <p:cNvPr id="567325" name="Rectangle 29"/>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23558" name="Rectangle 30"/>
          <p:cNvSpPr>
            <a:spLocks noChangeArrowheads="1"/>
          </p:cNvSpPr>
          <p:nvPr/>
        </p:nvSpPr>
        <p:spPr bwMode="auto">
          <a:xfrm>
            <a:off x="3760788" y="5181600"/>
            <a:ext cx="949325" cy="639763"/>
          </a:xfrm>
          <a:prstGeom prst="rect">
            <a:avLst/>
          </a:prstGeom>
          <a:noFill/>
          <a:ln w="9525">
            <a:noFill/>
            <a:miter lim="800000"/>
            <a:headEnd/>
            <a:tailEnd/>
          </a:ln>
        </p:spPr>
        <p:txBody>
          <a:bodyPr wrap="none" lIns="92075" tIns="46038" rIns="92075" bIns="46038">
            <a:spAutoFit/>
          </a:bodyPr>
          <a:lstStyle/>
          <a:p>
            <a:pPr algn="ctr" eaLnBrk="0" hangingPunct="0"/>
            <a:r>
              <a:rPr lang="en-US" sz="1200">
                <a:solidFill>
                  <a:srgbClr val="0033CC"/>
                </a:solidFill>
              </a:rPr>
              <a:t>Mobile </a:t>
            </a:r>
          </a:p>
          <a:p>
            <a:pPr algn="ctr" eaLnBrk="0" hangingPunct="0"/>
            <a:r>
              <a:rPr lang="en-US" sz="1200">
                <a:solidFill>
                  <a:srgbClr val="0033CC"/>
                </a:solidFill>
              </a:rPr>
              <a:t>Switching </a:t>
            </a:r>
          </a:p>
          <a:p>
            <a:pPr algn="ctr" eaLnBrk="0" hangingPunct="0"/>
            <a:r>
              <a:rPr lang="en-US" sz="1200">
                <a:solidFill>
                  <a:srgbClr val="0033CC"/>
                </a:solidFill>
              </a:rPr>
              <a:t>Center</a:t>
            </a:r>
          </a:p>
        </p:txBody>
      </p:sp>
      <p:sp>
        <p:nvSpPr>
          <p:cNvPr id="567327" name="Rectangle 31"/>
          <p:cNvSpPr>
            <a:spLocks noChangeArrowheads="1"/>
          </p:cNvSpPr>
          <p:nvPr/>
        </p:nvSpPr>
        <p:spPr bwMode="auto">
          <a:xfrm>
            <a:off x="3433763" y="5761038"/>
            <a:ext cx="641350" cy="457200"/>
          </a:xfrm>
          <a:prstGeom prst="rect">
            <a:avLst/>
          </a:prstGeom>
          <a:no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28" name="Rectangle 32"/>
          <p:cNvSpPr>
            <a:spLocks noChangeArrowheads="1"/>
          </p:cNvSpPr>
          <p:nvPr/>
        </p:nvSpPr>
        <p:spPr bwMode="auto">
          <a:xfrm>
            <a:off x="5338763" y="5532438"/>
            <a:ext cx="1006475" cy="274637"/>
          </a:xfrm>
          <a:prstGeom prst="rect">
            <a:avLst/>
          </a:prstGeom>
          <a:no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nvGrpSpPr>
          <p:cNvPr id="4" name="Group 33"/>
          <p:cNvGrpSpPr>
            <a:grpSpLocks/>
          </p:cNvGrpSpPr>
          <p:nvPr/>
        </p:nvGrpSpPr>
        <p:grpSpPr bwMode="auto">
          <a:xfrm>
            <a:off x="384175" y="1401763"/>
            <a:ext cx="5770563" cy="754062"/>
            <a:chOff x="192" y="691"/>
            <a:chExt cx="3936" cy="475"/>
          </a:xfrm>
        </p:grpSpPr>
        <p:sp>
          <p:nvSpPr>
            <p:cNvPr id="567330" name="Line 34"/>
            <p:cNvSpPr>
              <a:spLocks noChangeShapeType="1"/>
            </p:cNvSpPr>
            <p:nvPr/>
          </p:nvSpPr>
          <p:spPr bwMode="auto">
            <a:xfrm>
              <a:off x="672" y="864"/>
              <a:ext cx="3456" cy="0"/>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23646" name="Rectangle 35"/>
            <p:cNvSpPr>
              <a:spLocks noChangeArrowheads="1"/>
            </p:cNvSpPr>
            <p:nvPr/>
          </p:nvSpPr>
          <p:spPr bwMode="auto">
            <a:xfrm>
              <a:off x="1563" y="691"/>
              <a:ext cx="1485" cy="173"/>
            </a:xfrm>
            <a:prstGeom prst="rect">
              <a:avLst/>
            </a:prstGeom>
            <a:noFill/>
            <a:ln w="9525">
              <a:noFill/>
              <a:miter lim="800000"/>
              <a:headEnd/>
              <a:tailEnd/>
            </a:ln>
          </p:spPr>
          <p:txBody>
            <a:bodyPr wrap="none" lIns="92075" tIns="46038" rIns="92075" bIns="46038">
              <a:spAutoFit/>
            </a:bodyPr>
            <a:lstStyle/>
            <a:p>
              <a:pPr eaLnBrk="0" hangingPunct="0"/>
              <a:r>
                <a:rPr lang="ru-RU" sz="1200"/>
                <a:t>Прямой доступ к контенту</a:t>
              </a:r>
              <a:endParaRPr lang="en-US" sz="1200"/>
            </a:p>
          </p:txBody>
        </p:sp>
        <p:graphicFrame>
          <p:nvGraphicFramePr>
            <p:cNvPr id="23647" name="Object 36"/>
            <p:cNvGraphicFramePr>
              <a:graphicFrameLocks/>
            </p:cNvGraphicFramePr>
            <p:nvPr/>
          </p:nvGraphicFramePr>
          <p:xfrm>
            <a:off x="192" y="720"/>
            <a:ext cx="575" cy="446"/>
          </p:xfrm>
          <a:graphic>
            <a:graphicData uri="http://schemas.openxmlformats.org/presentationml/2006/ole">
              <p:oleObj spid="_x0000_s30722" name="Clip" r:id="rId3" imgW="36480750" imgH="28298775" progId="">
                <p:embed/>
              </p:oleObj>
            </a:graphicData>
          </a:graphic>
        </p:graphicFrame>
      </p:grpSp>
      <p:grpSp>
        <p:nvGrpSpPr>
          <p:cNvPr id="5" name="Group 37"/>
          <p:cNvGrpSpPr>
            <a:grpSpLocks/>
          </p:cNvGrpSpPr>
          <p:nvPr/>
        </p:nvGrpSpPr>
        <p:grpSpPr bwMode="auto">
          <a:xfrm>
            <a:off x="455613" y="2084388"/>
            <a:ext cx="3095625" cy="2792412"/>
            <a:chOff x="240" y="1121"/>
            <a:chExt cx="2112" cy="1759"/>
          </a:xfrm>
        </p:grpSpPr>
        <p:sp>
          <p:nvSpPr>
            <p:cNvPr id="567334" name="Line 38"/>
            <p:cNvSpPr>
              <a:spLocks noChangeShapeType="1"/>
            </p:cNvSpPr>
            <p:nvPr/>
          </p:nvSpPr>
          <p:spPr bwMode="auto">
            <a:xfrm>
              <a:off x="720" y="1248"/>
              <a:ext cx="1632" cy="1632"/>
            </a:xfrm>
            <a:prstGeom prst="line">
              <a:avLst/>
            </a:prstGeom>
            <a:noFill/>
            <a:ln w="9525">
              <a:solidFill>
                <a:srgbClr val="FF0000"/>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aphicFrame>
          <p:nvGraphicFramePr>
            <p:cNvPr id="23644" name="Object 39"/>
            <p:cNvGraphicFramePr>
              <a:graphicFrameLocks/>
            </p:cNvGraphicFramePr>
            <p:nvPr/>
          </p:nvGraphicFramePr>
          <p:xfrm>
            <a:off x="240" y="1121"/>
            <a:ext cx="512" cy="271"/>
          </p:xfrm>
          <a:graphic>
            <a:graphicData uri="http://schemas.openxmlformats.org/presentationml/2006/ole">
              <p:oleObj spid="_x0000_s30723" name="Clip" r:id="rId4" imgW="26193750" imgH="15173325" progId="">
                <p:embed/>
              </p:oleObj>
            </a:graphicData>
          </a:graphic>
        </p:graphicFrame>
      </p:grpSp>
      <p:grpSp>
        <p:nvGrpSpPr>
          <p:cNvPr id="6" name="Group 40"/>
          <p:cNvGrpSpPr>
            <a:grpSpLocks/>
          </p:cNvGrpSpPr>
          <p:nvPr/>
        </p:nvGrpSpPr>
        <p:grpSpPr bwMode="auto">
          <a:xfrm>
            <a:off x="4495800" y="2133600"/>
            <a:ext cx="2533650" cy="1600200"/>
            <a:chOff x="2976" y="1152"/>
            <a:chExt cx="1728" cy="1008"/>
          </a:xfrm>
        </p:grpSpPr>
        <p:sp>
          <p:nvSpPr>
            <p:cNvPr id="567337" name="Line 41"/>
            <p:cNvSpPr>
              <a:spLocks noChangeShapeType="1"/>
            </p:cNvSpPr>
            <p:nvPr/>
          </p:nvSpPr>
          <p:spPr bwMode="auto">
            <a:xfrm flipV="1">
              <a:off x="2976" y="1392"/>
              <a:ext cx="768" cy="768"/>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38" name="Line 42"/>
            <p:cNvSpPr>
              <a:spLocks noChangeShapeType="1"/>
            </p:cNvSpPr>
            <p:nvPr/>
          </p:nvSpPr>
          <p:spPr bwMode="auto">
            <a:xfrm flipH="1">
              <a:off x="3792" y="1440"/>
              <a:ext cx="336" cy="672"/>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39" name="Oval 43"/>
            <p:cNvSpPr>
              <a:spLocks noChangeArrowheads="1"/>
            </p:cNvSpPr>
            <p:nvPr/>
          </p:nvSpPr>
          <p:spPr bwMode="auto">
            <a:xfrm>
              <a:off x="3553" y="1152"/>
              <a:ext cx="979" cy="280"/>
            </a:xfrm>
            <a:prstGeom prst="ellipse">
              <a:avLst/>
            </a:prstGeom>
            <a:solidFill>
              <a:schemeClr val="accent1"/>
            </a:solidFill>
            <a:ln w="12700">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23642" name="Rectangle 44"/>
            <p:cNvSpPr>
              <a:spLocks noChangeArrowheads="1"/>
            </p:cNvSpPr>
            <p:nvPr/>
          </p:nvSpPr>
          <p:spPr bwMode="auto">
            <a:xfrm>
              <a:off x="3716" y="1200"/>
              <a:ext cx="988" cy="231"/>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ru-RU"/>
                <a:t>Шлюз</a:t>
              </a:r>
              <a:endParaRPr lang="en-US"/>
            </a:p>
          </p:txBody>
        </p:sp>
      </p:grpSp>
      <p:sp>
        <p:nvSpPr>
          <p:cNvPr id="567341" name="Line 45"/>
          <p:cNvSpPr>
            <a:spLocks noChangeShapeType="1"/>
          </p:cNvSpPr>
          <p:nvPr/>
        </p:nvSpPr>
        <p:spPr bwMode="auto">
          <a:xfrm flipH="1">
            <a:off x="4043363" y="4038600"/>
            <a:ext cx="422275" cy="762000"/>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42" name="Line 46"/>
          <p:cNvSpPr>
            <a:spLocks noChangeShapeType="1"/>
          </p:cNvSpPr>
          <p:nvPr/>
        </p:nvSpPr>
        <p:spPr bwMode="auto">
          <a:xfrm flipV="1">
            <a:off x="4465638" y="3886200"/>
            <a:ext cx="1125537" cy="838200"/>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nvGrpSpPr>
          <p:cNvPr id="7" name="Group 47"/>
          <p:cNvGrpSpPr>
            <a:grpSpLocks/>
          </p:cNvGrpSpPr>
          <p:nvPr/>
        </p:nvGrpSpPr>
        <p:grpSpPr bwMode="auto">
          <a:xfrm>
            <a:off x="4308475" y="3352800"/>
            <a:ext cx="1003300" cy="825500"/>
            <a:chOff x="2869" y="1920"/>
            <a:chExt cx="685" cy="520"/>
          </a:xfrm>
        </p:grpSpPr>
        <p:sp>
          <p:nvSpPr>
            <p:cNvPr id="23637" name="Rectangle 48"/>
            <p:cNvSpPr>
              <a:spLocks noChangeArrowheads="1"/>
            </p:cNvSpPr>
            <p:nvPr/>
          </p:nvSpPr>
          <p:spPr bwMode="auto">
            <a:xfrm>
              <a:off x="3060" y="1920"/>
              <a:ext cx="494" cy="403"/>
            </a:xfrm>
            <a:prstGeom prst="rect">
              <a:avLst/>
            </a:prstGeom>
            <a:noFill/>
            <a:ln w="9525">
              <a:noFill/>
              <a:miter lim="800000"/>
              <a:headEnd/>
              <a:tailEnd/>
            </a:ln>
          </p:spPr>
          <p:txBody>
            <a:bodyPr wrap="none" lIns="92075" tIns="46038" rIns="92075" bIns="46038">
              <a:spAutoFit/>
            </a:bodyPr>
            <a:lstStyle/>
            <a:p>
              <a:pPr algn="ctr" eaLnBrk="0" hangingPunct="0"/>
              <a:r>
                <a:rPr lang="en-US" sz="1200">
                  <a:solidFill>
                    <a:srgbClr val="0033CC"/>
                  </a:solidFill>
                </a:rPr>
                <a:t>Service</a:t>
              </a:r>
            </a:p>
            <a:p>
              <a:pPr algn="ctr" eaLnBrk="0" hangingPunct="0"/>
              <a:r>
                <a:rPr lang="en-US" sz="1200">
                  <a:solidFill>
                    <a:srgbClr val="0033CC"/>
                  </a:solidFill>
                </a:rPr>
                <a:t>Node </a:t>
              </a:r>
              <a:br>
                <a:rPr lang="en-US" sz="1200">
                  <a:solidFill>
                    <a:srgbClr val="0033CC"/>
                  </a:solidFill>
                </a:rPr>
              </a:br>
              <a:r>
                <a:rPr lang="en-US" sz="1200">
                  <a:solidFill>
                    <a:srgbClr val="0033CC"/>
                  </a:solidFill>
                </a:rPr>
                <a:t>(SN)</a:t>
              </a:r>
            </a:p>
          </p:txBody>
        </p:sp>
        <p:sp>
          <p:nvSpPr>
            <p:cNvPr id="567345" name="AutoShape 49"/>
            <p:cNvSpPr>
              <a:spLocks noChangeArrowheads="1"/>
            </p:cNvSpPr>
            <p:nvPr/>
          </p:nvSpPr>
          <p:spPr bwMode="auto">
            <a:xfrm>
              <a:off x="2869" y="2064"/>
              <a:ext cx="251" cy="376"/>
            </a:xfrm>
            <a:prstGeom prst="cube">
              <a:avLst>
                <a:gd name="adj" fmla="val 24995"/>
              </a:avLst>
            </a:prstGeom>
            <a:solidFill>
              <a:schemeClr val="accent2"/>
            </a:solidFill>
            <a:ln w="12700">
              <a:solidFill>
                <a:schemeClr val="tx1"/>
              </a:solid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grpSp>
        <p:nvGrpSpPr>
          <p:cNvPr id="8" name="Group 50"/>
          <p:cNvGrpSpPr>
            <a:grpSpLocks/>
          </p:cNvGrpSpPr>
          <p:nvPr/>
        </p:nvGrpSpPr>
        <p:grpSpPr bwMode="auto">
          <a:xfrm>
            <a:off x="5380038" y="3581400"/>
            <a:ext cx="1555750" cy="730250"/>
            <a:chOff x="3600" y="2064"/>
            <a:chExt cx="1061" cy="460"/>
          </a:xfrm>
        </p:grpSpPr>
        <p:sp>
          <p:nvSpPr>
            <p:cNvPr id="23635" name="Rectangle 51"/>
            <p:cNvSpPr>
              <a:spLocks noChangeArrowheads="1"/>
            </p:cNvSpPr>
            <p:nvPr/>
          </p:nvSpPr>
          <p:spPr bwMode="auto">
            <a:xfrm>
              <a:off x="3875" y="2064"/>
              <a:ext cx="786" cy="460"/>
            </a:xfrm>
            <a:prstGeom prst="rect">
              <a:avLst/>
            </a:prstGeom>
            <a:noFill/>
            <a:ln w="9525">
              <a:noFill/>
              <a:miter lim="800000"/>
              <a:headEnd/>
              <a:tailEnd/>
            </a:ln>
          </p:spPr>
          <p:txBody>
            <a:bodyPr wrap="none" lIns="92075" tIns="46038" rIns="92075" bIns="46038">
              <a:spAutoFit/>
            </a:bodyPr>
            <a:lstStyle/>
            <a:p>
              <a:pPr algn="ctr" eaLnBrk="0" hangingPunct="0"/>
              <a:r>
                <a:rPr lang="en-US" sz="1400">
                  <a:solidFill>
                    <a:srgbClr val="0033CC"/>
                  </a:solidFill>
                </a:rPr>
                <a:t>Service</a:t>
              </a:r>
            </a:p>
            <a:p>
              <a:pPr algn="ctr" eaLnBrk="0" hangingPunct="0"/>
              <a:r>
                <a:rPr lang="en-US" sz="1400">
                  <a:solidFill>
                    <a:srgbClr val="0033CC"/>
                  </a:solidFill>
                </a:rPr>
                <a:t>Control</a:t>
              </a:r>
            </a:p>
            <a:p>
              <a:pPr algn="ctr" eaLnBrk="0" hangingPunct="0"/>
              <a:r>
                <a:rPr lang="en-US" sz="1400">
                  <a:solidFill>
                    <a:srgbClr val="0033CC"/>
                  </a:solidFill>
                </a:rPr>
                <a:t>Point (SCP</a:t>
              </a:r>
              <a:r>
                <a:rPr lang="en-US" sz="1200">
                  <a:solidFill>
                    <a:srgbClr val="0033CC"/>
                  </a:solidFill>
                </a:rPr>
                <a:t>)</a:t>
              </a:r>
            </a:p>
          </p:txBody>
        </p:sp>
        <p:sp>
          <p:nvSpPr>
            <p:cNvPr id="567348" name="AutoShape 52"/>
            <p:cNvSpPr>
              <a:spLocks noChangeArrowheads="1"/>
            </p:cNvSpPr>
            <p:nvPr/>
          </p:nvSpPr>
          <p:spPr bwMode="auto">
            <a:xfrm>
              <a:off x="3600" y="2064"/>
              <a:ext cx="251" cy="376"/>
            </a:xfrm>
            <a:prstGeom prst="cube">
              <a:avLst>
                <a:gd name="adj" fmla="val 24995"/>
              </a:avLst>
            </a:prstGeom>
            <a:solidFill>
              <a:schemeClr val="hlink"/>
            </a:solidFill>
            <a:ln w="12700">
              <a:solidFill>
                <a:schemeClr val="tx1"/>
              </a:solid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grpSp>
        <p:nvGrpSpPr>
          <p:cNvPr id="9" name="Group 53"/>
          <p:cNvGrpSpPr>
            <a:grpSpLocks/>
          </p:cNvGrpSpPr>
          <p:nvPr/>
        </p:nvGrpSpPr>
        <p:grpSpPr bwMode="auto">
          <a:xfrm>
            <a:off x="6823075" y="1371600"/>
            <a:ext cx="1230313" cy="1143000"/>
            <a:chOff x="1608" y="1248"/>
            <a:chExt cx="1043" cy="960"/>
          </a:xfrm>
        </p:grpSpPr>
        <p:sp>
          <p:nvSpPr>
            <p:cNvPr id="567350" name="Line 54"/>
            <p:cNvSpPr>
              <a:spLocks noChangeShapeType="1"/>
            </p:cNvSpPr>
            <p:nvPr/>
          </p:nvSpPr>
          <p:spPr bwMode="auto">
            <a:xfrm>
              <a:off x="2391" y="1344"/>
              <a:ext cx="0" cy="240"/>
            </a:xfrm>
            <a:prstGeom prst="line">
              <a:avLst/>
            </a:prstGeom>
            <a:noFill/>
            <a:ln w="12700">
              <a:solidFill>
                <a:schemeClr val="bg2"/>
              </a:solidFill>
              <a:round/>
              <a:headEnd/>
              <a:tailEnd/>
            </a:ln>
            <a:effectLst/>
          </p:spPr>
          <p:txBody>
            <a:bodyPr anchor="ctr">
              <a:spAutoFit/>
            </a:bodyPr>
            <a:lstStyle/>
            <a:p>
              <a:pPr>
                <a:defRPr/>
              </a:pPr>
              <a:endParaRPr lang="ru-RU">
                <a:effectLst>
                  <a:outerShdw blurRad="38100" dist="38100" dir="2700000" algn="tl">
                    <a:srgbClr val="000000">
                      <a:alpha val="43137"/>
                    </a:srgbClr>
                  </a:outerShdw>
                </a:effectLst>
              </a:endParaRPr>
            </a:p>
          </p:txBody>
        </p:sp>
        <p:sp>
          <p:nvSpPr>
            <p:cNvPr id="567351" name="Line 55"/>
            <p:cNvSpPr>
              <a:spLocks noChangeShapeType="1"/>
            </p:cNvSpPr>
            <p:nvPr/>
          </p:nvSpPr>
          <p:spPr bwMode="auto">
            <a:xfrm flipH="1">
              <a:off x="1870" y="1344"/>
              <a:ext cx="417" cy="336"/>
            </a:xfrm>
            <a:prstGeom prst="line">
              <a:avLst/>
            </a:prstGeom>
            <a:no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2" name="Line 56"/>
            <p:cNvSpPr>
              <a:spLocks noChangeShapeType="1"/>
            </p:cNvSpPr>
            <p:nvPr/>
          </p:nvSpPr>
          <p:spPr bwMode="auto">
            <a:xfrm flipH="1">
              <a:off x="2079" y="1632"/>
              <a:ext cx="363" cy="432"/>
            </a:xfrm>
            <a:prstGeom prst="line">
              <a:avLst/>
            </a:prstGeom>
            <a:no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3" name="Line 57"/>
            <p:cNvSpPr>
              <a:spLocks noChangeShapeType="1"/>
            </p:cNvSpPr>
            <p:nvPr/>
          </p:nvSpPr>
          <p:spPr bwMode="auto">
            <a:xfrm flipV="1">
              <a:off x="2027" y="1632"/>
              <a:ext cx="261" cy="48"/>
            </a:xfrm>
            <a:prstGeom prst="line">
              <a:avLst/>
            </a:prstGeom>
            <a:no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4" name="Oval 58"/>
            <p:cNvSpPr>
              <a:spLocks noChangeArrowheads="1"/>
            </p:cNvSpPr>
            <p:nvPr/>
          </p:nvSpPr>
          <p:spPr bwMode="auto">
            <a:xfrm>
              <a:off x="1608" y="1631"/>
              <a:ext cx="468" cy="144"/>
            </a:xfrm>
            <a:prstGeom prst="ellipse">
              <a:avLst/>
            </a:prstGeom>
            <a:solidFill>
              <a:srgbClr val="FFFF99"/>
            </a:solid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5" name="Oval 59"/>
            <p:cNvSpPr>
              <a:spLocks noChangeArrowheads="1"/>
            </p:cNvSpPr>
            <p:nvPr/>
          </p:nvSpPr>
          <p:spPr bwMode="auto">
            <a:xfrm>
              <a:off x="1767" y="2064"/>
              <a:ext cx="468" cy="144"/>
            </a:xfrm>
            <a:prstGeom prst="ellipse">
              <a:avLst/>
            </a:prstGeom>
            <a:solidFill>
              <a:srgbClr val="66FF33"/>
            </a:solid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6" name="Oval 60"/>
            <p:cNvSpPr>
              <a:spLocks noChangeArrowheads="1"/>
            </p:cNvSpPr>
            <p:nvPr/>
          </p:nvSpPr>
          <p:spPr bwMode="auto">
            <a:xfrm>
              <a:off x="2183" y="1536"/>
              <a:ext cx="468" cy="144"/>
            </a:xfrm>
            <a:prstGeom prst="ellipse">
              <a:avLst/>
            </a:prstGeom>
            <a:solidFill>
              <a:srgbClr val="00FFFF"/>
            </a:solid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sp>
          <p:nvSpPr>
            <p:cNvPr id="567357" name="Oval 61"/>
            <p:cNvSpPr>
              <a:spLocks noChangeArrowheads="1"/>
            </p:cNvSpPr>
            <p:nvPr/>
          </p:nvSpPr>
          <p:spPr bwMode="auto">
            <a:xfrm>
              <a:off x="2132" y="1248"/>
              <a:ext cx="467" cy="144"/>
            </a:xfrm>
            <a:prstGeom prst="ellipse">
              <a:avLst/>
            </a:prstGeom>
            <a:solidFill>
              <a:srgbClr val="33CCFF"/>
            </a:solidFill>
            <a:ln w="12700">
              <a:solidFill>
                <a:schemeClr val="bg2"/>
              </a:solidFill>
              <a:round/>
              <a:headEnd/>
              <a:tailEnd/>
            </a:ln>
            <a:effectLst/>
          </p:spPr>
          <p:txBody>
            <a:bodyPr wrap="none" anchor="ctr">
              <a:spAutoFit/>
            </a:bodyPr>
            <a:lstStyle/>
            <a:p>
              <a:pPr>
                <a:defRPr/>
              </a:pPr>
              <a:endParaRPr lang="ru-RU">
                <a:effectLst>
                  <a:outerShdw blurRad="38100" dist="38100" dir="2700000" algn="tl">
                    <a:srgbClr val="000000">
                      <a:alpha val="43137"/>
                    </a:srgbClr>
                  </a:outerShdw>
                </a:effectLst>
              </a:endParaRPr>
            </a:p>
          </p:txBody>
        </p:sp>
      </p:grpSp>
      <p:sp>
        <p:nvSpPr>
          <p:cNvPr id="23569" name="Text Box 62"/>
          <p:cNvSpPr txBox="1">
            <a:spLocks noChangeArrowheads="1"/>
          </p:cNvSpPr>
          <p:nvPr/>
        </p:nvSpPr>
        <p:spPr bwMode="auto">
          <a:xfrm>
            <a:off x="6224588" y="1598613"/>
            <a:ext cx="1249362" cy="457200"/>
          </a:xfrm>
          <a:prstGeom prst="rect">
            <a:avLst/>
          </a:prstGeom>
          <a:noFill/>
          <a:ln w="9525">
            <a:noFill/>
            <a:miter lim="800000"/>
            <a:headEnd/>
            <a:tailEnd/>
          </a:ln>
        </p:spPr>
        <p:txBody>
          <a:bodyPr wrap="none">
            <a:spAutoFit/>
          </a:bodyPr>
          <a:lstStyle/>
          <a:p>
            <a:pPr eaLnBrk="0" hangingPunct="0"/>
            <a:r>
              <a:rPr lang="en-US" sz="2400" b="1">
                <a:solidFill>
                  <a:srgbClr val="0033CC"/>
                </a:solidFill>
              </a:rPr>
              <a:t>IP</a:t>
            </a:r>
            <a:r>
              <a:rPr lang="ru-RU" sz="2400" b="1">
                <a:solidFill>
                  <a:srgbClr val="0033CC"/>
                </a:solidFill>
              </a:rPr>
              <a:t>-сеть</a:t>
            </a:r>
            <a:endParaRPr lang="en-US" sz="2400" b="1">
              <a:solidFill>
                <a:srgbClr val="0033CC"/>
              </a:solidFill>
            </a:endParaRPr>
          </a:p>
        </p:txBody>
      </p:sp>
      <p:sp>
        <p:nvSpPr>
          <p:cNvPr id="23570" name="Text Box 63"/>
          <p:cNvSpPr txBox="1">
            <a:spLocks noChangeArrowheads="1"/>
          </p:cNvSpPr>
          <p:nvPr/>
        </p:nvSpPr>
        <p:spPr bwMode="auto">
          <a:xfrm>
            <a:off x="2514600" y="2971800"/>
            <a:ext cx="1914525" cy="579438"/>
          </a:xfrm>
          <a:prstGeom prst="rect">
            <a:avLst/>
          </a:prstGeom>
          <a:noFill/>
          <a:ln w="9525">
            <a:noFill/>
            <a:miter lim="800000"/>
            <a:headEnd/>
            <a:tailEnd/>
          </a:ln>
        </p:spPr>
        <p:txBody>
          <a:bodyPr wrap="none">
            <a:spAutoFit/>
          </a:bodyPr>
          <a:lstStyle/>
          <a:p>
            <a:pPr eaLnBrk="0" hangingPunct="0"/>
            <a:r>
              <a:rPr lang="ru-RU" sz="3200" b="1">
                <a:solidFill>
                  <a:srgbClr val="0033CC"/>
                </a:solidFill>
              </a:rPr>
              <a:t>ТфОП</a:t>
            </a:r>
            <a:r>
              <a:rPr lang="en-US" sz="3200" b="1">
                <a:solidFill>
                  <a:srgbClr val="0033CC"/>
                </a:solidFill>
              </a:rPr>
              <a:t>/IN</a:t>
            </a:r>
          </a:p>
        </p:txBody>
      </p:sp>
      <p:graphicFrame>
        <p:nvGraphicFramePr>
          <p:cNvPr id="23571" name="Object 64"/>
          <p:cNvGraphicFramePr>
            <a:graphicFrameLocks/>
          </p:cNvGraphicFramePr>
          <p:nvPr/>
        </p:nvGraphicFramePr>
        <p:xfrm>
          <a:off x="3059113" y="4437063"/>
          <a:ext cx="1687512" cy="668337"/>
        </p:xfrm>
        <a:graphic>
          <a:graphicData uri="http://schemas.openxmlformats.org/presentationml/2006/ole">
            <p:oleObj spid="_x0000_s30724" name="Clip" r:id="rId5" imgW="31689675" imgH="14582775" progId="">
              <p:embed/>
            </p:oleObj>
          </a:graphicData>
        </a:graphic>
      </p:graphicFrame>
      <p:sp>
        <p:nvSpPr>
          <p:cNvPr id="567361" name="Line 65"/>
          <p:cNvSpPr>
            <a:spLocks noChangeShapeType="1"/>
          </p:cNvSpPr>
          <p:nvPr/>
        </p:nvSpPr>
        <p:spPr bwMode="auto">
          <a:xfrm flipV="1">
            <a:off x="2706688" y="5410200"/>
            <a:ext cx="352425" cy="1588"/>
          </a:xfrm>
          <a:prstGeom prst="line">
            <a:avLst/>
          </a:prstGeom>
          <a:noFill/>
          <a:ln w="9525">
            <a:solidFill>
              <a:schemeClr val="tx1"/>
            </a:solidFill>
            <a:round/>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nvGrpSpPr>
          <p:cNvPr id="10" name="Group 66"/>
          <p:cNvGrpSpPr>
            <a:grpSpLocks/>
          </p:cNvGrpSpPr>
          <p:nvPr/>
        </p:nvGrpSpPr>
        <p:grpSpPr bwMode="auto">
          <a:xfrm>
            <a:off x="2987675" y="5181600"/>
            <a:ext cx="785813" cy="387350"/>
            <a:chOff x="4224" y="1920"/>
            <a:chExt cx="393" cy="244"/>
          </a:xfrm>
        </p:grpSpPr>
        <p:grpSp>
          <p:nvGrpSpPr>
            <p:cNvPr id="11" name="Group 67"/>
            <p:cNvGrpSpPr>
              <a:grpSpLocks noChangeAspect="1"/>
            </p:cNvGrpSpPr>
            <p:nvPr/>
          </p:nvGrpSpPr>
          <p:grpSpPr bwMode="auto">
            <a:xfrm>
              <a:off x="4224" y="1920"/>
              <a:ext cx="393" cy="244"/>
              <a:chOff x="937" y="3132"/>
              <a:chExt cx="454" cy="352"/>
            </a:xfrm>
          </p:grpSpPr>
          <p:sp>
            <p:nvSpPr>
              <p:cNvPr id="567364" name="Freeform 68"/>
              <p:cNvSpPr>
                <a:spLocks noChangeAspect="1"/>
              </p:cNvSpPr>
              <p:nvPr/>
            </p:nvSpPr>
            <p:spPr bwMode="auto">
              <a:xfrm>
                <a:off x="1287" y="3452"/>
                <a:ext cx="94" cy="32"/>
              </a:xfrm>
              <a:custGeom>
                <a:avLst/>
                <a:gdLst/>
                <a:ahLst/>
                <a:cxnLst>
                  <a:cxn ang="0">
                    <a:pos x="0" y="31"/>
                  </a:cxn>
                  <a:cxn ang="0">
                    <a:pos x="0" y="12"/>
                  </a:cxn>
                  <a:cxn ang="0">
                    <a:pos x="97" y="0"/>
                  </a:cxn>
                  <a:cxn ang="0">
                    <a:pos x="97" y="18"/>
                  </a:cxn>
                  <a:cxn ang="0">
                    <a:pos x="0" y="31"/>
                  </a:cxn>
                </a:cxnLst>
                <a:rect l="0" t="0" r="r" b="b"/>
                <a:pathLst>
                  <a:path w="98" h="32">
                    <a:moveTo>
                      <a:pt x="0" y="31"/>
                    </a:moveTo>
                    <a:lnTo>
                      <a:pt x="0" y="12"/>
                    </a:lnTo>
                    <a:lnTo>
                      <a:pt x="97" y="0"/>
                    </a:lnTo>
                    <a:lnTo>
                      <a:pt x="97" y="18"/>
                    </a:lnTo>
                    <a:lnTo>
                      <a:pt x="0" y="31"/>
                    </a:lnTo>
                  </a:path>
                </a:pathLst>
              </a:custGeom>
              <a:solidFill>
                <a:srgbClr val="4267C1"/>
              </a:solidFill>
              <a:ln w="12700" cap="rnd" cmpd="sng">
                <a:solidFill>
                  <a:srgbClr val="34539F"/>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65" name="Freeform 69"/>
              <p:cNvSpPr>
                <a:spLocks noChangeAspect="1"/>
              </p:cNvSpPr>
              <p:nvPr/>
            </p:nvSpPr>
            <p:spPr bwMode="auto">
              <a:xfrm>
                <a:off x="939" y="3421"/>
                <a:ext cx="349" cy="63"/>
              </a:xfrm>
              <a:custGeom>
                <a:avLst/>
                <a:gdLst/>
                <a:ahLst/>
                <a:cxnLst>
                  <a:cxn ang="0">
                    <a:pos x="2" y="0"/>
                  </a:cxn>
                  <a:cxn ang="0">
                    <a:pos x="2" y="16"/>
                  </a:cxn>
                  <a:cxn ang="0">
                    <a:pos x="346" y="62"/>
                  </a:cxn>
                  <a:cxn ang="0">
                    <a:pos x="347" y="42"/>
                  </a:cxn>
                  <a:cxn ang="0">
                    <a:pos x="0" y="1"/>
                  </a:cxn>
                  <a:cxn ang="0">
                    <a:pos x="2" y="0"/>
                  </a:cxn>
                </a:cxnLst>
                <a:rect l="0" t="0" r="r" b="b"/>
                <a:pathLst>
                  <a:path w="348" h="63">
                    <a:moveTo>
                      <a:pt x="2" y="0"/>
                    </a:moveTo>
                    <a:lnTo>
                      <a:pt x="2" y="16"/>
                    </a:lnTo>
                    <a:lnTo>
                      <a:pt x="346" y="62"/>
                    </a:lnTo>
                    <a:lnTo>
                      <a:pt x="347" y="42"/>
                    </a:lnTo>
                    <a:lnTo>
                      <a:pt x="0" y="1"/>
                    </a:lnTo>
                    <a:lnTo>
                      <a:pt x="2" y="0"/>
                    </a:lnTo>
                  </a:path>
                </a:pathLst>
              </a:custGeom>
              <a:solidFill>
                <a:srgbClr val="86A5F1"/>
              </a:solidFill>
              <a:ln w="12700" cap="rnd" cmpd="sng">
                <a:solidFill>
                  <a:srgbClr val="4267C1"/>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66" name="Freeform 70"/>
              <p:cNvSpPr>
                <a:spLocks noChangeAspect="1"/>
              </p:cNvSpPr>
              <p:nvPr/>
            </p:nvSpPr>
            <p:spPr bwMode="auto">
              <a:xfrm>
                <a:off x="1286" y="3177"/>
                <a:ext cx="101" cy="287"/>
              </a:xfrm>
              <a:custGeom>
                <a:avLst/>
                <a:gdLst/>
                <a:ahLst/>
                <a:cxnLst>
                  <a:cxn ang="0">
                    <a:pos x="0" y="0"/>
                  </a:cxn>
                  <a:cxn ang="0">
                    <a:pos x="0" y="286"/>
                  </a:cxn>
                  <a:cxn ang="0">
                    <a:pos x="100" y="275"/>
                  </a:cxn>
                  <a:cxn ang="0">
                    <a:pos x="100" y="12"/>
                  </a:cxn>
                  <a:cxn ang="0">
                    <a:pos x="0" y="0"/>
                  </a:cxn>
                </a:cxnLst>
                <a:rect l="0" t="0" r="r" b="b"/>
                <a:pathLst>
                  <a:path w="101" h="287">
                    <a:moveTo>
                      <a:pt x="0" y="0"/>
                    </a:moveTo>
                    <a:lnTo>
                      <a:pt x="0" y="286"/>
                    </a:lnTo>
                    <a:lnTo>
                      <a:pt x="100" y="275"/>
                    </a:lnTo>
                    <a:lnTo>
                      <a:pt x="100" y="12"/>
                    </a:lnTo>
                    <a:lnTo>
                      <a:pt x="0" y="0"/>
                    </a:lnTo>
                  </a:path>
                </a:pathLst>
              </a:custGeom>
              <a:solidFill>
                <a:srgbClr val="CECECE"/>
              </a:solidFill>
              <a:ln w="12700" cap="rnd" cmpd="sng">
                <a:solidFill>
                  <a:srgbClr val="CECECE"/>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67" name="Freeform 71"/>
              <p:cNvSpPr>
                <a:spLocks noChangeAspect="1"/>
              </p:cNvSpPr>
              <p:nvPr/>
            </p:nvSpPr>
            <p:spPr bwMode="auto">
              <a:xfrm>
                <a:off x="940" y="3177"/>
                <a:ext cx="349" cy="287"/>
              </a:xfrm>
              <a:custGeom>
                <a:avLst/>
                <a:gdLst/>
                <a:ahLst/>
                <a:cxnLst>
                  <a:cxn ang="0">
                    <a:pos x="346" y="0"/>
                  </a:cxn>
                  <a:cxn ang="0">
                    <a:pos x="0" y="46"/>
                  </a:cxn>
                  <a:cxn ang="0">
                    <a:pos x="0" y="245"/>
                  </a:cxn>
                  <a:cxn ang="0">
                    <a:pos x="346" y="286"/>
                  </a:cxn>
                  <a:cxn ang="0">
                    <a:pos x="346" y="0"/>
                  </a:cxn>
                </a:cxnLst>
                <a:rect l="0" t="0" r="r" b="b"/>
                <a:pathLst>
                  <a:path w="347" h="287">
                    <a:moveTo>
                      <a:pt x="346" y="0"/>
                    </a:moveTo>
                    <a:lnTo>
                      <a:pt x="0" y="46"/>
                    </a:lnTo>
                    <a:lnTo>
                      <a:pt x="0" y="245"/>
                    </a:lnTo>
                    <a:lnTo>
                      <a:pt x="346" y="286"/>
                    </a:lnTo>
                    <a:lnTo>
                      <a:pt x="346" y="0"/>
                    </a:lnTo>
                  </a:path>
                </a:pathLst>
              </a:custGeom>
              <a:solidFill>
                <a:srgbClr val="FFFFFF"/>
              </a:solidFill>
              <a:ln w="12700" cap="rnd" cmpd="sng">
                <a:solidFill>
                  <a:schemeClr val="tx1"/>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68" name="Freeform 72"/>
              <p:cNvSpPr>
                <a:spLocks noChangeAspect="1"/>
              </p:cNvSpPr>
              <p:nvPr/>
            </p:nvSpPr>
            <p:spPr bwMode="auto">
              <a:xfrm>
                <a:off x="937" y="3133"/>
                <a:ext cx="350" cy="91"/>
              </a:xfrm>
              <a:custGeom>
                <a:avLst/>
                <a:gdLst/>
                <a:ahLst/>
                <a:cxnLst>
                  <a:cxn ang="0">
                    <a:pos x="349" y="45"/>
                  </a:cxn>
                  <a:cxn ang="0">
                    <a:pos x="349" y="0"/>
                  </a:cxn>
                  <a:cxn ang="0">
                    <a:pos x="0" y="58"/>
                  </a:cxn>
                  <a:cxn ang="0">
                    <a:pos x="0" y="90"/>
                  </a:cxn>
                  <a:cxn ang="0">
                    <a:pos x="349" y="45"/>
                  </a:cxn>
                </a:cxnLst>
                <a:rect l="0" t="0" r="r" b="b"/>
                <a:pathLst>
                  <a:path w="350" h="91">
                    <a:moveTo>
                      <a:pt x="349" y="45"/>
                    </a:moveTo>
                    <a:lnTo>
                      <a:pt x="349" y="0"/>
                    </a:lnTo>
                    <a:lnTo>
                      <a:pt x="0" y="58"/>
                    </a:lnTo>
                    <a:lnTo>
                      <a:pt x="0" y="90"/>
                    </a:lnTo>
                    <a:lnTo>
                      <a:pt x="349" y="45"/>
                    </a:lnTo>
                  </a:path>
                </a:pathLst>
              </a:custGeom>
              <a:solidFill>
                <a:srgbClr val="86A5F1"/>
              </a:solidFill>
              <a:ln w="12700" cap="rnd" cmpd="sng">
                <a:solidFill>
                  <a:schemeClr val="tx1"/>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69" name="Freeform 73"/>
              <p:cNvSpPr>
                <a:spLocks noChangeAspect="1"/>
              </p:cNvSpPr>
              <p:nvPr/>
            </p:nvSpPr>
            <p:spPr bwMode="auto">
              <a:xfrm>
                <a:off x="1286" y="3132"/>
                <a:ext cx="105" cy="59"/>
              </a:xfrm>
              <a:custGeom>
                <a:avLst/>
                <a:gdLst/>
                <a:ahLst/>
                <a:cxnLst>
                  <a:cxn ang="0">
                    <a:pos x="0" y="46"/>
                  </a:cxn>
                  <a:cxn ang="0">
                    <a:pos x="104" y="58"/>
                  </a:cxn>
                  <a:cxn ang="0">
                    <a:pos x="103" y="18"/>
                  </a:cxn>
                  <a:cxn ang="0">
                    <a:pos x="0" y="0"/>
                  </a:cxn>
                  <a:cxn ang="0">
                    <a:pos x="0" y="46"/>
                  </a:cxn>
                </a:cxnLst>
                <a:rect l="0" t="0" r="r" b="b"/>
                <a:pathLst>
                  <a:path w="105" h="59">
                    <a:moveTo>
                      <a:pt x="0" y="46"/>
                    </a:moveTo>
                    <a:lnTo>
                      <a:pt x="104" y="58"/>
                    </a:lnTo>
                    <a:lnTo>
                      <a:pt x="103" y="18"/>
                    </a:lnTo>
                    <a:lnTo>
                      <a:pt x="0" y="0"/>
                    </a:lnTo>
                    <a:lnTo>
                      <a:pt x="0" y="46"/>
                    </a:lnTo>
                  </a:path>
                </a:pathLst>
              </a:custGeom>
              <a:solidFill>
                <a:srgbClr val="4267C1"/>
              </a:solidFill>
              <a:ln w="12700" cap="rnd" cmpd="sng">
                <a:solidFill>
                  <a:srgbClr val="34539F"/>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70" name="Line 74"/>
              <p:cNvSpPr>
                <a:spLocks noChangeAspect="1" noChangeShapeType="1"/>
              </p:cNvSpPr>
              <p:nvPr/>
            </p:nvSpPr>
            <p:spPr bwMode="auto">
              <a:xfrm>
                <a:off x="1098" y="3216"/>
                <a:ext cx="0" cy="222"/>
              </a:xfrm>
              <a:prstGeom prst="line">
                <a:avLst/>
              </a:prstGeom>
              <a:noFill/>
              <a:ln w="12700">
                <a:solidFill>
                  <a:srgbClr val="CECECE"/>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71" name="Line 75"/>
              <p:cNvSpPr>
                <a:spLocks noChangeAspect="1" noChangeShapeType="1"/>
              </p:cNvSpPr>
              <p:nvPr/>
            </p:nvSpPr>
            <p:spPr bwMode="auto">
              <a:xfrm>
                <a:off x="1189" y="3204"/>
                <a:ext cx="0" cy="245"/>
              </a:xfrm>
              <a:prstGeom prst="line">
                <a:avLst/>
              </a:prstGeom>
              <a:noFill/>
              <a:ln w="12700">
                <a:solidFill>
                  <a:srgbClr val="CECECE"/>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72" name="Line 76"/>
              <p:cNvSpPr>
                <a:spLocks noChangeAspect="1" noChangeShapeType="1"/>
              </p:cNvSpPr>
              <p:nvPr/>
            </p:nvSpPr>
            <p:spPr bwMode="auto">
              <a:xfrm>
                <a:off x="1014" y="3227"/>
                <a:ext cx="0" cy="203"/>
              </a:xfrm>
              <a:prstGeom prst="line">
                <a:avLst/>
              </a:prstGeom>
              <a:noFill/>
              <a:ln w="12700">
                <a:solidFill>
                  <a:srgbClr val="CECECE"/>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73" name="Freeform 77"/>
              <p:cNvSpPr>
                <a:spLocks noChangeAspect="1"/>
              </p:cNvSpPr>
              <p:nvPr/>
            </p:nvSpPr>
            <p:spPr bwMode="auto">
              <a:xfrm>
                <a:off x="1182" y="3291"/>
                <a:ext cx="12" cy="46"/>
              </a:xfrm>
              <a:custGeom>
                <a:avLst/>
                <a:gdLst/>
                <a:ahLst/>
                <a:cxnLst>
                  <a:cxn ang="0">
                    <a:pos x="11" y="0"/>
                  </a:cxn>
                  <a:cxn ang="0">
                    <a:pos x="10" y="46"/>
                  </a:cxn>
                  <a:cxn ang="0">
                    <a:pos x="0" y="46"/>
                  </a:cxn>
                  <a:cxn ang="0">
                    <a:pos x="0" y="1"/>
                  </a:cxn>
                  <a:cxn ang="0">
                    <a:pos x="11" y="0"/>
                  </a:cxn>
                </a:cxnLst>
                <a:rect l="0" t="0" r="r" b="b"/>
                <a:pathLst>
                  <a:path w="12" h="47">
                    <a:moveTo>
                      <a:pt x="11" y="0"/>
                    </a:moveTo>
                    <a:lnTo>
                      <a:pt x="10" y="46"/>
                    </a:lnTo>
                    <a:lnTo>
                      <a:pt x="0" y="46"/>
                    </a:lnTo>
                    <a:lnTo>
                      <a:pt x="0" y="1"/>
                    </a:lnTo>
                    <a:lnTo>
                      <a:pt x="11" y="0"/>
                    </a:lnTo>
                  </a:path>
                </a:pathLst>
              </a:custGeom>
              <a:solidFill>
                <a:srgbClr val="4267C1"/>
              </a:solidFill>
              <a:ln w="9525" cap="rnd">
                <a:noFill/>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74" name="Freeform 78"/>
              <p:cNvSpPr>
                <a:spLocks noChangeAspect="1"/>
              </p:cNvSpPr>
              <p:nvPr/>
            </p:nvSpPr>
            <p:spPr bwMode="auto">
              <a:xfrm>
                <a:off x="1185" y="3291"/>
                <a:ext cx="12" cy="45"/>
              </a:xfrm>
              <a:custGeom>
                <a:avLst/>
                <a:gdLst/>
                <a:ahLst/>
                <a:cxnLst>
                  <a:cxn ang="0">
                    <a:pos x="11" y="0"/>
                  </a:cxn>
                  <a:cxn ang="0">
                    <a:pos x="11" y="44"/>
                  </a:cxn>
                  <a:cxn ang="0">
                    <a:pos x="0" y="44"/>
                  </a:cxn>
                  <a:cxn ang="0">
                    <a:pos x="0" y="1"/>
                  </a:cxn>
                  <a:cxn ang="0">
                    <a:pos x="11" y="0"/>
                  </a:cxn>
                </a:cxnLst>
                <a:rect l="0" t="0" r="r" b="b"/>
                <a:pathLst>
                  <a:path w="12" h="45">
                    <a:moveTo>
                      <a:pt x="11" y="0"/>
                    </a:moveTo>
                    <a:lnTo>
                      <a:pt x="11" y="44"/>
                    </a:lnTo>
                    <a:lnTo>
                      <a:pt x="0" y="44"/>
                    </a:lnTo>
                    <a:lnTo>
                      <a:pt x="0" y="1"/>
                    </a:lnTo>
                    <a:lnTo>
                      <a:pt x="11" y="0"/>
                    </a:lnTo>
                  </a:path>
                </a:pathLst>
              </a:custGeom>
              <a:solidFill>
                <a:srgbClr val="86A5F1"/>
              </a:solidFill>
              <a:ln w="9525" cap="rnd">
                <a:noFill/>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grpSp>
            <p:nvGrpSpPr>
              <p:cNvPr id="12" name="Group 79"/>
              <p:cNvGrpSpPr>
                <a:grpSpLocks noChangeAspect="1"/>
              </p:cNvGrpSpPr>
              <p:nvPr/>
            </p:nvGrpSpPr>
            <p:grpSpPr bwMode="auto">
              <a:xfrm>
                <a:off x="1009" y="3295"/>
                <a:ext cx="15" cy="41"/>
                <a:chOff x="1009" y="3295"/>
                <a:chExt cx="15" cy="41"/>
              </a:xfrm>
            </p:grpSpPr>
            <p:sp>
              <p:nvSpPr>
                <p:cNvPr id="567376" name="Freeform 80"/>
                <p:cNvSpPr>
                  <a:spLocks noChangeAspect="1"/>
                </p:cNvSpPr>
                <p:nvPr/>
              </p:nvSpPr>
              <p:spPr bwMode="auto">
                <a:xfrm>
                  <a:off x="1009" y="3295"/>
                  <a:ext cx="13" cy="39"/>
                </a:xfrm>
                <a:custGeom>
                  <a:avLst/>
                  <a:gdLst/>
                  <a:ahLst/>
                  <a:cxnLst>
                    <a:cxn ang="0">
                      <a:pos x="12" y="0"/>
                    </a:cxn>
                    <a:cxn ang="0">
                      <a:pos x="12" y="40"/>
                    </a:cxn>
                    <a:cxn ang="0">
                      <a:pos x="0" y="40"/>
                    </a:cxn>
                    <a:cxn ang="0">
                      <a:pos x="0" y="1"/>
                    </a:cxn>
                    <a:cxn ang="0">
                      <a:pos x="12" y="0"/>
                    </a:cxn>
                  </a:cxnLst>
                  <a:rect l="0" t="0" r="r" b="b"/>
                  <a:pathLst>
                    <a:path w="13" h="41">
                      <a:moveTo>
                        <a:pt x="12" y="0"/>
                      </a:moveTo>
                      <a:lnTo>
                        <a:pt x="12" y="40"/>
                      </a:lnTo>
                      <a:lnTo>
                        <a:pt x="0" y="40"/>
                      </a:lnTo>
                      <a:lnTo>
                        <a:pt x="0" y="1"/>
                      </a:lnTo>
                      <a:lnTo>
                        <a:pt x="12" y="0"/>
                      </a:lnTo>
                    </a:path>
                  </a:pathLst>
                </a:custGeom>
                <a:solidFill>
                  <a:srgbClr val="4267C1"/>
                </a:solidFill>
                <a:ln w="9525" cap="rnd">
                  <a:noFill/>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77" name="Freeform 81"/>
                <p:cNvSpPr>
                  <a:spLocks noChangeAspect="1"/>
                </p:cNvSpPr>
                <p:nvPr/>
              </p:nvSpPr>
              <p:spPr bwMode="auto">
                <a:xfrm>
                  <a:off x="1012" y="3296"/>
                  <a:ext cx="12" cy="38"/>
                </a:xfrm>
                <a:custGeom>
                  <a:avLst/>
                  <a:gdLst/>
                  <a:ahLst/>
                  <a:cxnLst>
                    <a:cxn ang="0">
                      <a:pos x="11" y="0"/>
                    </a:cxn>
                    <a:cxn ang="0">
                      <a:pos x="11" y="38"/>
                    </a:cxn>
                    <a:cxn ang="0">
                      <a:pos x="0" y="37"/>
                    </a:cxn>
                    <a:cxn ang="0">
                      <a:pos x="0" y="1"/>
                    </a:cxn>
                    <a:cxn ang="0">
                      <a:pos x="11" y="0"/>
                    </a:cxn>
                  </a:cxnLst>
                  <a:rect l="0" t="0" r="r" b="b"/>
                  <a:pathLst>
                    <a:path w="12" h="39">
                      <a:moveTo>
                        <a:pt x="11" y="0"/>
                      </a:moveTo>
                      <a:lnTo>
                        <a:pt x="11" y="38"/>
                      </a:lnTo>
                      <a:lnTo>
                        <a:pt x="0" y="37"/>
                      </a:lnTo>
                      <a:lnTo>
                        <a:pt x="0" y="1"/>
                      </a:lnTo>
                      <a:lnTo>
                        <a:pt x="11" y="0"/>
                      </a:lnTo>
                    </a:path>
                  </a:pathLst>
                </a:custGeom>
                <a:solidFill>
                  <a:srgbClr val="86A5F1"/>
                </a:solidFill>
                <a:ln w="9525" cap="rnd">
                  <a:noFill/>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grpSp>
          <p:sp>
            <p:nvSpPr>
              <p:cNvPr id="567378" name="Line 82"/>
              <p:cNvSpPr>
                <a:spLocks noChangeAspect="1" noChangeShapeType="1"/>
              </p:cNvSpPr>
              <p:nvPr/>
            </p:nvSpPr>
            <p:spPr bwMode="auto">
              <a:xfrm flipH="1">
                <a:off x="953" y="3191"/>
                <a:ext cx="338" cy="30"/>
              </a:xfrm>
              <a:prstGeom prst="line">
                <a:avLst/>
              </a:prstGeom>
              <a:noFill/>
              <a:ln w="12700">
                <a:solidFill>
                  <a:srgbClr val="4267C1"/>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79" name="Line 83"/>
              <p:cNvSpPr>
                <a:spLocks noChangeAspect="1" noChangeShapeType="1"/>
              </p:cNvSpPr>
              <p:nvPr/>
            </p:nvSpPr>
            <p:spPr bwMode="auto">
              <a:xfrm>
                <a:off x="1282" y="3193"/>
                <a:ext cx="0" cy="271"/>
              </a:xfrm>
              <a:prstGeom prst="line">
                <a:avLst/>
              </a:prstGeom>
              <a:noFill/>
              <a:ln w="12700">
                <a:solidFill>
                  <a:srgbClr val="CECECE"/>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0" name="Line 84"/>
              <p:cNvSpPr>
                <a:spLocks noChangeAspect="1" noChangeShapeType="1"/>
              </p:cNvSpPr>
              <p:nvPr/>
            </p:nvSpPr>
            <p:spPr bwMode="auto">
              <a:xfrm>
                <a:off x="944" y="3237"/>
                <a:ext cx="0" cy="189"/>
              </a:xfrm>
              <a:prstGeom prst="line">
                <a:avLst/>
              </a:prstGeom>
              <a:noFill/>
              <a:ln w="12700">
                <a:solidFill>
                  <a:srgbClr val="CECECE"/>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grpSp>
        <p:sp>
          <p:nvSpPr>
            <p:cNvPr id="23609" name="Rectangle 85"/>
            <p:cNvSpPr>
              <a:spLocks noChangeAspect="1" noChangeArrowheads="1"/>
            </p:cNvSpPr>
            <p:nvPr/>
          </p:nvSpPr>
          <p:spPr bwMode="auto">
            <a:xfrm>
              <a:off x="4224" y="1975"/>
              <a:ext cx="233" cy="154"/>
            </a:xfrm>
            <a:prstGeom prst="rect">
              <a:avLst/>
            </a:prstGeom>
            <a:noFill/>
            <a:ln w="9525">
              <a:noFill/>
              <a:miter lim="800000"/>
              <a:headEnd/>
              <a:tailEnd/>
            </a:ln>
          </p:spPr>
          <p:txBody>
            <a:bodyPr wrap="none" lIns="92075" tIns="46038" rIns="92075" bIns="46038">
              <a:spAutoFit/>
            </a:bodyPr>
            <a:lstStyle/>
            <a:p>
              <a:pPr eaLnBrk="0" hangingPunct="0"/>
              <a:r>
                <a:rPr lang="en-US" sz="1000"/>
                <a:t>MSC</a:t>
              </a:r>
            </a:p>
          </p:txBody>
        </p:sp>
      </p:grpSp>
      <p:sp>
        <p:nvSpPr>
          <p:cNvPr id="567382" name="Line 86"/>
          <p:cNvSpPr>
            <a:spLocks noChangeShapeType="1"/>
          </p:cNvSpPr>
          <p:nvPr/>
        </p:nvSpPr>
        <p:spPr bwMode="auto">
          <a:xfrm>
            <a:off x="1298575" y="1828800"/>
            <a:ext cx="4573588" cy="1588"/>
          </a:xfrm>
          <a:prstGeom prst="line">
            <a:avLst/>
          </a:prstGeom>
          <a:noFill/>
          <a:ln w="28575">
            <a:solidFill>
              <a:srgbClr val="0000FF"/>
            </a:solidFill>
            <a:round/>
            <a:headEnd/>
            <a:tailEnd type="triangle" w="med" len="me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3" name="Line 87"/>
          <p:cNvSpPr>
            <a:spLocks noChangeShapeType="1"/>
          </p:cNvSpPr>
          <p:nvPr/>
        </p:nvSpPr>
        <p:spPr bwMode="auto">
          <a:xfrm>
            <a:off x="1298575" y="2286000"/>
            <a:ext cx="2111375" cy="2286000"/>
          </a:xfrm>
          <a:prstGeom prst="line">
            <a:avLst/>
          </a:prstGeom>
          <a:noFill/>
          <a:ln w="28575">
            <a:solidFill>
              <a:srgbClr val="FF0000"/>
            </a:solidFill>
            <a:round/>
            <a:headEnd type="triangle" w="med" len="me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4" name="Line 88"/>
          <p:cNvSpPr>
            <a:spLocks noChangeShapeType="1"/>
          </p:cNvSpPr>
          <p:nvPr/>
        </p:nvSpPr>
        <p:spPr bwMode="auto">
          <a:xfrm flipV="1">
            <a:off x="1370013" y="5105400"/>
            <a:ext cx="1689100" cy="533400"/>
          </a:xfrm>
          <a:prstGeom prst="line">
            <a:avLst/>
          </a:prstGeom>
          <a:noFill/>
          <a:ln w="28575">
            <a:solidFill>
              <a:srgbClr val="FF0000"/>
            </a:solidFill>
            <a:prstDash val="sysDot"/>
            <a:round/>
            <a:headEnd type="triangle" w="med" len="me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5" name="Line 89"/>
          <p:cNvSpPr>
            <a:spLocks noChangeShapeType="1"/>
          </p:cNvSpPr>
          <p:nvPr/>
        </p:nvSpPr>
        <p:spPr bwMode="auto">
          <a:xfrm flipH="1" flipV="1">
            <a:off x="4818063" y="4876800"/>
            <a:ext cx="2462212" cy="304800"/>
          </a:xfrm>
          <a:prstGeom prst="line">
            <a:avLst/>
          </a:prstGeom>
          <a:noFill/>
          <a:ln w="28575">
            <a:solidFill>
              <a:srgbClr val="FF0000"/>
            </a:solidFill>
            <a:round/>
            <a:headEnd type="triangle" w="med" len="me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6" name="Line 90"/>
          <p:cNvSpPr>
            <a:spLocks noChangeShapeType="1"/>
          </p:cNvSpPr>
          <p:nvPr/>
        </p:nvSpPr>
        <p:spPr bwMode="auto">
          <a:xfrm flipH="1" flipV="1">
            <a:off x="4746625" y="4953000"/>
            <a:ext cx="2533650" cy="1066800"/>
          </a:xfrm>
          <a:prstGeom prst="line">
            <a:avLst/>
          </a:prstGeom>
          <a:noFill/>
          <a:ln w="28575">
            <a:solidFill>
              <a:srgbClr val="FF0000"/>
            </a:solidFill>
            <a:round/>
            <a:headEnd type="triangle" w="med" len="me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nvGrpSpPr>
          <p:cNvPr id="13" name="Group 91"/>
          <p:cNvGrpSpPr>
            <a:grpSpLocks/>
          </p:cNvGrpSpPr>
          <p:nvPr/>
        </p:nvGrpSpPr>
        <p:grpSpPr bwMode="auto">
          <a:xfrm>
            <a:off x="4606925" y="2667000"/>
            <a:ext cx="1406525" cy="762000"/>
            <a:chOff x="3072" y="1488"/>
            <a:chExt cx="960" cy="480"/>
          </a:xfrm>
        </p:grpSpPr>
        <p:sp>
          <p:nvSpPr>
            <p:cNvPr id="567388" name="Line 92"/>
            <p:cNvSpPr>
              <a:spLocks noChangeShapeType="1"/>
            </p:cNvSpPr>
            <p:nvPr/>
          </p:nvSpPr>
          <p:spPr bwMode="auto">
            <a:xfrm flipH="1">
              <a:off x="3072" y="1488"/>
              <a:ext cx="480" cy="480"/>
            </a:xfrm>
            <a:prstGeom prst="line">
              <a:avLst/>
            </a:prstGeom>
            <a:noFill/>
            <a:ln w="28575">
              <a:solidFill>
                <a:srgbClr val="0000FF"/>
              </a:solidFill>
              <a:round/>
              <a:headEnd/>
              <a:tailEnd type="triangle" w="med" len="me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389" name="Line 93"/>
            <p:cNvSpPr>
              <a:spLocks noChangeShapeType="1"/>
            </p:cNvSpPr>
            <p:nvPr/>
          </p:nvSpPr>
          <p:spPr bwMode="auto">
            <a:xfrm flipH="1">
              <a:off x="3744" y="1488"/>
              <a:ext cx="288" cy="480"/>
            </a:xfrm>
            <a:prstGeom prst="line">
              <a:avLst/>
            </a:prstGeom>
            <a:noFill/>
            <a:ln w="28575">
              <a:solidFill>
                <a:srgbClr val="0000FF"/>
              </a:solidFill>
              <a:round/>
              <a:headEnd/>
              <a:tailEnd type="triangle" w="med" len="med"/>
            </a:ln>
            <a:effectLst/>
          </p:spPr>
          <p:txBody>
            <a:bodyPr wrap="none" anchor="ctr"/>
            <a:lstStyle/>
            <a:p>
              <a:pPr>
                <a:defRPr/>
              </a:pPr>
              <a:endParaRPr lang="ru-RU">
                <a:effectLst>
                  <a:outerShdw blurRad="38100" dist="38100" dir="2700000" algn="tl">
                    <a:srgbClr val="000000">
                      <a:alpha val="43137"/>
                    </a:srgbClr>
                  </a:outerShdw>
                </a:effectLst>
              </a:endParaRPr>
            </a:p>
          </p:txBody>
        </p:sp>
      </p:grpSp>
      <p:grpSp>
        <p:nvGrpSpPr>
          <p:cNvPr id="14" name="Group 94"/>
          <p:cNvGrpSpPr>
            <a:grpSpLocks noChangeAspect="1"/>
          </p:cNvGrpSpPr>
          <p:nvPr/>
        </p:nvGrpSpPr>
        <p:grpSpPr bwMode="auto">
          <a:xfrm>
            <a:off x="2425700" y="4724400"/>
            <a:ext cx="320675" cy="833438"/>
            <a:chOff x="891" y="2256"/>
            <a:chExt cx="145" cy="513"/>
          </a:xfrm>
        </p:grpSpPr>
        <p:sp>
          <p:nvSpPr>
            <p:cNvPr id="567391" name="Freeform 95"/>
            <p:cNvSpPr>
              <a:spLocks noChangeAspect="1"/>
            </p:cNvSpPr>
            <p:nvPr/>
          </p:nvSpPr>
          <p:spPr bwMode="auto">
            <a:xfrm>
              <a:off x="949" y="2355"/>
              <a:ext cx="28" cy="46"/>
            </a:xfrm>
            <a:custGeom>
              <a:avLst/>
              <a:gdLst/>
              <a:ahLst/>
              <a:cxnLst>
                <a:cxn ang="0">
                  <a:pos x="4" y="9"/>
                </a:cxn>
                <a:cxn ang="0">
                  <a:pos x="14" y="0"/>
                </a:cxn>
                <a:cxn ang="0">
                  <a:pos x="22" y="9"/>
                </a:cxn>
                <a:cxn ang="0">
                  <a:pos x="27" y="35"/>
                </a:cxn>
                <a:cxn ang="0">
                  <a:pos x="14" y="45"/>
                </a:cxn>
                <a:cxn ang="0">
                  <a:pos x="0" y="35"/>
                </a:cxn>
                <a:cxn ang="0">
                  <a:pos x="4" y="9"/>
                </a:cxn>
              </a:cxnLst>
              <a:rect l="0" t="0" r="r" b="b"/>
              <a:pathLst>
                <a:path w="28" h="46">
                  <a:moveTo>
                    <a:pt x="4" y="9"/>
                  </a:moveTo>
                  <a:lnTo>
                    <a:pt x="14" y="0"/>
                  </a:lnTo>
                  <a:lnTo>
                    <a:pt x="22" y="9"/>
                  </a:lnTo>
                  <a:lnTo>
                    <a:pt x="27" y="35"/>
                  </a:lnTo>
                  <a:lnTo>
                    <a:pt x="14" y="45"/>
                  </a:lnTo>
                  <a:lnTo>
                    <a:pt x="0" y="35"/>
                  </a:lnTo>
                  <a:lnTo>
                    <a:pt x="4" y="9"/>
                  </a:lnTo>
                </a:path>
              </a:pathLst>
            </a:custGeom>
            <a:solidFill>
              <a:srgbClr val="FFFFFF"/>
            </a:solidFill>
            <a:ln w="12700" cap="rnd" cmpd="sng">
              <a:solidFill>
                <a:srgbClr val="000000"/>
              </a:solidFill>
              <a:prstDash val="solid"/>
              <a:round/>
              <a:headEnd/>
              <a:tailEnd/>
            </a:ln>
            <a:effectLst/>
          </p:spPr>
          <p:txBody>
            <a:bodyPr/>
            <a:lstStyle/>
            <a:p>
              <a:pPr>
                <a:defRPr/>
              </a:pPr>
              <a:endParaRPr lang="ru-RU">
                <a:effectLst>
                  <a:outerShdw blurRad="38100" dist="38100" dir="2700000" algn="tl">
                    <a:srgbClr val="000000">
                      <a:alpha val="43137"/>
                    </a:srgbClr>
                  </a:outerShdw>
                </a:effectLst>
              </a:endParaRPr>
            </a:p>
          </p:txBody>
        </p:sp>
        <p:sp>
          <p:nvSpPr>
            <p:cNvPr id="567392" name="Freeform 96"/>
            <p:cNvSpPr>
              <a:spLocks noChangeAspect="1"/>
            </p:cNvSpPr>
            <p:nvPr/>
          </p:nvSpPr>
          <p:spPr bwMode="auto">
            <a:xfrm>
              <a:off x="891" y="2696"/>
              <a:ext cx="145" cy="38"/>
            </a:xfrm>
            <a:custGeom>
              <a:avLst/>
              <a:gdLst/>
              <a:ahLst/>
              <a:cxnLst>
                <a:cxn ang="0">
                  <a:pos x="0" y="37"/>
                </a:cxn>
                <a:cxn ang="0">
                  <a:pos x="72" y="0"/>
                </a:cxn>
                <a:cxn ang="0">
                  <a:pos x="144" y="37"/>
                </a:cxn>
              </a:cxnLst>
              <a:rect l="0" t="0" r="r" b="b"/>
              <a:pathLst>
                <a:path w="145" h="38">
                  <a:moveTo>
                    <a:pt x="0" y="37"/>
                  </a:moveTo>
                  <a:lnTo>
                    <a:pt x="72" y="0"/>
                  </a:lnTo>
                  <a:lnTo>
                    <a:pt x="144" y="37"/>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3" name="Freeform 97"/>
            <p:cNvSpPr>
              <a:spLocks noChangeAspect="1"/>
            </p:cNvSpPr>
            <p:nvPr/>
          </p:nvSpPr>
          <p:spPr bwMode="auto">
            <a:xfrm>
              <a:off x="891" y="2337"/>
              <a:ext cx="145" cy="432"/>
            </a:xfrm>
            <a:custGeom>
              <a:avLst/>
              <a:gdLst/>
              <a:ahLst/>
              <a:cxnLst>
                <a:cxn ang="0">
                  <a:pos x="72" y="0"/>
                </a:cxn>
                <a:cxn ang="0">
                  <a:pos x="72" y="431"/>
                </a:cxn>
                <a:cxn ang="0">
                  <a:pos x="0" y="396"/>
                </a:cxn>
                <a:cxn ang="0">
                  <a:pos x="72" y="0"/>
                </a:cxn>
                <a:cxn ang="0">
                  <a:pos x="144" y="396"/>
                </a:cxn>
                <a:cxn ang="0">
                  <a:pos x="72" y="431"/>
                </a:cxn>
              </a:cxnLst>
              <a:rect l="0" t="0" r="r" b="b"/>
              <a:pathLst>
                <a:path w="145" h="432">
                  <a:moveTo>
                    <a:pt x="72" y="0"/>
                  </a:moveTo>
                  <a:lnTo>
                    <a:pt x="72" y="431"/>
                  </a:lnTo>
                  <a:lnTo>
                    <a:pt x="0" y="396"/>
                  </a:lnTo>
                  <a:lnTo>
                    <a:pt x="72" y="0"/>
                  </a:lnTo>
                  <a:lnTo>
                    <a:pt x="144" y="396"/>
                  </a:lnTo>
                  <a:lnTo>
                    <a:pt x="72" y="431"/>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4" name="Freeform 98"/>
            <p:cNvSpPr>
              <a:spLocks noChangeAspect="1"/>
            </p:cNvSpPr>
            <p:nvPr/>
          </p:nvSpPr>
          <p:spPr bwMode="auto">
            <a:xfrm>
              <a:off x="945" y="2435"/>
              <a:ext cx="37" cy="21"/>
            </a:xfrm>
            <a:custGeom>
              <a:avLst/>
              <a:gdLst/>
              <a:ahLst/>
              <a:cxnLst>
                <a:cxn ang="0">
                  <a:pos x="0" y="0"/>
                </a:cxn>
                <a:cxn ang="0">
                  <a:pos x="18" y="16"/>
                </a:cxn>
                <a:cxn ang="0">
                  <a:pos x="36" y="0"/>
                </a:cxn>
              </a:cxnLst>
              <a:rect l="0" t="0" r="r" b="b"/>
              <a:pathLst>
                <a:path w="37" h="17">
                  <a:moveTo>
                    <a:pt x="0" y="0"/>
                  </a:moveTo>
                  <a:lnTo>
                    <a:pt x="18" y="16"/>
                  </a:lnTo>
                  <a:lnTo>
                    <a:pt x="36"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5" name="Freeform 99"/>
            <p:cNvSpPr>
              <a:spLocks noChangeAspect="1"/>
            </p:cNvSpPr>
            <p:nvPr/>
          </p:nvSpPr>
          <p:spPr bwMode="auto">
            <a:xfrm>
              <a:off x="939" y="2469"/>
              <a:ext cx="49" cy="17"/>
            </a:xfrm>
            <a:custGeom>
              <a:avLst/>
              <a:gdLst/>
              <a:ahLst/>
              <a:cxnLst>
                <a:cxn ang="0">
                  <a:pos x="0" y="0"/>
                </a:cxn>
                <a:cxn ang="0">
                  <a:pos x="24" y="16"/>
                </a:cxn>
                <a:cxn ang="0">
                  <a:pos x="48" y="0"/>
                </a:cxn>
              </a:cxnLst>
              <a:rect l="0" t="0" r="r" b="b"/>
              <a:pathLst>
                <a:path w="49" h="17">
                  <a:moveTo>
                    <a:pt x="0" y="0"/>
                  </a:moveTo>
                  <a:lnTo>
                    <a:pt x="24" y="16"/>
                  </a:lnTo>
                  <a:lnTo>
                    <a:pt x="48"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6" name="Freeform 100"/>
            <p:cNvSpPr>
              <a:spLocks noChangeAspect="1"/>
            </p:cNvSpPr>
            <p:nvPr/>
          </p:nvSpPr>
          <p:spPr bwMode="auto">
            <a:xfrm>
              <a:off x="933" y="2501"/>
              <a:ext cx="60" cy="17"/>
            </a:xfrm>
            <a:custGeom>
              <a:avLst/>
              <a:gdLst/>
              <a:ahLst/>
              <a:cxnLst>
                <a:cxn ang="0">
                  <a:pos x="0" y="1"/>
                </a:cxn>
                <a:cxn ang="0">
                  <a:pos x="30" y="16"/>
                </a:cxn>
                <a:cxn ang="0">
                  <a:pos x="59" y="0"/>
                </a:cxn>
              </a:cxnLst>
              <a:rect l="0" t="0" r="r" b="b"/>
              <a:pathLst>
                <a:path w="60" h="17">
                  <a:moveTo>
                    <a:pt x="0" y="1"/>
                  </a:moveTo>
                  <a:lnTo>
                    <a:pt x="30" y="16"/>
                  </a:lnTo>
                  <a:lnTo>
                    <a:pt x="59"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7" name="Freeform 101"/>
            <p:cNvSpPr>
              <a:spLocks noChangeAspect="1"/>
            </p:cNvSpPr>
            <p:nvPr/>
          </p:nvSpPr>
          <p:spPr bwMode="auto">
            <a:xfrm>
              <a:off x="926" y="2534"/>
              <a:ext cx="72" cy="19"/>
            </a:xfrm>
            <a:custGeom>
              <a:avLst/>
              <a:gdLst/>
              <a:ahLst/>
              <a:cxnLst>
                <a:cxn ang="0">
                  <a:pos x="0" y="0"/>
                </a:cxn>
                <a:cxn ang="0">
                  <a:pos x="37" y="18"/>
                </a:cxn>
                <a:cxn ang="0">
                  <a:pos x="72" y="0"/>
                </a:cxn>
              </a:cxnLst>
              <a:rect l="0" t="0" r="r" b="b"/>
              <a:pathLst>
                <a:path w="73" h="19">
                  <a:moveTo>
                    <a:pt x="0" y="0"/>
                  </a:moveTo>
                  <a:lnTo>
                    <a:pt x="37" y="18"/>
                  </a:lnTo>
                  <a:lnTo>
                    <a:pt x="72"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8" name="Freeform 102"/>
            <p:cNvSpPr>
              <a:spLocks noChangeAspect="1"/>
            </p:cNvSpPr>
            <p:nvPr/>
          </p:nvSpPr>
          <p:spPr bwMode="auto">
            <a:xfrm>
              <a:off x="921" y="2568"/>
              <a:ext cx="85" cy="22"/>
            </a:xfrm>
            <a:custGeom>
              <a:avLst/>
              <a:gdLst/>
              <a:ahLst/>
              <a:cxnLst>
                <a:cxn ang="0">
                  <a:pos x="0" y="0"/>
                </a:cxn>
                <a:cxn ang="0">
                  <a:pos x="42" y="21"/>
                </a:cxn>
                <a:cxn ang="0">
                  <a:pos x="84" y="0"/>
                </a:cxn>
              </a:cxnLst>
              <a:rect l="0" t="0" r="r" b="b"/>
              <a:pathLst>
                <a:path w="85" h="22">
                  <a:moveTo>
                    <a:pt x="0" y="0"/>
                  </a:moveTo>
                  <a:lnTo>
                    <a:pt x="42" y="21"/>
                  </a:lnTo>
                  <a:lnTo>
                    <a:pt x="84"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399" name="Freeform 103"/>
            <p:cNvSpPr>
              <a:spLocks noChangeAspect="1"/>
            </p:cNvSpPr>
            <p:nvPr/>
          </p:nvSpPr>
          <p:spPr bwMode="auto">
            <a:xfrm>
              <a:off x="915" y="2599"/>
              <a:ext cx="96" cy="26"/>
            </a:xfrm>
            <a:custGeom>
              <a:avLst/>
              <a:gdLst/>
              <a:ahLst/>
              <a:cxnLst>
                <a:cxn ang="0">
                  <a:pos x="0" y="1"/>
                </a:cxn>
                <a:cxn ang="0">
                  <a:pos x="48" y="25"/>
                </a:cxn>
                <a:cxn ang="0">
                  <a:pos x="95" y="0"/>
                </a:cxn>
              </a:cxnLst>
              <a:rect l="0" t="0" r="r" b="b"/>
              <a:pathLst>
                <a:path w="96" h="26">
                  <a:moveTo>
                    <a:pt x="0" y="1"/>
                  </a:moveTo>
                  <a:lnTo>
                    <a:pt x="48" y="25"/>
                  </a:lnTo>
                  <a:lnTo>
                    <a:pt x="95"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0" name="Freeform 104"/>
            <p:cNvSpPr>
              <a:spLocks noChangeAspect="1"/>
            </p:cNvSpPr>
            <p:nvPr/>
          </p:nvSpPr>
          <p:spPr bwMode="auto">
            <a:xfrm>
              <a:off x="909" y="2633"/>
              <a:ext cx="108" cy="22"/>
            </a:xfrm>
            <a:custGeom>
              <a:avLst/>
              <a:gdLst/>
              <a:ahLst/>
              <a:cxnLst>
                <a:cxn ang="0">
                  <a:pos x="0" y="0"/>
                </a:cxn>
                <a:cxn ang="0">
                  <a:pos x="54" y="28"/>
                </a:cxn>
                <a:cxn ang="0">
                  <a:pos x="107" y="0"/>
                </a:cxn>
              </a:cxnLst>
              <a:rect l="0" t="0" r="r" b="b"/>
              <a:pathLst>
                <a:path w="108" h="29">
                  <a:moveTo>
                    <a:pt x="0" y="0"/>
                  </a:moveTo>
                  <a:lnTo>
                    <a:pt x="54" y="28"/>
                  </a:lnTo>
                  <a:lnTo>
                    <a:pt x="107"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1" name="Freeform 105"/>
            <p:cNvSpPr>
              <a:spLocks noChangeAspect="1"/>
            </p:cNvSpPr>
            <p:nvPr/>
          </p:nvSpPr>
          <p:spPr bwMode="auto">
            <a:xfrm>
              <a:off x="902" y="2666"/>
              <a:ext cx="121" cy="24"/>
            </a:xfrm>
            <a:custGeom>
              <a:avLst/>
              <a:gdLst/>
              <a:ahLst/>
              <a:cxnLst>
                <a:cxn ang="0">
                  <a:pos x="0" y="0"/>
                </a:cxn>
                <a:cxn ang="0">
                  <a:pos x="61" y="30"/>
                </a:cxn>
                <a:cxn ang="0">
                  <a:pos x="120" y="0"/>
                </a:cxn>
              </a:cxnLst>
              <a:rect l="0" t="0" r="r" b="b"/>
              <a:pathLst>
                <a:path w="121" h="31">
                  <a:moveTo>
                    <a:pt x="0" y="0"/>
                  </a:moveTo>
                  <a:lnTo>
                    <a:pt x="61" y="30"/>
                  </a:lnTo>
                  <a:lnTo>
                    <a:pt x="120"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2" name="Freeform 106"/>
            <p:cNvSpPr>
              <a:spLocks noChangeAspect="1"/>
            </p:cNvSpPr>
            <p:nvPr/>
          </p:nvSpPr>
          <p:spPr bwMode="auto">
            <a:xfrm>
              <a:off x="897" y="2698"/>
              <a:ext cx="132" cy="36"/>
            </a:xfrm>
            <a:custGeom>
              <a:avLst/>
              <a:gdLst/>
              <a:ahLst/>
              <a:cxnLst>
                <a:cxn ang="0">
                  <a:pos x="0" y="1"/>
                </a:cxn>
                <a:cxn ang="0">
                  <a:pos x="66" y="35"/>
                </a:cxn>
                <a:cxn ang="0">
                  <a:pos x="131" y="0"/>
                </a:cxn>
              </a:cxnLst>
              <a:rect l="0" t="0" r="r" b="b"/>
              <a:pathLst>
                <a:path w="132" h="36">
                  <a:moveTo>
                    <a:pt x="0" y="1"/>
                  </a:moveTo>
                  <a:lnTo>
                    <a:pt x="66" y="35"/>
                  </a:lnTo>
                  <a:lnTo>
                    <a:pt x="131"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3" name="Freeform 107"/>
            <p:cNvSpPr>
              <a:spLocks noChangeAspect="1"/>
            </p:cNvSpPr>
            <p:nvPr/>
          </p:nvSpPr>
          <p:spPr bwMode="auto">
            <a:xfrm>
              <a:off x="891" y="2318"/>
              <a:ext cx="55" cy="21"/>
            </a:xfrm>
            <a:custGeom>
              <a:avLst/>
              <a:gdLst/>
              <a:ahLst/>
              <a:cxnLst>
                <a:cxn ang="0">
                  <a:pos x="54" y="19"/>
                </a:cxn>
                <a:cxn ang="0">
                  <a:pos x="17" y="16"/>
                </a:cxn>
                <a:cxn ang="0">
                  <a:pos x="36" y="3"/>
                </a:cxn>
                <a:cxn ang="0">
                  <a:pos x="0" y="0"/>
                </a:cxn>
              </a:cxnLst>
              <a:rect l="0" t="0" r="r" b="b"/>
              <a:pathLst>
                <a:path w="55" h="20">
                  <a:moveTo>
                    <a:pt x="54" y="19"/>
                  </a:moveTo>
                  <a:lnTo>
                    <a:pt x="17" y="16"/>
                  </a:lnTo>
                  <a:lnTo>
                    <a:pt x="36" y="3"/>
                  </a:lnTo>
                  <a:lnTo>
                    <a:pt x="0"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4" name="Freeform 108"/>
            <p:cNvSpPr>
              <a:spLocks noChangeAspect="1"/>
            </p:cNvSpPr>
            <p:nvPr/>
          </p:nvSpPr>
          <p:spPr bwMode="auto">
            <a:xfrm>
              <a:off x="971" y="2317"/>
              <a:ext cx="65" cy="23"/>
            </a:xfrm>
            <a:custGeom>
              <a:avLst/>
              <a:gdLst/>
              <a:ahLst/>
              <a:cxnLst>
                <a:cxn ang="0">
                  <a:pos x="64" y="1"/>
                </a:cxn>
                <a:cxn ang="0">
                  <a:pos x="26" y="22"/>
                </a:cxn>
                <a:cxn ang="0">
                  <a:pos x="38" y="0"/>
                </a:cxn>
                <a:cxn ang="0">
                  <a:pos x="0" y="20"/>
                </a:cxn>
              </a:cxnLst>
              <a:rect l="0" t="0" r="r" b="b"/>
              <a:pathLst>
                <a:path w="65" h="23">
                  <a:moveTo>
                    <a:pt x="64" y="1"/>
                  </a:moveTo>
                  <a:lnTo>
                    <a:pt x="26" y="22"/>
                  </a:lnTo>
                  <a:lnTo>
                    <a:pt x="38" y="0"/>
                  </a:lnTo>
                  <a:lnTo>
                    <a:pt x="0" y="2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sp>
          <p:nvSpPr>
            <p:cNvPr id="567405" name="Freeform 109"/>
            <p:cNvSpPr>
              <a:spLocks noChangeAspect="1"/>
            </p:cNvSpPr>
            <p:nvPr/>
          </p:nvSpPr>
          <p:spPr bwMode="auto">
            <a:xfrm>
              <a:off x="953" y="2256"/>
              <a:ext cx="19" cy="73"/>
            </a:xfrm>
            <a:custGeom>
              <a:avLst/>
              <a:gdLst/>
              <a:ahLst/>
              <a:cxnLst>
                <a:cxn ang="0">
                  <a:pos x="10" y="72"/>
                </a:cxn>
                <a:cxn ang="0">
                  <a:pos x="0" y="27"/>
                </a:cxn>
                <a:cxn ang="0">
                  <a:pos x="18" y="45"/>
                </a:cxn>
                <a:cxn ang="0">
                  <a:pos x="10" y="0"/>
                </a:cxn>
              </a:cxnLst>
              <a:rect l="0" t="0" r="r" b="b"/>
              <a:pathLst>
                <a:path w="19" h="73">
                  <a:moveTo>
                    <a:pt x="10" y="72"/>
                  </a:moveTo>
                  <a:lnTo>
                    <a:pt x="0" y="27"/>
                  </a:lnTo>
                  <a:lnTo>
                    <a:pt x="18" y="45"/>
                  </a:lnTo>
                  <a:lnTo>
                    <a:pt x="10" y="0"/>
                  </a:lnTo>
                </a:path>
              </a:pathLst>
            </a:custGeom>
            <a:noFill/>
            <a:ln w="12700" cap="rnd" cmpd="sng">
              <a:solidFill>
                <a:srgbClr val="000000"/>
              </a:solidFill>
              <a:prstDash val="solid"/>
              <a:round/>
              <a:headEnd type="none" w="sm" len="sm"/>
              <a:tailEnd type="none" w="sm" len="sm"/>
            </a:ln>
            <a:effectLst/>
          </p:spPr>
          <p:txBody>
            <a:bodyPr/>
            <a:lstStyle/>
            <a:p>
              <a:pPr>
                <a:defRPr/>
              </a:pPr>
              <a:endParaRPr lang="ru-RU">
                <a:effectLst>
                  <a:outerShdw blurRad="38100" dist="38100" dir="2700000" algn="tl">
                    <a:srgbClr val="000000">
                      <a:alpha val="43137"/>
                    </a:srgbClr>
                  </a:outerShdw>
                </a:effectLst>
              </a:endParaRPr>
            </a:p>
          </p:txBody>
        </p:sp>
      </p:grpSp>
      <p:sp>
        <p:nvSpPr>
          <p:cNvPr id="23581" name="Text Box 110"/>
          <p:cNvSpPr txBox="1">
            <a:spLocks noChangeArrowheads="1"/>
          </p:cNvSpPr>
          <p:nvPr/>
        </p:nvSpPr>
        <p:spPr bwMode="auto">
          <a:xfrm>
            <a:off x="3352800" y="4114800"/>
            <a:ext cx="811213" cy="457200"/>
          </a:xfrm>
          <a:prstGeom prst="rect">
            <a:avLst/>
          </a:prstGeom>
          <a:noFill/>
          <a:ln w="9525">
            <a:noFill/>
            <a:miter lim="800000"/>
            <a:headEnd/>
            <a:tailEnd/>
          </a:ln>
        </p:spPr>
        <p:txBody>
          <a:bodyPr wrap="none">
            <a:spAutoFit/>
          </a:bodyPr>
          <a:lstStyle/>
          <a:p>
            <a:pPr eaLnBrk="0" hangingPunct="0"/>
            <a:r>
              <a:rPr lang="ru-RU" sz="2400" b="1">
                <a:solidFill>
                  <a:srgbClr val="0033CC"/>
                </a:solidFill>
              </a:rPr>
              <a:t>АТС</a:t>
            </a:r>
            <a:endParaRPr lang="en-US" sz="2400" b="1">
              <a:solidFill>
                <a:srgbClr val="0033CC"/>
              </a:solidFill>
            </a:endParaRPr>
          </a:p>
        </p:txBody>
      </p:sp>
      <p:grpSp>
        <p:nvGrpSpPr>
          <p:cNvPr id="15" name="Group 111"/>
          <p:cNvGrpSpPr>
            <a:grpSpLocks/>
          </p:cNvGrpSpPr>
          <p:nvPr/>
        </p:nvGrpSpPr>
        <p:grpSpPr bwMode="auto">
          <a:xfrm>
            <a:off x="152400" y="4800600"/>
            <a:ext cx="7672388" cy="1722438"/>
            <a:chOff x="5760" y="2928"/>
            <a:chExt cx="4833" cy="1085"/>
          </a:xfrm>
        </p:grpSpPr>
        <p:sp>
          <p:nvSpPr>
            <p:cNvPr id="567408" name="Line 112"/>
            <p:cNvSpPr>
              <a:spLocks noChangeShapeType="1"/>
            </p:cNvSpPr>
            <p:nvPr/>
          </p:nvSpPr>
          <p:spPr bwMode="auto">
            <a:xfrm flipV="1">
              <a:off x="6399" y="3024"/>
              <a:ext cx="798" cy="384"/>
            </a:xfrm>
            <a:prstGeom prst="line">
              <a:avLst/>
            </a:prstGeom>
            <a:noFill/>
            <a:ln w="12700">
              <a:solidFill>
                <a:srgbClr val="A50021"/>
              </a:solidFill>
              <a:prstDash val="sysDot"/>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23584" name="Rectangle 113"/>
            <p:cNvSpPr>
              <a:spLocks noChangeArrowheads="1"/>
            </p:cNvSpPr>
            <p:nvPr/>
          </p:nvSpPr>
          <p:spPr bwMode="auto">
            <a:xfrm>
              <a:off x="6144" y="3840"/>
              <a:ext cx="557" cy="173"/>
            </a:xfrm>
            <a:prstGeom prst="rect">
              <a:avLst/>
            </a:prstGeom>
            <a:noFill/>
            <a:ln w="9525">
              <a:noFill/>
              <a:miter lim="800000"/>
              <a:headEnd/>
              <a:tailEnd/>
            </a:ln>
          </p:spPr>
          <p:txBody>
            <a:bodyPr wrap="none" lIns="92075" tIns="46038" rIns="92075" bIns="46038">
              <a:spAutoFit/>
            </a:bodyPr>
            <a:lstStyle/>
            <a:p>
              <a:pPr eaLnBrk="0" hangingPunct="0"/>
              <a:r>
                <a:rPr lang="ru-RU" sz="1200"/>
                <a:t>Разговор</a:t>
              </a:r>
              <a:endParaRPr lang="en-US" sz="1200"/>
            </a:p>
          </p:txBody>
        </p:sp>
        <p:sp>
          <p:nvSpPr>
            <p:cNvPr id="23585" name="Rectangle 114"/>
            <p:cNvSpPr>
              <a:spLocks noChangeArrowheads="1"/>
            </p:cNvSpPr>
            <p:nvPr/>
          </p:nvSpPr>
          <p:spPr bwMode="auto">
            <a:xfrm>
              <a:off x="9434" y="3696"/>
              <a:ext cx="352" cy="173"/>
            </a:xfrm>
            <a:prstGeom prst="rect">
              <a:avLst/>
            </a:prstGeom>
            <a:noFill/>
            <a:ln w="9525">
              <a:noFill/>
              <a:miter lim="800000"/>
              <a:headEnd/>
              <a:tailEnd/>
            </a:ln>
          </p:spPr>
          <p:txBody>
            <a:bodyPr wrap="none" lIns="92075" tIns="46038" rIns="92075" bIns="46038">
              <a:spAutoFit/>
            </a:bodyPr>
            <a:lstStyle/>
            <a:p>
              <a:pPr eaLnBrk="0" hangingPunct="0"/>
              <a:r>
                <a:rPr lang="ru-RU" sz="1200"/>
                <a:t>Факс</a:t>
              </a:r>
              <a:endParaRPr lang="en-US" sz="1200"/>
            </a:p>
          </p:txBody>
        </p:sp>
        <p:graphicFrame>
          <p:nvGraphicFramePr>
            <p:cNvPr id="23586" name="Object 115"/>
            <p:cNvGraphicFramePr>
              <a:graphicFrameLocks/>
            </p:cNvGraphicFramePr>
            <p:nvPr/>
          </p:nvGraphicFramePr>
          <p:xfrm>
            <a:off x="10166" y="3600"/>
            <a:ext cx="427" cy="285"/>
          </p:xfrm>
          <a:graphic>
            <a:graphicData uri="http://schemas.openxmlformats.org/presentationml/2006/ole">
              <p:oleObj spid="_x0000_s30725" name="Clip" r:id="rId6" imgW="29946600" imgH="18468975" progId="">
                <p:embed/>
              </p:oleObj>
            </a:graphicData>
          </a:graphic>
        </p:graphicFrame>
        <p:graphicFrame>
          <p:nvGraphicFramePr>
            <p:cNvPr id="23587" name="Object 116"/>
            <p:cNvGraphicFramePr>
              <a:graphicFrameLocks/>
            </p:cNvGraphicFramePr>
            <p:nvPr/>
          </p:nvGraphicFramePr>
          <p:xfrm>
            <a:off x="9989" y="2928"/>
            <a:ext cx="472" cy="271"/>
          </p:xfrm>
          <a:graphic>
            <a:graphicData uri="http://schemas.openxmlformats.org/presentationml/2006/ole">
              <p:oleObj spid="_x0000_s30726" name="Clip" r:id="rId7" imgW="26193750" imgH="15173325" progId="">
                <p:embed/>
              </p:oleObj>
            </a:graphicData>
          </a:graphic>
        </p:graphicFrame>
        <p:sp>
          <p:nvSpPr>
            <p:cNvPr id="567413" name="Line 117"/>
            <p:cNvSpPr>
              <a:spLocks noChangeShapeType="1"/>
            </p:cNvSpPr>
            <p:nvPr/>
          </p:nvSpPr>
          <p:spPr bwMode="auto">
            <a:xfrm>
              <a:off x="8438" y="3024"/>
              <a:ext cx="1773" cy="720"/>
            </a:xfrm>
            <a:prstGeom prst="line">
              <a:avLst/>
            </a:prstGeom>
            <a:noFill/>
            <a:ln w="12700">
              <a:solidFill>
                <a:srgbClr val="A50021"/>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567414" name="Line 118"/>
            <p:cNvSpPr>
              <a:spLocks noChangeShapeType="1"/>
            </p:cNvSpPr>
            <p:nvPr/>
          </p:nvSpPr>
          <p:spPr bwMode="auto">
            <a:xfrm>
              <a:off x="8571" y="2928"/>
              <a:ext cx="1728" cy="192"/>
            </a:xfrm>
            <a:prstGeom prst="line">
              <a:avLst/>
            </a:prstGeom>
            <a:noFill/>
            <a:ln w="12700">
              <a:solidFill>
                <a:srgbClr val="A50021"/>
              </a:solidFill>
              <a:round/>
              <a:headEnd type="none" w="sm" len="sm"/>
              <a:tailEnd type="none" w="sm" len="sm"/>
            </a:ln>
            <a:effectLst/>
          </p:spPr>
          <p:txBody>
            <a:bodyPr wrap="none" anchor="ctr"/>
            <a:lstStyle/>
            <a:p>
              <a:pPr>
                <a:defRPr/>
              </a:pPr>
              <a:endParaRPr lang="ru-RU">
                <a:effectLst>
                  <a:outerShdw blurRad="38100" dist="38100" dir="2700000" algn="tl">
                    <a:srgbClr val="000000">
                      <a:alpha val="43137"/>
                    </a:srgbClr>
                  </a:outerShdw>
                </a:effectLst>
              </a:endParaRPr>
            </a:p>
          </p:txBody>
        </p:sp>
        <p:graphicFrame>
          <p:nvGraphicFramePr>
            <p:cNvPr id="23590" name="Object 119"/>
            <p:cNvGraphicFramePr>
              <a:graphicFrameLocks noChangeAspect="1"/>
            </p:cNvGraphicFramePr>
            <p:nvPr/>
          </p:nvGraphicFramePr>
          <p:xfrm>
            <a:off x="5760" y="3216"/>
            <a:ext cx="624" cy="585"/>
          </p:xfrm>
          <a:graphic>
            <a:graphicData uri="http://schemas.openxmlformats.org/presentationml/2006/ole">
              <p:oleObj spid="_x0000_s30727" name="VISIO" r:id="rId8" imgW="3180240" imgH="2981520" progId="">
                <p:embed/>
              </p:oleObj>
            </a:graphicData>
          </a:graphic>
        </p:graphicFrame>
      </p:grpSp>
    </p:spTree>
  </p:cSld>
  <p:clrMapOvr>
    <a:masterClrMapping/>
  </p:clrMapOvr>
  <p:transition>
    <p:spli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out)">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ou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567382"/>
                                        </p:tgtEl>
                                        <p:attrNameLst>
                                          <p:attrName>style.visibility</p:attrName>
                                        </p:attrNameLst>
                                      </p:cBhvr>
                                      <p:to>
                                        <p:strVal val="visible"/>
                                      </p:to>
                                    </p:set>
                                    <p:animEffect transition="in" filter="box(out)">
                                      <p:cBhvr>
                                        <p:cTn id="27" dur="500"/>
                                        <p:tgtEl>
                                          <p:spTgt spid="5673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ox(out)">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567383"/>
                                        </p:tgtEl>
                                        <p:attrNameLst>
                                          <p:attrName>style.visibility</p:attrName>
                                        </p:attrNameLst>
                                      </p:cBhvr>
                                      <p:to>
                                        <p:strVal val="visible"/>
                                      </p:to>
                                    </p:set>
                                    <p:animEffect transition="in" filter="box(out)">
                                      <p:cBhvr>
                                        <p:cTn id="37" dur="500"/>
                                        <p:tgtEl>
                                          <p:spTgt spid="5673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567385"/>
                                        </p:tgtEl>
                                        <p:attrNameLst>
                                          <p:attrName>style.visibility</p:attrName>
                                        </p:attrNameLst>
                                      </p:cBhvr>
                                      <p:to>
                                        <p:strVal val="visible"/>
                                      </p:to>
                                    </p:set>
                                    <p:animEffect transition="in" filter="box(out)">
                                      <p:cBhvr>
                                        <p:cTn id="42" dur="500"/>
                                        <p:tgtEl>
                                          <p:spTgt spid="56738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567386"/>
                                        </p:tgtEl>
                                        <p:attrNameLst>
                                          <p:attrName>style.visibility</p:attrName>
                                        </p:attrNameLst>
                                      </p:cBhvr>
                                      <p:to>
                                        <p:strVal val="visible"/>
                                      </p:to>
                                    </p:set>
                                    <p:animEffect transition="in" filter="box(out)">
                                      <p:cBhvr>
                                        <p:cTn id="47" dur="500"/>
                                        <p:tgtEl>
                                          <p:spTgt spid="56738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567384"/>
                                        </p:tgtEl>
                                        <p:attrNameLst>
                                          <p:attrName>style.visibility</p:attrName>
                                        </p:attrNameLst>
                                      </p:cBhvr>
                                      <p:to>
                                        <p:strVal val="visible"/>
                                      </p:to>
                                    </p:set>
                                    <p:animEffect transition="in" filter="box(out)">
                                      <p:cBhvr>
                                        <p:cTn id="52" dur="500"/>
                                        <p:tgtEl>
                                          <p:spTgt spid="567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836712"/>
          </a:xfrm>
        </p:spPr>
        <p:txBody>
          <a:bodyPr>
            <a:normAutofit/>
          </a:bodyPr>
          <a:lstStyle/>
          <a:p>
            <a:pPr algn="l"/>
            <a:r>
              <a:rPr lang="ru-RU" sz="2800" b="1" dirty="0" smtClean="0">
                <a:solidFill>
                  <a:srgbClr val="002060"/>
                </a:solidFill>
              </a:rPr>
              <a:t>Пример предоставления услуги интеллектуальной сети</a:t>
            </a:r>
          </a:p>
        </p:txBody>
      </p:sp>
      <p:sp>
        <p:nvSpPr>
          <p:cNvPr id="3" name="Содержимое 2"/>
          <p:cNvSpPr>
            <a:spLocks noGrp="1"/>
          </p:cNvSpPr>
          <p:nvPr>
            <p:ph idx="1"/>
          </p:nvPr>
        </p:nvSpPr>
        <p:spPr>
          <a:xfrm>
            <a:off x="179512" y="764704"/>
            <a:ext cx="8784976" cy="6093296"/>
          </a:xfrm>
        </p:spPr>
        <p:txBody>
          <a:bodyPr>
            <a:normAutofit fontScale="55000" lnSpcReduction="20000"/>
          </a:bodyPr>
          <a:lstStyle/>
          <a:p>
            <a:r>
              <a:rPr lang="ru-RU" sz="3600" b="1" dirty="0" smtClean="0"/>
              <a:t>Функции коммутации и доставки информации отделены от функций предоставления интеллектуальной услуги </a:t>
            </a:r>
            <a:r>
              <a:rPr lang="ru-RU" dirty="0" smtClean="0"/>
              <a:t>.</a:t>
            </a:r>
          </a:p>
          <a:p>
            <a:r>
              <a:rPr lang="ru-RU" b="1" u="sng" dirty="0" smtClean="0"/>
              <a:t>К уровню физической сети относятся </a:t>
            </a:r>
          </a:p>
          <a:p>
            <a:pPr>
              <a:buNone/>
            </a:pPr>
            <a:r>
              <a:rPr lang="ru-RU" b="1" dirty="0" smtClean="0"/>
              <a:t>          - </a:t>
            </a:r>
            <a:r>
              <a:rPr lang="ru-RU" dirty="0" smtClean="0"/>
              <a:t>узел SSP и</a:t>
            </a:r>
          </a:p>
          <a:p>
            <a:pPr>
              <a:buNone/>
            </a:pPr>
            <a:r>
              <a:rPr lang="ru-RU" dirty="0" smtClean="0"/>
              <a:t>         -  интеллектуальная периферия (</a:t>
            </a:r>
            <a:r>
              <a:rPr lang="ru-RU" dirty="0" err="1" smtClean="0"/>
              <a:t>Intelligent</a:t>
            </a:r>
            <a:r>
              <a:rPr lang="ru-RU" dirty="0" smtClean="0"/>
              <a:t> </a:t>
            </a:r>
            <a:r>
              <a:rPr lang="ru-RU" dirty="0" err="1" smtClean="0"/>
              <a:t>Peripheral</a:t>
            </a:r>
            <a:r>
              <a:rPr lang="ru-RU" dirty="0" smtClean="0"/>
              <a:t>, IP).</a:t>
            </a:r>
          </a:p>
          <a:p>
            <a:pPr>
              <a:buNone/>
            </a:pPr>
            <a:r>
              <a:rPr lang="ru-RU" dirty="0" smtClean="0"/>
              <a:t>     </a:t>
            </a:r>
            <a:r>
              <a:rPr lang="ru-RU" b="1" dirty="0" smtClean="0"/>
              <a:t>Лишь эти два объекта имеют жесткую связь с ТфОП с помощью каналов связи</a:t>
            </a:r>
            <a:r>
              <a:rPr lang="ru-RU" dirty="0" smtClean="0"/>
              <a:t>.</a:t>
            </a:r>
          </a:p>
          <a:p>
            <a:pPr>
              <a:buNone/>
            </a:pPr>
            <a:r>
              <a:rPr lang="ru-RU" b="1" dirty="0" smtClean="0"/>
              <a:t>    Взаимодействие других узлов осуществляется только через сеть сигнализации.</a:t>
            </a:r>
          </a:p>
          <a:p>
            <a:r>
              <a:rPr lang="ru-RU" dirty="0" smtClean="0"/>
              <a:t>Процесс предоставления “обобщенной” интеллектуальной услуги можно представить в виде последовательных действий:</a:t>
            </a:r>
          </a:p>
          <a:p>
            <a:pPr>
              <a:buNone/>
            </a:pPr>
            <a:r>
              <a:rPr lang="ru-RU" dirty="0" smtClean="0"/>
              <a:t>          - Набор номера абонентом А;</a:t>
            </a:r>
          </a:p>
          <a:p>
            <a:pPr>
              <a:buNone/>
            </a:pPr>
            <a:r>
              <a:rPr lang="ru-RU" dirty="0" smtClean="0"/>
              <a:t>          - Установление соединения: терминал абонент А – SSP;</a:t>
            </a:r>
          </a:p>
          <a:p>
            <a:pPr>
              <a:buNone/>
            </a:pPr>
            <a:r>
              <a:rPr lang="ru-RU" dirty="0" smtClean="0"/>
              <a:t>         - Функционирование IP (обмен речевой информацией с абонентом А);</a:t>
            </a:r>
          </a:p>
          <a:p>
            <a:pPr>
              <a:buNone/>
            </a:pPr>
            <a:r>
              <a:rPr lang="ru-RU" dirty="0" smtClean="0"/>
              <a:t>         - Передача информации об услуге через сеть ОКС №7 с помощью протокола INAP</a:t>
            </a:r>
          </a:p>
          <a:p>
            <a:pPr>
              <a:buNone/>
            </a:pPr>
            <a:r>
              <a:rPr lang="ru-RU" dirty="0" smtClean="0"/>
              <a:t>              от SSP к SCP;</a:t>
            </a:r>
          </a:p>
          <a:p>
            <a:pPr>
              <a:buNone/>
            </a:pPr>
            <a:r>
              <a:rPr lang="ru-RU" dirty="0" smtClean="0"/>
              <a:t>         -  Обработка информации в интеллектуальной надстройке и формирование  </a:t>
            </a:r>
          </a:p>
          <a:p>
            <a:pPr>
              <a:buNone/>
            </a:pPr>
            <a:r>
              <a:rPr lang="ru-RU" dirty="0" smtClean="0"/>
              <a:t>             управляющих воздействий на SSP;</a:t>
            </a:r>
          </a:p>
          <a:p>
            <a:pPr>
              <a:buNone/>
            </a:pPr>
            <a:r>
              <a:rPr lang="ru-RU" dirty="0" smtClean="0"/>
              <a:t>        -  Установление соединения между абонентами А и Б;</a:t>
            </a:r>
          </a:p>
          <a:p>
            <a:pPr>
              <a:buNone/>
            </a:pPr>
            <a:r>
              <a:rPr lang="ru-RU" dirty="0" smtClean="0"/>
              <a:t>        -  Функционирование IP;</a:t>
            </a:r>
          </a:p>
          <a:p>
            <a:pPr>
              <a:buNone/>
            </a:pPr>
            <a:r>
              <a:rPr lang="ru-RU" dirty="0" smtClean="0"/>
              <a:t>        -  Разговор абонентов;</a:t>
            </a:r>
          </a:p>
          <a:p>
            <a:pPr>
              <a:buNone/>
            </a:pPr>
            <a:r>
              <a:rPr lang="ru-RU" dirty="0" smtClean="0"/>
              <a:t>        -  Завершение разговора.</a:t>
            </a:r>
          </a:p>
          <a:p>
            <a:pPr>
              <a:buNone/>
            </a:pPr>
            <a:r>
              <a:rPr lang="ru-RU" dirty="0" smtClean="0"/>
              <a:t>           Передача информации о завершении разговора от SSP к SCP через сеть ОКС №7;</a:t>
            </a:r>
          </a:p>
          <a:p>
            <a:pPr>
              <a:buNone/>
            </a:pPr>
            <a:r>
              <a:rPr lang="ru-RU" dirty="0" smtClean="0"/>
              <a:t>         - Разъединение соединения. Завершение выполнения услуги. Освобождение SSP.</a:t>
            </a:r>
          </a:p>
          <a:p>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9144000" cy="648072"/>
          </a:xfrm>
        </p:spPr>
        <p:txBody>
          <a:bodyPr>
            <a:noAutofit/>
          </a:bodyPr>
          <a:lstStyle/>
          <a:p>
            <a:r>
              <a:rPr lang="ru-RU" sz="2800" b="1" dirty="0" smtClean="0">
                <a:solidFill>
                  <a:srgbClr val="002060"/>
                </a:solidFill>
              </a:rPr>
              <a:t>Схема взаимосвязи интеллектуальной надстройки с телекоммуникационной сетью</a:t>
            </a:r>
            <a:endParaRPr lang="ru-RU" sz="2800" b="1" dirty="0">
              <a:solidFill>
                <a:srgbClr val="002060"/>
              </a:solidFill>
            </a:endParaRPr>
          </a:p>
        </p:txBody>
      </p:sp>
      <p:pic>
        <p:nvPicPr>
          <p:cNvPr id="4" name="Содержимое 3" descr="https://siblec.ru/img/62/img/p10_6.gif"/>
          <p:cNvPicPr>
            <a:picLocks noGrp="1"/>
          </p:cNvPicPr>
          <p:nvPr>
            <p:ph idx="1"/>
          </p:nvPr>
        </p:nvPicPr>
        <p:blipFill>
          <a:blip r:embed="rId2" cstate="print"/>
          <a:srcRect/>
          <a:stretch>
            <a:fillRect/>
          </a:stretch>
        </p:blipFill>
        <p:spPr bwMode="auto">
          <a:xfrm>
            <a:off x="179512" y="1124744"/>
            <a:ext cx="8784976" cy="5544616"/>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562074"/>
          </a:xfrm>
        </p:spPr>
        <p:txBody>
          <a:bodyPr>
            <a:normAutofit fontScale="90000"/>
          </a:bodyPr>
          <a:lstStyle/>
          <a:p>
            <a:r>
              <a:rPr lang="ru-RU" sz="3100" b="1" dirty="0" smtClean="0">
                <a:solidFill>
                  <a:srgbClr val="002060"/>
                </a:solidFill>
              </a:rPr>
              <a:t/>
            </a:r>
            <a:br>
              <a:rPr lang="ru-RU" sz="3100" b="1" dirty="0" smtClean="0">
                <a:solidFill>
                  <a:srgbClr val="002060"/>
                </a:solidFill>
              </a:rPr>
            </a:br>
            <a:r>
              <a:rPr lang="ru-RU" sz="4000" b="1" dirty="0" smtClean="0">
                <a:solidFill>
                  <a:srgbClr val="002060"/>
                </a:solidFill>
              </a:rPr>
              <a:t>Классификация интеллектуальных услуг</a:t>
            </a:r>
            <a:r>
              <a:rPr lang="ru-RU" b="1" dirty="0" smtClean="0"/>
              <a:t/>
            </a:r>
            <a:br>
              <a:rPr lang="ru-RU" b="1" dirty="0" smtClean="0"/>
            </a:br>
            <a:endParaRPr lang="ru-RU" dirty="0"/>
          </a:p>
        </p:txBody>
      </p:sp>
      <p:sp>
        <p:nvSpPr>
          <p:cNvPr id="3" name="Содержимое 2"/>
          <p:cNvSpPr>
            <a:spLocks noGrp="1"/>
          </p:cNvSpPr>
          <p:nvPr>
            <p:ph idx="1"/>
          </p:nvPr>
        </p:nvSpPr>
        <p:spPr>
          <a:xfrm>
            <a:off x="179512" y="692696"/>
            <a:ext cx="8964488" cy="6009531"/>
          </a:xfrm>
        </p:spPr>
        <p:txBody>
          <a:bodyPr>
            <a:normAutofit/>
          </a:bodyPr>
          <a:lstStyle/>
          <a:p>
            <a:r>
              <a:rPr lang="ru-RU" sz="2000" dirty="0" smtClean="0"/>
              <a:t>В Рекомендациях ITU-T специфицировано четыре набора интеллектуальных услуг: CS-1, CS-2, CS-3, CS-4 [85-87]. В таблице 10.1 приведена характеристика услуг набора CS-1 </a:t>
            </a:r>
            <a:r>
              <a:rPr lang="ru-RU" sz="2000" i="1" dirty="0" smtClean="0"/>
              <a:t>(</a:t>
            </a:r>
            <a:r>
              <a:rPr lang="ru-RU" sz="2000" i="1" dirty="0" err="1" smtClean="0"/>
              <a:t>Capability</a:t>
            </a:r>
            <a:r>
              <a:rPr lang="ru-RU" sz="2000" i="1" dirty="0" smtClean="0"/>
              <a:t> </a:t>
            </a:r>
            <a:r>
              <a:rPr lang="ru-RU" sz="2000" i="1" dirty="0" err="1" smtClean="0"/>
              <a:t>sets</a:t>
            </a:r>
            <a:r>
              <a:rPr lang="ru-RU" sz="2000" i="1" dirty="0" smtClean="0"/>
              <a:t>, CS</a:t>
            </a:r>
            <a:r>
              <a:rPr lang="ru-RU" sz="2000" dirty="0" smtClean="0"/>
              <a:t>).</a:t>
            </a:r>
          </a:p>
          <a:p>
            <a:r>
              <a:rPr lang="ru-RU" sz="2000" dirty="0" smtClean="0"/>
              <a:t> </a:t>
            </a:r>
            <a:r>
              <a:rPr lang="ru-RU" sz="2000" b="1" dirty="0" smtClean="0"/>
              <a:t>FPH - Бесплатный вызов (</a:t>
            </a:r>
            <a:r>
              <a:rPr lang="ru-RU" sz="2000" b="1" dirty="0" err="1" smtClean="0"/>
              <a:t>Freephone</a:t>
            </a:r>
            <a:r>
              <a:rPr lang="ru-RU" sz="2000" b="1" dirty="0" smtClean="0"/>
              <a:t>).</a:t>
            </a:r>
          </a:p>
          <a:p>
            <a:pPr>
              <a:buNone/>
            </a:pPr>
            <a:r>
              <a:rPr lang="ru-RU" sz="2000" dirty="0" smtClean="0"/>
              <a:t>       Бесплатная телефонная служба, или "свободный телефон".</a:t>
            </a:r>
          </a:p>
          <a:p>
            <a:pPr>
              <a:buNone/>
            </a:pPr>
            <a:r>
              <a:rPr lang="ru-RU" sz="2000" dirty="0" smtClean="0"/>
              <a:t>     Разговор при данном типе вызова состоится, если вызываемый абонент согласится его оплатить (в США эта услуга называется "Служба 800").</a:t>
            </a:r>
          </a:p>
          <a:p>
            <a:r>
              <a:rPr lang="ru-RU" sz="2000" dirty="0" smtClean="0"/>
              <a:t> </a:t>
            </a:r>
            <a:r>
              <a:rPr lang="ru-RU" sz="2000" b="1" dirty="0" smtClean="0"/>
              <a:t>ABD - Сокращенный набор (</a:t>
            </a:r>
            <a:r>
              <a:rPr lang="ru-RU" sz="2000" b="1" dirty="0" err="1" smtClean="0"/>
              <a:t>Abbreviated</a:t>
            </a:r>
            <a:r>
              <a:rPr lang="ru-RU" sz="2000" b="1" dirty="0" smtClean="0"/>
              <a:t> </a:t>
            </a:r>
            <a:r>
              <a:rPr lang="ru-RU" sz="2000" b="1" dirty="0" err="1" smtClean="0"/>
              <a:t>Dialing</a:t>
            </a:r>
            <a:r>
              <a:rPr lang="ru-RU" sz="2000" b="1" dirty="0" smtClean="0"/>
              <a:t>).</a:t>
            </a:r>
          </a:p>
          <a:p>
            <a:pPr>
              <a:buNone/>
            </a:pPr>
            <a:r>
              <a:rPr lang="ru-RU" sz="2000" dirty="0" smtClean="0"/>
              <a:t>      Услуга предоставляет пользователю осуществление вызова, используя, например, номер из 4-х цифр, даже в том случае, когда вызывающий и вызываемый абоненты обслуживаются разными коммутационными станциями. .</a:t>
            </a:r>
          </a:p>
          <a:p>
            <a:r>
              <a:rPr lang="ru-RU" sz="2000" b="1" dirty="0" smtClean="0"/>
              <a:t> ACC  - Вызов по предоплаченной карте (</a:t>
            </a:r>
            <a:r>
              <a:rPr lang="ru-RU" sz="2000" b="1" dirty="0" err="1" smtClean="0"/>
              <a:t>Account</a:t>
            </a:r>
            <a:r>
              <a:rPr lang="ru-RU" sz="2000" b="1" dirty="0" smtClean="0"/>
              <a:t> </a:t>
            </a:r>
            <a:r>
              <a:rPr lang="ru-RU" sz="2000" b="1" dirty="0" err="1" smtClean="0"/>
              <a:t>Card</a:t>
            </a:r>
            <a:r>
              <a:rPr lang="ru-RU" sz="2000" b="1" dirty="0" smtClean="0"/>
              <a:t> </a:t>
            </a:r>
            <a:r>
              <a:rPr lang="ru-RU" sz="2000" b="1" dirty="0" err="1" smtClean="0"/>
              <a:t>Calling</a:t>
            </a:r>
            <a:r>
              <a:rPr lang="ru-RU" sz="2000" b="1" dirty="0" smtClean="0"/>
              <a:t>). </a:t>
            </a:r>
            <a:r>
              <a:rPr lang="ru-RU" sz="2000" dirty="0" smtClean="0"/>
              <a:t>Предоставляет возможность оплачивать разговор с любого ТА с помощью счета, указываемого набором дополнительного номера.</a:t>
            </a:r>
          </a:p>
          <a:p>
            <a:r>
              <a:rPr lang="ru-RU" sz="2000" b="1" dirty="0" smtClean="0"/>
              <a:t> CCC  - Вызов по кредитной карте (</a:t>
            </a:r>
            <a:r>
              <a:rPr lang="ru-RU" sz="2000" b="1" dirty="0" err="1" smtClean="0"/>
              <a:t>Credit</a:t>
            </a:r>
            <a:r>
              <a:rPr lang="ru-RU" sz="2000" b="1" dirty="0" smtClean="0"/>
              <a:t> </a:t>
            </a:r>
            <a:r>
              <a:rPr lang="ru-RU" sz="2000" b="1" dirty="0" err="1" smtClean="0"/>
              <a:t>Card</a:t>
            </a:r>
            <a:r>
              <a:rPr lang="ru-RU" sz="2000" b="1" dirty="0" smtClean="0"/>
              <a:t> </a:t>
            </a:r>
            <a:r>
              <a:rPr lang="ru-RU" sz="2000" b="1" dirty="0" err="1" smtClean="0"/>
              <a:t>Calling</a:t>
            </a:r>
            <a:r>
              <a:rPr lang="ru-RU" sz="2000" b="1" dirty="0" smtClean="0"/>
              <a:t>).</a:t>
            </a:r>
          </a:p>
          <a:p>
            <a:pPr>
              <a:buNone/>
            </a:pPr>
            <a:r>
              <a:rPr lang="ru-RU" sz="2000" b="1" dirty="0" smtClean="0"/>
              <a:t>     </a:t>
            </a:r>
            <a:r>
              <a:rPr lang="ru-RU" sz="2000" dirty="0" smtClean="0"/>
              <a:t>Позволяет выполнять вызовы с любого ТА, оплачивая их по кредитной карте</a:t>
            </a:r>
          </a:p>
          <a:p>
            <a:endParaRPr lang="ru-RU" sz="2000" dirty="0" smtClean="0"/>
          </a:p>
          <a:p>
            <a:endParaRPr lang="ru-RU" sz="2000" dirty="0" smtClean="0"/>
          </a:p>
          <a:p>
            <a:pPr>
              <a:buNone/>
            </a:pPr>
            <a:endParaRPr lang="ru-RU" sz="2000" dirty="0" smtClean="0"/>
          </a:p>
          <a:p>
            <a:pPr>
              <a:buNone/>
            </a:pPr>
            <a:endParaRPr lang="ru-RU" sz="2000" dirty="0" smtClean="0"/>
          </a:p>
          <a:p>
            <a:pPr>
              <a:buNone/>
            </a:pPr>
            <a:endParaRPr lang="ru-RU" sz="2000" dirty="0" smtClean="0"/>
          </a:p>
          <a:p>
            <a:pPr>
              <a:buNone/>
            </a:pPr>
            <a:endParaRPr lang="ru-RU" sz="2000" dirty="0" smtClean="0"/>
          </a:p>
          <a:p>
            <a:endParaRPr lang="ru-RU"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908720"/>
          </a:xfrm>
        </p:spPr>
        <p:txBody>
          <a:bodyPr>
            <a:normAutofit/>
          </a:bodyPr>
          <a:lstStyle/>
          <a:p>
            <a:r>
              <a:rPr lang="ru-RU" sz="3600" b="1" dirty="0" smtClean="0">
                <a:solidFill>
                  <a:srgbClr val="002060"/>
                </a:solidFill>
              </a:rPr>
              <a:t>Классификация интеллектуальных услуг</a:t>
            </a:r>
            <a:endParaRPr lang="ru-RU" sz="3600" dirty="0"/>
          </a:p>
        </p:txBody>
      </p:sp>
      <p:sp>
        <p:nvSpPr>
          <p:cNvPr id="3" name="Содержимое 2"/>
          <p:cNvSpPr>
            <a:spLocks noGrp="1"/>
          </p:cNvSpPr>
          <p:nvPr>
            <p:ph idx="1"/>
          </p:nvPr>
        </p:nvSpPr>
        <p:spPr>
          <a:xfrm>
            <a:off x="0" y="836712"/>
            <a:ext cx="9144000" cy="5832648"/>
          </a:xfrm>
        </p:spPr>
        <p:txBody>
          <a:bodyPr>
            <a:normAutofit/>
          </a:bodyPr>
          <a:lstStyle/>
          <a:p>
            <a:r>
              <a:rPr lang="ru-RU" sz="2400" b="1" dirty="0" smtClean="0"/>
              <a:t>CF -Направленный вызов (</a:t>
            </a:r>
            <a:r>
              <a:rPr lang="ru-RU" sz="2400" b="1" dirty="0" err="1" smtClean="0"/>
              <a:t>Call</a:t>
            </a:r>
            <a:r>
              <a:rPr lang="ru-RU" sz="2400" b="1" dirty="0" smtClean="0"/>
              <a:t> </a:t>
            </a:r>
            <a:r>
              <a:rPr lang="ru-RU" sz="2400" b="1" dirty="0" err="1" smtClean="0"/>
              <a:t>forwarding</a:t>
            </a:r>
            <a:r>
              <a:rPr lang="ru-RU" sz="2400" b="1" dirty="0" smtClean="0"/>
              <a:t>). </a:t>
            </a:r>
          </a:p>
          <a:p>
            <a:pPr>
              <a:buNone/>
            </a:pPr>
            <a:r>
              <a:rPr lang="ru-RU" sz="2400" b="1" dirty="0" smtClean="0"/>
              <a:t>   </a:t>
            </a:r>
            <a:r>
              <a:rPr lang="ru-RU" sz="2400" dirty="0" smtClean="0"/>
              <a:t>Пользователь может направлять поступившие к нему вызовы на терминал с другим номером. Включение и отключение услуги осуществляется самим пользователем.</a:t>
            </a:r>
          </a:p>
          <a:p>
            <a:r>
              <a:rPr lang="ru-RU" sz="2400" b="1" dirty="0" smtClean="0"/>
              <a:t>FMD  - Функция "следуй за мной" (</a:t>
            </a:r>
            <a:r>
              <a:rPr lang="ru-RU" sz="2400" b="1" dirty="0" err="1" smtClean="0"/>
              <a:t>Follow-me</a:t>
            </a:r>
            <a:r>
              <a:rPr lang="ru-RU" sz="2400" b="1" dirty="0" smtClean="0"/>
              <a:t> </a:t>
            </a:r>
            <a:r>
              <a:rPr lang="ru-RU" sz="2400" b="1" dirty="0" err="1" smtClean="0"/>
              <a:t>diversion</a:t>
            </a:r>
            <a:r>
              <a:rPr lang="ru-RU" sz="2400" b="1" dirty="0" smtClean="0"/>
              <a:t>). </a:t>
            </a:r>
          </a:p>
          <a:p>
            <a:pPr>
              <a:buNone/>
            </a:pPr>
            <a:r>
              <a:rPr lang="ru-RU" sz="2400" dirty="0" smtClean="0"/>
              <a:t>    Позволяет сохранить доступ к абоненту при его перемещении.</a:t>
            </a:r>
          </a:p>
          <a:p>
            <a:r>
              <a:rPr lang="ru-RU" sz="2400" dirty="0" smtClean="0"/>
              <a:t> </a:t>
            </a:r>
            <a:r>
              <a:rPr lang="ru-RU" sz="2400" b="1" dirty="0" smtClean="0"/>
              <a:t>MAS -Опрос населения (</a:t>
            </a:r>
            <a:r>
              <a:rPr lang="ru-RU" sz="2400" b="1" dirty="0" err="1" smtClean="0"/>
              <a:t>Mass</a:t>
            </a:r>
            <a:r>
              <a:rPr lang="ru-RU" sz="2400" b="1" dirty="0" smtClean="0"/>
              <a:t> </a:t>
            </a:r>
            <a:r>
              <a:rPr lang="ru-RU" sz="2400" b="1" dirty="0" err="1" smtClean="0"/>
              <a:t>Calling</a:t>
            </a:r>
            <a:r>
              <a:rPr lang="ru-RU" sz="2400" b="1" dirty="0" smtClean="0"/>
              <a:t>). </a:t>
            </a:r>
          </a:p>
          <a:p>
            <a:pPr>
              <a:buNone/>
            </a:pPr>
            <a:r>
              <a:rPr lang="ru-RU" sz="2400" b="1" dirty="0" smtClean="0"/>
              <a:t>    </a:t>
            </a:r>
            <a:r>
              <a:rPr lang="ru-RU" sz="2400" dirty="0" smtClean="0"/>
              <a:t>Позволяет проводить опросы населения по телефону. Абонент после вызова слышит объявление и просьбу набрать одну из нескольких цифр на телефоне, чтобы выразить свое предпочтение. Все ответы регистрируются.</a:t>
            </a:r>
          </a:p>
          <a:p>
            <a:r>
              <a:rPr lang="ru-RU" sz="2400" b="1" dirty="0" smtClean="0"/>
              <a:t> OCS - Ограничение исходящей связи (</a:t>
            </a:r>
            <a:r>
              <a:rPr lang="ru-RU" sz="2400" b="1" dirty="0" err="1" smtClean="0"/>
              <a:t>Originating</a:t>
            </a:r>
            <a:r>
              <a:rPr lang="ru-RU" sz="2400" b="1" dirty="0" smtClean="0"/>
              <a:t> </a:t>
            </a:r>
            <a:r>
              <a:rPr lang="ru-RU" sz="2400" b="1" dirty="0" err="1" smtClean="0"/>
              <a:t>Call</a:t>
            </a:r>
            <a:r>
              <a:rPr lang="ru-RU" sz="2400" b="1" dirty="0" smtClean="0"/>
              <a:t> </a:t>
            </a:r>
            <a:r>
              <a:rPr lang="ru-RU" sz="2400" b="1" dirty="0" err="1" smtClean="0"/>
              <a:t>Screening</a:t>
            </a:r>
            <a:r>
              <a:rPr lang="ru-RU" sz="2400" b="1" dirty="0" smtClean="0"/>
              <a:t>). </a:t>
            </a:r>
            <a:r>
              <a:rPr lang="ru-RU" sz="2400" dirty="0" smtClean="0"/>
              <a:t>Дает возможность вводить ограничения на исходящую связь в определенное время или в соответствии с другими условиями</a:t>
            </a:r>
          </a:p>
          <a:p>
            <a:pPr>
              <a:buNone/>
            </a:pPr>
            <a:endParaRPr lang="ru-RU" sz="2400" dirty="0" smtClean="0"/>
          </a:p>
          <a:p>
            <a:pPr>
              <a:buNone/>
            </a:pPr>
            <a:endParaRPr lang="ru-RU" sz="2400" dirty="0" smtClean="0"/>
          </a:p>
          <a:p>
            <a:pPr>
              <a:buNone/>
            </a:pPr>
            <a:endParaRPr lang="ru-RU" sz="2400" dirty="0" smtClean="0"/>
          </a:p>
          <a:p>
            <a:pPr>
              <a:buNone/>
            </a:pPr>
            <a:endParaRPr lang="ru-RU" sz="2400" dirty="0" smtClean="0"/>
          </a:p>
          <a:p>
            <a:endParaRPr lang="ru-R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600" b="1" dirty="0" smtClean="0">
                <a:solidFill>
                  <a:srgbClr val="002060"/>
                </a:solidFill>
              </a:rPr>
              <a:t>Классификация интеллектуальных услуг</a:t>
            </a:r>
            <a:endParaRPr lang="ru-RU" sz="3600" dirty="0"/>
          </a:p>
        </p:txBody>
      </p:sp>
      <p:sp>
        <p:nvSpPr>
          <p:cNvPr id="3" name="Содержимое 2"/>
          <p:cNvSpPr>
            <a:spLocks noGrp="1"/>
          </p:cNvSpPr>
          <p:nvPr>
            <p:ph idx="1"/>
          </p:nvPr>
        </p:nvSpPr>
        <p:spPr>
          <a:xfrm>
            <a:off x="0" y="692696"/>
            <a:ext cx="9144000" cy="5760640"/>
          </a:xfrm>
        </p:spPr>
        <p:txBody>
          <a:bodyPr>
            <a:normAutofit fontScale="92500"/>
          </a:bodyPr>
          <a:lstStyle/>
          <a:p>
            <a:r>
              <a:rPr lang="ru-RU" dirty="0" smtClean="0"/>
              <a:t> </a:t>
            </a:r>
            <a:r>
              <a:rPr lang="ru-RU" sz="2400" b="1" dirty="0" smtClean="0"/>
              <a:t>SCF - Избирательная переадресация вызовов при занятости/отсутствии ответа.</a:t>
            </a:r>
          </a:p>
          <a:p>
            <a:pPr>
              <a:buNone/>
            </a:pPr>
            <a:r>
              <a:rPr lang="ru-RU" sz="2400" b="1" dirty="0" smtClean="0"/>
              <a:t>     </a:t>
            </a:r>
            <a:r>
              <a:rPr lang="ru-RU" sz="2400" dirty="0" smtClean="0"/>
              <a:t>Дает вызываемому абоненту возможность переадресовывать на другой номер часть вызовов, поступивших к нему, когда он занят или не отвечает в течение Y секунд или X посылок вызова.</a:t>
            </a:r>
          </a:p>
          <a:p>
            <a:r>
              <a:rPr lang="ru-RU" sz="2400" b="1" dirty="0" smtClean="0"/>
              <a:t>SPL - Перераспределение оплаты (</a:t>
            </a:r>
            <a:r>
              <a:rPr lang="ru-RU" sz="2400" b="1" dirty="0" err="1" smtClean="0"/>
              <a:t>Split</a:t>
            </a:r>
            <a:r>
              <a:rPr lang="ru-RU" sz="2400" b="1" dirty="0" smtClean="0"/>
              <a:t> </a:t>
            </a:r>
            <a:r>
              <a:rPr lang="ru-RU" sz="2400" b="1" dirty="0" err="1" smtClean="0"/>
              <a:t>charging</a:t>
            </a:r>
            <a:r>
              <a:rPr lang="ru-RU" sz="2400" dirty="0" smtClean="0"/>
              <a:t>).</a:t>
            </a:r>
          </a:p>
          <a:p>
            <a:pPr>
              <a:buNone/>
            </a:pPr>
            <a:r>
              <a:rPr lang="ru-RU" sz="2400" dirty="0" smtClean="0"/>
              <a:t>    Позволяет распределять оплату за разговор между абонентами.</a:t>
            </a:r>
          </a:p>
          <a:p>
            <a:r>
              <a:rPr lang="ru-RU" sz="2400" b="1" dirty="0" smtClean="0"/>
              <a:t>TCS - Просеивание входящих вызовов.</a:t>
            </a:r>
          </a:p>
          <a:p>
            <a:pPr>
              <a:buNone/>
            </a:pPr>
            <a:r>
              <a:rPr lang="ru-RU" sz="2400" b="1" dirty="0" smtClean="0"/>
              <a:t>      </a:t>
            </a:r>
            <a:r>
              <a:rPr lang="ru-RU" sz="2400" dirty="0" smtClean="0"/>
              <a:t>Услуга запрещает входящие вызовы в соответствии со списком запретов и, как опция, в зависимости от времени суток</a:t>
            </a:r>
          </a:p>
          <a:p>
            <a:r>
              <a:rPr lang="ru-RU" sz="2400" dirty="0" smtClean="0"/>
              <a:t> </a:t>
            </a:r>
            <a:r>
              <a:rPr lang="ru-RU" sz="2400" b="1" dirty="0" smtClean="0"/>
              <a:t>UAN - Универсальные номер доступа (</a:t>
            </a:r>
            <a:r>
              <a:rPr lang="ru-RU" sz="2400" b="1" dirty="0" err="1" smtClean="0"/>
              <a:t>Universal</a:t>
            </a:r>
            <a:r>
              <a:rPr lang="ru-RU" sz="2400" b="1" dirty="0" smtClean="0"/>
              <a:t> </a:t>
            </a:r>
            <a:r>
              <a:rPr lang="ru-RU" sz="2400" b="1" dirty="0" err="1" smtClean="0"/>
              <a:t>Access</a:t>
            </a:r>
            <a:r>
              <a:rPr lang="ru-RU" sz="2400" b="1" dirty="0" smtClean="0"/>
              <a:t> </a:t>
            </a:r>
            <a:r>
              <a:rPr lang="ru-RU" sz="2400" b="1" dirty="0" err="1" smtClean="0"/>
              <a:t>Number</a:t>
            </a:r>
            <a:r>
              <a:rPr lang="ru-RU" sz="2400" b="1" dirty="0" smtClean="0"/>
              <a:t>). </a:t>
            </a:r>
          </a:p>
          <a:p>
            <a:pPr>
              <a:buNone/>
            </a:pPr>
            <a:r>
              <a:rPr lang="ru-RU" sz="2400" dirty="0" smtClean="0"/>
              <a:t>      Данная услуга дает возможность пользователю, имеющему несколько географически распределенных терминальных устройств, быть доступным другим пользователям по единому универсальному номеру в соответствии с определенной им маршрутизацией входящих вызовов</a:t>
            </a:r>
          </a:p>
          <a:p>
            <a:pPr>
              <a:buNone/>
            </a:pPr>
            <a:endParaRPr lang="ru-RU" sz="2400" dirty="0" smtClean="0"/>
          </a:p>
          <a:p>
            <a:pPr>
              <a:buNone/>
            </a:pPr>
            <a:endParaRPr lang="ru-RU" sz="2400" dirty="0" smtClean="0"/>
          </a:p>
          <a:p>
            <a:pPr>
              <a:buNone/>
            </a:pPr>
            <a:endParaRPr lang="ru-RU" sz="2400" dirty="0" smtClean="0"/>
          </a:p>
          <a:p>
            <a:endParaRPr lang="ru-RU"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9144000" cy="504056"/>
          </a:xfrm>
        </p:spPr>
        <p:txBody>
          <a:bodyPr>
            <a:noAutofit/>
          </a:bodyPr>
          <a:lstStyle/>
          <a:p>
            <a:r>
              <a:rPr lang="ru-RU" sz="3600" b="1" dirty="0" smtClean="0">
                <a:solidFill>
                  <a:srgbClr val="002060"/>
                </a:solidFill>
              </a:rPr>
              <a:t>Классификация интеллектуальных услуг</a:t>
            </a:r>
            <a:endParaRPr lang="ru-RU" sz="3600" dirty="0"/>
          </a:p>
        </p:txBody>
      </p:sp>
      <p:sp>
        <p:nvSpPr>
          <p:cNvPr id="3" name="Содержимое 2"/>
          <p:cNvSpPr>
            <a:spLocks noGrp="1"/>
          </p:cNvSpPr>
          <p:nvPr>
            <p:ph idx="1"/>
          </p:nvPr>
        </p:nvSpPr>
        <p:spPr>
          <a:xfrm>
            <a:off x="0" y="692696"/>
            <a:ext cx="9144000" cy="5832648"/>
          </a:xfrm>
        </p:spPr>
        <p:txBody>
          <a:bodyPr>
            <a:normAutofit/>
          </a:bodyPr>
          <a:lstStyle/>
          <a:p>
            <a:r>
              <a:rPr lang="ru-RU" sz="2400" b="1" dirty="0" smtClean="0"/>
              <a:t>UPT - Универсальная персональная связь </a:t>
            </a:r>
          </a:p>
          <a:p>
            <a:pPr>
              <a:buNone/>
            </a:pPr>
            <a:r>
              <a:rPr lang="ru-RU" sz="2400" b="1" dirty="0" smtClean="0"/>
              <a:t>     </a:t>
            </a:r>
            <a:r>
              <a:rPr lang="ru-RU" sz="2400" dirty="0" smtClean="0"/>
              <a:t>Позволяет абоненту пользоваться входящей и исходящей связью по единому номеру при его перемещении, вне зависимости от сетевой инфраструктуры и местоположения.</a:t>
            </a:r>
          </a:p>
          <a:p>
            <a:r>
              <a:rPr lang="ru-RU" sz="2400" dirty="0" smtClean="0"/>
              <a:t> </a:t>
            </a:r>
            <a:r>
              <a:rPr lang="ru-RU" sz="2400" b="1" dirty="0" smtClean="0"/>
              <a:t>VOT - Телефонное голосование (</a:t>
            </a:r>
            <a:r>
              <a:rPr lang="ru-RU" sz="2400" b="1" dirty="0" err="1" smtClean="0"/>
              <a:t>Televoting</a:t>
            </a:r>
            <a:r>
              <a:rPr lang="ru-RU" sz="2400" b="1" dirty="0" smtClean="0"/>
              <a:t>).</a:t>
            </a:r>
          </a:p>
          <a:p>
            <a:pPr>
              <a:buNone/>
            </a:pPr>
            <a:r>
              <a:rPr lang="ru-RU" sz="2400" dirty="0" smtClean="0"/>
              <a:t>     Дает возможность посылать вызов на конкретный номер с последующим речевым сообщением или дополнительным набором определенного кода.</a:t>
            </a:r>
          </a:p>
          <a:p>
            <a:r>
              <a:rPr lang="ru-RU" sz="2400" dirty="0" smtClean="0"/>
              <a:t> </a:t>
            </a:r>
            <a:r>
              <a:rPr lang="ru-RU" sz="2400" b="1" dirty="0" smtClean="0"/>
              <a:t>VPN -Виртуальная частная сеть (</a:t>
            </a:r>
            <a:r>
              <a:rPr lang="ru-RU" sz="2400" b="1" dirty="0" err="1" smtClean="0"/>
              <a:t>Virtual</a:t>
            </a:r>
            <a:r>
              <a:rPr lang="ru-RU" sz="2400" b="1" dirty="0" smtClean="0"/>
              <a:t> </a:t>
            </a:r>
            <a:r>
              <a:rPr lang="ru-RU" sz="2400" b="1" dirty="0" err="1" smtClean="0"/>
              <a:t>Private</a:t>
            </a:r>
            <a:r>
              <a:rPr lang="ru-RU" sz="2400" b="1" dirty="0" smtClean="0"/>
              <a:t> </a:t>
            </a:r>
            <a:r>
              <a:rPr lang="ru-RU" sz="2400" b="1" dirty="0" err="1" smtClean="0"/>
              <a:t>Network</a:t>
            </a:r>
            <a:r>
              <a:rPr lang="ru-RU" sz="2400" b="1" dirty="0" smtClean="0"/>
              <a:t>). </a:t>
            </a:r>
          </a:p>
          <a:p>
            <a:pPr>
              <a:buNone/>
            </a:pPr>
            <a:r>
              <a:rPr lang="ru-RU" sz="2400" b="1" dirty="0" smtClean="0"/>
              <a:t> </a:t>
            </a:r>
            <a:r>
              <a:rPr lang="ru-RU" sz="2400" dirty="0" smtClean="0"/>
              <a:t>Часть имеющихся линий связи и коммутаторов объединяются в частную сеть, функционирование которых определяется пользователем, в том числе номера для пользователей этой сети, их права и приоритеты, маршрутизация вызовов и т.д.</a:t>
            </a:r>
          </a:p>
          <a:p>
            <a:pPr>
              <a:buNone/>
            </a:pPr>
            <a:endParaRPr lang="ru-RU" sz="2400" dirty="0" smtClean="0"/>
          </a:p>
          <a:p>
            <a:endParaRPr lang="ru-RU"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fontScale="90000"/>
          </a:bodyPr>
          <a:lstStyle/>
          <a:p>
            <a:r>
              <a:rPr lang="ru-RU" b="1" dirty="0" smtClean="0"/>
              <a:t/>
            </a:r>
            <a:br>
              <a:rPr lang="ru-RU" b="1" dirty="0" smtClean="0"/>
            </a:br>
            <a:r>
              <a:rPr lang="ru-RU" sz="4000" b="1" dirty="0" smtClean="0">
                <a:solidFill>
                  <a:srgbClr val="002060"/>
                </a:solidFill>
              </a:rPr>
              <a:t>Особенности и преимущества VPN(1/3)</a:t>
            </a:r>
            <a:br>
              <a:rPr lang="ru-RU" sz="4000" b="1" dirty="0" smtClean="0">
                <a:solidFill>
                  <a:srgbClr val="002060"/>
                </a:solidFill>
              </a:rPr>
            </a:br>
            <a:endParaRPr lang="ru-RU" sz="4000" dirty="0">
              <a:solidFill>
                <a:srgbClr val="002060"/>
              </a:solidFill>
            </a:endParaRPr>
          </a:p>
        </p:txBody>
      </p:sp>
      <p:sp>
        <p:nvSpPr>
          <p:cNvPr id="3" name="Содержимое 2"/>
          <p:cNvSpPr>
            <a:spLocks noGrp="1"/>
          </p:cNvSpPr>
          <p:nvPr>
            <p:ph idx="1"/>
          </p:nvPr>
        </p:nvSpPr>
        <p:spPr>
          <a:xfrm>
            <a:off x="0" y="764704"/>
            <a:ext cx="9144000" cy="5760640"/>
          </a:xfrm>
        </p:spPr>
        <p:txBody>
          <a:bodyPr>
            <a:normAutofit/>
          </a:bodyPr>
          <a:lstStyle/>
          <a:p>
            <a:r>
              <a:rPr lang="ru-RU" sz="2000" dirty="0" smtClean="0"/>
              <a:t>В основе концепции частных виртуальных сетей (</a:t>
            </a:r>
            <a:r>
              <a:rPr lang="ru-RU" sz="2000" dirty="0" err="1" smtClean="0"/>
              <a:t>Virtual</a:t>
            </a:r>
            <a:r>
              <a:rPr lang="ru-RU" sz="2000" dirty="0" smtClean="0"/>
              <a:t> </a:t>
            </a:r>
            <a:r>
              <a:rPr lang="ru-RU" sz="2000" dirty="0" err="1" smtClean="0"/>
              <a:t>Private</a:t>
            </a:r>
            <a:r>
              <a:rPr lang="ru-RU" sz="2000" dirty="0" smtClean="0"/>
              <a:t> </a:t>
            </a:r>
            <a:r>
              <a:rPr lang="ru-RU" sz="2000" dirty="0" err="1" smtClean="0"/>
              <a:t>Network</a:t>
            </a:r>
            <a:r>
              <a:rPr lang="ru-RU" sz="2000" dirty="0" smtClean="0"/>
              <a:t>, VPN) и сетей </a:t>
            </a:r>
            <a:r>
              <a:rPr lang="ru-RU" sz="2000" dirty="0" err="1" smtClean="0"/>
              <a:t>Extranet</a:t>
            </a:r>
            <a:r>
              <a:rPr lang="ru-RU" sz="2000" dirty="0" smtClean="0"/>
              <a:t> лежать применение </a:t>
            </a:r>
            <a:r>
              <a:rPr lang="ru-RU" sz="2000" dirty="0" err="1" smtClean="0"/>
              <a:t>Internet</a:t>
            </a:r>
            <a:r>
              <a:rPr lang="ru-RU" sz="2000" dirty="0" smtClean="0"/>
              <a:t>.</a:t>
            </a:r>
          </a:p>
          <a:p>
            <a:r>
              <a:rPr lang="ru-RU" sz="2000" dirty="0" err="1" smtClean="0"/>
              <a:t>Internet</a:t>
            </a:r>
            <a:r>
              <a:rPr lang="ru-RU" sz="2000" dirty="0" smtClean="0"/>
              <a:t> можно использовать при взаимодействии локальных сетей предприятий, но проблемы защиты, доступности и надежности такой сети заставляют многие организации отказаться от этой идеи.</a:t>
            </a:r>
          </a:p>
          <a:p>
            <a:pPr marL="0" indent="0"/>
            <a:r>
              <a:rPr lang="ru-RU" sz="2000" dirty="0" smtClean="0"/>
              <a:t>  Обычная частная сеть - это такая сеть, где каждый из удаленных  </a:t>
            </a:r>
          </a:p>
          <a:p>
            <a:pPr marL="268288" indent="-268288">
              <a:buNone/>
            </a:pPr>
            <a:r>
              <a:rPr lang="ru-RU" sz="2000" dirty="0" smtClean="0"/>
              <a:t>    пунктов связан с другими с помощью  выделенных или арендуемых линий. </a:t>
            </a:r>
          </a:p>
          <a:p>
            <a:r>
              <a:rPr lang="ru-RU" sz="2000" dirty="0" smtClean="0"/>
              <a:t>На рисунке показана простая сеть подобного типа, состоящая из сети одного центрального офиса и сетей двух дочерних офисов. Основные затраты на содержание частной сети - это ежемесячная плата за арендуемые или выделенные линии.</a:t>
            </a:r>
          </a:p>
          <a:p>
            <a:endParaRPr lang="ru-RU" sz="2600" dirty="0" smtClean="0"/>
          </a:p>
          <a:p>
            <a:endParaRPr lang="ru-RU" dirty="0"/>
          </a:p>
        </p:txBody>
      </p:sp>
      <p:pic>
        <p:nvPicPr>
          <p:cNvPr id="5" name="Содержимое 3" descr="https://siblec.ru/img/62/img/p10_8.gif"/>
          <p:cNvPicPr>
            <a:picLocks/>
          </p:cNvPicPr>
          <p:nvPr/>
        </p:nvPicPr>
        <p:blipFill>
          <a:blip r:embed="rId2" cstate="print"/>
          <a:srcRect/>
          <a:stretch>
            <a:fillRect/>
          </a:stretch>
        </p:blipFill>
        <p:spPr bwMode="auto">
          <a:xfrm>
            <a:off x="323528" y="4437112"/>
            <a:ext cx="8424936" cy="242088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0"/>
            <a:ext cx="8964488" cy="908720"/>
          </a:xfrm>
        </p:spPr>
        <p:txBody>
          <a:bodyPr>
            <a:normAutofit/>
          </a:bodyPr>
          <a:lstStyle/>
          <a:p>
            <a:r>
              <a:rPr lang="ru-RU" sz="3600" b="1" dirty="0" smtClean="0">
                <a:solidFill>
                  <a:srgbClr val="002060"/>
                </a:solidFill>
              </a:rPr>
              <a:t>Особенности и преимущества VPN(2/3)</a:t>
            </a:r>
            <a:endParaRPr lang="ru-RU" sz="3600" dirty="0"/>
          </a:p>
        </p:txBody>
      </p:sp>
      <p:sp>
        <p:nvSpPr>
          <p:cNvPr id="3" name="Содержимое 2"/>
          <p:cNvSpPr>
            <a:spLocks noGrp="1"/>
          </p:cNvSpPr>
          <p:nvPr>
            <p:ph idx="1"/>
          </p:nvPr>
        </p:nvSpPr>
        <p:spPr>
          <a:xfrm>
            <a:off x="179512" y="764704"/>
            <a:ext cx="8964488" cy="6093296"/>
          </a:xfrm>
        </p:spPr>
        <p:txBody>
          <a:bodyPr>
            <a:normAutofit fontScale="92500" lnSpcReduction="10000"/>
          </a:bodyPr>
          <a:lstStyle/>
          <a:p>
            <a:r>
              <a:rPr lang="ru-RU" sz="2000" dirty="0" smtClean="0"/>
              <a:t>Если в подобной сети вместо арендуемых линий использовать обмен через </a:t>
            </a:r>
            <a:r>
              <a:rPr lang="ru-RU" sz="2000" dirty="0" err="1" smtClean="0"/>
              <a:t>Internet</a:t>
            </a:r>
            <a:r>
              <a:rPr lang="ru-RU" sz="2000" dirty="0" smtClean="0"/>
              <a:t>, то мы получим сетевую топологию, аналогичную представленной на рисунке .</a:t>
            </a:r>
          </a:p>
          <a:p>
            <a:endParaRPr lang="ru-RU" sz="2000" dirty="0" smtClean="0"/>
          </a:p>
          <a:p>
            <a:endParaRPr lang="ru-RU" sz="2000" dirty="0" smtClean="0"/>
          </a:p>
          <a:p>
            <a:endParaRPr lang="ru-RU" sz="2000" dirty="0" smtClean="0"/>
          </a:p>
          <a:p>
            <a:endParaRPr lang="ru-RU" sz="2000" dirty="0" smtClean="0"/>
          </a:p>
          <a:p>
            <a:endParaRPr lang="ru-RU" sz="2000" dirty="0" smtClean="0"/>
          </a:p>
          <a:p>
            <a:endParaRPr lang="ru-RU" sz="2000" dirty="0" smtClean="0"/>
          </a:p>
          <a:p>
            <a:endParaRPr lang="ru-RU" sz="2000" dirty="0" smtClean="0"/>
          </a:p>
          <a:p>
            <a:r>
              <a:rPr lang="ru-RU" sz="2000" dirty="0" smtClean="0"/>
              <a:t>Здесь каждый удаленный пункт имеет собственный доступ к </a:t>
            </a:r>
            <a:r>
              <a:rPr lang="ru-RU" sz="2000" dirty="0" err="1" smtClean="0"/>
              <a:t>Internet</a:t>
            </a:r>
            <a:r>
              <a:rPr lang="ru-RU" sz="2000" dirty="0" smtClean="0"/>
              <a:t>, обычно предоставляемый местным провайдером.</a:t>
            </a:r>
          </a:p>
          <a:p>
            <a:r>
              <a:rPr lang="ru-RU" sz="2000" b="1" dirty="0" smtClean="0"/>
              <a:t>Брандмауэр (</a:t>
            </a:r>
            <a:r>
              <a:rPr lang="ru-RU" sz="2000" b="1" dirty="0" err="1" smtClean="0"/>
              <a:t>Firewall</a:t>
            </a:r>
            <a:r>
              <a:rPr lang="ru-RU" sz="2000" b="1" dirty="0" smtClean="0"/>
              <a:t>, FW</a:t>
            </a:r>
            <a:r>
              <a:rPr lang="ru-RU" sz="2000" i="1" dirty="0" smtClean="0"/>
              <a:t>)</a:t>
            </a:r>
            <a:r>
              <a:rPr lang="ru-RU" sz="2000" dirty="0" smtClean="0"/>
              <a:t> – это программно-аппаратный комплекс, создающий защитный барьер (межсетевой экран) между сетями.</a:t>
            </a:r>
          </a:p>
          <a:p>
            <a:pPr>
              <a:buNone/>
            </a:pPr>
            <a:r>
              <a:rPr lang="ru-RU" sz="2000" dirty="0" smtClean="0"/>
              <a:t>        Он предназначен для предотвращения несанкционированного доступа к защищаемой сети извне и для контроля потоков входящих и исходящих данных. Брандмауэр устанавливается </a:t>
            </a:r>
            <a:r>
              <a:rPr lang="ru-RU" sz="2200" dirty="0" smtClean="0"/>
              <a:t>на границе защищаемой сети, но его присутствие не должно быть заметно для сетевых узлов.</a:t>
            </a:r>
          </a:p>
          <a:p>
            <a:r>
              <a:rPr lang="ru-RU" sz="2200" dirty="0" smtClean="0"/>
              <a:t>Сеть каждого дочернего отделения имеет собственное соединение с </a:t>
            </a:r>
            <a:r>
              <a:rPr lang="ru-RU" sz="2200" dirty="0" err="1" smtClean="0"/>
              <a:t>Internet</a:t>
            </a:r>
            <a:r>
              <a:rPr lang="ru-RU" sz="2200" dirty="0" smtClean="0"/>
              <a:t> (через шлюз местного провайдера).</a:t>
            </a:r>
          </a:p>
          <a:p>
            <a:endParaRPr lang="ru-RU" dirty="0"/>
          </a:p>
        </p:txBody>
      </p:sp>
      <p:pic>
        <p:nvPicPr>
          <p:cNvPr id="4" name="Содержимое 3" descr="https://siblec.ru/img/62/img/p10_9.gif"/>
          <p:cNvPicPr>
            <a:picLocks/>
          </p:cNvPicPr>
          <p:nvPr/>
        </p:nvPicPr>
        <p:blipFill>
          <a:blip r:embed="rId2" cstate="print"/>
          <a:srcRect/>
          <a:stretch>
            <a:fillRect/>
          </a:stretch>
        </p:blipFill>
        <p:spPr bwMode="auto">
          <a:xfrm>
            <a:off x="899592" y="1700808"/>
            <a:ext cx="6912768" cy="2016224"/>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600" b="1" dirty="0" smtClean="0">
                <a:solidFill>
                  <a:srgbClr val="002060"/>
                </a:solidFill>
              </a:rPr>
              <a:t>Особенности и преимущества VPN  (3/3)</a:t>
            </a:r>
            <a:endParaRPr lang="ru-RU" sz="3600" dirty="0"/>
          </a:p>
        </p:txBody>
      </p:sp>
      <p:sp>
        <p:nvSpPr>
          <p:cNvPr id="3" name="Содержимое 2"/>
          <p:cNvSpPr>
            <a:spLocks noGrp="1"/>
          </p:cNvSpPr>
          <p:nvPr>
            <p:ph idx="1"/>
          </p:nvPr>
        </p:nvSpPr>
        <p:spPr>
          <a:xfrm>
            <a:off x="179512" y="764704"/>
            <a:ext cx="8964488" cy="6093296"/>
          </a:xfrm>
        </p:spPr>
        <p:txBody>
          <a:bodyPr>
            <a:normAutofit fontScale="25000" lnSpcReduction="20000"/>
          </a:bodyPr>
          <a:lstStyle/>
          <a:p>
            <a:r>
              <a:rPr lang="ru-RU" sz="7200" dirty="0" smtClean="0"/>
              <a:t>Подобная схема предохраняет каждый удаленный офис от несанкционированного доступа извне, но никак</a:t>
            </a:r>
            <a:r>
              <a:rPr lang="ru-RU" sz="7200" b="1" dirty="0" smtClean="0"/>
              <a:t> </a:t>
            </a:r>
            <a:r>
              <a:rPr lang="ru-RU" sz="7200" b="1" i="1" dirty="0" smtClean="0"/>
              <a:t>не защищает информационные потоки</a:t>
            </a:r>
            <a:r>
              <a:rPr lang="ru-RU" sz="7200" b="1" dirty="0" smtClean="0"/>
              <a:t>, передаваемые между этими пунктами. </a:t>
            </a:r>
          </a:p>
          <a:p>
            <a:r>
              <a:rPr lang="ru-RU" sz="7200" b="1" dirty="0" smtClean="0"/>
              <a:t>Потоки информации проходят через </a:t>
            </a:r>
            <a:r>
              <a:rPr lang="ru-RU" sz="7200" b="1" dirty="0" err="1" smtClean="0"/>
              <a:t>Internet</a:t>
            </a:r>
            <a:r>
              <a:rPr lang="ru-RU" sz="7200" b="1" dirty="0" smtClean="0"/>
              <a:t> без шифрования.</a:t>
            </a:r>
          </a:p>
          <a:p>
            <a:r>
              <a:rPr lang="ru-RU" sz="7200" dirty="0" smtClean="0"/>
              <a:t> Кроме проблем защиты, немаловажное значение для пользователей VPN имеет также </a:t>
            </a:r>
            <a:r>
              <a:rPr lang="ru-RU" sz="7200" i="1" dirty="0" smtClean="0"/>
              <a:t>надежность соединения с </a:t>
            </a:r>
            <a:r>
              <a:rPr lang="ru-RU" sz="7200" i="1" dirty="0" err="1" smtClean="0"/>
              <a:t>Internet</a:t>
            </a:r>
            <a:r>
              <a:rPr lang="ru-RU" sz="7200" dirty="0" smtClean="0"/>
              <a:t> каждого удаленного офиса и </a:t>
            </a:r>
            <a:r>
              <a:rPr lang="ru-RU" sz="7200" i="1" dirty="0" smtClean="0"/>
              <a:t>скорость передачи данных</a:t>
            </a:r>
            <a:r>
              <a:rPr lang="ru-RU" sz="7200" dirty="0" smtClean="0"/>
              <a:t>.</a:t>
            </a:r>
          </a:p>
          <a:p>
            <a:r>
              <a:rPr lang="ru-RU" sz="7200" dirty="0" smtClean="0"/>
              <a:t>Многие проблемы защиты информационных потоков опираются на брандмауэры с дополнительными функциями поддержки VPN, расширения которых для </a:t>
            </a:r>
            <a:r>
              <a:rPr lang="ru-RU" sz="7200" b="1" dirty="0" smtClean="0"/>
              <a:t>виртуальных частных сетей позволяют установить через </a:t>
            </a:r>
            <a:r>
              <a:rPr lang="ru-RU" sz="7200" b="1" dirty="0" err="1" smtClean="0"/>
              <a:t>Internet</a:t>
            </a:r>
            <a:r>
              <a:rPr lang="ru-RU" sz="7200" b="1" dirty="0" smtClean="0"/>
              <a:t> шифрованное соединение с другим брандмауэром. </a:t>
            </a:r>
          </a:p>
          <a:p>
            <a:r>
              <a:rPr lang="ru-RU" sz="7200" u="sng" dirty="0" smtClean="0">
                <a:effectLst>
                  <a:outerShdw blurRad="38100" dist="38100" dir="2700000" algn="tl">
                    <a:srgbClr val="000000">
                      <a:alpha val="43137"/>
                    </a:srgbClr>
                  </a:outerShdw>
                </a:effectLst>
              </a:rPr>
              <a:t>Шифрование</a:t>
            </a:r>
            <a:r>
              <a:rPr lang="ru-RU" sz="7200" u="sng" dirty="0" smtClean="0"/>
              <a:t> </a:t>
            </a:r>
            <a:r>
              <a:rPr lang="ru-RU" sz="7200" dirty="0" smtClean="0"/>
              <a:t>обеспечивает гарантию того, что даже если некто, вооружившись анализатором протоколов, перехватит сообщение из магистральной сети, то он не сможет прочитать данные.</a:t>
            </a:r>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endParaRPr lang="ru-RU" dirty="0" smtClean="0"/>
          </a:p>
          <a:p>
            <a:r>
              <a:rPr lang="ru-RU" sz="7200" dirty="0" smtClean="0"/>
              <a:t>Как показано на рисунке, брандмауэры с поддержкой VPN создают логические каналы - "</a:t>
            </a:r>
            <a:r>
              <a:rPr lang="ru-RU" sz="7200" i="1" dirty="0" smtClean="0"/>
              <a:t>коридоры</a:t>
            </a:r>
            <a:r>
              <a:rPr lang="ru-RU" sz="7200" dirty="0" smtClean="0"/>
              <a:t>" в </a:t>
            </a:r>
            <a:r>
              <a:rPr lang="ru-RU" sz="7200" dirty="0" err="1" smtClean="0"/>
              <a:t>Internet</a:t>
            </a:r>
            <a:r>
              <a:rPr lang="ru-RU" sz="7200" dirty="0" smtClean="0"/>
              <a:t>. Коридоры не позволяют никому извне "проникнуть внутрь".</a:t>
            </a:r>
          </a:p>
          <a:p>
            <a:r>
              <a:rPr lang="ru-RU" dirty="0" smtClean="0"/>
              <a:t/>
            </a:r>
            <a:br>
              <a:rPr lang="ru-RU" dirty="0" smtClean="0"/>
            </a:br>
            <a:endParaRPr lang="ru-RU" dirty="0"/>
          </a:p>
        </p:txBody>
      </p:sp>
      <p:pic>
        <p:nvPicPr>
          <p:cNvPr id="4" name="Содержимое 3" descr="https://siblec.ru/img/62/img/p10_10.gif"/>
          <p:cNvPicPr>
            <a:picLocks/>
          </p:cNvPicPr>
          <p:nvPr/>
        </p:nvPicPr>
        <p:blipFill>
          <a:blip r:embed="rId2" cstate="print"/>
          <a:srcRect/>
          <a:stretch>
            <a:fillRect/>
          </a:stretch>
        </p:blipFill>
        <p:spPr bwMode="auto">
          <a:xfrm>
            <a:off x="827584" y="4221088"/>
            <a:ext cx="7056784" cy="1728192"/>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i="1" dirty="0" smtClean="0"/>
              <a:t>Виды кодов в ИС:</a:t>
            </a:r>
            <a:endParaRPr lang="ru-RU" dirty="0" smtClean="0"/>
          </a:p>
        </p:txBody>
      </p:sp>
      <p:sp>
        <p:nvSpPr>
          <p:cNvPr id="3" name="Содержимое 2"/>
          <p:cNvSpPr>
            <a:spLocks noGrp="1"/>
          </p:cNvSpPr>
          <p:nvPr>
            <p:ph idx="1"/>
          </p:nvPr>
        </p:nvSpPr>
        <p:spPr/>
        <p:txBody>
          <a:bodyPr>
            <a:normAutofit/>
          </a:bodyPr>
          <a:lstStyle/>
          <a:p>
            <a:r>
              <a:rPr lang="ru-RU" dirty="0" smtClean="0"/>
              <a:t>800 – оплата самого звонка осуществляется тем, кому совершается звонок.</a:t>
            </a:r>
          </a:p>
          <a:p>
            <a:r>
              <a:rPr lang="ru-RU" dirty="0" smtClean="0"/>
              <a:t>803 – код телеголосования.</a:t>
            </a:r>
          </a:p>
          <a:p>
            <a:r>
              <a:rPr lang="ru-RU" dirty="0" smtClean="0"/>
              <a:t>804 – универсальный номер доступа.</a:t>
            </a:r>
          </a:p>
          <a:p>
            <a:r>
              <a:rPr lang="ru-RU" dirty="0" smtClean="0"/>
              <a:t>805 – звонки, осуществляемые по предоплате.</a:t>
            </a:r>
          </a:p>
          <a:p>
            <a:r>
              <a:rPr lang="ru-RU" dirty="0" smtClean="0"/>
              <a:t>809 – оплату вызова осуществляет тот, кто звонит.</a:t>
            </a:r>
          </a:p>
          <a:p>
            <a:endParaRPr lang="ru-RU"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201613"/>
            <a:ext cx="9143999" cy="1066800"/>
          </a:xfrm>
        </p:spPr>
        <p:txBody>
          <a:bodyPr/>
          <a:lstStyle/>
          <a:p>
            <a:pPr eaLnBrk="1" hangingPunct="1"/>
            <a:r>
              <a:rPr lang="ru-RU" sz="3200" b="1" dirty="0">
                <a:solidFill>
                  <a:srgbClr val="002060"/>
                </a:solidFill>
              </a:rPr>
              <a:t>Последовательность развития </a:t>
            </a:r>
            <a:br>
              <a:rPr lang="ru-RU" sz="3200" b="1" dirty="0">
                <a:solidFill>
                  <a:srgbClr val="002060"/>
                </a:solidFill>
              </a:rPr>
            </a:br>
            <a:r>
              <a:rPr lang="ru-RU" sz="3200" b="1" dirty="0">
                <a:solidFill>
                  <a:srgbClr val="002060"/>
                </a:solidFill>
              </a:rPr>
              <a:t>центров обработки вызовов</a:t>
            </a:r>
            <a:endParaRPr lang="ru-RU" sz="2800" b="1" dirty="0">
              <a:solidFill>
                <a:srgbClr val="002060"/>
              </a:solidFill>
            </a:endParaRPr>
          </a:p>
        </p:txBody>
      </p:sp>
      <p:grpSp>
        <p:nvGrpSpPr>
          <p:cNvPr id="2" name="Group 3"/>
          <p:cNvGrpSpPr>
            <a:grpSpLocks/>
          </p:cNvGrpSpPr>
          <p:nvPr/>
        </p:nvGrpSpPr>
        <p:grpSpPr bwMode="auto">
          <a:xfrm>
            <a:off x="827088" y="1557338"/>
            <a:ext cx="7848600" cy="4524375"/>
            <a:chOff x="720" y="1440"/>
            <a:chExt cx="4944" cy="2850"/>
          </a:xfrm>
        </p:grpSpPr>
        <p:sp>
          <p:nvSpPr>
            <p:cNvPr id="30724" name="Text Box 4"/>
            <p:cNvSpPr txBox="1">
              <a:spLocks noChangeArrowheads="1"/>
            </p:cNvSpPr>
            <p:nvPr/>
          </p:nvSpPr>
          <p:spPr bwMode="auto">
            <a:xfrm>
              <a:off x="960" y="3312"/>
              <a:ext cx="1968" cy="978"/>
            </a:xfrm>
            <a:prstGeom prst="rect">
              <a:avLst/>
            </a:prstGeom>
            <a:noFill/>
            <a:ln w="9525">
              <a:noFill/>
              <a:miter lim="800000"/>
              <a:headEnd/>
              <a:tailEnd/>
            </a:ln>
          </p:spPr>
          <p:txBody>
            <a:bodyPr>
              <a:spAutoFit/>
            </a:bodyPr>
            <a:lstStyle/>
            <a:p>
              <a:pPr>
                <a:spcBef>
                  <a:spcPct val="50000"/>
                </a:spcBef>
              </a:pPr>
              <a:r>
                <a:rPr lang="ru-RU" sz="2400">
                  <a:latin typeface="Verdana" pitchFamily="34" charset="0"/>
                  <a:cs typeface="Arial" pitchFamily="34" charset="0"/>
                </a:rPr>
                <a:t>Ступени распределения вызовов (до 80-х годов ХХ в.)</a:t>
              </a:r>
            </a:p>
          </p:txBody>
        </p:sp>
        <p:sp>
          <p:nvSpPr>
            <p:cNvPr id="30725" name="Text Box 5"/>
            <p:cNvSpPr txBox="1">
              <a:spLocks noChangeArrowheads="1"/>
            </p:cNvSpPr>
            <p:nvPr/>
          </p:nvSpPr>
          <p:spPr bwMode="auto">
            <a:xfrm>
              <a:off x="2544" y="2496"/>
              <a:ext cx="2064" cy="633"/>
            </a:xfrm>
            <a:prstGeom prst="rect">
              <a:avLst/>
            </a:prstGeom>
            <a:noFill/>
            <a:ln w="9525">
              <a:noFill/>
              <a:miter lim="800000"/>
              <a:headEnd/>
              <a:tailEnd/>
            </a:ln>
          </p:spPr>
          <p:txBody>
            <a:bodyPr>
              <a:spAutoFit/>
            </a:bodyPr>
            <a:lstStyle/>
            <a:p>
              <a:pPr>
                <a:spcBef>
                  <a:spcPct val="50000"/>
                </a:spcBef>
              </a:pPr>
              <a:r>
                <a:rPr lang="en-US" sz="2400">
                  <a:latin typeface="Verdana" pitchFamily="34" charset="0"/>
                  <a:cs typeface="Arial" pitchFamily="34" charset="0"/>
                </a:rPr>
                <a:t>Call-</a:t>
              </a:r>
              <a:r>
                <a:rPr lang="ru-RU" sz="2400">
                  <a:latin typeface="Verdana" pitchFamily="34" charset="0"/>
                  <a:cs typeface="Arial" pitchFamily="34" charset="0"/>
                </a:rPr>
                <a:t>центры </a:t>
              </a:r>
            </a:p>
            <a:p>
              <a:pPr>
                <a:spcBef>
                  <a:spcPct val="50000"/>
                </a:spcBef>
              </a:pPr>
              <a:r>
                <a:rPr lang="ru-RU" sz="2400">
                  <a:latin typeface="Verdana" pitchFamily="34" charset="0"/>
                  <a:cs typeface="Arial" pitchFamily="34" charset="0"/>
                </a:rPr>
                <a:t>(1980-2000)</a:t>
              </a:r>
            </a:p>
          </p:txBody>
        </p:sp>
        <p:sp>
          <p:nvSpPr>
            <p:cNvPr id="30726" name="Text Box 6"/>
            <p:cNvSpPr txBox="1">
              <a:spLocks noChangeArrowheads="1"/>
            </p:cNvSpPr>
            <p:nvPr/>
          </p:nvSpPr>
          <p:spPr bwMode="auto">
            <a:xfrm>
              <a:off x="3936" y="1488"/>
              <a:ext cx="1728" cy="633"/>
            </a:xfrm>
            <a:prstGeom prst="rect">
              <a:avLst/>
            </a:prstGeom>
            <a:noFill/>
            <a:ln w="9525">
              <a:noFill/>
              <a:miter lim="800000"/>
              <a:headEnd/>
              <a:tailEnd/>
            </a:ln>
          </p:spPr>
          <p:txBody>
            <a:bodyPr>
              <a:spAutoFit/>
            </a:bodyPr>
            <a:lstStyle/>
            <a:p>
              <a:pPr>
                <a:spcBef>
                  <a:spcPct val="50000"/>
                </a:spcBef>
              </a:pPr>
              <a:r>
                <a:rPr lang="ru-RU" sz="2400">
                  <a:latin typeface="Verdana" pitchFamily="34" charset="0"/>
                  <a:cs typeface="Arial" pitchFamily="34" charset="0"/>
                </a:rPr>
                <a:t>Контакт-центры</a:t>
              </a:r>
            </a:p>
            <a:p>
              <a:pPr algn="ctr">
                <a:spcBef>
                  <a:spcPct val="50000"/>
                </a:spcBef>
              </a:pPr>
              <a:r>
                <a:rPr lang="ru-RU" sz="2400">
                  <a:latin typeface="Verdana" pitchFamily="34" charset="0"/>
                  <a:cs typeface="Arial" pitchFamily="34" charset="0"/>
                </a:rPr>
                <a:t>(</a:t>
              </a:r>
              <a:r>
                <a:rPr lang="en-US" sz="2400">
                  <a:latin typeface="Verdana" pitchFamily="34" charset="0"/>
                  <a:cs typeface="Arial" pitchFamily="34" charset="0"/>
                </a:rPr>
                <a:t>XXI </a:t>
              </a:r>
              <a:r>
                <a:rPr lang="ru-RU" sz="2400">
                  <a:latin typeface="Verdana" pitchFamily="34" charset="0"/>
                  <a:cs typeface="Arial" pitchFamily="34" charset="0"/>
                </a:rPr>
                <a:t>век) </a:t>
              </a:r>
              <a:endParaRPr lang="ru-RU" sz="2400">
                <a:solidFill>
                  <a:schemeClr val="folHlink"/>
                </a:solidFill>
                <a:latin typeface="Verdana" pitchFamily="34" charset="0"/>
                <a:cs typeface="Arial" pitchFamily="34" charset="0"/>
              </a:endParaRPr>
            </a:p>
          </p:txBody>
        </p:sp>
        <p:grpSp>
          <p:nvGrpSpPr>
            <p:cNvPr id="3" name="Group 7"/>
            <p:cNvGrpSpPr>
              <a:grpSpLocks/>
            </p:cNvGrpSpPr>
            <p:nvPr/>
          </p:nvGrpSpPr>
          <p:grpSpPr bwMode="auto">
            <a:xfrm>
              <a:off x="720" y="1440"/>
              <a:ext cx="3408" cy="1488"/>
              <a:chOff x="720" y="1440"/>
              <a:chExt cx="3408" cy="1488"/>
            </a:xfrm>
          </p:grpSpPr>
          <p:sp>
            <p:nvSpPr>
              <p:cNvPr id="624648" name="AutoShape 8"/>
              <p:cNvSpPr>
                <a:spLocks noChangeArrowheads="1"/>
              </p:cNvSpPr>
              <p:nvPr/>
            </p:nvSpPr>
            <p:spPr bwMode="auto">
              <a:xfrm rot="3705090">
                <a:off x="2136" y="456"/>
                <a:ext cx="576" cy="3408"/>
              </a:xfrm>
              <a:prstGeom prst="upArrow">
                <a:avLst>
                  <a:gd name="adj1" fmla="val 52074"/>
                  <a:gd name="adj2" fmla="val 96173"/>
                </a:avLst>
              </a:prstGeom>
              <a:gradFill rotWithShape="0">
                <a:gsLst>
                  <a:gs pos="0">
                    <a:srgbClr val="008080"/>
                  </a:gs>
                  <a:gs pos="100000">
                    <a:srgbClr val="004E4E"/>
                  </a:gs>
                </a:gsLst>
                <a:lin ang="5400000" scaled="1"/>
              </a:gradFill>
              <a:ln w="9525" cap="rnd">
                <a:noFill/>
                <a:prstDash val="sysDot"/>
                <a:miter lim="800000"/>
                <a:headEnd/>
                <a:tailEnd/>
              </a:ln>
            </p:spPr>
            <p:txBody>
              <a:bodyPr rot="10800000" vert="eaVert" wrap="none" anchor="ctr"/>
              <a:lstStyle/>
              <a:p>
                <a:pPr>
                  <a:defRPr/>
                </a:pPr>
                <a:endParaRPr lang="ru-RU">
                  <a:effectLst>
                    <a:outerShdw blurRad="38100" dist="38100" dir="2700000" algn="tl">
                      <a:srgbClr val="000000">
                        <a:alpha val="43137"/>
                      </a:srgbClr>
                    </a:outerShdw>
                  </a:effectLst>
                </a:endParaRPr>
              </a:p>
            </p:txBody>
          </p:sp>
          <p:sp>
            <p:nvSpPr>
              <p:cNvPr id="624649" name="Oval 9"/>
              <p:cNvSpPr>
                <a:spLocks noChangeArrowheads="1"/>
              </p:cNvSpPr>
              <p:nvPr/>
            </p:nvSpPr>
            <p:spPr bwMode="auto">
              <a:xfrm>
                <a:off x="2304" y="2160"/>
                <a:ext cx="96" cy="96"/>
              </a:xfrm>
              <a:prstGeom prst="ellipse">
                <a:avLst/>
              </a:prstGeom>
              <a:solidFill>
                <a:schemeClr val="folHlink"/>
              </a:solid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624650" name="Oval 10"/>
              <p:cNvSpPr>
                <a:spLocks noChangeArrowheads="1"/>
              </p:cNvSpPr>
              <p:nvPr/>
            </p:nvSpPr>
            <p:spPr bwMode="auto">
              <a:xfrm>
                <a:off x="3648" y="1440"/>
                <a:ext cx="96" cy="96"/>
              </a:xfrm>
              <a:prstGeom prst="ellipse">
                <a:avLst/>
              </a:prstGeom>
              <a:solidFill>
                <a:schemeClr val="folHlink"/>
              </a:solid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sp>
            <p:nvSpPr>
              <p:cNvPr id="624651" name="Oval 11"/>
              <p:cNvSpPr>
                <a:spLocks noChangeArrowheads="1"/>
              </p:cNvSpPr>
              <p:nvPr/>
            </p:nvSpPr>
            <p:spPr bwMode="auto">
              <a:xfrm>
                <a:off x="1056" y="2832"/>
                <a:ext cx="96" cy="96"/>
              </a:xfrm>
              <a:prstGeom prst="ellipse">
                <a:avLst/>
              </a:prstGeom>
              <a:solidFill>
                <a:schemeClr val="folHlink"/>
              </a:solidFill>
              <a:ln w="9525">
                <a:noFill/>
                <a:miter lim="800000"/>
                <a:headEnd/>
                <a:tailEnd/>
              </a:ln>
              <a:effectLst/>
            </p:spPr>
            <p:txBody>
              <a:bodyPr wrap="none" anchor="ctr"/>
              <a:lstStyle/>
              <a:p>
                <a:pPr>
                  <a:defRPr/>
                </a:pPr>
                <a:endParaRPr lang="ru-RU">
                  <a:effectLst>
                    <a:outerShdw blurRad="38100" dist="38100" dir="2700000" algn="tl">
                      <a:srgbClr val="000000">
                        <a:alpha val="43137"/>
                      </a:srgbClr>
                    </a:outerShdw>
                  </a:effectLst>
                </a:endParaRPr>
              </a:p>
            </p:txBody>
          </p:sp>
        </p:grpSp>
      </p:grpSp>
    </p:spTree>
  </p:cSld>
  <p:clrMapOvr>
    <a:masterClrMapping/>
  </p:clrMapOvr>
  <p:transition spd="slow" advClick="0" advTm="15000"/>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3858" name="Rectangle 2"/>
          <p:cNvSpPr>
            <a:spLocks noChangeArrowheads="1"/>
          </p:cNvSpPr>
          <p:nvPr/>
        </p:nvSpPr>
        <p:spPr bwMode="auto">
          <a:xfrm>
            <a:off x="971550" y="260648"/>
            <a:ext cx="7273925" cy="720079"/>
          </a:xfrm>
          <a:prstGeom prst="rect">
            <a:avLst/>
          </a:prstGeom>
          <a:noFill/>
          <a:ln w="9525" algn="ctr">
            <a:noFill/>
            <a:miter lim="800000"/>
            <a:headEnd type="none" w="sm" len="sm"/>
            <a:tailEnd type="none" w="sm" len="sm"/>
          </a:ln>
          <a:effectLst/>
        </p:spPr>
        <p:txBody>
          <a:bodyPr anchor="b" anchorCtr="1"/>
          <a:lstStyle/>
          <a:p>
            <a:pPr algn="ctr">
              <a:defRPr/>
            </a:pPr>
            <a:r>
              <a:rPr lang="ru-RU" sz="2400" b="1" dirty="0">
                <a:solidFill>
                  <a:srgbClr val="002060"/>
                </a:solidFill>
                <a:latin typeface="Tahoma" charset="0"/>
              </a:rPr>
              <a:t>Система оповещения </a:t>
            </a:r>
          </a:p>
        </p:txBody>
      </p:sp>
      <p:sp>
        <p:nvSpPr>
          <p:cNvPr id="633859" name="Rectangle 3"/>
          <p:cNvSpPr>
            <a:spLocks noChangeArrowheads="1"/>
          </p:cNvSpPr>
          <p:nvPr/>
        </p:nvSpPr>
        <p:spPr bwMode="auto">
          <a:xfrm>
            <a:off x="34925" y="1231900"/>
            <a:ext cx="5943600" cy="396875"/>
          </a:xfrm>
          <a:prstGeom prst="rect">
            <a:avLst/>
          </a:prstGeom>
          <a:noFill/>
          <a:ln w="9525" algn="ctr">
            <a:noFill/>
            <a:miter lim="800000"/>
            <a:headEnd type="none" w="sm" len="sm"/>
            <a:tailEnd type="none" w="sm" len="sm"/>
          </a:ln>
          <a:effectLst/>
        </p:spPr>
        <p:txBody>
          <a:bodyPr anchor="b" anchorCtr="1"/>
          <a:lstStyle/>
          <a:p>
            <a:pPr>
              <a:defRPr/>
            </a:pPr>
            <a:r>
              <a:rPr lang="ru-RU" sz="2000" dirty="0">
                <a:effectLst>
                  <a:outerShdw blurRad="38100" dist="38100" dir="2700000" algn="tl">
                    <a:srgbClr val="000000"/>
                  </a:outerShdw>
                </a:effectLst>
                <a:latin typeface="Tahoma" charset="0"/>
              </a:rPr>
              <a:t>Назначение и возможности системы</a:t>
            </a:r>
          </a:p>
        </p:txBody>
      </p:sp>
      <p:sp>
        <p:nvSpPr>
          <p:cNvPr id="633860" name="Rectangle 4"/>
          <p:cNvSpPr>
            <a:spLocks noChangeArrowheads="1"/>
          </p:cNvSpPr>
          <p:nvPr/>
        </p:nvSpPr>
        <p:spPr bwMode="auto">
          <a:xfrm>
            <a:off x="457200" y="1981200"/>
            <a:ext cx="5483225" cy="3390900"/>
          </a:xfrm>
          <a:prstGeom prst="rect">
            <a:avLst/>
          </a:prstGeom>
          <a:noFill/>
          <a:ln w="12700" cap="sq">
            <a:noFill/>
            <a:miter lim="800000"/>
            <a:headEnd type="none" w="sm" len="sm"/>
            <a:tailEnd type="none" w="sm" len="sm"/>
          </a:ln>
        </p:spPr>
        <p:txBody>
          <a:bodyPr>
            <a:spAutoFit/>
          </a:bodyPr>
          <a:lstStyle/>
          <a:p>
            <a:pPr eaLnBrk="0" hangingPunct="0">
              <a:spcBef>
                <a:spcPct val="50000"/>
              </a:spcBef>
              <a:buClr>
                <a:schemeClr val="tx1"/>
              </a:buClr>
              <a:buFont typeface="Symbol" pitchFamily="18" charset="2"/>
              <a:buChar char="Þ"/>
            </a:pPr>
            <a:r>
              <a:rPr lang="ru-RU">
                <a:solidFill>
                  <a:schemeClr val="accent2"/>
                </a:solidFill>
              </a:rPr>
              <a:t> </a:t>
            </a:r>
            <a:r>
              <a:rPr lang="ru-RU"/>
              <a:t>Возможность организации оповещения по спискам</a:t>
            </a:r>
          </a:p>
          <a:p>
            <a:pPr eaLnBrk="0" hangingPunct="0">
              <a:spcBef>
                <a:spcPct val="50000"/>
              </a:spcBef>
              <a:buClr>
                <a:schemeClr val="tx1"/>
              </a:buClr>
              <a:buFont typeface="Symbol" pitchFamily="18" charset="2"/>
              <a:buChar char="Þ"/>
            </a:pPr>
            <a:r>
              <a:rPr lang="ru-RU"/>
              <a:t> Возможность организации систем </a:t>
            </a:r>
            <a:br>
              <a:rPr lang="ru-RU"/>
            </a:br>
            <a:r>
              <a:rPr lang="ru-RU"/>
              <a:t>оповещения о задолженности </a:t>
            </a:r>
          </a:p>
          <a:p>
            <a:pPr eaLnBrk="0" hangingPunct="0">
              <a:spcBef>
                <a:spcPct val="50000"/>
              </a:spcBef>
              <a:buClr>
                <a:schemeClr val="tx1"/>
              </a:buClr>
              <a:buFont typeface="Symbol" pitchFamily="18" charset="2"/>
              <a:buChar char="Þ"/>
            </a:pPr>
            <a:r>
              <a:rPr lang="ru-RU"/>
              <a:t> Фраза автоинформатора задается индивидуально для каждого списка </a:t>
            </a:r>
          </a:p>
          <a:p>
            <a:pPr eaLnBrk="0" hangingPunct="0">
              <a:spcBef>
                <a:spcPct val="50000"/>
              </a:spcBef>
              <a:buClr>
                <a:schemeClr val="tx1"/>
              </a:buClr>
              <a:buFont typeface="Symbol" pitchFamily="18" charset="2"/>
              <a:buChar char="Þ"/>
            </a:pPr>
            <a:r>
              <a:rPr lang="ru-RU"/>
              <a:t> Фиксация факта ответа вызываемого абонента </a:t>
            </a:r>
          </a:p>
          <a:p>
            <a:pPr eaLnBrk="0" hangingPunct="0">
              <a:spcBef>
                <a:spcPct val="50000"/>
              </a:spcBef>
              <a:buClr>
                <a:schemeClr val="tx1"/>
              </a:buClr>
              <a:buFont typeface="Symbol" pitchFamily="18" charset="2"/>
              <a:buChar char="Þ"/>
            </a:pPr>
            <a:r>
              <a:rPr lang="ru-RU"/>
              <a:t> Повторные попытки оповещения в случае когда абонент занят или не отвечает </a:t>
            </a:r>
          </a:p>
        </p:txBody>
      </p:sp>
      <p:pic>
        <p:nvPicPr>
          <p:cNvPr id="633861" name="Picture 5"/>
          <p:cNvPicPr>
            <a:picLocks noChangeAspect="1" noChangeArrowheads="1"/>
          </p:cNvPicPr>
          <p:nvPr/>
        </p:nvPicPr>
        <p:blipFill>
          <a:blip r:embed="rId2" cstate="print">
            <a:duotone>
              <a:prstClr val="black"/>
              <a:schemeClr val="tx2">
                <a:tint val="45000"/>
                <a:satMod val="400000"/>
              </a:schemeClr>
            </a:duotone>
          </a:blip>
          <a:srcRect/>
          <a:stretch>
            <a:fillRect/>
          </a:stretch>
        </p:blipFill>
        <p:spPr bwMode="auto">
          <a:xfrm>
            <a:off x="6248400" y="1828800"/>
            <a:ext cx="2566988" cy="2522538"/>
          </a:xfrm>
          <a:prstGeom prst="rect">
            <a:avLst/>
          </a:prstGeom>
          <a:solidFill>
            <a:schemeClr val="tx1"/>
          </a:solidFill>
          <a:ln w="50800" algn="ctr">
            <a:noFill/>
            <a:miter lim="800000"/>
            <a:headEnd/>
            <a:tailEnd/>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1000"/>
                                  </p:stCondLst>
                                  <p:childTnLst>
                                    <p:set>
                                      <p:cBhvr>
                                        <p:cTn id="6" dur="1" fill="hold">
                                          <p:stCondLst>
                                            <p:cond delay="0"/>
                                          </p:stCondLst>
                                        </p:cTn>
                                        <p:tgtEl>
                                          <p:spTgt spid="633859">
                                            <p:txEl>
                                              <p:pRg st="0" end="0"/>
                                            </p:txEl>
                                          </p:spTgt>
                                        </p:tgtEl>
                                        <p:attrNameLst>
                                          <p:attrName>style.visibility</p:attrName>
                                        </p:attrNameLst>
                                      </p:cBhvr>
                                      <p:to>
                                        <p:strVal val="visible"/>
                                      </p:to>
                                    </p:set>
                                    <p:anim calcmode="lin" valueType="num">
                                      <p:cBhvr additive="base">
                                        <p:cTn id="7" dur="500" fill="hold"/>
                                        <p:tgtEl>
                                          <p:spTgt spid="6338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3859">
                                            <p:txEl>
                                              <p:pRg st="0" end="0"/>
                                            </p:txEl>
                                          </p:spTgt>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1500"/>
                            </p:stCondLst>
                            <p:childTnLst>
                              <p:par>
                                <p:cTn id="10" presetID="22" presetClass="entr" presetSubtype="8" fill="hold" grpId="0" nodeType="afterEffect">
                                  <p:stCondLst>
                                    <p:cond delay="1000"/>
                                  </p:stCondLst>
                                  <p:childTnLst>
                                    <p:set>
                                      <p:cBhvr>
                                        <p:cTn id="11" dur="1" fill="hold">
                                          <p:stCondLst>
                                            <p:cond delay="0"/>
                                          </p:stCondLst>
                                        </p:cTn>
                                        <p:tgtEl>
                                          <p:spTgt spid="633860">
                                            <p:txEl>
                                              <p:pRg st="0" end="0"/>
                                            </p:txEl>
                                          </p:spTgt>
                                        </p:tgtEl>
                                        <p:attrNameLst>
                                          <p:attrName>style.visibility</p:attrName>
                                        </p:attrNameLst>
                                      </p:cBhvr>
                                      <p:to>
                                        <p:strVal val="visible"/>
                                      </p:to>
                                    </p:set>
                                    <p:animEffect transition="in" filter="wipe(left)">
                                      <p:cBhvr>
                                        <p:cTn id="12" dur="500"/>
                                        <p:tgtEl>
                                          <p:spTgt spid="633860">
                                            <p:txEl>
                                              <p:pRg st="0" end="0"/>
                                            </p:txEl>
                                          </p:spTgt>
                                        </p:tgtEl>
                                      </p:cBhvr>
                                    </p:animEffect>
                                  </p:childTnLst>
                                </p:cTn>
                              </p:par>
                            </p:childTnLst>
                          </p:cTn>
                        </p:par>
                        <p:par>
                          <p:cTn id="13" fill="hold" nodeType="afterGroup">
                            <p:stCondLst>
                              <p:cond delay="3000"/>
                            </p:stCondLst>
                            <p:childTnLst>
                              <p:par>
                                <p:cTn id="14" presetID="22" presetClass="entr" presetSubtype="8" fill="hold" grpId="0" nodeType="afterEffect">
                                  <p:stCondLst>
                                    <p:cond delay="1000"/>
                                  </p:stCondLst>
                                  <p:childTnLst>
                                    <p:set>
                                      <p:cBhvr>
                                        <p:cTn id="15" dur="1" fill="hold">
                                          <p:stCondLst>
                                            <p:cond delay="0"/>
                                          </p:stCondLst>
                                        </p:cTn>
                                        <p:tgtEl>
                                          <p:spTgt spid="633860">
                                            <p:txEl>
                                              <p:pRg st="1" end="1"/>
                                            </p:txEl>
                                          </p:spTgt>
                                        </p:tgtEl>
                                        <p:attrNameLst>
                                          <p:attrName>style.visibility</p:attrName>
                                        </p:attrNameLst>
                                      </p:cBhvr>
                                      <p:to>
                                        <p:strVal val="visible"/>
                                      </p:to>
                                    </p:set>
                                    <p:animEffect transition="in" filter="wipe(left)">
                                      <p:cBhvr>
                                        <p:cTn id="16" dur="500"/>
                                        <p:tgtEl>
                                          <p:spTgt spid="633860">
                                            <p:txEl>
                                              <p:pRg st="1" end="1"/>
                                            </p:txEl>
                                          </p:spTgt>
                                        </p:tgtEl>
                                      </p:cBhvr>
                                    </p:animEffect>
                                  </p:childTnLst>
                                </p:cTn>
                              </p:par>
                            </p:childTnLst>
                          </p:cTn>
                        </p:par>
                        <p:par>
                          <p:cTn id="17" fill="hold" nodeType="afterGroup">
                            <p:stCondLst>
                              <p:cond delay="4500"/>
                            </p:stCondLst>
                            <p:childTnLst>
                              <p:par>
                                <p:cTn id="18" presetID="22" presetClass="entr" presetSubtype="8" fill="hold" grpId="0" nodeType="afterEffect">
                                  <p:stCondLst>
                                    <p:cond delay="1000"/>
                                  </p:stCondLst>
                                  <p:childTnLst>
                                    <p:set>
                                      <p:cBhvr>
                                        <p:cTn id="19" dur="1" fill="hold">
                                          <p:stCondLst>
                                            <p:cond delay="0"/>
                                          </p:stCondLst>
                                        </p:cTn>
                                        <p:tgtEl>
                                          <p:spTgt spid="633860">
                                            <p:txEl>
                                              <p:pRg st="2" end="2"/>
                                            </p:txEl>
                                          </p:spTgt>
                                        </p:tgtEl>
                                        <p:attrNameLst>
                                          <p:attrName>style.visibility</p:attrName>
                                        </p:attrNameLst>
                                      </p:cBhvr>
                                      <p:to>
                                        <p:strVal val="visible"/>
                                      </p:to>
                                    </p:set>
                                    <p:animEffect transition="in" filter="wipe(left)">
                                      <p:cBhvr>
                                        <p:cTn id="20" dur="500"/>
                                        <p:tgtEl>
                                          <p:spTgt spid="633860">
                                            <p:txEl>
                                              <p:pRg st="2" end="2"/>
                                            </p:txEl>
                                          </p:spTgt>
                                        </p:tgtEl>
                                      </p:cBhvr>
                                    </p:animEffect>
                                  </p:childTnLst>
                                </p:cTn>
                              </p:par>
                            </p:childTnLst>
                          </p:cTn>
                        </p:par>
                        <p:par>
                          <p:cTn id="21" fill="hold" nodeType="afterGroup">
                            <p:stCondLst>
                              <p:cond delay="6000"/>
                            </p:stCondLst>
                            <p:childTnLst>
                              <p:par>
                                <p:cTn id="22" presetID="22" presetClass="entr" presetSubtype="8" fill="hold" grpId="0" nodeType="afterEffect">
                                  <p:stCondLst>
                                    <p:cond delay="1000"/>
                                  </p:stCondLst>
                                  <p:childTnLst>
                                    <p:set>
                                      <p:cBhvr>
                                        <p:cTn id="23" dur="1" fill="hold">
                                          <p:stCondLst>
                                            <p:cond delay="0"/>
                                          </p:stCondLst>
                                        </p:cTn>
                                        <p:tgtEl>
                                          <p:spTgt spid="633860">
                                            <p:txEl>
                                              <p:pRg st="3" end="3"/>
                                            </p:txEl>
                                          </p:spTgt>
                                        </p:tgtEl>
                                        <p:attrNameLst>
                                          <p:attrName>style.visibility</p:attrName>
                                        </p:attrNameLst>
                                      </p:cBhvr>
                                      <p:to>
                                        <p:strVal val="visible"/>
                                      </p:to>
                                    </p:set>
                                    <p:animEffect transition="in" filter="wipe(left)">
                                      <p:cBhvr>
                                        <p:cTn id="24" dur="500"/>
                                        <p:tgtEl>
                                          <p:spTgt spid="633860">
                                            <p:txEl>
                                              <p:pRg st="3" end="3"/>
                                            </p:txEl>
                                          </p:spTgt>
                                        </p:tgtEl>
                                      </p:cBhvr>
                                    </p:animEffect>
                                  </p:childTnLst>
                                </p:cTn>
                              </p:par>
                            </p:childTnLst>
                          </p:cTn>
                        </p:par>
                        <p:par>
                          <p:cTn id="25" fill="hold" nodeType="afterGroup">
                            <p:stCondLst>
                              <p:cond delay="7500"/>
                            </p:stCondLst>
                            <p:childTnLst>
                              <p:par>
                                <p:cTn id="26" presetID="22" presetClass="entr" presetSubtype="8" fill="hold" grpId="0" nodeType="afterEffect">
                                  <p:stCondLst>
                                    <p:cond delay="1000"/>
                                  </p:stCondLst>
                                  <p:childTnLst>
                                    <p:set>
                                      <p:cBhvr>
                                        <p:cTn id="27" dur="1" fill="hold">
                                          <p:stCondLst>
                                            <p:cond delay="0"/>
                                          </p:stCondLst>
                                        </p:cTn>
                                        <p:tgtEl>
                                          <p:spTgt spid="633860">
                                            <p:txEl>
                                              <p:pRg st="4" end="4"/>
                                            </p:txEl>
                                          </p:spTgt>
                                        </p:tgtEl>
                                        <p:attrNameLst>
                                          <p:attrName>style.visibility</p:attrName>
                                        </p:attrNameLst>
                                      </p:cBhvr>
                                      <p:to>
                                        <p:strVal val="visible"/>
                                      </p:to>
                                    </p:set>
                                    <p:animEffect transition="in" filter="wipe(left)">
                                      <p:cBhvr>
                                        <p:cTn id="28" dur="500"/>
                                        <p:tgtEl>
                                          <p:spTgt spid="6338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autoUpdateAnimBg="0" advAuto="1000"/>
      <p:bldP spid="633860" grpId="0" build="p" autoUpdateAnimBg="0" advAuto="100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2834" name="Rectangle 2"/>
          <p:cNvSpPr>
            <a:spLocks noChangeArrowheads="1"/>
          </p:cNvSpPr>
          <p:nvPr/>
        </p:nvSpPr>
        <p:spPr bwMode="auto">
          <a:xfrm>
            <a:off x="538163" y="333375"/>
            <a:ext cx="8281987" cy="419100"/>
          </a:xfrm>
          <a:prstGeom prst="rect">
            <a:avLst/>
          </a:prstGeom>
          <a:noFill/>
          <a:ln w="9525" algn="ctr">
            <a:noFill/>
            <a:miter lim="800000"/>
            <a:headEnd type="none" w="sm" len="sm"/>
            <a:tailEnd type="none" w="sm" len="sm"/>
          </a:ln>
          <a:effectLst/>
        </p:spPr>
        <p:txBody>
          <a:bodyPr anchor="b" anchorCtr="1"/>
          <a:lstStyle/>
          <a:p>
            <a:pPr algn="ctr">
              <a:defRPr/>
            </a:pPr>
            <a:r>
              <a:rPr lang="ru-RU" sz="2400" b="1" dirty="0" err="1">
                <a:solidFill>
                  <a:srgbClr val="002060"/>
                </a:solidFill>
                <a:latin typeface="Tahoma" charset="0"/>
              </a:rPr>
              <a:t>Автоинформационная</a:t>
            </a:r>
            <a:r>
              <a:rPr lang="ru-RU" sz="2400" b="1" dirty="0">
                <a:solidFill>
                  <a:srgbClr val="002060"/>
                </a:solidFill>
                <a:latin typeface="Tahoma" charset="0"/>
              </a:rPr>
              <a:t> подсистема </a:t>
            </a:r>
            <a:r>
              <a:rPr lang="en-US" sz="2400" b="1" dirty="0">
                <a:solidFill>
                  <a:srgbClr val="002060"/>
                </a:solidFill>
                <a:latin typeface="Tahoma" charset="0"/>
              </a:rPr>
              <a:t>(IVR)</a:t>
            </a:r>
            <a:endParaRPr lang="ru-RU" sz="2400" b="1" dirty="0">
              <a:solidFill>
                <a:srgbClr val="002060"/>
              </a:solidFill>
              <a:latin typeface="Tahoma" charset="0"/>
            </a:endParaRPr>
          </a:p>
        </p:txBody>
      </p:sp>
      <p:sp>
        <p:nvSpPr>
          <p:cNvPr id="632835" name="Rectangle 3"/>
          <p:cNvSpPr>
            <a:spLocks noChangeArrowheads="1"/>
          </p:cNvSpPr>
          <p:nvPr/>
        </p:nvSpPr>
        <p:spPr bwMode="auto">
          <a:xfrm>
            <a:off x="395288" y="1319213"/>
            <a:ext cx="8353425" cy="4905375"/>
          </a:xfrm>
          <a:prstGeom prst="rect">
            <a:avLst/>
          </a:prstGeom>
          <a:noFill/>
          <a:ln w="12700" cap="sq" algn="ctr">
            <a:noFill/>
            <a:miter lim="800000"/>
            <a:headEnd type="none" w="sm" len="sm"/>
            <a:tailEnd type="none" w="sm" len="sm"/>
          </a:ln>
        </p:spPr>
        <p:txBody>
          <a:bodyPr>
            <a:spAutoFit/>
          </a:bodyPr>
          <a:lstStyle/>
          <a:p>
            <a:pPr eaLnBrk="0" hangingPunct="0">
              <a:spcBef>
                <a:spcPct val="50000"/>
              </a:spcBef>
              <a:buClr>
                <a:schemeClr val="tx1"/>
              </a:buClr>
              <a:buFont typeface="Symbol" pitchFamily="18" charset="2"/>
              <a:buChar char="Þ"/>
            </a:pPr>
            <a:r>
              <a:rPr lang="ru-RU">
                <a:latin typeface="Tahoma" pitchFamily="34" charset="0"/>
              </a:rPr>
              <a:t> Организация автоматизированных</a:t>
            </a:r>
            <a:r>
              <a:rPr lang="en-US">
                <a:latin typeface="Tahoma" pitchFamily="34" charset="0"/>
              </a:rPr>
              <a:t> </a:t>
            </a:r>
            <a:r>
              <a:rPr lang="ru-RU">
                <a:latin typeface="Tahoma" pitchFamily="34" charset="0"/>
              </a:rPr>
              <a:t>справочно-информационных служб произвольного вида и назначения</a:t>
            </a:r>
          </a:p>
          <a:p>
            <a:pPr eaLnBrk="0" hangingPunct="0">
              <a:spcBef>
                <a:spcPct val="50000"/>
              </a:spcBef>
              <a:buClr>
                <a:schemeClr val="tx1"/>
              </a:buClr>
              <a:buFont typeface="Symbol" pitchFamily="18" charset="2"/>
              <a:buChar char="Þ"/>
            </a:pPr>
            <a:r>
              <a:rPr lang="ru-RU">
                <a:latin typeface="Tahoma" pitchFamily="34" charset="0"/>
              </a:rPr>
              <a:t> Подключение по </a:t>
            </a:r>
            <a:r>
              <a:rPr lang="en-US">
                <a:latin typeface="Tahoma" pitchFamily="34" charset="0"/>
              </a:rPr>
              <a:t>PRI, SS7/ISUP </a:t>
            </a:r>
            <a:r>
              <a:rPr lang="ru-RU">
                <a:latin typeface="Tahoma" pitchFamily="34" charset="0"/>
              </a:rPr>
              <a:t>или </a:t>
            </a:r>
            <a:r>
              <a:rPr lang="en-US">
                <a:latin typeface="Tahoma" pitchFamily="34" charset="0"/>
              </a:rPr>
              <a:t>SIP</a:t>
            </a:r>
            <a:endParaRPr lang="ru-RU">
              <a:latin typeface="Tahoma" pitchFamily="34" charset="0"/>
            </a:endParaRPr>
          </a:p>
          <a:p>
            <a:pPr eaLnBrk="0" hangingPunct="0">
              <a:spcBef>
                <a:spcPct val="50000"/>
              </a:spcBef>
              <a:buClr>
                <a:schemeClr val="tx1"/>
              </a:buClr>
              <a:buFont typeface="Symbol" pitchFamily="18" charset="2"/>
              <a:buChar char="Þ"/>
            </a:pPr>
            <a:r>
              <a:rPr lang="ru-RU">
                <a:latin typeface="Tahoma" pitchFamily="34" charset="0"/>
              </a:rPr>
              <a:t> Служба информирования о состоянии лицевого счета, интегрируемая с ИБС Оператора</a:t>
            </a:r>
          </a:p>
          <a:p>
            <a:pPr eaLnBrk="0" hangingPunct="0">
              <a:spcBef>
                <a:spcPct val="50000"/>
              </a:spcBef>
              <a:buClr>
                <a:schemeClr val="tx1"/>
              </a:buClr>
              <a:buFont typeface="Symbol" pitchFamily="18" charset="2"/>
              <a:buChar char="Þ"/>
            </a:pPr>
            <a:r>
              <a:rPr lang="ru-RU">
                <a:latin typeface="Tahoma" pitchFamily="34" charset="0"/>
              </a:rPr>
              <a:t> Система многоуровневых голосовых меню с </a:t>
            </a:r>
            <a:r>
              <a:rPr lang="en-US">
                <a:latin typeface="Tahoma" pitchFamily="34" charset="0"/>
              </a:rPr>
              <a:t>DTMF-</a:t>
            </a:r>
            <a:r>
              <a:rPr lang="ru-RU">
                <a:latin typeface="Tahoma" pitchFamily="34" charset="0"/>
              </a:rPr>
              <a:t>навигацией</a:t>
            </a:r>
          </a:p>
          <a:p>
            <a:pPr eaLnBrk="0" hangingPunct="0">
              <a:spcBef>
                <a:spcPct val="50000"/>
              </a:spcBef>
              <a:buClr>
                <a:schemeClr val="tx1"/>
              </a:buClr>
              <a:buFont typeface="Symbol" pitchFamily="18" charset="2"/>
              <a:buChar char="Þ"/>
            </a:pPr>
            <a:r>
              <a:rPr lang="ru-RU">
                <a:latin typeface="Tahoma" pitchFamily="34" charset="0"/>
              </a:rPr>
              <a:t> </a:t>
            </a:r>
            <a:r>
              <a:rPr lang="en-US">
                <a:latin typeface="Tahoma" pitchFamily="34" charset="0"/>
              </a:rPr>
              <a:t>IVR </a:t>
            </a:r>
            <a:r>
              <a:rPr lang="ru-RU">
                <a:latin typeface="Tahoma" pitchFamily="34" charset="0"/>
              </a:rPr>
              <a:t>службы карт авансовых платежей</a:t>
            </a:r>
          </a:p>
          <a:p>
            <a:pPr eaLnBrk="0" hangingPunct="0">
              <a:spcBef>
                <a:spcPct val="50000"/>
              </a:spcBef>
              <a:buClr>
                <a:schemeClr val="tx1"/>
              </a:buClr>
              <a:buFont typeface="Symbol" pitchFamily="18" charset="2"/>
              <a:buChar char="Þ"/>
            </a:pPr>
            <a:r>
              <a:rPr lang="ru-RU">
                <a:latin typeface="Tahoma" pitchFamily="34" charset="0"/>
              </a:rPr>
              <a:t> Открытый интерфейс </a:t>
            </a:r>
            <a:r>
              <a:rPr lang="en-US">
                <a:latin typeface="Tahoma" pitchFamily="34" charset="0"/>
              </a:rPr>
              <a:t>API </a:t>
            </a:r>
            <a:r>
              <a:rPr lang="ru-RU">
                <a:latin typeface="Tahoma" pitchFamily="34" charset="0"/>
              </a:rPr>
              <a:t>для написания услуг</a:t>
            </a:r>
          </a:p>
          <a:p>
            <a:pPr eaLnBrk="0" hangingPunct="0">
              <a:spcBef>
                <a:spcPct val="50000"/>
              </a:spcBef>
              <a:buClr>
                <a:schemeClr val="tx1"/>
              </a:buClr>
              <a:buFont typeface="Symbol" pitchFamily="18" charset="2"/>
              <a:buChar char="Þ"/>
            </a:pPr>
            <a:r>
              <a:rPr lang="ru-RU">
                <a:latin typeface="Tahoma" pitchFamily="34" charset="0"/>
              </a:rPr>
              <a:t> Встроенный конструктор голосовых меню</a:t>
            </a:r>
          </a:p>
          <a:p>
            <a:pPr eaLnBrk="0" hangingPunct="0">
              <a:spcBef>
                <a:spcPct val="50000"/>
              </a:spcBef>
              <a:buClr>
                <a:schemeClr val="tx1"/>
              </a:buClr>
              <a:buFont typeface="Symbol" pitchFamily="18" charset="2"/>
              <a:buChar char="Þ"/>
            </a:pPr>
            <a:r>
              <a:rPr lang="ru-RU">
                <a:latin typeface="Tahoma" pitchFamily="34" charset="0"/>
              </a:rPr>
              <a:t> Возможность интеграции с ИБС Оператора</a:t>
            </a:r>
          </a:p>
          <a:p>
            <a:pPr eaLnBrk="0" hangingPunct="0">
              <a:spcBef>
                <a:spcPct val="50000"/>
              </a:spcBef>
              <a:buClr>
                <a:schemeClr val="tx1"/>
              </a:buClr>
              <a:buFont typeface="Symbol" pitchFamily="18" charset="2"/>
              <a:buChar char="Þ"/>
            </a:pPr>
            <a:r>
              <a:rPr lang="ru-RU">
                <a:latin typeface="Tahoma" pitchFamily="34" charset="0"/>
              </a:rPr>
              <a:t> Произвольное количество служб на базе </a:t>
            </a:r>
            <a:r>
              <a:rPr lang="en-US">
                <a:latin typeface="Tahoma" pitchFamily="34" charset="0"/>
              </a:rPr>
              <a:t/>
            </a:r>
            <a:br>
              <a:rPr lang="en-US">
                <a:latin typeface="Tahoma" pitchFamily="34" charset="0"/>
              </a:rPr>
            </a:br>
            <a:r>
              <a:rPr lang="ru-RU">
                <a:latin typeface="Tahoma" pitchFamily="34" charset="0"/>
              </a:rPr>
              <a:t>одной системы</a:t>
            </a:r>
          </a:p>
          <a:p>
            <a:pPr eaLnBrk="0" hangingPunct="0">
              <a:spcBef>
                <a:spcPct val="50000"/>
              </a:spcBef>
              <a:buClr>
                <a:schemeClr val="tx1"/>
              </a:buClr>
              <a:buFont typeface="Symbol" pitchFamily="18" charset="2"/>
              <a:buChar char="Þ"/>
            </a:pPr>
            <a:r>
              <a:rPr lang="ru-RU">
                <a:latin typeface="Tahoma" pitchFamily="34" charset="0"/>
              </a:rPr>
              <a:t> Служба точного времени</a:t>
            </a:r>
          </a:p>
        </p:txBody>
      </p:sp>
      <p:pic>
        <p:nvPicPr>
          <p:cNvPr id="632836" name="Picture 4"/>
          <p:cNvPicPr>
            <a:picLocks noChangeAspect="1" noChangeArrowheads="1"/>
          </p:cNvPicPr>
          <p:nvPr/>
        </p:nvPicPr>
        <p:blipFill>
          <a:blip r:embed="rId2" cstate="print">
            <a:duotone>
              <a:prstClr val="black"/>
              <a:schemeClr val="accent1">
                <a:tint val="45000"/>
                <a:satMod val="400000"/>
              </a:schemeClr>
            </a:duotone>
          </a:blip>
          <a:srcRect/>
          <a:stretch>
            <a:fillRect/>
          </a:stretch>
        </p:blipFill>
        <p:spPr bwMode="auto">
          <a:xfrm>
            <a:off x="6324600" y="4419600"/>
            <a:ext cx="2506663" cy="1876425"/>
          </a:xfrm>
          <a:prstGeom prst="rect">
            <a:avLst/>
          </a:prstGeom>
          <a:solidFill>
            <a:schemeClr val="tx1"/>
          </a:solidFill>
          <a:ln w="50800" algn="ctr">
            <a:noFill/>
            <a:miter lim="800000"/>
            <a:headEnd/>
            <a:tailEnd/>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32835">
                                            <p:txEl>
                                              <p:pRg st="0" end="0"/>
                                            </p:txEl>
                                          </p:spTgt>
                                        </p:tgtEl>
                                        <p:attrNameLst>
                                          <p:attrName>style.visibility</p:attrName>
                                        </p:attrNameLst>
                                      </p:cBhvr>
                                      <p:to>
                                        <p:strVal val="visible"/>
                                      </p:to>
                                    </p:set>
                                    <p:animEffect transition="in" filter="wipe(left)">
                                      <p:cBhvr>
                                        <p:cTn id="7" dur="500"/>
                                        <p:tgtEl>
                                          <p:spTgt spid="632835">
                                            <p:txEl>
                                              <p:pRg st="0" end="0"/>
                                            </p:txEl>
                                          </p:spTgt>
                                        </p:tgtEl>
                                      </p:cBhvr>
                                    </p:animEffect>
                                  </p:childTnLst>
                                </p:cTn>
                              </p:par>
                            </p:childTnLst>
                          </p:cTn>
                        </p:par>
                        <p:par>
                          <p:cTn id="8" fill="hold" nodeType="afterGroup">
                            <p:stCondLst>
                              <p:cond delay="1500"/>
                            </p:stCondLst>
                            <p:childTnLst>
                              <p:par>
                                <p:cTn id="9" presetID="22" presetClass="entr" presetSubtype="8" fill="hold" grpId="0" nodeType="afterEffect">
                                  <p:stCondLst>
                                    <p:cond delay="1000"/>
                                  </p:stCondLst>
                                  <p:childTnLst>
                                    <p:set>
                                      <p:cBhvr>
                                        <p:cTn id="10" dur="1" fill="hold">
                                          <p:stCondLst>
                                            <p:cond delay="0"/>
                                          </p:stCondLst>
                                        </p:cTn>
                                        <p:tgtEl>
                                          <p:spTgt spid="632835">
                                            <p:txEl>
                                              <p:pRg st="1" end="1"/>
                                            </p:txEl>
                                          </p:spTgt>
                                        </p:tgtEl>
                                        <p:attrNameLst>
                                          <p:attrName>style.visibility</p:attrName>
                                        </p:attrNameLst>
                                      </p:cBhvr>
                                      <p:to>
                                        <p:strVal val="visible"/>
                                      </p:to>
                                    </p:set>
                                    <p:animEffect transition="in" filter="wipe(left)">
                                      <p:cBhvr>
                                        <p:cTn id="11" dur="500"/>
                                        <p:tgtEl>
                                          <p:spTgt spid="632835">
                                            <p:txEl>
                                              <p:pRg st="1" end="1"/>
                                            </p:txEl>
                                          </p:spTgt>
                                        </p:tgtEl>
                                      </p:cBhvr>
                                    </p:animEffect>
                                  </p:childTnLst>
                                </p:cTn>
                              </p:par>
                            </p:childTnLst>
                          </p:cTn>
                        </p:par>
                        <p:par>
                          <p:cTn id="12" fill="hold" nodeType="afterGroup">
                            <p:stCondLst>
                              <p:cond delay="3000"/>
                            </p:stCondLst>
                            <p:childTnLst>
                              <p:par>
                                <p:cTn id="13" presetID="22" presetClass="entr" presetSubtype="8" fill="hold" grpId="0" nodeType="afterEffect">
                                  <p:stCondLst>
                                    <p:cond delay="1000"/>
                                  </p:stCondLst>
                                  <p:childTnLst>
                                    <p:set>
                                      <p:cBhvr>
                                        <p:cTn id="14" dur="1" fill="hold">
                                          <p:stCondLst>
                                            <p:cond delay="0"/>
                                          </p:stCondLst>
                                        </p:cTn>
                                        <p:tgtEl>
                                          <p:spTgt spid="632835">
                                            <p:txEl>
                                              <p:pRg st="2" end="2"/>
                                            </p:txEl>
                                          </p:spTgt>
                                        </p:tgtEl>
                                        <p:attrNameLst>
                                          <p:attrName>style.visibility</p:attrName>
                                        </p:attrNameLst>
                                      </p:cBhvr>
                                      <p:to>
                                        <p:strVal val="visible"/>
                                      </p:to>
                                    </p:set>
                                    <p:animEffect transition="in" filter="wipe(left)">
                                      <p:cBhvr>
                                        <p:cTn id="15" dur="500"/>
                                        <p:tgtEl>
                                          <p:spTgt spid="632835">
                                            <p:txEl>
                                              <p:pRg st="2" end="2"/>
                                            </p:txEl>
                                          </p:spTgt>
                                        </p:tgtEl>
                                      </p:cBhvr>
                                    </p:animEffect>
                                  </p:childTnLst>
                                </p:cTn>
                              </p:par>
                            </p:childTnLst>
                          </p:cTn>
                        </p:par>
                        <p:par>
                          <p:cTn id="16" fill="hold" nodeType="afterGroup">
                            <p:stCondLst>
                              <p:cond delay="4500"/>
                            </p:stCondLst>
                            <p:childTnLst>
                              <p:par>
                                <p:cTn id="17" presetID="22" presetClass="entr" presetSubtype="8" fill="hold" grpId="0" nodeType="afterEffect">
                                  <p:stCondLst>
                                    <p:cond delay="1000"/>
                                  </p:stCondLst>
                                  <p:childTnLst>
                                    <p:set>
                                      <p:cBhvr>
                                        <p:cTn id="18" dur="1" fill="hold">
                                          <p:stCondLst>
                                            <p:cond delay="0"/>
                                          </p:stCondLst>
                                        </p:cTn>
                                        <p:tgtEl>
                                          <p:spTgt spid="632835">
                                            <p:txEl>
                                              <p:pRg st="3" end="3"/>
                                            </p:txEl>
                                          </p:spTgt>
                                        </p:tgtEl>
                                        <p:attrNameLst>
                                          <p:attrName>style.visibility</p:attrName>
                                        </p:attrNameLst>
                                      </p:cBhvr>
                                      <p:to>
                                        <p:strVal val="visible"/>
                                      </p:to>
                                    </p:set>
                                    <p:animEffect transition="in" filter="wipe(left)">
                                      <p:cBhvr>
                                        <p:cTn id="19" dur="500"/>
                                        <p:tgtEl>
                                          <p:spTgt spid="632835">
                                            <p:txEl>
                                              <p:pRg st="3" end="3"/>
                                            </p:txEl>
                                          </p:spTgt>
                                        </p:tgtEl>
                                      </p:cBhvr>
                                    </p:animEffect>
                                  </p:childTnLst>
                                </p:cTn>
                              </p:par>
                            </p:childTnLst>
                          </p:cTn>
                        </p:par>
                        <p:par>
                          <p:cTn id="20" fill="hold" nodeType="afterGroup">
                            <p:stCondLst>
                              <p:cond delay="6000"/>
                            </p:stCondLst>
                            <p:childTnLst>
                              <p:par>
                                <p:cTn id="21" presetID="22" presetClass="entr" presetSubtype="8" fill="hold" grpId="0" nodeType="afterEffect">
                                  <p:stCondLst>
                                    <p:cond delay="1000"/>
                                  </p:stCondLst>
                                  <p:childTnLst>
                                    <p:set>
                                      <p:cBhvr>
                                        <p:cTn id="22" dur="1" fill="hold">
                                          <p:stCondLst>
                                            <p:cond delay="0"/>
                                          </p:stCondLst>
                                        </p:cTn>
                                        <p:tgtEl>
                                          <p:spTgt spid="632835">
                                            <p:txEl>
                                              <p:pRg st="4" end="4"/>
                                            </p:txEl>
                                          </p:spTgt>
                                        </p:tgtEl>
                                        <p:attrNameLst>
                                          <p:attrName>style.visibility</p:attrName>
                                        </p:attrNameLst>
                                      </p:cBhvr>
                                      <p:to>
                                        <p:strVal val="visible"/>
                                      </p:to>
                                    </p:set>
                                    <p:animEffect transition="in" filter="wipe(left)">
                                      <p:cBhvr>
                                        <p:cTn id="23" dur="500"/>
                                        <p:tgtEl>
                                          <p:spTgt spid="632835">
                                            <p:txEl>
                                              <p:pRg st="4" end="4"/>
                                            </p:txEl>
                                          </p:spTgt>
                                        </p:tgtEl>
                                      </p:cBhvr>
                                    </p:animEffect>
                                  </p:childTnLst>
                                </p:cTn>
                              </p:par>
                            </p:childTnLst>
                          </p:cTn>
                        </p:par>
                        <p:par>
                          <p:cTn id="24" fill="hold" nodeType="afterGroup">
                            <p:stCondLst>
                              <p:cond delay="7500"/>
                            </p:stCondLst>
                            <p:childTnLst>
                              <p:par>
                                <p:cTn id="25" presetID="22" presetClass="entr" presetSubtype="8" fill="hold" grpId="0" nodeType="afterEffect">
                                  <p:stCondLst>
                                    <p:cond delay="1000"/>
                                  </p:stCondLst>
                                  <p:childTnLst>
                                    <p:set>
                                      <p:cBhvr>
                                        <p:cTn id="26" dur="1" fill="hold">
                                          <p:stCondLst>
                                            <p:cond delay="0"/>
                                          </p:stCondLst>
                                        </p:cTn>
                                        <p:tgtEl>
                                          <p:spTgt spid="632835">
                                            <p:txEl>
                                              <p:pRg st="5" end="5"/>
                                            </p:txEl>
                                          </p:spTgt>
                                        </p:tgtEl>
                                        <p:attrNameLst>
                                          <p:attrName>style.visibility</p:attrName>
                                        </p:attrNameLst>
                                      </p:cBhvr>
                                      <p:to>
                                        <p:strVal val="visible"/>
                                      </p:to>
                                    </p:set>
                                    <p:animEffect transition="in" filter="wipe(left)">
                                      <p:cBhvr>
                                        <p:cTn id="27" dur="500"/>
                                        <p:tgtEl>
                                          <p:spTgt spid="632835">
                                            <p:txEl>
                                              <p:pRg st="5" end="5"/>
                                            </p:txEl>
                                          </p:spTgt>
                                        </p:tgtEl>
                                      </p:cBhvr>
                                    </p:animEffect>
                                  </p:childTnLst>
                                </p:cTn>
                              </p:par>
                            </p:childTnLst>
                          </p:cTn>
                        </p:par>
                        <p:par>
                          <p:cTn id="28" fill="hold" nodeType="afterGroup">
                            <p:stCondLst>
                              <p:cond delay="9000"/>
                            </p:stCondLst>
                            <p:childTnLst>
                              <p:par>
                                <p:cTn id="29" presetID="22" presetClass="entr" presetSubtype="8" fill="hold" grpId="0" nodeType="afterEffect">
                                  <p:stCondLst>
                                    <p:cond delay="1000"/>
                                  </p:stCondLst>
                                  <p:childTnLst>
                                    <p:set>
                                      <p:cBhvr>
                                        <p:cTn id="30" dur="1" fill="hold">
                                          <p:stCondLst>
                                            <p:cond delay="0"/>
                                          </p:stCondLst>
                                        </p:cTn>
                                        <p:tgtEl>
                                          <p:spTgt spid="632835">
                                            <p:txEl>
                                              <p:pRg st="6" end="6"/>
                                            </p:txEl>
                                          </p:spTgt>
                                        </p:tgtEl>
                                        <p:attrNameLst>
                                          <p:attrName>style.visibility</p:attrName>
                                        </p:attrNameLst>
                                      </p:cBhvr>
                                      <p:to>
                                        <p:strVal val="visible"/>
                                      </p:to>
                                    </p:set>
                                    <p:animEffect transition="in" filter="wipe(left)">
                                      <p:cBhvr>
                                        <p:cTn id="31" dur="500"/>
                                        <p:tgtEl>
                                          <p:spTgt spid="632835">
                                            <p:txEl>
                                              <p:pRg st="6" end="6"/>
                                            </p:txEl>
                                          </p:spTgt>
                                        </p:tgtEl>
                                      </p:cBhvr>
                                    </p:animEffect>
                                  </p:childTnLst>
                                </p:cTn>
                              </p:par>
                            </p:childTnLst>
                          </p:cTn>
                        </p:par>
                        <p:par>
                          <p:cTn id="32" fill="hold" nodeType="afterGroup">
                            <p:stCondLst>
                              <p:cond delay="10500"/>
                            </p:stCondLst>
                            <p:childTnLst>
                              <p:par>
                                <p:cTn id="33" presetID="22" presetClass="entr" presetSubtype="8" fill="hold" grpId="0" nodeType="afterEffect">
                                  <p:stCondLst>
                                    <p:cond delay="1000"/>
                                  </p:stCondLst>
                                  <p:childTnLst>
                                    <p:set>
                                      <p:cBhvr>
                                        <p:cTn id="34" dur="1" fill="hold">
                                          <p:stCondLst>
                                            <p:cond delay="0"/>
                                          </p:stCondLst>
                                        </p:cTn>
                                        <p:tgtEl>
                                          <p:spTgt spid="632835">
                                            <p:txEl>
                                              <p:pRg st="7" end="7"/>
                                            </p:txEl>
                                          </p:spTgt>
                                        </p:tgtEl>
                                        <p:attrNameLst>
                                          <p:attrName>style.visibility</p:attrName>
                                        </p:attrNameLst>
                                      </p:cBhvr>
                                      <p:to>
                                        <p:strVal val="visible"/>
                                      </p:to>
                                    </p:set>
                                    <p:animEffect transition="in" filter="wipe(left)">
                                      <p:cBhvr>
                                        <p:cTn id="35" dur="500"/>
                                        <p:tgtEl>
                                          <p:spTgt spid="632835">
                                            <p:txEl>
                                              <p:pRg st="7" end="7"/>
                                            </p:txEl>
                                          </p:spTgt>
                                        </p:tgtEl>
                                      </p:cBhvr>
                                    </p:animEffect>
                                  </p:childTnLst>
                                </p:cTn>
                              </p:par>
                            </p:childTnLst>
                          </p:cTn>
                        </p:par>
                        <p:par>
                          <p:cTn id="36" fill="hold" nodeType="afterGroup">
                            <p:stCondLst>
                              <p:cond delay="12000"/>
                            </p:stCondLst>
                            <p:childTnLst>
                              <p:par>
                                <p:cTn id="37" presetID="22" presetClass="entr" presetSubtype="8" fill="hold" grpId="0" nodeType="afterEffect">
                                  <p:stCondLst>
                                    <p:cond delay="1000"/>
                                  </p:stCondLst>
                                  <p:childTnLst>
                                    <p:set>
                                      <p:cBhvr>
                                        <p:cTn id="38" dur="1" fill="hold">
                                          <p:stCondLst>
                                            <p:cond delay="0"/>
                                          </p:stCondLst>
                                        </p:cTn>
                                        <p:tgtEl>
                                          <p:spTgt spid="632835">
                                            <p:txEl>
                                              <p:pRg st="8" end="8"/>
                                            </p:txEl>
                                          </p:spTgt>
                                        </p:tgtEl>
                                        <p:attrNameLst>
                                          <p:attrName>style.visibility</p:attrName>
                                        </p:attrNameLst>
                                      </p:cBhvr>
                                      <p:to>
                                        <p:strVal val="visible"/>
                                      </p:to>
                                    </p:set>
                                    <p:animEffect transition="in" filter="wipe(left)">
                                      <p:cBhvr>
                                        <p:cTn id="39" dur="500"/>
                                        <p:tgtEl>
                                          <p:spTgt spid="632835">
                                            <p:txEl>
                                              <p:pRg st="8" end="8"/>
                                            </p:txEl>
                                          </p:spTgt>
                                        </p:tgtEl>
                                      </p:cBhvr>
                                    </p:animEffect>
                                  </p:childTnLst>
                                </p:cTn>
                              </p:par>
                            </p:childTnLst>
                          </p:cTn>
                        </p:par>
                        <p:par>
                          <p:cTn id="40" fill="hold" nodeType="afterGroup">
                            <p:stCondLst>
                              <p:cond delay="13500"/>
                            </p:stCondLst>
                            <p:childTnLst>
                              <p:par>
                                <p:cTn id="41" presetID="22" presetClass="entr" presetSubtype="8" fill="hold" grpId="0" nodeType="afterEffect">
                                  <p:stCondLst>
                                    <p:cond delay="1000"/>
                                  </p:stCondLst>
                                  <p:childTnLst>
                                    <p:set>
                                      <p:cBhvr>
                                        <p:cTn id="42" dur="1" fill="hold">
                                          <p:stCondLst>
                                            <p:cond delay="0"/>
                                          </p:stCondLst>
                                        </p:cTn>
                                        <p:tgtEl>
                                          <p:spTgt spid="632835">
                                            <p:txEl>
                                              <p:pRg st="9" end="9"/>
                                            </p:txEl>
                                          </p:spTgt>
                                        </p:tgtEl>
                                        <p:attrNameLst>
                                          <p:attrName>style.visibility</p:attrName>
                                        </p:attrNameLst>
                                      </p:cBhvr>
                                      <p:to>
                                        <p:strVal val="visible"/>
                                      </p:to>
                                    </p:set>
                                    <p:animEffect transition="in" filter="wipe(left)">
                                      <p:cBhvr>
                                        <p:cTn id="43" dur="500"/>
                                        <p:tgtEl>
                                          <p:spTgt spid="6328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5" grpId="0" build="p" autoUpdateAnimBg="0" advAuto="100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376</TotalTime>
  <Words>1237</Words>
  <Application>Microsoft Office PowerPoint</Application>
  <PresentationFormat>Экран (4:3)</PresentationFormat>
  <Paragraphs>313</Paragraphs>
  <Slides>43</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4</vt:i4>
      </vt:variant>
      <vt:variant>
        <vt:lpstr>Заголовки слайдов</vt:lpstr>
      </vt:variant>
      <vt:variant>
        <vt:i4>43</vt:i4>
      </vt:variant>
    </vt:vector>
  </HeadingPairs>
  <TitlesOfParts>
    <vt:vector size="48" baseType="lpstr">
      <vt:lpstr>Тема Office</vt:lpstr>
      <vt:lpstr>Visio</vt:lpstr>
      <vt:lpstr>CorelDRAW</vt:lpstr>
      <vt:lpstr>Clip</vt:lpstr>
      <vt:lpstr>VISIO</vt:lpstr>
      <vt:lpstr>Лекция 8.2</vt:lpstr>
      <vt:lpstr>Слайд 2</vt:lpstr>
      <vt:lpstr>Слайд 3</vt:lpstr>
      <vt:lpstr>Область применения услуги ИСС</vt:lpstr>
      <vt:lpstr>IN/1 (Intelligent Network 1)</vt:lpstr>
      <vt:lpstr>Слайд 6</vt:lpstr>
      <vt:lpstr>  Интеллектуальные сети связи . Общие представления  </vt:lpstr>
      <vt:lpstr>Место IN в общей схеме ТФОП</vt:lpstr>
      <vt:lpstr>Слайд 9</vt:lpstr>
      <vt:lpstr>Слайд 10</vt:lpstr>
      <vt:lpstr>Предоставление интеллектуальных услуг</vt:lpstr>
      <vt:lpstr>Архитектура Интеллектуальной сети(1 вар)</vt:lpstr>
      <vt:lpstr>Построение классической Интеллектуальной сети</vt:lpstr>
      <vt:lpstr> Принципы построения интеллектуальной сети(1/2) </vt:lpstr>
      <vt:lpstr>Принципы построения интеллектуальной сети(2/2)</vt:lpstr>
      <vt:lpstr>Пример работы интеллектуальной сети (1/2)</vt:lpstr>
      <vt:lpstr>Пример работы интеллектуальной сети (2/2)</vt:lpstr>
      <vt:lpstr>Архитектура Интеллектуальной сети (2 вар.)</vt:lpstr>
      <vt:lpstr>Архитектура Интеллектуальной сети</vt:lpstr>
      <vt:lpstr>Архитектура Интеллектуальной сети</vt:lpstr>
      <vt:lpstr>Слайд 21</vt:lpstr>
      <vt:lpstr>Слайд 22</vt:lpstr>
      <vt:lpstr>Слайд 23</vt:lpstr>
      <vt:lpstr>Слайд 24</vt:lpstr>
      <vt:lpstr>Слайд 25</vt:lpstr>
      <vt:lpstr>Слайд 26</vt:lpstr>
      <vt:lpstr>Слайд 27</vt:lpstr>
      <vt:lpstr>Обобщенная функциональная архитектура IN </vt:lpstr>
      <vt:lpstr>Слайд 29</vt:lpstr>
      <vt:lpstr>   Архитектура IN + IP-услуги</vt:lpstr>
      <vt:lpstr>Пример предоставления услуги интеллектуальной сети</vt:lpstr>
      <vt:lpstr>Схема взаимосвязи интеллектуальной надстройки с телекоммуникационной сетью</vt:lpstr>
      <vt:lpstr> Классификация интеллектуальных услуг </vt:lpstr>
      <vt:lpstr>Классификация интеллектуальных услуг</vt:lpstr>
      <vt:lpstr>Классификация интеллектуальных услуг</vt:lpstr>
      <vt:lpstr>Классификация интеллектуальных услуг</vt:lpstr>
      <vt:lpstr> Особенности и преимущества VPN(1/3) </vt:lpstr>
      <vt:lpstr>Особенности и преимущества VPN(2/3)</vt:lpstr>
      <vt:lpstr>Особенности и преимущества VPN  (3/3)</vt:lpstr>
      <vt:lpstr>Виды кодов в ИС:</vt:lpstr>
      <vt:lpstr>Последовательность развития  центров обработки вызовов</vt:lpstr>
      <vt:lpstr>Слайд 42</vt:lpstr>
      <vt:lpstr>Слайд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8.2</dc:title>
  <dc:creator>Анастасия</dc:creator>
  <cp:lastModifiedBy>Анастасия</cp:lastModifiedBy>
  <cp:revision>57</cp:revision>
  <dcterms:created xsi:type="dcterms:W3CDTF">2025-10-26T20:29:21Z</dcterms:created>
  <dcterms:modified xsi:type="dcterms:W3CDTF">2025-11-22T22:44:21Z</dcterms:modified>
</cp:coreProperties>
</file>