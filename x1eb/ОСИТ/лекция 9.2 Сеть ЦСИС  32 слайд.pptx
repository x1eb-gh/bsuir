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7" r:id="rId2"/>
    <p:sldId id="258" r:id="rId3"/>
    <p:sldId id="314" r:id="rId4"/>
    <p:sldId id="316" r:id="rId5"/>
    <p:sldId id="262" r:id="rId6"/>
    <p:sldId id="259" r:id="rId7"/>
    <p:sldId id="313" r:id="rId8"/>
    <p:sldId id="315" r:id="rId9"/>
    <p:sldId id="320" r:id="rId10"/>
    <p:sldId id="321" r:id="rId11"/>
    <p:sldId id="322" r:id="rId12"/>
    <p:sldId id="323" r:id="rId13"/>
    <p:sldId id="324" r:id="rId14"/>
    <p:sldId id="332" r:id="rId15"/>
    <p:sldId id="326" r:id="rId16"/>
    <p:sldId id="325" r:id="rId17"/>
    <p:sldId id="263" r:id="rId18"/>
    <p:sldId id="265" r:id="rId19"/>
    <p:sldId id="333" r:id="rId20"/>
    <p:sldId id="334" r:id="rId21"/>
    <p:sldId id="335" r:id="rId22"/>
    <p:sldId id="336" r:id="rId23"/>
    <p:sldId id="337" r:id="rId24"/>
    <p:sldId id="266" r:id="rId25"/>
    <p:sldId id="267" r:id="rId26"/>
    <p:sldId id="327" r:id="rId27"/>
    <p:sldId id="329" r:id="rId28"/>
    <p:sldId id="269" r:id="rId29"/>
    <p:sldId id="330" r:id="rId30"/>
    <p:sldId id="272" r:id="rId31"/>
    <p:sldId id="270" r:id="rId32"/>
    <p:sldId id="271" r:id="rId3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7" autoAdjust="0"/>
    <p:restoredTop sz="86358" autoAdjust="0"/>
  </p:normalViewPr>
  <p:slideViewPr>
    <p:cSldViewPr>
      <p:cViewPr varScale="1">
        <p:scale>
          <a:sx n="97" d="100"/>
          <a:sy n="97" d="100"/>
        </p:scale>
        <p:origin x="91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26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EA16125-FDDB-2E23-770F-BFBA9BA48B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163E5A-3B28-3699-1789-D38888AD48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599F4-C840-4E47-B384-FAFE7CC7E4ED}" type="datetimeFigureOut">
              <a:rPr lang="ru-BY" smtClean="0"/>
              <a:t>15.01.2026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D26D66-93A6-796D-E4C4-B1DB1CEA49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5531F1-208B-1EF6-5029-A3D5890E75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89C1F-FCCF-42E4-B716-7914AED55DBD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35363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B60D9-B200-43E3-90FA-603A2B0E605B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9F0E7-86B5-4CBC-A095-BF54C30471C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401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978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552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955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369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754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951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674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82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7888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719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399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4083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2713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F98B5A-1C66-4C3B-8409-B252DEF6A877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575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marL="228600" indent="-228600" eaLnBrk="1" hangingPunct="1">
              <a:spcBef>
                <a:spcPct val="0"/>
              </a:spcBef>
              <a:buFontTx/>
              <a:buAutoNum type="arabicPeriod"/>
            </a:pPr>
            <a:r>
              <a:rPr lang="ru-RU"/>
              <a:t>Как правило это люди которые проводят линию в квартиру, либо в офис, где в наличии имеется всего один терминал и один телефон. Эта схема реализуется при помощи ISDN-карты, которая играет роль маршрутизатора. Эта карта устанавливается в системный блок вашего компьютера, затем инсталируется, и после этого ваш компьютер готов к работе с ISDN-линией. Затем необходимо соединить ваш терминал с сетевым окончанием (NT) посредством какого либо кабеля. Достоинство этого способа в дешевизне необходимого оборудования. В данном случае пользователю необходимо преобрести ISDN-карту с необходимым программным обеспечением для её инсталляции (программное обеспечение должно прилагаться к карте при покупке), и кабель для подключения терминала к NT. Если вы хотите подключить телефон, вам необходимо так же преобрести переходник для подключения телефона к второму гнезду NT. Недостатком является то, что к линии можно подключить только один терминал.</a:t>
            </a:r>
          </a:p>
          <a:p>
            <a:pPr marL="228600" indent="-228600" eaLnBrk="1" hangingPunct="1">
              <a:spcBef>
                <a:spcPct val="0"/>
              </a:spcBef>
              <a:buFontTx/>
              <a:buAutoNum type="arabicPeriod"/>
            </a:pPr>
            <a:r>
              <a:rPr lang="ru-RU"/>
              <a:t>Для осуществления этой схемы пользователю выделяется  N+3- разрядная сеть, где N - количество ЭВМ в локальной сети. Это значит, что вам выдаётся N+3 свободных адреса, которые прописываются в сервере провайдера как ваши адреса. Но из этих N+3 адресов вы можете использовать только N, т.к. первый и последний не используются из-за технических особенностей сети (они используются как разделяющие), и ещё один адрес присваивается маршрутизатору, который вам необходимо будет приобрести вместо использовавшейся в первом случае ISDN-карты. Достоинство маршрутизатора в том, что он в состоянии обслуживать сразу несколько терминалов. Так же в маршрутизаторе имеются два дополнительных гнезда для телефонов. Таким образом абонент получает возможность подключить N терминалов, 2 телефона, и при желании ещё один телефон в NT (если имеется соответствующий переходник). Но для того чтобы объединить компьютеры в сеть, а затем эту сеть подключить к маршрутизатору, необходимо на каждый терминал установить сетевую карту, а затем объединить их в сеть кабелем.</a:t>
            </a:r>
          </a:p>
          <a:p>
            <a:pPr marL="228600" indent="-228600" eaLnBrk="1" hangingPunct="1">
              <a:spcBef>
                <a:spcPct val="0"/>
              </a:spcBef>
              <a:buFontTx/>
              <a:buAutoNum type="arabicPeriod"/>
            </a:pPr>
            <a:r>
              <a:rPr lang="ru-RU"/>
              <a:t>Суть этого способа в том, что вместо маршрутизатора (как в предыдущем примере) используется отдельный сервер, устанавливаемый самим абонентом. Техническое исполнение не намного отличается от предыдущего примера. Во 2-ом примере сеть, организованная абонентом, полностью прописывается в сервере и по сути дела является частью сети провайдера. В настоящем же примере в сервере предоставителя услуги прописывается лишь адрес сервера абонента, а сервер абонента прописывает все адреса абонентских терминалов. Теперь разрядность вашей локальной сети определяете вы сами, и разрядность эта может быть сколь угодно большой.</a:t>
            </a:r>
          </a:p>
        </p:txBody>
      </p:sp>
      <p:sp>
        <p:nvSpPr>
          <p:cNvPr id="4403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9F3F52C-1507-4468-8C7A-10FA4A38E1E9}" type="slidenum">
              <a:rPr lang="ru-RU" smtClean="0"/>
              <a:pPr/>
              <a:t>31</a:t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228600" indent="-228600" eaLnBrk="1" hangingPunct="1">
              <a:spcBef>
                <a:spcPct val="0"/>
              </a:spcBef>
              <a:buFontTx/>
              <a:buAutoNum type="arabicPeriod"/>
            </a:pPr>
            <a:r>
              <a:rPr lang="ru-RU"/>
              <a:t> блок вашего компьютера, затем инсталируется, и после этого ваш компьютер готов к работе с ISDN-линией. Затем необходимо соединить ваш терминал с сетевым окончанием (NT) посредством какого либо кабеля. Достоинство этого способа в дешевизне необходимого оборудования. В данном случае пользователю необходимо преобрести ISDN-карту с необходимым программным обеспечением для её инсталляции (программное обеспечение должно прилагаться к карте при покупке), и кабель для подключения терминала к NT. Если вы хотите подключить телефон, вам необходимо так же преобрести переходник для подключения телефона к второму гнезду NT. Недостатком является то, что к линии можно подключить только один терминал.</a:t>
            </a:r>
          </a:p>
          <a:p>
            <a:pPr marL="228600" indent="-228600" eaLnBrk="1" hangingPunct="1">
              <a:spcBef>
                <a:spcPct val="0"/>
              </a:spcBef>
              <a:buFontTx/>
              <a:buAutoNum type="arabicPeriod"/>
            </a:pPr>
            <a:r>
              <a:rPr lang="ru-RU"/>
              <a:t>Для осуществления этой схемы пользователю выделяется  N+3- разрядная сеть, где N - количество ЭВМ в локальной сети. Это значит, что вам выдаётся N+3 свободных адреса, которые прописываются в сервере провайдера как ваши адреса. Но из этих N+3 адресов вы можете использовать только N, т.к. первый и последний не используются из-за технических особенностей сети (они используются как разделяющие), и ещё один адрес присваивается маршрутизатору, который вам необходимо будет приобрести вместо использовавшейся в первом случае ISDN-карты. Достоинство маршрутизатора в том, что он в состоянии обслуживать сразу несколько терминалов. Так же в маршрутизаторе имеются два дополнительных гнезда для телефонов. Таким образом абонент получает возможность подключить N терминалов, 2 телефона, и при желании ещё один телефон в NT (если имеется соответствующий переходник). Но для того чтобы объединить компьютеры в сеть, а затем эту сеть подключить к маршрутизатору, необходимо на каждый терминал установить сетевую карту, а затем объединить их в сеть кабелем.</a:t>
            </a:r>
          </a:p>
          <a:p>
            <a:pPr marL="228600" indent="-228600" eaLnBrk="1" hangingPunct="1">
              <a:spcBef>
                <a:spcPct val="0"/>
              </a:spcBef>
              <a:buFontTx/>
              <a:buAutoNum type="arabicPeriod"/>
            </a:pPr>
            <a:r>
              <a:rPr lang="ru-RU"/>
              <a:t>Суть этого способа в том, что вместо маршрутизатора (как в предыдущем примере) используется отдельный сервер, устанавливаемый самим абонентом. Техническое исполнение не намного отличается от предыдущего примера. Во 2-ом примере сеть, организованная абонентом, полностью прописывается в сервере и по сути дела является частью сети провайдера. В настоящем же примере в сервере предоставителя услуги прописывается лишь адрес сервера абонента, а сервер абонента прописывает все адреса абонентских терминалов. Теперь разрядность вашей локальной сети определяете вы сами, и разрядность эта может быть сколь угодно большой.</a:t>
            </a:r>
          </a:p>
        </p:txBody>
      </p:sp>
      <p:sp>
        <p:nvSpPr>
          <p:cNvPr id="45060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D6291A4-A5E1-461A-B3A4-7C8AA3DACFBA}" type="slidenum">
              <a:rPr lang="ru-RU" smtClean="0"/>
              <a:pPr/>
              <a:t>32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9CFED-B3B6-4ED3-A097-9097E3D46AE0}" type="datetimeFigureOut">
              <a:rPr lang="ru-RU" smtClean="0"/>
              <a:pPr/>
              <a:t>15.01.2026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DC97D-BA68-4BB3-A34D-89B68F15044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3168352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rgbClr val="002060"/>
                </a:solidFill>
              </a:rPr>
              <a:t>Лекция 8.1</a:t>
            </a:r>
            <a:br>
              <a:rPr lang="ru-RU" b="1" dirty="0">
                <a:solidFill>
                  <a:srgbClr val="002060"/>
                </a:solidFill>
              </a:rPr>
            </a:br>
            <a:r>
              <a:rPr lang="ru-RU" b="1" dirty="0">
                <a:solidFill>
                  <a:srgbClr val="002060"/>
                </a:solidFill>
              </a:rPr>
              <a:t>Цифровая сеть с интеграцией служб ЦСИС (</a:t>
            </a:r>
            <a:r>
              <a:rPr lang="en-US" b="1" dirty="0">
                <a:solidFill>
                  <a:srgbClr val="002060"/>
                </a:solidFill>
              </a:rPr>
              <a:t>ISDN)</a:t>
            </a:r>
            <a:endParaRPr lang="ru-RU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" y="5181267"/>
            <a:ext cx="9144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u-RU" sz="2400" b="1" dirty="0"/>
              <a:t>Сети связи общего пользования (ССОП) развиваются</a:t>
            </a:r>
          </a:p>
          <a:p>
            <a:r>
              <a:rPr lang="ru-RU" sz="2400" b="1" dirty="0"/>
              <a:t> уже более 100 лет.</a:t>
            </a:r>
            <a:endParaRPr lang="ru-RU" sz="2400" dirty="0"/>
          </a:p>
          <a:p>
            <a:r>
              <a:rPr lang="ru-RU" sz="2400" b="1" dirty="0"/>
              <a:t>Общая закономерность – цикличность в развитии </a:t>
            </a:r>
          </a:p>
          <a:p>
            <a:r>
              <a:rPr lang="ru-RU" sz="2400" b="1" dirty="0"/>
              <a:t>технологий и услуг:   </a:t>
            </a:r>
            <a:r>
              <a:rPr lang="ru-RU" sz="2400" b="1" i="1" dirty="0"/>
              <a:t>рождение, развитие, угасание.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250825" y="276225"/>
            <a:ext cx="85693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600" b="1" dirty="0">
                <a:solidFill>
                  <a:schemeClr val="tx2"/>
                </a:solidFill>
              </a:rPr>
              <a:t>Процесс эволюции от ТфОП к </a:t>
            </a:r>
            <a:r>
              <a:rPr lang="en-US" sz="3600" b="1" dirty="0">
                <a:solidFill>
                  <a:schemeClr val="tx2"/>
                </a:solidFill>
              </a:rPr>
              <a:t>NGN</a:t>
            </a:r>
            <a:endParaRPr lang="ru-RU" sz="3600" b="1" dirty="0">
              <a:solidFill>
                <a:schemeClr val="tx2"/>
              </a:solidFill>
            </a:endParaRPr>
          </a:p>
        </p:txBody>
      </p:sp>
      <p:pic>
        <p:nvPicPr>
          <p:cNvPr id="13316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980729"/>
            <a:ext cx="8964488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Структура цифровой станции</a:t>
            </a: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15262" t="11746" r="14855" b="6076"/>
          <a:stretch>
            <a:fillRect/>
          </a:stretch>
        </p:blipFill>
        <p:spPr bwMode="auto">
          <a:xfrm>
            <a:off x="179512" y="1124744"/>
            <a:ext cx="8964488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34082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Цифровая сеть с интеграцией услуг </a:t>
            </a:r>
            <a:r>
              <a:rPr lang="en-US" sz="3600" b="1" dirty="0">
                <a:solidFill>
                  <a:schemeClr val="tx2"/>
                </a:solidFill>
              </a:rPr>
              <a:t>ISDN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9144000" cy="5877272"/>
          </a:xfrm>
        </p:spPr>
        <p:txBody>
          <a:bodyPr>
            <a:normAutofit lnSpcReduction="10000"/>
          </a:bodyPr>
          <a:lstStyle/>
          <a:p>
            <a:r>
              <a:rPr lang="ru-RU" sz="2400" dirty="0"/>
              <a:t>На рынке связи стали появляться пользователи, требующие новых типов услуг помимо традиционного двухточечного разговорного соединения.</a:t>
            </a:r>
          </a:p>
          <a:p>
            <a:r>
              <a:rPr lang="ru-RU" sz="2400" dirty="0"/>
              <a:t> На этом этапе произошла интеграция услуг передачи голосовых сообщений и услуг передачи данных.</a:t>
            </a:r>
          </a:p>
          <a:p>
            <a:r>
              <a:rPr lang="ru-RU" sz="2400" dirty="0">
                <a:solidFill>
                  <a:srgbClr val="C00000"/>
                </a:solidFill>
              </a:rPr>
              <a:t>  </a:t>
            </a:r>
            <a:r>
              <a:rPr lang="ru-RU" sz="2400" dirty="0"/>
              <a:t>В результате были сформулированы основные принципы создания цифровой сети с интеграцией услуг</a:t>
            </a:r>
            <a:r>
              <a:rPr lang="en-US" sz="2400" dirty="0"/>
              <a:t> </a:t>
            </a:r>
            <a:r>
              <a:rPr lang="ru-RU" sz="2400" dirty="0"/>
              <a:t>ЦСИС (</a:t>
            </a:r>
            <a:r>
              <a:rPr lang="en-US" sz="2400" dirty="0"/>
              <a:t>ISDN)</a:t>
            </a:r>
            <a:r>
              <a:rPr lang="ru-RU" sz="2400" dirty="0"/>
              <a:t>.</a:t>
            </a:r>
          </a:p>
          <a:p>
            <a:pPr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ISDN </a:t>
            </a:r>
            <a:r>
              <a:rPr lang="en-US" sz="2400" b="1" dirty="0"/>
              <a:t>(Integrated Services Digital Network) – </a:t>
            </a:r>
            <a:r>
              <a:rPr lang="ru-RU" sz="2400" b="1" dirty="0"/>
              <a:t>цифровая сеть с интеграцией услуг </a:t>
            </a:r>
            <a:r>
              <a:rPr lang="ru-RU" sz="2400" dirty="0"/>
              <a:t>– </a:t>
            </a:r>
            <a:r>
              <a:rPr lang="ru-RU" sz="2400" b="1" dirty="0"/>
              <a:t>набор цифровых услуг, доступных для конечных пользователей</a:t>
            </a:r>
            <a:r>
              <a:rPr lang="ru-RU" sz="2400" dirty="0"/>
              <a:t>.</a:t>
            </a:r>
            <a:r>
              <a:rPr lang="en-US" sz="2400" dirty="0"/>
              <a:t> </a:t>
            </a:r>
            <a:endParaRPr lang="ru-RU" sz="2400" dirty="0"/>
          </a:p>
          <a:p>
            <a:pPr>
              <a:defRPr/>
            </a:pPr>
            <a:r>
              <a:rPr lang="en-US" sz="2400" dirty="0"/>
              <a:t>ISDN </a:t>
            </a:r>
            <a:r>
              <a:rPr lang="ru-RU" sz="2400" dirty="0"/>
              <a:t>рассматривалась как технология, с помощью которой можно полностью заменить существующую телефонную аналоговую сеть (ТфОП) современным цифровым аналогом с поддержкой разнообразного трафика.     </a:t>
            </a:r>
          </a:p>
          <a:p>
            <a:pPr>
              <a:defRPr/>
            </a:pPr>
            <a:r>
              <a:rPr lang="ru-RU" sz="2400" dirty="0"/>
              <a:t>       Сети </a:t>
            </a:r>
            <a:r>
              <a:rPr lang="en-US" sz="2400" dirty="0"/>
              <a:t>ISDN</a:t>
            </a:r>
            <a:r>
              <a:rPr lang="ru-RU" sz="2400" dirty="0"/>
              <a:t> начали развиваться в 19</a:t>
            </a:r>
            <a:r>
              <a:rPr lang="en-US" sz="2400" dirty="0"/>
              <a:t>87</a:t>
            </a:r>
            <a:r>
              <a:rPr lang="ru-RU" sz="2400" dirty="0"/>
              <a:t> году (1995 - год выпуска стандарта). </a:t>
            </a:r>
          </a:p>
          <a:p>
            <a:endParaRPr lang="ru-RU" sz="2400" b="1" dirty="0"/>
          </a:p>
          <a:p>
            <a:endParaRPr lang="ru-RU" sz="2400" dirty="0"/>
          </a:p>
          <a:p>
            <a:endParaRPr lang="ru-RU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Содержимое 2"/>
          <p:cNvSpPr>
            <a:spLocks noGrp="1"/>
          </p:cNvSpPr>
          <p:nvPr>
            <p:ph idx="1"/>
          </p:nvPr>
        </p:nvSpPr>
        <p:spPr>
          <a:xfrm>
            <a:off x="152400" y="685800"/>
            <a:ext cx="8991600" cy="6172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u="sng" dirty="0"/>
              <a:t>   Основные преимущества в сравнении с традиционной ТфОП</a:t>
            </a:r>
            <a:r>
              <a:rPr lang="ru-RU" sz="2400" b="1" dirty="0"/>
              <a:t>:</a:t>
            </a:r>
          </a:p>
          <a:p>
            <a:pPr>
              <a:buFontTx/>
              <a:buAutoNum type="arabicPeriod"/>
            </a:pPr>
            <a:r>
              <a:rPr lang="ru-RU" sz="2400" dirty="0"/>
              <a:t>Сокращение времени установления соединения;</a:t>
            </a:r>
          </a:p>
          <a:p>
            <a:pPr>
              <a:buFontTx/>
              <a:buAutoNum type="arabicPeriod"/>
            </a:pPr>
            <a:r>
              <a:rPr lang="ru-RU" sz="2400" b="1" dirty="0">
                <a:solidFill>
                  <a:srgbClr val="000000"/>
                </a:solidFill>
              </a:rPr>
              <a:t>Высокое качество</a:t>
            </a:r>
            <a:r>
              <a:rPr lang="ru-RU" sz="2400" b="1" dirty="0"/>
              <a:t>;</a:t>
            </a:r>
          </a:p>
          <a:p>
            <a:pPr>
              <a:buFontTx/>
              <a:buAutoNum type="arabicPeriod"/>
            </a:pPr>
            <a:r>
              <a:rPr lang="ru-RU" sz="2400" b="1" dirty="0">
                <a:solidFill>
                  <a:srgbClr val="000000"/>
                </a:solidFill>
              </a:rPr>
              <a:t>Надежность и конфиденциальность связи </a:t>
            </a:r>
            <a:r>
              <a:rPr lang="ru-RU" sz="2400" dirty="0">
                <a:solidFill>
                  <a:srgbClr val="000000"/>
                </a:solidFill>
              </a:rPr>
              <a:t>- улучшенная помехоустойчивость передачи речи благодаря цифровому кодированию</a:t>
            </a:r>
            <a:r>
              <a:rPr lang="en-US" sz="2400" dirty="0"/>
              <a:t>;</a:t>
            </a:r>
            <a:endParaRPr lang="ru-RU" sz="2400" dirty="0"/>
          </a:p>
          <a:p>
            <a:pPr>
              <a:buFontTx/>
              <a:buAutoNum type="arabicPeriod"/>
            </a:pPr>
            <a:r>
              <a:rPr lang="ru-RU" sz="2400" b="1" dirty="0">
                <a:solidFill>
                  <a:srgbClr val="000000"/>
                </a:solidFill>
              </a:rPr>
              <a:t>Возможность одновременно вести телефонные переговоры и передавать данные</a:t>
            </a:r>
            <a:r>
              <a:rPr lang="ru-RU" sz="2400" b="1" dirty="0"/>
              <a:t>;</a:t>
            </a:r>
          </a:p>
          <a:p>
            <a:pPr>
              <a:buFontTx/>
              <a:buAutoNum type="arabicPeriod"/>
            </a:pPr>
            <a:r>
              <a:rPr lang="ru-RU" sz="2400" b="1" dirty="0">
                <a:solidFill>
                  <a:srgbClr val="000000"/>
                </a:solidFill>
              </a:rPr>
              <a:t>Подключение к сети ISDN по обычной медной паре;</a:t>
            </a:r>
          </a:p>
          <a:p>
            <a:pPr>
              <a:buFontTx/>
              <a:buAutoNum type="arabicPeriod"/>
            </a:pPr>
            <a:r>
              <a:rPr lang="ru-RU" sz="2400" b="1" u="sng" dirty="0">
                <a:solidFill>
                  <a:srgbClr val="000000"/>
                </a:solidFill>
              </a:rPr>
              <a:t>Возможность содержать на одной ISDN-линии до восьми аппаратов с индивидуальным номером;</a:t>
            </a:r>
          </a:p>
          <a:p>
            <a:pPr>
              <a:buFontTx/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Широкий выбор дополнительных видов услуг</a:t>
            </a:r>
            <a:r>
              <a:rPr lang="ru-RU" sz="2400" dirty="0"/>
              <a:t>.</a:t>
            </a:r>
          </a:p>
        </p:txBody>
      </p:sp>
      <p:sp>
        <p:nvSpPr>
          <p:cNvPr id="7171" name="Rectangle 10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33400"/>
          </a:xfrm>
          <a:noFill/>
        </p:spPr>
        <p:txBody>
          <a:bodyPr>
            <a:normAutofit fontScale="90000"/>
          </a:bodyPr>
          <a:lstStyle/>
          <a:p>
            <a:pPr>
              <a:spcBef>
                <a:spcPct val="20000"/>
              </a:spcBef>
            </a:pPr>
            <a:r>
              <a:rPr lang="ru-RU" sz="3200" dirty="0">
                <a:solidFill>
                  <a:srgbClr val="7030A0"/>
                </a:solidFill>
                <a:latin typeface="Times New Roman" pitchFamily="18" charset="0"/>
              </a:rPr>
              <a:t> </a:t>
            </a:r>
            <a:br>
              <a:rPr lang="ru-RU" sz="3200" dirty="0">
                <a:solidFill>
                  <a:srgbClr val="7030A0"/>
                </a:solidFill>
                <a:latin typeface="Times New Roman" pitchFamily="18" charset="0"/>
              </a:rPr>
            </a:br>
            <a:r>
              <a:rPr lang="ru-RU" sz="3200" b="1" dirty="0">
                <a:solidFill>
                  <a:schemeClr val="tx2"/>
                </a:solidFill>
                <a:cs typeface="Arial" charset="0"/>
              </a:rPr>
              <a:t>Сеть</a:t>
            </a:r>
            <a:r>
              <a:rPr lang="ru-RU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ISDN </a:t>
            </a:r>
            <a:r>
              <a:rPr lang="ru-RU" sz="3200" b="1" dirty="0">
                <a:solidFill>
                  <a:schemeClr val="tx2"/>
                </a:solidFill>
                <a:cs typeface="Arial" charset="0"/>
              </a:rPr>
              <a:t> </a:t>
            </a:r>
            <a:br>
              <a:rPr lang="ru-RU" sz="3200" b="1" dirty="0">
                <a:solidFill>
                  <a:schemeClr val="tx2"/>
                </a:solidFill>
                <a:cs typeface="Arial" charset="0"/>
              </a:rPr>
            </a:br>
            <a:endParaRPr lang="ru-RU" sz="3200" dirty="0">
              <a:solidFill>
                <a:srgbClr val="7030A0"/>
              </a:solidFill>
              <a:cs typeface="Arial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712968" cy="836712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Цифровая сеть с интеграцией услуг </a:t>
            </a:r>
            <a:r>
              <a:rPr lang="en-US" sz="3600" b="1" dirty="0">
                <a:solidFill>
                  <a:schemeClr val="tx2"/>
                </a:solidFill>
              </a:rPr>
              <a:t>ISDN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ru-RU" sz="4400" dirty="0"/>
              <a:t> </a:t>
            </a:r>
          </a:p>
          <a:p>
            <a:pPr>
              <a:buNone/>
            </a:pPr>
            <a:r>
              <a:rPr lang="ru-RU" sz="4400" dirty="0"/>
              <a:t> В</a:t>
            </a:r>
            <a:r>
              <a:rPr lang="ru-RU" sz="4400" u="sng" dirty="0"/>
              <a:t> цифровой телефонии соединения осуществляются со скоростью ОЦК 64кбит/с.</a:t>
            </a:r>
          </a:p>
          <a:p>
            <a:r>
              <a:rPr lang="ru-RU" sz="4400" dirty="0"/>
              <a:t>Для использования на цифровых сетях ТфОП появилась и новая цифровая сигнализация , вынесенная  в отдельный </a:t>
            </a:r>
            <a:r>
              <a:rPr lang="ru-RU" sz="4400" b="1" dirty="0"/>
              <a:t>сигнальный канал – ОКС-7 .</a:t>
            </a:r>
          </a:p>
          <a:p>
            <a:r>
              <a:rPr lang="ru-RU" sz="4400" b="1" dirty="0"/>
              <a:t>Это привело к разделению задач:</a:t>
            </a:r>
          </a:p>
          <a:p>
            <a:pPr>
              <a:buNone/>
            </a:pPr>
            <a:r>
              <a:rPr lang="ru-RU" sz="4400" b="1" dirty="0"/>
              <a:t>            - обмена сигнализацией;</a:t>
            </a:r>
          </a:p>
          <a:p>
            <a:pPr>
              <a:buNone/>
            </a:pPr>
            <a:r>
              <a:rPr lang="ru-RU" sz="4400" b="1" dirty="0"/>
              <a:t>            - обмена данными (речевыми сигналами);</a:t>
            </a:r>
          </a:p>
          <a:p>
            <a:pPr>
              <a:buNone/>
            </a:pPr>
            <a:r>
              <a:rPr lang="ru-RU" sz="4400" b="1" dirty="0"/>
              <a:t>            -  развитию цифровых соединительных линий, </a:t>
            </a:r>
          </a:p>
          <a:p>
            <a:pPr>
              <a:buNone/>
            </a:pPr>
            <a:r>
              <a:rPr lang="ru-RU" sz="4400" b="1" dirty="0"/>
              <a:t>           - решало проблему с безопасностью</a:t>
            </a:r>
            <a:r>
              <a:rPr lang="ru-RU" sz="4400" dirty="0"/>
              <a:t>, поскольку</a:t>
            </a:r>
          </a:p>
          <a:p>
            <a:pPr>
              <a:buNone/>
            </a:pPr>
            <a:r>
              <a:rPr lang="ru-RU" sz="4400" dirty="0"/>
              <a:t>           абонент не имел  доступа к сигнальному каналу.</a:t>
            </a:r>
          </a:p>
          <a:p>
            <a:endParaRPr lang="ru-RU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34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0"/>
            <a:ext cx="8784976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6712"/>
          </a:xfrm>
        </p:spPr>
        <p:txBody>
          <a:bodyPr>
            <a:normAutofit fontScale="90000"/>
          </a:bodyPr>
          <a:lstStyle/>
          <a:p>
            <a:br>
              <a:rPr lang="ru-RU" b="1" dirty="0">
                <a:solidFill>
                  <a:schemeClr val="tx2"/>
                </a:solidFill>
              </a:rPr>
            </a:br>
            <a:r>
              <a:rPr lang="ru-RU" sz="4000" b="1" dirty="0">
                <a:solidFill>
                  <a:schemeClr val="tx2"/>
                </a:solidFill>
              </a:rPr>
              <a:t>Цифровая сеть с интеграцией услуг </a:t>
            </a:r>
            <a:r>
              <a:rPr lang="en-US" sz="4000" b="1" dirty="0">
                <a:solidFill>
                  <a:schemeClr val="tx2"/>
                </a:solidFill>
              </a:rPr>
              <a:t>ISDN</a:t>
            </a:r>
            <a:br>
              <a:rPr lang="ru-RU" b="1" dirty="0">
                <a:solidFill>
                  <a:schemeClr val="tx2"/>
                </a:solidFill>
              </a:rPr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08720"/>
            <a:ext cx="8964488" cy="5760640"/>
          </a:xfrm>
        </p:spPr>
        <p:txBody>
          <a:bodyPr>
            <a:normAutofit/>
          </a:bodyPr>
          <a:lstStyle/>
          <a:p>
            <a:r>
              <a:rPr lang="ru-RU" b="1" dirty="0"/>
              <a:t>Абонент ISDN получает</a:t>
            </a:r>
            <a:r>
              <a:rPr lang="ru-RU" dirty="0"/>
              <a:t>:</a:t>
            </a:r>
          </a:p>
          <a:p>
            <a:pPr>
              <a:buNone/>
            </a:pPr>
            <a:r>
              <a:rPr lang="ru-RU" dirty="0"/>
              <a:t>        - два информационных канала по 64 кбит/с и</a:t>
            </a:r>
          </a:p>
          <a:p>
            <a:pPr>
              <a:buNone/>
            </a:pPr>
            <a:r>
              <a:rPr lang="ru-RU" dirty="0"/>
              <a:t>        - один канал сигнализации 16 кбит/с для  </a:t>
            </a:r>
          </a:p>
          <a:p>
            <a:pPr>
              <a:buNone/>
            </a:pPr>
            <a:r>
              <a:rPr lang="ru-RU" dirty="0"/>
              <a:t>           управления соединением (2B+D). </a:t>
            </a:r>
          </a:p>
          <a:p>
            <a:r>
              <a:rPr lang="ru-RU" b="1" dirty="0"/>
              <a:t>Общая пропускная способность канала составляет 144 кбит/с</a:t>
            </a:r>
            <a:r>
              <a:rPr lang="ru-RU" dirty="0"/>
              <a:t>, что позволяет передавать даже один видеоканал в реальном времени.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200" b="1" dirty="0">
                <a:solidFill>
                  <a:srgbClr val="002060"/>
                </a:solidFill>
              </a:rPr>
              <a:t>Области применения сетей </a:t>
            </a:r>
            <a:r>
              <a:rPr lang="en-US" sz="3200" b="1" dirty="0">
                <a:solidFill>
                  <a:srgbClr val="002060"/>
                </a:solidFill>
              </a:rPr>
              <a:t>ISDN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D65385-3473-466F-BFAC-CCD6C84033F0}" type="slidenum">
              <a:rPr lang="ru-RU" smtClean="0"/>
              <a:pPr>
                <a:defRPr/>
              </a:pPr>
              <a:t>9</a:t>
            </a:fld>
            <a:endParaRPr lang="ru-RU"/>
          </a:p>
        </p:txBody>
      </p:sp>
      <p:sp>
        <p:nvSpPr>
          <p:cNvPr id="6147" name="TextBox 30"/>
          <p:cNvSpPr txBox="1">
            <a:spLocks noChangeArrowheads="1"/>
          </p:cNvSpPr>
          <p:nvPr/>
        </p:nvSpPr>
        <p:spPr bwMode="auto">
          <a:xfrm>
            <a:off x="251520" y="1196752"/>
            <a:ext cx="8640960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цифровая телефония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передача данных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объединение удаленных ЛС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доступ к глобальным компьютерным сетям 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Internet);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передача трафика, чувствительного к задержкам (видео, звук)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интеграция различных видов трафика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1205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550414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600" b="1" dirty="0">
                <a:solidFill>
                  <a:srgbClr val="002060"/>
                </a:solidFill>
              </a:rPr>
              <a:t>Объединение удаленных ЛС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>
          <a:xfrm>
            <a:off x="5508104" y="908720"/>
            <a:ext cx="3635896" cy="5949280"/>
          </a:xfrm>
          <a:prstGeom prst="rect">
            <a:avLst/>
          </a:prstGeom>
        </p:spPr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93663" algn="just"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Сегодня работа любой средней или крупной компании, имеющей географически рассредоточенные офисы, вряд ли будет эффективной без организации удаленного доступа к ЛВС филиалов. </a:t>
            </a:r>
          </a:p>
          <a:p>
            <a:pPr indent="381000" algn="just"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Для многих компаний идеальным решением как раз и является технология ISDN, способная обеспечить и приемлемый уровень производительности, и необходимое качество передачи информации, и максимально полный перечень услуг - и все это за вполне доступную цену.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484784"/>
            <a:ext cx="5724892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54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910454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200" b="1" dirty="0">
                <a:solidFill>
                  <a:srgbClr val="002060"/>
                </a:solidFill>
              </a:rPr>
              <a:t>Малый офис/Домашний офис (</a:t>
            </a:r>
            <a:r>
              <a:rPr lang="en-US" sz="3200" b="1" dirty="0">
                <a:solidFill>
                  <a:srgbClr val="002060"/>
                </a:solidFill>
              </a:rPr>
              <a:t>SOHO)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004048" y="1268760"/>
            <a:ext cx="3911352" cy="558924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381000" algn="just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Не менее привлекательным является применение ISDN в организации такой формы удаленного доступа, как SOHO.</a:t>
            </a:r>
          </a:p>
          <a:p>
            <a:pPr indent="381000" algn="just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Она предполагает возможность использования служащими средств телекоммуникаций для постоянной связи с офисом, не выходя из дома, сокращая тем самым количество регулярных поездок на работу.</a:t>
            </a:r>
          </a:p>
          <a:p>
            <a:pPr indent="381000" algn="just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Привлечению интереса к данному направлению способствует и то, что оно позволяет существенно сократить площади офисов и увеличить время, которое служащий может уделять работе.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12776"/>
            <a:ext cx="4860032" cy="496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8118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622422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600" b="1" dirty="0">
                <a:solidFill>
                  <a:srgbClr val="002060"/>
                </a:solidFill>
              </a:rPr>
              <a:t>Доступ к сети </a:t>
            </a:r>
            <a:r>
              <a:rPr lang="en-US" sz="3600" b="1" dirty="0">
                <a:solidFill>
                  <a:srgbClr val="002060"/>
                </a:solidFill>
              </a:rPr>
              <a:t>Internet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5257800" y="980728"/>
            <a:ext cx="3886200" cy="5877272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82600" algn="just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Существующие способы установления соединений по аналоговым телефонным линиям с помощью модемов не способны обеспечить приемлемые скорости передачи информации, а также накладывают ряд ограничений на использование сервисных функций, крайне важных для организации современного бизнеса. </a:t>
            </a:r>
          </a:p>
          <a:p>
            <a:pPr indent="482600" algn="just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В то же время решения на основе выделенных линий остаются все еще слишком дорогими для многих компаний. </a:t>
            </a:r>
          </a:p>
          <a:p>
            <a:pPr indent="482600" algn="just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Совершенно очевидно, что решить эту проблему может </a:t>
            </a:r>
            <a:r>
              <a:rPr lang="ru-RU" altLang="ru-RU" sz="1800" b="1" dirty="0">
                <a:latin typeface="Times New Roman" panose="02020603050405020304" pitchFamily="18" charset="0"/>
              </a:rPr>
              <a:t>ISDN</a:t>
            </a:r>
            <a:r>
              <a:rPr lang="ru-RU" altLang="ru-RU" sz="1800" dirty="0">
                <a:latin typeface="Times New Roman" panose="02020603050405020304" pitchFamily="18" charset="0"/>
              </a:rPr>
              <a:t>, предоставляющая пользователям каналы со скоростями 64/128 кбит/с.</a:t>
            </a:r>
            <a:endParaRPr lang="ru-RU" altLang="ru-RU" sz="1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56792"/>
            <a:ext cx="5112568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26377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0" y="214290"/>
            <a:ext cx="9144000" cy="694430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200" b="1" dirty="0">
                <a:solidFill>
                  <a:srgbClr val="002060"/>
                </a:solidFill>
              </a:rPr>
              <a:t>Резервирование каналов при помощи линий </a:t>
            </a:r>
            <a:r>
              <a:rPr lang="en-US" sz="3200" b="1" dirty="0">
                <a:solidFill>
                  <a:srgbClr val="002060"/>
                </a:solidFill>
              </a:rPr>
              <a:t>ISDN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5364088" y="836712"/>
            <a:ext cx="3550128" cy="6021288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82600" algn="just"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При организации связи между несколькими удаленными локальными сетями часто требуется обеспечить повышенную надежность соединения. Многие организации используют каналы ISDN в качестве резервных для линий связи, например, выделенных физических линий. </a:t>
            </a:r>
          </a:p>
          <a:p>
            <a:pPr indent="482600" algn="just"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Использование же в качестве резервных линий коммутируемые каналы телефонной сети общего пользования приводит к существенной потере в скорости работы</a:t>
            </a:r>
            <a:r>
              <a:rPr lang="ru-RU" altLang="ru-RU" sz="1800" dirty="0">
                <a:latin typeface="Times New Roman" panose="02020603050405020304" pitchFamily="18" charset="0"/>
              </a:rPr>
              <a:t>. </a:t>
            </a:r>
            <a:endParaRPr lang="ru-RU" altLang="ru-RU" sz="1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2308796"/>
            <a:ext cx="5368539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8203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"/>
            <a:ext cx="7886700" cy="709531"/>
          </a:xfrm>
        </p:spPr>
        <p:txBody>
          <a:bodyPr>
            <a:normAutofit fontScale="90000"/>
          </a:bodyPr>
          <a:lstStyle/>
          <a:p>
            <a:pPr algn="ctr"/>
            <a:r>
              <a:rPr lang="ru-RU" altLang="ru-RU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Структурный состав </a:t>
            </a:r>
            <a:r>
              <a:rPr lang="en-US" altLang="ru-RU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ISDN</a:t>
            </a:r>
            <a:endParaRPr lang="ru-RU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827584" y="908719"/>
            <a:ext cx="7848872" cy="2088233"/>
            <a:chOff x="96" y="960"/>
            <a:chExt cx="5520" cy="1632"/>
          </a:xfrm>
        </p:grpSpPr>
        <p:sp>
          <p:nvSpPr>
            <p:cNvPr id="4" name="AutoShape 13"/>
            <p:cNvSpPr>
              <a:spLocks noChangeArrowheads="1"/>
            </p:cNvSpPr>
            <p:nvPr/>
          </p:nvSpPr>
          <p:spPr bwMode="auto">
            <a:xfrm>
              <a:off x="96" y="2064"/>
              <a:ext cx="1200" cy="528"/>
            </a:xfrm>
            <a:prstGeom prst="wedgeRectCallout">
              <a:avLst>
                <a:gd name="adj1" fmla="val 54750"/>
                <a:gd name="adj2" fmla="val -140907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ru-RU" altLang="ru-RU" sz="1600" b="1" dirty="0"/>
                <a:t>Точка доступа (интерфейс </a:t>
              </a:r>
              <a:r>
                <a:rPr lang="ru-RU" altLang="ru-RU" sz="2000" b="1" dirty="0"/>
                <a:t>)</a:t>
              </a: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374" y="960"/>
              <a:ext cx="2895" cy="408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b="1" dirty="0"/>
                <a:t>Сеть с коммутацией каналов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374" y="1368"/>
              <a:ext cx="2895" cy="40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b="1" dirty="0"/>
                <a:t>Сеть с коммутацией пакетов</a:t>
              </a: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374" y="1776"/>
              <a:ext cx="2895" cy="40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b="1"/>
                <a:t>Сеть сигнализации</a:t>
              </a: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H="1">
              <a:off x="991" y="1549"/>
              <a:ext cx="38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>
              <a:off x="4269" y="1549"/>
              <a:ext cx="38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80" y="1323"/>
              <a:ext cx="511" cy="4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b="1"/>
                <a:t>Т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4652" y="1323"/>
              <a:ext cx="511" cy="45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 b="1"/>
                <a:t>Т</a:t>
              </a:r>
            </a:p>
          </p:txBody>
        </p:sp>
        <p:sp>
          <p:nvSpPr>
            <p:cNvPr id="12" name="AutoShape 12"/>
            <p:cNvSpPr>
              <a:spLocks noChangeArrowheads="1"/>
            </p:cNvSpPr>
            <p:nvPr/>
          </p:nvSpPr>
          <p:spPr bwMode="auto">
            <a:xfrm>
              <a:off x="4368" y="2093"/>
              <a:ext cx="1248" cy="499"/>
            </a:xfrm>
            <a:prstGeom prst="wedgeRectCallout">
              <a:avLst>
                <a:gd name="adj1" fmla="val -57292"/>
                <a:gd name="adj2" fmla="val -159019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ru-RU" altLang="ru-RU" sz="1600" b="1" dirty="0"/>
                <a:t>Точка доступа (интерфейс)</a:t>
              </a:r>
            </a:p>
          </p:txBody>
        </p:sp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1268" y="1447"/>
              <a:ext cx="212" cy="2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4173" y="1447"/>
              <a:ext cx="213" cy="2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ru-RU"/>
            </a:p>
          </p:txBody>
        </p:sp>
      </p:grp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207390" y="3249497"/>
            <a:ext cx="8963712" cy="36085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ru-RU" altLang="ru-RU" sz="2000" dirty="0"/>
              <a:t>В </a:t>
            </a:r>
            <a:r>
              <a:rPr lang="ru-RU" altLang="ru-RU" sz="1800" dirty="0"/>
              <a:t>составе </a:t>
            </a:r>
            <a:r>
              <a:rPr lang="en-US" altLang="ru-RU" sz="1800" dirty="0"/>
              <a:t>ISDN </a:t>
            </a:r>
            <a:r>
              <a:rPr lang="ru-RU" altLang="ru-RU" sz="1800" dirty="0"/>
              <a:t>интегрируются 3 вида специализированных сетей:</a:t>
            </a:r>
          </a:p>
          <a:p>
            <a:pPr lvl="1" indent="-34200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sz="1800" dirty="0"/>
              <a:t>Сеть с коммутацией каналов</a:t>
            </a:r>
            <a:r>
              <a:rPr lang="en-US" altLang="ru-RU" sz="1800" dirty="0"/>
              <a:t>,</a:t>
            </a:r>
            <a:endParaRPr lang="ru-RU" altLang="ru-RU" sz="1800" dirty="0"/>
          </a:p>
          <a:p>
            <a:pPr lvl="1" indent="-34200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sz="1800" dirty="0"/>
              <a:t>Сеть с коммутацией пакетов</a:t>
            </a:r>
            <a:r>
              <a:rPr lang="en-US" altLang="ru-RU" sz="1800" dirty="0"/>
              <a:t>,</a:t>
            </a:r>
            <a:endParaRPr lang="ru-RU" altLang="ru-RU" sz="1800" dirty="0"/>
          </a:p>
          <a:p>
            <a:pPr lvl="1" indent="-342000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altLang="ru-RU" sz="1800" dirty="0"/>
              <a:t>Сеть сигнализации</a:t>
            </a:r>
            <a:r>
              <a:rPr lang="en-US" altLang="ru-RU" sz="1800" dirty="0"/>
              <a:t>.</a:t>
            </a:r>
          </a:p>
          <a:p>
            <a:pPr marL="0" lvl="1" indent="0">
              <a:spcBef>
                <a:spcPts val="0"/>
              </a:spcBef>
              <a:buNone/>
            </a:pPr>
            <a:r>
              <a:rPr lang="ru-RU" alt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свойства </a:t>
            </a:r>
            <a:r>
              <a:rPr lang="en-US" alt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ISDN</a:t>
            </a:r>
            <a:r>
              <a:rPr lang="en-US" altLang="ru-RU" sz="1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ru-RU" sz="1800" dirty="0"/>
              <a:t>Возможность передачи информации в цифровой форме от одного терминала пользователя до другого.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ru-RU" sz="1800" dirty="0"/>
              <a:t>Предоставление широкого спектра услуг.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ru-RU" sz="1800" dirty="0"/>
              <a:t>Возможность подключения разнообразных терминалов к сети с помощью стандартного согласующего интерфейса.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ru-RU" sz="1800" dirty="0"/>
              <a:t>Централизованная сигнализация по общему каналу (ОКС7).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altLang="ru-RU" sz="1800" dirty="0"/>
              <a:t>Возможность использования обоих способов коммутации</a:t>
            </a:r>
            <a:r>
              <a:rPr lang="en-US" altLang="ru-RU" sz="1800" dirty="0"/>
              <a:t> (</a:t>
            </a:r>
            <a:r>
              <a:rPr lang="ru-RU" altLang="ru-RU" sz="1800" dirty="0"/>
              <a:t>коммутации каналов</a:t>
            </a:r>
            <a:r>
              <a:rPr lang="en-US" altLang="ru-RU" sz="1800" dirty="0"/>
              <a:t> </a:t>
            </a:r>
            <a:r>
              <a:rPr lang="ru-RU" altLang="ru-RU" sz="1800" dirty="0"/>
              <a:t>и коммутации пакетов)</a:t>
            </a:r>
          </a:p>
          <a:p>
            <a:pPr marL="0" lvl="1" indent="0">
              <a:spcBef>
                <a:spcPts val="0"/>
              </a:spcBef>
              <a:buNone/>
            </a:pPr>
            <a:endParaRPr lang="ru-RU" altLang="ru-RU" sz="1800" dirty="0"/>
          </a:p>
        </p:txBody>
      </p:sp>
    </p:spTree>
    <p:extLst>
      <p:ext uri="{BB962C8B-B14F-4D97-AF65-F5344CB8AC3E}">
        <p14:creationId xmlns:p14="http://schemas.microsoft.com/office/powerpoint/2010/main" val="338894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694430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600" b="1" dirty="0">
                <a:solidFill>
                  <a:srgbClr val="002060"/>
                </a:solidFill>
              </a:rPr>
              <a:t>Архитектура сети </a:t>
            </a:r>
            <a:r>
              <a:rPr lang="en-US" sz="3600" b="1" dirty="0">
                <a:solidFill>
                  <a:srgbClr val="002060"/>
                </a:solidFill>
              </a:rPr>
              <a:t>ISDN</a:t>
            </a:r>
            <a:r>
              <a:rPr lang="ru-RU" sz="3600" b="1" dirty="0">
                <a:solidFill>
                  <a:srgbClr val="002060"/>
                </a:solidFill>
              </a:rPr>
              <a:t> (1)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D65385-3473-466F-BFAC-CCD6C84033F0}" type="slidenum">
              <a:rPr lang="ru-RU" smtClean="0"/>
              <a:pPr>
                <a:defRPr/>
              </a:pPr>
              <a:t>15</a:t>
            </a:fld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24744"/>
            <a:ext cx="8589934" cy="528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5105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694430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200" b="1" dirty="0">
                <a:solidFill>
                  <a:srgbClr val="002060"/>
                </a:solidFill>
              </a:rPr>
              <a:t>Архитектура сети </a:t>
            </a:r>
            <a:r>
              <a:rPr lang="en-US" sz="3200" b="1" dirty="0">
                <a:solidFill>
                  <a:srgbClr val="002060"/>
                </a:solidFill>
              </a:rPr>
              <a:t>ISDN</a:t>
            </a:r>
            <a:r>
              <a:rPr lang="ru-RU" sz="3200" b="1" dirty="0">
                <a:solidFill>
                  <a:srgbClr val="002060"/>
                </a:solidFill>
              </a:rPr>
              <a:t> (2)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D65385-3473-466F-BFAC-CCD6C84033F0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  <p:sp>
        <p:nvSpPr>
          <p:cNvPr id="6147" name="TextBox 30"/>
          <p:cNvSpPr txBox="1">
            <a:spLocks noChangeArrowheads="1"/>
          </p:cNvSpPr>
          <p:nvPr/>
        </p:nvSpPr>
        <p:spPr bwMode="auto">
          <a:xfrm>
            <a:off x="323528" y="1052736"/>
            <a:ext cx="8640960" cy="5805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Aft>
                <a:spcPts val="1200"/>
              </a:spcAft>
            </a:pP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Сеть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ISDN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состоит из следующих компонентов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сетевые терминальные устройства (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линейные терминальные устройства (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терминальные адаптеры (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абонентские терминалы.</a:t>
            </a:r>
          </a:p>
          <a:p>
            <a:pPr algn="just">
              <a:spcAft>
                <a:spcPts val="1200"/>
              </a:spcAft>
            </a:pP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Существует два вида терминалов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ISDN: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специализированные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ISDN-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терминалы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pPr marL="457200" indent="-4572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TE2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неспециализированные терминалы).</a:t>
            </a:r>
          </a:p>
        </p:txBody>
      </p:sp>
    </p:spTree>
    <p:extLst>
      <p:ext uri="{BB962C8B-B14F-4D97-AF65-F5344CB8AC3E}">
        <p14:creationId xmlns:p14="http://schemas.microsoft.com/office/powerpoint/2010/main" val="32399734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"/>
          <p:cNvSpPr>
            <a:spLocks noChangeArrowheads="1"/>
          </p:cNvSpPr>
          <p:nvPr/>
        </p:nvSpPr>
        <p:spPr bwMode="auto">
          <a:xfrm>
            <a:off x="250825" y="765175"/>
            <a:ext cx="8893175" cy="609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TE1</a:t>
            </a:r>
            <a:r>
              <a:rPr lang="en-US" b="1" u="sng" dirty="0"/>
              <a:t> (Terminal Equipment</a:t>
            </a:r>
            <a:r>
              <a:rPr lang="en-US" dirty="0"/>
              <a:t>) – </a:t>
            </a:r>
            <a:r>
              <a:rPr lang="ru-RU" dirty="0"/>
              <a:t>                                                                                                    специализированные </a:t>
            </a:r>
            <a:r>
              <a:rPr lang="en-US" dirty="0"/>
              <a:t>ISDN</a:t>
            </a:r>
            <a:r>
              <a:rPr lang="ru-RU" dirty="0"/>
              <a:t>                                                                                                              терминалы – обеспечивают                                                                                                             представление данных пользователю                                                                                                    и непосредственное подключение                                                                                               пользователя к интегрированной сети.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u="sng" dirty="0"/>
              <a:t>(Terminal Equipment) – </a:t>
            </a:r>
            <a:r>
              <a:rPr lang="ru-RU" b="1" u="sng" dirty="0"/>
              <a:t>не </a:t>
            </a:r>
            <a:r>
              <a:rPr lang="en-US" b="1" u="sng" dirty="0"/>
              <a:t>ISDN</a:t>
            </a:r>
            <a:r>
              <a:rPr lang="ru-RU" b="1" u="sng" dirty="0"/>
              <a:t>                                                                                                 терминалы </a:t>
            </a:r>
            <a:r>
              <a:rPr lang="ru-RU" dirty="0"/>
              <a:t>– представляют собой                                                                                             терминалы в обычном понимании                                                                                     этого терминала и не обеспечивают                                                                             непосредственного подключения                                                                                           пользователя к сети </a:t>
            </a:r>
            <a:r>
              <a:rPr lang="en-US" dirty="0"/>
              <a:t>ISDN</a:t>
            </a:r>
            <a:r>
              <a:rPr lang="ru-RU" dirty="0"/>
              <a:t>.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 </a:t>
            </a:r>
            <a:r>
              <a:rPr lang="en-US" b="1" u="sng" dirty="0"/>
              <a:t>(Terminal Adapter</a:t>
            </a:r>
            <a:r>
              <a:rPr lang="en-US" dirty="0"/>
              <a:t>) – </a:t>
            </a:r>
            <a:r>
              <a:rPr lang="ru-RU" dirty="0"/>
              <a:t>обеспечивает подключение неспециализированных терминалов к сети </a:t>
            </a:r>
            <a:r>
              <a:rPr lang="en-US" dirty="0"/>
              <a:t>ISDN</a:t>
            </a:r>
            <a:r>
              <a:rPr lang="ru-RU" dirty="0"/>
              <a:t>.</a:t>
            </a:r>
          </a:p>
          <a:p>
            <a:pPr>
              <a:defRPr/>
            </a:pPr>
            <a:endParaRPr lang="ru-RU" dirty="0"/>
          </a:p>
          <a:p>
            <a:pPr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NT1</a:t>
            </a:r>
            <a:r>
              <a:rPr lang="en-US" b="1" dirty="0"/>
              <a:t> (Network Terminal</a:t>
            </a:r>
            <a:r>
              <a:rPr lang="en-US" dirty="0"/>
              <a:t>) –</a:t>
            </a:r>
            <a:r>
              <a:rPr lang="ru-RU" dirty="0"/>
              <a:t> устройство разделения общедоступных коммутируемых сетей - </a:t>
            </a:r>
            <a:r>
              <a:rPr lang="ru-RU" b="1" dirty="0"/>
              <a:t>обеспечивает подключение терминалов пользователя к различным точкам сопряжения сети </a:t>
            </a:r>
            <a:r>
              <a:rPr lang="en-US" b="1" dirty="0"/>
              <a:t>ISDN</a:t>
            </a:r>
            <a:r>
              <a:rPr lang="ru-RU" dirty="0"/>
              <a:t>.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NT</a:t>
            </a:r>
            <a:r>
              <a:rPr lang="ru-RU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u="sng" dirty="0"/>
              <a:t>(Network Terminal</a:t>
            </a:r>
            <a:r>
              <a:rPr lang="en-US" dirty="0"/>
              <a:t>) –</a:t>
            </a:r>
            <a:r>
              <a:rPr lang="ru-RU" dirty="0"/>
              <a:t> абонентское коммутационное </a:t>
            </a:r>
            <a:r>
              <a:rPr lang="ru-RU" dirty="0">
                <a:solidFill>
                  <a:srgbClr val="000000"/>
                </a:solidFill>
              </a:rPr>
              <a:t>оборудование, </a:t>
            </a:r>
            <a:r>
              <a:rPr lang="ru-RU" dirty="0"/>
              <a:t>обеспечивает </a:t>
            </a:r>
            <a:r>
              <a:rPr lang="ru-RU" b="1" dirty="0"/>
              <a:t>взаимодействие с сетью терминалов пользователя</a:t>
            </a:r>
            <a:r>
              <a:rPr lang="ru-RU" dirty="0"/>
              <a:t>, которые подключены к точке </a:t>
            </a:r>
            <a:r>
              <a:rPr lang="en-US" dirty="0"/>
              <a:t>S</a:t>
            </a:r>
            <a:r>
              <a:rPr lang="ru-RU" dirty="0"/>
              <a:t>.</a:t>
            </a:r>
          </a:p>
          <a:p>
            <a:pPr>
              <a:defRPr/>
            </a:pPr>
            <a:r>
              <a:rPr lang="ru-RU" b="1" dirty="0">
                <a:solidFill>
                  <a:srgbClr val="000000"/>
                </a:solidFill>
              </a:rPr>
              <a:t>Иногда  устройства ТА,</a:t>
            </a:r>
            <a:r>
              <a:rPr lang="en-US" b="1" dirty="0">
                <a:solidFill>
                  <a:srgbClr val="000000"/>
                </a:solidFill>
              </a:rPr>
              <a:t>NT2, NT1 </a:t>
            </a:r>
            <a:r>
              <a:rPr lang="ru-RU" b="1" dirty="0">
                <a:solidFill>
                  <a:srgbClr val="000000"/>
                </a:solidFill>
              </a:rPr>
              <a:t>совмещены в одном модеме.</a:t>
            </a:r>
            <a:endParaRPr lang="ru-RU" b="1" dirty="0"/>
          </a:p>
          <a:p>
            <a:pPr>
              <a:defRPr/>
            </a:pPr>
            <a:endParaRPr lang="ru-RU" sz="1600" dirty="0"/>
          </a:p>
        </p:txBody>
      </p:sp>
      <p:sp>
        <p:nvSpPr>
          <p:cNvPr id="8195" name="Rectangle 10"/>
          <p:cNvSpPr>
            <a:spLocks noChangeArrowheads="1"/>
          </p:cNvSpPr>
          <p:nvPr/>
        </p:nvSpPr>
        <p:spPr bwMode="auto">
          <a:xfrm>
            <a:off x="288925" y="260350"/>
            <a:ext cx="856932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ru-RU" sz="3200" b="1" dirty="0">
                <a:solidFill>
                  <a:schemeClr val="tx2"/>
                </a:solidFill>
                <a:latin typeface="Times New Roman" pitchFamily="18" charset="0"/>
              </a:rPr>
              <a:t>Компоненты </a:t>
            </a:r>
            <a:r>
              <a:rPr lang="en-US" sz="3200" b="1" dirty="0">
                <a:solidFill>
                  <a:schemeClr val="tx2"/>
                </a:solidFill>
                <a:latin typeface="Times New Roman" pitchFamily="18" charset="0"/>
              </a:rPr>
              <a:t>ISDN</a:t>
            </a:r>
            <a:endParaRPr lang="ru-RU" sz="3200" b="1" dirty="0">
              <a:solidFill>
                <a:schemeClr val="tx2"/>
              </a:solidFill>
              <a:cs typeface="Arial" charset="0"/>
            </a:endParaRPr>
          </a:p>
        </p:txBody>
      </p:sp>
      <p:pic>
        <p:nvPicPr>
          <p:cNvPr id="819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995363"/>
            <a:ext cx="4536182" cy="2865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0"/>
            <a:ext cx="7632848" cy="548680"/>
          </a:xfrm>
        </p:spPr>
        <p:txBody>
          <a:bodyPr>
            <a:noAutofit/>
          </a:bodyPr>
          <a:lstStyle/>
          <a:p>
            <a:pPr algn="ctr"/>
            <a:r>
              <a:rPr lang="ru-RU" altLang="ru-RU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Типы соединений сети</a:t>
            </a:r>
            <a:r>
              <a:rPr lang="ru-RU" altLang="ru-RU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ISDN</a:t>
            </a:r>
            <a:r>
              <a:rPr lang="ru-RU" altLang="ru-RU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2732485" y="1838325"/>
            <a:ext cx="6858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6156176" y="476672"/>
            <a:ext cx="2987824" cy="6638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b="1" dirty="0">
                <a:solidFill>
                  <a:srgbClr val="C00000"/>
                </a:solidFill>
              </a:rPr>
              <a:t>2 типа интерфейсов  </a:t>
            </a:r>
            <a:r>
              <a:rPr lang="en-US" altLang="ru-RU" b="1" dirty="0">
                <a:solidFill>
                  <a:srgbClr val="C00000"/>
                </a:solidFill>
              </a:rPr>
              <a:t>ISDN</a:t>
            </a:r>
            <a:r>
              <a:rPr lang="ru-RU" altLang="ru-RU" b="1" dirty="0">
                <a:solidFill>
                  <a:srgbClr val="C00000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altLang="ru-RU" sz="1600" b="1" u="sng" dirty="0"/>
              <a:t>И</a:t>
            </a:r>
            <a:r>
              <a:rPr lang="ru-RU" altLang="ru-RU" sz="1600" b="1" u="sng" dirty="0">
                <a:cs typeface="Times New Roman" panose="02020603050405020304" pitchFamily="18" charset="0"/>
              </a:rPr>
              <a:t>нтерфейс базового уровня BRI (</a:t>
            </a:r>
            <a:r>
              <a:rPr lang="ru-RU" altLang="ru-RU" sz="1600" b="1" u="sng" dirty="0" err="1">
                <a:cs typeface="Times New Roman" panose="02020603050405020304" pitchFamily="18" charset="0"/>
              </a:rPr>
              <a:t>Basic</a:t>
            </a:r>
            <a:r>
              <a:rPr lang="ru-RU" altLang="ru-RU" sz="1600" b="1" u="sng" dirty="0">
                <a:cs typeface="Times New Roman" panose="02020603050405020304" pitchFamily="18" charset="0"/>
              </a:rPr>
              <a:t> </a:t>
            </a:r>
            <a:r>
              <a:rPr lang="ru-RU" altLang="ru-RU" sz="1600" b="1" u="sng" dirty="0" err="1">
                <a:cs typeface="Times New Roman" panose="02020603050405020304" pitchFamily="18" charset="0"/>
              </a:rPr>
              <a:t>Rate</a:t>
            </a:r>
            <a:r>
              <a:rPr lang="ru-RU" altLang="ru-RU" sz="1600" b="1" u="sng" dirty="0">
                <a:cs typeface="Times New Roman" panose="02020603050405020304" pitchFamily="18" charset="0"/>
              </a:rPr>
              <a:t> </a:t>
            </a:r>
            <a:r>
              <a:rPr lang="ru-RU" altLang="ru-RU" sz="1600" b="1" u="sng" dirty="0" err="1">
                <a:cs typeface="Times New Roman" panose="02020603050405020304" pitchFamily="18" charset="0"/>
              </a:rPr>
              <a:t>Interface</a:t>
            </a:r>
            <a:r>
              <a:rPr lang="ru-RU" altLang="ru-RU" sz="1600" b="1" u="sng" dirty="0">
                <a:cs typeface="Times New Roman" panose="02020603050405020304" pitchFamily="18" charset="0"/>
              </a:rPr>
              <a:t>)</a:t>
            </a:r>
            <a:r>
              <a:rPr lang="ru-RU" altLang="ru-RU" sz="1600" b="1" dirty="0">
                <a:cs typeface="Times New Roman" panose="02020603050405020304" pitchFamily="18" charset="0"/>
              </a:rPr>
              <a:t>, </a:t>
            </a:r>
            <a:r>
              <a:rPr lang="ru-RU" altLang="ru-RU" sz="1600" dirty="0">
                <a:cs typeface="Times New Roman" panose="02020603050405020304" pitchFamily="18" charset="0"/>
              </a:rPr>
              <a:t>регламентирующий соединение ISDN-станции с абонентом</a:t>
            </a:r>
            <a:r>
              <a:rPr lang="ru-RU" altLang="ru-RU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altLang="ru-RU" sz="1600" b="1" u="sng" dirty="0"/>
              <a:t>И</a:t>
            </a:r>
            <a:r>
              <a:rPr lang="ru-RU" altLang="ru-RU" sz="1600" b="1" u="sng" dirty="0">
                <a:cs typeface="Times New Roman" panose="02020603050405020304" pitchFamily="18" charset="0"/>
              </a:rPr>
              <a:t>нтерфейс первичного уровня PRI (</a:t>
            </a:r>
            <a:r>
              <a:rPr lang="ru-RU" altLang="ru-RU" sz="1600" b="1" u="sng" dirty="0" err="1">
                <a:cs typeface="Times New Roman" panose="02020603050405020304" pitchFamily="18" charset="0"/>
              </a:rPr>
              <a:t>Primary</a:t>
            </a:r>
            <a:r>
              <a:rPr lang="ru-RU" altLang="ru-RU" sz="1600" b="1" u="sng" dirty="0">
                <a:cs typeface="Times New Roman" panose="02020603050405020304" pitchFamily="18" charset="0"/>
              </a:rPr>
              <a:t> </a:t>
            </a:r>
            <a:r>
              <a:rPr lang="ru-RU" altLang="ru-RU" sz="1600" b="1" u="sng" dirty="0" err="1">
                <a:cs typeface="Times New Roman" panose="02020603050405020304" pitchFamily="18" charset="0"/>
              </a:rPr>
              <a:t>Rate</a:t>
            </a:r>
            <a:r>
              <a:rPr lang="ru-RU" altLang="ru-RU" sz="1600" b="1" u="sng" dirty="0">
                <a:cs typeface="Times New Roman" panose="02020603050405020304" pitchFamily="18" charset="0"/>
              </a:rPr>
              <a:t> </a:t>
            </a:r>
            <a:r>
              <a:rPr lang="ru-RU" altLang="ru-RU" sz="1600" b="1" u="sng" dirty="0" err="1">
                <a:cs typeface="Times New Roman" panose="02020603050405020304" pitchFamily="18" charset="0"/>
              </a:rPr>
              <a:t>Interface</a:t>
            </a:r>
            <a:r>
              <a:rPr lang="ru-RU" altLang="ru-RU" sz="1600" b="1" u="sng" dirty="0">
                <a:cs typeface="Times New Roman" panose="02020603050405020304" pitchFamily="18" charset="0"/>
              </a:rPr>
              <a:t>)</a:t>
            </a:r>
            <a:r>
              <a:rPr lang="ru-RU" altLang="ru-RU" sz="1600" b="1" dirty="0">
                <a:cs typeface="Times New Roman" panose="02020603050405020304" pitchFamily="18" charset="0"/>
              </a:rPr>
              <a:t>, </a:t>
            </a:r>
            <a:r>
              <a:rPr lang="ru-RU" altLang="ru-RU" sz="1600" dirty="0">
                <a:cs typeface="Times New Roman" panose="02020603050405020304" pitchFamily="18" charset="0"/>
              </a:rPr>
              <a:t>обеспечивающий связь между </a:t>
            </a:r>
            <a:r>
              <a:rPr lang="ru-RU" altLang="ru-RU" sz="1600" b="1" dirty="0">
                <a:cs typeface="Times New Roman" panose="02020603050405020304" pitchFamily="18" charset="0"/>
              </a:rPr>
              <a:t>ISDN-станциями, 30В+D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altLang="ru-RU" sz="1600" b="1" dirty="0">
                <a:cs typeface="Times New Roman" panose="02020603050405020304" pitchFamily="18" charset="0"/>
              </a:rPr>
              <a:t>Логически BRI представляет собой  структурированный цифровой поток, разделенный на три канала: </a:t>
            </a:r>
          </a:p>
          <a:p>
            <a:pPr marL="540000" lvl="1" indent="-285750">
              <a:buFont typeface="Wingdings" panose="05000000000000000000" pitchFamily="2" charset="2"/>
              <a:buChar char="ü"/>
            </a:pPr>
            <a:r>
              <a:rPr lang="ru-RU" altLang="ru-RU" sz="1600" dirty="0">
                <a:cs typeface="Times New Roman" panose="02020603050405020304" pitchFamily="18" charset="0"/>
              </a:rPr>
              <a:t>два информационных канала типа В с пропускной способностью 64 Кбит/с каждый</a:t>
            </a:r>
          </a:p>
          <a:p>
            <a:pPr marL="540000" lvl="1" indent="-285750">
              <a:buFont typeface="Wingdings" panose="05000000000000000000" pitchFamily="2" charset="2"/>
              <a:buChar char="ü"/>
            </a:pPr>
            <a:r>
              <a:rPr lang="ru-RU" altLang="ru-RU" sz="1600" dirty="0">
                <a:cs typeface="Times New Roman" panose="02020603050405020304" pitchFamily="18" charset="0"/>
              </a:rPr>
              <a:t>один служебный канал типа D с пропускной способностью 16 Кбит/с. </a:t>
            </a:r>
            <a:r>
              <a:rPr lang="ru-RU" altLang="ru-RU" sz="1600" b="1" dirty="0"/>
              <a:t>П</a:t>
            </a:r>
            <a:r>
              <a:rPr lang="ru-RU" altLang="ru-RU" sz="1600" b="1" dirty="0">
                <a:cs typeface="Times New Roman" panose="02020603050405020304" pitchFamily="18" charset="0"/>
              </a:rPr>
              <a:t>оэтому BRI </a:t>
            </a:r>
            <a:r>
              <a:rPr lang="ru-RU" altLang="ru-RU" sz="1600" b="1" dirty="0"/>
              <a:t>называют</a:t>
            </a:r>
            <a:r>
              <a:rPr lang="ru-RU" altLang="ru-RU" sz="1600" b="1" dirty="0">
                <a:cs typeface="Times New Roman" panose="02020603050405020304" pitchFamily="18" charset="0"/>
              </a:rPr>
              <a:t> - 2В+D. </a:t>
            </a:r>
            <a:endParaRPr lang="ru-RU" sz="1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30458" y="6142420"/>
            <a:ext cx="611563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altLang="ru-RU" sz="1600" dirty="0"/>
              <a:t>Д</a:t>
            </a:r>
            <a:r>
              <a:rPr lang="ru-RU" altLang="ru-RU" sz="1600" b="1" dirty="0">
                <a:cs typeface="Arial" panose="020B0604020202020204" pitchFamily="34" charset="0"/>
              </a:rPr>
              <a:t>ва разных соединения могут осуществляться одновременно и независимо друг от друга по одной телефонной линии</a:t>
            </a:r>
          </a:p>
          <a:p>
            <a:pPr algn="ctr">
              <a:lnSpc>
                <a:spcPct val="90000"/>
              </a:lnSpc>
            </a:pPr>
            <a:r>
              <a:rPr lang="ru-RU" altLang="ru-RU" sz="1600" b="1" dirty="0">
                <a:cs typeface="Arial" panose="020B0604020202020204" pitchFamily="34" charset="0"/>
              </a:rPr>
              <a:t> (</a:t>
            </a:r>
            <a:r>
              <a:rPr lang="ru-RU" altLang="ru-RU" sz="1600" dirty="0">
                <a:cs typeface="Times New Roman" panose="02020603050405020304" pitchFamily="18" charset="0"/>
              </a:rPr>
              <a:t>по числу В-каналов</a:t>
            </a:r>
            <a:r>
              <a:rPr lang="ru-RU" altLang="ru-RU" sz="1600" b="1" dirty="0">
                <a:cs typeface="Arial" panose="020B0604020202020204" pitchFamily="34" charset="0"/>
              </a:rPr>
              <a:t>)</a:t>
            </a:r>
            <a:r>
              <a:rPr lang="ru-RU" altLang="ru-RU" sz="1600" dirty="0">
                <a:cs typeface="Arial" panose="020B0604020202020204" pitchFamily="34" charset="0"/>
              </a:rPr>
              <a:t>. </a:t>
            </a:r>
            <a:r>
              <a:rPr lang="en-US" altLang="ru-RU" sz="1600" dirty="0">
                <a:cs typeface="Arial" panose="020B0604020202020204" pitchFamily="34" charset="0"/>
              </a:rPr>
              <a:t> 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987" y="678730"/>
            <a:ext cx="6086475" cy="4345757"/>
          </a:xfrm>
          <a:prstGeom prst="rect">
            <a:avLst/>
          </a:prstGeom>
        </p:spPr>
      </p:pic>
      <p:grpSp>
        <p:nvGrpSpPr>
          <p:cNvPr id="7" name="Группа 7"/>
          <p:cNvGrpSpPr/>
          <p:nvPr/>
        </p:nvGrpSpPr>
        <p:grpSpPr>
          <a:xfrm>
            <a:off x="1835697" y="4234993"/>
            <a:ext cx="4365288" cy="1689706"/>
            <a:chOff x="3790247" y="4234993"/>
            <a:chExt cx="4477732" cy="1689706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8445" y="4234993"/>
              <a:ext cx="4162425" cy="1600200"/>
            </a:xfrm>
            <a:prstGeom prst="rect">
              <a:avLst/>
            </a:prstGeom>
          </p:spPr>
        </p:pic>
        <p:sp>
          <p:nvSpPr>
            <p:cNvPr id="6" name="Прямоугольник 5"/>
            <p:cNvSpPr/>
            <p:nvPr/>
          </p:nvSpPr>
          <p:spPr>
            <a:xfrm>
              <a:off x="3790247" y="4234993"/>
              <a:ext cx="4477732" cy="1689706"/>
            </a:xfrm>
            <a:prstGeom prst="rect">
              <a:avLst/>
            </a:prstGeom>
            <a:noFill/>
            <a:ln w="412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754765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622422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600" b="1" dirty="0">
                <a:solidFill>
                  <a:srgbClr val="002060"/>
                </a:solidFill>
              </a:rPr>
              <a:t>Типы интерфейсов </a:t>
            </a:r>
            <a:r>
              <a:rPr lang="en-US" sz="3600" b="1" dirty="0">
                <a:solidFill>
                  <a:srgbClr val="002060"/>
                </a:solidFill>
              </a:rPr>
              <a:t>ISDN (1/2)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D65385-3473-466F-BFAC-CCD6C84033F0}" type="slidenum">
              <a:rPr lang="ru-RU" smtClean="0"/>
              <a:pPr>
                <a:defRPr/>
              </a:pPr>
              <a:t>19</a:t>
            </a:fld>
            <a:endParaRPr lang="ru-RU"/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836712"/>
            <a:ext cx="9144000" cy="3168352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ru-RU" sz="1800" dirty="0">
                <a:latin typeface="Times New Roman" panose="02020603050405020304" pitchFamily="18" charset="0"/>
              </a:rPr>
              <a:t>	</a:t>
            </a:r>
            <a:r>
              <a:rPr lang="ru-RU" altLang="ru-RU" sz="2000" dirty="0">
                <a:latin typeface="Times New Roman" panose="02020603050405020304" pitchFamily="18" charset="0"/>
              </a:rPr>
              <a:t>Существуют два основных типа интерфейсов, по которым пользователь может подключиться к сети ISDN - </a:t>
            </a:r>
            <a:r>
              <a:rPr lang="ru-RU" altLang="ru-RU" sz="2000" b="1" dirty="0">
                <a:latin typeface="Times New Roman" panose="02020603050405020304" pitchFamily="18" charset="0"/>
              </a:rPr>
              <a:t>BRI</a:t>
            </a:r>
            <a:r>
              <a:rPr lang="ru-RU" altLang="ru-RU" sz="2000" dirty="0">
                <a:latin typeface="Times New Roman" panose="02020603050405020304" pitchFamily="18" charset="0"/>
              </a:rPr>
              <a:t> и </a:t>
            </a:r>
            <a:r>
              <a:rPr lang="ru-RU" altLang="ru-RU" sz="2000" b="1" dirty="0">
                <a:latin typeface="Times New Roman" panose="02020603050405020304" pitchFamily="18" charset="0"/>
              </a:rPr>
              <a:t>PRI</a:t>
            </a:r>
            <a:r>
              <a:rPr lang="ru-RU" altLang="ru-RU" sz="2000" dirty="0">
                <a:latin typeface="Times New Roman" panose="02020603050405020304" pitchFamily="18" charset="0"/>
              </a:rPr>
              <a:t>.</a:t>
            </a:r>
            <a:r>
              <a:rPr lang="ru-RU" altLang="ru-RU" sz="2000" dirty="0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000" b="1" u="sng" dirty="0"/>
              <a:t>      BRI</a:t>
            </a:r>
            <a:r>
              <a:rPr lang="ru-RU" altLang="ru-RU" sz="2000" u="sng" dirty="0"/>
              <a:t> (</a:t>
            </a:r>
            <a:r>
              <a:rPr lang="ru-RU" altLang="ru-RU" sz="2000" i="1" u="sng" dirty="0" err="1"/>
              <a:t>Basic</a:t>
            </a:r>
            <a:r>
              <a:rPr lang="ru-RU" altLang="ru-RU" sz="2000" i="1" u="sng" dirty="0"/>
              <a:t> </a:t>
            </a:r>
            <a:r>
              <a:rPr lang="ru-RU" altLang="ru-RU" sz="2000" i="1" u="sng" dirty="0" err="1"/>
              <a:t>Rate</a:t>
            </a:r>
            <a:r>
              <a:rPr lang="ru-RU" altLang="ru-RU" sz="2000" i="1" u="sng" dirty="0"/>
              <a:t> </a:t>
            </a:r>
            <a:r>
              <a:rPr lang="ru-RU" altLang="ru-RU" sz="2000" i="1" u="sng" dirty="0" err="1"/>
              <a:t>Interface</a:t>
            </a:r>
            <a:r>
              <a:rPr lang="ru-RU" altLang="ru-RU" sz="2000" u="sng" dirty="0">
                <a:latin typeface="Times New Roman" panose="02020603050405020304" pitchFamily="18" charset="0"/>
              </a:rPr>
              <a:t>) </a:t>
            </a:r>
            <a:r>
              <a:rPr lang="ru-RU" altLang="ru-RU" sz="2000" dirty="0">
                <a:solidFill>
                  <a:srgbClr val="002060"/>
                </a:solidFill>
                <a:latin typeface="Times New Roman" panose="02020603050405020304" pitchFamily="18" charset="0"/>
              </a:rPr>
              <a:t>- обеспечивает базовый доступ к сети ISDN.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    Линия ISDN BRI, физически представляющая собой обычную медную пару и состоит из трёх логических каналов. 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   Три канала линии ISDN включают в себя: 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         -  два В-канала по 64 Кбит/с и  один D-канал16 Кбит/с.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      </a:t>
            </a:r>
            <a:r>
              <a:rPr lang="ru-RU" altLang="ru-RU" sz="2000" b="1" dirty="0">
                <a:latin typeface="Times New Roman" panose="02020603050405020304" pitchFamily="18" charset="0"/>
              </a:rPr>
              <a:t>Данная стандартная конфигурация носит название 2B+D.</a:t>
            </a:r>
            <a:endParaRPr lang="ru-RU" altLang="ru-RU" sz="2000" b="1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933056"/>
            <a:ext cx="327660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491880" y="3645024"/>
            <a:ext cx="5347320" cy="3212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indent="4762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  <a:lvl2pPr marL="952500" indent="-285750">
              <a:spcBef>
                <a:spcPct val="20000"/>
              </a:spcBef>
              <a:buClr>
                <a:schemeClr val="hlink"/>
              </a:buClr>
              <a:buSzPct val="70000"/>
              <a:buFont typeface="Monotype Sorts" pitchFamily="2" charset="2"/>
              <a:buChar char="u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2pPr>
            <a:lvl3pPr marL="13716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3pPr>
            <a:lvl4pPr marL="17907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4pPr>
            <a:lvl5pPr marL="22098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5pPr>
            <a:lvl6pPr marL="2667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3124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35814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4038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endParaRPr lang="ru-RU" altLang="ru-RU" dirty="0">
              <a:ln w="0"/>
              <a:solidFill>
                <a:srgbClr val="002060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Два В-канала переносят основную часть передаваемой цифровой информации</a:t>
            </a:r>
            <a:r>
              <a:rPr lang="ru-RU" altLang="ru-RU" dirty="0">
                <a:ln w="0"/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ru-RU" altLang="ru-RU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Канал D служит для передачи сигнальной (служебной) информации</a:t>
            </a:r>
            <a:r>
              <a:rPr lang="ru-RU" altLang="ru-RU" dirty="0">
                <a:ln w="0"/>
                <a:solidFill>
                  <a:srgbClr val="00206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ru-RU" altLang="ru-RU" dirty="0">
                <a:ln w="0"/>
                <a:effectLst/>
                <a:latin typeface="Times New Roman" panose="02020603050405020304" pitchFamily="18" charset="0"/>
              </a:rPr>
              <a:t>а также, в некоторых случаях, для передачи пакетных данных пользователя. </a:t>
            </a:r>
          </a:p>
        </p:txBody>
      </p:sp>
    </p:spTree>
    <p:extLst>
      <p:ext uri="{BB962C8B-B14F-4D97-AF65-F5344CB8AC3E}">
        <p14:creationId xmlns:p14="http://schemas.microsoft.com/office/powerpoint/2010/main" val="54258475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694430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600" b="1" dirty="0">
                <a:solidFill>
                  <a:srgbClr val="002060"/>
                </a:solidFill>
              </a:rPr>
              <a:t>Типы интерфейсов </a:t>
            </a:r>
            <a:r>
              <a:rPr lang="en-US" sz="3600" b="1" dirty="0">
                <a:solidFill>
                  <a:srgbClr val="002060"/>
                </a:solidFill>
              </a:rPr>
              <a:t>ISDN (2/2)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04800" y="1124744"/>
            <a:ext cx="8534400" cy="144016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ru-RU" altLang="ru-RU" sz="2400" b="1" dirty="0"/>
              <a:t>PRI</a:t>
            </a:r>
            <a:r>
              <a:rPr lang="ru-RU" altLang="ru-RU" sz="2400" dirty="0"/>
              <a:t> (</a:t>
            </a:r>
            <a:r>
              <a:rPr lang="ru-RU" altLang="ru-RU" sz="2400" i="1" dirty="0" err="1"/>
              <a:t>Primary</a:t>
            </a:r>
            <a:r>
              <a:rPr lang="ru-RU" altLang="ru-RU" sz="2400" i="1" dirty="0"/>
              <a:t> </a:t>
            </a:r>
            <a:r>
              <a:rPr lang="ru-RU" altLang="ru-RU" sz="2400" i="1" dirty="0" err="1"/>
              <a:t>Rate</a:t>
            </a:r>
            <a:r>
              <a:rPr lang="ru-RU" altLang="ru-RU" sz="2400" i="1" dirty="0"/>
              <a:t> </a:t>
            </a:r>
            <a:r>
              <a:rPr lang="ru-RU" altLang="ru-RU" sz="2400" i="1" dirty="0" err="1"/>
              <a:t>Interface</a:t>
            </a:r>
            <a:r>
              <a:rPr lang="ru-RU" altLang="ru-RU" sz="2400" dirty="0">
                <a:latin typeface="Times New Roman" panose="02020603050405020304" pitchFamily="18" charset="0"/>
              </a:rPr>
              <a:t>) обеспечивает первичный доступ к сети ISDN. Он состоит из 30В (64Кбит/с) и 1</a:t>
            </a:r>
            <a:r>
              <a:rPr lang="en-US" altLang="ru-RU" sz="2400" dirty="0">
                <a:latin typeface="Times New Roman" panose="02020603050405020304" pitchFamily="18" charset="0"/>
              </a:rPr>
              <a:t>D</a:t>
            </a:r>
            <a:r>
              <a:rPr lang="ru-RU" altLang="ru-RU" sz="2400" dirty="0">
                <a:latin typeface="Times New Roman" panose="02020603050405020304" pitchFamily="18" charset="0"/>
              </a:rPr>
              <a:t> (64 Кбит/с) каналов и обозначается также как 30B+D. </a:t>
            </a:r>
            <a:endParaRPr lang="ru-RU" altLang="ru-RU" sz="2400" dirty="0"/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419872" y="2708920"/>
            <a:ext cx="5724128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  <a:lvl2pPr marL="854075" indent="-285750">
              <a:spcBef>
                <a:spcPct val="20000"/>
              </a:spcBef>
              <a:buClr>
                <a:schemeClr val="hlink"/>
              </a:buClr>
              <a:buSzPct val="70000"/>
              <a:buFont typeface="Monotype Sorts" pitchFamily="2" charset="2"/>
              <a:buChar char="u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2pPr>
            <a:lvl3pPr marL="1273175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3pPr>
            <a:lvl4pPr marL="1692275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4pPr>
            <a:lvl5pPr marL="2111375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5pPr>
            <a:lvl6pPr marL="256857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302577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348297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394017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ru-RU" altLang="ru-RU" sz="2400" dirty="0">
                <a:effectLst/>
                <a:latin typeface="Times New Roman" panose="02020603050405020304" pitchFamily="18" charset="0"/>
              </a:rPr>
              <a:t>PRI обеспечивает скорость передачи</a:t>
            </a:r>
          </a:p>
          <a:p>
            <a:pPr>
              <a:buFont typeface="Wingdings" panose="05000000000000000000" pitchFamily="2" charset="2"/>
              <a:buNone/>
            </a:pPr>
            <a:r>
              <a:rPr lang="ru-RU" altLang="ru-RU" sz="2400" dirty="0">
                <a:effectLst/>
                <a:latin typeface="Times New Roman" panose="02020603050405020304" pitchFamily="18" charset="0"/>
              </a:rPr>
              <a:t> 2,048 Мбит/с и используется для подключения офисной АТС с функциями ISDN или маршрутизатора. Маршрутизатор обычно устанавливают в центральных офисах в больших корпоративных сетях. </a:t>
            </a: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3" cstate="print">
            <a:lum contras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124200"/>
            <a:ext cx="3048000" cy="2177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0" y="5445224"/>
            <a:ext cx="9144000" cy="141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  <a:lvl2pPr marL="854075" indent="-285750">
              <a:spcBef>
                <a:spcPct val="20000"/>
              </a:spcBef>
              <a:buClr>
                <a:schemeClr val="hlink"/>
              </a:buClr>
              <a:buSzPct val="70000"/>
              <a:buFont typeface="Monotype Sorts" pitchFamily="2" charset="2"/>
              <a:buChar char="u"/>
              <a:defRPr kumimoji="1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2pPr>
            <a:lvl3pPr marL="1273175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3pPr>
            <a:lvl4pPr marL="1692275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4pPr>
            <a:lvl5pPr marL="2111375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5pPr>
            <a:lvl6pPr marL="256857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6pPr>
            <a:lvl7pPr marL="302577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7pPr>
            <a:lvl8pPr marL="348297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8pPr>
            <a:lvl9pPr marL="3940175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u"/>
              <a:defRPr kumimoji="1" sz="16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None/>
            </a:pPr>
            <a:r>
              <a:rPr lang="ru-RU" altLang="ru-RU" sz="2400" dirty="0">
                <a:effectLst/>
                <a:latin typeface="Times New Roman" panose="02020603050405020304" pitchFamily="18" charset="0"/>
              </a:rPr>
              <a:t>Офисная АТС с функциями ISDN работает с голосовой связью как обычно, а для передачи данных она позволяет подключить к себе оборудование для передачи данных по базовому интерфейсу BRI.</a:t>
            </a:r>
          </a:p>
        </p:txBody>
      </p:sp>
    </p:spTree>
    <p:extLst>
      <p:ext uri="{BB962C8B-B14F-4D97-AF65-F5344CB8AC3E}">
        <p14:creationId xmlns:p14="http://schemas.microsoft.com/office/powerpoint/2010/main" val="17619301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600" b="1" dirty="0">
                <a:solidFill>
                  <a:srgbClr val="002060"/>
                </a:solidFill>
              </a:rPr>
              <a:t>Оборудование сетей </a:t>
            </a:r>
            <a:r>
              <a:rPr lang="en-US" sz="3600" b="1" dirty="0">
                <a:solidFill>
                  <a:srgbClr val="002060"/>
                </a:solidFill>
              </a:rPr>
              <a:t>ISDN (1/</a:t>
            </a:r>
            <a:r>
              <a:rPr lang="ru-RU" sz="3600" b="1" dirty="0">
                <a:solidFill>
                  <a:srgbClr val="002060"/>
                </a:solidFill>
              </a:rPr>
              <a:t>3</a:t>
            </a:r>
            <a:r>
              <a:rPr lang="en-US" sz="3600" b="1" dirty="0">
                <a:solidFill>
                  <a:srgbClr val="002060"/>
                </a:solidFill>
              </a:rPr>
              <a:t>)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D65385-3473-466F-BFAC-CCD6C84033F0}" type="slidenum">
              <a:rPr lang="ru-RU" smtClean="0"/>
              <a:pPr>
                <a:defRPr/>
              </a:pPr>
              <a:t>21</a:t>
            </a:fld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1115616" y="1628800"/>
            <a:ext cx="669674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None/>
            </a:pPr>
            <a:r>
              <a:rPr lang="ru-RU" altLang="ru-RU" sz="3200" dirty="0">
                <a:latin typeface="Times New Roman" panose="02020603050405020304" pitchFamily="18" charset="0"/>
              </a:rPr>
              <a:t>Для организации домашней или офисной сети </a:t>
            </a:r>
            <a:r>
              <a:rPr lang="en-US" altLang="ru-RU" sz="3200" dirty="0">
                <a:latin typeface="Times New Roman" panose="02020603050405020304" pitchFamily="18" charset="0"/>
              </a:rPr>
              <a:t>ISDN </a:t>
            </a:r>
            <a:r>
              <a:rPr lang="ru-RU" altLang="ru-RU" sz="3200" dirty="0">
                <a:latin typeface="Times New Roman" panose="02020603050405020304" pitchFamily="18" charset="0"/>
              </a:rPr>
              <a:t>с базовым доступом необходимо следующее оборудование</a:t>
            </a:r>
            <a:r>
              <a:rPr lang="en-US" altLang="ru-RU" sz="3200" dirty="0">
                <a:latin typeface="Times New Roman" panose="02020603050405020304" pitchFamily="18" charset="0"/>
              </a:rPr>
              <a:t>:</a:t>
            </a:r>
            <a:endParaRPr lang="ru-RU" altLang="ru-RU" sz="3200" dirty="0">
              <a:latin typeface="Times New Roman" panose="02020603050405020304" pitchFamily="18" charset="0"/>
            </a:endParaRPr>
          </a:p>
          <a:p>
            <a:pPr marL="762000" lvl="1" algn="just">
              <a:buFont typeface="Symbol" panose="05050102010706020507" pitchFamily="18" charset="2"/>
              <a:buChar char="·"/>
            </a:pPr>
            <a:r>
              <a:rPr lang="ru-RU" altLang="ru-RU" sz="3200" dirty="0">
                <a:latin typeface="Times New Roman" panose="02020603050405020304" pitchFamily="18" charset="0"/>
              </a:rPr>
              <a:t> линия BRI ISDN;</a:t>
            </a:r>
          </a:p>
          <a:p>
            <a:pPr marL="762000" lvl="1" algn="just">
              <a:buFont typeface="Symbol" panose="05050102010706020507" pitchFamily="18" charset="2"/>
              <a:buChar char="·"/>
            </a:pPr>
            <a:r>
              <a:rPr lang="ru-RU" altLang="ru-RU" sz="3200" dirty="0">
                <a:latin typeface="Times New Roman" panose="02020603050405020304" pitchFamily="18" charset="0"/>
              </a:rPr>
              <a:t> сетевое окончание сети ISDN (NT1);</a:t>
            </a:r>
          </a:p>
          <a:p>
            <a:pPr marL="762000" lvl="1" algn="just">
              <a:buFont typeface="Symbol" panose="05050102010706020507" pitchFamily="18" charset="2"/>
              <a:buChar char="·"/>
            </a:pPr>
            <a:r>
              <a:rPr lang="ru-RU" altLang="ru-RU" sz="3200" dirty="0">
                <a:latin typeface="Times New Roman" panose="02020603050405020304" pitchFamily="18" charset="0"/>
              </a:rPr>
              <a:t> оконечное оборудование ISDN.</a:t>
            </a:r>
          </a:p>
        </p:txBody>
      </p:sp>
    </p:spTree>
    <p:extLst>
      <p:ext uri="{BB962C8B-B14F-4D97-AF65-F5344CB8AC3E}">
        <p14:creationId xmlns:p14="http://schemas.microsoft.com/office/powerpoint/2010/main" val="91065436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600" b="1" dirty="0">
                <a:solidFill>
                  <a:srgbClr val="002060"/>
                </a:solidFill>
              </a:rPr>
              <a:t>Оборудование сетей </a:t>
            </a:r>
            <a:r>
              <a:rPr lang="en-US" sz="3600" b="1" dirty="0">
                <a:solidFill>
                  <a:srgbClr val="002060"/>
                </a:solidFill>
              </a:rPr>
              <a:t>ISDN (2/</a:t>
            </a:r>
            <a:r>
              <a:rPr lang="ru-RU" sz="3600" b="1" dirty="0">
                <a:solidFill>
                  <a:srgbClr val="002060"/>
                </a:solidFill>
              </a:rPr>
              <a:t>3</a:t>
            </a:r>
            <a:r>
              <a:rPr lang="en-US" sz="3600" b="1" dirty="0">
                <a:solidFill>
                  <a:srgbClr val="002060"/>
                </a:solidFill>
              </a:rPr>
              <a:t>)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133600" y="1556792"/>
            <a:ext cx="7010400" cy="2448272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indent="-4763" algn="just">
              <a:buFont typeface="Wingdings" panose="05000000000000000000" pitchFamily="2" charset="2"/>
              <a:buNone/>
            </a:pPr>
            <a:r>
              <a:rPr lang="ru-RU" altLang="ru-RU" sz="2000" b="1" u="sng" dirty="0">
                <a:latin typeface="Times New Roman" panose="02020603050405020304" pitchFamily="18" charset="0"/>
              </a:rPr>
              <a:t>Сетевое окончание ISDN – NT1</a:t>
            </a:r>
            <a:r>
              <a:rPr lang="ru-RU" altLang="ru-RU" sz="2000" dirty="0">
                <a:latin typeface="Times New Roman" panose="02020603050405020304" pitchFamily="18" charset="0"/>
              </a:rPr>
              <a:t> (</a:t>
            </a:r>
            <a:r>
              <a:rPr lang="ru-RU" altLang="ru-RU" sz="2000" dirty="0" err="1">
                <a:latin typeface="Times New Roman" panose="02020603050405020304" pitchFamily="18" charset="0"/>
              </a:rPr>
              <a:t>Network</a:t>
            </a:r>
            <a:r>
              <a:rPr lang="ru-RU" altLang="ru-RU" sz="2000" dirty="0">
                <a:latin typeface="Times New Roman" panose="02020603050405020304" pitchFamily="18" charset="0"/>
              </a:rPr>
              <a:t> </a:t>
            </a:r>
            <a:r>
              <a:rPr lang="ru-RU" altLang="ru-RU" sz="2000" dirty="0" err="1">
                <a:latin typeface="Times New Roman" panose="02020603050405020304" pitchFamily="18" charset="0"/>
              </a:rPr>
              <a:t>Terminаtion</a:t>
            </a:r>
            <a:r>
              <a:rPr lang="ru-RU" altLang="ru-RU" sz="2000" dirty="0">
                <a:latin typeface="Times New Roman" panose="02020603050405020304" pitchFamily="18" charset="0"/>
              </a:rPr>
              <a:t>) -  это сетевое соединительное устройство. </a:t>
            </a:r>
          </a:p>
          <a:p>
            <a:pPr marL="273050" indent="-4763" algn="just"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Оно обеспечивающее переход с двухпроводных линий ISDN на четырехпроводные для подключения к компьютерам и терминалам.</a:t>
            </a:r>
          </a:p>
          <a:p>
            <a:pPr marL="273050" indent="-4763" algn="just">
              <a:buFont typeface="Wingdings" panose="05000000000000000000" pitchFamily="2" charset="2"/>
              <a:buNone/>
            </a:pPr>
            <a:r>
              <a:rPr lang="ru-RU" altLang="ru-RU" sz="2000" dirty="0">
                <a:latin typeface="Times New Roman" panose="02020603050405020304" pitchFamily="18" charset="0"/>
              </a:rPr>
              <a:t>Устанавливается оператором связи в помещении клиента</a:t>
            </a:r>
            <a:r>
              <a:rPr lang="ru-RU" altLang="ru-RU" sz="1800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5" descr="C:\Мои документы\!!!Услуги\ISDN\Рисунки\nt2ab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88841"/>
            <a:ext cx="1728192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47872" y="4149080"/>
            <a:ext cx="8534400" cy="2400657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482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731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just"/>
            <a:r>
              <a:rPr lang="ru-RU" altLang="ru-RU" sz="2000" dirty="0"/>
              <a:t>В зависимости от Ваших нужд для подключения к сети ISDN Вам потребуется соответствующее </a:t>
            </a:r>
            <a:r>
              <a:rPr lang="ru-RU" altLang="ru-RU" sz="2000" b="1" dirty="0"/>
              <a:t>оконечное оборудование ISDN</a:t>
            </a:r>
            <a:r>
              <a:rPr lang="ru-RU" altLang="ru-RU" sz="2000" dirty="0"/>
              <a:t>.</a:t>
            </a:r>
          </a:p>
          <a:p>
            <a:pPr algn="just"/>
            <a:endParaRPr lang="ru-RU" altLang="ru-RU" sz="2000" dirty="0"/>
          </a:p>
          <a:p>
            <a:pPr algn="just">
              <a:buFont typeface="Symbol" panose="05050102010706020507" pitchFamily="18" charset="2"/>
              <a:buNone/>
            </a:pPr>
            <a:r>
              <a:rPr lang="ru-RU" altLang="ru-RU" sz="2000" b="1" u="sng" dirty="0"/>
              <a:t>Телефоны и факсы ISDN</a:t>
            </a:r>
            <a:r>
              <a:rPr lang="ru-RU" altLang="ru-RU" sz="2000" dirty="0"/>
              <a:t> используются по своему прямому назначению, от обычных аналоговых устройств их отличает существенно больший набор сервисных функций.</a:t>
            </a:r>
          </a:p>
          <a:p>
            <a:pPr algn="just">
              <a:spcBef>
                <a:spcPct val="50000"/>
              </a:spcBef>
            </a:pPr>
            <a:endParaRPr lang="ru-RU" altLang="ru-RU" sz="20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639086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1143000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600" b="1" dirty="0">
                <a:solidFill>
                  <a:srgbClr val="002060"/>
                </a:solidFill>
              </a:rPr>
              <a:t>Оконечное оборудование </a:t>
            </a:r>
            <a:r>
              <a:rPr lang="en-US" sz="3600" b="1" dirty="0">
                <a:solidFill>
                  <a:srgbClr val="002060"/>
                </a:solidFill>
              </a:rPr>
              <a:t>ISDN (</a:t>
            </a:r>
            <a:r>
              <a:rPr lang="ru-RU" sz="3600" b="1" dirty="0">
                <a:solidFill>
                  <a:srgbClr val="002060"/>
                </a:solidFill>
              </a:rPr>
              <a:t>3</a:t>
            </a:r>
            <a:r>
              <a:rPr lang="en-US" sz="3600" b="1" dirty="0">
                <a:solidFill>
                  <a:srgbClr val="002060"/>
                </a:solidFill>
              </a:rPr>
              <a:t>/</a:t>
            </a:r>
            <a:r>
              <a:rPr lang="ru-RU" sz="3600" b="1" dirty="0">
                <a:solidFill>
                  <a:srgbClr val="002060"/>
                </a:solidFill>
              </a:rPr>
              <a:t>3</a:t>
            </a:r>
            <a:r>
              <a:rPr lang="en-US" sz="3600" b="1" dirty="0">
                <a:solidFill>
                  <a:srgbClr val="002060"/>
                </a:solidFill>
              </a:rPr>
              <a:t>)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12" name="Rectangle 4"/>
          <p:cNvSpPr txBox="1">
            <a:spLocks noChangeArrowheads="1"/>
          </p:cNvSpPr>
          <p:nvPr/>
        </p:nvSpPr>
        <p:spPr>
          <a:xfrm>
            <a:off x="2411760" y="1124744"/>
            <a:ext cx="6732240" cy="3384376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82600">
              <a:buFont typeface="Wingdings" panose="05000000000000000000" pitchFamily="2" charset="2"/>
              <a:buNone/>
            </a:pPr>
            <a:r>
              <a:rPr lang="ru-RU" altLang="ru-RU" sz="1800" b="1" dirty="0" err="1">
                <a:latin typeface="Times New Roman" panose="02020603050405020304" pitchFamily="18" charset="0"/>
              </a:rPr>
              <a:t>Маршрутизаторы</a:t>
            </a:r>
            <a:r>
              <a:rPr lang="ru-RU" altLang="ru-RU" sz="1800" b="1" dirty="0">
                <a:latin typeface="Times New Roman" panose="02020603050405020304" pitchFamily="18" charset="0"/>
              </a:rPr>
              <a:t> ISDN</a:t>
            </a:r>
            <a:r>
              <a:rPr lang="ru-RU" altLang="ru-RU" sz="1800" dirty="0">
                <a:latin typeface="Times New Roman" panose="02020603050405020304" pitchFamily="18" charset="0"/>
              </a:rPr>
              <a:t> - используются для </a:t>
            </a:r>
          </a:p>
          <a:p>
            <a:pPr marL="273050" indent="-4763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  -объединения нескольких локальных сетей в корпоративную сеть,</a:t>
            </a:r>
          </a:p>
          <a:p>
            <a:pPr marL="273050" indent="-4763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  - доступа к ресурсам офисной ЛВС и</a:t>
            </a:r>
          </a:p>
          <a:p>
            <a:pPr marL="273050" indent="-4763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  - подключения локальной сети к </a:t>
            </a:r>
            <a:r>
              <a:rPr lang="ru-RU" altLang="ru-RU" sz="1800" dirty="0" err="1">
                <a:latin typeface="Times New Roman" panose="02020603050405020304" pitchFamily="18" charset="0"/>
              </a:rPr>
              <a:t>Internet</a:t>
            </a:r>
            <a:r>
              <a:rPr lang="ru-RU" altLang="ru-RU" sz="1800" dirty="0">
                <a:latin typeface="Times New Roman" panose="02020603050405020304" pitchFamily="18" charset="0"/>
              </a:rPr>
              <a:t>, используя каналы ISDN.</a:t>
            </a:r>
          </a:p>
          <a:p>
            <a:pPr marL="273050" indent="-4763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     В зависимости от модели , </a:t>
            </a:r>
            <a:r>
              <a:rPr lang="ru-RU" altLang="ru-RU" sz="1800" dirty="0" err="1">
                <a:latin typeface="Times New Roman" panose="02020603050405020304" pitchFamily="18" charset="0"/>
              </a:rPr>
              <a:t>маршрутизаторы</a:t>
            </a:r>
            <a:r>
              <a:rPr lang="ru-RU" altLang="ru-RU" sz="1800" dirty="0">
                <a:latin typeface="Times New Roman" panose="02020603050405020304" pitchFamily="18" charset="0"/>
              </a:rPr>
              <a:t> ISDN могут быть снабжены портами для подключения аналоговых устройств.</a:t>
            </a:r>
          </a:p>
          <a:p>
            <a:pPr marL="273050" indent="-4763">
              <a:buFont typeface="Wingdings" panose="05000000000000000000" pitchFamily="2" charset="2"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 </a:t>
            </a:r>
            <a:r>
              <a:rPr lang="ru-RU" altLang="ru-RU" sz="1800" b="1" dirty="0">
                <a:latin typeface="Times New Roman" panose="02020603050405020304" pitchFamily="18" charset="0"/>
              </a:rPr>
              <a:t>Большинство выпускаемых в настоящее время маршрутизаторов обладает следующими возможностями</a:t>
            </a:r>
            <a:r>
              <a:rPr lang="ru-RU" altLang="ru-RU" sz="1800" dirty="0">
                <a:latin typeface="Times New Roman" panose="02020603050405020304" pitchFamily="18" charset="0"/>
              </a:rPr>
              <a:t>: </a:t>
            </a:r>
          </a:p>
        </p:txBody>
      </p:sp>
      <p:pic>
        <p:nvPicPr>
          <p:cNvPr id="13" name="Picture 5" descr="C:\Мои документы\!!!Услуги\ISDN\Рисунки\cisco1600-маршрутизатор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08" y="1268761"/>
            <a:ext cx="2375776" cy="1944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79512" y="4509120"/>
            <a:ext cx="896448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482600" indent="-2921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>
              <a:buFont typeface="Symbol" panose="05050102010706020507" pitchFamily="18" charset="2"/>
              <a:buChar char="·"/>
            </a:pPr>
            <a:r>
              <a:rPr lang="ru-RU" altLang="ru-RU" sz="1800" dirty="0"/>
              <a:t>маршрутизация TCP/IP, IPX/SPX, </a:t>
            </a:r>
            <a:r>
              <a:rPr lang="en-GB" altLang="ru-RU" sz="1800" dirty="0"/>
              <a:t>Apple Talk</a:t>
            </a:r>
            <a:r>
              <a:rPr lang="ru-RU" altLang="ru-RU" sz="1800" dirty="0"/>
              <a:t>;</a:t>
            </a:r>
          </a:p>
          <a:p>
            <a:pPr lvl="1">
              <a:buFont typeface="Symbol" panose="05050102010706020507" pitchFamily="18" charset="2"/>
              <a:buChar char="·"/>
            </a:pPr>
            <a:r>
              <a:rPr lang="ru-RU" altLang="ru-RU" sz="1800" dirty="0"/>
              <a:t>инверсное мультиплексирование позволяет использовать оба В-канала для получения пропускной способности 128 Кбит/с;</a:t>
            </a:r>
          </a:p>
          <a:p>
            <a:pPr lvl="1">
              <a:buFont typeface="Symbol" panose="05050102010706020507" pitchFamily="18" charset="2"/>
              <a:buChar char="·"/>
            </a:pPr>
            <a:r>
              <a:rPr lang="ru-RU" altLang="ru-RU" sz="1800" dirty="0"/>
              <a:t>динамическое распределение полосы пропускания позволяет  оптимизировать использование канала в соответствии с загрузкой;</a:t>
            </a:r>
          </a:p>
          <a:p>
            <a:pPr lvl="1">
              <a:buFont typeface="Symbol" panose="05050102010706020507" pitchFamily="18" charset="2"/>
              <a:buChar char="·"/>
            </a:pPr>
            <a:r>
              <a:rPr lang="ru-RU" altLang="ru-RU" sz="1800" dirty="0"/>
              <a:t>сжатие данных может повысить пропускную способность канала    до 512 Кбит/с;</a:t>
            </a:r>
          </a:p>
          <a:p>
            <a:pPr lvl="1">
              <a:buFont typeface="Symbol" panose="05050102010706020507" pitchFamily="18" charset="2"/>
              <a:buChar char="·"/>
            </a:pPr>
            <a:r>
              <a:rPr lang="ru-RU" altLang="ru-RU" sz="1800" dirty="0"/>
              <a:t>удаленное управление и диагностика;</a:t>
            </a:r>
          </a:p>
          <a:p>
            <a:pPr lvl="1">
              <a:buFont typeface="Symbol" panose="05050102010706020507" pitchFamily="18" charset="2"/>
              <a:buChar char="·"/>
            </a:pPr>
            <a:r>
              <a:rPr lang="ru-RU" altLang="ru-RU" sz="1800" dirty="0"/>
              <a:t>поддержка различных стандартов ISDN соединения: B+D, 2B+D.</a:t>
            </a:r>
          </a:p>
        </p:txBody>
      </p:sp>
    </p:spTree>
    <p:extLst>
      <p:ext uri="{BB962C8B-B14F-4D97-AF65-F5344CB8AC3E}">
        <p14:creationId xmlns:p14="http://schemas.microsoft.com/office/powerpoint/2010/main" val="124535129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504056"/>
          </a:xfrm>
        </p:spPr>
        <p:txBody>
          <a:bodyPr>
            <a:normAutofit fontScale="90000"/>
          </a:bodyPr>
          <a:lstStyle/>
          <a:p>
            <a:br>
              <a:rPr lang="ru-RU" b="1" dirty="0">
                <a:solidFill>
                  <a:schemeClr val="tx2"/>
                </a:solidFill>
                <a:latin typeface="Times New Roman" pitchFamily="18" charset="0"/>
              </a:rPr>
            </a:br>
            <a:r>
              <a:rPr lang="ru-RU" sz="3600" b="1" dirty="0">
                <a:solidFill>
                  <a:schemeClr val="tx2"/>
                </a:solidFill>
                <a:latin typeface="Times New Roman" pitchFamily="18" charset="0"/>
              </a:rPr>
              <a:t>Услуги </a:t>
            </a:r>
            <a:r>
              <a:rPr lang="en-US" sz="3600" b="1" dirty="0">
                <a:solidFill>
                  <a:schemeClr val="tx2"/>
                </a:solidFill>
                <a:latin typeface="Times New Roman" pitchFamily="18" charset="0"/>
              </a:rPr>
              <a:t>ISDN</a:t>
            </a:r>
            <a:br>
              <a:rPr lang="ru-RU" sz="3600" b="1" dirty="0">
                <a:solidFill>
                  <a:schemeClr val="tx2"/>
                </a:solidFill>
                <a:cs typeface="Arial" charset="0"/>
              </a:rPr>
            </a:b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836712"/>
            <a:ext cx="8892480" cy="602128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ru-RU" sz="2400" b="1" u="sng" dirty="0"/>
              <a:t>Услуги интерфейса базовой скорости </a:t>
            </a:r>
            <a:r>
              <a:rPr lang="ru-RU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 (</a:t>
            </a:r>
            <a:r>
              <a:rPr lang="ru-RU" sz="2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</a:t>
            </a:r>
            <a:r>
              <a:rPr lang="ru-RU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Rate</a:t>
            </a:r>
            <a:r>
              <a:rPr lang="ru-RU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ru-RU" sz="2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</a:t>
            </a:r>
            <a:r>
              <a:rPr lang="ru-RU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</a:t>
            </a:r>
            <a:endParaRPr lang="ru-RU" sz="2400" dirty="0"/>
          </a:p>
          <a:p>
            <a:pPr>
              <a:buNone/>
              <a:defRPr/>
            </a:pPr>
            <a:r>
              <a:rPr lang="ru-RU" sz="2400" b="1" dirty="0"/>
              <a:t>      </a:t>
            </a:r>
            <a:r>
              <a:rPr lang="ru-RU" sz="2400" b="1" u="sng" dirty="0"/>
              <a:t>предлагают два В-канала по 64 Кбит/с</a:t>
            </a:r>
          </a:p>
          <a:p>
            <a:pPr>
              <a:buNone/>
              <a:defRPr/>
            </a:pPr>
            <a:r>
              <a:rPr lang="ru-RU" sz="2400" b="1" u="sng" dirty="0"/>
              <a:t>      и один D-канал на 16 Кбит/с   - (2B+D).</a:t>
            </a:r>
          </a:p>
          <a:p>
            <a:pPr>
              <a:defRPr/>
            </a:pPr>
            <a:r>
              <a:rPr lang="ru-RU" sz="2400" dirty="0"/>
              <a:t>Общая скорость  передачи битов</a:t>
            </a:r>
          </a:p>
          <a:p>
            <a:pPr>
              <a:buNone/>
              <a:defRPr/>
            </a:pPr>
            <a:r>
              <a:rPr lang="ru-RU" sz="2400" dirty="0"/>
              <a:t>     доходит до 192 Кбит/с</a:t>
            </a:r>
            <a:r>
              <a:rPr lang="ru-RU" sz="2000" dirty="0"/>
              <a:t>.</a:t>
            </a:r>
          </a:p>
          <a:p>
            <a:pPr>
              <a:buNone/>
              <a:defRPr/>
            </a:pPr>
            <a:endParaRPr lang="ru-RU" sz="2000" dirty="0"/>
          </a:p>
          <a:p>
            <a:pPr>
              <a:defRPr/>
            </a:pPr>
            <a:endParaRPr lang="ru-RU" sz="2000" dirty="0"/>
          </a:p>
          <a:p>
            <a:pPr>
              <a:defRPr/>
            </a:pPr>
            <a:r>
              <a:rPr lang="ru-RU" sz="2000" dirty="0"/>
              <a:t>     </a:t>
            </a:r>
            <a:r>
              <a:rPr lang="ru-RU" sz="2400" b="1" u="sng" dirty="0"/>
              <a:t>Услуги интерфейса первичной скорости</a:t>
            </a:r>
          </a:p>
          <a:p>
            <a:pPr>
              <a:buNone/>
              <a:defRPr/>
            </a:pPr>
            <a:r>
              <a:rPr lang="ru-RU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PRI (</a:t>
            </a:r>
            <a:r>
              <a:rPr lang="ru-RU" sz="2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Primary</a:t>
            </a:r>
            <a:r>
              <a:rPr lang="ru-RU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Rate</a:t>
            </a:r>
            <a:r>
              <a:rPr lang="ru-RU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</a:t>
            </a:r>
            <a:r>
              <a:rPr lang="ru-RU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>
              <a:buNone/>
              <a:defRPr/>
            </a:pPr>
            <a:r>
              <a:rPr lang="ru-RU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ru-RU" sz="2400" b="1" u="sng" dirty="0"/>
              <a:t>предлагают 30 В-каналов по 64 Кбит/с </a:t>
            </a:r>
          </a:p>
          <a:p>
            <a:pPr>
              <a:buNone/>
              <a:defRPr/>
            </a:pPr>
            <a:r>
              <a:rPr lang="ru-RU" sz="2400" b="1" u="sng" dirty="0"/>
              <a:t>    и один D-канал на 64 Кбит/с –(30В+</a:t>
            </a:r>
            <a:r>
              <a:rPr lang="ru-RU" altLang="ru-RU" sz="2400" b="1" dirty="0">
                <a:cs typeface="Times New Roman" panose="02020603050405020304" pitchFamily="18" charset="0"/>
              </a:rPr>
              <a:t>D)</a:t>
            </a:r>
            <a:endParaRPr lang="ru-RU" sz="2400" b="1" u="sng" dirty="0"/>
          </a:p>
          <a:p>
            <a:pPr>
              <a:defRPr/>
            </a:pPr>
            <a:r>
              <a:rPr lang="ru-RU" sz="2400" dirty="0"/>
              <a:t> Общая скорость   интерфейса 2048 Мбит/с.</a:t>
            </a:r>
          </a:p>
          <a:p>
            <a:pPr>
              <a:defRPr/>
            </a:pPr>
            <a:endParaRPr lang="ru-RU" sz="2000" dirty="0"/>
          </a:p>
          <a:p>
            <a:pPr>
              <a:defRPr/>
            </a:pPr>
            <a:r>
              <a:rPr lang="ru-RU" sz="2400" dirty="0"/>
              <a:t>Внутри данных услуг </a:t>
            </a:r>
            <a:r>
              <a:rPr lang="en-US" sz="2400" dirty="0"/>
              <a:t>B-</a:t>
            </a:r>
            <a:r>
              <a:rPr lang="ru-RU" sz="2400" dirty="0"/>
              <a:t>каналы могут</a:t>
            </a:r>
          </a:p>
          <a:p>
            <a:pPr>
              <a:buNone/>
              <a:defRPr/>
            </a:pPr>
            <a:r>
              <a:rPr lang="ru-RU" sz="2400" dirty="0"/>
              <a:t>   объединяться  в канал любой емкости</a:t>
            </a:r>
            <a:r>
              <a:rPr lang="ru-RU" sz="2000" dirty="0"/>
              <a:t>.</a:t>
            </a:r>
          </a:p>
          <a:p>
            <a:endParaRPr lang="ru-RU" dirty="0"/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3" y="1628800"/>
            <a:ext cx="3312368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4149080"/>
            <a:ext cx="298782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0" y="6858000"/>
          <a:ext cx="91440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Visio" r:id="rId2" imgW="6697599" imgH="577596" progId="">
                  <p:embed/>
                </p:oleObj>
              </mc:Choice>
              <mc:Fallback>
                <p:oleObj name="Visio" r:id="rId2" imgW="6697599" imgH="57759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858000"/>
                        <a:ext cx="91440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Rectangle 10"/>
          <p:cNvSpPr>
            <a:spLocks noChangeArrowheads="1"/>
          </p:cNvSpPr>
          <p:nvPr/>
        </p:nvSpPr>
        <p:spPr bwMode="auto">
          <a:xfrm>
            <a:off x="0" y="692150"/>
            <a:ext cx="9144000" cy="616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ru-RU" sz="2400" dirty="0"/>
              <a:t>    Базовый принцип </a:t>
            </a:r>
            <a:r>
              <a:rPr lang="en-US" sz="2400" dirty="0"/>
              <a:t>ISDN</a:t>
            </a:r>
            <a:r>
              <a:rPr lang="ru-RU" sz="2400" dirty="0"/>
              <a:t> – это предоставление пользователю стандартного интерфейса для запроса у сети разнообразных услуг.</a:t>
            </a:r>
          </a:p>
          <a:p>
            <a:pPr>
              <a:defRPr/>
            </a:pPr>
            <a:r>
              <a:rPr lang="ru-RU" sz="2400" dirty="0"/>
              <a:t>   </a:t>
            </a:r>
            <a:r>
              <a:rPr lang="ru-RU" sz="2400" b="1" u="sng" dirty="0"/>
              <a:t>Пользовательский интерфейс основан на каналах двух типов:</a:t>
            </a:r>
          </a:p>
          <a:p>
            <a:pPr>
              <a:defRPr/>
            </a:pPr>
            <a:endParaRPr lang="ru-RU" sz="2400" u="sng" dirty="0"/>
          </a:p>
          <a:p>
            <a:pPr>
              <a:defRPr/>
            </a:pP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канал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</a:t>
            </a:r>
            <a:r>
              <a:rPr lang="en-US" sz="2400" dirty="0"/>
              <a:t>– </a:t>
            </a:r>
            <a:r>
              <a:rPr lang="ru-RU" sz="2400" b="1" dirty="0"/>
              <a:t>со скоростью передачи данных 64 Кбит/с. </a:t>
            </a:r>
          </a:p>
          <a:p>
            <a:pPr>
              <a:defRPr/>
            </a:pPr>
            <a:r>
              <a:rPr lang="ru-RU" sz="2400" i="1" u="sng" dirty="0"/>
              <a:t>Отвечает за передачу пользовательских оцифрованных данных.</a:t>
            </a:r>
            <a:r>
              <a:rPr lang="ru-RU" sz="2400" dirty="0"/>
              <a:t>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Обслуживают соединения с коммутацией каналов (КК).</a:t>
            </a:r>
          </a:p>
          <a:p>
            <a:pPr>
              <a:defRPr/>
            </a:pPr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defRPr/>
            </a:pPr>
            <a:r>
              <a:rPr lang="ru-RU" sz="2400" b="1" dirty="0"/>
              <a:t>     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канал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400" b="1" dirty="0"/>
              <a:t>– со скоростью передачи данных 16 или 64 Кбит/с</a:t>
            </a:r>
            <a:r>
              <a:rPr lang="ru-RU" sz="2400" dirty="0"/>
              <a:t>.</a:t>
            </a:r>
          </a:p>
          <a:p>
            <a:pPr>
              <a:defRPr/>
            </a:pPr>
            <a:r>
              <a:rPr lang="ru-RU" sz="2400" i="1" u="sng" dirty="0"/>
              <a:t>    Отвечает за передачу сигнальной информации</a:t>
            </a:r>
            <a:r>
              <a:rPr lang="ru-RU" sz="2400" b="1" u="sng" dirty="0"/>
              <a:t>:</a:t>
            </a:r>
          </a:p>
          <a:p>
            <a:pPr>
              <a:defRPr/>
            </a:pPr>
            <a:r>
              <a:rPr lang="ru-RU" sz="2400" dirty="0"/>
              <a:t>        - установку,</a:t>
            </a:r>
          </a:p>
          <a:p>
            <a:pPr>
              <a:defRPr/>
            </a:pPr>
            <a:r>
              <a:rPr lang="ru-RU" sz="2400" dirty="0"/>
              <a:t>       - сопровождение </a:t>
            </a:r>
            <a:r>
              <a:rPr lang="ru-RU" sz="2400" dirty="0">
                <a:solidFill>
                  <a:srgbClr val="000000"/>
                </a:solidFill>
              </a:rPr>
              <a:t>и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</a:rPr>
              <a:t>       - завершение соединений.</a:t>
            </a:r>
          </a:p>
          <a:p>
            <a:pPr>
              <a:defRPr/>
            </a:pP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Обслуживают соединения:</a:t>
            </a:r>
          </a:p>
          <a:p>
            <a:pPr>
              <a:defRPr/>
            </a:pPr>
            <a:r>
              <a:rPr lang="ru-RU" sz="2400" dirty="0"/>
              <a:t>     - с коммутацией пакетов(КП)  и </a:t>
            </a:r>
          </a:p>
          <a:p>
            <a:pPr>
              <a:defRPr/>
            </a:pPr>
            <a:r>
              <a:rPr lang="ru-RU" sz="2400" dirty="0"/>
              <a:t>     - с каналов(КК).</a:t>
            </a:r>
          </a:p>
          <a:p>
            <a:pPr>
              <a:defRPr/>
            </a:pPr>
            <a:endParaRPr lang="ru-RU" sz="2400" dirty="0"/>
          </a:p>
          <a:p>
            <a:pPr>
              <a:defRPr/>
            </a:pPr>
            <a:r>
              <a:rPr lang="ru-RU" sz="2400" u="sng" dirty="0"/>
              <a:t>     </a:t>
            </a:r>
            <a:endParaRPr lang="ru-RU" sz="2400" dirty="0"/>
          </a:p>
        </p:txBody>
      </p:sp>
      <p:sp>
        <p:nvSpPr>
          <p:cNvPr id="1028" name="Rectangle 10"/>
          <p:cNvSpPr>
            <a:spLocks noChangeArrowheads="1"/>
          </p:cNvSpPr>
          <p:nvPr/>
        </p:nvSpPr>
        <p:spPr bwMode="auto">
          <a:xfrm>
            <a:off x="288925" y="188913"/>
            <a:ext cx="856932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</a:rPr>
              <a:t>Услуги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</a:rPr>
              <a:t>ISDN</a:t>
            </a:r>
            <a:endParaRPr lang="ru-RU" sz="2800" b="1" dirty="0">
              <a:solidFill>
                <a:srgbClr val="002060"/>
              </a:solidFill>
              <a:cs typeface="Arial" charset="0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550414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002060"/>
                </a:solidFill>
              </a:rPr>
              <a:t>Уровни потоков данных </a:t>
            </a:r>
            <a:r>
              <a:rPr lang="en-US" sz="3200" b="1" dirty="0">
                <a:solidFill>
                  <a:srgbClr val="002060"/>
                </a:solidFill>
              </a:rPr>
              <a:t>ISDN</a:t>
            </a:r>
            <a:r>
              <a:rPr lang="ru-RU" sz="3200" b="1" dirty="0">
                <a:solidFill>
                  <a:srgbClr val="002060"/>
                </a:solidFill>
              </a:rPr>
              <a:t> (1)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endParaRPr lang="ru-RU" sz="3600" b="1" dirty="0"/>
          </a:p>
        </p:txBody>
      </p:sp>
      <p:sp>
        <p:nvSpPr>
          <p:cNvPr id="6147" name="TextBox 30"/>
          <p:cNvSpPr txBox="1">
            <a:spLocks noChangeArrowheads="1"/>
          </p:cNvSpPr>
          <p:nvPr/>
        </p:nvSpPr>
        <p:spPr bwMode="auto">
          <a:xfrm>
            <a:off x="179512" y="980728"/>
            <a:ext cx="8712968" cy="587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spcAft>
                <a:spcPts val="1200"/>
              </a:spcAft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Архитектура сети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ISDN 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базируется на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семиуровневой эталонной модели ВОС (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OSI)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</a:pPr>
            <a:r>
              <a:rPr lang="ru-RU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Уровень 1 </a:t>
            </a:r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ISDN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ru-RU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Физический уровень 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OSI) </a:t>
            </a:r>
            <a:r>
              <a:rPr lang="ru-RU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отвечает: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 физические соединения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обеспечивает передачу сигналов;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 обнаружение конфликтов.</a:t>
            </a:r>
            <a:r>
              <a:rPr lang="ru-RU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42900" indent="-342900" algn="just">
              <a:spcAft>
                <a:spcPts val="1200"/>
              </a:spcAft>
            </a:pPr>
            <a:r>
              <a:rPr lang="ru-RU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Уровень 2 </a:t>
            </a:r>
            <a:r>
              <a:rPr lang="en-US" sz="20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ISDN 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Канальный уровень </a:t>
            </a:r>
            <a:r>
              <a:rPr lang="en-US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OSI) </a:t>
            </a:r>
            <a:r>
              <a:rPr lang="ru-RU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отвечает: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за двухточечные соединения;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форматирование сигналов и распознавание ошибок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управляет служебными данными ;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обеспечивает обнаружение коммуникационных ошибок, что позволяет добиться высокой надежности при передаче информации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23243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838446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rgbClr val="002060"/>
                </a:solidFill>
              </a:rPr>
              <a:t>Уровни потоков данных </a:t>
            </a:r>
            <a:r>
              <a:rPr lang="en-US" sz="3200" b="1" dirty="0">
                <a:solidFill>
                  <a:srgbClr val="002060"/>
                </a:solidFill>
              </a:rPr>
              <a:t>ISDN</a:t>
            </a:r>
            <a:r>
              <a:rPr lang="ru-RU" sz="3200" b="1" dirty="0">
                <a:solidFill>
                  <a:srgbClr val="002060"/>
                </a:solidFill>
              </a:rPr>
              <a:t>(2)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D65385-3473-466F-BFAC-CCD6C84033F0}" type="slidenum">
              <a:rPr lang="ru-RU" smtClean="0"/>
              <a:pPr>
                <a:defRPr/>
              </a:pPr>
              <a:t>27</a:t>
            </a:fld>
            <a:endParaRPr lang="ru-RU"/>
          </a:p>
        </p:txBody>
      </p:sp>
      <p:sp>
        <p:nvSpPr>
          <p:cNvPr id="6147" name="TextBox 30"/>
          <p:cNvSpPr txBox="1">
            <a:spLocks noChangeArrowheads="1"/>
          </p:cNvSpPr>
          <p:nvPr/>
        </p:nvSpPr>
        <p:spPr bwMode="auto">
          <a:xfrm>
            <a:off x="179512" y="764704"/>
            <a:ext cx="8784976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sz="2400" i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Уровень </a:t>
            </a:r>
            <a:r>
              <a:rPr lang="en-US" sz="24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ru-RU" sz="24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ISDN 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Сетевой уровень 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OSI) 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отвечает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за организацию физических и логических маршрутов при передаче данных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управляет установлением и снятием запросов;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обеспечивает связь между соединениями с коммутацией каналов и соединениями с коммутацией пакетов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Уровень 4 </a:t>
            </a:r>
            <a:r>
              <a:rPr lang="en-US" sz="2400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ISDN 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Транспортный уровень </a:t>
            </a:r>
            <a:r>
              <a:rPr lang="en-US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OSI) </a:t>
            </a:r>
            <a:r>
              <a:rPr lang="ru-RU" sz="2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отвечает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за надежность коммуникаций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гарантирует надежность коммуникационного маршрута после того, как тот установлен.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3986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ChangeArrowheads="1"/>
          </p:cNvSpPr>
          <p:nvPr/>
        </p:nvSpPr>
        <p:spPr bwMode="auto">
          <a:xfrm>
            <a:off x="323850" y="304800"/>
            <a:ext cx="8569325" cy="531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ru-RU" sz="2800" b="1" dirty="0">
                <a:solidFill>
                  <a:schemeClr val="tx2"/>
                </a:solidFill>
                <a:latin typeface="Times New Roman" pitchFamily="18" charset="0"/>
              </a:rPr>
              <a:t>Архитектура протоколов в </a:t>
            </a:r>
            <a:r>
              <a:rPr lang="en-US" sz="2800" b="1" dirty="0">
                <a:solidFill>
                  <a:schemeClr val="tx2"/>
                </a:solidFill>
                <a:latin typeface="Times New Roman" pitchFamily="18" charset="0"/>
              </a:rPr>
              <a:t>ISDN</a:t>
            </a:r>
            <a:endParaRPr lang="ru-RU" sz="2800" b="1" dirty="0">
              <a:solidFill>
                <a:schemeClr val="tx2"/>
              </a:solidFill>
              <a:cs typeface="Arial" charset="0"/>
            </a:endParaRPr>
          </a:p>
        </p:txBody>
      </p:sp>
      <p:sp>
        <p:nvSpPr>
          <p:cNvPr id="2052" name="Rectangle 7"/>
          <p:cNvSpPr>
            <a:spLocks noChangeArrowheads="1"/>
          </p:cNvSpPr>
          <p:nvPr/>
        </p:nvSpPr>
        <p:spPr bwMode="auto">
          <a:xfrm>
            <a:off x="0" y="2495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2050" name="Object 10"/>
          <p:cNvGraphicFramePr>
            <a:graphicFrameLocks noChangeAspect="1"/>
          </p:cNvGraphicFramePr>
          <p:nvPr/>
        </p:nvGraphicFramePr>
        <p:xfrm>
          <a:off x="152400" y="914400"/>
          <a:ext cx="899160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Visio" r:id="rId2" imgW="6338316" imgH="3094863" progId="">
                  <p:embed/>
                </p:oleObj>
              </mc:Choice>
              <mc:Fallback>
                <p:oleObj name="Visio" r:id="rId2" imgW="6338316" imgH="309486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914400"/>
                        <a:ext cx="8991600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694430"/>
          </a:xfrm>
        </p:spPr>
        <p:txBody>
          <a:bodyPr>
            <a:noAutofit/>
          </a:bodyPr>
          <a:lstStyle/>
          <a:p>
            <a:pPr algn="ctr" eaLnBrk="1" hangingPunct="1"/>
            <a:r>
              <a:rPr lang="ru-RU" sz="3200" b="1" dirty="0">
                <a:solidFill>
                  <a:srgbClr val="002060"/>
                </a:solidFill>
              </a:rPr>
              <a:t>Типы каналов в сети </a:t>
            </a:r>
            <a:r>
              <a:rPr lang="en-US" sz="3200" b="1" dirty="0">
                <a:solidFill>
                  <a:srgbClr val="002060"/>
                </a:solidFill>
              </a:rPr>
              <a:t>ISDN </a:t>
            </a:r>
            <a:endParaRPr lang="ru-RU" sz="3200" b="1" dirty="0">
              <a:solidFill>
                <a:srgbClr val="00206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D65385-3473-466F-BFAC-CCD6C84033F0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  <p:sp>
        <p:nvSpPr>
          <p:cNvPr id="6147" name="TextBox 30"/>
          <p:cNvSpPr txBox="1">
            <a:spLocks noChangeArrowheads="1"/>
          </p:cNvSpPr>
          <p:nvPr/>
        </p:nvSpPr>
        <p:spPr bwMode="auto">
          <a:xfrm>
            <a:off x="0" y="1124744"/>
            <a:ext cx="9144000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Для объединения в сети ISDN различных видов трафика используется технология TD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M.</a:t>
            </a:r>
          </a:p>
          <a:p>
            <a:pPr indent="177800" algn="just">
              <a:buFont typeface="Arial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 Для каждого типа данных выделяется отдельная полоса, называющаяся элементарным каналом  (или стандартным каналом).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  Для этой полосы гарантируется фиксированная, согласованная доля полосы пропускания. 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  Выделение полосы происходит после подачи сигнала </a:t>
            </a:r>
            <a:r>
              <a:rPr lang="ru-RU" sz="2400" i="1" dirty="0">
                <a:latin typeface="Arial" panose="020B0604020202020204" pitchFamily="34" charset="0"/>
                <a:cs typeface="Arial" panose="020B0604020202020204" pitchFamily="34" charset="0"/>
              </a:rPr>
              <a:t>CALL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по отдельному каналу, называющемуся </a:t>
            </a:r>
            <a:r>
              <a:rPr lang="ru-RU" sz="2400" i="1" dirty="0">
                <a:latin typeface="Arial" panose="020B0604020202020204" pitchFamily="34" charset="0"/>
                <a:cs typeface="Arial" panose="020B0604020202020204" pitchFamily="34" charset="0"/>
              </a:rPr>
              <a:t>каналом внеканальной сигнализации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73050" indent="-273050" algn="just">
              <a:buFont typeface="Arial" pitchFamily="34" charset="0"/>
              <a:buChar char="•"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  В стандартах ISDN определяются базовые типы каналов, из которых формируются различные пользовательские интерфейсы.</a:t>
            </a:r>
          </a:p>
          <a:p>
            <a:pPr algn="just">
              <a:spcAft>
                <a:spcPts val="1200"/>
              </a:spcAft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421463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1643" y="46542"/>
            <a:ext cx="7886700" cy="581932"/>
          </a:xfrm>
        </p:spPr>
        <p:txBody>
          <a:bodyPr>
            <a:normAutofit/>
          </a:bodyPr>
          <a:lstStyle/>
          <a:p>
            <a:pPr algn="ctr"/>
            <a:r>
              <a:rPr lang="ru-RU" altLang="ru-RU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ТИПЫ КАНАЛОВ ISDN </a:t>
            </a:r>
          </a:p>
        </p:txBody>
      </p:sp>
      <p:grpSp>
        <p:nvGrpSpPr>
          <p:cNvPr id="2" name="Group 89"/>
          <p:cNvGrpSpPr>
            <a:grpSpLocks/>
          </p:cNvGrpSpPr>
          <p:nvPr/>
        </p:nvGrpSpPr>
        <p:grpSpPr bwMode="auto">
          <a:xfrm>
            <a:off x="81644" y="628475"/>
            <a:ext cx="8874578" cy="6211541"/>
            <a:chOff x="-3" y="-3"/>
            <a:chExt cx="4042" cy="4038"/>
          </a:xfrm>
        </p:grpSpPr>
        <p:grpSp>
          <p:nvGrpSpPr>
            <p:cNvPr id="3" name="Group 87"/>
            <p:cNvGrpSpPr>
              <a:grpSpLocks/>
            </p:cNvGrpSpPr>
            <p:nvPr/>
          </p:nvGrpSpPr>
          <p:grpSpPr bwMode="auto">
            <a:xfrm>
              <a:off x="0" y="0"/>
              <a:ext cx="4036" cy="4032"/>
              <a:chOff x="0" y="0"/>
              <a:chExt cx="4036" cy="4032"/>
            </a:xfrm>
          </p:grpSpPr>
          <p:grpSp>
            <p:nvGrpSpPr>
              <p:cNvPr id="4" name="Group 32"/>
              <p:cNvGrpSpPr>
                <a:grpSpLocks/>
              </p:cNvGrpSpPr>
              <p:nvPr/>
            </p:nvGrpSpPr>
            <p:grpSpPr bwMode="auto">
              <a:xfrm>
                <a:off x="0" y="0"/>
                <a:ext cx="284" cy="576"/>
                <a:chOff x="0" y="0"/>
                <a:chExt cx="284" cy="576"/>
              </a:xfrm>
            </p:grpSpPr>
            <p:sp>
              <p:nvSpPr>
                <p:cNvPr id="61443" name="Rectangle 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Тип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кан</a:t>
                  </a:r>
                  <a:r>
                    <a:rPr lang="ru-RU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  <a:endParaRPr lang="en-US" alt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71" name="Rectangle 3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5" name="Group 34"/>
              <p:cNvGrpSpPr>
                <a:grpSpLocks/>
              </p:cNvGrpSpPr>
              <p:nvPr/>
            </p:nvGrpSpPr>
            <p:grpSpPr bwMode="auto">
              <a:xfrm>
                <a:off x="284" y="0"/>
                <a:ext cx="617" cy="576"/>
                <a:chOff x="284" y="0"/>
                <a:chExt cx="617" cy="576"/>
              </a:xfrm>
            </p:grpSpPr>
            <p:sp>
              <p:nvSpPr>
                <p:cNvPr id="61444" name="Rectangle 4"/>
                <p:cNvSpPr>
                  <a:spLocks noChangeArrowheads="1"/>
                </p:cNvSpPr>
                <p:nvPr/>
              </p:nvSpPr>
              <p:spPr bwMode="auto">
                <a:xfrm>
                  <a:off x="284" y="0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Скорость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передачи</a:t>
                  </a:r>
                  <a:endParaRPr lang="en-US" alt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73" name="Rectangle 33"/>
                <p:cNvSpPr>
                  <a:spLocks noChangeArrowheads="1"/>
                </p:cNvSpPr>
                <p:nvPr/>
              </p:nvSpPr>
              <p:spPr bwMode="auto">
                <a:xfrm>
                  <a:off x="284" y="0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6" name="Group 36"/>
              <p:cNvGrpSpPr>
                <a:grpSpLocks/>
              </p:cNvGrpSpPr>
              <p:nvPr/>
            </p:nvGrpSpPr>
            <p:grpSpPr bwMode="auto">
              <a:xfrm>
                <a:off x="901" y="0"/>
                <a:ext cx="687" cy="576"/>
                <a:chOff x="901" y="0"/>
                <a:chExt cx="687" cy="576"/>
              </a:xfrm>
            </p:grpSpPr>
            <p:sp>
              <p:nvSpPr>
                <p:cNvPr id="61445" name="Rectangle 5"/>
                <p:cNvSpPr>
                  <a:spLocks noChangeArrowheads="1"/>
                </p:cNvSpPr>
                <p:nvPr/>
              </p:nvSpPr>
              <p:spPr bwMode="auto">
                <a:xfrm>
                  <a:off x="901" y="0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Технология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коммутации</a:t>
                  </a:r>
                  <a:endParaRPr lang="en-US" alt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75" name="Rectangle 35"/>
                <p:cNvSpPr>
                  <a:spLocks noChangeArrowheads="1"/>
                </p:cNvSpPr>
                <p:nvPr/>
              </p:nvSpPr>
              <p:spPr bwMode="auto">
                <a:xfrm>
                  <a:off x="901" y="0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7" name="Group 38"/>
              <p:cNvGrpSpPr>
                <a:grpSpLocks/>
              </p:cNvGrpSpPr>
              <p:nvPr/>
            </p:nvGrpSpPr>
            <p:grpSpPr bwMode="auto">
              <a:xfrm>
                <a:off x="1588" y="0"/>
                <a:ext cx="2448" cy="576"/>
                <a:chOff x="1588" y="0"/>
                <a:chExt cx="2448" cy="576"/>
              </a:xfrm>
            </p:grpSpPr>
            <p:sp>
              <p:nvSpPr>
                <p:cNvPr id="61446" name="Rectangle 6"/>
                <p:cNvSpPr>
                  <a:spLocks noChangeArrowheads="1"/>
                </p:cNvSpPr>
                <p:nvPr/>
              </p:nvSpPr>
              <p:spPr bwMode="auto">
                <a:xfrm>
                  <a:off x="1588" y="0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Назначение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77" name="Rectangle 37"/>
                <p:cNvSpPr>
                  <a:spLocks noChangeArrowheads="1"/>
                </p:cNvSpPr>
                <p:nvPr/>
              </p:nvSpPr>
              <p:spPr bwMode="auto">
                <a:xfrm>
                  <a:off x="1588" y="0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8" name="Group 40"/>
              <p:cNvGrpSpPr>
                <a:grpSpLocks/>
              </p:cNvGrpSpPr>
              <p:nvPr/>
            </p:nvGrpSpPr>
            <p:grpSpPr bwMode="auto">
              <a:xfrm>
                <a:off x="0" y="576"/>
                <a:ext cx="284" cy="576"/>
                <a:chOff x="0" y="576"/>
                <a:chExt cx="284" cy="576"/>
              </a:xfrm>
            </p:grpSpPr>
            <p:sp>
              <p:nvSpPr>
                <p:cNvPr id="61447" name="Rectangle 7"/>
                <p:cNvSpPr>
                  <a:spLocks noChangeArrowheads="1"/>
                </p:cNvSpPr>
                <p:nvPr/>
              </p:nvSpPr>
              <p:spPr bwMode="auto">
                <a:xfrm>
                  <a:off x="0" y="576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79" name="Rectangle 39"/>
                <p:cNvSpPr>
                  <a:spLocks noChangeArrowheads="1"/>
                </p:cNvSpPr>
                <p:nvPr/>
              </p:nvSpPr>
              <p:spPr bwMode="auto">
                <a:xfrm>
                  <a:off x="0" y="576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9" name="Group 42"/>
              <p:cNvGrpSpPr>
                <a:grpSpLocks/>
              </p:cNvGrpSpPr>
              <p:nvPr/>
            </p:nvGrpSpPr>
            <p:grpSpPr bwMode="auto">
              <a:xfrm>
                <a:off x="284" y="576"/>
                <a:ext cx="617" cy="576"/>
                <a:chOff x="284" y="576"/>
                <a:chExt cx="617" cy="576"/>
              </a:xfrm>
            </p:grpSpPr>
            <p:sp>
              <p:nvSpPr>
                <p:cNvPr id="61448" name="Rectangle 8"/>
                <p:cNvSpPr>
                  <a:spLocks noChangeArrowheads="1"/>
                </p:cNvSpPr>
                <p:nvPr/>
              </p:nvSpPr>
              <p:spPr bwMode="auto">
                <a:xfrm>
                  <a:off x="284" y="576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64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кбит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/с</a:t>
                  </a: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81" name="Rectangle 41"/>
                <p:cNvSpPr>
                  <a:spLocks noChangeArrowheads="1"/>
                </p:cNvSpPr>
                <p:nvPr/>
              </p:nvSpPr>
              <p:spPr bwMode="auto">
                <a:xfrm>
                  <a:off x="284" y="576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10" name="Group 44"/>
              <p:cNvGrpSpPr>
                <a:grpSpLocks/>
              </p:cNvGrpSpPr>
              <p:nvPr/>
            </p:nvGrpSpPr>
            <p:grpSpPr bwMode="auto">
              <a:xfrm>
                <a:off x="901" y="576"/>
                <a:ext cx="687" cy="576"/>
                <a:chOff x="901" y="576"/>
                <a:chExt cx="687" cy="576"/>
              </a:xfrm>
            </p:grpSpPr>
            <p:sp>
              <p:nvSpPr>
                <p:cNvPr id="61449" name="Rectangle 9"/>
                <p:cNvSpPr>
                  <a:spLocks noChangeArrowheads="1"/>
                </p:cNvSpPr>
                <p:nvPr/>
              </p:nvSpPr>
              <p:spPr bwMode="auto">
                <a:xfrm>
                  <a:off x="901" y="576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Коммутация каналов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83" name="Rectangle 43"/>
                <p:cNvSpPr>
                  <a:spLocks noChangeArrowheads="1"/>
                </p:cNvSpPr>
                <p:nvPr/>
              </p:nvSpPr>
              <p:spPr bwMode="auto">
                <a:xfrm>
                  <a:off x="901" y="576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11" name="Group 46"/>
              <p:cNvGrpSpPr>
                <a:grpSpLocks/>
              </p:cNvGrpSpPr>
              <p:nvPr/>
            </p:nvGrpSpPr>
            <p:grpSpPr bwMode="auto">
              <a:xfrm>
                <a:off x="1588" y="576"/>
                <a:ext cx="2448" cy="576"/>
                <a:chOff x="1588" y="576"/>
                <a:chExt cx="2448" cy="576"/>
              </a:xfrm>
            </p:grpSpPr>
            <p:sp>
              <p:nvSpPr>
                <p:cNvPr id="61450" name="Rectangle 10"/>
                <p:cNvSpPr>
                  <a:spLocks noChangeArrowheads="1"/>
                </p:cNvSpPr>
                <p:nvPr/>
              </p:nvSpPr>
              <p:spPr bwMode="auto">
                <a:xfrm>
                  <a:off x="1588" y="576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Оцифрованный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голос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факс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электронная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почта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графика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массивы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данных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интерактивный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обмен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данными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видео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низкого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разрешения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85" name="Rectangle 45"/>
                <p:cNvSpPr>
                  <a:spLocks noChangeArrowheads="1"/>
                </p:cNvSpPr>
                <p:nvPr/>
              </p:nvSpPr>
              <p:spPr bwMode="auto">
                <a:xfrm>
                  <a:off x="1588" y="576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12" name="Group 48"/>
              <p:cNvGrpSpPr>
                <a:grpSpLocks/>
              </p:cNvGrpSpPr>
              <p:nvPr/>
            </p:nvGrpSpPr>
            <p:grpSpPr bwMode="auto">
              <a:xfrm>
                <a:off x="0" y="1152"/>
                <a:ext cx="284" cy="576"/>
                <a:chOff x="0" y="1152"/>
                <a:chExt cx="284" cy="576"/>
              </a:xfrm>
            </p:grpSpPr>
            <p:sp>
              <p:nvSpPr>
                <p:cNvPr id="61451" name="Rectangle 11"/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</a:t>
                  </a: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87" name="Rectangle 47"/>
                <p:cNvSpPr>
                  <a:spLocks noChangeArrowheads="1"/>
                </p:cNvSpPr>
                <p:nvPr/>
              </p:nvSpPr>
              <p:spPr bwMode="auto">
                <a:xfrm>
                  <a:off x="0" y="1152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13" name="Group 50"/>
              <p:cNvGrpSpPr>
                <a:grpSpLocks/>
              </p:cNvGrpSpPr>
              <p:nvPr/>
            </p:nvGrpSpPr>
            <p:grpSpPr bwMode="auto">
              <a:xfrm>
                <a:off x="284" y="1152"/>
                <a:ext cx="617" cy="576"/>
                <a:chOff x="284" y="1152"/>
                <a:chExt cx="617" cy="576"/>
              </a:xfrm>
            </p:grpSpPr>
            <p:sp>
              <p:nvSpPr>
                <p:cNvPr id="61452" name="Rectangle 12"/>
                <p:cNvSpPr>
                  <a:spLocks noChangeArrowheads="1"/>
                </p:cNvSpPr>
                <p:nvPr/>
              </p:nvSpPr>
              <p:spPr bwMode="auto">
                <a:xfrm>
                  <a:off x="284" y="1152"/>
                  <a:ext cx="617" cy="572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16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кбит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/с (BRI), 64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кбит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/с(PRI</a:t>
                  </a:r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89" name="Rectangle 49"/>
                <p:cNvSpPr>
                  <a:spLocks noChangeArrowheads="1"/>
                </p:cNvSpPr>
                <p:nvPr/>
              </p:nvSpPr>
              <p:spPr bwMode="auto">
                <a:xfrm>
                  <a:off x="284" y="1152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14" name="Group 52"/>
              <p:cNvGrpSpPr>
                <a:grpSpLocks/>
              </p:cNvGrpSpPr>
              <p:nvPr/>
            </p:nvGrpSpPr>
            <p:grpSpPr bwMode="auto">
              <a:xfrm>
                <a:off x="901" y="1152"/>
                <a:ext cx="687" cy="576"/>
                <a:chOff x="901" y="1152"/>
                <a:chExt cx="687" cy="576"/>
              </a:xfrm>
            </p:grpSpPr>
            <p:sp>
              <p:nvSpPr>
                <p:cNvPr id="61453" name="Rectangle 13"/>
                <p:cNvSpPr>
                  <a:spLocks noChangeArrowheads="1"/>
                </p:cNvSpPr>
                <p:nvPr/>
              </p:nvSpPr>
              <p:spPr bwMode="auto">
                <a:xfrm>
                  <a:off x="901" y="1152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Коммутация пакетов (LAP-D)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91" name="Rectangle 51"/>
                <p:cNvSpPr>
                  <a:spLocks noChangeArrowheads="1"/>
                </p:cNvSpPr>
                <p:nvPr/>
              </p:nvSpPr>
              <p:spPr bwMode="auto">
                <a:xfrm>
                  <a:off x="901" y="1152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15" name="Group 54"/>
              <p:cNvGrpSpPr>
                <a:grpSpLocks/>
              </p:cNvGrpSpPr>
              <p:nvPr/>
            </p:nvGrpSpPr>
            <p:grpSpPr bwMode="auto">
              <a:xfrm>
                <a:off x="1588" y="1152"/>
                <a:ext cx="2448" cy="576"/>
                <a:chOff x="1588" y="1152"/>
                <a:chExt cx="2448" cy="576"/>
              </a:xfrm>
            </p:grpSpPr>
            <p:sp>
              <p:nvSpPr>
                <p:cNvPr id="61454" name="Rectangle 14"/>
                <p:cNvSpPr>
                  <a:spLocks noChangeArrowheads="1"/>
                </p:cNvSpPr>
                <p:nvPr/>
              </p:nvSpPr>
              <p:spPr bwMode="auto">
                <a:xfrm>
                  <a:off x="1588" y="1152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Телеметрия, сигнализация, управление энергопитанием, электронная почта, интерактивный обмен данными 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93" name="Rectangle 53"/>
                <p:cNvSpPr>
                  <a:spLocks noChangeArrowheads="1"/>
                </p:cNvSpPr>
                <p:nvPr/>
              </p:nvSpPr>
              <p:spPr bwMode="auto">
                <a:xfrm>
                  <a:off x="1588" y="1152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16" name="Group 56"/>
              <p:cNvGrpSpPr>
                <a:grpSpLocks/>
              </p:cNvGrpSpPr>
              <p:nvPr/>
            </p:nvGrpSpPr>
            <p:grpSpPr bwMode="auto">
              <a:xfrm>
                <a:off x="0" y="1728"/>
                <a:ext cx="284" cy="576"/>
                <a:chOff x="0" y="1728"/>
                <a:chExt cx="284" cy="576"/>
              </a:xfrm>
            </p:grpSpPr>
            <p:sp>
              <p:nvSpPr>
                <p:cNvPr id="61455" name="Rectangle 15"/>
                <p:cNvSpPr>
                  <a:spLocks noChangeArrowheads="1"/>
                </p:cNvSpPr>
                <p:nvPr/>
              </p:nvSpPr>
              <p:spPr bwMode="auto">
                <a:xfrm>
                  <a:off x="0" y="1728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H0</a:t>
                  </a:r>
                </a:p>
                <a:p>
                  <a:pPr algn="ctr"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95" name="Rectangle 55"/>
                <p:cNvSpPr>
                  <a:spLocks noChangeArrowheads="1"/>
                </p:cNvSpPr>
                <p:nvPr/>
              </p:nvSpPr>
              <p:spPr bwMode="auto">
                <a:xfrm>
                  <a:off x="0" y="1728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17" name="Group 58"/>
              <p:cNvGrpSpPr>
                <a:grpSpLocks/>
              </p:cNvGrpSpPr>
              <p:nvPr/>
            </p:nvGrpSpPr>
            <p:grpSpPr bwMode="auto">
              <a:xfrm>
                <a:off x="284" y="1728"/>
                <a:ext cx="617" cy="576"/>
                <a:chOff x="284" y="1728"/>
                <a:chExt cx="617" cy="576"/>
              </a:xfrm>
            </p:grpSpPr>
            <p:sp>
              <p:nvSpPr>
                <p:cNvPr id="61456" name="Rectangle 16"/>
                <p:cNvSpPr>
                  <a:spLocks noChangeArrowheads="1"/>
                </p:cNvSpPr>
                <p:nvPr/>
              </p:nvSpPr>
              <p:spPr bwMode="auto">
                <a:xfrm>
                  <a:off x="284" y="1728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eaLnBrk="0" hangingPunct="0"/>
                  <a:r>
                    <a:rPr lang="ru-RU" altLang="ru-RU" b="1" dirty="0">
                      <a:latin typeface="Times New Roman" panose="02020603050405020304" pitchFamily="18" charset="0"/>
                    </a:rPr>
                    <a:t> </a:t>
                  </a:r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97" name="Rectangle 57"/>
                <p:cNvSpPr>
                  <a:spLocks noChangeArrowheads="1"/>
                </p:cNvSpPr>
                <p:nvPr/>
              </p:nvSpPr>
              <p:spPr bwMode="auto">
                <a:xfrm>
                  <a:off x="284" y="1728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 b="1" dirty="0"/>
                </a:p>
                <a:p>
                  <a:r>
                    <a:rPr lang="ru-RU" b="1" dirty="0"/>
                    <a:t>384 </a:t>
                  </a:r>
                  <a:r>
                    <a:rPr lang="en-US" altLang="ru-RU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кбит</a:t>
                  </a:r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/с</a:t>
                  </a:r>
                  <a:endParaRPr lang="ru-RU" b="1" dirty="0"/>
                </a:p>
              </p:txBody>
            </p:sp>
          </p:grpSp>
          <p:grpSp>
            <p:nvGrpSpPr>
              <p:cNvPr id="18" name="Group 60"/>
              <p:cNvGrpSpPr>
                <a:grpSpLocks/>
              </p:cNvGrpSpPr>
              <p:nvPr/>
            </p:nvGrpSpPr>
            <p:grpSpPr bwMode="auto">
              <a:xfrm>
                <a:off x="901" y="1728"/>
                <a:ext cx="687" cy="576"/>
                <a:chOff x="901" y="1728"/>
                <a:chExt cx="687" cy="576"/>
              </a:xfrm>
            </p:grpSpPr>
            <p:sp>
              <p:nvSpPr>
                <p:cNvPr id="61457" name="Rectangle 17"/>
                <p:cNvSpPr>
                  <a:spLocks noChangeArrowheads="1"/>
                </p:cNvSpPr>
                <p:nvPr/>
              </p:nvSpPr>
              <p:spPr bwMode="auto">
                <a:xfrm>
                  <a:off x="901" y="1728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Совместная коммутация каналов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499" name="Rectangle 59"/>
                <p:cNvSpPr>
                  <a:spLocks noChangeArrowheads="1"/>
                </p:cNvSpPr>
                <p:nvPr/>
              </p:nvSpPr>
              <p:spPr bwMode="auto">
                <a:xfrm>
                  <a:off x="901" y="1728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19" name="Group 62"/>
              <p:cNvGrpSpPr>
                <a:grpSpLocks/>
              </p:cNvGrpSpPr>
              <p:nvPr/>
            </p:nvGrpSpPr>
            <p:grpSpPr bwMode="auto">
              <a:xfrm>
                <a:off x="1588" y="1728"/>
                <a:ext cx="2448" cy="576"/>
                <a:chOff x="1588" y="1728"/>
                <a:chExt cx="2448" cy="576"/>
              </a:xfrm>
            </p:grpSpPr>
            <p:sp>
              <p:nvSpPr>
                <p:cNvPr id="61458" name="Rectangle 18"/>
                <p:cNvSpPr>
                  <a:spLocks noChangeArrowheads="1"/>
                </p:cNvSpPr>
                <p:nvPr/>
              </p:nvSpPr>
              <p:spPr bwMode="auto">
                <a:xfrm>
                  <a:off x="1588" y="1728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Высококачественное аудио, высокоскоростная передача цифровых данных 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01" name="Rectangle 61"/>
                <p:cNvSpPr>
                  <a:spLocks noChangeArrowheads="1"/>
                </p:cNvSpPr>
                <p:nvPr/>
              </p:nvSpPr>
              <p:spPr bwMode="auto">
                <a:xfrm>
                  <a:off x="1588" y="1728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0" name="Group 64"/>
              <p:cNvGrpSpPr>
                <a:grpSpLocks/>
              </p:cNvGrpSpPr>
              <p:nvPr/>
            </p:nvGrpSpPr>
            <p:grpSpPr bwMode="auto">
              <a:xfrm>
                <a:off x="0" y="2304"/>
                <a:ext cx="284" cy="576"/>
                <a:chOff x="0" y="2304"/>
                <a:chExt cx="284" cy="576"/>
              </a:xfrm>
            </p:grpSpPr>
            <p:sp>
              <p:nvSpPr>
                <p:cNvPr id="61459" name="Rectangle 19"/>
                <p:cNvSpPr>
                  <a:spLocks noChangeArrowheads="1"/>
                </p:cNvSpPr>
                <p:nvPr/>
              </p:nvSpPr>
              <p:spPr bwMode="auto">
                <a:xfrm>
                  <a:off x="0" y="2304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H11</a:t>
                  </a: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03" name="Rectangle 63"/>
                <p:cNvSpPr>
                  <a:spLocks noChangeArrowheads="1"/>
                </p:cNvSpPr>
                <p:nvPr/>
              </p:nvSpPr>
              <p:spPr bwMode="auto">
                <a:xfrm>
                  <a:off x="0" y="2304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1" name="Group 66"/>
              <p:cNvGrpSpPr>
                <a:grpSpLocks/>
              </p:cNvGrpSpPr>
              <p:nvPr/>
            </p:nvGrpSpPr>
            <p:grpSpPr bwMode="auto">
              <a:xfrm>
                <a:off x="284" y="2304"/>
                <a:ext cx="617" cy="576"/>
                <a:chOff x="284" y="2304"/>
                <a:chExt cx="617" cy="576"/>
              </a:xfrm>
            </p:grpSpPr>
            <p:sp>
              <p:nvSpPr>
                <p:cNvPr id="61460" name="Rectangle 20"/>
                <p:cNvSpPr>
                  <a:spLocks noChangeArrowheads="1"/>
                </p:cNvSpPr>
                <p:nvPr/>
              </p:nvSpPr>
              <p:spPr bwMode="auto">
                <a:xfrm>
                  <a:off x="284" y="2304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1536 кбит/с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05" name="Rectangle 65"/>
                <p:cNvSpPr>
                  <a:spLocks noChangeArrowheads="1"/>
                </p:cNvSpPr>
                <p:nvPr/>
              </p:nvSpPr>
              <p:spPr bwMode="auto">
                <a:xfrm>
                  <a:off x="284" y="2304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2" name="Group 68"/>
              <p:cNvGrpSpPr>
                <a:grpSpLocks/>
              </p:cNvGrpSpPr>
              <p:nvPr/>
            </p:nvGrpSpPr>
            <p:grpSpPr bwMode="auto">
              <a:xfrm>
                <a:off x="901" y="2304"/>
                <a:ext cx="687" cy="576"/>
                <a:chOff x="901" y="2304"/>
                <a:chExt cx="687" cy="576"/>
              </a:xfrm>
            </p:grpSpPr>
            <p:sp>
              <p:nvSpPr>
                <p:cNvPr id="61461" name="Rectangle 21"/>
                <p:cNvSpPr>
                  <a:spLocks noChangeArrowheads="1"/>
                </p:cNvSpPr>
                <p:nvPr/>
              </p:nvSpPr>
              <p:spPr bwMode="auto">
                <a:xfrm>
                  <a:off x="901" y="2304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Совместная коммутация каналов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07" name="Rectangle 67"/>
                <p:cNvSpPr>
                  <a:spLocks noChangeArrowheads="1"/>
                </p:cNvSpPr>
                <p:nvPr/>
              </p:nvSpPr>
              <p:spPr bwMode="auto">
                <a:xfrm>
                  <a:off x="901" y="2304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3" name="Group 70"/>
              <p:cNvGrpSpPr>
                <a:grpSpLocks/>
              </p:cNvGrpSpPr>
              <p:nvPr/>
            </p:nvGrpSpPr>
            <p:grpSpPr bwMode="auto">
              <a:xfrm>
                <a:off x="1588" y="2304"/>
                <a:ext cx="2448" cy="576"/>
                <a:chOff x="1588" y="2304"/>
                <a:chExt cx="2448" cy="576"/>
              </a:xfrm>
            </p:grpSpPr>
            <p:sp>
              <p:nvSpPr>
                <p:cNvPr id="61462" name="Rectangle 22"/>
                <p:cNvSpPr>
                  <a:spLocks noChangeArrowheads="1"/>
                </p:cNvSpPr>
                <p:nvPr/>
              </p:nvSpPr>
              <p:spPr bwMode="auto">
                <a:xfrm>
                  <a:off x="1588" y="2304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Видео/телеконференции, высокоскоростная передача цифровых данных 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09" name="Rectangle 69"/>
                <p:cNvSpPr>
                  <a:spLocks noChangeArrowheads="1"/>
                </p:cNvSpPr>
                <p:nvPr/>
              </p:nvSpPr>
              <p:spPr bwMode="auto">
                <a:xfrm>
                  <a:off x="1588" y="2304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4" name="Group 72"/>
              <p:cNvGrpSpPr>
                <a:grpSpLocks/>
              </p:cNvGrpSpPr>
              <p:nvPr/>
            </p:nvGrpSpPr>
            <p:grpSpPr bwMode="auto">
              <a:xfrm>
                <a:off x="0" y="2880"/>
                <a:ext cx="284" cy="576"/>
                <a:chOff x="0" y="2880"/>
                <a:chExt cx="284" cy="576"/>
              </a:xfrm>
            </p:grpSpPr>
            <p:sp>
              <p:nvSpPr>
                <p:cNvPr id="61463" name="Rectangle 23"/>
                <p:cNvSpPr>
                  <a:spLocks noChangeArrowheads="1"/>
                </p:cNvSpPr>
                <p:nvPr/>
              </p:nvSpPr>
              <p:spPr bwMode="auto">
                <a:xfrm>
                  <a:off x="0" y="2880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H12</a:t>
                  </a: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11" name="Rectangle 71"/>
                <p:cNvSpPr>
                  <a:spLocks noChangeArrowheads="1"/>
                </p:cNvSpPr>
                <p:nvPr/>
              </p:nvSpPr>
              <p:spPr bwMode="auto">
                <a:xfrm>
                  <a:off x="0" y="2880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5" name="Group 74"/>
              <p:cNvGrpSpPr>
                <a:grpSpLocks/>
              </p:cNvGrpSpPr>
              <p:nvPr/>
            </p:nvGrpSpPr>
            <p:grpSpPr bwMode="auto">
              <a:xfrm>
                <a:off x="284" y="2880"/>
                <a:ext cx="617" cy="576"/>
                <a:chOff x="284" y="2880"/>
                <a:chExt cx="617" cy="576"/>
              </a:xfrm>
            </p:grpSpPr>
            <p:sp>
              <p:nvSpPr>
                <p:cNvPr id="61464" name="Rectangle 24"/>
                <p:cNvSpPr>
                  <a:spLocks noChangeArrowheads="1"/>
                </p:cNvSpPr>
                <p:nvPr/>
              </p:nvSpPr>
              <p:spPr bwMode="auto">
                <a:xfrm>
                  <a:off x="284" y="2880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1920 кбит/с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13" name="Rectangle 73"/>
                <p:cNvSpPr>
                  <a:spLocks noChangeArrowheads="1"/>
                </p:cNvSpPr>
                <p:nvPr/>
              </p:nvSpPr>
              <p:spPr bwMode="auto">
                <a:xfrm>
                  <a:off x="284" y="2880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6" name="Group 76"/>
              <p:cNvGrpSpPr>
                <a:grpSpLocks/>
              </p:cNvGrpSpPr>
              <p:nvPr/>
            </p:nvGrpSpPr>
            <p:grpSpPr bwMode="auto">
              <a:xfrm>
                <a:off x="901" y="2880"/>
                <a:ext cx="687" cy="576"/>
                <a:chOff x="901" y="2880"/>
                <a:chExt cx="687" cy="576"/>
              </a:xfrm>
            </p:grpSpPr>
            <p:sp>
              <p:nvSpPr>
                <p:cNvPr id="61465" name="Rectangle 25"/>
                <p:cNvSpPr>
                  <a:spLocks noChangeArrowheads="1"/>
                </p:cNvSpPr>
                <p:nvPr/>
              </p:nvSpPr>
              <p:spPr bwMode="auto">
                <a:xfrm>
                  <a:off x="901" y="2880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Совместная коммутация каналов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15" name="Rectangle 75"/>
                <p:cNvSpPr>
                  <a:spLocks noChangeArrowheads="1"/>
                </p:cNvSpPr>
                <p:nvPr/>
              </p:nvSpPr>
              <p:spPr bwMode="auto">
                <a:xfrm>
                  <a:off x="901" y="2880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7" name="Group 78"/>
              <p:cNvGrpSpPr>
                <a:grpSpLocks/>
              </p:cNvGrpSpPr>
              <p:nvPr/>
            </p:nvGrpSpPr>
            <p:grpSpPr bwMode="auto">
              <a:xfrm>
                <a:off x="1588" y="2880"/>
                <a:ext cx="2448" cy="576"/>
                <a:chOff x="1588" y="2880"/>
                <a:chExt cx="2448" cy="576"/>
              </a:xfrm>
            </p:grpSpPr>
            <p:sp>
              <p:nvSpPr>
                <p:cNvPr id="61466" name="Rectangle 26"/>
                <p:cNvSpPr>
                  <a:spLocks noChangeArrowheads="1"/>
                </p:cNvSpPr>
                <p:nvPr/>
              </p:nvSpPr>
              <p:spPr bwMode="auto">
                <a:xfrm>
                  <a:off x="1588" y="2880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Видео/телеконференции, высокоскоростная передача цифровых данных 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17" name="Rectangle 77"/>
                <p:cNvSpPr>
                  <a:spLocks noChangeArrowheads="1"/>
                </p:cNvSpPr>
                <p:nvPr/>
              </p:nvSpPr>
              <p:spPr bwMode="auto">
                <a:xfrm>
                  <a:off x="1588" y="2880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8" name="Group 80"/>
              <p:cNvGrpSpPr>
                <a:grpSpLocks/>
              </p:cNvGrpSpPr>
              <p:nvPr/>
            </p:nvGrpSpPr>
            <p:grpSpPr bwMode="auto">
              <a:xfrm>
                <a:off x="0" y="3456"/>
                <a:ext cx="284" cy="576"/>
                <a:chOff x="0" y="3456"/>
                <a:chExt cx="284" cy="576"/>
              </a:xfrm>
            </p:grpSpPr>
            <p:sp>
              <p:nvSpPr>
                <p:cNvPr id="61467" name="Rectangle 27"/>
                <p:cNvSpPr>
                  <a:spLocks noChangeArrowheads="1"/>
                </p:cNvSpPr>
                <p:nvPr/>
              </p:nvSpPr>
              <p:spPr bwMode="auto">
                <a:xfrm>
                  <a:off x="0" y="3456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algn="ctr"/>
                  <a:r>
                    <a:rPr lang="en-US" altLang="ru-RU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H4</a:t>
                  </a:r>
                </a:p>
                <a:p>
                  <a:pPr eaLnBrk="0" hangingPunct="0"/>
                  <a:endParaRPr lang="en-US" altLang="ru-RU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19" name="Rectangle 79"/>
                <p:cNvSpPr>
                  <a:spLocks noChangeArrowheads="1"/>
                </p:cNvSpPr>
                <p:nvPr/>
              </p:nvSpPr>
              <p:spPr bwMode="auto">
                <a:xfrm>
                  <a:off x="0" y="3456"/>
                  <a:ext cx="284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29" name="Group 82"/>
              <p:cNvGrpSpPr>
                <a:grpSpLocks/>
              </p:cNvGrpSpPr>
              <p:nvPr/>
            </p:nvGrpSpPr>
            <p:grpSpPr bwMode="auto">
              <a:xfrm>
                <a:off x="284" y="3456"/>
                <a:ext cx="617" cy="576"/>
                <a:chOff x="284" y="3456"/>
                <a:chExt cx="617" cy="576"/>
              </a:xfrm>
            </p:grpSpPr>
            <p:sp>
              <p:nvSpPr>
                <p:cNvPr id="61468" name="Rectangle 28"/>
                <p:cNvSpPr>
                  <a:spLocks noChangeArrowheads="1"/>
                </p:cNvSpPr>
                <p:nvPr/>
              </p:nvSpPr>
              <p:spPr bwMode="auto">
                <a:xfrm>
                  <a:off x="284" y="3456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до 150 Мбит/с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21" name="Rectangle 81"/>
                <p:cNvSpPr>
                  <a:spLocks noChangeArrowheads="1"/>
                </p:cNvSpPr>
                <p:nvPr/>
              </p:nvSpPr>
              <p:spPr bwMode="auto">
                <a:xfrm>
                  <a:off x="284" y="3456"/>
                  <a:ext cx="61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30" name="Group 84"/>
              <p:cNvGrpSpPr>
                <a:grpSpLocks/>
              </p:cNvGrpSpPr>
              <p:nvPr/>
            </p:nvGrpSpPr>
            <p:grpSpPr bwMode="auto">
              <a:xfrm>
                <a:off x="901" y="3456"/>
                <a:ext cx="687" cy="576"/>
                <a:chOff x="901" y="3456"/>
                <a:chExt cx="687" cy="576"/>
              </a:xfrm>
            </p:grpSpPr>
            <p:sp>
              <p:nvSpPr>
                <p:cNvPr id="61469" name="Rectangle 29"/>
                <p:cNvSpPr>
                  <a:spLocks noChangeArrowheads="1"/>
                </p:cNvSpPr>
                <p:nvPr/>
              </p:nvSpPr>
              <p:spPr bwMode="auto">
                <a:xfrm>
                  <a:off x="901" y="3456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Совокупная коммутация каналов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23" name="Rectangle 83"/>
                <p:cNvSpPr>
                  <a:spLocks noChangeArrowheads="1"/>
                </p:cNvSpPr>
                <p:nvPr/>
              </p:nvSpPr>
              <p:spPr bwMode="auto">
                <a:xfrm>
                  <a:off x="901" y="3456"/>
                  <a:ext cx="687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  <p:grpSp>
            <p:nvGrpSpPr>
              <p:cNvPr id="31" name="Group 86"/>
              <p:cNvGrpSpPr>
                <a:grpSpLocks/>
              </p:cNvGrpSpPr>
              <p:nvPr/>
            </p:nvGrpSpPr>
            <p:grpSpPr bwMode="auto">
              <a:xfrm>
                <a:off x="1588" y="3456"/>
                <a:ext cx="2448" cy="576"/>
                <a:chOff x="1588" y="3456"/>
                <a:chExt cx="2448" cy="576"/>
              </a:xfrm>
            </p:grpSpPr>
            <p:sp>
              <p:nvSpPr>
                <p:cNvPr id="61470" name="Rectangle 30"/>
                <p:cNvSpPr>
                  <a:spLocks noChangeArrowheads="1"/>
                </p:cNvSpPr>
                <p:nvPr/>
              </p:nvSpPr>
              <p:spPr bwMode="auto">
                <a:xfrm>
                  <a:off x="1588" y="3456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 altLang="ru-RU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ТВ высокой четкости, интерактивное видео </a:t>
                  </a:r>
                </a:p>
                <a:p>
                  <a:pPr eaLnBrk="0" hangingPunct="0"/>
                  <a:endParaRPr lang="en-US" altLang="ru-RU" b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61525" name="Rectangle 85"/>
                <p:cNvSpPr>
                  <a:spLocks noChangeArrowheads="1"/>
                </p:cNvSpPr>
                <p:nvPr/>
              </p:nvSpPr>
              <p:spPr bwMode="auto">
                <a:xfrm>
                  <a:off x="1588" y="3456"/>
                  <a:ext cx="2448" cy="576"/>
                </a:xfrm>
                <a:prstGeom prst="rect">
                  <a:avLst/>
                </a:prstGeom>
                <a:noFill/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ru-RU"/>
                </a:p>
              </p:txBody>
            </p:sp>
          </p:grpSp>
        </p:grpSp>
        <p:sp>
          <p:nvSpPr>
            <p:cNvPr id="61528" name="Rectangle 88"/>
            <p:cNvSpPr>
              <a:spLocks noChangeArrowheads="1"/>
            </p:cNvSpPr>
            <p:nvPr/>
          </p:nvSpPr>
          <p:spPr bwMode="auto">
            <a:xfrm>
              <a:off x="-3" y="-3"/>
              <a:ext cx="4042" cy="403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482667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10"/>
          <p:cNvSpPr>
            <a:spLocks noChangeArrowheads="1"/>
          </p:cNvSpPr>
          <p:nvPr/>
        </p:nvSpPr>
        <p:spPr bwMode="auto">
          <a:xfrm>
            <a:off x="288925" y="260350"/>
            <a:ext cx="8569325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ru-RU" sz="2800" b="1" dirty="0">
                <a:solidFill>
                  <a:schemeClr val="tx2"/>
                </a:solidFill>
                <a:latin typeface="Times New Roman" pitchFamily="18" charset="0"/>
              </a:rPr>
              <a:t>Схемы подключения оборудования к ISDN </a:t>
            </a:r>
          </a:p>
        </p:txBody>
      </p:sp>
      <p:graphicFrame>
        <p:nvGraphicFramePr>
          <p:cNvPr id="3074" name="Object 9"/>
          <p:cNvGraphicFramePr>
            <a:graphicFrameLocks noChangeAspect="1"/>
          </p:cNvGraphicFramePr>
          <p:nvPr/>
        </p:nvGraphicFramePr>
        <p:xfrm>
          <a:off x="395288" y="980729"/>
          <a:ext cx="2808560" cy="1705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Visio" r:id="rId3" imgW="4716841" imgH="2576901" progId="">
                  <p:embed/>
                </p:oleObj>
              </mc:Choice>
              <mc:Fallback>
                <p:oleObj name="Visio" r:id="rId3" imgW="4716841" imgH="257690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80729"/>
                        <a:ext cx="2808560" cy="17053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0"/>
          <p:cNvGraphicFramePr>
            <a:graphicFrameLocks noChangeAspect="1"/>
          </p:cNvGraphicFramePr>
          <p:nvPr/>
        </p:nvGraphicFramePr>
        <p:xfrm>
          <a:off x="3995738" y="980728"/>
          <a:ext cx="4824412" cy="2736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Visio" r:id="rId5" imgW="6965046" imgH="3417661" progId="">
                  <p:embed/>
                </p:oleObj>
              </mc:Choice>
              <mc:Fallback>
                <p:oleObj name="Visio" r:id="rId5" imgW="6965046" imgH="3417661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980728"/>
                        <a:ext cx="4824412" cy="2736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11"/>
          <p:cNvGraphicFramePr>
            <a:graphicFrameLocks noChangeAspect="1"/>
          </p:cNvGraphicFramePr>
          <p:nvPr/>
        </p:nvGraphicFramePr>
        <p:xfrm>
          <a:off x="250825" y="4005263"/>
          <a:ext cx="4392613" cy="239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Visio" r:id="rId7" imgW="6965046" imgH="3794476" progId="">
                  <p:embed/>
                </p:oleObj>
              </mc:Choice>
              <mc:Fallback>
                <p:oleObj name="Visio" r:id="rId7" imgW="6965046" imgH="3794476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005263"/>
                        <a:ext cx="4392613" cy="239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12"/>
          <p:cNvSpPr>
            <a:spLocks noChangeArrowheads="1"/>
          </p:cNvSpPr>
          <p:nvPr/>
        </p:nvSpPr>
        <p:spPr bwMode="auto">
          <a:xfrm>
            <a:off x="323850" y="2684760"/>
            <a:ext cx="360045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ru-RU" dirty="0"/>
              <a:t>Схема подключения оборудования для абонентов не имеющих локальной сети </a:t>
            </a:r>
          </a:p>
        </p:txBody>
      </p:sp>
      <p:sp>
        <p:nvSpPr>
          <p:cNvPr id="3079" name="Rectangle 13"/>
          <p:cNvSpPr>
            <a:spLocks noChangeArrowheads="1"/>
          </p:cNvSpPr>
          <p:nvPr/>
        </p:nvSpPr>
        <p:spPr bwMode="auto">
          <a:xfrm>
            <a:off x="4859338" y="3716229"/>
            <a:ext cx="403383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r" eaLnBrk="0" hangingPunct="0"/>
            <a:r>
              <a:rPr lang="ru-RU" dirty="0"/>
              <a:t>Схема подключения оборудования для абонентов имеющих локальную сеть </a:t>
            </a:r>
          </a:p>
        </p:txBody>
      </p:sp>
      <p:sp>
        <p:nvSpPr>
          <p:cNvPr id="3080" name="Rectangle 14"/>
          <p:cNvSpPr>
            <a:spLocks noChangeArrowheads="1"/>
          </p:cNvSpPr>
          <p:nvPr/>
        </p:nvSpPr>
        <p:spPr bwMode="auto">
          <a:xfrm>
            <a:off x="4716016" y="5183460"/>
            <a:ext cx="410527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ru-RU" dirty="0"/>
              <a:t>Схема подключения оборудования для абонентов имеющих локальную сеть с большим количеством терминалов </a:t>
            </a:r>
          </a:p>
        </p:txBody>
      </p:sp>
      <p:sp>
        <p:nvSpPr>
          <p:cNvPr id="3081" name="Rectangle 15"/>
          <p:cNvSpPr>
            <a:spLocks noChangeArrowheads="1"/>
          </p:cNvSpPr>
          <p:nvPr/>
        </p:nvSpPr>
        <p:spPr bwMode="auto">
          <a:xfrm>
            <a:off x="323850" y="1166813"/>
            <a:ext cx="5762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ru-RU" sz="2800">
                <a:solidFill>
                  <a:srgbClr val="002060"/>
                </a:solidFill>
              </a:rPr>
              <a:t>1.</a:t>
            </a:r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4140200" y="1166813"/>
            <a:ext cx="576263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ru-RU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ru-RU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sp>
        <p:nvSpPr>
          <p:cNvPr id="24593" name="Rectangle 17"/>
          <p:cNvSpPr>
            <a:spLocks noChangeArrowheads="1"/>
          </p:cNvSpPr>
          <p:nvPr/>
        </p:nvSpPr>
        <p:spPr bwMode="auto">
          <a:xfrm>
            <a:off x="395288" y="4046538"/>
            <a:ext cx="576262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ru-RU" sz="2800" dirty="0">
                <a:solidFill>
                  <a:srgbClr val="002060"/>
                </a:solidFill>
              </a:rPr>
              <a:t>3</a:t>
            </a:r>
            <a:r>
              <a:rPr lang="ru-RU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"/>
          <p:cNvSpPr>
            <a:spLocks noChangeArrowheads="1"/>
          </p:cNvSpPr>
          <p:nvPr/>
        </p:nvSpPr>
        <p:spPr bwMode="auto">
          <a:xfrm>
            <a:off x="0" y="188913"/>
            <a:ext cx="9144000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r>
              <a:rPr lang="ru-RU" sz="2800" b="1" dirty="0">
                <a:solidFill>
                  <a:schemeClr val="tx2"/>
                </a:solidFill>
                <a:latin typeface="Times New Roman" pitchFamily="18" charset="0"/>
              </a:rPr>
              <a:t>Схема сети видеоконференцсвязи с использованием инфраструктуры ISDN </a:t>
            </a:r>
          </a:p>
        </p:txBody>
      </p:sp>
      <p:sp>
        <p:nvSpPr>
          <p:cNvPr id="10243" name="Rectangle 12"/>
          <p:cNvSpPr>
            <a:spLocks noChangeArrowheads="1"/>
          </p:cNvSpPr>
          <p:nvPr/>
        </p:nvSpPr>
        <p:spPr bwMode="auto">
          <a:xfrm>
            <a:off x="179388" y="5848350"/>
            <a:ext cx="8591550" cy="70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/>
            <a:r>
              <a:rPr lang="ru-RU" sz="2000" b="1" dirty="0"/>
              <a:t>Очень распространенный вариант использования сети </a:t>
            </a:r>
            <a:r>
              <a:rPr lang="en-US" sz="2000" b="1" dirty="0"/>
              <a:t>ISDN</a:t>
            </a:r>
            <a:r>
              <a:rPr lang="ru-RU" sz="2000" b="1" dirty="0"/>
              <a:t> для организации сети видеоконференций</a:t>
            </a:r>
          </a:p>
        </p:txBody>
      </p:sp>
      <p:pic>
        <p:nvPicPr>
          <p:cNvPr id="10244" name="Рисунок 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25538"/>
            <a:ext cx="9144000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3078</Words>
  <Application>Microsoft Office PowerPoint</Application>
  <PresentationFormat>Экран (4:3)</PresentationFormat>
  <Paragraphs>278</Paragraphs>
  <Slides>32</Slides>
  <Notes>17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9" baseType="lpstr">
      <vt:lpstr>Arial</vt:lpstr>
      <vt:lpstr>Calibri</vt:lpstr>
      <vt:lpstr>Symbol</vt:lpstr>
      <vt:lpstr>Times New Roman</vt:lpstr>
      <vt:lpstr>Wingdings</vt:lpstr>
      <vt:lpstr>Тема Office</vt:lpstr>
      <vt:lpstr>Visio</vt:lpstr>
      <vt:lpstr>Лекция 8.1 Цифровая сеть с интеграцией служб ЦСИС (ISDN)</vt:lpstr>
      <vt:lpstr>Презентация PowerPoint</vt:lpstr>
      <vt:lpstr>Структура цифровой станции</vt:lpstr>
      <vt:lpstr>Цифровая сеть с интеграцией услуг ISDN</vt:lpstr>
      <vt:lpstr>  Сеть ISDN   </vt:lpstr>
      <vt:lpstr>Цифровая сеть с интеграцией услуг ISDN</vt:lpstr>
      <vt:lpstr>Презентация PowerPoint</vt:lpstr>
      <vt:lpstr> Цифровая сеть с интеграцией услуг ISDN </vt:lpstr>
      <vt:lpstr>Области применения сетей ISDN</vt:lpstr>
      <vt:lpstr>Объединение удаленных ЛС</vt:lpstr>
      <vt:lpstr>Малый офис/Домашний офис (SOHO)</vt:lpstr>
      <vt:lpstr>Доступ к сети Internet</vt:lpstr>
      <vt:lpstr>Резервирование каналов при помощи линий ISDN</vt:lpstr>
      <vt:lpstr>Структурный состав ISDN</vt:lpstr>
      <vt:lpstr>Архитектура сети ISDN (1)</vt:lpstr>
      <vt:lpstr>Архитектура сети ISDN (2)</vt:lpstr>
      <vt:lpstr>Презентация PowerPoint</vt:lpstr>
      <vt:lpstr>Типы соединений сети ISDN </vt:lpstr>
      <vt:lpstr>Типы интерфейсов ISDN (1/2)</vt:lpstr>
      <vt:lpstr>Типы интерфейсов ISDN (2/2)</vt:lpstr>
      <vt:lpstr>Оборудование сетей ISDN (1/3)</vt:lpstr>
      <vt:lpstr>Оборудование сетей ISDN (2/3)</vt:lpstr>
      <vt:lpstr>Оконечное оборудование ISDN (3/3)</vt:lpstr>
      <vt:lpstr> Услуги ISDN </vt:lpstr>
      <vt:lpstr>Презентация PowerPoint</vt:lpstr>
      <vt:lpstr>Уровни потоков данных ISDN (1) </vt:lpstr>
      <vt:lpstr>Уровни потоков данных ISDN(2)</vt:lpstr>
      <vt:lpstr>Презентация PowerPoint</vt:lpstr>
      <vt:lpstr>Типы каналов в сети ISDN </vt:lpstr>
      <vt:lpstr>ТИПЫ КАНАЛОВ ISDN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Анастасия</dc:creator>
  <cp:lastModifiedBy>x1eb_admin</cp:lastModifiedBy>
  <cp:revision>73</cp:revision>
  <dcterms:created xsi:type="dcterms:W3CDTF">2025-10-16T01:25:51Z</dcterms:created>
  <dcterms:modified xsi:type="dcterms:W3CDTF">2026-01-14T23:14:28Z</dcterms:modified>
</cp:coreProperties>
</file>