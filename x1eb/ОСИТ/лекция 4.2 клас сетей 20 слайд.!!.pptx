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52" r:id="rId2"/>
    <p:sldId id="315" r:id="rId3"/>
    <p:sldId id="368" r:id="rId4"/>
    <p:sldId id="369" r:id="rId5"/>
    <p:sldId id="391" r:id="rId6"/>
    <p:sldId id="316" r:id="rId7"/>
    <p:sldId id="366" r:id="rId8"/>
    <p:sldId id="390" r:id="rId9"/>
    <p:sldId id="382" r:id="rId10"/>
    <p:sldId id="383" r:id="rId11"/>
    <p:sldId id="387" r:id="rId12"/>
    <p:sldId id="376" r:id="rId13"/>
    <p:sldId id="392" r:id="rId14"/>
    <p:sldId id="358" r:id="rId15"/>
    <p:sldId id="377" r:id="rId16"/>
    <p:sldId id="306" r:id="rId17"/>
    <p:sldId id="307" r:id="rId18"/>
    <p:sldId id="393" r:id="rId19"/>
    <p:sldId id="370" r:id="rId20"/>
    <p:sldId id="389" r:id="rId21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94640" autoAdjust="0"/>
  </p:normalViewPr>
  <p:slideViewPr>
    <p:cSldViewPr snapToGrid="0">
      <p:cViewPr>
        <p:scale>
          <a:sx n="64" d="100"/>
          <a:sy n="64" d="100"/>
        </p:scale>
        <p:origin x="126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DCF37-1842-4F36-AAEE-0CA8DF492035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e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96140-427B-40AF-AF04-542F5FFF9C2C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292388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87ECFC4-89CE-4FC3-9C65-D2F50D4D3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F6E3E2E4-B759-491D-832D-64E6B7378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be-BY"/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A762D90C-2301-4540-AA6B-ED64E885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057C50A-5A97-4B83-8BEC-CAD89B38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68B76BEA-3938-41CC-9694-4D261AEA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193688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C940238-2223-4B25-8273-154E77A6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C4F222C0-D4B1-4070-990D-D0CA38B3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EF1450AC-F2BA-4E1F-BF32-FFB0D8AA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AE959B8-D9A3-40EF-98FD-14F126F2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098EB7A-9BD1-49CA-BBC8-D1998685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311174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D6CF82D-BBFB-46BD-A396-C420E043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5BF4A3E3-E374-4B49-BA08-04E9E0FCD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79F4B4A-5B0F-4763-B151-588DE037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9C52271-D15C-4322-B11E-B15BCABF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1E65F1B-B809-49EF-A623-8F7DEADF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34433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4761E6A-345B-4166-A458-0EB46B61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915539F-AC8C-42C7-8909-24BFCBBB4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618838B7-E750-4AD3-8E06-A5DA5E3F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DA4E338C-7D66-4FDD-B406-362A0DDF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D6125B3-BD9D-4774-A836-9FD7FE7F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F2AAA806-A733-45FA-8F8F-03539254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287217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9C5705A-CB85-4D42-9591-0565C566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4D49E4EA-DC71-43BF-BF40-03C118F22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66C13455-F3C3-4DBC-99AD-5174F5C4B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5441C7A5-0072-478D-A490-E7BC2441B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ADDF5D20-E18C-48CB-BBAC-131BC5B06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0770977F-1E68-4883-BA4A-4523B33C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CB029713-AA75-46F1-A4C4-C0EBA79C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D496E56D-0A48-400F-AA66-9A4A0CE0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1894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02882D4-6A0A-4F34-BB11-022BBF94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9D324F6E-EE59-4FAD-BDCD-D6268BA7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F10B7AAE-7E36-425C-9293-730656D9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7309D504-46C9-40DD-8A7D-C61A23E6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68392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855FF9D4-0012-4798-9DB3-F474F114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F754D545-FB08-4550-9418-A2C83F03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19F1B9F8-0053-4BAE-B44F-89263F5A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180899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BBC0A1-1D50-4052-9D39-86182B0E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DBEF856-7E22-4D28-8669-C0F8E0423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A72DBF63-E5CB-49EC-A9F9-83FE94FCD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539CE127-48A4-4F18-B4FF-00EB2CB8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263464E5-89E3-4F74-96CD-7BA54117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AEBC402B-72C9-45C3-B860-F55BAEC1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202045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916D3DF-86B2-43AE-B5C4-A61EF9B5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0AFC24C7-CC29-4DBF-B334-C63D273A1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e-BY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6CC6FCBA-2049-491C-9C6D-5C57068D7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A32F15D9-5B0E-4105-AFCA-B0236718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9677631F-9EBD-4B62-88D9-85A6DC5B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2316758E-D4C9-4196-BBCD-64D395FF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101185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68012EB-2F86-4AE3-9AA9-CC54CA44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DA61FED0-4BB4-4FC6-BFB9-E0C54A228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857A482-7480-4F6A-AFE7-55DAF68E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14F5B9A-6955-4C86-9D0B-A3701129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57794359-27AE-4C1F-A74C-51CC01D5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20147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305E3E26-3F83-48FC-B096-9367A5F87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A5FC3AC1-851C-4AD8-ACEC-21309CDB5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25DC0EF-45CC-4DA0-91F9-554FD17D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E959C2E-AEC7-47F1-BFF7-FD3D86B6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0B3EA512-0F40-4B68-AFF5-97A45295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294485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6A67FA8-08D0-461E-AD5E-5FA0DC9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be-BY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ECBE27C-A847-454B-BEC8-795AF1383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15FFFE2-B5EF-46A3-999B-4FC615B30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DBD0E-3C6D-44C9-80F8-BC3E36D7EC93}" type="datetimeFigureOut">
              <a:rPr lang="be-BY" smtClean="0"/>
              <a:pPr/>
              <a:t>02.11.2025</a:t>
            </a:fld>
            <a:endParaRPr lang="be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5DC1084-C381-46AE-8F7C-3EEA8A338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91AFE059-E6C8-42D2-8358-875232517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13705-BFEF-4547-AAB3-523A60C11FAF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="" xmlns:p14="http://schemas.microsoft.com/office/powerpoint/2010/main" val="347081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e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&#1044;&#1084;&#1080;&#1090;&#1088;&#1080;&#1081;\Dropbox\&#1057;&#1045;&#1051;&#1068;&#1061;&#1054;&#1047;\&#1044;&#1048;&#1057;&#1062;&#1048;&#1055;&#1051;&#1048;&#1053;&#1067;\&#1048;&#1057;&#1080;&#1057;\&#1051;&#1077;&#1082;&#1094;&#1080;&#1080;\&#1055;&#1043;&#1059;&#1058;&#1048;\media\image4.jpe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94479"/>
            <a:ext cx="10515600" cy="2938072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002060"/>
                </a:solidFill>
              </a:rPr>
              <a:t>Классификация сетей связи </a:t>
            </a:r>
            <a:endParaRPr lang="ru-RU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s://avatars.mds.yandex.net/i?id=388376ba3b81c47c50f61b49dade4e64_l-5377805-images-thumbs&amp;n=1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675" y="260648"/>
            <a:ext cx="10747948" cy="632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4851" y="0"/>
            <a:ext cx="11197653" cy="83671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Классификация сетей (1)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11797259" cy="5760640"/>
          </a:xfrm>
        </p:spPr>
        <p:txBody>
          <a:bodyPr>
            <a:normAutofit lnSpcReduction="10000"/>
          </a:bodyPr>
          <a:lstStyle/>
          <a:p>
            <a:pPr marL="514350" indent="-514350" algn="ctr">
              <a:buAutoNum type="arabicPeriod"/>
            </a:pPr>
            <a:r>
              <a:rPr lang="ru-RU" b="1" u="sng" dirty="0" smtClean="0"/>
              <a:t>Деление </a:t>
            </a:r>
            <a:r>
              <a:rPr lang="ru-RU" b="1" u="sng" dirty="0"/>
              <a:t>сетей связи  по </a:t>
            </a:r>
            <a:r>
              <a:rPr lang="ru-RU" b="1" u="sng" dirty="0" smtClean="0"/>
              <a:t>категории</a:t>
            </a:r>
          </a:p>
          <a:p>
            <a:pPr marL="514350" indent="-514350">
              <a:buNone/>
            </a:pPr>
            <a:endParaRPr lang="ru-RU" b="1" u="sng" dirty="0"/>
          </a:p>
          <a:p>
            <a:pPr marL="179388" indent="-179388"/>
            <a:r>
              <a:rPr lang="ru-RU" b="1" u="sng" dirty="0" smtClean="0"/>
              <a:t>   Сети связи общего </a:t>
            </a:r>
            <a:r>
              <a:rPr lang="ru-RU" b="1" u="sng" dirty="0"/>
              <a:t>пользования (ССОП</a:t>
            </a:r>
            <a:r>
              <a:rPr lang="ru-RU" u="sng" dirty="0"/>
              <a:t>) </a:t>
            </a:r>
            <a:r>
              <a:rPr lang="ru-RU" dirty="0"/>
              <a:t>предназначена для предоставлению услуг электросвязи любому пользователю на территории </a:t>
            </a:r>
            <a:r>
              <a:rPr lang="ru-RU" dirty="0" smtClean="0"/>
              <a:t>РБ.</a:t>
            </a:r>
          </a:p>
          <a:p>
            <a:pPr marL="514350" indent="-514350">
              <a:buNone/>
            </a:pPr>
            <a:r>
              <a:rPr lang="ru-RU" b="1" dirty="0" smtClean="0"/>
              <a:t> ССОП </a:t>
            </a:r>
            <a:r>
              <a:rPr lang="ru-RU" dirty="0" smtClean="0"/>
              <a:t>– это комплекс взаимодействующих сетей связи , например,</a:t>
            </a:r>
          </a:p>
          <a:p>
            <a:pPr marL="514350" indent="-514350">
              <a:buNone/>
            </a:pPr>
            <a:r>
              <a:rPr lang="ru-RU" dirty="0" smtClean="0"/>
              <a:t>              ТФОП , мобильная сеть , сети связи  для распространения программ</a:t>
            </a:r>
          </a:p>
          <a:p>
            <a:pPr marL="514350" indent="-514350">
              <a:buNone/>
            </a:pPr>
            <a:r>
              <a:rPr lang="ru-RU" dirty="0" smtClean="0"/>
              <a:t>              телевизионного  и радиовещания.</a:t>
            </a:r>
            <a:endParaRPr lang="ru-RU" dirty="0"/>
          </a:p>
          <a:p>
            <a:pPr>
              <a:buNone/>
            </a:pPr>
            <a:endParaRPr lang="ru-RU" dirty="0"/>
          </a:p>
          <a:p>
            <a:r>
              <a:rPr lang="ru-RU" b="1" u="sng" dirty="0" smtClean="0"/>
              <a:t>    Выделенные </a:t>
            </a:r>
            <a:r>
              <a:rPr lang="ru-RU" b="1" u="sng" dirty="0"/>
              <a:t>сети связи (корпоративные </a:t>
            </a:r>
            <a:r>
              <a:rPr lang="ru-RU" b="1" dirty="0" smtClean="0"/>
              <a:t>) - </a:t>
            </a:r>
            <a:r>
              <a:rPr lang="ru-RU" dirty="0"/>
              <a:t>сети, предназначенные для предоставления услуг ограниченному числу пользователей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/>
              <a:t>Они могут взаимодействовать между собой, находясь в  одном и разных государствах, и могут  быть присоединены к ССОП.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Классификация сетей связи (1)</a:t>
            </a:r>
            <a:endParaRPr lang="ru-RU" sz="3600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74753" y="1052736"/>
            <a:ext cx="11437495" cy="5544616"/>
          </a:xfrm>
        </p:spPr>
        <p:txBody>
          <a:bodyPr>
            <a:normAutofit/>
          </a:bodyPr>
          <a:lstStyle/>
          <a:p>
            <a:r>
              <a:rPr lang="ru-RU" b="1" u="sng" dirty="0"/>
              <a:t>Технологические сети </a:t>
            </a:r>
            <a:r>
              <a:rPr lang="ru-RU" dirty="0"/>
              <a:t>– это сети, предназначенные для обеспечения производственной деятельности организаций и управления технологическими процессами. </a:t>
            </a:r>
          </a:p>
          <a:p>
            <a:pPr>
              <a:buNone/>
            </a:pPr>
            <a:r>
              <a:rPr lang="ru-RU" dirty="0"/>
              <a:t>     При наличии ресурсов </a:t>
            </a:r>
            <a:r>
              <a:rPr lang="ru-RU" b="1" dirty="0"/>
              <a:t>может быть присоединена к ССОП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/>
          </a:p>
          <a:p>
            <a:r>
              <a:rPr lang="ru-RU" b="1" u="sng" dirty="0"/>
              <a:t>Сети специального назначения- </a:t>
            </a:r>
            <a:r>
              <a:rPr lang="ru-RU" dirty="0"/>
              <a:t>это сети, предназначенные для обеспечения нужд государственного управления , обороны, безопасности и охраны правопорядка. </a:t>
            </a:r>
          </a:p>
          <a:p>
            <a:pPr>
              <a:buNone/>
            </a:pPr>
            <a:r>
              <a:rPr lang="ru-RU" dirty="0"/>
              <a:t>     Как правило </a:t>
            </a:r>
            <a:r>
              <a:rPr lang="ru-RU" b="1" dirty="0"/>
              <a:t>, они не имеют выхода на сеть  связи общего пользования </a:t>
            </a:r>
            <a:r>
              <a:rPr lang="ru-RU" dirty="0"/>
              <a:t>(ССОП).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9005" t="19365" r="11933" b="10956"/>
          <a:stretch>
            <a:fillRect/>
          </a:stretch>
        </p:blipFill>
        <p:spPr bwMode="auto">
          <a:xfrm>
            <a:off x="419723" y="1"/>
            <a:ext cx="11772277" cy="6490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4855" y="274638"/>
            <a:ext cx="11067393" cy="706090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Классификация сетей (2)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" y="908720"/>
            <a:ext cx="12192000" cy="594928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    В конце ХХ века ход развития технического прогресса, предопределили формирование новой концепции построения сети электросвязи </a:t>
            </a:r>
            <a:r>
              <a:rPr lang="ru-RU" b="1" dirty="0"/>
              <a:t>(1992 г).</a:t>
            </a:r>
          </a:p>
          <a:p>
            <a:pPr>
              <a:buNone/>
            </a:pPr>
            <a:r>
              <a:rPr lang="ru-RU" dirty="0"/>
              <a:t>   </a:t>
            </a:r>
            <a:r>
              <a:rPr lang="ru-RU" b="1" dirty="0"/>
              <a:t>2. </a:t>
            </a:r>
            <a:r>
              <a:rPr lang="ru-RU" b="1" i="1" u="sng" dirty="0"/>
              <a:t>Цифровая сеть связи страны стала подразделяться по </a:t>
            </a:r>
            <a:r>
              <a:rPr lang="ru-RU" b="1" u="sng" dirty="0"/>
              <a:t>функциональному признаку </a:t>
            </a:r>
            <a:r>
              <a:rPr lang="ru-RU" b="1" i="1" dirty="0"/>
              <a:t>на две взаимоувязанных составляющих</a:t>
            </a:r>
            <a:r>
              <a:rPr lang="ru-RU" b="1" i="1" dirty="0" smtClean="0"/>
              <a:t>:</a:t>
            </a:r>
            <a:endParaRPr lang="ru-RU" dirty="0"/>
          </a:p>
          <a:p>
            <a:pPr>
              <a:buNone/>
            </a:pPr>
            <a:r>
              <a:rPr lang="ru-RU" b="1" i="1" dirty="0" smtClean="0"/>
              <a:t>       -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ранспортная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сеть</a:t>
            </a:r>
            <a:r>
              <a:rPr lang="ru-RU" dirty="0"/>
              <a:t> – часть сети связи, охватывающая магистральные узлы (МУ), междугородные станции (МС), а также соединяющие их каналы и узлы (междугородные, международные</a:t>
            </a:r>
            <a:r>
              <a:rPr lang="ru-RU" dirty="0" smtClean="0"/>
              <a:t>);</a:t>
            </a:r>
            <a:endParaRPr lang="ru-RU" dirty="0"/>
          </a:p>
          <a:p>
            <a:pPr>
              <a:buNone/>
            </a:pPr>
            <a:r>
              <a:rPr lang="ru-RU" dirty="0" smtClean="0"/>
              <a:t>      -</a:t>
            </a:r>
            <a:r>
              <a:rPr lang="ru-RU" dirty="0"/>
              <a:t>  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еть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доступа</a:t>
            </a:r>
            <a:r>
              <a:rPr lang="ru-RU" dirty="0"/>
              <a:t>– совокупность абонентских линий </a:t>
            </a:r>
            <a:r>
              <a:rPr lang="ru-RU" dirty="0" smtClean="0"/>
              <a:t>и</a:t>
            </a:r>
          </a:p>
          <a:p>
            <a:pPr>
              <a:buNone/>
            </a:pPr>
            <a:r>
              <a:rPr lang="ru-RU" dirty="0" smtClean="0"/>
              <a:t>                                       </a:t>
            </a:r>
            <a:r>
              <a:rPr lang="ru-RU" dirty="0"/>
              <a:t>станций местной сети </a:t>
            </a:r>
            <a:r>
              <a:rPr lang="ru-RU" dirty="0" smtClean="0"/>
              <a:t>(АТС),</a:t>
            </a:r>
          </a:p>
          <a:p>
            <a:pPr>
              <a:buNone/>
              <a:tabLst>
                <a:tab pos="179388" algn="l"/>
              </a:tabLst>
            </a:pPr>
            <a:r>
              <a:rPr lang="ru-RU" dirty="0" smtClean="0"/>
              <a:t>    обеспечивающая </a:t>
            </a:r>
            <a:r>
              <a:rPr lang="ru-RU" dirty="0"/>
              <a:t>доступ абонентских терминалов к транспортной сети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     а </a:t>
            </a:r>
            <a:r>
              <a:rPr lang="ru-RU" dirty="0"/>
              <a:t>также местную связь без выхода на транспортную сеть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Сеть доступа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>- сеть, по которой с помощью </a:t>
            </a:r>
            <a:r>
              <a:rPr lang="ru-RU" b="1" dirty="0" smtClean="0"/>
              <a:t>каналов и линий «последней мили»</a:t>
            </a:r>
          </a:p>
          <a:p>
            <a:pPr>
              <a:buNone/>
            </a:pPr>
            <a:r>
              <a:rPr lang="ru-RU" b="1" dirty="0" smtClean="0"/>
              <a:t>            </a:t>
            </a:r>
            <a:r>
              <a:rPr lang="ru-RU" dirty="0" smtClean="0"/>
              <a:t>                  различные специализированные сигналы передаются от</a:t>
            </a:r>
          </a:p>
          <a:p>
            <a:pPr>
              <a:buNone/>
            </a:pPr>
            <a:r>
              <a:rPr lang="ru-RU" dirty="0" smtClean="0"/>
              <a:t>                             потребителей к портам транспортной сети и обратно.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C:\Users\Дмитрий\Dropbox\СЕЛЬХОЗ\ДИСЦИПЛИНЫ\ИСиС\Лекции\ПГУТИ\media\image4.jpeg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92697"/>
            <a:ext cx="8964488" cy="563115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68014" y="2"/>
            <a:ext cx="119239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/>
                </a:solidFill>
              </a:rPr>
              <a:t>Структурная схема телекоммуникационной сети</a:t>
            </a:r>
          </a:p>
        </p:txBody>
      </p:sp>
    </p:spTree>
    <p:extLst>
      <p:ext uri="{BB962C8B-B14F-4D97-AF65-F5344CB8AC3E}">
        <p14:creationId xmlns="" xmlns:p14="http://schemas.microsoft.com/office/powerpoint/2010/main" val="236260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2284" y="188913"/>
            <a:ext cx="10363200" cy="692150"/>
          </a:xfrm>
        </p:spPr>
        <p:txBody>
          <a:bodyPr/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Телекоммуникационная система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90501" y="1700214"/>
          <a:ext cx="11857567" cy="2840037"/>
        </p:xfrm>
        <a:graphic>
          <a:graphicData uri="http://schemas.openxmlformats.org/presentationml/2006/ole">
            <p:oleObj spid="_x0000_s32770" name="Visio" r:id="rId3" imgW="7638612" imgH="2440832" progId="">
              <p:embed/>
            </p:oleObj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39185" y="4856813"/>
            <a:ext cx="11713633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dirty="0"/>
              <a:t>Пример: «Сеть в помещении пользователя» - телефонный аппарат</a:t>
            </a:r>
            <a:r>
              <a:rPr lang="ru-RU" sz="2000" dirty="0" smtClean="0"/>
              <a:t>, ПК, ОК оборудование пользователя</a:t>
            </a:r>
          </a:p>
          <a:p>
            <a:pPr>
              <a:spcBef>
                <a:spcPct val="50000"/>
              </a:spcBef>
            </a:pPr>
            <a:r>
              <a:rPr lang="ru-RU" sz="2000" dirty="0" smtClean="0"/>
              <a:t> </a:t>
            </a:r>
            <a:r>
              <a:rPr lang="ru-RU" sz="2000" dirty="0"/>
              <a:t>«Сеть доступа» - абонентская линия (двухпроводная цепь</a:t>
            </a:r>
            <a:r>
              <a:rPr lang="ru-RU" sz="2000" dirty="0" smtClean="0"/>
              <a:t>), концентраторы нагрузки</a:t>
            </a:r>
          </a:p>
          <a:p>
            <a:pPr>
              <a:spcBef>
                <a:spcPct val="50000"/>
              </a:spcBef>
            </a:pPr>
            <a:r>
              <a:rPr lang="ru-RU" sz="2000" dirty="0" smtClean="0"/>
              <a:t> </a:t>
            </a:r>
            <a:r>
              <a:rPr lang="ru-RU" sz="2000" dirty="0"/>
              <a:t>«Базовая сеть» - автоматическая телефонная </a:t>
            </a:r>
            <a:r>
              <a:rPr lang="ru-RU" sz="2000" dirty="0" smtClean="0"/>
              <a:t>станция, линии связи , </a:t>
            </a:r>
            <a:r>
              <a:rPr lang="ru-RU" sz="2000" b="1" dirty="0" smtClean="0"/>
              <a:t>К ,М.</a:t>
            </a:r>
          </a:p>
          <a:p>
            <a:pPr>
              <a:spcBef>
                <a:spcPct val="50000"/>
              </a:spcBef>
            </a:pPr>
            <a:r>
              <a:rPr lang="ru-RU" sz="2000" dirty="0" smtClean="0"/>
              <a:t>  </a:t>
            </a:r>
            <a:r>
              <a:rPr lang="ru-RU" sz="2000" dirty="0"/>
              <a:t>«Средства поддержки услуг» </a:t>
            </a:r>
            <a:r>
              <a:rPr lang="ru-RU" sz="2000" dirty="0" smtClean="0"/>
              <a:t>- служба «115» и другие.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5907" y="0"/>
            <a:ext cx="10515600" cy="5964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chemeClr val="accent1"/>
                </a:solidFill>
              </a:rPr>
              <a:t>Классификация сетей (2)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75907" y="923330"/>
            <a:ext cx="8738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Архитектура современной цифровой </a:t>
            </a:r>
            <a:r>
              <a:rPr lang="ru-RU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сети</a:t>
            </a:r>
            <a:endParaRPr lang="ru-RU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Глава 6. (Н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8" y="1813034"/>
            <a:ext cx="6851716" cy="47752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02078" y="2233534"/>
            <a:ext cx="48752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Общая архитектура современной цифровой сети </a:t>
            </a:r>
            <a:r>
              <a:rPr lang="ru-RU" sz="2800" dirty="0" smtClean="0"/>
              <a:t>состоит из 2-х частей: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800" b="1" u="sng" dirty="0" smtClean="0"/>
              <a:t>Транспортная сеть</a:t>
            </a:r>
            <a:r>
              <a:rPr lang="ru-RU" sz="2800" b="1" dirty="0" smtClean="0"/>
              <a:t> - центральная часть сети,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800" b="1" u="sng" dirty="0"/>
              <a:t>С</a:t>
            </a:r>
            <a:r>
              <a:rPr lang="ru-RU" sz="2800" b="1" u="sng" dirty="0" smtClean="0"/>
              <a:t>еть доступа</a:t>
            </a:r>
            <a:r>
              <a:rPr lang="ru-RU" sz="2800" b="1" dirty="0" smtClean="0"/>
              <a:t> - периферийной части сети</a:t>
            </a:r>
            <a:r>
              <a:rPr lang="ru-RU" sz="2800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289146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90871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r>
              <a:rPr lang="ru-RU" sz="3200" b="1" dirty="0">
                <a:solidFill>
                  <a:srgbClr val="002060"/>
                </a:solidFill>
              </a:rPr>
              <a:t>Основные </a:t>
            </a:r>
            <a:r>
              <a:rPr lang="ru-RU" sz="3200" b="1" dirty="0" smtClean="0">
                <a:solidFill>
                  <a:srgbClr val="002060"/>
                </a:solidFill>
              </a:rPr>
              <a:t>характеристики транспортной сети 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7348" y="614597"/>
            <a:ext cx="11764652" cy="6565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К </a:t>
            </a:r>
            <a:r>
              <a:rPr lang="ru-RU" sz="2800" b="1" dirty="0" smtClean="0"/>
              <a:t>основным</a:t>
            </a:r>
            <a:r>
              <a:rPr lang="ru-RU" sz="2800" dirty="0" smtClean="0"/>
              <a:t> информационно-техническим </a:t>
            </a:r>
            <a:r>
              <a:rPr lang="ru-RU" sz="2800" b="1" dirty="0" smtClean="0"/>
              <a:t>характеристикам транспортной сети относятся: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sz="2800" dirty="0" smtClean="0"/>
              <a:t> пропускная </a:t>
            </a:r>
            <a:r>
              <a:rPr lang="ru-RU" sz="2800" dirty="0"/>
              <a:t>способность транспортных магистралей </a:t>
            </a:r>
            <a:endParaRPr lang="ru-RU" sz="2800" dirty="0" smtClean="0"/>
          </a:p>
          <a:p>
            <a:pPr marL="1200150" lvl="2" indent="-285750"/>
            <a:r>
              <a:rPr lang="ru-RU" sz="2800" dirty="0" smtClean="0"/>
              <a:t>     или базовые скорости </a:t>
            </a:r>
            <a:r>
              <a:rPr lang="ru-RU" sz="2800" dirty="0"/>
              <a:t>передачи;</a:t>
            </a:r>
          </a:p>
          <a:p>
            <a:pPr marL="989013" lvl="3" indent="382588">
              <a:buFont typeface="Arial" pitchFamily="34" charset="0"/>
              <a:buChar char="•"/>
            </a:pPr>
            <a:r>
              <a:rPr lang="ru-RU" sz="2800" dirty="0" smtClean="0"/>
              <a:t>объем </a:t>
            </a:r>
            <a:r>
              <a:rPr lang="ru-RU" sz="2800" dirty="0"/>
              <a:t>входящего и исходящего трафиков в сетевых узлах;</a:t>
            </a:r>
          </a:p>
          <a:p>
            <a:pPr marL="989013" lvl="3" indent="382588">
              <a:buFont typeface="Arial" pitchFamily="34" charset="0"/>
              <a:buChar char="•"/>
            </a:pPr>
            <a:r>
              <a:rPr lang="ru-RU" sz="2800" dirty="0" smtClean="0"/>
              <a:t>суммарный </a:t>
            </a:r>
            <a:r>
              <a:rPr lang="ru-RU" sz="2800" dirty="0"/>
              <a:t>трафик в сетевых трактах и магистралях сети;</a:t>
            </a:r>
          </a:p>
          <a:p>
            <a:pPr marL="1169988" lvl="3" indent="-203200">
              <a:buFont typeface="Arial" pitchFamily="34" charset="0"/>
              <a:buChar char="•"/>
            </a:pPr>
            <a:r>
              <a:rPr lang="ru-RU" sz="2800" dirty="0" smtClean="0"/>
              <a:t>   надежность </a:t>
            </a:r>
            <a:r>
              <a:rPr lang="ru-RU" sz="2800" dirty="0"/>
              <a:t>или коэффициент готовности сети в целом.</a:t>
            </a:r>
          </a:p>
          <a:p>
            <a:pPr>
              <a:spcBef>
                <a:spcPts val="600"/>
              </a:spcBef>
            </a:pPr>
            <a:r>
              <a:rPr lang="ru-RU" sz="2800" u="sng" dirty="0" smtClean="0"/>
              <a:t>Выбор </a:t>
            </a:r>
            <a:r>
              <a:rPr lang="ru-RU" sz="2800" u="sng" dirty="0"/>
              <a:t>сетевых технологий и архитектуры построения </a:t>
            </a:r>
            <a:r>
              <a:rPr lang="ru-RU" sz="2800" u="sng" dirty="0" smtClean="0"/>
              <a:t> </a:t>
            </a:r>
            <a:r>
              <a:rPr lang="ru-RU" sz="2800" u="sng" dirty="0" err="1" smtClean="0"/>
              <a:t>мультисервисных</a:t>
            </a:r>
            <a:r>
              <a:rPr lang="ru-RU" sz="2800" u="sng" dirty="0" smtClean="0"/>
              <a:t> </a:t>
            </a:r>
            <a:r>
              <a:rPr lang="ru-RU" sz="2800" u="sng" dirty="0"/>
              <a:t>сетей </a:t>
            </a:r>
            <a:r>
              <a:rPr lang="ru-RU" sz="2800" u="sng" dirty="0" smtClean="0"/>
              <a:t>определяется:</a:t>
            </a:r>
          </a:p>
          <a:p>
            <a:pPr marL="989013">
              <a:spcBef>
                <a:spcPts val="600"/>
              </a:spcBef>
            </a:pPr>
            <a:r>
              <a:rPr lang="ru-RU" sz="2800" u="sng" dirty="0" smtClean="0"/>
              <a:t>-   в результате анализа </a:t>
            </a:r>
            <a:r>
              <a:rPr lang="ru-RU" sz="2800" u="sng" dirty="0"/>
              <a:t>трафика в </a:t>
            </a:r>
            <a:r>
              <a:rPr lang="ru-RU" sz="2800" u="sng" dirty="0" smtClean="0"/>
              <a:t>сети;</a:t>
            </a:r>
          </a:p>
          <a:p>
            <a:pPr>
              <a:spcBef>
                <a:spcPts val="600"/>
              </a:spcBef>
            </a:pPr>
            <a:r>
              <a:rPr lang="ru-RU" sz="2800" dirty="0" smtClean="0"/>
              <a:t>             </a:t>
            </a:r>
            <a:r>
              <a:rPr lang="ru-RU" sz="2800" u="sng" dirty="0" smtClean="0"/>
              <a:t>- и оценки </a:t>
            </a:r>
            <a:r>
              <a:rPr lang="ru-RU" sz="2800" u="sng" dirty="0"/>
              <a:t>пропускной способности </a:t>
            </a:r>
            <a:r>
              <a:rPr lang="ru-RU" sz="2800" u="sng" dirty="0" smtClean="0"/>
              <a:t>транспортной сети.</a:t>
            </a:r>
          </a:p>
          <a:p>
            <a:r>
              <a:rPr lang="ru-RU" sz="2800" dirty="0" smtClean="0"/>
              <a:t>Современные цифровые сети связи (ЦСС) </a:t>
            </a:r>
            <a:r>
              <a:rPr lang="ru-RU" sz="2800" dirty="0"/>
              <a:t>позволяют передавать </a:t>
            </a:r>
            <a:r>
              <a:rPr lang="ru-RU" sz="2800" dirty="0" smtClean="0"/>
              <a:t>различные </a:t>
            </a:r>
            <a:r>
              <a:rPr lang="ru-RU" sz="2800" dirty="0"/>
              <a:t>виды трафика </a:t>
            </a:r>
            <a:r>
              <a:rPr lang="ru-RU" sz="2800" dirty="0" smtClean="0"/>
              <a:t>с различными скоростями , например,100 </a:t>
            </a:r>
            <a:r>
              <a:rPr lang="ru-RU" sz="2800" dirty="0" err="1" smtClean="0"/>
              <a:t>Мгб</a:t>
            </a:r>
            <a:r>
              <a:rPr lang="ru-RU" sz="2800" dirty="0" smtClean="0"/>
              <a:t> /с, 1 Гбит/с,</a:t>
            </a:r>
          </a:p>
          <a:p>
            <a:r>
              <a:rPr lang="ru-RU" sz="2800" dirty="0" smtClean="0"/>
              <a:t> 10 Гбит/с, и </a:t>
            </a:r>
            <a:r>
              <a:rPr lang="ru-RU" sz="2800" dirty="0"/>
              <a:t>выше. 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235922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833" y="365126"/>
            <a:ext cx="11677337" cy="83408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 smtClean="0">
                <a:solidFill>
                  <a:srgbClr val="002060"/>
                </a:solidFill>
              </a:rPr>
              <a:t>Основные характеристики транспортной сети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9862" y="1109272"/>
            <a:ext cx="11982138" cy="574872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 smtClean="0"/>
              <a:t>В ЦСС выделяют основные категории трафика.</a:t>
            </a:r>
          </a:p>
          <a:p>
            <a:pPr>
              <a:spcBef>
                <a:spcPts val="600"/>
              </a:spcBef>
            </a:pPr>
            <a:r>
              <a:rPr lang="ru-RU" b="1" u="sng" dirty="0" smtClean="0"/>
              <a:t>Трафик передачи данных делится на 3 категории </a:t>
            </a:r>
            <a:r>
              <a:rPr lang="ru-RU" dirty="0" smtClean="0"/>
              <a:t>по требованиям к временным задержкам при передаче:</a:t>
            </a:r>
          </a:p>
          <a:p>
            <a:pPr marL="285750" indent="-285750">
              <a:buNone/>
            </a:pPr>
            <a:r>
              <a:rPr lang="ru-RU" b="1" dirty="0" smtClean="0"/>
              <a:t>       - Трафик реального времени </a:t>
            </a:r>
            <a:r>
              <a:rPr lang="ru-RU" dirty="0" smtClean="0"/>
              <a:t>– трафик с аудио- и видеоинформацией,</a:t>
            </a:r>
          </a:p>
          <a:p>
            <a:pPr marL="285750" indent="-285750">
              <a:buNone/>
            </a:pPr>
            <a:r>
              <a:rPr lang="ru-RU" dirty="0" smtClean="0"/>
              <a:t>              </a:t>
            </a:r>
            <a:r>
              <a:rPr lang="ru-RU" i="1" dirty="0" smtClean="0"/>
              <a:t>практически не допускающий задержек</a:t>
            </a:r>
          </a:p>
          <a:p>
            <a:pPr marL="285750" indent="-285750">
              <a:buNone/>
            </a:pPr>
            <a:r>
              <a:rPr lang="ru-RU" dirty="0" smtClean="0"/>
              <a:t>              (допустимая задержка постоянна и не превышает 0,1 с).</a:t>
            </a:r>
          </a:p>
          <a:p>
            <a:pPr marL="285750" indent="-285750">
              <a:buNone/>
            </a:pPr>
            <a:r>
              <a:rPr lang="ru-RU" b="1" dirty="0" smtClean="0"/>
              <a:t>       - Трафик транзакций</a:t>
            </a:r>
            <a:r>
              <a:rPr lang="ru-RU" dirty="0" smtClean="0"/>
              <a:t> - </a:t>
            </a:r>
            <a:r>
              <a:rPr lang="ru-RU" i="1" dirty="0" smtClean="0"/>
              <a:t>допустимая временная задержка</a:t>
            </a:r>
          </a:p>
          <a:p>
            <a:pPr marL="285750" indent="-285750">
              <a:buNone/>
            </a:pPr>
            <a:r>
              <a:rPr lang="ru-RU" dirty="0" smtClean="0"/>
              <a:t>              не должна превышать 1 с. </a:t>
            </a:r>
          </a:p>
          <a:p>
            <a:pPr marL="285750" indent="-285750">
              <a:buNone/>
            </a:pPr>
            <a:r>
              <a:rPr lang="ru-RU" dirty="0" smtClean="0"/>
              <a:t>       Превышение допустимой задержки приводит к сбою рабочей сессии и  пользовательским приложениям потребуется ее повторять.</a:t>
            </a:r>
          </a:p>
          <a:p>
            <a:pPr marL="285750" indent="-285750">
              <a:buNone/>
            </a:pPr>
            <a:r>
              <a:rPr lang="ru-RU" b="1" dirty="0" smtClean="0"/>
              <a:t>         - Трафик данных</a:t>
            </a:r>
            <a:r>
              <a:rPr lang="ru-RU" dirty="0" smtClean="0"/>
              <a:t> - </a:t>
            </a:r>
            <a:r>
              <a:rPr lang="ru-RU" i="1" dirty="0" smtClean="0"/>
              <a:t>допустима любая временная задержка</a:t>
            </a:r>
          </a:p>
          <a:p>
            <a:pPr marL="285750" indent="-285750">
              <a:buNone/>
            </a:pPr>
            <a:r>
              <a:rPr lang="ru-RU" dirty="0" smtClean="0"/>
              <a:t>               (до нескольких секунд). </a:t>
            </a:r>
          </a:p>
          <a:p>
            <a:pPr marL="285750" indent="-285750">
              <a:buNone/>
            </a:pPr>
            <a:r>
              <a:rPr lang="ru-RU" dirty="0" smtClean="0"/>
              <a:t>       При увеличении пропускной способности сети уменьшается время передачи данных, поэтому часто занимают всю доступную полосу пропускания сети.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1761076" cy="990709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Классификация сетей (3)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7559" y="1340069"/>
            <a:ext cx="11225048" cy="4786095"/>
          </a:xfrm>
        </p:spPr>
        <p:txBody>
          <a:bodyPr/>
          <a:lstStyle/>
          <a:p>
            <a:pPr>
              <a:buNone/>
            </a:pPr>
            <a:r>
              <a:rPr lang="ru-RU" b="1" dirty="0"/>
              <a:t>3</a:t>
            </a:r>
            <a:r>
              <a:rPr lang="ru-RU" sz="3200" b="1" u="sng" dirty="0"/>
              <a:t>. Деление сетей по типу присоединения абонентов</a:t>
            </a:r>
            <a:r>
              <a:rPr lang="ru-RU" sz="3200" u="sng" dirty="0" smtClean="0"/>
              <a:t>:</a:t>
            </a:r>
          </a:p>
          <a:p>
            <a:pPr>
              <a:buNone/>
            </a:pPr>
            <a:endParaRPr lang="ru-RU" sz="3200" u="sng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ru-RU" sz="3200" dirty="0"/>
              <a:t>      -  Сети фиксированной связи ( </a:t>
            </a:r>
            <a:r>
              <a:rPr lang="ru-RU" sz="3200" dirty="0" smtClean="0"/>
              <a:t>проводной)</a:t>
            </a:r>
            <a:endParaRPr lang="ru-RU" sz="3200" dirty="0"/>
          </a:p>
          <a:p>
            <a:pPr>
              <a:buNone/>
            </a:pPr>
            <a:endParaRPr lang="ru-RU" sz="3200" dirty="0"/>
          </a:p>
          <a:p>
            <a:pPr>
              <a:buNone/>
            </a:pPr>
            <a:r>
              <a:rPr lang="ru-RU" sz="3200" dirty="0"/>
              <a:t>      - Сети подвижной ( мобильной) связи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9005" t="19365" r="11933" b="10956"/>
          <a:stretch>
            <a:fillRect/>
          </a:stretch>
        </p:blipFill>
        <p:spPr bwMode="auto">
          <a:xfrm>
            <a:off x="419723" y="1"/>
            <a:ext cx="11772277" cy="6490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793" y="274638"/>
            <a:ext cx="10957035" cy="49006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Классификация сетей (4)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5669" y="836712"/>
            <a:ext cx="11571890" cy="6021288"/>
          </a:xfrm>
        </p:spPr>
        <p:txBody>
          <a:bodyPr>
            <a:noAutofit/>
          </a:bodyPr>
          <a:lstStyle/>
          <a:p>
            <a:pPr>
              <a:buNone/>
            </a:pPr>
            <a:endParaRPr lang="ru-RU" sz="2400" b="1" u="sng" dirty="0" smtClean="0"/>
          </a:p>
          <a:p>
            <a:pPr>
              <a:buNone/>
            </a:pPr>
            <a:r>
              <a:rPr lang="ru-RU" sz="2400" b="1" u="sng" dirty="0" smtClean="0"/>
              <a:t>Сеть </a:t>
            </a:r>
            <a:r>
              <a:rPr lang="ru-RU" sz="2400" b="1" u="sng" dirty="0"/>
              <a:t>страны подразделяется по способу организации каналов </a:t>
            </a:r>
            <a:r>
              <a:rPr lang="ru-RU" sz="2400" b="1" dirty="0"/>
              <a:t>на две взаимосвязанные составляющие:</a:t>
            </a:r>
          </a:p>
          <a:p>
            <a:pPr>
              <a:buNone/>
            </a:pPr>
            <a:r>
              <a:rPr lang="ru-RU" sz="2400" dirty="0"/>
              <a:t>          </a:t>
            </a:r>
            <a:r>
              <a:rPr lang="ru-RU" sz="2400" b="1" dirty="0"/>
              <a:t>1) </a:t>
            </a:r>
            <a:r>
              <a:rPr lang="ru-RU" sz="2400" b="1" i="1" u="sng" dirty="0"/>
              <a:t>первичную сеть</a:t>
            </a:r>
            <a:r>
              <a:rPr lang="ru-RU" sz="2400" b="1" dirty="0"/>
              <a:t> </a:t>
            </a:r>
            <a:r>
              <a:rPr lang="ru-RU" sz="2400" dirty="0"/>
              <a:t>– совокупность сетевых станций, сетевых узлов </a:t>
            </a:r>
            <a:r>
              <a:rPr lang="ru-RU" sz="2400" dirty="0" smtClean="0"/>
              <a:t>и</a:t>
            </a:r>
          </a:p>
          <a:p>
            <a:pPr>
              <a:buNone/>
            </a:pPr>
            <a:r>
              <a:rPr lang="ru-RU" sz="2400" dirty="0" smtClean="0"/>
              <a:t>           соединяющих </a:t>
            </a:r>
            <a:r>
              <a:rPr lang="ru-RU" sz="2400" dirty="0"/>
              <a:t>их линий передачи, которая позволяет </a:t>
            </a:r>
            <a:r>
              <a:rPr lang="ru-RU" sz="2400" dirty="0" smtClean="0"/>
              <a:t>организовывать</a:t>
            </a:r>
          </a:p>
          <a:p>
            <a:pPr>
              <a:buNone/>
            </a:pPr>
            <a:r>
              <a:rPr lang="ru-RU" sz="2400" dirty="0" smtClean="0"/>
              <a:t>             </a:t>
            </a:r>
            <a:r>
              <a:rPr lang="ru-RU" sz="2400" dirty="0"/>
              <a:t>сеть каналов передачи и групповых трактов.</a:t>
            </a:r>
          </a:p>
          <a:p>
            <a:pPr>
              <a:buNone/>
            </a:pPr>
            <a:r>
              <a:rPr lang="ru-RU" sz="2400" dirty="0"/>
              <a:t>        2) </a:t>
            </a:r>
            <a:r>
              <a:rPr lang="ru-RU" sz="2400" b="1" i="1" u="sng" dirty="0"/>
              <a:t>вторичную сеть</a:t>
            </a:r>
            <a:r>
              <a:rPr lang="ru-RU" sz="2400" u="sng" dirty="0"/>
              <a:t> </a:t>
            </a:r>
            <a:r>
              <a:rPr lang="ru-RU" sz="2400" dirty="0"/>
              <a:t>– совокупность технических средств, 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          обеспечивающих </a:t>
            </a:r>
            <a:r>
              <a:rPr lang="ru-RU" sz="2400" dirty="0"/>
              <a:t>передачу сообщений определенного вида.</a:t>
            </a:r>
          </a:p>
          <a:p>
            <a:pPr>
              <a:buNone/>
            </a:pPr>
            <a:r>
              <a:rPr lang="ru-RU" sz="2400" dirty="0"/>
              <a:t>    </a:t>
            </a:r>
            <a:r>
              <a:rPr lang="ru-RU" sz="2400" dirty="0" smtClean="0"/>
              <a:t>       </a:t>
            </a:r>
            <a:r>
              <a:rPr lang="ru-RU" sz="2400" b="1" u="sng" dirty="0"/>
              <a:t>В состав которой входят:</a:t>
            </a:r>
          </a:p>
          <a:p>
            <a:pPr>
              <a:buNone/>
            </a:pPr>
            <a:r>
              <a:rPr lang="ru-RU" sz="2400" dirty="0"/>
              <a:t>  </a:t>
            </a:r>
            <a:r>
              <a:rPr lang="ru-RU" sz="2400" dirty="0" smtClean="0"/>
              <a:t>           </a:t>
            </a:r>
            <a:r>
              <a:rPr lang="ru-RU" sz="2400" dirty="0"/>
              <a:t>- </a:t>
            </a:r>
            <a:r>
              <a:rPr lang="ru-RU" sz="2400" b="1" dirty="0"/>
              <a:t>оконечные устройства</a:t>
            </a:r>
            <a:r>
              <a:rPr lang="ru-RU" sz="2400" dirty="0"/>
              <a:t>,  абонентские и соединительные линии,</a:t>
            </a:r>
          </a:p>
          <a:p>
            <a:pPr>
              <a:buNone/>
            </a:pPr>
            <a:r>
              <a:rPr lang="ru-RU" sz="2400" dirty="0"/>
              <a:t>   </a:t>
            </a:r>
            <a:r>
              <a:rPr lang="ru-RU" sz="2400" dirty="0" smtClean="0"/>
              <a:t>          </a:t>
            </a:r>
            <a:r>
              <a:rPr lang="ru-RU" sz="2400" dirty="0"/>
              <a:t>- </a:t>
            </a:r>
            <a:r>
              <a:rPr lang="ru-RU" sz="2400" b="1" dirty="0"/>
              <a:t>коммутационные станции, </a:t>
            </a:r>
            <a:r>
              <a:rPr lang="ru-RU" sz="2400" dirty="0"/>
              <a:t>и</a:t>
            </a:r>
          </a:p>
          <a:p>
            <a:pPr>
              <a:buNone/>
            </a:pPr>
            <a:r>
              <a:rPr lang="ru-RU" sz="2400" dirty="0"/>
              <a:t>    </a:t>
            </a:r>
            <a:r>
              <a:rPr lang="ru-RU" sz="2400" dirty="0" smtClean="0"/>
              <a:t>         </a:t>
            </a:r>
            <a:r>
              <a:rPr lang="ru-RU" sz="2400" dirty="0"/>
              <a:t>- </a:t>
            </a:r>
            <a:r>
              <a:rPr lang="ru-RU" sz="2400" b="1" dirty="0"/>
              <a:t>каналы</a:t>
            </a:r>
            <a:r>
              <a:rPr lang="ru-RU" sz="2400" dirty="0"/>
              <a:t>, выделенные из первичной сети для образования вторичной.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dirty="0"/>
              <a:t>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6482" y="204952"/>
            <a:ext cx="11461531" cy="622814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Классификация сетей (4)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1434" y="836712"/>
            <a:ext cx="11240814" cy="60212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 Структура первичной сети учитывает административное разделение территории страны. </a:t>
            </a: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 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Вся территория страны поделена на зоны, совпадающие, как правило, с территорией областей.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b="1" u="sng" dirty="0"/>
              <a:t>В соответствии с этим первичная сеть также состоит из следующих частей</a:t>
            </a:r>
            <a:r>
              <a:rPr lang="ru-RU" u="sng" dirty="0"/>
              <a:t>:</a:t>
            </a:r>
          </a:p>
          <a:p>
            <a:pPr>
              <a:buNone/>
            </a:pPr>
            <a:r>
              <a:rPr lang="ru-RU" dirty="0"/>
              <a:t>           -</a:t>
            </a:r>
            <a:r>
              <a:rPr lang="ru-RU" b="1" dirty="0"/>
              <a:t> </a:t>
            </a:r>
            <a:r>
              <a:rPr lang="ru-RU" b="1" i="1" dirty="0"/>
              <a:t>местные первичные сети</a:t>
            </a:r>
            <a:r>
              <a:rPr lang="ru-RU" dirty="0"/>
              <a:t> – часть сети, ограниченная территорией города или сельского района;</a:t>
            </a:r>
          </a:p>
          <a:p>
            <a:pPr>
              <a:buNone/>
            </a:pPr>
            <a:r>
              <a:rPr lang="ru-RU" dirty="0"/>
              <a:t>          -   </a:t>
            </a:r>
            <a:r>
              <a:rPr lang="ru-RU" b="1" i="1" dirty="0" err="1"/>
              <a:t>зоновые</a:t>
            </a:r>
            <a:r>
              <a:rPr lang="ru-RU" b="1" i="1" dirty="0"/>
              <a:t>  первичные сети </a:t>
            </a:r>
            <a:r>
              <a:rPr lang="ru-RU" i="1" dirty="0"/>
              <a:t>– </a:t>
            </a:r>
            <a:r>
              <a:rPr lang="ru-RU" dirty="0"/>
              <a:t>часть сети, охватывающая территорию зоны (области), обеспечивающая соединение между собой каналов разных местных сетей внутри одной </a:t>
            </a:r>
            <a:r>
              <a:rPr lang="ru-RU" dirty="0" smtClean="0"/>
              <a:t>зоны (области);</a:t>
            </a:r>
            <a:endParaRPr lang="ru-RU" dirty="0"/>
          </a:p>
          <a:p>
            <a:pPr>
              <a:buNone/>
            </a:pPr>
            <a:r>
              <a:rPr lang="ru-RU" dirty="0"/>
              <a:t>         -  </a:t>
            </a:r>
            <a:r>
              <a:rPr lang="ru-RU" b="1" dirty="0"/>
              <a:t>  </a:t>
            </a:r>
            <a:r>
              <a:rPr lang="ru-RU" b="1" i="1" dirty="0"/>
              <a:t>магистральная первичная сеть </a:t>
            </a:r>
            <a:r>
              <a:rPr lang="ru-RU" i="1" dirty="0"/>
              <a:t>– </a:t>
            </a:r>
            <a:r>
              <a:rPr lang="ru-RU" dirty="0"/>
              <a:t>часть сети, соединяющая между собой каналы разных </a:t>
            </a:r>
            <a:r>
              <a:rPr lang="ru-RU" dirty="0" err="1" smtClean="0"/>
              <a:t>зоновых</a:t>
            </a:r>
            <a:r>
              <a:rPr lang="ru-RU" dirty="0" smtClean="0"/>
              <a:t> </a:t>
            </a:r>
            <a:r>
              <a:rPr lang="ru-RU" dirty="0"/>
              <a:t>сетей на всей территории страны</a:t>
            </a:r>
            <a:r>
              <a:rPr lang="ru-RU" i="1" dirty="0"/>
              <a:t>.</a:t>
            </a:r>
            <a:endParaRPr lang="ru-RU" dirty="0"/>
          </a:p>
          <a:p>
            <a:pPr>
              <a:buNone/>
            </a:pPr>
            <a:r>
              <a:rPr lang="ru-RU" dirty="0"/>
              <a:t>  Структура первичной сети представлена на рисунке.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0717" y="274638"/>
            <a:ext cx="11461531" cy="60823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1"/>
                </a:solidFill>
              </a:rPr>
              <a:t>Структура первичной сети</a:t>
            </a:r>
          </a:p>
        </p:txBody>
      </p:sp>
      <p:pic>
        <p:nvPicPr>
          <p:cNvPr id="4" name="Содержимое 3" descr="https://siblec.ru/img/90/090.files/image006.gif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11677338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4656" y="304618"/>
            <a:ext cx="12408754" cy="49006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002060"/>
                </a:solidFill>
              </a:rPr>
              <a:t>Классификация сетей связи (4)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4953" y="908720"/>
            <a:ext cx="11792606" cy="59492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   </a:t>
            </a:r>
            <a:r>
              <a:rPr lang="ru-RU" sz="3400" b="1" dirty="0"/>
              <a:t>Вторичные сети, по виду передаваемой </a:t>
            </a:r>
            <a:r>
              <a:rPr lang="ru-RU" sz="3400" b="1" dirty="0" smtClean="0"/>
              <a:t>информации, </a:t>
            </a:r>
            <a:r>
              <a:rPr lang="ru-RU" sz="3400" b="1" dirty="0"/>
              <a:t>подразделяются на следующие виды:</a:t>
            </a:r>
          </a:p>
          <a:p>
            <a:pPr>
              <a:buNone/>
            </a:pPr>
            <a:r>
              <a:rPr lang="ru-RU" sz="3400" dirty="0"/>
              <a:t>       - Телефонные;</a:t>
            </a:r>
          </a:p>
          <a:p>
            <a:pPr>
              <a:buNone/>
            </a:pPr>
            <a:r>
              <a:rPr lang="ru-RU" sz="3400" dirty="0"/>
              <a:t>       - Телеграфные;</a:t>
            </a:r>
          </a:p>
          <a:p>
            <a:pPr marL="342900" lvl="2" indent="-342900">
              <a:buNone/>
            </a:pPr>
            <a:r>
              <a:rPr lang="ru-RU" sz="3400" dirty="0"/>
              <a:t>       - Передачи </a:t>
            </a:r>
            <a:r>
              <a:rPr lang="ru-RU" sz="3400" dirty="0" smtClean="0"/>
              <a:t>данных;</a:t>
            </a:r>
            <a:endParaRPr lang="ru-RU" sz="3400" dirty="0"/>
          </a:p>
          <a:p>
            <a:pPr marL="342900" lvl="2" indent="-342900">
              <a:buNone/>
            </a:pPr>
            <a:r>
              <a:rPr lang="ru-RU" sz="3400" dirty="0"/>
              <a:t>       - Информационно-поисковая ( Интернет сеть);</a:t>
            </a:r>
          </a:p>
          <a:p>
            <a:pPr>
              <a:buNone/>
            </a:pPr>
            <a:r>
              <a:rPr lang="ru-RU" sz="3400" dirty="0"/>
              <a:t>       - Телевизионного вещания;</a:t>
            </a:r>
          </a:p>
          <a:p>
            <a:pPr>
              <a:buNone/>
            </a:pPr>
            <a:r>
              <a:rPr lang="ru-RU" sz="3400" dirty="0"/>
              <a:t>        - Звукового вещания (радио).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9005" t="19365" r="11933" b="9669"/>
          <a:stretch>
            <a:fillRect/>
          </a:stretch>
        </p:blipFill>
        <p:spPr bwMode="auto">
          <a:xfrm>
            <a:off x="419723" y="1"/>
            <a:ext cx="11772277" cy="661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4952" y="243107"/>
            <a:ext cx="11430000" cy="63408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Классификация сетей связи </a:t>
            </a:r>
            <a:r>
              <a:rPr lang="ru-RU" b="1" dirty="0" smtClean="0">
                <a:solidFill>
                  <a:srgbClr val="002060"/>
                </a:solidFill>
              </a:rPr>
              <a:t>(5</a:t>
            </a:r>
            <a:r>
              <a:rPr lang="ru-RU" b="1" dirty="0" smtClean="0">
                <a:solidFill>
                  <a:schemeClr val="accent1"/>
                </a:solidFill>
              </a:rPr>
              <a:t>)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6841" y="908720"/>
            <a:ext cx="11382704" cy="561662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sz="3200" b="1" u="sng" dirty="0"/>
              <a:t>Вторичные сети по территориальному признаку делятся на</a:t>
            </a:r>
            <a:r>
              <a:rPr lang="ru-RU" sz="3200" b="1" u="sng" dirty="0" smtClean="0"/>
              <a:t>:</a:t>
            </a:r>
          </a:p>
          <a:p>
            <a:pPr>
              <a:buNone/>
            </a:pPr>
            <a:endParaRPr lang="ru-RU" sz="3200" b="1" u="sng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ru-RU" sz="3200" dirty="0"/>
              <a:t>     1. Международные </a:t>
            </a:r>
            <a:r>
              <a:rPr lang="ru-RU" sz="3200" dirty="0" smtClean="0"/>
              <a:t>сети</a:t>
            </a:r>
          </a:p>
          <a:p>
            <a:pPr>
              <a:buNone/>
            </a:pPr>
            <a:endParaRPr lang="ru-RU" sz="3200" dirty="0"/>
          </a:p>
          <a:p>
            <a:pPr>
              <a:buNone/>
            </a:pPr>
            <a:r>
              <a:rPr lang="ru-RU" sz="3200" dirty="0"/>
              <a:t>     2. Междугородние </a:t>
            </a:r>
            <a:r>
              <a:rPr lang="ru-RU" sz="3200" dirty="0" smtClean="0"/>
              <a:t>сети</a:t>
            </a:r>
          </a:p>
          <a:p>
            <a:pPr>
              <a:buNone/>
            </a:pPr>
            <a:endParaRPr lang="ru-RU" sz="3200" dirty="0"/>
          </a:p>
          <a:p>
            <a:pPr>
              <a:buNone/>
            </a:pPr>
            <a:r>
              <a:rPr lang="ru-RU" sz="3200" dirty="0"/>
              <a:t>     3. </a:t>
            </a:r>
            <a:r>
              <a:rPr lang="ru-RU" sz="3200" dirty="0" err="1"/>
              <a:t>Зоновые</a:t>
            </a:r>
            <a:r>
              <a:rPr lang="ru-RU" sz="3200" dirty="0"/>
              <a:t> </a:t>
            </a:r>
            <a:r>
              <a:rPr lang="ru-RU" sz="3200" dirty="0" smtClean="0"/>
              <a:t>сети</a:t>
            </a:r>
          </a:p>
          <a:p>
            <a:pPr>
              <a:buNone/>
            </a:pPr>
            <a:endParaRPr lang="ru-RU" sz="3200" dirty="0"/>
          </a:p>
          <a:p>
            <a:pPr>
              <a:buNone/>
            </a:pPr>
            <a:r>
              <a:rPr lang="ru-RU" sz="3200" dirty="0"/>
              <a:t>      4.Местные сети:</a:t>
            </a:r>
          </a:p>
          <a:p>
            <a:pPr>
              <a:buNone/>
            </a:pPr>
            <a:r>
              <a:rPr lang="ru-RU" sz="3200" dirty="0"/>
              <a:t>             - городские</a:t>
            </a:r>
          </a:p>
          <a:p>
            <a:pPr>
              <a:buNone/>
            </a:pPr>
            <a:r>
              <a:rPr lang="ru-RU" sz="3200" dirty="0"/>
              <a:t>             - сельские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9185" y="44450"/>
            <a:ext cx="11713633" cy="763588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sz="4000" b="1" dirty="0" smtClean="0">
                <a:solidFill>
                  <a:srgbClr val="002060"/>
                </a:solidFill>
              </a:rPr>
              <a:t>Иерархические уровни в ТФОП</a:t>
            </a:r>
            <a:r>
              <a:rPr lang="ru-RU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24347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11202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2362200" y="836613"/>
          <a:ext cx="7757584" cy="6021387"/>
        </p:xfrm>
        <a:graphic>
          <a:graphicData uri="http://schemas.openxmlformats.org/presentationml/2006/ole">
            <p:oleObj spid="_x0000_s1026" name="Visio" r:id="rId3" imgW="5469963" imgH="5651082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708</Words>
  <Application>Microsoft Office PowerPoint</Application>
  <PresentationFormat>Произвольный</PresentationFormat>
  <Paragraphs>114</Paragraphs>
  <Slides>20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2" baseType="lpstr">
      <vt:lpstr>Тема Office</vt:lpstr>
      <vt:lpstr>Visio</vt:lpstr>
      <vt:lpstr>Классификация сетей связи </vt:lpstr>
      <vt:lpstr>Слайд 2</vt:lpstr>
      <vt:lpstr>Классификация сетей (1)</vt:lpstr>
      <vt:lpstr>Классификация сетей связи (1)</vt:lpstr>
      <vt:lpstr>Слайд 5</vt:lpstr>
      <vt:lpstr>Классификация сетей (2)</vt:lpstr>
      <vt:lpstr>Слайд 7</vt:lpstr>
      <vt:lpstr>Телекоммуникационная система</vt:lpstr>
      <vt:lpstr>Классификация сетей (2)</vt:lpstr>
      <vt:lpstr>Основные характеристики транспортной сети </vt:lpstr>
      <vt:lpstr>Основные характеристики транспортной сети </vt:lpstr>
      <vt:lpstr>Классификация сетей (3)</vt:lpstr>
      <vt:lpstr>Слайд 13</vt:lpstr>
      <vt:lpstr>Классификация сетей (4)</vt:lpstr>
      <vt:lpstr>Классификация сетей (4)</vt:lpstr>
      <vt:lpstr>Структура первичной сети</vt:lpstr>
      <vt:lpstr>Классификация сетей связи (4)</vt:lpstr>
      <vt:lpstr>Слайд 18</vt:lpstr>
      <vt:lpstr>Классификация сетей связи (5)</vt:lpstr>
      <vt:lpstr>Иерархические уровни в ТФОП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DTV_Lab</dc:creator>
  <cp:lastModifiedBy>Анастасия</cp:lastModifiedBy>
  <cp:revision>51</cp:revision>
  <dcterms:created xsi:type="dcterms:W3CDTF">2014-09-18T00:16:38Z</dcterms:created>
  <dcterms:modified xsi:type="dcterms:W3CDTF">2025-11-02T19:29:25Z</dcterms:modified>
</cp:coreProperties>
</file>