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6" r:id="rId30"/>
    <p:sldId id="287" r:id="rId31"/>
    <p:sldId id="288" r:id="rId32"/>
    <p:sldId id="290" r:id="rId33"/>
    <p:sldId id="291" r:id="rId34"/>
    <p:sldId id="292" r:id="rId35"/>
    <p:sldId id="289" r:id="rId36"/>
    <p:sldId id="310" r:id="rId37"/>
    <p:sldId id="311" r:id="rId38"/>
    <p:sldId id="312" r:id="rId39"/>
    <p:sldId id="313" r:id="rId40"/>
    <p:sldId id="293" r:id="rId41"/>
    <p:sldId id="294" r:id="rId42"/>
    <p:sldId id="295" r:id="rId43"/>
    <p:sldId id="297" r:id="rId44"/>
    <p:sldId id="298" r:id="rId45"/>
    <p:sldId id="299" r:id="rId46"/>
    <p:sldId id="300" r:id="rId47"/>
    <p:sldId id="301" r:id="rId48"/>
    <p:sldId id="302" r:id="rId49"/>
    <p:sldId id="303" r:id="rId50"/>
    <p:sldId id="304" r:id="rId51"/>
    <p:sldId id="305" r:id="rId52"/>
    <p:sldId id="306" r:id="rId53"/>
    <p:sldId id="307" r:id="rId54"/>
    <p:sldId id="309" r:id="rId55"/>
    <p:sldId id="308" r:id="rId56"/>
  </p:sldIdLst>
  <p:sldSz cx="9144000" cy="6858000" type="screen4x3"/>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07" d="100"/>
          <a:sy n="107" d="100"/>
        </p:scale>
        <p:origin x="1734" y="10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685800" y="2130425"/>
            <a:ext cx="7772400" cy="1470025"/>
          </a:xfrm>
        </p:spPr>
        <p:txBody>
          <a:bodyPr/>
          <a:lstStyle/>
          <a:p>
            <a:r>
              <a:rPr lang="ru-RU"/>
              <a:t>Образец заголовка</a:t>
            </a:r>
          </a:p>
        </p:txBody>
      </p:sp>
      <p:sp>
        <p:nvSpPr>
          <p:cNvPr id="3" name="Подзаголовок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a:t>Образец подзаголовка</a:t>
            </a:r>
          </a:p>
        </p:txBody>
      </p:sp>
      <p:sp>
        <p:nvSpPr>
          <p:cNvPr id="4" name="Дата 3"/>
          <p:cNvSpPr>
            <a:spLocks noGrp="1"/>
          </p:cNvSpPr>
          <p:nvPr>
            <p:ph type="dt" sz="half" idx="10"/>
          </p:nvPr>
        </p:nvSpPr>
        <p:spPr/>
        <p:txBody>
          <a:bodyPr/>
          <a:lstStyle/>
          <a:p>
            <a:fld id="{274A7208-7C41-4C40-871E-4556ACA84724}" type="datetimeFigureOut">
              <a:rPr lang="ru-RU" smtClean="0"/>
              <a:pPr/>
              <a:t>14.01.2026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46F07EC2-40EF-4EFE-968F-32B457325FE6}" type="slidenum">
              <a:rPr lang="ru-RU" smtClean="0"/>
              <a:pPr/>
              <a:t>‹#›</a:t>
            </a:fld>
            <a:endParaRPr lang="ru-R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Содержимое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274A7208-7C41-4C40-871E-4556ACA84724}" type="datetimeFigureOut">
              <a:rPr lang="ru-RU" smtClean="0"/>
              <a:pPr/>
              <a:t>14.01.2026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46F07EC2-40EF-4EFE-968F-32B457325FE6}" type="slidenum">
              <a:rPr lang="ru-RU" smtClean="0"/>
              <a:pPr/>
              <a:t>‹#›</a:t>
            </a:fld>
            <a:endParaRPr lang="ru-R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22313" y="4406900"/>
            <a:ext cx="7772400" cy="1362075"/>
          </a:xfrm>
        </p:spPr>
        <p:txBody>
          <a:bodyPr anchor="t"/>
          <a:lstStyle>
            <a:lvl1pPr algn="l">
              <a:defRPr sz="4000" b="1" cap="all"/>
            </a:lvl1pPr>
          </a:lstStyle>
          <a:p>
            <a:r>
              <a:rPr lang="ru-RU"/>
              <a:t>Образец заголовка</a:t>
            </a:r>
          </a:p>
        </p:txBody>
      </p:sp>
      <p:sp>
        <p:nvSpPr>
          <p:cNvPr id="3" name="Текст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a:t>Образец текста</a:t>
            </a:r>
          </a:p>
        </p:txBody>
      </p:sp>
      <p:sp>
        <p:nvSpPr>
          <p:cNvPr id="4" name="Дата 3"/>
          <p:cNvSpPr>
            <a:spLocks noGrp="1"/>
          </p:cNvSpPr>
          <p:nvPr>
            <p:ph type="dt" sz="half" idx="10"/>
          </p:nvPr>
        </p:nvSpPr>
        <p:spPr/>
        <p:txBody>
          <a:bodyPr/>
          <a:lstStyle/>
          <a:p>
            <a:fld id="{274A7208-7C41-4C40-871E-4556ACA84724}" type="datetimeFigureOut">
              <a:rPr lang="ru-RU" smtClean="0"/>
              <a:pPr/>
              <a:t>14.01.2026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46F07EC2-40EF-4EFE-968F-32B457325FE6}" type="slidenum">
              <a:rPr lang="ru-RU" smtClean="0"/>
              <a:pPr/>
              <a:t>‹#›</a:t>
            </a:fld>
            <a:endParaRPr lang="ru-RU"/>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Содержимое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Содержимое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4"/>
          <p:cNvSpPr>
            <a:spLocks noGrp="1"/>
          </p:cNvSpPr>
          <p:nvPr>
            <p:ph type="dt" sz="half" idx="10"/>
          </p:nvPr>
        </p:nvSpPr>
        <p:spPr/>
        <p:txBody>
          <a:bodyPr/>
          <a:lstStyle/>
          <a:p>
            <a:fld id="{274A7208-7C41-4C40-871E-4556ACA84724}" type="datetimeFigureOut">
              <a:rPr lang="ru-RU" smtClean="0"/>
              <a:pPr/>
              <a:t>14.01.2026</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46F07EC2-40EF-4EFE-968F-32B457325FE6}" type="slidenum">
              <a:rPr lang="ru-RU" smtClean="0"/>
              <a:pPr/>
              <a:t>‹#›</a:t>
            </a:fld>
            <a:endParaRPr lang="ru-RU"/>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lvl1pPr>
              <a:defRPr/>
            </a:lvl1pPr>
          </a:lstStyle>
          <a:p>
            <a:r>
              <a:rPr lang="ru-RU"/>
              <a:t>Образец заголовка</a:t>
            </a:r>
          </a:p>
        </p:txBody>
      </p:sp>
      <p:sp>
        <p:nvSpPr>
          <p:cNvPr id="3" name="Текст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Содержимое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Содержимое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p:cNvSpPr>
            <a:spLocks noGrp="1"/>
          </p:cNvSpPr>
          <p:nvPr>
            <p:ph type="dt" sz="half" idx="10"/>
          </p:nvPr>
        </p:nvSpPr>
        <p:spPr/>
        <p:txBody>
          <a:bodyPr/>
          <a:lstStyle/>
          <a:p>
            <a:fld id="{274A7208-7C41-4C40-871E-4556ACA84724}" type="datetimeFigureOut">
              <a:rPr lang="ru-RU" smtClean="0"/>
              <a:pPr/>
              <a:t>14.01.2026</a:t>
            </a:fld>
            <a:endParaRPr lang="ru-RU"/>
          </a:p>
        </p:txBody>
      </p:sp>
      <p:sp>
        <p:nvSpPr>
          <p:cNvPr id="8" name="Нижний колонтитул 7"/>
          <p:cNvSpPr>
            <a:spLocks noGrp="1"/>
          </p:cNvSpPr>
          <p:nvPr>
            <p:ph type="ftr" sz="quarter" idx="11"/>
          </p:nvPr>
        </p:nvSpPr>
        <p:spPr/>
        <p:txBody>
          <a:bodyPr/>
          <a:lstStyle/>
          <a:p>
            <a:endParaRPr lang="ru-RU"/>
          </a:p>
        </p:txBody>
      </p:sp>
      <p:sp>
        <p:nvSpPr>
          <p:cNvPr id="9" name="Номер слайда 8"/>
          <p:cNvSpPr>
            <a:spLocks noGrp="1"/>
          </p:cNvSpPr>
          <p:nvPr>
            <p:ph type="sldNum" sz="quarter" idx="12"/>
          </p:nvPr>
        </p:nvSpPr>
        <p:spPr/>
        <p:txBody>
          <a:bodyPr/>
          <a:lstStyle/>
          <a:p>
            <a:fld id="{46F07EC2-40EF-4EFE-968F-32B457325FE6}" type="slidenum">
              <a:rPr lang="ru-RU" smtClean="0"/>
              <a:pPr/>
              <a:t>‹#›</a:t>
            </a:fld>
            <a:endParaRPr lang="ru-R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Дата 2"/>
          <p:cNvSpPr>
            <a:spLocks noGrp="1"/>
          </p:cNvSpPr>
          <p:nvPr>
            <p:ph type="dt" sz="half" idx="10"/>
          </p:nvPr>
        </p:nvSpPr>
        <p:spPr/>
        <p:txBody>
          <a:bodyPr/>
          <a:lstStyle/>
          <a:p>
            <a:fld id="{274A7208-7C41-4C40-871E-4556ACA84724}" type="datetimeFigureOut">
              <a:rPr lang="ru-RU" smtClean="0"/>
              <a:pPr/>
              <a:t>14.01.2026</a:t>
            </a:fld>
            <a:endParaRPr lang="ru-RU"/>
          </a:p>
        </p:txBody>
      </p:sp>
      <p:sp>
        <p:nvSpPr>
          <p:cNvPr id="4" name="Нижний колонтитул 3"/>
          <p:cNvSpPr>
            <a:spLocks noGrp="1"/>
          </p:cNvSpPr>
          <p:nvPr>
            <p:ph type="ftr" sz="quarter" idx="11"/>
          </p:nvPr>
        </p:nvSpPr>
        <p:spPr/>
        <p:txBody>
          <a:bodyPr/>
          <a:lstStyle/>
          <a:p>
            <a:endParaRPr lang="ru-RU"/>
          </a:p>
        </p:txBody>
      </p:sp>
      <p:sp>
        <p:nvSpPr>
          <p:cNvPr id="5" name="Номер слайда 4"/>
          <p:cNvSpPr>
            <a:spLocks noGrp="1"/>
          </p:cNvSpPr>
          <p:nvPr>
            <p:ph type="sldNum" sz="quarter" idx="12"/>
          </p:nvPr>
        </p:nvSpPr>
        <p:spPr/>
        <p:txBody>
          <a:bodyPr/>
          <a:lstStyle/>
          <a:p>
            <a:fld id="{46F07EC2-40EF-4EFE-968F-32B457325FE6}" type="slidenum">
              <a:rPr lang="ru-RU" smtClean="0"/>
              <a:pPr/>
              <a:t>‹#›</a:t>
            </a:fld>
            <a:endParaRPr lang="ru-R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274A7208-7C41-4C40-871E-4556ACA84724}" type="datetimeFigureOut">
              <a:rPr lang="ru-RU" smtClean="0"/>
              <a:pPr/>
              <a:t>14.01.2026</a:t>
            </a:fld>
            <a:endParaRPr lang="ru-RU"/>
          </a:p>
        </p:txBody>
      </p:sp>
      <p:sp>
        <p:nvSpPr>
          <p:cNvPr id="3" name="Нижний колонтитул 2"/>
          <p:cNvSpPr>
            <a:spLocks noGrp="1"/>
          </p:cNvSpPr>
          <p:nvPr>
            <p:ph type="ftr" sz="quarter" idx="11"/>
          </p:nvPr>
        </p:nvSpPr>
        <p:spPr/>
        <p:txBody>
          <a:bodyPr/>
          <a:lstStyle/>
          <a:p>
            <a:endParaRPr lang="ru-RU"/>
          </a:p>
        </p:txBody>
      </p:sp>
      <p:sp>
        <p:nvSpPr>
          <p:cNvPr id="4" name="Номер слайда 3"/>
          <p:cNvSpPr>
            <a:spLocks noGrp="1"/>
          </p:cNvSpPr>
          <p:nvPr>
            <p:ph type="sldNum" sz="quarter" idx="12"/>
          </p:nvPr>
        </p:nvSpPr>
        <p:spPr/>
        <p:txBody>
          <a:bodyPr/>
          <a:lstStyle/>
          <a:p>
            <a:fld id="{46F07EC2-40EF-4EFE-968F-32B457325FE6}" type="slidenum">
              <a:rPr lang="ru-RU" smtClean="0"/>
              <a:pPr/>
              <a:t>‹#›</a:t>
            </a:fld>
            <a:endParaRPr lang="ru-R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3050"/>
            <a:ext cx="3008313" cy="1162050"/>
          </a:xfrm>
        </p:spPr>
        <p:txBody>
          <a:bodyPr anchor="b"/>
          <a:lstStyle>
            <a:lvl1pPr algn="l">
              <a:defRPr sz="2000" b="1"/>
            </a:lvl1pPr>
          </a:lstStyle>
          <a:p>
            <a:r>
              <a:rPr lang="ru-RU"/>
              <a:t>Образец заголовка</a:t>
            </a:r>
          </a:p>
        </p:txBody>
      </p:sp>
      <p:sp>
        <p:nvSpPr>
          <p:cNvPr id="3" name="Содержимое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Дата 4"/>
          <p:cNvSpPr>
            <a:spLocks noGrp="1"/>
          </p:cNvSpPr>
          <p:nvPr>
            <p:ph type="dt" sz="half" idx="10"/>
          </p:nvPr>
        </p:nvSpPr>
        <p:spPr/>
        <p:txBody>
          <a:bodyPr/>
          <a:lstStyle/>
          <a:p>
            <a:fld id="{274A7208-7C41-4C40-871E-4556ACA84724}" type="datetimeFigureOut">
              <a:rPr lang="ru-RU" smtClean="0"/>
              <a:pPr/>
              <a:t>14.01.2026</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46F07EC2-40EF-4EFE-968F-32B457325FE6}" type="slidenum">
              <a:rPr lang="ru-RU" smtClean="0"/>
              <a:pPr/>
              <a:t>‹#›</a:t>
            </a:fld>
            <a:endParaRPr lang="ru-RU"/>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792288" y="4800600"/>
            <a:ext cx="5486400" cy="566738"/>
          </a:xfrm>
        </p:spPr>
        <p:txBody>
          <a:bodyPr anchor="b"/>
          <a:lstStyle>
            <a:lvl1pPr algn="l">
              <a:defRPr sz="2000" b="1"/>
            </a:lvl1pPr>
          </a:lstStyle>
          <a:p>
            <a:r>
              <a:rPr lang="ru-RU"/>
              <a:t>Образец заголовка</a:t>
            </a:r>
          </a:p>
        </p:txBody>
      </p:sp>
      <p:sp>
        <p:nvSpPr>
          <p:cNvPr id="3" name="Рисунок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Дата 4"/>
          <p:cNvSpPr>
            <a:spLocks noGrp="1"/>
          </p:cNvSpPr>
          <p:nvPr>
            <p:ph type="dt" sz="half" idx="10"/>
          </p:nvPr>
        </p:nvSpPr>
        <p:spPr/>
        <p:txBody>
          <a:bodyPr/>
          <a:lstStyle/>
          <a:p>
            <a:fld id="{274A7208-7C41-4C40-871E-4556ACA84724}" type="datetimeFigureOut">
              <a:rPr lang="ru-RU" smtClean="0"/>
              <a:pPr/>
              <a:t>14.01.2026</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46F07EC2-40EF-4EFE-968F-32B457325FE6}" type="slidenum">
              <a:rPr lang="ru-RU" smtClean="0"/>
              <a:pPr/>
              <a:t>‹#›</a:t>
            </a:fld>
            <a:endParaRPr lang="ru-RU"/>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Вертикальный текст 2"/>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274A7208-7C41-4C40-871E-4556ACA84724}" type="datetimeFigureOut">
              <a:rPr lang="ru-RU" smtClean="0"/>
              <a:pPr/>
              <a:t>14.01.2026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46F07EC2-40EF-4EFE-968F-32B457325FE6}" type="slidenum">
              <a:rPr lang="ru-RU" smtClean="0"/>
              <a:pPr/>
              <a:t>‹#›</a:t>
            </a:fld>
            <a:endParaRPr lang="ru-R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6629400" y="274638"/>
            <a:ext cx="2057400" cy="5851525"/>
          </a:xfrm>
        </p:spPr>
        <p:txBody>
          <a:bodyPr vert="eaVert"/>
          <a:lstStyle/>
          <a:p>
            <a:r>
              <a:rPr lang="ru-RU"/>
              <a:t>Образец заголовка</a:t>
            </a:r>
          </a:p>
        </p:txBody>
      </p:sp>
      <p:sp>
        <p:nvSpPr>
          <p:cNvPr id="3" name="Вертикальный текст 2"/>
          <p:cNvSpPr>
            <a:spLocks noGrp="1"/>
          </p:cNvSpPr>
          <p:nvPr>
            <p:ph type="body" orient="vert" idx="1"/>
          </p:nvPr>
        </p:nvSpPr>
        <p:spPr>
          <a:xfrm>
            <a:off x="457200" y="274638"/>
            <a:ext cx="6019800" cy="5851525"/>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274A7208-7C41-4C40-871E-4556ACA84724}" type="datetimeFigureOut">
              <a:rPr lang="ru-RU" smtClean="0"/>
              <a:pPr/>
              <a:t>14.01.2026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46F07EC2-40EF-4EFE-968F-32B457325FE6}" type="slidenum">
              <a:rPr lang="ru-RU" smtClean="0"/>
              <a:pPr/>
              <a:t>‹#›</a:t>
            </a:fld>
            <a:endParaRPr lang="ru-RU"/>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cSld name="Объект">
    <p:spTree>
      <p:nvGrpSpPr>
        <p:cNvPr id="1" name=""/>
        <p:cNvGrpSpPr/>
        <p:nvPr/>
      </p:nvGrpSpPr>
      <p:grpSpPr>
        <a:xfrm>
          <a:off x="0" y="0"/>
          <a:ext cx="0" cy="0"/>
          <a:chOff x="0" y="0"/>
          <a:chExt cx="0" cy="0"/>
        </a:xfrm>
      </p:grpSpPr>
      <p:sp>
        <p:nvSpPr>
          <p:cNvPr id="2" name="Содержимое 1"/>
          <p:cNvSpPr>
            <a:spLocks noGrp="1"/>
          </p:cNvSpPr>
          <p:nvPr>
            <p:ph/>
          </p:nvPr>
        </p:nvSpPr>
        <p:spPr>
          <a:xfrm>
            <a:off x="457200" y="457200"/>
            <a:ext cx="8229600" cy="5410200"/>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3" name="Rectangle 2"/>
          <p:cNvSpPr>
            <a:spLocks noGrp="1" noChangeArrowheads="1"/>
          </p:cNvSpPr>
          <p:nvPr>
            <p:ph type="ftr" sz="quarter" idx="10"/>
          </p:nvPr>
        </p:nvSpPr>
        <p:spPr>
          <a:ln/>
        </p:spPr>
        <p:txBody>
          <a:bodyPr/>
          <a:lstStyle>
            <a:lvl1pPr>
              <a:defRPr/>
            </a:lvl1pPr>
          </a:lstStyle>
          <a:p>
            <a:pPr>
              <a:defRPr/>
            </a:pPr>
            <a:endParaRPr lang="ru-RU"/>
          </a:p>
        </p:txBody>
      </p:sp>
      <p:sp>
        <p:nvSpPr>
          <p:cNvPr id="4" name="Rectangle 3"/>
          <p:cNvSpPr>
            <a:spLocks noGrp="1" noChangeArrowheads="1"/>
          </p:cNvSpPr>
          <p:nvPr>
            <p:ph type="sldNum" sz="quarter" idx="11"/>
          </p:nvPr>
        </p:nvSpPr>
        <p:spPr>
          <a:ln/>
        </p:spPr>
        <p:txBody>
          <a:bodyPr/>
          <a:lstStyle>
            <a:lvl1pPr>
              <a:defRPr/>
            </a:lvl1pPr>
          </a:lstStyle>
          <a:p>
            <a:pPr>
              <a:defRPr/>
            </a:pPr>
            <a:fld id="{94197562-363F-4577-A438-24B0834FBC18}" type="slidenum">
              <a:rPr lang="ru-RU"/>
              <a:pPr>
                <a:defRPr/>
              </a:pPr>
              <a:t>‹#›</a:t>
            </a:fld>
            <a:endParaRPr lang="ru-RU"/>
          </a:p>
        </p:txBody>
      </p:sp>
      <p:sp>
        <p:nvSpPr>
          <p:cNvPr id="5" name="Rectangle 16"/>
          <p:cNvSpPr>
            <a:spLocks noGrp="1" noChangeArrowheads="1"/>
          </p:cNvSpPr>
          <p:nvPr>
            <p:ph type="dt" sz="half" idx="12"/>
          </p:nvPr>
        </p:nvSpPr>
        <p:spPr>
          <a:ln/>
        </p:spPr>
        <p:txBody>
          <a:bodyPr/>
          <a:lstStyle>
            <a:lvl1pPr>
              <a:defRPr/>
            </a:lvl1pPr>
          </a:lstStyle>
          <a:p>
            <a:pPr>
              <a:defRPr/>
            </a:pPr>
            <a:endParaRPr lang="ru-RU"/>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Заголовок, текст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1143000"/>
          </a:xfrm>
        </p:spPr>
        <p:txBody>
          <a:bodyPr/>
          <a:lstStyle/>
          <a:p>
            <a:r>
              <a:rPr lang="ru-RU"/>
              <a:t>Образец заголовка</a:t>
            </a:r>
          </a:p>
        </p:txBody>
      </p:sp>
      <p:sp>
        <p:nvSpPr>
          <p:cNvPr id="3" name="Текст 2"/>
          <p:cNvSpPr>
            <a:spLocks noGrp="1"/>
          </p:cNvSpPr>
          <p:nvPr>
            <p:ph type="body" sz="half" idx="1"/>
          </p:nvPr>
        </p:nvSpPr>
        <p:spPr>
          <a:xfrm>
            <a:off x="457200" y="1600200"/>
            <a:ext cx="4038600" cy="4530725"/>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Содержимое 3"/>
          <p:cNvSpPr>
            <a:spLocks noGrp="1"/>
          </p:cNvSpPr>
          <p:nvPr>
            <p:ph sz="half" idx="2"/>
          </p:nvPr>
        </p:nvSpPr>
        <p:spPr>
          <a:xfrm>
            <a:off x="4648200" y="1600200"/>
            <a:ext cx="4038600" cy="4530725"/>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3"/>
          <p:cNvSpPr>
            <a:spLocks noGrp="1"/>
          </p:cNvSpPr>
          <p:nvPr>
            <p:ph type="dt" sz="half" idx="10"/>
          </p:nvPr>
        </p:nvSpPr>
        <p:spPr/>
        <p:txBody>
          <a:bodyPr/>
          <a:lstStyle>
            <a:lvl1pPr>
              <a:defRPr/>
            </a:lvl1pPr>
          </a:lstStyle>
          <a:p>
            <a:pPr>
              <a:defRPr/>
            </a:pPr>
            <a:fld id="{01C1D010-0AA0-4412-9E8B-2C298D2A893C}" type="datetime1">
              <a:rPr lang="ru-RU"/>
              <a:pPr>
                <a:defRPr/>
              </a:pPr>
              <a:t>14.01.2026</a:t>
            </a:fld>
            <a:endParaRPr lang="ru-RU"/>
          </a:p>
        </p:txBody>
      </p:sp>
      <p:sp>
        <p:nvSpPr>
          <p:cNvPr id="6" name="Нижний колонтитул 4"/>
          <p:cNvSpPr>
            <a:spLocks noGrp="1"/>
          </p:cNvSpPr>
          <p:nvPr>
            <p:ph type="ftr" sz="quarter" idx="11"/>
          </p:nvPr>
        </p:nvSpPr>
        <p:spPr/>
        <p:txBody>
          <a:bodyPr/>
          <a:lstStyle>
            <a:lvl1pPr>
              <a:defRPr/>
            </a:lvl1pPr>
          </a:lstStyle>
          <a:p>
            <a:pPr>
              <a:defRPr/>
            </a:pPr>
            <a:r>
              <a:rPr lang="ru-RU"/>
              <a:t>Сабина Турсунова</a:t>
            </a:r>
          </a:p>
        </p:txBody>
      </p:sp>
      <p:sp>
        <p:nvSpPr>
          <p:cNvPr id="7" name="Номер слайда 5"/>
          <p:cNvSpPr>
            <a:spLocks noGrp="1"/>
          </p:cNvSpPr>
          <p:nvPr>
            <p:ph type="sldNum" sz="quarter" idx="12"/>
          </p:nvPr>
        </p:nvSpPr>
        <p:spPr/>
        <p:txBody>
          <a:bodyPr/>
          <a:lstStyle>
            <a:lvl1pPr>
              <a:defRPr/>
            </a:lvl1pPr>
          </a:lstStyle>
          <a:p>
            <a:pPr>
              <a:defRPr/>
            </a:pPr>
            <a:fld id="{13FBBAD5-57F6-4764-AEF7-D79F68C31C22}" type="slidenum">
              <a:rPr lang="ru-RU"/>
              <a:pPr>
                <a:defRPr/>
              </a:pPr>
              <a:t>‹#›</a:t>
            </a:fld>
            <a:endParaRPr lang="ru-RU"/>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ru-RU"/>
              <a:t>Образец заголовка</a:t>
            </a:r>
          </a:p>
        </p:txBody>
      </p:sp>
      <p:sp>
        <p:nvSpPr>
          <p:cNvPr id="3" name="Текст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74A7208-7C41-4C40-871E-4556ACA84724}" type="datetimeFigureOut">
              <a:rPr lang="ru-RU" smtClean="0"/>
              <a:pPr/>
              <a:t>14.01.2026</a:t>
            </a:fld>
            <a:endParaRPr lang="ru-RU"/>
          </a:p>
        </p:txBody>
      </p:sp>
      <p:sp>
        <p:nvSpPr>
          <p:cNvPr id="5" name="Нижний колонтитул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6F07EC2-40EF-4EFE-968F-32B457325FE6}" type="slidenum">
              <a:rPr lang="ru-RU" smtClean="0"/>
              <a:pPr/>
              <a:t>‹#›</a:t>
            </a:fld>
            <a:endParaRPr lang="ru-RU"/>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oleObject" Target="../embeddings/oleObject1.bin"/><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oleObject" Target="../embeddings/oleObject2.bin"/><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oleObject" Target="../embeddings/oleObject3.bin"/><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gi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gi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gi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1.emf"/><Relationship Id="rId7" Type="http://schemas.openxmlformats.org/officeDocument/2006/relationships/image" Target="../media/image13.emf"/><Relationship Id="rId2" Type="http://schemas.openxmlformats.org/officeDocument/2006/relationships/oleObject" Target="../embeddings/oleObject4.bin"/><Relationship Id="rId1" Type="http://schemas.openxmlformats.org/officeDocument/2006/relationships/slideLayout" Target="../slideLayouts/slideLayout2.xml"/><Relationship Id="rId6" Type="http://schemas.openxmlformats.org/officeDocument/2006/relationships/oleObject" Target="../embeddings/oleObject6.bin"/><Relationship Id="rId5" Type="http://schemas.openxmlformats.org/officeDocument/2006/relationships/image" Target="../media/image12.emf"/><Relationship Id="rId4" Type="http://schemas.openxmlformats.org/officeDocument/2006/relationships/oleObject" Target="../embeddings/oleObject5.bin"/></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oleObject" Target="../embeddings/oleObject7.bin"/><Relationship Id="rId1" Type="http://schemas.openxmlformats.org/officeDocument/2006/relationships/slideLayout" Target="../slideLayouts/slideLayout2.xml"/><Relationship Id="rId5" Type="http://schemas.openxmlformats.org/officeDocument/2006/relationships/image" Target="../media/image15.emf"/><Relationship Id="rId4" Type="http://schemas.openxmlformats.org/officeDocument/2006/relationships/oleObject" Target="../embeddings/oleObject8.bin"/></Relationships>
</file>

<file path=ppt/slides/_rels/slide2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oleObject" Target="../embeddings/oleObject9.bin"/><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8.gi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6.xml"/><Relationship Id="rId4" Type="http://schemas.openxmlformats.org/officeDocument/2006/relationships/image" Target="../media/image25.png"/></Relationships>
</file>

<file path=ppt/slides/_rels/slide3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1.gif"/><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395536" y="1700808"/>
            <a:ext cx="8208912" cy="1692771"/>
          </a:xfrm>
          <a:prstGeom prst="rect">
            <a:avLst/>
          </a:prstGeom>
        </p:spPr>
        <p:txBody>
          <a:bodyPr wrap="square">
            <a:spAutoFit/>
          </a:bodyPr>
          <a:lstStyle/>
          <a:p>
            <a:pPr algn="ctr"/>
            <a:r>
              <a:rPr lang="ru-RU" sz="3200" b="1" dirty="0">
                <a:solidFill>
                  <a:schemeClr val="tx2"/>
                </a:solidFill>
              </a:rPr>
              <a:t>Лекции 6.1</a:t>
            </a:r>
          </a:p>
          <a:p>
            <a:pPr algn="ctr"/>
            <a:br>
              <a:rPr lang="ru-RU" sz="3200" b="1" dirty="0">
                <a:solidFill>
                  <a:schemeClr val="tx2"/>
                </a:solidFill>
              </a:rPr>
            </a:br>
            <a:r>
              <a:rPr lang="ru-RU" sz="4000" b="1" dirty="0">
                <a:solidFill>
                  <a:schemeClr val="tx2"/>
                </a:solidFill>
              </a:rPr>
              <a:t>Этапы развития сетей и услуг связи</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b="1" dirty="0">
                <a:solidFill>
                  <a:srgbClr val="002060"/>
                </a:solidFill>
                <a:effectLst>
                  <a:outerShdw blurRad="38100" dist="38100" dir="2700000" algn="tl">
                    <a:srgbClr val="000000">
                      <a:alpha val="43137"/>
                    </a:srgbClr>
                  </a:outerShdw>
                </a:effectLst>
              </a:rPr>
              <a:t>4 этапа развития сетей и услуг связи (КК)</a:t>
            </a:r>
            <a:endParaRPr lang="ru-RU" dirty="0">
              <a:solidFill>
                <a:srgbClr val="002060"/>
              </a:solidFill>
            </a:endParaRPr>
          </a:p>
        </p:txBody>
      </p:sp>
      <p:pic>
        <p:nvPicPr>
          <p:cNvPr id="4" name="Picture 3"/>
          <p:cNvPicPr>
            <a:picLocks noGrp="1" noChangeAspect="1" noChangeArrowheads="1"/>
          </p:cNvPicPr>
          <p:nvPr>
            <p:ph idx="1"/>
          </p:nvPr>
        </p:nvPicPr>
        <p:blipFill>
          <a:blip r:embed="rId2" cstate="print"/>
          <a:srcRect/>
          <a:stretch>
            <a:fillRect/>
          </a:stretch>
        </p:blipFill>
        <p:spPr bwMode="auto">
          <a:xfrm>
            <a:off x="683568" y="1916832"/>
            <a:ext cx="8208912" cy="4320480"/>
          </a:xfrm>
          <a:prstGeom prst="rect">
            <a:avLst/>
          </a:prstGeom>
          <a:noFill/>
          <a:ln w="9525">
            <a:noFill/>
            <a:miter lim="800000"/>
            <a:headEnd/>
            <a:tailEnd/>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0" y="274638"/>
            <a:ext cx="9144000" cy="634082"/>
          </a:xfrm>
        </p:spPr>
        <p:txBody>
          <a:bodyPr>
            <a:noAutofit/>
          </a:bodyPr>
          <a:lstStyle/>
          <a:p>
            <a:r>
              <a:rPr lang="ru-RU" sz="3600" b="1" dirty="0">
                <a:solidFill>
                  <a:srgbClr val="002060"/>
                </a:solidFill>
              </a:rPr>
              <a:t>5 этап- </a:t>
            </a:r>
            <a:r>
              <a:rPr lang="ru-RU" sz="3600" b="1" dirty="0" err="1">
                <a:solidFill>
                  <a:srgbClr val="002060"/>
                </a:solidFill>
              </a:rPr>
              <a:t>Инфокоммуникационные</a:t>
            </a:r>
            <a:r>
              <a:rPr lang="ru-RU" sz="3600" b="1" dirty="0">
                <a:solidFill>
                  <a:srgbClr val="002060"/>
                </a:solidFill>
              </a:rPr>
              <a:t> сети (КП)</a:t>
            </a:r>
          </a:p>
        </p:txBody>
      </p:sp>
      <p:pic>
        <p:nvPicPr>
          <p:cNvPr id="4" name="Содержимое 2"/>
          <p:cNvPicPr>
            <a:picLocks noGrp="1"/>
          </p:cNvPicPr>
          <p:nvPr>
            <p:ph idx="1"/>
          </p:nvPr>
        </p:nvPicPr>
        <p:blipFill>
          <a:blip r:embed="rId2" cstate="print"/>
          <a:srcRect l="-877" t="11494"/>
          <a:stretch>
            <a:fillRect/>
          </a:stretch>
        </p:blipFill>
        <p:spPr bwMode="auto">
          <a:xfrm>
            <a:off x="395536" y="1052736"/>
            <a:ext cx="8280920" cy="5400600"/>
          </a:xfrm>
          <a:prstGeom prst="rect">
            <a:avLst/>
          </a:prstGeom>
          <a:noFill/>
          <a:ln w="9525">
            <a:noFill/>
            <a:miter lim="800000"/>
            <a:headEnd/>
            <a:tailEnd/>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634082"/>
          </a:xfrm>
        </p:spPr>
        <p:txBody>
          <a:bodyPr>
            <a:noAutofit/>
          </a:bodyPr>
          <a:lstStyle/>
          <a:p>
            <a:r>
              <a:rPr lang="ru-RU" sz="3600" b="1" dirty="0">
                <a:solidFill>
                  <a:srgbClr val="002060"/>
                </a:solidFill>
              </a:rPr>
              <a:t>4 этапа развития сетей и услуг связи</a:t>
            </a:r>
            <a:endParaRPr lang="ru-RU" sz="3600" dirty="0">
              <a:solidFill>
                <a:srgbClr val="002060"/>
              </a:solidFill>
            </a:endParaRPr>
          </a:p>
        </p:txBody>
      </p:sp>
      <p:sp>
        <p:nvSpPr>
          <p:cNvPr id="3" name="Содержимое 2"/>
          <p:cNvSpPr>
            <a:spLocks noGrp="1"/>
          </p:cNvSpPr>
          <p:nvPr>
            <p:ph idx="1"/>
          </p:nvPr>
        </p:nvSpPr>
        <p:spPr>
          <a:xfrm>
            <a:off x="0" y="908720"/>
            <a:ext cx="9144000" cy="5688632"/>
          </a:xfrm>
        </p:spPr>
        <p:txBody>
          <a:bodyPr>
            <a:normAutofit/>
          </a:bodyPr>
          <a:lstStyle/>
          <a:p>
            <a:pPr>
              <a:spcBef>
                <a:spcPts val="600"/>
              </a:spcBef>
              <a:spcAft>
                <a:spcPts val="600"/>
              </a:spcAft>
            </a:pPr>
            <a:r>
              <a:rPr lang="ru-RU" b="1" u="sng" dirty="0"/>
              <a:t>Первый этап</a:t>
            </a:r>
            <a:r>
              <a:rPr lang="ru-RU" i="1" dirty="0"/>
              <a:t> –</a:t>
            </a:r>
          </a:p>
          <a:p>
            <a:pPr>
              <a:spcBef>
                <a:spcPts val="600"/>
              </a:spcBef>
              <a:spcAft>
                <a:spcPts val="600"/>
              </a:spcAft>
              <a:buNone/>
            </a:pPr>
            <a:r>
              <a:rPr lang="ru-RU" i="1" dirty="0"/>
              <a:t>      </a:t>
            </a:r>
            <a:r>
              <a:rPr lang="ru-RU" b="1" i="1" dirty="0"/>
              <a:t>построение аналоговой телефонной сети общего пользования</a:t>
            </a:r>
            <a:r>
              <a:rPr lang="ru-RU" b="1" dirty="0"/>
              <a:t> ТфОП</a:t>
            </a:r>
          </a:p>
          <a:p>
            <a:pPr>
              <a:spcBef>
                <a:spcPts val="600"/>
              </a:spcBef>
              <a:spcAft>
                <a:spcPts val="600"/>
              </a:spcAft>
              <a:buNone/>
            </a:pPr>
            <a:r>
              <a:rPr lang="ru-RU" b="1" dirty="0"/>
              <a:t>    </a:t>
            </a:r>
            <a:r>
              <a:rPr lang="ru-RU" dirty="0"/>
              <a:t>( англ.</a:t>
            </a:r>
            <a:r>
              <a:rPr lang="en-US" b="1" dirty="0"/>
              <a:t>PSTN</a:t>
            </a:r>
            <a:r>
              <a:rPr lang="en-US" dirty="0"/>
              <a:t> </a:t>
            </a:r>
            <a:r>
              <a:rPr lang="ru-RU" dirty="0"/>
              <a:t>-</a:t>
            </a:r>
            <a:r>
              <a:rPr lang="en-US" i="1" dirty="0"/>
              <a:t>Public Switched Telephone Network</a:t>
            </a:r>
            <a:r>
              <a:rPr lang="ru-RU" i="1" dirty="0"/>
              <a:t>).</a:t>
            </a:r>
            <a:endParaRPr lang="ru-RU" dirty="0"/>
          </a:p>
          <a:p>
            <a:pPr>
              <a:spcBef>
                <a:spcPts val="600"/>
              </a:spcBef>
              <a:spcAft>
                <a:spcPts val="600"/>
              </a:spcAft>
            </a:pPr>
            <a:r>
              <a:rPr lang="ru-RU" b="1" u="sng" dirty="0"/>
              <a:t>Второй этап</a:t>
            </a:r>
            <a:r>
              <a:rPr lang="ru-RU" dirty="0"/>
              <a:t> –</a:t>
            </a:r>
          </a:p>
          <a:p>
            <a:pPr>
              <a:spcBef>
                <a:spcPts val="600"/>
              </a:spcBef>
              <a:spcAft>
                <a:spcPts val="600"/>
              </a:spcAft>
              <a:buNone/>
            </a:pPr>
            <a:r>
              <a:rPr lang="ru-RU" dirty="0"/>
              <a:t>   </a:t>
            </a:r>
            <a:r>
              <a:rPr lang="ru-RU" b="1" i="1" dirty="0"/>
              <a:t>интегральные цифровые сети</a:t>
            </a:r>
          </a:p>
          <a:p>
            <a:pPr>
              <a:spcBef>
                <a:spcPts val="600"/>
              </a:spcBef>
              <a:spcAft>
                <a:spcPts val="600"/>
              </a:spcAft>
              <a:buNone/>
            </a:pPr>
            <a:r>
              <a:rPr lang="ru-RU" b="1" i="1" dirty="0"/>
              <a:t>  </a:t>
            </a:r>
            <a:r>
              <a:rPr lang="ru-RU" dirty="0"/>
              <a:t>(англ</a:t>
            </a:r>
            <a:r>
              <a:rPr lang="ru-RU" b="1" i="1" dirty="0"/>
              <a:t>. IDN - </a:t>
            </a:r>
            <a:r>
              <a:rPr lang="ru-RU" i="1" dirty="0" err="1"/>
              <a:t>Integrated</a:t>
            </a:r>
            <a:r>
              <a:rPr lang="ru-RU" i="1" dirty="0"/>
              <a:t> </a:t>
            </a:r>
            <a:r>
              <a:rPr lang="en-GB" i="1" dirty="0"/>
              <a:t>Digital Network)</a:t>
            </a:r>
            <a:endParaRPr lang="ru-RU" i="1" dirty="0"/>
          </a:p>
          <a:p>
            <a:pPr>
              <a:spcBef>
                <a:spcPts val="600"/>
              </a:spcBef>
              <a:spcAft>
                <a:spcPts val="600"/>
              </a:spcAft>
              <a:buNone/>
            </a:pPr>
            <a:r>
              <a:rPr lang="ru-RU" i="1" dirty="0"/>
              <a:t>       </a:t>
            </a:r>
            <a:r>
              <a:rPr lang="ru-RU" dirty="0"/>
              <a:t>Услуги телефонной связи на базе цифровых систем коммутации и передачи данных.</a:t>
            </a:r>
          </a:p>
          <a:p>
            <a:endParaRPr lang="ru-RU"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0" y="274638"/>
            <a:ext cx="8892480" cy="634082"/>
          </a:xfrm>
        </p:spPr>
        <p:txBody>
          <a:bodyPr>
            <a:noAutofit/>
          </a:bodyPr>
          <a:lstStyle/>
          <a:p>
            <a:r>
              <a:rPr lang="ru-RU" sz="3600" b="1" dirty="0">
                <a:solidFill>
                  <a:srgbClr val="002060"/>
                </a:solidFill>
              </a:rPr>
              <a:t>4 этапа развития сетей и услуг связи</a:t>
            </a:r>
            <a:endParaRPr lang="ru-RU" sz="3600" dirty="0"/>
          </a:p>
        </p:txBody>
      </p:sp>
      <p:sp>
        <p:nvSpPr>
          <p:cNvPr id="3" name="Содержимое 2"/>
          <p:cNvSpPr>
            <a:spLocks noGrp="1"/>
          </p:cNvSpPr>
          <p:nvPr>
            <p:ph idx="1"/>
          </p:nvPr>
        </p:nvSpPr>
        <p:spPr>
          <a:xfrm>
            <a:off x="251520" y="1052736"/>
            <a:ext cx="8892480" cy="5544616"/>
          </a:xfrm>
        </p:spPr>
        <p:txBody>
          <a:bodyPr>
            <a:noAutofit/>
          </a:bodyPr>
          <a:lstStyle/>
          <a:p>
            <a:pPr>
              <a:spcBef>
                <a:spcPts val="600"/>
              </a:spcBef>
              <a:spcAft>
                <a:spcPts val="600"/>
              </a:spcAft>
            </a:pPr>
            <a:r>
              <a:rPr lang="ru-RU" sz="2400" b="1" u="sng" dirty="0"/>
              <a:t>Третий этап </a:t>
            </a:r>
            <a:r>
              <a:rPr lang="ru-RU" sz="2400" dirty="0"/>
              <a:t>- </a:t>
            </a:r>
            <a:r>
              <a:rPr lang="ru-RU" sz="2400" b="1" dirty="0"/>
              <a:t>цифровые сети с интеграцией </a:t>
            </a:r>
            <a:r>
              <a:rPr lang="en-US" sz="2400" b="1" dirty="0" err="1"/>
              <a:t>служб</a:t>
            </a:r>
            <a:r>
              <a:rPr lang="ru-RU" sz="2400" b="1" dirty="0"/>
              <a:t> ЦСИС</a:t>
            </a:r>
          </a:p>
          <a:p>
            <a:pPr>
              <a:spcBef>
                <a:spcPts val="600"/>
              </a:spcBef>
              <a:spcAft>
                <a:spcPts val="600"/>
              </a:spcAft>
              <a:buNone/>
            </a:pPr>
            <a:r>
              <a:rPr lang="ru-RU" sz="2400" b="1" dirty="0"/>
              <a:t>              (</a:t>
            </a:r>
            <a:r>
              <a:rPr lang="en-US" sz="2400" b="1" dirty="0"/>
              <a:t> </a:t>
            </a:r>
            <a:r>
              <a:rPr lang="ru-RU" sz="2400" b="1" dirty="0"/>
              <a:t>англ. </a:t>
            </a:r>
            <a:r>
              <a:rPr lang="en-US" sz="2400" b="1" dirty="0"/>
              <a:t>ISDN</a:t>
            </a:r>
            <a:r>
              <a:rPr lang="ru-RU" sz="2400" b="1" dirty="0"/>
              <a:t>-</a:t>
            </a:r>
            <a:r>
              <a:rPr lang="en-US" sz="2400" b="1" dirty="0"/>
              <a:t> </a:t>
            </a:r>
            <a:r>
              <a:rPr lang="en-US" sz="2400" i="1" dirty="0"/>
              <a:t>Integrated Service Digital Network).</a:t>
            </a:r>
            <a:r>
              <a:rPr lang="ru-RU" sz="2400" i="1" dirty="0"/>
              <a:t> </a:t>
            </a:r>
          </a:p>
          <a:p>
            <a:pPr>
              <a:spcBef>
                <a:spcPts val="600"/>
              </a:spcBef>
              <a:spcAft>
                <a:spcPts val="600"/>
              </a:spcAft>
              <a:buNone/>
            </a:pPr>
            <a:r>
              <a:rPr lang="ru-RU" sz="2400" i="1" dirty="0"/>
              <a:t>     </a:t>
            </a:r>
            <a:r>
              <a:rPr lang="ru-RU" sz="2400" b="1" dirty="0"/>
              <a:t>Пользователю этой сети предоставляется базовый доступ (2B + D),</a:t>
            </a:r>
          </a:p>
          <a:p>
            <a:pPr>
              <a:spcBef>
                <a:spcPts val="600"/>
              </a:spcBef>
              <a:spcAft>
                <a:spcPts val="600"/>
              </a:spcAft>
              <a:buNone/>
            </a:pPr>
            <a:r>
              <a:rPr lang="ru-RU" sz="2400" b="1" dirty="0"/>
              <a:t> </a:t>
            </a:r>
            <a:r>
              <a:rPr lang="ru-RU" sz="2400" dirty="0"/>
              <a:t>по которому </a:t>
            </a:r>
            <a:r>
              <a:rPr lang="ru-RU" sz="2400" b="1" dirty="0"/>
              <a:t>информация</a:t>
            </a:r>
            <a:r>
              <a:rPr lang="ru-RU" sz="2400" dirty="0"/>
              <a:t> </a:t>
            </a:r>
            <a:r>
              <a:rPr lang="ru-RU" sz="2400" b="1" dirty="0"/>
              <a:t>передается по трем цифровым каналам</a:t>
            </a:r>
            <a:r>
              <a:rPr lang="ru-RU" sz="2400" dirty="0"/>
              <a:t>: </a:t>
            </a:r>
          </a:p>
          <a:p>
            <a:pPr>
              <a:spcBef>
                <a:spcPts val="600"/>
              </a:spcBef>
              <a:spcAft>
                <a:spcPts val="600"/>
              </a:spcAft>
              <a:buNone/>
            </a:pPr>
            <a:r>
              <a:rPr lang="ru-RU" sz="2400" dirty="0"/>
              <a:t>                  - </a:t>
            </a:r>
            <a:r>
              <a:rPr lang="ru-RU" sz="2400" b="1" dirty="0"/>
              <a:t>два канала В со скоростью передачи 64 кбит/с и</a:t>
            </a:r>
          </a:p>
          <a:p>
            <a:pPr>
              <a:spcBef>
                <a:spcPts val="600"/>
              </a:spcBef>
              <a:spcAft>
                <a:spcPts val="600"/>
              </a:spcAft>
              <a:buNone/>
            </a:pPr>
            <a:r>
              <a:rPr lang="ru-RU" sz="2400" b="1" dirty="0"/>
              <a:t>                 -  канал D со скоростью 16 кбит/с.</a:t>
            </a:r>
          </a:p>
          <a:p>
            <a:pPr>
              <a:spcBef>
                <a:spcPts val="600"/>
              </a:spcBef>
              <a:spcAft>
                <a:spcPts val="600"/>
              </a:spcAft>
              <a:buNone/>
            </a:pPr>
            <a:r>
              <a:rPr lang="ru-RU" sz="2400" dirty="0"/>
              <a:t>        </a:t>
            </a:r>
            <a:r>
              <a:rPr lang="ru-RU" sz="2400" u="sng" dirty="0"/>
              <a:t>Каналы В используются для передачи речевых сообщений и данных</a:t>
            </a:r>
            <a:r>
              <a:rPr lang="ru-RU" sz="2400" dirty="0"/>
              <a:t>,</a:t>
            </a:r>
          </a:p>
          <a:p>
            <a:pPr>
              <a:spcBef>
                <a:spcPts val="600"/>
              </a:spcBef>
              <a:spcAft>
                <a:spcPts val="600"/>
              </a:spcAft>
              <a:buNone/>
            </a:pPr>
            <a:r>
              <a:rPr lang="ru-RU" sz="2400" dirty="0"/>
              <a:t>        </a:t>
            </a:r>
            <a:r>
              <a:rPr lang="ru-RU" sz="2400" u="sng" dirty="0"/>
              <a:t>Канал D – для сигнализации и для передачи данных в режиме пакетной коммутации (КП).</a:t>
            </a:r>
          </a:p>
          <a:p>
            <a:endParaRPr lang="ru-RU"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79512" y="274638"/>
            <a:ext cx="8712968" cy="634082"/>
          </a:xfrm>
        </p:spPr>
        <p:txBody>
          <a:bodyPr>
            <a:normAutofit fontScale="90000"/>
          </a:bodyPr>
          <a:lstStyle/>
          <a:p>
            <a:r>
              <a:rPr lang="ru-RU" sz="4000" b="1" dirty="0">
                <a:solidFill>
                  <a:srgbClr val="002060"/>
                </a:solidFill>
              </a:rPr>
              <a:t>4 этапа развития сетей и услуг свя</a:t>
            </a:r>
            <a:r>
              <a:rPr lang="ru-RU" b="1" dirty="0">
                <a:solidFill>
                  <a:srgbClr val="002060"/>
                </a:solidFill>
              </a:rPr>
              <a:t>зи</a:t>
            </a:r>
            <a:endParaRPr lang="ru-RU" dirty="0">
              <a:solidFill>
                <a:srgbClr val="002060"/>
              </a:solidFill>
            </a:endParaRPr>
          </a:p>
        </p:txBody>
      </p:sp>
      <p:sp>
        <p:nvSpPr>
          <p:cNvPr id="3" name="Содержимое 2"/>
          <p:cNvSpPr>
            <a:spLocks noGrp="1"/>
          </p:cNvSpPr>
          <p:nvPr>
            <p:ph idx="1"/>
          </p:nvPr>
        </p:nvSpPr>
        <p:spPr>
          <a:xfrm>
            <a:off x="0" y="908720"/>
            <a:ext cx="9144000" cy="5688632"/>
          </a:xfrm>
        </p:spPr>
        <p:txBody>
          <a:bodyPr>
            <a:normAutofit/>
          </a:bodyPr>
          <a:lstStyle/>
          <a:p>
            <a:pPr>
              <a:spcBef>
                <a:spcPts val="600"/>
              </a:spcBef>
              <a:spcAft>
                <a:spcPts val="600"/>
              </a:spcAft>
              <a:buNone/>
            </a:pPr>
            <a:r>
              <a:rPr lang="ru-RU" u="sng" dirty="0"/>
              <a:t>     </a:t>
            </a:r>
            <a:r>
              <a:rPr lang="ru-RU" b="1" u="sng" dirty="0"/>
              <a:t>Четвертый этап </a:t>
            </a:r>
            <a:r>
              <a:rPr lang="ru-RU" dirty="0"/>
              <a:t>– </a:t>
            </a:r>
            <a:r>
              <a:rPr lang="ru-RU" b="1" dirty="0"/>
              <a:t>интеллектуальная сеть ИС </a:t>
            </a:r>
          </a:p>
          <a:p>
            <a:pPr>
              <a:spcBef>
                <a:spcPts val="600"/>
              </a:spcBef>
              <a:spcAft>
                <a:spcPts val="600"/>
              </a:spcAft>
              <a:buNone/>
            </a:pPr>
            <a:r>
              <a:rPr lang="ru-RU" b="1" dirty="0"/>
              <a:t>       ( англ. IN </a:t>
            </a:r>
            <a:r>
              <a:rPr lang="ru-RU" dirty="0"/>
              <a:t>- </a:t>
            </a:r>
            <a:r>
              <a:rPr lang="ru-RU" dirty="0" err="1"/>
              <a:t>Intelligent</a:t>
            </a:r>
            <a:r>
              <a:rPr lang="ru-RU" dirty="0"/>
              <a:t> </a:t>
            </a:r>
            <a:r>
              <a:rPr lang="ru-RU" dirty="0" err="1"/>
              <a:t>Netw</a:t>
            </a:r>
            <a:r>
              <a:rPr lang="ru-RU" i="1" dirty="0" err="1"/>
              <a:t>ork</a:t>
            </a:r>
            <a:r>
              <a:rPr lang="ru-RU" i="1" dirty="0"/>
              <a:t>). </a:t>
            </a:r>
          </a:p>
          <a:p>
            <a:pPr>
              <a:spcBef>
                <a:spcPts val="600"/>
              </a:spcBef>
              <a:spcAft>
                <a:spcPts val="600"/>
              </a:spcAft>
              <a:buNone/>
            </a:pPr>
            <a:r>
              <a:rPr lang="ru-RU" i="1" dirty="0"/>
              <a:t>    </a:t>
            </a:r>
            <a:r>
              <a:rPr lang="ru-RU" dirty="0"/>
              <a:t>Принципиальное отличие интеллектуальной сети от предшествующих сетей – гибкость и экономичность предоставления услуг.</a:t>
            </a:r>
          </a:p>
          <a:p>
            <a:pPr>
              <a:spcBef>
                <a:spcPts val="600"/>
              </a:spcBef>
              <a:spcAft>
                <a:spcPts val="600"/>
              </a:spcAft>
              <a:buNone/>
            </a:pPr>
            <a:r>
              <a:rPr lang="ru-RU" dirty="0"/>
              <a:t>       </a:t>
            </a:r>
            <a:r>
              <a:rPr lang="ru-RU" u="sng" dirty="0"/>
              <a:t>Необходимая услуга предоставляется пользователю тогда, когда она ему требуется и в тот момент времени, когда она ему нужна.</a:t>
            </a:r>
          </a:p>
          <a:p>
            <a:endParaRPr lang="ru-RU"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b="1" dirty="0">
                <a:solidFill>
                  <a:srgbClr val="002060"/>
                </a:solidFill>
              </a:rPr>
              <a:t>4 этапа развития сетей и услуг связи</a:t>
            </a:r>
            <a:endParaRPr lang="ru-RU" dirty="0"/>
          </a:p>
        </p:txBody>
      </p:sp>
      <p:sp>
        <p:nvSpPr>
          <p:cNvPr id="3" name="Содержимое 2"/>
          <p:cNvSpPr>
            <a:spLocks noGrp="1"/>
          </p:cNvSpPr>
          <p:nvPr>
            <p:ph idx="1"/>
          </p:nvPr>
        </p:nvSpPr>
        <p:spPr>
          <a:xfrm>
            <a:off x="457200" y="1600200"/>
            <a:ext cx="8363272" cy="4525963"/>
          </a:xfrm>
        </p:spPr>
        <p:txBody>
          <a:bodyPr>
            <a:normAutofit/>
          </a:bodyPr>
          <a:lstStyle/>
          <a:p>
            <a:r>
              <a:rPr lang="ru-RU" sz="2800" dirty="0"/>
              <a:t>Пятый  этап – сеть следующего поколения </a:t>
            </a:r>
            <a:r>
              <a:rPr lang="en-US" sz="2800" dirty="0"/>
              <a:t>NGN</a:t>
            </a:r>
            <a:r>
              <a:rPr lang="ru-RU" sz="2800" dirty="0"/>
              <a:t>:</a:t>
            </a:r>
          </a:p>
          <a:p>
            <a:pPr>
              <a:buNone/>
            </a:pPr>
            <a:r>
              <a:rPr lang="ru-RU" sz="2800" dirty="0"/>
              <a:t>        - концепция </a:t>
            </a:r>
            <a:r>
              <a:rPr lang="en-US" sz="2800" dirty="0"/>
              <a:t>SOFTSWICH</a:t>
            </a:r>
          </a:p>
          <a:p>
            <a:pPr>
              <a:buNone/>
            </a:pPr>
            <a:r>
              <a:rPr lang="en-US" sz="2800" dirty="0"/>
              <a:t>        - </a:t>
            </a:r>
            <a:r>
              <a:rPr lang="ru-RU" sz="2800" dirty="0"/>
              <a:t>концепция </a:t>
            </a:r>
            <a:r>
              <a:rPr lang="en-US" sz="2800" dirty="0"/>
              <a:t>IMS</a:t>
            </a:r>
            <a:r>
              <a:rPr lang="ru-RU" sz="2800" dirty="0"/>
              <a:t>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692696"/>
            <a:ext cx="8686800" cy="3024336"/>
          </a:xfrm>
        </p:spPr>
        <p:txBody>
          <a:bodyPr>
            <a:normAutofit/>
          </a:bodyPr>
          <a:lstStyle/>
          <a:p>
            <a:r>
              <a:rPr lang="ru-RU" b="1" dirty="0">
                <a:solidFill>
                  <a:srgbClr val="002060"/>
                </a:solidFill>
              </a:rPr>
              <a:t>Образование ОЦК.</a:t>
            </a:r>
            <a:br>
              <a:rPr lang="ru-RU" b="1" dirty="0">
                <a:solidFill>
                  <a:srgbClr val="002060"/>
                </a:solidFill>
              </a:rPr>
            </a:br>
            <a:r>
              <a:rPr lang="ru-RU" b="1" dirty="0">
                <a:solidFill>
                  <a:srgbClr val="002060"/>
                </a:solidFill>
              </a:rPr>
              <a:t>Формирование</a:t>
            </a:r>
            <a:br>
              <a:rPr lang="ru-RU" b="1" dirty="0">
                <a:solidFill>
                  <a:srgbClr val="002060"/>
                </a:solidFill>
              </a:rPr>
            </a:br>
            <a:r>
              <a:rPr lang="ru-RU" b="1" dirty="0">
                <a:solidFill>
                  <a:srgbClr val="002060"/>
                </a:solidFill>
              </a:rPr>
              <a:t>группового сигнала при ВРК.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ChangeArrowheads="1"/>
          </p:cNvSpPr>
          <p:nvPr/>
        </p:nvSpPr>
        <p:spPr bwMode="auto">
          <a:xfrm>
            <a:off x="179512" y="721978"/>
            <a:ext cx="8964488" cy="6032421"/>
          </a:xfrm>
          <a:prstGeom prst="rect">
            <a:avLst/>
          </a:prstGeom>
          <a:noFill/>
          <a:ln>
            <a:noFill/>
          </a:ln>
          <a:effectLst/>
        </p:spPr>
        <p:txBody>
          <a:bodyPr wrap="square" anchor="ctr">
            <a:spAutoFit/>
          </a:bodyPr>
          <a:lstStyle/>
          <a:p>
            <a:pPr>
              <a:defRPr/>
            </a:pPr>
            <a:r>
              <a:rPr lang="ru-RU" sz="2400" b="1" dirty="0"/>
              <a:t>Суть базовой услуги в ТфОП с коммутацией каналов (КК) </a:t>
            </a:r>
            <a:r>
              <a:rPr lang="ru-RU" sz="2400" dirty="0"/>
              <a:t>заключается </a:t>
            </a:r>
            <a:r>
              <a:rPr lang="ru-RU" sz="2400" u="sng" dirty="0"/>
              <a:t>в </a:t>
            </a:r>
            <a:r>
              <a:rPr lang="ru-RU" sz="2400" b="1" u="sng" dirty="0"/>
              <a:t>предоставлении «прозрачного» канала для транспортировки электрического сигнала</a:t>
            </a:r>
            <a:r>
              <a:rPr lang="ru-RU" sz="2400" b="1" dirty="0"/>
              <a:t>, </a:t>
            </a:r>
          </a:p>
          <a:p>
            <a:pPr>
              <a:defRPr/>
            </a:pPr>
            <a:r>
              <a:rPr lang="ru-RU" sz="2400" dirty="0"/>
              <a:t>отображающего звуковой и речевой сигнал от одного терминального оборудования, находящегося в помещении абонента, до другого.</a:t>
            </a:r>
          </a:p>
          <a:p>
            <a:pPr>
              <a:defRPr/>
            </a:pPr>
            <a:endParaRPr lang="ru-RU" dirty="0"/>
          </a:p>
          <a:p>
            <a:pPr>
              <a:defRPr/>
            </a:pPr>
            <a:endParaRPr lang="ru-RU" dirty="0"/>
          </a:p>
          <a:p>
            <a:pPr>
              <a:defRPr/>
            </a:pPr>
            <a:endParaRPr lang="ru-RU" dirty="0"/>
          </a:p>
          <a:p>
            <a:pPr>
              <a:defRPr/>
            </a:pPr>
            <a:endParaRPr lang="ru-RU" dirty="0"/>
          </a:p>
          <a:p>
            <a:pPr>
              <a:defRPr/>
            </a:pPr>
            <a:endParaRPr lang="ru-RU" dirty="0"/>
          </a:p>
          <a:p>
            <a:pPr>
              <a:defRPr/>
            </a:pPr>
            <a:endParaRPr lang="ru-RU" dirty="0"/>
          </a:p>
          <a:p>
            <a:pPr>
              <a:defRPr/>
            </a:pPr>
            <a:endParaRPr lang="ru-RU" sz="2400" dirty="0"/>
          </a:p>
          <a:p>
            <a:pPr>
              <a:defRPr/>
            </a:pPr>
            <a:endParaRPr lang="ru-RU" sz="2400" dirty="0"/>
          </a:p>
          <a:p>
            <a:pPr>
              <a:defRPr/>
            </a:pPr>
            <a:r>
              <a:rPr lang="ru-RU" sz="2400" b="1" dirty="0"/>
              <a:t>ТфОП</a:t>
            </a:r>
            <a:r>
              <a:rPr lang="ru-RU" sz="2400" dirty="0"/>
              <a:t>, как система массового обслуживания (СМО) , </a:t>
            </a:r>
          </a:p>
          <a:p>
            <a:pPr>
              <a:defRPr/>
            </a:pPr>
            <a:r>
              <a:rPr lang="ru-RU" sz="2400" dirty="0"/>
              <a:t> </a:t>
            </a:r>
            <a:r>
              <a:rPr lang="ru-RU" sz="2400" b="1" u="sng" dirty="0"/>
              <a:t>обеспечивает выбор и предоставление этого канала на время  «жизни» каждого сеанса связи</a:t>
            </a:r>
            <a:r>
              <a:rPr lang="ru-RU" sz="2400" u="sng" dirty="0"/>
              <a:t>.</a:t>
            </a:r>
          </a:p>
          <a:p>
            <a:pPr>
              <a:defRPr/>
            </a:pPr>
            <a:endParaRPr lang="ru-RU" sz="1400" dirty="0"/>
          </a:p>
        </p:txBody>
      </p:sp>
      <p:sp>
        <p:nvSpPr>
          <p:cNvPr id="1028" name="Text Box 3"/>
          <p:cNvSpPr txBox="1">
            <a:spLocks noChangeArrowheads="1"/>
          </p:cNvSpPr>
          <p:nvPr/>
        </p:nvSpPr>
        <p:spPr bwMode="auto">
          <a:xfrm>
            <a:off x="0" y="130175"/>
            <a:ext cx="9143999" cy="584775"/>
          </a:xfrm>
          <a:prstGeom prst="rect">
            <a:avLst/>
          </a:prstGeom>
          <a:noFill/>
          <a:ln w="9525">
            <a:noFill/>
            <a:miter lim="800000"/>
            <a:headEnd/>
            <a:tailEnd/>
          </a:ln>
        </p:spPr>
        <p:txBody>
          <a:bodyPr wrap="square">
            <a:spAutoFit/>
          </a:bodyPr>
          <a:lstStyle/>
          <a:p>
            <a:pPr>
              <a:spcBef>
                <a:spcPct val="50000"/>
              </a:spcBef>
            </a:pPr>
            <a:r>
              <a:rPr lang="ru-RU" sz="3200" b="1" dirty="0">
                <a:solidFill>
                  <a:schemeClr val="tx2"/>
                </a:solidFill>
              </a:rPr>
              <a:t>Базовая услуга в ТфОП с коммутацией каналов</a:t>
            </a:r>
          </a:p>
        </p:txBody>
      </p:sp>
      <p:sp>
        <p:nvSpPr>
          <p:cNvPr id="1029" name="Rectangle 6"/>
          <p:cNvSpPr>
            <a:spLocks noChangeArrowheads="1"/>
          </p:cNvSpPr>
          <p:nvPr/>
        </p:nvSpPr>
        <p:spPr bwMode="auto">
          <a:xfrm>
            <a:off x="0" y="2819400"/>
            <a:ext cx="9144000" cy="0"/>
          </a:xfrm>
          <a:prstGeom prst="rect">
            <a:avLst/>
          </a:prstGeom>
          <a:noFill/>
          <a:ln w="9525">
            <a:noFill/>
            <a:miter lim="800000"/>
            <a:headEnd/>
            <a:tailEnd/>
          </a:ln>
        </p:spPr>
        <p:txBody>
          <a:bodyPr wrap="none" anchor="ctr">
            <a:spAutoFit/>
          </a:bodyPr>
          <a:lstStyle/>
          <a:p>
            <a:endParaRPr lang="ru-RU"/>
          </a:p>
        </p:txBody>
      </p:sp>
      <p:graphicFrame>
        <p:nvGraphicFramePr>
          <p:cNvPr id="1026" name="Object 5"/>
          <p:cNvGraphicFramePr>
            <a:graphicFrameLocks noChangeAspect="1"/>
          </p:cNvGraphicFramePr>
          <p:nvPr/>
        </p:nvGraphicFramePr>
        <p:xfrm>
          <a:off x="395536" y="3140968"/>
          <a:ext cx="8208912" cy="1800200"/>
        </p:xfrm>
        <a:graphic>
          <a:graphicData uri="http://schemas.openxmlformats.org/presentationml/2006/ole">
            <mc:AlternateContent xmlns:mc="http://schemas.openxmlformats.org/markup-compatibility/2006">
              <mc:Choice xmlns:v="urn:schemas-microsoft-com:vml" Requires="v">
                <p:oleObj spid="_x0000_s1026" name="Visio" r:id="rId2" imgW="5698998" imgH="1318656" progId="">
                  <p:embed/>
                </p:oleObj>
              </mc:Choice>
              <mc:Fallback>
                <p:oleObj name="Visio" r:id="rId2" imgW="5698998" imgH="1318656" progId="">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5536" y="3140968"/>
                        <a:ext cx="8208912" cy="1800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0" y="274638"/>
            <a:ext cx="9144000" cy="634082"/>
          </a:xfrm>
        </p:spPr>
        <p:txBody>
          <a:bodyPr>
            <a:normAutofit fontScale="90000"/>
          </a:bodyPr>
          <a:lstStyle/>
          <a:p>
            <a:pPr algn="l"/>
            <a:br>
              <a:rPr lang="ru-RU" sz="3600" b="1" dirty="0">
                <a:solidFill>
                  <a:schemeClr val="tx2"/>
                </a:solidFill>
              </a:rPr>
            </a:br>
            <a:r>
              <a:rPr lang="ru-RU" sz="3600" b="1" dirty="0">
                <a:solidFill>
                  <a:srgbClr val="002060"/>
                </a:solidFill>
              </a:rPr>
              <a:t>Базовая услуга в ТфОП с коммутацией каналов</a:t>
            </a:r>
            <a:br>
              <a:rPr lang="ru-RU" b="1" dirty="0">
                <a:solidFill>
                  <a:srgbClr val="002060"/>
                </a:solidFill>
              </a:rPr>
            </a:br>
            <a:endParaRPr lang="ru-RU" dirty="0">
              <a:solidFill>
                <a:srgbClr val="002060"/>
              </a:solidFill>
            </a:endParaRPr>
          </a:p>
        </p:txBody>
      </p:sp>
      <p:sp>
        <p:nvSpPr>
          <p:cNvPr id="3" name="Содержимое 2"/>
          <p:cNvSpPr>
            <a:spLocks noGrp="1"/>
          </p:cNvSpPr>
          <p:nvPr>
            <p:ph idx="1"/>
          </p:nvPr>
        </p:nvSpPr>
        <p:spPr>
          <a:xfrm>
            <a:off x="0" y="908720"/>
            <a:ext cx="8820472" cy="5760640"/>
          </a:xfrm>
        </p:spPr>
        <p:txBody>
          <a:bodyPr>
            <a:normAutofit/>
          </a:bodyPr>
          <a:lstStyle/>
          <a:p>
            <a:pPr>
              <a:defRPr/>
            </a:pPr>
            <a:r>
              <a:rPr lang="ru-RU" dirty="0"/>
              <a:t>Единицей измерения емкости телефонного канала является два элементарных типа каналов:</a:t>
            </a:r>
          </a:p>
          <a:p>
            <a:pPr>
              <a:buNone/>
              <a:defRPr/>
            </a:pPr>
            <a:r>
              <a:rPr lang="ru-RU" b="1" dirty="0"/>
              <a:t>     -  Для аналоговых сетей ТфОП </a:t>
            </a:r>
            <a:r>
              <a:rPr lang="ru-RU" dirty="0"/>
              <a:t>единицей измерения ёмкости коммутируемого канала является </a:t>
            </a:r>
            <a:r>
              <a:rPr lang="ru-RU" b="1" i="1" dirty="0">
                <a:effectLst>
                  <a:outerShdw blurRad="38100" dist="38100" dir="2700000" algn="tl">
                    <a:srgbClr val="C0C0C0"/>
                  </a:outerShdw>
                </a:effectLst>
              </a:rPr>
              <a:t>канал тональной частоты</a:t>
            </a:r>
            <a:r>
              <a:rPr lang="ru-RU" dirty="0"/>
              <a:t> (</a:t>
            </a:r>
            <a:r>
              <a:rPr lang="ru-RU" b="1" i="1" dirty="0">
                <a:effectLst>
                  <a:outerShdw blurRad="38100" dist="38100" dir="2700000" algn="tl">
                    <a:srgbClr val="C0C0C0"/>
                  </a:outerShdw>
                </a:effectLst>
              </a:rPr>
              <a:t>КТЧ</a:t>
            </a:r>
            <a:r>
              <a:rPr lang="ru-RU" dirty="0"/>
              <a:t>).</a:t>
            </a:r>
          </a:p>
          <a:p>
            <a:pPr lvl="1">
              <a:defRPr/>
            </a:pPr>
            <a:r>
              <a:rPr lang="ru-RU" sz="3200" dirty="0"/>
              <a:t> </a:t>
            </a:r>
            <a:r>
              <a:rPr lang="ru-RU" sz="3200" b="1" dirty="0"/>
              <a:t>Для цифровых сетей ТфОП </a:t>
            </a:r>
            <a:r>
              <a:rPr lang="ru-RU" sz="3200" dirty="0"/>
              <a:t>единицей измерения ёмкости коммутируемого канала является </a:t>
            </a:r>
            <a:r>
              <a:rPr lang="ru-RU" sz="3200" b="1" i="1" dirty="0">
                <a:effectLst>
                  <a:outerShdw blurRad="38100" dist="38100" dir="2700000" algn="tl">
                    <a:srgbClr val="C0C0C0"/>
                  </a:outerShdw>
                </a:effectLst>
              </a:rPr>
              <a:t>основной цифровой канал</a:t>
            </a:r>
            <a:r>
              <a:rPr lang="ru-RU" sz="3200" dirty="0"/>
              <a:t> (</a:t>
            </a:r>
            <a:r>
              <a:rPr lang="ru-RU" sz="3200" b="1" i="1" dirty="0">
                <a:effectLst>
                  <a:outerShdw blurRad="38100" dist="38100" dir="2700000" algn="tl">
                    <a:srgbClr val="C0C0C0"/>
                  </a:outerShdw>
                </a:effectLst>
              </a:rPr>
              <a:t>ОЦК</a:t>
            </a:r>
            <a:r>
              <a:rPr lang="ru-RU" sz="3200" dirty="0"/>
              <a:t>).</a:t>
            </a:r>
          </a:p>
          <a:p>
            <a:pPr>
              <a:buNone/>
            </a:pPr>
            <a:endParaRPr lang="ru-RU"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Rectangle 2"/>
          <p:cNvSpPr>
            <a:spLocks noChangeArrowheads="1"/>
          </p:cNvSpPr>
          <p:nvPr/>
        </p:nvSpPr>
        <p:spPr bwMode="auto">
          <a:xfrm>
            <a:off x="1" y="713198"/>
            <a:ext cx="9143999" cy="4801314"/>
          </a:xfrm>
          <a:prstGeom prst="rect">
            <a:avLst/>
          </a:prstGeom>
          <a:noFill/>
          <a:ln w="9525">
            <a:noFill/>
            <a:miter lim="800000"/>
            <a:headEnd/>
            <a:tailEnd/>
          </a:ln>
        </p:spPr>
        <p:txBody>
          <a:bodyPr wrap="square" anchor="ctr">
            <a:spAutoFit/>
          </a:bodyPr>
          <a:lstStyle/>
          <a:p>
            <a:r>
              <a:rPr lang="ru-RU" sz="2800" dirty="0"/>
              <a:t>Коммутируемые каналы аналоговой телефонной сети обеспечивают </a:t>
            </a:r>
            <a:r>
              <a:rPr lang="ru-RU" sz="2800" b="1" dirty="0"/>
              <a:t>передачу электрических сигналов связи в эффективно передаваемой полосе частот (ЭППЧ)</a:t>
            </a:r>
          </a:p>
          <a:p>
            <a:r>
              <a:rPr lang="ru-RU" sz="2800" b="1" dirty="0"/>
              <a:t> 0,3 — 3,4 кГц</a:t>
            </a:r>
            <a:r>
              <a:rPr lang="ru-RU" sz="2800" dirty="0"/>
              <a:t>, т. о. полоса пропускания равна 3100 Гц.</a:t>
            </a:r>
          </a:p>
          <a:p>
            <a:r>
              <a:rPr lang="ru-RU" sz="2800" dirty="0"/>
              <a:t> </a:t>
            </a:r>
            <a:r>
              <a:rPr lang="ru-RU" sz="2800" b="1" dirty="0"/>
              <a:t>Носителем информации является амплитуда передаваемого по линии электрического сигнала</a:t>
            </a:r>
            <a:r>
              <a:rPr lang="ru-RU" sz="2800" dirty="0"/>
              <a:t>.</a:t>
            </a:r>
          </a:p>
          <a:p>
            <a:endParaRPr lang="ru-RU" sz="1000" dirty="0"/>
          </a:p>
          <a:p>
            <a:endParaRPr lang="ru-RU" sz="1000" dirty="0"/>
          </a:p>
          <a:p>
            <a:endParaRPr lang="ru-RU" sz="1000" dirty="0"/>
          </a:p>
          <a:p>
            <a:endParaRPr lang="ru-RU" sz="1000" dirty="0"/>
          </a:p>
          <a:p>
            <a:endParaRPr lang="ru-RU" sz="1000" dirty="0"/>
          </a:p>
          <a:p>
            <a:endParaRPr lang="ru-RU" sz="1000" dirty="0"/>
          </a:p>
          <a:p>
            <a:endParaRPr lang="ru-RU" sz="1000" dirty="0"/>
          </a:p>
          <a:p>
            <a:endParaRPr lang="ru-RU" sz="1000" dirty="0"/>
          </a:p>
          <a:p>
            <a:endParaRPr lang="ru-RU" sz="1000" dirty="0"/>
          </a:p>
          <a:p>
            <a:endParaRPr lang="ru-RU" sz="1000" dirty="0"/>
          </a:p>
          <a:p>
            <a:endParaRPr lang="ru-RU" sz="1000" dirty="0"/>
          </a:p>
          <a:p>
            <a:endParaRPr lang="ru-RU" sz="1000" dirty="0"/>
          </a:p>
          <a:p>
            <a:endParaRPr lang="ru-RU" dirty="0"/>
          </a:p>
        </p:txBody>
      </p:sp>
      <p:sp>
        <p:nvSpPr>
          <p:cNvPr id="2052" name="Text Box 3"/>
          <p:cNvSpPr txBox="1">
            <a:spLocks noChangeArrowheads="1"/>
          </p:cNvSpPr>
          <p:nvPr/>
        </p:nvSpPr>
        <p:spPr bwMode="auto">
          <a:xfrm>
            <a:off x="250825" y="0"/>
            <a:ext cx="8569325" cy="584775"/>
          </a:xfrm>
          <a:prstGeom prst="rect">
            <a:avLst/>
          </a:prstGeom>
          <a:noFill/>
          <a:ln w="9525">
            <a:noFill/>
            <a:miter lim="800000"/>
            <a:headEnd/>
            <a:tailEnd/>
          </a:ln>
        </p:spPr>
        <p:txBody>
          <a:bodyPr wrap="square">
            <a:spAutoFit/>
          </a:bodyPr>
          <a:lstStyle/>
          <a:p>
            <a:pPr algn="ctr">
              <a:spcBef>
                <a:spcPct val="50000"/>
              </a:spcBef>
            </a:pPr>
            <a:r>
              <a:rPr lang="ru-RU" sz="3200" b="1" dirty="0">
                <a:solidFill>
                  <a:srgbClr val="002060"/>
                </a:solidFill>
              </a:rPr>
              <a:t>Канал тональной частоты (КТЧ</a:t>
            </a:r>
            <a:r>
              <a:rPr lang="ru-RU" sz="3200" b="1" dirty="0">
                <a:solidFill>
                  <a:schemeClr val="tx2"/>
                </a:solidFill>
              </a:rPr>
              <a:t>)</a:t>
            </a:r>
          </a:p>
        </p:txBody>
      </p:sp>
      <p:graphicFrame>
        <p:nvGraphicFramePr>
          <p:cNvPr id="2050" name="Object 10"/>
          <p:cNvGraphicFramePr>
            <a:graphicFrameLocks noChangeAspect="1"/>
          </p:cNvGraphicFramePr>
          <p:nvPr/>
        </p:nvGraphicFramePr>
        <p:xfrm>
          <a:off x="251520" y="3933056"/>
          <a:ext cx="8424863" cy="2924944"/>
        </p:xfrm>
        <a:graphic>
          <a:graphicData uri="http://schemas.openxmlformats.org/presentationml/2006/ole">
            <mc:AlternateContent xmlns:mc="http://schemas.openxmlformats.org/markup-compatibility/2006">
              <mc:Choice xmlns:v="urn:schemas-microsoft-com:vml" Requires="v">
                <p:oleObj spid="_x0000_s2050" name="Visio" r:id="rId2" imgW="8004048" imgH="1691259" progId="">
                  <p:embed/>
                </p:oleObj>
              </mc:Choice>
              <mc:Fallback>
                <p:oleObj name="Visio" r:id="rId2" imgW="8004048" imgH="1691259" progId="">
                  <p:embed/>
                  <p:pic>
                    <p:nvPicPr>
                      <p:cNvPr id="0" name="Object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520" y="3933056"/>
                        <a:ext cx="8424863" cy="29249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562074"/>
          </a:xfrm>
        </p:spPr>
        <p:txBody>
          <a:bodyPr>
            <a:normAutofit fontScale="90000"/>
          </a:bodyPr>
          <a:lstStyle/>
          <a:p>
            <a:br>
              <a:rPr lang="ru-RU" b="1" dirty="0">
                <a:solidFill>
                  <a:schemeClr val="tx2"/>
                </a:solidFill>
              </a:rPr>
            </a:br>
            <a:r>
              <a:rPr lang="ru-RU" sz="4000" b="1" dirty="0">
                <a:solidFill>
                  <a:srgbClr val="002060"/>
                </a:solidFill>
              </a:rPr>
              <a:t>Канал тональной частоты (КТЧ)</a:t>
            </a:r>
            <a:br>
              <a:rPr lang="ru-RU" sz="4000" b="1" dirty="0">
                <a:solidFill>
                  <a:srgbClr val="002060"/>
                </a:solidFill>
              </a:rPr>
            </a:br>
            <a:endParaRPr lang="ru-RU" sz="4000" dirty="0">
              <a:solidFill>
                <a:srgbClr val="002060"/>
              </a:solidFill>
            </a:endParaRPr>
          </a:p>
        </p:txBody>
      </p:sp>
      <p:sp>
        <p:nvSpPr>
          <p:cNvPr id="3" name="Содержимое 2"/>
          <p:cNvSpPr>
            <a:spLocks noGrp="1"/>
          </p:cNvSpPr>
          <p:nvPr>
            <p:ph idx="1"/>
          </p:nvPr>
        </p:nvSpPr>
        <p:spPr>
          <a:xfrm>
            <a:off x="457200" y="836712"/>
            <a:ext cx="8507288" cy="5616624"/>
          </a:xfrm>
        </p:spPr>
        <p:txBody>
          <a:bodyPr>
            <a:normAutofit fontScale="92500"/>
          </a:bodyPr>
          <a:lstStyle/>
          <a:p>
            <a:r>
              <a:rPr lang="ru-RU" b="1" dirty="0"/>
              <a:t>Хотя человеческий голос имеет более широкий спектр - примерно от 100 Гц до 10 кГц</a:t>
            </a:r>
            <a:r>
              <a:rPr lang="ru-RU" dirty="0"/>
              <a:t>, но</a:t>
            </a:r>
          </a:p>
          <a:p>
            <a:pPr>
              <a:buNone/>
            </a:pPr>
            <a:r>
              <a:rPr lang="ru-RU" dirty="0"/>
              <a:t>   при полосе в 3,1 КГц. обеспечивается высокая степень разборчивости речи и хорошая естественность (узнаваемость) её звучания, а теряется лишь высокочастотная окраска голоса.</a:t>
            </a:r>
            <a:endParaRPr lang="ru-RU" sz="1400" dirty="0"/>
          </a:p>
          <a:p>
            <a:r>
              <a:rPr lang="ru-RU" b="1" dirty="0"/>
              <a:t>Строгое ограничение полосы пропускания тонального канала </a:t>
            </a:r>
            <a:r>
              <a:rPr lang="ru-RU" dirty="0"/>
              <a:t>связано с необходимостью обеспечения экономии частотного ресурса для использования аппаратуры уплотнения и коммутации каналов в телефонных сетях.</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ChangeArrowheads="1"/>
          </p:cNvSpPr>
          <p:nvPr/>
        </p:nvSpPr>
        <p:spPr bwMode="auto">
          <a:xfrm>
            <a:off x="0" y="1154548"/>
            <a:ext cx="9144000" cy="5078313"/>
          </a:xfrm>
          <a:prstGeom prst="rect">
            <a:avLst/>
          </a:prstGeom>
          <a:noFill/>
          <a:ln w="9525">
            <a:noFill/>
            <a:miter lim="800000"/>
            <a:headEnd/>
            <a:tailEnd/>
          </a:ln>
        </p:spPr>
        <p:txBody>
          <a:bodyPr wrap="square" anchor="ctr">
            <a:spAutoFit/>
          </a:bodyPr>
          <a:lstStyle/>
          <a:p>
            <a:r>
              <a:rPr lang="ru-RU" sz="2400" dirty="0"/>
              <a:t>    Коммутируемые каналы цифровой телефонной сети обеспечивают передачу электрических сигналов связи в цифровых каналах, кратных 64 кбит/</a:t>
            </a:r>
            <a:r>
              <a:rPr lang="ru-RU" sz="2400" dirty="0" err="1"/>
              <a:t>c</a:t>
            </a:r>
            <a:r>
              <a:rPr lang="ru-RU" sz="2400" dirty="0"/>
              <a:t>.</a:t>
            </a:r>
          </a:p>
          <a:p>
            <a:r>
              <a:rPr lang="ru-RU" sz="2400" u="sng" dirty="0"/>
              <a:t>    </a:t>
            </a:r>
            <a:r>
              <a:rPr lang="ru-RU" sz="2400" b="1" u="sng" dirty="0"/>
              <a:t>Носителем информации является </a:t>
            </a:r>
            <a:r>
              <a:rPr lang="ru-RU" sz="2400" b="1" dirty="0"/>
              <a:t>не амплитуда </a:t>
            </a:r>
            <a:r>
              <a:rPr lang="ru-RU" sz="2400" dirty="0"/>
              <a:t>передаваемого</a:t>
            </a:r>
          </a:p>
          <a:p>
            <a:r>
              <a:rPr lang="ru-RU" sz="2400" dirty="0"/>
              <a:t>       по линии электрического сигнала, а</a:t>
            </a:r>
          </a:p>
          <a:p>
            <a:r>
              <a:rPr lang="ru-RU" sz="2400" dirty="0"/>
              <a:t>      </a:t>
            </a:r>
            <a:r>
              <a:rPr lang="ru-RU" sz="2400" b="1" u="sng" dirty="0"/>
              <a:t>временная последовательность импульсов.</a:t>
            </a:r>
          </a:p>
          <a:p>
            <a:endParaRPr lang="ru-RU" sz="2400" dirty="0"/>
          </a:p>
          <a:p>
            <a:r>
              <a:rPr lang="ru-RU" sz="2400" b="1" u="sng" dirty="0"/>
              <a:t>Основной цифровой канал (ОЦК) представляет собой бесконечную последовательность байтов с периодом следования 125 мкс.</a:t>
            </a:r>
          </a:p>
          <a:p>
            <a:r>
              <a:rPr lang="ru-RU" sz="2400" b="1" u="sng" dirty="0"/>
              <a:t> </a:t>
            </a:r>
          </a:p>
          <a:p>
            <a:r>
              <a:rPr lang="ru-RU" sz="2400" dirty="0"/>
              <a:t>  </a:t>
            </a:r>
            <a:r>
              <a:rPr lang="ru-RU" sz="2400" b="1" u="sng" dirty="0"/>
              <a:t>Скорость основного цифрового канала составляет 64 кбит/</a:t>
            </a:r>
            <a:r>
              <a:rPr lang="ru-RU" sz="2400" b="1" u="sng" dirty="0" err="1"/>
              <a:t>c</a:t>
            </a:r>
            <a:r>
              <a:rPr lang="ru-RU" sz="2400" b="1" u="sng" dirty="0"/>
              <a:t>.</a:t>
            </a:r>
            <a:r>
              <a:rPr lang="ru-RU" sz="2400" u="sng" dirty="0"/>
              <a:t> </a:t>
            </a:r>
            <a:r>
              <a:rPr lang="ru-RU" sz="2400" dirty="0"/>
              <a:t>Иногда используют синоним – </a:t>
            </a:r>
            <a:r>
              <a:rPr lang="ru-RU" sz="2400" b="1" dirty="0"/>
              <a:t>временной интервал ВИ (</a:t>
            </a:r>
            <a:r>
              <a:rPr lang="ru-RU" sz="2400" b="1" dirty="0" err="1"/>
              <a:t>time</a:t>
            </a:r>
            <a:r>
              <a:rPr lang="ru-RU" sz="2400" b="1" dirty="0"/>
              <a:t> </a:t>
            </a:r>
            <a:r>
              <a:rPr lang="ru-RU" sz="2400" b="1" dirty="0" err="1"/>
              <a:t>slot</a:t>
            </a:r>
            <a:r>
              <a:rPr lang="ru-RU" sz="2400" dirty="0"/>
              <a:t>).</a:t>
            </a:r>
          </a:p>
          <a:p>
            <a:endParaRPr lang="ru-RU" sz="2400" dirty="0"/>
          </a:p>
          <a:p>
            <a:endParaRPr lang="ru-RU" sz="1200" dirty="0"/>
          </a:p>
        </p:txBody>
      </p:sp>
      <p:sp>
        <p:nvSpPr>
          <p:cNvPr id="4100" name="Text Box 3"/>
          <p:cNvSpPr txBox="1">
            <a:spLocks noChangeArrowheads="1"/>
          </p:cNvSpPr>
          <p:nvPr/>
        </p:nvSpPr>
        <p:spPr bwMode="auto">
          <a:xfrm>
            <a:off x="250825" y="333375"/>
            <a:ext cx="8569325" cy="579438"/>
          </a:xfrm>
          <a:prstGeom prst="rect">
            <a:avLst/>
          </a:prstGeom>
          <a:noFill/>
          <a:ln w="9525">
            <a:noFill/>
            <a:miter lim="800000"/>
            <a:headEnd/>
            <a:tailEnd/>
          </a:ln>
        </p:spPr>
        <p:txBody>
          <a:bodyPr>
            <a:spAutoFit/>
          </a:bodyPr>
          <a:lstStyle/>
          <a:p>
            <a:pPr algn="ctr">
              <a:spcBef>
                <a:spcPct val="50000"/>
              </a:spcBef>
            </a:pPr>
            <a:r>
              <a:rPr lang="ru-RU" sz="3200" b="1" dirty="0">
                <a:solidFill>
                  <a:srgbClr val="002060"/>
                </a:solidFill>
              </a:rPr>
              <a:t>Основной цифровой канал (ОЦК)(1)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0" y="188640"/>
            <a:ext cx="8892480" cy="576064"/>
          </a:xfrm>
        </p:spPr>
        <p:txBody>
          <a:bodyPr>
            <a:normAutofit fontScale="90000"/>
          </a:bodyPr>
          <a:lstStyle/>
          <a:p>
            <a:br>
              <a:rPr lang="ru-RU" b="1" dirty="0">
                <a:solidFill>
                  <a:schemeClr val="tx2"/>
                </a:solidFill>
              </a:rPr>
            </a:br>
            <a:endParaRPr lang="ru-RU" dirty="0"/>
          </a:p>
        </p:txBody>
      </p:sp>
      <p:sp>
        <p:nvSpPr>
          <p:cNvPr id="4" name="Прямоугольник 3"/>
          <p:cNvSpPr/>
          <p:nvPr/>
        </p:nvSpPr>
        <p:spPr>
          <a:xfrm>
            <a:off x="0" y="188640"/>
            <a:ext cx="8964488" cy="5693866"/>
          </a:xfrm>
          <a:prstGeom prst="rect">
            <a:avLst/>
          </a:prstGeom>
        </p:spPr>
        <p:txBody>
          <a:bodyPr wrap="square">
            <a:spAutoFit/>
          </a:bodyPr>
          <a:lstStyle/>
          <a:p>
            <a:pPr algn="ctr"/>
            <a:r>
              <a:rPr lang="ru-RU" sz="3200" b="1" dirty="0">
                <a:solidFill>
                  <a:srgbClr val="002060"/>
                </a:solidFill>
              </a:rPr>
              <a:t>Основной цифровой канал (ОЦК)(2)</a:t>
            </a:r>
          </a:p>
          <a:p>
            <a:r>
              <a:rPr lang="ru-RU" sz="2800" dirty="0"/>
              <a:t>ОЦК образуется путем трехступенчатого преобразования из КТЧ:  </a:t>
            </a:r>
            <a:r>
              <a:rPr lang="ru-RU" sz="2800" b="1" i="1" dirty="0"/>
              <a:t>дискретизация, квантование и кодирование</a:t>
            </a:r>
            <a:r>
              <a:rPr lang="ru-RU" sz="2800" dirty="0"/>
              <a:t>.</a:t>
            </a:r>
            <a:endParaRPr lang="en-US" sz="2800" dirty="0"/>
          </a:p>
          <a:p>
            <a:pPr algn="ctr"/>
            <a:r>
              <a:rPr lang="ru-RU" sz="2800" b="1" dirty="0"/>
              <a:t>Способ получил название ИКМ</a:t>
            </a:r>
            <a:r>
              <a:rPr lang="ru-RU" sz="2800" dirty="0"/>
              <a:t>. </a:t>
            </a:r>
          </a:p>
          <a:p>
            <a:pPr algn="ctr"/>
            <a:r>
              <a:rPr lang="ru-RU" sz="2800" dirty="0"/>
              <a:t>А устройство, преобразующее канал КТЧ в канал ОЦК –      </a:t>
            </a:r>
            <a:r>
              <a:rPr lang="ru-RU" sz="2800" i="1" dirty="0" err="1"/>
              <a:t>ИКМ-кодек</a:t>
            </a:r>
            <a:endParaRPr lang="ru-RU" sz="2800" dirty="0"/>
          </a:p>
          <a:p>
            <a:pPr algn="ctr"/>
            <a:endParaRPr lang="ru-RU" sz="3200" b="1" dirty="0">
              <a:solidFill>
                <a:schemeClr val="tx2"/>
              </a:solidFill>
            </a:endParaRPr>
          </a:p>
          <a:p>
            <a:pPr algn="ctr"/>
            <a:endParaRPr lang="ru-RU" sz="3200" b="1" dirty="0">
              <a:solidFill>
                <a:schemeClr val="tx2"/>
              </a:solidFill>
            </a:endParaRPr>
          </a:p>
          <a:p>
            <a:pPr algn="ctr"/>
            <a:endParaRPr lang="ru-RU" sz="3200" b="1" dirty="0">
              <a:solidFill>
                <a:schemeClr val="tx2"/>
              </a:solidFill>
            </a:endParaRPr>
          </a:p>
          <a:p>
            <a:pPr algn="ctr"/>
            <a:endParaRPr lang="ru-RU" sz="3200" b="1" dirty="0">
              <a:solidFill>
                <a:schemeClr val="tx2"/>
              </a:solidFill>
            </a:endParaRPr>
          </a:p>
          <a:p>
            <a:pPr algn="ctr"/>
            <a:endParaRPr lang="ru-RU" sz="3200" b="1" dirty="0">
              <a:solidFill>
                <a:schemeClr val="tx2"/>
              </a:solidFill>
            </a:endParaRPr>
          </a:p>
          <a:p>
            <a:pPr algn="ctr"/>
            <a:endParaRPr lang="ru-RU" sz="3200" dirty="0"/>
          </a:p>
        </p:txBody>
      </p:sp>
      <p:graphicFrame>
        <p:nvGraphicFramePr>
          <p:cNvPr id="27650" name="Object 8"/>
          <p:cNvGraphicFramePr>
            <a:graphicFrameLocks noGrp="1" noChangeAspect="1"/>
          </p:cNvGraphicFramePr>
          <p:nvPr>
            <p:ph idx="1"/>
          </p:nvPr>
        </p:nvGraphicFramePr>
        <p:xfrm>
          <a:off x="395536" y="3212976"/>
          <a:ext cx="8568952" cy="3096344"/>
        </p:xfrm>
        <a:graphic>
          <a:graphicData uri="http://schemas.openxmlformats.org/presentationml/2006/ole">
            <mc:AlternateContent xmlns:mc="http://schemas.openxmlformats.org/markup-compatibility/2006">
              <mc:Choice xmlns:v="urn:schemas-microsoft-com:vml" Requires="v">
                <p:oleObj spid="_x0000_s3074" name="Visio" r:id="rId2" imgW="7551039" imgH="1691640" progId="">
                  <p:embed/>
                </p:oleObj>
              </mc:Choice>
              <mc:Fallback>
                <p:oleObj name="Visio" r:id="rId2" imgW="7551039" imgH="1691640" progId="">
                  <p:embed/>
                  <p:pic>
                    <p:nvPicPr>
                      <p:cNvPr id="0" name="Object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5536" y="3212976"/>
                        <a:ext cx="8568952" cy="30963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562074"/>
          </a:xfrm>
        </p:spPr>
        <p:txBody>
          <a:bodyPr>
            <a:normAutofit fontScale="90000"/>
          </a:bodyPr>
          <a:lstStyle/>
          <a:p>
            <a:r>
              <a:rPr lang="ru-RU" b="1" dirty="0">
                <a:solidFill>
                  <a:srgbClr val="002060"/>
                </a:solidFill>
              </a:rPr>
              <a:t>1.Дискретизация</a:t>
            </a:r>
          </a:p>
        </p:txBody>
      </p:sp>
      <p:sp>
        <p:nvSpPr>
          <p:cNvPr id="3" name="Содержимое 2"/>
          <p:cNvSpPr>
            <a:spLocks noGrp="1"/>
          </p:cNvSpPr>
          <p:nvPr>
            <p:ph idx="1"/>
          </p:nvPr>
        </p:nvSpPr>
        <p:spPr>
          <a:xfrm>
            <a:off x="179512" y="908721"/>
            <a:ext cx="8964488" cy="3456384"/>
          </a:xfrm>
        </p:spPr>
        <p:txBody>
          <a:bodyPr>
            <a:normAutofit/>
          </a:bodyPr>
          <a:lstStyle/>
          <a:p>
            <a:r>
              <a:rPr lang="ru-RU" sz="2400" dirty="0"/>
              <a:t>При дискретизации непрерывного сигнала по времени  передается не весь сигнал, а его амплитудные значения, взятые через промежутки времени, называемые</a:t>
            </a:r>
          </a:p>
          <a:p>
            <a:pPr>
              <a:buNone/>
            </a:pPr>
            <a:r>
              <a:rPr lang="ru-RU" sz="2400" dirty="0"/>
              <a:t>      </a:t>
            </a:r>
            <a:r>
              <a:rPr lang="ru-RU" sz="2400" b="1" dirty="0"/>
              <a:t>периодом дискретизации </a:t>
            </a:r>
            <a:r>
              <a:rPr lang="ru-RU" sz="2400" b="1" dirty="0" err="1"/>
              <a:t>Тд</a:t>
            </a:r>
            <a:r>
              <a:rPr lang="ru-RU" sz="2400" b="1" dirty="0"/>
              <a:t>.</a:t>
            </a:r>
          </a:p>
          <a:p>
            <a:r>
              <a:rPr lang="ru-RU" sz="2400" dirty="0"/>
              <a:t> При определенном выборе периода дискретизации непрерывный сигнал, передаваемый дискретными по времени отсчетами, может быть восстановлен в дальнейшем практически без искажений.</a:t>
            </a:r>
          </a:p>
          <a:p>
            <a:endParaRPr lang="ru-RU" sz="2400" dirty="0"/>
          </a:p>
        </p:txBody>
      </p:sp>
      <p:pic>
        <p:nvPicPr>
          <p:cNvPr id="4" name="Содержимое 3" descr="Рисунок 1.1. Сигнал, дискретный по времени."/>
          <p:cNvPicPr>
            <a:picLocks/>
          </p:cNvPicPr>
          <p:nvPr/>
        </p:nvPicPr>
        <p:blipFill>
          <a:blip r:embed="rId2" cstate="print"/>
          <a:srcRect/>
          <a:stretch>
            <a:fillRect/>
          </a:stretch>
        </p:blipFill>
        <p:spPr bwMode="auto">
          <a:xfrm>
            <a:off x="1619672" y="4365104"/>
            <a:ext cx="5832648" cy="2492896"/>
          </a:xfrm>
          <a:prstGeom prst="rect">
            <a:avLst/>
          </a:prstGeom>
          <a:noFill/>
          <a:ln w="9525">
            <a:noFill/>
            <a:miter lim="800000"/>
            <a:headEnd/>
            <a:tailEnd/>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0" y="0"/>
            <a:ext cx="9144000" cy="548680"/>
          </a:xfrm>
        </p:spPr>
        <p:txBody>
          <a:bodyPr>
            <a:noAutofit/>
          </a:bodyPr>
          <a:lstStyle/>
          <a:p>
            <a:r>
              <a:rPr lang="ru-RU" sz="3200" b="1" dirty="0">
                <a:solidFill>
                  <a:srgbClr val="002060"/>
                </a:solidFill>
              </a:rPr>
              <a:t>Дискретизация. Выбор частоты дискретизации(1).</a:t>
            </a:r>
          </a:p>
        </p:txBody>
      </p:sp>
      <p:sp>
        <p:nvSpPr>
          <p:cNvPr id="3" name="Содержимое 2"/>
          <p:cNvSpPr>
            <a:spLocks noGrp="1"/>
          </p:cNvSpPr>
          <p:nvPr>
            <p:ph idx="1"/>
          </p:nvPr>
        </p:nvSpPr>
        <p:spPr>
          <a:xfrm>
            <a:off x="0" y="476672"/>
            <a:ext cx="9144000" cy="6381328"/>
          </a:xfrm>
        </p:spPr>
        <p:txBody>
          <a:bodyPr>
            <a:noAutofit/>
          </a:bodyPr>
          <a:lstStyle/>
          <a:p>
            <a:endParaRPr lang="ru-RU" sz="2000" dirty="0"/>
          </a:p>
          <a:p>
            <a:r>
              <a:rPr lang="ru-RU" sz="2400" dirty="0"/>
              <a:t>Возможность передачи непрерывного сигнала его дискретными отсчетами была обоснована </a:t>
            </a:r>
            <a:r>
              <a:rPr lang="ru-RU" sz="2400" b="1" dirty="0"/>
              <a:t>В. А. </a:t>
            </a:r>
            <a:r>
              <a:rPr lang="ru-RU" sz="2400" b="1" dirty="0" err="1"/>
              <a:t>Котельниковым</a:t>
            </a:r>
            <a:r>
              <a:rPr lang="ru-RU" sz="2400" b="1" dirty="0"/>
              <a:t> </a:t>
            </a:r>
            <a:r>
              <a:rPr lang="ru-RU" sz="2400" dirty="0"/>
              <a:t>в 1933 г.</a:t>
            </a:r>
          </a:p>
          <a:p>
            <a:r>
              <a:rPr lang="ru-RU" sz="2400" dirty="0"/>
              <a:t> </a:t>
            </a:r>
            <a:r>
              <a:rPr lang="ru-RU" sz="2400" b="1" dirty="0"/>
              <a:t>Теорема Котельникова:</a:t>
            </a:r>
          </a:p>
          <a:p>
            <a:pPr>
              <a:buNone/>
            </a:pPr>
            <a:r>
              <a:rPr lang="ru-RU" sz="2400" b="1" dirty="0"/>
              <a:t>      любой непрерывный сигнал, ограниченный по спектру верхней частотой </a:t>
            </a:r>
            <a:r>
              <a:rPr lang="ru-RU" sz="2400" b="1" dirty="0" err="1"/>
              <a:t>Fв</a:t>
            </a:r>
            <a:r>
              <a:rPr lang="ru-RU" sz="2400" b="1" dirty="0"/>
              <a:t>, полностью определяется последовательностью своих дискретных отсчетов,   взятых через промежуток времени</a:t>
            </a:r>
          </a:p>
          <a:p>
            <a:pPr>
              <a:buNone/>
            </a:pPr>
            <a:r>
              <a:rPr lang="ru-RU" sz="2400" b="1" dirty="0"/>
              <a:t>        Тд≤1/2Fв.</a:t>
            </a:r>
          </a:p>
          <a:p>
            <a:r>
              <a:rPr lang="ru-RU" sz="2400" dirty="0"/>
              <a:t>Таким образом, если требуется </a:t>
            </a:r>
            <a:r>
              <a:rPr lang="ru-RU" sz="2400" b="1" u="sng" dirty="0"/>
              <a:t>передать непрерывный сигнал </a:t>
            </a:r>
            <a:r>
              <a:rPr lang="ru-RU" sz="2400" dirty="0"/>
              <a:t>U(</a:t>
            </a:r>
            <a:r>
              <a:rPr lang="ru-RU" sz="2400" dirty="0" err="1"/>
              <a:t>t</a:t>
            </a:r>
            <a:r>
              <a:rPr lang="ru-RU" sz="2400" dirty="0"/>
              <a:t>)     с ограниченным спектром, то не обязательно передавать весь сигнал, а достаточно </a:t>
            </a:r>
            <a:r>
              <a:rPr lang="ru-RU" sz="2400" b="1" u="sng" dirty="0"/>
              <a:t>передать лишь его мгновенные значения, отсчитанные через интервалы времени </a:t>
            </a:r>
            <a:r>
              <a:rPr lang="ru-RU" sz="2400" b="1" u="sng" dirty="0" err="1"/>
              <a:t>Тд</a:t>
            </a:r>
            <a:r>
              <a:rPr lang="ru-RU" sz="2400" b="1" u="sng" dirty="0"/>
              <a:t> .</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0" y="274638"/>
            <a:ext cx="9144000" cy="994122"/>
          </a:xfrm>
        </p:spPr>
        <p:txBody>
          <a:bodyPr>
            <a:normAutofit/>
          </a:bodyPr>
          <a:lstStyle/>
          <a:p>
            <a:pPr algn="l"/>
            <a:r>
              <a:rPr lang="ru-RU" sz="3200" b="1" dirty="0">
                <a:solidFill>
                  <a:srgbClr val="002060"/>
                </a:solidFill>
              </a:rPr>
              <a:t>Дискретизация. Выбор частоты дискретизации(2).</a:t>
            </a:r>
            <a:endParaRPr lang="ru-RU" altLang="ru-RU" sz="3200" b="1" dirty="0">
              <a:solidFill>
                <a:srgbClr val="002060"/>
              </a:solidFill>
            </a:endParaRPr>
          </a:p>
        </p:txBody>
      </p:sp>
      <p:pic>
        <p:nvPicPr>
          <p:cNvPr id="8198" name="Picture 6" descr="Дискретизация"/>
          <p:cNvPicPr>
            <a:picLocks noGrp="1" noChangeAspect="1" noChangeArrowheads="1"/>
          </p:cNvPicPr>
          <p:nvPr>
            <p:ph sz="half" idx="1"/>
          </p:nvPr>
        </p:nvPicPr>
        <p:blipFill>
          <a:blip r:embed="rId2" cstate="print"/>
          <a:srcRect/>
          <a:stretch>
            <a:fillRect/>
          </a:stretch>
        </p:blipFill>
        <p:spPr>
          <a:xfrm>
            <a:off x="733425" y="2655888"/>
            <a:ext cx="3486150" cy="2535237"/>
          </a:xfrm>
          <a:noFill/>
        </p:spPr>
      </p:pic>
      <p:pic>
        <p:nvPicPr>
          <p:cNvPr id="8199" name="Picture 7" descr="АИМ II"/>
          <p:cNvPicPr>
            <a:picLocks noGrp="1" noChangeAspect="1" noChangeArrowheads="1"/>
          </p:cNvPicPr>
          <p:nvPr>
            <p:ph sz="half" idx="2"/>
          </p:nvPr>
        </p:nvPicPr>
        <p:blipFill>
          <a:blip r:embed="rId3" cstate="print"/>
          <a:srcRect/>
          <a:stretch>
            <a:fillRect/>
          </a:stretch>
        </p:blipFill>
        <p:spPr>
          <a:xfrm>
            <a:off x="4924425" y="2655888"/>
            <a:ext cx="3486150" cy="2535237"/>
          </a:xfrm>
          <a:noFill/>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8198"/>
                                        </p:tgtEl>
                                        <p:attrNameLst>
                                          <p:attrName>style.visibility</p:attrName>
                                        </p:attrNameLst>
                                      </p:cBhvr>
                                      <p:to>
                                        <p:strVal val="visible"/>
                                      </p:to>
                                    </p:set>
                                    <p:animEffect transition="in" filter="blinds(horizontal)">
                                      <p:cBhvr>
                                        <p:cTn id="7" dur="500"/>
                                        <p:tgtEl>
                                          <p:spTgt spid="819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8199"/>
                                        </p:tgtEl>
                                        <p:attrNameLst>
                                          <p:attrName>style.visibility</p:attrName>
                                        </p:attrNameLst>
                                      </p:cBhvr>
                                      <p:to>
                                        <p:strVal val="visible"/>
                                      </p:to>
                                    </p:set>
                                    <p:animEffect transition="in" filter="blinds(horizontal)">
                                      <p:cBhvr>
                                        <p:cTn id="12" dur="500"/>
                                        <p:tgtEl>
                                          <p:spTgt spid="81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0" y="260648"/>
            <a:ext cx="9144000" cy="706090"/>
          </a:xfrm>
        </p:spPr>
        <p:txBody>
          <a:bodyPr>
            <a:normAutofit fontScale="90000"/>
          </a:bodyPr>
          <a:lstStyle/>
          <a:p>
            <a:pPr algn="l"/>
            <a:r>
              <a:rPr lang="ru-RU" sz="3600" b="1" dirty="0">
                <a:solidFill>
                  <a:srgbClr val="002060"/>
                </a:solidFill>
              </a:rPr>
              <a:t>Дискретизация. Выбор частоты дискретизации(3)</a:t>
            </a:r>
            <a:r>
              <a:rPr lang="ru-RU" b="1" dirty="0">
                <a:solidFill>
                  <a:srgbClr val="002060"/>
                </a:solidFill>
              </a:rPr>
              <a:t>.</a:t>
            </a:r>
            <a:endParaRPr lang="ru-RU" dirty="0"/>
          </a:p>
        </p:txBody>
      </p:sp>
      <p:sp>
        <p:nvSpPr>
          <p:cNvPr id="3" name="Содержимое 2"/>
          <p:cNvSpPr>
            <a:spLocks noGrp="1"/>
          </p:cNvSpPr>
          <p:nvPr>
            <p:ph idx="1"/>
          </p:nvPr>
        </p:nvSpPr>
        <p:spPr>
          <a:xfrm>
            <a:off x="179512" y="1196752"/>
            <a:ext cx="8784976" cy="5328592"/>
          </a:xfrm>
        </p:spPr>
        <p:txBody>
          <a:bodyPr>
            <a:normAutofit lnSpcReduction="10000"/>
          </a:bodyPr>
          <a:lstStyle/>
          <a:p>
            <a:r>
              <a:rPr lang="ru-RU" b="1" dirty="0"/>
              <a:t> </a:t>
            </a:r>
            <a:r>
              <a:rPr lang="ru-RU" sz="2400" b="1" dirty="0"/>
              <a:t>В соответствии с этим частота следования дискретных отсчетов сигнала,  т. е. частота дискретизации 2Fв≤ </a:t>
            </a:r>
            <a:r>
              <a:rPr lang="ru-RU" sz="2400" b="1" dirty="0" err="1"/>
              <a:t>Fд</a:t>
            </a:r>
            <a:r>
              <a:rPr lang="ru-RU" sz="2400" b="1" dirty="0"/>
              <a:t>. </a:t>
            </a:r>
          </a:p>
          <a:p>
            <a:r>
              <a:rPr lang="ru-RU" sz="2400" dirty="0"/>
              <a:t>При дискретизации телефонных сигналов с  диапазоном частот 0,3...3,4 кГц,   по рекомендациям МСЭ ,</a:t>
            </a:r>
            <a:r>
              <a:rPr lang="ru-RU" sz="2400" b="1" dirty="0"/>
              <a:t> </a:t>
            </a:r>
            <a:r>
              <a:rPr lang="ru-RU" sz="2400" b="1" dirty="0" err="1"/>
              <a:t>Fв</a:t>
            </a:r>
            <a:r>
              <a:rPr lang="ru-RU" sz="2400" b="1" dirty="0"/>
              <a:t> = </a:t>
            </a:r>
            <a:r>
              <a:rPr lang="ru-RU" sz="2400" dirty="0"/>
              <a:t>4000Гц , </a:t>
            </a:r>
          </a:p>
          <a:p>
            <a:pPr>
              <a:buNone/>
            </a:pPr>
            <a:r>
              <a:rPr lang="ru-RU" sz="2400" dirty="0"/>
              <a:t>      тогда,</a:t>
            </a:r>
            <a:r>
              <a:rPr lang="ru-RU" sz="2400" b="1" dirty="0"/>
              <a:t> частота дискретизации равна </a:t>
            </a:r>
            <a:r>
              <a:rPr lang="ru-RU" sz="2400" b="1" dirty="0" err="1"/>
              <a:t>Fд=</a:t>
            </a:r>
            <a:r>
              <a:rPr lang="ru-RU" sz="2400" b="1" dirty="0"/>
              <a:t> 8 кГц, </a:t>
            </a:r>
            <a:r>
              <a:rPr lang="ru-RU" sz="2400" dirty="0"/>
              <a:t> то есть отсчеты берутся 8000 раз в секунду;</a:t>
            </a:r>
          </a:p>
          <a:p>
            <a:pPr>
              <a:buFontTx/>
              <a:buChar char="•"/>
            </a:pPr>
            <a:r>
              <a:rPr lang="ru-RU" sz="2400" dirty="0"/>
              <a:t>  Каждый отсчет кодируется восемью битами, то есть в секунду передается  64000  битов. </a:t>
            </a:r>
            <a:endParaRPr lang="ru-RU" sz="2400" b="1" dirty="0"/>
          </a:p>
          <a:p>
            <a:r>
              <a:rPr lang="ru-RU" sz="2400" b="1" dirty="0"/>
              <a:t>Период дискретизации </a:t>
            </a:r>
            <a:r>
              <a:rPr lang="ru-RU" sz="2400" b="1" dirty="0" err="1"/>
              <a:t>Тд</a:t>
            </a:r>
            <a:r>
              <a:rPr lang="ru-RU" sz="2400" b="1" dirty="0"/>
              <a:t> =1/2Fв= 1/8000=0,000125=125 </a:t>
            </a:r>
            <a:r>
              <a:rPr lang="ru-RU" sz="2400" b="1" dirty="0" err="1"/>
              <a:t>мк</a:t>
            </a:r>
            <a:endParaRPr lang="ru-RU" sz="2400" b="1" dirty="0"/>
          </a:p>
          <a:p>
            <a:r>
              <a:rPr lang="ru-RU" sz="2400" dirty="0"/>
              <a:t>Для восстановления непрерывного сигнала из последовательности его дискретных отсчетов в пункте          приема используется фильтр нижних частот (ФНЧ)  с частотой среза, </a:t>
            </a:r>
            <a:r>
              <a:rPr lang="ru-RU" sz="2400" b="1" dirty="0"/>
              <a:t>равной </a:t>
            </a:r>
            <a:r>
              <a:rPr lang="ru-RU" sz="2400" b="1" dirty="0" err="1"/>
              <a:t>Fв</a:t>
            </a:r>
            <a:r>
              <a:rPr lang="ru-RU" sz="2400" b="1" dirty="0"/>
              <a:t> =4000 Гц</a:t>
            </a:r>
            <a:r>
              <a:rPr lang="ru-RU" sz="2400" dirty="0"/>
              <a:t>.</a:t>
            </a:r>
          </a:p>
          <a:p>
            <a:pPr>
              <a:buNone/>
            </a:pPr>
            <a:endParaRPr lang="ru-RU" sz="2400" b="1" dirty="0"/>
          </a:p>
          <a:p>
            <a:endParaRPr lang="ru-RU" sz="2400" dirty="0"/>
          </a:p>
          <a:p>
            <a:endParaRPr lang="ru-RU"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562074"/>
          </a:xfrm>
        </p:spPr>
        <p:txBody>
          <a:bodyPr>
            <a:normAutofit fontScale="90000"/>
          </a:bodyPr>
          <a:lstStyle/>
          <a:p>
            <a:br>
              <a:rPr lang="ru-RU" b="1" dirty="0"/>
            </a:br>
            <a:r>
              <a:rPr lang="ru-RU" sz="3600" b="1" dirty="0">
                <a:solidFill>
                  <a:srgbClr val="002060"/>
                </a:solidFill>
              </a:rPr>
              <a:t>2.К</a:t>
            </a:r>
            <a:r>
              <a:rPr lang="ru-RU" sz="4000" b="1" dirty="0">
                <a:solidFill>
                  <a:srgbClr val="002060"/>
                </a:solidFill>
              </a:rPr>
              <a:t>вантование по уровню (1)</a:t>
            </a:r>
            <a:br>
              <a:rPr lang="ru-RU" sz="4000" dirty="0">
                <a:solidFill>
                  <a:srgbClr val="002060"/>
                </a:solidFill>
              </a:rPr>
            </a:br>
            <a:endParaRPr lang="ru-RU" sz="4000" dirty="0">
              <a:solidFill>
                <a:srgbClr val="002060"/>
              </a:solidFill>
            </a:endParaRPr>
          </a:p>
        </p:txBody>
      </p:sp>
      <p:sp>
        <p:nvSpPr>
          <p:cNvPr id="3" name="Содержимое 2"/>
          <p:cNvSpPr>
            <a:spLocks noGrp="1"/>
          </p:cNvSpPr>
          <p:nvPr>
            <p:ph idx="1"/>
          </p:nvPr>
        </p:nvSpPr>
        <p:spPr>
          <a:xfrm>
            <a:off x="179512" y="908720"/>
            <a:ext cx="8784976" cy="5688632"/>
          </a:xfrm>
        </p:spPr>
        <p:txBody>
          <a:bodyPr>
            <a:normAutofit/>
          </a:bodyPr>
          <a:lstStyle/>
          <a:p>
            <a:r>
              <a:rPr lang="ru-RU" sz="2400" dirty="0"/>
              <a:t>На рисунке показаны отсчеты (</a:t>
            </a:r>
            <a:r>
              <a:rPr lang="ru-RU" sz="2400" dirty="0" err="1"/>
              <a:t>дискреты</a:t>
            </a:r>
            <a:r>
              <a:rPr lang="ru-RU" sz="2400" dirty="0"/>
              <a:t>) сигнала и их квантованные значения.</a:t>
            </a:r>
          </a:p>
          <a:p>
            <a:r>
              <a:rPr lang="ru-RU" sz="2400" dirty="0"/>
              <a:t> В результате квантования передаются не истинные, а только разрешенные значения уровней. На рисунке : </a:t>
            </a:r>
          </a:p>
          <a:p>
            <a:pPr>
              <a:buNone/>
            </a:pPr>
            <a:r>
              <a:rPr lang="ru-RU" sz="2400" dirty="0"/>
              <a:t>            -Δ - шаг квантования;</a:t>
            </a:r>
          </a:p>
          <a:p>
            <a:pPr>
              <a:buNone/>
            </a:pPr>
            <a:r>
              <a:rPr lang="ru-RU" sz="2400" i="1" dirty="0"/>
              <a:t>            - E</a:t>
            </a:r>
            <a:r>
              <a:rPr lang="ru-RU" sz="2400" dirty="0"/>
              <a:t> </a:t>
            </a:r>
            <a:r>
              <a:rPr lang="ru-RU" sz="2400" dirty="0" err="1"/>
              <a:t>кв</a:t>
            </a:r>
            <a:r>
              <a:rPr lang="ru-RU" sz="2400" dirty="0"/>
              <a:t>(</a:t>
            </a:r>
            <a:r>
              <a:rPr lang="ru-RU" sz="2400" dirty="0" err="1"/>
              <a:t>t</a:t>
            </a:r>
            <a:r>
              <a:rPr lang="ru-RU" sz="2400" dirty="0"/>
              <a:t>) - ошибка квантования</a:t>
            </a:r>
          </a:p>
          <a:p>
            <a:endParaRPr lang="ru-RU" sz="2000" dirty="0"/>
          </a:p>
          <a:p>
            <a:endParaRPr lang="ru-RU" sz="2000" dirty="0"/>
          </a:p>
        </p:txBody>
      </p:sp>
      <p:pic>
        <p:nvPicPr>
          <p:cNvPr id="4" name="Рисунок 3" descr="Рисунок 1.11. Квантования сигнала."/>
          <p:cNvPicPr/>
          <p:nvPr/>
        </p:nvPicPr>
        <p:blipFill>
          <a:blip r:embed="rId2" cstate="print"/>
          <a:srcRect/>
          <a:stretch>
            <a:fillRect/>
          </a:stretch>
        </p:blipFill>
        <p:spPr bwMode="auto">
          <a:xfrm>
            <a:off x="467544" y="3429000"/>
            <a:ext cx="7848872" cy="3429000"/>
          </a:xfrm>
          <a:prstGeom prst="rect">
            <a:avLst/>
          </a:prstGeom>
          <a:noFill/>
          <a:ln w="9525">
            <a:noFill/>
            <a:miter lim="800000"/>
            <a:headEnd/>
            <a:tailEnd/>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0"/>
            <a:ext cx="8229600" cy="620688"/>
          </a:xfrm>
        </p:spPr>
        <p:txBody>
          <a:bodyPr>
            <a:noAutofit/>
          </a:bodyPr>
          <a:lstStyle/>
          <a:p>
            <a:r>
              <a:rPr lang="ru-RU" sz="3600" b="1" dirty="0">
                <a:solidFill>
                  <a:srgbClr val="002060"/>
                </a:solidFill>
              </a:rPr>
              <a:t>Квантование по уровню(2)</a:t>
            </a:r>
          </a:p>
        </p:txBody>
      </p:sp>
      <p:sp>
        <p:nvSpPr>
          <p:cNvPr id="3" name="Содержимое 2"/>
          <p:cNvSpPr>
            <a:spLocks noGrp="1"/>
          </p:cNvSpPr>
          <p:nvPr>
            <p:ph idx="1"/>
          </p:nvPr>
        </p:nvSpPr>
        <p:spPr>
          <a:xfrm>
            <a:off x="179512" y="836712"/>
            <a:ext cx="8964488" cy="6021288"/>
          </a:xfrm>
        </p:spPr>
        <p:txBody>
          <a:bodyPr>
            <a:normAutofit fontScale="92500" lnSpcReduction="10000"/>
          </a:bodyPr>
          <a:lstStyle/>
          <a:p>
            <a:r>
              <a:rPr lang="ru-RU" sz="2400" dirty="0"/>
              <a:t>При цифровом представлении сигнала, каждому из уровней квантования присваивается свой номер, а его величина из десятичной системы счисления преобразуется в двоичную.</a:t>
            </a:r>
          </a:p>
          <a:p>
            <a:r>
              <a:rPr lang="ru-RU" sz="2400" dirty="0"/>
              <a:t> Поэтому в дальнейшем можно </a:t>
            </a:r>
            <a:r>
              <a:rPr lang="ru-RU" sz="2400" u="sng" dirty="0"/>
              <a:t>передавать не сами отсчеты сигнала с их амплитудой, а группу импульсов, соответствующих номеру уровня квантования, выраженного в двоичной системе счисления.</a:t>
            </a:r>
          </a:p>
          <a:p>
            <a:r>
              <a:rPr lang="ru-RU" sz="2400" dirty="0"/>
              <a:t>Т</a:t>
            </a:r>
            <a:r>
              <a:rPr lang="ru-RU" sz="2400" b="1" dirty="0"/>
              <a:t>. о. цифровой сигнал, который состоит из последовательности импульсов:</a:t>
            </a:r>
          </a:p>
          <a:p>
            <a:pPr>
              <a:buNone/>
            </a:pPr>
            <a:r>
              <a:rPr lang="ru-RU" sz="2400" dirty="0"/>
              <a:t>       - наличие импульса свидетельствует о передаче единицы;</a:t>
            </a:r>
          </a:p>
          <a:p>
            <a:pPr>
              <a:buNone/>
            </a:pPr>
            <a:r>
              <a:rPr lang="ru-RU" sz="2400" dirty="0"/>
              <a:t>       - отсутствие о передаче нуля. </a:t>
            </a:r>
          </a:p>
          <a:p>
            <a:pPr>
              <a:buNone/>
            </a:pPr>
            <a:r>
              <a:rPr lang="ru-RU" sz="2400" dirty="0"/>
              <a:t>Общее количество уровней при m-разрядном кодировании:</a:t>
            </a:r>
          </a:p>
          <a:p>
            <a:r>
              <a:rPr lang="ru-RU" sz="2400" u="sng" dirty="0">
                <a:effectLst>
                  <a:outerShdw blurRad="38100" dist="38100" dir="2700000" algn="tl">
                    <a:srgbClr val="000000">
                      <a:alpha val="43137"/>
                    </a:srgbClr>
                  </a:outerShdw>
                </a:effectLst>
              </a:rPr>
              <a:t>На практике, </a:t>
            </a:r>
            <a:r>
              <a:rPr lang="en-US" sz="2400" u="sng" dirty="0">
                <a:effectLst>
                  <a:outerShdw blurRad="38100" dist="38100" dir="2700000" algn="tl">
                    <a:srgbClr val="000000">
                      <a:alpha val="43137"/>
                    </a:srgbClr>
                  </a:outerShdw>
                </a:effectLst>
              </a:rPr>
              <a:t>m</a:t>
            </a:r>
            <a:r>
              <a:rPr lang="ru-RU" sz="2400" u="sng" dirty="0">
                <a:effectLst>
                  <a:outerShdw blurRad="38100" dist="38100" dir="2700000" algn="tl">
                    <a:srgbClr val="000000">
                      <a:alpha val="43137"/>
                    </a:srgbClr>
                  </a:outerShdw>
                </a:effectLst>
              </a:rPr>
              <a:t>=8, для квантования применяют 256 уровней: </a:t>
            </a:r>
          </a:p>
          <a:p>
            <a:pPr>
              <a:buNone/>
            </a:pPr>
            <a:r>
              <a:rPr lang="ru-RU" sz="2400" dirty="0"/>
              <a:t>          -128 уровней для положительных значений;</a:t>
            </a:r>
          </a:p>
          <a:p>
            <a:pPr>
              <a:buNone/>
            </a:pPr>
            <a:r>
              <a:rPr lang="ru-RU" sz="2400" dirty="0"/>
              <a:t>          - 128уровней для отрицательных.</a:t>
            </a:r>
          </a:p>
          <a:p>
            <a:r>
              <a:rPr lang="ru-RU" sz="2400" dirty="0"/>
              <a:t>   Т.к. в </a:t>
            </a:r>
            <a:r>
              <a:rPr lang="ru-RU" sz="2400" b="1" dirty="0"/>
              <a:t>речи малые амплитуды встречаются чаще</a:t>
            </a:r>
            <a:r>
              <a:rPr lang="ru-RU" sz="2400" dirty="0"/>
              <a:t>, чем большие, предпочтение отдается </a:t>
            </a:r>
            <a:r>
              <a:rPr lang="ru-RU" sz="2400" b="1" dirty="0">
                <a:effectLst>
                  <a:outerShdw blurRad="38100" dist="38100" dir="2700000" algn="tl">
                    <a:srgbClr val="000000">
                      <a:alpha val="43137"/>
                    </a:srgbClr>
                  </a:outerShdw>
                </a:effectLst>
              </a:rPr>
              <a:t>нелинейному квантованию</a:t>
            </a:r>
            <a:r>
              <a:rPr lang="ru-RU" sz="2400" b="1" dirty="0"/>
              <a:t>.</a:t>
            </a:r>
          </a:p>
        </p:txBody>
      </p:sp>
      <p:pic>
        <p:nvPicPr>
          <p:cNvPr id="4" name="Рисунок 3" descr="https://siblec.ru/img/43/img/1/image128.gif"/>
          <p:cNvPicPr/>
          <p:nvPr/>
        </p:nvPicPr>
        <p:blipFill>
          <a:blip r:embed="rId2" cstate="print"/>
          <a:srcRect/>
          <a:stretch>
            <a:fillRect/>
          </a:stretch>
        </p:blipFill>
        <p:spPr bwMode="auto">
          <a:xfrm>
            <a:off x="7596336" y="4077072"/>
            <a:ext cx="1152128" cy="432048"/>
          </a:xfrm>
          <a:prstGeom prst="rect">
            <a:avLst/>
          </a:prstGeom>
          <a:noFill/>
          <a:ln w="9525">
            <a:noFill/>
            <a:miter lim="800000"/>
            <a:headEnd/>
            <a:tailEnd/>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0"/>
            <a:ext cx="8229600" cy="692696"/>
          </a:xfrm>
        </p:spPr>
        <p:txBody>
          <a:bodyPr>
            <a:normAutofit/>
          </a:bodyPr>
          <a:lstStyle/>
          <a:p>
            <a:r>
              <a:rPr lang="ru-RU" sz="3600" b="1" dirty="0">
                <a:solidFill>
                  <a:srgbClr val="002060"/>
                </a:solidFill>
              </a:rPr>
              <a:t>3.Кодирование(1)</a:t>
            </a:r>
          </a:p>
        </p:txBody>
      </p:sp>
      <p:sp>
        <p:nvSpPr>
          <p:cNvPr id="3" name="Содержимое 2"/>
          <p:cNvSpPr>
            <a:spLocks noGrp="1"/>
          </p:cNvSpPr>
          <p:nvPr>
            <p:ph idx="1"/>
          </p:nvPr>
        </p:nvSpPr>
        <p:spPr>
          <a:xfrm>
            <a:off x="0" y="836712"/>
            <a:ext cx="9144000" cy="6021288"/>
          </a:xfrm>
        </p:spPr>
        <p:txBody>
          <a:bodyPr>
            <a:noAutofit/>
          </a:bodyPr>
          <a:lstStyle/>
          <a:p>
            <a:r>
              <a:rPr lang="ru-RU" sz="2400" dirty="0"/>
              <a:t>При кодировании используется двоичная система счисления.</a:t>
            </a:r>
          </a:p>
          <a:p>
            <a:r>
              <a:rPr lang="ru-RU" sz="2400" u="sng" dirty="0"/>
              <a:t>Отсчёты передаются в виде восьмиразрядных двоичных чисел,</a:t>
            </a:r>
          </a:p>
          <a:p>
            <a:pPr>
              <a:buNone/>
            </a:pPr>
            <a:r>
              <a:rPr lang="ru-RU" sz="2400" dirty="0"/>
              <a:t>        </a:t>
            </a:r>
            <a:r>
              <a:rPr lang="ru-RU" sz="2400" u="sng" dirty="0"/>
              <a:t>получаемых при квантовании отсчётов</a:t>
            </a:r>
            <a:r>
              <a:rPr lang="ru-RU" sz="2400" dirty="0"/>
              <a:t>.</a:t>
            </a:r>
          </a:p>
          <a:p>
            <a:r>
              <a:rPr lang="ru-RU" sz="2400" dirty="0"/>
              <a:t> </a:t>
            </a:r>
            <a:r>
              <a:rPr lang="ru-RU" sz="2400" b="1" dirty="0"/>
              <a:t>Каждый отсчёт передаётся 8 битами</a:t>
            </a:r>
            <a:r>
              <a:rPr lang="ru-RU" sz="2400" dirty="0"/>
              <a:t>, следовательно, цифровой сигнал можно передавать со скоростью:</a:t>
            </a:r>
          </a:p>
          <a:p>
            <a:pPr>
              <a:buNone/>
            </a:pPr>
            <a:r>
              <a:rPr lang="ru-RU" sz="2400" dirty="0"/>
              <a:t>                 </a:t>
            </a:r>
            <a:r>
              <a:rPr lang="ru-RU" sz="2400" dirty="0" err="1"/>
              <a:t>fт</a:t>
            </a:r>
            <a:r>
              <a:rPr lang="ru-RU" sz="2400" dirty="0"/>
              <a:t> × 8 бит = 8000×8 = 64 кбит/с. </a:t>
            </a:r>
          </a:p>
          <a:p>
            <a:r>
              <a:rPr lang="ru-RU" sz="2400" b="1" dirty="0"/>
              <a:t>64 кбит/с  - скорость передачи одного  цифрового канала (ОЦК).</a:t>
            </a:r>
            <a:endParaRPr lang="ru-RU" sz="2400" dirty="0"/>
          </a:p>
          <a:p>
            <a:r>
              <a:rPr lang="ru-RU" sz="2400" dirty="0"/>
              <a:t> Т.к. квантование имеет конечное число уровней, то очевидно, что квантованный сигнал не является точным.</a:t>
            </a:r>
          </a:p>
          <a:p>
            <a:r>
              <a:rPr lang="ru-RU" sz="2400" dirty="0"/>
              <a:t>  Разница между истинным значением отсчёта и его квантованным значением – </a:t>
            </a:r>
            <a:r>
              <a:rPr lang="ru-RU" sz="2400" b="1" dirty="0"/>
              <a:t>это шум квантования.</a:t>
            </a:r>
          </a:p>
          <a:p>
            <a:endParaRPr lang="ru-RU" sz="2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425" name="Object 17"/>
          <p:cNvGraphicFramePr>
            <a:graphicFrameLocks noChangeAspect="1"/>
          </p:cNvGraphicFramePr>
          <p:nvPr/>
        </p:nvGraphicFramePr>
        <p:xfrm>
          <a:off x="687388" y="1412875"/>
          <a:ext cx="7916862" cy="5076825"/>
        </p:xfrm>
        <a:graphic>
          <a:graphicData uri="http://schemas.openxmlformats.org/presentationml/2006/ole">
            <mc:AlternateContent xmlns:mc="http://schemas.openxmlformats.org/markup-compatibility/2006">
              <mc:Choice xmlns:v="urn:schemas-microsoft-com:vml" Requires="v">
                <p:oleObj spid="_x0000_s4098" name="Visio" r:id="rId2" imgW="4643797" imgH="2977557" progId="">
                  <p:embed/>
                </p:oleObj>
              </mc:Choice>
              <mc:Fallback>
                <p:oleObj name="Visio" r:id="rId2" imgW="4643797" imgH="2977557" progId="">
                  <p:embed/>
                  <p:pic>
                    <p:nvPicPr>
                      <p:cNvPr id="0" name="Object 1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7388" y="1412875"/>
                        <a:ext cx="7916862" cy="5076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7413" name="Object 5" descr="Квантование"/>
          <p:cNvGraphicFramePr>
            <a:graphicFrameLocks noGrp="1" noChangeAspect="1"/>
          </p:cNvGraphicFramePr>
          <p:nvPr>
            <p:ph idx="1"/>
          </p:nvPr>
        </p:nvGraphicFramePr>
        <p:xfrm>
          <a:off x="684213" y="1412875"/>
          <a:ext cx="7916862" cy="4940300"/>
        </p:xfrm>
        <a:graphic>
          <a:graphicData uri="http://schemas.openxmlformats.org/presentationml/2006/ole">
            <mc:AlternateContent xmlns:mc="http://schemas.openxmlformats.org/markup-compatibility/2006">
              <mc:Choice xmlns:v="urn:schemas-microsoft-com:vml" Requires="v">
                <p:oleObj spid="_x0000_s4099" name="Visio" r:id="rId4" imgW="4643797" imgH="2896616" progId="">
                  <p:embed/>
                </p:oleObj>
              </mc:Choice>
              <mc:Fallback>
                <p:oleObj name="Visio" r:id="rId4" imgW="4643797" imgH="2896616" progId="">
                  <p:embed/>
                  <p:pic>
                    <p:nvPicPr>
                      <p:cNvPr id="0" name="Object 5" descr="Квантование"/>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4213" y="1412875"/>
                        <a:ext cx="7916862" cy="4940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7419" name="Object 11"/>
          <p:cNvGraphicFramePr>
            <a:graphicFrameLocks noChangeAspect="1"/>
          </p:cNvGraphicFramePr>
          <p:nvPr/>
        </p:nvGraphicFramePr>
        <p:xfrm>
          <a:off x="684213" y="1412875"/>
          <a:ext cx="7916862" cy="5080000"/>
        </p:xfrm>
        <a:graphic>
          <a:graphicData uri="http://schemas.openxmlformats.org/presentationml/2006/ole">
            <mc:AlternateContent xmlns:mc="http://schemas.openxmlformats.org/markup-compatibility/2006">
              <mc:Choice xmlns:v="urn:schemas-microsoft-com:vml" Requires="v">
                <p:oleObj spid="_x0000_s4100" name="Visio" r:id="rId6" imgW="4643797" imgH="2977557" progId="">
                  <p:embed/>
                </p:oleObj>
              </mc:Choice>
              <mc:Fallback>
                <p:oleObj name="Visio" r:id="rId6" imgW="4643797" imgH="2977557" progId="">
                  <p:embed/>
                  <p:pic>
                    <p:nvPicPr>
                      <p:cNvPr id="0" name="Object 1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84213" y="1412875"/>
                        <a:ext cx="7916862" cy="508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3317" name="Rectangle 2"/>
          <p:cNvSpPr>
            <a:spLocks noGrp="1" noChangeArrowheads="1"/>
          </p:cNvSpPr>
          <p:nvPr>
            <p:ph type="title"/>
          </p:nvPr>
        </p:nvSpPr>
        <p:spPr/>
        <p:txBody>
          <a:bodyPr/>
          <a:lstStyle/>
          <a:p>
            <a:pPr eaLnBrk="1" hangingPunct="1"/>
            <a:r>
              <a:rPr lang="ru-RU" altLang="ru-RU"/>
              <a:t>Квантование по уровню</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17413"/>
                                        </p:tgtEl>
                                        <p:attrNameLst>
                                          <p:attrName>style.visibility</p:attrName>
                                        </p:attrNameLst>
                                      </p:cBhvr>
                                      <p:to>
                                        <p:strVal val="visible"/>
                                      </p:to>
                                    </p:set>
                                    <p:animEffect transition="in" filter="fade">
                                      <p:cBhvr>
                                        <p:cTn id="7" dur="2000"/>
                                        <p:tgtEl>
                                          <p:spTgt spid="1741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xit" presetSubtype="0" fill="hold" nodeType="clickEffect">
                                  <p:stCondLst>
                                    <p:cond delay="0"/>
                                  </p:stCondLst>
                                  <p:childTnLst>
                                    <p:animEffect transition="out" filter="fade">
                                      <p:cBhvr>
                                        <p:cTn id="11" dur="2000"/>
                                        <p:tgtEl>
                                          <p:spTgt spid="17413"/>
                                        </p:tgtEl>
                                      </p:cBhvr>
                                    </p:animEffect>
                                    <p:set>
                                      <p:cBhvr>
                                        <p:cTn id="12" dur="1" fill="hold">
                                          <p:stCondLst>
                                            <p:cond delay="1999"/>
                                          </p:stCondLst>
                                        </p:cTn>
                                        <p:tgtEl>
                                          <p:spTgt spid="17413"/>
                                        </p:tgtEl>
                                        <p:attrNameLst>
                                          <p:attrName>style.visibility</p:attrName>
                                        </p:attrNameLst>
                                      </p:cBhvr>
                                      <p:to>
                                        <p:strVal val="hidden"/>
                                      </p:to>
                                    </p:set>
                                  </p:childTnLst>
                                </p:cTn>
                              </p:par>
                              <p:par>
                                <p:cTn id="13" presetID="10" presetClass="entr" presetSubtype="0" fill="hold" nodeType="withEffect">
                                  <p:stCondLst>
                                    <p:cond delay="0"/>
                                  </p:stCondLst>
                                  <p:childTnLst>
                                    <p:set>
                                      <p:cBhvr>
                                        <p:cTn id="14" dur="1" fill="hold">
                                          <p:stCondLst>
                                            <p:cond delay="0"/>
                                          </p:stCondLst>
                                        </p:cTn>
                                        <p:tgtEl>
                                          <p:spTgt spid="17419"/>
                                        </p:tgtEl>
                                        <p:attrNameLst>
                                          <p:attrName>style.visibility</p:attrName>
                                        </p:attrNameLst>
                                      </p:cBhvr>
                                      <p:to>
                                        <p:strVal val="visible"/>
                                      </p:to>
                                    </p:set>
                                    <p:animEffect transition="in" filter="fade">
                                      <p:cBhvr>
                                        <p:cTn id="15" dur="2000"/>
                                        <p:tgtEl>
                                          <p:spTgt spid="17419"/>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10" presetClass="exit" presetSubtype="0" fill="hold" nodeType="clickEffect">
                                  <p:stCondLst>
                                    <p:cond delay="0"/>
                                  </p:stCondLst>
                                  <p:childTnLst>
                                    <p:animEffect transition="out" filter="fade">
                                      <p:cBhvr>
                                        <p:cTn id="19" dur="2000"/>
                                        <p:tgtEl>
                                          <p:spTgt spid="17419"/>
                                        </p:tgtEl>
                                      </p:cBhvr>
                                    </p:animEffect>
                                    <p:set>
                                      <p:cBhvr>
                                        <p:cTn id="20" dur="1" fill="hold">
                                          <p:stCondLst>
                                            <p:cond delay="1999"/>
                                          </p:stCondLst>
                                        </p:cTn>
                                        <p:tgtEl>
                                          <p:spTgt spid="17419"/>
                                        </p:tgtEl>
                                        <p:attrNameLst>
                                          <p:attrName>style.visibility</p:attrName>
                                        </p:attrNameLst>
                                      </p:cBhvr>
                                      <p:to>
                                        <p:strVal val="hidden"/>
                                      </p:to>
                                    </p:set>
                                  </p:childTnLst>
                                </p:cTn>
                              </p:par>
                              <p:par>
                                <p:cTn id="21" presetID="10" presetClass="entr" presetSubtype="0" fill="hold" nodeType="withEffect">
                                  <p:stCondLst>
                                    <p:cond delay="0"/>
                                  </p:stCondLst>
                                  <p:childTnLst>
                                    <p:set>
                                      <p:cBhvr>
                                        <p:cTn id="22" dur="1" fill="hold">
                                          <p:stCondLst>
                                            <p:cond delay="0"/>
                                          </p:stCondLst>
                                        </p:cTn>
                                        <p:tgtEl>
                                          <p:spTgt spid="17425"/>
                                        </p:tgtEl>
                                        <p:attrNameLst>
                                          <p:attrName>style.visibility</p:attrName>
                                        </p:attrNameLst>
                                      </p:cBhvr>
                                      <p:to>
                                        <p:strVal val="visible"/>
                                      </p:to>
                                    </p:set>
                                    <p:animEffect transition="in" filter="fade">
                                      <p:cBhvr>
                                        <p:cTn id="23" dur="2000"/>
                                        <p:tgtEl>
                                          <p:spTgt spid="174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0"/>
            <a:ext cx="8229600" cy="692696"/>
          </a:xfrm>
        </p:spPr>
        <p:txBody>
          <a:bodyPr>
            <a:normAutofit fontScale="90000"/>
          </a:bodyPr>
          <a:lstStyle/>
          <a:p>
            <a:r>
              <a:rPr lang="ru-RU" b="1" dirty="0">
                <a:solidFill>
                  <a:srgbClr val="002060"/>
                </a:solidFill>
              </a:rPr>
              <a:t>3.Кодирование(2)</a:t>
            </a:r>
            <a:endParaRPr lang="ru-RU" dirty="0"/>
          </a:p>
        </p:txBody>
      </p:sp>
      <p:sp>
        <p:nvSpPr>
          <p:cNvPr id="3" name="Содержимое 2"/>
          <p:cNvSpPr>
            <a:spLocks noGrp="1"/>
          </p:cNvSpPr>
          <p:nvPr>
            <p:ph idx="1"/>
          </p:nvPr>
        </p:nvSpPr>
        <p:spPr>
          <a:xfrm>
            <a:off x="179512" y="692696"/>
            <a:ext cx="8964488" cy="5832648"/>
          </a:xfrm>
        </p:spPr>
        <p:txBody>
          <a:bodyPr>
            <a:normAutofit fontScale="85000" lnSpcReduction="10000"/>
          </a:bodyPr>
          <a:lstStyle/>
          <a:p>
            <a:endParaRPr lang="ru-RU" dirty="0"/>
          </a:p>
          <a:p>
            <a:r>
              <a:rPr lang="ru-RU" b="1" dirty="0"/>
              <a:t>Значение шума квантования зависит от:</a:t>
            </a:r>
          </a:p>
          <a:p>
            <a:pPr>
              <a:buNone/>
            </a:pPr>
            <a:r>
              <a:rPr lang="ru-RU" dirty="0"/>
              <a:t>               -  количества уровней квантования;</a:t>
            </a:r>
          </a:p>
          <a:p>
            <a:pPr>
              <a:buNone/>
            </a:pPr>
            <a:r>
              <a:rPr lang="ru-RU" dirty="0"/>
              <a:t>                - скорости изменения сигнала;  </a:t>
            </a:r>
          </a:p>
          <a:p>
            <a:pPr>
              <a:buNone/>
            </a:pPr>
            <a:r>
              <a:rPr lang="ru-RU" dirty="0"/>
              <a:t>                - от способа выбора шага квантования.</a:t>
            </a:r>
          </a:p>
          <a:p>
            <a:r>
              <a:rPr lang="ru-RU" dirty="0"/>
              <a:t>Цифровые сигналы по сравнению с аналоговыми обладают высокой помехоустойчивостью, так как при их обнаружении на фоне шумов необходимо определить лишь наличие импульса или его отсутствие.</a:t>
            </a:r>
          </a:p>
          <a:p>
            <a:r>
              <a:rPr lang="ru-RU" b="1" dirty="0"/>
              <a:t>При кодировании можно вместо значения сигнала передавать номер разрешенного уровня.</a:t>
            </a:r>
          </a:p>
          <a:p>
            <a:r>
              <a:rPr lang="ru-RU" b="1" dirty="0"/>
              <a:t> </a:t>
            </a:r>
            <a:r>
              <a:rPr lang="ru-RU" dirty="0"/>
              <a:t>Такой способ кодирования называется</a:t>
            </a:r>
          </a:p>
          <a:p>
            <a:pPr>
              <a:buNone/>
            </a:pPr>
            <a:r>
              <a:rPr lang="ru-RU" dirty="0"/>
              <a:t>      импульсно-кодовой модуляцией (ИКМ).</a:t>
            </a:r>
          </a:p>
          <a:p>
            <a:endParaRPr lang="ru-RU"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0" y="274638"/>
            <a:ext cx="9144000" cy="850106"/>
          </a:xfrm>
        </p:spPr>
        <p:txBody>
          <a:bodyPr>
            <a:noAutofit/>
          </a:bodyPr>
          <a:lstStyle/>
          <a:p>
            <a:r>
              <a:rPr lang="ru-RU" altLang="ru-RU" sz="2800" b="1" dirty="0">
                <a:solidFill>
                  <a:srgbClr val="002060"/>
                </a:solidFill>
              </a:rPr>
              <a:t>Формирование группового сигнала  при временном разделении каналов (ВРК)</a:t>
            </a:r>
            <a:endParaRPr lang="ru-RU" sz="2800" dirty="0"/>
          </a:p>
        </p:txBody>
      </p:sp>
      <p:graphicFrame>
        <p:nvGraphicFramePr>
          <p:cNvPr id="59398" name="Object 6"/>
          <p:cNvGraphicFramePr>
            <a:graphicFrameLocks noGrp="1" noChangeAspect="1"/>
          </p:cNvGraphicFramePr>
          <p:nvPr>
            <p:ph idx="1"/>
          </p:nvPr>
        </p:nvGraphicFramePr>
        <p:xfrm>
          <a:off x="683568" y="1700808"/>
          <a:ext cx="7416824" cy="2880320"/>
        </p:xfrm>
        <a:graphic>
          <a:graphicData uri="http://schemas.openxmlformats.org/presentationml/2006/ole">
            <mc:AlternateContent xmlns:mc="http://schemas.openxmlformats.org/markup-compatibility/2006">
              <mc:Choice xmlns:v="urn:schemas-microsoft-com:vml" Requires="v">
                <p:oleObj spid="_x0000_s5122" name="Visio" r:id="rId2" imgW="6487160" imgH="3328077" progId="">
                  <p:embed/>
                </p:oleObj>
              </mc:Choice>
              <mc:Fallback>
                <p:oleObj name="Visio" r:id="rId2" imgW="6487160" imgH="3328077" progId="">
                  <p:embed/>
                  <p:pic>
                    <p:nvPicPr>
                      <p:cNvPr id="0" name="Object 6"/>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3568" y="1700808"/>
                        <a:ext cx="7416824" cy="2880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 name="Object 10"/>
          <p:cNvGraphicFramePr>
            <a:graphicFrameLocks noChangeAspect="1"/>
          </p:cNvGraphicFramePr>
          <p:nvPr/>
        </p:nvGraphicFramePr>
        <p:xfrm>
          <a:off x="481013" y="4581128"/>
          <a:ext cx="4379019" cy="2088232"/>
        </p:xfrm>
        <a:graphic>
          <a:graphicData uri="http://schemas.openxmlformats.org/presentationml/2006/ole">
            <mc:AlternateContent xmlns:mc="http://schemas.openxmlformats.org/markup-compatibility/2006">
              <mc:Choice xmlns:v="urn:schemas-microsoft-com:vml" Requires="v">
                <p:oleObj spid="_x0000_s5123" name="Visio" r:id="rId4" imgW="3876717" imgH="1695027" progId="">
                  <p:embed/>
                </p:oleObj>
              </mc:Choice>
              <mc:Fallback>
                <p:oleObj name="Visio" r:id="rId4" imgW="3876717" imgH="1695027" progId="">
                  <p:embed/>
                  <p:pic>
                    <p:nvPicPr>
                      <p:cNvPr id="0" name="Object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1013" y="4581128"/>
                        <a:ext cx="4379019" cy="2088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59398"/>
                                        </p:tgtEl>
                                        <p:attrNameLst>
                                          <p:attrName>style.visibility</p:attrName>
                                        </p:attrNameLst>
                                      </p:cBhvr>
                                      <p:to>
                                        <p:strVal val="visible"/>
                                      </p:to>
                                    </p:set>
                                    <p:animEffect transition="in" filter="blinds(horizontal)">
                                      <p:cBhvr>
                                        <p:cTn id="7" dur="500"/>
                                        <p:tgtEl>
                                          <p:spTgt spid="593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8" name="Содержимое 2" descr="C:\Users\Lena\Documents\Ленина флешка\course158_2\COURSE158_2\images\ris060.gif"/>
          <p:cNvPicPr>
            <a:picLocks noGrp="1"/>
          </p:cNvPicPr>
          <p:nvPr>
            <p:ph/>
          </p:nvPr>
        </p:nvPicPr>
        <p:blipFill>
          <a:blip r:embed="rId2" cstate="print"/>
          <a:srcRect/>
          <a:stretch>
            <a:fillRect/>
          </a:stretch>
        </p:blipFill>
        <p:spPr>
          <a:xfrm>
            <a:off x="723900" y="1244600"/>
            <a:ext cx="8128000" cy="5232400"/>
          </a:xfr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4"/>
          <p:cNvSpPr>
            <a:spLocks noGrp="1" noChangeArrowheads="1"/>
          </p:cNvSpPr>
          <p:nvPr>
            <p:ph type="title"/>
          </p:nvPr>
        </p:nvSpPr>
        <p:spPr>
          <a:xfrm>
            <a:off x="684213" y="0"/>
            <a:ext cx="8459787" cy="1484313"/>
          </a:xfrm>
        </p:spPr>
        <p:txBody>
          <a:bodyPr/>
          <a:lstStyle/>
          <a:p>
            <a:pPr eaLnBrk="1" hangingPunct="1"/>
            <a:r>
              <a:rPr lang="ru-RU" altLang="ru-RU" sz="3600" b="1" dirty="0">
                <a:solidFill>
                  <a:srgbClr val="002060"/>
                </a:solidFill>
              </a:rPr>
              <a:t>Формирование группового сигнала  при временном разделении каналов (ВРК)</a:t>
            </a:r>
          </a:p>
        </p:txBody>
      </p:sp>
      <p:graphicFrame>
        <p:nvGraphicFramePr>
          <p:cNvPr id="47109" name="Object 5"/>
          <p:cNvGraphicFramePr>
            <a:graphicFrameLocks noGrp="1" noChangeAspect="1"/>
          </p:cNvGraphicFramePr>
          <p:nvPr>
            <p:ph idx="1"/>
          </p:nvPr>
        </p:nvGraphicFramePr>
        <p:xfrm>
          <a:off x="971600" y="1463675"/>
          <a:ext cx="7776864" cy="5233988"/>
        </p:xfrm>
        <a:graphic>
          <a:graphicData uri="http://schemas.openxmlformats.org/presentationml/2006/ole">
            <mc:AlternateContent xmlns:mc="http://schemas.openxmlformats.org/markup-compatibility/2006">
              <mc:Choice xmlns:v="urn:schemas-microsoft-com:vml" Requires="v">
                <p:oleObj spid="_x0000_s6146" name="Visio" r:id="rId2" imgW="6814989" imgH="6263301" progId="">
                  <p:embed/>
                </p:oleObj>
              </mc:Choice>
              <mc:Fallback>
                <p:oleObj name="Visio" r:id="rId2" imgW="6814989" imgH="6263301" progId="">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1600" y="1463675"/>
                        <a:ext cx="7776864" cy="52339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47109"/>
                                        </p:tgtEl>
                                        <p:attrNameLst>
                                          <p:attrName>style.visibility</p:attrName>
                                        </p:attrNameLst>
                                      </p:cBhvr>
                                      <p:to>
                                        <p:strVal val="visible"/>
                                      </p:to>
                                    </p:set>
                                    <p:animEffect transition="in" filter="blinds(horizontal)">
                                      <p:cBhvr>
                                        <p:cTn id="7" dur="500"/>
                                        <p:tgtEl>
                                          <p:spTgt spid="471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0"/>
            <a:ext cx="8229600" cy="620688"/>
          </a:xfrm>
        </p:spPr>
        <p:txBody>
          <a:bodyPr>
            <a:noAutofit/>
          </a:bodyPr>
          <a:lstStyle/>
          <a:p>
            <a:r>
              <a:rPr lang="ru-RU" sz="3600" dirty="0">
                <a:solidFill>
                  <a:srgbClr val="002060"/>
                </a:solidFill>
              </a:rPr>
              <a:t>ВЫВОДЫ</a:t>
            </a:r>
          </a:p>
        </p:txBody>
      </p:sp>
      <p:sp>
        <p:nvSpPr>
          <p:cNvPr id="3" name="Содержимое 2"/>
          <p:cNvSpPr>
            <a:spLocks noGrp="1"/>
          </p:cNvSpPr>
          <p:nvPr>
            <p:ph idx="1"/>
          </p:nvPr>
        </p:nvSpPr>
        <p:spPr>
          <a:xfrm>
            <a:off x="0" y="548680"/>
            <a:ext cx="9144000" cy="6309320"/>
          </a:xfrm>
        </p:spPr>
        <p:txBody>
          <a:bodyPr>
            <a:noAutofit/>
          </a:bodyPr>
          <a:lstStyle/>
          <a:p>
            <a:r>
              <a:rPr lang="ru-RU" sz="1800" b="1" dirty="0"/>
              <a:t>В системах передачи с ВРК используются цифровые сигналы</a:t>
            </a:r>
            <a:r>
              <a:rPr lang="ru-RU" sz="1800" dirty="0"/>
              <a:t>, представляющие собой ту или иную импульсную кодовую последовательность, т.е. </a:t>
            </a:r>
            <a:r>
              <a:rPr lang="ru-RU" sz="1800" b="1" dirty="0"/>
              <a:t>это  система для передачи цифровых данных.</a:t>
            </a:r>
          </a:p>
          <a:p>
            <a:r>
              <a:rPr lang="ru-RU" sz="1800" b="1" dirty="0"/>
              <a:t>Для преобразования аналогового сигнала в цифровой используются операции</a:t>
            </a:r>
            <a:r>
              <a:rPr lang="ru-RU" sz="1800" dirty="0"/>
              <a:t>: дискретизации, квантования, кодирования.</a:t>
            </a:r>
          </a:p>
          <a:p>
            <a:r>
              <a:rPr lang="ru-RU" sz="1800" b="1" dirty="0"/>
              <a:t>Дискретизация осуществляется на основе теоремы Котельникова.</a:t>
            </a:r>
          </a:p>
          <a:p>
            <a:pPr>
              <a:buNone/>
            </a:pPr>
            <a:r>
              <a:rPr lang="ru-RU" sz="1800" dirty="0"/>
              <a:t>      Для сигналов ТЧ с полосой 0,3 … 3,4 кГц + 0,9 кГц (защитный интервал),  т.е.  </a:t>
            </a:r>
            <a:r>
              <a:rPr lang="ru-RU" sz="1800" dirty="0" err="1"/>
              <a:t>fв</a:t>
            </a:r>
            <a:r>
              <a:rPr lang="ru-RU" sz="1800" dirty="0"/>
              <a:t> = 4 кГц.</a:t>
            </a:r>
          </a:p>
          <a:p>
            <a:r>
              <a:rPr lang="ru-RU" sz="1800" dirty="0"/>
              <a:t> </a:t>
            </a:r>
            <a:r>
              <a:rPr lang="ru-RU" sz="1800" b="1" dirty="0"/>
              <a:t>Тактовая частота дискретизации </a:t>
            </a:r>
            <a:r>
              <a:rPr lang="ru-RU" sz="1800" b="1" dirty="0" err="1"/>
              <a:t>fт</a:t>
            </a:r>
            <a:r>
              <a:rPr lang="ru-RU" sz="1800" b="1" dirty="0"/>
              <a:t> = 2fв = 8 кГц. </a:t>
            </a:r>
          </a:p>
          <a:p>
            <a:r>
              <a:rPr lang="ru-RU" sz="1800" b="1" dirty="0"/>
              <a:t>Каждый отсчёт передаётся 8 битами</a:t>
            </a:r>
            <a:r>
              <a:rPr lang="ru-RU" sz="1800" dirty="0"/>
              <a:t>, следовательно, сигнал ТЧ можно передавать со скоростью  </a:t>
            </a:r>
            <a:r>
              <a:rPr lang="ru-RU" sz="1800" dirty="0" err="1"/>
              <a:t>fт</a:t>
            </a:r>
            <a:r>
              <a:rPr lang="ru-RU" sz="1800" dirty="0"/>
              <a:t> × 8 бит = 8000×8 = 64 кбит/с.-  это скорость передачи одного канала.</a:t>
            </a:r>
          </a:p>
          <a:p>
            <a:r>
              <a:rPr lang="ru-RU" sz="1800" b="1" dirty="0"/>
              <a:t>Отсчёты передаются в виде восьмиразрядных двоичных чисел, получаемых при квантовании отсчётов</a:t>
            </a:r>
            <a:r>
              <a:rPr lang="ru-RU" sz="1800" dirty="0"/>
              <a:t>. </a:t>
            </a:r>
          </a:p>
          <a:p>
            <a:r>
              <a:rPr lang="ru-RU" sz="1800" dirty="0"/>
              <a:t>Т.к. квантование имеет конечное число уровней, то очевидно, что квантованный сигнал не является точным. </a:t>
            </a:r>
            <a:r>
              <a:rPr lang="ru-RU" sz="1800" b="1" dirty="0"/>
              <a:t>Разница между истинным значением отсчёта и его квантованным значением – это шум квантования</a:t>
            </a:r>
            <a:r>
              <a:rPr lang="ru-RU" sz="1800" dirty="0"/>
              <a:t>.</a:t>
            </a:r>
          </a:p>
          <a:p>
            <a:r>
              <a:rPr lang="ru-RU" sz="1800" dirty="0"/>
              <a:t>   </a:t>
            </a:r>
            <a:r>
              <a:rPr lang="ru-RU" sz="1800" u="sng" dirty="0"/>
              <a:t>Значение шума квантования зависит:</a:t>
            </a:r>
          </a:p>
          <a:p>
            <a:pPr>
              <a:buNone/>
            </a:pPr>
            <a:r>
              <a:rPr lang="ru-RU" sz="1800" dirty="0"/>
              <a:t>          -от количества уровней квантования;</a:t>
            </a:r>
          </a:p>
          <a:p>
            <a:pPr>
              <a:buNone/>
            </a:pPr>
            <a:r>
              <a:rPr lang="ru-RU" sz="1800" dirty="0"/>
              <a:t>          -  скорости изменения сигнала;</a:t>
            </a:r>
          </a:p>
          <a:p>
            <a:pPr>
              <a:buNone/>
            </a:pPr>
            <a:r>
              <a:rPr lang="ru-RU" sz="1800" dirty="0"/>
              <a:t>          - способа выбора шага квантования.</a:t>
            </a:r>
          </a:p>
          <a:p>
            <a:endParaRPr lang="ru-RU" sz="2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692696"/>
            <a:ext cx="8229600" cy="5544616"/>
          </a:xfrm>
        </p:spPr>
        <p:txBody>
          <a:bodyPr>
            <a:normAutofit/>
          </a:bodyPr>
          <a:lstStyle/>
          <a:p>
            <a:pPr algn="l"/>
            <a:r>
              <a:rPr lang="ru-RU" b="1" dirty="0">
                <a:solidFill>
                  <a:srgbClr val="002060"/>
                </a:solidFill>
              </a:rPr>
              <a:t>1.</a:t>
            </a:r>
            <a:r>
              <a:rPr lang="ru-RU" b="1" dirty="0">
                <a:solidFill>
                  <a:srgbClr val="002060"/>
                </a:solidFill>
                <a:effectLst>
                  <a:outerShdw blurRad="38100" dist="38100" dir="2700000" algn="tl">
                    <a:srgbClr val="000000">
                      <a:alpha val="43137"/>
                    </a:srgbClr>
                  </a:outerShdw>
                </a:effectLst>
              </a:rPr>
              <a:t> Мультиплексирование</a:t>
            </a:r>
            <a:br>
              <a:rPr lang="ru-RU" b="1" dirty="0">
                <a:solidFill>
                  <a:srgbClr val="002060"/>
                </a:solidFill>
                <a:effectLst>
                  <a:outerShdw blurRad="38100" dist="38100" dir="2700000" algn="tl">
                    <a:srgbClr val="000000">
                      <a:alpha val="43137"/>
                    </a:srgbClr>
                  </a:outerShdw>
                </a:effectLst>
              </a:rPr>
            </a:br>
            <a:r>
              <a:rPr lang="ru-RU" b="1" dirty="0">
                <a:solidFill>
                  <a:srgbClr val="002060"/>
                </a:solidFill>
                <a:effectLst>
                  <a:outerShdw blurRad="38100" dist="38100" dir="2700000" algn="tl">
                    <a:srgbClr val="000000">
                      <a:alpha val="43137"/>
                    </a:srgbClr>
                  </a:outerShdw>
                </a:effectLst>
              </a:rPr>
              <a:t>2.</a:t>
            </a:r>
            <a:r>
              <a:rPr lang="ru-RU" altLang="ru-RU" b="1" dirty="0">
                <a:solidFill>
                  <a:srgbClr val="002060"/>
                </a:solidFill>
                <a:effectLst>
                  <a:outerShdw blurRad="38100" dist="38100" dir="2700000" algn="tl">
                    <a:srgbClr val="000000">
                      <a:alpha val="43137"/>
                    </a:srgbClr>
                  </a:outerShdw>
                </a:effectLst>
              </a:rPr>
              <a:t>Классификация методов  мультиплексирования</a:t>
            </a:r>
            <a:br>
              <a:rPr lang="ru-RU" altLang="ru-RU" b="1" dirty="0">
                <a:solidFill>
                  <a:srgbClr val="002060"/>
                </a:solidFill>
                <a:effectLst>
                  <a:outerShdw blurRad="38100" dist="38100" dir="2700000" algn="tl">
                    <a:srgbClr val="000000">
                      <a:alpha val="43137"/>
                    </a:srgbClr>
                  </a:outerShdw>
                </a:effectLst>
              </a:rPr>
            </a:br>
            <a:r>
              <a:rPr lang="en-US" b="1" dirty="0">
                <a:solidFill>
                  <a:srgbClr val="002060"/>
                </a:solidFill>
                <a:effectLst>
                  <a:outerShdw blurRad="38100" dist="38100" dir="2700000" algn="tl">
                    <a:srgbClr val="000000">
                      <a:alpha val="43137"/>
                    </a:srgbClr>
                  </a:outerShdw>
                </a:effectLst>
              </a:rPr>
              <a:t> </a:t>
            </a:r>
            <a:r>
              <a:rPr lang="ru-RU" b="1" dirty="0">
                <a:solidFill>
                  <a:srgbClr val="002060"/>
                </a:solidFill>
                <a:effectLst>
                  <a:outerShdw blurRad="38100" dist="38100" dir="2700000" algn="tl">
                    <a:srgbClr val="000000">
                      <a:alpha val="43137"/>
                    </a:srgbClr>
                  </a:outerShdw>
                </a:effectLst>
              </a:rPr>
              <a:t>3.Иерархии цифровых систем передачи (ЦСП) связи </a:t>
            </a:r>
            <a:br>
              <a:rPr lang="ru-RU" b="1" dirty="0">
                <a:solidFill>
                  <a:srgbClr val="002060"/>
                </a:solidFill>
                <a:effectLst>
                  <a:outerShdw blurRad="38100" dist="38100" dir="2700000" algn="tl">
                    <a:srgbClr val="000000">
                      <a:alpha val="43137"/>
                    </a:srgbClr>
                  </a:outerShdw>
                </a:effectLst>
              </a:rPr>
            </a:br>
            <a:r>
              <a:rPr lang="ru-RU" altLang="ru-RU" b="1" dirty="0">
                <a:solidFill>
                  <a:srgbClr val="002060"/>
                </a:solidFill>
                <a:effectLst>
                  <a:outerShdw blurRad="38100" dist="38100" dir="2700000" algn="tl">
                    <a:srgbClr val="000000">
                      <a:alpha val="43137"/>
                    </a:srgbClr>
                  </a:outerShdw>
                </a:effectLst>
              </a:rPr>
              <a:t>4.</a:t>
            </a:r>
            <a:r>
              <a:rPr lang="ru-RU" b="1" dirty="0">
                <a:solidFill>
                  <a:srgbClr val="002060"/>
                </a:solidFill>
              </a:rPr>
              <a:t>Системы передачи</a:t>
            </a:r>
            <a:r>
              <a:rPr lang="en-US" b="1" dirty="0">
                <a:solidFill>
                  <a:srgbClr val="002060"/>
                </a:solidFill>
              </a:rPr>
              <a:t>PDH</a:t>
            </a:r>
            <a:endParaRPr lang="ru-RU" b="1" dirty="0">
              <a:solidFill>
                <a:srgbClr val="002060"/>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778098"/>
          </a:xfrm>
        </p:spPr>
        <p:txBody>
          <a:bodyPr>
            <a:normAutofit/>
          </a:bodyPr>
          <a:lstStyle/>
          <a:p>
            <a:r>
              <a:rPr lang="ru-RU" sz="3600" b="1" dirty="0">
                <a:solidFill>
                  <a:srgbClr val="002060"/>
                </a:solidFill>
              </a:rPr>
              <a:t>Системы передачи</a:t>
            </a:r>
            <a:endParaRPr lang="ru-RU" sz="3600" dirty="0">
              <a:solidFill>
                <a:srgbClr val="002060"/>
              </a:solidFill>
            </a:endParaRPr>
          </a:p>
        </p:txBody>
      </p:sp>
      <p:sp>
        <p:nvSpPr>
          <p:cNvPr id="3" name="Содержимое 2"/>
          <p:cNvSpPr>
            <a:spLocks noGrp="1"/>
          </p:cNvSpPr>
          <p:nvPr>
            <p:ph idx="1"/>
          </p:nvPr>
        </p:nvSpPr>
        <p:spPr>
          <a:xfrm>
            <a:off x="179512" y="1196752"/>
            <a:ext cx="8784976" cy="5472608"/>
          </a:xfrm>
        </p:spPr>
        <p:txBody>
          <a:bodyPr>
            <a:normAutofit fontScale="77500" lnSpcReduction="20000"/>
          </a:bodyPr>
          <a:lstStyle/>
          <a:p>
            <a:r>
              <a:rPr lang="ru-RU" dirty="0"/>
              <a:t>Высокая стоимость линейно-кабельных сооружений стимулировала развитие многоканальной связи. Этот термин обычно используется в тех случаях, когда среда передачи (например, два или четыре провода, оптическое волокно или пара волокон) обеспечивает создание некоторого количества каналов. </a:t>
            </a:r>
          </a:p>
          <a:p>
            <a:r>
              <a:rPr lang="ru-RU" b="1" dirty="0"/>
              <a:t>Оборудование, обеспечивающее такую возможность, называется системой передачи (СП). </a:t>
            </a:r>
          </a:p>
          <a:p>
            <a:pPr>
              <a:buNone/>
            </a:pPr>
            <a:r>
              <a:rPr lang="ru-RU" dirty="0"/>
              <a:t>Ранее чаще встречался термин "аппаратура уплотнения".</a:t>
            </a:r>
          </a:p>
          <a:p>
            <a:r>
              <a:rPr lang="ru-RU" dirty="0"/>
              <a:t>Принципы уплотнения  (мультиплексирования) основаны на различных способах разделения каналов.</a:t>
            </a:r>
          </a:p>
          <a:p>
            <a:r>
              <a:rPr lang="ru-RU" dirty="0"/>
              <a:t> Можно выделить три базовых способа уплотнения </a:t>
            </a:r>
            <a:r>
              <a:rPr lang="ru-RU" dirty="0">
                <a:effectLst>
                  <a:outerShdw blurRad="38100" dist="38100" dir="2700000" algn="tl">
                    <a:srgbClr val="000000">
                      <a:alpha val="43137"/>
                    </a:srgbClr>
                  </a:outerShdw>
                </a:effectLst>
              </a:rPr>
              <a:t>–</a:t>
            </a:r>
            <a:endParaRPr lang="en-US" dirty="0">
              <a:effectLst>
                <a:outerShdw blurRad="38100" dist="38100" dir="2700000" algn="tl">
                  <a:srgbClr val="000000">
                    <a:alpha val="43137"/>
                  </a:srgbClr>
                </a:outerShdw>
              </a:effectLst>
            </a:endParaRPr>
          </a:p>
          <a:p>
            <a:pPr>
              <a:buNone/>
            </a:pPr>
            <a:r>
              <a:rPr lang="en-US" dirty="0">
                <a:effectLst>
                  <a:outerShdw blurRad="38100" dist="38100" dir="2700000" algn="tl">
                    <a:srgbClr val="000000">
                      <a:alpha val="43137"/>
                    </a:srgbClr>
                  </a:outerShdw>
                </a:effectLst>
              </a:rPr>
              <a:t>    </a:t>
            </a:r>
            <a:r>
              <a:rPr lang="ru-RU" dirty="0">
                <a:effectLst>
                  <a:outerShdw blurRad="38100" dist="38100" dir="2700000" algn="tl">
                    <a:srgbClr val="000000">
                      <a:alpha val="43137"/>
                    </a:srgbClr>
                  </a:outerShdw>
                </a:effectLst>
              </a:rPr>
              <a:t> </a:t>
            </a:r>
            <a:r>
              <a:rPr lang="ru-RU" dirty="0"/>
              <a:t>частотное (ЧРК) , временн</a:t>
            </a:r>
            <a:r>
              <a:rPr lang="ru-RU" i="1" dirty="0"/>
              <a:t>о</a:t>
            </a:r>
            <a:r>
              <a:rPr lang="ru-RU" dirty="0"/>
              <a:t>е (ВРК) разделение каналов , разделение по длине волны (</a:t>
            </a:r>
            <a:r>
              <a:rPr lang="en-US" dirty="0"/>
              <a:t>WDM)</a:t>
            </a:r>
            <a:r>
              <a:rPr lang="ru-RU" dirty="0"/>
              <a:t>.</a:t>
            </a:r>
            <a:endParaRPr lang="en-US" dirty="0"/>
          </a:p>
          <a:p>
            <a:pPr>
              <a:buNone/>
            </a:pPr>
            <a:r>
              <a:rPr lang="ru-RU" dirty="0">
                <a:effectLst>
                  <a:outerShdw blurRad="38100" dist="38100" dir="2700000" algn="tl">
                    <a:srgbClr val="000000">
                      <a:alpha val="43137"/>
                    </a:srgbClr>
                  </a:outerShdw>
                </a:effectLst>
              </a:rPr>
              <a:t>Рассмотрим структурную схему  ЦСП (цифровая система передачи).</a:t>
            </a:r>
          </a:p>
          <a:p>
            <a:endParaRPr lang="ru-RU"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0" y="274638"/>
            <a:ext cx="9144000" cy="418058"/>
          </a:xfrm>
        </p:spPr>
        <p:txBody>
          <a:bodyPr>
            <a:normAutofit fontScale="90000"/>
          </a:bodyPr>
          <a:lstStyle/>
          <a:p>
            <a:br>
              <a:rPr lang="ru-RU" dirty="0"/>
            </a:br>
            <a:r>
              <a:rPr lang="ru-RU" dirty="0">
                <a:solidFill>
                  <a:srgbClr val="002060"/>
                </a:solidFill>
              </a:rPr>
              <a:t>С</a:t>
            </a:r>
            <a:r>
              <a:rPr lang="ru-RU" sz="3600" b="1" dirty="0">
                <a:solidFill>
                  <a:srgbClr val="002060"/>
                </a:solidFill>
              </a:rPr>
              <a:t>истемы передачи</a:t>
            </a:r>
            <a:r>
              <a:rPr lang="en-US" sz="3600" b="1" dirty="0">
                <a:solidFill>
                  <a:srgbClr val="002060"/>
                </a:solidFill>
              </a:rPr>
              <a:t> </a:t>
            </a:r>
            <a:br>
              <a:rPr lang="ru-RU" b="1" dirty="0">
                <a:solidFill>
                  <a:srgbClr val="002060"/>
                </a:solidFill>
              </a:rPr>
            </a:br>
            <a:endParaRPr lang="ru-RU" b="1" dirty="0">
              <a:solidFill>
                <a:srgbClr val="002060"/>
              </a:solidFill>
            </a:endParaRPr>
          </a:p>
        </p:txBody>
      </p:sp>
      <p:sp>
        <p:nvSpPr>
          <p:cNvPr id="3" name="Содержимое 2"/>
          <p:cNvSpPr>
            <a:spLocks noGrp="1"/>
          </p:cNvSpPr>
          <p:nvPr>
            <p:ph idx="1"/>
          </p:nvPr>
        </p:nvSpPr>
        <p:spPr>
          <a:xfrm>
            <a:off x="179512" y="836712"/>
            <a:ext cx="8964488" cy="4968552"/>
          </a:xfrm>
        </p:spPr>
        <p:txBody>
          <a:bodyPr>
            <a:normAutofit fontScale="25000" lnSpcReduction="20000"/>
          </a:bodyPr>
          <a:lstStyle/>
          <a:p>
            <a:r>
              <a:rPr lang="ru-RU" sz="8000" dirty="0"/>
              <a:t>  С точки зрения преобразования сигналов </a:t>
            </a:r>
            <a:r>
              <a:rPr lang="ru-RU" sz="8000" dirty="0">
                <a:effectLst>
                  <a:outerShdw blurRad="38100" dist="38100" dir="2700000" algn="tl">
                    <a:srgbClr val="000000">
                      <a:alpha val="43137"/>
                    </a:srgbClr>
                  </a:outerShdw>
                </a:effectLst>
              </a:rPr>
              <a:t>структурная схема цифровой системы передачи</a:t>
            </a:r>
            <a:r>
              <a:rPr lang="ru-RU" sz="8000" dirty="0"/>
              <a:t> представлена на рисунке.</a:t>
            </a:r>
          </a:p>
          <a:p>
            <a:r>
              <a:rPr lang="ru-RU" sz="8000" b="1" dirty="0"/>
              <a:t> Передача</a:t>
            </a:r>
            <a:endParaRPr lang="ru-RU" sz="8000" dirty="0"/>
          </a:p>
          <a:p>
            <a:pPr>
              <a:buNone/>
            </a:pPr>
            <a:r>
              <a:rPr lang="ru-RU" sz="8000" dirty="0"/>
              <a:t>         -  Непрерывный аналоговый сигнал от источника информации (ИИ) поступает </a:t>
            </a:r>
            <a:r>
              <a:rPr lang="ru-RU" sz="8000" dirty="0">
                <a:effectLst>
                  <a:outerShdw blurRad="38100" dist="38100" dir="2700000" algn="tl">
                    <a:srgbClr val="000000">
                      <a:alpha val="43137"/>
                    </a:srgbClr>
                  </a:outerShdw>
                </a:effectLst>
              </a:rPr>
              <a:t>на </a:t>
            </a:r>
            <a:r>
              <a:rPr lang="ru-RU" sz="8000" dirty="0" err="1">
                <a:effectLst>
                  <a:outerShdw blurRad="38100" dist="38100" dir="2700000" algn="tl">
                    <a:srgbClr val="000000">
                      <a:alpha val="43137"/>
                    </a:srgbClr>
                  </a:outerShdw>
                </a:effectLst>
              </a:rPr>
              <a:t>дискретизатор</a:t>
            </a:r>
            <a:r>
              <a:rPr lang="ru-RU" sz="8000" dirty="0">
                <a:effectLst>
                  <a:outerShdw blurRad="38100" dist="38100" dir="2700000" algn="tl">
                    <a:srgbClr val="000000">
                      <a:alpha val="43137"/>
                    </a:srgbClr>
                  </a:outerShdw>
                </a:effectLst>
              </a:rPr>
              <a:t> (Д), </a:t>
            </a:r>
            <a:r>
              <a:rPr lang="ru-RU" sz="8000" dirty="0"/>
              <a:t>в котором преобразуется в дискретные по времени отсчеты.</a:t>
            </a:r>
          </a:p>
          <a:p>
            <a:pPr>
              <a:buNone/>
            </a:pPr>
            <a:r>
              <a:rPr lang="ru-RU" sz="8000" dirty="0"/>
              <a:t>        - </a:t>
            </a:r>
            <a:r>
              <a:rPr lang="ru-RU" sz="8000" dirty="0">
                <a:effectLst>
                  <a:outerShdw blurRad="38100" dist="38100" dir="2700000" algn="tl">
                    <a:srgbClr val="000000">
                      <a:alpha val="43137"/>
                    </a:srgbClr>
                  </a:outerShdw>
                </a:effectLst>
              </a:rPr>
              <a:t>В квантующем устройстве (КУ</a:t>
            </a:r>
            <a:r>
              <a:rPr lang="ru-RU" sz="8000" dirty="0"/>
              <a:t>) осуществляется квантование временных отсчетов сигнала по амплитуде. </a:t>
            </a:r>
          </a:p>
          <a:p>
            <a:pPr>
              <a:buNone/>
            </a:pPr>
            <a:r>
              <a:rPr lang="ru-RU" sz="8000" dirty="0">
                <a:effectLst>
                  <a:outerShdw blurRad="38100" dist="38100" dir="2700000" algn="tl">
                    <a:srgbClr val="000000">
                      <a:alpha val="43137"/>
                    </a:srgbClr>
                  </a:outerShdw>
                </a:effectLst>
              </a:rPr>
              <a:t>        - Аналого-цифровой преобразователь (АЦП, кодек) </a:t>
            </a:r>
            <a:r>
              <a:rPr lang="ru-RU" sz="8000" dirty="0"/>
              <a:t>осуществляет преобразование дискретного по времени и амплитуде аналогового сигнала в цифровой.</a:t>
            </a:r>
          </a:p>
          <a:p>
            <a:r>
              <a:rPr lang="ru-RU" sz="8000" b="1" dirty="0"/>
              <a:t>Прием</a:t>
            </a:r>
            <a:endParaRPr lang="ru-RU" sz="8000" dirty="0"/>
          </a:p>
          <a:p>
            <a:pPr>
              <a:buNone/>
            </a:pPr>
            <a:r>
              <a:rPr lang="ru-RU" sz="8000" dirty="0"/>
              <a:t>        - </a:t>
            </a:r>
            <a:r>
              <a:rPr lang="ru-RU" sz="8000" dirty="0">
                <a:effectLst>
                  <a:outerShdw blurRad="38100" dist="38100" dir="2700000" algn="tl">
                    <a:srgbClr val="000000">
                      <a:alpha val="43137"/>
                    </a:srgbClr>
                  </a:outerShdw>
                </a:effectLst>
              </a:rPr>
              <a:t>В цифро-аналоговом преобразователе (ЦАП, кодек</a:t>
            </a:r>
            <a:r>
              <a:rPr lang="ru-RU" sz="8000" dirty="0"/>
              <a:t>) происходит обратное преобразование цифрового сигнала в дискретный по времени и амплитуде аналоговый сигнал. </a:t>
            </a:r>
          </a:p>
          <a:p>
            <a:pPr>
              <a:buNone/>
            </a:pPr>
            <a:r>
              <a:rPr lang="ru-RU" sz="8000" dirty="0">
                <a:effectLst>
                  <a:outerShdw blurRad="38100" dist="38100" dir="2700000" algn="tl">
                    <a:srgbClr val="000000">
                      <a:alpha val="43137"/>
                    </a:srgbClr>
                  </a:outerShdw>
                </a:effectLst>
              </a:rPr>
              <a:t>       - Устройство восстановления (УВ) </a:t>
            </a:r>
            <a:r>
              <a:rPr lang="ru-RU" sz="8000" dirty="0"/>
              <a:t>восстанавливает непрерывный сигнал, поступающий </a:t>
            </a:r>
            <a:r>
              <a:rPr lang="ru-RU" sz="8000" dirty="0">
                <a:effectLst>
                  <a:outerShdw blurRad="38100" dist="38100" dir="2700000" algn="tl">
                    <a:srgbClr val="000000">
                      <a:alpha val="43137"/>
                    </a:srgbClr>
                  </a:outerShdw>
                </a:effectLst>
              </a:rPr>
              <a:t>в приемник информации (ПИ).</a:t>
            </a:r>
          </a:p>
          <a:p>
            <a:pPr>
              <a:buNone/>
            </a:pPr>
            <a:endParaRPr lang="ru-RU" sz="6200" dirty="0"/>
          </a:p>
          <a:p>
            <a:pPr>
              <a:buNone/>
            </a:pPr>
            <a:r>
              <a:rPr lang="ru-RU" sz="6200" dirty="0"/>
              <a:t> </a:t>
            </a:r>
          </a:p>
          <a:p>
            <a:endParaRPr lang="ru-RU" dirty="0"/>
          </a:p>
        </p:txBody>
      </p:sp>
      <p:pic>
        <p:nvPicPr>
          <p:cNvPr id="4" name="Рисунок 3" descr="Рисунок 1.5. Структурная схема цифровой системы передачи"/>
          <p:cNvPicPr/>
          <p:nvPr/>
        </p:nvPicPr>
        <p:blipFill>
          <a:blip r:embed="rId2" cstate="print"/>
          <a:srcRect/>
          <a:stretch>
            <a:fillRect/>
          </a:stretch>
        </p:blipFill>
        <p:spPr bwMode="auto">
          <a:xfrm>
            <a:off x="683568" y="5949280"/>
            <a:ext cx="8208912" cy="908720"/>
          </a:xfrm>
          <a:prstGeom prst="rect">
            <a:avLst/>
          </a:prstGeom>
          <a:noFill/>
          <a:ln w="9525">
            <a:noFill/>
            <a:miter lim="800000"/>
            <a:headEnd/>
            <a:tailEnd/>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85211" y="1"/>
            <a:ext cx="7886700" cy="530421"/>
          </a:xfrm>
        </p:spPr>
        <p:txBody>
          <a:bodyPr>
            <a:noAutofit/>
          </a:bodyPr>
          <a:lstStyle/>
          <a:p>
            <a:pPr algn="ctr"/>
            <a:r>
              <a:rPr lang="ru-RU" sz="3600" b="1" dirty="0">
                <a:solidFill>
                  <a:srgbClr val="002060"/>
                </a:solidFill>
                <a:effectLst>
                  <a:outerShdw blurRad="38100" dist="38100" dir="2700000" algn="tl">
                    <a:srgbClr val="000000">
                      <a:alpha val="43137"/>
                    </a:srgbClr>
                  </a:outerShdw>
                </a:effectLst>
              </a:rPr>
              <a:t>Мультиплексирование</a:t>
            </a:r>
          </a:p>
        </p:txBody>
      </p:sp>
      <p:sp>
        <p:nvSpPr>
          <p:cNvPr id="3" name="TextBox 2"/>
          <p:cNvSpPr txBox="1"/>
          <p:nvPr/>
        </p:nvSpPr>
        <p:spPr>
          <a:xfrm>
            <a:off x="0" y="476673"/>
            <a:ext cx="9144000" cy="1384995"/>
          </a:xfrm>
          <a:prstGeom prst="rect">
            <a:avLst/>
          </a:prstGeom>
          <a:noFill/>
        </p:spPr>
        <p:txBody>
          <a:bodyPr wrap="square" rtlCol="0">
            <a:spAutoFit/>
          </a:bodyPr>
          <a:lstStyle/>
          <a:p>
            <a:pPr marL="457200" indent="-457200" algn="just">
              <a:buFont typeface="Wingdings" panose="05000000000000000000" pitchFamily="2" charset="2"/>
              <a:buNone/>
            </a:pPr>
            <a:r>
              <a:rPr lang="ru-RU" altLang="ru-RU" b="1" dirty="0"/>
              <a:t>Мультиплексирование</a:t>
            </a:r>
            <a:r>
              <a:rPr lang="ru-RU" altLang="ru-RU" sz="1600" dirty="0"/>
              <a:t> – образование из нескольких отдельных потоков общего агрегированного потока, который передается по одному физическому каналу связи.</a:t>
            </a:r>
            <a:endParaRPr lang="en-US" altLang="ru-RU" sz="1600" dirty="0"/>
          </a:p>
          <a:p>
            <a:r>
              <a:rPr lang="ru-RU" altLang="ru-RU" b="1" dirty="0"/>
              <a:t>Демультиплексирование</a:t>
            </a:r>
            <a:r>
              <a:rPr lang="ru-RU" altLang="ru-RU" sz="1600" dirty="0"/>
              <a:t> – разделение суммарного агрегированного потока на несколько составляющих его потоков.</a:t>
            </a:r>
          </a:p>
          <a:p>
            <a:r>
              <a:rPr lang="ru-RU" sz="1600" dirty="0">
                <a:effectLst>
                  <a:outerShdw blurRad="38100" dist="38100" dir="2700000" algn="tl">
                    <a:srgbClr val="000000">
                      <a:alpha val="43137"/>
                    </a:srgbClr>
                  </a:outerShdw>
                </a:effectLst>
              </a:rPr>
              <a:t>Устройство, осуществляющее операцию мультиплексирования называется мультиплексором </a:t>
            </a:r>
          </a:p>
        </p:txBody>
      </p:sp>
      <p:pic>
        <p:nvPicPr>
          <p:cNvPr id="2052" name="Picture 4" descr="Глава 6. (Н)"/>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1988840"/>
            <a:ext cx="4283968" cy="1944216"/>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4284483" y="1844824"/>
            <a:ext cx="4765250" cy="5016758"/>
          </a:xfrm>
          <a:prstGeom prst="rect">
            <a:avLst/>
          </a:prstGeom>
          <a:noFill/>
        </p:spPr>
        <p:txBody>
          <a:bodyPr wrap="square" rtlCol="0">
            <a:spAutoFit/>
          </a:bodyPr>
          <a:lstStyle/>
          <a:p>
            <a:pPr marL="457200" indent="-457200" algn="just">
              <a:buFont typeface="Wingdings" panose="05000000000000000000" pitchFamily="2" charset="2"/>
              <a:buNone/>
            </a:pPr>
            <a:r>
              <a:rPr lang="ru-RU" altLang="ru-RU" sz="1600" b="1" u="sng" dirty="0">
                <a:effectLst>
                  <a:outerShdw blurRad="38100" dist="38100" dir="2700000" algn="tl">
                    <a:srgbClr val="000000">
                      <a:alpha val="43137"/>
                    </a:srgbClr>
                  </a:outerShdw>
                </a:effectLst>
              </a:rPr>
              <a:t>СПОСОБЫ МУЛЬТИПЛЕКСИРОВАНИЯ</a:t>
            </a:r>
            <a:r>
              <a:rPr lang="ru-RU" altLang="ru-RU" sz="1600" b="1" dirty="0">
                <a:effectLst>
                  <a:outerShdw blurRad="38100" dist="38100" dir="2700000" algn="tl">
                    <a:srgbClr val="000000">
                      <a:alpha val="43137"/>
                    </a:srgbClr>
                  </a:outerShdw>
                </a:effectLst>
              </a:rPr>
              <a:t>:</a:t>
            </a:r>
          </a:p>
          <a:p>
            <a:pPr marL="457200" indent="-457200" algn="just">
              <a:buFont typeface="Wingdings" panose="05000000000000000000" pitchFamily="2" charset="2"/>
              <a:buNone/>
            </a:pPr>
            <a:endParaRPr lang="ru-RU" altLang="ru-RU" sz="1600" b="1" dirty="0">
              <a:effectLst>
                <a:outerShdw blurRad="38100" dist="38100" dir="2700000" algn="tl">
                  <a:srgbClr val="000000">
                    <a:alpha val="43137"/>
                  </a:srgbClr>
                </a:outerShdw>
              </a:effectLst>
            </a:endParaRPr>
          </a:p>
          <a:p>
            <a:pPr marL="457200" indent="-457200" algn="just"/>
            <a:r>
              <a:rPr lang="ru-RU" altLang="ru-RU" sz="1600" b="1" u="sng" dirty="0"/>
              <a:t>Разделение времени </a:t>
            </a:r>
            <a:r>
              <a:rPr lang="en-GB" sz="1600" dirty="0"/>
              <a:t>(Time Division Multiplexing, TDM)</a:t>
            </a:r>
            <a:r>
              <a:rPr lang="ru-RU" sz="1600" dirty="0"/>
              <a:t> </a:t>
            </a:r>
            <a:r>
              <a:rPr lang="ru-RU" altLang="ru-RU" sz="1600" dirty="0"/>
              <a:t>– каждый поток периодически на определенное время получает физический канал в свое полное распоряжение и передает по нему свои данные;</a:t>
            </a:r>
          </a:p>
          <a:p>
            <a:pPr marL="457200" indent="-457200" algn="just"/>
            <a:endParaRPr lang="ru-RU" altLang="ru-RU" sz="1600" dirty="0"/>
          </a:p>
          <a:p>
            <a:pPr marL="457200" indent="-457200" algn="just"/>
            <a:r>
              <a:rPr lang="ru-RU" altLang="ru-RU" sz="1600" b="1" u="sng" dirty="0"/>
              <a:t>Частотное разделение </a:t>
            </a:r>
            <a:r>
              <a:rPr lang="en-GB" sz="1600" dirty="0"/>
              <a:t>(Frequency Division Multiplexing, FDM)</a:t>
            </a:r>
            <a:r>
              <a:rPr lang="ru-RU" altLang="ru-RU" sz="1600" b="1" dirty="0"/>
              <a:t> </a:t>
            </a:r>
            <a:r>
              <a:rPr lang="ru-RU" altLang="ru-RU" sz="1600" dirty="0"/>
              <a:t>– каждый поток передает данные в выделенном ему частотном диапазоне. </a:t>
            </a:r>
          </a:p>
          <a:p>
            <a:pPr marL="457200" indent="-457200" algn="just"/>
            <a:endParaRPr lang="ru-RU" altLang="ru-RU" sz="1600" dirty="0"/>
          </a:p>
          <a:p>
            <a:pPr marL="457200" indent="-457200" algn="just"/>
            <a:r>
              <a:rPr lang="ru-RU" altLang="ru-RU" sz="1600" b="1" u="sng" dirty="0"/>
              <a:t>Разделение по длине волны</a:t>
            </a:r>
            <a:r>
              <a:rPr lang="ru-RU" altLang="ru-RU" sz="1600" u="sng" dirty="0"/>
              <a:t> </a:t>
            </a:r>
            <a:r>
              <a:rPr lang="ru-RU" sz="1600" dirty="0"/>
              <a:t>(</a:t>
            </a:r>
            <a:r>
              <a:rPr lang="ru-RU" sz="1600" dirty="0" err="1"/>
              <a:t>wavelength-division</a:t>
            </a:r>
            <a:r>
              <a:rPr lang="ru-RU" sz="1600" dirty="0"/>
              <a:t> </a:t>
            </a:r>
            <a:r>
              <a:rPr lang="ru-RU" sz="1600" dirty="0" err="1"/>
              <a:t>multiplexing</a:t>
            </a:r>
            <a:r>
              <a:rPr lang="ru-RU" sz="1600" dirty="0"/>
              <a:t>, WDM) – каждый поток передает данные в выделенном диапазоне длин волн. Передающие устройства, работающие на различных длинах волн, посылают сигналы  одновременно. На противоположном конце линии сигналы разделяются по длинам волн. </a:t>
            </a:r>
          </a:p>
        </p:txBody>
      </p:sp>
      <p:pic>
        <p:nvPicPr>
          <p:cNvPr id="8" name="Picture 6" descr="pic01_mux"/>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4149" y="4018018"/>
            <a:ext cx="3539951" cy="24361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1951562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395536" y="101175"/>
            <a:ext cx="8424936" cy="530421"/>
          </a:xfrm>
        </p:spPr>
        <p:txBody>
          <a:bodyPr>
            <a:normAutofit fontScale="90000"/>
          </a:bodyPr>
          <a:lstStyle/>
          <a:p>
            <a:pPr algn="ctr"/>
            <a:r>
              <a:rPr lang="ru-RU" altLang="ru-RU" sz="3100" b="1" dirty="0">
                <a:solidFill>
                  <a:srgbClr val="002060"/>
                </a:solidFill>
                <a:effectLst>
                  <a:outerShdw blurRad="38100" dist="38100" dir="2700000" algn="tl">
                    <a:srgbClr val="000000">
                      <a:alpha val="43137"/>
                    </a:srgbClr>
                  </a:outerShdw>
                </a:effectLst>
              </a:rPr>
              <a:t>1. Частотное разделение каналов( (</a:t>
            </a:r>
            <a:r>
              <a:rPr lang="en-US" altLang="ru-RU" sz="3100" b="1" dirty="0">
                <a:solidFill>
                  <a:srgbClr val="002060"/>
                </a:solidFill>
                <a:effectLst>
                  <a:outerShdw blurRad="38100" dist="38100" dir="2700000" algn="tl">
                    <a:srgbClr val="000000">
                      <a:alpha val="43137"/>
                    </a:srgbClr>
                  </a:outerShdw>
                </a:effectLst>
              </a:rPr>
              <a:t>FDM</a:t>
            </a:r>
            <a:r>
              <a:rPr lang="ru-RU" altLang="ru-RU" sz="3100" b="1" dirty="0">
                <a:solidFill>
                  <a:srgbClr val="002060"/>
                </a:solidFill>
                <a:effectLst>
                  <a:outerShdw blurRad="38100" dist="38100" dir="2700000" algn="tl">
                    <a:srgbClr val="000000">
                      <a:alpha val="43137"/>
                    </a:srgbClr>
                  </a:outerShdw>
                </a:effectLst>
              </a:rPr>
              <a:t>)</a:t>
            </a:r>
            <a:endParaRPr lang="ru-RU" dirty="0">
              <a:solidFill>
                <a:srgbClr val="002060"/>
              </a:solidFill>
              <a:effectLst>
                <a:outerShdw blurRad="38100" dist="38100" dir="2700000" algn="tl">
                  <a:srgbClr val="000000">
                    <a:alpha val="43137"/>
                  </a:srgbClr>
                </a:outerShdw>
              </a:effectLst>
            </a:endParaRPr>
          </a:p>
        </p:txBody>
      </p:sp>
      <p:sp>
        <p:nvSpPr>
          <p:cNvPr id="5" name="Text Box 5"/>
          <p:cNvSpPr txBox="1">
            <a:spLocks noChangeArrowheads="1"/>
          </p:cNvSpPr>
          <p:nvPr/>
        </p:nvSpPr>
        <p:spPr bwMode="auto">
          <a:xfrm>
            <a:off x="78140" y="654575"/>
            <a:ext cx="125350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ru-RU" altLang="ru-RU" b="1" dirty="0"/>
              <a:t>Входной</a:t>
            </a:r>
          </a:p>
          <a:p>
            <a:pPr algn="ctr"/>
            <a:r>
              <a:rPr lang="ru-RU" altLang="ru-RU" b="1" dirty="0"/>
              <a:t>сигнал</a:t>
            </a:r>
          </a:p>
        </p:txBody>
      </p:sp>
      <p:sp>
        <p:nvSpPr>
          <p:cNvPr id="6" name="Text Box 6"/>
          <p:cNvSpPr txBox="1">
            <a:spLocks noChangeArrowheads="1"/>
          </p:cNvSpPr>
          <p:nvPr/>
        </p:nvSpPr>
        <p:spPr bwMode="auto">
          <a:xfrm>
            <a:off x="7740353" y="654574"/>
            <a:ext cx="1319734"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ru-RU" altLang="ru-RU" b="1" dirty="0"/>
              <a:t>Выходной</a:t>
            </a:r>
          </a:p>
          <a:p>
            <a:pPr algn="ctr"/>
            <a:r>
              <a:rPr lang="ru-RU" altLang="ru-RU" b="1" dirty="0"/>
              <a:t>сигнал</a:t>
            </a:r>
          </a:p>
        </p:txBody>
      </p:sp>
      <p:sp>
        <p:nvSpPr>
          <p:cNvPr id="7" name="Text Box 7"/>
          <p:cNvSpPr txBox="1">
            <a:spLocks noChangeArrowheads="1"/>
          </p:cNvSpPr>
          <p:nvPr/>
        </p:nvSpPr>
        <p:spPr bwMode="auto">
          <a:xfrm>
            <a:off x="1409406" y="654575"/>
            <a:ext cx="2877532"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ru-RU" altLang="ru-RU" b="1" dirty="0"/>
              <a:t>Каждый сигнал модулируется</a:t>
            </a:r>
          </a:p>
          <a:p>
            <a:pPr algn="ctr"/>
            <a:r>
              <a:rPr lang="ru-RU" altLang="ru-RU" b="1" dirty="0"/>
              <a:t>на различной  частоте несущей</a:t>
            </a:r>
          </a:p>
        </p:txBody>
      </p:sp>
      <p:sp>
        <p:nvSpPr>
          <p:cNvPr id="8" name="Text Box 8"/>
          <p:cNvSpPr txBox="1">
            <a:spLocks noChangeArrowheads="1"/>
          </p:cNvSpPr>
          <p:nvPr/>
        </p:nvSpPr>
        <p:spPr bwMode="auto">
          <a:xfrm>
            <a:off x="4876488" y="654574"/>
            <a:ext cx="2759223"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ru-RU" altLang="ru-RU" b="1" dirty="0"/>
              <a:t>На приеме сигналы</a:t>
            </a:r>
          </a:p>
          <a:p>
            <a:pPr algn="ctr"/>
            <a:r>
              <a:rPr lang="ru-RU" altLang="ru-RU" b="1" dirty="0"/>
              <a:t>выделяются фильтрами</a:t>
            </a:r>
          </a:p>
        </p:txBody>
      </p:sp>
      <mc:AlternateContent xmlns:mc="http://schemas.openxmlformats.org/markup-compatibility/2006" xmlns:a14="http://schemas.microsoft.com/office/drawing/2010/main">
        <mc:Choice Requires="a14">
          <p:sp>
            <p:nvSpPr>
              <p:cNvPr id="11" name="TextBox 10"/>
              <p:cNvSpPr txBox="1"/>
              <p:nvPr/>
            </p:nvSpPr>
            <p:spPr>
              <a:xfrm>
                <a:off x="277756" y="4804720"/>
                <a:ext cx="11802358" cy="2025106"/>
              </a:xfrm>
              <a:prstGeom prst="rect">
                <a:avLst/>
              </a:prstGeom>
              <a:noFill/>
            </p:spPr>
            <p:txBody>
              <a:bodyPr wrap="square" rtlCol="0">
                <a:spAutoFit/>
              </a:bodyPr>
              <a:lstStyle/>
              <a:p>
                <a:r>
                  <a:rPr lang="ru-RU" sz="2000" dirty="0"/>
                  <a:t>При частотном разделении каналов передача информации от нескольких источников сообщений по одной линии связи осуществляется одновременно на различных частотных диапазонах. Каждому каналу связи отводится определённый участок общей полосы частот </a:t>
                </a:r>
                <a14:m>
                  <m:oMath xmlns:m="http://schemas.openxmlformats.org/officeDocument/2006/math">
                    <m:r>
                      <a:rPr lang="ru-RU" sz="2000" b="0" i="1" smtClean="0">
                        <a:latin typeface="Cambria Math" panose="02040503050406030204" pitchFamily="18" charset="0"/>
                        <a:ea typeface="Cambria Math" panose="02040503050406030204" pitchFamily="18" charset="0"/>
                      </a:rPr>
                      <m:t>∆</m:t>
                    </m:r>
                    <m:sSub>
                      <m:sSubPr>
                        <m:ctrlPr>
                          <a:rPr lang="ru-RU"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𝑓</m:t>
                        </m:r>
                      </m:e>
                      <m:sub>
                        <m:r>
                          <a:rPr lang="en-US" sz="2000" b="0" i="1" smtClean="0">
                            <a:latin typeface="Cambria Math" panose="02040503050406030204" pitchFamily="18" charset="0"/>
                            <a:ea typeface="Cambria Math" panose="02040503050406030204" pitchFamily="18" charset="0"/>
                          </a:rPr>
                          <m:t>𝑖</m:t>
                        </m:r>
                      </m:sub>
                    </m:sSub>
                  </m:oMath>
                </a14:m>
                <a:r>
                  <a:rPr lang="ru-RU" sz="2000" dirty="0"/>
                  <a:t> , передаваемых по линии связи</a:t>
                </a:r>
                <a:r>
                  <a:rPr lang="en-US" sz="2000" dirty="0"/>
                  <a:t>.</a:t>
                </a:r>
              </a:p>
              <a:p>
                <a:r>
                  <a:rPr lang="ru-RU" sz="2000" dirty="0"/>
                  <a:t>Соседние каналы связи разделяются между собой полосами непропускания</a:t>
                </a:r>
                <a:r>
                  <a:rPr lang="en-US" sz="2000" dirty="0"/>
                  <a:t> </a:t>
                </a:r>
                <a14:m>
                  <m:oMath xmlns:m="http://schemas.openxmlformats.org/officeDocument/2006/math">
                    <m:r>
                      <a:rPr lang="en-US" sz="2000" i="1" smtClean="0">
                        <a:latin typeface="Cambria Math" panose="02040503050406030204" pitchFamily="18" charset="0"/>
                        <a:ea typeface="Cambria Math" panose="02040503050406030204" pitchFamily="18" charset="0"/>
                      </a:rPr>
                      <m:t>∆</m:t>
                    </m:r>
                    <m:sSub>
                      <m:sSubPr>
                        <m:ctrlPr>
                          <a:rPr lang="en-US" sz="200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𝑓</m:t>
                        </m:r>
                      </m:e>
                      <m:sub>
                        <m:r>
                          <a:rPr lang="ru-RU" sz="2000" b="0" i="1" smtClean="0">
                            <a:latin typeface="Cambria Math" panose="02040503050406030204" pitchFamily="18" charset="0"/>
                            <a:ea typeface="Cambria Math" panose="02040503050406030204" pitchFamily="18" charset="0"/>
                          </a:rPr>
                          <m:t>непр</m:t>
                        </m:r>
                      </m:sub>
                    </m:sSub>
                  </m:oMath>
                </a14:m>
                <a:r>
                  <a:rPr lang="en-US" sz="2000" dirty="0"/>
                  <a:t> </a:t>
                </a:r>
                <a:r>
                  <a:rPr lang="ru-RU" sz="2000" dirty="0"/>
                  <a:t> , ширина которых зависит от качества фильтров, применяемых для разделения каналов.</a:t>
                </a:r>
              </a:p>
              <a:p>
                <a:r>
                  <a:rPr lang="ru-RU" sz="2000" dirty="0"/>
                  <a:t>Полоса частот определяется выражением:  </a:t>
                </a:r>
                <a14:m>
                  <m:oMath xmlns:m="http://schemas.openxmlformats.org/officeDocument/2006/math">
                    <m:r>
                      <a:rPr lang="ru-RU" sz="200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𝐹</m:t>
                    </m:r>
                    <m:r>
                      <a:rPr lang="en-US" sz="2000" b="0" i="1" smtClean="0">
                        <a:latin typeface="Cambria Math" panose="02040503050406030204" pitchFamily="18" charset="0"/>
                        <a:ea typeface="Cambria Math" panose="02040503050406030204" pitchFamily="18" charset="0"/>
                      </a:rPr>
                      <m:t>=</m:t>
                    </m:r>
                    <m:nary>
                      <m:naryPr>
                        <m:chr m:val="∑"/>
                        <m:ctrlPr>
                          <a:rPr lang="en-US" sz="2000" b="0" i="1" smtClean="0">
                            <a:latin typeface="Cambria Math" panose="02040503050406030204" pitchFamily="18" charset="0"/>
                            <a:ea typeface="Cambria Math" panose="02040503050406030204" pitchFamily="18" charset="0"/>
                          </a:rPr>
                        </m:ctrlPr>
                      </m:naryPr>
                      <m:sub>
                        <m:r>
                          <m:rPr>
                            <m:brk m:alnAt="23"/>
                          </m:rPr>
                          <a:rPr lang="en-US" sz="2000" b="0" i="1" smtClean="0">
                            <a:latin typeface="Cambria Math" panose="02040503050406030204" pitchFamily="18" charset="0"/>
                            <a:ea typeface="Cambria Math" panose="02040503050406030204" pitchFamily="18" charset="0"/>
                          </a:rPr>
                          <m:t>𝑖</m:t>
                        </m:r>
                        <m:r>
                          <a:rPr lang="en-US" sz="2000" b="0" i="1" smtClean="0">
                            <a:latin typeface="Cambria Math" panose="02040503050406030204" pitchFamily="18" charset="0"/>
                            <a:ea typeface="Cambria Math" panose="02040503050406030204" pitchFamily="18" charset="0"/>
                          </a:rPr>
                          <m:t>=1</m:t>
                        </m:r>
                      </m:sub>
                      <m:sup>
                        <m:r>
                          <a:rPr lang="en-US" sz="2000" b="0" i="1" smtClean="0">
                            <a:latin typeface="Cambria Math" panose="02040503050406030204" pitchFamily="18" charset="0"/>
                            <a:ea typeface="Cambria Math" panose="02040503050406030204" pitchFamily="18" charset="0"/>
                          </a:rPr>
                          <m:t>𝑛</m:t>
                        </m:r>
                      </m:sup>
                      <m:e>
                        <m:d>
                          <m:dPr>
                            <m:ctrlPr>
                              <a:rPr lang="en-US" sz="2000" b="0" i="1" smtClean="0">
                                <a:latin typeface="Cambria Math" panose="02040503050406030204" pitchFamily="18" charset="0"/>
                                <a:ea typeface="Cambria Math" panose="02040503050406030204" pitchFamily="18" charset="0"/>
                              </a:rPr>
                            </m:ctrlPr>
                          </m:dPr>
                          <m:e>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𝑓</m:t>
                                </m:r>
                              </m:e>
                              <m:sub>
                                <m:r>
                                  <a:rPr lang="en-US" sz="2000" b="0" i="1" smtClean="0">
                                    <a:latin typeface="Cambria Math" panose="02040503050406030204" pitchFamily="18" charset="0"/>
                                    <a:ea typeface="Cambria Math" panose="02040503050406030204" pitchFamily="18" charset="0"/>
                                  </a:rPr>
                                  <m:t>𝑖</m:t>
                                </m:r>
                              </m:sub>
                            </m:sSub>
                            <m:r>
                              <a:rPr lang="en-US" sz="2000" b="0" i="1" smtClean="0">
                                <a:latin typeface="Cambria Math" panose="02040503050406030204" pitchFamily="18" charset="0"/>
                                <a:ea typeface="Cambria Math" panose="02040503050406030204" pitchFamily="18" charset="0"/>
                              </a:rPr>
                              <m:t>+∆</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𝑓</m:t>
                                </m:r>
                              </m:e>
                              <m:sub>
                                <m:r>
                                  <a:rPr lang="ru-RU" sz="2000" b="0" i="1" smtClean="0">
                                    <a:latin typeface="Cambria Math" panose="02040503050406030204" pitchFamily="18" charset="0"/>
                                    <a:ea typeface="Cambria Math" panose="02040503050406030204" pitchFamily="18" charset="0"/>
                                  </a:rPr>
                                  <m:t>непр</m:t>
                                </m:r>
                              </m:sub>
                            </m:sSub>
                          </m:e>
                        </m:d>
                      </m:e>
                    </m:nary>
                  </m:oMath>
                </a14:m>
                <a:endParaRPr lang="ru-RU" sz="2000" dirty="0"/>
              </a:p>
            </p:txBody>
          </p:sp>
        </mc:Choice>
        <mc:Fallback xmlns="">
          <p:sp>
            <p:nvSpPr>
              <p:cNvPr id="11" name="TextBox 10"/>
              <p:cNvSpPr txBox="1">
                <a:spLocks noRot="1" noChangeAspect="1" noMove="1" noResize="1" noEditPoints="1" noAdjustHandles="1" noChangeArrowheads="1" noChangeShapeType="1" noTextEdit="1"/>
              </p:cNvSpPr>
              <p:nvPr/>
            </p:nvSpPr>
            <p:spPr>
              <a:xfrm>
                <a:off x="208317" y="4804720"/>
                <a:ext cx="8851769" cy="2025106"/>
              </a:xfrm>
              <a:prstGeom prst="rect">
                <a:avLst/>
              </a:prstGeom>
              <a:blipFill rotWithShape="0">
                <a:blip r:embed="rId2" cstate="print"/>
                <a:stretch>
                  <a:fillRect l="-568" t="-1506" b="-34036"/>
                </a:stretch>
              </a:blipFill>
            </p:spPr>
            <p:txBody>
              <a:bodyPr/>
              <a:lstStyle/>
              <a:p>
                <a:r>
                  <a:rPr lang="ru-RU">
                    <a:noFill/>
                  </a:rPr>
                  <a:t> </a:t>
                </a:r>
              </a:p>
            </p:txBody>
          </p:sp>
        </mc:Fallback>
      </mc:AlternateContent>
      <p:pic>
        <p:nvPicPr>
          <p:cNvPr id="13" name="Рисунок 12"/>
          <p:cNvPicPr>
            <a:picLocks noChangeAspect="1"/>
          </p:cNvPicPr>
          <p:nvPr/>
        </p:nvPicPr>
        <p:blipFill>
          <a:blip r:embed="rId3" cstate="print"/>
          <a:stretch>
            <a:fillRect/>
          </a:stretch>
        </p:blipFill>
        <p:spPr>
          <a:xfrm>
            <a:off x="507206" y="1772816"/>
            <a:ext cx="8129588" cy="3031904"/>
          </a:xfrm>
          <a:prstGeom prst="rect">
            <a:avLst/>
          </a:prstGeom>
        </p:spPr>
      </p:pic>
    </p:spTree>
    <p:extLst>
      <p:ext uri="{BB962C8B-B14F-4D97-AF65-F5344CB8AC3E}">
        <p14:creationId xmlns:p14="http://schemas.microsoft.com/office/powerpoint/2010/main" val="174722080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Рисунок 5"/>
          <p:cNvPicPr>
            <a:picLocks noChangeAspect="1"/>
          </p:cNvPicPr>
          <p:nvPr/>
        </p:nvPicPr>
        <p:blipFill>
          <a:blip r:embed="rId2" cstate="print"/>
          <a:stretch>
            <a:fillRect/>
          </a:stretch>
        </p:blipFill>
        <p:spPr>
          <a:xfrm>
            <a:off x="431497" y="1151588"/>
            <a:ext cx="7729538" cy="3819525"/>
          </a:xfrm>
          <a:prstGeom prst="rect">
            <a:avLst/>
          </a:prstGeom>
        </p:spPr>
      </p:pic>
      <p:sp>
        <p:nvSpPr>
          <p:cNvPr id="2" name="Заголовок 1"/>
          <p:cNvSpPr>
            <a:spLocks noGrp="1"/>
          </p:cNvSpPr>
          <p:nvPr>
            <p:ph type="title"/>
          </p:nvPr>
        </p:nvSpPr>
        <p:spPr>
          <a:xfrm>
            <a:off x="251520" y="1"/>
            <a:ext cx="8750796" cy="620688"/>
          </a:xfrm>
        </p:spPr>
        <p:txBody>
          <a:bodyPr>
            <a:normAutofit/>
          </a:bodyPr>
          <a:lstStyle/>
          <a:p>
            <a:pPr algn="ctr"/>
            <a:r>
              <a:rPr lang="ru-RU" sz="2800" b="1" dirty="0">
                <a:solidFill>
                  <a:srgbClr val="002060"/>
                </a:solidFill>
                <a:effectLst>
                  <a:outerShdw blurRad="38100" dist="38100" dir="2700000" algn="tl">
                    <a:srgbClr val="000000">
                      <a:alpha val="43137"/>
                    </a:srgbClr>
                  </a:outerShdw>
                </a:effectLst>
              </a:rPr>
              <a:t>2. Временное разделение каналов связи(1)</a:t>
            </a:r>
          </a:p>
        </p:txBody>
      </p:sp>
      <p:sp>
        <p:nvSpPr>
          <p:cNvPr id="4" name="Text Box 5"/>
          <p:cNvSpPr txBox="1">
            <a:spLocks noChangeArrowheads="1"/>
          </p:cNvSpPr>
          <p:nvPr/>
        </p:nvSpPr>
        <p:spPr bwMode="auto">
          <a:xfrm>
            <a:off x="1259633" y="548680"/>
            <a:ext cx="748883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buClr>
                <a:srgbClr val="A50021"/>
              </a:buClr>
              <a:buSzPct val="150000"/>
              <a:buFontTx/>
              <a:buChar char="•"/>
            </a:pPr>
            <a:r>
              <a:rPr lang="ru-RU" altLang="ru-RU" dirty="0"/>
              <a:t>  Каждому каналу выделяется свой временной интервал (тайм-слот)</a:t>
            </a:r>
          </a:p>
          <a:p>
            <a:pPr>
              <a:buClr>
                <a:srgbClr val="A50021"/>
              </a:buClr>
              <a:buSzPct val="150000"/>
              <a:buFontTx/>
              <a:buChar char="•"/>
            </a:pPr>
            <a:r>
              <a:rPr lang="ru-RU" altLang="ru-RU" dirty="0"/>
              <a:t>  Тайм-слоты строго фиксированы</a:t>
            </a:r>
          </a:p>
        </p:txBody>
      </p:sp>
      <mc:AlternateContent xmlns:mc="http://schemas.openxmlformats.org/markup-compatibility/2006" xmlns:a14="http://schemas.microsoft.com/office/drawing/2010/main">
        <mc:Choice Requires="a14">
          <p:sp>
            <p:nvSpPr>
              <p:cNvPr id="5" name="TextBox 4"/>
              <p:cNvSpPr txBox="1"/>
              <p:nvPr/>
            </p:nvSpPr>
            <p:spPr>
              <a:xfrm>
                <a:off x="311085" y="5052763"/>
                <a:ext cx="11670383" cy="1754326"/>
              </a:xfrm>
              <a:prstGeom prst="rect">
                <a:avLst/>
              </a:prstGeom>
              <a:noFill/>
            </p:spPr>
            <p:txBody>
              <a:bodyPr wrap="square" rtlCol="0">
                <a:spAutoFit/>
              </a:bodyPr>
              <a:lstStyle/>
              <a:p>
                <a:r>
                  <a:rPr lang="ru-RU" dirty="0"/>
                  <a:t>При временном разделении каналов сообщения </a:t>
                </a:r>
                <a:r>
                  <a:rPr lang="ru-RU" dirty="0" err="1"/>
                  <a:t>дискретизируются</a:t>
                </a:r>
                <a:r>
                  <a:rPr lang="ru-RU" dirty="0"/>
                  <a:t> и передаются только их мгновенные значения, один раз за период повторения. Мгновенные значения каждого сообщения передаются короткими импульсами, поэтому по одной линии связи можно передавать последовательно во времени несколько сообщений. Для каждого канала связи выделяется определённый промежуток времени</a:t>
                </a:r>
                <a:r>
                  <a:rPr lang="en-US" dirty="0"/>
                  <a:t> </a:t>
                </a:r>
                <a14:m>
                  <m:oMath xmlns:m="http://schemas.openxmlformats.org/officeDocument/2006/math">
                    <m:r>
                      <a:rPr lang="en-US" i="1" smtClean="0">
                        <a:latin typeface="Cambria Math" panose="02040503050406030204" pitchFamily="18" charset="0"/>
                        <a:ea typeface="Cambria Math" panose="02040503050406030204" pitchFamily="18" charset="0"/>
                      </a:rPr>
                      <m:t>𝜏</m:t>
                    </m:r>
                  </m:oMath>
                </a14:m>
                <a:r>
                  <a:rPr lang="ru-RU" dirty="0"/>
                  <a:t>, являющийся частью периода повторения, в течение которого высылаются импульсы, модулированные информацией, передаваемой по данному каналу. Модуляция импульсов осуществляется по амплитуде, длительности или по фазе.</a:t>
                </a:r>
              </a:p>
            </p:txBody>
          </p:sp>
        </mc:Choice>
        <mc:Fallback xmlns="">
          <p:sp>
            <p:nvSpPr>
              <p:cNvPr id="5" name="TextBox 4"/>
              <p:cNvSpPr txBox="1">
                <a:spLocks noRot="1" noChangeAspect="1" noMove="1" noResize="1" noEditPoints="1" noAdjustHandles="1" noChangeArrowheads="1" noChangeShapeType="1" noTextEdit="1"/>
              </p:cNvSpPr>
              <p:nvPr/>
            </p:nvSpPr>
            <p:spPr>
              <a:xfrm>
                <a:off x="233314" y="5052763"/>
                <a:ext cx="8752787" cy="1754326"/>
              </a:xfrm>
              <a:prstGeom prst="rect">
                <a:avLst/>
              </a:prstGeom>
              <a:blipFill rotWithShape="0">
                <a:blip r:embed="rId3" cstate="print"/>
                <a:stretch>
                  <a:fillRect l="-418" t="-2083" r="-784" b="-4514"/>
                </a:stretch>
              </a:blipFill>
            </p:spPr>
            <p:txBody>
              <a:bodyPr/>
              <a:lstStyle/>
              <a:p>
                <a:r>
                  <a:rPr lang="ru-RU">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9149262" y="4596439"/>
                <a:ext cx="272023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ru-RU" i="1" smtClean="0">
                              <a:latin typeface="Cambria Math" panose="02040503050406030204" pitchFamily="18" charset="0"/>
                            </a:rPr>
                          </m:ctrlPr>
                        </m:sSubPr>
                        <m:e>
                          <m:r>
                            <m:rPr>
                              <m:sty m:val="p"/>
                            </m:rPr>
                            <a:rPr lang="ru-RU" i="0" smtClean="0">
                              <a:latin typeface="Cambria Math" panose="02040503050406030204" pitchFamily="18" charset="0"/>
                              <a:ea typeface="Cambria Math" panose="02040503050406030204" pitchFamily="18" charset="0"/>
                            </a:rPr>
                            <m:t>τ</m:t>
                          </m:r>
                        </m:e>
                        <m:sub>
                          <m:r>
                            <a:rPr lang="ru-RU" b="0" i="0" smtClean="0">
                              <a:latin typeface="Cambria Math" panose="02040503050406030204" pitchFamily="18" charset="0"/>
                            </a:rPr>
                            <m:t>з</m:t>
                          </m:r>
                        </m:sub>
                      </m:sSub>
                      <m:r>
                        <a:rPr lang="en-US" b="0" i="0" smtClean="0">
                          <a:latin typeface="Cambria Math" panose="02040503050406030204" pitchFamily="18" charset="0"/>
                        </a:rPr>
                        <m:t> −</m:t>
                      </m:r>
                      <m:r>
                        <a:rPr lang="ru-RU" b="0" i="0" smtClean="0">
                          <a:latin typeface="Cambria Math" panose="02040503050406030204" pitchFamily="18" charset="0"/>
                        </a:rPr>
                        <m:t>защитный интервал</m:t>
                      </m:r>
                    </m:oMath>
                  </m:oMathPara>
                </a14:m>
                <a:endParaRPr lang="ru-RU" dirty="0"/>
              </a:p>
            </p:txBody>
          </p:sp>
        </mc:Choice>
        <mc:Fallback xmlns="">
          <p:sp>
            <p:nvSpPr>
              <p:cNvPr id="7" name="TextBox 6"/>
              <p:cNvSpPr txBox="1">
                <a:spLocks noRot="1" noChangeAspect="1" noMove="1" noResize="1" noEditPoints="1" noAdjustHandles="1" noChangeArrowheads="1" noChangeShapeType="1" noTextEdit="1"/>
              </p:cNvSpPr>
              <p:nvPr/>
            </p:nvSpPr>
            <p:spPr>
              <a:xfrm>
                <a:off x="6861947" y="4596440"/>
                <a:ext cx="2040174" cy="276999"/>
              </a:xfrm>
              <a:prstGeom prst="rect">
                <a:avLst/>
              </a:prstGeom>
              <a:blipFill rotWithShape="0">
                <a:blip r:embed="rId4" cstate="print"/>
                <a:stretch>
                  <a:fillRect l="-897" r="-2018" b="-28889"/>
                </a:stretch>
              </a:blipFill>
            </p:spPr>
            <p:txBody>
              <a:bodyPr/>
              <a:lstStyle/>
              <a:p>
                <a:r>
                  <a:rPr lang="ru-RU">
                    <a:noFill/>
                  </a:rPr>
                  <a:t> </a:t>
                </a:r>
              </a:p>
            </p:txBody>
          </p:sp>
        </mc:Fallback>
      </mc:AlternateContent>
    </p:spTree>
    <p:extLst>
      <p:ext uri="{BB962C8B-B14F-4D97-AF65-F5344CB8AC3E}">
        <p14:creationId xmlns:p14="http://schemas.microsoft.com/office/powerpoint/2010/main" val="408921758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Рисунок 5"/>
          <p:cNvPicPr>
            <a:picLocks noChangeAspect="1"/>
          </p:cNvPicPr>
          <p:nvPr/>
        </p:nvPicPr>
        <p:blipFill>
          <a:blip r:embed="rId2" cstate="print"/>
          <a:stretch>
            <a:fillRect/>
          </a:stretch>
        </p:blipFill>
        <p:spPr>
          <a:xfrm>
            <a:off x="431497" y="1151588"/>
            <a:ext cx="7729538" cy="3819525"/>
          </a:xfrm>
          <a:prstGeom prst="rect">
            <a:avLst/>
          </a:prstGeom>
        </p:spPr>
      </p:pic>
      <p:sp>
        <p:nvSpPr>
          <p:cNvPr id="2" name="Заголовок 1"/>
          <p:cNvSpPr>
            <a:spLocks noGrp="1"/>
          </p:cNvSpPr>
          <p:nvPr>
            <p:ph type="title"/>
          </p:nvPr>
        </p:nvSpPr>
        <p:spPr>
          <a:xfrm>
            <a:off x="628650" y="9427"/>
            <a:ext cx="7886700" cy="539253"/>
          </a:xfrm>
        </p:spPr>
        <p:txBody>
          <a:bodyPr>
            <a:normAutofit/>
          </a:bodyPr>
          <a:lstStyle/>
          <a:p>
            <a:pPr algn="ctr"/>
            <a:r>
              <a:rPr lang="ru-RU" sz="2800" b="1" dirty="0">
                <a:solidFill>
                  <a:srgbClr val="002060"/>
                </a:solidFill>
                <a:effectLst>
                  <a:outerShdw blurRad="38100" dist="38100" dir="2700000" algn="tl">
                    <a:srgbClr val="000000">
                      <a:alpha val="43137"/>
                    </a:srgbClr>
                  </a:outerShdw>
                </a:effectLst>
              </a:rPr>
              <a:t>2.Временное разделение каналов связи (2) </a:t>
            </a:r>
          </a:p>
        </p:txBody>
      </p:sp>
      <p:sp>
        <p:nvSpPr>
          <p:cNvPr id="4" name="Text Box 5"/>
          <p:cNvSpPr txBox="1">
            <a:spLocks noChangeArrowheads="1"/>
          </p:cNvSpPr>
          <p:nvPr/>
        </p:nvSpPr>
        <p:spPr bwMode="auto">
          <a:xfrm>
            <a:off x="1043608" y="548681"/>
            <a:ext cx="7920879"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buClr>
                <a:srgbClr val="A50021"/>
              </a:buClr>
              <a:buSzPct val="150000"/>
              <a:buFontTx/>
              <a:buChar char="•"/>
            </a:pPr>
            <a:r>
              <a:rPr lang="ru-RU" altLang="ru-RU" dirty="0"/>
              <a:t>  Каждому каналу выделяется свой временной интервал (тайм-слот)</a:t>
            </a:r>
          </a:p>
          <a:p>
            <a:pPr>
              <a:buClr>
                <a:srgbClr val="A50021"/>
              </a:buClr>
              <a:buSzPct val="150000"/>
              <a:buFontTx/>
              <a:buChar char="•"/>
            </a:pPr>
            <a:r>
              <a:rPr lang="ru-RU" altLang="ru-RU" dirty="0"/>
              <a:t>  Тайм-слоты строго фиксированы</a:t>
            </a:r>
          </a:p>
        </p:txBody>
      </p:sp>
      <p:sp>
        <p:nvSpPr>
          <p:cNvPr id="5" name="TextBox 4"/>
          <p:cNvSpPr txBox="1"/>
          <p:nvPr/>
        </p:nvSpPr>
        <p:spPr>
          <a:xfrm>
            <a:off x="233314" y="5052762"/>
            <a:ext cx="8752787" cy="1569660"/>
          </a:xfrm>
          <a:prstGeom prst="rect">
            <a:avLst/>
          </a:prstGeom>
          <a:noFill/>
        </p:spPr>
        <p:txBody>
          <a:bodyPr wrap="square" rtlCol="0">
            <a:spAutoFit/>
          </a:bodyPr>
          <a:lstStyle/>
          <a:p>
            <a:r>
              <a:rPr lang="ru-RU" sz="1600" b="1" dirty="0"/>
              <a:t>Достоинства временного разделения каналов связи: </a:t>
            </a:r>
          </a:p>
          <a:p>
            <a:r>
              <a:rPr lang="ru-RU" sz="1600" dirty="0"/>
              <a:t>– Использование цифрового сигнала при передаче сообщения. </a:t>
            </a:r>
          </a:p>
          <a:p>
            <a:r>
              <a:rPr lang="ru-RU" sz="1600" dirty="0"/>
              <a:t>– Возможность передачи избыточной информации для восстановления полученного сигнала. </a:t>
            </a:r>
          </a:p>
          <a:p>
            <a:r>
              <a:rPr lang="ru-RU" sz="1600" dirty="0"/>
              <a:t>– Высокая помехоустойчивость.</a:t>
            </a:r>
          </a:p>
          <a:p>
            <a:r>
              <a:rPr lang="ru-RU" sz="1600" dirty="0"/>
              <a:t>– Более простая реализация систем.</a:t>
            </a:r>
          </a:p>
          <a:p>
            <a:r>
              <a:rPr lang="ru-RU" sz="1600" dirty="0"/>
              <a:t> – Повышенная защищенность каналов от несанкционированного доступа.</a:t>
            </a:r>
          </a:p>
        </p:txBody>
      </p:sp>
    </p:spTree>
    <p:extLst>
      <p:ext uri="{BB962C8B-B14F-4D97-AF65-F5344CB8AC3E}">
        <p14:creationId xmlns:p14="http://schemas.microsoft.com/office/powerpoint/2010/main" val="383264062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53932" y="1"/>
            <a:ext cx="8753377" cy="764704"/>
          </a:xfrm>
        </p:spPr>
        <p:txBody>
          <a:bodyPr>
            <a:normAutofit/>
          </a:bodyPr>
          <a:lstStyle/>
          <a:p>
            <a:r>
              <a:rPr lang="ru-RU" altLang="ru-RU" sz="3200" dirty="0">
                <a:solidFill>
                  <a:srgbClr val="002060"/>
                </a:solidFill>
                <a:effectLst>
                  <a:outerShdw blurRad="38100" dist="38100" dir="2700000" algn="tl">
                    <a:srgbClr val="000000">
                      <a:alpha val="43137"/>
                    </a:srgbClr>
                  </a:outerShdw>
                </a:effectLst>
              </a:rPr>
              <a:t>Классификация методов  мультиплексирования</a:t>
            </a:r>
          </a:p>
        </p:txBody>
      </p:sp>
      <p:pic>
        <p:nvPicPr>
          <p:cNvPr id="3" name="Picture 9" descr="pic02_mux_types"/>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1772817"/>
            <a:ext cx="4716016" cy="5085184"/>
          </a:xfrm>
          <a:prstGeom prst="rect">
            <a:avLst/>
          </a:prstGeom>
          <a:noFill/>
          <a:extLst>
            <a:ext uri="{909E8E84-426E-40DD-AFC4-6F175D3DCCD1}">
              <a14:hiddenFill xmlns:a14="http://schemas.microsoft.com/office/drawing/2010/main">
                <a:solidFill>
                  <a:srgbClr val="FFFFFF"/>
                </a:solidFill>
              </a14:hiddenFill>
            </a:ext>
          </a:extLst>
        </p:spPr>
      </p:pic>
      <p:sp>
        <p:nvSpPr>
          <p:cNvPr id="5" name="Text Box 7"/>
          <p:cNvSpPr txBox="1">
            <a:spLocks noChangeArrowheads="1"/>
          </p:cNvSpPr>
          <p:nvPr/>
        </p:nvSpPr>
        <p:spPr bwMode="auto">
          <a:xfrm>
            <a:off x="1619672" y="5733257"/>
            <a:ext cx="338437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ru-RU" altLang="ru-RU" b="1" i="1" dirty="0">
                <a:solidFill>
                  <a:srgbClr val="A50021"/>
                </a:solidFill>
              </a:rPr>
              <a:t>С разделением по длине волны</a:t>
            </a:r>
          </a:p>
        </p:txBody>
      </p:sp>
      <p:sp>
        <p:nvSpPr>
          <p:cNvPr id="6" name="Text Box 10"/>
          <p:cNvSpPr txBox="1">
            <a:spLocks noChangeArrowheads="1"/>
          </p:cNvSpPr>
          <p:nvPr/>
        </p:nvSpPr>
        <p:spPr bwMode="auto">
          <a:xfrm>
            <a:off x="1763689" y="3068960"/>
            <a:ext cx="304874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ru-RU" altLang="ru-RU" b="1" i="1" dirty="0">
                <a:solidFill>
                  <a:srgbClr val="A50021"/>
                </a:solidFill>
              </a:rPr>
              <a:t>С разделением по времени</a:t>
            </a:r>
          </a:p>
        </p:txBody>
      </p:sp>
      <p:sp>
        <p:nvSpPr>
          <p:cNvPr id="7" name="Text Box 11"/>
          <p:cNvSpPr txBox="1">
            <a:spLocks noChangeArrowheads="1"/>
          </p:cNvSpPr>
          <p:nvPr/>
        </p:nvSpPr>
        <p:spPr bwMode="auto">
          <a:xfrm>
            <a:off x="1835696" y="1309099"/>
            <a:ext cx="297673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ru-RU" altLang="ru-RU" b="1" i="1" dirty="0">
                <a:solidFill>
                  <a:srgbClr val="A50021"/>
                </a:solidFill>
              </a:rPr>
              <a:t>С разделением по частоте</a:t>
            </a:r>
          </a:p>
        </p:txBody>
      </p:sp>
      <p:sp>
        <p:nvSpPr>
          <p:cNvPr id="8" name="TextBox 7"/>
          <p:cNvSpPr txBox="1"/>
          <p:nvPr/>
        </p:nvSpPr>
        <p:spPr>
          <a:xfrm>
            <a:off x="4788024" y="692696"/>
            <a:ext cx="4282919" cy="6217087"/>
          </a:xfrm>
          <a:prstGeom prst="rect">
            <a:avLst/>
          </a:prstGeom>
          <a:noFill/>
        </p:spPr>
        <p:txBody>
          <a:bodyPr wrap="square" rtlCol="0">
            <a:spAutoFit/>
          </a:bodyPr>
          <a:lstStyle/>
          <a:p>
            <a:r>
              <a:rPr lang="ru-RU" sz="2000" b="1" u="sng" dirty="0"/>
              <a:t>Недостатки частотного разделения каналов</a:t>
            </a:r>
            <a:r>
              <a:rPr lang="ru-RU" sz="2000" dirty="0"/>
              <a:t>: </a:t>
            </a:r>
          </a:p>
          <a:p>
            <a:r>
              <a:rPr lang="ru-RU" sz="2000" dirty="0"/>
              <a:t>– сложность фильтров, </a:t>
            </a:r>
          </a:p>
          <a:p>
            <a:r>
              <a:rPr lang="ru-RU" sz="2000" dirty="0"/>
              <a:t>– большие полосы непропускания, </a:t>
            </a:r>
          </a:p>
          <a:p>
            <a:r>
              <a:rPr lang="ru-RU" sz="2000" dirty="0"/>
              <a:t>– неэффективное использование частотного диапазона.</a:t>
            </a:r>
          </a:p>
          <a:p>
            <a:endParaRPr lang="ru-RU" sz="2000" dirty="0"/>
          </a:p>
          <a:p>
            <a:r>
              <a:rPr lang="ru-RU" sz="2000" b="1" u="sng" dirty="0"/>
              <a:t>Недостатки временного разделения каналов:</a:t>
            </a:r>
          </a:p>
          <a:p>
            <a:r>
              <a:rPr lang="ru-RU" sz="2000" dirty="0"/>
              <a:t>       – </a:t>
            </a:r>
            <a:r>
              <a:rPr lang="ru-RU" dirty="0"/>
              <a:t>искажения, возникающие за счет ограниченности полосы частот при использовании разных видов модуляции,  которые нарушают импульсный характер сигналов. </a:t>
            </a:r>
          </a:p>
          <a:p>
            <a:r>
              <a:rPr lang="ru-RU" dirty="0"/>
              <a:t>     – взаимные помехи могут возникать за счет несовершенства синхронизации тактовых импульсов на передающей и приемной сторонах.</a:t>
            </a:r>
          </a:p>
          <a:p>
            <a:r>
              <a:rPr lang="ru-RU" b="1" u="sng" dirty="0"/>
              <a:t>Модуляция</a:t>
            </a:r>
            <a:r>
              <a:rPr lang="ru-RU" u="sng" dirty="0"/>
              <a:t> </a:t>
            </a:r>
            <a:r>
              <a:rPr lang="ru-RU" dirty="0"/>
              <a:t>– процесс изменения параметров сигнала (амплитуда, частота, </a:t>
            </a:r>
          </a:p>
          <a:p>
            <a:r>
              <a:rPr lang="ru-RU" dirty="0"/>
              <a:t>фаза).</a:t>
            </a:r>
          </a:p>
        </p:txBody>
      </p:sp>
    </p:spTree>
    <p:extLst>
      <p:ext uri="{BB962C8B-B14F-4D97-AF65-F5344CB8AC3E}">
        <p14:creationId xmlns:p14="http://schemas.microsoft.com/office/powerpoint/2010/main" val="252504413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p:cNvSpPr>
            <a:spLocks noGrp="1" noChangeArrowheads="1"/>
          </p:cNvSpPr>
          <p:nvPr>
            <p:ph type="title"/>
          </p:nvPr>
        </p:nvSpPr>
        <p:spPr>
          <a:xfrm>
            <a:off x="0" y="274638"/>
            <a:ext cx="9144000" cy="562074"/>
          </a:xfrm>
        </p:spPr>
        <p:txBody>
          <a:bodyPr rtlCol="0">
            <a:normAutofit fontScale="90000"/>
          </a:bodyPr>
          <a:lstStyle/>
          <a:p>
            <a:pPr eaLnBrk="1" fontAlgn="auto" hangingPunct="1">
              <a:spcAft>
                <a:spcPts val="0"/>
              </a:spcAft>
              <a:defRPr/>
            </a:pPr>
            <a:br>
              <a:rPr lang="ru-RU" dirty="0"/>
            </a:br>
            <a:r>
              <a:rPr lang="ru-RU" sz="4000" b="1" dirty="0">
                <a:solidFill>
                  <a:srgbClr val="002060"/>
                </a:solidFill>
              </a:rPr>
              <a:t>3.Волновое мультиплексирование (WDM)</a:t>
            </a:r>
            <a:br>
              <a:rPr lang="ru-RU" i="1" dirty="0"/>
            </a:br>
            <a:endParaRPr lang="ru-RU" i="1" dirty="0"/>
          </a:p>
        </p:txBody>
      </p:sp>
      <p:sp>
        <p:nvSpPr>
          <p:cNvPr id="97283" name="Rectangle 3"/>
          <p:cNvSpPr>
            <a:spLocks noGrp="1" noChangeArrowheads="1"/>
          </p:cNvSpPr>
          <p:nvPr>
            <p:ph idx="1"/>
          </p:nvPr>
        </p:nvSpPr>
        <p:spPr>
          <a:xfrm>
            <a:off x="179388" y="836712"/>
            <a:ext cx="8713787" cy="6021288"/>
          </a:xfrm>
        </p:spPr>
        <p:txBody>
          <a:bodyPr>
            <a:normAutofit/>
          </a:bodyPr>
          <a:lstStyle/>
          <a:p>
            <a:pPr algn="just" eaLnBrk="1" hangingPunct="1">
              <a:lnSpc>
                <a:spcPct val="80000"/>
              </a:lnSpc>
            </a:pPr>
            <a:endParaRPr lang="ru-RU" sz="2400" dirty="0"/>
          </a:p>
          <a:p>
            <a:pPr algn="just" eaLnBrk="1" hangingPunct="1">
              <a:lnSpc>
                <a:spcPct val="80000"/>
              </a:lnSpc>
            </a:pPr>
            <a:r>
              <a:rPr lang="ru-RU" sz="2400" dirty="0"/>
              <a:t>Волновое мультиплексирование (</a:t>
            </a:r>
            <a:r>
              <a:rPr lang="ru-RU" sz="2400" dirty="0" err="1"/>
              <a:t>Wave</a:t>
            </a:r>
            <a:r>
              <a:rPr lang="ru-RU" sz="2400" dirty="0"/>
              <a:t> </a:t>
            </a:r>
            <a:r>
              <a:rPr lang="ru-RU" sz="2400" dirty="0" err="1"/>
              <a:t>Division</a:t>
            </a:r>
            <a:r>
              <a:rPr lang="ru-RU" sz="2400" dirty="0"/>
              <a:t> </a:t>
            </a:r>
            <a:r>
              <a:rPr lang="ru-RU" sz="2400" dirty="0" err="1"/>
              <a:t>Multiplexing</a:t>
            </a:r>
            <a:r>
              <a:rPr lang="ru-RU" sz="2400" dirty="0"/>
              <a:t>, </a:t>
            </a:r>
            <a:r>
              <a:rPr lang="ru-RU" sz="2400" b="1" dirty="0"/>
              <a:t>WDM)</a:t>
            </a:r>
            <a:r>
              <a:rPr lang="ru-RU" sz="2400" dirty="0"/>
              <a:t> — </a:t>
            </a:r>
            <a:r>
              <a:rPr lang="ru-RU" sz="2400" b="1" dirty="0"/>
              <a:t>это концепция объединения нескольких </a:t>
            </a:r>
          </a:p>
          <a:p>
            <a:pPr algn="just" eaLnBrk="1" hangingPunct="1">
              <a:lnSpc>
                <a:spcPct val="80000"/>
              </a:lnSpc>
              <a:buNone/>
            </a:pPr>
            <a:r>
              <a:rPr lang="ru-RU" sz="2400" b="1" dirty="0"/>
              <a:t>      потоков данных по одному физическому </a:t>
            </a:r>
          </a:p>
          <a:p>
            <a:pPr algn="just" eaLnBrk="1" hangingPunct="1">
              <a:lnSpc>
                <a:spcPct val="80000"/>
              </a:lnSpc>
              <a:buNone/>
            </a:pPr>
            <a:r>
              <a:rPr lang="ru-RU" sz="2400" b="1" dirty="0"/>
              <a:t>       </a:t>
            </a:r>
            <a:r>
              <a:rPr lang="ru-RU" sz="2400" b="1" dirty="0" err="1"/>
              <a:t>волоконно</a:t>
            </a:r>
            <a:r>
              <a:rPr lang="ru-RU" sz="2400" b="1" dirty="0"/>
              <a:t> ­ оптическому кабелю. </a:t>
            </a:r>
          </a:p>
          <a:p>
            <a:pPr algn="just" eaLnBrk="1" hangingPunct="1">
              <a:lnSpc>
                <a:spcPct val="80000"/>
              </a:lnSpc>
            </a:pPr>
            <a:r>
              <a:rPr lang="ru-RU" sz="2400" dirty="0"/>
              <a:t>Такое увеличение емкости кабеля достигается исходя из фундаментального принципа физики.</a:t>
            </a:r>
          </a:p>
          <a:p>
            <a:pPr algn="just" eaLnBrk="1" hangingPunct="1">
              <a:lnSpc>
                <a:spcPct val="80000"/>
              </a:lnSpc>
              <a:buNone/>
            </a:pPr>
            <a:r>
              <a:rPr lang="ru-RU" sz="2400" dirty="0"/>
              <a:t>      Он состоит в том, что лучи света с разными длинами волн</a:t>
            </a:r>
          </a:p>
          <a:p>
            <a:pPr algn="just" eaLnBrk="1" hangingPunct="1">
              <a:lnSpc>
                <a:spcPct val="80000"/>
              </a:lnSpc>
              <a:buNone/>
            </a:pPr>
            <a:r>
              <a:rPr lang="ru-RU" sz="2400" dirty="0"/>
              <a:t>        не взаимодействуют между собой. </a:t>
            </a:r>
          </a:p>
          <a:p>
            <a:pPr algn="just" eaLnBrk="1" hangingPunct="1">
              <a:lnSpc>
                <a:spcPct val="80000"/>
              </a:lnSpc>
            </a:pPr>
            <a:r>
              <a:rPr lang="ru-RU" sz="2400" b="1" dirty="0"/>
              <a:t>Основная идея систем WDM состоит в использовании нескольких длин волн (или частот) для передачи </a:t>
            </a:r>
          </a:p>
          <a:p>
            <a:pPr algn="just" eaLnBrk="1" hangingPunct="1">
              <a:lnSpc>
                <a:spcPct val="80000"/>
              </a:lnSpc>
              <a:buNone/>
            </a:pPr>
            <a:r>
              <a:rPr lang="ru-RU" sz="2400" b="1" dirty="0"/>
              <a:t>      отдельного потока данных на каждой из них. </a:t>
            </a:r>
          </a:p>
          <a:p>
            <a:pPr algn="just" eaLnBrk="1" hangingPunct="1">
              <a:lnSpc>
                <a:spcPct val="80000"/>
              </a:lnSpc>
            </a:pPr>
            <a:r>
              <a:rPr lang="ru-RU" sz="2400" b="1" dirty="0"/>
              <a:t>За счет этой техники удалось в 16-160 раз  увеличить </a:t>
            </a:r>
            <a:r>
              <a:rPr lang="ru-RU" sz="2400" b="1" dirty="0" err="1"/>
              <a:t>широкополосность</a:t>
            </a:r>
            <a:r>
              <a:rPr lang="ru-RU" sz="2400" b="1" dirty="0"/>
              <a:t>  канала </a:t>
            </a:r>
            <a:r>
              <a:rPr lang="ru-RU" sz="2400" dirty="0"/>
              <a:t>из расчета на одно волокно. </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ChangeArrowheads="1"/>
          </p:cNvSpPr>
          <p:nvPr>
            <p:ph type="title"/>
          </p:nvPr>
        </p:nvSpPr>
        <p:spPr>
          <a:xfrm>
            <a:off x="0" y="0"/>
            <a:ext cx="9144000" cy="1124744"/>
          </a:xfrm>
        </p:spPr>
        <p:txBody>
          <a:bodyPr rtlCol="0">
            <a:normAutofit/>
          </a:bodyPr>
          <a:lstStyle/>
          <a:p>
            <a:pPr eaLnBrk="1" fontAlgn="auto" hangingPunct="1">
              <a:spcAft>
                <a:spcPts val="0"/>
              </a:spcAft>
              <a:defRPr/>
            </a:pPr>
            <a:r>
              <a:rPr lang="ru-RU" sz="3200" b="1" dirty="0">
                <a:solidFill>
                  <a:srgbClr val="002060"/>
                </a:solidFill>
              </a:rPr>
              <a:t>3.Мультиплексирование с делением по длине волны в оптическом волокне (1/3)</a:t>
            </a:r>
          </a:p>
        </p:txBody>
      </p:sp>
      <p:sp>
        <p:nvSpPr>
          <p:cNvPr id="98307" name="Rectangle 3"/>
          <p:cNvSpPr>
            <a:spLocks noGrp="1" noChangeArrowheads="1"/>
          </p:cNvSpPr>
          <p:nvPr>
            <p:ph type="body" sz="half" idx="1"/>
          </p:nvPr>
        </p:nvSpPr>
        <p:spPr>
          <a:xfrm>
            <a:off x="1" y="1124744"/>
            <a:ext cx="4427538" cy="5472608"/>
          </a:xfrm>
        </p:spPr>
        <p:txBody>
          <a:bodyPr>
            <a:normAutofit/>
          </a:bodyPr>
          <a:lstStyle/>
          <a:p>
            <a:pPr eaLnBrk="1" hangingPunct="1">
              <a:lnSpc>
                <a:spcPct val="90000"/>
              </a:lnSpc>
            </a:pPr>
            <a:r>
              <a:rPr lang="ru-RU" sz="2400" dirty="0"/>
              <a:t>На входе канала сигналы</a:t>
            </a:r>
          </a:p>
          <a:p>
            <a:pPr eaLnBrk="1" hangingPunct="1">
              <a:lnSpc>
                <a:spcPct val="90000"/>
              </a:lnSpc>
              <a:buNone/>
            </a:pPr>
            <a:r>
              <a:rPr lang="ru-RU" sz="2400" dirty="0"/>
              <a:t>     с помощью призмы объединяются в одно общее волокно. </a:t>
            </a:r>
          </a:p>
          <a:p>
            <a:pPr eaLnBrk="1" hangingPunct="1">
              <a:lnSpc>
                <a:spcPct val="90000"/>
              </a:lnSpc>
            </a:pPr>
            <a:r>
              <a:rPr lang="ru-RU" sz="2400" dirty="0"/>
              <a:t>На выходе с помощью аналогичной призмы эти сигналы разделяются. </a:t>
            </a:r>
          </a:p>
          <a:p>
            <a:pPr eaLnBrk="1" hangingPunct="1">
              <a:lnSpc>
                <a:spcPct val="90000"/>
              </a:lnSpc>
            </a:pPr>
            <a:r>
              <a:rPr lang="ru-RU" sz="2400" b="1" dirty="0"/>
              <a:t>Число волокон на входе и выходе может достигать 32</a:t>
            </a:r>
          </a:p>
          <a:p>
            <a:pPr eaLnBrk="1" hangingPunct="1">
              <a:lnSpc>
                <a:spcPct val="90000"/>
              </a:lnSpc>
              <a:buNone/>
            </a:pPr>
            <a:r>
              <a:rPr lang="ru-RU" sz="2400" b="1" dirty="0"/>
              <a:t>      и более </a:t>
            </a:r>
            <a:r>
              <a:rPr lang="ru-RU" sz="2400" dirty="0"/>
              <a:t>(вместо призм в настоящее  время используются миниатюрные зеркала, где применяется развертка по длине волны). </a:t>
            </a:r>
          </a:p>
        </p:txBody>
      </p:sp>
      <p:pic>
        <p:nvPicPr>
          <p:cNvPr id="98308" name="Picture 4" descr="Мультиплексирование с делением по длине волны в оптическом волокне"/>
          <p:cNvPicPr>
            <a:picLocks noGrp="1" noChangeAspect="1" noChangeArrowheads="1"/>
          </p:cNvPicPr>
          <p:nvPr>
            <p:ph sz="half" idx="2"/>
          </p:nvPr>
        </p:nvPicPr>
        <p:blipFill>
          <a:blip r:embed="rId2" cstate="print"/>
          <a:srcRect/>
          <a:stretch>
            <a:fillRect/>
          </a:stretch>
        </p:blipFill>
        <p:spPr>
          <a:xfrm>
            <a:off x="4500563" y="2276475"/>
            <a:ext cx="4464050" cy="1441450"/>
          </a:xfrm>
          <a:noFill/>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Grp="1" noChangeArrowheads="1"/>
          </p:cNvSpPr>
          <p:nvPr>
            <p:ph type="title"/>
          </p:nvPr>
        </p:nvSpPr>
        <p:spPr>
          <a:xfrm>
            <a:off x="0" y="0"/>
            <a:ext cx="9144000" cy="1052736"/>
          </a:xfrm>
        </p:spPr>
        <p:txBody>
          <a:bodyPr>
            <a:normAutofit fontScale="90000"/>
          </a:bodyPr>
          <a:lstStyle/>
          <a:p>
            <a:pPr eaLnBrk="1" hangingPunct="1"/>
            <a:r>
              <a:rPr lang="ru-RU" sz="3200" b="1" dirty="0">
                <a:solidFill>
                  <a:srgbClr val="002060"/>
                </a:solidFill>
              </a:rPr>
              <a:t>3.Мультиплексирование с делением по длине волны в оптическом волокне (2/3)</a:t>
            </a:r>
          </a:p>
        </p:txBody>
      </p:sp>
      <p:sp>
        <p:nvSpPr>
          <p:cNvPr id="99331" name="Rectangle 3"/>
          <p:cNvSpPr>
            <a:spLocks noGrp="1" noChangeArrowheads="1"/>
          </p:cNvSpPr>
          <p:nvPr>
            <p:ph idx="1"/>
          </p:nvPr>
        </p:nvSpPr>
        <p:spPr>
          <a:xfrm>
            <a:off x="0" y="980728"/>
            <a:ext cx="9144000" cy="5688632"/>
          </a:xfrm>
        </p:spPr>
        <p:txBody>
          <a:bodyPr>
            <a:normAutofit/>
          </a:bodyPr>
          <a:lstStyle/>
          <a:p>
            <a:pPr eaLnBrk="1" hangingPunct="1">
              <a:lnSpc>
                <a:spcPct val="80000"/>
              </a:lnSpc>
            </a:pPr>
            <a:r>
              <a:rPr lang="ru-RU" sz="2800" dirty="0"/>
              <a:t>Передаваемые данные должны посылаться на определенной несущей длине волны. </a:t>
            </a:r>
          </a:p>
          <a:p>
            <a:pPr eaLnBrk="1" hangingPunct="1">
              <a:lnSpc>
                <a:spcPct val="80000"/>
              </a:lnSpc>
            </a:pPr>
            <a:r>
              <a:rPr lang="ru-RU" sz="2800" b="1" dirty="0"/>
              <a:t>Обычно волновое мультиплексирование WDM осуществляется в окне прозрачности. </a:t>
            </a:r>
          </a:p>
          <a:p>
            <a:pPr eaLnBrk="1" hangingPunct="1">
              <a:lnSpc>
                <a:spcPct val="80000"/>
              </a:lnSpc>
            </a:pPr>
            <a:r>
              <a:rPr lang="ru-RU" sz="2800" u="sng" dirty="0"/>
              <a:t>Окно прозрачности </a:t>
            </a:r>
            <a:r>
              <a:rPr lang="ru-RU" sz="2800" dirty="0"/>
              <a:t>— область частот, находящаяся между двумя провалами, в которой обеспечиваются лучшие условия распространения радиоволн.</a:t>
            </a:r>
          </a:p>
          <a:p>
            <a:pPr eaLnBrk="1" hangingPunct="1">
              <a:lnSpc>
                <a:spcPct val="80000"/>
              </a:lnSpc>
              <a:buNone/>
            </a:pPr>
            <a:r>
              <a:rPr lang="ru-RU" sz="2800" dirty="0"/>
              <a:t>      1530-1560 нм, где обеспечивается минимальное затухание сигнала до 0,2 дБ/км. </a:t>
            </a:r>
          </a:p>
          <a:p>
            <a:pPr eaLnBrk="1" hangingPunct="1">
              <a:lnSpc>
                <a:spcPct val="80000"/>
              </a:lnSpc>
            </a:pPr>
            <a:r>
              <a:rPr lang="ru-RU" sz="2800" dirty="0"/>
              <a:t>Как правило, </a:t>
            </a:r>
            <a:r>
              <a:rPr lang="ru-RU" sz="2800" dirty="0" err="1"/>
              <a:t>волоконно</a:t>
            </a:r>
            <a:r>
              <a:rPr lang="ru-RU" sz="2800" dirty="0"/>
              <a:t> ­ оптические системы используют 3 длины волны — 850, 1310 и 1550 нм.</a:t>
            </a:r>
          </a:p>
          <a:p>
            <a:pPr eaLnBrk="1" hangingPunct="1">
              <a:lnSpc>
                <a:spcPct val="80000"/>
              </a:lnSpc>
            </a:pPr>
            <a:r>
              <a:rPr lang="ru-RU" sz="2800" dirty="0"/>
              <a:t>Если входной сигнал является оптическим и передается на одной из этих длин волн, он должен быть преобразован для передачи с длиной волны окна прозрачности WDM. </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noChangeArrowheads="1"/>
          </p:cNvSpPr>
          <p:nvPr>
            <p:ph type="title"/>
          </p:nvPr>
        </p:nvSpPr>
        <p:spPr>
          <a:xfrm>
            <a:off x="0" y="0"/>
            <a:ext cx="9144000" cy="1124744"/>
          </a:xfrm>
        </p:spPr>
        <p:txBody>
          <a:bodyPr rtlCol="0">
            <a:normAutofit/>
          </a:bodyPr>
          <a:lstStyle/>
          <a:p>
            <a:pPr eaLnBrk="1" fontAlgn="auto" hangingPunct="1">
              <a:spcAft>
                <a:spcPts val="0"/>
              </a:spcAft>
              <a:defRPr/>
            </a:pPr>
            <a:r>
              <a:rPr lang="ru-RU" sz="3200" b="1" dirty="0">
                <a:solidFill>
                  <a:srgbClr val="002060"/>
                </a:solidFill>
              </a:rPr>
              <a:t>3.Мультиплексирование с делением по длине волны в оптическом волокне (3/3)</a:t>
            </a:r>
          </a:p>
        </p:txBody>
      </p:sp>
      <p:sp>
        <p:nvSpPr>
          <p:cNvPr id="100355" name="Rectangle 3"/>
          <p:cNvSpPr>
            <a:spLocks noGrp="1" noChangeArrowheads="1"/>
          </p:cNvSpPr>
          <p:nvPr>
            <p:ph idx="1"/>
          </p:nvPr>
        </p:nvSpPr>
        <p:spPr>
          <a:xfrm>
            <a:off x="179388" y="1052736"/>
            <a:ext cx="8785225" cy="5805264"/>
          </a:xfrm>
        </p:spPr>
        <p:txBody>
          <a:bodyPr/>
          <a:lstStyle/>
          <a:p>
            <a:pPr algn="just" eaLnBrk="1" hangingPunct="1">
              <a:lnSpc>
                <a:spcPct val="80000"/>
              </a:lnSpc>
            </a:pPr>
            <a:r>
              <a:rPr lang="ru-RU" sz="2400" b="1" u="sng" dirty="0">
                <a:solidFill>
                  <a:schemeClr val="accent2"/>
                </a:solidFill>
              </a:rPr>
              <a:t>Передача</a:t>
            </a:r>
          </a:p>
          <a:p>
            <a:pPr eaLnBrk="1" hangingPunct="1">
              <a:lnSpc>
                <a:spcPct val="80000"/>
              </a:lnSpc>
            </a:pPr>
            <a:r>
              <a:rPr lang="ru-RU" sz="2400" b="1" dirty="0"/>
              <a:t>При наличии нескольких независимых входных сигналов каждый из них должен быть преобразован для передачи на своей длине волны в рамках этого диапазона. </a:t>
            </a:r>
          </a:p>
          <a:p>
            <a:pPr eaLnBrk="1" hangingPunct="1">
              <a:lnSpc>
                <a:spcPct val="80000"/>
              </a:lnSpc>
            </a:pPr>
            <a:r>
              <a:rPr lang="ru-RU" sz="2400" dirty="0"/>
              <a:t>Затем эти сигналы объединяются с помощью оптической системы таким образом, что большая часть мощности всех сигналов передается по одному оптическому волокну. </a:t>
            </a:r>
          </a:p>
          <a:p>
            <a:pPr eaLnBrk="1" hangingPunct="1">
              <a:lnSpc>
                <a:spcPct val="80000"/>
              </a:lnSpc>
            </a:pPr>
            <a:r>
              <a:rPr lang="ru-RU" sz="2400" b="1" u="sng" dirty="0">
                <a:solidFill>
                  <a:schemeClr val="accent2"/>
                </a:solidFill>
              </a:rPr>
              <a:t>Прием</a:t>
            </a:r>
          </a:p>
          <a:p>
            <a:pPr eaLnBrk="1" hangingPunct="1">
              <a:lnSpc>
                <a:spcPct val="80000"/>
              </a:lnSpc>
            </a:pPr>
            <a:r>
              <a:rPr lang="ru-RU" sz="2400" b="1" dirty="0"/>
              <a:t>На другом конце линии световые сигналы разделяются с помощью </a:t>
            </a:r>
            <a:r>
              <a:rPr lang="ru-RU" sz="2400" b="1" dirty="0" err="1"/>
              <a:t>сплиттера</a:t>
            </a:r>
            <a:r>
              <a:rPr lang="ru-RU" sz="2400" b="1" dirty="0"/>
              <a:t> (еще одной системы линз) на несколько каналов. </a:t>
            </a:r>
          </a:p>
          <a:p>
            <a:pPr eaLnBrk="1" hangingPunct="1">
              <a:lnSpc>
                <a:spcPct val="80000"/>
              </a:lnSpc>
            </a:pPr>
            <a:r>
              <a:rPr lang="ru-RU" sz="2400" dirty="0"/>
              <a:t>Каждый из этих каналов проходит через фильтры,   отделяющие только одну из длин волн. </a:t>
            </a:r>
          </a:p>
          <a:p>
            <a:pPr eaLnBrk="1" hangingPunct="1">
              <a:lnSpc>
                <a:spcPct val="80000"/>
              </a:lnSpc>
            </a:pPr>
            <a:r>
              <a:rPr lang="ru-RU" sz="2400" dirty="0"/>
              <a:t>В конце концов, каждая из отделенных длин волн попадает на свой приемник, который преобразует ее в исходный вид (оптический на длинах волн 850, 1310 и 1550 нм или медный). </a:t>
            </a:r>
          </a:p>
          <a:p>
            <a:pPr eaLnBrk="1" hangingPunct="1">
              <a:lnSpc>
                <a:spcPct val="80000"/>
              </a:lnSpc>
            </a:pPr>
            <a:endParaRPr lang="ru-RU" sz="2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0" y="274638"/>
            <a:ext cx="8964488" cy="1143000"/>
          </a:xfrm>
        </p:spPr>
        <p:txBody>
          <a:bodyPr>
            <a:normAutofit fontScale="90000"/>
          </a:bodyPr>
          <a:lstStyle/>
          <a:p>
            <a:pPr algn="l"/>
            <a:r>
              <a:rPr lang="ru-RU" sz="3600" b="1" dirty="0">
                <a:solidFill>
                  <a:srgbClr val="002060"/>
                </a:solidFill>
              </a:rPr>
              <a:t>3.Принцип волнового мультиплексирования </a:t>
            </a:r>
          </a:p>
        </p:txBody>
      </p:sp>
      <p:pic>
        <p:nvPicPr>
          <p:cNvPr id="168962" name="Picture 2"/>
          <p:cNvPicPr>
            <a:picLocks noGrp="1" noChangeAspect="1" noChangeArrowheads="1"/>
          </p:cNvPicPr>
          <p:nvPr>
            <p:ph idx="1"/>
          </p:nvPr>
        </p:nvPicPr>
        <p:blipFill>
          <a:blip r:embed="rId2" cstate="print"/>
          <a:srcRect/>
          <a:stretch>
            <a:fillRect/>
          </a:stretch>
        </p:blipFill>
        <p:spPr bwMode="auto">
          <a:xfrm>
            <a:off x="457200" y="2099121"/>
            <a:ext cx="8229600" cy="3528120"/>
          </a:xfrm>
          <a:prstGeom prst="rect">
            <a:avLst/>
          </a:prstGeom>
          <a:noFill/>
          <a:ln w="9525">
            <a:noFill/>
            <a:miter lim="800000"/>
            <a:headEnd/>
            <a:tailEnd/>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0" y="188640"/>
            <a:ext cx="9144000" cy="864096"/>
          </a:xfrm>
        </p:spPr>
        <p:txBody>
          <a:bodyPr>
            <a:noAutofit/>
          </a:bodyPr>
          <a:lstStyle/>
          <a:p>
            <a:r>
              <a:rPr lang="ru-RU" sz="2800" b="1" dirty="0">
                <a:solidFill>
                  <a:srgbClr val="002060"/>
                </a:solidFill>
              </a:rPr>
              <a:t>3.Разделение по длине волны WDМ</a:t>
            </a:r>
            <a:br>
              <a:rPr lang="ru-RU" sz="2800" b="1" dirty="0">
                <a:solidFill>
                  <a:srgbClr val="002060"/>
                </a:solidFill>
              </a:rPr>
            </a:br>
            <a:r>
              <a:rPr lang="ru-RU" sz="2800" b="1" dirty="0">
                <a:solidFill>
                  <a:srgbClr val="002060"/>
                </a:solidFill>
              </a:rPr>
              <a:t> (2 вариант пояснения)</a:t>
            </a:r>
          </a:p>
        </p:txBody>
      </p:sp>
      <p:sp>
        <p:nvSpPr>
          <p:cNvPr id="3" name="Содержимое 2"/>
          <p:cNvSpPr>
            <a:spLocks noGrp="1"/>
          </p:cNvSpPr>
          <p:nvPr>
            <p:ph idx="1"/>
          </p:nvPr>
        </p:nvSpPr>
        <p:spPr>
          <a:xfrm>
            <a:off x="0" y="908720"/>
            <a:ext cx="9144000" cy="5949280"/>
          </a:xfrm>
        </p:spPr>
        <p:txBody>
          <a:bodyPr>
            <a:normAutofit fontScale="62500" lnSpcReduction="20000"/>
          </a:bodyPr>
          <a:lstStyle/>
          <a:p>
            <a:endParaRPr lang="ru-RU" b="1" dirty="0"/>
          </a:p>
          <a:p>
            <a:r>
              <a:rPr lang="ru-RU" b="1" dirty="0"/>
              <a:t>Технология </a:t>
            </a:r>
            <a:r>
              <a:rPr lang="ru-RU" b="1" dirty="0" err="1"/>
              <a:t>многоволнового</a:t>
            </a:r>
            <a:r>
              <a:rPr lang="ru-RU" b="1" dirty="0"/>
              <a:t> уплотнения оптических несущих –WDM </a:t>
            </a:r>
            <a:r>
              <a:rPr lang="ru-RU" dirty="0"/>
              <a:t> – это способ объединения  многочисленных сигналов в одном ВОК </a:t>
            </a:r>
          </a:p>
          <a:p>
            <a:pPr>
              <a:buNone/>
            </a:pPr>
            <a:r>
              <a:rPr lang="ru-RU" dirty="0"/>
              <a:t>       (</a:t>
            </a:r>
            <a:r>
              <a:rPr lang="ru-RU" dirty="0" err="1"/>
              <a:t>волоконно</a:t>
            </a:r>
            <a:r>
              <a:rPr lang="ru-RU" dirty="0"/>
              <a:t> - оптическом кабеле) путем передачи их по данному кабелю </a:t>
            </a:r>
          </a:p>
          <a:p>
            <a:pPr>
              <a:buNone/>
            </a:pPr>
            <a:r>
              <a:rPr lang="ru-RU" dirty="0"/>
              <a:t>       с использованием различных длин волн.  </a:t>
            </a:r>
          </a:p>
          <a:p>
            <a:r>
              <a:rPr lang="ru-RU" b="1" dirty="0"/>
              <a:t>Суть технологии WDM :</a:t>
            </a:r>
          </a:p>
          <a:p>
            <a:pPr>
              <a:buNone/>
            </a:pPr>
            <a:r>
              <a:rPr lang="ru-RU" b="1" dirty="0"/>
              <a:t>            -  </a:t>
            </a:r>
            <a:r>
              <a:rPr lang="ru-RU" b="1" dirty="0" err="1"/>
              <a:t>m</a:t>
            </a:r>
            <a:r>
              <a:rPr lang="ru-RU" dirty="0"/>
              <a:t> информационных цифровых потоков, переносимых каждый на своей оптической несущей на длине волны </a:t>
            </a:r>
            <a:r>
              <a:rPr lang="ru-RU" i="1" dirty="0" err="1"/>
              <a:t>λm</a:t>
            </a:r>
            <a:r>
              <a:rPr lang="ru-RU" dirty="0" err="1"/>
              <a:t> </a:t>
            </a:r>
            <a:r>
              <a:rPr lang="ru-RU" dirty="0"/>
              <a:t>и разнесенных в пространстве,</a:t>
            </a:r>
          </a:p>
          <a:p>
            <a:pPr>
              <a:buNone/>
            </a:pPr>
            <a:r>
              <a:rPr lang="ru-RU" dirty="0"/>
              <a:t>      с помощью специальных устройств – оптических мультиплексоров (ОМ) –объединяются в один оптический поток</a:t>
            </a:r>
            <a:r>
              <a:rPr lang="ru-RU" i="1" dirty="0"/>
              <a:t> λ1...</a:t>
            </a:r>
            <a:r>
              <a:rPr lang="ru-RU" i="1" dirty="0" err="1"/>
              <a:t>λm</a:t>
            </a:r>
            <a:endParaRPr lang="ru-RU" b="1" dirty="0"/>
          </a:p>
          <a:p>
            <a:pPr>
              <a:buNone/>
            </a:pPr>
            <a:r>
              <a:rPr lang="ru-RU" b="1" dirty="0"/>
              <a:t>           - </a:t>
            </a:r>
            <a:r>
              <a:rPr lang="ru-RU" dirty="0"/>
              <a:t>после чего он вводится в оптическое линейное волокно, входящее в состав оптического кабеля.</a:t>
            </a:r>
          </a:p>
          <a:p>
            <a:pPr>
              <a:buNone/>
            </a:pPr>
            <a:r>
              <a:rPr lang="ru-RU" dirty="0"/>
              <a:t>На приемной стороне производится обратная операция демультиплексирования.</a:t>
            </a:r>
          </a:p>
          <a:p>
            <a:r>
              <a:rPr lang="ru-RU" b="1" dirty="0"/>
              <a:t>Технология WDM имеет ряд достоинств:</a:t>
            </a:r>
          </a:p>
          <a:p>
            <a:pPr>
              <a:buNone/>
            </a:pPr>
            <a:r>
              <a:rPr lang="ru-RU" dirty="0"/>
              <a:t>        -  пропускную способность транспортной сети с WDM легко наращивать;</a:t>
            </a:r>
          </a:p>
          <a:p>
            <a:pPr>
              <a:buNone/>
            </a:pPr>
            <a:r>
              <a:rPr lang="ru-RU" dirty="0"/>
              <a:t>        - транспортные сети, основанные на технологии WDM,</a:t>
            </a:r>
          </a:p>
          <a:p>
            <a:pPr>
              <a:buNone/>
            </a:pPr>
            <a:r>
              <a:rPr lang="ru-RU" dirty="0"/>
              <a:t>            обладают большой гибкостью;</a:t>
            </a:r>
          </a:p>
          <a:p>
            <a:pPr>
              <a:buNone/>
            </a:pPr>
            <a:r>
              <a:rPr lang="ru-RU" dirty="0"/>
              <a:t>       - сигналы, передаваемые по одному волокну, во всех спектральных каналах  </a:t>
            </a:r>
          </a:p>
          <a:p>
            <a:pPr>
              <a:buNone/>
            </a:pPr>
            <a:r>
              <a:rPr lang="ru-RU" dirty="0"/>
              <a:t>          можно усиливать с помощью одного оптического усилителя.</a:t>
            </a:r>
          </a:p>
          <a:p>
            <a:endParaRPr lang="ru-RU"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0" y="274638"/>
            <a:ext cx="8964488" cy="1143000"/>
          </a:xfrm>
        </p:spPr>
        <p:txBody>
          <a:bodyPr>
            <a:normAutofit fontScale="90000"/>
          </a:bodyPr>
          <a:lstStyle/>
          <a:p>
            <a:pPr algn="l"/>
            <a:r>
              <a:rPr lang="ru-RU" sz="3600" b="1" dirty="0">
                <a:solidFill>
                  <a:srgbClr val="002060"/>
                </a:solidFill>
              </a:rPr>
              <a:t>3.Принцип волнового мультиплексирования </a:t>
            </a:r>
          </a:p>
        </p:txBody>
      </p:sp>
      <p:pic>
        <p:nvPicPr>
          <p:cNvPr id="168962" name="Picture 2"/>
          <p:cNvPicPr>
            <a:picLocks noGrp="1" noChangeAspect="1" noChangeArrowheads="1"/>
          </p:cNvPicPr>
          <p:nvPr>
            <p:ph idx="1"/>
          </p:nvPr>
        </p:nvPicPr>
        <p:blipFill>
          <a:blip r:embed="rId2" cstate="print"/>
          <a:srcRect/>
          <a:stretch>
            <a:fillRect/>
          </a:stretch>
        </p:blipFill>
        <p:spPr bwMode="auto">
          <a:xfrm>
            <a:off x="457200" y="2099121"/>
            <a:ext cx="8229600" cy="3528120"/>
          </a:xfrm>
          <a:prstGeom prst="rect">
            <a:avLst/>
          </a:prstGeom>
          <a:noFill/>
          <a:ln w="9525">
            <a:noFill/>
            <a:miter lim="800000"/>
            <a:headEnd/>
            <a:tailEnd/>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b="1" dirty="0">
                <a:solidFill>
                  <a:srgbClr val="002060"/>
                </a:solidFill>
              </a:rPr>
              <a:t>Цифровые системы передачи</a:t>
            </a:r>
          </a:p>
        </p:txBody>
      </p:sp>
      <p:sp>
        <p:nvSpPr>
          <p:cNvPr id="3" name="Содержимое 2"/>
          <p:cNvSpPr>
            <a:spLocks noGrp="1"/>
          </p:cNvSpPr>
          <p:nvPr>
            <p:ph idx="1"/>
          </p:nvPr>
        </p:nvSpPr>
        <p:spPr>
          <a:xfrm>
            <a:off x="0" y="1268760"/>
            <a:ext cx="8686800" cy="4857403"/>
          </a:xfrm>
        </p:spPr>
        <p:txBody>
          <a:bodyPr>
            <a:normAutofit fontScale="92500"/>
          </a:bodyPr>
          <a:lstStyle/>
          <a:p>
            <a:r>
              <a:rPr lang="ru-RU" dirty="0"/>
              <a:t>Иерархии цифровых систем передачи (ЦСП</a:t>
            </a:r>
            <a:r>
              <a:rPr lang="ru-RU" b="1" dirty="0">
                <a:solidFill>
                  <a:srgbClr val="002060"/>
                </a:solidFill>
                <a:effectLst>
                  <a:outerShdw blurRad="38100" dist="38100" dir="2700000" algn="tl">
                    <a:srgbClr val="000000">
                      <a:alpha val="43137"/>
                    </a:srgbClr>
                  </a:outerShdw>
                </a:effectLst>
              </a:rPr>
              <a:t>)</a:t>
            </a:r>
            <a:endParaRPr lang="ru-RU" dirty="0">
              <a:effectLst>
                <a:outerShdw blurRad="38100" dist="38100" dir="2700000" algn="tl">
                  <a:srgbClr val="000000">
                    <a:alpha val="43137"/>
                  </a:srgbClr>
                </a:outerShdw>
              </a:effectLst>
            </a:endParaRPr>
          </a:p>
          <a:p>
            <a:r>
              <a:rPr lang="ru-RU" b="1" dirty="0" err="1"/>
              <a:t>Плезиохронная</a:t>
            </a:r>
            <a:r>
              <a:rPr lang="ru-RU" b="1" dirty="0"/>
              <a:t> цифровая иерархия </a:t>
            </a:r>
            <a:r>
              <a:rPr lang="en-GB" b="1" i="1" dirty="0"/>
              <a:t>PDH (</a:t>
            </a:r>
            <a:r>
              <a:rPr lang="en-GB" b="1" i="1" dirty="0" err="1"/>
              <a:t>Plesiochronous</a:t>
            </a:r>
            <a:r>
              <a:rPr lang="ru-RU" b="1" i="1" dirty="0"/>
              <a:t> </a:t>
            </a:r>
            <a:r>
              <a:rPr lang="en-GB" b="1" i="1" dirty="0"/>
              <a:t>digital hierarchy</a:t>
            </a:r>
            <a:r>
              <a:rPr lang="ru-RU" b="1" i="1" dirty="0"/>
              <a:t>)</a:t>
            </a:r>
            <a:r>
              <a:rPr lang="ru-RU" b="1" dirty="0"/>
              <a:t>.</a:t>
            </a:r>
          </a:p>
          <a:p>
            <a:r>
              <a:rPr lang="ru-RU" b="1" dirty="0">
                <a:solidFill>
                  <a:srgbClr val="C00000"/>
                </a:solidFill>
              </a:rPr>
              <a:t> </a:t>
            </a:r>
            <a:r>
              <a:rPr lang="ru-RU" b="1" dirty="0"/>
              <a:t>Синхронная цифровая иерархия </a:t>
            </a:r>
            <a:r>
              <a:rPr lang="en-GB" b="1" i="1" dirty="0"/>
              <a:t>SDH (Synchronous</a:t>
            </a:r>
            <a:r>
              <a:rPr lang="ru-RU" b="1" i="1" dirty="0"/>
              <a:t> </a:t>
            </a:r>
            <a:r>
              <a:rPr lang="en-GB" b="1" i="1" dirty="0"/>
              <a:t>Digital Hierarchy</a:t>
            </a:r>
            <a:r>
              <a:rPr lang="ru-RU" b="1" i="1" dirty="0"/>
              <a:t>).</a:t>
            </a:r>
            <a:endParaRPr lang="ru-RU" b="1" dirty="0"/>
          </a:p>
          <a:p>
            <a:r>
              <a:rPr lang="ru-RU" altLang="ru-RU" b="1" dirty="0"/>
              <a:t>Т</a:t>
            </a:r>
            <a:r>
              <a:rPr lang="ru-RU" altLang="ru-RU" b="1" dirty="0">
                <a:cs typeface="Times New Roman" panose="02020603050405020304" pitchFamily="18" charset="0"/>
              </a:rPr>
              <a:t>ехнология АТМ </a:t>
            </a:r>
            <a:r>
              <a:rPr lang="ru-RU" altLang="ru-RU" b="1" dirty="0"/>
              <a:t>– ( </a:t>
            </a:r>
            <a:r>
              <a:rPr lang="ru-RU" altLang="ru-RU" b="1" dirty="0" err="1">
                <a:cs typeface="Times New Roman" panose="02020603050405020304" pitchFamily="18" charset="0"/>
              </a:rPr>
              <a:t>Asynchronous</a:t>
            </a:r>
            <a:r>
              <a:rPr lang="ru-RU" altLang="ru-RU" b="1" dirty="0">
                <a:cs typeface="Times New Roman" panose="02020603050405020304" pitchFamily="18" charset="0"/>
              </a:rPr>
              <a:t> </a:t>
            </a:r>
            <a:r>
              <a:rPr lang="ru-RU" altLang="ru-RU" b="1" dirty="0" err="1">
                <a:cs typeface="Times New Roman" panose="02020603050405020304" pitchFamily="18" charset="0"/>
              </a:rPr>
              <a:t>Transfer</a:t>
            </a:r>
            <a:r>
              <a:rPr lang="ru-RU" altLang="ru-RU" b="1" dirty="0">
                <a:cs typeface="Times New Roman" panose="02020603050405020304" pitchFamily="18" charset="0"/>
              </a:rPr>
              <a:t> </a:t>
            </a:r>
            <a:r>
              <a:rPr lang="ru-RU" altLang="ru-RU" b="1" dirty="0" err="1">
                <a:cs typeface="Times New Roman" panose="02020603050405020304" pitchFamily="18" charset="0"/>
              </a:rPr>
              <a:t>Modе</a:t>
            </a:r>
            <a:r>
              <a:rPr lang="ru-RU" altLang="ru-RU" b="1" dirty="0">
                <a:cs typeface="Times New Roman" panose="02020603050405020304" pitchFamily="18" charset="0"/>
              </a:rPr>
              <a:t>).</a:t>
            </a:r>
          </a:p>
          <a:p>
            <a:r>
              <a:rPr lang="ru-RU" b="1" dirty="0">
                <a:cs typeface="Times New Roman" panose="02020603050405020304" pitchFamily="18" charset="0"/>
              </a:rPr>
              <a:t>Технология </a:t>
            </a:r>
            <a:r>
              <a:rPr lang="en-US" b="1" dirty="0">
                <a:cs typeface="Times New Roman" panose="02020603050405020304" pitchFamily="18" charset="0"/>
              </a:rPr>
              <a:t>OTN</a:t>
            </a:r>
            <a:endParaRPr lang="ru-RU" altLang="ru-RU" b="1" dirty="0">
              <a:cs typeface="Times New Roman" panose="02020603050405020304" pitchFamily="18" charset="0"/>
            </a:endParaRPr>
          </a:p>
          <a:p>
            <a:endParaRPr lang="ru-RU" altLang="ru-RU" dirty="0">
              <a:cs typeface="Times New Roman" panose="02020603050405020304" pitchFamily="18" charset="0"/>
            </a:endParaRPr>
          </a:p>
          <a:p>
            <a:r>
              <a:rPr lang="ru-RU" altLang="ru-RU" dirty="0">
                <a:cs typeface="Times New Roman" panose="02020603050405020304" pitchFamily="18" charset="0"/>
              </a:rPr>
              <a:t> </a:t>
            </a:r>
            <a:endParaRPr lang="ru-RU" i="1" dirty="0">
              <a:effectLst>
                <a:outerShdw blurRad="38100" dist="38100" dir="2700000" algn="tl">
                  <a:srgbClr val="000000">
                    <a:alpha val="43137"/>
                  </a:srgbClr>
                </a:outerShdw>
              </a:effectLst>
            </a:endParaRPr>
          </a:p>
          <a:p>
            <a:endParaRPr lang="ru-RU" i="1" dirty="0">
              <a:effectLst>
                <a:outerShdw blurRad="38100" dist="38100" dir="2700000" algn="tl">
                  <a:srgbClr val="000000">
                    <a:alpha val="43137"/>
                  </a:srgbClr>
                </a:outerShdw>
              </a:effectLst>
            </a:endParaRPr>
          </a:p>
          <a:p>
            <a:endParaRPr lang="ru-RU"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0" y="1"/>
            <a:ext cx="9144000" cy="548679"/>
          </a:xfrm>
        </p:spPr>
        <p:txBody>
          <a:bodyPr>
            <a:normAutofit/>
          </a:bodyPr>
          <a:lstStyle/>
          <a:p>
            <a:pPr algn="ctr"/>
            <a:r>
              <a:rPr lang="ru-RU" sz="2800" b="1" dirty="0">
                <a:solidFill>
                  <a:srgbClr val="002060"/>
                </a:solidFill>
                <a:effectLst>
                  <a:outerShdw blurRad="38100" dist="38100" dir="2700000" algn="tl">
                    <a:srgbClr val="000000">
                      <a:alpha val="43137"/>
                    </a:srgbClr>
                  </a:outerShdw>
                </a:effectLst>
              </a:rPr>
              <a:t>Иерархии цифровых систем передачи (ЦСП) (1)</a:t>
            </a:r>
            <a:endParaRPr lang="ru-RU" sz="2800" dirty="0">
              <a:solidFill>
                <a:srgbClr val="002060"/>
              </a:solidFill>
              <a:effectLst>
                <a:outerShdw blurRad="38100" dist="38100" dir="2700000" algn="tl">
                  <a:srgbClr val="000000">
                    <a:alpha val="43137"/>
                  </a:srgbClr>
                </a:outerShdw>
              </a:effectLst>
            </a:endParaRPr>
          </a:p>
        </p:txBody>
      </p:sp>
      <p:sp>
        <p:nvSpPr>
          <p:cNvPr id="3" name="TextBox 2"/>
          <p:cNvSpPr txBox="1"/>
          <p:nvPr/>
        </p:nvSpPr>
        <p:spPr>
          <a:xfrm>
            <a:off x="249811" y="554606"/>
            <a:ext cx="8894189" cy="2554545"/>
          </a:xfrm>
          <a:prstGeom prst="rect">
            <a:avLst/>
          </a:prstGeom>
          <a:noFill/>
        </p:spPr>
        <p:txBody>
          <a:bodyPr wrap="square" rtlCol="0">
            <a:spAutoFit/>
          </a:bodyPr>
          <a:lstStyle/>
          <a:p>
            <a:r>
              <a:rPr lang="ru-RU" sz="2000" b="1" u="sng" dirty="0"/>
              <a:t>Первичная сеть </a:t>
            </a:r>
            <a:r>
              <a:rPr lang="ru-RU" sz="2000" dirty="0">
                <a:effectLst>
                  <a:outerShdw blurRad="38100" dist="38100" dir="2700000" algn="tl">
                    <a:srgbClr val="000000">
                      <a:alpha val="43137"/>
                    </a:srgbClr>
                  </a:outerShdw>
                </a:effectLst>
              </a:rPr>
              <a:t>- это совокупность :</a:t>
            </a:r>
          </a:p>
          <a:p>
            <a:r>
              <a:rPr lang="ru-RU" sz="2000" dirty="0">
                <a:effectLst>
                  <a:outerShdw blurRad="38100" dist="38100" dir="2700000" algn="tl">
                    <a:srgbClr val="000000">
                      <a:alpha val="43137"/>
                    </a:srgbClr>
                  </a:outerShdw>
                </a:effectLst>
              </a:rPr>
              <a:t>               - типовых физических цепей,</a:t>
            </a:r>
          </a:p>
          <a:p>
            <a:r>
              <a:rPr lang="ru-RU" sz="2000" dirty="0">
                <a:effectLst>
                  <a:outerShdw blurRad="38100" dist="38100" dir="2700000" algn="tl">
                    <a:srgbClr val="000000">
                      <a:alpha val="43137"/>
                    </a:srgbClr>
                  </a:outerShdw>
                </a:effectLst>
              </a:rPr>
              <a:t>               -  типовых каналов передачи и</a:t>
            </a:r>
          </a:p>
          <a:p>
            <a:r>
              <a:rPr lang="ru-RU" sz="2000" dirty="0">
                <a:effectLst>
                  <a:outerShdw blurRad="38100" dist="38100" dir="2700000" algn="tl">
                    <a:srgbClr val="000000">
                      <a:alpha val="43137"/>
                    </a:srgbClr>
                  </a:outerShdw>
                </a:effectLst>
              </a:rPr>
              <a:t>               - сетевых трактов системы электросвязи,</a:t>
            </a:r>
          </a:p>
          <a:p>
            <a:r>
              <a:rPr lang="ru-RU" sz="2000" dirty="0"/>
              <a:t> образованная на базе сетевых узлов, сетевых станций, оконечных устройств</a:t>
            </a:r>
          </a:p>
          <a:p>
            <a:r>
              <a:rPr lang="ru-RU" sz="2000" dirty="0"/>
              <a:t> первичной сети и соединяющих их линий передачи. </a:t>
            </a:r>
          </a:p>
          <a:p>
            <a:r>
              <a:rPr lang="ru-RU" sz="2000" b="1" dirty="0"/>
              <a:t>В основе системы электросвязи лежит использование цифровой первичной сети  и  цифровых систем передачи (транспортная сеть).</a:t>
            </a:r>
          </a:p>
        </p:txBody>
      </p:sp>
      <p:pic>
        <p:nvPicPr>
          <p:cNvPr id="4" name="Рисунок 3"/>
          <p:cNvPicPr>
            <a:picLocks noChangeAspect="1"/>
          </p:cNvPicPr>
          <p:nvPr/>
        </p:nvPicPr>
        <p:blipFill>
          <a:blip r:embed="rId2" cstate="print"/>
          <a:stretch>
            <a:fillRect/>
          </a:stretch>
        </p:blipFill>
        <p:spPr>
          <a:xfrm>
            <a:off x="467544" y="3140968"/>
            <a:ext cx="7992888" cy="3717032"/>
          </a:xfrm>
          <a:prstGeom prst="rect">
            <a:avLst/>
          </a:prstGeom>
        </p:spPr>
      </p:pic>
    </p:spTree>
    <p:extLst>
      <p:ext uri="{BB962C8B-B14F-4D97-AF65-F5344CB8AC3E}">
        <p14:creationId xmlns:p14="http://schemas.microsoft.com/office/powerpoint/2010/main" val="309312026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0" y="0"/>
            <a:ext cx="9144000" cy="764704"/>
          </a:xfrm>
        </p:spPr>
        <p:txBody>
          <a:bodyPr>
            <a:normAutofit/>
          </a:bodyPr>
          <a:lstStyle/>
          <a:p>
            <a:r>
              <a:rPr lang="ru-RU" sz="3200" b="1" dirty="0">
                <a:solidFill>
                  <a:srgbClr val="002060"/>
                </a:solidFill>
                <a:effectLst>
                  <a:outerShdw blurRad="38100" dist="38100" dir="2700000" algn="tl">
                    <a:srgbClr val="000000">
                      <a:alpha val="43137"/>
                    </a:srgbClr>
                  </a:outerShdw>
                </a:effectLst>
              </a:rPr>
              <a:t>Иерархии цифровых систем передачи (ЦСП) (2)</a:t>
            </a:r>
            <a:endParaRPr lang="ru-RU" sz="3200" dirty="0"/>
          </a:p>
        </p:txBody>
      </p:sp>
      <p:sp>
        <p:nvSpPr>
          <p:cNvPr id="3" name="Содержимое 2"/>
          <p:cNvSpPr>
            <a:spLocks noGrp="1"/>
          </p:cNvSpPr>
          <p:nvPr>
            <p:ph idx="1"/>
          </p:nvPr>
        </p:nvSpPr>
        <p:spPr>
          <a:xfrm>
            <a:off x="0" y="692696"/>
            <a:ext cx="9144000" cy="6165304"/>
          </a:xfrm>
        </p:spPr>
        <p:txBody>
          <a:bodyPr>
            <a:normAutofit fontScale="70000" lnSpcReduction="20000"/>
          </a:bodyPr>
          <a:lstStyle/>
          <a:p>
            <a:r>
              <a:rPr lang="ru-RU" sz="3400" b="1" dirty="0" err="1"/>
              <a:t>Cовременная</a:t>
            </a:r>
            <a:r>
              <a:rPr lang="ru-RU" sz="3400" b="1" dirty="0"/>
              <a:t> цифровая транспортная сеть строится на основе</a:t>
            </a:r>
          </a:p>
          <a:p>
            <a:pPr>
              <a:buNone/>
            </a:pPr>
            <a:r>
              <a:rPr lang="ru-RU" sz="3400" b="1" dirty="0"/>
              <a:t>       </a:t>
            </a:r>
            <a:r>
              <a:rPr lang="ru-RU" sz="3400" b="1" u="sng" dirty="0"/>
              <a:t>трех основных технологий</a:t>
            </a:r>
            <a:r>
              <a:rPr lang="ru-RU" sz="3400" dirty="0"/>
              <a:t>: </a:t>
            </a:r>
          </a:p>
          <a:p>
            <a:pPr marL="285750" indent="-285750">
              <a:buFont typeface="Wingdings" panose="05000000000000000000" pitchFamily="2" charset="2"/>
              <a:buChar char="ü"/>
            </a:pPr>
            <a:r>
              <a:rPr lang="ru-RU" sz="3400" dirty="0" err="1">
                <a:effectLst>
                  <a:outerShdw blurRad="38100" dist="38100" dir="2700000" algn="tl">
                    <a:srgbClr val="000000">
                      <a:alpha val="43137"/>
                    </a:srgbClr>
                  </a:outerShdw>
                </a:effectLst>
              </a:rPr>
              <a:t>плезиохронной</a:t>
            </a:r>
            <a:r>
              <a:rPr lang="ru-RU" sz="3400" dirty="0">
                <a:effectLst>
                  <a:outerShdw blurRad="38100" dist="38100" dir="2700000" algn="tl">
                    <a:srgbClr val="000000">
                      <a:alpha val="43137"/>
                    </a:srgbClr>
                  </a:outerShdw>
                </a:effectLst>
              </a:rPr>
              <a:t> иерархии (PDH), </a:t>
            </a:r>
          </a:p>
          <a:p>
            <a:pPr marL="285750" indent="-285750">
              <a:buFont typeface="Wingdings" panose="05000000000000000000" pitchFamily="2" charset="2"/>
              <a:buChar char="ü"/>
            </a:pPr>
            <a:r>
              <a:rPr lang="ru-RU" sz="3400" dirty="0">
                <a:effectLst>
                  <a:outerShdw blurRad="38100" dist="38100" dir="2700000" algn="tl">
                    <a:srgbClr val="000000">
                      <a:alpha val="43137"/>
                    </a:srgbClr>
                  </a:outerShdw>
                </a:effectLst>
              </a:rPr>
              <a:t>синхронной иерархии (SDH)</a:t>
            </a:r>
          </a:p>
          <a:p>
            <a:pPr marL="285750" indent="-285750">
              <a:buFont typeface="Wingdings" panose="05000000000000000000" pitchFamily="2" charset="2"/>
              <a:buChar char="ü"/>
            </a:pPr>
            <a:r>
              <a:rPr lang="ru-RU" sz="3400" dirty="0">
                <a:effectLst>
                  <a:outerShdw blurRad="38100" dist="38100" dir="2700000" algn="tl">
                    <a:srgbClr val="000000">
                      <a:alpha val="43137"/>
                    </a:srgbClr>
                  </a:outerShdw>
                </a:effectLst>
              </a:rPr>
              <a:t>асинхронного режима переноса (передачи) (ATM).</a:t>
            </a:r>
          </a:p>
          <a:p>
            <a:r>
              <a:rPr lang="ru-RU" sz="3400" dirty="0"/>
              <a:t>Первичным сигналом для </a:t>
            </a:r>
            <a:r>
              <a:rPr lang="ru-RU" sz="3400" i="1" dirty="0"/>
              <a:t>всех</a:t>
            </a:r>
            <a:r>
              <a:rPr lang="ru-RU" sz="3400" dirty="0"/>
              <a:t> типов ЦСП является  цифровой поток со скоростью передачи </a:t>
            </a:r>
            <a:r>
              <a:rPr lang="ru-RU" sz="3400" b="1" dirty="0"/>
              <a:t>64 кбит/с</a:t>
            </a:r>
            <a:r>
              <a:rPr lang="ru-RU" sz="3400" dirty="0"/>
              <a:t>, называемый </a:t>
            </a:r>
            <a:r>
              <a:rPr lang="ru-RU" sz="3400" b="1" dirty="0"/>
              <a:t>основным цифровым каналом (ОЦК)</a:t>
            </a:r>
            <a:r>
              <a:rPr lang="ru-RU" sz="3400" dirty="0"/>
              <a:t>.</a:t>
            </a:r>
          </a:p>
          <a:p>
            <a:r>
              <a:rPr lang="ru-RU" sz="3400" u="sng" dirty="0">
                <a:effectLst>
                  <a:outerShdw blurRad="38100" dist="38100" dir="2700000" algn="tl">
                    <a:srgbClr val="000000">
                      <a:alpha val="43137"/>
                    </a:srgbClr>
                  </a:outerShdw>
                </a:effectLst>
              </a:rPr>
              <a:t>В качестве среды передачи </a:t>
            </a:r>
            <a:r>
              <a:rPr lang="ru-RU" sz="3400" dirty="0"/>
              <a:t>используются электрический и оптический кабели и радиоволны.</a:t>
            </a:r>
          </a:p>
          <a:p>
            <a:r>
              <a:rPr lang="ru-RU" sz="3400" u="sng" dirty="0">
                <a:effectLst>
                  <a:outerShdw blurRad="38100" dist="38100" dir="2700000" algn="tl">
                    <a:srgbClr val="000000">
                      <a:alpha val="43137"/>
                    </a:srgbClr>
                  </a:outerShdw>
                </a:effectLst>
              </a:rPr>
              <a:t>Структура первичной сети </a:t>
            </a:r>
            <a:r>
              <a:rPr lang="ru-RU" sz="3400" dirty="0"/>
              <a:t>предопределяет объединение и разделение потоков передаваемой информации, поэтому используемые на ней системы передачи строятся по иерархическому принципу. </a:t>
            </a:r>
          </a:p>
          <a:p>
            <a:r>
              <a:rPr lang="ru-RU" sz="3400" b="1" u="sng" dirty="0"/>
              <a:t>Иерархический принцип </a:t>
            </a:r>
            <a:r>
              <a:rPr lang="ru-RU" sz="3400" b="1" dirty="0"/>
              <a:t>заключается в том, что число каналов ЦСП, соответствующее данной ступени иерархии, больше числа каналов ЦСП предыдущей ступени в целое число раз.</a:t>
            </a:r>
            <a:endParaRPr lang="ru-RU" sz="3400" dirty="0"/>
          </a:p>
          <a:p>
            <a:endParaRPr lang="ru-RU" sz="34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0" y="274638"/>
            <a:ext cx="9144000" cy="850106"/>
          </a:xfrm>
        </p:spPr>
        <p:txBody>
          <a:bodyPr/>
          <a:lstStyle/>
          <a:p>
            <a:r>
              <a:rPr lang="ru-RU" b="1" dirty="0">
                <a:solidFill>
                  <a:srgbClr val="002060"/>
                </a:solidFill>
              </a:rPr>
              <a:t>Развитие транспортных сетей</a:t>
            </a:r>
            <a:endParaRPr lang="ru-RU" dirty="0"/>
          </a:p>
        </p:txBody>
      </p:sp>
      <p:pic>
        <p:nvPicPr>
          <p:cNvPr id="4" name="Содержимое 3"/>
          <p:cNvPicPr>
            <a:picLocks noGrp="1"/>
          </p:cNvPicPr>
          <p:nvPr>
            <p:ph idx="1"/>
          </p:nvPr>
        </p:nvPicPr>
        <p:blipFill>
          <a:blip r:embed="rId2" cstate="print"/>
          <a:srcRect l="13911" t="44548" r="9375" b="23250"/>
          <a:stretch>
            <a:fillRect/>
          </a:stretch>
        </p:blipFill>
        <p:spPr bwMode="auto">
          <a:xfrm>
            <a:off x="0" y="1268760"/>
            <a:ext cx="9144000" cy="5400600"/>
          </a:xfrm>
          <a:prstGeom prst="rect">
            <a:avLst/>
          </a:prstGeom>
          <a:noFill/>
          <a:ln w="9525">
            <a:noFill/>
            <a:miter lim="800000"/>
            <a:headEnd/>
            <a:tailEnd/>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1268760"/>
            <a:ext cx="8229600" cy="2520280"/>
          </a:xfrm>
        </p:spPr>
        <p:txBody>
          <a:bodyPr>
            <a:normAutofit/>
          </a:bodyPr>
          <a:lstStyle/>
          <a:p>
            <a:r>
              <a:rPr lang="ru-RU" b="1" dirty="0">
                <a:solidFill>
                  <a:srgbClr val="002060"/>
                </a:solidFill>
              </a:rPr>
              <a:t>1.Плезиохронная системы передачи</a:t>
            </a:r>
            <a:r>
              <a:rPr lang="en-US" b="1" dirty="0">
                <a:solidFill>
                  <a:srgbClr val="002060"/>
                </a:solidFill>
              </a:rPr>
              <a:t> PDH</a:t>
            </a:r>
            <a:r>
              <a:rPr lang="ru-RU" b="1" dirty="0">
                <a:solidFill>
                  <a:srgbClr val="002060"/>
                </a:solidFill>
              </a:rPr>
              <a:t> </a:t>
            </a:r>
            <a:endParaRPr lang="ru-RU"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0" y="0"/>
            <a:ext cx="9144000" cy="692696"/>
          </a:xfrm>
        </p:spPr>
        <p:txBody>
          <a:bodyPr>
            <a:noAutofit/>
          </a:bodyPr>
          <a:lstStyle/>
          <a:p>
            <a:pPr algn="l"/>
            <a:br>
              <a:rPr lang="ru-RU" sz="2800" b="1" dirty="0">
                <a:solidFill>
                  <a:srgbClr val="002060"/>
                </a:solidFill>
              </a:rPr>
            </a:br>
            <a:r>
              <a:rPr lang="ru-RU" sz="2400" b="1" dirty="0">
                <a:solidFill>
                  <a:srgbClr val="002060"/>
                </a:solidFill>
              </a:rPr>
              <a:t>1. </a:t>
            </a:r>
            <a:r>
              <a:rPr lang="ru-RU" sz="2800" b="1" dirty="0">
                <a:solidFill>
                  <a:srgbClr val="002060"/>
                </a:solidFill>
              </a:rPr>
              <a:t>Системы передачи </a:t>
            </a:r>
            <a:r>
              <a:rPr lang="en-US" sz="2800" b="1" dirty="0">
                <a:solidFill>
                  <a:srgbClr val="002060"/>
                </a:solidFill>
              </a:rPr>
              <a:t>PDH</a:t>
            </a:r>
            <a:r>
              <a:rPr lang="en-GB" sz="2800" b="1" i="1" dirty="0">
                <a:solidFill>
                  <a:srgbClr val="002060"/>
                </a:solidFill>
              </a:rPr>
              <a:t> </a:t>
            </a:r>
            <a:r>
              <a:rPr lang="ru-RU" sz="2800" b="1" i="1" dirty="0">
                <a:solidFill>
                  <a:srgbClr val="002060"/>
                </a:solidFill>
              </a:rPr>
              <a:t>(</a:t>
            </a:r>
            <a:r>
              <a:rPr lang="en-GB" sz="2800" b="1" i="1" dirty="0" err="1">
                <a:solidFill>
                  <a:srgbClr val="002060"/>
                </a:solidFill>
              </a:rPr>
              <a:t>Plesiochronous</a:t>
            </a:r>
            <a:r>
              <a:rPr lang="en-GB" sz="2800" b="1" i="1" dirty="0">
                <a:solidFill>
                  <a:srgbClr val="002060"/>
                </a:solidFill>
              </a:rPr>
              <a:t> digital hierarchy</a:t>
            </a:r>
            <a:r>
              <a:rPr lang="ru-RU" sz="2800" b="1" dirty="0">
                <a:solidFill>
                  <a:srgbClr val="002060"/>
                </a:solidFill>
              </a:rPr>
              <a:t>)</a:t>
            </a:r>
            <a:endParaRPr lang="ru-RU" sz="2800" dirty="0"/>
          </a:p>
        </p:txBody>
      </p:sp>
      <p:sp>
        <p:nvSpPr>
          <p:cNvPr id="3" name="Содержимое 2"/>
          <p:cNvSpPr>
            <a:spLocks noGrp="1"/>
          </p:cNvSpPr>
          <p:nvPr>
            <p:ph idx="1"/>
          </p:nvPr>
        </p:nvSpPr>
        <p:spPr>
          <a:xfrm>
            <a:off x="0" y="908720"/>
            <a:ext cx="9144000" cy="5750099"/>
          </a:xfrm>
        </p:spPr>
        <p:txBody>
          <a:bodyPr>
            <a:normAutofit/>
          </a:bodyPr>
          <a:lstStyle/>
          <a:p>
            <a:pPr>
              <a:spcBef>
                <a:spcPct val="50000"/>
              </a:spcBef>
              <a:buNone/>
            </a:pPr>
            <a:r>
              <a:rPr lang="ru-RU" sz="2800" b="1" dirty="0" err="1">
                <a:solidFill>
                  <a:srgbClr val="002060"/>
                </a:solidFill>
              </a:rPr>
              <a:t>Плезиохронная</a:t>
            </a:r>
            <a:r>
              <a:rPr lang="ru-RU" sz="2800" b="1" dirty="0">
                <a:solidFill>
                  <a:srgbClr val="002060"/>
                </a:solidFill>
              </a:rPr>
              <a:t> системы передачи</a:t>
            </a:r>
            <a:r>
              <a:rPr lang="en-US" sz="2800" b="1" dirty="0">
                <a:solidFill>
                  <a:srgbClr val="002060"/>
                </a:solidFill>
              </a:rPr>
              <a:t> PDH</a:t>
            </a:r>
            <a:r>
              <a:rPr lang="ru-RU" sz="2800" b="1" dirty="0">
                <a:solidFill>
                  <a:srgbClr val="002060"/>
                </a:solidFill>
              </a:rPr>
              <a:t> </a:t>
            </a:r>
            <a:r>
              <a:rPr lang="ru-RU" sz="2400" b="1" dirty="0">
                <a:solidFill>
                  <a:srgbClr val="002060"/>
                </a:solidFill>
              </a:rPr>
              <a:t>-</a:t>
            </a:r>
            <a:r>
              <a:rPr lang="ru-RU" sz="2400" dirty="0">
                <a:effectLst>
                  <a:outerShdw blurRad="38100" dist="38100" dir="2700000" algn="tl">
                    <a:srgbClr val="000000">
                      <a:alpha val="43137"/>
                    </a:srgbClr>
                  </a:outerShdw>
                </a:effectLst>
              </a:rPr>
              <a:t> первичная цифровая система передачи   (ЦСП) с ИКМ -  ИКМ 30/32 предоставляет:</a:t>
            </a:r>
          </a:p>
          <a:p>
            <a:pPr>
              <a:spcBef>
                <a:spcPct val="50000"/>
              </a:spcBef>
              <a:buNone/>
            </a:pPr>
            <a:r>
              <a:rPr lang="ru-RU" sz="2400" dirty="0">
                <a:effectLst>
                  <a:outerShdw blurRad="38100" dist="38100" dir="2700000" algn="tl">
                    <a:srgbClr val="000000">
                      <a:alpha val="43137"/>
                    </a:srgbClr>
                  </a:outerShdw>
                </a:effectLst>
              </a:rPr>
              <a:t>      -  </a:t>
            </a:r>
            <a:r>
              <a:rPr lang="ru-RU" sz="2400" u="sng" dirty="0">
                <a:effectLst>
                  <a:outerShdw blurRad="38100" dist="38100" dir="2700000" algn="tl">
                    <a:srgbClr val="000000">
                      <a:alpha val="43137"/>
                    </a:srgbClr>
                  </a:outerShdw>
                </a:effectLst>
              </a:rPr>
              <a:t>30 каналов    для передачи информации пользователей.</a:t>
            </a:r>
          </a:p>
          <a:p>
            <a:pPr>
              <a:spcBef>
                <a:spcPct val="50000"/>
              </a:spcBef>
              <a:buNone/>
            </a:pPr>
            <a:r>
              <a:rPr kumimoji="1" lang="ru-RU" altLang="ru-RU" sz="2400" dirty="0">
                <a:latin typeface="Arial Unicode MS" panose="020B0604020202020204" pitchFamily="34" charset="-128"/>
              </a:rPr>
              <a:t>      На каждый абонентский канал (1…31) выделяется       скорость Е0 = 64Кбит/с (ОЦК).</a:t>
            </a:r>
            <a:endParaRPr lang="ru-RU" altLang="ru-RU" sz="2400" dirty="0"/>
          </a:p>
          <a:p>
            <a:pPr>
              <a:spcBef>
                <a:spcPct val="50000"/>
              </a:spcBef>
              <a:buNone/>
            </a:pPr>
            <a:r>
              <a:rPr lang="ru-RU" sz="2400" dirty="0"/>
              <a:t>    - </a:t>
            </a:r>
            <a:r>
              <a:rPr lang="ru-RU" sz="2400" i="1" u="sng" dirty="0">
                <a:effectLst>
                  <a:outerShdw blurRad="38100" dist="38100" dir="2700000" algn="tl">
                    <a:srgbClr val="000000">
                      <a:alpha val="43137"/>
                    </a:srgbClr>
                  </a:outerShdw>
                </a:effectLst>
              </a:rPr>
              <a:t>Нулевой канал (0 ВИ</a:t>
            </a:r>
            <a:r>
              <a:rPr lang="ru-RU" sz="2400" i="1" u="sng" dirty="0"/>
              <a:t>) </a:t>
            </a:r>
            <a:r>
              <a:rPr lang="ru-RU" sz="2400" dirty="0"/>
              <a:t>(или КИ – канальный интервал) – канал синхронизации, является служебным, используется для корректной работы ЦСП.</a:t>
            </a:r>
          </a:p>
          <a:p>
            <a:pPr>
              <a:spcBef>
                <a:spcPct val="50000"/>
              </a:spcBef>
              <a:buNone/>
            </a:pPr>
            <a:r>
              <a:rPr lang="ru-RU" sz="2400" dirty="0"/>
              <a:t>    -  </a:t>
            </a:r>
            <a:r>
              <a:rPr lang="ru-RU" sz="2400" u="sng" dirty="0">
                <a:effectLst>
                  <a:outerShdw blurRad="38100" dist="38100" dir="2700000" algn="tl">
                    <a:srgbClr val="000000">
                      <a:alpha val="43137"/>
                    </a:srgbClr>
                  </a:outerShdw>
                </a:effectLst>
              </a:rPr>
              <a:t>Шестнадцатый КИ (16 ВИ) </a:t>
            </a:r>
            <a:r>
              <a:rPr lang="ru-RU" sz="2400" dirty="0"/>
              <a:t>выделен для обмена сигналами управления и  взаимодействия, которые нужны для функционирования коммутируемых  (вторичных) сетей.</a:t>
            </a:r>
          </a:p>
          <a:p>
            <a:pPr>
              <a:spcBef>
                <a:spcPct val="50000"/>
              </a:spcBef>
              <a:buNone/>
            </a:pPr>
            <a:endParaRPr lang="ru-RU" sz="24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562074"/>
          </a:xfrm>
        </p:spPr>
        <p:txBody>
          <a:bodyPr>
            <a:normAutofit fontScale="90000"/>
          </a:bodyPr>
          <a:lstStyle/>
          <a:p>
            <a:r>
              <a:rPr lang="ru-RU" b="1" dirty="0">
                <a:solidFill>
                  <a:srgbClr val="002060"/>
                </a:solidFill>
              </a:rPr>
              <a:t>Структура кадра Е1 в</a:t>
            </a:r>
            <a:r>
              <a:rPr lang="en-US" b="1" dirty="0">
                <a:solidFill>
                  <a:srgbClr val="002060"/>
                </a:solidFill>
              </a:rPr>
              <a:t> PDH</a:t>
            </a:r>
            <a:endParaRPr lang="ru-RU" dirty="0"/>
          </a:p>
        </p:txBody>
      </p:sp>
      <p:pic>
        <p:nvPicPr>
          <p:cNvPr id="4" name="Содержимое 3" descr="Рисунок 2.30. Структура цикла 2048 кбит/с"/>
          <p:cNvPicPr>
            <a:picLocks noGrp="1"/>
          </p:cNvPicPr>
          <p:nvPr>
            <p:ph idx="1"/>
          </p:nvPr>
        </p:nvPicPr>
        <p:blipFill>
          <a:blip r:embed="rId2" cstate="print"/>
          <a:srcRect/>
          <a:stretch>
            <a:fillRect/>
          </a:stretch>
        </p:blipFill>
        <p:spPr bwMode="auto">
          <a:xfrm>
            <a:off x="251520" y="836712"/>
            <a:ext cx="8712968" cy="6021288"/>
          </a:xfrm>
          <a:prstGeom prst="rect">
            <a:avLst/>
          </a:prstGeom>
          <a:noFill/>
          <a:ln w="9525">
            <a:noFill/>
            <a:miter lim="800000"/>
            <a:headEnd/>
            <a:tailEnd/>
          </a:ln>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a:xfrm>
            <a:off x="179512" y="1"/>
            <a:ext cx="8964488" cy="692695"/>
          </a:xfrm>
        </p:spPr>
        <p:txBody>
          <a:bodyPr>
            <a:normAutofit fontScale="90000"/>
          </a:bodyPr>
          <a:lstStyle/>
          <a:p>
            <a:r>
              <a:rPr lang="ru-RU" sz="3600" b="1" dirty="0">
                <a:solidFill>
                  <a:srgbClr val="002060"/>
                </a:solidFill>
              </a:rPr>
              <a:t>Структура кадра Е1</a:t>
            </a:r>
            <a:r>
              <a:rPr lang="en-US" sz="3600" b="1" dirty="0">
                <a:solidFill>
                  <a:srgbClr val="002060"/>
                </a:solidFill>
              </a:rPr>
              <a:t> PDH</a:t>
            </a:r>
            <a:r>
              <a:rPr lang="ru-RU" sz="3600" b="1" dirty="0">
                <a:solidFill>
                  <a:srgbClr val="002060"/>
                </a:solidFill>
              </a:rPr>
              <a:t> ( пояснение рисунка)</a:t>
            </a:r>
            <a:r>
              <a:rPr lang="ru-RU" sz="3600" dirty="0"/>
              <a:t>. </a:t>
            </a:r>
          </a:p>
        </p:txBody>
      </p:sp>
      <p:sp>
        <p:nvSpPr>
          <p:cNvPr id="54275" name="Rectangle 3"/>
          <p:cNvSpPr>
            <a:spLocks noGrp="1" noChangeArrowheads="1"/>
          </p:cNvSpPr>
          <p:nvPr>
            <p:ph type="body" idx="1"/>
          </p:nvPr>
        </p:nvSpPr>
        <p:spPr>
          <a:xfrm>
            <a:off x="0" y="1124744"/>
            <a:ext cx="9144000" cy="5733256"/>
          </a:xfrm>
        </p:spPr>
        <p:txBody>
          <a:bodyPr>
            <a:noAutofit/>
          </a:bodyPr>
          <a:lstStyle/>
          <a:p>
            <a:pPr>
              <a:lnSpc>
                <a:spcPct val="90000"/>
              </a:lnSpc>
            </a:pPr>
            <a:r>
              <a:rPr lang="ru-RU" sz="2400" dirty="0"/>
              <a:t>Каналы Е1 = 2 Мбит/с</a:t>
            </a:r>
          </a:p>
          <a:p>
            <a:pPr>
              <a:lnSpc>
                <a:spcPct val="90000"/>
              </a:lnSpc>
            </a:pPr>
            <a:r>
              <a:rPr lang="ru-RU" sz="2400" dirty="0"/>
              <a:t>  Каждый кадр Е1 содержит 256 бит, разделенных</a:t>
            </a:r>
          </a:p>
          <a:p>
            <a:pPr>
              <a:lnSpc>
                <a:spcPct val="90000"/>
              </a:lnSpc>
              <a:buNone/>
            </a:pPr>
            <a:r>
              <a:rPr lang="ru-RU" sz="2400" dirty="0"/>
              <a:t>        на 32 тайм- слота:</a:t>
            </a:r>
          </a:p>
          <a:p>
            <a:pPr lvl="1">
              <a:lnSpc>
                <a:spcPct val="90000"/>
              </a:lnSpc>
            </a:pPr>
            <a:r>
              <a:rPr lang="ru-RU" sz="2400" dirty="0"/>
              <a:t>Тайм-слот 0 (ВИ) –синхронизация. </a:t>
            </a:r>
          </a:p>
          <a:p>
            <a:pPr lvl="1">
              <a:lnSpc>
                <a:spcPct val="90000"/>
              </a:lnSpc>
            </a:pPr>
            <a:r>
              <a:rPr lang="ru-RU" sz="2400" dirty="0"/>
              <a:t>Тайм-слот 16 (ВИ) – сигнализация.</a:t>
            </a:r>
          </a:p>
          <a:p>
            <a:pPr lvl="1">
              <a:lnSpc>
                <a:spcPct val="90000"/>
              </a:lnSpc>
            </a:pPr>
            <a:r>
              <a:rPr lang="ru-RU" sz="2400" dirty="0"/>
              <a:t> За один цикл (1 -15) передается сигнальная информация для двух разговорных каналов.</a:t>
            </a:r>
          </a:p>
          <a:p>
            <a:pPr lvl="1">
              <a:lnSpc>
                <a:spcPct val="90000"/>
              </a:lnSpc>
            </a:pPr>
            <a:r>
              <a:rPr lang="ru-RU" sz="2400" dirty="0"/>
              <a:t>Чтобы передать сигнализацию для 30 каналов необходимо 15 циклов. </a:t>
            </a:r>
          </a:p>
          <a:p>
            <a:pPr lvl="1">
              <a:lnSpc>
                <a:spcPct val="90000"/>
              </a:lnSpc>
            </a:pPr>
            <a:r>
              <a:rPr lang="ru-RU" sz="2400" dirty="0"/>
              <a:t>В нулевом цикле по 16 ВИ передается сверхцикловой синхросигнал.</a:t>
            </a:r>
          </a:p>
          <a:p>
            <a:pPr lvl="1">
              <a:lnSpc>
                <a:spcPct val="90000"/>
              </a:lnSpc>
            </a:pPr>
            <a:r>
              <a:rPr lang="ru-RU" sz="2400" dirty="0"/>
              <a:t>Тайм - слоты 1-31 – пользовательские</a:t>
            </a:r>
            <a:r>
              <a:rPr kumimoji="1" lang="ru-RU" altLang="ru-RU" sz="2400" dirty="0">
                <a:latin typeface="Arial Unicode MS" panose="020B0604020202020204" pitchFamily="34" charset="-128"/>
              </a:rPr>
              <a:t> </a:t>
            </a:r>
          </a:p>
          <a:p>
            <a:pPr lvl="1">
              <a:lnSpc>
                <a:spcPct val="90000"/>
              </a:lnSpc>
              <a:buNone/>
            </a:pPr>
            <a:r>
              <a:rPr kumimoji="1" lang="ru-RU" altLang="ru-RU" sz="2400" dirty="0">
                <a:latin typeface="Arial Unicode MS" panose="020B0604020202020204" pitchFamily="34" charset="-128"/>
              </a:rPr>
              <a:t> На каждый абонентский канал (ВИ) выделяется скорость 64Кбит/с (ОЦК). </a:t>
            </a:r>
            <a:endParaRPr lang="ru-RU" sz="2400" dirty="0"/>
          </a:p>
          <a:p>
            <a:pPr lvl="1">
              <a:lnSpc>
                <a:spcPct val="90000"/>
              </a:lnSpc>
            </a:pPr>
            <a:endParaRPr lang="ru-RU" sz="24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92282" y="72895"/>
            <a:ext cx="7886700" cy="520995"/>
          </a:xfrm>
        </p:spPr>
        <p:txBody>
          <a:bodyPr>
            <a:noAutofit/>
          </a:bodyPr>
          <a:lstStyle/>
          <a:p>
            <a:r>
              <a:rPr lang="ru-RU" sz="3200" b="1" dirty="0">
                <a:solidFill>
                  <a:srgbClr val="002060"/>
                </a:solidFill>
              </a:rPr>
              <a:t>1.Системы передачи </a:t>
            </a:r>
            <a:r>
              <a:rPr lang="en-US" sz="3200" b="1" dirty="0">
                <a:solidFill>
                  <a:srgbClr val="002060"/>
                </a:solidFill>
              </a:rPr>
              <a:t>PDH</a:t>
            </a:r>
            <a:r>
              <a:rPr lang="ru-RU" sz="3200" b="1" dirty="0">
                <a:solidFill>
                  <a:srgbClr val="002060"/>
                </a:solidFill>
              </a:rPr>
              <a:t> (2)</a:t>
            </a:r>
            <a:endParaRPr lang="ru-RU" sz="3200" b="1" dirty="0">
              <a:solidFill>
                <a:srgbClr val="C00000"/>
              </a:solidFill>
              <a:effectLst>
                <a:outerShdw blurRad="38100" dist="38100" dir="2700000" algn="tl">
                  <a:srgbClr val="000000">
                    <a:alpha val="43137"/>
                  </a:srgbClr>
                </a:outerShdw>
              </a:effectLst>
            </a:endParaRPr>
          </a:p>
        </p:txBody>
      </p:sp>
      <p:sp>
        <p:nvSpPr>
          <p:cNvPr id="3" name="TextBox 2"/>
          <p:cNvSpPr txBox="1"/>
          <p:nvPr/>
        </p:nvSpPr>
        <p:spPr>
          <a:xfrm>
            <a:off x="1" y="620689"/>
            <a:ext cx="8964488" cy="6247864"/>
          </a:xfrm>
          <a:prstGeom prst="rect">
            <a:avLst/>
          </a:prstGeom>
          <a:noFill/>
        </p:spPr>
        <p:txBody>
          <a:bodyPr wrap="square" rtlCol="0">
            <a:spAutoFit/>
          </a:bodyPr>
          <a:lstStyle/>
          <a:p>
            <a:r>
              <a:rPr kumimoji="1" lang="ru-RU" altLang="ru-RU" sz="2000" dirty="0">
                <a:latin typeface="Arial Unicode MS" panose="020B0604020202020204" pitchFamily="34" charset="-128"/>
              </a:rPr>
              <a:t> </a:t>
            </a:r>
          </a:p>
          <a:p>
            <a:r>
              <a:rPr lang="ru-RU" sz="2000" b="1" dirty="0">
                <a:effectLst>
                  <a:outerShdw blurRad="38100" dist="38100" dir="2700000" algn="tl">
                    <a:srgbClr val="000000">
                      <a:alpha val="43137"/>
                    </a:srgbClr>
                  </a:outerShdw>
                </a:effectLst>
              </a:rPr>
              <a:t>Количество каналов и скорости передачи в ЦСП европейской цифровой     иерархии определены следующим образом </a:t>
            </a:r>
            <a:r>
              <a:rPr lang="ru-RU" sz="2000" b="1" dirty="0"/>
              <a:t>:</a:t>
            </a:r>
          </a:p>
          <a:p>
            <a:r>
              <a:rPr lang="ru-RU" sz="2000" b="1" dirty="0">
                <a:solidFill>
                  <a:srgbClr val="002060"/>
                </a:solidFill>
              </a:rPr>
              <a:t>Уровень – Е 1</a:t>
            </a:r>
            <a:r>
              <a:rPr lang="ru-RU" sz="2000" dirty="0">
                <a:solidFill>
                  <a:srgbClr val="002060"/>
                </a:solidFill>
              </a:rPr>
              <a:t>, </a:t>
            </a:r>
          </a:p>
          <a:p>
            <a:r>
              <a:rPr lang="ru-RU" sz="2000" dirty="0"/>
              <a:t> Количество каналов –30,Скорость передачи 2048 кбит/с (32х64=2048Кбит/с).</a:t>
            </a:r>
          </a:p>
          <a:p>
            <a:r>
              <a:rPr lang="ru-RU" sz="2000" dirty="0"/>
              <a:t>  </a:t>
            </a:r>
            <a:r>
              <a:rPr kumimoji="1" lang="ru-RU" altLang="ru-RU" sz="2000" dirty="0">
                <a:effectLst>
                  <a:outerShdw blurRad="38100" dist="38100" dir="2700000" algn="tl">
                    <a:srgbClr val="000000">
                      <a:alpha val="43137"/>
                    </a:srgbClr>
                  </a:outerShdw>
                </a:effectLst>
                <a:latin typeface="Arial Unicode MS" panose="020B0604020202020204" pitchFamily="34" charset="-128"/>
              </a:rPr>
              <a:t>Мультиплексор Е-1</a:t>
            </a:r>
            <a:r>
              <a:rPr kumimoji="1" lang="ru-RU" altLang="ru-RU" sz="2000" u="sng" dirty="0">
                <a:effectLst>
                  <a:outerShdw blurRad="38100" dist="38100" dir="2700000" algn="tl">
                    <a:srgbClr val="000000">
                      <a:alpha val="43137"/>
                    </a:srgbClr>
                  </a:outerShdw>
                </a:effectLst>
                <a:latin typeface="Arial Unicode MS" panose="020B0604020202020204" pitchFamily="34" charset="-128"/>
              </a:rPr>
              <a:t>:</a:t>
            </a:r>
          </a:p>
          <a:p>
            <a:pPr>
              <a:buClr>
                <a:srgbClr val="F40426"/>
              </a:buClr>
            </a:pPr>
            <a:r>
              <a:rPr kumimoji="1" lang="ru-RU" altLang="ru-RU" sz="2000" dirty="0">
                <a:latin typeface="Arial Unicode MS" panose="020B0604020202020204" pitchFamily="34" charset="-128"/>
              </a:rPr>
              <a:t>    </a:t>
            </a:r>
            <a:r>
              <a:rPr kumimoji="1" lang="en-US" altLang="ru-RU" sz="2000" dirty="0">
                <a:latin typeface="Arial Unicode MS" panose="020B0604020202020204" pitchFamily="34" charset="-128"/>
              </a:rPr>
              <a:t> -</a:t>
            </a:r>
            <a:r>
              <a:rPr kumimoji="1" lang="ru-RU" altLang="ru-RU" sz="2000" dirty="0">
                <a:latin typeface="Arial Unicode MS" panose="020B0604020202020204" pitchFamily="34" charset="-128"/>
              </a:rPr>
              <a:t> оцифровывает голос с частотой 8000Гц;</a:t>
            </a:r>
            <a:r>
              <a:rPr kumimoji="1" lang="en-US" altLang="ru-RU" sz="2000" dirty="0">
                <a:latin typeface="Arial Unicode MS" panose="020B0604020202020204" pitchFamily="34" charset="-128"/>
              </a:rPr>
              <a:t> </a:t>
            </a:r>
            <a:endParaRPr kumimoji="1" lang="ru-RU" altLang="ru-RU" sz="2000" dirty="0">
              <a:latin typeface="Arial Unicode MS" panose="020B0604020202020204" pitchFamily="34" charset="-128"/>
            </a:endParaRPr>
          </a:p>
          <a:p>
            <a:pPr marL="363538" indent="-363538">
              <a:buClr>
                <a:srgbClr val="F40426"/>
              </a:buClr>
            </a:pPr>
            <a:r>
              <a:rPr kumimoji="1" lang="ru-RU" altLang="ru-RU" sz="2000" dirty="0">
                <a:latin typeface="Arial Unicode MS" panose="020B0604020202020204" pitchFamily="34" charset="-128"/>
              </a:rPr>
              <a:t>     </a:t>
            </a:r>
            <a:r>
              <a:rPr kumimoji="1" lang="en-US" altLang="ru-RU" sz="2000" dirty="0">
                <a:latin typeface="Arial Unicode MS" panose="020B0604020202020204" pitchFamily="34" charset="-128"/>
              </a:rPr>
              <a:t>-</a:t>
            </a:r>
            <a:r>
              <a:rPr kumimoji="1" lang="ru-RU" altLang="ru-RU" sz="2000" dirty="0">
                <a:latin typeface="Arial Unicode MS" panose="020B0604020202020204" pitchFamily="34" charset="-128"/>
              </a:rPr>
              <a:t>  кодирует голос методом импульсно-кодовой</a:t>
            </a:r>
            <a:r>
              <a:rPr kumimoji="1" lang="en-US" altLang="ru-RU" sz="2000" dirty="0">
                <a:latin typeface="Arial Unicode MS" panose="020B0604020202020204" pitchFamily="34" charset="-128"/>
              </a:rPr>
              <a:t> </a:t>
            </a:r>
            <a:r>
              <a:rPr kumimoji="1" lang="ru-RU" altLang="ru-RU" sz="2000" dirty="0">
                <a:latin typeface="Arial Unicode MS" panose="020B0604020202020204" pitchFamily="34" charset="-128"/>
              </a:rPr>
              <a:t>модуляции (ИКМ);</a:t>
            </a:r>
          </a:p>
          <a:p>
            <a:pPr>
              <a:buClr>
                <a:srgbClr val="F40426"/>
              </a:buClr>
            </a:pPr>
            <a:r>
              <a:rPr kumimoji="1" lang="ru-RU" altLang="ru-RU" sz="2000" dirty="0">
                <a:latin typeface="Arial Unicode MS" panose="020B0604020202020204" pitchFamily="34" charset="-128"/>
              </a:rPr>
              <a:t>     -  обеспечивает передачу трафика до 32 абонентов.</a:t>
            </a:r>
          </a:p>
          <a:p>
            <a:pPr>
              <a:spcBef>
                <a:spcPct val="50000"/>
              </a:spcBef>
            </a:pPr>
            <a:r>
              <a:rPr lang="ru-RU" sz="2000" b="1" dirty="0">
                <a:solidFill>
                  <a:srgbClr val="002060"/>
                </a:solidFill>
              </a:rPr>
              <a:t>Уровень –Е 2</a:t>
            </a:r>
            <a:r>
              <a:rPr lang="ru-RU" sz="2000" dirty="0"/>
              <a:t> </a:t>
            </a:r>
            <a:r>
              <a:rPr kumimoji="1" lang="ru-RU" altLang="ru-RU" sz="2000" dirty="0">
                <a:latin typeface="Arial Unicode MS" panose="020B0604020202020204" pitchFamily="34" charset="-128"/>
              </a:rPr>
              <a:t> объединение 4-х Е-1.</a:t>
            </a:r>
            <a:r>
              <a:rPr lang="ru-RU" sz="2000" dirty="0"/>
              <a:t> </a:t>
            </a:r>
          </a:p>
          <a:p>
            <a:pPr>
              <a:spcBef>
                <a:spcPct val="50000"/>
              </a:spcBef>
            </a:pPr>
            <a:r>
              <a:rPr lang="ru-RU" sz="2000" dirty="0"/>
              <a:t> Количество каналов –  120, Скорость передачи – 8,448 кбит/с;</a:t>
            </a:r>
          </a:p>
          <a:p>
            <a:pPr>
              <a:spcBef>
                <a:spcPct val="50000"/>
              </a:spcBef>
            </a:pPr>
            <a:r>
              <a:rPr lang="ru-RU" sz="2000" dirty="0">
                <a:solidFill>
                  <a:srgbClr val="002060"/>
                </a:solidFill>
              </a:rPr>
              <a:t> </a:t>
            </a:r>
            <a:r>
              <a:rPr lang="ru-RU" sz="2000" b="1" dirty="0">
                <a:solidFill>
                  <a:srgbClr val="002060"/>
                </a:solidFill>
              </a:rPr>
              <a:t>Уровень –Е 3</a:t>
            </a:r>
            <a:r>
              <a:rPr lang="ru-RU" sz="2000" dirty="0">
                <a:solidFill>
                  <a:srgbClr val="002060"/>
                </a:solidFill>
              </a:rPr>
              <a:t>, </a:t>
            </a:r>
            <a:r>
              <a:rPr kumimoji="1" lang="ru-RU" altLang="ru-RU" sz="2000" dirty="0">
                <a:latin typeface="Arial Unicode MS" panose="020B0604020202020204" pitchFamily="34" charset="-128"/>
              </a:rPr>
              <a:t>объединение 4-х Е-2.</a:t>
            </a:r>
          </a:p>
          <a:p>
            <a:pPr>
              <a:spcBef>
                <a:spcPct val="50000"/>
              </a:spcBef>
            </a:pPr>
            <a:r>
              <a:rPr lang="ru-RU" sz="2000" dirty="0">
                <a:solidFill>
                  <a:srgbClr val="002060"/>
                </a:solidFill>
              </a:rPr>
              <a:t> </a:t>
            </a:r>
            <a:r>
              <a:rPr lang="ru-RU" sz="2000" dirty="0"/>
              <a:t>Количество каналов –  480, Скорость передачи – 34,368 кбит/с;</a:t>
            </a:r>
          </a:p>
          <a:p>
            <a:pPr>
              <a:spcBef>
                <a:spcPct val="50000"/>
              </a:spcBef>
            </a:pPr>
            <a:r>
              <a:rPr lang="ru-RU" sz="2000" b="1" dirty="0">
                <a:solidFill>
                  <a:srgbClr val="002060"/>
                </a:solidFill>
              </a:rPr>
              <a:t>Уровень –Е 4</a:t>
            </a:r>
            <a:r>
              <a:rPr lang="ru-RU" sz="2000" b="1" dirty="0"/>
              <a:t>,</a:t>
            </a:r>
            <a:r>
              <a:rPr kumimoji="1" lang="ru-RU" altLang="ru-RU" sz="2000" dirty="0">
                <a:latin typeface="Arial Unicode MS" panose="020B0604020202020204" pitchFamily="34" charset="-128"/>
              </a:rPr>
              <a:t> – объединение 4-х Е-3.</a:t>
            </a:r>
          </a:p>
          <a:p>
            <a:pPr>
              <a:spcBef>
                <a:spcPct val="50000"/>
              </a:spcBef>
            </a:pPr>
            <a:r>
              <a:rPr lang="ru-RU" sz="2000" b="1" dirty="0"/>
              <a:t>  </a:t>
            </a:r>
            <a:r>
              <a:rPr lang="ru-RU" sz="2000" dirty="0"/>
              <a:t>Количество каналов –  1920, Скорость передачи – 139,264 кбит/с.</a:t>
            </a:r>
            <a:endParaRPr kumimoji="1" lang="ru-RU" altLang="ru-RU" sz="2000" dirty="0">
              <a:latin typeface="Arial Unicode MS" panose="020B0604020202020204" pitchFamily="34" charset="-128"/>
            </a:endParaRPr>
          </a:p>
          <a:p>
            <a:endParaRPr kumimoji="1" lang="ru-RU" altLang="ru-RU" sz="2000" dirty="0">
              <a:latin typeface="Arial Unicode MS" panose="020B0604020202020204" pitchFamily="34" charset="-128"/>
            </a:endParaRPr>
          </a:p>
          <a:p>
            <a:endParaRPr lang="ru-RU" sz="2000" dirty="0"/>
          </a:p>
        </p:txBody>
      </p:sp>
    </p:spTree>
    <p:extLst>
      <p:ext uri="{BB962C8B-B14F-4D97-AF65-F5344CB8AC3E}">
        <p14:creationId xmlns:p14="http://schemas.microsoft.com/office/powerpoint/2010/main" val="39358358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8" name="Rectangle 4"/>
          <p:cNvSpPr>
            <a:spLocks noGrp="1" noChangeArrowheads="1"/>
          </p:cNvSpPr>
          <p:nvPr>
            <p:ph type="title"/>
          </p:nvPr>
        </p:nvSpPr>
        <p:spPr>
          <a:xfrm>
            <a:off x="457200" y="274638"/>
            <a:ext cx="8229600" cy="778098"/>
          </a:xfrm>
        </p:spPr>
        <p:txBody>
          <a:bodyPr/>
          <a:lstStyle/>
          <a:p>
            <a:r>
              <a:rPr lang="ru-RU" sz="3200" b="1" dirty="0">
                <a:solidFill>
                  <a:srgbClr val="002060"/>
                </a:solidFill>
              </a:rPr>
              <a:t>Схема мультиплексирования </a:t>
            </a:r>
            <a:r>
              <a:rPr lang="en-US" sz="3200" b="1" dirty="0">
                <a:solidFill>
                  <a:srgbClr val="002060"/>
                </a:solidFill>
              </a:rPr>
              <a:t>PDH</a:t>
            </a:r>
            <a:endParaRPr lang="ru-RU" sz="3200" b="1" dirty="0">
              <a:solidFill>
                <a:srgbClr val="002060"/>
              </a:solidFill>
            </a:endParaRPr>
          </a:p>
        </p:txBody>
      </p:sp>
      <p:sp>
        <p:nvSpPr>
          <p:cNvPr id="47109" name="Rectangle 5"/>
          <p:cNvSpPr>
            <a:spLocks noChangeArrowheads="1"/>
          </p:cNvSpPr>
          <p:nvPr/>
        </p:nvSpPr>
        <p:spPr bwMode="auto">
          <a:xfrm>
            <a:off x="1403350" y="2276475"/>
            <a:ext cx="936625" cy="1368425"/>
          </a:xfrm>
          <a:prstGeom prst="rect">
            <a:avLst/>
          </a:prstGeom>
          <a:solidFill>
            <a:schemeClr val="accent1"/>
          </a:solidFill>
          <a:ln w="9525">
            <a:solidFill>
              <a:schemeClr val="tx1"/>
            </a:solidFill>
            <a:miter lim="800000"/>
            <a:headEnd/>
            <a:tailEnd/>
          </a:ln>
          <a:effectLst/>
        </p:spPr>
        <p:txBody>
          <a:bodyPr wrap="none" anchor="ctr"/>
          <a:lstStyle/>
          <a:p>
            <a:pPr algn="ctr"/>
            <a:r>
              <a:rPr lang="en-US" dirty="0"/>
              <a:t>32xE0</a:t>
            </a:r>
            <a:endParaRPr lang="ru-RU" dirty="0"/>
          </a:p>
        </p:txBody>
      </p:sp>
      <p:sp>
        <p:nvSpPr>
          <p:cNvPr id="47110" name="Line 6"/>
          <p:cNvSpPr>
            <a:spLocks noChangeShapeType="1"/>
          </p:cNvSpPr>
          <p:nvPr/>
        </p:nvSpPr>
        <p:spPr bwMode="auto">
          <a:xfrm>
            <a:off x="755650" y="2420938"/>
            <a:ext cx="647700" cy="0"/>
          </a:xfrm>
          <a:prstGeom prst="line">
            <a:avLst/>
          </a:prstGeom>
          <a:noFill/>
          <a:ln w="9525">
            <a:solidFill>
              <a:schemeClr val="tx1"/>
            </a:solidFill>
            <a:round/>
            <a:headEnd/>
            <a:tailEnd/>
          </a:ln>
          <a:effectLst/>
        </p:spPr>
        <p:txBody>
          <a:bodyPr/>
          <a:lstStyle/>
          <a:p>
            <a:endParaRPr lang="ru-RU"/>
          </a:p>
        </p:txBody>
      </p:sp>
      <p:sp>
        <p:nvSpPr>
          <p:cNvPr id="47111" name="Line 7"/>
          <p:cNvSpPr>
            <a:spLocks noChangeShapeType="1"/>
          </p:cNvSpPr>
          <p:nvPr/>
        </p:nvSpPr>
        <p:spPr bwMode="auto">
          <a:xfrm>
            <a:off x="755650" y="2636838"/>
            <a:ext cx="647700" cy="0"/>
          </a:xfrm>
          <a:prstGeom prst="line">
            <a:avLst/>
          </a:prstGeom>
          <a:noFill/>
          <a:ln w="9525">
            <a:solidFill>
              <a:schemeClr val="tx1"/>
            </a:solidFill>
            <a:round/>
            <a:headEnd/>
            <a:tailEnd/>
          </a:ln>
          <a:effectLst/>
        </p:spPr>
        <p:txBody>
          <a:bodyPr/>
          <a:lstStyle/>
          <a:p>
            <a:endParaRPr lang="ru-RU"/>
          </a:p>
        </p:txBody>
      </p:sp>
      <p:sp>
        <p:nvSpPr>
          <p:cNvPr id="47112" name="Line 8"/>
          <p:cNvSpPr>
            <a:spLocks noChangeShapeType="1"/>
          </p:cNvSpPr>
          <p:nvPr/>
        </p:nvSpPr>
        <p:spPr bwMode="auto">
          <a:xfrm>
            <a:off x="755650" y="3068638"/>
            <a:ext cx="647700" cy="0"/>
          </a:xfrm>
          <a:prstGeom prst="line">
            <a:avLst/>
          </a:prstGeom>
          <a:noFill/>
          <a:ln w="9525">
            <a:solidFill>
              <a:schemeClr val="tx1"/>
            </a:solidFill>
            <a:round/>
            <a:headEnd/>
            <a:tailEnd/>
          </a:ln>
          <a:effectLst/>
        </p:spPr>
        <p:txBody>
          <a:bodyPr/>
          <a:lstStyle/>
          <a:p>
            <a:endParaRPr lang="ru-RU"/>
          </a:p>
        </p:txBody>
      </p:sp>
      <p:sp>
        <p:nvSpPr>
          <p:cNvPr id="47113" name="Line 9"/>
          <p:cNvSpPr>
            <a:spLocks noChangeShapeType="1"/>
          </p:cNvSpPr>
          <p:nvPr/>
        </p:nvSpPr>
        <p:spPr bwMode="auto">
          <a:xfrm>
            <a:off x="755650" y="3284538"/>
            <a:ext cx="647700" cy="0"/>
          </a:xfrm>
          <a:prstGeom prst="line">
            <a:avLst/>
          </a:prstGeom>
          <a:noFill/>
          <a:ln w="9525">
            <a:solidFill>
              <a:schemeClr val="tx1"/>
            </a:solidFill>
            <a:round/>
            <a:headEnd/>
            <a:tailEnd/>
          </a:ln>
          <a:effectLst/>
        </p:spPr>
        <p:txBody>
          <a:bodyPr/>
          <a:lstStyle/>
          <a:p>
            <a:endParaRPr lang="ru-RU"/>
          </a:p>
        </p:txBody>
      </p:sp>
      <p:sp>
        <p:nvSpPr>
          <p:cNvPr id="47114" name="Line 10"/>
          <p:cNvSpPr>
            <a:spLocks noChangeShapeType="1"/>
          </p:cNvSpPr>
          <p:nvPr/>
        </p:nvSpPr>
        <p:spPr bwMode="auto">
          <a:xfrm>
            <a:off x="755650" y="3500438"/>
            <a:ext cx="647700" cy="0"/>
          </a:xfrm>
          <a:prstGeom prst="line">
            <a:avLst/>
          </a:prstGeom>
          <a:noFill/>
          <a:ln w="9525">
            <a:solidFill>
              <a:schemeClr val="tx1"/>
            </a:solidFill>
            <a:round/>
            <a:headEnd/>
            <a:tailEnd/>
          </a:ln>
          <a:effectLst/>
        </p:spPr>
        <p:txBody>
          <a:bodyPr/>
          <a:lstStyle/>
          <a:p>
            <a:endParaRPr lang="ru-RU"/>
          </a:p>
        </p:txBody>
      </p:sp>
      <p:sp>
        <p:nvSpPr>
          <p:cNvPr id="47115" name="Text Box 11"/>
          <p:cNvSpPr txBox="1">
            <a:spLocks noChangeArrowheads="1"/>
          </p:cNvSpPr>
          <p:nvPr/>
        </p:nvSpPr>
        <p:spPr bwMode="auto">
          <a:xfrm>
            <a:off x="663575" y="2657475"/>
            <a:ext cx="412750" cy="366713"/>
          </a:xfrm>
          <a:prstGeom prst="rect">
            <a:avLst/>
          </a:prstGeom>
          <a:noFill/>
          <a:ln w="9525">
            <a:noFill/>
            <a:miter lim="800000"/>
            <a:headEnd/>
            <a:tailEnd/>
          </a:ln>
          <a:effectLst/>
        </p:spPr>
        <p:txBody>
          <a:bodyPr wrap="none">
            <a:spAutoFit/>
          </a:bodyPr>
          <a:lstStyle/>
          <a:p>
            <a:r>
              <a:rPr lang="en-US" b="1"/>
              <a:t>…</a:t>
            </a:r>
            <a:endParaRPr lang="ru-RU" b="1"/>
          </a:p>
        </p:txBody>
      </p:sp>
      <p:sp>
        <p:nvSpPr>
          <p:cNvPr id="47116" name="Line 12"/>
          <p:cNvSpPr>
            <a:spLocks noChangeShapeType="1"/>
          </p:cNvSpPr>
          <p:nvPr/>
        </p:nvSpPr>
        <p:spPr bwMode="auto">
          <a:xfrm>
            <a:off x="2339975" y="3429000"/>
            <a:ext cx="647700" cy="0"/>
          </a:xfrm>
          <a:prstGeom prst="line">
            <a:avLst/>
          </a:prstGeom>
          <a:noFill/>
          <a:ln w="9525">
            <a:solidFill>
              <a:schemeClr val="tx1"/>
            </a:solidFill>
            <a:round/>
            <a:headEnd/>
            <a:tailEnd/>
          </a:ln>
          <a:effectLst/>
        </p:spPr>
        <p:txBody>
          <a:bodyPr/>
          <a:lstStyle/>
          <a:p>
            <a:endParaRPr lang="ru-RU"/>
          </a:p>
        </p:txBody>
      </p:sp>
      <p:sp>
        <p:nvSpPr>
          <p:cNvPr id="47117" name="Rectangle 13"/>
          <p:cNvSpPr>
            <a:spLocks noChangeArrowheads="1"/>
          </p:cNvSpPr>
          <p:nvPr/>
        </p:nvSpPr>
        <p:spPr bwMode="auto">
          <a:xfrm>
            <a:off x="2987675" y="3284538"/>
            <a:ext cx="792163" cy="1225550"/>
          </a:xfrm>
          <a:prstGeom prst="rect">
            <a:avLst/>
          </a:prstGeom>
          <a:solidFill>
            <a:schemeClr val="accent1"/>
          </a:solidFill>
          <a:ln w="9525">
            <a:solidFill>
              <a:schemeClr val="tx1"/>
            </a:solidFill>
            <a:miter lim="800000"/>
            <a:headEnd/>
            <a:tailEnd/>
          </a:ln>
          <a:effectLst/>
        </p:spPr>
        <p:txBody>
          <a:bodyPr wrap="none" anchor="ctr"/>
          <a:lstStyle/>
          <a:p>
            <a:pPr algn="ctr"/>
            <a:r>
              <a:rPr lang="en-US" dirty="0"/>
              <a:t>4xE1</a:t>
            </a:r>
            <a:endParaRPr lang="ru-RU" dirty="0"/>
          </a:p>
        </p:txBody>
      </p:sp>
      <p:sp>
        <p:nvSpPr>
          <p:cNvPr id="47118" name="Text Box 14"/>
          <p:cNvSpPr txBox="1">
            <a:spLocks noChangeArrowheads="1"/>
          </p:cNvSpPr>
          <p:nvPr/>
        </p:nvSpPr>
        <p:spPr bwMode="auto">
          <a:xfrm>
            <a:off x="2411413" y="2708275"/>
            <a:ext cx="1871662" cy="366713"/>
          </a:xfrm>
          <a:prstGeom prst="rect">
            <a:avLst/>
          </a:prstGeom>
          <a:noFill/>
          <a:ln w="9525">
            <a:noFill/>
            <a:miter lim="800000"/>
            <a:headEnd/>
            <a:tailEnd/>
          </a:ln>
          <a:effectLst/>
        </p:spPr>
        <p:txBody>
          <a:bodyPr wrap="none">
            <a:spAutoFit/>
          </a:bodyPr>
          <a:lstStyle/>
          <a:p>
            <a:r>
              <a:rPr lang="en-US"/>
              <a:t>E1</a:t>
            </a:r>
            <a:r>
              <a:rPr lang="ru-RU"/>
              <a:t>= </a:t>
            </a:r>
            <a:r>
              <a:rPr lang="en-US"/>
              <a:t>2048 </a:t>
            </a:r>
            <a:r>
              <a:rPr lang="ru-RU"/>
              <a:t>кбит/с</a:t>
            </a:r>
          </a:p>
        </p:txBody>
      </p:sp>
      <p:sp>
        <p:nvSpPr>
          <p:cNvPr id="47119" name="Line 15"/>
          <p:cNvSpPr>
            <a:spLocks noChangeShapeType="1"/>
          </p:cNvSpPr>
          <p:nvPr/>
        </p:nvSpPr>
        <p:spPr bwMode="auto">
          <a:xfrm>
            <a:off x="2627313" y="3717925"/>
            <a:ext cx="360362" cy="0"/>
          </a:xfrm>
          <a:prstGeom prst="line">
            <a:avLst/>
          </a:prstGeom>
          <a:noFill/>
          <a:ln w="9525">
            <a:solidFill>
              <a:schemeClr val="tx1"/>
            </a:solidFill>
            <a:round/>
            <a:headEnd/>
            <a:tailEnd/>
          </a:ln>
          <a:effectLst/>
        </p:spPr>
        <p:txBody>
          <a:bodyPr/>
          <a:lstStyle/>
          <a:p>
            <a:endParaRPr lang="ru-RU"/>
          </a:p>
        </p:txBody>
      </p:sp>
      <p:sp>
        <p:nvSpPr>
          <p:cNvPr id="47120" name="Line 16"/>
          <p:cNvSpPr>
            <a:spLocks noChangeShapeType="1"/>
          </p:cNvSpPr>
          <p:nvPr/>
        </p:nvSpPr>
        <p:spPr bwMode="auto">
          <a:xfrm>
            <a:off x="2627313" y="3933825"/>
            <a:ext cx="360362" cy="0"/>
          </a:xfrm>
          <a:prstGeom prst="line">
            <a:avLst/>
          </a:prstGeom>
          <a:noFill/>
          <a:ln w="9525">
            <a:solidFill>
              <a:schemeClr val="tx1"/>
            </a:solidFill>
            <a:round/>
            <a:headEnd/>
            <a:tailEnd/>
          </a:ln>
          <a:effectLst/>
        </p:spPr>
        <p:txBody>
          <a:bodyPr/>
          <a:lstStyle/>
          <a:p>
            <a:endParaRPr lang="ru-RU"/>
          </a:p>
        </p:txBody>
      </p:sp>
      <p:sp>
        <p:nvSpPr>
          <p:cNvPr id="47121" name="Line 17"/>
          <p:cNvSpPr>
            <a:spLocks noChangeShapeType="1"/>
          </p:cNvSpPr>
          <p:nvPr/>
        </p:nvSpPr>
        <p:spPr bwMode="auto">
          <a:xfrm>
            <a:off x="2627313" y="4221163"/>
            <a:ext cx="360362" cy="0"/>
          </a:xfrm>
          <a:prstGeom prst="line">
            <a:avLst/>
          </a:prstGeom>
          <a:noFill/>
          <a:ln w="9525">
            <a:solidFill>
              <a:schemeClr val="tx1"/>
            </a:solidFill>
            <a:round/>
            <a:headEnd/>
            <a:tailEnd/>
          </a:ln>
          <a:effectLst/>
        </p:spPr>
        <p:txBody>
          <a:bodyPr/>
          <a:lstStyle/>
          <a:p>
            <a:endParaRPr lang="ru-RU"/>
          </a:p>
        </p:txBody>
      </p:sp>
      <p:sp>
        <p:nvSpPr>
          <p:cNvPr id="47122" name="Line 18"/>
          <p:cNvSpPr>
            <a:spLocks noChangeShapeType="1"/>
          </p:cNvSpPr>
          <p:nvPr/>
        </p:nvSpPr>
        <p:spPr bwMode="auto">
          <a:xfrm>
            <a:off x="3779838" y="4221163"/>
            <a:ext cx="576262" cy="0"/>
          </a:xfrm>
          <a:prstGeom prst="line">
            <a:avLst/>
          </a:prstGeom>
          <a:noFill/>
          <a:ln w="9525">
            <a:solidFill>
              <a:schemeClr val="tx1"/>
            </a:solidFill>
            <a:round/>
            <a:headEnd/>
            <a:tailEnd/>
          </a:ln>
          <a:effectLst/>
        </p:spPr>
        <p:txBody>
          <a:bodyPr/>
          <a:lstStyle/>
          <a:p>
            <a:endParaRPr lang="ru-RU"/>
          </a:p>
        </p:txBody>
      </p:sp>
      <p:sp>
        <p:nvSpPr>
          <p:cNvPr id="47123" name="Rectangle 19"/>
          <p:cNvSpPr>
            <a:spLocks noChangeArrowheads="1"/>
          </p:cNvSpPr>
          <p:nvPr/>
        </p:nvSpPr>
        <p:spPr bwMode="auto">
          <a:xfrm>
            <a:off x="4356100" y="3933825"/>
            <a:ext cx="792163" cy="1225550"/>
          </a:xfrm>
          <a:prstGeom prst="rect">
            <a:avLst/>
          </a:prstGeom>
          <a:solidFill>
            <a:schemeClr val="accent1"/>
          </a:solidFill>
          <a:ln w="9525">
            <a:solidFill>
              <a:schemeClr val="tx1"/>
            </a:solidFill>
            <a:miter lim="800000"/>
            <a:headEnd/>
            <a:tailEnd/>
          </a:ln>
          <a:effectLst/>
        </p:spPr>
        <p:txBody>
          <a:bodyPr wrap="none" anchor="ctr"/>
          <a:lstStyle/>
          <a:p>
            <a:pPr algn="ctr"/>
            <a:r>
              <a:rPr lang="en-US"/>
              <a:t>4xE2</a:t>
            </a:r>
            <a:endParaRPr lang="ru-RU"/>
          </a:p>
        </p:txBody>
      </p:sp>
      <p:sp>
        <p:nvSpPr>
          <p:cNvPr id="47124" name="Text Box 20"/>
          <p:cNvSpPr txBox="1">
            <a:spLocks noChangeArrowheads="1"/>
          </p:cNvSpPr>
          <p:nvPr/>
        </p:nvSpPr>
        <p:spPr bwMode="auto">
          <a:xfrm>
            <a:off x="3851275" y="3429000"/>
            <a:ext cx="1871663" cy="366713"/>
          </a:xfrm>
          <a:prstGeom prst="rect">
            <a:avLst/>
          </a:prstGeom>
          <a:noFill/>
          <a:ln w="9525">
            <a:noFill/>
            <a:miter lim="800000"/>
            <a:headEnd/>
            <a:tailEnd/>
          </a:ln>
          <a:effectLst/>
        </p:spPr>
        <p:txBody>
          <a:bodyPr wrap="none">
            <a:spAutoFit/>
          </a:bodyPr>
          <a:lstStyle/>
          <a:p>
            <a:r>
              <a:rPr lang="en-US"/>
              <a:t>E2</a:t>
            </a:r>
            <a:r>
              <a:rPr lang="ru-RU"/>
              <a:t>= 8448 кбит/с</a:t>
            </a:r>
          </a:p>
        </p:txBody>
      </p:sp>
      <p:sp>
        <p:nvSpPr>
          <p:cNvPr id="47125" name="Rectangle 21"/>
          <p:cNvSpPr>
            <a:spLocks noChangeArrowheads="1"/>
          </p:cNvSpPr>
          <p:nvPr/>
        </p:nvSpPr>
        <p:spPr bwMode="auto">
          <a:xfrm>
            <a:off x="5651500" y="4510088"/>
            <a:ext cx="792163" cy="1225550"/>
          </a:xfrm>
          <a:prstGeom prst="rect">
            <a:avLst/>
          </a:prstGeom>
          <a:solidFill>
            <a:schemeClr val="accent1"/>
          </a:solidFill>
          <a:ln w="9525">
            <a:solidFill>
              <a:schemeClr val="tx1"/>
            </a:solidFill>
            <a:miter lim="800000"/>
            <a:headEnd/>
            <a:tailEnd/>
          </a:ln>
          <a:effectLst/>
        </p:spPr>
        <p:txBody>
          <a:bodyPr wrap="none" anchor="ctr"/>
          <a:lstStyle/>
          <a:p>
            <a:pPr algn="ctr"/>
            <a:r>
              <a:rPr lang="en-US"/>
              <a:t>4xE3</a:t>
            </a:r>
            <a:endParaRPr lang="ru-RU"/>
          </a:p>
        </p:txBody>
      </p:sp>
      <p:sp>
        <p:nvSpPr>
          <p:cNvPr id="47126" name="Line 22"/>
          <p:cNvSpPr>
            <a:spLocks noChangeShapeType="1"/>
          </p:cNvSpPr>
          <p:nvPr/>
        </p:nvSpPr>
        <p:spPr bwMode="auto">
          <a:xfrm>
            <a:off x="5148263" y="4797425"/>
            <a:ext cx="503237" cy="0"/>
          </a:xfrm>
          <a:prstGeom prst="line">
            <a:avLst/>
          </a:prstGeom>
          <a:noFill/>
          <a:ln w="9525">
            <a:solidFill>
              <a:schemeClr val="tx1"/>
            </a:solidFill>
            <a:round/>
            <a:headEnd/>
            <a:tailEnd/>
          </a:ln>
          <a:effectLst/>
        </p:spPr>
        <p:txBody>
          <a:bodyPr/>
          <a:lstStyle/>
          <a:p>
            <a:endParaRPr lang="ru-RU"/>
          </a:p>
        </p:txBody>
      </p:sp>
      <p:sp>
        <p:nvSpPr>
          <p:cNvPr id="47127" name="Line 23"/>
          <p:cNvSpPr>
            <a:spLocks noChangeShapeType="1"/>
          </p:cNvSpPr>
          <p:nvPr/>
        </p:nvSpPr>
        <p:spPr bwMode="auto">
          <a:xfrm>
            <a:off x="6443663" y="5445125"/>
            <a:ext cx="1152525" cy="0"/>
          </a:xfrm>
          <a:prstGeom prst="line">
            <a:avLst/>
          </a:prstGeom>
          <a:noFill/>
          <a:ln w="9525">
            <a:solidFill>
              <a:schemeClr val="tx1"/>
            </a:solidFill>
            <a:round/>
            <a:headEnd/>
            <a:tailEnd/>
          </a:ln>
          <a:effectLst/>
        </p:spPr>
        <p:txBody>
          <a:bodyPr/>
          <a:lstStyle/>
          <a:p>
            <a:endParaRPr lang="ru-RU"/>
          </a:p>
        </p:txBody>
      </p:sp>
      <p:sp>
        <p:nvSpPr>
          <p:cNvPr id="47128" name="Text Box 24"/>
          <p:cNvSpPr txBox="1">
            <a:spLocks noChangeArrowheads="1"/>
          </p:cNvSpPr>
          <p:nvPr/>
        </p:nvSpPr>
        <p:spPr bwMode="auto">
          <a:xfrm>
            <a:off x="6516688" y="4941888"/>
            <a:ext cx="2125662" cy="366712"/>
          </a:xfrm>
          <a:prstGeom prst="rect">
            <a:avLst/>
          </a:prstGeom>
          <a:noFill/>
          <a:ln w="9525">
            <a:noFill/>
            <a:miter lim="800000"/>
            <a:headEnd/>
            <a:tailEnd/>
          </a:ln>
          <a:effectLst/>
        </p:spPr>
        <p:txBody>
          <a:bodyPr wrap="none">
            <a:spAutoFit/>
          </a:bodyPr>
          <a:lstStyle/>
          <a:p>
            <a:r>
              <a:rPr lang="en-US"/>
              <a:t>E4</a:t>
            </a:r>
            <a:r>
              <a:rPr lang="ru-RU"/>
              <a:t>= 139264 кбит/с</a:t>
            </a:r>
          </a:p>
        </p:txBody>
      </p:sp>
      <p:sp>
        <p:nvSpPr>
          <p:cNvPr id="47129" name="Text Box 25"/>
          <p:cNvSpPr txBox="1">
            <a:spLocks noChangeArrowheads="1"/>
          </p:cNvSpPr>
          <p:nvPr/>
        </p:nvSpPr>
        <p:spPr bwMode="auto">
          <a:xfrm>
            <a:off x="5148263" y="4076700"/>
            <a:ext cx="1998662" cy="366713"/>
          </a:xfrm>
          <a:prstGeom prst="rect">
            <a:avLst/>
          </a:prstGeom>
          <a:noFill/>
          <a:ln w="9525">
            <a:noFill/>
            <a:miter lim="800000"/>
            <a:headEnd/>
            <a:tailEnd/>
          </a:ln>
          <a:effectLst/>
        </p:spPr>
        <p:txBody>
          <a:bodyPr wrap="none">
            <a:spAutoFit/>
          </a:bodyPr>
          <a:lstStyle/>
          <a:p>
            <a:r>
              <a:rPr lang="en-US"/>
              <a:t>E3</a:t>
            </a:r>
            <a:r>
              <a:rPr lang="ru-RU"/>
              <a:t>= 34368 кбит/с</a:t>
            </a:r>
          </a:p>
        </p:txBody>
      </p:sp>
      <p:sp>
        <p:nvSpPr>
          <p:cNvPr id="47130" name="Line 26"/>
          <p:cNvSpPr>
            <a:spLocks noChangeShapeType="1"/>
          </p:cNvSpPr>
          <p:nvPr/>
        </p:nvSpPr>
        <p:spPr bwMode="auto">
          <a:xfrm>
            <a:off x="3995738" y="4437063"/>
            <a:ext cx="360362" cy="0"/>
          </a:xfrm>
          <a:prstGeom prst="line">
            <a:avLst/>
          </a:prstGeom>
          <a:noFill/>
          <a:ln w="9525">
            <a:solidFill>
              <a:schemeClr val="tx1"/>
            </a:solidFill>
            <a:round/>
            <a:headEnd/>
            <a:tailEnd/>
          </a:ln>
          <a:effectLst/>
        </p:spPr>
        <p:txBody>
          <a:bodyPr/>
          <a:lstStyle/>
          <a:p>
            <a:endParaRPr lang="ru-RU"/>
          </a:p>
        </p:txBody>
      </p:sp>
      <p:sp>
        <p:nvSpPr>
          <p:cNvPr id="47131" name="Line 27"/>
          <p:cNvSpPr>
            <a:spLocks noChangeShapeType="1"/>
          </p:cNvSpPr>
          <p:nvPr/>
        </p:nvSpPr>
        <p:spPr bwMode="auto">
          <a:xfrm>
            <a:off x="3995738" y="4652963"/>
            <a:ext cx="360362" cy="0"/>
          </a:xfrm>
          <a:prstGeom prst="line">
            <a:avLst/>
          </a:prstGeom>
          <a:noFill/>
          <a:ln w="9525">
            <a:solidFill>
              <a:schemeClr val="tx1"/>
            </a:solidFill>
            <a:round/>
            <a:headEnd/>
            <a:tailEnd/>
          </a:ln>
          <a:effectLst/>
        </p:spPr>
        <p:txBody>
          <a:bodyPr/>
          <a:lstStyle/>
          <a:p>
            <a:endParaRPr lang="ru-RU"/>
          </a:p>
        </p:txBody>
      </p:sp>
      <p:sp>
        <p:nvSpPr>
          <p:cNvPr id="47132" name="Line 28"/>
          <p:cNvSpPr>
            <a:spLocks noChangeShapeType="1"/>
          </p:cNvSpPr>
          <p:nvPr/>
        </p:nvSpPr>
        <p:spPr bwMode="auto">
          <a:xfrm>
            <a:off x="3995738" y="4868863"/>
            <a:ext cx="360362" cy="0"/>
          </a:xfrm>
          <a:prstGeom prst="line">
            <a:avLst/>
          </a:prstGeom>
          <a:noFill/>
          <a:ln w="9525">
            <a:solidFill>
              <a:schemeClr val="tx1"/>
            </a:solidFill>
            <a:round/>
            <a:headEnd/>
            <a:tailEnd/>
          </a:ln>
          <a:effectLst/>
        </p:spPr>
        <p:txBody>
          <a:bodyPr/>
          <a:lstStyle/>
          <a:p>
            <a:endParaRPr lang="ru-RU"/>
          </a:p>
        </p:txBody>
      </p:sp>
      <p:sp>
        <p:nvSpPr>
          <p:cNvPr id="47133" name="Line 29"/>
          <p:cNvSpPr>
            <a:spLocks noChangeShapeType="1"/>
          </p:cNvSpPr>
          <p:nvPr/>
        </p:nvSpPr>
        <p:spPr bwMode="auto">
          <a:xfrm>
            <a:off x="5291138" y="5013325"/>
            <a:ext cx="360362" cy="0"/>
          </a:xfrm>
          <a:prstGeom prst="line">
            <a:avLst/>
          </a:prstGeom>
          <a:noFill/>
          <a:ln w="9525">
            <a:solidFill>
              <a:schemeClr val="tx1"/>
            </a:solidFill>
            <a:round/>
            <a:headEnd/>
            <a:tailEnd/>
          </a:ln>
          <a:effectLst/>
        </p:spPr>
        <p:txBody>
          <a:bodyPr/>
          <a:lstStyle/>
          <a:p>
            <a:endParaRPr lang="ru-RU"/>
          </a:p>
        </p:txBody>
      </p:sp>
      <p:sp>
        <p:nvSpPr>
          <p:cNvPr id="47134" name="Line 30"/>
          <p:cNvSpPr>
            <a:spLocks noChangeShapeType="1"/>
          </p:cNvSpPr>
          <p:nvPr/>
        </p:nvSpPr>
        <p:spPr bwMode="auto">
          <a:xfrm>
            <a:off x="5291138" y="5229225"/>
            <a:ext cx="360362" cy="0"/>
          </a:xfrm>
          <a:prstGeom prst="line">
            <a:avLst/>
          </a:prstGeom>
          <a:noFill/>
          <a:ln w="9525">
            <a:solidFill>
              <a:schemeClr val="tx1"/>
            </a:solidFill>
            <a:round/>
            <a:headEnd/>
            <a:tailEnd/>
          </a:ln>
          <a:effectLst/>
        </p:spPr>
        <p:txBody>
          <a:bodyPr/>
          <a:lstStyle/>
          <a:p>
            <a:endParaRPr lang="ru-RU"/>
          </a:p>
        </p:txBody>
      </p:sp>
      <p:sp>
        <p:nvSpPr>
          <p:cNvPr id="47135" name="Line 31"/>
          <p:cNvSpPr>
            <a:spLocks noChangeShapeType="1"/>
          </p:cNvSpPr>
          <p:nvPr/>
        </p:nvSpPr>
        <p:spPr bwMode="auto">
          <a:xfrm>
            <a:off x="5291138" y="5445125"/>
            <a:ext cx="360362" cy="0"/>
          </a:xfrm>
          <a:prstGeom prst="line">
            <a:avLst/>
          </a:prstGeom>
          <a:noFill/>
          <a:ln w="9525">
            <a:solidFill>
              <a:schemeClr val="tx1"/>
            </a:solidFill>
            <a:round/>
            <a:headEnd/>
            <a:tailEnd/>
          </a:ln>
          <a:effectLst/>
        </p:spPr>
        <p:txBody>
          <a:bodyPr/>
          <a:lstStyle/>
          <a:p>
            <a:endParaRPr lang="ru-RU"/>
          </a:p>
        </p:txBody>
      </p:sp>
      <p:sp>
        <p:nvSpPr>
          <p:cNvPr id="47136" name="Text Box 32"/>
          <p:cNvSpPr txBox="1">
            <a:spLocks noChangeArrowheads="1"/>
          </p:cNvSpPr>
          <p:nvPr/>
        </p:nvSpPr>
        <p:spPr bwMode="auto">
          <a:xfrm>
            <a:off x="250825" y="3789363"/>
            <a:ext cx="1549400" cy="641350"/>
          </a:xfrm>
          <a:prstGeom prst="rect">
            <a:avLst/>
          </a:prstGeom>
          <a:noFill/>
          <a:ln w="9525">
            <a:noFill/>
            <a:miter lim="800000"/>
            <a:headEnd/>
            <a:tailEnd/>
          </a:ln>
          <a:effectLst/>
        </p:spPr>
        <p:txBody>
          <a:bodyPr wrap="none">
            <a:spAutoFit/>
          </a:bodyPr>
          <a:lstStyle/>
          <a:p>
            <a:r>
              <a:rPr lang="ru-RU"/>
              <a:t>Каналы ИКМ</a:t>
            </a:r>
          </a:p>
          <a:p>
            <a:r>
              <a:rPr lang="ru-RU"/>
              <a:t>64 кбит/с</a:t>
            </a:r>
          </a:p>
        </p:txBody>
      </p:sp>
      <p:sp>
        <p:nvSpPr>
          <p:cNvPr id="47137" name="Text Box 33"/>
          <p:cNvSpPr txBox="1">
            <a:spLocks noChangeArrowheads="1"/>
          </p:cNvSpPr>
          <p:nvPr/>
        </p:nvSpPr>
        <p:spPr bwMode="auto">
          <a:xfrm>
            <a:off x="735013" y="1865313"/>
            <a:ext cx="463550" cy="366712"/>
          </a:xfrm>
          <a:prstGeom prst="rect">
            <a:avLst/>
          </a:prstGeom>
          <a:noFill/>
          <a:ln w="9525">
            <a:noFill/>
            <a:miter lim="800000"/>
            <a:headEnd/>
            <a:tailEnd/>
          </a:ln>
          <a:effectLst/>
        </p:spPr>
        <p:txBody>
          <a:bodyPr wrap="none">
            <a:spAutoFit/>
          </a:bodyPr>
          <a:lstStyle/>
          <a:p>
            <a:r>
              <a:rPr lang="ru-RU"/>
              <a:t>Е0</a:t>
            </a:r>
          </a:p>
        </p:txBody>
      </p:sp>
      <p:sp>
        <p:nvSpPr>
          <p:cNvPr id="47138" name="Text Box 34"/>
          <p:cNvSpPr txBox="1">
            <a:spLocks noChangeArrowheads="1"/>
          </p:cNvSpPr>
          <p:nvPr/>
        </p:nvSpPr>
        <p:spPr bwMode="auto">
          <a:xfrm>
            <a:off x="6567488" y="5465763"/>
            <a:ext cx="2127250" cy="366712"/>
          </a:xfrm>
          <a:prstGeom prst="rect">
            <a:avLst/>
          </a:prstGeom>
          <a:noFill/>
          <a:ln w="9525">
            <a:noFill/>
            <a:miter lim="800000"/>
            <a:headEnd/>
            <a:tailEnd/>
          </a:ln>
          <a:effectLst/>
        </p:spPr>
        <p:txBody>
          <a:bodyPr wrap="none">
            <a:spAutoFit/>
          </a:bodyPr>
          <a:lstStyle/>
          <a:p>
            <a:r>
              <a:rPr lang="ru-RU"/>
              <a:t>или 155,52 Мбит/с</a:t>
            </a:r>
          </a:p>
        </p:txBody>
      </p:sp>
      <p:sp>
        <p:nvSpPr>
          <p:cNvPr id="47139" name="Text Box 35"/>
          <p:cNvSpPr txBox="1">
            <a:spLocks noChangeArrowheads="1"/>
          </p:cNvSpPr>
          <p:nvPr/>
        </p:nvSpPr>
        <p:spPr bwMode="auto">
          <a:xfrm>
            <a:off x="3923928" y="1124744"/>
            <a:ext cx="5220072" cy="923330"/>
          </a:xfrm>
          <a:prstGeom prst="rect">
            <a:avLst/>
          </a:prstGeom>
          <a:noFill/>
          <a:ln w="9525">
            <a:solidFill>
              <a:schemeClr val="tx1"/>
            </a:solidFill>
            <a:miter lim="800000"/>
            <a:headEnd/>
            <a:tailEnd/>
          </a:ln>
          <a:effectLst/>
        </p:spPr>
        <p:txBody>
          <a:bodyPr wrap="square">
            <a:spAutoFit/>
          </a:bodyPr>
          <a:lstStyle/>
          <a:p>
            <a:r>
              <a:rPr lang="ru-RU" dirty="0"/>
              <a:t>Для извлечения потока более низкого уровня из потока более высокого уровня необходимо провести полное демультиплексирование</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b="1" dirty="0">
                <a:solidFill>
                  <a:srgbClr val="002060"/>
                </a:solidFill>
              </a:rPr>
              <a:t>1.Системы передачи </a:t>
            </a:r>
            <a:r>
              <a:rPr lang="en-US" b="1" dirty="0">
                <a:solidFill>
                  <a:srgbClr val="002060"/>
                </a:solidFill>
              </a:rPr>
              <a:t>PDH</a:t>
            </a:r>
            <a:r>
              <a:rPr lang="ru-RU" b="1" dirty="0">
                <a:solidFill>
                  <a:srgbClr val="002060"/>
                </a:solidFill>
              </a:rPr>
              <a:t> (3)</a:t>
            </a:r>
            <a:endParaRPr lang="ru-RU" dirty="0"/>
          </a:p>
        </p:txBody>
      </p:sp>
      <p:sp>
        <p:nvSpPr>
          <p:cNvPr id="3" name="Содержимое 2"/>
          <p:cNvSpPr>
            <a:spLocks noGrp="1"/>
          </p:cNvSpPr>
          <p:nvPr>
            <p:ph idx="1"/>
          </p:nvPr>
        </p:nvSpPr>
        <p:spPr>
          <a:xfrm>
            <a:off x="0" y="1196752"/>
            <a:ext cx="9144000" cy="5661248"/>
          </a:xfrm>
        </p:spPr>
        <p:txBody>
          <a:bodyPr>
            <a:normAutofit fontScale="92500" lnSpcReduction="10000"/>
          </a:bodyPr>
          <a:lstStyle/>
          <a:p>
            <a:r>
              <a:rPr lang="ru-RU" sz="2800" b="1" u="sng" dirty="0"/>
              <a:t>Недостатки </a:t>
            </a:r>
            <a:r>
              <a:rPr lang="en-US" sz="2800" b="1" u="sng" dirty="0"/>
              <a:t>PDH</a:t>
            </a:r>
            <a:r>
              <a:rPr lang="ru-RU" sz="2000" b="1" u="sng" dirty="0"/>
              <a:t>:</a:t>
            </a:r>
            <a:br>
              <a:rPr lang="ru-RU" sz="2000" b="1" u="sng" dirty="0"/>
            </a:br>
            <a:r>
              <a:rPr lang="ru-RU" sz="2800" dirty="0"/>
              <a:t>- затруднённый ввод/вывод цифровых потоков в промежуточных пунктах; </a:t>
            </a:r>
            <a:br>
              <a:rPr lang="ru-RU" sz="2800" dirty="0"/>
            </a:br>
            <a:r>
              <a:rPr lang="ru-RU" sz="2800" dirty="0"/>
              <a:t>- отсутствие средств сетевого автоматического контроля и управления; </a:t>
            </a:r>
            <a:br>
              <a:rPr lang="ru-RU" sz="2800" dirty="0"/>
            </a:br>
            <a:r>
              <a:rPr lang="ru-RU" sz="2800" dirty="0"/>
              <a:t>- многоступенчатое во</a:t>
            </a:r>
            <a:r>
              <a:rPr lang="en-US" sz="2800" dirty="0"/>
              <a:t>c</a:t>
            </a:r>
            <a:r>
              <a:rPr lang="ru-RU" sz="2800" dirty="0"/>
              <a:t>становление синхронизма требует достаточно      большого времени;</a:t>
            </a:r>
            <a:br>
              <a:rPr lang="ru-RU" sz="2800" dirty="0"/>
            </a:br>
            <a:r>
              <a:rPr lang="en-US" sz="2800" dirty="0"/>
              <a:t>- </a:t>
            </a:r>
            <a:r>
              <a:rPr lang="ru-RU" sz="2800" dirty="0"/>
              <a:t>наличие трёх различных иерархий. </a:t>
            </a:r>
          </a:p>
          <a:p>
            <a:pPr marL="177800" indent="-177800"/>
            <a:r>
              <a:rPr lang="ru-RU" sz="2800" dirty="0"/>
              <a:t> В </a:t>
            </a:r>
            <a:r>
              <a:rPr lang="en-US" sz="2800" dirty="0"/>
              <a:t>PDH</a:t>
            </a:r>
            <a:r>
              <a:rPr lang="ru-RU" sz="2800" dirty="0"/>
              <a:t> при мультиплексировании используются для синхронизации цифровых потоков </a:t>
            </a:r>
            <a:r>
              <a:rPr lang="ru-RU" sz="2800" dirty="0">
                <a:effectLst>
                  <a:outerShdw blurRad="38100" dist="38100" dir="2700000" algn="tl">
                    <a:srgbClr val="000000">
                      <a:alpha val="43137"/>
                    </a:srgbClr>
                  </a:outerShdw>
                </a:effectLst>
              </a:rPr>
              <a:t>генераторы с неточно совпадающими частотами (почти синхронными). </a:t>
            </a:r>
          </a:p>
          <a:p>
            <a:pPr marL="177800" indent="-177800"/>
            <a:r>
              <a:rPr lang="ru-RU" sz="2800" dirty="0"/>
              <a:t>   </a:t>
            </a:r>
            <a:r>
              <a:rPr lang="ru-RU" sz="2800" b="1" dirty="0"/>
              <a:t>Использование систем </a:t>
            </a:r>
            <a:r>
              <a:rPr lang="en-US" sz="2800" b="1" dirty="0"/>
              <a:t>PDH</a:t>
            </a:r>
            <a:r>
              <a:rPr lang="ru-RU" sz="2800" b="1" dirty="0"/>
              <a:t> в сетях передачи данных, требует большого количества мультиплексоров, что значительно удорожает сеть и усложняет ее эксплуатацию</a:t>
            </a:r>
          </a:p>
          <a:p>
            <a:endParaRPr lang="ru-RU" sz="2800" dirty="0"/>
          </a:p>
          <a:p>
            <a:endParaRPr lang="ru-RU"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634082"/>
          </a:xfrm>
        </p:spPr>
        <p:txBody>
          <a:bodyPr>
            <a:normAutofit fontScale="90000"/>
          </a:bodyPr>
          <a:lstStyle/>
          <a:p>
            <a:r>
              <a:rPr lang="ru-RU" b="1" dirty="0">
                <a:solidFill>
                  <a:srgbClr val="002060"/>
                </a:solidFill>
              </a:rPr>
              <a:t>1.Системы передачи </a:t>
            </a:r>
            <a:r>
              <a:rPr lang="en-US" b="1" dirty="0">
                <a:solidFill>
                  <a:srgbClr val="002060"/>
                </a:solidFill>
              </a:rPr>
              <a:t>PDH</a:t>
            </a:r>
            <a:r>
              <a:rPr lang="ru-RU" b="1" dirty="0">
                <a:solidFill>
                  <a:srgbClr val="002060"/>
                </a:solidFill>
              </a:rPr>
              <a:t> (4)</a:t>
            </a:r>
            <a:endParaRPr lang="ru-RU" dirty="0"/>
          </a:p>
        </p:txBody>
      </p:sp>
      <p:sp>
        <p:nvSpPr>
          <p:cNvPr id="3" name="Содержимое 2"/>
          <p:cNvSpPr>
            <a:spLocks noGrp="1"/>
          </p:cNvSpPr>
          <p:nvPr>
            <p:ph idx="1"/>
          </p:nvPr>
        </p:nvSpPr>
        <p:spPr>
          <a:xfrm>
            <a:off x="0" y="908720"/>
            <a:ext cx="9144000" cy="5949280"/>
          </a:xfrm>
        </p:spPr>
        <p:txBody>
          <a:bodyPr>
            <a:noAutofit/>
          </a:bodyPr>
          <a:lstStyle/>
          <a:p>
            <a:pPr marL="177800" indent="-177800"/>
            <a:r>
              <a:rPr lang="ru-RU" sz="2400" b="1" dirty="0"/>
              <a:t>Для мультиплексирования </a:t>
            </a:r>
            <a:r>
              <a:rPr lang="ru-RU" sz="2400" b="1" dirty="0" err="1"/>
              <a:t>плезиохронных</a:t>
            </a:r>
            <a:r>
              <a:rPr lang="ru-RU" sz="2400" b="1" dirty="0"/>
              <a:t> потоков данных </a:t>
            </a:r>
            <a:r>
              <a:rPr lang="ru-RU" sz="2400" dirty="0"/>
              <a:t>требуется добавлять дополнительные биты информации, чтобы компенсировать различия в синхронизации. При этом переход от одного уровня скоростей к другому происходит только последовательно как в прямом, так и в обратном направлениях что усложняет процесс «распаковки» информации.</a:t>
            </a:r>
          </a:p>
          <a:p>
            <a:pPr marL="174625" indent="-174625">
              <a:lnSpc>
                <a:spcPct val="80000"/>
              </a:lnSpc>
            </a:pPr>
            <a:r>
              <a:rPr lang="ru-RU" sz="2400" dirty="0"/>
              <a:t>Так, чтобы из потока (Е4) 140 Мбит/с  извлечь поток </a:t>
            </a:r>
            <a:r>
              <a:rPr lang="ru-RU" sz="2400"/>
              <a:t>(Е1) 2Мбит/с, </a:t>
            </a:r>
            <a:r>
              <a:rPr lang="ru-RU" sz="2400" dirty="0"/>
              <a:t>необходимо:</a:t>
            </a:r>
          </a:p>
          <a:p>
            <a:pPr>
              <a:lnSpc>
                <a:spcPct val="80000"/>
              </a:lnSpc>
              <a:buNone/>
            </a:pPr>
            <a:r>
              <a:rPr lang="ru-RU" sz="2400" dirty="0"/>
              <a:t>        - </a:t>
            </a:r>
            <a:r>
              <a:rPr lang="ru-RU" sz="2400" dirty="0" err="1"/>
              <a:t>демультиплексировать</a:t>
            </a:r>
            <a:r>
              <a:rPr lang="ru-RU" sz="2400" dirty="0"/>
              <a:t> Е4 на четыре потока 34Мбит/сек (Е3),  </a:t>
            </a:r>
          </a:p>
          <a:p>
            <a:pPr>
              <a:lnSpc>
                <a:spcPct val="80000"/>
              </a:lnSpc>
              <a:buNone/>
            </a:pPr>
            <a:r>
              <a:rPr lang="ru-RU" sz="2400" dirty="0"/>
              <a:t>        - затем один из Е3 на четыре потока 8 Мбит/сек (Е2), и</a:t>
            </a:r>
          </a:p>
          <a:p>
            <a:pPr>
              <a:lnSpc>
                <a:spcPct val="80000"/>
              </a:lnSpc>
              <a:buNone/>
            </a:pPr>
            <a:r>
              <a:rPr lang="ru-RU" sz="2400" dirty="0"/>
              <a:t>        -  только после этого можно вывести требуемый Е1. </a:t>
            </a:r>
          </a:p>
          <a:p>
            <a:pPr>
              <a:lnSpc>
                <a:spcPct val="80000"/>
              </a:lnSpc>
            </a:pPr>
            <a:r>
              <a:rPr lang="ru-RU" sz="2400" dirty="0"/>
              <a:t>А для организации ввода/вывода  требуется трехуровневое демультиплексирование, а затем трехуровневое мультиплексирование</a:t>
            </a:r>
            <a:r>
              <a:rPr lang="ru-RU" sz="2800" dirty="0"/>
              <a:t>.</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0" y="1"/>
            <a:ext cx="9144000" cy="692696"/>
          </a:xfrm>
        </p:spPr>
        <p:txBody>
          <a:bodyPr>
            <a:normAutofit/>
          </a:bodyPr>
          <a:lstStyle/>
          <a:p>
            <a:pPr algn="l"/>
            <a:r>
              <a:rPr lang="ru-RU" sz="2000" b="1" dirty="0" err="1">
                <a:solidFill>
                  <a:srgbClr val="C00000"/>
                </a:solidFill>
                <a:effectLst>
                  <a:outerShdw blurRad="38100" dist="38100" dir="2700000" algn="tl">
                    <a:srgbClr val="000000">
                      <a:alpha val="43137"/>
                    </a:srgbClr>
                  </a:outerShdw>
                </a:effectLst>
              </a:rPr>
              <a:t>Плезиохронная</a:t>
            </a:r>
            <a:r>
              <a:rPr lang="ru-RU" sz="2000" b="1" dirty="0">
                <a:solidFill>
                  <a:srgbClr val="C00000"/>
                </a:solidFill>
                <a:effectLst>
                  <a:outerShdw blurRad="38100" dist="38100" dir="2700000" algn="tl">
                    <a:srgbClr val="000000">
                      <a:alpha val="43137"/>
                    </a:srgbClr>
                  </a:outerShdw>
                </a:effectLst>
              </a:rPr>
              <a:t> цифровая иерархия </a:t>
            </a:r>
            <a:r>
              <a:rPr lang="en-GB" sz="2000" b="1" i="1" dirty="0">
                <a:solidFill>
                  <a:srgbClr val="C00000"/>
                </a:solidFill>
                <a:effectLst>
                  <a:outerShdw blurRad="38100" dist="38100" dir="2700000" algn="tl">
                    <a:srgbClr val="000000">
                      <a:alpha val="43137"/>
                    </a:srgbClr>
                  </a:outerShdw>
                </a:effectLst>
              </a:rPr>
              <a:t>PDH (</a:t>
            </a:r>
            <a:r>
              <a:rPr lang="en-GB" sz="2000" b="1" i="1" dirty="0" err="1">
                <a:solidFill>
                  <a:srgbClr val="C00000"/>
                </a:solidFill>
                <a:effectLst>
                  <a:outerShdw blurRad="38100" dist="38100" dir="2700000" algn="tl">
                    <a:srgbClr val="000000">
                      <a:alpha val="43137"/>
                    </a:srgbClr>
                  </a:outerShdw>
                </a:effectLst>
              </a:rPr>
              <a:t>Plesiochronous</a:t>
            </a:r>
            <a:r>
              <a:rPr lang="en-GB" sz="2000" b="1" i="1" dirty="0">
                <a:solidFill>
                  <a:srgbClr val="C00000"/>
                </a:solidFill>
                <a:effectLst>
                  <a:outerShdw blurRad="38100" dist="38100" dir="2700000" algn="tl">
                    <a:srgbClr val="000000">
                      <a:alpha val="43137"/>
                    </a:srgbClr>
                  </a:outerShdw>
                </a:effectLst>
              </a:rPr>
              <a:t> digital hierarchy</a:t>
            </a:r>
            <a:r>
              <a:rPr lang="ru-RU" sz="2000" b="1" i="1" dirty="0">
                <a:solidFill>
                  <a:srgbClr val="C00000"/>
                </a:solidFill>
                <a:effectLst>
                  <a:outerShdw blurRad="38100" dist="38100" dir="2700000" algn="tl">
                    <a:srgbClr val="000000">
                      <a:alpha val="43137"/>
                    </a:srgbClr>
                  </a:outerShdw>
                </a:effectLst>
              </a:rPr>
              <a:t>)</a:t>
            </a:r>
          </a:p>
        </p:txBody>
      </p:sp>
      <p:sp>
        <p:nvSpPr>
          <p:cNvPr id="3" name="TextBox 2"/>
          <p:cNvSpPr txBox="1"/>
          <p:nvPr/>
        </p:nvSpPr>
        <p:spPr>
          <a:xfrm>
            <a:off x="162612" y="620688"/>
            <a:ext cx="8809349" cy="6924973"/>
          </a:xfrm>
          <a:prstGeom prst="rect">
            <a:avLst/>
          </a:prstGeom>
          <a:noFill/>
        </p:spPr>
        <p:txBody>
          <a:bodyPr wrap="square" rtlCol="0">
            <a:spAutoFit/>
          </a:bodyPr>
          <a:lstStyle/>
          <a:p>
            <a:r>
              <a:rPr lang="ru-RU" sz="2400" dirty="0"/>
              <a:t>Схемы </a:t>
            </a:r>
            <a:r>
              <a:rPr lang="en-US" sz="2400" dirty="0"/>
              <a:t>PDH</a:t>
            </a:r>
            <a:r>
              <a:rPr lang="ru-RU" sz="2400" dirty="0"/>
              <a:t> были разработаны в начале 80х. Всего их было три:</a:t>
            </a:r>
            <a:br>
              <a:rPr lang="ru-RU" sz="2400" dirty="0"/>
            </a:br>
            <a:r>
              <a:rPr lang="ru-RU" sz="2400" b="1" dirty="0"/>
              <a:t>1) Американская система (АС) </a:t>
            </a:r>
            <a:r>
              <a:rPr lang="ru-RU" sz="2400" dirty="0"/>
              <a:t>принята в США и Канаде, в качестве скорости сигнала первичного цифрового канала </a:t>
            </a:r>
            <a:r>
              <a:rPr lang="en-US" sz="2400" dirty="0"/>
              <a:t>PDH</a:t>
            </a:r>
            <a:r>
              <a:rPr lang="ru-RU" sz="2400" dirty="0"/>
              <a:t> (DS1) была выбрана скорость 1544 кбит/с и давала последовательность DS1 - DS2 - DS3 - DS4 или последовательность вида: 1544 - 6312 - 44736 - 274176 кбит/с. Это позволяло передавать соответственно 24, 96, 672 и 4032 канала DS0 (ОЦК 64 кбит/с);</a:t>
            </a:r>
            <a:br>
              <a:rPr lang="ru-RU" sz="2400" dirty="0"/>
            </a:br>
            <a:r>
              <a:rPr lang="ru-RU" sz="2400" b="1" dirty="0"/>
              <a:t>2) Японская система (ЯС</a:t>
            </a:r>
            <a:r>
              <a:rPr lang="ru-RU" sz="2400" dirty="0"/>
              <a:t>) принята в Японии, использовалась та же скорость для DS1; давала последовательность DS1 - DS2 - DSJ3 - DSJ4 или последовательность 1544 - 6312 - 32064 - 97728 кбит/с, что позволяло передавать 24, 96, 480 или 1440 каналов DS0;</a:t>
            </a:r>
            <a:br>
              <a:rPr lang="ru-RU" sz="2400" dirty="0"/>
            </a:br>
            <a:r>
              <a:rPr lang="ru-RU" sz="2400" b="1" dirty="0"/>
              <a:t>3) Европейская система (ЕС) </a:t>
            </a:r>
            <a:r>
              <a:rPr lang="ru-RU" sz="2400" dirty="0"/>
              <a:t>принята в Европе и Южной Америке, в качестве первичной была выбрана скорость 2048 кбит/с и давала последовательность E1 - E2 - E3 - E4 - E5 или 2048 - 8448 - 34368 - 139264 - 564992 кбит/с. Указанная иерархия позволяла передавать 30, 120, 480, 1920 или 7680 каналов DS0.</a:t>
            </a:r>
            <a:endParaRPr lang="en-US" sz="2400" dirty="0"/>
          </a:p>
          <a:p>
            <a:endParaRPr lang="ru-RU" dirty="0"/>
          </a:p>
          <a:p>
            <a:r>
              <a:rPr lang="ru-RU" dirty="0"/>
              <a:t>.</a:t>
            </a:r>
          </a:p>
        </p:txBody>
      </p:sp>
    </p:spTree>
    <p:extLst>
      <p:ext uri="{BB962C8B-B14F-4D97-AF65-F5344CB8AC3E}">
        <p14:creationId xmlns:p14="http://schemas.microsoft.com/office/powerpoint/2010/main" val="4215347439"/>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126</TotalTime>
  <Words>4032</Words>
  <Application>Microsoft Office PowerPoint</Application>
  <PresentationFormat>Экран (4:3)</PresentationFormat>
  <Paragraphs>368</Paragraphs>
  <Slides>55</Slides>
  <Notes>0</Notes>
  <HiddenSlides>0</HiddenSlides>
  <MMClips>0</MMClips>
  <ScaleCrop>false</ScaleCrop>
  <HeadingPairs>
    <vt:vector size="8" baseType="variant">
      <vt:variant>
        <vt:lpstr>Использованные шрифты</vt:lpstr>
      </vt:variant>
      <vt:variant>
        <vt:i4>5</vt:i4>
      </vt:variant>
      <vt:variant>
        <vt:lpstr>Тема</vt:lpstr>
      </vt:variant>
      <vt:variant>
        <vt:i4>1</vt:i4>
      </vt:variant>
      <vt:variant>
        <vt:lpstr>Внедренные серверы OLE</vt:lpstr>
      </vt:variant>
      <vt:variant>
        <vt:i4>1</vt:i4>
      </vt:variant>
      <vt:variant>
        <vt:lpstr>Заголовки слайдов</vt:lpstr>
      </vt:variant>
      <vt:variant>
        <vt:i4>55</vt:i4>
      </vt:variant>
    </vt:vector>
  </HeadingPairs>
  <TitlesOfParts>
    <vt:vector size="62" baseType="lpstr">
      <vt:lpstr>Arial</vt:lpstr>
      <vt:lpstr>Arial Unicode MS</vt:lpstr>
      <vt:lpstr>Calibri</vt:lpstr>
      <vt:lpstr>Cambria Math</vt:lpstr>
      <vt:lpstr>Wingdings</vt:lpstr>
      <vt:lpstr>Тема Office</vt:lpstr>
      <vt:lpstr>Visio</vt:lpstr>
      <vt:lpstr>Презентация PowerPoint</vt:lpstr>
      <vt:lpstr>4 этапа развития сетей и услуг связи (КК)</vt:lpstr>
      <vt:lpstr>5 этап- Инфокоммуникационные сети (КП)</vt:lpstr>
      <vt:lpstr>4 этапа развития сетей и услуг связи</vt:lpstr>
      <vt:lpstr>4 этапа развития сетей и услуг связи</vt:lpstr>
      <vt:lpstr>4 этапа развития сетей и услуг связи</vt:lpstr>
      <vt:lpstr>4 этапа развития сетей и услуг связи</vt:lpstr>
      <vt:lpstr>Образование ОЦК. Формирование группового сигнала при ВРК. </vt:lpstr>
      <vt:lpstr>Презентация PowerPoint</vt:lpstr>
      <vt:lpstr> Базовая услуга в ТфОП с коммутацией каналов </vt:lpstr>
      <vt:lpstr>Презентация PowerPoint</vt:lpstr>
      <vt:lpstr> Канал тональной частоты (КТЧ) </vt:lpstr>
      <vt:lpstr>Презентация PowerPoint</vt:lpstr>
      <vt:lpstr> </vt:lpstr>
      <vt:lpstr>1.Дискретизация</vt:lpstr>
      <vt:lpstr>Дискретизация. Выбор частоты дискретизации(1).</vt:lpstr>
      <vt:lpstr>Дискретизация. Выбор частоты дискретизации(2).</vt:lpstr>
      <vt:lpstr>Дискретизация. Выбор частоты дискретизации(3).</vt:lpstr>
      <vt:lpstr> 2.Квантование по уровню (1) </vt:lpstr>
      <vt:lpstr>Квантование по уровню(2)</vt:lpstr>
      <vt:lpstr>3.Кодирование(1)</vt:lpstr>
      <vt:lpstr>Квантование по уровню</vt:lpstr>
      <vt:lpstr>3.Кодирование(2)</vt:lpstr>
      <vt:lpstr>Формирование группового сигнала  при временном разделении каналов (ВРК)</vt:lpstr>
      <vt:lpstr>Презентация PowerPoint</vt:lpstr>
      <vt:lpstr>Формирование группового сигнала  при временном разделении каналов (ВРК)</vt:lpstr>
      <vt:lpstr>ВЫВОДЫ</vt:lpstr>
      <vt:lpstr>1. Мультиплексирование 2.Классификация методов  мультиплексирования  3.Иерархии цифровых систем передачи (ЦСП) связи  4.Системы передачиPDH</vt:lpstr>
      <vt:lpstr>Системы передачи</vt:lpstr>
      <vt:lpstr> Системы передачи  </vt:lpstr>
      <vt:lpstr>Мультиплексирование</vt:lpstr>
      <vt:lpstr>1. Частотное разделение каналов( (FDM)</vt:lpstr>
      <vt:lpstr>2. Временное разделение каналов связи(1)</vt:lpstr>
      <vt:lpstr>2.Временное разделение каналов связи (2) </vt:lpstr>
      <vt:lpstr>Классификация методов  мультиплексирования</vt:lpstr>
      <vt:lpstr> 3.Волновое мультиплексирование (WDM) </vt:lpstr>
      <vt:lpstr>3.Мультиплексирование с делением по длине волны в оптическом волокне (1/3)</vt:lpstr>
      <vt:lpstr>3.Мультиплексирование с делением по длине волны в оптическом волокне (2/3)</vt:lpstr>
      <vt:lpstr>3.Мультиплексирование с делением по длине волны в оптическом волокне (3/3)</vt:lpstr>
      <vt:lpstr>3.Принцип волнового мультиплексирования </vt:lpstr>
      <vt:lpstr>3.Разделение по длине волны WDМ  (2 вариант пояснения)</vt:lpstr>
      <vt:lpstr>3.Принцип волнового мультиплексирования </vt:lpstr>
      <vt:lpstr>Цифровые системы передачи</vt:lpstr>
      <vt:lpstr>Иерархии цифровых систем передачи (ЦСП) (1)</vt:lpstr>
      <vt:lpstr>Иерархии цифровых систем передачи (ЦСП) (2)</vt:lpstr>
      <vt:lpstr>Развитие транспортных сетей</vt:lpstr>
      <vt:lpstr>1.Плезиохронная системы передачи PDH </vt:lpstr>
      <vt:lpstr> 1. Системы передачи PDH (Plesiochronous digital hierarchy)</vt:lpstr>
      <vt:lpstr>Структура кадра Е1 в PDH</vt:lpstr>
      <vt:lpstr>Структура кадра Е1 PDH ( пояснение рисунка). </vt:lpstr>
      <vt:lpstr>1.Системы передачи PDH (2)</vt:lpstr>
      <vt:lpstr>Схема мультиплексирования PDH</vt:lpstr>
      <vt:lpstr>1.Системы передачи PDH (3)</vt:lpstr>
      <vt:lpstr>1.Системы передачи PDH (4)</vt:lpstr>
      <vt:lpstr>Плезиохронная цифровая иерархия PDH (Plesiochronous digital hierarchy)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Слайд 1</dc:title>
  <dc:creator>Анастасия</dc:creator>
  <cp:lastModifiedBy>x1eb_admin</cp:lastModifiedBy>
  <cp:revision>20</cp:revision>
  <dcterms:created xsi:type="dcterms:W3CDTF">2025-10-25T22:31:14Z</dcterms:created>
  <dcterms:modified xsi:type="dcterms:W3CDTF">2026-01-14T19:49:22Z</dcterms:modified>
</cp:coreProperties>
</file>