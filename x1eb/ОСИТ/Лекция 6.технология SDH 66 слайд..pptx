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330" r:id="rId4"/>
    <p:sldId id="283" r:id="rId5"/>
    <p:sldId id="329" r:id="rId6"/>
    <p:sldId id="328" r:id="rId7"/>
    <p:sldId id="288" r:id="rId8"/>
    <p:sldId id="315" r:id="rId9"/>
    <p:sldId id="335" r:id="rId10"/>
    <p:sldId id="290" r:id="rId11"/>
    <p:sldId id="286" r:id="rId12"/>
    <p:sldId id="289" r:id="rId13"/>
    <p:sldId id="291" r:id="rId14"/>
    <p:sldId id="292" r:id="rId15"/>
    <p:sldId id="293" r:id="rId16"/>
    <p:sldId id="258" r:id="rId17"/>
    <p:sldId id="259" r:id="rId18"/>
    <p:sldId id="260" r:id="rId19"/>
    <p:sldId id="261" r:id="rId20"/>
    <p:sldId id="262" r:id="rId21"/>
    <p:sldId id="263" r:id="rId22"/>
    <p:sldId id="336" r:id="rId23"/>
    <p:sldId id="265" r:id="rId24"/>
    <p:sldId id="266" r:id="rId25"/>
    <p:sldId id="264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327" r:id="rId37"/>
    <p:sldId id="294" r:id="rId38"/>
    <p:sldId id="295" r:id="rId39"/>
    <p:sldId id="296" r:id="rId40"/>
    <p:sldId id="297" r:id="rId41"/>
    <p:sldId id="298" r:id="rId42"/>
    <p:sldId id="301" r:id="rId43"/>
    <p:sldId id="300" r:id="rId44"/>
    <p:sldId id="277" r:id="rId45"/>
    <p:sldId id="278" r:id="rId46"/>
    <p:sldId id="279" r:id="rId47"/>
    <p:sldId id="280" r:id="rId48"/>
    <p:sldId id="332" r:id="rId49"/>
    <p:sldId id="281" r:id="rId50"/>
    <p:sldId id="333" r:id="rId51"/>
    <p:sldId id="317" r:id="rId52"/>
    <p:sldId id="318" r:id="rId53"/>
    <p:sldId id="320" r:id="rId54"/>
    <p:sldId id="321" r:id="rId55"/>
    <p:sldId id="322" r:id="rId56"/>
    <p:sldId id="319" r:id="rId57"/>
    <p:sldId id="334" r:id="rId58"/>
    <p:sldId id="324" r:id="rId59"/>
    <p:sldId id="323" r:id="rId60"/>
    <p:sldId id="325" r:id="rId61"/>
    <p:sldId id="302" r:id="rId62"/>
    <p:sldId id="303" r:id="rId63"/>
    <p:sldId id="312" r:id="rId64"/>
    <p:sldId id="311" r:id="rId65"/>
    <p:sldId id="313" r:id="rId66"/>
    <p:sldId id="314" r:id="rId6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1D010-0AA0-4412-9E8B-2C298D2A893C}" type="datetime1">
              <a:rPr lang="ru-RU"/>
              <a:pPr>
                <a:defRPr/>
              </a:pPr>
              <a:t>04.11.2025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Сабина Турсунова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BBAD5-57F6-4764-AEF7-D79F68C31C2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A46BB-460D-4C4C-859F-C518B27EC15C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90A9F-42F4-41A2-B539-2C0AE4365D9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://en.wikipedia.org/wiki/File:SDH_Racks.jpg" TargetMode="Externa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836713"/>
            <a:ext cx="7772400" cy="201622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Лекция 6.2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3212976"/>
            <a:ext cx="8312968" cy="2497832"/>
          </a:xfrm>
        </p:spPr>
        <p:txBody>
          <a:bodyPr>
            <a:normAutofit/>
          </a:bodyPr>
          <a:lstStyle/>
          <a:p>
            <a:r>
              <a:rPr lang="ru-RU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Синхронная цифровая иерархия </a:t>
            </a:r>
            <a:r>
              <a:rPr lang="en-GB" sz="40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SDH (Synchronous Digital Hierarchy</a:t>
            </a:r>
            <a:endParaRPr lang="ru-RU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Цели и задачи разработки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>. 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620688"/>
            <a:ext cx="8964488" cy="6237312"/>
          </a:xfrm>
        </p:spPr>
        <p:txBody>
          <a:bodyPr>
            <a:noAutofit/>
          </a:bodyPr>
          <a:lstStyle/>
          <a:p>
            <a:pPr marL="93663" indent="-93663" algn="just">
              <a:lnSpc>
                <a:spcPct val="80000"/>
              </a:lnSpc>
            </a:pPr>
            <a:r>
              <a:rPr lang="ru-RU" sz="2800" dirty="0" smtClean="0"/>
              <a:t>Желание преодолеть указанные недостатки </a:t>
            </a:r>
            <a:r>
              <a:rPr lang="en-US" sz="2800" dirty="0" smtClean="0"/>
              <a:t>PDH</a:t>
            </a:r>
            <a:r>
              <a:rPr lang="ru-RU" sz="2800" dirty="0" smtClean="0"/>
              <a:t> привели к разработке в США иерархии синхронной оптической сети (</a:t>
            </a:r>
            <a:r>
              <a:rPr lang="en-US" sz="2800" dirty="0" smtClean="0"/>
              <a:t>SONET</a:t>
            </a:r>
            <a:r>
              <a:rPr lang="ru-RU" sz="2800" dirty="0" smtClean="0"/>
              <a:t>), а в Европе аналогичной синхронной цифровой иерархии (</a:t>
            </a:r>
            <a:r>
              <a:rPr lang="en-US" sz="2800" dirty="0" smtClean="0"/>
              <a:t>SDH</a:t>
            </a:r>
            <a:r>
              <a:rPr lang="ru-RU" sz="2800" dirty="0" smtClean="0"/>
              <a:t>), предложенными для использования на волоконно-оптических линиях связи.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b="1" dirty="0" smtClean="0"/>
              <a:t>Целью разработки</a:t>
            </a:r>
            <a:r>
              <a:rPr lang="ru-RU" sz="2800" dirty="0" smtClean="0"/>
              <a:t>, в обоих случаях, </a:t>
            </a:r>
            <a:r>
              <a:rPr lang="ru-RU" sz="2800" b="1" dirty="0" smtClean="0"/>
              <a:t>было создание иерархии, которая позволила бы: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     -вводить/выводить исходные потоки без необходимости производить </a:t>
            </a:r>
            <a:r>
              <a:rPr lang="ru-RU" sz="2800" dirty="0" smtClean="0"/>
              <a:t>сборку и </a:t>
            </a:r>
            <a:r>
              <a:rPr lang="ru-RU" sz="2800" dirty="0" smtClean="0"/>
              <a:t>разборку;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    -разработать структуру кадров, позволяющую осуществлять развитую маршрутизацию и управление сетями с произвольной топологией;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   - загружать и переносить в кадрах новой иерархии кадры </a:t>
            </a:r>
            <a:r>
              <a:rPr lang="en-US" sz="2800" dirty="0" smtClean="0"/>
              <a:t>PDH</a:t>
            </a:r>
            <a:r>
              <a:rPr lang="ru-RU" sz="2800" dirty="0" smtClean="0"/>
              <a:t> иерархии и других типов трафика (АТМ, </a:t>
            </a:r>
            <a:r>
              <a:rPr lang="en-US" sz="2800" dirty="0" smtClean="0"/>
              <a:t>IP</a:t>
            </a:r>
            <a:r>
              <a:rPr lang="ru-RU" sz="2800" dirty="0" smtClean="0"/>
              <a:t>);</a:t>
            </a:r>
          </a:p>
          <a:p>
            <a:pPr algn="just" eaLnBrk="1" hangingPunct="1">
              <a:lnSpc>
                <a:spcPct val="80000"/>
              </a:lnSpc>
              <a:buNone/>
              <a:tabLst>
                <a:tab pos="538163" algn="l"/>
              </a:tabLst>
            </a:pPr>
            <a:r>
              <a:rPr lang="ru-RU" sz="2800" dirty="0" smtClean="0"/>
              <a:t>          - разработать стандартные интерфейсы для облегчения стыковки оборудования.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448" t="5199" r="3239" b="7461"/>
          <a:stretch>
            <a:fillRect/>
          </a:stretch>
        </p:blipFill>
        <p:spPr bwMode="auto">
          <a:xfrm>
            <a:off x="251520" y="260648"/>
            <a:ext cx="8892480" cy="640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Синхронная цифровая иерархия (</a:t>
            </a:r>
            <a:r>
              <a:rPr lang="en-US" sz="2400" dirty="0" smtClean="0"/>
              <a:t>SDH</a:t>
            </a:r>
            <a:r>
              <a:rPr lang="ru-RU" sz="2400" dirty="0" smtClean="0"/>
              <a:t>) — технология широкополосных транспортных сетей, которые являются инфраструктурой для подключения пользователя к широкому спектру услуг. 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b="1" dirty="0" smtClean="0"/>
              <a:t>Сети </a:t>
            </a:r>
            <a:r>
              <a:rPr lang="en-US" sz="2400" b="1" dirty="0" smtClean="0"/>
              <a:t>SDH</a:t>
            </a:r>
            <a:r>
              <a:rPr lang="ru-RU" sz="2400" b="1" dirty="0" smtClean="0"/>
              <a:t> позволяют передавать </a:t>
            </a:r>
            <a:r>
              <a:rPr lang="ru-RU" sz="2400" b="1" dirty="0" smtClean="0"/>
              <a:t>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b="1" dirty="0" smtClean="0"/>
              <a:t> </a:t>
            </a:r>
            <a:r>
              <a:rPr lang="ru-RU" sz="2400" b="1" dirty="0" smtClean="0"/>
              <a:t>      - </a:t>
            </a:r>
            <a:r>
              <a:rPr lang="ru-RU" sz="2400" b="1" dirty="0" smtClean="0"/>
              <a:t>информационные </a:t>
            </a:r>
            <a:r>
              <a:rPr lang="ru-RU" sz="2400" b="1" dirty="0" smtClean="0"/>
              <a:t>потоки на скоростях до 10 Гбит/сек</a:t>
            </a:r>
            <a:r>
              <a:rPr lang="ru-RU" sz="2400" dirty="0" smtClean="0"/>
              <a:t>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  -</a:t>
            </a:r>
            <a:r>
              <a:rPr lang="ru-RU" sz="2400" dirty="0" smtClean="0"/>
              <a:t> предоставляют </a:t>
            </a:r>
            <a:r>
              <a:rPr lang="ru-RU" sz="2400" dirty="0" smtClean="0"/>
              <a:t>широкий диапазон скоростей доступа</a:t>
            </a:r>
            <a:r>
              <a:rPr lang="ru-RU" sz="2400" dirty="0" smtClean="0"/>
              <a:t>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  -</a:t>
            </a:r>
            <a:r>
              <a:rPr lang="ru-RU" sz="2400" dirty="0" smtClean="0"/>
              <a:t> совместимы по скорости </a:t>
            </a:r>
            <a:r>
              <a:rPr lang="ru-RU" sz="2400" dirty="0" smtClean="0"/>
              <a:t>с</a:t>
            </a:r>
            <a:r>
              <a:rPr lang="en-US" sz="2400" dirty="0" smtClean="0"/>
              <a:t> PDH</a:t>
            </a:r>
            <a:r>
              <a:rPr lang="ru-RU" sz="2400" dirty="0" smtClean="0"/>
              <a:t>, </a:t>
            </a:r>
            <a:endParaRPr lang="ru-RU" sz="2400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  - </a:t>
            </a:r>
            <a:r>
              <a:rPr lang="ru-RU" sz="2400" dirty="0" smtClean="0"/>
              <a:t>прозрачны </a:t>
            </a:r>
            <a:r>
              <a:rPr lang="ru-RU" sz="2400" dirty="0" smtClean="0"/>
              <a:t>для трафика любой природы (голос, данные, видео). 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b="1" dirty="0" smtClean="0"/>
              <a:t>Заложенная в </a:t>
            </a:r>
            <a:r>
              <a:rPr lang="ru-RU" sz="2400" b="1" dirty="0" smtClean="0"/>
              <a:t>структуру кадра  </a:t>
            </a:r>
            <a:r>
              <a:rPr lang="en-US" sz="2400" b="1" dirty="0" smtClean="0"/>
              <a:t>SDH</a:t>
            </a:r>
            <a:r>
              <a:rPr lang="ru-RU" sz="2400" b="1" dirty="0" smtClean="0"/>
              <a:t> </a:t>
            </a:r>
            <a:r>
              <a:rPr lang="ru-RU" sz="2400" b="1" dirty="0" smtClean="0"/>
              <a:t>служебная </a:t>
            </a:r>
            <a:r>
              <a:rPr lang="ru-RU" sz="2400" b="1" dirty="0" smtClean="0"/>
              <a:t>информация обеспечивает </a:t>
            </a:r>
            <a:r>
              <a:rPr lang="ru-RU" sz="2400" b="1" dirty="0" smtClean="0"/>
              <a:t>возможность</a:t>
            </a:r>
            <a:r>
              <a:rPr lang="ru-RU" sz="2400" dirty="0" smtClean="0"/>
              <a:t>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    -</a:t>
            </a:r>
            <a:r>
              <a:rPr lang="ru-RU" sz="2400" dirty="0" smtClean="0"/>
              <a:t> </a:t>
            </a:r>
            <a:r>
              <a:rPr lang="ru-RU" sz="2400" dirty="0" smtClean="0"/>
              <a:t>централизованного управления сетевыми устройствами </a:t>
            </a:r>
            <a:r>
              <a:rPr lang="ru-RU" sz="2400" dirty="0" smtClean="0"/>
              <a:t>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    - </a:t>
            </a:r>
            <a:r>
              <a:rPr lang="ru-RU" sz="2400" dirty="0" smtClean="0"/>
              <a:t>гибко </a:t>
            </a:r>
            <a:r>
              <a:rPr lang="ru-RU" sz="2400" dirty="0" smtClean="0"/>
              <a:t>и оперативно обслуживать </a:t>
            </a:r>
            <a:r>
              <a:rPr lang="ru-RU" sz="2400" dirty="0" smtClean="0"/>
              <a:t>сеть;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</a:t>
            </a:r>
            <a:r>
              <a:rPr lang="ru-RU" sz="2400" dirty="0" smtClean="0"/>
              <a:t> </a:t>
            </a:r>
            <a:r>
              <a:rPr lang="ru-RU" sz="2400" dirty="0" smtClean="0"/>
              <a:t> </a:t>
            </a:r>
            <a:r>
              <a:rPr lang="ru-RU" sz="2400" dirty="0" smtClean="0"/>
              <a:t>  - </a:t>
            </a:r>
            <a:r>
              <a:rPr lang="ru-RU" sz="2400" dirty="0" smtClean="0"/>
              <a:t>предоставлять </a:t>
            </a:r>
            <a:r>
              <a:rPr lang="ru-RU" sz="2400" dirty="0" smtClean="0"/>
              <a:t>пользователям необходимые </a:t>
            </a:r>
            <a:r>
              <a:rPr lang="ru-RU" sz="2400" dirty="0" smtClean="0"/>
              <a:t>потоки</a:t>
            </a:r>
            <a:r>
              <a:rPr lang="ru-RU" sz="2400" dirty="0" smtClean="0"/>
              <a:t>;</a:t>
            </a:r>
            <a:endParaRPr lang="ru-RU" sz="2400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    - реализует </a:t>
            </a:r>
            <a:r>
              <a:rPr lang="ru-RU" sz="2400" dirty="0" smtClean="0"/>
              <a:t>механизмы защиты информационных потоков </a:t>
            </a:r>
            <a:r>
              <a:rPr lang="ru-RU" sz="2400" dirty="0" smtClean="0"/>
              <a:t>в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     </a:t>
            </a:r>
            <a:r>
              <a:rPr lang="ru-RU" sz="2400" dirty="0" smtClean="0"/>
              <a:t>  сети </a:t>
            </a:r>
            <a:r>
              <a:rPr lang="ru-RU" sz="2400" dirty="0" smtClean="0"/>
              <a:t>от возможных аварий.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292" t="4851" r="2875" b="6951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 l="2856" t="4599" r="1931" b="900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Многоуровневая модель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> (</a:t>
            </a:r>
            <a:r>
              <a:rPr lang="ru-RU" sz="3600" b="1" dirty="0" smtClean="0">
                <a:solidFill>
                  <a:srgbClr val="002060"/>
                </a:solidFill>
              </a:rPr>
              <a:t>1/3)</a:t>
            </a: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0" y="692696"/>
            <a:ext cx="9144000" cy="5976392"/>
          </a:xfrm>
        </p:spPr>
        <p:txBody>
          <a:bodyPr>
            <a:noAutofit/>
          </a:bodyPr>
          <a:lstStyle/>
          <a:p>
            <a:pPr marL="273050" indent="-273050" eaLnBrk="1" hangingPunct="1">
              <a:lnSpc>
                <a:spcPct val="80000"/>
              </a:lnSpc>
              <a:buFont typeface="Wingdings 3" pitchFamily="18" charset="2"/>
              <a:buChar char=""/>
            </a:pPr>
            <a:r>
              <a:rPr lang="ru-RU" sz="2800" b="1" dirty="0" smtClean="0"/>
              <a:t>Самый низкий — физический уровень</a:t>
            </a:r>
            <a:r>
              <a:rPr lang="ru-RU" sz="2800" dirty="0" smtClean="0"/>
              <a:t>, представляющий передающую среду.</a:t>
            </a:r>
          </a:p>
          <a:p>
            <a:pPr marL="273050" indent="-273050" eaLnBrk="1" hangingPunct="1">
              <a:lnSpc>
                <a:spcPct val="80000"/>
              </a:lnSpc>
              <a:buFont typeface="Wingdings 3" pitchFamily="18" charset="2"/>
              <a:buChar char=""/>
            </a:pPr>
            <a:r>
              <a:rPr lang="ru-RU" sz="2800" b="1" dirty="0" smtClean="0"/>
              <a:t>Секционный уровень </a:t>
            </a:r>
            <a:r>
              <a:rPr lang="ru-RU" sz="2800" dirty="0" smtClean="0"/>
              <a:t>отвечает за сборку синхронных модулей </a:t>
            </a:r>
            <a:r>
              <a:rPr lang="en-US" sz="2800" dirty="0" smtClean="0"/>
              <a:t>STM</a:t>
            </a:r>
            <a:r>
              <a:rPr lang="ru-RU" sz="2800" dirty="0" smtClean="0"/>
              <a:t>-</a:t>
            </a:r>
            <a:r>
              <a:rPr lang="en-US" sz="2800" dirty="0" smtClean="0"/>
              <a:t>N</a:t>
            </a:r>
            <a:r>
              <a:rPr lang="ru-RU" sz="2800" dirty="0" smtClean="0"/>
              <a:t> и транспортировку их между элементами сети.</a:t>
            </a:r>
            <a:endParaRPr lang="en-US" sz="2800" dirty="0" smtClean="0"/>
          </a:p>
          <a:p>
            <a:pPr marL="273050" indent="-273050" eaLnBrk="1" hangingPunct="1">
              <a:lnSpc>
                <a:spcPct val="80000"/>
              </a:lnSpc>
              <a:buNone/>
            </a:pPr>
            <a:r>
              <a:rPr lang="en-US" sz="2800" dirty="0" smtClean="0"/>
              <a:t>    </a:t>
            </a:r>
            <a:r>
              <a:rPr lang="ru-RU" sz="2800" dirty="0" smtClean="0"/>
              <a:t> Он подразделяется на регенераторную и </a:t>
            </a:r>
            <a:r>
              <a:rPr lang="ru-RU" sz="2800" dirty="0" err="1" smtClean="0"/>
              <a:t>мультиплексорную</a:t>
            </a:r>
            <a:r>
              <a:rPr lang="ru-RU" sz="2800" dirty="0" smtClean="0"/>
              <a:t> секции. </a:t>
            </a:r>
          </a:p>
          <a:p>
            <a:pPr marL="273050" indent="-273050" eaLnBrk="1" hangingPunct="1">
              <a:lnSpc>
                <a:spcPct val="80000"/>
              </a:lnSpc>
              <a:buFont typeface="Wingdings 3" pitchFamily="18" charset="2"/>
              <a:buChar char=""/>
            </a:pPr>
            <a:r>
              <a:rPr lang="ru-RU" sz="2800" b="1" dirty="0" smtClean="0"/>
              <a:t>Маршрутный уровень </a:t>
            </a:r>
            <a:r>
              <a:rPr lang="ru-RU" sz="2800" dirty="0" smtClean="0"/>
              <a:t>отвечает за доставку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сигналов,</a:t>
            </a:r>
            <a:r>
              <a:rPr lang="ru-RU" sz="2800" dirty="0" smtClean="0"/>
              <a:t> предоставляемых сетью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конечного пользователя </a:t>
            </a:r>
            <a:r>
              <a:rPr lang="ru-RU" sz="2800" dirty="0" smtClean="0"/>
              <a:t>(</a:t>
            </a:r>
            <a:r>
              <a:rPr lang="en-US" sz="2800" dirty="0" smtClean="0"/>
              <a:t>PDH</a:t>
            </a:r>
            <a:r>
              <a:rPr lang="ru-RU" sz="2800" dirty="0" smtClean="0"/>
              <a:t>, </a:t>
            </a:r>
            <a:r>
              <a:rPr lang="en-US" sz="2800" dirty="0" smtClean="0"/>
              <a:t>ATM</a:t>
            </a:r>
            <a:r>
              <a:rPr lang="ru-RU" sz="2800" dirty="0" smtClean="0"/>
              <a:t> и др.), и упакованных в полезной нагрузке </a:t>
            </a:r>
            <a:r>
              <a:rPr lang="en-US" sz="2800" dirty="0" smtClean="0"/>
              <a:t>STM</a:t>
            </a:r>
            <a:r>
              <a:rPr lang="ru-RU" sz="2800" dirty="0" smtClean="0"/>
              <a:t>-</a:t>
            </a:r>
            <a:r>
              <a:rPr lang="en-US" sz="2800" dirty="0" smtClean="0"/>
              <a:t>N</a:t>
            </a:r>
            <a:r>
              <a:rPr lang="ru-RU" sz="2800" dirty="0" smtClean="0"/>
              <a:t>. </a:t>
            </a:r>
            <a:endParaRPr lang="en-US" sz="2800" dirty="0" smtClean="0"/>
          </a:p>
          <a:p>
            <a:pPr marL="273050" indent="-273050" eaLnBrk="1" hangingPunct="1">
              <a:lnSpc>
                <a:spcPct val="80000"/>
              </a:lnSpc>
              <a:buNone/>
            </a:pPr>
            <a:r>
              <a:rPr lang="en-US" sz="2800" dirty="0" smtClean="0"/>
              <a:t>    </a:t>
            </a:r>
            <a:r>
              <a:rPr lang="ru-RU" sz="2800" dirty="0" smtClean="0"/>
              <a:t>Согласно терминологии </a:t>
            </a:r>
            <a:r>
              <a:rPr lang="en-US" sz="2800" dirty="0" smtClean="0"/>
              <a:t>SDH</a:t>
            </a:r>
            <a:r>
              <a:rPr lang="ru-RU" sz="2800" dirty="0" smtClean="0"/>
              <a:t>, </a:t>
            </a:r>
            <a:r>
              <a:rPr lang="ru-RU" sz="2800" b="1" dirty="0" smtClean="0"/>
              <a:t>эти </a:t>
            </a:r>
            <a:r>
              <a:rPr lang="ru-RU" sz="2800" b="1" dirty="0" smtClean="0"/>
              <a:t>сигналы для конечного пользователя, </a:t>
            </a:r>
            <a:r>
              <a:rPr lang="ru-RU" sz="2800" b="1" dirty="0" smtClean="0"/>
              <a:t>называют компонентными или </a:t>
            </a:r>
            <a:r>
              <a:rPr lang="ru-RU" sz="2800" b="1" dirty="0" err="1" smtClean="0"/>
              <a:t>трибутарными</a:t>
            </a:r>
            <a:r>
              <a:rPr lang="ru-RU" sz="2800" b="1" dirty="0" smtClean="0"/>
              <a:t> сигналами, а </a:t>
            </a:r>
            <a:r>
              <a:rPr lang="ru-RU" sz="2800" dirty="0" smtClean="0"/>
              <a:t>предоставляемые пользователю интерфейсы доступа к сети — </a:t>
            </a:r>
            <a:r>
              <a:rPr lang="ru-RU" sz="2800" dirty="0" err="1" smtClean="0"/>
              <a:t>трибутарными</a:t>
            </a:r>
            <a:r>
              <a:rPr lang="ru-RU" sz="2800" dirty="0" smtClean="0"/>
              <a:t> интерфейсами.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892480" cy="562074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Многоуровневая модель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> (</a:t>
            </a:r>
            <a:r>
              <a:rPr lang="ru-RU" sz="3600" b="1" dirty="0" smtClean="0">
                <a:solidFill>
                  <a:srgbClr val="002060"/>
                </a:solidFill>
              </a:rPr>
              <a:t>2/3)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24744"/>
            <a:ext cx="8712968" cy="5544616"/>
          </a:xfrm>
        </p:spPr>
        <p:txBody>
          <a:bodyPr>
            <a:normAutofit/>
          </a:bodyPr>
          <a:lstStyle/>
          <a:p>
            <a:pPr marL="273050" indent="-273050" algn="just">
              <a:lnSpc>
                <a:spcPct val="80000"/>
              </a:lnSpc>
              <a:buFont typeface="Wingdings 3" pitchFamily="18" charset="2"/>
              <a:buChar char=""/>
            </a:pPr>
            <a:r>
              <a:rPr lang="ru-RU" sz="2400" b="1" dirty="0" smtClean="0"/>
              <a:t>Передача сигнальной информации для каждого уровня в </a:t>
            </a:r>
            <a:r>
              <a:rPr lang="en-US" sz="2400" b="1" dirty="0" smtClean="0"/>
              <a:t>SDH</a:t>
            </a:r>
            <a:r>
              <a:rPr lang="ru-RU" sz="2400" b="1" dirty="0" smtClean="0"/>
              <a:t> осуществляется при помощи механизма заголовков</a:t>
            </a:r>
            <a:r>
              <a:rPr lang="ru-RU" sz="2400" dirty="0" smtClean="0"/>
              <a:t>. </a:t>
            </a:r>
            <a:endParaRPr lang="en-US" sz="2400" dirty="0" smtClean="0"/>
          </a:p>
          <a:p>
            <a:pPr marL="273050" indent="-273050" algn="just">
              <a:lnSpc>
                <a:spcPct val="80000"/>
              </a:lnSpc>
              <a:buNone/>
            </a:pPr>
            <a:r>
              <a:rPr lang="en-US" sz="2400" dirty="0" smtClean="0"/>
              <a:t>      </a:t>
            </a:r>
            <a:r>
              <a:rPr lang="ru-RU" sz="2400" dirty="0" smtClean="0"/>
              <a:t>Каждый </a:t>
            </a:r>
            <a:r>
              <a:rPr lang="en-US" sz="2400" dirty="0" smtClean="0"/>
              <a:t>STM</a:t>
            </a:r>
            <a:r>
              <a:rPr lang="ru-RU" sz="2400" dirty="0" smtClean="0"/>
              <a:t>-</a:t>
            </a:r>
            <a:r>
              <a:rPr lang="en-US" sz="2400" dirty="0" smtClean="0"/>
              <a:t>N</a:t>
            </a:r>
            <a:r>
              <a:rPr lang="ru-RU" sz="2400" dirty="0" smtClean="0"/>
              <a:t> кадр имеет секционный заголовок </a:t>
            </a:r>
            <a:r>
              <a:rPr lang="en-US" sz="2400" dirty="0" smtClean="0"/>
              <a:t>SOH</a:t>
            </a:r>
            <a:r>
              <a:rPr lang="ru-RU" sz="2400" dirty="0" smtClean="0"/>
              <a:t> (</a:t>
            </a:r>
            <a:r>
              <a:rPr lang="en-US" sz="2400" dirty="0" smtClean="0"/>
              <a:t>Section </a:t>
            </a:r>
            <a:r>
              <a:rPr lang="en-US" sz="2400" dirty="0" err="1" smtClean="0"/>
              <a:t>OverHead</a:t>
            </a:r>
            <a:r>
              <a:rPr lang="ru-RU" sz="2400" dirty="0" smtClean="0"/>
              <a:t>), состоящий из двух частей:</a:t>
            </a:r>
            <a:endParaRPr lang="en-US" sz="2400" dirty="0" smtClean="0"/>
          </a:p>
          <a:p>
            <a:pPr marL="273050" indent="-273050" algn="just">
              <a:lnSpc>
                <a:spcPct val="80000"/>
              </a:lnSpc>
              <a:buNone/>
            </a:pPr>
            <a:r>
              <a:rPr lang="en-US" sz="2400" dirty="0" smtClean="0"/>
              <a:t>           - </a:t>
            </a:r>
            <a:r>
              <a:rPr lang="ru-RU" sz="2400" dirty="0" smtClean="0"/>
              <a:t> заголовка регенераторной секции </a:t>
            </a:r>
            <a:r>
              <a:rPr lang="en-US" sz="2400" dirty="0" smtClean="0"/>
              <a:t>RSOH</a:t>
            </a:r>
            <a:r>
              <a:rPr lang="ru-RU" sz="2400" dirty="0" smtClean="0"/>
              <a:t> (</a:t>
            </a:r>
            <a:r>
              <a:rPr lang="en-US" sz="2400" dirty="0" smtClean="0"/>
              <a:t>Regenerator Section </a:t>
            </a:r>
            <a:r>
              <a:rPr lang="en-US" sz="2400" dirty="0" err="1" smtClean="0"/>
              <a:t>OverHead</a:t>
            </a:r>
            <a:r>
              <a:rPr lang="en-US" sz="2400" dirty="0" smtClean="0"/>
              <a:t>)</a:t>
            </a:r>
          </a:p>
          <a:p>
            <a:pPr marL="273050" indent="-273050" algn="just">
              <a:lnSpc>
                <a:spcPct val="80000"/>
              </a:lnSpc>
              <a:buNone/>
            </a:pPr>
            <a:r>
              <a:rPr lang="en-US" sz="2400" dirty="0" smtClean="0"/>
              <a:t>    </a:t>
            </a:r>
            <a:r>
              <a:rPr lang="ru-RU" sz="2400" dirty="0" smtClean="0"/>
              <a:t> </a:t>
            </a:r>
            <a:r>
              <a:rPr lang="en-US" sz="2400" dirty="0" smtClean="0"/>
              <a:t>      -</a:t>
            </a:r>
            <a:r>
              <a:rPr lang="ru-RU" sz="2400" dirty="0" smtClean="0"/>
              <a:t> заголовка</a:t>
            </a:r>
            <a:r>
              <a:rPr lang="en-US" sz="2400" dirty="0" smtClean="0"/>
              <a:t>  </a:t>
            </a:r>
            <a:r>
              <a:rPr lang="ru-RU" sz="2400" dirty="0" smtClean="0"/>
              <a:t> </a:t>
            </a:r>
            <a:r>
              <a:rPr lang="ru-RU" sz="2400" dirty="0" err="1" smtClean="0"/>
              <a:t>мультиплексорной</a:t>
            </a:r>
            <a:r>
              <a:rPr lang="ru-RU" sz="2400" dirty="0" smtClean="0"/>
              <a:t> секции </a:t>
            </a:r>
            <a:r>
              <a:rPr lang="en-US" sz="2400" dirty="0" smtClean="0"/>
              <a:t>MSOH</a:t>
            </a:r>
            <a:r>
              <a:rPr lang="ru-RU" sz="2400" dirty="0" smtClean="0"/>
              <a:t> (</a:t>
            </a:r>
            <a:r>
              <a:rPr lang="en-US" sz="2400" dirty="0" smtClean="0"/>
              <a:t>Multiplex Section </a:t>
            </a:r>
            <a:r>
              <a:rPr lang="en-US" sz="2400" dirty="0" err="1" smtClean="0"/>
              <a:t>OverHead</a:t>
            </a:r>
            <a:r>
              <a:rPr lang="ru-RU" sz="2400" dirty="0" smtClean="0"/>
              <a:t>). </a:t>
            </a:r>
            <a:endParaRPr lang="ru-RU" sz="2400" dirty="0" smtClean="0"/>
          </a:p>
          <a:p>
            <a:pPr marL="273050" indent="-273050" algn="just">
              <a:lnSpc>
                <a:spcPct val="80000"/>
              </a:lnSpc>
              <a:buNone/>
            </a:pPr>
            <a:endParaRPr lang="ru-RU" sz="2000" dirty="0" smtClean="0"/>
          </a:p>
          <a:p>
            <a:pPr marL="273050" indent="-273050" algn="just">
              <a:lnSpc>
                <a:spcPct val="80000"/>
              </a:lnSpc>
              <a:buNone/>
            </a:pPr>
            <a:endParaRPr lang="ru-RU" dirty="0" smtClean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79512" y="4293096"/>
            <a:ext cx="8964488" cy="21602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Многоуровневая модель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> </a:t>
            </a:r>
            <a:r>
              <a:rPr lang="ru-RU" sz="3600" b="1" dirty="0" smtClean="0">
                <a:solidFill>
                  <a:srgbClr val="002060"/>
                </a:solidFill>
              </a:rPr>
              <a:t>(3/3)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5472608"/>
          </a:xfrm>
        </p:spPr>
        <p:txBody>
          <a:bodyPr>
            <a:normAutofit/>
          </a:bodyPr>
          <a:lstStyle/>
          <a:p>
            <a:pPr marL="273050" indent="-273050" algn="just">
              <a:lnSpc>
                <a:spcPct val="80000"/>
              </a:lnSpc>
              <a:buFont typeface="Wingdings 3" pitchFamily="18" charset="2"/>
              <a:buChar char=""/>
            </a:pPr>
            <a:r>
              <a:rPr lang="ru-RU" sz="2000" b="1" dirty="0" smtClean="0"/>
              <a:t>Для упаковки и транспортировки в </a:t>
            </a:r>
            <a:r>
              <a:rPr lang="en-US" sz="2000" b="1" dirty="0" smtClean="0"/>
              <a:t>STM</a:t>
            </a:r>
            <a:r>
              <a:rPr lang="ru-RU" sz="2000" b="1" dirty="0" smtClean="0"/>
              <a:t>-</a:t>
            </a:r>
            <a:r>
              <a:rPr lang="en-US" sz="2000" b="1" dirty="0" smtClean="0"/>
              <a:t>N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трибутарных</a:t>
            </a:r>
            <a:r>
              <a:rPr lang="ru-RU" sz="2000" b="1" dirty="0" smtClean="0"/>
              <a:t> сигналов предложена технология виртуальных контейнеров. </a:t>
            </a:r>
            <a:endParaRPr lang="en-US" sz="2000" b="1" dirty="0" smtClean="0"/>
          </a:p>
          <a:p>
            <a:pPr marL="273050" indent="-273050" algn="just">
              <a:lnSpc>
                <a:spcPct val="80000"/>
              </a:lnSpc>
              <a:buNone/>
            </a:pPr>
            <a:r>
              <a:rPr lang="en-US" sz="2000" dirty="0" smtClean="0"/>
              <a:t>       </a:t>
            </a:r>
            <a:r>
              <a:rPr lang="ru-RU" sz="2400" dirty="0" smtClean="0"/>
              <a:t>Виртуальный контейнер состоит из:</a:t>
            </a:r>
          </a:p>
          <a:p>
            <a:pPr marL="273050" indent="-273050" algn="just">
              <a:lnSpc>
                <a:spcPct val="80000"/>
              </a:lnSpc>
              <a:buNone/>
            </a:pPr>
            <a:r>
              <a:rPr lang="ru-RU" sz="2400" dirty="0" smtClean="0"/>
              <a:t>       -  поля полезной нагрузки — контейнера, на которое отображается </a:t>
            </a:r>
            <a:r>
              <a:rPr lang="ru-RU" sz="2400" dirty="0" err="1" smtClean="0"/>
              <a:t>трибутарный</a:t>
            </a:r>
            <a:r>
              <a:rPr lang="ru-RU" sz="2400" dirty="0" smtClean="0"/>
              <a:t> сигнал;</a:t>
            </a:r>
          </a:p>
          <a:p>
            <a:pPr marL="273050" indent="-273050" algn="just">
              <a:lnSpc>
                <a:spcPct val="80000"/>
              </a:lnSpc>
              <a:buNone/>
            </a:pPr>
            <a:r>
              <a:rPr lang="ru-RU" sz="2400" dirty="0" smtClean="0"/>
              <a:t>       -  маршрутного заголовка </a:t>
            </a:r>
            <a:r>
              <a:rPr lang="en-US" sz="2400" dirty="0" smtClean="0"/>
              <a:t>POH</a:t>
            </a:r>
            <a:r>
              <a:rPr lang="ru-RU" sz="2400" dirty="0" smtClean="0"/>
              <a:t> (</a:t>
            </a:r>
            <a:r>
              <a:rPr lang="en-US" sz="2400" dirty="0" smtClean="0"/>
              <a:t>Path Over</a:t>
            </a:r>
            <a:r>
              <a:rPr lang="ru-RU" sz="2400" dirty="0" smtClean="0"/>
              <a:t> </a:t>
            </a:r>
            <a:r>
              <a:rPr lang="en-US" sz="2400" dirty="0" smtClean="0"/>
              <a:t>Head</a:t>
            </a:r>
            <a:r>
              <a:rPr lang="ru-RU" sz="2400" dirty="0" smtClean="0"/>
              <a:t>), который указывает тип контейнера и служит для сбора статистики о прохождении контейнера по сети. 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79512" y="4221088"/>
            <a:ext cx="8964488" cy="19442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Базовые элементы сетей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> 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124744"/>
            <a:ext cx="8785225" cy="5328592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ru-RU" b="1" dirty="0" smtClean="0"/>
              <a:t>Сети </a:t>
            </a:r>
            <a:r>
              <a:rPr lang="en-US" b="1" dirty="0" smtClean="0"/>
              <a:t>SDH</a:t>
            </a:r>
            <a:r>
              <a:rPr lang="ru-RU" b="1" dirty="0" smtClean="0"/>
              <a:t> строятся из четырех типов функциональных модулей:</a:t>
            </a:r>
            <a:endParaRPr lang="en-US" dirty="0" smtClean="0"/>
          </a:p>
          <a:p>
            <a:pPr algn="just" eaLnBrk="1" hangingPunct="1"/>
            <a:r>
              <a:rPr lang="ru-RU" dirty="0" smtClean="0"/>
              <a:t>регенераторы, </a:t>
            </a:r>
            <a:endParaRPr lang="en-US" dirty="0" smtClean="0"/>
          </a:p>
          <a:p>
            <a:pPr algn="just" eaLnBrk="1" hangingPunct="1"/>
            <a:r>
              <a:rPr lang="ru-RU" dirty="0" smtClean="0"/>
              <a:t>терминальные мультиплексоры, </a:t>
            </a:r>
            <a:endParaRPr lang="en-US" dirty="0" smtClean="0"/>
          </a:p>
          <a:p>
            <a:pPr algn="just" eaLnBrk="1" hangingPunct="1"/>
            <a:r>
              <a:rPr lang="ru-RU" dirty="0" smtClean="0"/>
              <a:t>мультиплексоры ввода/вывода и </a:t>
            </a:r>
            <a:endParaRPr lang="en-US" dirty="0" smtClean="0"/>
          </a:p>
          <a:p>
            <a:pPr algn="just" eaLnBrk="1" hangingPunct="1"/>
            <a:r>
              <a:rPr lang="ru-RU" dirty="0" smtClean="0"/>
              <a:t>кросс- </a:t>
            </a:r>
            <a:r>
              <a:rPr lang="ru-RU" dirty="0" err="1" smtClean="0"/>
              <a:t>коннекторы</a:t>
            </a:r>
            <a:r>
              <a:rPr lang="ru-RU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Модель SDH(1/5)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endParaRPr lang="ru-RU" sz="3600" b="1" dirty="0" smtClean="0">
              <a:solidFill>
                <a:srgbClr val="002060"/>
              </a:solidFill>
            </a:endParaRPr>
          </a:p>
        </p:txBody>
      </p:sp>
      <p:pic>
        <p:nvPicPr>
          <p:cNvPr id="7987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9388" y="2132856"/>
            <a:ext cx="8964612" cy="36004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SDH .Регенератор (2/5)</a:t>
            </a:r>
            <a:r>
              <a:rPr lang="ru-RU" dirty="0" smtClean="0"/>
              <a:t> 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052736"/>
            <a:ext cx="5113263" cy="561635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b="1" dirty="0" smtClean="0"/>
              <a:t>Регенератор используется для увеличения допустимого расстояния между узлами сети </a:t>
            </a:r>
            <a:r>
              <a:rPr lang="ru-RU" sz="2800" dirty="0" smtClean="0"/>
              <a:t>путем восстановления входящих сигналов </a:t>
            </a:r>
            <a:r>
              <a:rPr lang="en-US" sz="2800" dirty="0" smtClean="0"/>
              <a:t>SDH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Это расстояние зависит от степени затухания сигнала в передающей среде и параметров </a:t>
            </a:r>
            <a:r>
              <a:rPr lang="ru-RU" sz="2800" dirty="0" smtClean="0"/>
              <a:t>приемо-передающего </a:t>
            </a:r>
            <a:r>
              <a:rPr lang="ru-RU" sz="2800" dirty="0" smtClean="0"/>
              <a:t>оборудования.</a:t>
            </a: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ru-RU" sz="2800" u="sng" dirty="0" smtClean="0"/>
              <a:t>Для </a:t>
            </a:r>
            <a:r>
              <a:rPr lang="ru-RU" sz="2800" u="sng" dirty="0" err="1" smtClean="0"/>
              <a:t>одномодового</a:t>
            </a:r>
            <a:r>
              <a:rPr lang="ru-RU" sz="2800" u="sng" dirty="0" smtClean="0"/>
              <a:t> </a:t>
            </a:r>
            <a:r>
              <a:rPr lang="ru-RU" sz="2800" dirty="0" smtClean="0"/>
              <a:t>оптического кабеля оно </a:t>
            </a:r>
            <a:r>
              <a:rPr lang="ru-RU" sz="2800" b="1" dirty="0" smtClean="0"/>
              <a:t>составляет 15-40 км </a:t>
            </a:r>
            <a:r>
              <a:rPr lang="ru-RU" sz="2800" dirty="0" smtClean="0"/>
              <a:t>для длины волны 1310 нм и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   </a:t>
            </a:r>
            <a:r>
              <a:rPr lang="ru-RU" sz="2800" b="1" dirty="0" smtClean="0"/>
              <a:t>40-110 км для 1550 нм</a:t>
            </a:r>
            <a:r>
              <a:rPr lang="ru-RU" sz="2800" dirty="0" smtClean="0"/>
              <a:t>.</a:t>
            </a:r>
            <a:r>
              <a:rPr lang="en-US" sz="2800" dirty="0" smtClean="0"/>
              <a:t> </a:t>
            </a:r>
            <a:endParaRPr lang="ru-RU" sz="2800" dirty="0" smtClean="0"/>
          </a:p>
        </p:txBody>
      </p:sp>
      <p:pic>
        <p:nvPicPr>
          <p:cNvPr id="8499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508104" y="2349500"/>
            <a:ext cx="3389834" cy="1655564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SDH. Терминальный мультиплексор (3/5) 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908720"/>
            <a:ext cx="4932039" cy="5544468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Т</a:t>
            </a:r>
            <a:r>
              <a:rPr lang="ru-RU" sz="2800" b="1" dirty="0" smtClean="0"/>
              <a:t>ерминальный мультиплексор (</a:t>
            </a:r>
            <a:r>
              <a:rPr lang="en-US" sz="2800" b="1" dirty="0" smtClean="0"/>
              <a:t>TM</a:t>
            </a:r>
            <a:r>
              <a:rPr lang="ru-RU" sz="2800" b="1" dirty="0" smtClean="0"/>
              <a:t>) предназначен для мультиплексирования и демультиплексирования сигналов </a:t>
            </a:r>
            <a:r>
              <a:rPr lang="en-US" sz="2800" b="1" dirty="0" smtClean="0"/>
              <a:t>PDH</a:t>
            </a:r>
            <a:r>
              <a:rPr lang="ru-RU" sz="2800" b="1" dirty="0" smtClean="0"/>
              <a:t> и </a:t>
            </a:r>
            <a:r>
              <a:rPr lang="en-US" sz="2800" b="1" dirty="0" smtClean="0"/>
              <a:t>STM</a:t>
            </a:r>
            <a:endParaRPr lang="ru-RU" sz="2800" b="1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 (в терминологии </a:t>
            </a:r>
            <a:r>
              <a:rPr lang="en-US" sz="2800" dirty="0" smtClean="0"/>
              <a:t>SDH</a:t>
            </a:r>
            <a:r>
              <a:rPr lang="ru-RU" sz="2800" dirty="0" smtClean="0"/>
              <a:t> их называют </a:t>
            </a:r>
            <a:r>
              <a:rPr lang="ru-RU" sz="2800" dirty="0" err="1" smtClean="0"/>
              <a:t>трибутарными</a:t>
            </a:r>
            <a:r>
              <a:rPr lang="ru-RU" sz="2800" dirty="0" smtClean="0"/>
              <a:t> или компонентными интерфейсами) </a:t>
            </a:r>
            <a:r>
              <a:rPr lang="ru-RU" sz="2800" b="1" dirty="0" smtClean="0"/>
              <a:t>в агрегатный поток </a:t>
            </a:r>
            <a:r>
              <a:rPr lang="en-US" sz="2800" b="1" dirty="0" smtClean="0"/>
              <a:t>STM</a:t>
            </a:r>
            <a:r>
              <a:rPr lang="ru-RU" sz="2800" b="1" dirty="0" smtClean="0"/>
              <a:t>-</a:t>
            </a:r>
            <a:r>
              <a:rPr lang="en-US" sz="2800" b="1" dirty="0" smtClean="0"/>
              <a:t>N</a:t>
            </a:r>
            <a:r>
              <a:rPr lang="ru-RU" sz="2800" b="1" dirty="0" smtClean="0"/>
              <a:t>. </a:t>
            </a:r>
            <a:endParaRPr lang="en-US" sz="2800" b="1" dirty="0" smtClean="0"/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Он также может осуществлять локальную коммутацию с одного </a:t>
            </a:r>
            <a:r>
              <a:rPr lang="ru-RU" sz="2800" dirty="0" err="1" smtClean="0"/>
              <a:t>трибутарного</a:t>
            </a:r>
            <a:r>
              <a:rPr lang="ru-RU" sz="2800" dirty="0" smtClean="0"/>
              <a:t> интерфейса на другой.</a:t>
            </a:r>
          </a:p>
        </p:txBody>
      </p:sp>
      <p:pic>
        <p:nvPicPr>
          <p:cNvPr id="8602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105400" y="2133600"/>
            <a:ext cx="4038600" cy="16954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SDH. Мультиплексор ввода/вывода (4/5) 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692696"/>
            <a:ext cx="4897437" cy="6165304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Мультиплексор ввода/вывода (</a:t>
            </a:r>
            <a:r>
              <a:rPr lang="en-US" sz="2400" dirty="0" smtClean="0"/>
              <a:t>ADM</a:t>
            </a:r>
            <a:r>
              <a:rPr lang="ru-RU" sz="2400" dirty="0" smtClean="0"/>
              <a:t>) имеет на входе те же наборы интерфейсов, что и ТМ, и, как правило, два агрегатных потока </a:t>
            </a:r>
            <a:r>
              <a:rPr lang="en-US" sz="2400" dirty="0" smtClean="0"/>
              <a:t>STM</a:t>
            </a:r>
            <a:r>
              <a:rPr lang="ru-RU" sz="2400" dirty="0" smtClean="0"/>
              <a:t>-</a:t>
            </a:r>
            <a:r>
              <a:rPr lang="en-US" sz="2400" dirty="0" smtClean="0"/>
              <a:t>N</a:t>
            </a:r>
            <a:r>
              <a:rPr lang="ru-RU" sz="2400" dirty="0" smtClean="0"/>
              <a:t> (условно называемых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    "восточный" и "западный"). </a:t>
            </a:r>
            <a:endParaRPr lang="en-US" sz="2400" dirty="0" smtClean="0"/>
          </a:p>
          <a:p>
            <a:pPr>
              <a:lnSpc>
                <a:spcPct val="80000"/>
              </a:lnSpc>
            </a:pPr>
            <a:r>
              <a:rPr lang="ru-RU" sz="2400" b="1" dirty="0" smtClean="0"/>
              <a:t>В этих </a:t>
            </a:r>
            <a:r>
              <a:rPr lang="ru-RU" sz="2400" b="1" dirty="0" smtClean="0"/>
              <a:t>мультиплексорах</a:t>
            </a:r>
            <a:r>
              <a:rPr lang="en-US" sz="2400" b="1" dirty="0" smtClean="0"/>
              <a:t> ADM </a:t>
            </a:r>
            <a:r>
              <a:rPr lang="ru-RU" sz="2400" dirty="0" smtClean="0"/>
              <a:t>: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  - </a:t>
            </a:r>
            <a:r>
              <a:rPr lang="ru-RU" sz="2400" dirty="0" err="1" smtClean="0"/>
              <a:t>плезиохронные</a:t>
            </a:r>
            <a:r>
              <a:rPr lang="ru-RU" sz="2400" dirty="0" smtClean="0"/>
              <a:t> </a:t>
            </a:r>
            <a:r>
              <a:rPr lang="ru-RU" sz="2400" dirty="0" smtClean="0"/>
              <a:t>или синхронные сигналы могут </a:t>
            </a:r>
            <a:r>
              <a:rPr lang="ru-RU" sz="2400" b="1" dirty="0" smtClean="0"/>
              <a:t>быть извлечены из или добавлены в поток </a:t>
            </a:r>
            <a:r>
              <a:rPr lang="en-US" sz="2400" b="1" dirty="0" smtClean="0"/>
              <a:t>STM</a:t>
            </a:r>
            <a:r>
              <a:rPr lang="ru-RU" sz="2400" b="1" dirty="0" smtClean="0"/>
              <a:t>-</a:t>
            </a:r>
            <a:r>
              <a:rPr lang="en-US" sz="2400" b="1" dirty="0" smtClean="0"/>
              <a:t>N</a:t>
            </a:r>
            <a:r>
              <a:rPr lang="ru-RU" sz="2400" dirty="0" smtClean="0"/>
              <a:t>, </a:t>
            </a:r>
            <a:endParaRPr lang="ru-RU" sz="2400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ru-RU" sz="2400" dirty="0" smtClean="0"/>
              <a:t>     - </a:t>
            </a:r>
            <a:r>
              <a:rPr lang="ru-RU" sz="2400" dirty="0" smtClean="0"/>
              <a:t>при </a:t>
            </a:r>
            <a:r>
              <a:rPr lang="ru-RU" sz="2400" dirty="0" smtClean="0"/>
              <a:t>этом часть полезной нагрузки сигнала </a:t>
            </a:r>
            <a:r>
              <a:rPr lang="en-US" sz="2400" dirty="0" smtClean="0"/>
              <a:t>STM</a:t>
            </a:r>
            <a:r>
              <a:rPr lang="ru-RU" sz="2400" dirty="0" smtClean="0"/>
              <a:t>-</a:t>
            </a:r>
            <a:r>
              <a:rPr lang="en-US" sz="2400" dirty="0" smtClean="0"/>
              <a:t>N</a:t>
            </a:r>
            <a:r>
              <a:rPr lang="ru-RU" sz="2400" dirty="0" smtClean="0"/>
              <a:t> </a:t>
            </a:r>
            <a:r>
              <a:rPr lang="ru-RU" sz="2400" b="1" dirty="0" smtClean="0"/>
              <a:t>проходит через устройство транзитом</a:t>
            </a:r>
            <a:r>
              <a:rPr lang="ru-RU" sz="2400" dirty="0" smtClean="0"/>
              <a:t>. 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Это дает </a:t>
            </a:r>
            <a:r>
              <a:rPr lang="ru-RU" sz="2400" b="1" dirty="0" smtClean="0"/>
              <a:t>возможность создавать самовосстанавливающиеся кольцевые </a:t>
            </a:r>
            <a:r>
              <a:rPr lang="ru-RU" sz="2400" b="1" dirty="0" smtClean="0"/>
              <a:t>структуры </a:t>
            </a:r>
            <a:r>
              <a:rPr lang="ru-RU" sz="2400" dirty="0" smtClean="0"/>
              <a:t>, которые </a:t>
            </a:r>
            <a:r>
              <a:rPr lang="ru-RU" sz="2400" dirty="0" smtClean="0"/>
              <a:t>в случае аварии, автоматически коммутируют потоки в обход поврежденных участков или элементов сети</a:t>
            </a:r>
            <a:r>
              <a:rPr lang="ru-RU" sz="2000" dirty="0" smtClean="0"/>
              <a:t>.</a:t>
            </a:r>
          </a:p>
        </p:txBody>
      </p:sp>
      <p:pic>
        <p:nvPicPr>
          <p:cNvPr id="870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105400" y="2205038"/>
            <a:ext cx="4038600" cy="23733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0"/>
            <a:ext cx="8964488" cy="836712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Модель SDH.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> кросс- </a:t>
            </a:r>
            <a:r>
              <a:rPr lang="ru-RU" sz="3600" b="1" dirty="0" err="1" smtClean="0">
                <a:solidFill>
                  <a:srgbClr val="002060"/>
                </a:solidFill>
              </a:rPr>
              <a:t>коннектор</a:t>
            </a:r>
            <a:r>
              <a:rPr lang="ru-RU" sz="3600" b="1" dirty="0" smtClean="0">
                <a:solidFill>
                  <a:srgbClr val="002060"/>
                </a:solidFill>
              </a:rPr>
              <a:t> (5/5) 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836712"/>
            <a:ext cx="3960812" cy="5760938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sz="2400" b="1" dirty="0" err="1" smtClean="0"/>
              <a:t>Кросс-коннектор</a:t>
            </a:r>
            <a:r>
              <a:rPr lang="ru-RU" sz="2400" b="1" dirty="0" smtClean="0"/>
              <a:t> (</a:t>
            </a:r>
            <a:r>
              <a:rPr lang="en-US" sz="2400" b="1" dirty="0" smtClean="0"/>
              <a:t>DXC</a:t>
            </a:r>
            <a:r>
              <a:rPr lang="ru-RU" sz="2400" b="1" dirty="0" smtClean="0"/>
              <a:t>) — распределительный узел сети</a:t>
            </a:r>
            <a:r>
              <a:rPr lang="ru-RU" sz="2400" dirty="0" smtClean="0"/>
              <a:t>, осуществляющий неблокируемые перекрестные соединения между любыми его портами.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SDH</a:t>
            </a:r>
            <a:r>
              <a:rPr lang="ru-RU" sz="2400" b="1" dirty="0" smtClean="0"/>
              <a:t> кросс- </a:t>
            </a:r>
            <a:r>
              <a:rPr lang="ru-RU" sz="2400" b="1" dirty="0" err="1" smtClean="0"/>
              <a:t>коннекторы</a:t>
            </a:r>
            <a:r>
              <a:rPr lang="ru-RU" sz="2400" b="1" dirty="0" smtClean="0"/>
              <a:t> выполняют эти функции на уровне виртуальных контейнеров </a:t>
            </a:r>
            <a:r>
              <a:rPr lang="en-US" sz="2400" b="1" dirty="0" smtClean="0"/>
              <a:t>VC</a:t>
            </a:r>
            <a:r>
              <a:rPr lang="ru-RU" sz="2400" b="1" dirty="0" smtClean="0"/>
              <a:t>-</a:t>
            </a:r>
            <a:r>
              <a:rPr lang="en-US" sz="2400" b="1" dirty="0" smtClean="0"/>
              <a:t>n</a:t>
            </a:r>
            <a:r>
              <a:rPr lang="ru-RU" sz="2400" dirty="0" smtClean="0"/>
              <a:t>, для этого </a:t>
            </a:r>
            <a:r>
              <a:rPr lang="en-US" sz="2400" dirty="0" smtClean="0"/>
              <a:t>PDH</a:t>
            </a:r>
            <a:r>
              <a:rPr lang="ru-RU" sz="2400" dirty="0" smtClean="0"/>
              <a:t> сигналы отображаются на виртуальные контейнеры соответствующего уровня. </a:t>
            </a:r>
            <a:endParaRPr lang="en-US" sz="2400" dirty="0" smtClean="0"/>
          </a:p>
        </p:txBody>
      </p:sp>
      <p:pic>
        <p:nvPicPr>
          <p:cNvPr id="8806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067175" y="2349500"/>
            <a:ext cx="5076825" cy="173513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ru-RU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Синхронная цифровая иерархия </a:t>
            </a:r>
            <a:r>
              <a:rPr lang="en-GB" sz="32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SDH </a:t>
            </a:r>
            <a:r>
              <a:rPr lang="ru-RU" sz="32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sz="32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2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(Synchronous Digital Hierarchy)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877272"/>
          </a:xfrm>
        </p:spPr>
        <p:txBody>
          <a:bodyPr>
            <a:normAutofit/>
          </a:bodyPr>
          <a:lstStyle/>
          <a:p>
            <a:r>
              <a:rPr lang="ru-RU" dirty="0" smtClean="0"/>
              <a:t> </a:t>
            </a:r>
            <a:r>
              <a:rPr lang="ru-RU" sz="2400" dirty="0" smtClean="0"/>
              <a:t>Цифровая иерархия</a:t>
            </a:r>
            <a:r>
              <a:rPr lang="en-GB" sz="24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4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SDH</a:t>
            </a:r>
            <a:r>
              <a:rPr lang="ru-RU" sz="2400" dirty="0" smtClean="0"/>
              <a:t>  </a:t>
            </a:r>
            <a:r>
              <a:rPr lang="ru-RU" sz="2400" b="1" dirty="0" smtClean="0"/>
              <a:t>была задумана как «скоростная информационная автострада» для передачи цифровых потоков с разными скоростями. </a:t>
            </a:r>
          </a:p>
          <a:p>
            <a:r>
              <a:rPr lang="ru-RU" sz="2400" dirty="0" smtClean="0"/>
              <a:t>П</a:t>
            </a:r>
            <a:r>
              <a:rPr lang="ru-RU" altLang="ru-RU" sz="2400" dirty="0" smtClean="0"/>
              <a:t>ервый вариант стандарта появился в 1984г.</a:t>
            </a:r>
          </a:p>
          <a:p>
            <a:r>
              <a:rPr lang="ru-RU" sz="2400" dirty="0" smtClean="0"/>
              <a:t>  В рамках концепции SDH объединяются и разделяются поток</a:t>
            </a:r>
          </a:p>
          <a:p>
            <a:pPr>
              <a:buNone/>
            </a:pPr>
            <a:r>
              <a:rPr lang="ru-RU" sz="2400" dirty="0" smtClean="0"/>
              <a:t>       со скоростями 155.520 Мбит/с и выше,</a:t>
            </a:r>
          </a:p>
          <a:p>
            <a:pPr>
              <a:buNone/>
            </a:pPr>
            <a:r>
              <a:rPr lang="ru-RU" sz="2400" dirty="0" smtClean="0"/>
              <a:t>        способ объединения - синхронный.</a:t>
            </a:r>
          </a:p>
          <a:p>
            <a:r>
              <a:rPr lang="ru-RU" sz="2400" b="1" dirty="0" smtClean="0"/>
              <a:t>Для транспортировки цифрового потока со скоростью</a:t>
            </a:r>
          </a:p>
          <a:p>
            <a:pPr>
              <a:buNone/>
            </a:pPr>
            <a:r>
              <a:rPr lang="ru-RU" sz="2400" b="1" dirty="0" smtClean="0"/>
              <a:t>    155.520 Мбит/с  создается синхронный транспортный</a:t>
            </a:r>
          </a:p>
          <a:p>
            <a:pPr>
              <a:buNone/>
            </a:pPr>
            <a:r>
              <a:rPr lang="ru-RU" sz="2400" b="1" dirty="0" smtClean="0"/>
              <a:t>      модуль</a:t>
            </a:r>
            <a:r>
              <a:rPr lang="en-US" sz="2400" b="1" dirty="0" smtClean="0"/>
              <a:t> STM – 1</a:t>
            </a:r>
            <a:r>
              <a:rPr lang="ru-RU" sz="2400" b="1" dirty="0" smtClean="0"/>
              <a:t>.</a:t>
            </a:r>
          </a:p>
          <a:p>
            <a:r>
              <a:rPr lang="ru-RU" sz="2400" dirty="0" smtClean="0"/>
              <a:t>В сети </a:t>
            </a:r>
            <a:r>
              <a:rPr lang="en-GB" sz="2400" dirty="0" smtClean="0"/>
              <a:t>SDH </a:t>
            </a:r>
            <a:r>
              <a:rPr lang="ru-RU" sz="2400" dirty="0" smtClean="0"/>
              <a:t>применен </a:t>
            </a:r>
            <a:r>
              <a:rPr lang="ru-RU" sz="2400" b="1" dirty="0" smtClean="0"/>
              <a:t>принцип контейнерных перевозок </a:t>
            </a:r>
            <a:r>
              <a:rPr lang="ru-RU" sz="2400" dirty="0" smtClean="0"/>
              <a:t>в транспортных модулях</a:t>
            </a:r>
            <a:r>
              <a:rPr lang="en-US" sz="2400" b="1" dirty="0" smtClean="0"/>
              <a:t> STM – 1</a:t>
            </a:r>
            <a:r>
              <a:rPr lang="ru-RU" sz="2400" b="1" dirty="0" smtClean="0"/>
              <a:t>.</a:t>
            </a:r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pPr>
              <a:buNone/>
            </a:pPr>
            <a:endParaRPr lang="ru-RU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52736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Синхронная цифровая иерархия </a:t>
            </a:r>
            <a:r>
              <a:rPr lang="en-GB" sz="36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SDH </a:t>
            </a:r>
            <a:r>
              <a:rPr lang="ru-RU" sz="36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sz="36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(Synchronous Digital Hierarchy)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400" b="1" u="sng" dirty="0" smtClean="0"/>
              <a:t>Рассмотрим структуру модуля</a:t>
            </a:r>
            <a:r>
              <a:rPr lang="en-US" sz="2400" b="1" u="sng" dirty="0" smtClean="0"/>
              <a:t> STM – 1</a:t>
            </a:r>
            <a:r>
              <a:rPr lang="ru-RU" sz="2400" dirty="0" smtClean="0"/>
              <a:t>, рисунок ниже см.</a:t>
            </a:r>
          </a:p>
          <a:p>
            <a:r>
              <a:rPr lang="ru-RU" sz="2400" dirty="0" smtClean="0"/>
              <a:t>   Модуль </a:t>
            </a:r>
            <a:r>
              <a:rPr lang="en-US" sz="2400" b="1" dirty="0" smtClean="0"/>
              <a:t>STM – </a:t>
            </a:r>
            <a:r>
              <a:rPr lang="ru-RU" sz="2400" b="1" dirty="0" smtClean="0"/>
              <a:t>1</a:t>
            </a:r>
            <a:r>
              <a:rPr lang="ru-RU" sz="2400" dirty="0" smtClean="0"/>
              <a:t> представляет фрейм (рамку): </a:t>
            </a:r>
          </a:p>
          <a:p>
            <a:pPr>
              <a:buNone/>
            </a:pPr>
            <a:r>
              <a:rPr lang="ru-RU" sz="2400" dirty="0" smtClean="0"/>
              <a:t>        9 строк по 270 байт=2430 байт.</a:t>
            </a:r>
          </a:p>
          <a:p>
            <a:r>
              <a:rPr lang="ru-RU" sz="2400" dirty="0" smtClean="0"/>
              <a:t>    Кроме передаваемой информации (полезной нагрузки),</a:t>
            </a:r>
          </a:p>
          <a:p>
            <a:pPr>
              <a:buNone/>
            </a:pPr>
            <a:r>
              <a:rPr lang="ru-RU" sz="2400" dirty="0" smtClean="0"/>
              <a:t>    он содержит </a:t>
            </a:r>
            <a:r>
              <a:rPr lang="ru-RU" sz="2400" b="1" dirty="0" smtClean="0"/>
              <a:t>указатель</a:t>
            </a:r>
            <a:r>
              <a:rPr lang="en-US" sz="2400" b="1" dirty="0" smtClean="0"/>
              <a:t> PTR</a:t>
            </a:r>
            <a:r>
              <a:rPr lang="ru-RU" sz="2400" b="1" dirty="0" smtClean="0"/>
              <a:t>, определяющий начало записи полезной нагрузки</a:t>
            </a:r>
            <a:r>
              <a:rPr lang="ru-RU" sz="2400" dirty="0" smtClean="0"/>
              <a:t>.</a:t>
            </a:r>
          </a:p>
          <a:p>
            <a:r>
              <a:rPr lang="ru-RU" sz="2400" b="1" dirty="0" smtClean="0"/>
              <a:t>Для определения маршрута транспортного модуля </a:t>
            </a:r>
            <a:r>
              <a:rPr lang="ru-RU" sz="2400" dirty="0" smtClean="0"/>
              <a:t>в  левой части  рамки (виртуального контейнера ) в 9-ти строках по 9 байт</a:t>
            </a:r>
          </a:p>
          <a:p>
            <a:pPr>
              <a:buNone/>
            </a:pPr>
            <a:r>
              <a:rPr lang="ru-RU" sz="2400" dirty="0" smtClean="0"/>
              <a:t>      записывается  </a:t>
            </a:r>
            <a:r>
              <a:rPr lang="ru-RU" sz="2400" b="1" u="sng" dirty="0" smtClean="0"/>
              <a:t>секционный заголовок</a:t>
            </a:r>
            <a:r>
              <a:rPr lang="en-US" sz="2400" b="1" u="sng" dirty="0" smtClean="0"/>
              <a:t> SOH</a:t>
            </a:r>
            <a:r>
              <a:rPr lang="ru-RU" sz="2400" dirty="0" smtClean="0"/>
              <a:t>, который состоит из:</a:t>
            </a:r>
          </a:p>
          <a:p>
            <a:pPr>
              <a:buNone/>
            </a:pPr>
            <a:r>
              <a:rPr lang="ru-RU" sz="2400" b="1" dirty="0" smtClean="0"/>
              <a:t>         -</a:t>
            </a:r>
            <a:r>
              <a:rPr lang="en-US" sz="2400" b="1" dirty="0" smtClean="0"/>
              <a:t>   </a:t>
            </a:r>
            <a:r>
              <a:rPr lang="ru-RU" sz="2400" b="1" dirty="0" smtClean="0"/>
              <a:t>секционный заголовок</a:t>
            </a:r>
            <a:r>
              <a:rPr lang="en-US" sz="2400" b="1" dirty="0" smtClean="0"/>
              <a:t> </a:t>
            </a:r>
            <a:r>
              <a:rPr lang="ru-RU" sz="2400" b="1" dirty="0" smtClean="0"/>
              <a:t>регенератора</a:t>
            </a:r>
            <a:r>
              <a:rPr lang="en-US" sz="2400" b="1" dirty="0" smtClean="0"/>
              <a:t> RSOH</a:t>
            </a:r>
            <a:r>
              <a:rPr lang="ru-RU" sz="2400" dirty="0" smtClean="0"/>
              <a:t>, где будет</a:t>
            </a:r>
          </a:p>
          <a:p>
            <a:pPr>
              <a:buNone/>
            </a:pPr>
            <a:r>
              <a:rPr lang="ru-RU" sz="2400" dirty="0" smtClean="0"/>
              <a:t>              осуществляться восстановление потока (3-и  строки).</a:t>
            </a:r>
          </a:p>
          <a:p>
            <a:pPr>
              <a:lnSpc>
                <a:spcPct val="90000"/>
              </a:lnSpc>
              <a:buNone/>
            </a:pPr>
            <a:r>
              <a:rPr lang="ru-RU" sz="2400" dirty="0" smtClean="0"/>
              <a:t>          - после </a:t>
            </a:r>
            <a:r>
              <a:rPr lang="ru-RU" sz="2400" b="1" dirty="0" smtClean="0"/>
              <a:t>указателя</a:t>
            </a:r>
            <a:r>
              <a:rPr lang="en-US" sz="2400" b="1" dirty="0" smtClean="0"/>
              <a:t> PTR</a:t>
            </a:r>
            <a:r>
              <a:rPr lang="ru-RU" sz="2400" b="1" dirty="0" smtClean="0"/>
              <a:t> (4 -</a:t>
            </a:r>
            <a:r>
              <a:rPr lang="ru-RU" sz="2400" b="1" dirty="0" err="1" smtClean="0"/>
              <a:t>ая</a:t>
            </a:r>
            <a:r>
              <a:rPr lang="ru-RU" sz="2400" b="1" dirty="0" smtClean="0"/>
              <a:t> строка) </a:t>
            </a:r>
            <a:r>
              <a:rPr lang="ru-RU" sz="2400" dirty="0" smtClean="0"/>
              <a:t>следует </a:t>
            </a:r>
          </a:p>
          <a:p>
            <a:pPr>
              <a:lnSpc>
                <a:spcPct val="90000"/>
              </a:lnSpc>
              <a:buNone/>
            </a:pPr>
            <a:r>
              <a:rPr lang="ru-RU" sz="2400" dirty="0" smtClean="0"/>
              <a:t>          - </a:t>
            </a:r>
            <a:r>
              <a:rPr lang="ru-RU" sz="2400" b="1" dirty="0" smtClean="0"/>
              <a:t>секционный </a:t>
            </a:r>
            <a:r>
              <a:rPr lang="ru-RU" sz="2400" b="1" dirty="0" smtClean="0"/>
              <a:t>заголовок </a:t>
            </a:r>
            <a:r>
              <a:rPr lang="ru-RU" sz="2400" b="1" dirty="0" err="1" smtClean="0"/>
              <a:t>мульиплексора</a:t>
            </a:r>
            <a:r>
              <a:rPr lang="en-US" sz="2400" b="1" dirty="0" smtClean="0"/>
              <a:t> </a:t>
            </a:r>
            <a:r>
              <a:rPr lang="ru-RU" sz="2400" b="1" dirty="0" smtClean="0"/>
              <a:t>М</a:t>
            </a:r>
            <a:r>
              <a:rPr lang="en-US" sz="2400" b="1" dirty="0" smtClean="0"/>
              <a:t>SOH</a:t>
            </a:r>
            <a:r>
              <a:rPr lang="ru-RU" sz="2400" b="1" dirty="0" smtClean="0"/>
              <a:t> (5 -9 строка) </a:t>
            </a:r>
            <a:r>
              <a:rPr lang="ru-RU" sz="2400" dirty="0" smtClean="0"/>
              <a:t>– </a:t>
            </a:r>
          </a:p>
          <a:p>
            <a:pPr>
              <a:lnSpc>
                <a:spcPct val="90000"/>
              </a:lnSpc>
              <a:buNone/>
            </a:pPr>
            <a:r>
              <a:rPr lang="ru-RU" sz="2400" dirty="0" smtClean="0"/>
              <a:t>            отвечает за доставку информации в то место сети , где </a:t>
            </a:r>
            <a:r>
              <a:rPr lang="ru-RU" sz="2400" b="1" dirty="0" smtClean="0"/>
              <a:t>этот </a:t>
            </a:r>
          </a:p>
          <a:p>
            <a:pPr>
              <a:lnSpc>
                <a:spcPct val="90000"/>
              </a:lnSpc>
              <a:buNone/>
            </a:pPr>
            <a:r>
              <a:rPr lang="ru-RU" sz="2400" b="1" dirty="0" smtClean="0"/>
              <a:t>             модуль будет переформироваться</a:t>
            </a:r>
            <a:r>
              <a:rPr lang="ru-RU" sz="2400" dirty="0" smtClean="0"/>
              <a:t>. </a:t>
            </a:r>
          </a:p>
          <a:p>
            <a:pPr>
              <a:lnSpc>
                <a:spcPct val="90000"/>
              </a:lnSpc>
              <a:buNone/>
            </a:pPr>
            <a:endParaRPr lang="ru-RU" sz="2400" dirty="0" smtClean="0"/>
          </a:p>
          <a:p>
            <a:pPr>
              <a:buNone/>
            </a:pPr>
            <a:endParaRPr lang="ru-RU" sz="2200" dirty="0" smtClean="0"/>
          </a:p>
          <a:p>
            <a:endParaRPr lang="ru-RU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Структура синхронного транспортного модуля </a:t>
            </a:r>
            <a:r>
              <a:rPr lang="en-US" sz="3200" b="1" dirty="0" smtClean="0">
                <a:solidFill>
                  <a:srgbClr val="002060"/>
                </a:solidFill>
              </a:rPr>
              <a:t>STM - 1</a:t>
            </a:r>
            <a:endParaRPr lang="ru-RU" sz="3200" dirty="0"/>
          </a:p>
        </p:txBody>
      </p:sp>
      <p:pic>
        <p:nvPicPr>
          <p:cNvPr id="4" name="Содержимое 3" descr="https://avatars.mds.yandex.net/i?id=fcfe3247c02c9545dbdc4584f2bb569a_sr-9218991-images-thumbs&amp;n=1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8784975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80728"/>
            <a:ext cx="8820471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432048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2. Синхронная цифровая иерархия </a:t>
            </a:r>
            <a:r>
              <a:rPr lang="en-GB" sz="3600" b="1" i="1" dirty="0" smtClean="0">
                <a:solidFill>
                  <a:srgbClr val="002060"/>
                </a:solidFill>
              </a:rPr>
              <a:t>SDH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 fontScale="92500"/>
          </a:bodyPr>
          <a:lstStyle/>
          <a:p>
            <a:r>
              <a:rPr lang="ru-RU" sz="2200" b="1" dirty="0" smtClean="0"/>
              <a:t>Один цикл передачи включает в себя считывание в линию такой таблицы</a:t>
            </a:r>
            <a:r>
              <a:rPr lang="ru-RU" sz="2200" dirty="0" smtClean="0"/>
              <a:t>.</a:t>
            </a:r>
          </a:p>
          <a:p>
            <a:pPr>
              <a:buNone/>
            </a:pPr>
            <a:r>
              <a:rPr lang="ru-RU" sz="2200" dirty="0" smtClean="0"/>
              <a:t>     Порядок передачи байтов – слева направо и сверху вниз.</a:t>
            </a:r>
          </a:p>
          <a:p>
            <a:r>
              <a:rPr lang="ru-RU" sz="2200" dirty="0" smtClean="0"/>
              <a:t>  </a:t>
            </a:r>
            <a:r>
              <a:rPr lang="ru-RU" sz="2200" b="1" dirty="0" smtClean="0"/>
              <a:t>Продолжительность цикла передачи </a:t>
            </a:r>
            <a:r>
              <a:rPr lang="en-US" sz="2200" b="1" dirty="0" smtClean="0"/>
              <a:t>STM – 1</a:t>
            </a:r>
            <a:r>
              <a:rPr lang="ru-RU" sz="2200" b="1" dirty="0" smtClean="0"/>
              <a:t>  составляет 125 мкс,</a:t>
            </a:r>
          </a:p>
          <a:p>
            <a:pPr>
              <a:buNone/>
            </a:pPr>
            <a:r>
              <a:rPr lang="ru-RU" sz="2200" b="1" dirty="0" smtClean="0"/>
              <a:t>        т.е. он повторяется с частотой 8 кГц. </a:t>
            </a:r>
          </a:p>
          <a:p>
            <a:pPr>
              <a:buNone/>
            </a:pPr>
            <a:r>
              <a:rPr lang="ru-RU" sz="2200" dirty="0" smtClean="0"/>
              <a:t>        Каждая клеточка соответствует скорости передачи 8бит </a:t>
            </a:r>
            <a:r>
              <a:rPr lang="ru-RU" sz="2200" dirty="0" err="1" smtClean="0"/>
              <a:t>х</a:t>
            </a:r>
            <a:r>
              <a:rPr lang="ru-RU" sz="2200" dirty="0" smtClean="0"/>
              <a:t> 8 Кгц=64 кбит/с.</a:t>
            </a:r>
          </a:p>
          <a:p>
            <a:pPr marL="457200" indent="-457200"/>
            <a:r>
              <a:rPr lang="ru-RU" sz="2200" dirty="0" smtClean="0"/>
              <a:t>  Если потратить на передачу в  линию каждой рамки 125 мкс, то за секунду в линию будет передано 9 х270 х64кбит/</a:t>
            </a:r>
            <a:r>
              <a:rPr lang="ru-RU" sz="2200" dirty="0" err="1" smtClean="0"/>
              <a:t>с=</a:t>
            </a:r>
            <a:r>
              <a:rPr lang="ru-RU" sz="2200" dirty="0" smtClean="0"/>
              <a:t> 155520 кбит/с = 155 </a:t>
            </a:r>
            <a:r>
              <a:rPr lang="ru-RU" sz="2200" dirty="0" err="1" smtClean="0"/>
              <a:t>мбит</a:t>
            </a:r>
            <a:r>
              <a:rPr lang="ru-RU" sz="2200" dirty="0" smtClean="0"/>
              <a:t>/с.</a:t>
            </a:r>
          </a:p>
          <a:p>
            <a:pPr marL="457200" indent="-457200"/>
            <a:r>
              <a:rPr lang="ru-RU" sz="2200" b="1" dirty="0" smtClean="0"/>
              <a:t>  </a:t>
            </a:r>
            <a:r>
              <a:rPr lang="ru-RU" sz="2400" b="1" dirty="0" smtClean="0"/>
              <a:t>Для создания более мощных цифровых потоков в</a:t>
            </a:r>
            <a:r>
              <a:rPr lang="en-GB" sz="24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SDH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системах формируется цифровая иерархия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4 модуля </a:t>
            </a:r>
            <a:r>
              <a:rPr lang="en-US" sz="2400" b="1" dirty="0" smtClean="0"/>
              <a:t>STM – 1</a:t>
            </a:r>
            <a:r>
              <a:rPr lang="ru-RU" sz="2400" b="1" dirty="0" smtClean="0"/>
              <a:t> </a:t>
            </a:r>
            <a:r>
              <a:rPr lang="ru-RU" sz="2400" dirty="0" smtClean="0"/>
              <a:t>объединяются путем побайтового мультиплексирования в модуль</a:t>
            </a:r>
            <a:r>
              <a:rPr lang="en-US" sz="2400" dirty="0" smtClean="0"/>
              <a:t> STM – </a:t>
            </a:r>
            <a:r>
              <a:rPr lang="ru-RU" sz="2400" dirty="0" smtClean="0"/>
              <a:t>4,передаваемый со скоростью </a:t>
            </a:r>
            <a:r>
              <a:rPr lang="ru-RU" sz="2400" b="1" dirty="0" smtClean="0"/>
              <a:t>622</a:t>
            </a:r>
            <a:r>
              <a:rPr lang="ru-RU" sz="2400" dirty="0" smtClean="0"/>
              <a:t>,080 Мбит/с.</a:t>
            </a:r>
          </a:p>
          <a:p>
            <a:r>
              <a:rPr lang="ru-RU" sz="2400" dirty="0" smtClean="0"/>
              <a:t>   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модуля </a:t>
            </a:r>
            <a:r>
              <a:rPr lang="en-US" sz="2400" b="1" dirty="0" smtClean="0"/>
              <a:t>STM – </a:t>
            </a:r>
            <a:r>
              <a:rPr lang="ru-RU" sz="2400" b="1" dirty="0" smtClean="0"/>
              <a:t>4 </a:t>
            </a:r>
            <a:r>
              <a:rPr lang="ru-RU" sz="2400" dirty="0" smtClean="0"/>
              <a:t>объединяются </a:t>
            </a:r>
            <a:r>
              <a:rPr lang="ru-RU" sz="2400" b="1" dirty="0" smtClean="0"/>
              <a:t>в модуль</a:t>
            </a:r>
            <a:r>
              <a:rPr lang="en-US" sz="2400" b="1" dirty="0" smtClean="0"/>
              <a:t> STM – </a:t>
            </a:r>
            <a:r>
              <a:rPr lang="ru-RU" sz="2400" b="1" dirty="0" smtClean="0"/>
              <a:t>16 </a:t>
            </a:r>
            <a:r>
              <a:rPr lang="ru-RU" sz="2400" dirty="0" smtClean="0"/>
              <a:t>со скоростью передачи </a:t>
            </a:r>
            <a:r>
              <a:rPr lang="ru-RU" sz="2400" b="1" dirty="0" smtClean="0"/>
              <a:t>2488</a:t>
            </a:r>
            <a:r>
              <a:rPr lang="ru-RU" sz="2400" dirty="0" smtClean="0"/>
              <a:t>,320 Мбит/с.</a:t>
            </a:r>
          </a:p>
          <a:p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модуля </a:t>
            </a:r>
            <a:r>
              <a:rPr lang="en-US" sz="2400" b="1" dirty="0" smtClean="0"/>
              <a:t>STM – </a:t>
            </a:r>
            <a:r>
              <a:rPr lang="ru-RU" sz="2400" b="1" dirty="0" smtClean="0"/>
              <a:t>16</a:t>
            </a:r>
            <a:r>
              <a:rPr lang="ru-RU" sz="2400" dirty="0" smtClean="0"/>
              <a:t> объединяются в </a:t>
            </a:r>
            <a:r>
              <a:rPr lang="ru-RU" sz="2400" b="1" dirty="0" smtClean="0"/>
              <a:t>модуль</a:t>
            </a:r>
            <a:r>
              <a:rPr lang="en-US" sz="2400" b="1" dirty="0" smtClean="0"/>
              <a:t> STM – </a:t>
            </a:r>
            <a:r>
              <a:rPr lang="ru-RU" sz="2400" b="1" dirty="0" smtClean="0"/>
              <a:t>64 </a:t>
            </a:r>
            <a:r>
              <a:rPr lang="ru-RU" sz="2400" dirty="0" smtClean="0"/>
              <a:t>со скоростью передачи   </a:t>
            </a:r>
            <a:r>
              <a:rPr lang="ru-RU" sz="2400" b="1" dirty="0" smtClean="0"/>
              <a:t>9953</a:t>
            </a:r>
            <a:r>
              <a:rPr lang="ru-RU" sz="2400" dirty="0" smtClean="0"/>
              <a:t>,280 Мбит/с.</a:t>
            </a:r>
          </a:p>
          <a:p>
            <a:endParaRPr lang="ru-RU" sz="22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Формирование модуля</a:t>
            </a:r>
            <a:r>
              <a:rPr lang="en-US" sz="3200" b="1" dirty="0" smtClean="0">
                <a:solidFill>
                  <a:srgbClr val="002060"/>
                </a:solidFill>
              </a:rPr>
              <a:t> STM – 1</a:t>
            </a:r>
            <a:r>
              <a:rPr lang="ru-RU" sz="3200" b="1" dirty="0" smtClean="0">
                <a:solidFill>
                  <a:srgbClr val="002060"/>
                </a:solidFill>
              </a:rPr>
              <a:t> в </a:t>
            </a:r>
            <a:r>
              <a:rPr lang="en-GB" sz="3200" b="1" dirty="0" smtClean="0">
                <a:solidFill>
                  <a:srgbClr val="002060"/>
                </a:solidFill>
              </a:rPr>
              <a:t>SDH</a:t>
            </a:r>
            <a:r>
              <a:rPr lang="ru-RU" sz="3200" b="1" dirty="0" smtClean="0">
                <a:solidFill>
                  <a:srgbClr val="002060"/>
                </a:solidFill>
              </a:rPr>
              <a:t> (1). 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5832648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В сети </a:t>
            </a:r>
            <a:r>
              <a:rPr lang="en-GB" sz="2800" b="1" dirty="0" smtClean="0"/>
              <a:t>SDH </a:t>
            </a:r>
            <a:r>
              <a:rPr lang="ru-RU" sz="2800" b="1" dirty="0" smtClean="0"/>
              <a:t>применен принцип контейнерных перевозок</a:t>
            </a:r>
            <a:r>
              <a:rPr lang="ru-RU" sz="2800" dirty="0" smtClean="0"/>
              <a:t>. </a:t>
            </a:r>
            <a:endParaRPr lang="ru-RU" sz="2800" dirty="0" smtClean="0"/>
          </a:p>
          <a:p>
            <a:r>
              <a:rPr lang="ru-RU" sz="2800" dirty="0" smtClean="0"/>
              <a:t>Сигналы</a:t>
            </a:r>
            <a:r>
              <a:rPr lang="ru-RU" sz="2800" dirty="0" smtClean="0"/>
              <a:t>, которые необходимо передать</a:t>
            </a:r>
            <a:r>
              <a:rPr lang="en-US" sz="2800" dirty="0" smtClean="0"/>
              <a:t> </a:t>
            </a:r>
            <a:r>
              <a:rPr lang="ru-RU" sz="2800" dirty="0" smtClean="0"/>
              <a:t>, размещают в стандартных контейнерах (С-</a:t>
            </a:r>
            <a:r>
              <a:rPr lang="en-US" sz="2800" dirty="0" smtClean="0"/>
              <a:t>Container)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Все операции с контейнерами производятся вне зависимости от их содержания, т.е. можно передавать любые сигналы.</a:t>
            </a:r>
          </a:p>
          <a:p>
            <a:r>
              <a:rPr lang="ru-RU" sz="2800" b="1" dirty="0" smtClean="0"/>
              <a:t>Наиболее близким по скоростям к первому уровню иерархии </a:t>
            </a:r>
            <a:r>
              <a:rPr lang="en-GB" sz="2800" b="1" dirty="0" smtClean="0"/>
              <a:t>SDH</a:t>
            </a:r>
            <a:r>
              <a:rPr lang="ru-RU" sz="2800" b="1" dirty="0" smtClean="0"/>
              <a:t>  (155 Мбит/с)является цифровой поток со скоростью 139 Мбит/с, образованный на выходе</a:t>
            </a:r>
          </a:p>
          <a:p>
            <a:pPr>
              <a:buNone/>
            </a:pPr>
            <a:r>
              <a:rPr lang="ru-RU" sz="2800" b="1" dirty="0" smtClean="0"/>
              <a:t>      </a:t>
            </a:r>
            <a:r>
              <a:rPr lang="en-US" sz="2800" b="1" dirty="0" smtClean="0"/>
              <a:t>PDH</a:t>
            </a:r>
            <a:r>
              <a:rPr lang="ru-RU" sz="2800" b="1" dirty="0" smtClean="0"/>
              <a:t> ИКМ- 1920 ( Е4 ), его проще всего разместить в модуле  </a:t>
            </a:r>
            <a:r>
              <a:rPr lang="en-US" sz="2800" b="1" dirty="0" smtClean="0"/>
              <a:t>STM – 1</a:t>
            </a:r>
            <a:r>
              <a:rPr lang="ru-RU" sz="2800" b="1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019" t="4851" r="2430" b="6951"/>
          <a:stretch>
            <a:fillRect/>
          </a:stretch>
        </p:blipFill>
        <p:spPr bwMode="auto">
          <a:xfrm>
            <a:off x="179512" y="0"/>
            <a:ext cx="8784976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Формирование модуля</a:t>
            </a:r>
            <a:r>
              <a:rPr lang="en-US" sz="3600" b="1" dirty="0" smtClean="0">
                <a:solidFill>
                  <a:srgbClr val="002060"/>
                </a:solidFill>
              </a:rPr>
              <a:t> STM – 1</a:t>
            </a:r>
            <a:r>
              <a:rPr lang="ru-RU" sz="3600" b="1" dirty="0" smtClean="0">
                <a:solidFill>
                  <a:srgbClr val="002060"/>
                </a:solidFill>
              </a:rPr>
              <a:t> в </a:t>
            </a:r>
            <a:r>
              <a:rPr lang="en-GB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> (2)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8964488" cy="5832648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 1.  Для этого поступающий цифровой сигнал сначала «упаковываю»т в </a:t>
            </a:r>
            <a:r>
              <a:rPr lang="ru-RU" b="1" dirty="0" smtClean="0"/>
              <a:t>контейнер</a:t>
            </a:r>
            <a:r>
              <a:rPr lang="ru-RU" dirty="0" smtClean="0"/>
              <a:t>, который </a:t>
            </a:r>
            <a:r>
              <a:rPr lang="ru-RU" b="1" dirty="0" smtClean="0"/>
              <a:t>обозначается С4.</a:t>
            </a:r>
          </a:p>
          <a:p>
            <a:r>
              <a:rPr lang="ru-RU" dirty="0" smtClean="0"/>
              <a:t>Рамка контейнера С4 содержит 9 строк и 260 однобайтовых столбцов.</a:t>
            </a:r>
          </a:p>
          <a:p>
            <a:pPr>
              <a:buNone/>
            </a:pPr>
            <a:r>
              <a:rPr lang="ru-RU" dirty="0" smtClean="0"/>
              <a:t>  2.  </a:t>
            </a:r>
            <a:r>
              <a:rPr lang="ru-RU" b="1" dirty="0" smtClean="0"/>
              <a:t>Добавлением слева столбца –</a:t>
            </a:r>
            <a:r>
              <a:rPr lang="ru-RU" b="1" i="1" u="sng" dirty="0" smtClean="0"/>
              <a:t>маршрутного заголовка – </a:t>
            </a:r>
            <a:r>
              <a:rPr lang="en-US" b="1" i="1" u="sng" dirty="0" smtClean="0"/>
              <a:t>POH</a:t>
            </a:r>
            <a:r>
              <a:rPr lang="ru-RU" b="1" i="1" u="sng" dirty="0" smtClean="0"/>
              <a:t> (1 байт</a:t>
            </a:r>
            <a:r>
              <a:rPr lang="ru-RU" i="1" u="sng" dirty="0" smtClean="0"/>
              <a:t>) </a:t>
            </a:r>
            <a:r>
              <a:rPr lang="ru-RU" u="sng" dirty="0" smtClean="0"/>
              <a:t>и</a:t>
            </a:r>
            <a:r>
              <a:rPr lang="ru-RU" dirty="0" smtClean="0"/>
              <a:t>  контейнер (С4) преобразуется </a:t>
            </a:r>
            <a:r>
              <a:rPr lang="ru-RU" b="1" u="sng" dirty="0" smtClean="0"/>
              <a:t>в виртуальный контейнер </a:t>
            </a:r>
            <a:r>
              <a:rPr lang="en-US" b="1" u="sng" dirty="0" smtClean="0"/>
              <a:t>VC4</a:t>
            </a:r>
            <a:r>
              <a:rPr lang="ru-RU" b="1" u="sng" dirty="0" smtClean="0"/>
              <a:t>.</a:t>
            </a:r>
          </a:p>
          <a:p>
            <a:pPr>
              <a:buNone/>
            </a:pPr>
            <a:r>
              <a:rPr lang="ru-RU" dirty="0" smtClean="0"/>
              <a:t> 3. Чтобы поместить виртуальный контейнер</a:t>
            </a:r>
            <a:r>
              <a:rPr lang="en-US" dirty="0" smtClean="0"/>
              <a:t> VC4</a:t>
            </a:r>
            <a:r>
              <a:rPr lang="ru-RU" dirty="0" smtClean="0"/>
              <a:t> в модуль</a:t>
            </a:r>
          </a:p>
          <a:p>
            <a:pPr>
              <a:buNone/>
            </a:pPr>
            <a:r>
              <a:rPr lang="ru-RU" dirty="0" smtClean="0"/>
              <a:t>     </a:t>
            </a:r>
            <a:r>
              <a:rPr lang="en-US" dirty="0" smtClean="0"/>
              <a:t>STM – 1</a:t>
            </a:r>
            <a:r>
              <a:rPr lang="ru-RU" dirty="0" smtClean="0"/>
              <a:t>,  </a:t>
            </a:r>
            <a:r>
              <a:rPr lang="ru-RU" b="1" dirty="0" smtClean="0"/>
              <a:t>его снабжают </a:t>
            </a:r>
            <a:r>
              <a:rPr lang="ru-RU" b="1" i="1" dirty="0" smtClean="0"/>
              <a:t>указателем </a:t>
            </a:r>
            <a:r>
              <a:rPr lang="en-US" b="1" i="1" dirty="0" smtClean="0"/>
              <a:t>AU4</a:t>
            </a:r>
            <a:r>
              <a:rPr lang="ru-RU" b="1" i="1" dirty="0" smtClean="0"/>
              <a:t> </a:t>
            </a:r>
            <a:r>
              <a:rPr lang="en-US" b="1" i="1" dirty="0" smtClean="0"/>
              <a:t>P</a:t>
            </a:r>
            <a:r>
              <a:rPr lang="ru-RU" b="1" i="1" dirty="0" smtClean="0"/>
              <a:t>Т</a:t>
            </a:r>
            <a:r>
              <a:rPr lang="en-US" b="1" i="1" dirty="0" smtClean="0"/>
              <a:t>R</a:t>
            </a:r>
            <a:r>
              <a:rPr lang="ru-RU" b="1" i="1" dirty="0" smtClean="0"/>
              <a:t> ,</a:t>
            </a:r>
            <a:r>
              <a:rPr lang="en-US" b="1" i="1" dirty="0" smtClean="0"/>
              <a:t> </a:t>
            </a:r>
            <a:r>
              <a:rPr lang="ru-RU" b="1" i="1" dirty="0" smtClean="0"/>
              <a:t>который определяет начало записи полезной нагрузки  </a:t>
            </a:r>
            <a:r>
              <a:rPr lang="ru-RU" b="1" dirty="0" smtClean="0"/>
              <a:t>и </a:t>
            </a:r>
            <a:r>
              <a:rPr lang="ru-RU" b="1" u="sng" dirty="0" smtClean="0"/>
              <a:t>образуют   административный блок </a:t>
            </a:r>
            <a:r>
              <a:rPr lang="en-US" b="1" u="sng" dirty="0" smtClean="0"/>
              <a:t>AU4</a:t>
            </a:r>
            <a:r>
              <a:rPr lang="ru-RU" dirty="0" smtClean="0"/>
              <a:t>, который помещают в модуль  </a:t>
            </a:r>
            <a:r>
              <a:rPr lang="en-US" dirty="0" smtClean="0"/>
              <a:t>STM – 1</a:t>
            </a:r>
            <a:r>
              <a:rPr lang="ru-RU" dirty="0" smtClean="0"/>
              <a:t> вместе с секционном заголовком </a:t>
            </a:r>
            <a:r>
              <a:rPr lang="en-US" dirty="0" smtClean="0"/>
              <a:t>SOH </a:t>
            </a:r>
            <a:r>
              <a:rPr lang="ru-RU" dirty="0" smtClean="0"/>
              <a:t>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892480" cy="980728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Структура синхронного транспортного модуля </a:t>
            </a:r>
            <a:r>
              <a:rPr lang="en-US" sz="3200" b="1" dirty="0" smtClean="0">
                <a:solidFill>
                  <a:srgbClr val="002060"/>
                </a:solidFill>
              </a:rPr>
              <a:t>STM - 1</a:t>
            </a:r>
            <a:endParaRPr lang="ru-RU" sz="32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 l="9430" t="18133" r="9429"/>
          <a:stretch>
            <a:fillRect/>
          </a:stretch>
        </p:blipFill>
        <p:spPr bwMode="auto">
          <a:xfrm>
            <a:off x="0" y="980728"/>
            <a:ext cx="9144000" cy="551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>
                <a:solidFill>
                  <a:srgbClr val="002060"/>
                </a:solidFill>
              </a:rPr>
              <a:t>П</a:t>
            </a:r>
            <a:r>
              <a:rPr lang="ru-RU" sz="3600" b="1" dirty="0" smtClean="0">
                <a:solidFill>
                  <a:srgbClr val="002060"/>
                </a:solidFill>
              </a:rPr>
              <a:t>ринцип контейнерных перевозок в </a:t>
            </a:r>
            <a:r>
              <a:rPr lang="en-GB" sz="3600" b="1" dirty="0" smtClean="0">
                <a:solidFill>
                  <a:srgbClr val="002060"/>
                </a:solidFill>
              </a:rPr>
              <a:t> SDH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6832"/>
            <a:ext cx="8964488" cy="4032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pPr algn="l"/>
            <a:r>
              <a:rPr lang="ru-RU" sz="3600" b="1" dirty="0" smtClean="0">
                <a:solidFill>
                  <a:srgbClr val="002060"/>
                </a:solidFill>
              </a:rPr>
              <a:t>Образование</a:t>
            </a:r>
            <a:r>
              <a:rPr lang="en-US" sz="3600" b="1" dirty="0" smtClean="0">
                <a:solidFill>
                  <a:srgbClr val="002060"/>
                </a:solidFill>
              </a:rPr>
              <a:t> STM – 1 </a:t>
            </a:r>
            <a:r>
              <a:rPr lang="ru-RU" sz="3600" b="1" dirty="0" smtClean="0">
                <a:solidFill>
                  <a:srgbClr val="002060"/>
                </a:solidFill>
              </a:rPr>
              <a:t>на базе  иерархии </a:t>
            </a:r>
            <a:r>
              <a:rPr lang="en-US" sz="3600" b="1" dirty="0" smtClean="0">
                <a:solidFill>
                  <a:srgbClr val="002060"/>
                </a:solidFill>
              </a:rPr>
              <a:t>PDH</a:t>
            </a:r>
            <a:r>
              <a:rPr lang="ru-RU" sz="3600" dirty="0" smtClean="0"/>
              <a:t>  </a:t>
            </a:r>
            <a:endParaRPr lang="ru-RU" sz="3600" dirty="0"/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9144000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/>
          </a:bodyPr>
          <a:lstStyle/>
          <a:p>
            <a:pPr algn="l"/>
            <a:r>
              <a:rPr lang="ru-RU" sz="2800" b="1" dirty="0" smtClean="0">
                <a:solidFill>
                  <a:srgbClr val="002060"/>
                </a:solidFill>
              </a:rPr>
              <a:t>Структура синхронного транспортного модуля</a:t>
            </a:r>
            <a:r>
              <a:rPr lang="en-US" sz="2800" b="1" dirty="0" smtClean="0">
                <a:solidFill>
                  <a:srgbClr val="002060"/>
                </a:solidFill>
              </a:rPr>
              <a:t> STM – 1</a:t>
            </a:r>
            <a:r>
              <a:rPr lang="ru-RU" sz="2800" b="1" dirty="0" smtClean="0">
                <a:solidFill>
                  <a:srgbClr val="002060"/>
                </a:solidFill>
              </a:rPr>
              <a:t> (1)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000" dirty="0" smtClean="0"/>
              <a:t>    </a:t>
            </a:r>
          </a:p>
          <a:p>
            <a:pPr>
              <a:buNone/>
            </a:pPr>
            <a:r>
              <a:rPr lang="ru-RU" sz="2000" dirty="0" smtClean="0"/>
              <a:t>  </a:t>
            </a:r>
            <a:r>
              <a:rPr lang="ru-RU" sz="2400" dirty="0" smtClean="0"/>
              <a:t>Модуль </a:t>
            </a:r>
            <a:r>
              <a:rPr lang="en-US" sz="2400" dirty="0" smtClean="0"/>
              <a:t>STM – 1</a:t>
            </a:r>
            <a:r>
              <a:rPr lang="ru-RU" sz="2400" dirty="0" smtClean="0"/>
              <a:t> можно загрузить транспортными потоками  Е1 </a:t>
            </a:r>
          </a:p>
          <a:p>
            <a:pPr>
              <a:buNone/>
            </a:pPr>
            <a:r>
              <a:rPr lang="ru-RU" sz="2400" dirty="0" smtClean="0"/>
              <a:t>     со скоростью 2,048 Мбит/с, которые формируются  аппаратурой ИКМ-30.</a:t>
            </a:r>
          </a:p>
          <a:p>
            <a:pPr>
              <a:buNone/>
            </a:pPr>
            <a:r>
              <a:rPr lang="ru-RU" sz="2400" dirty="0" smtClean="0"/>
              <a:t>   1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 Для первоначальной «упаковки» используется контейнер С - 12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        Цифровой сигнал размещается на определенных позициях</a:t>
            </a:r>
          </a:p>
          <a:p>
            <a:pPr>
              <a:buNone/>
            </a:pPr>
            <a:r>
              <a:rPr lang="ru-RU" sz="2400" dirty="0" smtClean="0"/>
              <a:t>        этого контейнера.</a:t>
            </a:r>
          </a:p>
          <a:p>
            <a:pPr>
              <a:buNone/>
            </a:pPr>
            <a:r>
              <a:rPr lang="ru-RU" sz="2400" dirty="0" smtClean="0"/>
              <a:t>     2. Путем добавления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маршрутного (трактового) </a:t>
            </a:r>
          </a:p>
          <a:p>
            <a:pPr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заголовка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POH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smtClean="0"/>
              <a:t>образуется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виртуальный контейнер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VC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12</a:t>
            </a:r>
            <a:r>
              <a:rPr lang="ru-RU" sz="2400" dirty="0" smtClean="0"/>
              <a:t>.   </a:t>
            </a:r>
          </a:p>
          <a:p>
            <a:pPr>
              <a:buNone/>
            </a:pPr>
            <a:r>
              <a:rPr lang="ru-RU" sz="2400" dirty="0" smtClean="0"/>
              <a:t>         Виртуальный контейнер </a:t>
            </a:r>
            <a:r>
              <a:rPr lang="en-US" sz="2400" dirty="0" smtClean="0"/>
              <a:t>VC</a:t>
            </a:r>
            <a:r>
              <a:rPr lang="ru-RU" sz="2400" dirty="0" smtClean="0"/>
              <a:t> - 12 формируются и  </a:t>
            </a:r>
          </a:p>
          <a:p>
            <a:pPr>
              <a:buNone/>
            </a:pPr>
            <a:r>
              <a:rPr lang="ru-RU" sz="2400" dirty="0" smtClean="0"/>
              <a:t>       расформировываются в точках окончания трактов.</a:t>
            </a:r>
          </a:p>
          <a:p>
            <a:pPr>
              <a:buNone/>
            </a:pPr>
            <a:r>
              <a:rPr lang="ru-RU" sz="2400" dirty="0" smtClean="0"/>
              <a:t>       </a:t>
            </a:r>
          </a:p>
          <a:p>
            <a:pPr>
              <a:buNone/>
            </a:pPr>
            <a:endParaRPr lang="ru-RU" sz="1800" dirty="0" smtClean="0"/>
          </a:p>
          <a:p>
            <a:pPr>
              <a:buNone/>
            </a:pPr>
            <a:r>
              <a:rPr lang="ru-RU" sz="1800" dirty="0" smtClean="0"/>
              <a:t>.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rgbClr val="002060"/>
                </a:solidFill>
              </a:rPr>
              <a:t>Структура синхронного транспортного модуля</a:t>
            </a:r>
            <a:r>
              <a:rPr lang="en-US" sz="2800" b="1" dirty="0" smtClean="0">
                <a:solidFill>
                  <a:srgbClr val="002060"/>
                </a:solidFill>
              </a:rPr>
              <a:t> STM – 1</a:t>
            </a:r>
            <a:r>
              <a:rPr lang="ru-RU" sz="2800" b="1" dirty="0" smtClean="0">
                <a:solidFill>
                  <a:srgbClr val="002060"/>
                </a:solidFill>
              </a:rPr>
              <a:t> (2)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554461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b="1" dirty="0" smtClean="0"/>
              <a:t>3. В  модуле </a:t>
            </a:r>
            <a:r>
              <a:rPr lang="en-US" b="1" dirty="0" smtClean="0"/>
              <a:t>STM – 1</a:t>
            </a:r>
            <a:r>
              <a:rPr lang="ru-RU" b="1" dirty="0" smtClean="0"/>
              <a:t> можно разместить 63</a:t>
            </a:r>
            <a:r>
              <a:rPr lang="en-US" b="1" dirty="0" smtClean="0"/>
              <a:t> VC</a:t>
            </a:r>
            <a:r>
              <a:rPr lang="ru-RU" b="1" dirty="0" smtClean="0"/>
              <a:t> - 12 следующим образом:</a:t>
            </a:r>
          </a:p>
          <a:p>
            <a:pPr>
              <a:buNone/>
            </a:pPr>
            <a:r>
              <a:rPr lang="ru-RU" dirty="0" smtClean="0"/>
              <a:t>                - виртуальный контейнер </a:t>
            </a:r>
            <a:r>
              <a:rPr lang="en-US" dirty="0" smtClean="0"/>
              <a:t>VC</a:t>
            </a:r>
            <a:r>
              <a:rPr lang="ru-RU" dirty="0" smtClean="0"/>
              <a:t> - 12снабжают указателем </a:t>
            </a:r>
            <a:r>
              <a:rPr lang="en-US" dirty="0" smtClean="0"/>
              <a:t>PTR </a:t>
            </a:r>
            <a:r>
              <a:rPr lang="ru-RU" dirty="0" smtClean="0"/>
              <a:t> и образуют </a:t>
            </a:r>
            <a:r>
              <a:rPr lang="ru-RU" b="1" dirty="0" smtClean="0"/>
              <a:t>транспортный блок </a:t>
            </a:r>
            <a:r>
              <a:rPr lang="en-US" b="1" dirty="0" smtClean="0"/>
              <a:t>TU </a:t>
            </a:r>
            <a:r>
              <a:rPr lang="ru-RU" dirty="0" smtClean="0"/>
              <a:t>- </a:t>
            </a:r>
            <a:r>
              <a:rPr lang="en-US" dirty="0" smtClean="0"/>
              <a:t>12 (Tributary Unit)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dirty="0" smtClean="0"/>
              <a:t>            - теперь цифровые потоки разных транспортных блоков можно объединять в цифровой поток 155,520 Мбит/с.</a:t>
            </a:r>
          </a:p>
          <a:p>
            <a:pPr>
              <a:buNone/>
            </a:pPr>
            <a:r>
              <a:rPr lang="ru-RU" dirty="0" smtClean="0"/>
              <a:t>      </a:t>
            </a:r>
            <a:r>
              <a:rPr lang="en-US" dirty="0" smtClean="0"/>
              <a:t>       - </a:t>
            </a:r>
            <a:r>
              <a:rPr lang="ru-RU" dirty="0" smtClean="0"/>
              <a:t>сначала 3 блока </a:t>
            </a:r>
            <a:r>
              <a:rPr lang="en-US" dirty="0" smtClean="0"/>
              <a:t>TU 12 </a:t>
            </a:r>
            <a:r>
              <a:rPr lang="ru-RU" dirty="0" smtClean="0"/>
              <a:t> путем мультиплексирования объединяют в группу транспортных блоков </a:t>
            </a:r>
            <a:r>
              <a:rPr lang="en-US" dirty="0" smtClean="0"/>
              <a:t>TUG</a:t>
            </a:r>
            <a:r>
              <a:rPr lang="ru-RU" dirty="0" smtClean="0"/>
              <a:t> - </a:t>
            </a:r>
            <a:r>
              <a:rPr lang="en-US" dirty="0" smtClean="0"/>
              <a:t>2</a:t>
            </a:r>
            <a:r>
              <a:rPr lang="ru-RU" dirty="0" smtClean="0"/>
              <a:t>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   - </a:t>
            </a:r>
            <a:r>
              <a:rPr lang="ru-RU" dirty="0" smtClean="0"/>
              <a:t>затем 7 групп </a:t>
            </a:r>
            <a:r>
              <a:rPr lang="en-US" dirty="0" smtClean="0"/>
              <a:t>TUG</a:t>
            </a:r>
            <a:r>
              <a:rPr lang="ru-RU" dirty="0" smtClean="0"/>
              <a:t> - </a:t>
            </a:r>
            <a:r>
              <a:rPr lang="en-US" dirty="0" smtClean="0"/>
              <a:t>2</a:t>
            </a:r>
            <a:r>
              <a:rPr lang="ru-RU" dirty="0" smtClean="0"/>
              <a:t> мультиплексируют </a:t>
            </a:r>
            <a:r>
              <a:rPr lang="ru-RU" b="1" dirty="0" smtClean="0"/>
              <a:t>в группы транспортных    блоков</a:t>
            </a:r>
            <a:r>
              <a:rPr lang="en-US" b="1" dirty="0" smtClean="0"/>
              <a:t> TUG</a:t>
            </a:r>
            <a:r>
              <a:rPr lang="ru-RU" b="1" dirty="0" smtClean="0"/>
              <a:t> – 3.</a:t>
            </a:r>
          </a:p>
          <a:p>
            <a:pPr>
              <a:buNone/>
            </a:pPr>
            <a:r>
              <a:rPr lang="ru-RU" dirty="0" smtClean="0"/>
              <a:t>               - затем 3 группы</a:t>
            </a:r>
            <a:r>
              <a:rPr lang="en-US" dirty="0" smtClean="0"/>
              <a:t> TUG</a:t>
            </a:r>
            <a:r>
              <a:rPr lang="ru-RU" dirty="0" smtClean="0"/>
              <a:t> – 3 объединяют вместе и помещают в виртуальный контейнер</a:t>
            </a:r>
            <a:r>
              <a:rPr lang="en-US" dirty="0" smtClean="0"/>
              <a:t> VC</a:t>
            </a:r>
            <a:r>
              <a:rPr lang="ru-RU" dirty="0" smtClean="0"/>
              <a:t> – 4,  далее </a:t>
            </a:r>
            <a:r>
              <a:rPr lang="en-US" dirty="0" smtClean="0"/>
              <a:t>AU</a:t>
            </a:r>
            <a:r>
              <a:rPr lang="ru-RU" dirty="0" smtClean="0"/>
              <a:t> - </a:t>
            </a:r>
            <a:r>
              <a:rPr lang="en-US" dirty="0" smtClean="0"/>
              <a:t>4</a:t>
            </a:r>
            <a:r>
              <a:rPr lang="ru-RU" dirty="0" smtClean="0"/>
              <a:t> и получился модуль </a:t>
            </a:r>
            <a:r>
              <a:rPr lang="en-US" dirty="0" smtClean="0"/>
              <a:t>STM – 1</a:t>
            </a:r>
            <a:r>
              <a:rPr lang="ru-RU" dirty="0" smtClean="0"/>
              <a:t> 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pPr algn="l"/>
            <a:r>
              <a:rPr lang="ru-RU" sz="3600" b="1" dirty="0" smtClean="0">
                <a:solidFill>
                  <a:srgbClr val="002060"/>
                </a:solidFill>
              </a:rPr>
              <a:t>Образование</a:t>
            </a:r>
            <a:r>
              <a:rPr lang="en-US" sz="3600" b="1" dirty="0" smtClean="0">
                <a:solidFill>
                  <a:srgbClr val="002060"/>
                </a:solidFill>
              </a:rPr>
              <a:t> STM – 1 </a:t>
            </a:r>
            <a:r>
              <a:rPr lang="ru-RU" sz="3600" b="1" dirty="0" smtClean="0">
                <a:solidFill>
                  <a:srgbClr val="002060"/>
                </a:solidFill>
              </a:rPr>
              <a:t>на базе  иерархии </a:t>
            </a:r>
            <a:r>
              <a:rPr lang="en-US" sz="3600" b="1" dirty="0" smtClean="0">
                <a:solidFill>
                  <a:srgbClr val="002060"/>
                </a:solidFill>
              </a:rPr>
              <a:t>PDH</a:t>
            </a:r>
            <a:r>
              <a:rPr lang="ru-RU" sz="3600" dirty="0" smtClean="0"/>
              <a:t>  </a:t>
            </a:r>
            <a:endParaRPr lang="ru-RU" sz="3600" dirty="0"/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9144000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ru-RU" sz="2800"/>
              <a:t>Общая схема мультиплексирования </a:t>
            </a:r>
            <a:r>
              <a:rPr lang="en-US" sz="2800"/>
              <a:t>G.707</a:t>
            </a:r>
            <a:endParaRPr lang="ru-RU" sz="2800"/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>
            <p:ph idx="1"/>
          </p:nvPr>
        </p:nvGraphicFramePr>
        <p:xfrm>
          <a:off x="468313" y="1196975"/>
          <a:ext cx="8351837" cy="5260975"/>
        </p:xfrm>
        <a:graphic>
          <a:graphicData uri="http://schemas.openxmlformats.org/presentationml/2006/ole">
            <p:oleObj spid="_x0000_s1026" name="VISIO" r:id="rId3" imgW="9522000" imgH="5998320" progId="">
              <p:embed/>
            </p:oleObj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Ввод потоков Е1,Е3, Е4 в модуль</a:t>
            </a:r>
            <a:r>
              <a:rPr lang="en-US" b="1" dirty="0" smtClean="0">
                <a:solidFill>
                  <a:srgbClr val="002060"/>
                </a:solidFill>
              </a:rPr>
              <a:t> STM – 1</a:t>
            </a:r>
            <a:r>
              <a:rPr lang="ru-RU" b="1" dirty="0" smtClean="0">
                <a:solidFill>
                  <a:srgbClr val="002060"/>
                </a:solidFill>
              </a:rPr>
              <a:t> </a:t>
            </a: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9144000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Ввод потоков Е1,Е3, Е4 в модуль</a:t>
            </a:r>
            <a:r>
              <a:rPr lang="en-US" sz="3600" b="1" dirty="0" smtClean="0">
                <a:solidFill>
                  <a:srgbClr val="002060"/>
                </a:solidFill>
              </a:rPr>
              <a:t> STM –</a:t>
            </a:r>
            <a:r>
              <a:rPr lang="ru-RU" sz="3600" b="1" dirty="0" smtClean="0">
                <a:solidFill>
                  <a:srgbClr val="002060"/>
                </a:solidFill>
              </a:rPr>
              <a:t>1</a:t>
            </a:r>
            <a:endParaRPr lang="ru-RU" sz="3600" dirty="0"/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80728"/>
            <a:ext cx="8640959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490066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 smtClean="0">
                <a:solidFill>
                  <a:srgbClr val="002060"/>
                </a:solidFill>
              </a:rPr>
              <a:t>2</a:t>
            </a:r>
            <a:r>
              <a:rPr lang="ru-RU" sz="4000" b="1" dirty="0" smtClean="0">
                <a:solidFill>
                  <a:srgbClr val="002060"/>
                </a:solidFill>
              </a:rPr>
              <a:t>. Синхронная цифровая иерархия </a:t>
            </a:r>
            <a:r>
              <a:rPr lang="en-GB" sz="4000" b="1" i="1" dirty="0" smtClean="0">
                <a:solidFill>
                  <a:srgbClr val="002060"/>
                </a:solidFill>
              </a:rPr>
              <a:t>SDH 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 smtClean="0"/>
              <a:t>Наличие большого числа указателей </a:t>
            </a:r>
            <a:r>
              <a:rPr lang="en-US" b="1" dirty="0" smtClean="0"/>
              <a:t>PTR</a:t>
            </a:r>
            <a:r>
              <a:rPr lang="ru-RU" dirty="0" smtClean="0"/>
              <a:t>, которые определяют начало записи полезной нагрузки,</a:t>
            </a:r>
            <a:r>
              <a:rPr lang="en-US" dirty="0" smtClean="0"/>
              <a:t> </a:t>
            </a:r>
            <a:r>
              <a:rPr lang="ru-RU" dirty="0" smtClean="0"/>
              <a:t>позволяют </a:t>
            </a:r>
            <a:r>
              <a:rPr lang="ru-RU" b="1" dirty="0" smtClean="0"/>
              <a:t>четко определить местонахождение в модуле </a:t>
            </a:r>
            <a:r>
              <a:rPr lang="en-US" b="1" dirty="0" smtClean="0"/>
              <a:t>STM – 1</a:t>
            </a:r>
            <a:r>
              <a:rPr lang="ru-RU" b="1" dirty="0" smtClean="0"/>
              <a:t> любого цифрового потока Е1,Е3,Е4.</a:t>
            </a:r>
          </a:p>
          <a:p>
            <a:r>
              <a:rPr lang="ru-RU" b="1" u="sng" dirty="0" smtClean="0"/>
              <a:t>Важной особенностью</a:t>
            </a:r>
            <a:r>
              <a:rPr lang="en-US" b="1" u="sng" dirty="0" smtClean="0"/>
              <a:t> </a:t>
            </a:r>
            <a:r>
              <a:rPr lang="ru-RU" b="1" u="sng" dirty="0" smtClean="0"/>
              <a:t>аппаратуры </a:t>
            </a:r>
            <a:r>
              <a:rPr lang="en-US" b="1" u="sng" dirty="0" smtClean="0"/>
              <a:t>SDH</a:t>
            </a:r>
            <a:r>
              <a:rPr lang="ru-RU" b="1" dirty="0" smtClean="0"/>
              <a:t>: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 -  возможность обеспечения</a:t>
            </a:r>
            <a:r>
              <a:rPr lang="en-US" dirty="0" smtClean="0"/>
              <a:t> </a:t>
            </a:r>
            <a:r>
              <a:rPr lang="ru-RU" dirty="0" smtClean="0"/>
              <a:t>наблюдения и управления всей сетью в целом,</a:t>
            </a:r>
          </a:p>
          <a:p>
            <a:pPr>
              <a:buNone/>
            </a:pPr>
            <a:r>
              <a:rPr lang="ru-RU" dirty="0" smtClean="0"/>
              <a:t>     -  дистанционные переключения в мультиплексорах по требованию клиентов,</a:t>
            </a:r>
          </a:p>
          <a:p>
            <a:pPr>
              <a:buNone/>
            </a:pPr>
            <a:r>
              <a:rPr lang="ru-RU" dirty="0" smtClean="0"/>
              <a:t>    - осуществлять контроль и диагностику ,</a:t>
            </a:r>
          </a:p>
          <a:p>
            <a:pPr>
              <a:buNone/>
            </a:pPr>
            <a:r>
              <a:rPr lang="ru-RU" dirty="0" smtClean="0"/>
              <a:t>    - своевременно обнаруживать и устранять неисправности, </a:t>
            </a:r>
          </a:p>
          <a:p>
            <a:pPr>
              <a:buNone/>
            </a:pPr>
            <a:r>
              <a:rPr lang="ru-RU" dirty="0" smtClean="0"/>
              <a:t>    - эффективно эксплуатировать сети ,</a:t>
            </a:r>
          </a:p>
          <a:p>
            <a:pPr>
              <a:buNone/>
            </a:pPr>
            <a:r>
              <a:rPr lang="ru-RU" dirty="0" smtClean="0"/>
              <a:t>    - сохранять высокое качество предоставляемых услуг.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 b="342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2. Синхронная цифровая иерархия </a:t>
            </a:r>
            <a:r>
              <a:rPr lang="en-GB" b="1" i="1" dirty="0" smtClean="0">
                <a:solidFill>
                  <a:srgbClr val="002060"/>
                </a:solidFill>
              </a:rPr>
              <a:t>SDH 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0" y="1484784"/>
            <a:ext cx="4644008" cy="5373216"/>
          </a:xfrm>
        </p:spPr>
        <p:txBody>
          <a:bodyPr>
            <a:normAutofit/>
          </a:bodyPr>
          <a:lstStyle/>
          <a:p>
            <a:r>
              <a:rPr kumimoji="1" lang="en-US" altLang="ru-RU" b="1" dirty="0" smtClean="0"/>
              <a:t>SDH </a:t>
            </a:r>
            <a:r>
              <a:rPr kumimoji="1" lang="ru-RU" altLang="ru-RU" b="1" dirty="0" smtClean="0"/>
              <a:t>разработана для создания надежных транспортных сетей, </a:t>
            </a:r>
            <a:r>
              <a:rPr kumimoji="1" lang="ru-RU" altLang="ru-RU" dirty="0" smtClean="0"/>
              <a:t>позволяющих гибко формировать цифровые каналы широкого диапазона скоростей — от единиц мегабит до десятков гигабит в секунду. </a:t>
            </a:r>
          </a:p>
          <a:p>
            <a:pPr algn="just">
              <a:buNone/>
            </a:pPr>
            <a:r>
              <a:rPr kumimoji="1" lang="ru-RU" altLang="ru-RU" b="1" dirty="0" smtClean="0"/>
              <a:t>Основная область применения технологии SDH -  </a:t>
            </a:r>
          </a:p>
          <a:p>
            <a:pPr algn="just">
              <a:buNone/>
            </a:pPr>
            <a:r>
              <a:rPr kumimoji="1" lang="ru-RU" altLang="ru-RU" b="1" dirty="0" smtClean="0"/>
              <a:t>  первичные           (транспортные) сети операторов связи.</a:t>
            </a:r>
            <a:endParaRPr lang="ru-RU" b="1" dirty="0" smtClean="0"/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7" descr="180px-SDH_Racks">
            <a:hlinkClick r:id="rId2"/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484784"/>
            <a:ext cx="4499992" cy="537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786" t="5706" r="2679" b="755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400" b="1" dirty="0" smtClean="0">
                <a:solidFill>
                  <a:srgbClr val="002060"/>
                </a:solidFill>
              </a:rPr>
              <a:t/>
            </a:r>
            <a:br>
              <a:rPr lang="ru-RU" sz="3400" b="1" dirty="0" smtClean="0">
                <a:solidFill>
                  <a:srgbClr val="002060"/>
                </a:solidFill>
              </a:rPr>
            </a:br>
            <a:r>
              <a:rPr lang="ru-RU" sz="4000" b="1" dirty="0" smtClean="0">
                <a:solidFill>
                  <a:srgbClr val="002060"/>
                </a:solidFill>
              </a:rPr>
              <a:t>Топология сетей </a:t>
            </a:r>
            <a:r>
              <a:rPr lang="en-US" sz="4000" b="1" dirty="0" smtClean="0">
                <a:solidFill>
                  <a:srgbClr val="002060"/>
                </a:solidFill>
              </a:rPr>
              <a:t>SDH</a:t>
            </a:r>
            <a:r>
              <a:rPr lang="ru-RU" sz="3400" b="1" dirty="0" smtClean="0">
                <a:solidFill>
                  <a:srgbClr val="002060"/>
                </a:solidFill>
              </a:rPr>
              <a:t/>
            </a:r>
            <a:br>
              <a:rPr lang="ru-RU" sz="3400" b="1" dirty="0" smtClean="0">
                <a:solidFill>
                  <a:srgbClr val="002060"/>
                </a:solidFill>
              </a:rPr>
            </a:br>
            <a:endParaRPr lang="ru-RU" sz="3400" b="1" dirty="0" smtClean="0">
              <a:solidFill>
                <a:srgbClr val="002060"/>
              </a:solidFill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908720"/>
            <a:ext cx="8785225" cy="594928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800" b="1" i="1" dirty="0" smtClean="0"/>
              <a:t> 1. Топология «точка-точка»</a:t>
            </a:r>
            <a:endParaRPr lang="ru-RU" sz="2800" b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100" b="1" dirty="0" smtClean="0"/>
              <a:t>Это простейшая топология, включающая два терминальных мультиплексора</a:t>
            </a:r>
            <a:r>
              <a:rPr lang="ru-RU" sz="2100" dirty="0" smtClean="0"/>
              <a:t>, соединенных оптической линией связи с или без регенератора.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100" dirty="0" smtClean="0"/>
              <a:t>      Каждый из мультиплексоров действует как концентратор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100" dirty="0" smtClean="0"/>
              <a:t>       </a:t>
            </a:r>
            <a:r>
              <a:rPr lang="ru-RU" sz="2100" dirty="0" err="1" smtClean="0"/>
              <a:t>трибутарных</a:t>
            </a:r>
            <a:r>
              <a:rPr lang="ru-RU" sz="2100" dirty="0" smtClean="0"/>
              <a:t> потоков Е1, Е3 и др.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100" b="1" dirty="0" smtClean="0"/>
              <a:t>Эта топология широко используется при передаче больших потоков данных по высокоскоростным магистральным каналам.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100" dirty="0" smtClean="0"/>
              <a:t> Она может быть реализована, как по схеме без резервирования канала, так и по схеме со 100% резервированием 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100" dirty="0" smtClean="0"/>
              <a:t>        типа 1+1, использующей основной и резервный агрегатные каналы.</a:t>
            </a:r>
            <a:endParaRPr lang="ru-RU" sz="2100" i="1" dirty="0" smtClean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800" b="1" i="1" dirty="0" smtClean="0"/>
              <a:t>2.Топология «последовательная линейная цепь»</a:t>
            </a:r>
            <a:endParaRPr lang="ru-RU" sz="2800" b="1" dirty="0" smtClean="0"/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100" b="1" dirty="0" smtClean="0"/>
              <a:t>     Эта топология используется тогда, когда существует необходимость ответвлений в ряде точек линии, где могут вводится и выводится каналы доступа. </a:t>
            </a:r>
            <a:r>
              <a:rPr lang="ru-RU" sz="2100" dirty="0" smtClean="0"/>
              <a:t>Реализуется она путем включения вдоль линии связи мультиплексоров ввода/вывода.</a:t>
            </a:r>
            <a:endParaRPr lang="ru-RU" sz="21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Топология сетей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400" dirty="0" smtClean="0"/>
              <a:t/>
            </a:r>
            <a:br>
              <a:rPr lang="ru-RU" sz="3400" dirty="0" smtClean="0"/>
            </a:br>
            <a:endParaRPr lang="ru-RU" sz="3400" dirty="0" smtClean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836712"/>
            <a:ext cx="8713788" cy="6021288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i="1" dirty="0" smtClean="0"/>
              <a:t>Топология «звезда»</a:t>
            </a:r>
            <a:endParaRPr lang="ru-RU" sz="2400" b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400" b="1" dirty="0" smtClean="0"/>
              <a:t>В этой топологии один из узлов сети (</a:t>
            </a:r>
            <a:r>
              <a:rPr lang="ru-RU" sz="2400" b="1" dirty="0" err="1" smtClean="0"/>
              <a:t>кросс-коннектор</a:t>
            </a:r>
            <a:r>
              <a:rPr lang="ru-RU" sz="2400" b="1" dirty="0" smtClean="0"/>
              <a:t>) играет роль концентратора </a:t>
            </a:r>
            <a:r>
              <a:rPr lang="ru-RU" sz="2400" dirty="0" smtClean="0"/>
              <a:t>(или </a:t>
            </a:r>
            <a:r>
              <a:rPr lang="ru-RU" sz="2400" dirty="0" err="1" smtClean="0"/>
              <a:t>хаба</a:t>
            </a:r>
            <a:r>
              <a:rPr lang="ru-RU" sz="2400" dirty="0" smtClean="0"/>
              <a:t>), распределяя часть трафика по другим удаленным узлам, а оставшуюся часть на терминалы пользователей.</a:t>
            </a:r>
          </a:p>
          <a:p>
            <a:pPr algn="just" eaLnBrk="1" hangingPunct="1">
              <a:lnSpc>
                <a:spcPct val="80000"/>
              </a:lnSpc>
            </a:pPr>
            <a:endParaRPr lang="ru-RU" sz="2400" i="1" dirty="0" smtClean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i="1" dirty="0" smtClean="0"/>
              <a:t>Топология «кольцо»</a:t>
            </a:r>
            <a:endParaRPr lang="ru-RU" sz="2400" b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400" b="1" dirty="0" smtClean="0"/>
              <a:t>Эта топология наиболее широко используется при построении </a:t>
            </a:r>
            <a:r>
              <a:rPr lang="en-US" sz="2400" b="1" dirty="0" smtClean="0"/>
              <a:t>SDH</a:t>
            </a:r>
            <a:r>
              <a:rPr lang="ru-RU" sz="2400" b="1" dirty="0" smtClean="0"/>
              <a:t> сетей первых двух уровней иерархии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400" b="1" dirty="0" smtClean="0"/>
              <a:t>     (</a:t>
            </a:r>
            <a:r>
              <a:rPr lang="en-US" sz="2400" b="1" dirty="0" smtClean="0"/>
              <a:t>STM</a:t>
            </a:r>
            <a:r>
              <a:rPr lang="ru-RU" sz="2400" b="1" dirty="0" smtClean="0"/>
              <a:t>-1 и </a:t>
            </a:r>
            <a:r>
              <a:rPr lang="en-US" sz="2400" b="1" dirty="0" smtClean="0"/>
              <a:t>STM</a:t>
            </a:r>
            <a:r>
              <a:rPr lang="ru-RU" sz="2400" b="1" dirty="0" smtClean="0"/>
              <a:t>-4). 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400" b="1" dirty="0" smtClean="0"/>
              <a:t>    </a:t>
            </a:r>
            <a:r>
              <a:rPr lang="ru-RU" sz="2400" dirty="0" smtClean="0"/>
              <a:t>Строительными блоками этой архитектуры </a:t>
            </a:r>
            <a:r>
              <a:rPr lang="ru-RU" sz="2400" b="1" dirty="0" smtClean="0"/>
              <a:t>являются мультиплексоры ввода/вывода,</a:t>
            </a:r>
            <a:r>
              <a:rPr lang="ru-RU" sz="2400" dirty="0" smtClean="0"/>
              <a:t> которые соединяются в кольцо с однонаправленной либо двунаправленной передачей трафика.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400" dirty="0" smtClean="0"/>
              <a:t>Широкое использование кольцевой топологии обусловлено тем, что построенные на ее основе сети способны </a:t>
            </a:r>
            <a:r>
              <a:rPr lang="ru-RU" sz="2400" dirty="0" err="1" smtClean="0"/>
              <a:t>самовосстанавливаться</a:t>
            </a:r>
            <a:r>
              <a:rPr lang="ru-RU" sz="2400" dirty="0" smtClean="0"/>
              <a:t> после некоторых достаточно характерных типов отказов.</a:t>
            </a:r>
          </a:p>
          <a:p>
            <a:pPr eaLnBrk="1" hangingPunct="1">
              <a:lnSpc>
                <a:spcPct val="80000"/>
              </a:lnSpc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Механизмы самовосстановления и схемы резервирования(1)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0" y="1124744"/>
            <a:ext cx="9143999" cy="573325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i="1" dirty="0" smtClean="0"/>
              <a:t>    </a:t>
            </a:r>
            <a:r>
              <a:rPr lang="ru-RU" sz="2800" b="1" i="1" dirty="0" smtClean="0"/>
              <a:t>Линейная защита.</a:t>
            </a:r>
            <a:endParaRPr lang="ru-RU" sz="2800" b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400" b="1" dirty="0" smtClean="0"/>
              <a:t>Простейшая форма реализации этой защиты — защита 1+1, используемая в соединениях точка-точка</a:t>
            </a:r>
            <a:r>
              <a:rPr lang="ru-RU" sz="2400" dirty="0" smtClean="0"/>
              <a:t>, где на каждую рабочую линию отводится одна резервная.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400" dirty="0" smtClean="0"/>
              <a:t>      При обнаружении потери сигнала на рабочей линии, оборудование на обоих концах автоматически переключается на резервную.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400" dirty="0" smtClean="0"/>
              <a:t>Более экономичный вариант — </a:t>
            </a:r>
            <a:r>
              <a:rPr lang="ru-RU" sz="2400" b="1" dirty="0" smtClean="0"/>
              <a:t>защита </a:t>
            </a:r>
            <a:r>
              <a:rPr lang="ru-RU" sz="2400" b="1" dirty="0" smtClean="0"/>
              <a:t>1+ </a:t>
            </a:r>
            <a:r>
              <a:rPr lang="en-US" sz="2400" b="1" dirty="0" smtClean="0"/>
              <a:t>N</a:t>
            </a:r>
            <a:r>
              <a:rPr lang="ru-RU" sz="2400" b="1" dirty="0" smtClean="0"/>
              <a:t>, используемый, в основном, на магистральных участках большой протяженности</a:t>
            </a:r>
            <a:r>
              <a:rPr lang="ru-RU" sz="2400" dirty="0" smtClean="0"/>
              <a:t>. 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400" dirty="0" smtClean="0"/>
              <a:t>    </a:t>
            </a:r>
            <a:r>
              <a:rPr lang="ru-RU" sz="2400" b="1" dirty="0" smtClean="0"/>
              <a:t>В этом случае на несколько рабочих линий отводится одна резервная. 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400" dirty="0" smtClean="0"/>
              <a:t>    Резервная линия может быть использована для передачи низкоприоритетного трафика, который просто прерывается, если необходимо подменить вышедшую из строя рабочую линию.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400" dirty="0" smtClean="0"/>
              <a:t>Механизмы защиты 1+1 и </a:t>
            </a:r>
            <a:r>
              <a:rPr lang="ru-RU" sz="2400" dirty="0" smtClean="0"/>
              <a:t>1+</a:t>
            </a:r>
            <a:r>
              <a:rPr lang="en-US" sz="2400" dirty="0" smtClean="0"/>
              <a:t>N</a:t>
            </a:r>
            <a:r>
              <a:rPr lang="ru-RU" sz="2400" dirty="0" smtClean="0"/>
              <a:t> </a:t>
            </a:r>
            <a:r>
              <a:rPr lang="ru-RU" sz="2400" dirty="0" smtClean="0"/>
              <a:t>стандартизированы </a:t>
            </a:r>
            <a:r>
              <a:rPr lang="en-US" sz="2400" dirty="0" smtClean="0"/>
              <a:t>ITU</a:t>
            </a:r>
            <a:r>
              <a:rPr lang="ru-RU" sz="2400" dirty="0" smtClean="0"/>
              <a:t>-</a:t>
            </a:r>
            <a:r>
              <a:rPr lang="en-US" sz="2400" dirty="0" smtClean="0"/>
              <a:t>T</a:t>
            </a:r>
            <a:r>
              <a:rPr lang="ru-RU" sz="2400" dirty="0" smtClean="0"/>
              <a:t> в Рекомендации </a:t>
            </a:r>
            <a:r>
              <a:rPr lang="en-US" sz="2400" dirty="0" smtClean="0"/>
              <a:t>G</a:t>
            </a:r>
            <a:r>
              <a:rPr lang="ru-RU" sz="2400" dirty="0" smtClean="0"/>
              <a:t>.783.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9675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Механизмы самовосстановления и схемы резервирования(2)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144000" cy="5805264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sz="2800" b="1" i="1" dirty="0" smtClean="0"/>
              <a:t>Кольцевая защита.</a:t>
            </a:r>
            <a:endParaRPr lang="ru-RU" sz="2800" b="1" dirty="0" smtClean="0"/>
          </a:p>
          <a:p>
            <a:pPr eaLnBrk="1" hangingPunct="1">
              <a:lnSpc>
                <a:spcPct val="90000"/>
              </a:lnSpc>
            </a:pPr>
            <a:r>
              <a:rPr lang="ru-RU" sz="2800" u="sng" dirty="0" smtClean="0"/>
              <a:t>Различаются для кольцевых структур</a:t>
            </a:r>
            <a:r>
              <a:rPr lang="ru-RU" sz="2800" dirty="0" smtClean="0"/>
              <a:t>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dirty="0" smtClean="0"/>
              <a:t>        - с однонаправленными и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dirty="0" smtClean="0"/>
              <a:t>        - двунаправленными соединениями.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В однонаправленном кольце все данные передаются по одной оптической жиле в одном направлении.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Вторая оптическая жила, с противоположным направлением передачи, рассматривается как резервная. 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В случае аварии на одном из сегментов кольца, передача в направлении поврежденного участка автоматически коммутируется на резервное кольцо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solidFill>
                  <a:srgbClr val="002060"/>
                </a:solidFill>
              </a:rPr>
              <a:t>Схема самовосстановления однонаправленного кольца </a:t>
            </a:r>
          </a:p>
        </p:txBody>
      </p:sp>
      <p:pic>
        <p:nvPicPr>
          <p:cNvPr id="94211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9512" y="2132856"/>
            <a:ext cx="8668246" cy="4464496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96752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Схема резервирования в двунаправленном кольце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268760"/>
            <a:ext cx="8784976" cy="5400600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/>
              <a:t>В </a:t>
            </a:r>
            <a:r>
              <a:rPr lang="ru-RU" b="1" dirty="0" smtClean="0"/>
              <a:t>двунаправленном кольце обе оптические жилы используются для передачи и приема сигналов между элементами сети. </a:t>
            </a:r>
          </a:p>
          <a:p>
            <a:pPr algn="just"/>
            <a:r>
              <a:rPr lang="ru-RU" dirty="0" smtClean="0"/>
              <a:t>Емкость канала разбивается на несколько двунаправленных рабочих линий. </a:t>
            </a:r>
          </a:p>
          <a:p>
            <a:pPr algn="just"/>
            <a:r>
              <a:rPr lang="ru-RU" dirty="0" smtClean="0"/>
              <a:t>При разрыве кольца, на концах поврежденного сегмента потоки коммутируются на резервную рабочую линию в обход этого сегмента</a:t>
            </a:r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64488" cy="980728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dirty="0" smtClean="0">
                <a:solidFill>
                  <a:srgbClr val="002060"/>
                </a:solidFill>
              </a:rPr>
              <a:t>Схема резервирования в двунаправленном кольце </a:t>
            </a:r>
          </a:p>
        </p:txBody>
      </p:sp>
      <p:pic>
        <p:nvPicPr>
          <p:cNvPr id="9625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8313" y="1700213"/>
            <a:ext cx="8135937" cy="4059237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https://avatars.mds.yandex.net/i?id=0949e51be4a67bc5ba123f8a445f1efd25db939c-4709556-images-thumbs&amp;n=1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892480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/>
          <a:lstStyle/>
          <a:p>
            <a:endParaRPr lang="ru-RU"/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https://myslide.ru/documents_4/d775aa0f163d8528b4213a0fd0ce5095/img17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https://myslide.ru/documents_4/d775aa0f163d8528b4213a0fd0ce5095/img18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564" t="4851" r="2564" b="1850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Picture background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704" t="4851" r="2778" b="13251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052736"/>
            <a:ext cx="8229600" cy="2736304"/>
          </a:xfrm>
        </p:spPr>
        <p:txBody>
          <a:bodyPr>
            <a:noAutofit/>
          </a:bodyPr>
          <a:lstStyle/>
          <a:p>
            <a:r>
              <a:rPr lang="ru-RU" sz="4000" b="1" dirty="0" smtClean="0">
                <a:solidFill>
                  <a:srgbClr val="002060"/>
                </a:solidFill>
              </a:rPr>
              <a:t>3.Технология</a:t>
            </a:r>
            <a:r>
              <a:rPr lang="en-US" sz="4000" b="1" dirty="0" smtClean="0">
                <a:solidFill>
                  <a:srgbClr val="002060"/>
                </a:solidFill>
              </a:rPr>
              <a:t> WDM</a:t>
            </a:r>
            <a:r>
              <a:rPr lang="ru-RU" sz="4000" b="1" dirty="0" smtClean="0">
                <a:solidFill>
                  <a:srgbClr val="002060"/>
                </a:solidFill>
              </a:rPr>
              <a:t>.</a:t>
            </a:r>
            <a:br>
              <a:rPr lang="ru-RU" sz="4000" b="1" dirty="0" smtClean="0">
                <a:solidFill>
                  <a:srgbClr val="002060"/>
                </a:solidFill>
              </a:rPr>
            </a:br>
            <a:r>
              <a:rPr lang="ru-RU" sz="4000" b="1" dirty="0" smtClean="0">
                <a:solidFill>
                  <a:srgbClr val="002060"/>
                </a:solidFill>
              </a:rPr>
              <a:t> Оптические системы передачи</a:t>
            </a:r>
            <a:endParaRPr lang="ru-RU" sz="4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Оптические системы передачи </a:t>
            </a:r>
            <a:r>
              <a:rPr lang="en-US" sz="3600" b="1" dirty="0" smtClean="0">
                <a:solidFill>
                  <a:srgbClr val="002060"/>
                </a:solidFill>
              </a:rPr>
              <a:t>WDM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Autofit/>
          </a:bodyPr>
          <a:lstStyle/>
          <a:p>
            <a:endParaRPr lang="ru-RU" sz="2000" dirty="0" smtClean="0"/>
          </a:p>
          <a:p>
            <a:r>
              <a:rPr lang="ru-RU" sz="2000" dirty="0" smtClean="0"/>
              <a:t>Оптические системы передачи можно классифицировать по режиму мультиплексирования сигнала:</a:t>
            </a:r>
          </a:p>
          <a:p>
            <a:pPr>
              <a:buNone/>
            </a:pPr>
            <a:r>
              <a:rPr lang="ru-RU" sz="2000" dirty="0" smtClean="0"/>
              <a:t>  -    </a:t>
            </a:r>
            <a:r>
              <a:rPr lang="en-US" sz="2000" dirty="0" smtClean="0"/>
              <a:t>FD</a:t>
            </a:r>
            <a:r>
              <a:rPr lang="ru-RU" sz="2000" dirty="0" smtClean="0"/>
              <a:t>М</a:t>
            </a:r>
            <a:r>
              <a:rPr lang="en-US" sz="2000" dirty="0" smtClean="0"/>
              <a:t> (Frequency Division Multiplexing</a:t>
            </a:r>
            <a:r>
              <a:rPr lang="ru-RU" sz="2000" dirty="0" smtClean="0"/>
              <a:t>)</a:t>
            </a:r>
          </a:p>
          <a:p>
            <a:pPr>
              <a:buNone/>
            </a:pPr>
            <a:r>
              <a:rPr lang="ru-RU" sz="2000" dirty="0" smtClean="0"/>
              <a:t>               Частотное мультиплексирование. </a:t>
            </a:r>
          </a:p>
          <a:p>
            <a:pPr>
              <a:buNone/>
            </a:pPr>
            <a:r>
              <a:rPr lang="ru-RU" sz="2000" dirty="0" smtClean="0"/>
              <a:t>   -  </a:t>
            </a:r>
            <a:r>
              <a:rPr lang="en-US" sz="2000" dirty="0" smtClean="0"/>
              <a:t>TD</a:t>
            </a:r>
            <a:r>
              <a:rPr lang="ru-RU" sz="2000" dirty="0" smtClean="0"/>
              <a:t>М</a:t>
            </a:r>
            <a:r>
              <a:rPr lang="en-US" sz="2000" dirty="0" smtClean="0"/>
              <a:t> (Time Division Multiplexing</a:t>
            </a:r>
            <a:r>
              <a:rPr lang="ru-RU" sz="2000" dirty="0" smtClean="0"/>
              <a:t>)</a:t>
            </a:r>
          </a:p>
          <a:p>
            <a:pPr>
              <a:buNone/>
            </a:pPr>
            <a:r>
              <a:rPr lang="ru-RU" sz="2000" dirty="0" smtClean="0"/>
              <a:t>               Временное мультиплексирование</a:t>
            </a:r>
          </a:p>
          <a:p>
            <a:pPr>
              <a:buNone/>
            </a:pPr>
            <a:r>
              <a:rPr lang="ru-RU" sz="2000" dirty="0" smtClean="0"/>
              <a:t>    -  </a:t>
            </a:r>
            <a:r>
              <a:rPr lang="en-US" sz="2000" dirty="0" smtClean="0"/>
              <a:t>WDM (Wavelength Division Multiplexing</a:t>
            </a:r>
            <a:r>
              <a:rPr lang="ru-RU" sz="2000" dirty="0" smtClean="0"/>
              <a:t>)</a:t>
            </a:r>
          </a:p>
          <a:p>
            <a:pPr>
              <a:buNone/>
            </a:pPr>
            <a:r>
              <a:rPr lang="ru-RU" sz="2000" dirty="0" smtClean="0"/>
              <a:t>         </a:t>
            </a:r>
            <a:r>
              <a:rPr lang="en-US" sz="2000" dirty="0" smtClean="0"/>
              <a:t> </a:t>
            </a:r>
            <a:r>
              <a:rPr lang="ru-RU" sz="2000" dirty="0" smtClean="0"/>
              <a:t>       Волновое мультиплексирование </a:t>
            </a:r>
          </a:p>
          <a:p>
            <a:pPr>
              <a:buNone/>
            </a:pPr>
            <a:r>
              <a:rPr lang="ru-RU" sz="2000" b="1" dirty="0" smtClean="0"/>
              <a:t>WDM – это вид технологии передачи  </a:t>
            </a:r>
            <a:r>
              <a:rPr lang="ru-RU" sz="2000" b="1" dirty="0" err="1" smtClean="0"/>
              <a:t>волоконно</a:t>
            </a:r>
            <a:r>
              <a:rPr lang="ru-RU" sz="2000" b="1" dirty="0" smtClean="0"/>
              <a:t> -  оптической     связи. 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       Исходя из факта, что по волокну можно передавать одновременно несколько несущих с разной длиной волны, </a:t>
            </a:r>
            <a:r>
              <a:rPr lang="ru-RU" sz="2000" b="1" dirty="0" smtClean="0"/>
              <a:t>эта технология делит, пригодные для передачи по волокну, длины волн на несколько диапазонов.</a:t>
            </a:r>
          </a:p>
          <a:p>
            <a:pPr>
              <a:buNone/>
            </a:pPr>
            <a:r>
              <a:rPr lang="ru-RU" sz="2000" dirty="0" smtClean="0"/>
              <a:t>      </a:t>
            </a:r>
            <a:r>
              <a:rPr lang="ru-RU" sz="2000" b="1" dirty="0" smtClean="0"/>
              <a:t>В каждом диапазоне передаётся оптический сигнал </a:t>
            </a:r>
          </a:p>
          <a:p>
            <a:pPr>
              <a:buNone/>
            </a:pPr>
            <a:r>
              <a:rPr lang="ru-RU" sz="2000" b="1" dirty="0" smtClean="0"/>
              <a:t>       на заданной длине волны и эти каналы независимы</a:t>
            </a:r>
            <a:r>
              <a:rPr lang="ru-RU" sz="2000" dirty="0" smtClean="0"/>
              <a:t>.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3.Технология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WDM </a:t>
            </a: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Существует два типа систем WDM, обеспечивающих: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dirty="0" smtClean="0"/>
              <a:t>        - грубое (CWDM) мультиплексирование с большим шагом разноса несущих или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dirty="0" smtClean="0"/>
              <a:t>       -  плотное (DWDM) разделение шкалы длин волн. 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ru-RU" sz="2800" b="1" dirty="0" smtClean="0"/>
              <a:t>Системы CWD</a:t>
            </a:r>
            <a:r>
              <a:rPr lang="ru-RU" sz="2800" dirty="0" smtClean="0"/>
              <a:t>M обычно обеспечивают передачу от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dirty="0" smtClean="0"/>
              <a:t> 8 до 16 длин волн с шагом в 20 нм,  от 1310 до 1630 нм.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ru-RU" sz="2800" b="1" dirty="0" smtClean="0"/>
              <a:t>Системы DWDM </a:t>
            </a:r>
            <a:r>
              <a:rPr lang="ru-RU" sz="2800" dirty="0" smtClean="0"/>
              <a:t>работают с количеством длин волн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dirty="0" smtClean="0"/>
              <a:t>      до 144, обычно с шагом менее 2 нм примерно в том же диапазоне длин волн. 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ru-RU" sz="2800" b="1" dirty="0" smtClean="0"/>
              <a:t>WDM (CWDM или DWDM) обычно используется в одном из двух приложений</a:t>
            </a:r>
            <a:r>
              <a:rPr lang="ru-RU" sz="2800" dirty="0" smtClean="0"/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964488" cy="562074"/>
          </a:xfrm>
        </p:spPr>
        <p:txBody>
          <a:bodyPr>
            <a:noAutofit/>
          </a:bodyPr>
          <a:lstStyle/>
          <a:p>
            <a:pPr eaLnBrk="1" hangingPunct="1"/>
            <a:r>
              <a:rPr lang="ru-RU" sz="3200" b="1" dirty="0" smtClean="0">
                <a:solidFill>
                  <a:srgbClr val="002060"/>
                </a:solidFill>
              </a:rPr>
              <a:t>3.Технология </a:t>
            </a:r>
            <a:r>
              <a:rPr lang="en-US" sz="3200" b="1" dirty="0" smtClean="0">
                <a:solidFill>
                  <a:srgbClr val="002060"/>
                </a:solidFill>
              </a:rPr>
              <a:t>WDM</a:t>
            </a:r>
            <a:endParaRPr lang="ru-RU" sz="3200" b="1" dirty="0" smtClean="0">
              <a:solidFill>
                <a:srgbClr val="002060"/>
              </a:solidFill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358775" y="1124744"/>
            <a:ext cx="8785225" cy="5733256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ru-RU" sz="2800" b="1" u="sng" dirty="0" smtClean="0"/>
              <a:t>Первое приложение </a:t>
            </a:r>
            <a:r>
              <a:rPr lang="ru-RU" sz="2800" b="1" dirty="0" smtClean="0"/>
              <a:t>и главное состоит в увеличении объема информации, передаваемого по оптическому волокну.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Большое количество потоков данных передаются по небольшому количеству оптических кабелей.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Это дает возможность значительно увеличить пропускную способность оптического кабеля. 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Так, при скорости 10 Гбит/с на канал, общая пропускная способность каждого волокна составит 1,25 </a:t>
            </a:r>
            <a:r>
              <a:rPr lang="ru-RU" sz="2800" dirty="0" err="1" smtClean="0"/>
              <a:t>Тбит</a:t>
            </a:r>
            <a:r>
              <a:rPr lang="ru-RU" sz="2800" dirty="0" smtClean="0"/>
              <a:t>/с.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Во многих случаях проложить новый оптический кабель оказывается слишком дорого или просто невозможно.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Тогда </a:t>
            </a:r>
            <a:r>
              <a:rPr lang="ru-RU" sz="2800" b="1" dirty="0" smtClean="0"/>
              <a:t>использование технологии WDM становится единственной возможностью для увеличения пропускной способности</a:t>
            </a:r>
            <a:r>
              <a:rPr lang="ru-RU" sz="2400" dirty="0" smtClean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79208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3.Технология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WDM</a:t>
            </a: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836712"/>
            <a:ext cx="8856663" cy="5616624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ru-RU" sz="2800" b="1" u="sng" dirty="0" smtClean="0"/>
              <a:t>Второе приложение WDM </a:t>
            </a:r>
            <a:r>
              <a:rPr lang="ru-RU" sz="2800" dirty="0" smtClean="0"/>
              <a:t>появилось сравнительно недавно, когда все большее число заказчиков стали использовать высокоскоростные каналы связи.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В этом случае оператор связи предоставляет заказчикам, имеющим офисы в разных точках города, длины волн в своем кабеле для организации каналов "точка­-точка".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b="1" dirty="0" smtClean="0"/>
              <a:t>Например, </a:t>
            </a:r>
            <a:r>
              <a:rPr lang="ru-RU" sz="2800" dirty="0" smtClean="0"/>
              <a:t>крупная компания, имеющая два здания в разных концах города, может поставить задачу их объединения.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 Для решения этой проблемы оператор может развернуть сеть.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При использовании WDM оператору нет необходимости заботиться о том, какой протокол или технология используется заказчиками, что дает возможность более гибкого предоставления услуг.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1052736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3.Разделение по длине волны WDМ</a:t>
            </a:r>
            <a:br>
              <a:rPr lang="ru-RU" sz="3200" b="1" dirty="0" smtClean="0">
                <a:solidFill>
                  <a:srgbClr val="002060"/>
                </a:solidFill>
              </a:rPr>
            </a:br>
            <a:r>
              <a:rPr lang="ru-RU" sz="3200" b="1" dirty="0" smtClean="0">
                <a:solidFill>
                  <a:srgbClr val="002060"/>
                </a:solidFill>
              </a:rPr>
              <a:t>(</a:t>
            </a:r>
            <a:r>
              <a:rPr lang="ru-RU" sz="3200" b="1" dirty="0" err="1" smtClean="0">
                <a:solidFill>
                  <a:srgbClr val="002060"/>
                </a:solidFill>
              </a:rPr>
              <a:t>Wavelength</a:t>
            </a:r>
            <a:r>
              <a:rPr lang="ru-RU" sz="3200" b="1" dirty="0" smtClean="0">
                <a:solidFill>
                  <a:srgbClr val="002060"/>
                </a:solidFill>
              </a:rPr>
              <a:t> </a:t>
            </a:r>
            <a:r>
              <a:rPr lang="ru-RU" sz="3200" b="1" dirty="0" err="1" smtClean="0">
                <a:solidFill>
                  <a:srgbClr val="002060"/>
                </a:solidFill>
              </a:rPr>
              <a:t>DivisionMultiplexing</a:t>
            </a:r>
            <a:r>
              <a:rPr lang="ru-RU" sz="3200" b="1" dirty="0" smtClean="0">
                <a:solidFill>
                  <a:srgbClr val="002060"/>
                </a:solidFill>
              </a:rPr>
              <a:t>).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Классы WDM</a:t>
            </a:r>
          </a:p>
          <a:p>
            <a:pPr>
              <a:buNone/>
            </a:pPr>
            <a:r>
              <a:rPr lang="ru-RU" dirty="0" smtClean="0"/>
              <a:t>     В зависимости от интервала частот между спектральными каналами WDM системы делятся на два основных класса: </a:t>
            </a:r>
          </a:p>
          <a:p>
            <a:pPr>
              <a:buNone/>
            </a:pPr>
            <a:r>
              <a:rPr lang="ru-RU" dirty="0" smtClean="0"/>
              <a:t>           - системы редкого (неплотного) спектрального уплотнения </a:t>
            </a:r>
          </a:p>
          <a:p>
            <a:pPr>
              <a:buNone/>
            </a:pPr>
            <a:r>
              <a:rPr lang="ru-RU" dirty="0" smtClean="0"/>
              <a:t>            (</a:t>
            </a:r>
            <a:r>
              <a:rPr lang="ru-RU" dirty="0" err="1" smtClean="0"/>
              <a:t>coarse</a:t>
            </a:r>
            <a:r>
              <a:rPr lang="ru-RU" dirty="0" smtClean="0"/>
              <a:t> – </a:t>
            </a:r>
            <a:r>
              <a:rPr lang="ru-RU" b="1" dirty="0" smtClean="0"/>
              <a:t>WDM        (CDMA</a:t>
            </a:r>
            <a:r>
              <a:rPr lang="ru-RU" dirty="0" smtClean="0"/>
              <a:t>)) с числом каналов менее 40,</a:t>
            </a:r>
          </a:p>
          <a:p>
            <a:pPr>
              <a:buNone/>
            </a:pPr>
            <a:r>
              <a:rPr lang="ru-RU" dirty="0" smtClean="0"/>
              <a:t>           - системы плотного спектрального уплотнения </a:t>
            </a:r>
          </a:p>
          <a:p>
            <a:pPr>
              <a:buNone/>
            </a:pPr>
            <a:r>
              <a:rPr lang="ru-RU" dirty="0" smtClean="0"/>
              <a:t>             (</a:t>
            </a:r>
            <a:r>
              <a:rPr lang="ru-RU" dirty="0" err="1" smtClean="0"/>
              <a:t>dense</a:t>
            </a:r>
            <a:r>
              <a:rPr lang="ru-RU" dirty="0" smtClean="0"/>
              <a:t> </a:t>
            </a:r>
            <a:r>
              <a:rPr lang="ru-RU" b="1" dirty="0" smtClean="0"/>
              <a:t>– WDM (DWDM</a:t>
            </a:r>
            <a:r>
              <a:rPr lang="ru-RU" dirty="0" smtClean="0"/>
              <a:t>)) с числом каналов в системе более 80.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b="1" dirty="0" smtClean="0"/>
              <a:t>      1. Системы DWDM соответствуют уровню STM-64 (10 Гбит/с) </a:t>
            </a:r>
            <a:r>
              <a:rPr lang="ru-RU" dirty="0" smtClean="0"/>
              <a:t>и </a:t>
            </a:r>
          </a:p>
          <a:p>
            <a:pPr>
              <a:buNone/>
            </a:pPr>
            <a:r>
              <a:rPr lang="ru-RU" dirty="0" smtClean="0"/>
              <a:t>      позволяют передавать   8/96 длин волн в диапазоне 1550 нм</a:t>
            </a:r>
          </a:p>
          <a:p>
            <a:pPr>
              <a:buNone/>
            </a:pPr>
            <a:r>
              <a:rPr lang="ru-RU" dirty="0" smtClean="0"/>
              <a:t>       с интервалом 50/100 ГГц.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b="1" dirty="0" smtClean="0"/>
              <a:t>      2.Следующее поколение систем DWDM связано с уровнем</a:t>
            </a:r>
          </a:p>
          <a:p>
            <a:pPr>
              <a:buNone/>
            </a:pPr>
            <a:r>
              <a:rPr lang="ru-RU" b="1" dirty="0" smtClean="0"/>
              <a:t>       STM-256  (40 Гбит/с)</a:t>
            </a:r>
            <a:r>
              <a:rPr lang="ru-RU" dirty="0" smtClean="0"/>
              <a:t>, позволяет передавать по одному волокну</a:t>
            </a:r>
          </a:p>
          <a:p>
            <a:pPr>
              <a:buNone/>
            </a:pPr>
            <a:r>
              <a:rPr lang="ru-RU" dirty="0" smtClean="0"/>
              <a:t>        100/200 длин волн в диапазоне 1550 нм с интервалом между </a:t>
            </a:r>
          </a:p>
          <a:p>
            <a:pPr>
              <a:buNone/>
            </a:pPr>
            <a:r>
              <a:rPr lang="ru-RU" dirty="0" smtClean="0"/>
              <a:t>          каналами 25/50 ГГц.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В дальнейшем предполагается, что число каналов в системах CWDM будет более 40, а в системах DWDM – более 200.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784976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Оптические системы передачи </a:t>
            </a:r>
            <a:r>
              <a:rPr lang="en-US" sz="3600" b="1" dirty="0" smtClean="0">
                <a:solidFill>
                  <a:srgbClr val="002060"/>
                </a:solidFill>
              </a:rPr>
              <a:t>WDM</a:t>
            </a:r>
            <a:endParaRPr lang="ru-RU" sz="3600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393" t="9627" r="2394" b="6558"/>
          <a:stretch>
            <a:fillRect/>
          </a:stretch>
        </p:blipFill>
        <p:spPr bwMode="auto">
          <a:xfrm>
            <a:off x="0" y="764704"/>
            <a:ext cx="9144000" cy="6093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3.Оптические системы передачи</a:t>
            </a:r>
            <a:r>
              <a:rPr lang="en-US" sz="3200" b="1" dirty="0" smtClean="0">
                <a:solidFill>
                  <a:srgbClr val="002060"/>
                </a:solidFill>
              </a:rPr>
              <a:t> WDM</a:t>
            </a:r>
            <a:r>
              <a:rPr lang="ru-RU" sz="3200" b="1" dirty="0" smtClean="0">
                <a:solidFill>
                  <a:srgbClr val="002060"/>
                </a:solidFill>
              </a:rPr>
              <a:t> </a:t>
            </a:r>
            <a:br>
              <a:rPr lang="ru-RU" sz="3200" b="1" dirty="0" smtClean="0">
                <a:solidFill>
                  <a:srgbClr val="002060"/>
                </a:solidFill>
              </a:rPr>
            </a:br>
            <a:r>
              <a:rPr lang="ru-RU" sz="3200" b="1" dirty="0" smtClean="0">
                <a:solidFill>
                  <a:srgbClr val="002060"/>
                </a:solidFill>
              </a:rPr>
              <a:t>с линейной регенерацией </a:t>
            </a:r>
          </a:p>
        </p:txBody>
      </p:sp>
      <p:pic>
        <p:nvPicPr>
          <p:cNvPr id="105475" name="Picture 4" descr="Оптические системы передачи: а) с линейной регенерацией; б) DWDM составной сигнал с одним участком разделения по длине волны; в) DWDM составной сигнал с оптическим усилителем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5182" t="2762" r="26988" b="85696"/>
          <a:stretch>
            <a:fillRect/>
          </a:stretch>
        </p:blipFill>
        <p:spPr>
          <a:xfrm>
            <a:off x="179512" y="5013176"/>
            <a:ext cx="8964487" cy="1844824"/>
          </a:xfrm>
          <a:noFill/>
        </p:spPr>
      </p:pic>
      <p:sp>
        <p:nvSpPr>
          <p:cNvPr id="105476" name="Rectangle 7"/>
          <p:cNvSpPr>
            <a:spLocks noChangeArrowheads="1"/>
          </p:cNvSpPr>
          <p:nvPr/>
        </p:nvSpPr>
        <p:spPr bwMode="auto">
          <a:xfrm>
            <a:off x="179512" y="1196753"/>
            <a:ext cx="8964488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При передаче одиночного оптического сигнала каждый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регенератор:</a:t>
            </a:r>
          </a:p>
          <a:p>
            <a:pPr marL="363538" indent="-363538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- 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преобразует оптический сигнал в электрический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- корректирует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временные параметры,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- выделяет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передаваемую информацию и в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результате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   -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управляет лазерным передатчиком для регенерации сигнала и последовательного ввода информации в оптический кабель для передачи ее по следующему участку.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3.Технология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WDM</a:t>
            </a: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764704"/>
            <a:ext cx="8785225" cy="590465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ru-RU" sz="2800" b="1" dirty="0" smtClean="0"/>
              <a:t>Устройства для организации WDM пассивны, т.е. не требуют электропитания</a:t>
            </a:r>
            <a:r>
              <a:rPr lang="ru-RU" sz="2800" dirty="0" smtClean="0"/>
              <a:t>. 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sz="2800" dirty="0" smtClean="0"/>
              <a:t>Однако многие из них требуют постоянной температуры. 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sz="2800" dirty="0" smtClean="0"/>
              <a:t>Для этого устанавливаются устройства регулировки температуры, а им необходимо удаленное электропитание.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Тогда используется смешанный кабель, который наряду с оптическими волокнами содержит медные жилы</a:t>
            </a:r>
            <a:r>
              <a:rPr lang="ru-RU" sz="2800" dirty="0" smtClean="0"/>
              <a:t>. 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sz="2800" b="1" dirty="0" smtClean="0"/>
              <a:t>Для обеспечения норм по затуханию при передаче информации по оптическим кабелям применяются регенераторы и усилители сигналов.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14602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Пример построения SDH с использованием технологии</a:t>
            </a:r>
            <a:r>
              <a:rPr lang="en-US" b="1" dirty="0" smtClean="0">
                <a:solidFill>
                  <a:srgbClr val="002060"/>
                </a:solidFill>
              </a:rPr>
              <a:t> WDM</a:t>
            </a:r>
            <a:r>
              <a:rPr lang="ru-RU" b="1" dirty="0" smtClean="0">
                <a:solidFill>
                  <a:srgbClr val="002060"/>
                </a:solidFill>
              </a:rPr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Пример построения SDH(1/6)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688632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Телекоммуникационная сеть SDH в городе  строилась поэтапно.</a:t>
            </a:r>
          </a:p>
          <a:p>
            <a:r>
              <a:rPr lang="ru-RU" dirty="0" smtClean="0"/>
              <a:t> В начале было построено волоконно-оптическое кольцо на базе 16-ти волоконного оптического кабеля и транспортных единиц STM-1, которое объединило 5 АТС. </a:t>
            </a:r>
          </a:p>
          <a:p>
            <a:r>
              <a:rPr lang="ru-RU" dirty="0" smtClean="0"/>
              <a:t>В </a:t>
            </a:r>
            <a:r>
              <a:rPr lang="ru-RU" b="1" dirty="0" smtClean="0"/>
              <a:t>качестве узлового оборудования были использованы мультиплексоры ввода-вывода (МВВ). </a:t>
            </a:r>
          </a:p>
          <a:p>
            <a:r>
              <a:rPr lang="ru-RU" dirty="0" smtClean="0"/>
              <a:t>К этому кольцу были подключены цифровые АТС, выносные концентраторы (ВК) и узлы наложенной сети передачи данных (СПД).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Основной нагрузкой этой сети был телефонный трафик между АТС. </a:t>
            </a:r>
          </a:p>
          <a:p>
            <a:r>
              <a:rPr lang="ru-RU" dirty="0" smtClean="0"/>
              <a:t>В последствии с развитием систем сотовой связи нагрузка на сеть увеличилась за счет трафика мобильной связи систем NMT-450 и GSM.</a:t>
            </a:r>
          </a:p>
          <a:p>
            <a:r>
              <a:rPr lang="ru-RU" b="1" dirty="0" smtClean="0"/>
              <a:t>В связи с этим происходило модернизация сети путем введения на кольце модулей STM-4, STM-16, строительства дополнительного кольца, </a:t>
            </a:r>
            <a:r>
              <a:rPr lang="ru-RU" dirty="0" smtClean="0"/>
              <a:t>примыкающего к первому, новых цифровых АТС и выносных концентраторов, которые на рисунке не показаны.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634082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ТК сеть </a:t>
            </a:r>
            <a:r>
              <a:rPr lang="en-US" b="1" dirty="0" smtClean="0">
                <a:solidFill>
                  <a:srgbClr val="002060"/>
                </a:solidFill>
              </a:rPr>
              <a:t>SDH</a:t>
            </a:r>
            <a:r>
              <a:rPr lang="ru-RU" b="1" dirty="0" smtClean="0">
                <a:solidFill>
                  <a:srgbClr val="002060"/>
                </a:solidFill>
              </a:rPr>
              <a:t> (2/6)</a:t>
            </a: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7476" r="3538" b="23072"/>
          <a:stretch>
            <a:fillRect/>
          </a:stretch>
        </p:blipFill>
        <p:spPr bwMode="auto">
          <a:xfrm>
            <a:off x="251520" y="980729"/>
            <a:ext cx="8892480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Пример построения SDH(3/6)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24744"/>
            <a:ext cx="8712968" cy="5544616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smtClean="0"/>
              <a:t>Областной сегмент сети был выполнен на основе ВОЛС </a:t>
            </a:r>
            <a:r>
              <a:rPr lang="ru-RU" dirty="0" smtClean="0"/>
              <a:t>и цифровых радиорелейных линий (ЦРРЛ) в виде </a:t>
            </a:r>
            <a:r>
              <a:rPr lang="ru-RU" b="1" dirty="0" smtClean="0"/>
              <a:t>магистрали, последовательно соединяющей МВВ, находящиеся в районных центрах и крупных населенных пунктах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u="sng" dirty="0" smtClean="0"/>
              <a:t>Основные потребители трафика те же самые, что и в городе (АТС, узлы СПД, узлы сотовой связи). </a:t>
            </a:r>
          </a:p>
          <a:p>
            <a:r>
              <a:rPr lang="ru-RU" dirty="0" smtClean="0"/>
              <a:t>Эта магистраль для обслуживания других районов и с целью резервирования будет охвачена двумя полукольцами.</a:t>
            </a:r>
          </a:p>
          <a:p>
            <a:r>
              <a:rPr lang="ru-RU" b="1" dirty="0" smtClean="0"/>
              <a:t>Пропускная способность всех волоконно-оптических компонентов реализуется с большим запасом</a:t>
            </a:r>
            <a:r>
              <a:rPr lang="ru-RU" dirty="0" smtClean="0"/>
              <a:t>, </a:t>
            </a:r>
          </a:p>
          <a:p>
            <a:pPr>
              <a:buNone/>
            </a:pPr>
            <a:r>
              <a:rPr lang="ru-RU" dirty="0" smtClean="0"/>
              <a:t>     поэтому при планировании и проектировании сети </a:t>
            </a:r>
            <a:r>
              <a:rPr lang="ru-RU" b="1" dirty="0" smtClean="0"/>
              <a:t>основной задачей было рациональное распределение цифровых потоков с помощью МВВ и </a:t>
            </a:r>
            <a:r>
              <a:rPr lang="ru-RU" b="1" u="sng" dirty="0" smtClean="0"/>
              <a:t>применение технологии WDM.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8892480" cy="562074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</a:t>
            </a:r>
            <a:r>
              <a:rPr lang="ru-RU" sz="3200" b="1" dirty="0" smtClean="0">
                <a:solidFill>
                  <a:srgbClr val="002060"/>
                </a:solidFill>
              </a:rPr>
              <a:t>рименение В-О технологий WDM с </a:t>
            </a:r>
            <a:r>
              <a:rPr lang="en-US" sz="3200" b="1" dirty="0" smtClean="0">
                <a:solidFill>
                  <a:srgbClr val="002060"/>
                </a:solidFill>
              </a:rPr>
              <a:t>SDH</a:t>
            </a:r>
            <a:r>
              <a:rPr lang="ru-RU" sz="3200" b="1" dirty="0" smtClean="0">
                <a:solidFill>
                  <a:srgbClr val="002060"/>
                </a:solidFill>
              </a:rPr>
              <a:t>(4/6)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55000" lnSpcReduction="20000"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sz="3300" b="1" dirty="0" smtClean="0"/>
              <a:t>1</a:t>
            </a:r>
            <a:r>
              <a:rPr lang="ru-RU" sz="3300" dirty="0" smtClean="0"/>
              <a:t>.Здесь как и ранее </a:t>
            </a:r>
            <a:r>
              <a:rPr lang="ru-RU" sz="3300" b="1" dirty="0" smtClean="0"/>
              <a:t>МВВ собирает цифровые потоки, а затем оптические лазерные </a:t>
            </a:r>
          </a:p>
          <a:p>
            <a:pPr>
              <a:buNone/>
            </a:pPr>
            <a:r>
              <a:rPr lang="ru-RU" sz="3300" b="1" dirty="0" smtClean="0"/>
              <a:t>      передатчики (ОП) преобразуют их в оптические сигналы с разными   длинами волн т</a:t>
            </a:r>
            <a:r>
              <a:rPr lang="ru-RU" sz="3300" dirty="0" smtClean="0"/>
              <a:t>ак, чтобы их полосы не пересекались. </a:t>
            </a:r>
          </a:p>
          <a:p>
            <a:r>
              <a:rPr lang="ru-RU" sz="3300" b="1" dirty="0" smtClean="0"/>
              <a:t>2.Далее световые потоки объединяются в оптическом мультиплексоре WDM, </a:t>
            </a:r>
          </a:p>
          <a:p>
            <a:pPr>
              <a:buNone/>
            </a:pPr>
            <a:r>
              <a:rPr lang="ru-RU" sz="3300" b="1" dirty="0" smtClean="0"/>
              <a:t>     передаются </a:t>
            </a:r>
            <a:r>
              <a:rPr lang="ru-RU" sz="3300" dirty="0" smtClean="0"/>
              <a:t>с усилением или без него </a:t>
            </a:r>
            <a:r>
              <a:rPr lang="ru-RU" sz="3300" b="1" dirty="0" smtClean="0"/>
              <a:t>по волокну</a:t>
            </a:r>
            <a:r>
              <a:rPr lang="ru-RU" sz="3300" dirty="0" smtClean="0"/>
              <a:t>, а далее</a:t>
            </a:r>
          </a:p>
          <a:p>
            <a:pPr>
              <a:buNone/>
            </a:pPr>
            <a:r>
              <a:rPr lang="ru-RU" sz="3300" b="1" dirty="0" smtClean="0"/>
              <a:t>     3. </a:t>
            </a:r>
            <a:r>
              <a:rPr lang="ru-RU" sz="3300" b="1" dirty="0" err="1" smtClean="0"/>
              <a:t>Демультиплексируются</a:t>
            </a:r>
            <a:r>
              <a:rPr lang="ru-RU" sz="3300" b="1" dirty="0" smtClean="0"/>
              <a:t>  и разбиваются на отдельные STM - структуры.</a:t>
            </a:r>
          </a:p>
          <a:p>
            <a:r>
              <a:rPr lang="ru-RU" sz="3300" dirty="0" smtClean="0"/>
              <a:t>Число N, объединяемых световых потоков STM-64, может достигать 80. </a:t>
            </a:r>
          </a:p>
          <a:p>
            <a:r>
              <a:rPr lang="ru-RU" sz="3300" dirty="0" smtClean="0"/>
              <a:t>4. </a:t>
            </a:r>
            <a:r>
              <a:rPr lang="ru-RU" sz="3300" b="1" dirty="0" smtClean="0"/>
              <a:t>При этом результирующая пропускная способность составляет фантастическую </a:t>
            </a:r>
          </a:p>
          <a:p>
            <a:pPr>
              <a:buNone/>
            </a:pPr>
            <a:r>
              <a:rPr lang="ru-RU" sz="3300" b="1" dirty="0" smtClean="0"/>
              <a:t>        цифру -  800 Гбит/с.</a:t>
            </a:r>
          </a:p>
          <a:p>
            <a:r>
              <a:rPr lang="ru-RU" sz="3300" dirty="0" smtClean="0"/>
              <a:t>Далее следует учесть, что в оптическом кабеле расположено несколько волокон</a:t>
            </a:r>
          </a:p>
          <a:p>
            <a:pPr>
              <a:buNone/>
            </a:pPr>
            <a:r>
              <a:rPr lang="ru-RU" sz="3300" dirty="0" smtClean="0"/>
              <a:t>        (от 2 до 24 и более).</a:t>
            </a:r>
          </a:p>
        </p:txBody>
      </p:sp>
      <p:pic>
        <p:nvPicPr>
          <p:cNvPr id="4" name="Содержимое 3"/>
          <p:cNvPicPr>
            <a:picLocks/>
          </p:cNvPicPr>
          <p:nvPr/>
        </p:nvPicPr>
        <p:blipFill>
          <a:blip r:embed="rId2" cstate="print"/>
          <a:srcRect l="11504" t="4932" r="12574" b="66464"/>
          <a:stretch>
            <a:fillRect/>
          </a:stretch>
        </p:blipFill>
        <p:spPr bwMode="auto">
          <a:xfrm>
            <a:off x="539552" y="980728"/>
            <a:ext cx="8208912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64488" cy="548680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Применение В-О технологий WDM с </a:t>
            </a:r>
            <a:r>
              <a:rPr lang="en-US" sz="3600" b="1" dirty="0" smtClean="0">
                <a:solidFill>
                  <a:srgbClr val="002060"/>
                </a:solidFill>
              </a:rPr>
              <a:t>SDH</a:t>
            </a:r>
            <a:r>
              <a:rPr lang="ru-RU" sz="3600" b="1" dirty="0" smtClean="0">
                <a:solidFill>
                  <a:srgbClr val="002060"/>
                </a:solidFill>
              </a:rPr>
              <a:t> (5/6)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fontScale="40000" lnSpcReduction="20000"/>
          </a:bodyPr>
          <a:lstStyle/>
          <a:p>
            <a:r>
              <a:rPr lang="ru-RU" sz="5000" dirty="0" smtClean="0"/>
              <a:t>Ряд проблем в </a:t>
            </a:r>
            <a:r>
              <a:rPr lang="ru-RU" sz="5000" b="1" dirty="0" smtClean="0"/>
              <a:t>развитии телекоммуникационных систем можно решить методом избыточности – путем существенного увеличения пропускной способности</a:t>
            </a:r>
            <a:r>
              <a:rPr lang="ru-RU" sz="5000" dirty="0" smtClean="0"/>
              <a:t>. </a:t>
            </a:r>
          </a:p>
          <a:p>
            <a:r>
              <a:rPr lang="ru-RU" sz="5000" dirty="0" smtClean="0"/>
              <a:t> Рассмотрим стандартную схему магистральной ЦСП на основе ВОЛС и технологии SDH, представленную на рисунке. 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sz="4200" dirty="0" smtClean="0"/>
          </a:p>
          <a:p>
            <a:endParaRPr lang="ru-RU" sz="5000" dirty="0" smtClean="0"/>
          </a:p>
          <a:p>
            <a:r>
              <a:rPr lang="ru-RU" sz="5000" b="1" dirty="0" smtClean="0"/>
              <a:t>1. Здесь компонентные потоки E1, E3, STM-1 и другие объединяются мультиплексором ввода-вывода (МВВ</a:t>
            </a:r>
            <a:r>
              <a:rPr lang="ru-RU" sz="5000" dirty="0" smtClean="0"/>
              <a:t>) </a:t>
            </a:r>
            <a:r>
              <a:rPr lang="ru-RU" sz="5000" b="1" dirty="0" smtClean="0"/>
              <a:t>и передаются </a:t>
            </a:r>
            <a:r>
              <a:rPr lang="ru-RU" sz="5000" dirty="0" smtClean="0"/>
              <a:t>по волоконно-оптической линии связи.</a:t>
            </a:r>
          </a:p>
          <a:p>
            <a:r>
              <a:rPr lang="ru-RU" sz="5000" b="1" dirty="0" smtClean="0"/>
              <a:t>2.  </a:t>
            </a:r>
            <a:r>
              <a:rPr lang="ru-RU" sz="5000" dirty="0" smtClean="0"/>
              <a:t>Если магистраль протяженная, </a:t>
            </a:r>
            <a:r>
              <a:rPr lang="ru-RU" sz="5000" b="1" dirty="0" smtClean="0"/>
              <a:t>то для усиления и восстановления цифрового сигнала применяются оптические усилители (ОУ) и</a:t>
            </a:r>
          </a:p>
          <a:p>
            <a:pPr>
              <a:buNone/>
            </a:pPr>
            <a:r>
              <a:rPr lang="ru-RU" sz="5000" b="1" dirty="0" smtClean="0"/>
              <a:t>       регенераторы (Р). </a:t>
            </a:r>
          </a:p>
          <a:p>
            <a:r>
              <a:rPr lang="ru-RU" sz="5000" b="1" dirty="0" smtClean="0"/>
              <a:t>3. Далее по трассе на узлах стоят либо следующие МВВ, либо </a:t>
            </a:r>
          </a:p>
          <a:p>
            <a:pPr>
              <a:buNone/>
            </a:pPr>
            <a:r>
              <a:rPr lang="ru-RU" sz="5000" b="1" dirty="0" smtClean="0"/>
              <a:t>          кросс - </a:t>
            </a:r>
            <a:r>
              <a:rPr lang="ru-RU" sz="5000" b="1" dirty="0" err="1" smtClean="0"/>
              <a:t>коннекторы</a:t>
            </a:r>
            <a:r>
              <a:rPr lang="ru-RU" sz="5000" b="1" dirty="0" smtClean="0"/>
              <a:t> (КК). </a:t>
            </a:r>
          </a:p>
          <a:p>
            <a:r>
              <a:rPr lang="ru-RU" sz="5000" dirty="0" smtClean="0"/>
              <a:t>Пропускная способность этой трассы зависит от технических характеристик всех ее элементов</a:t>
            </a:r>
            <a:r>
              <a:rPr lang="ru-RU" sz="4200" dirty="0" smtClean="0"/>
              <a:t>. </a:t>
            </a:r>
          </a:p>
        </p:txBody>
      </p:sp>
      <p:pic>
        <p:nvPicPr>
          <p:cNvPr id="4" name="Содержимое 3"/>
          <p:cNvPicPr>
            <a:picLocks/>
          </p:cNvPicPr>
          <p:nvPr/>
        </p:nvPicPr>
        <p:blipFill>
          <a:blip r:embed="rId2" cstate="print"/>
          <a:srcRect l="10184" t="31142" r="7087" b="51124"/>
          <a:stretch>
            <a:fillRect/>
          </a:stretch>
        </p:blipFill>
        <p:spPr bwMode="auto">
          <a:xfrm>
            <a:off x="251520" y="2060848"/>
            <a:ext cx="8712968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algn="l"/>
            <a:r>
              <a:rPr lang="ru-RU" sz="3200" b="1" dirty="0" smtClean="0">
                <a:solidFill>
                  <a:srgbClr val="002060"/>
                </a:solidFill>
              </a:rPr>
              <a:t>Применение В-О технологий WDM с </a:t>
            </a:r>
            <a:r>
              <a:rPr lang="en-US" sz="3200" b="1" dirty="0" smtClean="0">
                <a:solidFill>
                  <a:srgbClr val="002060"/>
                </a:solidFill>
              </a:rPr>
              <a:t>SDH</a:t>
            </a:r>
            <a:r>
              <a:rPr lang="ru-RU" sz="3200" b="1" dirty="0" smtClean="0">
                <a:solidFill>
                  <a:srgbClr val="002060"/>
                </a:solidFill>
              </a:rPr>
              <a:t> (6/6)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Так ВОЛС, работающая на </a:t>
            </a:r>
            <a:r>
              <a:rPr lang="ru-RU" dirty="0" err="1" smtClean="0"/>
              <a:t>одномодовом</a:t>
            </a:r>
            <a:r>
              <a:rPr lang="ru-RU" dirty="0" smtClean="0"/>
              <a:t> волокне с длинной</a:t>
            </a:r>
          </a:p>
          <a:p>
            <a:pPr>
              <a:buNone/>
            </a:pPr>
            <a:r>
              <a:rPr lang="ru-RU" dirty="0" smtClean="0"/>
              <a:t>       волны света 1.55 мкм имеет полосу пропускания 0.2 мкм или 25Тгц.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Это потенциальные ресурсы волокна </a:t>
            </a:r>
            <a:r>
              <a:rPr lang="ru-RU" dirty="0" smtClean="0"/>
              <a:t>(скорость передачи ~ 25 </a:t>
            </a:r>
            <a:r>
              <a:rPr lang="ru-RU" dirty="0" err="1" smtClean="0"/>
              <a:t>Тбит</a:t>
            </a:r>
            <a:r>
              <a:rPr lang="ru-RU" dirty="0" smtClean="0"/>
              <a:t>/с)    </a:t>
            </a:r>
            <a:r>
              <a:rPr lang="ru-RU" b="1" dirty="0" smtClean="0"/>
              <a:t>не могут быть реализованы из-за затухания света </a:t>
            </a:r>
            <a:r>
              <a:rPr lang="ru-RU" dirty="0" smtClean="0"/>
              <a:t>и различных видов дисперсии.</a:t>
            </a:r>
          </a:p>
          <a:p>
            <a:r>
              <a:rPr lang="ru-RU" dirty="0" smtClean="0"/>
              <a:t> </a:t>
            </a:r>
            <a:r>
              <a:rPr lang="ru-RU" b="1" u="sng" dirty="0" smtClean="0"/>
              <a:t>При этом может быть получена пропускная способность</a:t>
            </a:r>
          </a:p>
          <a:p>
            <a:pPr>
              <a:buNone/>
            </a:pPr>
            <a:r>
              <a:rPr lang="ru-RU" b="1" u="sng" dirty="0" smtClean="0"/>
              <a:t>       до 2-10 Гбит/</a:t>
            </a:r>
            <a:r>
              <a:rPr lang="ru-RU" b="1" u="sng" dirty="0" err="1" smtClean="0"/>
              <a:t>c</a:t>
            </a:r>
            <a:r>
              <a:rPr lang="ru-RU" b="1" u="sng" dirty="0" smtClean="0"/>
              <a:t>  при расстояниях 50-100 км</a:t>
            </a:r>
            <a:r>
              <a:rPr lang="ru-RU" dirty="0" smtClean="0"/>
              <a:t>. </a:t>
            </a:r>
          </a:p>
          <a:p>
            <a:r>
              <a:rPr lang="ru-RU" b="1" dirty="0" smtClean="0"/>
              <a:t>Мультиплексоры ввода-вывода (МВВ) стандартизированы </a:t>
            </a:r>
            <a:r>
              <a:rPr lang="ru-RU" dirty="0" smtClean="0"/>
              <a:t>и выпускаются со следующими скоростями линейных интерфейсов:</a:t>
            </a:r>
          </a:p>
          <a:p>
            <a:pPr>
              <a:buNone/>
            </a:pPr>
            <a:r>
              <a:rPr lang="ru-RU" dirty="0" smtClean="0"/>
              <a:t>             -  STM-1 (155 Мбит/</a:t>
            </a:r>
            <a:r>
              <a:rPr lang="ru-RU" dirty="0" err="1" smtClean="0"/>
              <a:t>c</a:t>
            </a:r>
            <a:r>
              <a:rPr lang="ru-RU" dirty="0" smtClean="0"/>
              <a:t>),</a:t>
            </a:r>
          </a:p>
          <a:p>
            <a:pPr>
              <a:buNone/>
            </a:pPr>
            <a:r>
              <a:rPr lang="ru-RU" dirty="0" smtClean="0"/>
              <a:t>             -  STM-4 (622 Мбит/</a:t>
            </a:r>
            <a:r>
              <a:rPr lang="ru-RU" dirty="0" err="1" smtClean="0"/>
              <a:t>c</a:t>
            </a:r>
            <a:r>
              <a:rPr lang="ru-RU" dirty="0" smtClean="0"/>
              <a:t>), </a:t>
            </a:r>
          </a:p>
          <a:p>
            <a:pPr>
              <a:buNone/>
            </a:pPr>
            <a:r>
              <a:rPr lang="ru-RU" dirty="0" smtClean="0"/>
              <a:t>             -  STM-16 (2.5 Гбит/</a:t>
            </a:r>
            <a:r>
              <a:rPr lang="ru-RU" dirty="0" err="1" smtClean="0"/>
              <a:t>c</a:t>
            </a:r>
            <a:r>
              <a:rPr lang="ru-RU" dirty="0" smtClean="0"/>
              <a:t>),  </a:t>
            </a:r>
          </a:p>
          <a:p>
            <a:pPr>
              <a:buNone/>
            </a:pPr>
            <a:r>
              <a:rPr lang="ru-RU" dirty="0" smtClean="0"/>
              <a:t>              - STM-64 (10 Гбит/</a:t>
            </a:r>
            <a:r>
              <a:rPr lang="ru-RU" dirty="0" err="1" smtClean="0"/>
              <a:t>c</a:t>
            </a:r>
            <a:r>
              <a:rPr lang="ru-RU" dirty="0" smtClean="0"/>
              <a:t>).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Оптические усилители (ОУ) и регенераторы (Р</a:t>
            </a:r>
            <a:r>
              <a:rPr lang="ru-RU" dirty="0" smtClean="0"/>
              <a:t>) имеют полосы пропускания, достаточные для работы с такими потоками. </a:t>
            </a:r>
          </a:p>
          <a:p>
            <a:r>
              <a:rPr lang="ru-RU" b="1" dirty="0" smtClean="0"/>
              <a:t>Дальнейшее наращивание пропускной способности систем передачи будет ограничиваться быстродействием мультиплексоров и    кросс – </a:t>
            </a:r>
            <a:r>
              <a:rPr lang="ru-RU" b="1" dirty="0" err="1" smtClean="0"/>
              <a:t>коннекторов</a:t>
            </a:r>
            <a:r>
              <a:rPr lang="ru-RU" b="1" dirty="0" smtClean="0"/>
              <a:t> </a:t>
            </a:r>
            <a:r>
              <a:rPr lang="ru-RU" dirty="0" smtClean="0"/>
              <a:t>, несмотря на высокую потенциальную возможность оптического волокна. </a:t>
            </a:r>
          </a:p>
          <a:p>
            <a:r>
              <a:rPr lang="ru-RU" dirty="0" smtClean="0"/>
              <a:t>  Поэтому для существенного повышения скорости передачи было предложено использовать частотное уплотнение  (ЧРК в оптическом диапазоне).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3592</Words>
  <Application>Microsoft Office PowerPoint</Application>
  <PresentationFormat>Экран (4:3)</PresentationFormat>
  <Paragraphs>337</Paragraphs>
  <Slides>66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66</vt:i4>
      </vt:variant>
    </vt:vector>
  </HeadingPairs>
  <TitlesOfParts>
    <vt:vector size="68" baseType="lpstr">
      <vt:lpstr>Тема Office</vt:lpstr>
      <vt:lpstr>VISIO</vt:lpstr>
      <vt:lpstr>Лекция 6.2</vt:lpstr>
      <vt:lpstr> Цели и задачи разработки SDH.  </vt:lpstr>
      <vt:lpstr>Слайд 3</vt:lpstr>
      <vt:lpstr> Технология SDH </vt:lpstr>
      <vt:lpstr>Слайд 5</vt:lpstr>
      <vt:lpstr>Слайд 6</vt:lpstr>
      <vt:lpstr>Многоуровневая модель SDH (1/3)</vt:lpstr>
      <vt:lpstr>Многоуровневая модель SDH (2/3)</vt:lpstr>
      <vt:lpstr>Многоуровневая модель SDH (3/3)</vt:lpstr>
      <vt:lpstr> Базовые элементы сетей SDH  </vt:lpstr>
      <vt:lpstr> Модель SDH(1/5) </vt:lpstr>
      <vt:lpstr>Модель SDH .Регенератор (2/5) </vt:lpstr>
      <vt:lpstr>Модель SDH. Терминальный мультиплексор (3/5) </vt:lpstr>
      <vt:lpstr>Модель SDH. Мультиплексор ввода/вывода (4/5) </vt:lpstr>
      <vt:lpstr>Модель SDH. SDH кросс- коннектор (5/5) </vt:lpstr>
      <vt:lpstr>2. Синхронная цифровая иерархия SDH  (Synchronous Digital Hierarchy)</vt:lpstr>
      <vt:lpstr>2. Синхронная цифровая иерархия SDH  (Synchronous Digital Hierarchy)</vt:lpstr>
      <vt:lpstr>Структура синхронного транспортного модуля STM - 1</vt:lpstr>
      <vt:lpstr>Слайд 19</vt:lpstr>
      <vt:lpstr>2. Синхронная цифровая иерархия SDH </vt:lpstr>
      <vt:lpstr>Формирование модуля STM – 1 в SDH (1). </vt:lpstr>
      <vt:lpstr>Слайд 22</vt:lpstr>
      <vt:lpstr>Формирование модуля STM – 1 в SDH (2)</vt:lpstr>
      <vt:lpstr>Структура синхронного транспортного модуля STM - 1</vt:lpstr>
      <vt:lpstr>Принцип контейнерных перевозок в  SDH</vt:lpstr>
      <vt:lpstr>Образование STM – 1 на базе  иерархии PDH  </vt:lpstr>
      <vt:lpstr>Структура синхронного транспортного модуля STM – 1 (1)</vt:lpstr>
      <vt:lpstr>Структура синхронного транспортного модуля STM – 1 (2)</vt:lpstr>
      <vt:lpstr>Образование STM – 1 на базе  иерархии PDH  </vt:lpstr>
      <vt:lpstr>Общая схема мультиплексирования G.707</vt:lpstr>
      <vt:lpstr>Ввод потоков Е1,Е3, Е4 в модуль STM – 1 </vt:lpstr>
      <vt:lpstr>Ввод потоков Е1,Е3, Е4 в модуль STM –1</vt:lpstr>
      <vt:lpstr>2. Синхронная цифровая иерархия SDH </vt:lpstr>
      <vt:lpstr>Слайд 34</vt:lpstr>
      <vt:lpstr>2. Синхронная цифровая иерархия SDH </vt:lpstr>
      <vt:lpstr>Слайд 36</vt:lpstr>
      <vt:lpstr> Топология сетей SDH </vt:lpstr>
      <vt:lpstr> Топология сетей SDH </vt:lpstr>
      <vt:lpstr> Механизмы самовосстановления и схемы резервирования(1) </vt:lpstr>
      <vt:lpstr> Механизмы самовосстановления и схемы резервирования(2) </vt:lpstr>
      <vt:lpstr>Схема самовосстановления однонаправленного кольца </vt:lpstr>
      <vt:lpstr>Схема резервирования в двунаправленном кольце </vt:lpstr>
      <vt:lpstr>Схема резервирования в двунаправленном кольце 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  <vt:lpstr>3.Технология WDM.  Оптические системы передачи</vt:lpstr>
      <vt:lpstr>Оптические системы передачи WDM</vt:lpstr>
      <vt:lpstr>3.Технология WDM </vt:lpstr>
      <vt:lpstr>3.Технология WDM</vt:lpstr>
      <vt:lpstr>3.Технология WDM</vt:lpstr>
      <vt:lpstr>3.Разделение по длине волны WDМ (Wavelength DivisionMultiplexing).</vt:lpstr>
      <vt:lpstr>Оптические системы передачи WDM</vt:lpstr>
      <vt:lpstr>3.Оптические системы передачи WDM  с линейной регенерацией </vt:lpstr>
      <vt:lpstr>3.Технология WDM</vt:lpstr>
      <vt:lpstr>Пример построения SDH с использованием технологии WDM </vt:lpstr>
      <vt:lpstr>Пример построения SDH(1/6)</vt:lpstr>
      <vt:lpstr>ТК сеть SDH (2/6)</vt:lpstr>
      <vt:lpstr>Пример построения SDH(3/6)</vt:lpstr>
      <vt:lpstr>Применение В-О технологий WDM с SDH(4/6)</vt:lpstr>
      <vt:lpstr>Применение В-О технологий WDM с SDH (5/6)</vt:lpstr>
      <vt:lpstr>Применение В-О технологий WDM с SDH (6/6)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6.2</dc:title>
  <dc:creator>Анастасия</dc:creator>
  <cp:lastModifiedBy>Анастасия</cp:lastModifiedBy>
  <cp:revision>63</cp:revision>
  <dcterms:created xsi:type="dcterms:W3CDTF">2025-10-25T22:08:40Z</dcterms:created>
  <dcterms:modified xsi:type="dcterms:W3CDTF">2025-11-04T22:24:08Z</dcterms:modified>
</cp:coreProperties>
</file>