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345" r:id="rId3"/>
    <p:sldId id="257" r:id="rId4"/>
    <p:sldId id="338" r:id="rId5"/>
    <p:sldId id="258" r:id="rId6"/>
    <p:sldId id="289" r:id="rId7"/>
    <p:sldId id="259" r:id="rId8"/>
    <p:sldId id="290" r:id="rId9"/>
    <p:sldId id="260" r:id="rId10"/>
    <p:sldId id="291" r:id="rId11"/>
    <p:sldId id="347" r:id="rId12"/>
    <p:sldId id="261" r:id="rId13"/>
    <p:sldId id="293" r:id="rId14"/>
    <p:sldId id="292" r:id="rId15"/>
    <p:sldId id="262" r:id="rId16"/>
    <p:sldId id="300" r:id="rId17"/>
    <p:sldId id="303" r:id="rId18"/>
    <p:sldId id="294" r:id="rId19"/>
    <p:sldId id="363" r:id="rId20"/>
    <p:sldId id="297" r:id="rId21"/>
    <p:sldId id="296" r:id="rId22"/>
    <p:sldId id="298" r:id="rId23"/>
    <p:sldId id="299" r:id="rId24"/>
    <p:sldId id="348" r:id="rId25"/>
    <p:sldId id="301" r:id="rId26"/>
    <p:sldId id="306" r:id="rId27"/>
    <p:sldId id="305" r:id="rId28"/>
    <p:sldId id="307" r:id="rId29"/>
    <p:sldId id="364" r:id="rId30"/>
    <p:sldId id="310" r:id="rId31"/>
    <p:sldId id="263" r:id="rId32"/>
    <p:sldId id="318" r:id="rId33"/>
    <p:sldId id="316" r:id="rId34"/>
    <p:sldId id="349" r:id="rId35"/>
    <p:sldId id="350" r:id="rId36"/>
    <p:sldId id="351" r:id="rId37"/>
    <p:sldId id="344" r:id="rId38"/>
    <p:sldId id="365" r:id="rId39"/>
    <p:sldId id="264" r:id="rId40"/>
    <p:sldId id="354" r:id="rId41"/>
    <p:sldId id="319" r:id="rId42"/>
    <p:sldId id="355" r:id="rId43"/>
    <p:sldId id="336" r:id="rId44"/>
    <p:sldId id="331" r:id="rId45"/>
    <p:sldId id="332" r:id="rId46"/>
    <p:sldId id="333" r:id="rId47"/>
    <p:sldId id="334" r:id="rId48"/>
    <p:sldId id="265" r:id="rId49"/>
    <p:sldId id="266" r:id="rId50"/>
    <p:sldId id="267" r:id="rId51"/>
    <p:sldId id="268" r:id="rId52"/>
    <p:sldId id="356" r:id="rId53"/>
    <p:sldId id="352" r:id="rId54"/>
    <p:sldId id="358" r:id="rId55"/>
    <p:sldId id="357" r:id="rId56"/>
    <p:sldId id="269" r:id="rId57"/>
    <p:sldId id="270" r:id="rId58"/>
    <p:sldId id="271" r:id="rId5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858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BA09F41-32AE-4769-9BA6-94C7F43BFF0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177651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ЛЕКЦИЯ 6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2"/>
                </a:solidFill>
              </a:rPr>
              <a:t>МОДЕЛЬ ВОС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0" y="836712"/>
            <a:ext cx="9144000" cy="5955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altLang="ru-RU" sz="2400" b="1" u="sng" dirty="0">
                <a:cs typeface="Times New Roman" panose="02020603050405020304" pitchFamily="18" charset="0"/>
              </a:rPr>
              <a:t>Главное достоинство </a:t>
            </a:r>
            <a:r>
              <a:rPr lang="ru-RU" altLang="ru-RU" sz="2400" u="sng" dirty="0">
                <a:cs typeface="Times New Roman" panose="02020603050405020304" pitchFamily="18" charset="0"/>
              </a:rPr>
              <a:t>семиуровневой модели </a:t>
            </a:r>
            <a:r>
              <a:rPr lang="en-US" altLang="ru-RU" sz="2400" u="sng" dirty="0">
                <a:cs typeface="Times New Roman" panose="02020603050405020304" pitchFamily="18" charset="0"/>
              </a:rPr>
              <a:t>OSI</a:t>
            </a:r>
            <a:r>
              <a:rPr lang="ru-RU" altLang="ru-RU" sz="2400" u="sng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cs typeface="Times New Roman" panose="02020603050405020304" pitchFamily="18" charset="0"/>
              </a:rPr>
              <a:t>-  </a:t>
            </a:r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   </a:t>
            </a:r>
            <a:r>
              <a:rPr lang="en-US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cs typeface="Times New Roman" panose="02020603050405020304" pitchFamily="18" charset="0"/>
              </a:rPr>
              <a:t>это </a:t>
            </a:r>
            <a:r>
              <a:rPr lang="ru-RU" altLang="ru-RU" sz="2400" b="1" dirty="0">
                <a:cs typeface="Times New Roman" panose="02020603050405020304" pitchFamily="18" charset="0"/>
              </a:rPr>
              <a:t>упрощение процесса модернизации системы</a:t>
            </a:r>
            <a:r>
              <a:rPr lang="ru-RU" altLang="ru-RU" sz="2400" dirty="0">
                <a:cs typeface="Times New Roman" panose="02020603050405020304" pitchFamily="18" charset="0"/>
              </a:rPr>
              <a:t>. </a:t>
            </a:r>
            <a:endParaRPr lang="ru-RU" altLang="ru-RU" sz="2400" dirty="0"/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1.Изменение одного уровня не влечет за собой изменение другого уровня, т.е. существует независимость уровней друг от друга. </a:t>
            </a:r>
            <a:endParaRPr lang="ru-RU" altLang="ru-RU" sz="2400" dirty="0"/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 2.Функции физического уровня всегда реализуются в аппаратуре (адаптеры, мультиплексоры, сетевые платы и др.).</a:t>
            </a:r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 3.Функции остальных уровней реализуются в виде программных модулей - драйверов.</a:t>
            </a:r>
            <a:r>
              <a:rPr lang="ru-RU" altLang="ru-RU" sz="2400" dirty="0"/>
              <a:t> </a:t>
            </a:r>
          </a:p>
          <a:p>
            <a:pPr>
              <a:spcAft>
                <a:spcPts val="600"/>
              </a:spcAft>
            </a:pPr>
            <a:r>
              <a:rPr lang="ru-RU" altLang="ru-RU" sz="2400" b="1" u="sng" dirty="0"/>
              <a:t>Функции уровней модели </a:t>
            </a:r>
            <a:r>
              <a:rPr lang="en-US" altLang="ru-RU" sz="2400" b="1" u="sng" dirty="0"/>
              <a:t>OSI </a:t>
            </a:r>
            <a:r>
              <a:rPr lang="ru-RU" altLang="ru-RU" sz="2400" b="1" u="sng" dirty="0"/>
              <a:t>делятся на 2 группы</a:t>
            </a:r>
            <a:r>
              <a:rPr lang="ru-RU" altLang="ru-RU" sz="2400" b="1" dirty="0"/>
              <a:t>:</a:t>
            </a:r>
          </a:p>
          <a:p>
            <a:pPr>
              <a:spcAft>
                <a:spcPts val="600"/>
              </a:spcAft>
            </a:pPr>
            <a:r>
              <a:rPr lang="ru-RU" altLang="ru-RU" sz="2400" dirty="0"/>
              <a:t>   1. Зависящие от структуры и аппаратной реализации сети (1,2,3).</a:t>
            </a:r>
          </a:p>
          <a:p>
            <a:pPr>
              <a:spcAft>
                <a:spcPts val="600"/>
              </a:spcAft>
            </a:pPr>
            <a:r>
              <a:rPr lang="ru-RU" altLang="ru-RU" sz="2400" dirty="0"/>
              <a:t>   2. Ориентированные на работу приложений и не зависящие от</a:t>
            </a:r>
          </a:p>
          <a:p>
            <a:pPr>
              <a:spcAft>
                <a:spcPts val="600"/>
              </a:spcAft>
            </a:pPr>
            <a:r>
              <a:rPr lang="ru-RU" altLang="ru-RU" sz="2400" dirty="0"/>
              <a:t>       особенностей построения сети (5,6,7).</a:t>
            </a:r>
          </a:p>
          <a:p>
            <a:pPr>
              <a:spcAft>
                <a:spcPts val="600"/>
              </a:spcAft>
            </a:pPr>
            <a:r>
              <a:rPr lang="ru-RU" altLang="ru-RU" sz="2400" b="1" u="sng" dirty="0"/>
              <a:t>Телекоммуникационные устройства работают на </a:t>
            </a:r>
            <a:r>
              <a:rPr lang="ru-RU" altLang="ru-RU" sz="2400" b="1" i="1" u="sng" dirty="0"/>
              <a:t>1,2,3 УРОВНЯХ </a:t>
            </a:r>
            <a:r>
              <a:rPr lang="ru-RU" altLang="ru-RU" sz="2400" b="1" u="sng" dirty="0"/>
              <a:t>и иногда захватывают транспортный уровень</a:t>
            </a:r>
            <a:r>
              <a:rPr lang="ru-RU" altLang="ru-RU" sz="2400" b="1" dirty="0"/>
              <a:t>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0320" y="0"/>
            <a:ext cx="8943680" cy="9087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777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39941" name="Picture 5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8964488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9144000" cy="7647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систем(ВОС)</a:t>
            </a:r>
            <a:r>
              <a:rPr lang="en-US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GB" altLang="ru-RU" sz="2400" b="1" i="1" dirty="0">
                <a:solidFill>
                  <a:schemeClr val="tx2"/>
                </a:solidFill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Open systems interconnection basic reference model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(</a:t>
            </a:r>
            <a:r>
              <a:rPr lang="en-US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91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720080"/>
          </a:xfrm>
        </p:spPr>
        <p:txBody>
          <a:bodyPr>
            <a:noAutofit/>
          </a:bodyPr>
          <a:lstStyle/>
          <a:p>
            <a:pPr algn="l"/>
            <a:r>
              <a:rPr lang="ru-RU" sz="2800" b="1" dirty="0">
                <a:solidFill>
                  <a:schemeClr val="tx2"/>
                </a:solidFill>
              </a:rPr>
              <a:t>Преимущества использования многоуровневой 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47260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Упрощение разработки протоколов</a:t>
            </a:r>
            <a:r>
              <a:rPr lang="ru-RU" sz="2400" dirty="0"/>
              <a:t>, поскольку протоколы, работающие на определенном уровне, определяют формат обрабатываемых данных и интерфейс верхних и нижних уровней.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Стимулирование конкуренции</a:t>
            </a:r>
            <a:r>
              <a:rPr lang="ru-RU" sz="2400" dirty="0"/>
              <a:t>, так как продукты разных поставщиков могут взаимодействовать друг с другом.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/>
              <a:t>Предотвращение влияния изменений технологий или функций одного уровня на другие уровни </a:t>
            </a:r>
            <a:r>
              <a:rPr lang="ru-RU" sz="2400" dirty="0"/>
              <a:t>(верхние и нижние).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Общий язык для описания функций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сетевого взаимодействия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9755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40964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0" y="1484784"/>
            <a:ext cx="3851920" cy="51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4114800" y="1410355"/>
            <a:ext cx="502920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7-й уровень - </a:t>
            </a:r>
            <a:r>
              <a:rPr lang="ru-RU" altLang="ru-RU" sz="24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прикладной (</a:t>
            </a:r>
            <a:r>
              <a:rPr lang="ru-RU" altLang="ru-RU" sz="2400" b="1" i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Application</a:t>
            </a:r>
            <a:r>
              <a:rPr lang="ru-RU" altLang="ru-RU" sz="24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:</a:t>
            </a:r>
            <a:r>
              <a:rPr lang="ru-RU" altLang="ru-RU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ru-RU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  </a:t>
            </a:r>
            <a:r>
              <a:rPr lang="ru-RU" altLang="ru-RU" sz="2400" dirty="0">
                <a:cs typeface="Times New Roman" panose="02020603050405020304" pitchFamily="18" charset="0"/>
              </a:rPr>
              <a:t>включает средства управления прикладными процессами конечных пользователей.</a:t>
            </a:r>
          </a:p>
          <a:p>
            <a:pPr>
              <a:spcBef>
                <a:spcPct val="50000"/>
              </a:spcBef>
            </a:pPr>
            <a:r>
              <a:rPr lang="en-US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Эти процессы могут объединяться для выполнения поставленных заданий, обмениваться между собой данными.</a:t>
            </a:r>
            <a:r>
              <a:rPr lang="en-US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Другими словами, </a:t>
            </a:r>
            <a:r>
              <a:rPr lang="ru-RU" altLang="ru-RU" sz="2400" u="sng" dirty="0">
                <a:cs typeface="Times New Roman" panose="02020603050405020304" pitchFamily="18" charset="0"/>
              </a:rPr>
              <a:t>на этом уровне определяются и оформляются в блоки те данные, которые подлежат передаче по сети. </a:t>
            </a:r>
            <a:endParaRPr lang="ru-RU" altLang="ru-RU" sz="2400" u="sng" dirty="0"/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 flipH="1">
            <a:off x="3347864" y="1844824"/>
            <a:ext cx="720080" cy="98273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10488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систем(ВОС)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(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569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Прикладной уровень (7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ru-RU" sz="3600" b="1" dirty="0">
                <a:solidFill>
                  <a:schemeClr val="tx2"/>
                </a:solidFill>
              </a:rPr>
              <a:t>уровень </a:t>
            </a:r>
            <a:r>
              <a:rPr lang="en-US" sz="3600" b="1" dirty="0">
                <a:solidFill>
                  <a:schemeClr val="tx2"/>
                </a:solidFill>
              </a:rPr>
              <a:t>OSI</a:t>
            </a:r>
            <a:r>
              <a:rPr lang="ru-RU" sz="3600" b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Autofit/>
          </a:bodyPr>
          <a:lstStyle/>
          <a:p>
            <a:r>
              <a:rPr lang="ru-RU" sz="2400" u="sng" dirty="0"/>
              <a:t> 7 уровень - это </a:t>
            </a:r>
            <a:r>
              <a:rPr lang="ru-RU" sz="2400" b="1" u="sng" dirty="0"/>
              <a:t>набор разных протоколов с помощью которых пользователь получает доступ к общим ресурсам </a:t>
            </a:r>
            <a:r>
              <a:rPr lang="ru-RU" sz="2400" dirty="0"/>
              <a:t>таким как файлы, принтеры , гипертекстовые </a:t>
            </a:r>
            <a:r>
              <a:rPr lang="ru-RU" sz="2400" dirty="0" err="1"/>
              <a:t>веб</a:t>
            </a:r>
            <a:r>
              <a:rPr lang="ru-RU" sz="2400" dirty="0"/>
              <a:t> - страницы, организует совместную работу по протоколу  электронной почты.</a:t>
            </a:r>
          </a:p>
          <a:p>
            <a:r>
              <a:rPr lang="ru-RU" sz="2400" b="1" u="sng" dirty="0"/>
              <a:t>Единица данных – сообщение.</a:t>
            </a:r>
          </a:p>
          <a:p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 протоколов:</a:t>
            </a:r>
          </a:p>
          <a:p>
            <a:pPr>
              <a:buNone/>
            </a:pPr>
            <a:r>
              <a:rPr lang="ru-RU" sz="2400" dirty="0"/>
              <a:t>   </a:t>
            </a:r>
            <a:r>
              <a:rPr lang="en-US" sz="2400" dirty="0"/>
              <a:t> </a:t>
            </a:r>
            <a:r>
              <a:rPr lang="ru-RU" sz="2400" dirty="0"/>
              <a:t> - </a:t>
            </a:r>
            <a:r>
              <a:rPr lang="en-US" sz="2400" dirty="0"/>
              <a:t>FTP  </a:t>
            </a:r>
            <a:r>
              <a:rPr lang="ru-RU" sz="2400" dirty="0"/>
              <a:t>протоколы доступа к файлам;</a:t>
            </a:r>
          </a:p>
          <a:p>
            <a:pPr>
              <a:buNone/>
            </a:pPr>
            <a:r>
              <a:rPr lang="ru-RU" sz="2400" dirty="0"/>
              <a:t>     -</a:t>
            </a:r>
            <a:r>
              <a:rPr lang="en-US" sz="2400" dirty="0"/>
              <a:t> HTTP</a:t>
            </a:r>
            <a:r>
              <a:rPr lang="ru-RU" sz="2400" dirty="0"/>
              <a:t> протоколы передачи файлов;</a:t>
            </a:r>
          </a:p>
          <a:p>
            <a:pPr>
              <a:buNone/>
            </a:pPr>
            <a:r>
              <a:rPr lang="ru-RU" sz="2400" dirty="0"/>
              <a:t>     - </a:t>
            </a:r>
            <a:r>
              <a:rPr lang="en-US" sz="2400" dirty="0"/>
              <a:t>TFTP  </a:t>
            </a:r>
            <a:r>
              <a:rPr lang="ru-RU" sz="2400" dirty="0"/>
              <a:t>простой протокол передачи файлов;</a:t>
            </a:r>
          </a:p>
          <a:p>
            <a:pPr>
              <a:buNone/>
            </a:pPr>
            <a:r>
              <a:rPr lang="ru-RU" sz="2400" dirty="0"/>
              <a:t>    -  </a:t>
            </a:r>
            <a:r>
              <a:rPr lang="en-US" sz="2400" dirty="0"/>
              <a:t>DNS </a:t>
            </a:r>
            <a:r>
              <a:rPr lang="ru-RU" sz="2400" dirty="0"/>
              <a:t>доменная служба имен;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en-US" sz="2400" dirty="0"/>
              <a:t>SNMP   </a:t>
            </a:r>
            <a:r>
              <a:rPr lang="ru-RU" sz="2400" dirty="0"/>
              <a:t>простой протокол управления сетью;</a:t>
            </a:r>
          </a:p>
          <a:p>
            <a:pPr>
              <a:buNone/>
            </a:pPr>
            <a:r>
              <a:rPr lang="ru-RU" sz="2400" dirty="0"/>
              <a:t>    -</a:t>
            </a:r>
            <a:r>
              <a:rPr lang="en-US" sz="2400" dirty="0"/>
              <a:t>  NFS  </a:t>
            </a:r>
            <a:r>
              <a:rPr lang="ru-RU" sz="2400" dirty="0"/>
              <a:t>  сетевая файловая система;</a:t>
            </a:r>
          </a:p>
          <a:p>
            <a:pPr>
              <a:buNone/>
            </a:pPr>
            <a:r>
              <a:rPr lang="ru-RU" sz="2400" dirty="0"/>
              <a:t>    -  </a:t>
            </a:r>
            <a:r>
              <a:rPr lang="en-US" sz="2400" dirty="0"/>
              <a:t>POP3 </a:t>
            </a:r>
            <a:r>
              <a:rPr lang="ru-RU" sz="2400" dirty="0"/>
              <a:t> протокол доставки входящей почты;</a:t>
            </a:r>
          </a:p>
          <a:p>
            <a:pPr>
              <a:buNone/>
            </a:pPr>
            <a:r>
              <a:rPr lang="ru-RU" sz="2400" dirty="0"/>
              <a:t>     - </a:t>
            </a:r>
            <a:r>
              <a:rPr lang="en-US" sz="2400" dirty="0"/>
              <a:t>SMTP  </a:t>
            </a:r>
            <a:r>
              <a:rPr lang="ru-RU" sz="2400" dirty="0"/>
              <a:t>протокол исходящей почты и другие протоколы .</a:t>
            </a:r>
            <a:endParaRPr lang="en-US" sz="2400" dirty="0"/>
          </a:p>
          <a:p>
            <a:pPr>
              <a:buNone/>
            </a:pPr>
            <a:r>
              <a:rPr lang="ru-RU" sz="2400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467544" y="2081215"/>
            <a:ext cx="3024336" cy="428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1990" name="Line 6"/>
          <p:cNvSpPr>
            <a:spLocks noChangeShapeType="1"/>
          </p:cNvSpPr>
          <p:nvPr/>
        </p:nvSpPr>
        <p:spPr bwMode="auto">
          <a:xfrm flipH="1">
            <a:off x="3203848" y="1556792"/>
            <a:ext cx="576064" cy="20270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3707904" y="764704"/>
            <a:ext cx="5436096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6-й уровень - </a:t>
            </a:r>
            <a:r>
              <a:rPr lang="ru-RU" altLang="ru-RU" sz="24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представительный (</a:t>
            </a:r>
            <a:r>
              <a:rPr lang="ru-RU" altLang="ru-RU" sz="2400" b="1" i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Presentation</a:t>
            </a:r>
            <a:r>
              <a:rPr lang="ru-RU" altLang="ru-RU" sz="20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):</a:t>
            </a:r>
            <a:r>
              <a:rPr lang="ru-RU" altLang="ru-RU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u="sng" dirty="0">
                <a:solidFill>
                  <a:srgbClr val="000000"/>
                </a:solidFill>
                <a:cs typeface="Times New Roman" panose="02020603050405020304" pitchFamily="18" charset="0"/>
              </a:rPr>
              <a:t>реализуются функции представления данных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ru-RU" altLang="ru-RU" sz="2400" u="sng" dirty="0">
                <a:solidFill>
                  <a:srgbClr val="000000"/>
                </a:solidFill>
                <a:cs typeface="Times New Roman" panose="02020603050405020304" pitchFamily="18" charset="0"/>
              </a:rPr>
              <a:t>кодирование, форматирование, структурирование).  </a:t>
            </a:r>
          </a:p>
          <a:p>
            <a:r>
              <a:rPr lang="ru-RU" altLang="ru-RU" sz="2400" u="sng" dirty="0">
                <a:cs typeface="Times New Roman" panose="02020603050405020304" pitchFamily="18" charset="0"/>
              </a:rPr>
              <a:t>          Этот уровень имеет дело с информацией, а не с потоком битов.  </a:t>
            </a:r>
          </a:p>
          <a:p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</a:t>
            </a:r>
            <a:r>
              <a:rPr lang="ru-RU" altLang="ru-RU" sz="2400" b="1" u="sng" dirty="0">
                <a:solidFill>
                  <a:srgbClr val="000000"/>
                </a:solidFill>
                <a:cs typeface="Times New Roman" panose="02020603050405020304" pitchFamily="18" charset="0"/>
              </a:rPr>
              <a:t>Он гарантирует представление данных в кодах и форматах, принятых в данной системе. </a:t>
            </a:r>
          </a:p>
          <a:p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Например, согласует формы представления информации </a:t>
            </a:r>
            <a:r>
              <a:rPr lang="ru-RU" altLang="ru-RU" sz="2000" dirty="0">
                <a:solidFill>
                  <a:srgbClr val="000000"/>
                </a:solidFill>
              </a:rPr>
              <a:t>(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изображение, текст ),чтобы машины с разной кодировкой  </a:t>
            </a:r>
            <a:r>
              <a:rPr lang="ru-RU" altLang="ru-RU" sz="2000" dirty="0">
                <a:solidFill>
                  <a:srgbClr val="000000"/>
                </a:solidFill>
              </a:rPr>
              <a:t>(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ASCII, </a:t>
            </a:r>
            <a:r>
              <a:rPr lang="ru-RU" altLang="ru-RU" sz="2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Unicode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) могли взаимодействовать. </a:t>
            </a:r>
          </a:p>
          <a:p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Структуры данных определяются специальным абстрактным способом, не зависящим от кодировки, используемой при передаче.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36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систем(ВОС)</a:t>
            </a:r>
            <a:r>
              <a:rPr lang="en-GB" altLang="ru-RU" sz="2400" b="1" i="1" dirty="0">
                <a:solidFill>
                  <a:schemeClr val="tx2"/>
                </a:solidFill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Open systems interconnection basic reference mode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 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  <a:p>
            <a:endParaRPr lang="ru-RU" altLang="ru-RU" sz="2400" b="1" dirty="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545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chemeClr val="tx2"/>
                </a:solidFill>
              </a:rPr>
              <a:t>Представительный Уровень (6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уровень </a:t>
            </a:r>
            <a:r>
              <a:rPr lang="en-US" sz="3200" b="1" dirty="0">
                <a:solidFill>
                  <a:schemeClr val="tx2"/>
                </a:solidFill>
              </a:rPr>
              <a:t>OSI</a:t>
            </a:r>
            <a:r>
              <a:rPr lang="ru-RU" sz="3200" b="1" dirty="0">
                <a:solidFill>
                  <a:schemeClr val="tx2"/>
                </a:solidFill>
              </a:rPr>
              <a:t>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616624"/>
          </a:xfrm>
        </p:spPr>
        <p:txBody>
          <a:bodyPr>
            <a:normAutofit lnSpcReduction="10000"/>
          </a:bodyPr>
          <a:lstStyle/>
          <a:p>
            <a:r>
              <a:rPr lang="ru-RU" altLang="ru-RU" sz="2800" b="1" dirty="0"/>
              <a:t>Задача 6-го у</a:t>
            </a:r>
            <a:r>
              <a:rPr lang="ru-RU" altLang="ru-RU" sz="2800" b="1" dirty="0">
                <a:cs typeface="Times New Roman" panose="02020603050405020304" pitchFamily="18" charset="0"/>
              </a:rPr>
              <a:t>ровня </a:t>
            </a:r>
            <a:r>
              <a:rPr lang="ru-RU" altLang="ru-RU" sz="2800" dirty="0">
                <a:cs typeface="Times New Roman" panose="02020603050405020304" pitchFamily="18" charset="0"/>
              </a:rPr>
              <a:t>-  </a:t>
            </a:r>
            <a:r>
              <a:rPr lang="ru-RU" altLang="ru-RU" sz="2800" b="1" dirty="0">
                <a:cs typeface="Times New Roman" panose="02020603050405020304" pitchFamily="18" charset="0"/>
              </a:rPr>
              <a:t>преобразование информации</a:t>
            </a:r>
            <a:r>
              <a:rPr lang="ru-RU" altLang="ru-RU" sz="2800" dirty="0">
                <a:cs typeface="Times New Roman" panose="02020603050405020304" pitchFamily="18" charset="0"/>
              </a:rPr>
              <a:t>, которая подлежит передаче между прикладными процессами, т.е. язык и формат представления информации( данных, речь, графического материала).   </a:t>
            </a:r>
          </a:p>
          <a:p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Преобразует стру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ктур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ы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данных в абстрактной форме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во внутренн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юю</a:t>
            </a:r>
            <a:r>
              <a:rPr lang="ru-RU" alt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для конкретной машины </a:t>
            </a:r>
            <a:r>
              <a:rPr lang="ru-RU" altLang="ru-RU" sz="2800" dirty="0">
                <a:cs typeface="Times New Roman" panose="02020603050405020304" pitchFamily="18" charset="0"/>
              </a:rPr>
              <a:t>и из внутренн</a:t>
            </a:r>
            <a:r>
              <a:rPr lang="ru-RU" altLang="ru-RU" sz="2800" dirty="0"/>
              <a:t>его</a:t>
            </a:r>
            <a:r>
              <a:rPr lang="ru-RU" altLang="ru-RU" sz="2800" dirty="0">
                <a:cs typeface="Times New Roman" panose="02020603050405020304" pitchFamily="18" charset="0"/>
              </a:rPr>
              <a:t>, машинного представления в стандартное представление для передачи по сети. </a:t>
            </a:r>
          </a:p>
          <a:p>
            <a:r>
              <a:rPr lang="ru-RU" sz="2800" u="sng" dirty="0"/>
              <a:t>Обеспечивает представление передаваемой по сети информации , не меняя ее содержания.</a:t>
            </a:r>
          </a:p>
          <a:p>
            <a:r>
              <a:rPr lang="ru-RU" sz="2800" u="sng" dirty="0"/>
              <a:t>Выполняется шифрование и дешифрование данных</a:t>
            </a:r>
            <a:r>
              <a:rPr lang="ru-RU" sz="2800" dirty="0"/>
              <a:t>, благодаря которым секретность обмена данными обеспечивается сразу для всех прикладных служб.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44036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251520" y="980728"/>
            <a:ext cx="3816424" cy="587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4038" name="Line 6"/>
          <p:cNvSpPr>
            <a:spLocks noChangeShapeType="1"/>
          </p:cNvSpPr>
          <p:nvPr/>
        </p:nvSpPr>
        <p:spPr bwMode="auto">
          <a:xfrm flipH="1">
            <a:off x="3779912" y="2132856"/>
            <a:ext cx="713234" cy="160932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4427984" y="1628800"/>
            <a:ext cx="442588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5-й уровень - сеансовый (</a:t>
            </a:r>
            <a:r>
              <a:rPr lang="ru-RU" altLang="ru-RU" sz="2400" b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Session</a:t>
            </a:r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r>
              <a:rPr lang="ru-RU" altLang="ru-RU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/>
              <a:t>обеспечивает организацию сеансов связи на период взаимодействия сетевых узлов</a:t>
            </a:r>
            <a:r>
              <a:rPr lang="ru-RU" altLang="ru-RU" sz="2400" dirty="0">
                <a:solidFill>
                  <a:srgbClr val="C00000"/>
                </a:solidFill>
              </a:rPr>
              <a:t>.</a:t>
            </a:r>
          </a:p>
          <a:p>
            <a:r>
              <a:rPr lang="ru-RU" altLang="ru-RU" sz="2400" dirty="0">
                <a:solidFill>
                  <a:srgbClr val="C00000"/>
                </a:solidFill>
              </a:rPr>
              <a:t> </a:t>
            </a:r>
          </a:p>
          <a:p>
            <a:r>
              <a:rPr lang="ru-RU" altLang="ru-RU" sz="2400" u="sng" dirty="0">
                <a:solidFill>
                  <a:srgbClr val="000000"/>
                </a:solidFill>
              </a:rPr>
              <a:t>На этом уровне по запросам в сети создаются </a:t>
            </a:r>
            <a:r>
              <a:rPr lang="ru-RU" altLang="ru-RU" sz="2400" b="1" u="sng" dirty="0">
                <a:solidFill>
                  <a:srgbClr val="000000"/>
                </a:solidFill>
              </a:rPr>
              <a:t>порты</a:t>
            </a:r>
            <a:r>
              <a:rPr lang="ru-RU" altLang="ru-RU" sz="2400" u="sng" dirty="0">
                <a:solidFill>
                  <a:srgbClr val="000000"/>
                </a:solidFill>
              </a:rPr>
              <a:t> для приема и передачи сообщений и организуются соединения – </a:t>
            </a:r>
            <a:r>
              <a:rPr lang="ru-RU" altLang="ru-RU" sz="2400" b="1" u="sng" dirty="0">
                <a:solidFill>
                  <a:srgbClr val="000000"/>
                </a:solidFill>
              </a:rPr>
              <a:t>логические каналы.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00320" y="0"/>
            <a:ext cx="8943680" cy="9087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систем</a:t>
            </a:r>
            <a:r>
              <a:rPr lang="en-GB" altLang="ru-RU" sz="2400" b="1" i="1" dirty="0">
                <a:solidFill>
                  <a:schemeClr val="tx2"/>
                </a:solidFill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Open systems interconnection basic reference model</a:t>
            </a:r>
            <a:r>
              <a:rPr lang="ru-RU" altLang="ru-RU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 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  <a:p>
            <a:endParaRPr lang="ru-RU" altLang="ru-RU" sz="2400" b="1" dirty="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342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7030A0"/>
                </a:solidFill>
              </a:rPr>
              <a:t> </a:t>
            </a:r>
            <a:r>
              <a:rPr lang="ru-RU" sz="3600" b="1" dirty="0">
                <a:solidFill>
                  <a:schemeClr val="tx2"/>
                </a:solidFill>
              </a:rPr>
              <a:t>Сеансовый уровень (5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ru-RU" sz="3600" b="1" dirty="0">
                <a:solidFill>
                  <a:schemeClr val="tx2"/>
                </a:solidFill>
              </a:rPr>
              <a:t>уровень </a:t>
            </a:r>
            <a:r>
              <a:rPr lang="en-US" sz="3600" b="1" dirty="0">
                <a:solidFill>
                  <a:schemeClr val="tx2"/>
                </a:solidFill>
              </a:rPr>
              <a:t>OSI</a:t>
            </a:r>
            <a:r>
              <a:rPr lang="ru-RU" sz="3600" b="1" dirty="0">
                <a:solidFill>
                  <a:schemeClr val="tx2"/>
                </a:solidFill>
              </a:rPr>
              <a:t>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712968" cy="5904656"/>
          </a:xfrm>
        </p:spPr>
        <p:txBody>
          <a:bodyPr>
            <a:noAutofit/>
          </a:bodyPr>
          <a:lstStyle/>
          <a:p>
            <a:endParaRPr lang="ru-RU" sz="2800" b="1" dirty="0"/>
          </a:p>
          <a:p>
            <a:r>
              <a:rPr lang="ru-RU" sz="2800" b="1" dirty="0"/>
              <a:t>Управляет взаимодействием сторон:</a:t>
            </a:r>
          </a:p>
          <a:p>
            <a:pPr>
              <a:buNone/>
            </a:pPr>
            <a:r>
              <a:rPr lang="ru-RU" sz="2800" dirty="0"/>
              <a:t>      -  фиксирует какая из сторон является активной в данный момент;</a:t>
            </a:r>
          </a:p>
          <a:p>
            <a:pPr>
              <a:buNone/>
            </a:pPr>
            <a:r>
              <a:rPr lang="ru-RU" sz="2800" dirty="0"/>
              <a:t>      - предоставляет средства синхронизации.</a:t>
            </a:r>
          </a:p>
          <a:p>
            <a:r>
              <a:rPr lang="ru-RU" sz="2800" dirty="0"/>
              <a:t>  </a:t>
            </a:r>
            <a:r>
              <a:rPr lang="ru-RU" sz="2800" b="1" dirty="0"/>
              <a:t>Если идет длинная передача </a:t>
            </a:r>
            <a:r>
              <a:rPr lang="ru-RU" sz="2800" dirty="0"/>
              <a:t>, то сеансовый уровень позволяет сохранить информацию о состоянии этих передач в виде контрольных точек, чтобы в случае отказа можно было вернуться к последней контрольной точке, а не начинать все с начала. </a:t>
            </a:r>
          </a:p>
          <a:p>
            <a:endParaRPr lang="ru-RU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Сеансовый уровень (5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ru-RU" sz="3600" b="1" dirty="0">
                <a:solidFill>
                  <a:schemeClr val="tx2"/>
                </a:solidFill>
              </a:rPr>
              <a:t>уровень </a:t>
            </a:r>
            <a:r>
              <a:rPr lang="en-US" sz="3600" b="1" dirty="0">
                <a:solidFill>
                  <a:schemeClr val="tx2"/>
                </a:solidFill>
              </a:rPr>
              <a:t>OSI</a:t>
            </a:r>
            <a:r>
              <a:rPr lang="ru-RU" b="1" dirty="0">
                <a:solidFill>
                  <a:schemeClr val="tx2"/>
                </a:solidFill>
              </a:rPr>
              <a:t>)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4857403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Примеры функций сеансового уровня (5ур.):</a:t>
            </a:r>
          </a:p>
          <a:p>
            <a:pPr>
              <a:buNone/>
            </a:pPr>
            <a:r>
              <a:rPr lang="ru-RU" dirty="0"/>
              <a:t>     - открытие и закрытие сеанса связи;</a:t>
            </a:r>
          </a:p>
          <a:p>
            <a:pPr>
              <a:buNone/>
            </a:pPr>
            <a:r>
              <a:rPr lang="ru-RU" dirty="0"/>
              <a:t>     - синхронизация сеансового соединения;</a:t>
            </a:r>
          </a:p>
          <a:p>
            <a:pPr>
              <a:buNone/>
            </a:pPr>
            <a:r>
              <a:rPr lang="ru-RU" dirty="0"/>
              <a:t>     - аналоговое управление сеансом, </a:t>
            </a:r>
          </a:p>
          <a:p>
            <a:pPr>
              <a:buNone/>
            </a:pPr>
            <a:r>
              <a:rPr lang="ru-RU" dirty="0"/>
              <a:t>       обеспечивающее передачу блоков данных и </a:t>
            </a:r>
          </a:p>
          <a:p>
            <a:pPr>
              <a:buNone/>
            </a:pPr>
            <a:r>
              <a:rPr lang="ru-RU" dirty="0"/>
              <a:t>       подтверждение правильности приема.</a:t>
            </a:r>
          </a:p>
          <a:p>
            <a:r>
              <a:rPr lang="ru-RU" dirty="0"/>
              <a:t> </a:t>
            </a:r>
            <a:r>
              <a:rPr lang="ru-RU" b="1" dirty="0"/>
              <a:t>На практике </a:t>
            </a:r>
            <a:r>
              <a:rPr lang="ru-RU" dirty="0"/>
              <a:t>немногие приложения используют сеансовый уровень и редко реализуется в виде отдельных протоколов</a:t>
            </a:r>
          </a:p>
          <a:p>
            <a:pPr>
              <a:buNone/>
            </a:pPr>
            <a:r>
              <a:rPr lang="ru-RU" dirty="0"/>
              <a:t>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47108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0" y="1340768"/>
            <a:ext cx="3779912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7109" name="Line 5"/>
          <p:cNvSpPr>
            <a:spLocks noChangeShapeType="1"/>
          </p:cNvSpPr>
          <p:nvPr/>
        </p:nvSpPr>
        <p:spPr bwMode="auto">
          <a:xfrm flipH="1">
            <a:off x="3203848" y="1700808"/>
            <a:ext cx="576064" cy="254602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3923928" y="1340768"/>
            <a:ext cx="522007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400" b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4-й уровень - </a:t>
            </a:r>
            <a:r>
              <a:rPr lang="ru-RU" altLang="ru-RU" sz="2400" b="1" i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транспортный (</a:t>
            </a:r>
            <a:r>
              <a:rPr lang="ru-RU" altLang="ru-RU" sz="2400" b="1" i="1" u="sng" dirty="0" err="1">
                <a:solidFill>
                  <a:srgbClr val="C00000"/>
                </a:solidFill>
                <a:cs typeface="Times New Roman" panose="02020603050405020304" pitchFamily="18" charset="0"/>
              </a:rPr>
              <a:t>Transport</a:t>
            </a:r>
            <a:r>
              <a:rPr lang="ru-RU" altLang="ru-RU" sz="2400" b="1" i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r>
              <a:rPr lang="ru-RU" altLang="ru-RU" sz="2400" b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: </a:t>
            </a:r>
          </a:p>
          <a:p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предназначен для управления логическими каналами в сети передачи данных.</a:t>
            </a:r>
          </a:p>
          <a:p>
            <a:r>
              <a:rPr lang="ru-RU" altLang="ru-RU" sz="2400" u="sng" dirty="0">
                <a:cs typeface="Times New Roman" panose="02020603050405020304" pitchFamily="18" charset="0"/>
              </a:rPr>
              <a:t>     </a:t>
            </a:r>
            <a:r>
              <a:rPr lang="ru-RU" altLang="ru-RU" sz="2400" b="1" i="1" u="sng" dirty="0">
                <a:cs typeface="Times New Roman" panose="02020603050405020304" pitchFamily="18" charset="0"/>
              </a:rPr>
              <a:t>Основная функция транспортного уровня это</a:t>
            </a:r>
            <a:r>
              <a:rPr lang="ru-RU" altLang="ru-RU" sz="2400" i="1" u="sng" dirty="0">
                <a:cs typeface="Times New Roman" panose="02020603050405020304" pitchFamily="18" charset="0"/>
              </a:rPr>
              <a:t>: </a:t>
            </a:r>
          </a:p>
          <a:p>
            <a:r>
              <a:rPr lang="ru-RU" altLang="ru-RU" sz="2400" i="1" dirty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- принять данные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с предыдущего уровня,  </a:t>
            </a:r>
          </a:p>
          <a:p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- разделить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, если надо,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на более мелкие единиц,</a:t>
            </a:r>
          </a:p>
          <a:p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-  передать на сетевой уровень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и позаботиться, чтобы все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они дошли  в целостности до адресата.</a:t>
            </a:r>
          </a:p>
          <a:p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00320" y="0"/>
            <a:ext cx="8943680" cy="11247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  <a:p>
            <a:pPr algn="ctr"/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  (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6439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Транспортный</a:t>
            </a:r>
            <a:r>
              <a:rPr lang="ru-RU" sz="3600" b="1" dirty="0">
                <a:solidFill>
                  <a:schemeClr val="tx2"/>
                </a:solidFill>
              </a:rPr>
              <a:t>  уровень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ru-RU" sz="3600" b="1" dirty="0">
                <a:solidFill>
                  <a:schemeClr val="tx2"/>
                </a:solidFill>
              </a:rPr>
              <a:t>(4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 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784976" cy="6165304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sz="2400" b="1" u="sng" dirty="0">
                <a:cs typeface="Times New Roman" panose="02020603050405020304" pitchFamily="18" charset="0"/>
              </a:rPr>
              <a:t>К функциям транспортного уровня относятся:</a:t>
            </a:r>
          </a:p>
          <a:p>
            <a:pPr>
              <a:buNone/>
            </a:pPr>
            <a:r>
              <a:rPr lang="ru-RU" altLang="ru-RU" sz="2400" dirty="0">
                <a:cs typeface="Times New Roman" panose="02020603050405020304" pitchFamily="18" charset="0"/>
              </a:rPr>
              <a:t>            - </a:t>
            </a:r>
            <a:r>
              <a:rPr lang="ru-RU" altLang="ru-RU" sz="2400" b="1" dirty="0">
                <a:cs typeface="Times New Roman" panose="02020603050405020304" pitchFamily="18" charset="0"/>
              </a:rPr>
              <a:t>мультиплексирование и демультиплексирование </a:t>
            </a:r>
          </a:p>
          <a:p>
            <a:pPr>
              <a:buNone/>
            </a:pPr>
            <a:r>
              <a:rPr lang="ru-RU" altLang="ru-RU" sz="2400" dirty="0">
                <a:cs typeface="Times New Roman" panose="02020603050405020304" pitchFamily="18" charset="0"/>
              </a:rPr>
              <a:t>              (сборка-разборка пакетов),    </a:t>
            </a:r>
          </a:p>
          <a:p>
            <a:pPr>
              <a:buNone/>
            </a:pPr>
            <a:r>
              <a:rPr lang="ru-RU" altLang="ru-RU" sz="2400" dirty="0">
                <a:cs typeface="Times New Roman" panose="02020603050405020304" pitchFamily="18" charset="0"/>
              </a:rPr>
              <a:t>           </a:t>
            </a:r>
            <a:r>
              <a:rPr lang="ru-RU" altLang="ru-RU" sz="2400" b="1" dirty="0">
                <a:cs typeface="Times New Roman" panose="02020603050405020304" pitchFamily="18" charset="0"/>
              </a:rPr>
              <a:t>- обнаружение и устранение ошибок в передаче данных</a:t>
            </a:r>
            <a:r>
              <a:rPr lang="ru-RU" altLang="ru-RU" sz="2400" dirty="0">
                <a:cs typeface="Times New Roman" panose="02020603050405020304" pitchFamily="18" charset="0"/>
              </a:rPr>
              <a:t>,        </a:t>
            </a:r>
          </a:p>
          <a:p>
            <a:pPr>
              <a:buNone/>
            </a:pPr>
            <a:r>
              <a:rPr lang="ru-RU" altLang="ru-RU" sz="2400" dirty="0">
                <a:cs typeface="Times New Roman" panose="02020603050405020304" pitchFamily="18" charset="0"/>
              </a:rPr>
              <a:t>           - </a:t>
            </a:r>
            <a:r>
              <a:rPr lang="ru-RU" altLang="ru-RU" sz="2400" b="1" dirty="0">
                <a:cs typeface="Times New Roman" panose="02020603050405020304" pitchFamily="18" charset="0"/>
              </a:rPr>
              <a:t>реализация заказанного уровня услуг</a:t>
            </a:r>
          </a:p>
          <a:p>
            <a:pPr>
              <a:buNone/>
            </a:pPr>
            <a:r>
              <a:rPr lang="ru-RU" altLang="ru-RU" sz="2400" b="1" dirty="0">
                <a:cs typeface="Times New Roman" panose="02020603050405020304" pitchFamily="18" charset="0"/>
              </a:rPr>
              <a:t>              </a:t>
            </a:r>
            <a:r>
              <a:rPr lang="ru-RU" altLang="ru-RU" sz="2400" dirty="0">
                <a:cs typeface="Times New Roman" panose="02020603050405020304" pitchFamily="18" charset="0"/>
              </a:rPr>
              <a:t>(например, заказанной скорости и надежности передачи). </a:t>
            </a:r>
            <a:endParaRPr lang="ru-RU" sz="2400" dirty="0"/>
          </a:p>
          <a:p>
            <a:r>
              <a:rPr lang="ru-RU" sz="2400" b="1" u="sng" dirty="0"/>
              <a:t>Модель </a:t>
            </a:r>
            <a:r>
              <a:rPr lang="en-US" sz="2400" b="1" u="sng" dirty="0"/>
              <a:t>OSI</a:t>
            </a:r>
            <a:r>
              <a:rPr lang="ru-RU" sz="2400" b="1" u="sng" dirty="0"/>
              <a:t> определяет 5 классов сервиса транспортного уровня</a:t>
            </a:r>
          </a:p>
          <a:p>
            <a:pPr>
              <a:buNone/>
            </a:pPr>
            <a:r>
              <a:rPr lang="ru-RU" sz="2400" b="1" dirty="0"/>
              <a:t>                  </a:t>
            </a:r>
            <a:r>
              <a:rPr lang="ru-RU" sz="2400" b="1" u="sng" dirty="0"/>
              <a:t> (от 0до 4).</a:t>
            </a:r>
          </a:p>
          <a:p>
            <a:pPr>
              <a:buNone/>
            </a:pPr>
            <a:r>
              <a:rPr lang="ru-RU" sz="2400" dirty="0"/>
              <a:t>     </a:t>
            </a:r>
            <a:r>
              <a:rPr lang="ru-RU" sz="2400" b="1" dirty="0"/>
              <a:t>Классы сервиса отличаются качеством предоставляемых услуг:</a:t>
            </a:r>
          </a:p>
          <a:p>
            <a:pPr>
              <a:buNone/>
            </a:pPr>
            <a:r>
              <a:rPr lang="ru-RU" sz="2400" b="1" dirty="0"/>
              <a:t>          -  срочностью ;</a:t>
            </a:r>
          </a:p>
          <a:p>
            <a:pPr>
              <a:buNone/>
            </a:pPr>
            <a:r>
              <a:rPr lang="ru-RU" sz="2400" dirty="0"/>
              <a:t>          </a:t>
            </a:r>
            <a:r>
              <a:rPr lang="ru-RU" sz="2400" b="1" dirty="0"/>
              <a:t>-  возможностью восстановления прерванной связи;</a:t>
            </a:r>
          </a:p>
          <a:p>
            <a:pPr>
              <a:buNone/>
            </a:pPr>
            <a:r>
              <a:rPr lang="ru-RU" sz="2400" b="1" dirty="0"/>
              <a:t>          -  наличие свойств мультиплексирования нескольких </a:t>
            </a:r>
          </a:p>
          <a:p>
            <a:pPr>
              <a:buNone/>
            </a:pPr>
            <a:r>
              <a:rPr lang="ru-RU" sz="2400" b="1" dirty="0"/>
              <a:t>              соединений   между различными прикладными протоколами</a:t>
            </a:r>
          </a:p>
          <a:p>
            <a:pPr>
              <a:buNone/>
            </a:pPr>
            <a:r>
              <a:rPr lang="ru-RU" sz="2400" b="1" dirty="0"/>
              <a:t>             </a:t>
            </a:r>
            <a:r>
              <a:rPr lang="ru-RU" sz="2400" dirty="0"/>
              <a:t>через общий транспортный протокол;</a:t>
            </a:r>
          </a:p>
          <a:p>
            <a:pPr>
              <a:buNone/>
            </a:pPr>
            <a:r>
              <a:rPr lang="ru-RU" sz="2400" b="1" dirty="0"/>
              <a:t>            -  способностью обнаружения и исправления ошибок </a:t>
            </a:r>
          </a:p>
          <a:p>
            <a:pPr>
              <a:buNone/>
            </a:pPr>
            <a:r>
              <a:rPr lang="ru-RU" sz="2400" b="1" dirty="0"/>
              <a:t>           </a:t>
            </a:r>
            <a:r>
              <a:rPr lang="ru-RU" sz="2400" dirty="0"/>
              <a:t>(искажения,  потери, дублирование пакетов).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1" y="188640"/>
            <a:ext cx="8168455" cy="5760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Транспортный  уровень  (4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,ВОС 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8001" y="692696"/>
            <a:ext cx="8635999" cy="5976664"/>
          </a:xfrm>
        </p:spPr>
        <p:txBody>
          <a:bodyPr>
            <a:normAutofit lnSpcReduction="10000"/>
          </a:bodyPr>
          <a:lstStyle/>
          <a:p>
            <a:endParaRPr lang="ru-RU" sz="2800" b="1" dirty="0"/>
          </a:p>
          <a:p>
            <a:r>
              <a:rPr lang="ru-RU" sz="2800" b="1" dirty="0"/>
              <a:t>Выбор класса сервиса определяется верхними уровнями , </a:t>
            </a:r>
            <a:r>
              <a:rPr lang="ru-RU" sz="2800" dirty="0"/>
              <a:t>которые определяют надежность транспортировки данных в сети через уровни - сетевой , канальный , физический.</a:t>
            </a:r>
          </a:p>
          <a:p>
            <a:r>
              <a:rPr lang="ru-RU" sz="2800" dirty="0"/>
              <a:t>Уровни 7,6,5 ВОС не учитывают специфику сети, через которую передаются данные, они знают лишь удаленные системы, с которыми взаимодействуют.</a:t>
            </a:r>
          </a:p>
          <a:p>
            <a:r>
              <a:rPr lang="ru-RU" sz="2800" b="1" dirty="0"/>
              <a:t>4 уровень должен знать как работает сеть, размеры блоков данных, которые она может принять </a:t>
            </a:r>
            <a:r>
              <a:rPr lang="ru-RU" sz="2800" dirty="0"/>
              <a:t>и т.п.</a:t>
            </a:r>
          </a:p>
          <a:p>
            <a:r>
              <a:rPr lang="ru-RU" sz="2800" b="1" dirty="0"/>
              <a:t>Все протоколы Транспортного уровня и выше реализованы ПО ОК узлов.</a:t>
            </a:r>
          </a:p>
          <a:p>
            <a:r>
              <a:rPr lang="ru-RU" altLang="ru-RU" sz="2800" dirty="0">
                <a:cs typeface="Times New Roman" panose="02020603050405020304" pitchFamily="18" charset="0"/>
              </a:rPr>
              <a:t>На этом уровне обеспечивается связь между оконечными пунктами (чаще всего точка-точка). </a:t>
            </a:r>
          </a:p>
          <a:p>
            <a:endParaRPr lang="ru-RU" sz="2800" b="1" dirty="0">
              <a:solidFill>
                <a:srgbClr val="C00000"/>
              </a:solidFill>
            </a:endParaRPr>
          </a:p>
          <a:p>
            <a:endParaRPr lang="ru-RU" sz="2800" b="1" dirty="0">
              <a:solidFill>
                <a:srgbClr val="C00000"/>
              </a:solidFill>
            </a:endParaRP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48132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467544" y="1772817"/>
            <a:ext cx="3240360" cy="459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8133" name="Line 5"/>
          <p:cNvSpPr>
            <a:spLocks noChangeShapeType="1"/>
          </p:cNvSpPr>
          <p:nvPr/>
        </p:nvSpPr>
        <p:spPr bwMode="auto">
          <a:xfrm flipH="1">
            <a:off x="3347864" y="2636911"/>
            <a:ext cx="792088" cy="2232249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4067944" y="2276872"/>
            <a:ext cx="507605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800" b="1" dirty="0">
                <a:solidFill>
                  <a:srgbClr val="C00000"/>
                </a:solidFill>
                <a:cs typeface="Times New Roman" panose="02020603050405020304" pitchFamily="18" charset="0"/>
              </a:rPr>
              <a:t>3-й уровень - </a:t>
            </a:r>
            <a:r>
              <a:rPr lang="ru-RU" altLang="ru-RU" sz="28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сетевой (</a:t>
            </a:r>
            <a:r>
              <a:rPr lang="ru-RU" altLang="ru-RU" sz="2800" b="1" i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Network</a:t>
            </a:r>
            <a:r>
              <a:rPr lang="ru-RU" altLang="ru-RU" sz="28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r>
              <a:rPr lang="ru-RU" altLang="ru-RU" sz="2800" b="1" dirty="0">
                <a:solidFill>
                  <a:srgbClr val="C00000"/>
                </a:solidFill>
                <a:cs typeface="Times New Roman" panose="02020603050405020304" pitchFamily="18" charset="0"/>
              </a:rPr>
              <a:t>: </a:t>
            </a:r>
            <a:r>
              <a:rPr lang="ru-RU" altLang="ru-RU" sz="2800" dirty="0">
                <a:solidFill>
                  <a:srgbClr val="000000"/>
                </a:solidFill>
              </a:rPr>
              <a:t>обеспечивает передачу сообщений через магистральную сеть</a:t>
            </a:r>
            <a:r>
              <a:rPr lang="ru-RU" altLang="ru-RU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</a:p>
          <a:p>
            <a:r>
              <a:rPr lang="ru-RU" altLang="ru-RU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800" b="1" dirty="0">
                <a:cs typeface="Times New Roman" panose="02020603050405020304" pitchFamily="18" charset="0"/>
              </a:rPr>
              <a:t>Основная функция: </a:t>
            </a:r>
          </a:p>
          <a:p>
            <a:r>
              <a:rPr lang="ru-RU" altLang="ru-RU" sz="2800" i="1" dirty="0">
                <a:cs typeface="Times New Roman" panose="02020603050405020304" pitchFamily="18" charset="0"/>
              </a:rPr>
              <a:t>маршрутизация пакетов от отправителя к получателю</a:t>
            </a:r>
            <a:r>
              <a:rPr lang="ru-RU" altLang="ru-RU" sz="2800" dirty="0">
                <a:cs typeface="Times New Roman" panose="02020603050405020304" pitchFamily="18" charset="0"/>
              </a:rPr>
              <a:t>. </a:t>
            </a:r>
          </a:p>
          <a:p>
            <a:endParaRPr lang="ru-RU" altLang="ru-RU" sz="2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10488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систем(ВОС) 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 (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1207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Сетевой уровень (3 уровень</a:t>
            </a:r>
            <a:r>
              <a:rPr lang="en-US" sz="3200" b="1" dirty="0">
                <a:solidFill>
                  <a:schemeClr val="tx2"/>
                </a:solidFill>
              </a:rPr>
              <a:t> OSI</a:t>
            </a:r>
            <a:r>
              <a:rPr lang="ru-RU" sz="3200" b="1" dirty="0">
                <a:solidFill>
                  <a:schemeClr val="tx2"/>
                </a:solidFill>
              </a:rPr>
              <a:t> ) (1.)</a:t>
            </a:r>
            <a:r>
              <a:rPr lang="ru-RU" sz="32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6"/>
          </a:xfrm>
        </p:spPr>
        <p:txBody>
          <a:bodyPr>
            <a:noAutofit/>
          </a:bodyPr>
          <a:lstStyle/>
          <a:p>
            <a:pPr marL="95250" indent="-95250">
              <a:buNone/>
            </a:pPr>
            <a:r>
              <a:rPr lang="ru-RU" sz="2000" dirty="0"/>
              <a:t> </a:t>
            </a:r>
            <a:r>
              <a:rPr lang="ru-RU" sz="2400" dirty="0"/>
              <a:t>Данные, которые надо передать в сеть поступают на сетевой уровень с транспортного уровня и они снабжаются заголовками сетевого уровня .</a:t>
            </a:r>
          </a:p>
          <a:p>
            <a:pPr marL="95250" indent="-95250"/>
            <a:r>
              <a:rPr lang="ru-RU" sz="2400" b="1" dirty="0"/>
              <a:t>  Данные + Заголовок = Пакет</a:t>
            </a:r>
            <a:r>
              <a:rPr lang="en-US" sz="2400" b="1" dirty="0"/>
              <a:t>(</a:t>
            </a:r>
            <a:r>
              <a:rPr lang="ru-RU" sz="2400" b="1" dirty="0"/>
              <a:t> </a:t>
            </a:r>
            <a:r>
              <a:rPr lang="en-US" sz="2400" b="1" dirty="0"/>
              <a:t>PDU)</a:t>
            </a:r>
            <a:r>
              <a:rPr lang="ru-RU" sz="2400" b="1" dirty="0"/>
              <a:t> сетевого уровня.</a:t>
            </a:r>
          </a:p>
          <a:p>
            <a:pPr marL="95250" indent="-95250"/>
            <a:r>
              <a:rPr lang="ru-RU" sz="2400" dirty="0"/>
              <a:t>  Заголовок имеет унифицированный формат,  содержит данные об адресе назначения</a:t>
            </a:r>
            <a:r>
              <a:rPr lang="ru-RU" sz="2400" b="1" dirty="0"/>
              <a:t>.</a:t>
            </a:r>
            <a:endParaRPr lang="ru-RU" sz="2400" dirty="0"/>
          </a:p>
          <a:p>
            <a:r>
              <a:rPr lang="ru-RU" sz="2400" b="1" dirty="0"/>
              <a:t>  </a:t>
            </a:r>
            <a:r>
              <a:rPr lang="ru-RU" sz="2400" b="1" u="sng" dirty="0"/>
              <a:t>Сообщения сетевого уровня называют пакетами</a:t>
            </a:r>
            <a:r>
              <a:rPr lang="ru-RU" sz="2400" b="1" dirty="0"/>
              <a:t>.</a:t>
            </a:r>
            <a:endParaRPr lang="ru-RU" sz="2400" dirty="0"/>
          </a:p>
          <a:p>
            <a:r>
              <a:rPr lang="ru-RU" sz="2400" dirty="0"/>
              <a:t>  При организации доставки пакетов на сетевом уровне используется понятие </a:t>
            </a:r>
            <a:r>
              <a:rPr lang="ru-RU" sz="2400" b="1" dirty="0"/>
              <a:t>«номер сети».</a:t>
            </a:r>
          </a:p>
          <a:p>
            <a:r>
              <a:rPr lang="ru-RU" sz="2400" dirty="0"/>
              <a:t>  </a:t>
            </a:r>
            <a:r>
              <a:rPr lang="ru-RU" sz="2400" b="1" u="sng" dirty="0"/>
              <a:t>Адрес получателя состоит из:</a:t>
            </a:r>
          </a:p>
          <a:p>
            <a:pPr>
              <a:buNone/>
            </a:pPr>
            <a:r>
              <a:rPr lang="ru-RU" sz="2400" dirty="0"/>
              <a:t>           </a:t>
            </a:r>
            <a:r>
              <a:rPr lang="ru-RU" sz="2400" b="1" dirty="0"/>
              <a:t>-  </a:t>
            </a:r>
            <a:r>
              <a:rPr lang="ru-RU" sz="2400" dirty="0"/>
              <a:t>старшего разряда - номера сети ;</a:t>
            </a:r>
          </a:p>
          <a:p>
            <a:pPr>
              <a:buNone/>
            </a:pPr>
            <a:r>
              <a:rPr lang="ru-RU" sz="2400" dirty="0"/>
              <a:t>           -  младшего – номер узла в этой сети.</a:t>
            </a:r>
          </a:p>
          <a:p>
            <a:r>
              <a:rPr lang="ru-RU" sz="2400" dirty="0"/>
              <a:t>Все узлы одной сети должны иметь одинаковую </a:t>
            </a:r>
          </a:p>
          <a:p>
            <a:pPr marL="0" indent="0">
              <a:buNone/>
            </a:pPr>
            <a:r>
              <a:rPr lang="ru-RU" sz="2400" dirty="0"/>
              <a:t>    </a:t>
            </a:r>
            <a:r>
              <a:rPr lang="ru-RU" sz="2400" u="sng" dirty="0"/>
              <a:t>старшую часть адреса – номер сети.</a:t>
            </a:r>
          </a:p>
          <a:p>
            <a:endParaRPr lang="ru-RU" sz="2400" dirty="0">
              <a:solidFill>
                <a:srgbClr val="002060"/>
              </a:solidFill>
            </a:endParaRPr>
          </a:p>
          <a:p>
            <a:pPr>
              <a:buNone/>
            </a:pPr>
            <a:endParaRPr lang="ru-RU" sz="24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dirty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60648"/>
            <a:ext cx="8856983" cy="504056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Вложенность сообщений различных уровней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520" y="764704"/>
            <a:ext cx="8788153" cy="564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25019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548680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Сетевой уровень (3 уровень модели </a:t>
            </a:r>
            <a:r>
              <a:rPr lang="en-US" sz="3200" b="1" dirty="0">
                <a:solidFill>
                  <a:schemeClr val="tx2"/>
                </a:solidFill>
              </a:rPr>
              <a:t>OSI</a:t>
            </a:r>
            <a:r>
              <a:rPr lang="ru-RU" sz="3200" b="1" dirty="0">
                <a:solidFill>
                  <a:schemeClr val="tx2"/>
                </a:solidFill>
              </a:rPr>
              <a:t> )( 2.)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6309320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ru-RU" sz="2400" b="1" dirty="0">
              <a:solidFill>
                <a:srgbClr val="C00000"/>
              </a:solidFill>
            </a:endParaRPr>
          </a:p>
          <a:p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Протоколы канального уровня (2 </a:t>
            </a:r>
            <a:r>
              <a:rPr lang="ru-RU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ВОС) обеспечивают доставку данных между  узлами только в сети с типовой топологией</a:t>
            </a:r>
            <a:r>
              <a:rPr lang="ru-RU" sz="2800" b="1" dirty="0"/>
              <a:t>.</a:t>
            </a:r>
            <a:r>
              <a:rPr lang="ru-RU" sz="2800" dirty="0"/>
              <a:t>  Например, иерархической звезды.</a:t>
            </a:r>
          </a:p>
          <a:p>
            <a:r>
              <a:rPr lang="ru-RU" sz="2800" dirty="0"/>
              <a:t>Это ограничение не позволяет строить сети с разной структурой. </a:t>
            </a:r>
          </a:p>
          <a:p>
            <a:r>
              <a:rPr lang="ru-RU" sz="2800" dirty="0"/>
              <a:t>   Поэтому вводится </a:t>
            </a:r>
            <a:r>
              <a:rPr lang="ru-RU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дополнительный сетевой уровень</a:t>
            </a:r>
            <a:r>
              <a:rPr lang="ru-RU" sz="2800" dirty="0"/>
              <a:t>, что позволит сохранить простоту процедур передачи данных для типовых топологий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допустить  использование произвольных топологий .</a:t>
            </a:r>
          </a:p>
          <a:p>
            <a:r>
              <a:rPr lang="ru-RU" sz="2800" u="sng" dirty="0"/>
              <a:t> </a:t>
            </a:r>
            <a:r>
              <a:rPr lang="ru-RU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Сетевой уровень играет роль координатора , организуя совместную работу разных сетей</a:t>
            </a:r>
            <a:r>
              <a:rPr lang="ru-RU" sz="2800" u="sng" dirty="0"/>
              <a:t>.</a:t>
            </a:r>
            <a:endParaRPr lang="ru-RU" sz="2800" b="1" u="sng" dirty="0"/>
          </a:p>
          <a:p>
            <a:pPr>
              <a:buNone/>
            </a:pPr>
            <a:r>
              <a:rPr lang="ru-RU" sz="2800" b="1" dirty="0"/>
              <a:t> 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16039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332656"/>
            <a:ext cx="8856983" cy="648072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Иллюстрация необходимости сетевого уровня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08720"/>
            <a:ext cx="9144000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2501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 fontScale="90000"/>
          </a:bodyPr>
          <a:lstStyle/>
          <a:p>
            <a:pPr marL="857250" indent="-857250"/>
            <a:r>
              <a:rPr lang="ru-RU" sz="3600" b="1" dirty="0">
                <a:solidFill>
                  <a:schemeClr val="tx2"/>
                </a:solidFill>
              </a:rPr>
              <a:t>Сетевой уровень (3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 ) (3.)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476672"/>
            <a:ext cx="8964488" cy="6192688"/>
          </a:xfrm>
        </p:spPr>
        <p:txBody>
          <a:bodyPr>
            <a:normAutofit lnSpcReduction="10000"/>
          </a:bodyPr>
          <a:lstStyle/>
          <a:p>
            <a:r>
              <a:rPr lang="ru-RU" sz="3800" dirty="0">
                <a:solidFill>
                  <a:srgbClr val="002060"/>
                </a:solidFill>
              </a:rPr>
              <a:t> </a:t>
            </a:r>
            <a:r>
              <a:rPr lang="ru-RU" sz="2600" b="1" dirty="0"/>
              <a:t>Сетевой уровень </a:t>
            </a:r>
            <a:r>
              <a:rPr lang="ru-RU" sz="2600" dirty="0"/>
              <a:t>служит для образования единой транспортной системы, объединяющей несколько сетей</a:t>
            </a:r>
            <a:r>
              <a:rPr lang="ru-RU" sz="2600" b="1" dirty="0"/>
              <a:t>. </a:t>
            </a:r>
          </a:p>
          <a:p>
            <a:r>
              <a:rPr lang="ru-RU" sz="2600" u="sng" dirty="0"/>
              <a:t>Чтобы связать разные сети необходимо соединить их с помощью маршрутизаторов  и установить протокольные модули сетевого уровня во всех ОК узлах пользователя</a:t>
            </a:r>
            <a:r>
              <a:rPr lang="ru-RU" sz="2600" i="1" u="sng" dirty="0"/>
              <a:t>.</a:t>
            </a:r>
          </a:p>
          <a:p>
            <a:r>
              <a:rPr lang="ru-RU" sz="2600" b="1" dirty="0"/>
              <a:t>Функции сетевого уровня :</a:t>
            </a:r>
          </a:p>
          <a:p>
            <a:pPr>
              <a:buNone/>
            </a:pPr>
            <a:r>
              <a:rPr lang="ru-RU" sz="2600" b="1" dirty="0"/>
              <a:t>        -  </a:t>
            </a:r>
            <a:r>
              <a:rPr lang="ru-RU" sz="2600" dirty="0"/>
              <a:t>передача сообщений по узлам с разной структурой;</a:t>
            </a:r>
          </a:p>
          <a:p>
            <a:pPr>
              <a:buNone/>
            </a:pPr>
            <a:r>
              <a:rPr lang="ru-RU" sz="2600" dirty="0"/>
              <a:t>         - задача согласования разных технологий;</a:t>
            </a:r>
          </a:p>
          <a:p>
            <a:pPr>
              <a:buNone/>
            </a:pPr>
            <a:r>
              <a:rPr lang="ru-RU" sz="2600" dirty="0"/>
              <a:t>         - упрощение адресации</a:t>
            </a:r>
            <a:r>
              <a:rPr lang="ru-RU" sz="2600" b="1" dirty="0"/>
              <a:t>.</a:t>
            </a:r>
          </a:p>
          <a:p>
            <a:r>
              <a:rPr lang="ru-RU" sz="2600" b="1" dirty="0"/>
              <a:t>Функции сетевого уровня реализуются</a:t>
            </a:r>
            <a:r>
              <a:rPr lang="ru-RU" sz="2600" dirty="0"/>
              <a:t>:                             </a:t>
            </a:r>
          </a:p>
          <a:p>
            <a:pPr>
              <a:buNone/>
            </a:pPr>
            <a:r>
              <a:rPr lang="ru-RU" sz="2600" b="1" dirty="0"/>
              <a:t>         -  </a:t>
            </a:r>
            <a:r>
              <a:rPr lang="ru-RU" sz="2600" u="sng" dirty="0"/>
              <a:t>группой протоколов</a:t>
            </a:r>
            <a:r>
              <a:rPr lang="ru-RU" sz="2600" dirty="0"/>
              <a:t>;</a:t>
            </a:r>
          </a:p>
          <a:p>
            <a:pPr>
              <a:buNone/>
            </a:pPr>
            <a:r>
              <a:rPr lang="ru-RU" sz="2600" dirty="0"/>
              <a:t>     </a:t>
            </a:r>
            <a:r>
              <a:rPr lang="ru-RU" sz="2800" dirty="0"/>
              <a:t> IP версии 4 (IPv4) и IP версии 6 (IPv6) являются протоколами связи основного сетевого уровня.</a:t>
            </a:r>
            <a:endParaRPr lang="ru-RU" sz="2600" dirty="0"/>
          </a:p>
          <a:p>
            <a:pPr>
              <a:buNone/>
            </a:pPr>
            <a:r>
              <a:rPr lang="ru-RU" sz="2600" dirty="0"/>
              <a:t>         </a:t>
            </a:r>
            <a:r>
              <a:rPr lang="ru-RU" sz="2600" u="sng" dirty="0"/>
              <a:t>-  </a:t>
            </a:r>
            <a:r>
              <a:rPr lang="ru-RU" sz="2600" u="sng" dirty="0" err="1"/>
              <a:t>маршрутизаторами</a:t>
            </a:r>
            <a:r>
              <a:rPr lang="ru-RU" sz="2600" u="sng" dirty="0"/>
              <a:t> (М).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Сетевой уровень (3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 ) (5.)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124744"/>
            <a:ext cx="8496944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21716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8229600" cy="49006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Сетевой уровень  (3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 ) (4.)</a:t>
            </a:r>
            <a:r>
              <a:rPr lang="ru-RU" sz="36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688632"/>
          </a:xfrm>
        </p:spPr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dirty="0"/>
              <a:t> </a:t>
            </a:r>
            <a:r>
              <a:rPr lang="ru-RU" sz="2800" b="1" dirty="0" err="1"/>
              <a:t>Маршрутизатор</a:t>
            </a:r>
            <a:r>
              <a:rPr lang="ru-RU" sz="2800" b="1" dirty="0"/>
              <a:t> </a:t>
            </a:r>
            <a:r>
              <a:rPr lang="ru-RU" sz="2800" dirty="0"/>
              <a:t>– это устройств , которое собирает информацию о топологии межсетевых соединений </a:t>
            </a:r>
          </a:p>
          <a:p>
            <a:pPr>
              <a:buNone/>
            </a:pPr>
            <a:r>
              <a:rPr lang="ru-RU" sz="2800" dirty="0"/>
              <a:t>     и на ее основании пересылает пакеты сетевого уровня в сеть назначения. </a:t>
            </a:r>
          </a:p>
          <a:p>
            <a:endParaRPr lang="ru-RU" sz="2800" dirty="0"/>
          </a:p>
          <a:p>
            <a:r>
              <a:rPr lang="ru-RU" sz="2800" dirty="0"/>
              <a:t> </a:t>
            </a:r>
            <a:r>
              <a:rPr lang="ru-RU" sz="2800" b="1" dirty="0" err="1"/>
              <a:t>Маршрутизатор</a:t>
            </a:r>
            <a:r>
              <a:rPr lang="ru-RU" sz="2800" b="1" dirty="0"/>
              <a:t> имеет несколько интерфейсов и к каждому подключается одна сеть.</a:t>
            </a:r>
          </a:p>
          <a:p>
            <a:pPr>
              <a:buNone/>
            </a:pPr>
            <a:r>
              <a:rPr lang="ru-RU" sz="2800" dirty="0"/>
              <a:t>     Чтобы передать сообщение от отправителя , находящегося в одной сети к получателю –  в   другой сети необходимо совершить несколько транзитных передач между сетями и каждый раз выбирая подходящий маршрут .  </a:t>
            </a:r>
          </a:p>
          <a:p>
            <a:pPr>
              <a:buNone/>
            </a:pPr>
            <a:r>
              <a:rPr lang="ru-RU" sz="2800" dirty="0">
                <a:solidFill>
                  <a:srgbClr val="002060"/>
                </a:solidFill>
              </a:rPr>
              <a:t>  </a:t>
            </a:r>
            <a:endParaRPr lang="ru-RU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Сетевой уровень (3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 ) (5.) 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892480" cy="5733256"/>
          </a:xfrm>
        </p:spPr>
        <p:txBody>
          <a:bodyPr>
            <a:normAutofit lnSpcReduction="10000"/>
          </a:bodyPr>
          <a:lstStyle/>
          <a:p>
            <a:r>
              <a:rPr lang="ru-RU" sz="2600" b="1" dirty="0"/>
              <a:t>Маршрут - </a:t>
            </a:r>
            <a:r>
              <a:rPr lang="ru-RU" sz="2600" dirty="0"/>
              <a:t>это последовательность маршрутизаторов , через которые проходит пакет</a:t>
            </a:r>
            <a:r>
              <a:rPr lang="ru-RU" sz="2600" b="1" dirty="0"/>
              <a:t>.</a:t>
            </a:r>
          </a:p>
          <a:p>
            <a:r>
              <a:rPr lang="ru-RU" altLang="ru-RU" sz="2600" b="1" dirty="0">
                <a:cs typeface="Times New Roman" panose="02020603050405020304" pitchFamily="18" charset="0"/>
              </a:rPr>
              <a:t>Маршруты могут быть: </a:t>
            </a:r>
            <a:endParaRPr lang="en-US" altLang="ru-RU" sz="2600" b="1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altLang="ru-RU" sz="2600" dirty="0">
                <a:cs typeface="Times New Roman" panose="02020603050405020304" pitchFamily="18" charset="0"/>
              </a:rPr>
              <a:t>      -  определены заранее и прописаны в статической таблице</a:t>
            </a:r>
            <a:r>
              <a:rPr lang="ru-RU" altLang="ru-RU" sz="2600" dirty="0"/>
              <a:t>, </a:t>
            </a:r>
          </a:p>
          <a:p>
            <a:pPr>
              <a:buNone/>
            </a:pPr>
            <a:r>
              <a:rPr lang="ru-RU" altLang="ru-RU" sz="2600" dirty="0">
                <a:cs typeface="Times New Roman" panose="02020603050405020304" pitchFamily="18" charset="0"/>
              </a:rPr>
              <a:t>      - могут определяться в момент установления соединения</a:t>
            </a:r>
            <a:r>
              <a:rPr lang="ru-RU" altLang="ru-RU" sz="2600" dirty="0"/>
              <a:t>,</a:t>
            </a:r>
            <a:r>
              <a:rPr lang="ru-RU" altLang="ru-RU" sz="2600" dirty="0"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ru-RU" altLang="ru-RU" sz="2600" dirty="0">
                <a:cs typeface="Times New Roman" panose="02020603050405020304" pitchFamily="18" charset="0"/>
              </a:rPr>
              <a:t>      - могут строиться динамически в зависимости от загрузка сети</a:t>
            </a:r>
            <a:endParaRPr lang="ru-RU" sz="2600" b="1" dirty="0"/>
          </a:p>
          <a:p>
            <a:r>
              <a:rPr lang="ru-RU" sz="2600" dirty="0"/>
              <a:t> </a:t>
            </a:r>
            <a:r>
              <a:rPr lang="ru-RU" sz="2600" b="1" dirty="0"/>
              <a:t>Маршрутизация</a:t>
            </a:r>
            <a:r>
              <a:rPr lang="ru-RU" sz="2600" dirty="0"/>
              <a:t> – это выбор наилучшего пути.</a:t>
            </a:r>
          </a:p>
          <a:p>
            <a:r>
              <a:rPr lang="ru-RU" sz="2600" dirty="0"/>
              <a:t> </a:t>
            </a:r>
            <a:r>
              <a:rPr lang="ru-RU" sz="2600" b="1" dirty="0"/>
              <a:t>Критерий выбора </a:t>
            </a:r>
            <a:r>
              <a:rPr lang="ru-RU" sz="2600" dirty="0"/>
              <a:t>– </a:t>
            </a:r>
            <a:r>
              <a:rPr lang="ru-RU" sz="2600" b="1" dirty="0"/>
              <a:t>время передачи данных </a:t>
            </a:r>
            <a:r>
              <a:rPr lang="ru-RU" sz="2600" dirty="0"/>
              <a:t>по маршруту, которое  зависит от пропускной способности сети и интенсивности трафика. </a:t>
            </a:r>
          </a:p>
          <a:p>
            <a:r>
              <a:rPr lang="ru-RU" sz="2600" b="1" dirty="0"/>
              <a:t>В состав ПО </a:t>
            </a:r>
            <a:r>
              <a:rPr lang="ru-RU" sz="2600" b="1" dirty="0" err="1"/>
              <a:t>маршрутизатора</a:t>
            </a:r>
            <a:r>
              <a:rPr lang="ru-RU" sz="2600" b="1" dirty="0"/>
              <a:t>  входят протокольные модули сетевого уровня</a:t>
            </a:r>
            <a:r>
              <a:rPr lang="ru-RU" sz="2400" b="1" dirty="0"/>
              <a:t>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432048"/>
          </a:xfrm>
        </p:spPr>
        <p:txBody>
          <a:bodyPr>
            <a:noAutofit/>
          </a:bodyPr>
          <a:lstStyle/>
          <a:p>
            <a:pPr algn="l"/>
            <a:r>
              <a:rPr lang="ru-RU" sz="3200" b="1" dirty="0">
                <a:solidFill>
                  <a:schemeClr val="tx2"/>
                </a:solidFill>
              </a:rPr>
              <a:t>Сетевой уровень (3 уровень модели </a:t>
            </a:r>
            <a:r>
              <a:rPr lang="en-US" sz="3200" b="1" dirty="0">
                <a:solidFill>
                  <a:schemeClr val="tx2"/>
                </a:solidFill>
              </a:rPr>
              <a:t>OSI</a:t>
            </a:r>
            <a:r>
              <a:rPr lang="ru-RU" sz="3200" b="1" dirty="0">
                <a:solidFill>
                  <a:schemeClr val="tx2"/>
                </a:solidFill>
              </a:rPr>
              <a:t>,ВОС) (6)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  <a:p>
            <a:r>
              <a:rPr lang="ru-RU" altLang="ru-RU" sz="9600" b="1" u="sng" dirty="0">
                <a:cs typeface="Times New Roman" panose="02020603050405020304" pitchFamily="18" charset="0"/>
              </a:rPr>
              <a:t>На сетевом уровне (3ур.) происходит:</a:t>
            </a:r>
          </a:p>
          <a:p>
            <a:pPr>
              <a:buNone/>
            </a:pPr>
            <a:r>
              <a:rPr lang="ru-RU" altLang="ru-RU" sz="9600" i="1" dirty="0">
                <a:cs typeface="Times New Roman" panose="02020603050405020304" pitchFamily="18" charset="0"/>
              </a:rPr>
              <a:t>       -  </a:t>
            </a:r>
            <a:r>
              <a:rPr lang="ru-RU" altLang="ru-RU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Формирование пакетов </a:t>
            </a:r>
            <a:r>
              <a:rPr lang="ru-RU" altLang="ru-RU" sz="9600" dirty="0">
                <a:cs typeface="Times New Roman" panose="02020603050405020304" pitchFamily="18" charset="0"/>
              </a:rPr>
              <a:t>по правилам тех промежуточных</a:t>
            </a:r>
          </a:p>
          <a:p>
            <a:pPr>
              <a:buNone/>
            </a:pPr>
            <a:r>
              <a:rPr lang="ru-RU" altLang="ru-RU" sz="9600" dirty="0">
                <a:cs typeface="Times New Roman" panose="02020603050405020304" pitchFamily="18" charset="0"/>
              </a:rPr>
              <a:t>            сетей, через которые проходит исходный пакет; </a:t>
            </a:r>
          </a:p>
          <a:p>
            <a:pPr>
              <a:buNone/>
            </a:pPr>
            <a:r>
              <a:rPr lang="ru-RU" altLang="ru-RU" sz="9600" dirty="0">
                <a:cs typeface="Times New Roman" panose="02020603050405020304" pitchFamily="18" charset="0"/>
              </a:rPr>
              <a:t>      -  </a:t>
            </a:r>
            <a:r>
              <a:rPr lang="ru-RU" altLang="ru-RU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Маршрутизация пакетов,</a:t>
            </a:r>
            <a:r>
              <a:rPr lang="ru-RU" altLang="ru-RU" sz="9600" dirty="0">
                <a:cs typeface="Times New Roman" panose="02020603050405020304" pitchFamily="18" charset="0"/>
              </a:rPr>
              <a:t> т.е. определение и реализация   </a:t>
            </a:r>
          </a:p>
          <a:p>
            <a:pPr>
              <a:buNone/>
            </a:pPr>
            <a:r>
              <a:rPr lang="ru-RU" altLang="ru-RU" sz="9600" dirty="0">
                <a:cs typeface="Times New Roman" panose="02020603050405020304" pitchFamily="18" charset="0"/>
              </a:rPr>
              <a:t>            маршрутов, по которым  </a:t>
            </a:r>
            <a:r>
              <a:rPr lang="ru-RU" altLang="ru-RU" sz="9600" dirty="0">
                <a:solidFill>
                  <a:srgbClr val="000000"/>
                </a:solidFill>
                <a:cs typeface="Times New Roman" panose="02020603050405020304" pitchFamily="18" charset="0"/>
              </a:rPr>
              <a:t>передаются пакеты</a:t>
            </a:r>
          </a:p>
          <a:p>
            <a:pPr>
              <a:buNone/>
            </a:pPr>
            <a:r>
              <a:rPr lang="ru-RU" altLang="ru-RU" sz="96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ru-RU" sz="9600" dirty="0"/>
          </a:p>
          <a:p>
            <a:r>
              <a:rPr lang="ru-RU" sz="9600" b="1" dirty="0"/>
              <a:t>    Протоколы сетевого (3ур.) реализуют функции :</a:t>
            </a:r>
          </a:p>
          <a:p>
            <a:pPr>
              <a:buNone/>
            </a:pPr>
            <a:r>
              <a:rPr lang="ru-RU" sz="9600" b="1" dirty="0"/>
              <a:t>               - </a:t>
            </a:r>
            <a:r>
              <a:rPr lang="ru-RU" sz="9600" dirty="0"/>
              <a:t>Выбора маршрута ; </a:t>
            </a:r>
          </a:p>
          <a:p>
            <a:pPr>
              <a:buNone/>
            </a:pPr>
            <a:r>
              <a:rPr lang="ru-RU" sz="9600" dirty="0"/>
              <a:t>               - Типа коммутации;</a:t>
            </a:r>
          </a:p>
          <a:p>
            <a:pPr>
              <a:buNone/>
            </a:pPr>
            <a:r>
              <a:rPr lang="ru-RU" altLang="ru-RU" sz="9600" dirty="0">
                <a:cs typeface="Times New Roman" panose="02020603050405020304" pitchFamily="18" charset="0"/>
              </a:rPr>
              <a:t>               - Контроль нагрузки на сеть. </a:t>
            </a:r>
          </a:p>
          <a:p>
            <a:pPr>
              <a:buNone/>
            </a:pPr>
            <a:endParaRPr lang="ru-RU" altLang="ru-RU" sz="9600" dirty="0">
              <a:cs typeface="Times New Roman" panose="02020603050405020304" pitchFamily="18" charset="0"/>
            </a:endParaRPr>
          </a:p>
          <a:p>
            <a:r>
              <a:rPr lang="ru-RU" sz="9600" b="1" dirty="0">
                <a:cs typeface="Times New Roman" panose="02020603050405020304" pitchFamily="18" charset="0"/>
              </a:rPr>
              <a:t>   </a:t>
            </a:r>
            <a:r>
              <a:rPr lang="ru-RU" sz="9600" b="1" dirty="0"/>
              <a:t>Сетевой уровень выполняет четыре основные операции:</a:t>
            </a:r>
            <a:endParaRPr lang="ru-RU" sz="9600" dirty="0"/>
          </a:p>
          <a:p>
            <a:pPr marL="457200" lvl="1" indent="0" algn="just">
              <a:buNone/>
            </a:pPr>
            <a:r>
              <a:rPr lang="ru-RU" sz="9600" dirty="0"/>
              <a:t>          - Адресация оконечных устройств</a:t>
            </a:r>
          </a:p>
          <a:p>
            <a:pPr marL="457200" lvl="1" indent="0" algn="just">
              <a:buNone/>
            </a:pPr>
            <a:r>
              <a:rPr lang="ru-RU" sz="9600" dirty="0"/>
              <a:t>          - Инкапсуляция</a:t>
            </a:r>
          </a:p>
          <a:p>
            <a:pPr marL="457200" lvl="1" indent="0" algn="just">
              <a:buNone/>
            </a:pPr>
            <a:r>
              <a:rPr lang="ru-RU" sz="9600" dirty="0"/>
              <a:t>          - Маршрутизация</a:t>
            </a:r>
          </a:p>
          <a:p>
            <a:pPr marL="457200" lvl="1" indent="0" algn="just">
              <a:buNone/>
            </a:pPr>
            <a:r>
              <a:rPr lang="ru-RU" sz="9600" dirty="0"/>
              <a:t>          - </a:t>
            </a:r>
            <a:r>
              <a:rPr lang="ru-RU" sz="9600" dirty="0" err="1"/>
              <a:t>Деинкапсуляция</a:t>
            </a:r>
            <a:endParaRPr lang="ru-RU" sz="9600" dirty="0"/>
          </a:p>
          <a:p>
            <a:pPr>
              <a:buNone/>
            </a:pPr>
            <a:endParaRPr lang="ru-RU" altLang="ru-RU" sz="9600" b="1" dirty="0">
              <a:cs typeface="Times New Roman" panose="02020603050405020304" pitchFamily="18" charset="0"/>
            </a:endParaRPr>
          </a:p>
          <a:p>
            <a:pPr>
              <a:buNone/>
            </a:pPr>
            <a:endParaRPr lang="ru-RU" sz="9600" b="1" dirty="0"/>
          </a:p>
          <a:p>
            <a:pPr>
              <a:buNone/>
            </a:pPr>
            <a:endParaRPr lang="ru-RU" sz="9600" b="1" dirty="0"/>
          </a:p>
          <a:p>
            <a:pPr>
              <a:buNone/>
            </a:pPr>
            <a:r>
              <a:rPr lang="ru-RU" sz="9600" dirty="0"/>
              <a:t> </a:t>
            </a:r>
          </a:p>
          <a:p>
            <a:pPr>
              <a:buNone/>
            </a:pPr>
            <a:r>
              <a:rPr lang="ru-RU" sz="9600" dirty="0"/>
              <a:t>     </a:t>
            </a:r>
          </a:p>
          <a:p>
            <a:pPr>
              <a:buNone/>
            </a:pPr>
            <a:r>
              <a:rPr lang="ru-RU" sz="4400" dirty="0"/>
              <a:t>    </a:t>
            </a:r>
            <a:endParaRPr lang="ru-RU" sz="4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3" y="332656"/>
            <a:ext cx="8964488" cy="648072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Сетевой уровень (3 уровень</a:t>
            </a:r>
            <a:r>
              <a:rPr lang="en-US" sz="3200" b="1" dirty="0">
                <a:solidFill>
                  <a:schemeClr val="tx2"/>
                </a:solidFill>
              </a:rPr>
              <a:t> OSI</a:t>
            </a:r>
            <a:r>
              <a:rPr lang="ru-RU" sz="3200" b="1" dirty="0">
                <a:solidFill>
                  <a:schemeClr val="tx2"/>
                </a:solidFill>
              </a:rPr>
              <a:t> ) (7.)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rmAutofit/>
          </a:bodyPr>
          <a:lstStyle/>
          <a:p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сетевом уровне имеется 3  вида протоколов:</a:t>
            </a:r>
          </a:p>
          <a:p>
            <a:pPr>
              <a:buNone/>
            </a:pPr>
            <a:r>
              <a:rPr lang="ru-RU" sz="2400" dirty="0">
                <a:solidFill>
                  <a:srgbClr val="002060"/>
                </a:solidFill>
              </a:rPr>
              <a:t>         </a:t>
            </a:r>
            <a:r>
              <a:rPr lang="ru-RU" sz="2400" b="1" dirty="0"/>
              <a:t>- </a:t>
            </a:r>
            <a:r>
              <a:rPr lang="ru-RU" sz="2400" u="sng" dirty="0"/>
              <a:t>сетевые протоколы </a:t>
            </a:r>
            <a:r>
              <a:rPr lang="ru-RU" sz="2400" dirty="0"/>
              <a:t>, которые обеспечивают    продвижение </a:t>
            </a:r>
          </a:p>
          <a:p>
            <a:pPr>
              <a:buNone/>
            </a:pPr>
            <a:r>
              <a:rPr lang="ru-RU" sz="2400" dirty="0"/>
              <a:t>               пакетов через сеть;</a:t>
            </a:r>
          </a:p>
          <a:p>
            <a:pPr>
              <a:buNone/>
            </a:pPr>
            <a:r>
              <a:rPr lang="ru-RU" sz="2400" dirty="0"/>
              <a:t>        - </a:t>
            </a:r>
            <a:r>
              <a:rPr lang="ru-RU" sz="2400" u="sng" dirty="0"/>
              <a:t>протоколы  маршрутизации</a:t>
            </a:r>
            <a:r>
              <a:rPr lang="ru-RU" sz="2400" dirty="0"/>
              <a:t>; </a:t>
            </a:r>
          </a:p>
          <a:p>
            <a:pPr>
              <a:buNone/>
            </a:pPr>
            <a:r>
              <a:rPr lang="ru-RU" sz="2400" dirty="0"/>
              <a:t>        - </a:t>
            </a:r>
            <a:r>
              <a:rPr lang="ru-RU" sz="2400" u="sng" dirty="0"/>
              <a:t>протоколы разрешения адреса</a:t>
            </a:r>
            <a:r>
              <a:rPr lang="ru-RU" sz="2400" dirty="0"/>
              <a:t>, которые отвечают за  </a:t>
            </a:r>
          </a:p>
          <a:p>
            <a:pPr>
              <a:buNone/>
            </a:pPr>
            <a:r>
              <a:rPr lang="ru-RU" sz="2400" dirty="0"/>
              <a:t>             отображение  адреса узла на сетевом уровне .</a:t>
            </a:r>
          </a:p>
          <a:p>
            <a:r>
              <a:rPr lang="ru-RU" sz="2400" b="1" dirty="0"/>
              <a:t>  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помощью этих протоколов маршрутизаторы  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(М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собирают информацию о топологии межсетевых соединений. </a:t>
            </a:r>
          </a:p>
          <a:p>
            <a:r>
              <a:rPr lang="ru-RU" sz="2400" b="1" dirty="0"/>
              <a:t>      </a:t>
            </a:r>
            <a:r>
              <a:rPr lang="ru-RU" sz="2400" dirty="0"/>
              <a:t>Реализуются :</a:t>
            </a:r>
          </a:p>
          <a:p>
            <a:pPr>
              <a:buNone/>
            </a:pPr>
            <a:r>
              <a:rPr lang="ru-RU" sz="2400" dirty="0"/>
              <a:t>        -  программными модулями операционной системы (ОС),   </a:t>
            </a:r>
          </a:p>
          <a:p>
            <a:pPr>
              <a:buNone/>
            </a:pPr>
            <a:r>
              <a:rPr lang="ru-RU" sz="2400" dirty="0"/>
              <a:t>        -  программными и аппаратными средствами</a:t>
            </a:r>
          </a:p>
          <a:p>
            <a:pPr>
              <a:buNone/>
            </a:pPr>
            <a:r>
              <a:rPr lang="ru-RU" sz="2400" dirty="0"/>
              <a:t>             маршрутизаторов (М).</a:t>
            </a:r>
          </a:p>
          <a:p>
            <a:r>
              <a:rPr lang="ru-RU" sz="2400" dirty="0"/>
              <a:t> Рассмотрим пример составной сети и задачи сетевого уровня.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508" y="188640"/>
            <a:ext cx="8856983" cy="648072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Пример составной сети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92696"/>
            <a:ext cx="9144000" cy="61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25019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Сетевой уровень  (3 уровень</a:t>
            </a:r>
            <a:r>
              <a:rPr lang="en-US" sz="3600" b="1" dirty="0">
                <a:solidFill>
                  <a:schemeClr val="tx2"/>
                </a:solidFill>
              </a:rPr>
              <a:t> OSI</a:t>
            </a:r>
            <a:r>
              <a:rPr lang="ru-RU" sz="3600" b="1" dirty="0">
                <a:solidFill>
                  <a:schemeClr val="tx2"/>
                </a:solidFill>
              </a:rPr>
              <a:t> ) (11.) 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583264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800" dirty="0"/>
              <a:t>       Каждый Узел составной сети должен иметь :</a:t>
            </a:r>
          </a:p>
          <a:p>
            <a:pPr>
              <a:buNone/>
            </a:pPr>
            <a:r>
              <a:rPr lang="ru-RU" sz="2800" dirty="0"/>
              <a:t>            - адрес, назначенный на канальном уровне;</a:t>
            </a:r>
          </a:p>
          <a:p>
            <a:pPr>
              <a:buNone/>
            </a:pPr>
            <a:r>
              <a:rPr lang="ru-RU" sz="2800" dirty="0"/>
              <a:t>            - адрес, назначенный на сетевом уровне.</a:t>
            </a:r>
          </a:p>
          <a:p>
            <a:pPr>
              <a:buNone/>
            </a:pPr>
            <a:r>
              <a:rPr lang="ru-RU" sz="2800" u="sng" dirty="0"/>
              <a:t>Например,</a:t>
            </a:r>
            <a:r>
              <a:rPr lang="ru-RU" sz="2800" dirty="0"/>
              <a:t>  </a:t>
            </a:r>
          </a:p>
          <a:p>
            <a:pPr>
              <a:buNone/>
            </a:pPr>
            <a:r>
              <a:rPr lang="ru-RU" sz="2800" dirty="0"/>
              <a:t>                   Компьютер А</a:t>
            </a:r>
            <a:endParaRPr lang="en-US" sz="2800" dirty="0"/>
          </a:p>
          <a:p>
            <a:pPr>
              <a:buNone/>
            </a:pPr>
            <a:r>
              <a:rPr lang="ru-RU" sz="2800" dirty="0"/>
              <a:t>  на канальном уровне имеет адрес </a:t>
            </a:r>
            <a:r>
              <a:rPr lang="en-US" sz="2800" dirty="0"/>
              <a:t>MAK1</a:t>
            </a:r>
            <a:r>
              <a:rPr lang="ru-RU" sz="2800" dirty="0"/>
              <a:t>,</a:t>
            </a:r>
          </a:p>
          <a:p>
            <a:pPr>
              <a:buNone/>
            </a:pPr>
            <a:r>
              <a:rPr lang="ru-RU" sz="2800" dirty="0"/>
              <a:t>  на сетевом уровне адрес </a:t>
            </a:r>
            <a:r>
              <a:rPr lang="en-US" sz="2800" dirty="0"/>
              <a:t>NET A1</a:t>
            </a:r>
            <a:r>
              <a:rPr lang="ru-RU" sz="2800" dirty="0"/>
              <a:t>.</a:t>
            </a:r>
          </a:p>
          <a:p>
            <a:pPr>
              <a:buNone/>
            </a:pPr>
            <a:r>
              <a:rPr lang="ru-RU" sz="2800" dirty="0"/>
              <a:t>         </a:t>
            </a:r>
            <a:r>
              <a:rPr lang="en-US" sz="2800" dirty="0"/>
              <a:t>           </a:t>
            </a:r>
            <a:r>
              <a:rPr lang="ru-RU" sz="2800" dirty="0"/>
              <a:t>  Компьютер Б </a:t>
            </a:r>
          </a:p>
          <a:p>
            <a:pPr>
              <a:buNone/>
            </a:pPr>
            <a:r>
              <a:rPr lang="ru-RU" sz="2800" dirty="0"/>
              <a:t>  на канальном уровне  ВК- </a:t>
            </a:r>
            <a:r>
              <a:rPr lang="en-US" sz="2800" dirty="0"/>
              <a:t>ID1, ID2</a:t>
            </a:r>
          </a:p>
          <a:p>
            <a:pPr>
              <a:buNone/>
            </a:pPr>
            <a:r>
              <a:rPr lang="ru-RU" sz="2800" dirty="0"/>
              <a:t>  на сетевом уровне адрес – </a:t>
            </a:r>
            <a:r>
              <a:rPr lang="en-US" sz="2800" dirty="0"/>
              <a:t>NET A2</a:t>
            </a:r>
            <a:r>
              <a:rPr lang="ru-RU" sz="2800" dirty="0"/>
              <a:t>. </a:t>
            </a:r>
          </a:p>
          <a:p>
            <a:pPr>
              <a:buNone/>
            </a:pPr>
            <a:r>
              <a:rPr lang="ru-RU" sz="2800" dirty="0"/>
              <a:t>             В пакете Ур.3 в  качестве Адреса указывается</a:t>
            </a:r>
          </a:p>
          <a:p>
            <a:pPr>
              <a:buNone/>
            </a:pPr>
            <a:r>
              <a:rPr lang="ru-RU" sz="2800" dirty="0"/>
              <a:t> </a:t>
            </a:r>
            <a:r>
              <a:rPr lang="ru-RU" sz="2800" u="sng" dirty="0"/>
              <a:t>адрес сетевого уровня и на его основании определяется маршрут пакета</a:t>
            </a:r>
            <a:r>
              <a:rPr lang="ru-RU" sz="2800"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Сетевой уровень (3 уровень</a:t>
            </a:r>
            <a:r>
              <a:rPr lang="en-US" sz="3200" b="1" dirty="0">
                <a:solidFill>
                  <a:schemeClr val="tx2"/>
                </a:solidFill>
              </a:rPr>
              <a:t> OSI</a:t>
            </a:r>
            <a:r>
              <a:rPr lang="ru-RU" sz="3200" b="1" dirty="0">
                <a:solidFill>
                  <a:schemeClr val="tx2"/>
                </a:solidFill>
              </a:rPr>
              <a:t> ) (12.)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48680"/>
            <a:ext cx="8964488" cy="6309320"/>
          </a:xfrm>
        </p:spPr>
        <p:txBody>
          <a:bodyPr>
            <a:normAutofit fontScale="85000" lnSpcReduction="20000"/>
          </a:bodyPr>
          <a:lstStyle/>
          <a:p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Основная задача Сетевого уровня- это определение маршрута доставки пакета , т.е. маршрутизация </a:t>
            </a:r>
            <a:r>
              <a:rPr lang="ru-RU" sz="2600" dirty="0"/>
              <a:t>.</a:t>
            </a:r>
          </a:p>
          <a:p>
            <a:r>
              <a:rPr lang="ru-RU" sz="2600" dirty="0"/>
              <a:t>Маршрут описывается последовательностью сетей (</a:t>
            </a:r>
            <a:r>
              <a:rPr lang="ru-RU" sz="2600" b="1" dirty="0"/>
              <a:t>М</a:t>
            </a:r>
            <a:r>
              <a:rPr lang="ru-RU" sz="2600" dirty="0"/>
              <a:t>)  через которые должен пройти Пакет до адресата.</a:t>
            </a:r>
          </a:p>
          <a:p>
            <a:endParaRPr lang="ru-RU" sz="2600" dirty="0"/>
          </a:p>
          <a:p>
            <a:r>
              <a:rPr lang="ru-RU" sz="2600" u="sng" dirty="0"/>
              <a:t>На рисунке показаны три маршрута от А до Б.</a:t>
            </a:r>
          </a:p>
          <a:p>
            <a:r>
              <a:rPr lang="ru-RU" sz="2600" b="1" dirty="0" err="1"/>
              <a:t>Маршрутизатор</a:t>
            </a:r>
            <a:r>
              <a:rPr lang="ru-RU" sz="2600" dirty="0"/>
              <a:t> (</a:t>
            </a:r>
            <a:r>
              <a:rPr lang="ru-RU" sz="2600" b="1" dirty="0"/>
              <a:t>М</a:t>
            </a:r>
            <a:r>
              <a:rPr lang="ru-RU" sz="2600" dirty="0"/>
              <a:t>):</a:t>
            </a:r>
          </a:p>
          <a:p>
            <a:pPr>
              <a:buNone/>
            </a:pPr>
            <a:r>
              <a:rPr lang="ru-RU" sz="2600" dirty="0"/>
              <a:t>        - собирает информацию о топологии связей между сетями и</a:t>
            </a:r>
          </a:p>
          <a:p>
            <a:pPr>
              <a:buNone/>
            </a:pPr>
            <a:r>
              <a:rPr lang="ru-RU" sz="2600" dirty="0"/>
              <a:t>        -  строит таблицу маршрутизации.</a:t>
            </a:r>
          </a:p>
          <a:p>
            <a:r>
              <a:rPr lang="ru-RU" sz="2600" dirty="0"/>
              <a:t>Весь путь через составную сеть разбивается на участки от </a:t>
            </a:r>
            <a:r>
              <a:rPr lang="ru-RU" sz="2600" b="1" dirty="0"/>
              <a:t>М</a:t>
            </a:r>
            <a:r>
              <a:rPr lang="ru-RU" sz="2600" dirty="0"/>
              <a:t> к </a:t>
            </a:r>
            <a:r>
              <a:rPr lang="ru-RU" sz="2600" b="1" dirty="0"/>
              <a:t>М</a:t>
            </a:r>
            <a:r>
              <a:rPr lang="ru-RU" sz="2600" dirty="0"/>
              <a:t>.</a:t>
            </a:r>
          </a:p>
          <a:p>
            <a:r>
              <a:rPr lang="ru-RU" sz="2600" u="sng" dirty="0"/>
              <a:t>Для передачи пакета через сеть:</a:t>
            </a:r>
          </a:p>
          <a:p>
            <a:pPr marL="514350" indent="-514350">
              <a:buAutoNum type="arabicPeriod"/>
            </a:pPr>
            <a:r>
              <a:rPr lang="ru-RU" sz="2600" dirty="0" err="1"/>
              <a:t>Сет.Ур</a:t>
            </a:r>
            <a:r>
              <a:rPr lang="ru-RU" sz="2600" dirty="0"/>
              <a:t>. помещает пакет в поле данных сообщения </a:t>
            </a:r>
            <a:r>
              <a:rPr lang="en-US" sz="2600" dirty="0"/>
              <a:t> </a:t>
            </a:r>
            <a:r>
              <a:rPr lang="ru-RU" sz="2600" dirty="0"/>
              <a:t>Кан. Ур., указывая в заголовке кадра </a:t>
            </a:r>
            <a:r>
              <a:rPr lang="ru-RU" sz="2600" dirty="0" err="1"/>
              <a:t>Кан.Ур</a:t>
            </a:r>
            <a:r>
              <a:rPr lang="ru-RU" sz="2600" dirty="0"/>
              <a:t>. - адрес интерфейса следующего (М);</a:t>
            </a:r>
          </a:p>
          <a:p>
            <a:pPr marL="514350" indent="-514350">
              <a:buAutoNum type="arabicPeriod"/>
            </a:pPr>
            <a:r>
              <a:rPr lang="ru-RU" sz="2600" dirty="0"/>
              <a:t>Сеть с инкапсулированным пакетом доставляет кадр по заданному адресу , используя канальную технологию.</a:t>
            </a:r>
          </a:p>
          <a:p>
            <a:pPr marL="514350" indent="-514350">
              <a:buAutoNum type="arabicPeriod"/>
            </a:pPr>
            <a:r>
              <a:rPr lang="ru-RU" sz="2600" dirty="0"/>
              <a:t> На следующем Узле Маршрутизатор (М): </a:t>
            </a:r>
          </a:p>
          <a:p>
            <a:pPr marL="514350" indent="-514350">
              <a:buNone/>
            </a:pPr>
            <a:r>
              <a:rPr lang="ru-RU" sz="2600" dirty="0"/>
              <a:t>             - извлекает пакет из прибывшего кадра ,</a:t>
            </a:r>
          </a:p>
          <a:p>
            <a:pPr marL="514350" indent="-514350">
              <a:buNone/>
            </a:pPr>
            <a:r>
              <a:rPr lang="ru-RU" sz="2600" dirty="0"/>
              <a:t>             - обрабатывает и передает его в следующую сеть, предварительно упаковав его  в новый кадр Кан. Ур.</a:t>
            </a:r>
          </a:p>
          <a:p>
            <a:pPr marL="514350" indent="-514350">
              <a:buAutoNum type="arabicPeriod"/>
            </a:pPr>
            <a:endParaRPr lang="ru-RU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60648"/>
            <a:ext cx="8856983" cy="504056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Вложенность сообщений различных уровней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520" y="764704"/>
            <a:ext cx="8788153" cy="564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7368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1659"/>
            <a:ext cx="8856983" cy="648072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Модель взаимодействия открытых систем OSI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92696"/>
            <a:ext cx="8892479" cy="60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25019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50180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1143000" y="2081215"/>
            <a:ext cx="2800350" cy="428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0181" name="Line 5"/>
          <p:cNvSpPr>
            <a:spLocks noChangeShapeType="1"/>
          </p:cNvSpPr>
          <p:nvPr/>
        </p:nvSpPr>
        <p:spPr bwMode="auto">
          <a:xfrm flipH="1">
            <a:off x="3714750" y="1385740"/>
            <a:ext cx="718205" cy="387206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4283968" y="908720"/>
            <a:ext cx="4860031" cy="613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altLang="ru-RU" sz="2800" b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2-й уровень – </a:t>
            </a:r>
            <a:r>
              <a:rPr lang="ru-RU" altLang="ru-RU" sz="2800" b="1" i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канальный</a:t>
            </a:r>
          </a:p>
          <a:p>
            <a:pPr>
              <a:lnSpc>
                <a:spcPct val="90000"/>
              </a:lnSpc>
            </a:pPr>
            <a:r>
              <a:rPr lang="ru-RU" altLang="ru-RU" sz="2800" b="1" i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 (</a:t>
            </a:r>
            <a:r>
              <a:rPr lang="ru-RU" altLang="ru-RU" sz="2800" b="1" i="1" u="sng" dirty="0" err="1">
                <a:solidFill>
                  <a:srgbClr val="C00000"/>
                </a:solidFill>
                <a:cs typeface="Times New Roman" panose="02020603050405020304" pitchFamily="18" charset="0"/>
              </a:rPr>
              <a:t>Link</a:t>
            </a:r>
            <a:r>
              <a:rPr lang="ru-RU" altLang="ru-RU" sz="2800" b="1" i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, уровень звена данных</a:t>
            </a:r>
            <a:r>
              <a:rPr lang="ru-RU" altLang="ru-RU" sz="2800" b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90000"/>
              </a:lnSpc>
            </a:pPr>
            <a:endParaRPr lang="ru-RU" altLang="ru-RU" sz="2000" b="1" u="sng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b="1" u="sng" dirty="0">
                <a:cs typeface="Times New Roman" panose="02020603050405020304" pitchFamily="18" charset="0"/>
              </a:rPr>
              <a:t>Основная задача </a:t>
            </a:r>
            <a:r>
              <a:rPr lang="ru-RU" altLang="ru-RU" sz="2400" dirty="0">
                <a:cs typeface="Times New Roman" panose="02020603050405020304" pitchFamily="18" charset="0"/>
              </a:rPr>
              <a:t>–</a:t>
            </a:r>
          </a:p>
          <a:p>
            <a:pPr>
              <a:lnSpc>
                <a:spcPct val="90000"/>
              </a:lnSpc>
            </a:pP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превратить несовершенную среду передачи в надежный канал, свободный от ошибок передачи.</a:t>
            </a:r>
          </a:p>
          <a:p>
            <a:pPr>
              <a:lnSpc>
                <a:spcPct val="90000"/>
              </a:lnSpc>
            </a:pPr>
            <a:endParaRPr lang="ru-RU" altLang="ru-RU" sz="24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b="1" u="sng" dirty="0">
                <a:cs typeface="Times New Roman" panose="02020603050405020304" pitchFamily="18" charset="0"/>
              </a:rPr>
              <a:t>    Эта задача решается:</a:t>
            </a:r>
            <a:endParaRPr lang="ru-RU" altLang="ru-RU" sz="2400" b="1" u="sng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 1. Разбиением данных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отправителя на </a:t>
            </a:r>
            <a:r>
              <a:rPr lang="ru-RU" altLang="ru-RU" sz="2400" i="1" dirty="0">
                <a:solidFill>
                  <a:srgbClr val="000000"/>
                </a:solidFill>
                <a:cs typeface="Times New Roman" panose="02020603050405020304" pitchFamily="18" charset="0"/>
              </a:rPr>
              <a:t>кадры</a:t>
            </a:r>
          </a:p>
          <a:p>
            <a:pPr>
              <a:lnSpc>
                <a:spcPct val="90000"/>
              </a:lnSpc>
            </a:pPr>
            <a:r>
              <a:rPr lang="ru-RU" altLang="ru-RU" sz="2400" i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(обычно от 46 до 1,5 тысяч байтов), </a:t>
            </a:r>
          </a:p>
          <a:p>
            <a:pPr marL="457200" indent="-457200">
              <a:lnSpc>
                <a:spcPct val="90000"/>
              </a:lnSpc>
            </a:pP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 2. Последовательной передачей кадров. </a:t>
            </a:r>
            <a:endParaRPr lang="ru-RU" altLang="ru-RU" sz="24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3. Обработкой кадров </a:t>
            </a:r>
            <a:endParaRPr lang="ru-RU" altLang="ru-RU" sz="2400" b="1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b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уведомления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, поступающих </a:t>
            </a:r>
            <a:r>
              <a:rPr lang="ru-RU" altLang="ru-RU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от </a:t>
            </a:r>
          </a:p>
          <a:p>
            <a:pPr>
              <a:lnSpc>
                <a:spcPct val="90000"/>
              </a:lnSpc>
            </a:pPr>
            <a:r>
              <a:rPr lang="ru-RU" altLang="ru-RU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ru-RU" altLang="ru-RU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получателя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00320" y="0"/>
            <a:ext cx="8943680" cy="836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(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  <a:p>
            <a:endParaRPr lang="ru-RU" altLang="ru-RU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4590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Канальный уровень (2 уровень </a:t>
            </a:r>
            <a:r>
              <a:rPr lang="en-US" sz="3200" b="1" dirty="0">
                <a:solidFill>
                  <a:schemeClr val="tx2"/>
                </a:solidFill>
              </a:rPr>
              <a:t>OSI)</a:t>
            </a:r>
            <a:r>
              <a:rPr lang="ru-RU" sz="3200" b="1" dirty="0">
                <a:solidFill>
                  <a:schemeClr val="tx2"/>
                </a:solidFill>
              </a:rPr>
              <a:t> </a:t>
            </a:r>
            <a:r>
              <a:rPr lang="ru-RU" sz="3200" b="1" dirty="0" smtClean="0">
                <a:solidFill>
                  <a:schemeClr val="tx2"/>
                </a:solidFill>
              </a:rPr>
              <a:t>(1) </a:t>
            </a:r>
            <a:endParaRPr lang="ru-RU" sz="3200" b="1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fontScale="85000" lnSpcReduction="10000"/>
          </a:bodyPr>
          <a:lstStyle/>
          <a:p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уровне 2 модели ВОС происходит формирование кадра.</a:t>
            </a:r>
          </a:p>
          <a:p>
            <a:pPr marL="457200" indent="-457200">
              <a:buNone/>
            </a:pPr>
            <a:r>
              <a:rPr lang="ru-RU" sz="2800" dirty="0"/>
              <a:t>    </a:t>
            </a:r>
            <a:r>
              <a:rPr lang="ru-RU" sz="2800" u="sng" dirty="0"/>
              <a:t>Для фиксации границы кадра </a:t>
            </a:r>
            <a:r>
              <a:rPr lang="ru-RU" sz="2800" dirty="0"/>
              <a:t>–перед отправкой пакета к нему добавляется:</a:t>
            </a:r>
          </a:p>
          <a:p>
            <a:pPr marL="457200" indent="-457200">
              <a:buNone/>
            </a:pPr>
            <a:r>
              <a:rPr lang="ru-RU" sz="2800" b="1" dirty="0"/>
              <a:t>         </a:t>
            </a:r>
            <a:r>
              <a:rPr lang="ru-RU" sz="2800" dirty="0"/>
              <a:t>- флаг в начало пакета (заголовок);</a:t>
            </a:r>
          </a:p>
          <a:p>
            <a:pPr marL="457200" indent="-457200">
              <a:buNone/>
            </a:pPr>
            <a:r>
              <a:rPr lang="ru-RU" sz="2800" dirty="0"/>
              <a:t>         - </a:t>
            </a:r>
            <a:r>
              <a:rPr lang="ru-RU" sz="2800" dirty="0" err="1"/>
              <a:t>концевик</a:t>
            </a:r>
            <a:r>
              <a:rPr lang="ru-RU" sz="2800" dirty="0"/>
              <a:t> (контрольная сумма)  в конце пакета.</a:t>
            </a:r>
            <a:endParaRPr lang="ru-RU" altLang="ru-RU" sz="2800" u="sng" dirty="0">
              <a:cs typeface="Times New Roman" panose="02020603050405020304" pitchFamily="18" charset="0"/>
            </a:endParaRPr>
          </a:p>
          <a:p>
            <a:pPr marL="0" indent="0"/>
            <a:r>
              <a:rPr lang="ru-RU" sz="2800" u="sng" dirty="0"/>
              <a:t>  Кадр  канального уровня </a:t>
            </a:r>
            <a:r>
              <a:rPr lang="en-US" sz="2800" dirty="0"/>
              <a:t>(</a:t>
            </a:r>
            <a:r>
              <a:rPr lang="ru-RU" sz="2800" dirty="0"/>
              <a:t>канала передачи данных)</a:t>
            </a:r>
          </a:p>
          <a:p>
            <a:pPr marL="0" indent="0">
              <a:buNone/>
            </a:pPr>
            <a:r>
              <a:rPr lang="ru-RU" sz="2800" dirty="0"/>
              <a:t>     </a:t>
            </a:r>
            <a:r>
              <a:rPr lang="ru-RU" sz="2800" u="sng" dirty="0"/>
              <a:t>состоит из трех частей</a:t>
            </a:r>
            <a:r>
              <a:rPr lang="ru-RU" sz="2800" dirty="0"/>
              <a:t>:</a:t>
            </a:r>
          </a:p>
          <a:p>
            <a:pPr marL="415985" lvl="1" indent="-342900">
              <a:buNone/>
            </a:pPr>
            <a:r>
              <a:rPr lang="ru-RU" dirty="0"/>
              <a:t>       - Заголовок</a:t>
            </a:r>
          </a:p>
          <a:p>
            <a:pPr marL="415985" lvl="1" indent="-342900">
              <a:buNone/>
            </a:pPr>
            <a:r>
              <a:rPr lang="ru-RU" dirty="0"/>
              <a:t>       - Данные пользователя</a:t>
            </a:r>
          </a:p>
          <a:p>
            <a:pPr marL="415985" lvl="1" indent="-342900">
              <a:buNone/>
            </a:pPr>
            <a:r>
              <a:rPr lang="ru-RU" dirty="0"/>
              <a:t>       - </a:t>
            </a:r>
            <a:r>
              <a:rPr lang="ru-RU" dirty="0" err="1"/>
              <a:t>Концевик</a:t>
            </a:r>
            <a:endParaRPr lang="ru-RU" dirty="0"/>
          </a:p>
          <a:p>
            <a:pPr marL="0" lvl="1" indent="0" defTabSz="457105">
              <a:buFont typeface="Arial" pitchFamily="34" charset="0"/>
              <a:buChar char="•"/>
            </a:pPr>
            <a:r>
              <a:rPr lang="ru-RU" dirty="0"/>
              <a:t>   Поля заголовка и </a:t>
            </a:r>
            <a:r>
              <a:rPr lang="ru-RU" dirty="0" err="1"/>
              <a:t>концевика</a:t>
            </a:r>
            <a:r>
              <a:rPr lang="ru-RU" dirty="0"/>
              <a:t>  различаются в зависимости от  </a:t>
            </a:r>
          </a:p>
          <a:p>
            <a:pPr marL="0" lvl="1" indent="0" defTabSz="457105">
              <a:buNone/>
            </a:pPr>
            <a:r>
              <a:rPr lang="ru-RU" dirty="0"/>
              <a:t>     протокола  канального уровня. </a:t>
            </a:r>
          </a:p>
          <a:p>
            <a:pPr marL="0" lvl="1" indent="0" defTabSz="457105">
              <a:buFont typeface="Arial" pitchFamily="34" charset="0"/>
              <a:buChar char="•"/>
            </a:pPr>
            <a:r>
              <a:rPr lang="ru-RU" dirty="0"/>
              <a:t>   Объем управляющей информации, переносимой в кадре, зависит</a:t>
            </a:r>
          </a:p>
          <a:p>
            <a:pPr marL="0" lvl="1" indent="0" defTabSz="457105">
              <a:buNone/>
            </a:pPr>
            <a:r>
              <a:rPr lang="ru-RU" dirty="0"/>
              <a:t>      от информ</a:t>
            </a:r>
            <a:r>
              <a:rPr lang="ru-RU" dirty="0">
                <a:solidFill>
                  <a:srgbClr val="000000"/>
                </a:solidFill>
              </a:rPr>
              <a:t>ации управления доступом и логической топологии.</a:t>
            </a:r>
          </a:p>
          <a:p>
            <a:pPr marL="0" lvl="1" indent="0" defTabSz="457105">
              <a:buNone/>
            </a:pPr>
            <a:endParaRPr lang="ru-RU" altLang="ru-RU" u="sng" dirty="0"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784976" cy="450820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Поля кадра канального уровня (2 уровень </a:t>
            </a:r>
            <a:r>
              <a:rPr lang="en-US" sz="3200" b="1" dirty="0">
                <a:solidFill>
                  <a:schemeClr val="tx2"/>
                </a:solidFill>
              </a:rPr>
              <a:t>OSI)</a:t>
            </a:r>
            <a:r>
              <a:rPr lang="ru-RU" sz="32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698841DA-AE58-B547-A619-19487295985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36715"/>
            <a:ext cx="9144000" cy="1944215"/>
          </a:xfrm>
          <a:prstGeom prst="rect">
            <a:avLst/>
          </a:prstGeom>
        </p:spPr>
      </p:pic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xmlns="" id="{D7B87715-3E1C-4D1E-9428-D7A3628B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801933218"/>
              </p:ext>
            </p:extLst>
          </p:nvPr>
        </p:nvGraphicFramePr>
        <p:xfrm>
          <a:off x="251520" y="2925377"/>
          <a:ext cx="8424936" cy="374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816">
                  <a:extLst>
                    <a:ext uri="{9D8B030D-6E8A-4147-A177-3AD203B41FA5}">
                      <a16:colId xmlns:a16="http://schemas.microsoft.com/office/drawing/2014/main" xmlns="" val="3729139006"/>
                    </a:ext>
                  </a:extLst>
                </a:gridCol>
                <a:gridCol w="5866120">
                  <a:extLst>
                    <a:ext uri="{9D8B030D-6E8A-4147-A177-3AD203B41FA5}">
                      <a16:colId xmlns:a16="http://schemas.microsoft.com/office/drawing/2014/main" xmlns="" val="1988913492"/>
                    </a:ext>
                  </a:extLst>
                </a:gridCol>
              </a:tblGrid>
              <a:tr h="455640">
                <a:tc>
                  <a:txBody>
                    <a:bodyPr/>
                    <a:lstStyle/>
                    <a:p>
                      <a:pPr rtl="0"/>
                      <a:r>
                        <a:rPr lang="ru-RU" sz="1600" dirty="0"/>
                        <a:t>Поле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 dirty="0"/>
                        <a:t>Описание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583676789"/>
                  </a:ext>
                </a:extLst>
              </a:tr>
              <a:tr h="631865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Начало и конец кадра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Определяет начало и конец кадра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849654457"/>
                  </a:ext>
                </a:extLst>
              </a:tr>
              <a:tr h="455640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Адресация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Указывает узлы источника и назначения.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35735172"/>
                  </a:ext>
                </a:extLst>
              </a:tr>
              <a:tr h="631865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Тип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Идентифицирует инкапсулированный протокол уровня 3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54468046"/>
                  </a:ext>
                </a:extLst>
              </a:tr>
              <a:tr h="455640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Элемент управления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Идентифицирует службы управления потоком 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458107787"/>
                  </a:ext>
                </a:extLst>
              </a:tr>
              <a:tr h="481900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Данные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Содержит полезную нагрузку для кадра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495454272"/>
                  </a:ext>
                </a:extLst>
              </a:tr>
              <a:tr h="631865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Обнаружение ошибок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Используется для определения ошибок передачи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5631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86559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Канальный уровень (2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r>
              <a:rPr lang="ru-RU" sz="3600" b="1" dirty="0" smtClean="0">
                <a:solidFill>
                  <a:schemeClr val="tx2"/>
                </a:solidFill>
              </a:rPr>
              <a:t>(2)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8892480" cy="5616624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  <a:r>
              <a:rPr lang="ru-RU" sz="2600" dirty="0"/>
              <a:t>Канальный уровень (2 </a:t>
            </a:r>
            <a:r>
              <a:rPr lang="ru-RU" sz="2600" dirty="0" err="1"/>
              <a:t>ур</a:t>
            </a:r>
            <a:r>
              <a:rPr lang="ru-RU" sz="2600" dirty="0"/>
              <a:t>. модели ВОС) выполняет  функции установления , поддержания , разъединения соединений каналов связи.</a:t>
            </a:r>
          </a:p>
          <a:p>
            <a:pPr>
              <a:buNone/>
            </a:pPr>
            <a:r>
              <a:rPr lang="ru-RU" sz="2600" u="sng" dirty="0"/>
              <a:t>   Эти соединения называются информационными каналами</a:t>
            </a:r>
            <a:r>
              <a:rPr lang="ru-RU" sz="2600" dirty="0"/>
              <a:t>.</a:t>
            </a:r>
          </a:p>
          <a:p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обеспечения информационных каналов может выполняться разделение информации на отдельные сегменты   </a:t>
            </a:r>
            <a:r>
              <a:rPr lang="ru-RU" sz="2600" dirty="0"/>
              <a:t>(так называемые блоки, кадры, пакеты).</a:t>
            </a:r>
          </a:p>
          <a:p>
            <a:r>
              <a:rPr lang="ru-RU" sz="2600" dirty="0"/>
              <a:t> </a:t>
            </a:r>
            <a:r>
              <a:rPr lang="ru-RU" sz="2600" b="1" dirty="0"/>
              <a:t>Каждый блок информации может содержать поля: </a:t>
            </a:r>
          </a:p>
          <a:p>
            <a:pPr>
              <a:buNone/>
            </a:pPr>
            <a:r>
              <a:rPr lang="ru-RU" sz="2600" dirty="0"/>
              <a:t>   -  фиксированного размера (адреса , управления, проверки)</a:t>
            </a:r>
          </a:p>
          <a:p>
            <a:pPr>
              <a:buNone/>
            </a:pPr>
            <a:r>
              <a:rPr lang="ru-RU" sz="2600" dirty="0"/>
              <a:t>   - поля переменной длины (информационное).</a:t>
            </a:r>
          </a:p>
          <a:p>
            <a:r>
              <a:rPr lang="ru-RU" sz="2600" dirty="0"/>
              <a:t> Протоколы  канального уровня реализуют оптимальную длину блока (кадра). 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435280" cy="576064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>
                <a:solidFill>
                  <a:schemeClr val="tx2"/>
                </a:solidFill>
              </a:rPr>
              <a:t>Канальный уровень (2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r>
              <a:rPr lang="ru-RU" sz="3600" b="1" dirty="0" smtClean="0">
                <a:solidFill>
                  <a:schemeClr val="tx2"/>
                </a:solidFill>
              </a:rPr>
              <a:t>(3)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892480" cy="602128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ru-RU" b="1" u="sng" dirty="0"/>
              <a:t>Функции канального уровня (1):</a:t>
            </a:r>
          </a:p>
          <a:p>
            <a:pPr>
              <a:buNone/>
            </a:pPr>
            <a:r>
              <a:rPr lang="ru-RU" sz="2400" dirty="0"/>
              <a:t>    </a:t>
            </a:r>
            <a:r>
              <a:rPr lang="ru-RU" sz="2400" b="1" dirty="0"/>
              <a:t>- </a:t>
            </a:r>
            <a:r>
              <a:rPr lang="ru-RU" sz="3000" b="1" dirty="0"/>
              <a:t>инициализация </a:t>
            </a:r>
            <a:r>
              <a:rPr lang="ru-RU" sz="3000" dirty="0"/>
              <a:t>– обмен служебными сообщениями, подтверждающими готовность к передаче данных между узлами ;</a:t>
            </a:r>
          </a:p>
          <a:p>
            <a:pPr>
              <a:buNone/>
            </a:pPr>
            <a:r>
              <a:rPr lang="ru-RU" sz="3000" dirty="0"/>
              <a:t>    - </a:t>
            </a:r>
            <a:r>
              <a:rPr lang="ru-RU" sz="3000" b="1" dirty="0"/>
              <a:t>идентификация</a:t>
            </a:r>
            <a:r>
              <a:rPr lang="ru-RU" sz="3000" dirty="0"/>
              <a:t> – обмен служебной информацией , подтверждающей правильность соединения между пунктами;</a:t>
            </a:r>
          </a:p>
          <a:p>
            <a:pPr>
              <a:buNone/>
            </a:pPr>
            <a:r>
              <a:rPr lang="ru-RU" sz="3000" dirty="0"/>
              <a:t>    - </a:t>
            </a:r>
            <a:r>
              <a:rPr lang="ru-RU" sz="3000" b="1" dirty="0"/>
              <a:t>синхронизация</a:t>
            </a:r>
            <a:r>
              <a:rPr lang="ru-RU" sz="3000" dirty="0"/>
              <a:t> по кодовым комбинациям;</a:t>
            </a:r>
          </a:p>
          <a:p>
            <a:pPr>
              <a:buNone/>
            </a:pPr>
            <a:r>
              <a:rPr lang="ru-RU" sz="3000" dirty="0"/>
              <a:t>   - </a:t>
            </a:r>
            <a:r>
              <a:rPr lang="ru-RU" sz="3000" b="1" dirty="0"/>
              <a:t>сегментация </a:t>
            </a:r>
            <a:r>
              <a:rPr lang="ru-RU" sz="3000" dirty="0"/>
              <a:t>– формирование блоков для их передачи по каналу;</a:t>
            </a:r>
          </a:p>
          <a:p>
            <a:pPr>
              <a:buNone/>
            </a:pPr>
            <a:r>
              <a:rPr lang="ru-RU" sz="3000" dirty="0"/>
              <a:t>   </a:t>
            </a:r>
            <a:r>
              <a:rPr lang="ru-RU" sz="3000" b="1" dirty="0"/>
              <a:t>- обеспечение прозрачности </a:t>
            </a:r>
            <a:r>
              <a:rPr lang="ru-RU" sz="3000" dirty="0"/>
              <a:t>– предоставление вышерасположенному уровню возможности передачи произвольных последовательностей битов;</a:t>
            </a:r>
          </a:p>
          <a:p>
            <a:pPr>
              <a:buNone/>
            </a:pPr>
            <a:r>
              <a:rPr lang="ru-RU" sz="2800" dirty="0"/>
              <a:t>   </a:t>
            </a:r>
          </a:p>
          <a:p>
            <a:pPr>
              <a:buNone/>
            </a:pPr>
            <a:endParaRPr lang="ru-RU" sz="2800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9024" y="188640"/>
            <a:ext cx="8784976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Канальный уровень (2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r>
              <a:rPr lang="ru-RU" sz="3600" b="1" dirty="0">
                <a:solidFill>
                  <a:schemeClr val="tx2"/>
                </a:solidFill>
              </a:rPr>
              <a:t>  </a:t>
            </a:r>
            <a:r>
              <a:rPr lang="ru-RU" sz="3600" b="1" dirty="0" smtClean="0">
                <a:solidFill>
                  <a:schemeClr val="tx2"/>
                </a:solidFill>
              </a:rPr>
              <a:t>(4)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8964488" cy="5688632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ru-RU" sz="3800" b="1" u="sng" dirty="0"/>
              <a:t>Функции канального уровня (2):</a:t>
            </a:r>
          </a:p>
          <a:p>
            <a:pPr>
              <a:buFontTx/>
              <a:buChar char="-"/>
            </a:pPr>
            <a:r>
              <a:rPr lang="ru-RU" b="1" dirty="0"/>
              <a:t>управление потоком </a:t>
            </a:r>
            <a:r>
              <a:rPr lang="ru-RU" dirty="0"/>
              <a:t>– обеспечение согласование скоростей передачи и приема;</a:t>
            </a:r>
          </a:p>
          <a:p>
            <a:pPr>
              <a:buFontTx/>
              <a:buChar char="-"/>
            </a:pPr>
            <a:r>
              <a:rPr lang="ru-RU" dirty="0"/>
              <a:t> </a:t>
            </a:r>
            <a:r>
              <a:rPr lang="ru-RU" b="1" dirty="0"/>
              <a:t>контроля ошибок  в канале связи </a:t>
            </a:r>
            <a:r>
              <a:rPr lang="ru-RU" dirty="0"/>
              <a:t>и восстановление информации, искаженной в процессе передачи по сети ;</a:t>
            </a:r>
          </a:p>
          <a:p>
            <a:pPr>
              <a:buNone/>
            </a:pPr>
            <a:r>
              <a:rPr lang="ru-RU" dirty="0"/>
              <a:t> - </a:t>
            </a:r>
            <a:r>
              <a:rPr lang="ru-RU" b="1" dirty="0"/>
              <a:t>обнаружение нарушений нормальной передачи информации </a:t>
            </a:r>
            <a:r>
              <a:rPr lang="ru-RU" dirty="0"/>
              <a:t>и реализация процедур выходы из сбойных ситуаций;</a:t>
            </a:r>
            <a:endParaRPr lang="en-US" dirty="0"/>
          </a:p>
          <a:p>
            <a:pPr>
              <a:buNone/>
            </a:pPr>
            <a:r>
              <a:rPr lang="en-US" dirty="0"/>
              <a:t>  - </a:t>
            </a:r>
            <a:r>
              <a:rPr lang="ru-RU" b="1" dirty="0"/>
              <a:t>ликвидация логического соединения</a:t>
            </a:r>
            <a:r>
              <a:rPr lang="ru-RU" dirty="0"/>
              <a:t>, образованного при инициализации канала;</a:t>
            </a:r>
          </a:p>
          <a:p>
            <a:pPr>
              <a:buNone/>
            </a:pPr>
            <a:r>
              <a:rPr lang="ru-RU" dirty="0"/>
              <a:t>   - </a:t>
            </a:r>
            <a:r>
              <a:rPr lang="ru-RU" b="1" dirty="0"/>
              <a:t>управления каналом </a:t>
            </a:r>
            <a:r>
              <a:rPr lang="ru-RU" dirty="0"/>
              <a:t>– обеспечение возможности контроля функционирования  канала, выявления отказов, восстановления, сбора информации о работе канала.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93610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Канальный уровень (2 уровень </a:t>
            </a:r>
            <a:r>
              <a:rPr lang="en-US" sz="3200" b="1" dirty="0">
                <a:solidFill>
                  <a:schemeClr val="tx2"/>
                </a:solidFill>
              </a:rPr>
              <a:t>OSI)</a:t>
            </a:r>
            <a:r>
              <a:rPr lang="ru-RU" sz="32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5" cy="56886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800" dirty="0">
                <a:solidFill>
                  <a:srgbClr val="000000"/>
                </a:solidFill>
              </a:rPr>
              <a:t> </a:t>
            </a:r>
            <a:r>
              <a:rPr lang="ru-RU" sz="2800" b="1" dirty="0"/>
              <a:t>   </a:t>
            </a:r>
            <a:r>
              <a:rPr lang="ru-RU" sz="2400" u="sng" dirty="0"/>
              <a:t>На каждом переходе </a:t>
            </a:r>
            <a:r>
              <a:rPr lang="ru-RU" sz="2400" u="sng" dirty="0" err="1"/>
              <a:t>маршрутизатор</a:t>
            </a:r>
            <a:r>
              <a:rPr lang="ru-RU" sz="2400" b="1" u="sng" dirty="0"/>
              <a:t> (М) </a:t>
            </a:r>
            <a:r>
              <a:rPr lang="ru-RU" sz="2400" u="sng" dirty="0"/>
              <a:t>выполняет четыре основные функции уровня 2:</a:t>
            </a:r>
          </a:p>
          <a:p>
            <a:pPr marL="415925" lvl="1" indent="-342900" algn="just">
              <a:buNone/>
            </a:pPr>
            <a:r>
              <a:rPr lang="ru-RU" sz="2400" dirty="0"/>
              <a:t>  - Принимает кадр из сетевой среды.</a:t>
            </a:r>
          </a:p>
          <a:p>
            <a:pPr marL="415985" lvl="1" indent="-342900">
              <a:buNone/>
            </a:pPr>
            <a:r>
              <a:rPr lang="ru-RU" sz="2400" dirty="0"/>
              <a:t>  - </a:t>
            </a:r>
            <a:r>
              <a:rPr lang="ru-RU" sz="2400" dirty="0" err="1"/>
              <a:t>Деинкапсулирует</a:t>
            </a:r>
            <a:r>
              <a:rPr lang="ru-RU" sz="2400" dirty="0"/>
              <a:t> кадр для предоставления инкапсулированного пакета.</a:t>
            </a:r>
          </a:p>
          <a:p>
            <a:pPr marL="415985" lvl="1" indent="-342900" algn="just">
              <a:buNone/>
            </a:pPr>
            <a:r>
              <a:rPr lang="ru-RU" sz="2400" dirty="0"/>
              <a:t>   - Повторно инкапсулирует пакет в новый кадр.</a:t>
            </a:r>
          </a:p>
          <a:p>
            <a:pPr marL="0" indent="0">
              <a:buNone/>
            </a:pPr>
            <a:r>
              <a:rPr lang="ru-RU" sz="2400" dirty="0"/>
              <a:t>    -  Переадресует новый кадр в среду следующего сегмента сети.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b="1" dirty="0"/>
              <a:t>   Адреса канального уровня с</a:t>
            </a:r>
            <a:r>
              <a:rPr lang="ru-RU" sz="2400" dirty="0"/>
              <a:t>одержатся в заголовке кадра и </a:t>
            </a:r>
          </a:p>
          <a:p>
            <a:pPr marL="0" indent="0">
              <a:buNone/>
            </a:pPr>
            <a:r>
              <a:rPr lang="ru-RU" sz="2400" dirty="0"/>
              <a:t>    называются физическими адресами (МАК адреса для </a:t>
            </a:r>
            <a:r>
              <a:rPr lang="en-US" sz="2400" dirty="0"/>
              <a:t>LAN)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   Используются только для доставки кадра по каналу и</a:t>
            </a:r>
          </a:p>
          <a:p>
            <a:pPr marL="0" indent="0">
              <a:buNone/>
            </a:pPr>
            <a:r>
              <a:rPr lang="ru-RU" sz="2400" dirty="0"/>
              <a:t>  обновляются каждым устройством, которое пересылает кадр.</a:t>
            </a:r>
          </a:p>
          <a:p>
            <a:pPr marL="415985" lvl="1" indent="-342900" algn="just" defTabSz="450850">
              <a:buNone/>
            </a:pPr>
            <a:endParaRPr lang="ru-RU" sz="2400" dirty="0"/>
          </a:p>
          <a:p>
            <a:pPr algn="just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267098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60648"/>
            <a:ext cx="8856983" cy="504056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Вложенность сообщений различных уровней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520" y="764704"/>
            <a:ext cx="8788153" cy="564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2926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2414588" y="2081213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52228" name="Picture 4" descr="Уровни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9166"/>
          <a:stretch>
            <a:fillRect/>
          </a:stretch>
        </p:blipFill>
        <p:spPr bwMode="auto">
          <a:xfrm>
            <a:off x="0" y="1196751"/>
            <a:ext cx="3943350" cy="46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2229" name="Line 5"/>
          <p:cNvSpPr>
            <a:spLocks noChangeShapeType="1"/>
          </p:cNvSpPr>
          <p:nvPr/>
        </p:nvSpPr>
        <p:spPr bwMode="auto">
          <a:xfrm flipH="1">
            <a:off x="3635896" y="1052736"/>
            <a:ext cx="792088" cy="410445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4379659" y="764704"/>
            <a:ext cx="4764341" cy="541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1-й уровень - </a:t>
            </a:r>
            <a:r>
              <a:rPr lang="ru-RU" altLang="ru-RU" sz="24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физический (</a:t>
            </a:r>
            <a:r>
              <a:rPr lang="ru-RU" altLang="ru-RU" sz="2400" b="1" i="1" dirty="0" err="1">
                <a:solidFill>
                  <a:srgbClr val="C00000"/>
                </a:solidFill>
                <a:cs typeface="Times New Roman" panose="02020603050405020304" pitchFamily="18" charset="0"/>
              </a:rPr>
              <a:t>Physical</a:t>
            </a:r>
            <a:r>
              <a:rPr lang="ru-RU" altLang="ru-RU" sz="2400" b="1" i="1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r>
              <a:rPr lang="ru-RU" altLang="ru-RU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отвечает: </a:t>
            </a:r>
            <a:endParaRPr lang="en-US" altLang="ru-RU" sz="24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 </a:t>
            </a:r>
            <a:r>
              <a:rPr lang="ru-RU" altLang="ru-RU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-   </a:t>
            </a:r>
            <a:r>
              <a:rPr lang="ru-RU" altLang="ru-RU" sz="2400" b="1" u="sng" dirty="0">
                <a:cs typeface="Times New Roman" panose="02020603050405020304" pitchFamily="18" charset="0"/>
              </a:rPr>
              <a:t>за передачу </a:t>
            </a:r>
            <a:r>
              <a:rPr lang="ru-RU" altLang="ru-RU" sz="2400" dirty="0">
                <a:cs typeface="Times New Roman" panose="02020603050405020304" pitchFamily="18" charset="0"/>
              </a:rPr>
              <a:t>последовательности битов через канал связи;</a:t>
            </a:r>
            <a:endParaRPr lang="en-US" altLang="ru-RU" sz="24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dirty="0">
                <a:cs typeface="Times New Roman" panose="02020603050405020304" pitchFamily="18" charset="0"/>
              </a:rPr>
              <a:t>     </a:t>
            </a:r>
            <a:r>
              <a:rPr lang="ru-RU" altLang="ru-RU" sz="2400" u="sng" dirty="0">
                <a:cs typeface="Times New Roman" panose="02020603050405020304" pitchFamily="18" charset="0"/>
              </a:rPr>
              <a:t>- </a:t>
            </a:r>
            <a:r>
              <a:rPr lang="ru-RU" altLang="ru-RU" sz="2400" b="1" u="sng" dirty="0">
                <a:cs typeface="Times New Roman" panose="02020603050405020304" pitchFamily="18" charset="0"/>
              </a:rPr>
              <a:t>предоставляе</a:t>
            </a:r>
            <a:r>
              <a:rPr lang="ru-RU" altLang="ru-RU" sz="2400" u="sng" dirty="0">
                <a:cs typeface="Times New Roman" panose="02020603050405020304" pitchFamily="18" charset="0"/>
              </a:rPr>
              <a:t>т </a:t>
            </a:r>
            <a:r>
              <a:rPr lang="ru-RU" altLang="ru-RU" sz="2400" dirty="0">
                <a:cs typeface="Times New Roman" panose="02020603050405020304" pitchFamily="18" charset="0"/>
              </a:rPr>
              <a:t>механические, электрические, функциональные и процедурные средства для установления, поддержания и разъединения соединений между логическими объектами канального уровня; </a:t>
            </a:r>
            <a:endParaRPr lang="en-US" altLang="ru-RU" sz="24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cs typeface="Times New Roman" panose="02020603050405020304" pitchFamily="18" charset="0"/>
              </a:rPr>
              <a:t>- </a:t>
            </a:r>
            <a:r>
              <a:rPr lang="ru-RU" altLang="ru-RU" sz="2400" b="1" u="sng" dirty="0">
                <a:cs typeface="Times New Roman" panose="02020603050405020304" pitchFamily="18" charset="0"/>
              </a:rPr>
              <a:t>реализует</a:t>
            </a:r>
            <a:r>
              <a:rPr lang="ru-RU" altLang="ru-RU" sz="2400" b="1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cs typeface="Times New Roman" panose="02020603050405020304" pitchFamily="18" charset="0"/>
              </a:rPr>
              <a:t>функции передачи битов данных через физические среды.</a:t>
            </a:r>
          </a:p>
          <a:p>
            <a:pPr>
              <a:lnSpc>
                <a:spcPct val="90000"/>
              </a:lnSpc>
            </a:pPr>
            <a:r>
              <a:rPr lang="ru-RU" altLang="ru-RU" sz="2400" dirty="0"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00320" y="0"/>
            <a:ext cx="8943680" cy="836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(OSI)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5793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92500"/>
          </a:bodyPr>
          <a:lstStyle/>
          <a:p>
            <a:r>
              <a:rPr lang="ru-RU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Физический уровень обеспечивает непосредственную взаимосвязь со средой передачи.</a:t>
            </a:r>
            <a:endParaRPr lang="ru-RU" sz="2600" b="1" dirty="0"/>
          </a:p>
          <a:p>
            <a:r>
              <a:rPr lang="ru-RU" sz="2600" u="sng" dirty="0"/>
              <a:t>Примеры среды передачи</a:t>
            </a:r>
            <a:r>
              <a:rPr lang="ru-RU" sz="2600" b="1" dirty="0"/>
              <a:t>:</a:t>
            </a:r>
          </a:p>
          <a:p>
            <a:pPr>
              <a:buNone/>
            </a:pPr>
            <a:r>
              <a:rPr lang="ru-RU" sz="2600" dirty="0"/>
              <a:t>    - коаксиальный кабель;</a:t>
            </a:r>
          </a:p>
          <a:p>
            <a:pPr>
              <a:buNone/>
            </a:pPr>
            <a:r>
              <a:rPr lang="ru-RU" sz="2600" dirty="0"/>
              <a:t>    - двухпроводная витая пара;</a:t>
            </a:r>
          </a:p>
          <a:p>
            <a:pPr>
              <a:buNone/>
            </a:pPr>
            <a:r>
              <a:rPr lang="ru-RU" sz="2600" dirty="0"/>
              <a:t>    - </a:t>
            </a:r>
            <a:r>
              <a:rPr lang="ru-RU" sz="2600" dirty="0" err="1"/>
              <a:t>световод</a:t>
            </a:r>
            <a:r>
              <a:rPr lang="ru-RU" sz="2600" dirty="0"/>
              <a:t> (ОВ) и т.д.</a:t>
            </a:r>
          </a:p>
          <a:p>
            <a:r>
              <a:rPr lang="ru-RU" sz="2600" dirty="0"/>
              <a:t>   Среда передачи может быть составной и включать сегменты различного типа, например, проводную и </a:t>
            </a:r>
            <a:r>
              <a:rPr lang="ru-RU" sz="2600" dirty="0" err="1"/>
              <a:t>световодную</a:t>
            </a:r>
            <a:r>
              <a:rPr lang="ru-RU" sz="2600" dirty="0"/>
              <a:t> линии.</a:t>
            </a:r>
          </a:p>
          <a:p>
            <a:r>
              <a:rPr lang="ru-RU" sz="2600" b="1" dirty="0"/>
              <a:t>Цель физического уровня:</a:t>
            </a:r>
          </a:p>
          <a:p>
            <a:pPr>
              <a:buNone/>
            </a:pPr>
            <a:r>
              <a:rPr lang="ru-RU" sz="2600" dirty="0"/>
              <a:t>   - установление, поддержание и отключение физических соединений   (физических каналов),соединяющих  между собой узлы связи.</a:t>
            </a:r>
          </a:p>
          <a:p>
            <a:pPr>
              <a:buNone/>
            </a:pPr>
            <a:r>
              <a:rPr lang="ru-RU" sz="2600" dirty="0" smtClean="0"/>
              <a:t>.</a:t>
            </a:r>
            <a:endParaRPr lang="ru-RU" sz="2600" dirty="0"/>
          </a:p>
          <a:p>
            <a:pPr>
              <a:buNone/>
            </a:pPr>
            <a:r>
              <a:rPr lang="ru-RU" sz="2400" dirty="0"/>
              <a:t>   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80728"/>
            <a:ext cx="8892480" cy="5616624"/>
          </a:xfrm>
        </p:spPr>
        <p:txBody>
          <a:bodyPr>
            <a:normAutofit fontScale="92500" lnSpcReduction="10000"/>
          </a:bodyPr>
          <a:lstStyle/>
          <a:p>
            <a:pPr marL="93663" lvl="1" indent="-93663">
              <a:buFont typeface="Arial" pitchFamily="34" charset="0"/>
              <a:buChar char="•"/>
            </a:pPr>
            <a:r>
              <a:rPr lang="ru-RU" sz="3000" dirty="0"/>
              <a:t>  </a:t>
            </a:r>
            <a:r>
              <a:rPr lang="ru-RU" sz="3000" b="1" u="sng" dirty="0"/>
              <a:t>Физический уровень отвечает </a:t>
            </a:r>
          </a:p>
          <a:p>
            <a:pPr marL="93663" lvl="1" indent="-93663">
              <a:buNone/>
            </a:pPr>
            <a:r>
              <a:rPr lang="ru-RU" sz="3000" dirty="0"/>
              <a:t>    за передачу битов по физическим линиям. </a:t>
            </a:r>
          </a:p>
          <a:p>
            <a:pPr marL="93663" indent="-93663"/>
            <a:r>
              <a:rPr lang="ru-RU" sz="3000" dirty="0"/>
              <a:t>     Подключение может быть проводным или </a:t>
            </a:r>
          </a:p>
          <a:p>
            <a:pPr marL="93663" indent="-93663">
              <a:buNone/>
            </a:pPr>
            <a:r>
              <a:rPr lang="ru-RU" sz="3000" dirty="0"/>
              <a:t>       беспроводным, в зависимости от настройки сети.</a:t>
            </a:r>
            <a:endParaRPr lang="ru-RU" altLang="ru-RU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altLang="ru-RU" u="sng" dirty="0">
                <a:cs typeface="Times New Roman" panose="02020603050405020304" pitchFamily="18" charset="0"/>
              </a:rPr>
              <a:t> </a:t>
            </a:r>
            <a:r>
              <a:rPr lang="ru-RU" altLang="ru-RU" b="1" u="sng" dirty="0"/>
              <a:t>Н</a:t>
            </a:r>
            <a:r>
              <a:rPr lang="ru-RU" altLang="ru-RU" b="1" u="sng" dirty="0">
                <a:cs typeface="Times New Roman" panose="02020603050405020304" pitchFamily="18" charset="0"/>
              </a:rPr>
              <a:t>а физическом уровне осуществляется:  </a:t>
            </a:r>
          </a:p>
          <a:p>
            <a:pPr>
              <a:lnSpc>
                <a:spcPct val="90000"/>
              </a:lnSpc>
              <a:buNone/>
            </a:pPr>
            <a:r>
              <a:rPr lang="ru-RU" altLang="ru-RU" dirty="0">
                <a:cs typeface="Times New Roman" panose="02020603050405020304" pitchFamily="18" charset="0"/>
              </a:rPr>
              <a:t>      - представление информации в виде электрических или оптических сигналов, </a:t>
            </a:r>
          </a:p>
          <a:p>
            <a:pPr>
              <a:lnSpc>
                <a:spcPct val="90000"/>
              </a:lnSpc>
              <a:buNone/>
            </a:pPr>
            <a:r>
              <a:rPr lang="ru-RU" altLang="ru-RU" dirty="0">
                <a:cs typeface="Times New Roman" panose="02020603050405020304" pitchFamily="18" charset="0"/>
              </a:rPr>
              <a:t>     - преобразования формы сигналов,  </a:t>
            </a:r>
          </a:p>
          <a:p>
            <a:pPr>
              <a:lnSpc>
                <a:spcPct val="90000"/>
              </a:lnSpc>
              <a:buNone/>
            </a:pPr>
            <a:r>
              <a:rPr lang="ru-RU" altLang="ru-RU" dirty="0">
                <a:cs typeface="Times New Roman" panose="02020603050405020304" pitchFamily="18" charset="0"/>
              </a:rPr>
              <a:t>     - выбор параметров физических </a:t>
            </a:r>
            <a:r>
              <a:rPr lang="ru-RU" altLang="ru-RU" dirty="0" smtClean="0">
                <a:cs typeface="Times New Roman" panose="02020603050405020304" pitchFamily="18" charset="0"/>
              </a:rPr>
              <a:t>сред</a:t>
            </a:r>
          </a:p>
          <a:p>
            <a:pPr>
              <a:lnSpc>
                <a:spcPct val="90000"/>
              </a:lnSpc>
              <a:buNone/>
            </a:pPr>
            <a:r>
              <a:rPr lang="ru-RU" altLang="ru-RU" dirty="0" smtClean="0">
                <a:cs typeface="Times New Roman" panose="02020603050405020304" pitchFamily="18" charset="0"/>
              </a:rPr>
              <a:t> </a:t>
            </a:r>
            <a:r>
              <a:rPr lang="ru-RU" altLang="ru-RU" dirty="0" smtClean="0">
                <a:cs typeface="Times New Roman" panose="02020603050405020304" pitchFamily="18" charset="0"/>
              </a:rPr>
              <a:t>      </a:t>
            </a:r>
            <a:r>
              <a:rPr lang="ru-RU" altLang="ru-RU" dirty="0" smtClean="0">
                <a:cs typeface="Times New Roman" panose="02020603050405020304" pitchFamily="18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передачи данных. </a:t>
            </a:r>
          </a:p>
          <a:p>
            <a:pPr>
              <a:lnSpc>
                <a:spcPct val="90000"/>
              </a:lnSpc>
            </a:pPr>
            <a:r>
              <a:rPr lang="ru-RU" u="sng" dirty="0"/>
              <a:t>Реализуется в устройствах</a:t>
            </a:r>
            <a:r>
              <a:rPr lang="ru-RU" dirty="0"/>
              <a:t>, подключенных к сети (со стороны компьютера – сетевой адаптер).</a:t>
            </a:r>
          </a:p>
          <a:p>
            <a:pPr>
              <a:lnSpc>
                <a:spcPct val="90000"/>
              </a:lnSpc>
            </a:pPr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8892480" cy="60932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b="1" u="sng" dirty="0"/>
              <a:t>Физический уровень должен предоставлять канальному уровню следующие услуги :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ru-RU" sz="2400" b="1" dirty="0"/>
              <a:t>реализовать физическое соединение </a:t>
            </a:r>
            <a:r>
              <a:rPr lang="ru-RU" sz="2400" dirty="0"/>
              <a:t>между двумя или более компонентами канального уровня;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ru-RU" sz="2400" b="1" dirty="0"/>
              <a:t>осуществлять передачу </a:t>
            </a:r>
            <a:r>
              <a:rPr lang="ru-RU" sz="2400" dirty="0"/>
              <a:t>по установленному соединению </a:t>
            </a:r>
            <a:r>
              <a:rPr lang="ru-RU" sz="2400" b="1" dirty="0"/>
              <a:t>битов</a:t>
            </a:r>
            <a:r>
              <a:rPr lang="ru-RU" sz="2400" dirty="0"/>
              <a:t> или байтов;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ru-RU" sz="2400" b="1" dirty="0"/>
              <a:t>предоставлять доступ канальному уровню к соединению</a:t>
            </a:r>
            <a:r>
              <a:rPr lang="ru-RU" sz="2400" dirty="0"/>
              <a:t>, выполненному на физическом уровне;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ru-RU" sz="2400" b="1" dirty="0"/>
              <a:t>обеспечить идентификацию путей передачи информации </a:t>
            </a:r>
            <a:r>
              <a:rPr lang="ru-RU" sz="2400" dirty="0"/>
              <a:t>между компонентами физического уровня;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ru-RU" sz="2400" b="1" dirty="0"/>
              <a:t>обеспечить сохранение на выходе </a:t>
            </a:r>
            <a:r>
              <a:rPr lang="ru-RU" sz="2400" dirty="0"/>
              <a:t>той же последовательности данных, которая поступила на вход Физ. Ур.;</a:t>
            </a:r>
          </a:p>
          <a:p>
            <a:pPr>
              <a:buNone/>
            </a:pPr>
            <a:r>
              <a:rPr lang="ru-RU" sz="2400" dirty="0"/>
              <a:t>    </a:t>
            </a:r>
            <a:r>
              <a:rPr lang="ru-RU" sz="2400" b="1" dirty="0"/>
              <a:t>- выдать сообщения об отказах </a:t>
            </a:r>
            <a:r>
              <a:rPr lang="ru-RU" sz="2400" dirty="0"/>
              <a:t>или неисправных состояниях  Физ.Ур.;</a:t>
            </a:r>
          </a:p>
          <a:p>
            <a:pPr>
              <a:buNone/>
            </a:pPr>
            <a:r>
              <a:rPr lang="ru-RU" sz="2400" dirty="0"/>
              <a:t>    -</a:t>
            </a:r>
            <a:r>
              <a:rPr lang="ru-RU" sz="2400" b="1" dirty="0"/>
              <a:t>обеспечить требуемые параметры качества обслуживания</a:t>
            </a:r>
            <a:r>
              <a:rPr lang="ru-RU" sz="2400" dirty="0"/>
              <a:t>.</a:t>
            </a:r>
          </a:p>
          <a:p>
            <a:pPr>
              <a:buNone/>
            </a:pPr>
            <a:r>
              <a:rPr lang="ru-RU" sz="2400" dirty="0"/>
              <a:t>  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3" y="0"/>
            <a:ext cx="8712968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600" b="1" dirty="0">
                <a:solidFill>
                  <a:schemeClr val="tx2"/>
                </a:solidFill>
              </a:rPr>
              <a:t>OSI)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692696"/>
            <a:ext cx="8892479" cy="6165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</a:rPr>
              <a:t>  </a:t>
            </a:r>
            <a:r>
              <a:rPr lang="ru-RU" sz="2400" b="1" u="sng" dirty="0"/>
              <a:t>Стандарты физического уровня регламентируют</a:t>
            </a:r>
          </a:p>
          <a:p>
            <a:pPr marL="0" indent="0">
              <a:buNone/>
            </a:pPr>
            <a:r>
              <a:rPr lang="ru-RU" sz="2400" b="1" u="sng" dirty="0"/>
              <a:t>    три функциональные области: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ru-RU" sz="2400" dirty="0"/>
              <a:t>Физические компоненты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ru-RU" sz="2400" dirty="0"/>
              <a:t>Кодирование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ru-RU" sz="2400" dirty="0"/>
              <a:t>Способы передачи сигналов (сигнализация)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73085" lvl="1" indent="0" algn="ctr">
              <a:buNone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Физические компоненты </a:t>
            </a:r>
          </a:p>
          <a:p>
            <a:pPr marL="415985" lvl="1" indent="-342900">
              <a:buNone/>
            </a:pPr>
            <a:r>
              <a:rPr lang="ru-RU" sz="2400" dirty="0">
                <a:solidFill>
                  <a:srgbClr val="000000"/>
                </a:solidFill>
              </a:rPr>
              <a:t>       - это аппаратные устройства,</a:t>
            </a:r>
          </a:p>
          <a:p>
            <a:pPr marL="415985" lvl="1" indent="-342900">
              <a:buNone/>
            </a:pPr>
            <a:r>
              <a:rPr lang="ru-RU" sz="2400" dirty="0">
                <a:solidFill>
                  <a:srgbClr val="000000"/>
                </a:solidFill>
              </a:rPr>
              <a:t>       - средства подключения,</a:t>
            </a:r>
          </a:p>
          <a:p>
            <a:pPr marL="415985" lvl="1" indent="-342900">
              <a:buNone/>
            </a:pPr>
            <a:r>
              <a:rPr lang="ru-RU" sz="2400" dirty="0">
                <a:solidFill>
                  <a:srgbClr val="000000"/>
                </a:solidFill>
              </a:rPr>
              <a:t>       - соединители и разъемы, обеспечивающие передачу сигналов, с помощью которых представлены биты информации.</a:t>
            </a:r>
          </a:p>
          <a:p>
            <a:pPr marL="415985" lvl="1" indent="-342900">
              <a:buNone/>
            </a:pPr>
            <a:r>
              <a:rPr lang="ru-RU" sz="2400" dirty="0"/>
              <a:t>   </a:t>
            </a:r>
            <a:endParaRPr lang="ru-RU" sz="2400" dirty="0">
              <a:solidFill>
                <a:srgbClr val="000000"/>
              </a:solidFill>
            </a:endParaRP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765534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92239"/>
            <a:ext cx="8240463" cy="576065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200" b="1" dirty="0">
                <a:solidFill>
                  <a:schemeClr val="tx2"/>
                </a:solidFill>
              </a:rPr>
              <a:t>OSI)</a:t>
            </a:r>
            <a:endParaRPr lang="ru-RU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1" cy="5760641"/>
          </a:xfrm>
        </p:spPr>
        <p:txBody>
          <a:bodyPr/>
          <a:lstStyle/>
          <a:p>
            <a:pPr marL="285750" indent="-285750" algn="ctr">
              <a:buNone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2.Кодирование</a:t>
            </a:r>
          </a:p>
          <a:p>
            <a:pPr marL="285750" indent="-285750"/>
            <a:r>
              <a:rPr lang="ru-RU" sz="2400" dirty="0"/>
              <a:t>Кодирование преобразует поток битов в ф</a:t>
            </a:r>
            <a:r>
              <a:rPr lang="ru-RU" sz="2400" dirty="0">
                <a:solidFill>
                  <a:srgbClr val="000000"/>
                </a:solidFill>
              </a:rPr>
              <a:t>ормат, узнаваемый следующим устройством в сетевом пути.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Это «кодирование» обеспечивает предсказуемые шаблоны, которые могут быть распознаны следующим устройством.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Примеры методов кодирования включают </a:t>
            </a:r>
            <a:r>
              <a:rPr lang="ru-RU" sz="2400" dirty="0" err="1">
                <a:solidFill>
                  <a:srgbClr val="000000"/>
                </a:solidFill>
              </a:rPr>
              <a:t>Manchester</a:t>
            </a:r>
            <a:r>
              <a:rPr lang="ru-RU" sz="2400" dirty="0">
                <a:solidFill>
                  <a:srgbClr val="000000"/>
                </a:solidFill>
              </a:rPr>
              <a:t> (показано на рисунке), 4B/5B и 8B/10B</a:t>
            </a:r>
            <a:r>
              <a:rPr lang="ru-RU" dirty="0">
                <a:solidFill>
                  <a:srgbClr val="000000"/>
                </a:solidFill>
              </a:rPr>
              <a:t>.</a:t>
            </a:r>
          </a:p>
          <a:p>
            <a:endParaRPr lang="ru-RU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xmlns="" id="{15258416-999A-294E-8E65-12B100E4908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4221088"/>
            <a:ext cx="7776864" cy="24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7763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9" y="0"/>
            <a:ext cx="8568952" cy="83671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200" b="1" dirty="0">
                <a:solidFill>
                  <a:schemeClr val="tx2"/>
                </a:solidFill>
              </a:rPr>
              <a:t>OSI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36712"/>
            <a:ext cx="8892479" cy="5760640"/>
          </a:xfrm>
        </p:spPr>
        <p:txBody>
          <a:bodyPr/>
          <a:lstStyle/>
          <a:p>
            <a:pPr marL="285750" indent="-285750" algn="ctr">
              <a:buNone/>
            </a:pPr>
            <a:r>
              <a:rPr lang="ru-RU" sz="2400" b="1" dirty="0"/>
              <a:t> 3. </a:t>
            </a:r>
            <a:r>
              <a:rPr lang="ru-RU" sz="2800" b="1" dirty="0"/>
              <a:t>Сигнализация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Метод сигнализации - это то, как битовые значения «1» и «0» представлены на физическом носителе.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u="sng" dirty="0"/>
              <a:t>Способ сигнализации </a:t>
            </a:r>
            <a:r>
              <a:rPr lang="ru-RU" sz="2400" dirty="0"/>
              <a:t>будет варьироваться в зависимости от типа используемого носителя.</a:t>
            </a:r>
          </a:p>
          <a:p>
            <a:endParaRPr lang="ru-RU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xmlns="" id="{A269CFD5-4CF5-6F41-84C4-121383F6B56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9653" y="3138420"/>
            <a:ext cx="6158611" cy="2738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661482A-007E-BE46-BEAF-3DA2CB5B442B}"/>
              </a:ext>
            </a:extLst>
          </p:cNvPr>
          <p:cNvSpPr txBox="1"/>
          <p:nvPr/>
        </p:nvSpPr>
        <p:spPr>
          <a:xfrm>
            <a:off x="1027240" y="6021289"/>
            <a:ext cx="7793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Электрические сигналы по медному кабелю</a:t>
            </a:r>
          </a:p>
        </p:txBody>
      </p:sp>
    </p:spTree>
    <p:extLst>
      <p:ext uri="{BB962C8B-B14F-4D97-AF65-F5344CB8AC3E}">
        <p14:creationId xmlns:p14="http://schemas.microsoft.com/office/powerpoint/2010/main" xmlns="" val="4126668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748463" cy="1008112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Физический уровень (1 уровень </a:t>
            </a:r>
            <a:r>
              <a:rPr lang="en-US" sz="3200" b="1" dirty="0">
                <a:solidFill>
                  <a:schemeClr val="tx2"/>
                </a:solidFill>
              </a:rPr>
              <a:t>OSI)</a:t>
            </a:r>
            <a:r>
              <a:rPr lang="ru-RU" sz="3200" b="1" dirty="0">
                <a:solidFill>
                  <a:schemeClr val="tx2"/>
                </a:solidFill>
              </a:rPr>
              <a:t/>
            </a:r>
            <a:br>
              <a:rPr lang="ru-RU" sz="3200" b="1" dirty="0">
                <a:solidFill>
                  <a:schemeClr val="tx2"/>
                </a:solidFill>
              </a:rPr>
            </a:br>
            <a:r>
              <a:rPr lang="ru-RU" sz="3200" b="1" dirty="0"/>
              <a:t>3. Сигнализация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340768"/>
            <a:ext cx="5076056" cy="4320481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417B433-B0D6-D348-A6BA-E2DE3E28C53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196753"/>
            <a:ext cx="4608512" cy="39604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7BAD6EB-A82B-CC4A-B7B5-C06FE8DEA4F2}"/>
              </a:ext>
            </a:extLst>
          </p:cNvPr>
          <p:cNvSpPr txBox="1"/>
          <p:nvPr/>
        </p:nvSpPr>
        <p:spPr>
          <a:xfrm>
            <a:off x="179513" y="5661248"/>
            <a:ext cx="4464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ru-RU" sz="2000" b="1" dirty="0"/>
              <a:t>Световой импульс по оптоволоконному кабелю</a:t>
            </a:r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xmlns="" id="{D4B1E1AC-C55C-7B4C-80AC-FDBBEFFFCFA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48064" y="1196752"/>
            <a:ext cx="3816424" cy="43924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49305C5-A24C-804E-9F7C-9668430FDC07}"/>
              </a:ext>
            </a:extLst>
          </p:cNvPr>
          <p:cNvSpPr txBox="1"/>
          <p:nvPr/>
        </p:nvSpPr>
        <p:spPr>
          <a:xfrm>
            <a:off x="5076056" y="5589240"/>
            <a:ext cx="3817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ru-RU" sz="2000" b="1" dirty="0"/>
              <a:t>Сверхвысокочастотные сигналы по беспроводной связи</a:t>
            </a:r>
          </a:p>
        </p:txBody>
      </p:sp>
    </p:spTree>
    <p:extLst>
      <p:ext uri="{BB962C8B-B14F-4D97-AF65-F5344CB8AC3E}">
        <p14:creationId xmlns:p14="http://schemas.microsoft.com/office/powerpoint/2010/main" xmlns="" val="8685713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1" y="188640"/>
            <a:ext cx="8240463" cy="648072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chemeClr val="tx2"/>
                </a:solidFill>
              </a:rPr>
              <a:t>Полоса пропускания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3" y="836713"/>
            <a:ext cx="8964488" cy="3600400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b="1" u="sng" dirty="0">
                <a:solidFill>
                  <a:srgbClr val="000000"/>
                </a:solidFill>
              </a:rPr>
              <a:t>Полоса пропускания (</a:t>
            </a:r>
            <a:r>
              <a:rPr lang="ru-RU" sz="2600" b="1" u="sng" dirty="0" err="1">
                <a:solidFill>
                  <a:srgbClr val="000000"/>
                </a:solidFill>
              </a:rPr>
              <a:t>bandwidth</a:t>
            </a:r>
            <a:r>
              <a:rPr lang="ru-RU" sz="2600" b="1" u="sng" dirty="0">
                <a:solidFill>
                  <a:srgbClr val="000000"/>
                </a:solidFill>
              </a:rPr>
              <a:t>) </a:t>
            </a:r>
            <a:r>
              <a:rPr lang="ru-RU" sz="2600" b="1" dirty="0">
                <a:solidFill>
                  <a:srgbClr val="000000"/>
                </a:solidFill>
              </a:rPr>
              <a:t>— это количественная характеристика, </a:t>
            </a:r>
            <a:r>
              <a:rPr lang="ru-RU" sz="2600" dirty="0">
                <a:solidFill>
                  <a:srgbClr val="000000"/>
                </a:solidFill>
              </a:rPr>
              <a:t>отражающая возможности передачи данных по конкретному средству подключения.</a:t>
            </a:r>
            <a:endParaRPr lang="en-US" sz="26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b="1" u="sng" dirty="0"/>
              <a:t>В цифровых сетях под пропускной способностью понимается</a:t>
            </a:r>
            <a:endParaRPr lang="en-US" sz="2600" b="1" u="sng" dirty="0"/>
          </a:p>
          <a:p>
            <a:pPr marL="285750" indent="-285750">
              <a:buNone/>
            </a:pPr>
            <a:r>
              <a:rPr lang="en-US" sz="2600" b="1" dirty="0"/>
              <a:t>    </a:t>
            </a:r>
            <a:r>
              <a:rPr lang="ru-RU" sz="2600" b="1" dirty="0"/>
              <a:t> </a:t>
            </a:r>
            <a:r>
              <a:rPr lang="ru-RU" sz="2600" dirty="0"/>
              <a:t>объем данных, который можно передать из одной точки в другую за определенное время;</a:t>
            </a:r>
            <a:r>
              <a:rPr lang="en-US" sz="2600" dirty="0"/>
              <a:t>    </a:t>
            </a:r>
            <a:r>
              <a:rPr lang="ru-RU" sz="2600" dirty="0"/>
              <a:t> сколько бит может быть передано в секунду.</a:t>
            </a:r>
            <a:endParaRPr lang="en-US" sz="2600" dirty="0"/>
          </a:p>
          <a:p>
            <a:pPr marL="285750" indent="-285750">
              <a:buNone/>
            </a:pPr>
            <a:endParaRPr lang="ru-RU" sz="26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</a:rPr>
              <a:t>На реальную пропускную способность влияют свойства физических средств подключения, используемые технологии и законы физики.</a:t>
            </a:r>
          </a:p>
          <a:p>
            <a:endParaRPr lang="ru-RU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xmlns="" id="{73BB6E86-62EB-2348-9F73-08093BACDA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190640835"/>
              </p:ext>
            </p:extLst>
          </p:nvPr>
        </p:nvGraphicFramePr>
        <p:xfrm>
          <a:off x="0" y="4644698"/>
          <a:ext cx="9144000" cy="305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39">
                  <a:extLst>
                    <a:ext uri="{9D8B030D-6E8A-4147-A177-3AD203B41FA5}">
                      <a16:colId xmlns:a16="http://schemas.microsoft.com/office/drawing/2014/main" xmlns="" val="3729139006"/>
                    </a:ext>
                  </a:extLst>
                </a:gridCol>
                <a:gridCol w="1449924">
                  <a:extLst>
                    <a:ext uri="{9D8B030D-6E8A-4147-A177-3AD203B41FA5}">
                      <a16:colId xmlns:a16="http://schemas.microsoft.com/office/drawing/2014/main" xmlns="" val="2623022619"/>
                    </a:ext>
                  </a:extLst>
                </a:gridCol>
                <a:gridCol w="5357237">
                  <a:extLst>
                    <a:ext uri="{9D8B030D-6E8A-4147-A177-3AD203B41FA5}">
                      <a16:colId xmlns:a16="http://schemas.microsoft.com/office/drawing/2014/main" xmlns="" val="1988913492"/>
                    </a:ext>
                  </a:extLst>
                </a:gridCol>
              </a:tblGrid>
              <a:tr h="708516">
                <a:tc>
                  <a:txBody>
                    <a:bodyPr/>
                    <a:lstStyle/>
                    <a:p>
                      <a:pPr rtl="0"/>
                      <a:r>
                        <a:rPr lang="ru-RU" dirty="0"/>
                        <a:t>Единица пропускной способности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/>
                        <a:t>Сокращение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/>
                        <a:t>Эквивалентность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583676789"/>
                  </a:ext>
                </a:extLst>
              </a:tr>
              <a:tr h="357323"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000000"/>
                          </a:solidFill>
                        </a:rPr>
                        <a:t>Биты в секунду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000000"/>
                          </a:solidFill>
                        </a:rPr>
                        <a:t>бит/с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1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bps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=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fundamental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unit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of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bandwidth</a:t>
                      </a:r>
                      <a:endParaRPr lang="ru-RU" dirty="0">
                        <a:solidFill>
                          <a:srgbClr val="000000"/>
                        </a:solidFill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849654457"/>
                  </a:ext>
                </a:extLst>
              </a:tr>
              <a:tr h="495962"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Килобиты в секунду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кбит/с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1 Кбит/с = 1000 бит/с = 10</a:t>
                      </a:r>
                      <a:r>
                        <a:rPr lang="ru-RU" baseline="300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бит/с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35735172"/>
                  </a:ext>
                </a:extLst>
              </a:tr>
              <a:tr h="495962"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000000"/>
                          </a:solidFill>
                        </a:rPr>
                        <a:t>Мегабиты в секунду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Мбит/с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000000"/>
                          </a:solidFill>
                        </a:rPr>
                        <a:t>1 Мбит/с = 1 000 000 бит/с = 10</a:t>
                      </a:r>
                      <a:r>
                        <a:rPr lang="ru-RU" baseline="30000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ru-RU">
                          <a:solidFill>
                            <a:srgbClr val="000000"/>
                          </a:solidFill>
                        </a:rPr>
                        <a:t> бит/с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54468046"/>
                  </a:ext>
                </a:extLst>
              </a:tr>
              <a:tr h="495962"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000000"/>
                          </a:solidFill>
                        </a:rPr>
                        <a:t>Гигабиты в секунду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Гбит/с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1 Гбит/с = 1,000,000,000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bps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= 10</a:t>
                      </a:r>
                      <a:r>
                        <a:rPr lang="ru-RU" baseline="30000" dirty="0">
                          <a:solidFill>
                            <a:srgbClr val="000000"/>
                          </a:solidFill>
                        </a:rPr>
                        <a:t>9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бит/с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458107787"/>
                  </a:ext>
                </a:extLst>
              </a:tr>
              <a:tr h="495962"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000000"/>
                          </a:solidFill>
                        </a:rPr>
                        <a:t>Терабиты в секунду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 err="1">
                          <a:solidFill>
                            <a:srgbClr val="000000"/>
                          </a:solidFill>
                        </a:rPr>
                        <a:t>Тбит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/с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1 Тбит/с = 1,000,000,000,000 бит/с = 10</a:t>
                      </a:r>
                      <a:r>
                        <a:rPr lang="ru-RU" baseline="30000" dirty="0">
                          <a:solidFill>
                            <a:srgbClr val="000000"/>
                          </a:solidFill>
                        </a:rPr>
                        <a:t>12</a:t>
                      </a:r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 бит/с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37871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6050"/>
            <a:ext cx="8964488" cy="664656"/>
          </a:xfrm>
        </p:spPr>
        <p:txBody>
          <a:bodyPr>
            <a:noAutofit/>
          </a:bodyPr>
          <a:lstStyle/>
          <a:p>
            <a:pPr algn="l"/>
            <a:r>
              <a:rPr lang="ru-RU" altLang="ru-RU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 обработки сообщения по уровням модели </a:t>
            </a:r>
            <a:r>
              <a:rPr lang="en-US" altLang="ru-RU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OSI</a:t>
            </a:r>
            <a:endParaRPr lang="ru-RU" altLang="ru-RU" sz="2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2569369" y="1616075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53252" name="Picture 4" descr="Передача сообщений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411"/>
          <a:stretch>
            <a:fillRect/>
          </a:stretch>
        </p:blipFill>
        <p:spPr bwMode="auto">
          <a:xfrm>
            <a:off x="179512" y="980728"/>
            <a:ext cx="8964488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93885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2569369" y="1616075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54276" name="Picture 4" descr="Передача сообщений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411"/>
          <a:stretch>
            <a:fillRect/>
          </a:stretch>
        </p:blipFill>
        <p:spPr bwMode="auto">
          <a:xfrm>
            <a:off x="179512" y="1124744"/>
            <a:ext cx="8712968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0" y="96282"/>
            <a:ext cx="914399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000" dirty="0">
                <a:solidFill>
                  <a:srgbClr val="000000"/>
                </a:solidFill>
              </a:rPr>
              <a:t>К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аждый уровень добавляет к данным свой </a:t>
            </a:r>
            <a:r>
              <a:rPr lang="ru-RU" altLang="ru-RU" sz="2000" b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заголовок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- служебную информацию, которая необходима для адресации сообщений и для некоторых контрольных функций.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>
            <a:off x="4171950" y="804168"/>
            <a:ext cx="550879" cy="195788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4171950" y="804166"/>
            <a:ext cx="197374" cy="257063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 flipH="1">
            <a:off x="4072380" y="804168"/>
            <a:ext cx="99571" cy="315307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 flipH="1">
            <a:off x="3464350" y="804166"/>
            <a:ext cx="707598" cy="374656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4171948" y="908720"/>
            <a:ext cx="700531" cy="151216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52946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22549" y="1"/>
            <a:ext cx="875278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000" b="1" u="sng" dirty="0">
                <a:cs typeface="Times New Roman" panose="02020603050405020304" pitchFamily="18" charset="0"/>
              </a:rPr>
              <a:t>Канальный уровень </a:t>
            </a:r>
            <a:r>
              <a:rPr lang="ru-RU" altLang="ru-RU" sz="2000" b="1" u="sng" dirty="0" smtClean="0">
                <a:cs typeface="Times New Roman" panose="02020603050405020304" pitchFamily="18" charset="0"/>
              </a:rPr>
              <a:t>       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кроме </a:t>
            </a:r>
            <a:r>
              <a:rPr lang="ru-RU" altLang="ru-RU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заголовка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добавляет в 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конец</a:t>
            </a:r>
          </a:p>
          <a:p>
            <a:pPr>
              <a:spcBef>
                <a:spcPct val="50000"/>
              </a:spcBef>
            </a:pPr>
            <a:r>
              <a:rPr lang="ru-RU" altLang="ru-RU" sz="2000" u="sng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контрольную последовательность</a:t>
            </a:r>
            <a:r>
              <a:rPr lang="ru-RU" altLang="ru-RU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,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которая используется для проверки правильности приема сообщения в </a:t>
            </a:r>
            <a:r>
              <a:rPr lang="ru-RU" altLang="ru-RU" sz="2000" dirty="0">
                <a:solidFill>
                  <a:srgbClr val="000000"/>
                </a:solidFill>
              </a:rPr>
              <a:t>цифровой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сети. </a:t>
            </a:r>
          </a:p>
          <a:p>
            <a:pPr>
              <a:spcBef>
                <a:spcPct val="50000"/>
              </a:spcBef>
            </a:pPr>
            <a:r>
              <a:rPr lang="ru-RU" altLang="ru-RU" sz="2000" b="1" u="sng" dirty="0">
                <a:cs typeface="Times New Roman" panose="02020603050405020304" pitchFamily="18" charset="0"/>
              </a:rPr>
              <a:t>Физический уровень </a:t>
            </a:r>
            <a:r>
              <a:rPr lang="ru-RU" altLang="ru-RU" sz="2000" b="1" u="sng" dirty="0" smtClean="0">
                <a:cs typeface="Times New Roman" panose="02020603050405020304" pitchFamily="18" charset="0"/>
              </a:rPr>
              <a:t>     </a:t>
            </a:r>
            <a:r>
              <a:rPr lang="ru-RU" altLang="ru-RU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никаких </a:t>
            </a:r>
            <a:r>
              <a:rPr lang="ru-RU" alt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заголовков не добавляет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0" y="1916832"/>
            <a:ext cx="8482051" cy="4941168"/>
            <a:chOff x="1524000" y="758030"/>
            <a:chExt cx="9144000" cy="5836014"/>
          </a:xfrm>
        </p:grpSpPr>
        <p:pic>
          <p:nvPicPr>
            <p:cNvPr id="56323" name="Picture 3" descr="Передача сообщений OS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b="4411"/>
            <a:stretch>
              <a:fillRect/>
            </a:stretch>
          </p:blipFill>
          <p:spPr bwMode="auto">
            <a:xfrm>
              <a:off x="1524000" y="758030"/>
              <a:ext cx="9144000" cy="58360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328" name="Line 8"/>
            <p:cNvSpPr>
              <a:spLocks noChangeShapeType="1"/>
            </p:cNvSpPr>
            <p:nvPr/>
          </p:nvSpPr>
          <p:spPr bwMode="auto">
            <a:xfrm>
              <a:off x="5203595" y="758030"/>
              <a:ext cx="2658359" cy="409676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ru-RU"/>
            </a:p>
          </p:txBody>
        </p:sp>
        <p:sp>
          <p:nvSpPr>
            <p:cNvPr id="56329" name="Line 9"/>
            <p:cNvSpPr>
              <a:spLocks noChangeShapeType="1"/>
            </p:cNvSpPr>
            <p:nvPr/>
          </p:nvSpPr>
          <p:spPr bwMode="auto">
            <a:xfrm flipH="1">
              <a:off x="4496586" y="758030"/>
              <a:ext cx="707010" cy="409676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xmlns="" val="3882015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47464"/>
            <a:ext cx="9144000" cy="2363541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ru-RU" altLang="ru-RU" sz="2200" dirty="0">
                <a:solidFill>
                  <a:schemeClr val="tx1"/>
                </a:solidFill>
                <a:cs typeface="Times New Roman" panose="02020603050405020304" pitchFamily="18" charset="0"/>
              </a:rPr>
              <a:t>Сообщение , обрамленное заголовками и контрольной последовательностью поступает в сеть и передается получателю.</a:t>
            </a:r>
            <a:r>
              <a:rPr lang="ru-RU" altLang="ru-RU" sz="2200" dirty="0">
                <a:solidFill>
                  <a:schemeClr val="tx1"/>
                </a:solidFill>
              </a:rPr>
              <a:t> </a:t>
            </a:r>
            <a:r>
              <a:rPr lang="ru-RU" altLang="ru-RU" sz="2200" dirty="0"/>
              <a:t/>
            </a:r>
            <a:br>
              <a:rPr lang="ru-RU" altLang="ru-RU" sz="2200" dirty="0"/>
            </a:br>
            <a:r>
              <a:rPr lang="ru-RU" altLang="ru-RU" sz="2200" dirty="0"/>
              <a:t>На принимающей стороне </a:t>
            </a:r>
            <a:r>
              <a:rPr lang="ru-RU" altLang="ru-RU" sz="2200" dirty="0">
                <a:cs typeface="Times New Roman" panose="02020603050405020304" pitchFamily="18" charset="0"/>
              </a:rPr>
              <a:t>дешифрует</a:t>
            </a:r>
            <a:r>
              <a:rPr lang="ru-RU" altLang="ru-RU" sz="2200" dirty="0"/>
              <a:t>ся</a:t>
            </a:r>
            <a:r>
              <a:rPr lang="ru-RU" altLang="ru-RU" sz="2200" dirty="0">
                <a:cs typeface="Times New Roman" panose="02020603050405020304" pitchFamily="18" charset="0"/>
              </a:rPr>
              <a:t> адрес и определяет </a:t>
            </a:r>
            <a:r>
              <a:rPr lang="ru-RU" altLang="ru-RU" sz="2200" dirty="0"/>
              <a:t>кому </a:t>
            </a:r>
            <a:r>
              <a:rPr lang="ru-RU" altLang="ru-RU" sz="2200" dirty="0">
                <a:cs typeface="Times New Roman" panose="02020603050405020304" pitchFamily="18" charset="0"/>
              </a:rPr>
              <a:t>предназначено </a:t>
            </a:r>
            <a:r>
              <a:rPr lang="ru-RU" altLang="ru-RU" sz="2200" dirty="0"/>
              <a:t>это</a:t>
            </a:r>
            <a:r>
              <a:rPr lang="ru-RU" altLang="ru-RU" sz="2200" dirty="0">
                <a:cs typeface="Times New Roman" panose="02020603050405020304" pitchFamily="18" charset="0"/>
              </a:rPr>
              <a:t> сообщение</a:t>
            </a:r>
            <a:r>
              <a:rPr lang="ru-RU" altLang="ru-RU" sz="2200" b="1" dirty="0">
                <a:cs typeface="Times New Roman" panose="02020603050405020304" pitchFamily="18" charset="0"/>
              </a:rPr>
              <a:t>.</a:t>
            </a:r>
            <a:br>
              <a:rPr lang="ru-RU" altLang="ru-RU" sz="2200" b="1" dirty="0">
                <a:cs typeface="Times New Roman" panose="02020603050405020304" pitchFamily="18" charset="0"/>
              </a:rPr>
            </a:br>
            <a:r>
              <a:rPr lang="ru-RU" altLang="ru-RU" sz="2200" b="1" dirty="0">
                <a:cs typeface="Times New Roman" panose="02020603050405020304" pitchFamily="18" charset="0"/>
              </a:rPr>
              <a:t> </a:t>
            </a:r>
            <a:r>
              <a:rPr lang="ru-RU" altLang="ru-RU" sz="2200" dirty="0"/>
              <a:t>При приеме</a:t>
            </a:r>
            <a:r>
              <a:rPr lang="ru-RU" altLang="ru-RU" sz="2200" dirty="0">
                <a:cs typeface="Times New Roman" panose="02020603050405020304" pitchFamily="18" charset="0"/>
              </a:rPr>
              <a:t> происходит обратный процесс - чтение и отсечение заголовков уровнями модели </a:t>
            </a:r>
            <a:r>
              <a:rPr lang="en-US" altLang="ru-RU" sz="2200" dirty="0">
                <a:cs typeface="Times New Roman" panose="02020603050405020304" pitchFamily="18" charset="0"/>
              </a:rPr>
              <a:t>OSI</a:t>
            </a:r>
            <a:r>
              <a:rPr lang="ru-RU" altLang="ru-RU" sz="2200" dirty="0">
                <a:cs typeface="Times New Roman" panose="02020603050405020304" pitchFamily="18" charset="0"/>
              </a:rPr>
              <a:t>. </a:t>
            </a:r>
            <a:br>
              <a:rPr lang="ru-RU" altLang="ru-RU" sz="2200" dirty="0">
                <a:cs typeface="Times New Roman" panose="02020603050405020304" pitchFamily="18" charset="0"/>
              </a:rPr>
            </a:br>
            <a:r>
              <a:rPr lang="ru-RU" altLang="ru-RU" sz="2200" dirty="0">
                <a:solidFill>
                  <a:schemeClr val="tx1"/>
                </a:solidFill>
                <a:cs typeface="Times New Roman" panose="02020603050405020304" pitchFamily="18" charset="0"/>
              </a:rPr>
              <a:t>Каждый </a:t>
            </a:r>
            <a:r>
              <a:rPr lang="ru-RU" altLang="ru-RU" sz="22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уровень реагирует только на свой заголовок</a:t>
            </a:r>
            <a:r>
              <a:rPr lang="ru-RU" altLang="ru-RU" sz="2200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/>
            </a:r>
            <a:br>
              <a:rPr lang="ru-RU" altLang="ru-RU" sz="2200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endParaRPr lang="ru-RU" altLang="ru-RU" sz="2200" dirty="0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2569369" y="1616075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55300" name="Picture 4" descr="Передача сообщений OS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411"/>
          <a:stretch>
            <a:fillRect/>
          </a:stretch>
        </p:blipFill>
        <p:spPr bwMode="auto">
          <a:xfrm>
            <a:off x="1143000" y="1905000"/>
            <a:ext cx="6858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27224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2"/>
                </a:solidFill>
              </a:rPr>
              <a:t>Модель ВОС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6"/>
            <a:ext cx="8496944" cy="5616624"/>
          </a:xfrm>
        </p:spPr>
        <p:txBody>
          <a:bodyPr>
            <a:normAutofit fontScale="92500"/>
          </a:bodyPr>
          <a:lstStyle/>
          <a:p>
            <a:r>
              <a:rPr lang="ru-RU" dirty="0"/>
              <a:t>Таким образом, три нижних уровня  модели обеспечивают непосредственную транспортировку информации от источника к потребителю.</a:t>
            </a:r>
          </a:p>
          <a:p>
            <a:r>
              <a:rPr lang="ru-RU" dirty="0"/>
              <a:t>Число используемых уровней может быть различным для фазы установления соединений и разъединений и фазы обмена информацией.</a:t>
            </a:r>
          </a:p>
          <a:p>
            <a:r>
              <a:rPr lang="ru-RU" dirty="0"/>
              <a:t> Возможно и введение новых подуровней , а также могут включать не все уровни.</a:t>
            </a:r>
          </a:p>
          <a:p>
            <a:r>
              <a:rPr lang="ru-RU" dirty="0"/>
              <a:t> Модель ВОС предназначена для координации существующих и будущих стандартов.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730" name="Picture 2" descr="C:\Users\Юра\Downloads\стек проток тс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67" y="189065"/>
            <a:ext cx="8168455" cy="864105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Подуровни канального уровня IEEE 802 LAN/MAN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xmlns="" id="{34482E20-85AC-4A71-B6F1-35D714F52E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412783"/>
            <a:ext cx="7776864" cy="519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17488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274638"/>
            <a:ext cx="8964488" cy="778098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2"/>
                </a:solidFill>
              </a:rPr>
              <a:t>Подуровни канального уровня IEEE 802 LAN/MAN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35"/>
            <a:ext cx="8229600" cy="5145435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ru-RU" sz="2400" dirty="0">
                <a:solidFill>
                  <a:srgbClr val="000000"/>
                </a:solidFill>
              </a:rPr>
              <a:t>    </a:t>
            </a:r>
            <a:r>
              <a:rPr lang="ru-RU" sz="2800" dirty="0">
                <a:solidFill>
                  <a:srgbClr val="000000"/>
                </a:solidFill>
              </a:rPr>
              <a:t>Стандарт IEEE 802 LAN/MAN регламентирует сети (</a:t>
            </a:r>
            <a:r>
              <a:rPr lang="ru-RU" sz="2800" dirty="0" err="1">
                <a:solidFill>
                  <a:srgbClr val="000000"/>
                </a:solidFill>
              </a:rPr>
              <a:t>Ethernet</a:t>
            </a:r>
            <a:r>
              <a:rPr lang="ru-RU" sz="2800" dirty="0">
                <a:solidFill>
                  <a:srgbClr val="000000"/>
                </a:solidFill>
              </a:rPr>
              <a:t>, WLAN, WPAN и т.д.)</a:t>
            </a:r>
            <a:endParaRPr lang="en-US" sz="2800" dirty="0">
              <a:solidFill>
                <a:srgbClr val="000000"/>
              </a:solidFill>
            </a:endParaRPr>
          </a:p>
          <a:p>
            <a:pPr marL="0" indent="0"/>
            <a:r>
              <a:rPr lang="ru-RU" sz="2800" dirty="0">
                <a:solidFill>
                  <a:srgbClr val="000000"/>
                </a:solidFill>
              </a:rPr>
              <a:t>    Канальный уровень состоит из двух подуровней: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</a:rPr>
              <a:t>           - </a:t>
            </a:r>
            <a:r>
              <a:rPr lang="ru-RU" sz="2800" dirty="0" err="1">
                <a:solidFill>
                  <a:srgbClr val="002060"/>
                </a:solidFill>
              </a:rPr>
              <a:t>Logical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lang="ru-RU" sz="2800" dirty="0" err="1">
                <a:solidFill>
                  <a:srgbClr val="002060"/>
                </a:solidFill>
              </a:rPr>
              <a:t>Link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lang="ru-RU" sz="2800" dirty="0" err="1">
                <a:solidFill>
                  <a:srgbClr val="002060"/>
                </a:solidFill>
              </a:rPr>
              <a:t>Control</a:t>
            </a:r>
            <a:r>
              <a:rPr lang="ru-RU" sz="2800" dirty="0">
                <a:solidFill>
                  <a:srgbClr val="002060"/>
                </a:solidFill>
              </a:rPr>
              <a:t> (LLC) и </a:t>
            </a:r>
            <a:br>
              <a:rPr lang="ru-RU" sz="2800" dirty="0">
                <a:solidFill>
                  <a:srgbClr val="002060"/>
                </a:solidFill>
              </a:rPr>
            </a:br>
            <a:r>
              <a:rPr lang="ru-RU" sz="2800" dirty="0">
                <a:solidFill>
                  <a:srgbClr val="002060"/>
                </a:solidFill>
              </a:rPr>
              <a:t>            - </a:t>
            </a:r>
            <a:r>
              <a:rPr lang="ru-RU" sz="2800" dirty="0" err="1">
                <a:solidFill>
                  <a:srgbClr val="002060"/>
                </a:solidFill>
              </a:rPr>
              <a:t>Media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lang="ru-RU" sz="2800" dirty="0" err="1">
                <a:solidFill>
                  <a:srgbClr val="002060"/>
                </a:solidFill>
              </a:rPr>
              <a:t>Access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lang="ru-RU" sz="2800" dirty="0" err="1">
                <a:solidFill>
                  <a:srgbClr val="002060"/>
                </a:solidFill>
              </a:rPr>
              <a:t>Control</a:t>
            </a:r>
            <a:r>
              <a:rPr lang="ru-RU" sz="2800" dirty="0">
                <a:solidFill>
                  <a:srgbClr val="002060"/>
                </a:solidFill>
              </a:rPr>
              <a:t> (MAC).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Подуровень LLC </a:t>
            </a:r>
            <a:r>
              <a:rPr lang="ru-RU" sz="2800" dirty="0">
                <a:solidFill>
                  <a:srgbClr val="000000"/>
                </a:solidFill>
              </a:rPr>
              <a:t>взаимодействует между сетевым программным обеспечением на верхних слоях и аппаратным обеспечением устройства на нижних слоях.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Подуровень MAC </a:t>
            </a:r>
            <a:r>
              <a:rPr lang="ru-RU" sz="2800" dirty="0">
                <a:solidFill>
                  <a:srgbClr val="000000"/>
                </a:solidFill>
              </a:rPr>
              <a:t>отвечает за инкапсуляцию данных и управление доступом к среде передачи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870153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64488" cy="609600"/>
          </a:xfrm>
        </p:spPr>
        <p:txBody>
          <a:bodyPr>
            <a:normAutofit/>
          </a:bodyPr>
          <a:lstStyle/>
          <a:p>
            <a:pPr algn="ctr"/>
            <a:r>
              <a:rPr lang="ru-RU" altLang="ru-RU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свойства уровней модели </a:t>
            </a:r>
            <a:r>
              <a:rPr lang="en-US" altLang="ru-RU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OSI</a:t>
            </a:r>
            <a:endParaRPr lang="ru-RU" altLang="ru-RU" sz="32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72798" name="Group 9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1971770459"/>
              </p:ext>
            </p:extLst>
          </p:nvPr>
        </p:nvGraphicFramePr>
        <p:xfrm>
          <a:off x="28281" y="609600"/>
          <a:ext cx="9115720" cy="6367272"/>
        </p:xfrm>
        <a:graphic>
          <a:graphicData uri="http://schemas.openxmlformats.org/drawingml/2006/table">
            <a:tbl>
              <a:tblPr/>
              <a:tblGrid>
                <a:gridCol w="7230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64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525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901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69201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Уровни</a:t>
                      </a:r>
                    </a:p>
                  </a:txBody>
                  <a:tcPr marL="68580" marR="6858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68580" marR="685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Вид данных для передачи</a:t>
                      </a:r>
                    </a:p>
                  </a:txBody>
                  <a:tcPr marL="68580" marR="685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Протоколы</a:t>
                      </a:r>
                    </a:p>
                  </a:txBody>
                  <a:tcPr marL="68580" marR="685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Функции</a:t>
                      </a:r>
                      <a:endParaRPr kumimoji="0" lang="ru-RU" altLang="ru-RU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Сетевой сервис с разделением ресурсов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Сообщение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SNMP, CMIP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Предоставление сетевого сервиса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Форматирование и трансляция данных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Пакет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FTP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Трансляция данных и файлов. Форматирование данных. Шифрование данных. Сжатие данных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Управление взаимодействием узлов сети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Пакет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Управление взаимодействием узлов. Организация логических каналов. Взаимодействие узлов. Контроль ошибок. Обработка транзакций. Поддержка вызовов удаленных процедур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Гарантированная доставка сообщения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Сегмент, </a:t>
                      </a:r>
                      <a:r>
                        <a:rPr kumimoji="0" lang="ru-RU" alt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ВК, </a:t>
                      </a:r>
                      <a:r>
                        <a:rPr kumimoji="0" lang="ru-RU" altLang="ru-RU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дайтаграмма</a:t>
                      </a: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, кадр, пакет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TCP, UDP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Надежность передачи. Гарантированная доставка сообщений. Мультиплексирование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Маршрутизация сообщений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Дайтаграмма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IP, ATM, ISDN, X.25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Маршрутизация сообщений. Создание и ведение таблиц маршрутизации. Фрагментация и сборка данных. Не ориентированная на соединение доставка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Формирование и передача кадров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Кадр, пакет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ATM, Frame Relay, FDDI, X.25, PPP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Доставка сообщений по физическому адресу сетевого узла. Синхронизация кадров. Доступ к среде передачи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83B0E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Передача битов информации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Биты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defRPr sz="28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E0, E1, STM-N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(n=1,4,16</a:t>
                      </a: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,</a:t>
                      </a:r>
                      <a:r>
                        <a:rPr kumimoji="0" lang="en-US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OTN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Синхронизация битов. Сигнализация. Спецификации среды передачи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187706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621401" cy="89806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Отображение различных сетевых протоколов и технологий в модели OSI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79948935"/>
              </p:ext>
            </p:extLst>
          </p:nvPr>
        </p:nvGraphicFramePr>
        <p:xfrm>
          <a:off x="98982" y="1245757"/>
          <a:ext cx="8865911" cy="5198834"/>
        </p:xfrm>
        <a:graphic>
          <a:graphicData uri="http://schemas.openxmlformats.org/drawingml/2006/table">
            <a:tbl>
              <a:tblPr/>
              <a:tblGrid>
                <a:gridCol w="11253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61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2530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98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198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9697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1528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964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2260">
                <a:tc rowSpan="2"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 модели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Сетевая технология (протоколы)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9832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Интернет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Х.25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Relay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ISDN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SDH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8391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Прикладной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8391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Представления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8391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Сеансовый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8391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Транспортный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ТСР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ISDN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42911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Сетевой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X.25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ISDN</a:t>
                      </a:r>
                    </a:p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LAPD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4521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Канальный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PPP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LAPB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ISDN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955172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Физический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PPP</a:t>
                      </a:r>
                    </a:p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SLIP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X.21 </a:t>
                      </a: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др.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ISDN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SDH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 SDH FDDI и др.</a:t>
                      </a:r>
                    </a:p>
                  </a:txBody>
                  <a:tcPr marL="19900" marR="199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97951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0" y="836712"/>
            <a:ext cx="9144000" cy="5955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altLang="ru-RU" sz="2400" b="1" dirty="0">
                <a:cs typeface="Times New Roman" panose="02020603050405020304" pitchFamily="18" charset="0"/>
              </a:rPr>
              <a:t>Главное достоинство </a:t>
            </a:r>
            <a:r>
              <a:rPr lang="ru-RU" altLang="ru-RU" sz="2400" dirty="0">
                <a:cs typeface="Times New Roman" panose="02020603050405020304" pitchFamily="18" charset="0"/>
              </a:rPr>
              <a:t>семиуровневой модели </a:t>
            </a:r>
            <a:r>
              <a:rPr lang="en-US" altLang="ru-RU" sz="2400" dirty="0">
                <a:cs typeface="Times New Roman" panose="02020603050405020304" pitchFamily="18" charset="0"/>
              </a:rPr>
              <a:t>OSI</a:t>
            </a:r>
            <a:r>
              <a:rPr lang="ru-RU" altLang="ru-RU" sz="2400" dirty="0">
                <a:cs typeface="Times New Roman" panose="02020603050405020304" pitchFamily="18" charset="0"/>
              </a:rPr>
              <a:t> -  </a:t>
            </a:r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   </a:t>
            </a:r>
            <a:r>
              <a:rPr lang="en-US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cs typeface="Times New Roman" panose="02020603050405020304" pitchFamily="18" charset="0"/>
              </a:rPr>
              <a:t>это упрощение процесса модернизации системы. </a:t>
            </a:r>
            <a:endParaRPr lang="ru-RU" altLang="ru-RU" sz="2400" dirty="0"/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1.Изменение одного уровня не влечет за собой изменение другого уровня, т.е. существует независимость уровней друг от друга. </a:t>
            </a:r>
            <a:endParaRPr lang="ru-RU" altLang="ru-RU" sz="2400" dirty="0"/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 2.Функции физического уровня всегда реализуются в аппаратуре (адаптеры, мультиплексоры, сетевые платы и др.).</a:t>
            </a:r>
          </a:p>
          <a:p>
            <a:pPr>
              <a:spcAft>
                <a:spcPts val="600"/>
              </a:spcAft>
            </a:pPr>
            <a:r>
              <a:rPr lang="ru-RU" altLang="ru-RU" sz="2400" dirty="0">
                <a:cs typeface="Times New Roman" panose="02020603050405020304" pitchFamily="18" charset="0"/>
              </a:rPr>
              <a:t>   3.Функции остальных уровней реализуются в виде программных модулей - драйверов.</a:t>
            </a:r>
            <a:r>
              <a:rPr lang="ru-RU" altLang="ru-RU" sz="2400" dirty="0"/>
              <a:t> </a:t>
            </a:r>
          </a:p>
          <a:p>
            <a:pPr>
              <a:spcAft>
                <a:spcPts val="600"/>
              </a:spcAft>
            </a:pPr>
            <a:r>
              <a:rPr lang="ru-RU" altLang="ru-RU" sz="2400" b="1" u="sng" dirty="0"/>
              <a:t>Функции уровней модели </a:t>
            </a:r>
            <a:r>
              <a:rPr lang="en-US" altLang="ru-RU" sz="2400" b="1" u="sng" dirty="0"/>
              <a:t>OSI </a:t>
            </a:r>
            <a:r>
              <a:rPr lang="ru-RU" altLang="ru-RU" sz="2400" b="1" u="sng" dirty="0"/>
              <a:t>делятся на 2 группы</a:t>
            </a:r>
            <a:r>
              <a:rPr lang="ru-RU" altLang="ru-RU" sz="2400" b="1" dirty="0"/>
              <a:t>:</a:t>
            </a:r>
          </a:p>
          <a:p>
            <a:pPr>
              <a:spcAft>
                <a:spcPts val="600"/>
              </a:spcAft>
            </a:pPr>
            <a:r>
              <a:rPr lang="ru-RU" altLang="ru-RU" sz="2400" dirty="0"/>
              <a:t>   1. Зависящие от структуры и аппаратной реализации сети (1,2,3).</a:t>
            </a:r>
          </a:p>
          <a:p>
            <a:pPr>
              <a:spcAft>
                <a:spcPts val="600"/>
              </a:spcAft>
            </a:pPr>
            <a:r>
              <a:rPr lang="ru-RU" altLang="ru-RU" sz="2400" dirty="0"/>
              <a:t>   2. Ориентированные на работу приложений и не зависящие от</a:t>
            </a:r>
          </a:p>
          <a:p>
            <a:pPr>
              <a:spcAft>
                <a:spcPts val="600"/>
              </a:spcAft>
            </a:pPr>
            <a:r>
              <a:rPr lang="ru-RU" altLang="ru-RU" sz="2400" dirty="0"/>
              <a:t>       особенностей построения сети (5,6,7).</a:t>
            </a:r>
          </a:p>
          <a:p>
            <a:pPr>
              <a:spcAft>
                <a:spcPts val="600"/>
              </a:spcAft>
            </a:pPr>
            <a:r>
              <a:rPr lang="ru-RU" altLang="ru-RU" sz="2400" u="sng" dirty="0"/>
              <a:t>Телекоммуникационные устройства работают на </a:t>
            </a:r>
            <a:r>
              <a:rPr lang="ru-RU" altLang="ru-RU" sz="2400" i="1" u="sng" dirty="0"/>
              <a:t>1,2,3 УРОВНЯХ </a:t>
            </a:r>
            <a:r>
              <a:rPr lang="ru-RU" altLang="ru-RU" sz="2400" u="sng" dirty="0"/>
              <a:t>и иногда захватывают транспортный уровень</a:t>
            </a:r>
            <a:r>
              <a:rPr lang="ru-RU" altLang="ru-RU" sz="2400" dirty="0"/>
              <a:t>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0320" y="0"/>
            <a:ext cx="8943680" cy="9087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Базовая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эталонная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модель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взаимодействия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открытых</a:t>
            </a: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систем</a:t>
            </a:r>
            <a: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/>
            </a:r>
            <a:br>
              <a:rPr lang="en-GB" altLang="ru-RU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GB" alt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Open systems interconnection basic reference model</a:t>
            </a:r>
            <a:endParaRPr lang="ru-RU" alt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77703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3853</Words>
  <Application>Microsoft Office PowerPoint</Application>
  <PresentationFormat>Экран (4:3)</PresentationFormat>
  <Paragraphs>534</Paragraphs>
  <Slides>58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59" baseType="lpstr">
      <vt:lpstr>Тема Office</vt:lpstr>
      <vt:lpstr>ЛЕКЦИЯ 6</vt:lpstr>
      <vt:lpstr>Слайд 2</vt:lpstr>
      <vt:lpstr>Слайд 3</vt:lpstr>
      <vt:lpstr>Преимущества использования многоуровневой модели</vt:lpstr>
      <vt:lpstr>Слайд 5</vt:lpstr>
      <vt:lpstr>Прикладной уровень (7 уровень OSI)</vt:lpstr>
      <vt:lpstr>Слайд 7</vt:lpstr>
      <vt:lpstr>Представительный Уровень (6 уровень OSI) </vt:lpstr>
      <vt:lpstr>Слайд 9</vt:lpstr>
      <vt:lpstr> Сеансовый уровень (5 уровень OSI) </vt:lpstr>
      <vt:lpstr>Сеансовый уровень (5 уровень OSI) </vt:lpstr>
      <vt:lpstr>Слайд 12</vt:lpstr>
      <vt:lpstr>Транспортный  уровень (4 уровень OSI )</vt:lpstr>
      <vt:lpstr>Транспортный  уровень  (4 уровень OSI,ВОС )</vt:lpstr>
      <vt:lpstr>Слайд 15</vt:lpstr>
      <vt:lpstr>Сетевой уровень (3 уровень OSI ) (1.) </vt:lpstr>
      <vt:lpstr>Вложенность сообщений различных уровней</vt:lpstr>
      <vt:lpstr>Сетевой уровень (3 уровень модели OSI )( 2.)</vt:lpstr>
      <vt:lpstr>Иллюстрация необходимости сетевого уровня</vt:lpstr>
      <vt:lpstr>Сетевой уровень (3 уровень OSI ) (3.)</vt:lpstr>
      <vt:lpstr>Сетевой уровень (3 уровень OSI ) (5.) </vt:lpstr>
      <vt:lpstr>Сетевой уровень  (3 уровень OSI ) (4.) </vt:lpstr>
      <vt:lpstr>Сетевой уровень (3 уровень OSI ) (5.)  </vt:lpstr>
      <vt:lpstr>Сетевой уровень (3 уровень модели OSI,ВОС) (6)</vt:lpstr>
      <vt:lpstr>Сетевой уровень (3 уровень OSI ) (7.) </vt:lpstr>
      <vt:lpstr>Пример составной сети</vt:lpstr>
      <vt:lpstr>Сетевой уровень  (3 уровень OSI ) (11.) </vt:lpstr>
      <vt:lpstr>Сетевой уровень (3 уровень OSI ) (12.) </vt:lpstr>
      <vt:lpstr>Вложенность сообщений различных уровней</vt:lpstr>
      <vt:lpstr>Модель взаимодействия открытых систем OSI</vt:lpstr>
      <vt:lpstr>Слайд 31</vt:lpstr>
      <vt:lpstr>Канальный уровень (2 уровень OSI) (1) </vt:lpstr>
      <vt:lpstr>Поля кадра канального уровня (2 уровень OSI) </vt:lpstr>
      <vt:lpstr>Канальный уровень (2 уровень OSI) (2) </vt:lpstr>
      <vt:lpstr>Канальный уровень (2 уровень OSI) (3) </vt:lpstr>
      <vt:lpstr>Канальный уровень (2 уровень OSI)  (4) </vt:lpstr>
      <vt:lpstr>Канальный уровень (2 уровень OSI) </vt:lpstr>
      <vt:lpstr>Вложенность сообщений различных уровней</vt:lpstr>
      <vt:lpstr>Слайд 39</vt:lpstr>
      <vt:lpstr>Физический уровень (1 уровень OSI) </vt:lpstr>
      <vt:lpstr>Физический уровень (1 уровень OSI) </vt:lpstr>
      <vt:lpstr>Физический уровень (1 уровень OSI) </vt:lpstr>
      <vt:lpstr>Физический уровень (1 уровень OSI)</vt:lpstr>
      <vt:lpstr>Физический уровень (1 уровень OSI)</vt:lpstr>
      <vt:lpstr>Физический уровень (1 уровень OSI)</vt:lpstr>
      <vt:lpstr>Физический уровень (1 уровень OSI) 3. Сигнализация</vt:lpstr>
      <vt:lpstr>Полоса пропускания</vt:lpstr>
      <vt:lpstr>Пример обработки сообщения по уровням модели OSI</vt:lpstr>
      <vt:lpstr>Слайд 49</vt:lpstr>
      <vt:lpstr>Слайд 50</vt:lpstr>
      <vt:lpstr>Сообщение , обрамленное заголовками и контрольной последовательностью поступает в сеть и передается получателю.  На принимающей стороне дешифруется адрес и определяет кому предназначено это сообщение.  При приеме происходит обратный процесс - чтение и отсечение заголовков уровнями модели OSI.  Каждый уровень реагирует только на свой заголовок </vt:lpstr>
      <vt:lpstr>Модель ВОС</vt:lpstr>
      <vt:lpstr>Слайд 53</vt:lpstr>
      <vt:lpstr>Подуровни канального уровня IEEE 802 LAN/MAN</vt:lpstr>
      <vt:lpstr>Подуровни канального уровня IEEE 802 LAN/MAN</vt:lpstr>
      <vt:lpstr>Основные свойства уровней модели OSI</vt:lpstr>
      <vt:lpstr>Отображение различных сетевых протоколов и технологий в модели OSI</vt:lpstr>
      <vt:lpstr>Слайд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Настя</dc:creator>
  <cp:lastModifiedBy>Анастасия</cp:lastModifiedBy>
  <cp:revision>165</cp:revision>
  <dcterms:created xsi:type="dcterms:W3CDTF">2025-09-18T17:47:27Z</dcterms:created>
  <dcterms:modified xsi:type="dcterms:W3CDTF">2025-10-12T19:55:59Z</dcterms:modified>
</cp:coreProperties>
</file>