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409" r:id="rId2"/>
    <p:sldId id="462" r:id="rId3"/>
    <p:sldId id="258" r:id="rId4"/>
    <p:sldId id="421" r:id="rId5"/>
    <p:sldId id="464" r:id="rId6"/>
    <p:sldId id="445" r:id="rId7"/>
    <p:sldId id="418" r:id="rId8"/>
    <p:sldId id="419" r:id="rId9"/>
    <p:sldId id="412" r:id="rId10"/>
    <p:sldId id="465" r:id="rId11"/>
    <p:sldId id="461" r:id="rId12"/>
    <p:sldId id="443" r:id="rId13"/>
    <p:sldId id="422" r:id="rId14"/>
    <p:sldId id="350" r:id="rId15"/>
    <p:sldId id="417" r:id="rId16"/>
    <p:sldId id="446" r:id="rId17"/>
    <p:sldId id="427" r:id="rId18"/>
    <p:sldId id="424" r:id="rId19"/>
    <p:sldId id="354" r:id="rId20"/>
    <p:sldId id="425" r:id="rId21"/>
    <p:sldId id="426" r:id="rId22"/>
    <p:sldId id="432" r:id="rId23"/>
    <p:sldId id="362" r:id="rId24"/>
    <p:sldId id="479" r:id="rId25"/>
    <p:sldId id="429" r:id="rId26"/>
    <p:sldId id="485" r:id="rId27"/>
    <p:sldId id="480" r:id="rId28"/>
    <p:sldId id="430" r:id="rId29"/>
    <p:sldId id="364" r:id="rId30"/>
    <p:sldId id="433" r:id="rId31"/>
    <p:sldId id="434" r:id="rId32"/>
    <p:sldId id="435" r:id="rId33"/>
    <p:sldId id="428" r:id="rId34"/>
    <p:sldId id="327" r:id="rId35"/>
    <p:sldId id="382" r:id="rId36"/>
    <p:sldId id="471" r:id="rId37"/>
    <p:sldId id="383" r:id="rId38"/>
    <p:sldId id="447" r:id="rId39"/>
    <p:sldId id="397" r:id="rId40"/>
    <p:sldId id="396" r:id="rId41"/>
    <p:sldId id="373" r:id="rId42"/>
    <p:sldId id="398" r:id="rId43"/>
    <p:sldId id="448" r:id="rId44"/>
    <p:sldId id="369" r:id="rId45"/>
    <p:sldId id="473" r:id="rId46"/>
    <p:sldId id="345" r:id="rId47"/>
    <p:sldId id="474" r:id="rId48"/>
    <p:sldId id="449" r:id="rId49"/>
    <p:sldId id="482" r:id="rId50"/>
    <p:sldId id="483" r:id="rId51"/>
    <p:sldId id="436" r:id="rId52"/>
    <p:sldId id="475" r:id="rId53"/>
    <p:sldId id="477" r:id="rId54"/>
    <p:sldId id="453" r:id="rId55"/>
    <p:sldId id="283" r:id="rId56"/>
    <p:sldId id="452" r:id="rId57"/>
    <p:sldId id="455" r:id="rId58"/>
    <p:sldId id="458" r:id="rId59"/>
    <p:sldId id="450" r:id="rId60"/>
    <p:sldId id="454" r:id="rId61"/>
    <p:sldId id="285" r:id="rId62"/>
    <p:sldId id="310" r:id="rId63"/>
    <p:sldId id="385" r:id="rId64"/>
    <p:sldId id="386" r:id="rId65"/>
    <p:sldId id="287" r:id="rId66"/>
    <p:sldId id="297" r:id="rId67"/>
    <p:sldId id="303" r:id="rId68"/>
    <p:sldId id="439" r:id="rId69"/>
    <p:sldId id="293" r:id="rId70"/>
    <p:sldId id="451" r:id="rId71"/>
    <p:sldId id="304" r:id="rId72"/>
    <p:sldId id="468" r:id="rId73"/>
    <p:sldId id="486" r:id="rId74"/>
    <p:sldId id="378" r:id="rId75"/>
    <p:sldId id="294" r:id="rId76"/>
    <p:sldId id="441" r:id="rId77"/>
    <p:sldId id="295" r:id="rId78"/>
    <p:sldId id="312" r:id="rId79"/>
    <p:sldId id="469" r:id="rId80"/>
    <p:sldId id="313" r:id="rId81"/>
    <p:sldId id="442" r:id="rId82"/>
    <p:sldId id="413" r:id="rId83"/>
    <p:sldId id="296" r:id="rId84"/>
    <p:sldId id="470" r:id="rId8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1680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173E1-411B-4191-AEFC-643B666920F6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29EDB-B660-48BF-9023-87346EE1FE7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4388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E1B93-0208-4856-80C7-ED30471094FD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AEA2B-3E08-4F88-9B0A-8730F318E87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92963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E8ED38B-AD16-4136-BAE0-50971B76BC55}" type="slidenum">
              <a:rPr lang="ru-RU" smtClean="0"/>
              <a:pPr/>
              <a:t>4</a:t>
            </a:fld>
            <a:endParaRPr lang="ru-RU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01160CF-1E09-4A8A-A701-34DA4F0FC7EF}" type="slidenum">
              <a:rPr lang="ru-RU" smtClean="0"/>
              <a:pPr/>
              <a:t>15</a:t>
            </a:fld>
            <a:endParaRPr lang="ru-RU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B22B78-D4E3-462A-8772-19F31BFC155B}" type="slidenum">
              <a:rPr lang="en-US" smtClean="0"/>
              <a:pPr/>
              <a:t>80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B1120-F37B-4FC6-B2C5-FD80516D3F5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91C68-FDFC-4C7D-BE4B-9969D39CE33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1538" y="192088"/>
            <a:ext cx="8162925" cy="14319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912813" y="1905000"/>
            <a:ext cx="8110537" cy="41910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1152525" y="62865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590925" y="62865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9925" y="62865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453A82-309B-46B8-8E32-83C4FB417BD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plit orient="vert"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1F22D-A168-4E11-AEF2-9FEBECCFDE24}" type="datetimeFigureOut">
              <a:rPr lang="ru-RU" smtClean="0"/>
              <a:pPr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1987D-FDBB-4E61-8BDC-CDEA9CF29B9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8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0.v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3528392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7030A0"/>
                </a:solidFill>
              </a:rPr>
              <a:t>Лекция 11.</a:t>
            </a:r>
            <a:br>
              <a:rPr lang="ru-RU" b="1" dirty="0" smtClean="0">
                <a:solidFill>
                  <a:srgbClr val="7030A0"/>
                </a:solidFill>
              </a:rPr>
            </a:br>
            <a:r>
              <a:rPr lang="ru-RU" b="1" dirty="0" smtClean="0">
                <a:solidFill>
                  <a:srgbClr val="7030A0"/>
                </a:solidFill>
              </a:rPr>
              <a:t>Стандартизация</a:t>
            </a:r>
            <a:br>
              <a:rPr lang="ru-RU" b="1" dirty="0" smtClean="0">
                <a:solidFill>
                  <a:srgbClr val="7030A0"/>
                </a:solidFill>
              </a:rPr>
            </a:br>
            <a:r>
              <a:rPr lang="ru-RU" b="1" dirty="0" smtClean="0">
                <a:solidFill>
                  <a:srgbClr val="7030A0"/>
                </a:solidFill>
              </a:rPr>
              <a:t> Модель</a:t>
            </a:r>
            <a:br>
              <a:rPr lang="ru-RU" b="1" dirty="0" smtClean="0">
                <a:solidFill>
                  <a:srgbClr val="7030A0"/>
                </a:solidFill>
              </a:rPr>
            </a:br>
            <a:r>
              <a:rPr lang="ru-RU" b="1" dirty="0" smtClean="0">
                <a:solidFill>
                  <a:srgbClr val="7030A0"/>
                </a:solidFill>
              </a:rPr>
              <a:t>Показатели качества обслуживания</a:t>
            </a:r>
            <a:br>
              <a:rPr lang="ru-RU" b="1" dirty="0" smtClean="0">
                <a:solidFill>
                  <a:srgbClr val="7030A0"/>
                </a:solidFill>
              </a:rPr>
            </a:br>
            <a:r>
              <a:rPr lang="ru-RU" b="1" dirty="0" smtClean="0">
                <a:solidFill>
                  <a:srgbClr val="7030A0"/>
                </a:solidFill>
              </a:rPr>
              <a:t> ( </a:t>
            </a:r>
            <a:r>
              <a:rPr lang="en-US" b="1" dirty="0" err="1" smtClean="0">
                <a:solidFill>
                  <a:srgbClr val="7030A0"/>
                </a:solidFill>
              </a:rPr>
              <a:t>QoS</a:t>
            </a:r>
            <a:r>
              <a:rPr lang="ru-RU" b="1" dirty="0" smtClean="0">
                <a:solidFill>
                  <a:srgbClr val="7030A0"/>
                </a:solidFill>
              </a:rPr>
              <a:t> ) в пакетных сетях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1268760"/>
            <a:ext cx="8964488" cy="558924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b="1" dirty="0" smtClean="0">
                <a:solidFill>
                  <a:srgbClr val="666699"/>
                </a:solidFill>
              </a:rPr>
              <a:t>ITU-T</a:t>
            </a:r>
            <a:r>
              <a:rPr lang="ru-RU" sz="2400" b="1" dirty="0" smtClean="0">
                <a:solidFill>
                  <a:srgbClr val="666699"/>
                </a:solidFill>
              </a:rPr>
              <a:t>:</a:t>
            </a:r>
            <a:r>
              <a:rPr lang="ru-RU" sz="2400" dirty="0" smtClean="0"/>
              <a:t> </a:t>
            </a:r>
            <a:r>
              <a:rPr lang="en-US" sz="2400" dirty="0" smtClean="0"/>
              <a:t>International Telecommunication Union – </a:t>
            </a:r>
            <a:endParaRPr lang="ru-RU" sz="2400" dirty="0" smtClean="0"/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Международный</a:t>
            </a:r>
            <a:r>
              <a:rPr lang="en-US" sz="2400" dirty="0" smtClean="0"/>
              <a:t> </a:t>
            </a:r>
            <a:r>
              <a:rPr lang="ru-RU" sz="2400" dirty="0" smtClean="0"/>
              <a:t>Союз</a:t>
            </a:r>
            <a:r>
              <a:rPr lang="en-US" sz="2400" dirty="0" smtClean="0"/>
              <a:t> </a:t>
            </a:r>
            <a:r>
              <a:rPr lang="ru-RU" sz="2400" dirty="0" smtClean="0"/>
              <a:t>Электросвязи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endParaRPr lang="ru-RU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b="1" dirty="0" smtClean="0">
                <a:solidFill>
                  <a:srgbClr val="666699"/>
                </a:solidFill>
              </a:rPr>
              <a:t>ETSI</a:t>
            </a:r>
            <a:r>
              <a:rPr lang="ru-RU" sz="2400" b="1" dirty="0" smtClean="0">
                <a:solidFill>
                  <a:srgbClr val="666699"/>
                </a:solidFill>
              </a:rPr>
              <a:t>:</a:t>
            </a:r>
            <a:r>
              <a:rPr lang="ru-RU" sz="2400" dirty="0" smtClean="0"/>
              <a:t> </a:t>
            </a:r>
            <a:r>
              <a:rPr lang="ru-RU" sz="2400" dirty="0" err="1" smtClean="0"/>
              <a:t>European</a:t>
            </a:r>
            <a:r>
              <a:rPr lang="ru-RU" sz="2400" dirty="0" smtClean="0"/>
              <a:t> </a:t>
            </a:r>
            <a:r>
              <a:rPr lang="ru-RU" sz="2400" dirty="0" err="1" smtClean="0"/>
              <a:t>Telecommunications</a:t>
            </a:r>
            <a:r>
              <a:rPr lang="ru-RU" sz="2400" dirty="0" smtClean="0"/>
              <a:t> </a:t>
            </a:r>
            <a:r>
              <a:rPr lang="en-US" sz="2400" dirty="0" smtClean="0"/>
              <a:t>Standardizations </a:t>
            </a:r>
            <a:r>
              <a:rPr lang="ru-RU" sz="2400" dirty="0" err="1" smtClean="0"/>
              <a:t>Institute</a:t>
            </a:r>
            <a:r>
              <a:rPr lang="ru-RU" sz="2400" dirty="0" smtClean="0"/>
              <a:t> - Европейский институт по стандартизации телекоммуникаций 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endParaRPr lang="ru-RU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b="1" dirty="0" smtClean="0">
                <a:solidFill>
                  <a:srgbClr val="666699"/>
                </a:solidFill>
              </a:rPr>
              <a:t>IETF</a:t>
            </a:r>
            <a:r>
              <a:rPr lang="ru-RU" sz="2400" b="1" dirty="0" smtClean="0">
                <a:solidFill>
                  <a:srgbClr val="666699"/>
                </a:solidFill>
              </a:rPr>
              <a:t>:</a:t>
            </a:r>
            <a:r>
              <a:rPr lang="ru-RU" sz="2400" dirty="0" smtClean="0"/>
              <a:t> </a:t>
            </a:r>
            <a:r>
              <a:rPr lang="en-US" sz="2400" dirty="0" smtClean="0"/>
              <a:t>Internet Engineering Task Force –</a:t>
            </a:r>
            <a:endParaRPr lang="ru-RU" sz="2400" dirty="0" smtClean="0"/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dirty="0" smtClean="0"/>
              <a:t> </a:t>
            </a:r>
            <a:r>
              <a:rPr lang="ru-RU" sz="2400" dirty="0" smtClean="0"/>
              <a:t>Инженерная</a:t>
            </a:r>
            <a:r>
              <a:rPr lang="en-US" sz="2400" dirty="0" smtClean="0"/>
              <a:t> </a:t>
            </a:r>
            <a:r>
              <a:rPr lang="ru-RU" sz="2400" dirty="0" smtClean="0"/>
              <a:t>группа</a:t>
            </a:r>
            <a:r>
              <a:rPr lang="en-US" sz="2400" dirty="0" smtClean="0"/>
              <a:t> </a:t>
            </a:r>
            <a:r>
              <a:rPr lang="ru-RU" sz="2400" dirty="0" smtClean="0"/>
              <a:t>по</a:t>
            </a:r>
            <a:r>
              <a:rPr lang="en-US" sz="2400" dirty="0" smtClean="0"/>
              <a:t> </a:t>
            </a:r>
            <a:r>
              <a:rPr lang="ru-RU" sz="2400" dirty="0" smtClean="0"/>
              <a:t>решению</a:t>
            </a:r>
            <a:r>
              <a:rPr lang="en-US" sz="2400" dirty="0" smtClean="0"/>
              <a:t> </a:t>
            </a:r>
            <a:r>
              <a:rPr lang="ru-RU" sz="2400" dirty="0" smtClean="0"/>
              <a:t>задач</a:t>
            </a:r>
            <a:r>
              <a:rPr lang="en-US" sz="2400" dirty="0" smtClean="0"/>
              <a:t> Internet</a:t>
            </a:r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b="1" dirty="0" smtClean="0">
                <a:solidFill>
                  <a:srgbClr val="666699"/>
                </a:solidFill>
              </a:rPr>
              <a:t>MMCF</a:t>
            </a:r>
            <a:r>
              <a:rPr lang="ru-RU" sz="2400" b="1" dirty="0" smtClean="0">
                <a:solidFill>
                  <a:srgbClr val="666699"/>
                </a:solidFill>
              </a:rPr>
              <a:t>:</a:t>
            </a:r>
            <a:r>
              <a:rPr lang="en-US" sz="2400" dirty="0" smtClean="0"/>
              <a:t> </a:t>
            </a:r>
            <a:r>
              <a:rPr lang="ru-RU" sz="2400" dirty="0" smtClean="0"/>
              <a:t>Multimedia </a:t>
            </a:r>
            <a:r>
              <a:rPr lang="ru-RU" sz="2400" dirty="0" err="1" smtClean="0"/>
              <a:t>Communications</a:t>
            </a:r>
            <a:r>
              <a:rPr lang="ru-RU" sz="2400" dirty="0" smtClean="0"/>
              <a:t> </a:t>
            </a:r>
            <a:r>
              <a:rPr lang="ru-RU" sz="2400" dirty="0" err="1" smtClean="0"/>
              <a:t>Forum</a:t>
            </a:r>
            <a:r>
              <a:rPr lang="ru-RU" sz="2400" dirty="0" smtClean="0"/>
              <a:t> </a:t>
            </a:r>
            <a:r>
              <a:rPr lang="en-US" sz="2400" dirty="0" smtClean="0"/>
              <a:t>–</a:t>
            </a:r>
            <a:endParaRPr lang="ru-RU" sz="2400" dirty="0" smtClean="0"/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dirty="0" smtClean="0"/>
              <a:t> </a:t>
            </a:r>
            <a:r>
              <a:rPr lang="ru-RU" sz="2400" dirty="0" smtClean="0"/>
              <a:t>Форум по </a:t>
            </a:r>
            <a:r>
              <a:rPr lang="ru-RU" sz="2400" dirty="0" err="1" smtClean="0"/>
              <a:t>мультимедийным</a:t>
            </a:r>
            <a:r>
              <a:rPr lang="ru-RU" sz="2400" dirty="0" smtClean="0"/>
              <a:t> коммуникациям 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ru-RU" sz="2400" b="1" dirty="0" smtClean="0">
                <a:solidFill>
                  <a:srgbClr val="666699"/>
                </a:solidFill>
                <a:cs typeface="Times New Roman" pitchFamily="18" charset="0"/>
              </a:rPr>
              <a:t>EURESCOM:</a:t>
            </a:r>
            <a:r>
              <a:rPr lang="ru-RU" sz="2400" dirty="0" smtClean="0">
                <a:cs typeface="Times New Roman" pitchFamily="18" charset="0"/>
              </a:rPr>
              <a:t> </a:t>
            </a:r>
            <a:r>
              <a:rPr lang="ru-RU" sz="2400" dirty="0" err="1" smtClean="0"/>
              <a:t>European</a:t>
            </a:r>
            <a:r>
              <a:rPr lang="ru-RU" sz="2400" dirty="0" smtClean="0"/>
              <a:t> </a:t>
            </a:r>
            <a:r>
              <a:rPr lang="ru-RU" sz="2400" dirty="0" err="1" smtClean="0"/>
              <a:t>Institute</a:t>
            </a:r>
            <a:r>
              <a:rPr lang="ru-RU" sz="2400" dirty="0" smtClean="0"/>
              <a:t> </a:t>
            </a:r>
            <a:r>
              <a:rPr lang="ru-RU" sz="2400" dirty="0" err="1" smtClean="0"/>
              <a:t>for</a:t>
            </a:r>
            <a:r>
              <a:rPr lang="ru-RU" sz="2400" dirty="0" smtClean="0"/>
              <a:t> </a:t>
            </a:r>
            <a:r>
              <a:rPr lang="ru-RU" sz="2400" dirty="0" err="1" smtClean="0"/>
              <a:t>Research</a:t>
            </a:r>
            <a:r>
              <a:rPr lang="ru-RU" sz="2400" dirty="0" smtClean="0"/>
              <a:t> </a:t>
            </a:r>
            <a:r>
              <a:rPr lang="ru-RU" sz="2400" dirty="0" err="1" smtClean="0"/>
              <a:t>and</a:t>
            </a:r>
            <a:r>
              <a:rPr lang="ru-RU" sz="2400" dirty="0" smtClean="0"/>
              <a:t> </a:t>
            </a:r>
            <a:r>
              <a:rPr lang="ru-RU" sz="2400" dirty="0" err="1" smtClean="0"/>
              <a:t>Strategic</a:t>
            </a:r>
            <a:r>
              <a:rPr lang="ru-RU" sz="2400" dirty="0" smtClean="0"/>
              <a:t> </a:t>
            </a:r>
            <a:r>
              <a:rPr lang="ru-RU" sz="2400" dirty="0" err="1" smtClean="0"/>
              <a:t>Studies</a:t>
            </a:r>
            <a:r>
              <a:rPr lang="ru-RU" sz="2400" dirty="0" smtClean="0"/>
              <a:t> </a:t>
            </a:r>
            <a:r>
              <a:rPr lang="ru-RU" sz="2400" dirty="0" err="1" smtClean="0"/>
              <a:t>in</a:t>
            </a:r>
            <a:r>
              <a:rPr lang="ru-RU" sz="2400" dirty="0" smtClean="0"/>
              <a:t> </a:t>
            </a:r>
            <a:r>
              <a:rPr lang="ru-RU" sz="2400" dirty="0" err="1" smtClean="0"/>
              <a:t>Telecommunications</a:t>
            </a:r>
            <a:r>
              <a:rPr lang="ru-RU" sz="2400" dirty="0" smtClean="0"/>
              <a:t> </a:t>
            </a:r>
            <a:r>
              <a:rPr lang="en-US" sz="2400" dirty="0" smtClean="0"/>
              <a:t>– </a:t>
            </a:r>
            <a:endParaRPr lang="ru-RU" sz="2400" dirty="0" smtClean="0"/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Европейский институт по исследованиям и стратегическому планированию в телекоммуникациях. 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1008112"/>
          </a:xfrm>
        </p:spPr>
        <p:txBody>
          <a:bodyPr>
            <a:noAutofit/>
          </a:bodyPr>
          <a:lstStyle/>
          <a:p>
            <a:pPr eaLnBrk="1" hangingPunct="1"/>
            <a:r>
              <a:rPr lang="ru-RU" sz="3200" b="1" dirty="0" smtClean="0">
                <a:solidFill>
                  <a:srgbClr val="7030A0"/>
                </a:solidFill>
              </a:rPr>
              <a:t>Организации, стандартизирующие модели обеспечения качества обслуживания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Качество обслуживания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9144000" cy="4910138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QoS </a:t>
            </a:r>
            <a:r>
              <a:rPr lang="ru-RU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Quality of Servers)</a:t>
            </a:r>
            <a:r>
              <a:rPr lang="en-US" sz="2800" b="1" dirty="0" smtClean="0"/>
              <a:t> </a:t>
            </a:r>
            <a:r>
              <a:rPr lang="ru-RU" sz="2800" dirty="0" smtClean="0"/>
              <a:t>рассматривается как  «суммарный эффект </a:t>
            </a:r>
            <a:r>
              <a:rPr lang="ru-RU" sz="2800" i="1" dirty="0" smtClean="0"/>
              <a:t>рабочих характеристик  обслуживания</a:t>
            </a:r>
            <a:r>
              <a:rPr lang="ru-RU" sz="2800" dirty="0" smtClean="0"/>
              <a:t>, который определяет степень  удовлетворенности пользователя этой службой» </a:t>
            </a:r>
            <a:r>
              <a:rPr lang="en-US" sz="2800" dirty="0" smtClean="0"/>
              <a:t>(E.800)</a:t>
            </a:r>
            <a:endParaRPr lang="ru-RU" sz="2800" dirty="0" smtClean="0"/>
          </a:p>
          <a:p>
            <a:pPr>
              <a:defRPr/>
            </a:pPr>
            <a:r>
              <a:rPr lang="ru-RU" sz="2800" b="1" dirty="0" smtClean="0">
                <a:solidFill>
                  <a:schemeClr val="hlink"/>
                </a:solidFill>
              </a:rPr>
              <a:t>Задача:</a:t>
            </a:r>
            <a:r>
              <a:rPr lang="ru-RU" sz="2800" dirty="0" smtClean="0"/>
              <a:t> обеспечить заданное качество обслуживания  в сквозном соединении (</a:t>
            </a:r>
            <a:r>
              <a:rPr lang="en-US" sz="2800" dirty="0" smtClean="0"/>
              <a:t>end-to-end) </a:t>
            </a:r>
            <a:r>
              <a:rPr lang="ru-RU" sz="2800" dirty="0" smtClean="0"/>
              <a:t>для различных видов трафика.</a:t>
            </a:r>
          </a:p>
          <a:p>
            <a:pPr>
              <a:defRPr/>
            </a:pPr>
            <a:r>
              <a:rPr lang="ru-RU" sz="2800" b="1" dirty="0" smtClean="0">
                <a:solidFill>
                  <a:schemeClr val="hlink"/>
                </a:solidFill>
              </a:rPr>
              <a:t>Условие:</a:t>
            </a:r>
            <a:r>
              <a:rPr lang="ru-RU" sz="2800" dirty="0" smtClean="0"/>
              <a:t> заданное качество обслуживания должны поддерживать все сетевые устройства на всем сквозном соединении</a:t>
            </a: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332656"/>
            <a:ext cx="6408738" cy="1295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dirty="0" smtClean="0">
                <a:solidFill>
                  <a:srgbClr val="7030A0"/>
                </a:solidFill>
              </a:rPr>
              <a:t>Эталонная модель </a:t>
            </a:r>
            <a:r>
              <a:rPr lang="en-US" dirty="0" smtClean="0">
                <a:solidFill>
                  <a:srgbClr val="7030A0"/>
                </a:solidFill>
              </a:rPr>
              <a:t/>
            </a:r>
            <a:br>
              <a:rPr lang="en-US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сквозного </a:t>
            </a:r>
            <a:r>
              <a:rPr lang="ru-RU" dirty="0" err="1" smtClean="0">
                <a:solidFill>
                  <a:srgbClr val="7030A0"/>
                </a:solidFill>
              </a:rPr>
              <a:t>QoS</a:t>
            </a:r>
            <a:r>
              <a:rPr lang="ru-RU" dirty="0" smtClean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13317" name="Rectangle 6"/>
          <p:cNvSpPr>
            <a:spLocks noChangeArrowheads="1"/>
          </p:cNvSpPr>
          <p:nvPr/>
        </p:nvSpPr>
        <p:spPr bwMode="auto">
          <a:xfrm>
            <a:off x="0" y="2028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3314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539750" y="1844675"/>
          <a:ext cx="8208963" cy="4016375"/>
        </p:xfrm>
        <a:graphic>
          <a:graphicData uri="http://schemas.openxmlformats.org/presentationml/2006/ole">
            <p:oleObj spid="_x0000_s234542" name="VISIO" r:id="rId4" imgW="6647277" imgH="3249848" progId="">
              <p:embed/>
            </p:oleObj>
          </a:graphicData>
        </a:graphic>
      </p:graphicFrame>
      <p:graphicFrame>
        <p:nvGraphicFramePr>
          <p:cNvPr id="13315" name="Object 6"/>
          <p:cNvGraphicFramePr>
            <a:graphicFrameLocks noChangeAspect="1"/>
          </p:cNvGraphicFramePr>
          <p:nvPr/>
        </p:nvGraphicFramePr>
        <p:xfrm flipV="1">
          <a:off x="0" y="6858000"/>
          <a:ext cx="9144000" cy="45719"/>
        </p:xfrm>
        <a:graphic>
          <a:graphicData uri="http://schemas.openxmlformats.org/presentationml/2006/ole">
            <p:oleObj spid="_x0000_s234543" name="Visio" r:id="rId5" imgW="6697599" imgH="577596" progId="">
              <p:embed/>
            </p:oleObj>
          </a:graphicData>
        </a:graphic>
      </p:graphicFrame>
      <p:sp>
        <p:nvSpPr>
          <p:cNvPr id="13318" name="Text Box 7"/>
          <p:cNvSpPr txBox="1">
            <a:spLocks noChangeArrowheads="1"/>
          </p:cNvSpPr>
          <p:nvPr/>
        </p:nvSpPr>
        <p:spPr bwMode="auto">
          <a:xfrm flipV="1">
            <a:off x="7740650" y="6858000"/>
            <a:ext cx="14033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ru-RU" sz="1400" dirty="0" err="1"/>
              <a:t>УрТИСИ</a:t>
            </a:r>
            <a:r>
              <a:rPr lang="ru-RU" sz="1400" dirty="0"/>
              <a:t>, 2013</a:t>
            </a:r>
          </a:p>
        </p:txBody>
      </p:sp>
      <p:sp>
        <p:nvSpPr>
          <p:cNvPr id="13319" name="Text Box 8"/>
          <p:cNvSpPr txBox="1">
            <a:spLocks noChangeArrowheads="1"/>
          </p:cNvSpPr>
          <p:nvPr/>
        </p:nvSpPr>
        <p:spPr bwMode="auto">
          <a:xfrm flipV="1">
            <a:off x="0" y="6857999"/>
            <a:ext cx="27717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1400"/>
              <a:t>САЛИФОВ Ильнур Илдарович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764704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Архитектура </a:t>
            </a:r>
            <a:r>
              <a:rPr lang="en-US" dirty="0" err="1" smtClean="0">
                <a:solidFill>
                  <a:srgbClr val="7030A0"/>
                </a:solidFill>
              </a:rPr>
              <a:t>QoS</a:t>
            </a:r>
            <a:endParaRPr lang="ru-RU" dirty="0" smtClean="0">
              <a:solidFill>
                <a:srgbClr val="7030A0"/>
              </a:solidFill>
            </a:endParaRPr>
          </a:p>
        </p:txBody>
      </p:sp>
      <p:sp>
        <p:nvSpPr>
          <p:cNvPr id="12291" name="Содержимое 2"/>
          <p:cNvSpPr>
            <a:spLocks noGrp="1"/>
          </p:cNvSpPr>
          <p:nvPr>
            <p:ph sz="quarter" idx="1"/>
          </p:nvPr>
        </p:nvSpPr>
        <p:spPr>
          <a:xfrm>
            <a:off x="323528" y="836712"/>
            <a:ext cx="8606160" cy="6021288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Средства </a:t>
            </a:r>
            <a:r>
              <a:rPr lang="en-US" sz="2800" dirty="0" err="1" smtClean="0">
                <a:solidFill>
                  <a:srgbClr val="002060"/>
                </a:solidFill>
              </a:rPr>
              <a:t>QoS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>
                <a:solidFill>
                  <a:srgbClr val="002060"/>
                </a:solidFill>
              </a:rPr>
              <a:t>узла сети –это</a:t>
            </a:r>
          </a:p>
          <a:p>
            <a:pPr marL="93663" indent="-93663"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400" dirty="0" err="1" smtClean="0"/>
              <a:t>маршрутизаторы</a:t>
            </a:r>
            <a:r>
              <a:rPr lang="ru-RU" sz="2400" dirty="0" smtClean="0"/>
              <a:t>, выполняющие обработку поступающего в узел трафика в соответствии с требованиями качества обслуживания.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Протоколы </a:t>
            </a:r>
            <a:r>
              <a:rPr lang="en-US" sz="2800" dirty="0" err="1" smtClean="0">
                <a:solidFill>
                  <a:srgbClr val="002060"/>
                </a:solidFill>
              </a:rPr>
              <a:t>QoS</a:t>
            </a:r>
            <a:r>
              <a:rPr lang="en-US" sz="2800" dirty="0" smtClean="0"/>
              <a:t>- </a:t>
            </a:r>
            <a:r>
              <a:rPr lang="ru-RU" sz="2800" dirty="0" smtClean="0"/>
              <a:t>это</a:t>
            </a:r>
          </a:p>
          <a:p>
            <a:pPr marL="93663" indent="-93663">
              <a:buNone/>
            </a:pPr>
            <a:r>
              <a:rPr lang="ru-RU" sz="2400" dirty="0" smtClean="0"/>
              <a:t>сигнализации для координации работы сетевых элементов по поддержке качества обслуживания   «</a:t>
            </a:r>
            <a:r>
              <a:rPr lang="ru-RU" sz="2400" dirty="0" err="1" smtClean="0"/>
              <a:t>из-конца-в-конец</a:t>
            </a:r>
            <a:r>
              <a:rPr lang="ru-RU" sz="2400" dirty="0" smtClean="0"/>
              <a:t>».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Централизованные функции политики управления и учета </a:t>
            </a:r>
            <a:r>
              <a:rPr lang="en-US" sz="2800" dirty="0" err="1" smtClean="0">
                <a:solidFill>
                  <a:srgbClr val="002060"/>
                </a:solidFill>
              </a:rPr>
              <a:t>QoS</a:t>
            </a:r>
            <a:r>
              <a:rPr lang="ru-RU" sz="2800" dirty="0" smtClean="0"/>
              <a:t>,</a:t>
            </a:r>
            <a:r>
              <a:rPr lang="en-US" sz="2800" dirty="0" smtClean="0"/>
              <a:t> </a:t>
            </a:r>
            <a:endParaRPr lang="ru-RU" sz="2800" dirty="0" smtClean="0"/>
          </a:p>
          <a:p>
            <a:pPr marL="0" indent="0">
              <a:buNone/>
            </a:pPr>
            <a:r>
              <a:rPr lang="ru-RU" sz="2400" dirty="0" smtClean="0"/>
              <a:t>позволяющие администраторам сети централизованно воздействовать на сетевые элементы для разделения ресурсов сети между различными видами трафика с требуемым уровнем </a:t>
            </a:r>
            <a:r>
              <a:rPr lang="en-US" sz="2400" dirty="0" err="1" smtClean="0"/>
              <a:t>QoS</a:t>
            </a:r>
            <a:r>
              <a:rPr lang="ru-RU" sz="24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88641"/>
            <a:ext cx="7793038" cy="792087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Транспортная сеть узла сети</a:t>
            </a:r>
          </a:p>
        </p:txBody>
      </p:sp>
      <p:graphicFrame>
        <p:nvGraphicFramePr>
          <p:cNvPr id="41987" name="Object 2"/>
          <p:cNvGraphicFramePr>
            <a:graphicFrameLocks noGrp="1" noChangeAspect="1"/>
          </p:cNvGraphicFramePr>
          <p:nvPr>
            <p:ph type="dgm" idx="1"/>
          </p:nvPr>
        </p:nvGraphicFramePr>
        <p:xfrm>
          <a:off x="539552" y="1340768"/>
          <a:ext cx="8323014" cy="5184502"/>
        </p:xfrm>
        <a:graphic>
          <a:graphicData uri="http://schemas.openxmlformats.org/presentationml/2006/ole">
            <p:oleObj spid="_x0000_s238616" name="VISIO" r:id="rId3" imgW="7813548" imgH="3742944" progId="">
              <p:embed/>
            </p:oleObj>
          </a:graphicData>
        </a:graphic>
      </p:graphicFrame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40768"/>
          </a:xfrm>
        </p:spPr>
        <p:txBody>
          <a:bodyPr>
            <a:noAutofit/>
          </a:bodyPr>
          <a:lstStyle/>
          <a:p>
            <a:r>
              <a:rPr lang="ru-RU" sz="3600" b="1" dirty="0" smtClean="0">
                <a:solidFill>
                  <a:srgbClr val="7030A0"/>
                </a:solidFill>
              </a:rPr>
              <a:t>Первая группа </a:t>
            </a:r>
            <a:r>
              <a:rPr lang="en-US" sz="3600" b="1" dirty="0" err="1" smtClean="0">
                <a:solidFill>
                  <a:srgbClr val="7030A0"/>
                </a:solidFill>
              </a:rPr>
              <a:t>QoS</a:t>
            </a:r>
            <a:r>
              <a:rPr lang="ru-RU" sz="3600" b="1" dirty="0" smtClean="0">
                <a:solidFill>
                  <a:srgbClr val="7030A0"/>
                </a:solidFill>
              </a:rPr>
              <a:t>.</a:t>
            </a:r>
            <a:br>
              <a:rPr lang="ru-RU" sz="3600" b="1" dirty="0" smtClean="0">
                <a:solidFill>
                  <a:srgbClr val="7030A0"/>
                </a:solidFill>
              </a:rPr>
            </a:br>
            <a:r>
              <a:rPr lang="en-US" sz="3600" b="1" dirty="0" smtClean="0">
                <a:solidFill>
                  <a:srgbClr val="7030A0"/>
                </a:solidFill>
              </a:rPr>
              <a:t> </a:t>
            </a:r>
            <a:r>
              <a:rPr lang="ru-RU" sz="3200" b="1" dirty="0" smtClean="0">
                <a:solidFill>
                  <a:srgbClr val="7030A0"/>
                </a:solidFill>
              </a:rPr>
              <a:t>Показатели</a:t>
            </a:r>
            <a:r>
              <a:rPr lang="ru-RU" sz="3600" b="1" dirty="0" smtClean="0">
                <a:solidFill>
                  <a:srgbClr val="7030A0"/>
                </a:solidFill>
              </a:rPr>
              <a:t> качества передачи пакетов в сети </a:t>
            </a:r>
            <a:endParaRPr lang="ru-RU" sz="3600" b="1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412776"/>
            <a:ext cx="8229600" cy="4896544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buNone/>
            </a:pPr>
            <a:r>
              <a:rPr lang="ru-RU" dirty="0"/>
              <a:t>В</a:t>
            </a:r>
            <a:r>
              <a:rPr lang="ru-RU" dirty="0" smtClean="0"/>
              <a:t> Рек.</a:t>
            </a:r>
            <a:r>
              <a:rPr lang="en-US" dirty="0" smtClean="0"/>
              <a:t>ITU-T Y.1540 </a:t>
            </a:r>
            <a:r>
              <a:rPr lang="ru-RU" dirty="0" smtClean="0"/>
              <a:t>приведен перечень показателей , определяющие качество передачи пакетов в сети: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вариация задержки </a:t>
            </a:r>
            <a:r>
              <a:rPr lang="en-US" dirty="0" smtClean="0"/>
              <a:t>IP </a:t>
            </a:r>
            <a:r>
              <a:rPr lang="ru-RU" dirty="0" smtClean="0"/>
              <a:t>пакетов </a:t>
            </a:r>
            <a:r>
              <a:rPr lang="en-US" dirty="0" smtClean="0"/>
              <a:t>IP – DV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доля потерянных пакетов </a:t>
            </a:r>
            <a:r>
              <a:rPr lang="en-US" dirty="0" smtClean="0"/>
              <a:t>IP- LR</a:t>
            </a:r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задержка доставки пакетов </a:t>
            </a:r>
            <a:r>
              <a:rPr lang="en-US" dirty="0" smtClean="0"/>
              <a:t>IP – TD</a:t>
            </a:r>
            <a:endParaRPr lang="ru-RU" dirty="0" smtClean="0"/>
          </a:p>
          <a:p>
            <a:pPr lvl="1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доля пакетов переданных, с ошибкой </a:t>
            </a:r>
            <a:r>
              <a:rPr lang="en-US" dirty="0" smtClean="0"/>
              <a:t>IPER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363272" cy="1008112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Вторая группа </a:t>
            </a:r>
            <a:r>
              <a:rPr lang="en-US" sz="3600" dirty="0" err="1" smtClean="0">
                <a:solidFill>
                  <a:srgbClr val="7030A0"/>
                </a:solidFill>
              </a:rPr>
              <a:t>QoS</a:t>
            </a:r>
            <a:r>
              <a:rPr lang="ru-RU" sz="3600" dirty="0" smtClean="0">
                <a:solidFill>
                  <a:srgbClr val="7030A0"/>
                </a:solidFill>
              </a:rPr>
              <a:t>.</a:t>
            </a:r>
            <a:r>
              <a:rPr lang="en-US" sz="3600" dirty="0" smtClean="0">
                <a:solidFill>
                  <a:srgbClr val="7030A0"/>
                </a:solidFill>
              </a:rPr>
              <a:t> </a:t>
            </a:r>
            <a:r>
              <a:rPr lang="ru-RU" sz="3600" dirty="0" smtClean="0">
                <a:solidFill>
                  <a:srgbClr val="7030A0"/>
                </a:solidFill>
              </a:rPr>
              <a:t/>
            </a:r>
            <a:br>
              <a:rPr lang="ru-RU" sz="3600" dirty="0" smtClean="0">
                <a:solidFill>
                  <a:srgbClr val="7030A0"/>
                </a:solidFill>
              </a:rPr>
            </a:br>
            <a:r>
              <a:rPr lang="ru-RU" sz="3600" dirty="0" smtClean="0">
                <a:solidFill>
                  <a:srgbClr val="7030A0"/>
                </a:solidFill>
              </a:rPr>
              <a:t>Характеристики сетевой инфраструктуры.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dirty="0" smtClean="0">
                <a:solidFill>
                  <a:srgbClr val="002060"/>
                </a:solidFill>
              </a:rPr>
              <a:t>Производительность сети </a:t>
            </a:r>
            <a:r>
              <a:rPr lang="ru-RU" dirty="0" smtClean="0"/>
              <a:t>– скорость успешно переданных пакетов , Бит</a:t>
            </a:r>
            <a:r>
              <a:rPr lang="en-US" dirty="0" smtClean="0"/>
              <a:t>/</a:t>
            </a:r>
            <a:r>
              <a:rPr lang="ru-RU" dirty="0" smtClean="0"/>
              <a:t>с  </a:t>
            </a:r>
          </a:p>
          <a:p>
            <a:pPr lvl="0"/>
            <a:r>
              <a:rPr lang="ru-RU" dirty="0" smtClean="0"/>
              <a:t> </a:t>
            </a:r>
            <a:r>
              <a:rPr lang="ru-RU" dirty="0" smtClean="0">
                <a:solidFill>
                  <a:srgbClr val="002060"/>
                </a:solidFill>
                <a:latin typeface="Times New Roman" pitchFamily="18" charset="0"/>
                <a:cs typeface="Arial" pitchFamily="34" charset="0"/>
              </a:rPr>
              <a:t>Пропускная способность сети </a:t>
            </a:r>
            <a:r>
              <a:rPr lang="ru-RU" dirty="0" smtClean="0">
                <a:latin typeface="Times New Roman" pitchFamily="18" charset="0"/>
                <a:cs typeface="Arial" pitchFamily="34" charset="0"/>
              </a:rPr>
              <a:t>– это объем данных , переданных из одной точки сети в другую за сек , Бит</a:t>
            </a:r>
            <a:r>
              <a:rPr lang="en-US" dirty="0" smtClean="0">
                <a:latin typeface="Times New Roman" pitchFamily="18" charset="0"/>
                <a:cs typeface="Arial" pitchFamily="34" charset="0"/>
              </a:rPr>
              <a:t>/c</a:t>
            </a:r>
            <a:endParaRPr lang="ru-RU" dirty="0" smtClean="0"/>
          </a:p>
          <a:p>
            <a:r>
              <a:rPr lang="ru-RU" dirty="0" smtClean="0">
                <a:solidFill>
                  <a:srgbClr val="002060"/>
                </a:solidFill>
              </a:rPr>
              <a:t>Готовность к работе </a:t>
            </a:r>
            <a:r>
              <a:rPr lang="ru-RU" dirty="0" smtClean="0"/>
              <a:t>– доля времени готовности сети к работе за год ,   А – коэффициент готовности , А = 0,99999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Время простоя сети </a:t>
            </a:r>
            <a:r>
              <a:rPr lang="ru-RU" dirty="0" smtClean="0"/>
              <a:t>,  Т = 5,3 мин в год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Затор и пропускная способность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2060"/>
                </a:solidFill>
              </a:rPr>
              <a:t>Затор </a:t>
            </a:r>
            <a:r>
              <a:rPr lang="ru-RU" dirty="0">
                <a:solidFill>
                  <a:srgbClr val="002060"/>
                </a:solidFill>
              </a:rPr>
              <a:t>в сети приводит к </a:t>
            </a:r>
            <a:r>
              <a:rPr lang="ru-RU" dirty="0" smtClean="0">
                <a:solidFill>
                  <a:srgbClr val="002060"/>
                </a:solidFill>
              </a:rPr>
              <a:t>задержке.</a:t>
            </a:r>
            <a:endParaRPr lang="ru-RU" dirty="0" smtClean="0">
              <a:solidFill>
                <a:srgbClr val="000000"/>
              </a:solidFill>
            </a:endParaRPr>
          </a:p>
          <a:p>
            <a:pPr marL="285750" indent="-285750">
              <a:buNone/>
            </a:pPr>
            <a:r>
              <a:rPr lang="ru-RU" dirty="0" smtClean="0">
                <a:solidFill>
                  <a:srgbClr val="000000"/>
                </a:solidFill>
              </a:rPr>
              <a:t>   Затор </a:t>
            </a:r>
            <a:r>
              <a:rPr lang="ru-RU" dirty="0">
                <a:solidFill>
                  <a:srgbClr val="000000"/>
                </a:solidFill>
              </a:rPr>
              <a:t>в интерфейсе возникает, когда объем трафика превышает тот объем, который может быть обработан</a:t>
            </a:r>
            <a:r>
              <a:rPr lang="ru-RU" dirty="0" smtClean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0000"/>
                </a:solidFill>
              </a:rPr>
              <a:t> </a:t>
            </a:r>
            <a:r>
              <a:rPr lang="ru-RU" dirty="0">
                <a:solidFill>
                  <a:srgbClr val="002060"/>
                </a:solidFill>
              </a:rPr>
              <a:t>Точки затора в сети </a:t>
            </a:r>
            <a:r>
              <a:rPr lang="ru-RU" dirty="0">
                <a:solidFill>
                  <a:srgbClr val="000000"/>
                </a:solidFill>
              </a:rPr>
              <a:t>— та область, где необходимо использовать механизмы </a:t>
            </a:r>
            <a:r>
              <a:rPr lang="ru-RU" dirty="0" err="1">
                <a:solidFill>
                  <a:srgbClr val="000000"/>
                </a:solidFill>
              </a:rPr>
              <a:t>QoS</a:t>
            </a:r>
            <a:r>
              <a:rPr lang="ru-RU" dirty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000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Причина возникновения заторов</a:t>
            </a:r>
            <a:r>
              <a:rPr lang="ru-RU" dirty="0" smtClean="0">
                <a:solidFill>
                  <a:srgbClr val="000000"/>
                </a:solidFill>
              </a:rPr>
              <a:t>:</a:t>
            </a:r>
          </a:p>
          <a:p>
            <a:pPr marL="285750" indent="-285750">
              <a:buNone/>
            </a:pPr>
            <a:r>
              <a:rPr lang="ru-RU" dirty="0" smtClean="0">
                <a:solidFill>
                  <a:srgbClr val="000000"/>
                </a:solidFill>
              </a:rPr>
              <a:t>   агрегация, несоответствие скорости и передача данных из локальной сети в глобальную сеть.</a:t>
            </a:r>
          </a:p>
          <a:p>
            <a:pPr marL="285750" indent="-285750"/>
            <a:r>
              <a:rPr lang="ru-RU" dirty="0" smtClean="0">
                <a:solidFill>
                  <a:srgbClr val="002060"/>
                </a:solidFill>
              </a:rPr>
              <a:t> Полоса пропускания сети (пропускная способность) </a:t>
            </a:r>
            <a:r>
              <a:rPr lang="ru-RU" dirty="0" smtClean="0">
                <a:solidFill>
                  <a:srgbClr val="000000"/>
                </a:solidFill>
              </a:rPr>
              <a:t>измеряется в количестве бит, которое можно передать за одну секунду, то есть в битах в секунду (бит/с).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>
              <a:solidFill>
                <a:srgbClr val="00000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43164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rmAutofit/>
          </a:bodyPr>
          <a:lstStyle/>
          <a:p>
            <a:r>
              <a:rPr lang="ru-RU" dirty="0" smtClean="0"/>
              <a:t> </a:t>
            </a:r>
            <a:r>
              <a:rPr lang="ru-RU" dirty="0">
                <a:solidFill>
                  <a:srgbClr val="7030A0"/>
                </a:solidFill>
              </a:rPr>
              <a:t>З</a:t>
            </a:r>
            <a:r>
              <a:rPr lang="ru-RU" dirty="0" smtClean="0">
                <a:solidFill>
                  <a:srgbClr val="7030A0"/>
                </a:solidFill>
              </a:rPr>
              <a:t>адержка </a:t>
            </a:r>
            <a:r>
              <a:rPr lang="ru-RU" dirty="0">
                <a:solidFill>
                  <a:srgbClr val="7030A0"/>
                </a:solidFill>
              </a:rPr>
              <a:t>и </a:t>
            </a:r>
            <a:r>
              <a:rPr lang="ru-RU" dirty="0" err="1">
                <a:solidFill>
                  <a:srgbClr val="7030A0"/>
                </a:solidFill>
              </a:rPr>
              <a:t>джиттер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24744"/>
            <a:ext cx="8496944" cy="5328592"/>
          </a:xfrm>
        </p:spPr>
        <p:txBody>
          <a:bodyPr>
            <a:normAutofit fontScale="92500" lnSpcReduction="20000"/>
          </a:bodyPr>
          <a:lstStyle/>
          <a:p>
            <a:pPr marL="0" indent="0"/>
            <a:r>
              <a:rPr lang="ru-RU" sz="3000" b="1" dirty="0" smtClean="0">
                <a:solidFill>
                  <a:srgbClr val="002060"/>
                </a:solidFill>
              </a:rPr>
              <a:t> Задержка </a:t>
            </a:r>
            <a:r>
              <a:rPr lang="ru-RU" sz="3000" dirty="0">
                <a:solidFill>
                  <a:srgbClr val="000000"/>
                </a:solidFill>
              </a:rPr>
              <a:t>- время, которое занимает передача пакета от источника до адресата.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02060"/>
                </a:solidFill>
              </a:rPr>
              <a:t>Фиксированная задержка </a:t>
            </a:r>
            <a:r>
              <a:rPr lang="ru-RU" dirty="0">
                <a:solidFill>
                  <a:srgbClr val="000000"/>
                </a:solidFill>
              </a:rPr>
              <a:t>- определенное количество времени, которое требуется конкретному процессу, например количество времени, требуемое для помещения бита на передающий носитель.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02060"/>
                </a:solidFill>
              </a:rPr>
              <a:t>Переменная задержка </a:t>
            </a:r>
            <a:r>
              <a:rPr lang="ru-RU" dirty="0">
                <a:solidFill>
                  <a:srgbClr val="000000"/>
                </a:solidFill>
              </a:rPr>
              <a:t>занимает неопределенное количество времени и зависит от таких факторов, как количество текущего трафика.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rgbClr val="002060"/>
                </a:solidFill>
              </a:rPr>
              <a:t>Джиттер</a:t>
            </a:r>
            <a:r>
              <a:rPr lang="ru-RU" dirty="0">
                <a:solidFill>
                  <a:srgbClr val="000000"/>
                </a:solidFill>
              </a:rPr>
              <a:t> - изменение времени задержки полученных пакетов.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0279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7" y="278158"/>
            <a:ext cx="8568952" cy="55855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Инструменты качества обслуживания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="" xmlns:a16="http://schemas.microsoft.com/office/drawing/2014/main" id="{7EA9397D-EE26-440E-8253-EC809CA48C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3971023"/>
              </p:ext>
            </p:extLst>
          </p:nvPr>
        </p:nvGraphicFramePr>
        <p:xfrm>
          <a:off x="323528" y="389186"/>
          <a:ext cx="8635454" cy="6318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842">
                  <a:extLst>
                    <a:ext uri="{9D8B030D-6E8A-4147-A177-3AD203B41FA5}">
                      <a16:colId xmlns="" xmlns:a16="http://schemas.microsoft.com/office/drawing/2014/main" val="3729139006"/>
                    </a:ext>
                  </a:extLst>
                </a:gridCol>
                <a:gridCol w="6697612">
                  <a:extLst>
                    <a:ext uri="{9D8B030D-6E8A-4147-A177-3AD203B41FA5}">
                      <a16:colId xmlns="" xmlns:a16="http://schemas.microsoft.com/office/drawing/2014/main" val="2623022619"/>
                    </a:ext>
                  </a:extLst>
                </a:gridCol>
              </a:tblGrid>
              <a:tr h="624602">
                <a:tc>
                  <a:txBody>
                    <a:bodyPr/>
                    <a:lstStyle/>
                    <a:p>
                      <a:pPr rtl="0"/>
                      <a:r>
                        <a:rPr lang="ru-RU" sz="1800" dirty="0" smtClean="0"/>
                        <a:t>Инструменты</a:t>
                      </a:r>
                    </a:p>
                    <a:p>
                      <a:pPr rtl="0"/>
                      <a:r>
                        <a:rPr lang="ru-RU" sz="1800" dirty="0" smtClean="0"/>
                        <a:t> </a:t>
                      </a:r>
                      <a:r>
                        <a:rPr lang="ru-RU" sz="1800" dirty="0" err="1"/>
                        <a:t>QoS</a:t>
                      </a:r>
                      <a:endParaRPr lang="ru-RU" sz="18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/>
                        <a:t>Описание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="" xmlns:a16="http://schemas.microsoft.com/office/drawing/2014/main" val="2583676789"/>
                  </a:ext>
                </a:extLst>
              </a:tr>
              <a:tr h="1094579">
                <a:tc>
                  <a:txBody>
                    <a:bodyPr/>
                    <a:lstStyle/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800"/>
                        <a:t>Инструменты для классификации и маркировки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/>
                        <a:t>Сеансы или потоки анализируются на принадлежность определенному классу трафика.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/>
                        <a:t>При определении класса трафика пакеты помечены.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="" xmlns:a16="http://schemas.microsoft.com/office/drawing/2014/main" val="3849654457"/>
                  </a:ext>
                </a:extLst>
              </a:tr>
              <a:tr h="2745159">
                <a:tc>
                  <a:txBody>
                    <a:bodyPr/>
                    <a:lstStyle/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800" dirty="0"/>
                        <a:t>Инструменты для предотвращения заторов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/>
                        <a:t>Классам трафика выделяются фрагменты сетевых ресурсов в соответствии с политикой качества обслуживания.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/>
                        <a:t>Политика качества обслуживания </a:t>
                      </a:r>
                      <a:r>
                        <a:rPr lang="ru-RU" sz="1600" dirty="0" smtClean="0"/>
                        <a:t>определяет </a:t>
                      </a:r>
                      <a:r>
                        <a:rPr lang="ru-RU" sz="1600" dirty="0"/>
                        <a:t>порядок удаления, задержки </a:t>
                      </a:r>
                      <a:r>
                        <a:rPr lang="ru-RU" sz="1600"/>
                        <a:t>или </a:t>
                      </a:r>
                      <a:r>
                        <a:rPr lang="ru-RU" sz="1600" baseline="0" smtClean="0"/>
                        <a:t> изменение </a:t>
                      </a:r>
                      <a:r>
                        <a:rPr lang="ru-RU" sz="1600" dirty="0" smtClean="0"/>
                        <a:t>маркировки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/>
                        <a:t>некоторого трафика для предотвращения заторов.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dirty="0"/>
                        <a:t>Основным инструментом предотвращения перегрузки является </a:t>
                      </a:r>
                      <a:r>
                        <a:rPr lang="ru-RU" sz="1600" dirty="0">
                          <a:solidFill>
                            <a:srgbClr val="7030A0"/>
                          </a:solidFill>
                        </a:rPr>
                        <a:t>WRED</a:t>
                      </a:r>
                      <a:r>
                        <a:rPr lang="ru-RU" sz="1600" dirty="0" smtClean="0">
                          <a:solidFill>
                            <a:srgbClr val="7030A0"/>
                          </a:solidFill>
                        </a:rPr>
                        <a:t>,</a:t>
                      </a:r>
                      <a:endParaRPr lang="en-US" sz="1600" dirty="0" smtClean="0">
                        <a:solidFill>
                          <a:srgbClr val="7030A0"/>
                        </a:solidFill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ru-RU" sz="1600" dirty="0" smtClean="0"/>
                        <a:t> </a:t>
                      </a:r>
                      <a:r>
                        <a:rPr lang="ru-RU" sz="1600" dirty="0"/>
                        <a:t>он используется для регулировки трафика данных TCP с целью оптимизации пропускной способности и предотвращения </a:t>
                      </a:r>
                      <a:r>
                        <a:rPr lang="ru-RU" sz="1600" dirty="0" smtClean="0"/>
                        <a:t>отбрасывания </a:t>
                      </a:r>
                      <a:r>
                        <a:rPr lang="ru-RU" sz="1600" dirty="0"/>
                        <a:t>последнего элемента из-за переполнения очереди</a:t>
                      </a:r>
                      <a:r>
                        <a:rPr lang="ru-RU" sz="1600" dirty="0" smtClean="0"/>
                        <a:t>.</a:t>
                      </a:r>
                      <a:endParaRPr lang="en-US" sz="1600" dirty="0" smtClean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RED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дисциплина случайного раннего обнаружение, когда обслуживание идет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по правилу </a:t>
                      </a: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FIFO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, но при достижении порогового значения вновь поступающие пакеты отбрасываются.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endParaRPr lang="ru-RU" sz="16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="" xmlns:a16="http://schemas.microsoft.com/office/drawing/2014/main" val="1615639436"/>
                  </a:ext>
                </a:extLst>
              </a:tr>
              <a:tr h="1347173">
                <a:tc>
                  <a:txBody>
                    <a:bodyPr/>
                    <a:lstStyle/>
                    <a:p>
                      <a:pPr marL="0" indent="0" rtl="0">
                        <a:buFont typeface="Arial" panose="020B0604020202020204" pitchFamily="34" charset="0"/>
                        <a:buNone/>
                      </a:pPr>
                      <a:r>
                        <a:rPr lang="ru-RU" sz="1800"/>
                        <a:t>Инструменты для управления заторами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/>
                        <a:t>Когда объем трафика превышает доступные сетевые ресурсы, трафик ставится в очередь ожидания доступных ресурсов.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/>
                        <a:t>Для управления заторами </a:t>
                      </a:r>
                      <a:r>
                        <a:rPr lang="ru-RU" sz="1600" dirty="0" smtClean="0"/>
                        <a:t> </a:t>
                      </a:r>
                      <a:r>
                        <a:rPr lang="ru-RU" sz="1600" dirty="0"/>
                        <a:t>обычно используются </a:t>
                      </a:r>
                      <a:r>
                        <a:rPr lang="ru-RU" sz="1600" dirty="0" smtClean="0"/>
                        <a:t>алгоритмы обслуживания очереди  -  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>
                          <a:solidFill>
                            <a:srgbClr val="7030A0"/>
                          </a:solidFill>
                        </a:rPr>
                        <a:t>CBWFQ </a:t>
                      </a:r>
                      <a:r>
                        <a:rPr lang="ru-RU" sz="1600" dirty="0">
                          <a:solidFill>
                            <a:srgbClr val="7030A0"/>
                          </a:solidFill>
                        </a:rPr>
                        <a:t>и LLQ.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="" xmlns:a16="http://schemas.microsoft.com/office/drawing/2014/main" val="661493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18423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0"/>
            <a:ext cx="8168455" cy="692696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Инструменты качества обслуживания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9046" y="620689"/>
            <a:ext cx="8457409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</a:rPr>
              <a:t>На рисунке  показана последовательность использования </a:t>
            </a:r>
            <a:r>
              <a:rPr lang="ru-RU" sz="2400" dirty="0" smtClean="0">
                <a:solidFill>
                  <a:srgbClr val="000000"/>
                </a:solidFill>
              </a:rPr>
              <a:t> </a:t>
            </a:r>
            <a:r>
              <a:rPr lang="ru-RU" sz="2400" dirty="0">
                <a:solidFill>
                  <a:srgbClr val="000000"/>
                </a:solidFill>
              </a:rPr>
              <a:t>трех </a:t>
            </a:r>
            <a:r>
              <a:rPr lang="ru-RU" sz="2400" dirty="0" smtClean="0">
                <a:solidFill>
                  <a:srgbClr val="000000"/>
                </a:solidFill>
              </a:rPr>
              <a:t>инструментов:</a:t>
            </a:r>
            <a:endParaRPr lang="ru-RU" sz="24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Входные пакеты (серые квадраты) классифицируются, а их IP-заголовки маркируются.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Чтобы избежать заторов, пакетам назначаются ресурсы на основании заданных политик.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После этого пакеты ставятся в очередь и пересылаются из выходного интерфейса на основании заданной политики качества </a:t>
            </a:r>
            <a:r>
              <a:rPr lang="ru-RU" sz="2400" dirty="0" smtClean="0">
                <a:solidFill>
                  <a:srgbClr val="000000"/>
                </a:solidFill>
              </a:rPr>
              <a:t>обслуживания.</a:t>
            </a:r>
            <a:endParaRPr lang="ru-RU" sz="2400" dirty="0">
              <a:solidFill>
                <a:srgbClr val="000000"/>
              </a:solidFill>
            </a:endParaRPr>
          </a:p>
          <a:p>
            <a:endParaRPr lang="ru-RU" dirty="0"/>
          </a:p>
        </p:txBody>
      </p:sp>
      <p:pic>
        <p:nvPicPr>
          <p:cNvPr id="4" name="Picture 1">
            <a:extLst>
              <a:ext uri="{FF2B5EF4-FFF2-40B4-BE49-F238E27FC236}">
                <a16:creationId xmlns="" xmlns:a16="http://schemas.microsoft.com/office/drawing/2014/main" id="{DA5A77B4-DD31-45EF-81C3-3E142EC2AA7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581128"/>
            <a:ext cx="9143999" cy="201622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01084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80728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Задержка </a:t>
            </a:r>
            <a:r>
              <a:rPr lang="ru-RU" dirty="0">
                <a:solidFill>
                  <a:srgbClr val="7030A0"/>
                </a:solidFill>
              </a:rPr>
              <a:t>и </a:t>
            </a:r>
            <a:r>
              <a:rPr lang="ru-RU" dirty="0" err="1">
                <a:solidFill>
                  <a:srgbClr val="7030A0"/>
                </a:solidFill>
              </a:rPr>
              <a:t>джиттер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xmlns="" id="{3D1E8862-A376-45A7-AC00-3A951DBE91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3400454902"/>
              </p:ext>
            </p:extLst>
          </p:nvPr>
        </p:nvGraphicFramePr>
        <p:xfrm>
          <a:off x="251521" y="908719"/>
          <a:ext cx="8496944" cy="577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973">
                  <a:extLst>
                    <a:ext uri="{9D8B030D-6E8A-4147-A177-3AD203B41FA5}">
                      <a16:colId xmlns:a16="http://schemas.microsoft.com/office/drawing/2014/main" xmlns="" val="3729139006"/>
                    </a:ext>
                  </a:extLst>
                </a:gridCol>
                <a:gridCol w="6612971">
                  <a:extLst>
                    <a:ext uri="{9D8B030D-6E8A-4147-A177-3AD203B41FA5}">
                      <a16:colId xmlns:a16="http://schemas.microsoft.com/office/drawing/2014/main" xmlns="" val="2623022619"/>
                    </a:ext>
                  </a:extLst>
                </a:gridCol>
              </a:tblGrid>
              <a:tr h="521176">
                <a:tc>
                  <a:txBody>
                    <a:bodyPr/>
                    <a:lstStyle/>
                    <a:p>
                      <a:pPr rtl="0"/>
                      <a:r>
                        <a:rPr lang="ru-RU" sz="1600" dirty="0"/>
                        <a:t>Задержка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/>
                        <a:t>Описание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583676789"/>
                  </a:ext>
                </a:extLst>
              </a:tr>
              <a:tr h="994048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Задержка кодирования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 dirty="0"/>
                        <a:t>Фиксированное время, необходимое для сжатия данных в источнике перед передачей на первое устройство, работающее по </a:t>
                      </a:r>
                      <a:r>
                        <a:rPr lang="ru-RU" sz="1600" dirty="0" smtClean="0"/>
                        <a:t>Интернету</a:t>
                      </a:r>
                    </a:p>
                    <a:p>
                      <a:pPr rtl="0"/>
                      <a:r>
                        <a:rPr lang="ru-RU" sz="1600" dirty="0" smtClean="0"/>
                        <a:t> </a:t>
                      </a:r>
                      <a:r>
                        <a:rPr lang="ru-RU" sz="1600" dirty="0"/>
                        <a:t>(как правило, коммутатор).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3849654457"/>
                  </a:ext>
                </a:extLst>
              </a:tr>
              <a:tr h="699514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Задержка пакетирования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/>
                        <a:t>Фиксированное </a:t>
                      </a:r>
                      <a:r>
                        <a:rPr lang="ru-RU" sz="1600" smtClean="0"/>
                        <a:t>время</a:t>
                      </a:r>
                      <a:r>
                        <a:rPr lang="ru-RU" sz="1600" baseline="0" smtClean="0"/>
                        <a:t> </a:t>
                      </a:r>
                      <a:r>
                        <a:rPr lang="ru-RU" sz="1600" smtClean="0"/>
                        <a:t>для </a:t>
                      </a:r>
                      <a:r>
                        <a:rPr lang="ru-RU" sz="1600"/>
                        <a:t>инкапсуляции пакета со всеми необходимыми данными заголовка.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35735172"/>
                  </a:ext>
                </a:extLst>
              </a:tr>
              <a:tr h="868628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Задержка в очереди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/>
                        <a:t>Изменяемый период времени, в течение которого кадр или пакет ожидает передачи по каналу.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354468046"/>
                  </a:ext>
                </a:extLst>
              </a:tr>
              <a:tr h="699514">
                <a:tc>
                  <a:txBody>
                    <a:bodyPr/>
                    <a:lstStyle/>
                    <a:p>
                      <a:pPr rtl="0"/>
                      <a:r>
                        <a:rPr lang="ru-RU" sz="1600" dirty="0">
                          <a:solidFill>
                            <a:srgbClr val="000000"/>
                          </a:solidFill>
                        </a:rPr>
                        <a:t>Задержка </a:t>
                      </a:r>
                      <a:r>
                        <a:rPr lang="ru-RU" sz="1600" baseline="0" dirty="0" smtClean="0">
                          <a:solidFill>
                            <a:srgbClr val="000000"/>
                          </a:solidFill>
                        </a:rPr>
                        <a:t> ре</a:t>
                      </a:r>
                      <a:r>
                        <a:rPr lang="ru-RU" sz="1600" dirty="0" smtClean="0">
                          <a:solidFill>
                            <a:srgbClr val="000000"/>
                          </a:solidFill>
                        </a:rPr>
                        <a:t>ализации</a:t>
                      </a:r>
                      <a:endParaRPr lang="ru-RU" sz="1600" dirty="0">
                        <a:solidFill>
                          <a:srgbClr val="000000"/>
                        </a:solidFill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/>
                        <a:t>Фиксированный период времени, в течение которого кадр передается в канал.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458107787"/>
                  </a:ext>
                </a:extLst>
              </a:tr>
              <a:tr h="994048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Задержка распространения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/>
                        <a:t>Изменяемое время, необходимое для передачи кадра между источником и получателем.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670050751"/>
                  </a:ext>
                </a:extLst>
              </a:tr>
              <a:tr h="994048">
                <a:tc>
                  <a:txBody>
                    <a:bodyPr/>
                    <a:lstStyle/>
                    <a:p>
                      <a:pPr rtl="0"/>
                      <a:r>
                        <a:rPr lang="ru-RU" sz="1600">
                          <a:solidFill>
                            <a:srgbClr val="000000"/>
                          </a:solidFill>
                        </a:rPr>
                        <a:t>Задержка устранения джиттера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600" dirty="0"/>
                        <a:t>Фиксированный период времени, необходимый для буферизации потока пакетов и последующей отправки их через равные интервалы.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807720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4864760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784976" cy="864096"/>
          </a:xfrm>
        </p:spPr>
        <p:txBody>
          <a:bodyPr>
            <a:normAutofit fontScale="90000"/>
          </a:bodyPr>
          <a:lstStyle/>
          <a:p>
            <a:r>
              <a:rPr lang="ru-RU" sz="4000" b="1" dirty="0" smtClean="0">
                <a:solidFill>
                  <a:srgbClr val="7030A0"/>
                </a:solidFill>
              </a:rPr>
              <a:t>Параметры  </a:t>
            </a:r>
            <a:r>
              <a:rPr lang="en-US" sz="4000" b="1" dirty="0" err="1" smtClean="0">
                <a:solidFill>
                  <a:srgbClr val="7030A0"/>
                </a:solidFill>
              </a:rPr>
              <a:t>QoS</a:t>
            </a:r>
            <a:r>
              <a:rPr lang="ru-RU" sz="4000" b="1" dirty="0" smtClean="0">
                <a:solidFill>
                  <a:srgbClr val="7030A0"/>
                </a:solidFill>
              </a:rPr>
              <a:t> трафика  в пакетных сетях</a:t>
            </a:r>
            <a:endParaRPr lang="ru-RU" sz="4000" b="1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196752"/>
            <a:ext cx="8820472" cy="566124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sz="4600" dirty="0" smtClean="0"/>
              <a:t>Рассмотрев две группы параметров , можно выделить </a:t>
            </a:r>
            <a:r>
              <a:rPr lang="ru-RU" sz="4600" i="1" dirty="0" smtClean="0"/>
              <a:t>основные параметры </a:t>
            </a:r>
            <a:r>
              <a:rPr lang="en-US" sz="4600" i="1" dirty="0" err="1" smtClean="0"/>
              <a:t>QoS</a:t>
            </a:r>
            <a:r>
              <a:rPr lang="ru-RU" sz="4600" i="1" dirty="0" smtClean="0"/>
              <a:t> трафика:</a:t>
            </a:r>
          </a:p>
          <a:p>
            <a:pPr>
              <a:buNone/>
            </a:pPr>
            <a:r>
              <a:rPr lang="ru-RU" sz="4600" i="1" dirty="0" smtClean="0"/>
              <a:t> </a:t>
            </a:r>
            <a:endParaRPr lang="ru-RU" sz="4600" dirty="0" smtClean="0"/>
          </a:p>
          <a:p>
            <a:r>
              <a:rPr lang="ru-RU" sz="4600" dirty="0" smtClean="0">
                <a:solidFill>
                  <a:srgbClr val="002060"/>
                </a:solidFill>
              </a:rPr>
              <a:t>Задержка переноса пакетов </a:t>
            </a:r>
            <a:r>
              <a:rPr lang="ru-RU" sz="4600" dirty="0" smtClean="0"/>
              <a:t>измеряется в мс</a:t>
            </a:r>
          </a:p>
          <a:p>
            <a:r>
              <a:rPr lang="ru-RU" sz="4600" dirty="0" err="1" smtClean="0">
                <a:solidFill>
                  <a:srgbClr val="002060"/>
                </a:solidFill>
              </a:rPr>
              <a:t>Джиттер</a:t>
            </a:r>
            <a:r>
              <a:rPr lang="ru-RU" sz="4600" dirty="0" smtClean="0"/>
              <a:t> – вариация задержки, т.е. колебания задержки при передачи пакетов</a:t>
            </a:r>
          </a:p>
          <a:p>
            <a:pPr lvl="0"/>
            <a:r>
              <a:rPr lang="ru-RU" sz="4600" dirty="0" smtClean="0">
                <a:solidFill>
                  <a:srgbClr val="002060"/>
                </a:solidFill>
              </a:rPr>
              <a:t>Коэффициент потери пакетов </a:t>
            </a:r>
          </a:p>
          <a:p>
            <a:r>
              <a:rPr lang="ru-RU" sz="4600" dirty="0" smtClean="0">
                <a:solidFill>
                  <a:srgbClr val="002060"/>
                </a:solidFill>
              </a:rPr>
              <a:t> Коэффициент ошибок по пакетам</a:t>
            </a:r>
          </a:p>
          <a:p>
            <a:pPr>
              <a:buNone/>
            </a:pPr>
            <a:r>
              <a:rPr lang="ru-RU" sz="4600" dirty="0" smtClean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r>
              <a:rPr lang="en-US" sz="4600" dirty="0" err="1" smtClean="0">
                <a:solidFill>
                  <a:srgbClr val="002060"/>
                </a:solidFill>
              </a:rPr>
              <a:t>QoS</a:t>
            </a:r>
            <a:r>
              <a:rPr lang="ru-RU" sz="4600" dirty="0" smtClean="0">
                <a:solidFill>
                  <a:srgbClr val="002060"/>
                </a:solidFill>
              </a:rPr>
              <a:t> </a:t>
            </a:r>
            <a:r>
              <a:rPr lang="en-US" sz="4600" dirty="0" smtClean="0"/>
              <a:t>- </a:t>
            </a:r>
            <a:r>
              <a:rPr lang="ru-RU" sz="4600" dirty="0" smtClean="0"/>
              <a:t>это вероятность того , что сеть соответствует заданному соглашению о трафике.</a:t>
            </a:r>
          </a:p>
          <a:p>
            <a:pPr lvl="0"/>
            <a:endParaRPr lang="ru-RU" sz="4600" dirty="0" smtClean="0">
              <a:solidFill>
                <a:srgbClr val="002060"/>
              </a:solidFill>
            </a:endParaRPr>
          </a:p>
          <a:p>
            <a:pPr lvl="0"/>
            <a:endParaRPr lang="ru-RU" sz="4600" dirty="0" smtClean="0">
              <a:solidFill>
                <a:srgbClr val="002060"/>
              </a:solidFill>
            </a:endParaRPr>
          </a:p>
          <a:p>
            <a:endParaRPr lang="ru-RU" sz="4400" dirty="0" smtClean="0"/>
          </a:p>
          <a:p>
            <a:endParaRPr lang="ru-RU" sz="4400" dirty="0" smtClean="0"/>
          </a:p>
          <a:p>
            <a:endParaRPr lang="ru-RU" sz="4400" dirty="0" smtClean="0"/>
          </a:p>
          <a:p>
            <a:endParaRPr lang="ru-RU" sz="4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640"/>
            <a:ext cx="9144000" cy="1152128"/>
          </a:xfrm>
        </p:spPr>
        <p:txBody>
          <a:bodyPr>
            <a:noAutofit/>
          </a:bodyPr>
          <a:lstStyle/>
          <a:p>
            <a:pPr algn="l" eaLnBrk="1" hangingPunct="1"/>
            <a:r>
              <a:rPr lang="ru-RU" sz="2800" dirty="0" smtClean="0">
                <a:solidFill>
                  <a:srgbClr val="7030A0"/>
                </a:solidFill>
              </a:rPr>
              <a:t>Показатели качества обслуживания, учитываемые при передаче </a:t>
            </a:r>
            <a:r>
              <a:rPr lang="ru-RU" sz="2800" dirty="0" err="1" smtClean="0">
                <a:solidFill>
                  <a:srgbClr val="7030A0"/>
                </a:solidFill>
              </a:rPr>
              <a:t>мультимедийного</a:t>
            </a:r>
            <a:r>
              <a:rPr lang="ru-RU" sz="2800" dirty="0" smtClean="0">
                <a:solidFill>
                  <a:srgbClr val="7030A0"/>
                </a:solidFill>
              </a:rPr>
              <a:t> </a:t>
            </a:r>
            <a:r>
              <a:rPr lang="ru-RU" sz="2800" dirty="0" err="1" smtClean="0">
                <a:solidFill>
                  <a:srgbClr val="7030A0"/>
                </a:solidFill>
              </a:rPr>
              <a:t>трафика,и</a:t>
            </a:r>
            <a:r>
              <a:rPr lang="ru-RU" sz="2800" dirty="0" smtClean="0">
                <a:solidFill>
                  <a:srgbClr val="7030A0"/>
                </a:solidFill>
              </a:rPr>
              <a:t> </a:t>
            </a:r>
            <a:r>
              <a:rPr lang="ru-RU" sz="2800" dirty="0" smtClean="0">
                <a:solidFill>
                  <a:srgbClr val="7030A0"/>
                </a:solidFill>
              </a:rPr>
              <a:t>механизмы их формирования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2627313" y="2924175"/>
            <a:ext cx="2447925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Очереди в узлах</a:t>
            </a: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2627784" y="5229200"/>
            <a:ext cx="2808311" cy="50485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dirty="0"/>
              <a:t>Перегрузки в </a:t>
            </a:r>
            <a:r>
              <a:rPr lang="ru-RU" dirty="0" smtClean="0"/>
              <a:t>узлах, затор</a:t>
            </a:r>
            <a:endParaRPr lang="ru-RU" dirty="0"/>
          </a:p>
        </p:txBody>
      </p:sp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3132138" y="1484313"/>
            <a:ext cx="16383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Влияние сети</a:t>
            </a: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6011863" y="1484313"/>
            <a:ext cx="23574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ru-RU"/>
              <a:t>Влияние оконечного</a:t>
            </a:r>
          </a:p>
          <a:p>
            <a:pPr algn="ctr"/>
            <a:r>
              <a:rPr lang="ru-RU"/>
              <a:t>устройства</a:t>
            </a:r>
          </a:p>
        </p:txBody>
      </p:sp>
      <p:sp>
        <p:nvSpPr>
          <p:cNvPr id="19464" name="Rectangle 7"/>
          <p:cNvSpPr>
            <a:spLocks noChangeArrowheads="1"/>
          </p:cNvSpPr>
          <p:nvPr/>
        </p:nvSpPr>
        <p:spPr bwMode="auto">
          <a:xfrm>
            <a:off x="2700338" y="2132013"/>
            <a:ext cx="2376487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 dirty="0"/>
              <a:t>Задержка </a:t>
            </a:r>
            <a:endParaRPr lang="en-US" dirty="0"/>
          </a:p>
          <a:p>
            <a:pPr algn="ctr"/>
            <a:r>
              <a:rPr lang="ru-RU" dirty="0"/>
              <a:t>распространения</a:t>
            </a:r>
          </a:p>
        </p:txBody>
      </p:sp>
      <p:sp>
        <p:nvSpPr>
          <p:cNvPr id="19465" name="Rectangle 8"/>
          <p:cNvSpPr>
            <a:spLocks noChangeArrowheads="1"/>
          </p:cNvSpPr>
          <p:nvPr/>
        </p:nvSpPr>
        <p:spPr bwMode="auto">
          <a:xfrm>
            <a:off x="2843213" y="5876925"/>
            <a:ext cx="2305050" cy="36036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Ошибки в канале</a:t>
            </a:r>
          </a:p>
        </p:txBody>
      </p:sp>
      <p:sp>
        <p:nvSpPr>
          <p:cNvPr id="19466" name="Rectangle 9"/>
          <p:cNvSpPr>
            <a:spLocks noChangeArrowheads="1"/>
          </p:cNvSpPr>
          <p:nvPr/>
        </p:nvSpPr>
        <p:spPr bwMode="auto">
          <a:xfrm>
            <a:off x="5651500" y="2132013"/>
            <a:ext cx="316865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Алгоритм </a:t>
            </a:r>
          </a:p>
          <a:p>
            <a:pPr algn="ctr"/>
            <a:r>
              <a:rPr lang="ru-RU"/>
              <a:t>кодирования/декодирования</a:t>
            </a:r>
          </a:p>
        </p:txBody>
      </p:sp>
      <p:sp>
        <p:nvSpPr>
          <p:cNvPr id="19467" name="Rectangle 10"/>
          <p:cNvSpPr>
            <a:spLocks noChangeArrowheads="1"/>
          </p:cNvSpPr>
          <p:nvPr/>
        </p:nvSpPr>
        <p:spPr bwMode="auto">
          <a:xfrm>
            <a:off x="5651500" y="2779713"/>
            <a:ext cx="316865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Механизм пакетизации</a:t>
            </a:r>
          </a:p>
        </p:txBody>
      </p:sp>
      <p:sp>
        <p:nvSpPr>
          <p:cNvPr id="19468" name="Rectangle 11"/>
          <p:cNvSpPr>
            <a:spLocks noChangeArrowheads="1"/>
          </p:cNvSpPr>
          <p:nvPr/>
        </p:nvSpPr>
        <p:spPr bwMode="auto">
          <a:xfrm>
            <a:off x="5651500" y="3211513"/>
            <a:ext cx="3168650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Задержка джиттер-буфера</a:t>
            </a:r>
          </a:p>
        </p:txBody>
      </p:sp>
      <p:sp>
        <p:nvSpPr>
          <p:cNvPr id="19469" name="Rectangle 12"/>
          <p:cNvSpPr>
            <a:spLocks noChangeArrowheads="1"/>
          </p:cNvSpPr>
          <p:nvPr/>
        </p:nvSpPr>
        <p:spPr bwMode="auto">
          <a:xfrm>
            <a:off x="5651500" y="3643313"/>
            <a:ext cx="316865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Алгоритм </a:t>
            </a:r>
          </a:p>
          <a:p>
            <a:pPr algn="ctr"/>
            <a:r>
              <a:rPr lang="ru-RU"/>
              <a:t>нивелирования потерь</a:t>
            </a:r>
          </a:p>
        </p:txBody>
      </p:sp>
      <p:sp>
        <p:nvSpPr>
          <p:cNvPr id="19470" name="Rectangle 13"/>
          <p:cNvSpPr>
            <a:spLocks noChangeArrowheads="1"/>
          </p:cNvSpPr>
          <p:nvPr/>
        </p:nvSpPr>
        <p:spPr bwMode="auto">
          <a:xfrm>
            <a:off x="5651500" y="5373688"/>
            <a:ext cx="3168650" cy="9366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Превышение допустимой</a:t>
            </a:r>
          </a:p>
          <a:p>
            <a:pPr algn="ctr"/>
            <a:r>
              <a:rPr lang="ru-RU"/>
              <a:t>задержки</a:t>
            </a:r>
          </a:p>
        </p:txBody>
      </p:sp>
      <p:sp>
        <p:nvSpPr>
          <p:cNvPr id="19471" name="Rectangle 14"/>
          <p:cNvSpPr>
            <a:spLocks noChangeArrowheads="1"/>
          </p:cNvSpPr>
          <p:nvPr/>
        </p:nvSpPr>
        <p:spPr bwMode="auto">
          <a:xfrm>
            <a:off x="323850" y="2203450"/>
            <a:ext cx="1655763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ЗАДЕРЖКИ</a:t>
            </a:r>
          </a:p>
        </p:txBody>
      </p:sp>
      <p:sp>
        <p:nvSpPr>
          <p:cNvPr id="19472" name="Rectangle 15"/>
          <p:cNvSpPr>
            <a:spLocks noChangeArrowheads="1"/>
          </p:cNvSpPr>
          <p:nvPr/>
        </p:nvSpPr>
        <p:spPr bwMode="auto">
          <a:xfrm>
            <a:off x="323850" y="5373688"/>
            <a:ext cx="1655763" cy="720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ПОТЕРИ</a:t>
            </a:r>
          </a:p>
        </p:txBody>
      </p:sp>
      <p:sp>
        <p:nvSpPr>
          <p:cNvPr id="19473" name="Text Box 16"/>
          <p:cNvSpPr txBox="1">
            <a:spLocks noChangeArrowheads="1"/>
          </p:cNvSpPr>
          <p:nvPr/>
        </p:nvSpPr>
        <p:spPr bwMode="auto">
          <a:xfrm>
            <a:off x="250825" y="3860800"/>
            <a:ext cx="1947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Показатели </a:t>
            </a:r>
            <a:r>
              <a:rPr lang="en-US"/>
              <a:t>QoS</a:t>
            </a:r>
            <a:endParaRPr lang="ru-RU"/>
          </a:p>
        </p:txBody>
      </p:sp>
      <p:sp>
        <p:nvSpPr>
          <p:cNvPr id="19474" name="Line 17"/>
          <p:cNvSpPr>
            <a:spLocks noChangeShapeType="1"/>
          </p:cNvSpPr>
          <p:nvPr/>
        </p:nvSpPr>
        <p:spPr bwMode="auto">
          <a:xfrm>
            <a:off x="1116013" y="4292600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9475" name="Line 18"/>
          <p:cNvSpPr>
            <a:spLocks noChangeShapeType="1"/>
          </p:cNvSpPr>
          <p:nvPr/>
        </p:nvSpPr>
        <p:spPr bwMode="auto">
          <a:xfrm flipV="1">
            <a:off x="1116013" y="2995613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9476" name="Line 19"/>
          <p:cNvSpPr>
            <a:spLocks noChangeShapeType="1"/>
          </p:cNvSpPr>
          <p:nvPr/>
        </p:nvSpPr>
        <p:spPr bwMode="auto">
          <a:xfrm>
            <a:off x="2484438" y="1771650"/>
            <a:ext cx="0" cy="46085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9477" name="Line 20"/>
          <p:cNvSpPr>
            <a:spLocks noChangeShapeType="1"/>
          </p:cNvSpPr>
          <p:nvPr/>
        </p:nvSpPr>
        <p:spPr bwMode="auto">
          <a:xfrm>
            <a:off x="5435600" y="1843088"/>
            <a:ext cx="0" cy="46085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9478" name="Rectangle 21"/>
          <p:cNvSpPr>
            <a:spLocks noChangeArrowheads="1"/>
          </p:cNvSpPr>
          <p:nvPr/>
        </p:nvSpPr>
        <p:spPr bwMode="auto">
          <a:xfrm>
            <a:off x="5651500" y="4292600"/>
            <a:ext cx="316865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ru-RU"/>
              <a:t>Механизмы медленного </a:t>
            </a:r>
          </a:p>
          <a:p>
            <a:pPr algn="ctr"/>
            <a:r>
              <a:rPr lang="ru-RU"/>
              <a:t>старта и квитирования</a:t>
            </a:r>
          </a:p>
        </p:txBody>
      </p:sp>
      <p:graphicFrame>
        <p:nvGraphicFramePr>
          <p:cNvPr id="19458" name="Object 6"/>
          <p:cNvGraphicFramePr>
            <a:graphicFrameLocks noChangeAspect="1"/>
          </p:cNvGraphicFramePr>
          <p:nvPr/>
        </p:nvGraphicFramePr>
        <p:xfrm flipH="1">
          <a:off x="9684568" y="6858000"/>
          <a:ext cx="216024" cy="45719"/>
        </p:xfrm>
        <a:graphic>
          <a:graphicData uri="http://schemas.openxmlformats.org/presentationml/2006/ole">
            <p:oleObj spid="_x0000_s233496" name="Visio" r:id="rId4" imgW="6697599" imgH="577596" progId="">
              <p:embed/>
            </p:oleObj>
          </a:graphicData>
        </a:graphic>
      </p:graphicFrame>
      <p:sp>
        <p:nvSpPr>
          <p:cNvPr id="19480" name="Text Box 8"/>
          <p:cNvSpPr txBox="1">
            <a:spLocks noChangeArrowheads="1"/>
          </p:cNvSpPr>
          <p:nvPr/>
        </p:nvSpPr>
        <p:spPr bwMode="auto">
          <a:xfrm flipV="1">
            <a:off x="0" y="6858000"/>
            <a:ext cx="27717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1400" dirty="0" smtClean="0"/>
              <a:t>ч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88641"/>
            <a:ext cx="7793038" cy="792087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Транспортная сеть узла сети</a:t>
            </a:r>
          </a:p>
        </p:txBody>
      </p:sp>
      <p:graphicFrame>
        <p:nvGraphicFramePr>
          <p:cNvPr id="41987" name="Object 2"/>
          <p:cNvGraphicFramePr>
            <a:graphicFrameLocks noGrp="1" noChangeAspect="1"/>
          </p:cNvGraphicFramePr>
          <p:nvPr>
            <p:ph type="dgm" idx="1"/>
          </p:nvPr>
        </p:nvGraphicFramePr>
        <p:xfrm>
          <a:off x="539552" y="1340768"/>
          <a:ext cx="8323014" cy="5184502"/>
        </p:xfrm>
        <a:graphic>
          <a:graphicData uri="http://schemas.openxmlformats.org/presentationml/2006/ole">
            <p:oleObj spid="_x0000_s240664" name="VISIO" r:id="rId3" imgW="7813548" imgH="3742944" progId="">
              <p:embed/>
            </p:oleObj>
          </a:graphicData>
        </a:graphic>
      </p:graphicFrame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115212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 dirty="0" smtClean="0">
                <a:solidFill>
                  <a:srgbClr val="7030A0"/>
                </a:solidFill>
              </a:rPr>
              <a:t>Требования для передача данных в реальном времени по </a:t>
            </a:r>
            <a:r>
              <a:rPr lang="en-US" sz="3600" dirty="0" smtClean="0">
                <a:solidFill>
                  <a:srgbClr val="7030A0"/>
                </a:solidFill>
              </a:rPr>
              <a:t>IP</a:t>
            </a:r>
            <a:r>
              <a:rPr lang="ru-RU" sz="3600" dirty="0" smtClean="0">
                <a:solidFill>
                  <a:srgbClr val="7030A0"/>
                </a:solidFill>
              </a:rPr>
              <a:t>-сетям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528" y="1484784"/>
            <a:ext cx="8820472" cy="5085208"/>
          </a:xfrm>
        </p:spPr>
        <p:txBody>
          <a:bodyPr>
            <a:normAutofit/>
          </a:bodyPr>
          <a:lstStyle/>
          <a:p>
            <a:pPr eaLnBrk="1" hangingPunct="1"/>
            <a:r>
              <a:rPr lang="ru-RU" dirty="0" smtClean="0">
                <a:solidFill>
                  <a:srgbClr val="002060"/>
                </a:solidFill>
              </a:rPr>
              <a:t>Необходимо обеспечить</a:t>
            </a:r>
            <a:r>
              <a:rPr lang="ru-RU" dirty="0" smtClean="0"/>
              <a:t>:</a:t>
            </a:r>
          </a:p>
          <a:p>
            <a:pPr eaLnBrk="1" hangingPunct="1">
              <a:buNone/>
            </a:pPr>
            <a:r>
              <a:rPr lang="ru-RU" dirty="0" smtClean="0"/>
              <a:t>        - минимальное время задержки пакетов</a:t>
            </a:r>
          </a:p>
          <a:p>
            <a:pPr eaLnBrk="1" hangingPunct="1">
              <a:buNone/>
            </a:pPr>
            <a:r>
              <a:rPr lang="ru-RU" dirty="0" smtClean="0"/>
              <a:t>       - небольшое значение </a:t>
            </a:r>
            <a:r>
              <a:rPr lang="ru-RU" dirty="0" err="1" smtClean="0"/>
              <a:t>джиттера</a:t>
            </a:r>
            <a:r>
              <a:rPr lang="ru-RU" dirty="0" smtClean="0"/>
              <a:t>;</a:t>
            </a:r>
          </a:p>
          <a:p>
            <a:r>
              <a:rPr lang="ru-RU" dirty="0" smtClean="0"/>
              <a:t>    </a:t>
            </a:r>
            <a:r>
              <a:rPr lang="ru-RU" dirty="0" smtClean="0">
                <a:solidFill>
                  <a:srgbClr val="002060"/>
                </a:solidFill>
              </a:rPr>
              <a:t>Необходимо контролировать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     -  последовательность пакетов;</a:t>
            </a:r>
          </a:p>
          <a:p>
            <a:pPr>
              <a:buNone/>
            </a:pPr>
            <a:r>
              <a:rPr lang="ru-RU" dirty="0" smtClean="0"/>
              <a:t>          -   потери пакетов</a:t>
            </a:r>
          </a:p>
          <a:p>
            <a:pPr>
              <a:buNone/>
            </a:pPr>
            <a:r>
              <a:rPr lang="ru-RU" dirty="0" smtClean="0"/>
              <a:t>          - время задержки</a:t>
            </a:r>
          </a:p>
          <a:p>
            <a:pPr eaLnBrk="1" hangingPunct="1"/>
            <a:endParaRPr lang="ru-RU" dirty="0" smtClean="0"/>
          </a:p>
          <a:p>
            <a:pPr eaLnBrk="1" hangingPunct="1"/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>
          <a:xfrm>
            <a:off x="285750" y="274638"/>
            <a:ext cx="8715375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Отличие между уровнем приоритета и классом обслуживания</a:t>
            </a:r>
            <a:r>
              <a:rPr lang="ru-RU" dirty="0" smtClean="0"/>
              <a:t>:</a:t>
            </a:r>
          </a:p>
        </p:txBody>
      </p:sp>
      <p:sp>
        <p:nvSpPr>
          <p:cNvPr id="19459" name="Содержимое 2"/>
          <p:cNvSpPr>
            <a:spLocks noGrp="1"/>
          </p:cNvSpPr>
          <p:nvPr>
            <p:ph sz="quarter" idx="1"/>
          </p:nvPr>
        </p:nvSpPr>
        <p:spPr>
          <a:xfrm>
            <a:off x="285750" y="1447800"/>
            <a:ext cx="8606730" cy="5149552"/>
          </a:xfrm>
        </p:spPr>
        <p:txBody>
          <a:bodyPr>
            <a:normAutofit fontScale="92500" lnSpcReduction="20000"/>
          </a:bodyPr>
          <a:lstStyle/>
          <a:p>
            <a:r>
              <a:rPr lang="ru-RU" b="1" i="1" dirty="0" smtClean="0">
                <a:solidFill>
                  <a:srgbClr val="002060"/>
                </a:solidFill>
              </a:rPr>
              <a:t>Уровень приоритета </a:t>
            </a:r>
            <a:r>
              <a:rPr lang="ru-RU" dirty="0" smtClean="0"/>
              <a:t>предназначен для указания приоритета  конкретному пакету и учитывается при обслуживании очередей</a:t>
            </a:r>
          </a:p>
          <a:p>
            <a:r>
              <a:rPr lang="ru-RU" b="1" i="1" dirty="0" smtClean="0">
                <a:solidFill>
                  <a:srgbClr val="002060"/>
                </a:solidFill>
              </a:rPr>
              <a:t>Класс обслуживания </a:t>
            </a:r>
            <a:r>
              <a:rPr lang="ru-RU" dirty="0" smtClean="0"/>
              <a:t>позволяет определять, какое соотношение между</a:t>
            </a:r>
          </a:p>
          <a:p>
            <a:pPr>
              <a:buNone/>
            </a:pPr>
            <a:r>
              <a:rPr lang="ru-RU" dirty="0" smtClean="0"/>
              <a:t>        - пропускной способностью ,</a:t>
            </a:r>
          </a:p>
          <a:p>
            <a:pPr>
              <a:buNone/>
            </a:pPr>
            <a:r>
              <a:rPr lang="ru-RU" dirty="0" smtClean="0"/>
              <a:t>        - задержкой, </a:t>
            </a:r>
          </a:p>
          <a:p>
            <a:pPr>
              <a:buNone/>
            </a:pPr>
            <a:r>
              <a:rPr lang="ru-RU" dirty="0" smtClean="0"/>
              <a:t>         - надежностью         </a:t>
            </a:r>
          </a:p>
          <a:p>
            <a:pPr>
              <a:buNone/>
            </a:pPr>
            <a:r>
              <a:rPr lang="ru-RU" dirty="0" smtClean="0"/>
              <a:t>          - стоимостью</a:t>
            </a:r>
          </a:p>
          <a:p>
            <a:pPr>
              <a:buNone/>
            </a:pPr>
            <a:r>
              <a:rPr lang="ru-RU" dirty="0" smtClean="0"/>
              <a:t>    оптимально для данного типа трафика, и соответствующим образом выбирать маршрут его передачи.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b="1" dirty="0" smtClean="0">
                <a:solidFill>
                  <a:srgbClr val="7030A0"/>
                </a:solidFill>
              </a:rPr>
              <a:t>Службы </a:t>
            </a:r>
            <a:r>
              <a:rPr lang="en-US" b="1" dirty="0" smtClean="0">
                <a:solidFill>
                  <a:srgbClr val="7030A0"/>
                </a:solidFill>
              </a:rPr>
              <a:t>QoS</a:t>
            </a:r>
            <a:endParaRPr lang="ru-RU" b="1" dirty="0" smtClean="0">
              <a:solidFill>
                <a:srgbClr val="7030A0"/>
              </a:solidFill>
            </a:endParaRP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Best effort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smtClean="0"/>
              <a:t>– </a:t>
            </a:r>
            <a:r>
              <a:rPr lang="ru-RU" sz="2800" dirty="0" smtClean="0"/>
              <a:t>обработка информации как можно быстрее, но без дополнительных усилий </a:t>
            </a:r>
            <a:r>
              <a:rPr lang="en-US" sz="2800" dirty="0" smtClean="0"/>
              <a:t>(FIFO,    drop tail)</a:t>
            </a:r>
          </a:p>
          <a:p>
            <a:pPr eaLnBrk="1" hangingPunct="1">
              <a:defRPr/>
            </a:pPr>
            <a:r>
              <a:rPr lang="ru-RU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Мягкий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QoS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/>
              <a:t>– сервис с предпочтениями. Приоритетное обслуживание, значения параметров </a:t>
            </a:r>
            <a:r>
              <a:rPr lang="en-US" sz="2800" dirty="0" err="1" smtClean="0"/>
              <a:t>QoS</a:t>
            </a:r>
            <a:r>
              <a:rPr lang="ru-RU" sz="2800" dirty="0" smtClean="0"/>
              <a:t> зависят от характеристик трафика.</a:t>
            </a:r>
          </a:p>
          <a:p>
            <a:pPr eaLnBrk="1" hangingPunct="1">
              <a:defRPr/>
            </a:pPr>
            <a:r>
              <a:rPr lang="ru-RU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Жесткий </a:t>
            </a:r>
            <a:r>
              <a:rPr lang="en-US" sz="28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QoS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/>
              <a:t>– гарантированный сервис.</a:t>
            </a:r>
          </a:p>
          <a:p>
            <a:pPr eaLnBrk="1" hangingPunct="1">
              <a:buNone/>
              <a:defRPr/>
            </a:pPr>
            <a:r>
              <a:rPr lang="ru-RU" sz="2800" dirty="0" smtClean="0"/>
              <a:t>   Основан на предварительном резервировании ресурсов для каждого потока.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3816424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Меры по обеспечению </a:t>
            </a:r>
            <a:r>
              <a:rPr lang="en-US" dirty="0" err="1" smtClean="0">
                <a:solidFill>
                  <a:srgbClr val="7030A0"/>
                </a:solidFill>
              </a:rPr>
              <a:t>QoS</a:t>
            </a: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Меры по обеспечению </a:t>
            </a:r>
            <a:r>
              <a:rPr lang="en-US" dirty="0" err="1" smtClean="0">
                <a:solidFill>
                  <a:srgbClr val="7030A0"/>
                </a:solidFill>
              </a:rPr>
              <a:t>QoS</a:t>
            </a:r>
            <a:endParaRPr lang="ru-RU" dirty="0" smtClean="0">
              <a:solidFill>
                <a:srgbClr val="7030A0"/>
              </a:solidFill>
            </a:endParaRPr>
          </a:p>
        </p:txBody>
      </p:sp>
      <p:sp>
        <p:nvSpPr>
          <p:cNvPr id="11267" name="Содержимое 2"/>
          <p:cNvSpPr>
            <a:spLocks noGrp="1"/>
          </p:cNvSpPr>
          <p:nvPr>
            <p:ph sz="quarter" idx="1"/>
          </p:nvPr>
        </p:nvSpPr>
        <p:spPr>
          <a:xfrm>
            <a:off x="395536" y="1484784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 smtClean="0"/>
              <a:t>Формирование(профилирование) трафика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 smtClean="0"/>
              <a:t>Организация очередей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 smtClean="0"/>
              <a:t>Задание приоритетов данных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 smtClean="0"/>
              <a:t>Предотвращение перегрузок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dirty="0" smtClean="0"/>
              <a:t>Увеличение полосы пропускания</a:t>
            </a:r>
          </a:p>
          <a:p>
            <a:pPr>
              <a:lnSpc>
                <a:spcPct val="150000"/>
              </a:lnSpc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802434"/>
          </a:xfrm>
        </p:spPr>
        <p:txBody>
          <a:bodyPr>
            <a:normAutofit/>
          </a:bodyPr>
          <a:lstStyle/>
          <a:p>
            <a:r>
              <a:rPr lang="ru-RU" sz="4800" dirty="0" smtClean="0">
                <a:solidFill>
                  <a:srgbClr val="7030A0"/>
                </a:solidFill>
              </a:rPr>
              <a:t>Меры по обеспечению </a:t>
            </a:r>
            <a:r>
              <a:rPr lang="en-US" sz="4800" dirty="0" err="1" smtClean="0">
                <a:solidFill>
                  <a:srgbClr val="7030A0"/>
                </a:solidFill>
              </a:rPr>
              <a:t>QoS</a:t>
            </a:r>
            <a:r>
              <a:rPr lang="ru-RU" dirty="0" smtClean="0">
                <a:solidFill>
                  <a:srgbClr val="7030A0"/>
                </a:solidFill>
              </a:rPr>
              <a:t>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1.МЕХАНИЗМЫ ФОРМИРОВАНИЯ ТРАФИКА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706090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 МЕХАНИЗМЫ ФОРМИРОВАНИЯ ТРАФИКА</a:t>
            </a:r>
          </a:p>
        </p:txBody>
      </p:sp>
      <p:sp>
        <p:nvSpPr>
          <p:cNvPr id="55299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ru-RU" sz="3000" dirty="0" smtClean="0">
                <a:solidFill>
                  <a:srgbClr val="002060"/>
                </a:solidFill>
              </a:rPr>
              <a:t>Политика и выравнивание </a:t>
            </a:r>
            <a:r>
              <a:rPr lang="ru-RU" sz="3000" dirty="0" smtClean="0"/>
              <a:t>– определяют алгоритм сглаживания пульсации трафика и контроль заданной полосы пропускания:</a:t>
            </a:r>
          </a:p>
          <a:p>
            <a:pPr lvl="1"/>
            <a:r>
              <a:rPr lang="en-US" sz="3000" dirty="0" smtClean="0">
                <a:solidFill>
                  <a:srgbClr val="002060"/>
                </a:solidFill>
              </a:rPr>
              <a:t>Leaky Bucket</a:t>
            </a:r>
            <a:r>
              <a:rPr lang="ru-RU" sz="3000" dirty="0" smtClean="0">
                <a:solidFill>
                  <a:srgbClr val="002060"/>
                </a:solidFill>
              </a:rPr>
              <a:t> (алгоритм дырявого ведра) </a:t>
            </a:r>
            <a:r>
              <a:rPr lang="ru-RU" sz="3000" dirty="0" smtClean="0"/>
              <a:t>позволяет проверить соблюдение трафиком значений средней скорости и пульсации</a:t>
            </a:r>
            <a:endParaRPr lang="en-US" sz="3000" dirty="0" smtClean="0"/>
          </a:p>
          <a:p>
            <a:pPr lvl="1" eaLnBrk="1" hangingPunct="1"/>
            <a:r>
              <a:rPr lang="en-US" sz="3000" dirty="0" smtClean="0">
                <a:solidFill>
                  <a:srgbClr val="002060"/>
                </a:solidFill>
              </a:rPr>
              <a:t>Token Bucket</a:t>
            </a:r>
            <a:r>
              <a:rPr lang="ru-RU" sz="3000" dirty="0" smtClean="0">
                <a:solidFill>
                  <a:srgbClr val="002060"/>
                </a:solidFill>
              </a:rPr>
              <a:t> (алгоритм ведра </a:t>
            </a:r>
            <a:r>
              <a:rPr lang="ru-RU" sz="3000" dirty="0" err="1" smtClean="0">
                <a:solidFill>
                  <a:srgbClr val="002060"/>
                </a:solidFill>
              </a:rPr>
              <a:t>токенов</a:t>
            </a:r>
            <a:r>
              <a:rPr lang="ru-RU" sz="3000" dirty="0" smtClean="0">
                <a:solidFill>
                  <a:srgbClr val="002060"/>
                </a:solidFill>
              </a:rPr>
              <a:t>, маркеров) </a:t>
            </a:r>
            <a:r>
              <a:rPr lang="ru-RU" sz="3000" dirty="0" smtClean="0"/>
              <a:t>применяется для сглаживания и для профилирования трафика.</a:t>
            </a:r>
          </a:p>
          <a:p>
            <a:pPr lvl="1" eaLnBrk="1" hangingPunct="1">
              <a:buNone/>
            </a:pPr>
            <a:r>
              <a:rPr lang="ru-RU" sz="3000" dirty="0" smtClean="0">
                <a:solidFill>
                  <a:srgbClr val="002060"/>
                </a:solidFill>
              </a:rPr>
              <a:t> </a:t>
            </a:r>
            <a:r>
              <a:rPr lang="ru-RU" sz="3000" dirty="0" err="1" smtClean="0">
                <a:solidFill>
                  <a:srgbClr val="002060"/>
                </a:solidFill>
              </a:rPr>
              <a:t>Токен</a:t>
            </a:r>
            <a:r>
              <a:rPr lang="ru-RU" sz="3000" dirty="0" smtClean="0">
                <a:solidFill>
                  <a:srgbClr val="002060"/>
                </a:solidFill>
              </a:rPr>
              <a:t>- </a:t>
            </a:r>
            <a:r>
              <a:rPr lang="ru-RU" sz="3000" dirty="0" smtClean="0"/>
              <a:t>это носитель порции информации, используемый для</a:t>
            </a:r>
            <a:r>
              <a:rPr lang="en-US" sz="3000" dirty="0" smtClean="0"/>
              <a:t> </a:t>
            </a:r>
            <a:r>
              <a:rPr lang="ru-RU" sz="3000" dirty="0" smtClean="0"/>
              <a:t>построения модели </a:t>
            </a:r>
            <a:r>
              <a:rPr lang="en-US" sz="3000" dirty="0" err="1" smtClean="0"/>
              <a:t>QoS</a:t>
            </a:r>
            <a:r>
              <a:rPr lang="en-US" sz="3000" dirty="0" smtClean="0"/>
              <a:t> </a:t>
            </a:r>
            <a:endParaRPr lang="ru-RU" sz="3000" dirty="0" smtClean="0"/>
          </a:p>
          <a:p>
            <a:pPr lvl="1" eaLnBrk="1" hangingPunct="1"/>
            <a:endParaRPr lang="ru-RU" dirty="0" smtClean="0"/>
          </a:p>
          <a:p>
            <a:pPr eaLnBrk="1" hangingPunct="1">
              <a:buFont typeface="Wingdings 2" pitchFamily="18" charset="2"/>
              <a:buNone/>
            </a:pPr>
            <a:endParaRPr lang="ru-RU" dirty="0" smtClean="0"/>
          </a:p>
          <a:p>
            <a:pPr lvl="2" eaLnBrk="1" hangingPunct="1"/>
            <a:endParaRPr lang="ru-RU" dirty="0" smtClean="0"/>
          </a:p>
          <a:p>
            <a:pPr lvl="3"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Алгоритм «дырявого ведра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04" y="1268760"/>
            <a:ext cx="4388296" cy="5589240"/>
          </a:xfrm>
        </p:spPr>
        <p:txBody>
          <a:bodyPr>
            <a:noAutofit/>
          </a:bodyPr>
          <a:lstStyle/>
          <a:p>
            <a:pPr lvl="0"/>
            <a:r>
              <a:rPr lang="ru-RU" sz="1800" dirty="0">
                <a:solidFill>
                  <a:prstClr val="black"/>
                </a:solidFill>
              </a:rPr>
              <a:t>Алгоритм использует счетчик поступивших Байт от пользователя и каждые Т сек его показания уменьшаются на величину </a:t>
            </a:r>
            <a:r>
              <a:rPr lang="ru-RU" sz="1800" dirty="0" err="1">
                <a:solidFill>
                  <a:prstClr val="black"/>
                </a:solidFill>
              </a:rPr>
              <a:t>Вс</a:t>
            </a:r>
            <a:r>
              <a:rPr lang="ru-RU" sz="1800" dirty="0">
                <a:solidFill>
                  <a:prstClr val="black"/>
                </a:solidFill>
              </a:rPr>
              <a:t>- объема пульсаций.</a:t>
            </a:r>
          </a:p>
          <a:p>
            <a:pPr lvl="0"/>
            <a:r>
              <a:rPr lang="ru-RU" sz="1800" dirty="0">
                <a:solidFill>
                  <a:prstClr val="black"/>
                </a:solidFill>
              </a:rPr>
              <a:t>Из ведра каждые Т сек вытекает объем Вс.</a:t>
            </a:r>
          </a:p>
          <a:p>
            <a:pPr lvl="0"/>
            <a:r>
              <a:rPr lang="ru-RU" sz="1800" dirty="0">
                <a:solidFill>
                  <a:prstClr val="black"/>
                </a:solidFill>
              </a:rPr>
              <a:t>Все кадры (пакеты),данные которых не увеличили значение счетчика выше порога </a:t>
            </a:r>
            <a:r>
              <a:rPr lang="ru-RU" sz="1800" dirty="0" err="1">
                <a:solidFill>
                  <a:prstClr val="black"/>
                </a:solidFill>
              </a:rPr>
              <a:t>Вс</a:t>
            </a:r>
            <a:r>
              <a:rPr lang="ru-RU" sz="1800" dirty="0">
                <a:solidFill>
                  <a:prstClr val="black"/>
                </a:solidFill>
              </a:rPr>
              <a:t> – пропускаются в сеть со значением </a:t>
            </a:r>
            <a:r>
              <a:rPr lang="en-US" sz="1800" dirty="0">
                <a:solidFill>
                  <a:prstClr val="black"/>
                </a:solidFill>
              </a:rPr>
              <a:t>DE=0</a:t>
            </a:r>
            <a:r>
              <a:rPr lang="ru-RU" sz="1800" dirty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ru-RU" sz="1800" dirty="0">
                <a:solidFill>
                  <a:prstClr val="black"/>
                </a:solidFill>
              </a:rPr>
              <a:t>Кадры (пакеты), которые привели к значению счетчика больше </a:t>
            </a:r>
            <a:r>
              <a:rPr lang="ru-RU" sz="1800" dirty="0" err="1">
                <a:solidFill>
                  <a:prstClr val="black"/>
                </a:solidFill>
              </a:rPr>
              <a:t>Вс</a:t>
            </a:r>
            <a:r>
              <a:rPr lang="ru-RU" sz="1800" dirty="0">
                <a:solidFill>
                  <a:prstClr val="black"/>
                </a:solidFill>
              </a:rPr>
              <a:t>, но меньше </a:t>
            </a:r>
            <a:r>
              <a:rPr lang="ru-RU" sz="1800" dirty="0" err="1">
                <a:solidFill>
                  <a:prstClr val="black"/>
                </a:solidFill>
              </a:rPr>
              <a:t>Ве</a:t>
            </a:r>
            <a:r>
              <a:rPr lang="ru-RU" sz="1800" dirty="0">
                <a:solidFill>
                  <a:prstClr val="black"/>
                </a:solidFill>
              </a:rPr>
              <a:t> – допустимое превышение объема пульсаций также передаются в сеть ,но </a:t>
            </a:r>
            <a:r>
              <a:rPr lang="en-US" sz="1800" dirty="0">
                <a:solidFill>
                  <a:prstClr val="black"/>
                </a:solidFill>
              </a:rPr>
              <a:t>DE=1.</a:t>
            </a:r>
          </a:p>
          <a:p>
            <a:pPr lvl="0"/>
            <a:r>
              <a:rPr lang="ru-RU" sz="1800" dirty="0">
                <a:solidFill>
                  <a:prstClr val="black"/>
                </a:solidFill>
              </a:rPr>
              <a:t>Кадры(пакеты),которые превысили значение счетчика (</a:t>
            </a:r>
            <a:r>
              <a:rPr lang="ru-RU" sz="1800" dirty="0" err="1">
                <a:solidFill>
                  <a:prstClr val="black"/>
                </a:solidFill>
              </a:rPr>
              <a:t>Вс+Ве</a:t>
            </a:r>
            <a:r>
              <a:rPr lang="ru-RU" sz="1800" dirty="0">
                <a:solidFill>
                  <a:prstClr val="black"/>
                </a:solidFill>
              </a:rPr>
              <a:t>) – отбрасываются коммутатором.</a:t>
            </a:r>
          </a:p>
          <a:p>
            <a:endParaRPr lang="ru-RU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776"/>
            <a:ext cx="4038600" cy="4896544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3266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556792"/>
            <a:ext cx="4176464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823524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Алгоритм «дырявого ведра»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Алгоритм использует счетчик поступивших Байт от пользователя и каждые Т сек его показания уменьшаются на величину </a:t>
            </a:r>
            <a:r>
              <a:rPr lang="ru-RU" sz="2400" dirty="0" err="1" smtClean="0"/>
              <a:t>Вс</a:t>
            </a:r>
            <a:r>
              <a:rPr lang="ru-RU" sz="2400" dirty="0" smtClean="0"/>
              <a:t>- объема пульсаций.</a:t>
            </a:r>
          </a:p>
          <a:p>
            <a:r>
              <a:rPr lang="ru-RU" sz="2400" dirty="0" smtClean="0"/>
              <a:t>Из ведра каждые Т сек вытекает объем Вс.</a:t>
            </a:r>
          </a:p>
          <a:p>
            <a:r>
              <a:rPr lang="ru-RU" sz="2400" dirty="0" smtClean="0"/>
              <a:t>Все кадры (пакеты),данные которых не увеличили значение счетчика выше порога </a:t>
            </a:r>
            <a:r>
              <a:rPr lang="ru-RU" sz="2400" dirty="0" err="1" smtClean="0"/>
              <a:t>Вс</a:t>
            </a:r>
            <a:r>
              <a:rPr lang="ru-RU" sz="2400" dirty="0" smtClean="0"/>
              <a:t> – пропускаются в сеть со значением </a:t>
            </a:r>
            <a:r>
              <a:rPr lang="en-US" sz="2400" dirty="0" smtClean="0"/>
              <a:t>DE=0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Кадры (пакеты), которые привели к значению счетчика больше </a:t>
            </a:r>
            <a:r>
              <a:rPr lang="ru-RU" sz="2400" dirty="0" err="1" smtClean="0"/>
              <a:t>Вс</a:t>
            </a:r>
            <a:r>
              <a:rPr lang="ru-RU" sz="2400" dirty="0" smtClean="0"/>
              <a:t>, но меньше </a:t>
            </a:r>
            <a:r>
              <a:rPr lang="ru-RU" sz="2400" dirty="0" err="1" smtClean="0"/>
              <a:t>Ве</a:t>
            </a:r>
            <a:r>
              <a:rPr lang="ru-RU" sz="2400" dirty="0" smtClean="0"/>
              <a:t> – допустимое превышение объема пульсаций также передаются в сеть ,но </a:t>
            </a:r>
            <a:r>
              <a:rPr lang="en-US" sz="2400" dirty="0" smtClean="0"/>
              <a:t>DE=1.</a:t>
            </a:r>
          </a:p>
          <a:p>
            <a:r>
              <a:rPr lang="ru-RU" sz="2400" dirty="0" smtClean="0"/>
              <a:t>Кадры(пакеты),которые превысили значение счетчика (</a:t>
            </a:r>
            <a:r>
              <a:rPr lang="ru-RU" sz="2400" dirty="0" err="1" smtClean="0"/>
              <a:t>Вс+Ве</a:t>
            </a:r>
            <a:r>
              <a:rPr lang="ru-RU" sz="2400" dirty="0" smtClean="0"/>
              <a:t>) – отбрасываются коммутатором.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5063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Алгоритм «</a:t>
            </a:r>
            <a:r>
              <a:rPr lang="en-US" sz="3600" dirty="0" smtClean="0">
                <a:solidFill>
                  <a:srgbClr val="7030A0"/>
                </a:solidFill>
              </a:rPr>
              <a:t>leaky bucket</a:t>
            </a:r>
            <a:r>
              <a:rPr lang="ru-RU" sz="3600" dirty="0" smtClean="0">
                <a:solidFill>
                  <a:srgbClr val="7030A0"/>
                </a:solidFill>
              </a:rPr>
              <a:t>»- алгоритм дырявого ведра </a:t>
            </a:r>
          </a:p>
        </p:txBody>
      </p:sp>
      <p:graphicFrame>
        <p:nvGraphicFramePr>
          <p:cNvPr id="23555" name="Object 2"/>
          <p:cNvGraphicFramePr>
            <a:graphicFrameLocks noChangeAspect="1"/>
          </p:cNvGraphicFramePr>
          <p:nvPr/>
        </p:nvGraphicFramePr>
        <p:xfrm>
          <a:off x="685800" y="1828800"/>
          <a:ext cx="7543800" cy="5029200"/>
        </p:xfrm>
        <a:graphic>
          <a:graphicData uri="http://schemas.openxmlformats.org/presentationml/2006/ole">
            <p:oleObj spid="_x0000_s372741" name="VISIO" r:id="rId3" imgW="4095750" imgH="3095625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dirty="0">
                <a:solidFill>
                  <a:srgbClr val="7030A0"/>
                </a:solidFill>
              </a:rPr>
              <a:t>Алгоритм «ведра </a:t>
            </a:r>
            <a:r>
              <a:rPr lang="ru-RU" sz="3200" dirty="0" err="1">
                <a:solidFill>
                  <a:srgbClr val="7030A0"/>
                </a:solidFill>
              </a:rPr>
              <a:t>токенов</a:t>
            </a:r>
            <a:r>
              <a:rPr lang="ru-RU" sz="3200" dirty="0">
                <a:solidFill>
                  <a:srgbClr val="7030A0"/>
                </a:solidFill>
              </a:rPr>
              <a:t>»</a:t>
            </a:r>
            <a:endParaRPr lang="ru-R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512" y="836712"/>
            <a:ext cx="4316288" cy="5760640"/>
          </a:xfrm>
        </p:spPr>
        <p:txBody>
          <a:bodyPr>
            <a:noAutofit/>
          </a:bodyPr>
          <a:lstStyle/>
          <a:p>
            <a:pPr lvl="0"/>
            <a:r>
              <a:rPr lang="ru-RU" sz="1800" dirty="0">
                <a:solidFill>
                  <a:prstClr val="black"/>
                </a:solidFill>
              </a:rPr>
              <a:t>Генератор </a:t>
            </a:r>
            <a:r>
              <a:rPr lang="ru-RU" sz="1800" dirty="0" err="1">
                <a:solidFill>
                  <a:prstClr val="black"/>
                </a:solidFill>
              </a:rPr>
              <a:t>токенов</a:t>
            </a:r>
            <a:r>
              <a:rPr lang="ru-RU" sz="1800" dirty="0">
                <a:solidFill>
                  <a:prstClr val="black"/>
                </a:solidFill>
              </a:rPr>
              <a:t> направляет </a:t>
            </a:r>
            <a:r>
              <a:rPr lang="ru-RU" sz="1800" dirty="0" err="1">
                <a:solidFill>
                  <a:prstClr val="black"/>
                </a:solidFill>
              </a:rPr>
              <a:t>токен</a:t>
            </a:r>
            <a:r>
              <a:rPr lang="ru-RU" sz="1800" dirty="0">
                <a:solidFill>
                  <a:prstClr val="black"/>
                </a:solidFill>
              </a:rPr>
              <a:t> в ведро с ограниченным объемом в «В» байт</a:t>
            </a:r>
            <a:r>
              <a:rPr lang="ru-RU" sz="1800" dirty="0" smtClean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ru-RU" sz="1800" dirty="0" smtClean="0">
                <a:solidFill>
                  <a:srgbClr val="002060"/>
                </a:solidFill>
              </a:rPr>
              <a:t>Все </a:t>
            </a:r>
            <a:r>
              <a:rPr lang="ru-RU" sz="1800" dirty="0" err="1">
                <a:solidFill>
                  <a:srgbClr val="002060"/>
                </a:solidFill>
              </a:rPr>
              <a:t>токены</a:t>
            </a:r>
            <a:r>
              <a:rPr lang="ru-RU" sz="1800" dirty="0">
                <a:solidFill>
                  <a:srgbClr val="002060"/>
                </a:solidFill>
              </a:rPr>
              <a:t> имеют одинаковый объем «</a:t>
            </a:r>
            <a:r>
              <a:rPr lang="en-US" sz="1800" dirty="0">
                <a:solidFill>
                  <a:srgbClr val="002060"/>
                </a:solidFill>
              </a:rPr>
              <a:t>m</a:t>
            </a:r>
            <a:r>
              <a:rPr lang="ru-RU" sz="1800" dirty="0">
                <a:solidFill>
                  <a:srgbClr val="002060"/>
                </a:solidFill>
              </a:rPr>
              <a:t>»</a:t>
            </a:r>
            <a:r>
              <a:rPr lang="en-US" sz="1800" dirty="0">
                <a:solidFill>
                  <a:srgbClr val="002060"/>
                </a:solidFill>
              </a:rPr>
              <a:t> </a:t>
            </a:r>
            <a:r>
              <a:rPr lang="ru-RU" sz="1800" dirty="0">
                <a:solidFill>
                  <a:srgbClr val="002060"/>
                </a:solidFill>
              </a:rPr>
              <a:t>байт</a:t>
            </a:r>
            <a:r>
              <a:rPr lang="ru-RU" sz="1800" dirty="0">
                <a:solidFill>
                  <a:prstClr val="black"/>
                </a:solidFill>
              </a:rPr>
              <a:t>, а генерация их идет со скоростью «</a:t>
            </a:r>
            <a:r>
              <a:rPr lang="en-US" sz="1800" dirty="0">
                <a:solidFill>
                  <a:prstClr val="black"/>
                </a:solidFill>
              </a:rPr>
              <a:t>r</a:t>
            </a:r>
            <a:r>
              <a:rPr lang="ru-RU" sz="1800" dirty="0">
                <a:solidFill>
                  <a:prstClr val="black"/>
                </a:solidFill>
              </a:rPr>
              <a:t>»</a:t>
            </a:r>
            <a:r>
              <a:rPr lang="en-US" sz="1800" dirty="0">
                <a:solidFill>
                  <a:prstClr val="black"/>
                </a:solidFill>
              </a:rPr>
              <a:t> </a:t>
            </a:r>
            <a:r>
              <a:rPr lang="ru-RU" sz="1800" dirty="0">
                <a:solidFill>
                  <a:prstClr val="black"/>
                </a:solidFill>
              </a:rPr>
              <a:t>байт</a:t>
            </a:r>
            <a:r>
              <a:rPr lang="en-US" sz="1800" dirty="0">
                <a:solidFill>
                  <a:prstClr val="black"/>
                </a:solidFill>
              </a:rPr>
              <a:t>/</a:t>
            </a:r>
            <a:r>
              <a:rPr lang="ru-RU" sz="1800" dirty="0">
                <a:solidFill>
                  <a:prstClr val="black"/>
                </a:solidFill>
              </a:rPr>
              <a:t>сек - средней скоростью формирования трафика</a:t>
            </a:r>
            <a:r>
              <a:rPr lang="ru-RU" sz="1800" dirty="0" smtClean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ru-RU" sz="1800" dirty="0" smtClean="0">
                <a:solidFill>
                  <a:prstClr val="black"/>
                </a:solidFill>
              </a:rPr>
              <a:t>Пакеты </a:t>
            </a:r>
            <a:r>
              <a:rPr lang="ru-RU" sz="1800" dirty="0">
                <a:solidFill>
                  <a:prstClr val="black"/>
                </a:solidFill>
              </a:rPr>
              <a:t>поступают в систему в очередь с объемом «к» байт. </a:t>
            </a:r>
          </a:p>
          <a:p>
            <a:pPr lvl="0"/>
            <a:r>
              <a:rPr lang="ru-RU" sz="1800" dirty="0">
                <a:solidFill>
                  <a:prstClr val="black"/>
                </a:solidFill>
              </a:rPr>
              <a:t>Из очереди пакеты продвигаются сервером  только тогда , когда ведро заполнено до уровня не ниже «</a:t>
            </a:r>
            <a:r>
              <a:rPr lang="en-US" sz="1800" dirty="0">
                <a:solidFill>
                  <a:prstClr val="black"/>
                </a:solidFill>
              </a:rPr>
              <a:t>m</a:t>
            </a:r>
            <a:r>
              <a:rPr lang="ru-RU" sz="1800" dirty="0">
                <a:solidFill>
                  <a:prstClr val="black"/>
                </a:solidFill>
              </a:rPr>
              <a:t>» байт – объема </a:t>
            </a:r>
            <a:r>
              <a:rPr lang="ru-RU" sz="1800" dirty="0" err="1" smtClean="0">
                <a:solidFill>
                  <a:prstClr val="black"/>
                </a:solidFill>
              </a:rPr>
              <a:t>токена</a:t>
            </a:r>
            <a:r>
              <a:rPr lang="ru-RU" sz="1800" dirty="0" smtClean="0">
                <a:solidFill>
                  <a:prstClr val="black"/>
                </a:solidFill>
              </a:rPr>
              <a:t>.</a:t>
            </a:r>
            <a:endParaRPr lang="ru-RU" sz="1800" dirty="0">
              <a:solidFill>
                <a:prstClr val="black"/>
              </a:solidFill>
            </a:endParaRPr>
          </a:p>
          <a:p>
            <a:pPr lvl="0"/>
            <a:r>
              <a:rPr lang="ru-RU" sz="1800" dirty="0">
                <a:solidFill>
                  <a:prstClr val="black"/>
                </a:solidFill>
              </a:rPr>
              <a:t>Если пакет вышел на выход , то из ведра удаляются </a:t>
            </a:r>
            <a:r>
              <a:rPr lang="ru-RU" sz="1800" dirty="0" err="1">
                <a:solidFill>
                  <a:prstClr val="black"/>
                </a:solidFill>
              </a:rPr>
              <a:t>токены</a:t>
            </a:r>
            <a:r>
              <a:rPr lang="ru-RU" sz="1800" dirty="0">
                <a:solidFill>
                  <a:prstClr val="black"/>
                </a:solidFill>
              </a:rPr>
              <a:t> объемом «</a:t>
            </a:r>
            <a:r>
              <a:rPr lang="en-US" sz="1800" dirty="0">
                <a:solidFill>
                  <a:prstClr val="black"/>
                </a:solidFill>
              </a:rPr>
              <a:t>m</a:t>
            </a:r>
            <a:r>
              <a:rPr lang="ru-RU" sz="1800" dirty="0">
                <a:solidFill>
                  <a:prstClr val="black"/>
                </a:solidFill>
              </a:rPr>
              <a:t>» байт</a:t>
            </a:r>
            <a:r>
              <a:rPr lang="ru-RU" sz="1800" dirty="0" smtClean="0">
                <a:solidFill>
                  <a:prstClr val="black"/>
                </a:solidFill>
              </a:rPr>
              <a:t>.</a:t>
            </a:r>
          </a:p>
          <a:p>
            <a:pPr lvl="0"/>
            <a:r>
              <a:rPr lang="ru-RU" sz="1800" dirty="0" smtClean="0">
                <a:solidFill>
                  <a:prstClr val="black"/>
                </a:solidFill>
              </a:rPr>
              <a:t>Если </a:t>
            </a:r>
            <a:r>
              <a:rPr lang="ru-RU" sz="1800" dirty="0">
                <a:solidFill>
                  <a:prstClr val="black"/>
                </a:solidFill>
              </a:rPr>
              <a:t>ведро заполнено недостаточно , то пакет из очереди не выбирается и ожидает поступления нужного числа </a:t>
            </a:r>
            <a:r>
              <a:rPr lang="ru-RU" sz="1800" dirty="0" err="1">
                <a:solidFill>
                  <a:prstClr val="black"/>
                </a:solidFill>
              </a:rPr>
              <a:t>токенов</a:t>
            </a:r>
            <a:r>
              <a:rPr lang="ru-RU" sz="1800" dirty="0">
                <a:solidFill>
                  <a:prstClr val="black"/>
                </a:solidFill>
              </a:rPr>
              <a:t>.</a:t>
            </a:r>
          </a:p>
          <a:p>
            <a:pPr lvl="0"/>
            <a:endParaRPr lang="ru-RU" sz="1800" dirty="0">
              <a:solidFill>
                <a:prstClr val="black"/>
              </a:solidFill>
            </a:endParaRPr>
          </a:p>
          <a:p>
            <a:endParaRPr lang="ru-RU" sz="1800" dirty="0"/>
          </a:p>
        </p:txBody>
      </p:sp>
      <p:pic>
        <p:nvPicPr>
          <p:cNvPr id="32768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196752"/>
            <a:ext cx="4176464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0826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Алгоритм «ведра </a:t>
            </a:r>
            <a:r>
              <a:rPr lang="ru-RU" dirty="0" err="1" smtClean="0">
                <a:solidFill>
                  <a:srgbClr val="7030A0"/>
                </a:solidFill>
              </a:rPr>
              <a:t>токенов</a:t>
            </a:r>
            <a:r>
              <a:rPr lang="ru-RU" dirty="0" smtClean="0">
                <a:solidFill>
                  <a:srgbClr val="7030A0"/>
                </a:solidFill>
              </a:rPr>
              <a:t>»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472608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 smtClean="0"/>
              <a:t>Генератор </a:t>
            </a:r>
            <a:r>
              <a:rPr lang="ru-RU" sz="2800" dirty="0" err="1" smtClean="0"/>
              <a:t>токенов</a:t>
            </a:r>
            <a:r>
              <a:rPr lang="ru-RU" sz="2800" dirty="0" smtClean="0"/>
              <a:t> направляет </a:t>
            </a:r>
            <a:r>
              <a:rPr lang="ru-RU" sz="2800" dirty="0" err="1" smtClean="0"/>
              <a:t>токен</a:t>
            </a:r>
            <a:r>
              <a:rPr lang="ru-RU" sz="2800" dirty="0" smtClean="0"/>
              <a:t> в ведро с ограниченным объемом в «В» байт.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Все </a:t>
            </a:r>
            <a:r>
              <a:rPr lang="ru-RU" sz="2800" dirty="0" err="1" smtClean="0">
                <a:solidFill>
                  <a:srgbClr val="002060"/>
                </a:solidFill>
              </a:rPr>
              <a:t>токены</a:t>
            </a:r>
            <a:r>
              <a:rPr lang="ru-RU" sz="2800" dirty="0" smtClean="0">
                <a:solidFill>
                  <a:srgbClr val="002060"/>
                </a:solidFill>
              </a:rPr>
              <a:t> имеют одинаковый объем «</a:t>
            </a:r>
            <a:r>
              <a:rPr lang="en-US" sz="2800" dirty="0" smtClean="0">
                <a:solidFill>
                  <a:srgbClr val="002060"/>
                </a:solidFill>
              </a:rPr>
              <a:t>m</a:t>
            </a:r>
            <a:r>
              <a:rPr lang="ru-RU" sz="2800" dirty="0" smtClean="0">
                <a:solidFill>
                  <a:srgbClr val="002060"/>
                </a:solidFill>
              </a:rPr>
              <a:t>»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>
                <a:solidFill>
                  <a:srgbClr val="002060"/>
                </a:solidFill>
              </a:rPr>
              <a:t>байт</a:t>
            </a:r>
            <a:r>
              <a:rPr lang="ru-RU" sz="2800" dirty="0" smtClean="0"/>
              <a:t>, а генерация их идет со скоростью «</a:t>
            </a:r>
            <a:r>
              <a:rPr lang="en-US" sz="2800" dirty="0" smtClean="0"/>
              <a:t>r</a:t>
            </a:r>
            <a:r>
              <a:rPr lang="ru-RU" sz="2800" dirty="0" smtClean="0"/>
              <a:t>»</a:t>
            </a:r>
            <a:r>
              <a:rPr lang="en-US" sz="2800" dirty="0" smtClean="0"/>
              <a:t> </a:t>
            </a:r>
            <a:r>
              <a:rPr lang="ru-RU" sz="2800" dirty="0" smtClean="0"/>
              <a:t>байт</a:t>
            </a:r>
            <a:r>
              <a:rPr lang="en-US" sz="2800" dirty="0" smtClean="0"/>
              <a:t>/</a:t>
            </a:r>
            <a:r>
              <a:rPr lang="ru-RU" sz="2800" dirty="0" smtClean="0"/>
              <a:t>сек - средней скоростью формирования трафика.</a:t>
            </a:r>
          </a:p>
          <a:p>
            <a:r>
              <a:rPr lang="ru-RU" sz="2800" dirty="0" smtClean="0"/>
              <a:t>Пакеты поступают в систему в очередь с объемом «к» байт. </a:t>
            </a:r>
          </a:p>
          <a:p>
            <a:r>
              <a:rPr lang="ru-RU" sz="2800" dirty="0" smtClean="0"/>
              <a:t>Из очереди пакеты продвигаются сервером  только тогда , когда ведро заполнено до уровня не ниже «</a:t>
            </a:r>
            <a:r>
              <a:rPr lang="en-US" sz="2800" dirty="0" smtClean="0"/>
              <a:t>m</a:t>
            </a:r>
            <a:r>
              <a:rPr lang="ru-RU" sz="2800" dirty="0" smtClean="0"/>
              <a:t>» байт – объема </a:t>
            </a:r>
            <a:r>
              <a:rPr lang="ru-RU" sz="2800" dirty="0" err="1" smtClean="0"/>
              <a:t>токена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Если пакет вышел на выход , то из ведра удаляются </a:t>
            </a:r>
            <a:r>
              <a:rPr lang="ru-RU" sz="2800" dirty="0" err="1" smtClean="0"/>
              <a:t>токены</a:t>
            </a:r>
            <a:r>
              <a:rPr lang="ru-RU" sz="2800" dirty="0" smtClean="0"/>
              <a:t> объемом «</a:t>
            </a:r>
            <a:r>
              <a:rPr lang="en-US" sz="2800" dirty="0" smtClean="0"/>
              <a:t>m</a:t>
            </a:r>
            <a:r>
              <a:rPr lang="ru-RU" sz="2800" dirty="0" smtClean="0"/>
              <a:t>» байт.</a:t>
            </a:r>
          </a:p>
          <a:p>
            <a:r>
              <a:rPr lang="ru-RU" sz="2800" dirty="0" smtClean="0"/>
              <a:t>Если ведро заполнено недостаточно , то пакет из очереди не выбирается и ожидает поступления нужного числа </a:t>
            </a:r>
            <a:r>
              <a:rPr lang="ru-RU" sz="2800" dirty="0" err="1" smtClean="0"/>
              <a:t>токенов</a:t>
            </a:r>
            <a:r>
              <a:rPr lang="ru-RU" sz="2800" dirty="0" smtClean="0"/>
              <a:t>.</a:t>
            </a:r>
          </a:p>
          <a:p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88641"/>
            <a:ext cx="7793037" cy="1152128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Алгоритм «</a:t>
            </a:r>
            <a:r>
              <a:rPr lang="en-US" dirty="0" smtClean="0">
                <a:solidFill>
                  <a:srgbClr val="7030A0"/>
                </a:solidFill>
              </a:rPr>
              <a:t>token bucket</a:t>
            </a:r>
            <a:r>
              <a:rPr lang="ru-RU" dirty="0" smtClean="0">
                <a:solidFill>
                  <a:srgbClr val="7030A0"/>
                </a:solidFill>
              </a:rPr>
              <a:t>»- алгоритм ведра </a:t>
            </a:r>
            <a:r>
              <a:rPr lang="ru-RU" dirty="0" err="1" smtClean="0">
                <a:solidFill>
                  <a:srgbClr val="7030A0"/>
                </a:solidFill>
              </a:rPr>
              <a:t>токенов</a:t>
            </a:r>
            <a:endParaRPr lang="ru-RU" dirty="0" smtClean="0">
              <a:solidFill>
                <a:srgbClr val="7030A0"/>
              </a:solidFill>
            </a:endParaRPr>
          </a:p>
        </p:txBody>
      </p:sp>
      <p:graphicFrame>
        <p:nvGraphicFramePr>
          <p:cNvPr id="2457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252798081"/>
              </p:ext>
            </p:extLst>
          </p:nvPr>
        </p:nvGraphicFramePr>
        <p:xfrm>
          <a:off x="1259632" y="1544638"/>
          <a:ext cx="6552728" cy="4846637"/>
        </p:xfrm>
        <a:graphic>
          <a:graphicData uri="http://schemas.openxmlformats.org/presentationml/2006/ole">
            <p:oleObj spid="_x0000_s195630" name="VISIO" r:id="rId3" imgW="7696200" imgH="4410075" progId="">
              <p:embed/>
            </p:oleObj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921714599"/>
              </p:ext>
            </p:extLst>
          </p:nvPr>
        </p:nvGraphicFramePr>
        <p:xfrm>
          <a:off x="1259632" y="1556792"/>
          <a:ext cx="6552728" cy="4846637"/>
        </p:xfrm>
        <a:graphic>
          <a:graphicData uri="http://schemas.openxmlformats.org/presentationml/2006/ole">
            <p:oleObj spid="_x0000_s195631" name="Visio" r:id="rId4" imgW="7696200" imgH="4410075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60851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>
                <a:solidFill>
                  <a:srgbClr val="7030A0"/>
                </a:solidFill>
              </a:rPr>
              <a:t>Меры по обеспечению </a:t>
            </a:r>
            <a:r>
              <a:rPr lang="en-US" dirty="0" err="1" smtClean="0">
                <a:solidFill>
                  <a:srgbClr val="7030A0"/>
                </a:solidFill>
              </a:rPr>
              <a:t>QoS</a:t>
            </a: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2. Организация и обслуживание очереди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Алгоритм «Первым пришел — первым ушел» (FIFO</a:t>
            </a:r>
            <a:r>
              <a:rPr lang="ru-RU" sz="4800" dirty="0" smtClean="0">
                <a:solidFill>
                  <a:srgbClr val="7030A0"/>
                </a:solidFill>
              </a:rPr>
              <a:t>)</a:t>
            </a: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6"/>
          <p:cNvGraphicFramePr>
            <a:graphicFrameLocks noChangeAspect="1"/>
          </p:cNvGraphicFramePr>
          <p:nvPr/>
        </p:nvGraphicFramePr>
        <p:xfrm>
          <a:off x="3059832" y="7317432"/>
          <a:ext cx="15049509" cy="548680"/>
        </p:xfrm>
        <a:graphic>
          <a:graphicData uri="http://schemas.openxmlformats.org/presentationml/2006/ole">
            <p:oleObj spid="_x0000_s237592" name="Visio" r:id="rId3" imgW="6697599" imgH="577596" progId="">
              <p:embed/>
            </p:oleObj>
          </a:graphicData>
        </a:graphic>
      </p:graphicFrame>
      <p:sp>
        <p:nvSpPr>
          <p:cNvPr id="9219" name="Text Box 7"/>
          <p:cNvSpPr txBox="1">
            <a:spLocks noChangeArrowheads="1"/>
          </p:cNvSpPr>
          <p:nvPr/>
        </p:nvSpPr>
        <p:spPr bwMode="auto">
          <a:xfrm rot="5400000" flipV="1">
            <a:off x="10706054" y="6266635"/>
            <a:ext cx="14401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ru-RU" sz="1400" dirty="0" err="1"/>
              <a:t>УрТИСИ</a:t>
            </a:r>
            <a:r>
              <a:rPr lang="ru-RU" sz="1400" dirty="0"/>
              <a:t>, 2013</a:t>
            </a:r>
          </a:p>
        </p:txBody>
      </p:sp>
      <p:sp>
        <p:nvSpPr>
          <p:cNvPr id="9220" name="Text Box 8"/>
          <p:cNvSpPr txBox="1">
            <a:spLocks noChangeArrowheads="1"/>
          </p:cNvSpPr>
          <p:nvPr/>
        </p:nvSpPr>
        <p:spPr bwMode="auto">
          <a:xfrm flipH="1" flipV="1">
            <a:off x="11105964" y="6812280"/>
            <a:ext cx="102687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1400" dirty="0"/>
              <a:t>САЛИФОВ </a:t>
            </a:r>
            <a:r>
              <a:rPr lang="ru-RU" sz="1400" dirty="0" err="1"/>
              <a:t>Ильнур</a:t>
            </a:r>
            <a:r>
              <a:rPr lang="ru-RU" sz="1400" dirty="0"/>
              <a:t> </a:t>
            </a:r>
            <a:r>
              <a:rPr lang="ru-RU" sz="1400" dirty="0" err="1"/>
              <a:t>Илдарович</a:t>
            </a:r>
            <a:endParaRPr lang="ru-RU" sz="1400" dirty="0"/>
          </a:p>
        </p:txBody>
      </p:sp>
      <p:sp>
        <p:nvSpPr>
          <p:cNvPr id="9221" name="Rectangle 10"/>
          <p:cNvSpPr>
            <a:spLocks noChangeArrowheads="1"/>
          </p:cNvSpPr>
          <p:nvPr/>
        </p:nvSpPr>
        <p:spPr bwMode="auto">
          <a:xfrm>
            <a:off x="288925" y="260648"/>
            <a:ext cx="8675563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Ресурсы сети </a:t>
            </a:r>
            <a:endParaRPr lang="ru-RU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22" name="Прямоугольник 1"/>
          <p:cNvSpPr>
            <a:spLocks noChangeArrowheads="1"/>
          </p:cNvSpPr>
          <p:nvPr/>
        </p:nvSpPr>
        <p:spPr bwMode="auto">
          <a:xfrm>
            <a:off x="251521" y="836712"/>
            <a:ext cx="889248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800" b="1" dirty="0" smtClean="0">
                <a:solidFill>
                  <a:srgbClr val="002060"/>
                </a:solidFill>
              </a:rPr>
              <a:t>  </a:t>
            </a:r>
            <a:r>
              <a:rPr lang="ru-RU" sz="2800" dirty="0" smtClean="0">
                <a:solidFill>
                  <a:srgbClr val="002060"/>
                </a:solidFill>
              </a:rPr>
              <a:t>Ресурсами </a:t>
            </a:r>
            <a:r>
              <a:rPr lang="ru-RU" sz="2800" dirty="0">
                <a:solidFill>
                  <a:srgbClr val="002060"/>
                </a:solidFill>
              </a:rPr>
              <a:t>сети </a:t>
            </a:r>
            <a:r>
              <a:rPr lang="ru-RU" sz="2800" dirty="0" smtClean="0"/>
              <a:t>являются:</a:t>
            </a:r>
          </a:p>
          <a:p>
            <a:r>
              <a:rPr lang="ru-RU" sz="2800" dirty="0" smtClean="0"/>
              <a:t>   - </a:t>
            </a:r>
            <a:r>
              <a:rPr lang="ru-RU" sz="2800" i="1" dirty="0" smtClean="0"/>
              <a:t>буферная память; </a:t>
            </a:r>
          </a:p>
          <a:p>
            <a:r>
              <a:rPr lang="ru-RU" sz="2800" i="1" dirty="0" smtClean="0"/>
              <a:t>   - производительность </a:t>
            </a:r>
            <a:r>
              <a:rPr lang="ru-RU" sz="2800" i="1" dirty="0"/>
              <a:t>процессора </a:t>
            </a:r>
            <a:r>
              <a:rPr lang="ru-RU" sz="2800" i="1" dirty="0" err="1" smtClean="0"/>
              <a:t>маршрутизатора</a:t>
            </a:r>
            <a:r>
              <a:rPr lang="ru-RU" sz="2800" i="1" dirty="0" smtClean="0"/>
              <a:t>;</a:t>
            </a:r>
          </a:p>
          <a:p>
            <a:r>
              <a:rPr lang="ru-RU" sz="2800" i="1" dirty="0" smtClean="0"/>
              <a:t>  -  </a:t>
            </a:r>
            <a:r>
              <a:rPr lang="ru-RU" sz="2800" i="1" dirty="0"/>
              <a:t>пропускная способность линий </a:t>
            </a:r>
            <a:r>
              <a:rPr lang="ru-RU" sz="2800" i="1" dirty="0" smtClean="0"/>
              <a:t>передачи.</a:t>
            </a:r>
          </a:p>
          <a:p>
            <a:endParaRPr lang="ru-RU" sz="2800" i="1" dirty="0" smtClean="0"/>
          </a:p>
          <a:p>
            <a:pPr marL="263525" indent="-263525">
              <a:buFont typeface="Arial" pitchFamily="34" charset="0"/>
              <a:buChar char="•"/>
            </a:pPr>
            <a:r>
              <a:rPr lang="ru-RU" sz="2800" dirty="0" smtClean="0"/>
              <a:t> </a:t>
            </a:r>
            <a:r>
              <a:rPr lang="ru-RU" sz="2800" dirty="0">
                <a:solidFill>
                  <a:srgbClr val="002060"/>
                </a:solidFill>
              </a:rPr>
              <a:t>Полный маршрут потока </a:t>
            </a:r>
            <a:r>
              <a:rPr lang="ru-RU" sz="2800" dirty="0" smtClean="0">
                <a:solidFill>
                  <a:srgbClr val="002060"/>
                </a:solidFill>
              </a:rPr>
              <a:t>пакетов</a:t>
            </a:r>
            <a:r>
              <a:rPr lang="en-US" sz="2800" dirty="0" smtClean="0">
                <a:solidFill>
                  <a:srgbClr val="002060"/>
                </a:solidFill>
              </a:rPr>
              <a:t>  - </a:t>
            </a:r>
            <a:r>
              <a:rPr lang="ru-RU" sz="2800" dirty="0" smtClean="0">
                <a:solidFill>
                  <a:srgbClr val="002060"/>
                </a:solidFill>
              </a:rPr>
              <a:t>это цепочка маршрутизаторов и </a:t>
            </a:r>
            <a:r>
              <a:rPr lang="ru-RU" sz="2800" dirty="0">
                <a:solidFill>
                  <a:srgbClr val="002060"/>
                </a:solidFill>
              </a:rPr>
              <a:t>линий передачи</a:t>
            </a:r>
            <a:r>
              <a:rPr lang="ru-RU" sz="2800" dirty="0" smtClean="0">
                <a:solidFill>
                  <a:srgbClr val="002060"/>
                </a:solidFill>
              </a:rPr>
              <a:t>.</a:t>
            </a:r>
          </a:p>
          <a:p>
            <a:pPr marL="263525" indent="-263525">
              <a:buFont typeface="Arial" pitchFamily="34" charset="0"/>
              <a:buChar char="•"/>
            </a:pPr>
            <a:endParaRPr lang="ru-RU" sz="2800" dirty="0" smtClean="0">
              <a:solidFill>
                <a:srgbClr val="002060"/>
              </a:solidFill>
            </a:endParaRPr>
          </a:p>
          <a:p>
            <a:pPr marL="179388" indent="-179388">
              <a:buFont typeface="Arial" pitchFamily="34" charset="0"/>
              <a:buChar char="•"/>
            </a:pPr>
            <a:r>
              <a:rPr lang="ru-RU" sz="2800" dirty="0" smtClean="0"/>
              <a:t> </a:t>
            </a:r>
            <a:r>
              <a:rPr lang="ru-RU" sz="2800" dirty="0" smtClean="0">
                <a:solidFill>
                  <a:srgbClr val="002060"/>
                </a:solidFill>
              </a:rPr>
              <a:t>Входящие</a:t>
            </a:r>
            <a:r>
              <a:rPr lang="ru-RU" sz="2800" dirty="0" smtClean="0"/>
              <a:t>  </a:t>
            </a:r>
            <a:r>
              <a:rPr lang="ru-RU" sz="2800" dirty="0">
                <a:solidFill>
                  <a:srgbClr val="002060"/>
                </a:solidFill>
              </a:rPr>
              <a:t>потоки конкурируют </a:t>
            </a:r>
            <a:r>
              <a:rPr lang="ru-RU" sz="2800" dirty="0" smtClean="0">
                <a:solidFill>
                  <a:srgbClr val="002060"/>
                </a:solidFill>
              </a:rPr>
              <a:t>между </a:t>
            </a:r>
            <a:r>
              <a:rPr lang="ru-RU" sz="2800" dirty="0">
                <a:solidFill>
                  <a:srgbClr val="002060"/>
                </a:solidFill>
              </a:rPr>
              <a:t>собой за </a:t>
            </a:r>
            <a:r>
              <a:rPr lang="ru-RU" sz="2800" dirty="0" smtClean="0">
                <a:solidFill>
                  <a:srgbClr val="002060"/>
                </a:solidFill>
              </a:rPr>
              <a:t>          ресурсы сети</a:t>
            </a:r>
            <a:r>
              <a:rPr lang="ru-RU" sz="2800" dirty="0" smtClean="0"/>
              <a:t>:</a:t>
            </a:r>
          </a:p>
          <a:p>
            <a:r>
              <a:rPr lang="ru-RU" sz="2800" dirty="0" smtClean="0"/>
              <a:t>     - </a:t>
            </a:r>
            <a:r>
              <a:rPr lang="ru-RU" sz="2800" dirty="0"/>
              <a:t>емкость буферов</a:t>
            </a:r>
            <a:r>
              <a:rPr lang="ru-RU" sz="2800" dirty="0" smtClean="0"/>
              <a:t>,</a:t>
            </a:r>
          </a:p>
          <a:p>
            <a:r>
              <a:rPr lang="ru-RU" sz="2800" dirty="0" smtClean="0"/>
              <a:t>     - очередность обслуживания,</a:t>
            </a:r>
          </a:p>
          <a:p>
            <a:r>
              <a:rPr lang="ru-RU" sz="2800" dirty="0" smtClean="0"/>
              <a:t>     - </a:t>
            </a:r>
            <a:r>
              <a:rPr lang="ru-RU" sz="2800" dirty="0"/>
              <a:t>пропускную способность линий передачи.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778098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Порядок обслуживания очереди</a:t>
            </a:r>
            <a:endParaRPr lang="ru-RU" sz="3600" dirty="0"/>
          </a:p>
        </p:txBody>
      </p:sp>
      <p:pic>
        <p:nvPicPr>
          <p:cNvPr id="4" name="Content Placeholder 3" descr="Слайд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31003" t="62994" r="10052" b="9499"/>
          <a:stretch>
            <a:fillRect/>
          </a:stretch>
        </p:blipFill>
        <p:spPr bwMode="auto">
          <a:xfrm>
            <a:off x="323528" y="3789040"/>
            <a:ext cx="842493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Слайд4"/>
          <p:cNvPicPr>
            <a:picLocks noChangeAspect="1" noChangeArrowheads="1"/>
          </p:cNvPicPr>
          <p:nvPr/>
        </p:nvPicPr>
        <p:blipFill>
          <a:blip r:embed="rId2" cstate="print"/>
          <a:srcRect l="8328" t="45955" r="46629" b="37006"/>
          <a:stretch>
            <a:fillRect/>
          </a:stretch>
        </p:blipFill>
        <p:spPr bwMode="auto">
          <a:xfrm>
            <a:off x="395536" y="1268760"/>
            <a:ext cx="849694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720080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 Организация и обслуживание очереди</a:t>
            </a:r>
          </a:p>
        </p:txBody>
      </p:sp>
      <p:sp>
        <p:nvSpPr>
          <p:cNvPr id="2048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8686800" cy="5805264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Очередь </a:t>
            </a:r>
            <a:r>
              <a:rPr lang="ru-RU" dirty="0" smtClean="0"/>
              <a:t>– </a:t>
            </a:r>
            <a:r>
              <a:rPr lang="ru-RU" i="1" dirty="0" smtClean="0"/>
              <a:t>область памяти </a:t>
            </a:r>
            <a:r>
              <a:rPr lang="ru-RU" i="1" dirty="0" err="1" smtClean="0"/>
              <a:t>маршрутизатора</a:t>
            </a:r>
            <a:r>
              <a:rPr lang="ru-RU" i="1" dirty="0" smtClean="0"/>
              <a:t> </a:t>
            </a:r>
            <a:r>
              <a:rPr lang="ru-RU" dirty="0" smtClean="0"/>
              <a:t>или коммутатора, в которых </a:t>
            </a:r>
            <a:r>
              <a:rPr lang="ru-RU" i="1" dirty="0" smtClean="0"/>
              <a:t>группируются  пакеты с одинаковыми приоритетами передачи</a:t>
            </a:r>
            <a:r>
              <a:rPr lang="ru-RU" dirty="0" smtClean="0"/>
              <a:t>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Алгоритм обслуживания очереди</a:t>
            </a:r>
          </a:p>
          <a:p>
            <a:pPr>
              <a:buNone/>
            </a:pPr>
            <a:r>
              <a:rPr lang="ru-RU" i="1" dirty="0" smtClean="0">
                <a:solidFill>
                  <a:srgbClr val="002060"/>
                </a:solidFill>
              </a:rPr>
              <a:t>  </a:t>
            </a:r>
            <a:r>
              <a:rPr lang="ru-RU" i="1" dirty="0" smtClean="0"/>
              <a:t>определяет порядок</a:t>
            </a:r>
            <a:r>
              <a:rPr lang="ru-RU" dirty="0" smtClean="0"/>
              <a:t>, в котором происходит передача хранящихся в ней пакетов.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Задача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обеспечить наилучшее обслуживание трафика с более высоким приоритетом при условии,</a:t>
            </a:r>
          </a:p>
          <a:p>
            <a:pPr>
              <a:buNone/>
            </a:pPr>
            <a:r>
              <a:rPr lang="ru-RU" dirty="0" smtClean="0"/>
              <a:t>   что и пакету с низким приоритетом гарантируется соответствующее качество.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dirty="0" smtClean="0">
                <a:solidFill>
                  <a:srgbClr val="7030A0"/>
                </a:solidFill>
              </a:rPr>
              <a:t>Механизмы обслуживания очередей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FIFO</a:t>
            </a:r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dirty="0" smtClean="0"/>
              <a:t>(First In First Out) – </a:t>
            </a:r>
            <a:r>
              <a:rPr lang="ru-RU" sz="2800" dirty="0" smtClean="0"/>
              <a:t>без использования дополнительных возможностей, используется в </a:t>
            </a:r>
            <a:r>
              <a:rPr lang="en-US" sz="2800" dirty="0" smtClean="0"/>
              <a:t>best effort</a:t>
            </a:r>
          </a:p>
          <a:p>
            <a:pPr eaLnBrk="1" hangingPunct="1">
              <a:defRPr/>
            </a:pPr>
            <a:r>
              <a:rPr 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PQ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dirty="0" smtClean="0"/>
              <a:t>(Priority Queuing)</a:t>
            </a:r>
            <a:r>
              <a:rPr lang="ru-RU" sz="2800" dirty="0" smtClean="0"/>
              <a:t> – приоритетные очереди, вводится приоритет трафика (1-8)</a:t>
            </a:r>
            <a:endParaRPr lang="en-US" sz="2800" dirty="0" smtClean="0"/>
          </a:p>
          <a:p>
            <a:pPr eaLnBrk="1" hangingPunct="1">
              <a:defRPr/>
            </a:pPr>
            <a:r>
              <a:rPr 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CQ</a:t>
            </a:r>
            <a:r>
              <a:rPr lang="en-US" sz="2800" dirty="0" smtClean="0"/>
              <a:t> (Custom Queuing) – </a:t>
            </a:r>
            <a:r>
              <a:rPr lang="ru-RU" sz="2800" dirty="0" smtClean="0"/>
              <a:t>настраиваемые очереди, используется при резервировании ресурсов</a:t>
            </a:r>
            <a:endParaRPr lang="en-US" sz="2800" dirty="0" smtClean="0"/>
          </a:p>
          <a:p>
            <a:pPr eaLnBrk="1" hangingPunct="1">
              <a:defRPr/>
            </a:pPr>
            <a:r>
              <a:rPr 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WFQ</a:t>
            </a:r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800" dirty="0" smtClean="0"/>
              <a:t>(Weighting Fair Queuing) –</a:t>
            </a:r>
            <a:r>
              <a:rPr lang="ru-RU" sz="2800" dirty="0" smtClean="0"/>
              <a:t>взвешенное справедливое обслуживание, позволяет динамически управлять ресурсами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892480" cy="490066"/>
          </a:xfrm>
        </p:spPr>
        <p:txBody>
          <a:bodyPr>
            <a:normAutofit fontScale="90000"/>
          </a:bodyPr>
          <a:lstStyle/>
          <a:p>
            <a:r>
              <a:rPr lang="ru-RU" sz="3100" dirty="0" smtClean="0">
                <a:solidFill>
                  <a:srgbClr val="7030A0"/>
                </a:solidFill>
              </a:rPr>
              <a:t>Алгоритм </a:t>
            </a:r>
            <a:r>
              <a:rPr lang="ru-RU" sz="3100" dirty="0">
                <a:solidFill>
                  <a:srgbClr val="7030A0"/>
                </a:solidFill>
              </a:rPr>
              <a:t>«Первым пришел — первым ушел» (FIFO</a:t>
            </a:r>
            <a:r>
              <a:rPr lang="ru-RU" sz="3600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908720"/>
            <a:ext cx="8208912" cy="56886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000000"/>
                </a:solidFill>
              </a:rPr>
              <a:t>Буфер </a:t>
            </a:r>
            <a:r>
              <a:rPr lang="ru-RU" sz="2400" dirty="0">
                <a:solidFill>
                  <a:srgbClr val="000000"/>
                </a:solidFill>
              </a:rPr>
              <a:t>очереди </a:t>
            </a:r>
            <a:r>
              <a:rPr lang="ru-RU" sz="2400" dirty="0" err="1">
                <a:solidFill>
                  <a:srgbClr val="000000"/>
                </a:solidFill>
              </a:rPr>
              <a:t>First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In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First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Out</a:t>
            </a:r>
            <a:r>
              <a:rPr lang="ru-RU" sz="2400" dirty="0">
                <a:solidFill>
                  <a:srgbClr val="000000"/>
                </a:solidFill>
              </a:rPr>
              <a:t> (FIFO) </a:t>
            </a:r>
            <a:r>
              <a:rPr lang="ru-RU" sz="2400" dirty="0" smtClean="0">
                <a:solidFill>
                  <a:srgbClr val="000000"/>
                </a:solidFill>
              </a:rPr>
              <a:t> </a:t>
            </a:r>
            <a:r>
              <a:rPr lang="ru-RU" sz="2400" dirty="0">
                <a:solidFill>
                  <a:srgbClr val="000000"/>
                </a:solidFill>
              </a:rPr>
              <a:t>пересылает пакеты в порядке их прибытия.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В FIFO нет концепции приоритета или классов трафика и, следовательно, не принимаются решения о приоритете пакетов.</a:t>
            </a:r>
          </a:p>
          <a:p>
            <a:pPr marL="358835" lvl="1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Есть только одна очередь — все пакеты обрабатываются одинаково. </a:t>
            </a:r>
          </a:p>
          <a:p>
            <a:pPr marL="358835" lvl="1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Пакеты отправляются из интерфейса в порядке их поступления.</a:t>
            </a:r>
          </a:p>
          <a:p>
            <a:endParaRPr lang="ru-RU" dirty="0"/>
          </a:p>
        </p:txBody>
      </p:sp>
      <p:pic>
        <p:nvPicPr>
          <p:cNvPr id="4" name="Picture 1">
            <a:extLst>
              <a:ext uri="{FF2B5EF4-FFF2-40B4-BE49-F238E27FC236}">
                <a16:creationId xmlns="" xmlns:a16="http://schemas.microsoft.com/office/drawing/2014/main" id="{CB081BAF-76FA-4992-A3FF-D3567E53A9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4437112"/>
            <a:ext cx="8676456" cy="24208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3472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b="1" smtClean="0"/>
              <a:t>Организация очередей </a:t>
            </a:r>
            <a:r>
              <a:rPr lang="en-US" b="1" smtClean="0"/>
              <a:t>FIFO</a:t>
            </a:r>
            <a:endParaRPr lang="ru-RU" b="1" smtClean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1196752"/>
            <a:ext cx="8497888" cy="2808312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ru-RU" sz="2400" dirty="0" smtClean="0"/>
              <a:t>Традиционно маршрутизаторами на каждом выходном порту применяется дисциплина очередей FIFO и поддерживается одна очередь.</a:t>
            </a:r>
          </a:p>
          <a:p>
            <a:pPr eaLnBrk="1" hangingPunct="1">
              <a:buFontTx/>
              <a:buNone/>
            </a:pPr>
            <a:r>
              <a:rPr lang="ru-RU" sz="2400" dirty="0" smtClean="0"/>
              <a:t> Когда прибывает новый пакет и направляется к выходному порту, он помещается в конец очереди.</a:t>
            </a:r>
          </a:p>
          <a:p>
            <a:pPr eaLnBrk="1" hangingPunct="1">
              <a:buFontTx/>
              <a:buNone/>
            </a:pPr>
            <a:r>
              <a:rPr lang="ru-RU" sz="2400" dirty="0" err="1" smtClean="0"/>
              <a:t>Маршрутизатор</a:t>
            </a:r>
            <a:r>
              <a:rPr lang="ru-RU" sz="2400" dirty="0" smtClean="0"/>
              <a:t> передает пакеты из очереди, выбирая из нее самый старый пакет.</a:t>
            </a:r>
          </a:p>
        </p:txBody>
      </p:sp>
      <p:pic>
        <p:nvPicPr>
          <p:cNvPr id="27655" name="Picture 2" descr="Слайд7"/>
          <p:cNvPicPr>
            <a:picLocks noChangeAspect="1" noChangeArrowheads="1"/>
          </p:cNvPicPr>
          <p:nvPr/>
        </p:nvPicPr>
        <p:blipFill>
          <a:blip r:embed="rId2" cstate="print"/>
          <a:srcRect l="8160" t="18443" r="10295" b="58934"/>
          <a:stretch>
            <a:fillRect/>
          </a:stretch>
        </p:blipFill>
        <p:spPr bwMode="auto">
          <a:xfrm>
            <a:off x="539750" y="4293096"/>
            <a:ext cx="860425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74638"/>
            <a:ext cx="8363272" cy="562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</a:rPr>
              <a:t>Недостатки очереди </a:t>
            </a:r>
            <a:r>
              <a:rPr lang="en-US" sz="3600" dirty="0" smtClean="0">
                <a:solidFill>
                  <a:srgbClr val="7030A0"/>
                </a:solidFill>
              </a:rPr>
              <a:t>FIFO</a:t>
            </a:r>
            <a:endParaRPr lang="ru-RU" sz="3600" dirty="0" smtClean="0">
              <a:solidFill>
                <a:srgbClr val="7030A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95536" y="980728"/>
            <a:ext cx="87484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  <a:defRPr/>
            </a:pPr>
            <a:r>
              <a:rPr lang="ru-RU" sz="2400" dirty="0" smtClean="0"/>
              <a:t>Пакетам, принадлежащим потокам с более высоким приоритетом или потокам, в большей степени чувствительным к задержке, не предоставляется специального обслуживания.                    </a:t>
            </a:r>
          </a:p>
          <a:p>
            <a:pPr marL="342900" indent="-342900">
              <a:buFontTx/>
              <a:buAutoNum type="arabicPeriod"/>
              <a:defRPr/>
            </a:pPr>
            <a:r>
              <a:rPr lang="ru-RU" sz="2400" dirty="0" smtClean="0"/>
              <a:t>Если несколько пакетов из различных потоков готовы к передаче, они посылаются строго в порядке FIFO, то есть в том же порядке, в котором они поступили в очередь.</a:t>
            </a:r>
            <a:endParaRPr lang="en-US" sz="2400" dirty="0" smtClean="0"/>
          </a:p>
          <a:p>
            <a:pPr marL="342900" indent="-342900">
              <a:buFontTx/>
              <a:buAutoNum type="arabicPeriod"/>
              <a:defRPr/>
            </a:pPr>
            <a:r>
              <a:rPr lang="ru-RU" sz="2400" dirty="0" smtClean="0"/>
              <a:t>Если </a:t>
            </a:r>
            <a:r>
              <a:rPr lang="ru-RU" sz="2400" dirty="0"/>
              <a:t>несколько меньших по размеру пакетов стоят в очереди позади больших пакетов, тогда результат применения схемы FIFO будет выражаться в большей средней задержке пакета, чем в случае, если бы более короткие пакеты передавались прежде больших пакетов. </a:t>
            </a:r>
            <a:endParaRPr lang="ru-RU" sz="2400" dirty="0" smtClean="0"/>
          </a:p>
          <a:p>
            <a:pPr marL="342900" indent="-342900">
              <a:buFontTx/>
              <a:buAutoNum type="arabicPeriod"/>
              <a:defRPr/>
            </a:pPr>
            <a:r>
              <a:rPr lang="ru-RU" sz="2400" dirty="0" smtClean="0">
                <a:solidFill>
                  <a:srgbClr val="002060"/>
                </a:solidFill>
              </a:rPr>
              <a:t>В </a:t>
            </a:r>
            <a:r>
              <a:rPr lang="ru-RU" sz="2400" dirty="0">
                <a:solidFill>
                  <a:srgbClr val="002060"/>
                </a:solidFill>
              </a:rPr>
              <a:t>целом получается, что потоки из пакетов большего размера получают лучшее обслуживание</a:t>
            </a:r>
            <a:r>
              <a:rPr lang="ru-RU" sz="2400" dirty="0" smtClean="0">
                <a:solidFill>
                  <a:srgbClr val="002060"/>
                </a:solidFill>
              </a:rPr>
              <a:t>.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66653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Меры по обеспечению </a:t>
            </a:r>
            <a:r>
              <a:rPr lang="en-US" dirty="0" err="1" smtClean="0">
                <a:solidFill>
                  <a:srgbClr val="7030A0"/>
                </a:solidFill>
              </a:rPr>
              <a:t>QoS</a:t>
            </a: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2. Организация и обслуживание очереди.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en-US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PQ </a:t>
            </a:r>
            <a:r>
              <a:rPr lang="en-US" dirty="0" smtClean="0">
                <a:solidFill>
                  <a:srgbClr val="7030A0"/>
                </a:solidFill>
              </a:rPr>
              <a:t>(Priority Queuing)</a:t>
            </a:r>
            <a:r>
              <a:rPr lang="ru-RU" dirty="0" smtClean="0">
                <a:solidFill>
                  <a:srgbClr val="7030A0"/>
                </a:solidFill>
              </a:rPr>
              <a:t> –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приоритетные очереди</a:t>
            </a:r>
            <a:r>
              <a:rPr lang="en-US" dirty="0" smtClean="0">
                <a:solidFill>
                  <a:srgbClr val="7030A0"/>
                </a:solidFill>
              </a:rPr>
              <a:t/>
            </a:r>
            <a:br>
              <a:rPr lang="en-US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52736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Виды приоритетов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836712"/>
            <a:ext cx="8892480" cy="6021288"/>
          </a:xfrm>
        </p:spPr>
        <p:txBody>
          <a:bodyPr>
            <a:normAutofit lnSpcReduction="10000"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Относительный приоритет – без прерывания обслуживания </a:t>
            </a:r>
            <a:r>
              <a:rPr lang="ru-RU" sz="2800" dirty="0" smtClean="0"/>
              <a:t>заявок , заявка становится в очередь перед всеми , которые имеют более низкий приоритет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sz="2800" dirty="0" smtClean="0">
                <a:solidFill>
                  <a:srgbClr val="002060"/>
                </a:solidFill>
              </a:rPr>
              <a:t>Абсолютный приоритет – с прерыванием обслуживания </a:t>
            </a:r>
            <a:r>
              <a:rPr lang="ru-RU" sz="2800" dirty="0" smtClean="0"/>
              <a:t>, если заявки имеют более низкий приоритет. </a:t>
            </a:r>
          </a:p>
          <a:p>
            <a:pPr>
              <a:buNone/>
            </a:pPr>
            <a:r>
              <a:rPr lang="ru-RU" sz="2800" dirty="0" smtClean="0"/>
              <a:t>     Возможны варианты:</a:t>
            </a:r>
          </a:p>
          <a:p>
            <a:pPr>
              <a:buNone/>
            </a:pPr>
            <a:r>
              <a:rPr lang="ru-RU" sz="2800" dirty="0" smtClean="0"/>
              <a:t>         - прерывание с потерей заявки;</a:t>
            </a:r>
          </a:p>
          <a:p>
            <a:pPr>
              <a:buNone/>
            </a:pPr>
            <a:r>
              <a:rPr lang="ru-RU" sz="2800" dirty="0" smtClean="0"/>
              <a:t>         - продолжение обслуживания прерванной         заявки;</a:t>
            </a:r>
          </a:p>
          <a:p>
            <a:pPr>
              <a:buNone/>
            </a:pPr>
            <a:r>
              <a:rPr lang="ru-RU" sz="2800" dirty="0" smtClean="0"/>
              <a:t>          - новое обслуживание прерванной заявки.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Для заявок каждого приоритета – отдельная очередь.</a:t>
            </a:r>
            <a:endParaRPr lang="ru-RU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24744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Приоритеты</a:t>
            </a:r>
            <a:endParaRPr lang="ru-RU" sz="40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616624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  Для передачи голоса,  видео требуются малые задержки т.е. необходимо приоритетное обслуживание</a:t>
            </a:r>
          </a:p>
          <a:p>
            <a:r>
              <a:rPr lang="ru-RU" sz="2800" dirty="0" smtClean="0"/>
              <a:t> Приоритеты заявок характеризуются целыми положительными цифрами – более высокому приоритету ставится меньшее число:           </a:t>
            </a:r>
          </a:p>
          <a:p>
            <a:r>
              <a:rPr lang="ru-RU" sz="2800" b="1" dirty="0" smtClean="0"/>
              <a:t> </a:t>
            </a:r>
            <a:r>
              <a:rPr lang="ru-RU" sz="2800" dirty="0" smtClean="0">
                <a:solidFill>
                  <a:srgbClr val="002060"/>
                </a:solidFill>
              </a:rPr>
              <a:t>7 – 8 используется для передачи сигнализации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 5 – 6 трафик передачи данных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 1 – 4  трафик реального времени</a:t>
            </a:r>
            <a:endParaRPr lang="ru-RU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496300" cy="50405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4000" dirty="0" smtClean="0">
                <a:solidFill>
                  <a:srgbClr val="7030A0"/>
                </a:solidFill>
              </a:rPr>
              <a:t>Организация очереди </a:t>
            </a:r>
            <a:r>
              <a:rPr lang="en-US" sz="4000" dirty="0" smtClean="0">
                <a:solidFill>
                  <a:srgbClr val="7030A0"/>
                </a:solidFill>
              </a:rPr>
              <a:t>PQ/CQ</a:t>
            </a:r>
            <a:endParaRPr lang="ru-RU" sz="4000" dirty="0" smtClean="0">
              <a:solidFill>
                <a:srgbClr val="7030A0"/>
              </a:solidFill>
            </a:endParaRPr>
          </a:p>
        </p:txBody>
      </p:sp>
      <p:sp>
        <p:nvSpPr>
          <p:cNvPr id="29702" name="Прямоугольник 2"/>
          <p:cNvSpPr>
            <a:spLocks noChangeArrowheads="1"/>
          </p:cNvSpPr>
          <p:nvPr/>
        </p:nvSpPr>
        <p:spPr bwMode="auto">
          <a:xfrm>
            <a:off x="323850" y="620688"/>
            <a:ext cx="8820150" cy="6124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 </a:t>
            </a:r>
            <a:r>
              <a:rPr lang="ru-RU" sz="2800" dirty="0" smtClean="0"/>
              <a:t> </a:t>
            </a:r>
            <a:r>
              <a:rPr lang="en-US" sz="2800" dirty="0" smtClean="0"/>
              <a:t>  </a:t>
            </a:r>
            <a:r>
              <a:rPr lang="ru-RU" sz="2800" dirty="0" err="1"/>
              <a:t>Маршрутизатор</a:t>
            </a:r>
            <a:r>
              <a:rPr lang="ru-RU" sz="2800" dirty="0"/>
              <a:t> обслуживает несколько очередей для каждого выходного </a:t>
            </a:r>
            <a:r>
              <a:rPr lang="ru-RU" sz="2800" dirty="0" smtClean="0"/>
              <a:t>порта: </a:t>
            </a:r>
            <a:endParaRPr lang="ru-RU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/>
              <a:t>Каждый </a:t>
            </a:r>
            <a:r>
              <a:rPr lang="ru-RU" sz="2800" dirty="0"/>
              <a:t>входящий пакет помещается в соответствующую </a:t>
            </a:r>
            <a:r>
              <a:rPr lang="ru-RU" sz="2800" dirty="0" smtClean="0"/>
              <a:t>очередь  приоритета 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/>
              <a:t> Очереди </a:t>
            </a:r>
            <a:r>
              <a:rPr lang="ru-RU" sz="2800" dirty="0"/>
              <a:t>обслуживаются в порядке, соответствующем приоритету очереди</a:t>
            </a:r>
            <a:r>
              <a:rPr lang="ru-RU" sz="28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/>
              <a:t> </a:t>
            </a:r>
            <a:r>
              <a:rPr lang="ru-RU" sz="2800" dirty="0"/>
              <a:t>То есть сначала пропускаются пакеты более приоритетных очередей, и только при их опустошении начинают пропускать пакеты из менее приоритетных </a:t>
            </a:r>
            <a:r>
              <a:rPr lang="ru-RU" sz="2800" dirty="0" smtClean="0"/>
              <a:t>очередей 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/>
              <a:t>   При </a:t>
            </a:r>
            <a:r>
              <a:rPr lang="ru-RU" sz="2800" dirty="0"/>
              <a:t>появлении пакетов в более приоритетных очередях, право передачи снова возвращается к ним.  </a:t>
            </a:r>
            <a:r>
              <a:rPr lang="ru-RU" sz="2800" dirty="0" smtClean="0"/>
              <a:t>       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/>
              <a:t> Пустые </a:t>
            </a:r>
            <a:r>
              <a:rPr lang="ru-RU" sz="2800" dirty="0"/>
              <a:t>очереди пропускаются.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ru-RU" dirty="0" smtClean="0">
                <a:solidFill>
                  <a:srgbClr val="7030A0"/>
                </a:solidFill>
              </a:rPr>
              <a:t> Организация очередей </a:t>
            </a:r>
            <a:r>
              <a:rPr lang="en-US" dirty="0" smtClean="0">
                <a:solidFill>
                  <a:srgbClr val="7030A0"/>
                </a:solidFill>
              </a:rPr>
              <a:t>PQ/CQ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8001" y="1427019"/>
            <a:ext cx="6447501" cy="461434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4" name="Picture 1">
            <a:extLst>
              <a:ext uri="{FF2B5EF4-FFF2-40B4-BE49-F238E27FC236}">
                <a16:creationId xmlns="" xmlns:a16="http://schemas.microsoft.com/office/drawing/2014/main" id="{6936C9B1-27CC-4B10-A913-9115638971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1" y="1427018"/>
            <a:ext cx="8240463" cy="502631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7423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2657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Меры по обеспечению </a:t>
            </a:r>
            <a:r>
              <a:rPr lang="en-US" dirty="0" err="1" smtClean="0">
                <a:solidFill>
                  <a:srgbClr val="7030A0"/>
                </a:solidFill>
              </a:rPr>
              <a:t>QoS</a:t>
            </a: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2. Организация и обслуживание очереди.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Взвешенная организация равноправных очередей (WFQ)</a:t>
            </a:r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52736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2в.Взвешенная </a:t>
            </a:r>
            <a:r>
              <a:rPr lang="ru-RU" sz="3200" dirty="0">
                <a:solidFill>
                  <a:srgbClr val="7030A0"/>
                </a:solidFill>
              </a:rPr>
              <a:t>организация равноправных очередей (WFQ)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052736"/>
            <a:ext cx="9144001" cy="5805264"/>
          </a:xfrm>
        </p:spPr>
        <p:txBody>
          <a:bodyPr>
            <a:normAutofit fontScale="25000" lnSpcReduction="20000"/>
          </a:bodyPr>
          <a:lstStyle/>
          <a:p>
            <a:pPr marL="0" indent="0"/>
            <a:endParaRPr lang="ru-RU" sz="6000" dirty="0">
              <a:solidFill>
                <a:srgbClr val="000000"/>
              </a:solidFill>
            </a:endParaRPr>
          </a:p>
          <a:p>
            <a:pPr marL="0" indent="0"/>
            <a:r>
              <a:rPr lang="ru-RU" sz="9600" dirty="0" smtClean="0">
                <a:solidFill>
                  <a:srgbClr val="002060"/>
                </a:solidFill>
              </a:rPr>
              <a:t>   </a:t>
            </a:r>
            <a:r>
              <a:rPr lang="ru-RU" sz="9600" dirty="0" smtClean="0">
                <a:solidFill>
                  <a:schemeClr val="accent1">
                    <a:lumMod val="75000"/>
                  </a:schemeClr>
                </a:solidFill>
              </a:rPr>
              <a:t>WFQ</a:t>
            </a:r>
            <a:r>
              <a:rPr lang="ru-RU" sz="9600" dirty="0" smtClean="0">
                <a:solidFill>
                  <a:srgbClr val="002060"/>
                </a:solidFill>
              </a:rPr>
              <a:t> </a:t>
            </a:r>
            <a:r>
              <a:rPr lang="ru-RU" sz="9600" dirty="0" smtClean="0">
                <a:solidFill>
                  <a:srgbClr val="000000"/>
                </a:solidFill>
              </a:rPr>
              <a:t>является автоматизированным методом планирования, который </a:t>
            </a:r>
            <a:r>
              <a:rPr lang="ru-RU" sz="9600" dirty="0" smtClean="0">
                <a:solidFill>
                  <a:schemeClr val="accent1">
                    <a:lumMod val="75000"/>
                  </a:schemeClr>
                </a:solidFill>
              </a:rPr>
              <a:t>обеспечивает справедливое выделение полосы пропускания всему сетевому трафику. </a:t>
            </a:r>
          </a:p>
          <a:p>
            <a:pPr marL="0" indent="0"/>
            <a:endParaRPr lang="ru-RU" sz="9600" dirty="0" smtClean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9600" dirty="0" smtClean="0">
                <a:solidFill>
                  <a:schemeClr val="accent1">
                    <a:lumMod val="75000"/>
                  </a:schemeClr>
                </a:solidFill>
              </a:rPr>
              <a:t>WFQ использует </a:t>
            </a:r>
            <a:r>
              <a:rPr lang="ru-RU" sz="9600" dirty="0">
                <a:solidFill>
                  <a:schemeClr val="accent1">
                    <a:lumMod val="75000"/>
                  </a:schemeClr>
                </a:solidFill>
              </a:rPr>
              <a:t>приоритет </a:t>
            </a:r>
            <a:r>
              <a:rPr lang="ru-RU" sz="9600" dirty="0" smtClean="0">
                <a:solidFill>
                  <a:schemeClr val="accent1">
                    <a:lumMod val="75000"/>
                  </a:schemeClr>
                </a:solidFill>
              </a:rPr>
              <a:t>  для классификации трафика  </a:t>
            </a:r>
            <a:r>
              <a:rPr lang="ru-RU" sz="9600" dirty="0">
                <a:solidFill>
                  <a:srgbClr val="002060"/>
                </a:solidFill>
              </a:rPr>
              <a:t>по </a:t>
            </a:r>
            <a:r>
              <a:rPr lang="ru-RU" sz="9600" dirty="0" smtClean="0">
                <a:solidFill>
                  <a:schemeClr val="accent1">
                    <a:lumMod val="75000"/>
                  </a:schemeClr>
                </a:solidFill>
              </a:rPr>
              <a:t>классам</a:t>
            </a:r>
            <a:r>
              <a:rPr lang="ru-RU" sz="9600" dirty="0" smtClean="0">
                <a:solidFill>
                  <a:srgbClr val="002060"/>
                </a:solidFill>
              </a:rPr>
              <a:t> </a:t>
            </a:r>
            <a:r>
              <a:rPr lang="ru-RU" sz="9600" dirty="0" smtClean="0">
                <a:solidFill>
                  <a:srgbClr val="000000"/>
                </a:solidFill>
              </a:rPr>
              <a:t>– голосовой  </a:t>
            </a:r>
            <a:r>
              <a:rPr lang="ru-RU" sz="9600" dirty="0">
                <a:solidFill>
                  <a:srgbClr val="000000"/>
                </a:solidFill>
              </a:rPr>
              <a:t>или </a:t>
            </a:r>
            <a:r>
              <a:rPr lang="ru-RU" sz="9600" dirty="0" smtClean="0">
                <a:solidFill>
                  <a:srgbClr val="000000"/>
                </a:solidFill>
              </a:rPr>
              <a:t>данные, </a:t>
            </a:r>
            <a:r>
              <a:rPr lang="ru-RU" sz="9600" dirty="0">
                <a:solidFill>
                  <a:srgbClr val="000000"/>
                </a:solidFill>
              </a:rPr>
              <a:t>а затем определяет, какая пропускная способность каждого потока разрешена по отношению к другим потокам</a:t>
            </a:r>
            <a:r>
              <a:rPr lang="ru-RU" sz="9600" dirty="0" smtClean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9600" dirty="0" smtClean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9600" dirty="0" smtClean="0">
                <a:solidFill>
                  <a:srgbClr val="002060"/>
                </a:solidFill>
              </a:rPr>
              <a:t>WFQ </a:t>
            </a:r>
            <a:r>
              <a:rPr lang="ru-RU" sz="9600" dirty="0">
                <a:solidFill>
                  <a:srgbClr val="002060"/>
                </a:solidFill>
              </a:rPr>
              <a:t>классифицирует трафик, разделяя его на различные потоки с учетом адресации заголовков пакетов</a:t>
            </a:r>
            <a:r>
              <a:rPr lang="ru-RU" sz="9600" dirty="0">
                <a:solidFill>
                  <a:srgbClr val="000000"/>
                </a:solidFill>
              </a:rPr>
              <a:t>, включая такие характеристики, как IP-адреса источника и назначения, MAC-адреса, номера портов, протоколы и значение типа обслуживания (</a:t>
            </a:r>
            <a:r>
              <a:rPr lang="ru-RU" sz="9600" dirty="0" err="1">
                <a:solidFill>
                  <a:srgbClr val="000000"/>
                </a:solidFill>
              </a:rPr>
              <a:t>ToS</a:t>
            </a:r>
            <a:r>
              <a:rPr lang="ru-RU" sz="9600" dirty="0">
                <a:solidFill>
                  <a:srgbClr val="000000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9600" dirty="0">
                <a:solidFill>
                  <a:srgbClr val="002060"/>
                </a:solidFill>
              </a:rPr>
              <a:t>WFQ не поддерживается с </a:t>
            </a:r>
            <a:r>
              <a:rPr lang="ru-RU" sz="9600" dirty="0" err="1">
                <a:solidFill>
                  <a:srgbClr val="002060"/>
                </a:solidFill>
              </a:rPr>
              <a:t>туннелированием</a:t>
            </a:r>
            <a:r>
              <a:rPr lang="ru-RU" sz="9600" dirty="0">
                <a:solidFill>
                  <a:srgbClr val="002060"/>
                </a:solidFill>
              </a:rPr>
              <a:t> и шифрованием, </a:t>
            </a:r>
            <a:r>
              <a:rPr lang="ru-RU" sz="9600" dirty="0">
                <a:solidFill>
                  <a:srgbClr val="000000"/>
                </a:solidFill>
              </a:rPr>
              <a:t>поскольку эти функции изменяют информацию о содержимом пакета, которая необходима WFQ для классификации.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4601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pPr eaLnBrk="1" hangingPunct="1"/>
            <a:r>
              <a:rPr lang="ru-RU" b="1" dirty="0" smtClean="0"/>
              <a:t>Организация очередей </a:t>
            </a:r>
            <a:r>
              <a:rPr lang="en-US" b="1" dirty="0" smtClean="0"/>
              <a:t>WFQ</a:t>
            </a:r>
            <a:endParaRPr lang="ru-RU" b="1" dirty="0" smtClean="0"/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752"/>
            <a:ext cx="6778625" cy="223224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sz="2400" b="1" dirty="0" smtClean="0"/>
              <a:t>Приоритет:</a:t>
            </a:r>
          </a:p>
          <a:p>
            <a:pPr eaLnBrk="1" hangingPunct="1">
              <a:buFontTx/>
              <a:buNone/>
            </a:pPr>
            <a:r>
              <a:rPr lang="ru-RU" sz="2400" dirty="0" smtClean="0"/>
              <a:t>7-8 сигнализация, транзакции</a:t>
            </a:r>
          </a:p>
          <a:p>
            <a:pPr eaLnBrk="1" hangingPunct="1">
              <a:buFontTx/>
              <a:buNone/>
            </a:pPr>
            <a:r>
              <a:rPr lang="ru-RU" sz="2400" dirty="0" smtClean="0"/>
              <a:t>5-6 трафик реального времени</a:t>
            </a:r>
          </a:p>
          <a:p>
            <a:pPr eaLnBrk="1" hangingPunct="1">
              <a:buFontTx/>
              <a:buNone/>
            </a:pPr>
            <a:r>
              <a:rPr lang="ru-RU" sz="2400" dirty="0" smtClean="0"/>
              <a:t>1-4 эластичный трафик</a:t>
            </a:r>
          </a:p>
        </p:txBody>
      </p:sp>
      <p:graphicFrame>
        <p:nvGraphicFramePr>
          <p:cNvPr id="3072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042988" y="3500438"/>
          <a:ext cx="7056437" cy="2671762"/>
        </p:xfrm>
        <a:graphic>
          <a:graphicData uri="http://schemas.openxmlformats.org/presentationml/2006/ole">
            <p:oleObj spid="_x0000_s325656" name="VISIO" r:id="rId3" imgW="6633972" imgH="2513076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sz="4000" dirty="0" smtClean="0">
                <a:solidFill>
                  <a:srgbClr val="7030A0"/>
                </a:solidFill>
              </a:rPr>
              <a:t>Модификации</a:t>
            </a:r>
            <a:r>
              <a:rPr lang="en-US" sz="4000" dirty="0" smtClean="0">
                <a:solidFill>
                  <a:srgbClr val="7030A0"/>
                </a:solidFill>
              </a:rPr>
              <a:t> WFQ</a:t>
            </a:r>
            <a:endParaRPr lang="ru-RU" sz="4000" dirty="0" smtClean="0">
              <a:solidFill>
                <a:srgbClr val="7030A0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pPr eaLnBrk="1" hangingPunct="1"/>
            <a:r>
              <a:rPr lang="en-US" sz="3600" dirty="0" smtClean="0"/>
              <a:t>WFQ </a:t>
            </a:r>
            <a:r>
              <a:rPr lang="ru-RU" sz="3600" dirty="0" smtClean="0"/>
              <a:t>на основе вычисления номера пакета</a:t>
            </a:r>
          </a:p>
          <a:p>
            <a:pPr eaLnBrk="1" hangingPunct="1"/>
            <a:r>
              <a:rPr lang="en-US" sz="3600" dirty="0" smtClean="0">
                <a:solidFill>
                  <a:srgbClr val="002060"/>
                </a:solidFill>
              </a:rPr>
              <a:t>WFQ</a:t>
            </a:r>
            <a:r>
              <a:rPr lang="ru-RU" sz="3600" dirty="0" smtClean="0">
                <a:solidFill>
                  <a:srgbClr val="002060"/>
                </a:solidFill>
              </a:rPr>
              <a:t> на основе потока</a:t>
            </a:r>
          </a:p>
          <a:p>
            <a:pPr eaLnBrk="1" hangingPunct="1"/>
            <a:r>
              <a:rPr lang="en-US" sz="3600" dirty="0" smtClean="0">
                <a:solidFill>
                  <a:srgbClr val="0070C0"/>
                </a:solidFill>
              </a:rPr>
              <a:t>CBWFQ </a:t>
            </a:r>
            <a:r>
              <a:rPr lang="ru-RU" sz="3600" dirty="0" smtClean="0">
                <a:solidFill>
                  <a:srgbClr val="0070C0"/>
                </a:solidFill>
              </a:rPr>
              <a:t>–</a:t>
            </a:r>
            <a:r>
              <a:rPr lang="en-US" sz="3600" dirty="0" smtClean="0">
                <a:solidFill>
                  <a:srgbClr val="0070C0"/>
                </a:solidFill>
              </a:rPr>
              <a:t> WFQ</a:t>
            </a:r>
            <a:r>
              <a:rPr lang="ru-RU" sz="3600" dirty="0" smtClean="0">
                <a:solidFill>
                  <a:srgbClr val="0070C0"/>
                </a:solidFill>
              </a:rPr>
              <a:t> на основе класса</a:t>
            </a:r>
          </a:p>
          <a:p>
            <a:pPr eaLnBrk="1" hangingPunct="1"/>
            <a:r>
              <a:rPr lang="en-US" sz="3600" dirty="0" smtClean="0"/>
              <a:t>DWFQ</a:t>
            </a:r>
            <a:r>
              <a:rPr lang="ru-RU" sz="3600" dirty="0" smtClean="0"/>
              <a:t> – распределенный </a:t>
            </a:r>
            <a:r>
              <a:rPr lang="en-US" sz="3600" dirty="0" smtClean="0"/>
              <a:t>WFQ</a:t>
            </a:r>
            <a:endParaRPr lang="ru-RU" sz="3600" dirty="0" smtClean="0"/>
          </a:p>
          <a:p>
            <a:pPr eaLnBrk="1" hangingPunct="1"/>
            <a:r>
              <a:rPr lang="en-US" sz="3600" dirty="0" smtClean="0"/>
              <a:t>DWFQ</a:t>
            </a:r>
            <a:r>
              <a:rPr lang="ru-RU" sz="3600" dirty="0" smtClean="0"/>
              <a:t> на основе </a:t>
            </a:r>
            <a:r>
              <a:rPr lang="en-US" sz="3600" dirty="0" err="1" smtClean="0"/>
              <a:t>QoS</a:t>
            </a:r>
            <a:r>
              <a:rPr lang="ru-RU" sz="3600" dirty="0" smtClean="0"/>
              <a:t>-группы</a:t>
            </a:r>
          </a:p>
          <a:p>
            <a:pPr eaLnBrk="1" hangingPunct="1"/>
            <a:r>
              <a:rPr lang="en-US" sz="3600" dirty="0" smtClean="0"/>
              <a:t>CBWFQ c</a:t>
            </a:r>
            <a:r>
              <a:rPr lang="ru-RU" sz="3600" dirty="0" smtClean="0"/>
              <a:t> приоритетной очередью (</a:t>
            </a:r>
            <a:r>
              <a:rPr lang="en-US" sz="3600" dirty="0" smtClean="0"/>
              <a:t>LLQ)</a:t>
            </a:r>
          </a:p>
          <a:p>
            <a:pPr eaLnBrk="1" hangingPunct="1"/>
            <a:r>
              <a:rPr lang="ru-RU" sz="3600" dirty="0" smtClean="0"/>
              <a:t>Заказное обслуживание очередей</a:t>
            </a:r>
            <a:endParaRPr lang="en-US" sz="3600" dirty="0" smtClean="0"/>
          </a:p>
          <a:p>
            <a:pPr eaLnBrk="1" hangingPunct="1"/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Взвешенная организация равноправных очередей (WFQ</a:t>
            </a:r>
            <a:r>
              <a:rPr lang="ru-RU" sz="3600" dirty="0" smtClean="0">
                <a:solidFill>
                  <a:srgbClr val="7030A0"/>
                </a:solidFill>
              </a:rPr>
              <a:t>) на основе потока 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9" y="1556792"/>
            <a:ext cx="8352928" cy="5112568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A73777F7-7346-4E18-806F-0CAE40BBA4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1" y="2160589"/>
            <a:ext cx="7592391" cy="429562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4359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09046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Меры по обеспечению </a:t>
            </a:r>
            <a:r>
              <a:rPr lang="en-US" dirty="0" err="1" smtClean="0">
                <a:solidFill>
                  <a:srgbClr val="7030A0"/>
                </a:solidFill>
              </a:rPr>
              <a:t>QoS</a:t>
            </a: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2. Организация и обслуживание очереди.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Взвешенная организация очередей на основе классов (CBWFQ)</a:t>
            </a:r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>
                <a:solidFill>
                  <a:srgbClr val="7030A0"/>
                </a:solidFill>
              </a:rPr>
              <a:t>Взвешенная организация очередей на основе классов (CBWFQ)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12776"/>
            <a:ext cx="8712967" cy="5223551"/>
          </a:xfrm>
        </p:spPr>
        <p:txBody>
          <a:bodyPr>
            <a:normAutofit fontScale="92500" lnSpcReduction="10000"/>
          </a:bodyPr>
          <a:lstStyle/>
          <a:p>
            <a:pPr marL="0" indent="0"/>
            <a:r>
              <a:rPr lang="ru-RU" sz="2900" dirty="0" smtClean="0">
                <a:solidFill>
                  <a:srgbClr val="000000"/>
                </a:solidFill>
              </a:rPr>
              <a:t>    Алгоритм </a:t>
            </a:r>
            <a:r>
              <a:rPr lang="ru-RU" sz="2900" dirty="0">
                <a:solidFill>
                  <a:srgbClr val="000000"/>
                </a:solidFill>
              </a:rPr>
              <a:t>CBWFQ обладает более широкими возможностями, чем стандартный алгоритм WFQ, за счет поддержки определенных </a:t>
            </a:r>
            <a:r>
              <a:rPr lang="ru-RU" sz="2900" dirty="0" smtClean="0">
                <a:solidFill>
                  <a:srgbClr val="000000"/>
                </a:solidFill>
              </a:rPr>
              <a:t> </a:t>
            </a:r>
            <a:r>
              <a:rPr lang="ru-RU" sz="2900" dirty="0">
                <a:solidFill>
                  <a:srgbClr val="000000"/>
                </a:solidFill>
              </a:rPr>
              <a:t>классов </a:t>
            </a:r>
            <a:r>
              <a:rPr lang="ru-RU" sz="2900" dirty="0" smtClean="0">
                <a:solidFill>
                  <a:srgbClr val="000000"/>
                </a:solidFill>
              </a:rPr>
              <a:t>трафика. </a:t>
            </a:r>
            <a:endParaRPr lang="ru-RU" sz="2900" dirty="0">
              <a:solidFill>
                <a:srgbClr val="000000"/>
              </a:solidFill>
            </a:endParaRPr>
          </a:p>
          <a:p>
            <a:pPr marL="358835" lvl="1">
              <a:buFont typeface="Arial" panose="020B0604020202020204" pitchFamily="34" charset="0"/>
              <a:buChar char="•"/>
            </a:pPr>
            <a:r>
              <a:rPr lang="ru-RU" sz="2900" i="1" dirty="0" smtClean="0">
                <a:solidFill>
                  <a:srgbClr val="000000"/>
                </a:solidFill>
              </a:rPr>
              <a:t> Классы трафика определяются </a:t>
            </a:r>
            <a:r>
              <a:rPr lang="ru-RU" sz="2900" i="1" dirty="0">
                <a:solidFill>
                  <a:srgbClr val="000000"/>
                </a:solidFill>
              </a:rPr>
              <a:t>на </a:t>
            </a:r>
            <a:r>
              <a:rPr lang="ru-RU" sz="2900" i="1" dirty="0" smtClean="0">
                <a:solidFill>
                  <a:srgbClr val="000000"/>
                </a:solidFill>
              </a:rPr>
              <a:t>основании протоколов </a:t>
            </a:r>
            <a:r>
              <a:rPr lang="ru-RU" sz="2900" i="1" dirty="0">
                <a:solidFill>
                  <a:srgbClr val="000000"/>
                </a:solidFill>
              </a:rPr>
              <a:t>и входных интерфейсов</a:t>
            </a:r>
            <a:r>
              <a:rPr lang="ru-RU" sz="2900" dirty="0">
                <a:solidFill>
                  <a:srgbClr val="000000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900" dirty="0" smtClean="0">
                <a:solidFill>
                  <a:srgbClr val="002060"/>
                </a:solidFill>
              </a:rPr>
              <a:t>Чтобы </a:t>
            </a:r>
            <a:r>
              <a:rPr lang="ru-RU" sz="2900" dirty="0">
                <a:solidFill>
                  <a:srgbClr val="002060"/>
                </a:solidFill>
              </a:rPr>
              <a:t>характеризовать класс, ему </a:t>
            </a:r>
            <a:r>
              <a:rPr lang="ru-RU" sz="2900" dirty="0" smtClean="0">
                <a:solidFill>
                  <a:srgbClr val="002060"/>
                </a:solidFill>
              </a:rPr>
              <a:t>назначаются:</a:t>
            </a:r>
          </a:p>
          <a:p>
            <a:pPr marL="285750" indent="-285750">
              <a:buNone/>
            </a:pPr>
            <a:r>
              <a:rPr lang="ru-RU" sz="2900" dirty="0" smtClean="0">
                <a:solidFill>
                  <a:srgbClr val="002060"/>
                </a:solidFill>
              </a:rPr>
              <a:t>       - пропускная способность; </a:t>
            </a:r>
          </a:p>
          <a:p>
            <a:pPr marL="285750" indent="-285750">
              <a:buNone/>
            </a:pPr>
            <a:r>
              <a:rPr lang="ru-RU" sz="2900" dirty="0" smtClean="0">
                <a:solidFill>
                  <a:srgbClr val="002060"/>
                </a:solidFill>
              </a:rPr>
              <a:t>        - вес ;</a:t>
            </a:r>
          </a:p>
          <a:p>
            <a:pPr marL="285750" indent="-285750">
              <a:buNone/>
            </a:pPr>
            <a:r>
              <a:rPr lang="ru-RU" sz="2900" dirty="0" smtClean="0">
                <a:solidFill>
                  <a:srgbClr val="002060"/>
                </a:solidFill>
              </a:rPr>
              <a:t>         - максимальная длина </a:t>
            </a:r>
            <a:r>
              <a:rPr lang="ru-RU" sz="2900" dirty="0">
                <a:solidFill>
                  <a:srgbClr val="002060"/>
                </a:solidFill>
              </a:rPr>
              <a:t>пакета</a:t>
            </a:r>
            <a:r>
              <a:rPr lang="ru-RU" sz="2900" dirty="0" smtClean="0">
                <a:solidFill>
                  <a:srgbClr val="002060"/>
                </a:solidFill>
              </a:rPr>
              <a:t>.</a:t>
            </a:r>
          </a:p>
          <a:p>
            <a:pPr marL="285750" indent="-285750"/>
            <a:r>
              <a:rPr lang="ru-RU" sz="2900" dirty="0" smtClean="0">
                <a:solidFill>
                  <a:srgbClr val="000000"/>
                </a:solidFill>
              </a:rPr>
              <a:t> Пропускная способность, </a:t>
            </a:r>
            <a:r>
              <a:rPr lang="ru-RU" sz="2900" dirty="0">
                <a:solidFill>
                  <a:srgbClr val="000000"/>
                </a:solidFill>
              </a:rPr>
              <a:t>назначенная классу, является гарантированной </a:t>
            </a:r>
            <a:r>
              <a:rPr lang="ru-RU" sz="2900" dirty="0" smtClean="0">
                <a:solidFill>
                  <a:srgbClr val="000000"/>
                </a:solidFill>
              </a:rPr>
              <a:t>, </a:t>
            </a:r>
            <a:r>
              <a:rPr lang="ru-RU" sz="2900" dirty="0">
                <a:solidFill>
                  <a:srgbClr val="000000"/>
                </a:solidFill>
              </a:rPr>
              <a:t>предоставляемой классу во время </a:t>
            </a:r>
            <a:r>
              <a:rPr lang="ru-RU" sz="2900" dirty="0" smtClean="0">
                <a:solidFill>
                  <a:srgbClr val="000000"/>
                </a:solidFill>
              </a:rPr>
              <a:t>затора.</a:t>
            </a:r>
            <a:endParaRPr lang="ru-RU" sz="2900" dirty="0">
              <a:solidFill>
                <a:srgbClr val="000000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58746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4092" y="152400"/>
            <a:ext cx="8488388" cy="828328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Взвешенная организация очередей на основе классов (CBWFQ)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052736"/>
            <a:ext cx="8892480" cy="5400600"/>
          </a:xfrm>
        </p:spPr>
        <p:txBody>
          <a:bodyPr>
            <a:normAutofit fontScale="85000" lnSpcReduction="20000"/>
          </a:bodyPr>
          <a:lstStyle/>
          <a:p>
            <a:pPr marL="0" indent="0"/>
            <a:r>
              <a:rPr lang="ru-RU" dirty="0" smtClean="0">
                <a:solidFill>
                  <a:srgbClr val="000000"/>
                </a:solidFill>
              </a:rPr>
              <a:t>   </a:t>
            </a:r>
            <a:r>
              <a:rPr lang="ru-RU" sz="3600" dirty="0" smtClean="0">
                <a:solidFill>
                  <a:srgbClr val="000000"/>
                </a:solidFill>
              </a:rPr>
              <a:t>Если  </a:t>
            </a:r>
            <a:r>
              <a:rPr lang="ru-RU" sz="3600" dirty="0">
                <a:solidFill>
                  <a:srgbClr val="000000"/>
                </a:solidFill>
              </a:rPr>
              <a:t>очередь достигает заданного </a:t>
            </a:r>
            <a:r>
              <a:rPr lang="ru-RU" sz="3600" dirty="0" smtClean="0">
                <a:solidFill>
                  <a:srgbClr val="000000"/>
                </a:solidFill>
              </a:rPr>
              <a:t>ограничения</a:t>
            </a:r>
            <a:r>
              <a:rPr lang="ru-RU" sz="3600" dirty="0">
                <a:solidFill>
                  <a:srgbClr val="000000"/>
                </a:solidFill>
              </a:rPr>
              <a:t>, </a:t>
            </a:r>
            <a:r>
              <a:rPr lang="ru-RU" sz="3600" dirty="0" smtClean="0">
                <a:solidFill>
                  <a:srgbClr val="000000"/>
                </a:solidFill>
              </a:rPr>
              <a:t>то добавление </a:t>
            </a:r>
            <a:r>
              <a:rPr lang="ru-RU" sz="3600" dirty="0">
                <a:solidFill>
                  <a:srgbClr val="000000"/>
                </a:solidFill>
              </a:rPr>
              <a:t>дополнительных пакетов </a:t>
            </a:r>
            <a:r>
              <a:rPr lang="ru-RU" sz="3600" dirty="0" smtClean="0">
                <a:solidFill>
                  <a:srgbClr val="000000"/>
                </a:solidFill>
              </a:rPr>
              <a:t> </a:t>
            </a:r>
            <a:r>
              <a:rPr lang="ru-RU" sz="3600" dirty="0">
                <a:solidFill>
                  <a:srgbClr val="000000"/>
                </a:solidFill>
              </a:rPr>
              <a:t>приводит к отбрасыванию пакетов — либо с конца, либо согласно настроенной политике класса.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rgbClr val="000000"/>
                </a:solidFill>
              </a:rPr>
              <a:t>Отбрасывание с конца — это когда маршрутизатор просто отклоняет любой пакет, который поступает в конец очереди, если ресурсы для хранения пакетов полностью заняты.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rgbClr val="000000"/>
                </a:solidFill>
              </a:rPr>
              <a:t>Таким образом механизм организации очереди реагирует по умолчанию на затор</a:t>
            </a:r>
            <a:r>
              <a:rPr lang="ru-RU" sz="3600" dirty="0" smtClean="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 smtClean="0">
                <a:solidFill>
                  <a:srgbClr val="000000"/>
                </a:solidFill>
              </a:rPr>
              <a:t> </a:t>
            </a:r>
            <a:r>
              <a:rPr lang="ru-RU" sz="3600" dirty="0">
                <a:solidFill>
                  <a:srgbClr val="000000"/>
                </a:solidFill>
              </a:rPr>
              <a:t>Отбрасывание с конца приводит к одинаковой обработке всего трафика, независимо от класса обслуживания.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74381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Взвешенная организация очередей на основе классов (CBWFQ)</a:t>
            </a:r>
            <a:endParaRPr lang="ru-RU" dirty="0"/>
          </a:p>
        </p:txBody>
      </p:sp>
      <p:pic>
        <p:nvPicPr>
          <p:cNvPr id="4" name="Picture 1">
            <a:extLst>
              <a:ext uri="{FF2B5EF4-FFF2-40B4-BE49-F238E27FC236}">
                <a16:creationId xmlns="" xmlns:a16="http://schemas.microsoft.com/office/drawing/2014/main" id="{3D94E8F5-828C-4DBB-9BE3-B10C2DB9A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9512" y="1844824"/>
            <a:ext cx="8568952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Организация очереди с малой задержкой (LLQ)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7" cy="5586329"/>
          </a:xfrm>
        </p:spPr>
        <p:txBody>
          <a:bodyPr>
            <a:normAutofit fontScale="92500" lnSpcReduction="10000"/>
          </a:bodyPr>
          <a:lstStyle/>
          <a:p>
            <a:pPr marL="0" indent="0"/>
            <a:r>
              <a:rPr lang="ru-RU" dirty="0" smtClean="0">
                <a:solidFill>
                  <a:srgbClr val="000000"/>
                </a:solidFill>
              </a:rPr>
              <a:t> 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Функция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LLQ определяет строгий порядок формирования очередей по приоритетам (PQ) для CBWFQ. </a:t>
            </a:r>
          </a:p>
          <a:p>
            <a:pPr marL="285750" indent="-285750">
              <a:buNone/>
            </a:pPr>
            <a:r>
              <a:rPr lang="ru-RU" dirty="0" smtClean="0">
                <a:solidFill>
                  <a:srgbClr val="000000"/>
                </a:solidFill>
              </a:rPr>
              <a:t>  Строгий </a:t>
            </a:r>
            <a:r>
              <a:rPr lang="ru-RU" dirty="0">
                <a:solidFill>
                  <a:srgbClr val="000000"/>
                </a:solidFill>
              </a:rPr>
              <a:t>порядок </a:t>
            </a:r>
            <a:r>
              <a:rPr lang="ru-RU" dirty="0" smtClean="0">
                <a:solidFill>
                  <a:srgbClr val="000000"/>
                </a:solidFill>
              </a:rPr>
              <a:t>формирования очередей </a:t>
            </a:r>
            <a:r>
              <a:rPr lang="ru-RU" dirty="0">
                <a:solidFill>
                  <a:srgbClr val="000000"/>
                </a:solidFill>
              </a:rPr>
              <a:t>(PQ) позволяет отправлять чувствительные к задержке данные, например голос, перед пакетами в других очередях.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</a:rPr>
              <a:t>LLQ позволяет в первую очередь (до обработки пакетов в других очередях) отправлять чувствительные к задержкам данные, что обеспечивает предпочтительную обработку таких данных относительно остального трафика.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586000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Организация очереди с малой задержкой (LLQ)</a:t>
            </a:r>
            <a:endParaRPr lang="ru-RU" sz="3200" dirty="0"/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67EA435C-EA05-4A91-877D-72D56A486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124744"/>
            <a:ext cx="8424935" cy="554461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640960" cy="445050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ru-RU" dirty="0" smtClean="0">
                <a:solidFill>
                  <a:srgbClr val="7030A0"/>
                </a:solidFill>
              </a:rPr>
              <a:t>Меры по обеспечению </a:t>
            </a:r>
            <a:r>
              <a:rPr lang="en-US" dirty="0" err="1" smtClean="0">
                <a:solidFill>
                  <a:srgbClr val="7030A0"/>
                </a:solidFill>
              </a:rPr>
              <a:t>QoS</a:t>
            </a: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3.Предотвращение перегрузок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4.Увеличение полосы пропускания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9"/>
            <a:ext cx="9144000" cy="706090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</a:rPr>
              <a:t>Предотвращение перегрузок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08720"/>
            <a:ext cx="9144000" cy="594928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b="1" dirty="0" smtClean="0">
                <a:solidFill>
                  <a:schemeClr val="tx2"/>
                </a:solidFill>
              </a:rPr>
              <a:t>Прерывание передачи: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b="1" dirty="0" smtClean="0">
                <a:solidFill>
                  <a:schemeClr val="tx2"/>
                </a:solidFill>
              </a:rPr>
              <a:t>   </a:t>
            </a:r>
            <a:r>
              <a:rPr lang="ru-RU" dirty="0" smtClean="0"/>
              <a:t> В случае перегрузки передача пакетов источниками трафика прерывается на случайный интервал времени, затем возобновляется с той же интенсивностью.</a:t>
            </a:r>
          </a:p>
          <a:p>
            <a:pPr eaLnBrk="1" hangingPunct="1">
              <a:lnSpc>
                <a:spcPct val="80000"/>
              </a:lnSpc>
            </a:pPr>
            <a:r>
              <a:rPr lang="ru-RU" b="1" dirty="0" smtClean="0">
                <a:solidFill>
                  <a:schemeClr val="tx2"/>
                </a:solidFill>
              </a:rPr>
              <a:t>Использование динамического окна: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b="1" dirty="0" smtClean="0">
                <a:solidFill>
                  <a:schemeClr val="tx2"/>
                </a:solidFill>
              </a:rPr>
              <a:t>  </a:t>
            </a:r>
            <a:r>
              <a:rPr lang="ru-RU" dirty="0" smtClean="0"/>
              <a:t> размер окна (количество пакетов, посылаемых источником за период) изменяется в зависимости от загрузки буфера.</a:t>
            </a:r>
          </a:p>
          <a:p>
            <a:pPr eaLnBrk="1" hangingPunct="1">
              <a:lnSpc>
                <a:spcPct val="80000"/>
              </a:lnSpc>
            </a:pPr>
            <a:r>
              <a:rPr lang="ru-RU" b="1" dirty="0" smtClean="0">
                <a:solidFill>
                  <a:schemeClr val="tx2"/>
                </a:solidFill>
              </a:rPr>
              <a:t>Медленный старт: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b="1" dirty="0" smtClean="0">
                <a:solidFill>
                  <a:schemeClr val="tx2"/>
                </a:solidFill>
              </a:rPr>
              <a:t> </a:t>
            </a:r>
            <a:r>
              <a:rPr lang="ru-RU" dirty="0" smtClean="0"/>
              <a:t> в случае перегрузки источники трафика прекращают передачу, затем посылают пакеты, постепенно увеличивая размер окна.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Предотвращение потери пакетов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544616"/>
          </a:xfrm>
        </p:spPr>
        <p:txBody>
          <a:bodyPr>
            <a:noAutofit/>
          </a:bodyPr>
          <a:lstStyle/>
          <a:p>
            <a:pPr marL="0" indent="0" algn="just"/>
            <a:r>
              <a:rPr lang="ru-RU" sz="2000" dirty="0" smtClean="0">
                <a:solidFill>
                  <a:srgbClr val="002060"/>
                </a:solidFill>
              </a:rPr>
              <a:t>    </a:t>
            </a:r>
            <a:r>
              <a:rPr lang="ru-RU" sz="2800" i="1" dirty="0" smtClean="0">
                <a:solidFill>
                  <a:srgbClr val="002060"/>
                </a:solidFill>
              </a:rPr>
              <a:t>Потеря </a:t>
            </a:r>
            <a:r>
              <a:rPr lang="ru-RU" sz="2800" i="1" dirty="0">
                <a:solidFill>
                  <a:srgbClr val="002060"/>
                </a:solidFill>
              </a:rPr>
              <a:t>пакетов обычно возникает из-за заторов на интерфейсе</a:t>
            </a:r>
            <a:r>
              <a:rPr lang="ru-RU" sz="2800" dirty="0" smtClean="0">
                <a:solidFill>
                  <a:srgbClr val="000000"/>
                </a:solidFill>
              </a:rPr>
              <a:t>.</a:t>
            </a:r>
          </a:p>
          <a:p>
            <a:pPr marL="0" indent="0" algn="just"/>
            <a:r>
              <a:rPr lang="ru-RU" sz="2800" dirty="0" smtClean="0">
                <a:solidFill>
                  <a:srgbClr val="000000"/>
                </a:solidFill>
              </a:rPr>
              <a:t> </a:t>
            </a:r>
            <a:r>
              <a:rPr lang="ru-RU" sz="2800" dirty="0">
                <a:solidFill>
                  <a:srgbClr val="000000"/>
                </a:solidFill>
              </a:rPr>
              <a:t>Большинство приложений, использующих TCP, сталкиваются с замедлением работы, поскольку при заторах в сети автоматически происходит регулировка TCP-трафика</a:t>
            </a:r>
            <a:r>
              <a:rPr lang="ru-RU" sz="2800" dirty="0" smtClean="0">
                <a:solidFill>
                  <a:srgbClr val="000000"/>
                </a:solidFill>
              </a:rPr>
              <a:t>.</a:t>
            </a:r>
          </a:p>
          <a:p>
            <a:pPr marL="0" indent="0" algn="just"/>
            <a:r>
              <a:rPr lang="ru-RU" sz="2800" dirty="0" smtClean="0">
                <a:solidFill>
                  <a:srgbClr val="000000"/>
                </a:solidFill>
              </a:rPr>
              <a:t> </a:t>
            </a:r>
            <a:r>
              <a:rPr lang="ru-RU" sz="2800" dirty="0">
                <a:solidFill>
                  <a:srgbClr val="000000"/>
                </a:solidFill>
              </a:rPr>
              <a:t>Потерянные сегменты TCP приводят к увеличению размеров окон сеансов TCP. </a:t>
            </a:r>
            <a:endParaRPr lang="ru-RU" sz="2800" dirty="0" smtClean="0">
              <a:solidFill>
                <a:srgbClr val="000000"/>
              </a:solidFill>
            </a:endParaRPr>
          </a:p>
          <a:p>
            <a:pPr marL="0" indent="0" algn="just"/>
            <a:r>
              <a:rPr lang="ru-RU" sz="2800" dirty="0" smtClean="0">
                <a:solidFill>
                  <a:srgbClr val="000000"/>
                </a:solidFill>
              </a:rPr>
              <a:t>Некоторые </a:t>
            </a:r>
            <a:r>
              <a:rPr lang="ru-RU" sz="2800" dirty="0">
                <a:solidFill>
                  <a:srgbClr val="000000"/>
                </a:solidFill>
              </a:rPr>
              <a:t>приложения </a:t>
            </a:r>
            <a:r>
              <a:rPr lang="ru-RU" sz="2800" dirty="0" smtClean="0">
                <a:solidFill>
                  <a:srgbClr val="000000"/>
                </a:solidFill>
              </a:rPr>
              <a:t> </a:t>
            </a:r>
            <a:r>
              <a:rPr lang="ru-RU" sz="2800" dirty="0">
                <a:solidFill>
                  <a:srgbClr val="000000"/>
                </a:solidFill>
              </a:rPr>
              <a:t>используют TCP и не могут обрабатывать потерянные сегменты (уязвимые потоки).</a:t>
            </a:r>
            <a:endParaRPr lang="en-US" sz="2800" dirty="0">
              <a:solidFill>
                <a:srgbClr val="000000"/>
              </a:solidFill>
            </a:endParaRPr>
          </a:p>
          <a:p>
            <a:pPr marL="0" indent="0" algn="just"/>
            <a:endParaRPr lang="ru-RU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6390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418058"/>
          </a:xfrm>
        </p:spPr>
        <p:txBody>
          <a:bodyPr>
            <a:normAutofit fontScale="90000"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Меры предотвращения потерь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/>
          <a:lstStyle/>
          <a:p>
            <a:pPr marL="0" indent="0" algn="just">
              <a:buNone/>
            </a:pPr>
            <a:r>
              <a:rPr lang="ru-RU" sz="2000" dirty="0" smtClean="0">
                <a:solidFill>
                  <a:srgbClr val="000000"/>
                </a:solidFill>
              </a:rPr>
              <a:t> </a:t>
            </a:r>
            <a:r>
              <a:rPr lang="ru-RU" sz="2800" dirty="0" smtClean="0">
                <a:solidFill>
                  <a:srgbClr val="002060"/>
                </a:solidFill>
              </a:rPr>
              <a:t>Методы , применяемые для предотвращения потерь:</a:t>
            </a:r>
          </a:p>
          <a:p>
            <a:pPr marL="0" indent="0" algn="just">
              <a:buNone/>
            </a:pPr>
            <a:r>
              <a:rPr lang="ru-RU" sz="2800" dirty="0" smtClean="0">
                <a:solidFill>
                  <a:srgbClr val="000000"/>
                </a:solidFill>
              </a:rPr>
              <a:t>       - </a:t>
            </a:r>
            <a:r>
              <a:rPr lang="ru-RU" sz="2800" dirty="0" smtClean="0">
                <a:solidFill>
                  <a:srgbClr val="002060"/>
                </a:solidFill>
              </a:rPr>
              <a:t>Увеличение пропускной способности </a:t>
            </a:r>
            <a:r>
              <a:rPr lang="ru-RU" sz="2800" dirty="0" smtClean="0">
                <a:solidFill>
                  <a:srgbClr val="000000"/>
                </a:solidFill>
              </a:rPr>
              <a:t>для уменьшения или предотвращения заторов;</a:t>
            </a:r>
          </a:p>
          <a:p>
            <a:pPr marL="358835" lvl="1" algn="just">
              <a:buNone/>
            </a:pPr>
            <a:r>
              <a:rPr lang="ru-RU" dirty="0" smtClean="0">
                <a:solidFill>
                  <a:srgbClr val="000000"/>
                </a:solidFill>
              </a:rPr>
              <a:t>       - </a:t>
            </a:r>
            <a:r>
              <a:rPr lang="ru-RU" dirty="0" smtClean="0">
                <a:solidFill>
                  <a:srgbClr val="002060"/>
                </a:solidFill>
              </a:rPr>
              <a:t>Резервирование достаточной пропускной способности и увеличение объема буфера,</a:t>
            </a:r>
            <a:r>
              <a:rPr lang="ru-RU" dirty="0" smtClean="0">
                <a:solidFill>
                  <a:srgbClr val="000000"/>
                </a:solidFill>
              </a:rPr>
              <a:t> чтобы гарантировать обработку всплесков трафика в уязвимых потоках;</a:t>
            </a:r>
          </a:p>
          <a:p>
            <a:pPr marL="358835" lvl="1" algn="just">
              <a:buNone/>
            </a:pPr>
            <a:r>
              <a:rPr lang="ru-RU" dirty="0" smtClean="0">
                <a:solidFill>
                  <a:srgbClr val="000000"/>
                </a:solidFill>
              </a:rPr>
              <a:t>    - </a:t>
            </a:r>
            <a:r>
              <a:rPr lang="ru-RU" dirty="0" smtClean="0"/>
              <a:t>Организация и обслуживание очереди- </a:t>
            </a:r>
            <a:r>
              <a:rPr lang="ru-RU" dirty="0" smtClean="0">
                <a:solidFill>
                  <a:srgbClr val="002060"/>
                </a:solidFill>
              </a:rPr>
              <a:t>WFQ, CBWFQ и LLQ могут гарантировать пропускную способность </a:t>
            </a:r>
            <a:r>
              <a:rPr lang="ru-RU" dirty="0" smtClean="0">
                <a:solidFill>
                  <a:srgbClr val="000000"/>
                </a:solidFill>
              </a:rPr>
              <a:t>и обеспечить приоритетную переадресацию в приложения, чувствительные к отбросу.</a:t>
            </a:r>
          </a:p>
          <a:p>
            <a:pPr marL="358835" lvl="1" algn="just">
              <a:buNone/>
            </a:pPr>
            <a:r>
              <a:rPr lang="ru-RU" dirty="0" smtClean="0">
                <a:solidFill>
                  <a:srgbClr val="000000"/>
                </a:solidFill>
              </a:rPr>
              <a:t>    - </a:t>
            </a:r>
            <a:r>
              <a:rPr lang="ru-RU" dirty="0" smtClean="0">
                <a:solidFill>
                  <a:srgbClr val="002060"/>
                </a:solidFill>
              </a:rPr>
              <a:t>Сокращение объема трафика за счет отбрасывания пакетов с низким приоритетом. </a:t>
            </a:r>
            <a:endParaRPr lang="ru-RU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Autofit/>
          </a:bodyPr>
          <a:lstStyle/>
          <a:p>
            <a:pPr algn="l"/>
            <a:r>
              <a:rPr lang="ru-RU" sz="3200" dirty="0" smtClean="0">
                <a:solidFill>
                  <a:srgbClr val="7030A0"/>
                </a:solidFill>
              </a:rPr>
              <a:t>Обеспечение требуемое  качество </a:t>
            </a:r>
            <a:r>
              <a:rPr lang="ru-RU" sz="3200" dirty="0">
                <a:solidFill>
                  <a:srgbClr val="7030A0"/>
                </a:solidFill>
              </a:rPr>
              <a:t>обслуживания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9" y="908720"/>
            <a:ext cx="8820472" cy="5760640"/>
          </a:xfrm>
        </p:spPr>
        <p:txBody>
          <a:bodyPr>
            <a:normAutofit/>
          </a:bodyPr>
          <a:lstStyle/>
          <a:p>
            <a:pPr marL="0" indent="0"/>
            <a:r>
              <a:rPr lang="ru-RU" dirty="0" smtClean="0">
                <a:solidFill>
                  <a:srgbClr val="002060"/>
                </a:solidFill>
              </a:rPr>
              <a:t>  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Политики 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</a:rPr>
              <a:t>QoS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должны учитывать полный путь от источника к месту назначения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/>
            <a:r>
              <a:rPr lang="ru-RU" dirty="0" smtClean="0">
                <a:solidFill>
                  <a:srgbClr val="000000"/>
                </a:solidFill>
              </a:rPr>
              <a:t>  </a:t>
            </a:r>
            <a:r>
              <a:rPr lang="ru-RU" dirty="0" smtClean="0">
                <a:solidFill>
                  <a:srgbClr val="002060"/>
                </a:solidFill>
              </a:rPr>
              <a:t>Рекомендации</a:t>
            </a:r>
            <a:r>
              <a:rPr lang="ru-RU" dirty="0">
                <a:solidFill>
                  <a:srgbClr val="002060"/>
                </a:solidFill>
              </a:rPr>
              <a:t>, </a:t>
            </a:r>
            <a:r>
              <a:rPr lang="ru-RU" dirty="0" smtClean="0">
                <a:solidFill>
                  <a:srgbClr val="002060"/>
                </a:solidFill>
              </a:rPr>
              <a:t>обеспечивающие требуемое качество обслуживания </a:t>
            </a:r>
            <a:r>
              <a:rPr lang="ru-RU" dirty="0">
                <a:solidFill>
                  <a:srgbClr val="000000"/>
                </a:solidFill>
              </a:rPr>
              <a:t>для конечных пользователей, включают следующее:</a:t>
            </a:r>
          </a:p>
          <a:p>
            <a:pPr marL="358835" lvl="1">
              <a:buNone/>
            </a:pPr>
            <a:r>
              <a:rPr lang="ru-RU" sz="3200" dirty="0" smtClean="0">
                <a:solidFill>
                  <a:srgbClr val="000000"/>
                </a:solidFill>
              </a:rPr>
              <a:t>      - </a:t>
            </a: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</a:rPr>
              <a:t>Использовать очередь 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на каждом устройстве в пути между источником и </a:t>
            </a: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</a:rPr>
              <a:t>местом назначения.</a:t>
            </a:r>
            <a:endParaRPr lang="ru-RU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358835" lvl="1">
              <a:buNone/>
            </a:pP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</a:rPr>
              <a:t>      - Сетевой 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трафик классифицируется и маркируется максимально близко к исходному устройству.</a:t>
            </a:r>
          </a:p>
          <a:p>
            <a:pPr marL="358835" lvl="1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202459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3456384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 Модели обеспечения качества обслуживания в сетях </a:t>
            </a:r>
            <a:r>
              <a:rPr lang="en-US" dirty="0" smtClean="0">
                <a:solidFill>
                  <a:srgbClr val="7030A0"/>
                </a:solidFill>
              </a:rPr>
              <a:t>IP</a:t>
            </a: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Интегрированные услуги </a:t>
            </a:r>
            <a:r>
              <a:rPr lang="en-US" dirty="0" err="1" smtClean="0">
                <a:solidFill>
                  <a:srgbClr val="7030A0"/>
                </a:solidFill>
              </a:rPr>
              <a:t>IntServ</a:t>
            </a:r>
            <a:endParaRPr lang="ru-RU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075240" cy="864095"/>
          </a:xfrm>
        </p:spPr>
        <p:txBody>
          <a:bodyPr>
            <a:noAutofit/>
          </a:bodyPr>
          <a:lstStyle/>
          <a:p>
            <a:pPr eaLnBrk="1" hangingPunct="1"/>
            <a:r>
              <a:rPr lang="ru-RU" sz="3200" dirty="0" smtClean="0">
                <a:solidFill>
                  <a:srgbClr val="7030A0"/>
                </a:solidFill>
              </a:rPr>
              <a:t> Модели обеспечения качества обслуживания в сетях </a:t>
            </a:r>
            <a:r>
              <a:rPr lang="en-US" sz="3200" dirty="0" smtClean="0">
                <a:solidFill>
                  <a:srgbClr val="7030A0"/>
                </a:solidFill>
              </a:rPr>
              <a:t>IP</a:t>
            </a:r>
            <a:r>
              <a:rPr lang="ru-RU" sz="3200" dirty="0" smtClean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12776"/>
            <a:ext cx="8748464" cy="480769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rgbClr val="000000"/>
                </a:solidFill>
              </a:rPr>
              <a:t> Существует три модели реализации политики качества обслуживания: 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Модель предоставления интегрированных услуг (</a:t>
            </a: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IntServ</a:t>
            </a:r>
            <a:r>
              <a:rPr lang="ru-RU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RFC-2205, 1994-1997 г. </a:t>
            </a:r>
          </a:p>
          <a:p>
            <a:pPr eaLnBrk="1" hangingPunct="1">
              <a:buFontTx/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Модель предоставления дифференцированных услуг </a:t>
            </a:r>
            <a:r>
              <a:rPr lang="ru-RU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DiffServ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RFC 2475,  1998 г. </a:t>
            </a:r>
          </a:p>
          <a:p>
            <a:pPr eaLnBrk="1" hangingPunct="1">
              <a:buFontTx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MPLS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AU" dirty="0" smtClean="0">
                <a:latin typeface="Times New Roman" pitchFamily="18" charset="0"/>
                <a:cs typeface="Times New Roman" pitchFamily="18" charset="0"/>
              </a:rPr>
              <a:t>Multi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AU" dirty="0" smtClean="0">
                <a:latin typeface="Times New Roman" pitchFamily="18" charset="0"/>
                <a:cs typeface="Times New Roman" pitchFamily="18" charset="0"/>
              </a:rPr>
              <a:t>Protocol Label Switching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endParaRPr lang="ru-RU" sz="2400" b="1" i="1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4818" name="Object 6"/>
          <p:cNvGraphicFramePr>
            <a:graphicFrameLocks noChangeAspect="1"/>
          </p:cNvGraphicFramePr>
          <p:nvPr/>
        </p:nvGraphicFramePr>
        <p:xfrm>
          <a:off x="1043608" y="6858000"/>
          <a:ext cx="9144000" cy="333375"/>
        </p:xfrm>
        <a:graphic>
          <a:graphicData uri="http://schemas.openxmlformats.org/presentationml/2006/ole">
            <p:oleObj spid="_x0000_s241688" name="Visio" r:id="rId3" imgW="6697599" imgH="577596" progId="">
              <p:embed/>
            </p:oleObj>
          </a:graphicData>
        </a:graphic>
      </p:graphicFrame>
      <p:sp>
        <p:nvSpPr>
          <p:cNvPr id="34821" name="Text Box 7"/>
          <p:cNvSpPr txBox="1">
            <a:spLocks noChangeArrowheads="1"/>
          </p:cNvSpPr>
          <p:nvPr/>
        </p:nvSpPr>
        <p:spPr bwMode="auto">
          <a:xfrm flipV="1">
            <a:off x="8442325" y="7781330"/>
            <a:ext cx="1403350" cy="30777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ru-RU" sz="1400" dirty="0" err="1"/>
              <a:t>УрТИСИ</a:t>
            </a:r>
            <a:r>
              <a:rPr lang="ru-RU" sz="1400" dirty="0"/>
              <a:t>, 2013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60648"/>
            <a:ext cx="8784976" cy="936104"/>
          </a:xfrm>
        </p:spPr>
        <p:txBody>
          <a:bodyPr>
            <a:noAutofit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</a:rPr>
              <a:t>         Интегрированные услуги </a:t>
            </a:r>
            <a:r>
              <a:rPr lang="en-US" sz="3600" dirty="0" err="1" smtClean="0">
                <a:solidFill>
                  <a:srgbClr val="7030A0"/>
                </a:solidFill>
              </a:rPr>
              <a:t>IntServ</a:t>
            </a:r>
            <a:endParaRPr lang="ru-RU" sz="3600" dirty="0" smtClean="0">
              <a:solidFill>
                <a:srgbClr val="7030A0"/>
              </a:solidFill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24745"/>
            <a:ext cx="8497192" cy="5245894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  <a:defRPr/>
            </a:pPr>
            <a:r>
              <a:rPr lang="ru-RU" dirty="0" smtClean="0"/>
              <a:t>Разработана </a:t>
            </a:r>
            <a:r>
              <a:rPr lang="en-US" dirty="0" smtClean="0"/>
              <a:t>IETF,</a:t>
            </a:r>
            <a:r>
              <a:rPr lang="ru-RU" dirty="0" smtClean="0"/>
              <a:t> 1994-1997 г. </a:t>
            </a:r>
            <a:endParaRPr lang="en-US" dirty="0" smtClean="0"/>
          </a:p>
          <a:p>
            <a:pPr eaLnBrk="1" hangingPunct="1">
              <a:buFontTx/>
              <a:buNone/>
              <a:defRPr/>
            </a:pPr>
            <a:r>
              <a:rPr lang="en-US" dirty="0" smtClean="0"/>
              <a:t>RFC 22</a:t>
            </a:r>
            <a:r>
              <a:rPr lang="ru-RU" dirty="0" smtClean="0"/>
              <a:t>05</a:t>
            </a:r>
            <a:r>
              <a:rPr lang="en-US" dirty="0" smtClean="0"/>
              <a:t>, RFC 2210, RFC 2211, RFC 2212</a:t>
            </a:r>
            <a:endParaRPr lang="ru-RU" dirty="0" smtClean="0"/>
          </a:p>
          <a:p>
            <a:pPr eaLnBrk="1" hangingPunct="1">
              <a:buFontTx/>
              <a:buNone/>
              <a:defRPr/>
            </a:pPr>
            <a:r>
              <a:rPr lang="ru-RU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Цель</a:t>
            </a:r>
            <a:r>
              <a:rPr lang="ru-RU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  <a:r>
              <a:rPr lang="ru-RU" dirty="0" smtClean="0"/>
              <a:t> предоставление приложениям возможности запрашивать сквозные требования по ресурсам.</a:t>
            </a:r>
          </a:p>
          <a:p>
            <a:pPr eaLnBrk="1" hangingPunct="1">
              <a:buFontTx/>
              <a:buNone/>
              <a:defRPr/>
            </a:pPr>
            <a:r>
              <a:rPr lang="ru-RU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Недостатки</a:t>
            </a:r>
            <a:r>
              <a:rPr lang="ru-RU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  <a:r>
              <a:rPr lang="ru-RU" dirty="0" smtClean="0"/>
              <a:t> проблемы масштабирования.</a:t>
            </a:r>
          </a:p>
          <a:p>
            <a:pPr eaLnBrk="1" hangingPunct="1">
              <a:buFontTx/>
              <a:buNone/>
              <a:defRPr/>
            </a:pPr>
            <a:r>
              <a:rPr lang="ru-RU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Основной механизм</a:t>
            </a:r>
            <a:r>
              <a:rPr lang="ru-RU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  <a:r>
              <a:rPr lang="ru-RU" dirty="0" smtClean="0"/>
              <a:t> протокол резервирования ресурсов </a:t>
            </a:r>
            <a:r>
              <a:rPr lang="en-US" dirty="0" smtClean="0">
                <a:solidFill>
                  <a:srgbClr val="002060"/>
                </a:solidFill>
              </a:rPr>
              <a:t>RSVP</a:t>
            </a:r>
            <a:r>
              <a:rPr lang="ru-RU" dirty="0" smtClean="0">
                <a:solidFill>
                  <a:srgbClr val="002060"/>
                </a:solidFill>
              </a:rPr>
              <a:t>, </a:t>
            </a:r>
            <a:r>
              <a:rPr lang="ru-RU" dirty="0" smtClean="0"/>
              <a:t>в узлах используется </a:t>
            </a:r>
            <a:r>
              <a:rPr lang="en-US" dirty="0" smtClean="0">
                <a:solidFill>
                  <a:srgbClr val="002060"/>
                </a:solidFill>
              </a:rPr>
              <a:t>WFQ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  <a:endParaRPr lang="ru-RU" b="1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08720"/>
          </a:xfrm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Модель </a:t>
            </a:r>
            <a:r>
              <a:rPr lang="en-US" sz="4000" dirty="0" err="1" smtClean="0">
                <a:solidFill>
                  <a:srgbClr val="7030A0"/>
                </a:solidFill>
              </a:rPr>
              <a:t>IntServ</a:t>
            </a:r>
            <a:endParaRPr lang="ru-RU" sz="40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256584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IntServ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smtClean="0"/>
              <a:t>– поддержка приложений реального времени , чувствительных к задержкам.</a:t>
            </a:r>
          </a:p>
          <a:p>
            <a:r>
              <a:rPr lang="ru-RU" dirty="0" smtClean="0"/>
              <a:t>Для передачи информации пользователя: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-  должен быть </a:t>
            </a:r>
            <a:r>
              <a:rPr lang="ru-RU" dirty="0" smtClean="0">
                <a:solidFill>
                  <a:srgbClr val="002060"/>
                </a:solidFill>
              </a:rPr>
              <a:t>организован маршрута следования трафика ; 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    - </a:t>
            </a:r>
            <a:r>
              <a:rPr lang="ru-RU" dirty="0" smtClean="0">
                <a:solidFill>
                  <a:srgbClr val="002060"/>
                </a:solidFill>
              </a:rPr>
              <a:t>резервирование необходимого объема канального ресурса (протокол</a:t>
            </a:r>
            <a:r>
              <a:rPr lang="en-US" dirty="0" smtClean="0">
                <a:solidFill>
                  <a:srgbClr val="002060"/>
                </a:solidFill>
              </a:rPr>
              <a:t> RSVP)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dirty="0" smtClean="0"/>
              <a:t> Только после этого идет передача информации пользователя.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88641"/>
            <a:ext cx="8162925" cy="720079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7030A0"/>
                </a:solidFill>
              </a:rPr>
              <a:t>Протокол резервирования ресурсов - </a:t>
            </a:r>
            <a:r>
              <a:rPr lang="en-US" sz="3200" dirty="0" smtClean="0">
                <a:solidFill>
                  <a:srgbClr val="7030A0"/>
                </a:solidFill>
              </a:rPr>
              <a:t>RSVP</a:t>
            </a:r>
            <a:endParaRPr lang="ru-RU" sz="3200" dirty="0" smtClean="0">
              <a:solidFill>
                <a:srgbClr val="7030A0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304800" y="908720"/>
            <a:ext cx="8587680" cy="606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7800">
              <a:buFont typeface="Wingdings" pitchFamily="2" charset="2"/>
              <a:buChar char="§"/>
            </a:pPr>
            <a:r>
              <a:rPr lang="ru-RU" sz="2800" dirty="0" smtClean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RSVP </a:t>
            </a:r>
            <a:r>
              <a:rPr lang="ru-RU" sz="2800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выполняет резервирование для </a:t>
            </a:r>
            <a:r>
              <a:rPr lang="ru-RU" sz="2800" dirty="0" smtClean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800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приложений, </a:t>
            </a:r>
            <a:r>
              <a:rPr lang="ru-RU" sz="2800" dirty="0">
                <a:latin typeface="Verdana" pitchFamily="34" charset="0"/>
                <a:cs typeface="Times New Roman" pitchFamily="18" charset="0"/>
              </a:rPr>
              <a:t>динамически адаптируясь к изменениям </a:t>
            </a:r>
            <a:r>
              <a:rPr lang="ru-RU" sz="2800" dirty="0" smtClean="0"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800" dirty="0">
                <a:latin typeface="Verdana" pitchFamily="34" charset="0"/>
                <a:cs typeface="Times New Roman" pitchFamily="18" charset="0"/>
              </a:rPr>
              <a:t>вдоль маршрута</a:t>
            </a:r>
            <a:r>
              <a:rPr lang="ru-RU" sz="2800" dirty="0" smtClean="0">
                <a:latin typeface="Verdana" pitchFamily="34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endParaRPr lang="en-US" sz="2800" dirty="0" smtClean="0">
              <a:latin typeface="Verdana" pitchFamily="34" charset="0"/>
              <a:cs typeface="Times New Roman" pitchFamily="18" charset="0"/>
            </a:endParaRPr>
          </a:p>
          <a:p>
            <a:pPr marL="177800" indent="-177800" eaLnBrk="0" hangingPunct="0">
              <a:buFont typeface="Wingdings" pitchFamily="2" charset="2"/>
              <a:buChar char="§"/>
            </a:pPr>
            <a:r>
              <a:rPr lang="ru-RU" sz="2800" dirty="0" smtClean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RSVP </a:t>
            </a:r>
            <a:r>
              <a:rPr lang="ru-RU" sz="2800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является симплексным протоколом</a:t>
            </a:r>
            <a:r>
              <a:rPr lang="ru-RU" sz="2800" dirty="0">
                <a:latin typeface="Verdana" pitchFamily="34" charset="0"/>
                <a:cs typeface="Times New Roman" pitchFamily="18" charset="0"/>
              </a:rPr>
              <a:t>, </a:t>
            </a:r>
            <a:r>
              <a:rPr lang="ru-RU" sz="2800" dirty="0" smtClean="0">
                <a:latin typeface="Verdana" pitchFamily="34" charset="0"/>
                <a:cs typeface="Times New Roman" pitchFamily="18" charset="0"/>
              </a:rPr>
              <a:t>     он </a:t>
            </a:r>
            <a:r>
              <a:rPr lang="ru-RU" sz="2800" dirty="0">
                <a:latin typeface="Verdana" pitchFamily="34" charset="0"/>
                <a:cs typeface="Times New Roman" pitchFamily="18" charset="0"/>
              </a:rPr>
              <a:t>выполняет резервирование для однонаправленного потока данных</a:t>
            </a:r>
            <a:r>
              <a:rPr lang="ru-RU" sz="2800" dirty="0" smtClean="0">
                <a:latin typeface="Verdana" pitchFamily="34" charset="0"/>
                <a:cs typeface="Times New Roman" pitchFamily="18" charset="0"/>
              </a:rPr>
              <a:t>.  </a:t>
            </a:r>
            <a:endParaRPr lang="en-US" sz="2800" dirty="0" smtClean="0">
              <a:latin typeface="Verdana" pitchFamily="34" charset="0"/>
              <a:cs typeface="Times New Roman" pitchFamily="18" charset="0"/>
            </a:endParaRPr>
          </a:p>
          <a:p>
            <a:pPr eaLnBrk="0" hangingPunct="0">
              <a:buFont typeface="Wingdings" pitchFamily="2" charset="2"/>
              <a:buChar char="§"/>
            </a:pP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eaLnBrk="0" hangingPunct="0">
              <a:buFont typeface="Wingdings" pitchFamily="2" charset="2"/>
              <a:buChar char="§"/>
            </a:pPr>
            <a:r>
              <a:rPr lang="ru-RU" sz="2800" dirty="0" smtClean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RSVP </a:t>
            </a:r>
            <a:r>
              <a:rPr lang="ru-RU" sz="2800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не является маршрутным протоколом</a:t>
            </a:r>
            <a:r>
              <a:rPr lang="ru-RU" sz="2800" dirty="0">
                <a:latin typeface="Verdana" pitchFamily="34" charset="0"/>
                <a:cs typeface="Times New Roman" pitchFamily="18" charset="0"/>
              </a:rPr>
              <a:t>, но зависит от существующих и будущих маршрутных протоколов</a:t>
            </a:r>
            <a:r>
              <a:rPr lang="ru-RU" sz="2800" dirty="0" smtClean="0">
                <a:latin typeface="Verdana" pitchFamily="34" charset="0"/>
                <a:cs typeface="Times New Roman" pitchFamily="18" charset="0"/>
              </a:rPr>
              <a:t>.</a:t>
            </a:r>
          </a:p>
          <a:p>
            <a:pPr eaLnBrk="0" hangingPunct="0"/>
            <a:endParaRPr lang="en-US" sz="2800" dirty="0" smtClean="0">
              <a:latin typeface="Verdana" pitchFamily="34" charset="0"/>
              <a:cs typeface="Times New Roman" pitchFamily="18" charset="0"/>
            </a:endParaRPr>
          </a:p>
          <a:p>
            <a:pPr marL="273050" indent="-273050" eaLnBrk="0" hangingPunct="0">
              <a:buFont typeface="Wingdings" pitchFamily="2" charset="2"/>
              <a:buChar char="§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800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RSVP может работать с IPv4 и IPv6</a:t>
            </a:r>
            <a:r>
              <a:rPr lang="ru-RU" sz="2800" dirty="0">
                <a:latin typeface="Verdana" pitchFamily="34" charset="0"/>
                <a:cs typeface="Times New Roman" pitchFamily="18" charset="0"/>
              </a:rPr>
              <a:t>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eaLnBrk="0" hangingPunct="0">
              <a:buFontTx/>
              <a:buChar char="•"/>
            </a:pPr>
            <a:endParaRPr lang="ru-RU" sz="2400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008112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Протокол </a:t>
            </a:r>
            <a:r>
              <a:rPr lang="ru-RU" sz="2800" dirty="0">
                <a:solidFill>
                  <a:srgbClr val="7030A0"/>
                </a:solidFill>
              </a:rPr>
              <a:t>резервирования ресурсов </a:t>
            </a:r>
            <a:r>
              <a:rPr lang="ru-RU" sz="2800" dirty="0" smtClean="0">
                <a:solidFill>
                  <a:srgbClr val="7030A0"/>
                </a:solidFill>
              </a:rPr>
              <a:t>– </a:t>
            </a:r>
            <a:r>
              <a:rPr lang="en-US" sz="2800" dirty="0" smtClean="0">
                <a:solidFill>
                  <a:srgbClr val="7030A0"/>
                </a:solidFill>
              </a:rPr>
              <a:t>RSVP</a:t>
            </a:r>
            <a:r>
              <a:rPr lang="ru-RU" sz="2800" dirty="0" smtClean="0">
                <a:solidFill>
                  <a:srgbClr val="7030A0"/>
                </a:solidFill>
              </a:rPr>
              <a:t>.</a:t>
            </a:r>
            <a:r>
              <a:rPr lang="ru-RU" sz="2800" dirty="0">
                <a:solidFill>
                  <a:srgbClr val="7030A0"/>
                </a:solidFill>
              </a:rPr>
              <a:t> </a:t>
            </a:r>
            <a:r>
              <a:rPr lang="ru-RU" sz="2800" dirty="0" smtClean="0">
                <a:solidFill>
                  <a:srgbClr val="7030A0"/>
                </a:solidFill>
              </a:rPr>
              <a:t/>
            </a:r>
            <a:br>
              <a:rPr lang="ru-RU" sz="2800" dirty="0" smtClean="0">
                <a:solidFill>
                  <a:srgbClr val="7030A0"/>
                </a:solidFill>
              </a:rPr>
            </a:br>
            <a:r>
              <a:rPr lang="ru-RU" sz="2800" dirty="0" smtClean="0">
                <a:solidFill>
                  <a:srgbClr val="7030A0"/>
                </a:solidFill>
              </a:rPr>
              <a:t>Процесс </a:t>
            </a:r>
            <a:r>
              <a:rPr lang="ru-RU" sz="2800" dirty="0">
                <a:solidFill>
                  <a:srgbClr val="7030A0"/>
                </a:solidFill>
              </a:rPr>
              <a:t>резервирования пути.</a:t>
            </a:r>
            <a:r>
              <a:rPr lang="en-US" sz="2800" dirty="0">
                <a:solidFill>
                  <a:srgbClr val="7030A0"/>
                </a:solidFill>
              </a:rPr>
              <a:t/>
            </a:r>
            <a:br>
              <a:rPr lang="en-US" sz="2800" dirty="0">
                <a:solidFill>
                  <a:srgbClr val="7030A0"/>
                </a:solidFill>
              </a:rPr>
            </a:br>
            <a:endParaRPr lang="ru-RU" sz="2800" dirty="0" smtClean="0">
              <a:solidFill>
                <a:srgbClr val="7030A0"/>
              </a:solidFill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64704"/>
            <a:ext cx="9144000" cy="6093296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 smtClean="0">
                <a:solidFill>
                  <a:srgbClr val="002060"/>
                </a:solidFill>
              </a:rPr>
              <a:t>Узел-отправитель посылает запрос</a:t>
            </a:r>
            <a:r>
              <a:rPr lang="en-US" sz="2800" dirty="0" smtClean="0">
                <a:solidFill>
                  <a:srgbClr val="002060"/>
                </a:solidFill>
              </a:rPr>
              <a:t> PATH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/>
              <a:t>как обычный пакет.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>
                <a:solidFill>
                  <a:srgbClr val="002060"/>
                </a:solidFill>
              </a:rPr>
              <a:t>Каждый </a:t>
            </a:r>
            <a:r>
              <a:rPr lang="ru-RU" sz="2800" dirty="0" err="1" smtClean="0">
                <a:solidFill>
                  <a:srgbClr val="002060"/>
                </a:solidFill>
              </a:rPr>
              <a:t>маршрутизатор</a:t>
            </a:r>
            <a:r>
              <a:rPr lang="ru-RU" sz="2800" dirty="0" smtClean="0">
                <a:solidFill>
                  <a:srgbClr val="002060"/>
                </a:solidFill>
              </a:rPr>
              <a:t> прописывает в своей памяти </a:t>
            </a:r>
            <a:r>
              <a:rPr lang="ru-RU" sz="2800" dirty="0" smtClean="0"/>
              <a:t>адрес предыдущего и посылает свой адрес в </a:t>
            </a:r>
            <a:r>
              <a:rPr lang="en-US" sz="2800" dirty="0" smtClean="0"/>
              <a:t>PATH</a:t>
            </a:r>
            <a:r>
              <a:rPr lang="ru-RU" sz="2800" dirty="0" smtClean="0"/>
              <a:t>-запросе.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>
                <a:solidFill>
                  <a:srgbClr val="002060"/>
                </a:solidFill>
              </a:rPr>
              <a:t>Получатель в ответ на </a:t>
            </a:r>
            <a:r>
              <a:rPr lang="en-US" sz="2800" dirty="0" smtClean="0">
                <a:solidFill>
                  <a:srgbClr val="002060"/>
                </a:solidFill>
              </a:rPr>
              <a:t>PATH</a:t>
            </a:r>
            <a:r>
              <a:rPr lang="ru-RU" sz="2800" dirty="0" smtClean="0">
                <a:solidFill>
                  <a:srgbClr val="002060"/>
                </a:solidFill>
              </a:rPr>
              <a:t> генерирует </a:t>
            </a:r>
            <a:r>
              <a:rPr lang="en-US" sz="2800" dirty="0" smtClean="0">
                <a:solidFill>
                  <a:srgbClr val="002060"/>
                </a:solidFill>
              </a:rPr>
              <a:t>RESV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/>
              <a:t>и отправляет по прописанному в </a:t>
            </a:r>
            <a:r>
              <a:rPr lang="en-US" sz="2800" dirty="0" smtClean="0"/>
              <a:t>PATH</a:t>
            </a:r>
            <a:r>
              <a:rPr lang="ru-RU" sz="2800" dirty="0" smtClean="0"/>
              <a:t> пути.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 </a:t>
            </a:r>
            <a:r>
              <a:rPr lang="ru-RU" sz="2800" dirty="0" smtClean="0">
                <a:solidFill>
                  <a:schemeClr val="accent1">
                    <a:lumMod val="75000"/>
                  </a:schemeClr>
                </a:solidFill>
              </a:rPr>
              <a:t>Резервирование происходит в обратном порядке, от получателя к отправителю</a:t>
            </a:r>
            <a:r>
              <a:rPr lang="ru-RU" sz="2800" dirty="0" smtClean="0">
                <a:solidFill>
                  <a:srgbClr val="002060"/>
                </a:solidFill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err="1" smtClean="0"/>
              <a:t>Маршрутизаторы</a:t>
            </a:r>
            <a:r>
              <a:rPr lang="ru-RU" sz="2800" dirty="0" smtClean="0"/>
              <a:t> обрабатывают </a:t>
            </a:r>
            <a:r>
              <a:rPr lang="en-US" sz="2800" dirty="0" smtClean="0"/>
              <a:t>RESV</a:t>
            </a:r>
            <a:r>
              <a:rPr lang="ru-RU" sz="2800" dirty="0" smtClean="0"/>
              <a:t>-запросы, пытаясь предоставить требуемые ресурсы.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 В случае невозможности предоставления ресурсов резервирование начинается сначала.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Путь считается установленным, когда отправитель получает </a:t>
            </a:r>
            <a:r>
              <a:rPr lang="en-US" sz="2800" dirty="0" smtClean="0"/>
              <a:t>RESV</a:t>
            </a:r>
            <a:r>
              <a:rPr lang="ru-RU" sz="2800" dirty="0" smtClean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 После этого начинается сеанс.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eaLnBrk="1" hangingPunct="1"/>
            <a:r>
              <a:rPr lang="ru-RU" sz="4000" dirty="0" smtClean="0">
                <a:solidFill>
                  <a:srgbClr val="7030A0"/>
                </a:solidFill>
              </a:rPr>
              <a:t>Организация </a:t>
            </a:r>
            <a:r>
              <a:rPr lang="en-US" sz="4000" dirty="0" smtClean="0">
                <a:solidFill>
                  <a:srgbClr val="7030A0"/>
                </a:solidFill>
              </a:rPr>
              <a:t>RSVP</a:t>
            </a:r>
            <a:r>
              <a:rPr lang="ru-RU" sz="4000" dirty="0" smtClean="0">
                <a:solidFill>
                  <a:srgbClr val="7030A0"/>
                </a:solidFill>
              </a:rPr>
              <a:t>-пути</a:t>
            </a:r>
          </a:p>
        </p:txBody>
      </p:sp>
      <p:pic>
        <p:nvPicPr>
          <p:cNvPr id="37892" name="Picture 3" descr="Core_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7988" y="3213100"/>
            <a:ext cx="83185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3" name="Picture 4" descr="Core_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2275" y="5229225"/>
            <a:ext cx="83185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4" name="Picture 5" descr="Core_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375" y="5589588"/>
            <a:ext cx="831850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5" name="Picture 6" descr="Core_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5516563"/>
            <a:ext cx="831850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6" name="Picture 7" descr="Core_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59563" y="1916113"/>
            <a:ext cx="831850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7" name="Picture 8" descr="Core_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2138" y="1773238"/>
            <a:ext cx="831850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8" name="Picture 9" descr="Core_rou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2997200"/>
            <a:ext cx="831850" cy="57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9" name="Line 10"/>
          <p:cNvSpPr>
            <a:spLocks noChangeShapeType="1"/>
          </p:cNvSpPr>
          <p:nvPr/>
        </p:nvSpPr>
        <p:spPr bwMode="auto">
          <a:xfrm flipV="1">
            <a:off x="1258888" y="2205038"/>
            <a:ext cx="1873250" cy="9366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7900" name="Line 11"/>
          <p:cNvSpPr>
            <a:spLocks noChangeShapeType="1"/>
          </p:cNvSpPr>
          <p:nvPr/>
        </p:nvSpPr>
        <p:spPr bwMode="auto">
          <a:xfrm>
            <a:off x="1042988" y="3573463"/>
            <a:ext cx="720725" cy="172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7901" name="Line 12"/>
          <p:cNvSpPr>
            <a:spLocks noChangeShapeType="1"/>
          </p:cNvSpPr>
          <p:nvPr/>
        </p:nvSpPr>
        <p:spPr bwMode="auto">
          <a:xfrm>
            <a:off x="3563938" y="2276475"/>
            <a:ext cx="503237" cy="3313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7902" name="Line 13"/>
          <p:cNvSpPr>
            <a:spLocks noChangeShapeType="1"/>
          </p:cNvSpPr>
          <p:nvPr/>
        </p:nvSpPr>
        <p:spPr bwMode="auto">
          <a:xfrm>
            <a:off x="3924300" y="1916113"/>
            <a:ext cx="2808288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7903" name="Line 14"/>
          <p:cNvSpPr>
            <a:spLocks noChangeShapeType="1"/>
          </p:cNvSpPr>
          <p:nvPr/>
        </p:nvSpPr>
        <p:spPr bwMode="auto">
          <a:xfrm>
            <a:off x="7308850" y="2420938"/>
            <a:ext cx="8636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7904" name="Line 15"/>
          <p:cNvSpPr>
            <a:spLocks noChangeShapeType="1"/>
          </p:cNvSpPr>
          <p:nvPr/>
        </p:nvSpPr>
        <p:spPr bwMode="auto">
          <a:xfrm flipV="1">
            <a:off x="6659563" y="3789363"/>
            <a:ext cx="1800225" cy="18002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7905" name="Line 16"/>
          <p:cNvSpPr>
            <a:spLocks noChangeShapeType="1"/>
          </p:cNvSpPr>
          <p:nvPr/>
        </p:nvSpPr>
        <p:spPr bwMode="auto">
          <a:xfrm flipV="1">
            <a:off x="4427538" y="5876925"/>
            <a:ext cx="1439862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7906" name="Line 17"/>
          <p:cNvSpPr>
            <a:spLocks noChangeShapeType="1"/>
          </p:cNvSpPr>
          <p:nvPr/>
        </p:nvSpPr>
        <p:spPr bwMode="auto">
          <a:xfrm>
            <a:off x="2484438" y="5661025"/>
            <a:ext cx="115093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7907" name="Line 18"/>
          <p:cNvSpPr>
            <a:spLocks noChangeShapeType="1"/>
          </p:cNvSpPr>
          <p:nvPr/>
        </p:nvSpPr>
        <p:spPr bwMode="auto">
          <a:xfrm>
            <a:off x="3779838" y="2276475"/>
            <a:ext cx="2376487" cy="324167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7908" name="Rectangle 19"/>
          <p:cNvSpPr>
            <a:spLocks noChangeArrowheads="1"/>
          </p:cNvSpPr>
          <p:nvPr/>
        </p:nvSpPr>
        <p:spPr bwMode="auto">
          <a:xfrm rot="-1590496">
            <a:off x="1116013" y="2420938"/>
            <a:ext cx="1079500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PATH</a:t>
            </a:r>
            <a:r>
              <a:rPr lang="ru-RU"/>
              <a:t> </a:t>
            </a:r>
            <a:r>
              <a:rPr lang="en-US"/>
              <a:t>A</a:t>
            </a:r>
            <a:endParaRPr lang="ru-RU"/>
          </a:p>
        </p:txBody>
      </p:sp>
      <p:sp>
        <p:nvSpPr>
          <p:cNvPr id="37909" name="Rectangle 20"/>
          <p:cNvSpPr>
            <a:spLocks noChangeArrowheads="1"/>
          </p:cNvSpPr>
          <p:nvPr/>
        </p:nvSpPr>
        <p:spPr bwMode="auto">
          <a:xfrm rot="-2783774">
            <a:off x="6228557" y="4796631"/>
            <a:ext cx="1079500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PATH C</a:t>
            </a:r>
            <a:endParaRPr lang="ru-RU"/>
          </a:p>
        </p:txBody>
      </p:sp>
      <p:sp>
        <p:nvSpPr>
          <p:cNvPr id="37910" name="Rectangle 21"/>
          <p:cNvSpPr>
            <a:spLocks noChangeArrowheads="1"/>
          </p:cNvSpPr>
          <p:nvPr/>
        </p:nvSpPr>
        <p:spPr bwMode="auto">
          <a:xfrm rot="3414401">
            <a:off x="3925094" y="2493169"/>
            <a:ext cx="1079500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PATH B</a:t>
            </a:r>
            <a:endParaRPr lang="ru-RU"/>
          </a:p>
        </p:txBody>
      </p:sp>
      <p:sp>
        <p:nvSpPr>
          <p:cNvPr id="37911" name="Text Box 22"/>
          <p:cNvSpPr txBox="1">
            <a:spLocks noChangeArrowheads="1"/>
          </p:cNvSpPr>
          <p:nvPr/>
        </p:nvSpPr>
        <p:spPr bwMode="auto">
          <a:xfrm>
            <a:off x="519113" y="3519488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3399"/>
                </a:solidFill>
              </a:rPr>
              <a:t>A</a:t>
            </a:r>
            <a:endParaRPr lang="ru-RU" sz="2400" b="1">
              <a:solidFill>
                <a:srgbClr val="FF3399"/>
              </a:solidFill>
            </a:endParaRPr>
          </a:p>
        </p:txBody>
      </p:sp>
      <p:sp>
        <p:nvSpPr>
          <p:cNvPr id="37912" name="Text Box 23"/>
          <p:cNvSpPr txBox="1">
            <a:spLocks noChangeArrowheads="1"/>
          </p:cNvSpPr>
          <p:nvPr/>
        </p:nvSpPr>
        <p:spPr bwMode="auto">
          <a:xfrm>
            <a:off x="8243888" y="2781300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3399"/>
                </a:solidFill>
              </a:rPr>
              <a:t>D</a:t>
            </a:r>
            <a:endParaRPr lang="ru-RU" sz="2400">
              <a:solidFill>
                <a:srgbClr val="FF3399"/>
              </a:solidFill>
            </a:endParaRPr>
          </a:p>
        </p:txBody>
      </p:sp>
      <p:sp>
        <p:nvSpPr>
          <p:cNvPr id="37913" name="Line 24"/>
          <p:cNvSpPr>
            <a:spLocks noChangeShapeType="1"/>
          </p:cNvSpPr>
          <p:nvPr/>
        </p:nvSpPr>
        <p:spPr bwMode="auto">
          <a:xfrm flipV="1">
            <a:off x="2124075" y="1989138"/>
            <a:ext cx="719138" cy="3603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14" name="Text Box 25"/>
          <p:cNvSpPr txBox="1">
            <a:spLocks noChangeArrowheads="1"/>
          </p:cNvSpPr>
          <p:nvPr/>
        </p:nvSpPr>
        <p:spPr bwMode="auto">
          <a:xfrm>
            <a:off x="3419475" y="1341438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B</a:t>
            </a:r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37915" name="Text Box 26"/>
          <p:cNvSpPr txBox="1">
            <a:spLocks noChangeArrowheads="1"/>
          </p:cNvSpPr>
          <p:nvPr/>
        </p:nvSpPr>
        <p:spPr bwMode="auto">
          <a:xfrm>
            <a:off x="6084888" y="6092825"/>
            <a:ext cx="40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tx2"/>
                </a:solidFill>
              </a:rPr>
              <a:t>C</a:t>
            </a:r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37916" name="Line 27"/>
          <p:cNvSpPr>
            <a:spLocks noChangeShapeType="1"/>
          </p:cNvSpPr>
          <p:nvPr/>
        </p:nvSpPr>
        <p:spPr bwMode="auto">
          <a:xfrm>
            <a:off x="4787900" y="3141663"/>
            <a:ext cx="288925" cy="431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17" name="Line 28"/>
          <p:cNvSpPr>
            <a:spLocks noChangeShapeType="1"/>
          </p:cNvSpPr>
          <p:nvPr/>
        </p:nvSpPr>
        <p:spPr bwMode="auto">
          <a:xfrm flipV="1">
            <a:off x="7164388" y="4005263"/>
            <a:ext cx="576262" cy="5762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18" name="Rectangle 29"/>
          <p:cNvSpPr>
            <a:spLocks noChangeArrowheads="1"/>
          </p:cNvSpPr>
          <p:nvPr/>
        </p:nvSpPr>
        <p:spPr bwMode="auto">
          <a:xfrm rot="-2783774">
            <a:off x="7402512" y="4506913"/>
            <a:ext cx="1439863" cy="268288"/>
          </a:xfrm>
          <a:prstGeom prst="rect">
            <a:avLst/>
          </a:prstGeom>
          <a:solidFill>
            <a:schemeClr val="bg1"/>
          </a:solidFill>
          <a:ln w="9525">
            <a:solidFill>
              <a:srgbClr val="FF33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RESV D,C,B,A</a:t>
            </a:r>
            <a:endParaRPr lang="ru-RU" sz="1600"/>
          </a:p>
        </p:txBody>
      </p:sp>
      <p:sp>
        <p:nvSpPr>
          <p:cNvPr id="37919" name="Line 30"/>
          <p:cNvSpPr>
            <a:spLocks noChangeShapeType="1"/>
          </p:cNvSpPr>
          <p:nvPr/>
        </p:nvSpPr>
        <p:spPr bwMode="auto">
          <a:xfrm flipH="1">
            <a:off x="7092950" y="5157788"/>
            <a:ext cx="503238" cy="504825"/>
          </a:xfrm>
          <a:prstGeom prst="line">
            <a:avLst/>
          </a:prstGeom>
          <a:noFill/>
          <a:ln w="9525">
            <a:solidFill>
              <a:srgbClr val="FF33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20" name="Rectangle 31"/>
          <p:cNvSpPr>
            <a:spLocks noChangeArrowheads="1"/>
          </p:cNvSpPr>
          <p:nvPr/>
        </p:nvSpPr>
        <p:spPr bwMode="auto">
          <a:xfrm rot="3414401">
            <a:off x="4494213" y="4603750"/>
            <a:ext cx="1368425" cy="3524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RESV C,B, A</a:t>
            </a:r>
            <a:endParaRPr lang="ru-RU" sz="1600"/>
          </a:p>
        </p:txBody>
      </p:sp>
      <p:sp>
        <p:nvSpPr>
          <p:cNvPr id="37921" name="Line 32"/>
          <p:cNvSpPr>
            <a:spLocks noChangeShapeType="1"/>
          </p:cNvSpPr>
          <p:nvPr/>
        </p:nvSpPr>
        <p:spPr bwMode="auto">
          <a:xfrm flipH="1" flipV="1">
            <a:off x="4427538" y="3716338"/>
            <a:ext cx="360362" cy="504825"/>
          </a:xfrm>
          <a:prstGeom prst="line">
            <a:avLst/>
          </a:prstGeom>
          <a:noFill/>
          <a:ln w="9525">
            <a:solidFill>
              <a:srgbClr val="FF33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37922" name="Rectangle 33"/>
          <p:cNvSpPr>
            <a:spLocks noChangeArrowheads="1"/>
          </p:cNvSpPr>
          <p:nvPr/>
        </p:nvSpPr>
        <p:spPr bwMode="auto">
          <a:xfrm rot="-1590496">
            <a:off x="2124075" y="2636838"/>
            <a:ext cx="1295400" cy="336550"/>
          </a:xfrm>
          <a:prstGeom prst="rect">
            <a:avLst/>
          </a:prstGeom>
          <a:solidFill>
            <a:schemeClr val="bg1"/>
          </a:solidFill>
          <a:ln w="9525">
            <a:solidFill>
              <a:srgbClr val="FF33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RESV B,A</a:t>
            </a:r>
            <a:endParaRPr lang="ru-RU" sz="1600"/>
          </a:p>
        </p:txBody>
      </p:sp>
      <p:sp>
        <p:nvSpPr>
          <p:cNvPr id="37923" name="Line 34"/>
          <p:cNvSpPr>
            <a:spLocks noChangeShapeType="1"/>
          </p:cNvSpPr>
          <p:nvPr/>
        </p:nvSpPr>
        <p:spPr bwMode="auto">
          <a:xfrm flipH="1">
            <a:off x="1619250" y="3141663"/>
            <a:ext cx="576263" cy="287337"/>
          </a:xfrm>
          <a:prstGeom prst="line">
            <a:avLst/>
          </a:prstGeom>
          <a:noFill/>
          <a:ln w="9525">
            <a:solidFill>
              <a:srgbClr val="FF33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Модель </a:t>
            </a:r>
            <a:r>
              <a:rPr lang="en-US" dirty="0" err="1" smtClean="0">
                <a:solidFill>
                  <a:srgbClr val="7030A0"/>
                </a:solidFill>
              </a:rPr>
              <a:t>IntServ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9" y="1196752"/>
            <a:ext cx="8820472" cy="518457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 smtClean="0"/>
              <a:t>Обеспечивает  услуги :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негарантированной доставки</a:t>
            </a:r>
          </a:p>
          <a:p>
            <a:pPr lvl="0"/>
            <a:r>
              <a:rPr lang="ru-RU" dirty="0">
                <a:solidFill>
                  <a:srgbClr val="002060"/>
                </a:solidFill>
              </a:rPr>
              <a:t>гарантированной доставки </a:t>
            </a:r>
            <a:r>
              <a:rPr lang="ru-RU" b="1" dirty="0"/>
              <a:t>(</a:t>
            </a:r>
            <a:r>
              <a:rPr lang="ru-RU" dirty="0" err="1"/>
              <a:t>Guaranteed</a:t>
            </a:r>
            <a:r>
              <a:rPr lang="ru-RU" dirty="0"/>
              <a:t> Service), предоставляющей гарантии по полосе пропускания и задержке пакетов;</a:t>
            </a:r>
          </a:p>
          <a:p>
            <a:pPr lvl="0"/>
            <a:r>
              <a:rPr lang="ru-RU" dirty="0">
                <a:solidFill>
                  <a:srgbClr val="002060"/>
                </a:solidFill>
              </a:rPr>
              <a:t>контролируемой загрузки </a:t>
            </a:r>
            <a:r>
              <a:rPr lang="ru-RU" dirty="0"/>
              <a:t>(</a:t>
            </a:r>
            <a:r>
              <a:rPr lang="ru-RU" dirty="0" err="1"/>
              <a:t>Controlled</a:t>
            </a:r>
            <a:r>
              <a:rPr lang="ru-RU" dirty="0"/>
              <a:t> </a:t>
            </a:r>
            <a:r>
              <a:rPr lang="ru-RU" dirty="0" err="1"/>
              <a:t>Load</a:t>
            </a:r>
            <a:r>
              <a:rPr lang="ru-RU" dirty="0"/>
              <a:t>), обеспечивающей такое же обслуживание, которое обеспечивала бы услуга негарантированной доставки в незагруженной сети.</a:t>
            </a:r>
          </a:p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Недостатки </a:t>
            </a:r>
            <a:r>
              <a:rPr lang="en-US" dirty="0" err="1" smtClean="0">
                <a:solidFill>
                  <a:srgbClr val="7030A0"/>
                </a:solidFill>
              </a:rPr>
              <a:t>IntServ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9" y="980728"/>
            <a:ext cx="8820472" cy="5877272"/>
          </a:xfrm>
        </p:spPr>
        <p:txBody>
          <a:bodyPr>
            <a:normAutofit fontScale="92500" lnSpcReduction="10000"/>
          </a:bodyPr>
          <a:lstStyle/>
          <a:p>
            <a:pPr fontAlgn="base" hangingPunct="0">
              <a:buNone/>
            </a:pPr>
            <a:r>
              <a:rPr lang="ru-RU" dirty="0"/>
              <a:t>Недостатками </a:t>
            </a:r>
            <a:r>
              <a:rPr lang="ru-RU" dirty="0" err="1"/>
              <a:t>IntServ</a:t>
            </a:r>
            <a:r>
              <a:rPr lang="ru-RU" dirty="0"/>
              <a:t>/RSVP являются:</a:t>
            </a:r>
          </a:p>
          <a:p>
            <a:pPr lvl="0"/>
            <a:r>
              <a:rPr lang="ru-RU" dirty="0">
                <a:solidFill>
                  <a:srgbClr val="002060"/>
                </a:solidFill>
              </a:rPr>
              <a:t>низкая </a:t>
            </a:r>
            <a:r>
              <a:rPr lang="ru-RU" dirty="0" err="1">
                <a:solidFill>
                  <a:srgbClr val="002060"/>
                </a:solidFill>
              </a:rPr>
              <a:t>масштабируемость</a:t>
            </a:r>
            <a:r>
              <a:rPr lang="ru-RU" dirty="0"/>
              <a:t>, обусловленная необходимостью хранить и обрабатывать информацию обо всех потоках, что ведет к снижению производительности </a:t>
            </a:r>
            <a:r>
              <a:rPr lang="ru-RU" dirty="0" err="1"/>
              <a:t>маршрутизаторов</a:t>
            </a:r>
            <a:r>
              <a:rPr lang="ru-RU" dirty="0"/>
              <a:t>;</a:t>
            </a:r>
          </a:p>
          <a:p>
            <a:pPr lvl="0"/>
            <a:r>
              <a:rPr lang="ru-RU" dirty="0">
                <a:solidFill>
                  <a:srgbClr val="002060"/>
                </a:solidFill>
              </a:rPr>
              <a:t>необходимость поддержки RSVP всеми </a:t>
            </a:r>
            <a:r>
              <a:rPr lang="ru-RU" dirty="0" err="1">
                <a:solidFill>
                  <a:srgbClr val="002060"/>
                </a:solidFill>
              </a:rPr>
              <a:t>маршрутизаторами</a:t>
            </a:r>
            <a:r>
              <a:rPr lang="ru-RU" dirty="0">
                <a:solidFill>
                  <a:srgbClr val="002060"/>
                </a:solidFill>
              </a:rPr>
              <a:t> и конечными приложениями</a:t>
            </a:r>
            <a:r>
              <a:rPr lang="ru-RU" b="1" dirty="0"/>
              <a:t>;</a:t>
            </a:r>
          </a:p>
          <a:p>
            <a:pPr lvl="0"/>
            <a:r>
              <a:rPr lang="ru-RU" dirty="0">
                <a:solidFill>
                  <a:srgbClr val="002060"/>
                </a:solidFill>
              </a:rPr>
              <a:t>инициализация резервирования приемной стороной.</a:t>
            </a:r>
          </a:p>
          <a:p>
            <a:r>
              <a:rPr lang="ru-RU" dirty="0"/>
              <a:t>В силу указанных недостатков </a:t>
            </a:r>
            <a:r>
              <a:rPr lang="ru-RU" dirty="0">
                <a:solidFill>
                  <a:srgbClr val="002060"/>
                </a:solidFill>
              </a:rPr>
              <a:t>метод </a:t>
            </a:r>
            <a:r>
              <a:rPr lang="ru-RU" dirty="0" err="1">
                <a:solidFill>
                  <a:srgbClr val="002060"/>
                </a:solidFill>
              </a:rPr>
              <a:t>IntServ</a:t>
            </a:r>
            <a:r>
              <a:rPr lang="ru-RU" dirty="0">
                <a:solidFill>
                  <a:srgbClr val="002060"/>
                </a:solidFill>
              </a:rPr>
              <a:t> не рекомендуется для применения в  </a:t>
            </a:r>
            <a:r>
              <a:rPr lang="ru-RU" dirty="0" smtClean="0">
                <a:solidFill>
                  <a:srgbClr val="002060"/>
                </a:solidFill>
              </a:rPr>
              <a:t>транзитных сетях </a:t>
            </a:r>
            <a:r>
              <a:rPr lang="en-US" dirty="0" smtClean="0">
                <a:solidFill>
                  <a:srgbClr val="002060"/>
                </a:solidFill>
              </a:rPr>
              <a:t>IP </a:t>
            </a:r>
            <a:r>
              <a:rPr lang="ru-RU" dirty="0" smtClean="0">
                <a:solidFill>
                  <a:srgbClr val="002060"/>
                </a:solidFill>
              </a:rPr>
              <a:t>, более подходит для сетей доступа 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23448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 Модели обеспечения качества обслуживания в сетях </a:t>
            </a:r>
            <a:r>
              <a:rPr lang="en-US" dirty="0" smtClean="0">
                <a:solidFill>
                  <a:srgbClr val="7030A0"/>
                </a:solidFill>
              </a:rPr>
              <a:t>IP</a:t>
            </a:r>
            <a:r>
              <a:rPr lang="ru-RU" dirty="0" smtClean="0">
                <a:solidFill>
                  <a:srgbClr val="7030A0"/>
                </a:solidFill>
              </a:rPr>
              <a:t>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Дифференцированные услуги </a:t>
            </a:r>
            <a:r>
              <a:rPr lang="en-US" dirty="0" err="1" smtClean="0">
                <a:solidFill>
                  <a:srgbClr val="7030A0"/>
                </a:solidFill>
              </a:rPr>
              <a:t>DiffServ</a:t>
            </a:r>
            <a:endParaRPr lang="ru-RU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sz="3600" dirty="0" smtClean="0">
                <a:solidFill>
                  <a:srgbClr val="7030A0"/>
                </a:solidFill>
              </a:rPr>
              <a:t>4б. Дифференцированные услуги </a:t>
            </a:r>
            <a:r>
              <a:rPr lang="en-US" sz="3600" dirty="0" err="1" smtClean="0">
                <a:solidFill>
                  <a:srgbClr val="7030A0"/>
                </a:solidFill>
              </a:rPr>
              <a:t>DiffServ</a:t>
            </a:r>
            <a:endParaRPr lang="ru-RU" sz="3600" dirty="0" smtClean="0">
              <a:solidFill>
                <a:srgbClr val="7030A0"/>
              </a:solidFill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84784"/>
            <a:ext cx="8568952" cy="4968552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  <a:defRPr/>
            </a:pPr>
            <a:r>
              <a:rPr lang="ru-RU" sz="2800" dirty="0" smtClean="0"/>
              <a:t>Разработана </a:t>
            </a:r>
            <a:r>
              <a:rPr lang="en-US" sz="2800" dirty="0" smtClean="0"/>
              <a:t>IETF,</a:t>
            </a:r>
            <a:r>
              <a:rPr lang="ru-RU" sz="2800" dirty="0" smtClean="0"/>
              <a:t> 1998 г. </a:t>
            </a:r>
            <a:endParaRPr lang="en-US" sz="2800" dirty="0" smtClean="0"/>
          </a:p>
          <a:p>
            <a:pPr eaLnBrk="1" hangingPunct="1">
              <a:buFontTx/>
              <a:buNone/>
              <a:defRPr/>
            </a:pPr>
            <a:r>
              <a:rPr lang="en-US" sz="2800" dirty="0" smtClean="0"/>
              <a:t>RFC </a:t>
            </a:r>
            <a:r>
              <a:rPr lang="ru-RU" sz="2800" dirty="0" smtClean="0"/>
              <a:t>1349</a:t>
            </a:r>
            <a:r>
              <a:rPr lang="en-US" sz="2800" dirty="0" smtClean="0"/>
              <a:t>, RFC 2</a:t>
            </a:r>
            <a:r>
              <a:rPr lang="ru-RU" sz="2800" dirty="0" smtClean="0"/>
              <a:t>475</a:t>
            </a:r>
            <a:r>
              <a:rPr lang="en-US" sz="2800" dirty="0" smtClean="0"/>
              <a:t>, RFC 2</a:t>
            </a:r>
            <a:r>
              <a:rPr lang="ru-RU" sz="2800" dirty="0" smtClean="0"/>
              <a:t>59</a:t>
            </a:r>
            <a:r>
              <a:rPr lang="en-US" sz="2800" dirty="0" smtClean="0"/>
              <a:t>7, RFC 2</a:t>
            </a:r>
            <a:r>
              <a:rPr lang="ru-RU" sz="2800" dirty="0" smtClean="0"/>
              <a:t>598</a:t>
            </a:r>
            <a:r>
              <a:rPr lang="en-US" sz="2800" dirty="0" smtClean="0"/>
              <a:t> </a:t>
            </a:r>
            <a:endParaRPr lang="ru-RU" sz="2800" dirty="0" smtClean="0"/>
          </a:p>
          <a:p>
            <a:pPr eaLnBrk="1" hangingPunct="1">
              <a:buFontTx/>
              <a:buNone/>
              <a:defRPr/>
            </a:pPr>
            <a:r>
              <a:rPr lang="ru-RU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Цель:</a:t>
            </a:r>
            <a:r>
              <a:rPr lang="ru-RU" sz="2800" dirty="0" smtClean="0"/>
              <a:t> поддержка легко масштабируемых дифференцируемых в </a:t>
            </a:r>
            <a:r>
              <a:rPr lang="en-US" sz="2800" dirty="0" smtClean="0"/>
              <a:t>Internet</a:t>
            </a:r>
            <a:endParaRPr lang="ru-RU" sz="2800" dirty="0" smtClean="0"/>
          </a:p>
          <a:p>
            <a:pPr eaLnBrk="1" hangingPunct="1">
              <a:buFontTx/>
              <a:buNone/>
              <a:defRPr/>
            </a:pPr>
            <a:r>
              <a:rPr lang="ru-RU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Недостатки:</a:t>
            </a:r>
            <a:r>
              <a:rPr lang="ru-RU" sz="2800" dirty="0" smtClean="0"/>
              <a:t> отсутствие гарантированного </a:t>
            </a:r>
            <a:r>
              <a:rPr lang="en-US" sz="2800" dirty="0" err="1" smtClean="0"/>
              <a:t>QoS</a:t>
            </a:r>
            <a:endParaRPr lang="ru-RU" sz="2800" dirty="0" smtClean="0"/>
          </a:p>
          <a:p>
            <a:pPr eaLnBrk="1" hangingPunct="1">
              <a:buFontTx/>
              <a:buNone/>
              <a:defRPr/>
            </a:pPr>
            <a:r>
              <a:rPr lang="ru-RU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Основной механизм</a:t>
            </a:r>
            <a:r>
              <a:rPr lang="ru-RU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 eaLnBrk="1" hangingPunct="1">
              <a:buFontTx/>
              <a:buNone/>
              <a:defRPr/>
            </a:pPr>
            <a:r>
              <a:rPr lang="ru-RU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-  </a:t>
            </a:r>
            <a:r>
              <a:rPr lang="ru-RU" sz="2800" dirty="0" smtClean="0"/>
              <a:t>Маркировка трафика с использованием бита </a:t>
            </a:r>
            <a:r>
              <a:rPr lang="en-US" sz="2800" dirty="0" err="1" smtClean="0"/>
              <a:t>ToS</a:t>
            </a:r>
            <a:r>
              <a:rPr lang="ru-RU" sz="2800" dirty="0" smtClean="0"/>
              <a:t> (</a:t>
            </a:r>
            <a:r>
              <a:rPr lang="en-US" sz="2800" dirty="0" smtClean="0"/>
              <a:t>Type of Service)</a:t>
            </a:r>
            <a:r>
              <a:rPr lang="ru-RU" sz="2800" dirty="0" smtClean="0"/>
              <a:t>.</a:t>
            </a:r>
          </a:p>
          <a:p>
            <a:pPr eaLnBrk="1" hangingPunct="1">
              <a:buFontTx/>
              <a:buNone/>
              <a:defRPr/>
            </a:pPr>
            <a:r>
              <a:rPr lang="ru-RU" sz="2800" dirty="0" smtClean="0"/>
              <a:t> Поддерживает политики поведения сетевого</a:t>
            </a:r>
            <a:r>
              <a:rPr lang="en-US" sz="2800" dirty="0" smtClean="0"/>
              <a:t> </a:t>
            </a:r>
            <a:r>
              <a:rPr lang="ru-RU" sz="2800" dirty="0" smtClean="0"/>
              <a:t>узла:</a:t>
            </a:r>
          </a:p>
          <a:p>
            <a:pPr eaLnBrk="1" hangingPunct="1">
              <a:buFontTx/>
              <a:buNone/>
              <a:defRPr/>
            </a:pPr>
            <a:r>
              <a:rPr lang="ru-RU" sz="2800" dirty="0" smtClean="0"/>
              <a:t> </a:t>
            </a:r>
            <a:r>
              <a:rPr lang="en-US" sz="2800" dirty="0" smtClean="0"/>
              <a:t>AF</a:t>
            </a:r>
            <a:r>
              <a:rPr lang="ru-RU" sz="2800" dirty="0" smtClean="0"/>
              <a:t>-</a:t>
            </a:r>
            <a:r>
              <a:rPr lang="en-US" sz="2800" dirty="0" err="1" smtClean="0"/>
              <a:t>phb</a:t>
            </a:r>
            <a:r>
              <a:rPr lang="ru-RU" sz="2800" dirty="0" smtClean="0"/>
              <a:t> и </a:t>
            </a:r>
            <a:r>
              <a:rPr lang="en-US" sz="2800" dirty="0" smtClean="0"/>
              <a:t>EF-</a:t>
            </a:r>
            <a:r>
              <a:rPr lang="en-US" sz="2800" dirty="0" err="1" smtClean="0"/>
              <a:t>phb</a:t>
            </a:r>
            <a:r>
              <a:rPr lang="ru-RU" sz="2800" dirty="0" smtClean="0"/>
              <a:t> (</a:t>
            </a:r>
            <a:r>
              <a:rPr lang="en-US" sz="2800" dirty="0" smtClean="0"/>
              <a:t>Per</a:t>
            </a:r>
            <a:r>
              <a:rPr lang="ru-RU" sz="2800" dirty="0" smtClean="0"/>
              <a:t>-</a:t>
            </a:r>
            <a:r>
              <a:rPr lang="en-US" sz="2800" dirty="0" smtClean="0"/>
              <a:t>Hop Behavior</a:t>
            </a:r>
            <a:r>
              <a:rPr lang="ru-RU" sz="28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</a:rPr>
              <a:t>Классификация и маркировка пакетов по приоритетам</a:t>
            </a:r>
          </a:p>
        </p:txBody>
      </p:sp>
      <p:sp>
        <p:nvSpPr>
          <p:cNvPr id="54275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ru-RU" dirty="0" smtClean="0"/>
              <a:t>Заполнение битов в заголовках пакетов и кадров.</a:t>
            </a:r>
          </a:p>
          <a:p>
            <a:pPr lvl="1" eaLnBrk="1" hangingPunct="1"/>
            <a:r>
              <a:rPr lang="ru-RU" dirty="0" smtClean="0"/>
              <a:t>Заполнение поля </a:t>
            </a:r>
            <a:r>
              <a:rPr lang="en-US" dirty="0" err="1" smtClean="0"/>
              <a:t>ToS</a:t>
            </a:r>
            <a:r>
              <a:rPr lang="en-US" dirty="0" smtClean="0"/>
              <a:t> (Type of Service)</a:t>
            </a:r>
            <a:r>
              <a:rPr lang="ru-RU" dirty="0" smtClean="0"/>
              <a:t> в заголовке </a:t>
            </a:r>
            <a:r>
              <a:rPr lang="en-US" dirty="0" smtClean="0"/>
              <a:t>IP</a:t>
            </a:r>
            <a:r>
              <a:rPr lang="ru-RU" dirty="0" smtClean="0"/>
              <a:t> пакета</a:t>
            </a:r>
          </a:p>
          <a:p>
            <a:pPr lvl="1" eaLnBrk="1" hangingPunct="1"/>
            <a:endParaRPr lang="ru-RU" dirty="0" smtClean="0"/>
          </a:p>
          <a:p>
            <a:pPr lvl="1" eaLnBrk="1" hangingPunct="1"/>
            <a:endParaRPr lang="ru-RU" dirty="0" smtClean="0"/>
          </a:p>
          <a:p>
            <a:pPr lvl="1" eaLnBrk="1" hangingPunct="1"/>
            <a:endParaRPr lang="ru-RU" dirty="0" smtClean="0"/>
          </a:p>
          <a:p>
            <a:pPr lvl="1" eaLnBrk="1" hangingPunct="1"/>
            <a:endParaRPr lang="ru-RU" dirty="0" smtClean="0"/>
          </a:p>
          <a:p>
            <a:pPr lvl="1" eaLnBrk="1" hangingPunct="1"/>
            <a:endParaRPr lang="ru-RU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1785938" y="3717032"/>
            <a:ext cx="1785937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 smtClean="0"/>
              <a:t>ToS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85875" y="4286250"/>
            <a:ext cx="357188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P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643063" y="4286250"/>
            <a:ext cx="357187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P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000250" y="4286250"/>
            <a:ext cx="357188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P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357438" y="4286250"/>
            <a:ext cx="357187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714625" y="4286250"/>
            <a:ext cx="357188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071813" y="4286250"/>
            <a:ext cx="357187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429000" y="4286250"/>
            <a:ext cx="357188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786188" y="4286250"/>
            <a:ext cx="357187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85875" y="4929188"/>
            <a:ext cx="357188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643063" y="4929188"/>
            <a:ext cx="357187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2000250" y="4929188"/>
            <a:ext cx="357188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357438" y="4929188"/>
            <a:ext cx="357187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2714625" y="4929188"/>
            <a:ext cx="357188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3071813" y="4929188"/>
            <a:ext cx="357187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3429000" y="4929188"/>
            <a:ext cx="357188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D</a:t>
            </a:r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3786188" y="4929188"/>
            <a:ext cx="357187" cy="42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smtClean="0"/>
              <a:t>D</a:t>
            </a:r>
            <a:endParaRPr lang="ru-RU" dirty="0"/>
          </a:p>
        </p:txBody>
      </p:sp>
      <p:sp>
        <p:nvSpPr>
          <p:cNvPr id="54293" name="TextBox 20"/>
          <p:cNvSpPr txBox="1">
            <a:spLocks noChangeArrowheads="1"/>
          </p:cNvSpPr>
          <p:nvPr/>
        </p:nvSpPr>
        <p:spPr bwMode="auto">
          <a:xfrm>
            <a:off x="4214813" y="4286250"/>
            <a:ext cx="3429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8 </a:t>
            </a:r>
            <a:r>
              <a:rPr lang="ru-RU" dirty="0"/>
              <a:t>Приоритетов (</a:t>
            </a:r>
            <a:r>
              <a:rPr lang="en-US" dirty="0" err="1" smtClean="0"/>
              <a:t>ToS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54294" name="TextBox 21"/>
          <p:cNvSpPr txBox="1">
            <a:spLocks noChangeArrowheads="1"/>
          </p:cNvSpPr>
          <p:nvPr/>
        </p:nvSpPr>
        <p:spPr bwMode="auto">
          <a:xfrm>
            <a:off x="4214813" y="5000625"/>
            <a:ext cx="3214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64 Приоритета</a:t>
            </a:r>
            <a:r>
              <a:rPr lang="en-US"/>
              <a:t> (Diff-Serv)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8169275" cy="76470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sz="33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Политики поведения сетевого узла</a:t>
            </a:r>
            <a:r>
              <a:rPr lang="en-US" sz="33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ru-RU" sz="3300" dirty="0" smtClean="0">
              <a:solidFill>
                <a:srgbClr val="7030A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764704"/>
            <a:ext cx="8820472" cy="609329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2800" dirty="0" smtClean="0">
                <a:solidFill>
                  <a:srgbClr val="002060"/>
                </a:solidFill>
              </a:rPr>
              <a:t>        1. Политика гарантированной доставки </a:t>
            </a: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AF-</a:t>
            </a:r>
            <a:r>
              <a:rPr lang="en-US" sz="280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phb</a:t>
            </a:r>
            <a:r>
              <a:rPr lang="ru-RU" sz="2800" dirty="0" smtClean="0"/>
              <a:t> 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ru-RU" sz="2800" dirty="0" smtClean="0"/>
              <a:t>(</a:t>
            </a:r>
            <a:r>
              <a:rPr lang="en-US" sz="2800" dirty="0" smtClean="0"/>
              <a:t>Assured Forwarding</a:t>
            </a:r>
            <a:r>
              <a:rPr lang="ru-RU" sz="2800" dirty="0" smtClean="0"/>
              <a:t>)  - 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ru-RU" sz="2800" dirty="0" smtClean="0"/>
              <a:t>   средство, позволяющее обеспечить несколько различных уровней надежности доставки </a:t>
            </a:r>
            <a:r>
              <a:rPr lang="en-US" sz="2800" dirty="0" smtClean="0"/>
              <a:t>IP</a:t>
            </a:r>
            <a:r>
              <a:rPr lang="ru-RU" sz="2800" dirty="0" smtClean="0"/>
              <a:t>-пакетов.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ru-RU" sz="2800" dirty="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dirty="0" smtClean="0">
                <a:solidFill>
                  <a:srgbClr val="002060"/>
                </a:solidFill>
              </a:rPr>
              <a:t>      Механизмы: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ru-RU" sz="2800" dirty="0" smtClean="0">
                <a:solidFill>
                  <a:srgbClr val="002060"/>
                </a:solidFill>
              </a:rPr>
              <a:t>         - </a:t>
            </a:r>
            <a:r>
              <a:rPr lang="ru-RU" sz="2800" dirty="0" smtClean="0"/>
              <a:t>эффективное управление полосой пропускания за счет организации собственной очереди для каждого типа трафика;</a:t>
            </a:r>
            <a:endParaRPr lang="en-US" sz="2800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 smtClean="0"/>
              <a:t>        </a:t>
            </a:r>
            <a:r>
              <a:rPr lang="ru-RU" sz="2800" dirty="0" smtClean="0"/>
              <a:t>  -три уровня приоритетов пакетов.</a:t>
            </a:r>
            <a:r>
              <a:rPr lang="en-US" sz="2800" dirty="0" smtClean="0"/>
              <a:t>   </a:t>
            </a:r>
            <a:endParaRPr lang="ru-RU" sz="2800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06090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Политики поведения сетевого узла(2)</a:t>
            </a:r>
            <a:r>
              <a:rPr lang="en-US" sz="36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8" cy="587727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dirty="0" smtClean="0">
                <a:solidFill>
                  <a:srgbClr val="002060"/>
                </a:solidFill>
              </a:rPr>
              <a:t>       2. Политика немедленной доставки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Е</a:t>
            </a:r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F-</a:t>
            </a:r>
            <a:r>
              <a:rPr lang="en-US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phb</a:t>
            </a:r>
            <a:endParaRPr lang="ru-RU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90000"/>
              </a:lnSpc>
              <a:buNone/>
              <a:defRPr/>
            </a:pPr>
            <a:r>
              <a:rPr lang="ru-RU" dirty="0" smtClean="0"/>
              <a:t> (</a:t>
            </a:r>
            <a:r>
              <a:rPr lang="en-US" dirty="0" smtClean="0"/>
              <a:t>Expedited Forwarding</a:t>
            </a:r>
            <a:r>
              <a:rPr lang="ru-RU" dirty="0" smtClean="0"/>
              <a:t>) - </a:t>
            </a:r>
            <a:endParaRPr lang="en-US" dirty="0" smtClean="0"/>
          </a:p>
          <a:p>
            <a:pPr>
              <a:lnSpc>
                <a:spcPct val="90000"/>
              </a:lnSpc>
              <a:buNone/>
              <a:defRPr/>
            </a:pPr>
            <a:r>
              <a:rPr lang="ru-RU" dirty="0" smtClean="0"/>
              <a:t>   </a:t>
            </a:r>
            <a:r>
              <a:rPr lang="en-US" dirty="0" smtClean="0"/>
              <a:t> </a:t>
            </a:r>
            <a:r>
              <a:rPr lang="ru-RU" dirty="0" smtClean="0"/>
              <a:t>обеспечение сквозного </a:t>
            </a:r>
            <a:r>
              <a:rPr lang="en-US" dirty="0" err="1" smtClean="0"/>
              <a:t>QoS</a:t>
            </a:r>
            <a:r>
              <a:rPr lang="ru-RU" dirty="0" smtClean="0"/>
              <a:t>  для приложений реального времени.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ru-RU" dirty="0" smtClean="0">
                <a:solidFill>
                  <a:srgbClr val="002060"/>
                </a:solidFill>
              </a:rPr>
              <a:t>      Механизмы: 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ru-RU" dirty="0" smtClean="0"/>
              <a:t>       -  </a:t>
            </a:r>
            <a:r>
              <a:rPr lang="ru-RU" dirty="0" err="1" smtClean="0">
                <a:solidFill>
                  <a:schemeClr val="accent1">
                    <a:lumMod val="75000"/>
                  </a:schemeClr>
                </a:solidFill>
              </a:rPr>
              <a:t>приоритизация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трафика; </a:t>
            </a:r>
          </a:p>
          <a:p>
            <a:pPr>
              <a:lnSpc>
                <a:spcPct val="90000"/>
              </a:lnSpc>
              <a:buNone/>
              <a:defRPr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      - 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WFQ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;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ru-RU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buNone/>
              <a:defRPr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       -  распределение ресурсов;</a:t>
            </a:r>
          </a:p>
          <a:p>
            <a:pPr>
              <a:lnSpc>
                <a:spcPct val="90000"/>
              </a:lnSpc>
              <a:buNone/>
              <a:defRPr/>
            </a:pPr>
            <a:endParaRPr lang="ru-RU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buNone/>
              <a:defRPr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       -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RED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ru-RU" dirty="0" smtClean="0"/>
              <a:t> дисциплина случайного раннего обнаружение, когда обслуживание идет</a:t>
            </a:r>
            <a:r>
              <a:rPr lang="en-US" dirty="0" smtClean="0"/>
              <a:t> </a:t>
            </a:r>
            <a:r>
              <a:rPr lang="ru-RU" dirty="0" smtClean="0"/>
              <a:t>по правилу </a:t>
            </a:r>
            <a:r>
              <a:rPr lang="en-US" dirty="0" smtClean="0"/>
              <a:t>FIFO</a:t>
            </a:r>
            <a:r>
              <a:rPr lang="ru-RU" dirty="0" smtClean="0"/>
              <a:t> , но при достижении порогового значения вновь поступающие пакеты отбрасываются.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Организация очереди с малой задержкой (LLQ)</a:t>
            </a:r>
            <a:endParaRPr lang="ru-RU" sz="3200" dirty="0"/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67EA435C-EA05-4A91-877D-72D56A486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5536" y="1124744"/>
            <a:ext cx="8424935" cy="5544616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8456488" cy="603920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Дифференцированные услуги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980728"/>
            <a:ext cx="8820472" cy="587727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rgbClr val="000000"/>
                </a:solidFill>
              </a:rPr>
              <a:t>DiffServ</a:t>
            </a:r>
            <a:r>
              <a:rPr lang="ru-RU" sz="2400" dirty="0">
                <a:solidFill>
                  <a:srgbClr val="000000"/>
                </a:solidFill>
              </a:rPr>
              <a:t> делит сетевой трафик на </a:t>
            </a:r>
            <a:r>
              <a:rPr lang="ru-RU" sz="2400" dirty="0" smtClean="0">
                <a:solidFill>
                  <a:srgbClr val="000000"/>
                </a:solidFill>
              </a:rPr>
              <a:t>классы в</a:t>
            </a:r>
            <a:r>
              <a:rPr lang="en-US" sz="2400" dirty="0" smtClean="0">
                <a:solidFill>
                  <a:srgbClr val="000000"/>
                </a:solidFill>
              </a:rPr>
              <a:t> </a:t>
            </a:r>
            <a:r>
              <a:rPr lang="ru-RU" sz="2400" dirty="0" smtClean="0">
                <a:solidFill>
                  <a:srgbClr val="000000"/>
                </a:solidFill>
              </a:rPr>
              <a:t>соответствии с</a:t>
            </a:r>
            <a:r>
              <a:rPr lang="en-US" sz="2400" dirty="0" smtClean="0">
                <a:solidFill>
                  <a:srgbClr val="000000"/>
                </a:solidFill>
              </a:rPr>
              <a:t> </a:t>
            </a:r>
            <a:r>
              <a:rPr lang="ru-RU" sz="2400" dirty="0" smtClean="0">
                <a:solidFill>
                  <a:srgbClr val="000000"/>
                </a:solidFill>
              </a:rPr>
              <a:t>политикой </a:t>
            </a:r>
            <a:r>
              <a:rPr lang="en-US" sz="2400" dirty="0" err="1" smtClean="0">
                <a:solidFill>
                  <a:srgbClr val="000000"/>
                </a:solidFill>
              </a:rPr>
              <a:t>QoS</a:t>
            </a:r>
            <a:r>
              <a:rPr lang="ru-RU" sz="2400" dirty="0" smtClean="0">
                <a:solidFill>
                  <a:srgbClr val="000000"/>
                </a:solidFill>
              </a:rPr>
              <a:t>, и </a:t>
            </a:r>
            <a:r>
              <a:rPr lang="ru-RU" sz="2400" dirty="0">
                <a:solidFill>
                  <a:srgbClr val="000000"/>
                </a:solidFill>
              </a:rPr>
              <a:t>каждому классу </a:t>
            </a:r>
            <a:r>
              <a:rPr lang="ru-RU" sz="2400" dirty="0" smtClean="0">
                <a:solidFill>
                  <a:srgbClr val="000000"/>
                </a:solidFill>
              </a:rPr>
              <a:t> назначается </a:t>
            </a:r>
            <a:r>
              <a:rPr lang="ru-RU" sz="2400" dirty="0">
                <a:solidFill>
                  <a:srgbClr val="000000"/>
                </a:solidFill>
              </a:rPr>
              <a:t>свой уровень обслуживания.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При прохождении пакетов по сети каждое сетевое устройство определяет класс пакета и обрабатывает этот пакет в соответствии с требованиями для данного класса.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Модель </a:t>
            </a:r>
            <a:r>
              <a:rPr lang="ru-RU" sz="2400" dirty="0" err="1">
                <a:solidFill>
                  <a:srgbClr val="000000"/>
                </a:solidFill>
              </a:rPr>
              <a:t>DiffServ</a:t>
            </a:r>
            <a:r>
              <a:rPr lang="ru-RU" sz="2400" dirty="0">
                <a:solidFill>
                  <a:srgbClr val="000000"/>
                </a:solidFill>
              </a:rPr>
              <a:t> предусматривает выбор из нескольких уровней обслуживания. </a:t>
            </a:r>
          </a:p>
          <a:p>
            <a:endParaRPr lang="ru-RU" sz="2400" dirty="0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xmlns="" id="{E5D5D165-4B1A-47E2-808B-C427AC375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462594852"/>
              </p:ext>
            </p:extLst>
          </p:nvPr>
        </p:nvGraphicFramePr>
        <p:xfrm>
          <a:off x="323528" y="4437112"/>
          <a:ext cx="8496944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473">
                  <a:extLst>
                    <a:ext uri="{9D8B030D-6E8A-4147-A177-3AD203B41FA5}">
                      <a16:colId xmlns:a16="http://schemas.microsoft.com/office/drawing/2014/main" xmlns="" val="3729139006"/>
                    </a:ext>
                  </a:extLst>
                </a:gridCol>
                <a:gridCol w="4248471">
                  <a:extLst>
                    <a:ext uri="{9D8B030D-6E8A-4147-A177-3AD203B41FA5}">
                      <a16:colId xmlns:a16="http://schemas.microsoft.com/office/drawing/2014/main" xmlns="" val="2623022619"/>
                    </a:ext>
                  </a:extLst>
                </a:gridCol>
              </a:tblGrid>
              <a:tr h="495916">
                <a:tc>
                  <a:txBody>
                    <a:bodyPr/>
                    <a:lstStyle/>
                    <a:p>
                      <a:pPr rtl="0"/>
                      <a:r>
                        <a:rPr lang="ru-RU" sz="1800" dirty="0"/>
                        <a:t>Преимущества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/>
                        <a:t>Недостатки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2583676789"/>
                  </a:ext>
                </a:extLst>
              </a:tr>
              <a:tr h="1664324">
                <a:tc>
                  <a:txBody>
                    <a:bodyPr/>
                    <a:lstStyle/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/>
                        <a:t>Высокий уровень масштабирования.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/>
                        <a:t>Разнообразие уровней качества.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/>
                        <a:t>Нет полной гарантии качества предоставления услуг.</a:t>
                      </a:r>
                    </a:p>
                    <a:p>
                      <a:pPr marL="171450" indent="-171450" rtl="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/>
                        <a:t>Необходимость слаженной работы комплекса сложных механизмов во всей сети.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3849654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91667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88641"/>
            <a:ext cx="7793038" cy="1008111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rgbClr val="7030A0"/>
                </a:solidFill>
              </a:rPr>
              <a:t>Сеть </a:t>
            </a:r>
            <a:r>
              <a:rPr lang="en-US" dirty="0" err="1" smtClean="0">
                <a:solidFill>
                  <a:srgbClr val="7030A0"/>
                </a:solidFill>
              </a:rPr>
              <a:t>DiffServ</a:t>
            </a:r>
            <a:endParaRPr lang="ru-RU" dirty="0" smtClean="0">
              <a:solidFill>
                <a:srgbClr val="7030A0"/>
              </a:solidFill>
            </a:endParaRPr>
          </a:p>
        </p:txBody>
      </p:sp>
      <p:graphicFrame>
        <p:nvGraphicFramePr>
          <p:cNvPr id="41987" name="Object 2"/>
          <p:cNvGraphicFramePr>
            <a:graphicFrameLocks noGrp="1" noChangeAspect="1"/>
          </p:cNvGraphicFramePr>
          <p:nvPr>
            <p:ph type="dgm" idx="1"/>
          </p:nvPr>
        </p:nvGraphicFramePr>
        <p:xfrm>
          <a:off x="539552" y="1340768"/>
          <a:ext cx="8323014" cy="5184502"/>
        </p:xfrm>
        <a:graphic>
          <a:graphicData uri="http://schemas.openxmlformats.org/presentationml/2006/ole">
            <p:oleObj spid="_x0000_s25624" name="VISIO" r:id="rId3" imgW="7813548" imgH="3742944" progId="">
              <p:embed/>
            </p:oleObj>
          </a:graphicData>
        </a:graphic>
      </p:graphicFrame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02634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Модели обеспечения качества обслуживания в сетях </a:t>
            </a:r>
            <a:r>
              <a:rPr lang="en-US" dirty="0" smtClean="0">
                <a:solidFill>
                  <a:srgbClr val="7030A0"/>
                </a:solidFill>
              </a:rPr>
              <a:t>IP</a:t>
            </a:r>
            <a:r>
              <a:rPr lang="ru-RU" dirty="0" smtClean="0">
                <a:solidFill>
                  <a:srgbClr val="7030A0"/>
                </a:solidFill>
              </a:rPr>
              <a:t>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MPLS </a:t>
            </a:r>
            <a:r>
              <a:rPr lang="ru-RU" dirty="0" smtClean="0">
                <a:solidFill>
                  <a:srgbClr val="7030A0"/>
                </a:solidFill>
              </a:rPr>
              <a:t>(</a:t>
            </a:r>
            <a:r>
              <a:rPr lang="en-AU" dirty="0" smtClean="0">
                <a:solidFill>
                  <a:srgbClr val="7030A0"/>
                </a:solidFill>
              </a:rPr>
              <a:t>Multi</a:t>
            </a:r>
            <a:r>
              <a:rPr lang="ru-RU" dirty="0" smtClean="0">
                <a:solidFill>
                  <a:srgbClr val="7030A0"/>
                </a:solidFill>
              </a:rPr>
              <a:t>-</a:t>
            </a:r>
            <a:r>
              <a:rPr lang="en-AU" dirty="0" smtClean="0">
                <a:solidFill>
                  <a:srgbClr val="7030A0"/>
                </a:solidFill>
              </a:rPr>
              <a:t>Protocol Label Switching</a:t>
            </a:r>
            <a:r>
              <a:rPr lang="ru-RU" dirty="0" smtClean="0">
                <a:solidFill>
                  <a:srgbClr val="7030A0"/>
                </a:solidFill>
              </a:rPr>
              <a:t>)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технология многопротокольной коммутации меток</a:t>
            </a:r>
            <a:endParaRPr lang="ru-RU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180975" y="188640"/>
            <a:ext cx="8748713" cy="115212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2800" dirty="0" smtClean="0">
                <a:solidFill>
                  <a:srgbClr val="7030A0"/>
                </a:solidFill>
              </a:rPr>
              <a:t>4в. </a:t>
            </a:r>
            <a:r>
              <a:rPr lang="en-US" sz="2800" dirty="0" smtClean="0">
                <a:solidFill>
                  <a:srgbClr val="7030A0"/>
                </a:solidFill>
              </a:rPr>
              <a:t>MPLS </a:t>
            </a:r>
            <a:r>
              <a:rPr lang="ru-RU" sz="2800" dirty="0" smtClean="0">
                <a:solidFill>
                  <a:srgbClr val="7030A0"/>
                </a:solidFill>
              </a:rPr>
              <a:t>(</a:t>
            </a:r>
            <a:r>
              <a:rPr lang="en-AU" sz="2800" dirty="0" smtClean="0">
                <a:solidFill>
                  <a:srgbClr val="7030A0"/>
                </a:solidFill>
              </a:rPr>
              <a:t>Multi</a:t>
            </a:r>
            <a:r>
              <a:rPr lang="ru-RU" sz="2800" dirty="0" smtClean="0">
                <a:solidFill>
                  <a:srgbClr val="7030A0"/>
                </a:solidFill>
              </a:rPr>
              <a:t>-</a:t>
            </a:r>
            <a:r>
              <a:rPr lang="en-AU" sz="2800" dirty="0" smtClean="0">
                <a:solidFill>
                  <a:srgbClr val="7030A0"/>
                </a:solidFill>
              </a:rPr>
              <a:t>Protocol Label Switching</a:t>
            </a:r>
            <a:r>
              <a:rPr lang="ru-RU" sz="2800" dirty="0" smtClean="0">
                <a:solidFill>
                  <a:srgbClr val="7030A0"/>
                </a:solidFill>
              </a:rPr>
              <a:t>)</a:t>
            </a:r>
            <a:br>
              <a:rPr lang="ru-RU" sz="2800" dirty="0" smtClean="0">
                <a:solidFill>
                  <a:srgbClr val="7030A0"/>
                </a:solidFill>
              </a:rPr>
            </a:br>
            <a:r>
              <a:rPr lang="ru-RU" sz="2800" dirty="0" smtClean="0">
                <a:solidFill>
                  <a:srgbClr val="7030A0"/>
                </a:solidFill>
              </a:rPr>
              <a:t> технология многопротокольной коммутации меток</a:t>
            </a:r>
          </a:p>
        </p:txBody>
      </p:sp>
      <p:sp>
        <p:nvSpPr>
          <p:cNvPr id="94214" name="Rectangle 6"/>
          <p:cNvSpPr>
            <a:spLocks noChangeArrowheads="1"/>
          </p:cNvSpPr>
          <p:nvPr/>
        </p:nvSpPr>
        <p:spPr bwMode="auto">
          <a:xfrm>
            <a:off x="323528" y="1268760"/>
            <a:ext cx="856895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Разрабатывается </a:t>
            </a:r>
            <a:r>
              <a:rPr lang="en-US" sz="2800" dirty="0"/>
              <a:t>IETF</a:t>
            </a:r>
          </a:p>
          <a:p>
            <a:pPr>
              <a:defRPr/>
            </a:pPr>
            <a:r>
              <a:rPr lang="en-US" sz="2800" dirty="0"/>
              <a:t>RFC </a:t>
            </a:r>
            <a:r>
              <a:rPr lang="ru-RU" sz="2800" dirty="0"/>
              <a:t>2702</a:t>
            </a:r>
            <a:r>
              <a:rPr lang="en-US" sz="2800" dirty="0"/>
              <a:t>, RFC </a:t>
            </a:r>
            <a:r>
              <a:rPr lang="ru-RU" sz="2800" dirty="0"/>
              <a:t>2283</a:t>
            </a:r>
            <a:r>
              <a:rPr lang="en-US" sz="2800" dirty="0"/>
              <a:t>,</a:t>
            </a:r>
            <a:r>
              <a:rPr lang="ru-RU" sz="2800" dirty="0"/>
              <a:t> </a:t>
            </a:r>
            <a:r>
              <a:rPr lang="en-US" sz="2800" dirty="0"/>
              <a:t>RFC 2547</a:t>
            </a:r>
            <a:endParaRPr lang="ru-RU" sz="28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lang="ru-RU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Цель:</a:t>
            </a:r>
            <a:r>
              <a:rPr lang="ru-RU" sz="2800" dirty="0"/>
              <a:t> отделение процесса маршрутизации пакета от необходимости анализа IP-адресов в его заголовке, что существенно уменьшает время пребывания пакетов в маршрутизаторе и обеспечивает требуемые показатели </a:t>
            </a:r>
            <a:r>
              <a:rPr lang="ru-RU" sz="2800" dirty="0" err="1"/>
              <a:t>QoS</a:t>
            </a:r>
            <a:r>
              <a:rPr lang="ru-RU" sz="2800" dirty="0"/>
              <a:t> для трафика реального времени.</a:t>
            </a:r>
          </a:p>
          <a:p>
            <a:pPr>
              <a:defRPr/>
            </a:pPr>
            <a:r>
              <a:rPr lang="ru-RU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Недостатки</a:t>
            </a:r>
            <a:r>
              <a:rPr lang="ru-RU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>
              <a:defRPr/>
            </a:pPr>
            <a:r>
              <a:rPr lang="ru-RU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lang="ru-RU" sz="2800" dirty="0" smtClean="0"/>
              <a:t> </a:t>
            </a:r>
            <a:r>
              <a:rPr lang="ru-RU" sz="2800" dirty="0"/>
              <a:t>ориентирован на топологию</a:t>
            </a:r>
          </a:p>
          <a:p>
            <a:pPr>
              <a:defRPr/>
            </a:pPr>
            <a:r>
              <a:rPr lang="ru-RU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Основной </a:t>
            </a:r>
            <a:r>
              <a:rPr lang="ru-RU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механизм:</a:t>
            </a:r>
          </a:p>
          <a:p>
            <a:pPr>
              <a:defRPr/>
            </a:pPr>
            <a:r>
              <a:rPr lang="ru-RU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-  </a:t>
            </a:r>
            <a:r>
              <a:rPr lang="ru-RU" sz="2800" dirty="0"/>
              <a:t>коммутация по </a:t>
            </a:r>
            <a:r>
              <a:rPr lang="ru-RU" sz="2800" dirty="0" smtClean="0"/>
              <a:t>меткам,</a:t>
            </a:r>
          </a:p>
          <a:p>
            <a:pPr>
              <a:defRPr/>
            </a:pPr>
            <a:r>
              <a:rPr lang="ru-RU" sz="2800" dirty="0" smtClean="0"/>
              <a:t>     -  </a:t>
            </a:r>
            <a:r>
              <a:rPr lang="ru-RU" sz="2800" dirty="0" err="1" smtClean="0"/>
              <a:t>туннелирование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95536" y="260648"/>
            <a:ext cx="8420472" cy="9361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ru-RU" sz="4000" dirty="0">
                <a:solidFill>
                  <a:srgbClr val="7030A0"/>
                </a:solidFill>
              </a:rPr>
              <a:t>Архитектура сети </a:t>
            </a:r>
            <a:r>
              <a:rPr lang="en-US" sz="4000" dirty="0">
                <a:solidFill>
                  <a:srgbClr val="7030A0"/>
                </a:solidFill>
              </a:rPr>
              <a:t>MPLS</a:t>
            </a:r>
            <a:endParaRPr lang="ru-RU" sz="4000" dirty="0">
              <a:solidFill>
                <a:srgbClr val="7030A0"/>
              </a:solidFill>
            </a:endParaRPr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251520" y="1268760"/>
          <a:ext cx="8424936" cy="4608511"/>
        </p:xfrm>
        <a:graphic>
          <a:graphicData uri="http://schemas.openxmlformats.org/presentationml/2006/ole">
            <p:oleObj spid="_x0000_s68632" name="VISIO" r:id="rId3" imgW="9718548" imgH="4040124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260648"/>
            <a:ext cx="7772400" cy="882352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rgbClr val="7030A0"/>
                </a:solidFill>
              </a:rPr>
              <a:t>LSR </a:t>
            </a:r>
            <a:r>
              <a:rPr lang="ru-RU" dirty="0" smtClean="0">
                <a:solidFill>
                  <a:srgbClr val="7030A0"/>
                </a:solidFill>
              </a:rPr>
              <a:t>и </a:t>
            </a:r>
            <a:r>
              <a:rPr lang="en-US" dirty="0" smtClean="0">
                <a:solidFill>
                  <a:srgbClr val="7030A0"/>
                </a:solidFill>
              </a:rPr>
              <a:t>LSP</a:t>
            </a:r>
            <a:endParaRPr lang="ru-RU" dirty="0" smtClean="0">
              <a:solidFill>
                <a:srgbClr val="7030A0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olidFill>
                  <a:srgbClr val="002060"/>
                </a:solidFill>
              </a:rPr>
              <a:t>LSR</a:t>
            </a:r>
            <a:r>
              <a:rPr lang="en-US" dirty="0" smtClean="0"/>
              <a:t> – </a:t>
            </a:r>
            <a:r>
              <a:rPr lang="ru-RU" sz="2800" dirty="0" smtClean="0"/>
              <a:t>коммутатор, способный анализировать метки и на их основании принимать решение о направлении передачи данных</a:t>
            </a:r>
          </a:p>
          <a:p>
            <a:pPr eaLnBrk="1" hangingPunct="1">
              <a:buFont typeface="Wingdings" pitchFamily="2" charset="2"/>
              <a:buNone/>
            </a:pPr>
            <a:endParaRPr lang="ru-RU" sz="28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olidFill>
                  <a:srgbClr val="002060"/>
                </a:solidFill>
              </a:rPr>
              <a:t>LSP</a:t>
            </a:r>
            <a:r>
              <a:rPr lang="en-US" b="1" dirty="0" smtClean="0"/>
              <a:t> </a:t>
            </a:r>
            <a:r>
              <a:rPr lang="en-US" dirty="0" smtClean="0"/>
              <a:t>– </a:t>
            </a:r>
            <a:r>
              <a:rPr lang="ru-RU" sz="2800" dirty="0" smtClean="0"/>
              <a:t>путь коммутации по меткам, представляет собой последовательность  узлов и меток в узлах на пути следования потока от отправителя к получателю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-285750"/>
            <a:ext cx="7793037" cy="146208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4000" dirty="0" smtClean="0">
                <a:solidFill>
                  <a:srgbClr val="7030A0"/>
                </a:solidFill>
              </a:rPr>
              <a:t>Теория </a:t>
            </a:r>
            <a:r>
              <a:rPr lang="en-US" sz="4000" dirty="0" smtClean="0">
                <a:solidFill>
                  <a:srgbClr val="7030A0"/>
                </a:solidFill>
              </a:rPr>
              <a:t>MPLS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28625" y="980728"/>
            <a:ext cx="8286750" cy="5520085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ru-RU" sz="3000" dirty="0" smtClean="0">
                <a:solidFill>
                  <a:srgbClr val="002060"/>
                </a:solidFill>
              </a:rPr>
              <a:t>Пакеты не маршрутизируются, а коммутируются на основе меток</a:t>
            </a:r>
            <a:endParaRPr lang="en-US" sz="3000" dirty="0" smtClean="0">
              <a:solidFill>
                <a:srgbClr val="002060"/>
              </a:solidFill>
            </a:endParaRPr>
          </a:p>
          <a:p>
            <a:pPr eaLnBrk="1" hangingPunct="1"/>
            <a:r>
              <a:rPr lang="ru-RU" sz="3000" dirty="0" smtClean="0"/>
              <a:t>Метки помещаются в заголовках пакетов</a:t>
            </a:r>
            <a:endParaRPr lang="en-US" sz="3000" dirty="0" smtClean="0"/>
          </a:p>
          <a:p>
            <a:pPr eaLnBrk="1" hangingPunct="1"/>
            <a:r>
              <a:rPr lang="ru-RU" sz="3000" dirty="0" smtClean="0"/>
              <a:t>Основные операции</a:t>
            </a:r>
            <a:r>
              <a:rPr lang="en-US" sz="3000" dirty="0" smtClean="0"/>
              <a:t>:</a:t>
            </a:r>
          </a:p>
          <a:p>
            <a:pPr lvl="1" eaLnBrk="1" hangingPunct="1"/>
            <a:r>
              <a:rPr lang="ru-RU" sz="3000" dirty="0" smtClean="0"/>
              <a:t>Входной</a:t>
            </a:r>
            <a:r>
              <a:rPr lang="en-US" sz="3000" dirty="0" smtClean="0"/>
              <a:t> LER (Label Edge Router) </a:t>
            </a:r>
            <a:r>
              <a:rPr lang="ru-RU" sz="3000" dirty="0" smtClean="0"/>
              <a:t>помещает метку в </a:t>
            </a:r>
            <a:r>
              <a:rPr lang="en-US" sz="3000" dirty="0" smtClean="0"/>
              <a:t>IP </a:t>
            </a:r>
            <a:r>
              <a:rPr lang="ru-RU" sz="3000" dirty="0" smtClean="0"/>
              <a:t>пакет</a:t>
            </a:r>
            <a:endParaRPr lang="en-US" sz="3000" dirty="0" smtClean="0"/>
          </a:p>
          <a:p>
            <a:pPr lvl="1" eaLnBrk="1" hangingPunct="1"/>
            <a:r>
              <a:rPr lang="en-US" sz="3000" dirty="0" smtClean="0"/>
              <a:t>LSR (Label Switch Router) </a:t>
            </a:r>
            <a:r>
              <a:rPr lang="ru-RU" sz="3000" dirty="0" smtClean="0"/>
              <a:t>выполняет «</a:t>
            </a:r>
            <a:r>
              <a:rPr lang="en-US" sz="3000" dirty="0" smtClean="0"/>
              <a:t>label swapping</a:t>
            </a:r>
            <a:r>
              <a:rPr lang="ru-RU" sz="3000" dirty="0" smtClean="0"/>
              <a:t>»</a:t>
            </a:r>
            <a:endParaRPr lang="en-US" sz="3000" dirty="0" smtClean="0"/>
          </a:p>
          <a:p>
            <a:pPr lvl="1" eaLnBrk="1" hangingPunct="1"/>
            <a:r>
              <a:rPr lang="ru-RU" sz="3000" dirty="0" smtClean="0"/>
              <a:t>Выходной </a:t>
            </a:r>
            <a:r>
              <a:rPr lang="en-US" sz="3000" dirty="0" smtClean="0"/>
              <a:t>LER </a:t>
            </a:r>
            <a:r>
              <a:rPr lang="ru-RU" sz="3000" dirty="0" smtClean="0"/>
              <a:t>удаляет метку</a:t>
            </a:r>
            <a:r>
              <a:rPr lang="en-US" sz="3000" dirty="0" smtClean="0"/>
              <a:t> </a:t>
            </a:r>
          </a:p>
          <a:p>
            <a:pPr eaLnBrk="1" hangingPunct="1"/>
            <a:r>
              <a:rPr lang="ru-RU" sz="3000" dirty="0" smtClean="0"/>
              <a:t>Служебные операции</a:t>
            </a:r>
            <a:r>
              <a:rPr lang="en-US" sz="3000" dirty="0" smtClean="0"/>
              <a:t>:</a:t>
            </a:r>
            <a:endParaRPr lang="ru-RU" sz="3000" dirty="0" smtClean="0"/>
          </a:p>
          <a:p>
            <a:pPr eaLnBrk="1" hangingPunct="1">
              <a:buNone/>
            </a:pPr>
            <a:r>
              <a:rPr lang="ru-RU" sz="3000" dirty="0" smtClean="0"/>
              <a:t>       -</a:t>
            </a:r>
            <a:r>
              <a:rPr lang="en-US" sz="3000" dirty="0" smtClean="0"/>
              <a:t> </a:t>
            </a:r>
            <a:r>
              <a:rPr lang="ru-RU" sz="3000" dirty="0" smtClean="0"/>
              <a:t>сформировать таблицу маршрутизации и коммутации</a:t>
            </a:r>
            <a:endParaRPr lang="en-US" sz="3000" dirty="0" smtClean="0"/>
          </a:p>
          <a:p>
            <a:pPr lvl="1" eaLnBrk="1" hangingPunct="1"/>
            <a:r>
              <a:rPr lang="en-US" sz="3000" dirty="0" smtClean="0"/>
              <a:t>IGP </a:t>
            </a:r>
          </a:p>
          <a:p>
            <a:pPr lvl="1" eaLnBrk="1" hangingPunct="1"/>
            <a:r>
              <a:rPr lang="ru-RU" sz="3000" dirty="0" smtClean="0"/>
              <a:t>Сигнальные протоколы </a:t>
            </a:r>
            <a:r>
              <a:rPr lang="en-US" sz="3000" dirty="0" smtClean="0"/>
              <a:t>MPLS</a:t>
            </a:r>
          </a:p>
          <a:p>
            <a:pPr eaLnBrk="1" hangingPunct="1"/>
            <a:endParaRPr lang="en-US" sz="20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98578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SLA – </a:t>
            </a:r>
            <a:r>
              <a:rPr lang="ru-RU" dirty="0" smtClean="0">
                <a:solidFill>
                  <a:srgbClr val="7030A0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Service Level Agreement (</a:t>
            </a:r>
            <a:r>
              <a:rPr lang="ru-RU" dirty="0" smtClean="0">
                <a:solidFill>
                  <a:srgbClr val="7030A0"/>
                </a:solidFill>
              </a:rPr>
              <a:t>соглашение о качестве предоставляемых услуг</a:t>
            </a:r>
            <a:r>
              <a:rPr lang="en-US" dirty="0" smtClean="0">
                <a:solidFill>
                  <a:srgbClr val="7030A0"/>
                </a:solidFill>
              </a:rPr>
              <a:t>)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358313" cy="1570038"/>
          </a:xfrm>
        </p:spPr>
        <p:txBody>
          <a:bodyPr/>
          <a:lstStyle/>
          <a:p>
            <a:r>
              <a:rPr lang="ru-RU" sz="3600" dirty="0" smtClean="0"/>
              <a:t> </a:t>
            </a:r>
            <a:r>
              <a:rPr lang="en-US" sz="3600" dirty="0" smtClean="0"/>
              <a:t>SLA – </a:t>
            </a:r>
            <a:r>
              <a:rPr lang="ru-RU" sz="3600" dirty="0" smtClean="0"/>
              <a:t> </a:t>
            </a:r>
            <a:r>
              <a:rPr lang="en-US" sz="3600" dirty="0" smtClean="0"/>
              <a:t>Service Level Agreement (</a:t>
            </a:r>
            <a:r>
              <a:rPr lang="ru-RU" sz="3600" dirty="0" smtClean="0"/>
              <a:t>соглашение о качестве предоставляемых услуг</a:t>
            </a:r>
            <a:r>
              <a:rPr lang="en-US" sz="3600" dirty="0" smtClean="0"/>
              <a:t>)</a:t>
            </a:r>
            <a:endParaRPr lang="ru-RU" sz="3600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776"/>
            <a:ext cx="8686800" cy="5111849"/>
          </a:xfrm>
        </p:spPr>
        <p:txBody>
          <a:bodyPr>
            <a:normAutofit lnSpcReduction="10000"/>
          </a:bodyPr>
          <a:lstStyle/>
          <a:p>
            <a:r>
              <a:rPr lang="ru-RU" sz="2800" dirty="0" smtClean="0"/>
              <a:t>Основная цель SLA – оговорить зону доступных действий пользователя. </a:t>
            </a:r>
          </a:p>
          <a:p>
            <a:r>
              <a:rPr lang="ru-RU" sz="2800" dirty="0" smtClean="0"/>
              <a:t>Предмет соглашения: </a:t>
            </a:r>
          </a:p>
          <a:p>
            <a:pPr lvl="1"/>
            <a:r>
              <a:rPr lang="ru-RU" dirty="0" smtClean="0"/>
              <a:t>Характеристики качества обслуживания на транспортной сети (пропускная способность участка сети, допустимый объем пульсации трафика, средняя и максимальная величина задержки пользовательских пакетов, максимальный процент потерь, коэффициент готовности и т.д.).</a:t>
            </a:r>
          </a:p>
          <a:p>
            <a:pPr lvl="1"/>
            <a:r>
              <a:rPr lang="ru-RU" dirty="0" smtClean="0"/>
              <a:t>Степень важности каждой характеристики.</a:t>
            </a:r>
          </a:p>
          <a:p>
            <a:pPr lvl="1"/>
            <a:r>
              <a:rPr lang="ru-RU" dirty="0" err="1" smtClean="0"/>
              <a:t>Биллинговые</a:t>
            </a:r>
            <a:r>
              <a:rPr lang="ru-RU" dirty="0" smtClean="0"/>
              <a:t> данные.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180975" y="188640"/>
            <a:ext cx="8748713" cy="648072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</a:rPr>
              <a:t>Соглашение об уровне качества услуги </a:t>
            </a:r>
            <a:r>
              <a:rPr lang="en-US" sz="3600" dirty="0" smtClean="0">
                <a:solidFill>
                  <a:srgbClr val="7030A0"/>
                </a:solidFill>
              </a:rPr>
              <a:t> SLA</a:t>
            </a:r>
            <a:endParaRPr lang="ru-RU" sz="3600" dirty="0" smtClean="0">
              <a:solidFill>
                <a:srgbClr val="7030A0"/>
              </a:solidFill>
            </a:endParaRPr>
          </a:p>
        </p:txBody>
      </p: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250824" y="1052736"/>
            <a:ext cx="8893175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   </a:t>
            </a:r>
            <a:r>
              <a:rPr lang="ru-RU" sz="2800" dirty="0"/>
              <a:t>Операторы связи нуждаются в универсальном способе договоренности с пользователем о качестве предоставляемых услуг – </a:t>
            </a:r>
            <a:r>
              <a:rPr lang="ru-RU" sz="2800" b="1" i="1" dirty="0"/>
              <a:t>соглашение об уровне обслуживания</a:t>
            </a:r>
            <a:r>
              <a:rPr lang="ru-RU" sz="2800" dirty="0"/>
              <a:t> (</a:t>
            </a:r>
            <a:r>
              <a:rPr lang="en-US" sz="2800" b="1" i="1" dirty="0"/>
              <a:t>Service Level Agreement</a:t>
            </a:r>
            <a:r>
              <a:rPr lang="ru-RU" sz="2800" b="1" i="1" dirty="0"/>
              <a:t>, SLA</a:t>
            </a:r>
            <a:r>
              <a:rPr lang="ru-RU" sz="2800" dirty="0" smtClean="0"/>
              <a:t>).</a:t>
            </a:r>
          </a:p>
          <a:p>
            <a:endParaRPr lang="ru-RU" sz="2800" dirty="0"/>
          </a:p>
          <a:p>
            <a:r>
              <a:rPr lang="ru-RU" sz="2800" dirty="0"/>
              <a:t>   Система управления должна использовать набор показателей для контроля производительности </a:t>
            </a:r>
            <a:r>
              <a:rPr lang="ru-RU" sz="2800" dirty="0" err="1"/>
              <a:t>мультисервисной</a:t>
            </a:r>
            <a:r>
              <a:rPr lang="ru-RU" sz="2800" dirty="0"/>
              <a:t> </a:t>
            </a:r>
            <a:r>
              <a:rPr lang="en-US" sz="2800" dirty="0"/>
              <a:t>NGN </a:t>
            </a:r>
            <a:r>
              <a:rPr lang="ru-RU" sz="2800" dirty="0"/>
              <a:t>сети и ее объектов (коммутаторов, маршрутизаторов, шлюзов, серверов приложений </a:t>
            </a:r>
            <a:r>
              <a:rPr lang="ru-RU" sz="2000" dirty="0"/>
              <a:t>и др.).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8820472" cy="634082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solidFill>
                  <a:srgbClr val="7030A0"/>
                </a:solidFill>
              </a:rPr>
              <a:t>Соглашение об уровне качества услуги </a:t>
            </a:r>
            <a:r>
              <a:rPr lang="en-US" sz="3600" dirty="0" smtClean="0">
                <a:solidFill>
                  <a:srgbClr val="7030A0"/>
                </a:solidFill>
              </a:rPr>
              <a:t> SL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052736"/>
            <a:ext cx="8964488" cy="5805264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 Показатели, используемые для описания качества услуги:</a:t>
            </a:r>
          </a:p>
          <a:p>
            <a:pPr marL="712788" indent="-712788">
              <a:buNone/>
            </a:pPr>
            <a:r>
              <a:rPr lang="ru-RU" i="1" dirty="0" smtClean="0"/>
              <a:t> </a:t>
            </a:r>
            <a:r>
              <a:rPr lang="ru-RU" i="1" dirty="0" smtClean="0">
                <a:solidFill>
                  <a:srgbClr val="002060"/>
                </a:solidFill>
              </a:rPr>
              <a:t>- </a:t>
            </a:r>
            <a:r>
              <a:rPr lang="ru-RU" sz="3400" i="1" dirty="0" smtClean="0">
                <a:solidFill>
                  <a:srgbClr val="002060"/>
                </a:solidFill>
              </a:rPr>
              <a:t>задержка установления соединения</a:t>
            </a:r>
            <a:r>
              <a:rPr lang="ru-RU" sz="3400" dirty="0" smtClean="0">
                <a:solidFill>
                  <a:srgbClr val="002060"/>
                </a:solidFill>
              </a:rPr>
              <a:t> (</a:t>
            </a:r>
            <a:r>
              <a:rPr lang="en-US" sz="3400" dirty="0" smtClean="0">
                <a:solidFill>
                  <a:srgbClr val="002060"/>
                </a:solidFill>
              </a:rPr>
              <a:t>establishment delay</a:t>
            </a:r>
            <a:r>
              <a:rPr lang="ru-RU" sz="3400" dirty="0" smtClean="0">
                <a:solidFill>
                  <a:srgbClr val="002060"/>
                </a:solidFill>
              </a:rPr>
              <a:t>);</a:t>
            </a:r>
          </a:p>
          <a:p>
            <a:pPr marL="712788" indent="-712788">
              <a:buNone/>
            </a:pPr>
            <a:r>
              <a:rPr lang="ru-RU" sz="3400" i="1" dirty="0" smtClean="0">
                <a:solidFill>
                  <a:srgbClr val="002060"/>
                </a:solidFill>
              </a:rPr>
              <a:t> - задержка доставки данных «из конца в конец»</a:t>
            </a:r>
            <a:r>
              <a:rPr lang="ru-RU" sz="3400" dirty="0" smtClean="0">
                <a:solidFill>
                  <a:srgbClr val="002060"/>
                </a:solidFill>
              </a:rPr>
              <a:t> (</a:t>
            </a:r>
            <a:r>
              <a:rPr lang="en-US" sz="3400" dirty="0" smtClean="0">
                <a:solidFill>
                  <a:srgbClr val="002060"/>
                </a:solidFill>
              </a:rPr>
              <a:t>end</a:t>
            </a:r>
            <a:r>
              <a:rPr lang="ru-RU" sz="3400" dirty="0" smtClean="0">
                <a:solidFill>
                  <a:srgbClr val="002060"/>
                </a:solidFill>
              </a:rPr>
              <a:t>-</a:t>
            </a:r>
            <a:r>
              <a:rPr lang="en-US" sz="3400" dirty="0" smtClean="0">
                <a:solidFill>
                  <a:srgbClr val="002060"/>
                </a:solidFill>
              </a:rPr>
              <a:t>to</a:t>
            </a:r>
            <a:r>
              <a:rPr lang="ru-RU" sz="3400" dirty="0" smtClean="0">
                <a:solidFill>
                  <a:srgbClr val="002060"/>
                </a:solidFill>
              </a:rPr>
              <a:t>-</a:t>
            </a:r>
            <a:r>
              <a:rPr lang="en-US" sz="3400" dirty="0" smtClean="0">
                <a:solidFill>
                  <a:srgbClr val="002060"/>
                </a:solidFill>
              </a:rPr>
              <a:t>end delay</a:t>
            </a:r>
            <a:r>
              <a:rPr lang="ru-RU" sz="3400" dirty="0" smtClean="0">
                <a:solidFill>
                  <a:srgbClr val="002060"/>
                </a:solidFill>
              </a:rPr>
              <a:t>);</a:t>
            </a:r>
          </a:p>
          <a:p>
            <a:pPr marL="712788" indent="-712788">
              <a:buNone/>
            </a:pPr>
            <a:r>
              <a:rPr lang="ru-RU" sz="3400" i="1" dirty="0" smtClean="0">
                <a:solidFill>
                  <a:srgbClr val="002060"/>
                </a:solidFill>
              </a:rPr>
              <a:t> - </a:t>
            </a:r>
            <a:r>
              <a:rPr lang="ru-RU" sz="3400" i="1" dirty="0" err="1" smtClean="0">
                <a:solidFill>
                  <a:srgbClr val="002060"/>
                </a:solidFill>
              </a:rPr>
              <a:t>джиттер</a:t>
            </a:r>
            <a:r>
              <a:rPr lang="ru-RU" sz="3400" dirty="0" smtClean="0">
                <a:solidFill>
                  <a:srgbClr val="002060"/>
                </a:solidFill>
              </a:rPr>
              <a:t> (</a:t>
            </a:r>
            <a:r>
              <a:rPr lang="ru-RU" sz="3400" dirty="0" err="1" smtClean="0">
                <a:solidFill>
                  <a:srgbClr val="002060"/>
                </a:solidFill>
              </a:rPr>
              <a:t>jitter</a:t>
            </a:r>
            <a:r>
              <a:rPr lang="ru-RU" sz="3400" dirty="0" smtClean="0">
                <a:solidFill>
                  <a:srgbClr val="002060"/>
                </a:solidFill>
              </a:rPr>
              <a:t>);</a:t>
            </a:r>
          </a:p>
          <a:p>
            <a:pPr marL="712788" indent="-712788">
              <a:buNone/>
            </a:pPr>
            <a:r>
              <a:rPr lang="ru-RU" sz="3400" i="1" dirty="0" smtClean="0"/>
              <a:t> </a:t>
            </a:r>
            <a:r>
              <a:rPr lang="ru-RU" sz="3400" i="1" dirty="0" smtClean="0">
                <a:solidFill>
                  <a:srgbClr val="002060"/>
                </a:solidFill>
              </a:rPr>
              <a:t>- задержка разъединения соединения</a:t>
            </a:r>
            <a:r>
              <a:rPr lang="ru-RU" sz="3400" dirty="0" smtClean="0">
                <a:solidFill>
                  <a:srgbClr val="002060"/>
                </a:solidFill>
              </a:rPr>
              <a:t> (</a:t>
            </a:r>
            <a:r>
              <a:rPr lang="en-US" sz="3400" dirty="0" smtClean="0">
                <a:solidFill>
                  <a:srgbClr val="002060"/>
                </a:solidFill>
              </a:rPr>
              <a:t>release delay</a:t>
            </a:r>
            <a:r>
              <a:rPr lang="ru-RU" sz="3400" dirty="0" smtClean="0">
                <a:solidFill>
                  <a:srgbClr val="002060"/>
                </a:solidFill>
              </a:rPr>
              <a:t>);</a:t>
            </a:r>
          </a:p>
          <a:p>
            <a:pPr marL="712788" indent="-712788">
              <a:buNone/>
            </a:pPr>
            <a:r>
              <a:rPr lang="ru-RU" sz="3400" i="1" dirty="0" smtClean="0">
                <a:solidFill>
                  <a:srgbClr val="002060"/>
                </a:solidFill>
              </a:rPr>
              <a:t> - пиковая скорость передачи пакетов</a:t>
            </a:r>
            <a:r>
              <a:rPr lang="ru-RU" sz="3400" dirty="0" smtClean="0">
                <a:solidFill>
                  <a:srgbClr val="002060"/>
                </a:solidFill>
              </a:rPr>
              <a:t> (</a:t>
            </a:r>
            <a:r>
              <a:rPr lang="en-US" sz="3400" dirty="0" smtClean="0">
                <a:solidFill>
                  <a:srgbClr val="002060"/>
                </a:solidFill>
              </a:rPr>
              <a:t>Peak</a:t>
            </a:r>
            <a:r>
              <a:rPr lang="ru-RU" sz="3400" dirty="0" smtClean="0">
                <a:solidFill>
                  <a:srgbClr val="002060"/>
                </a:solidFill>
              </a:rPr>
              <a:t>-</a:t>
            </a:r>
            <a:r>
              <a:rPr lang="en-US" sz="3400" dirty="0" smtClean="0">
                <a:solidFill>
                  <a:srgbClr val="002060"/>
                </a:solidFill>
              </a:rPr>
              <a:t>rate throughput</a:t>
            </a:r>
            <a:r>
              <a:rPr lang="ru-RU" sz="3400" dirty="0" smtClean="0">
                <a:solidFill>
                  <a:srgbClr val="002060"/>
                </a:solidFill>
              </a:rPr>
              <a:t>) </a:t>
            </a:r>
            <a:r>
              <a:rPr lang="ru-RU" sz="3400" dirty="0" smtClean="0"/>
              <a:t>- максимальное число пакетов, которое приложение может передавать в единицу времени;</a:t>
            </a:r>
          </a:p>
          <a:p>
            <a:pPr marL="712788" indent="-712788">
              <a:buNone/>
            </a:pPr>
            <a:r>
              <a:rPr lang="ru-RU" sz="3400" i="1" dirty="0" smtClean="0"/>
              <a:t> - </a:t>
            </a:r>
            <a:r>
              <a:rPr lang="ru-RU" sz="3400" i="1" dirty="0" smtClean="0">
                <a:solidFill>
                  <a:srgbClr val="002060"/>
                </a:solidFill>
              </a:rPr>
              <a:t>средняя скорость пакетов в единицу времени</a:t>
            </a:r>
            <a:r>
              <a:rPr lang="ru-RU" sz="3400" dirty="0" smtClean="0">
                <a:solidFill>
                  <a:srgbClr val="002060"/>
                </a:solidFill>
              </a:rPr>
              <a:t> (</a:t>
            </a:r>
            <a:r>
              <a:rPr lang="en-US" sz="3400" dirty="0" smtClean="0">
                <a:solidFill>
                  <a:srgbClr val="002060"/>
                </a:solidFill>
              </a:rPr>
              <a:t>Statistical throughput</a:t>
            </a:r>
            <a:r>
              <a:rPr lang="ru-RU" sz="3400" dirty="0" smtClean="0">
                <a:solidFill>
                  <a:srgbClr val="002060"/>
                </a:solidFill>
              </a:rPr>
              <a:t>); </a:t>
            </a:r>
          </a:p>
          <a:p>
            <a:pPr marL="712788" indent="-712788">
              <a:buNone/>
            </a:pPr>
            <a:r>
              <a:rPr lang="ru-RU" sz="3400" i="1" dirty="0" smtClean="0">
                <a:solidFill>
                  <a:srgbClr val="002060"/>
                </a:solidFill>
              </a:rPr>
              <a:t> - коэффициент потерь</a:t>
            </a:r>
            <a:r>
              <a:rPr lang="ru-RU" sz="3400" dirty="0" smtClean="0">
                <a:solidFill>
                  <a:srgbClr val="002060"/>
                </a:solidFill>
              </a:rPr>
              <a:t> (</a:t>
            </a:r>
            <a:r>
              <a:rPr lang="en-US" sz="3400" dirty="0" smtClean="0">
                <a:solidFill>
                  <a:srgbClr val="002060"/>
                </a:solidFill>
              </a:rPr>
              <a:t>Loss ratio</a:t>
            </a:r>
            <a:r>
              <a:rPr lang="ru-RU" sz="3400" dirty="0" smtClean="0"/>
              <a:t>) - отношение числа потерянных пакетов к количеству переданных;</a:t>
            </a:r>
          </a:p>
          <a:p>
            <a:pPr marL="712788" indent="-712788">
              <a:buNone/>
            </a:pPr>
            <a:r>
              <a:rPr lang="ru-RU" sz="3400" i="1" dirty="0" smtClean="0"/>
              <a:t> </a:t>
            </a:r>
            <a:r>
              <a:rPr lang="ru-RU" sz="3400" i="1" dirty="0" smtClean="0">
                <a:solidFill>
                  <a:srgbClr val="002060"/>
                </a:solidFill>
              </a:rPr>
              <a:t>- приоритет</a:t>
            </a:r>
            <a:r>
              <a:rPr lang="ru-RU" sz="3400" dirty="0" smtClean="0">
                <a:solidFill>
                  <a:srgbClr val="002060"/>
                </a:solidFill>
              </a:rPr>
              <a:t> </a:t>
            </a:r>
            <a:r>
              <a:rPr lang="ru-RU" sz="3400" dirty="0" smtClean="0"/>
              <a:t>- определяет очередность обслуживания запросов;</a:t>
            </a:r>
          </a:p>
          <a:p>
            <a:pPr marL="712788" indent="-712788">
              <a:buNone/>
            </a:pPr>
            <a:r>
              <a:rPr lang="ru-RU" sz="3400" i="1" dirty="0" smtClean="0"/>
              <a:t> - </a:t>
            </a:r>
            <a:r>
              <a:rPr lang="ru-RU" sz="3400" i="1" dirty="0" smtClean="0">
                <a:solidFill>
                  <a:srgbClr val="002060"/>
                </a:solidFill>
              </a:rPr>
              <a:t>стоимость</a:t>
            </a:r>
            <a:r>
              <a:rPr lang="ru-RU" sz="3400" dirty="0" smtClean="0"/>
              <a:t> - определяет максимальную допустимую стоимость сетевого соединения.</a:t>
            </a:r>
            <a:endParaRPr lang="ru-RU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4079</Words>
  <Application>Microsoft Office PowerPoint</Application>
  <PresentationFormat>Экран (4:3)</PresentationFormat>
  <Paragraphs>496</Paragraphs>
  <Slides>84</Slides>
  <Notes>3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84</vt:i4>
      </vt:variant>
    </vt:vector>
  </HeadingPairs>
  <TitlesOfParts>
    <vt:vector size="87" baseType="lpstr">
      <vt:lpstr>Тема Office</vt:lpstr>
      <vt:lpstr>VISIO</vt:lpstr>
      <vt:lpstr>Visio</vt:lpstr>
      <vt:lpstr>Лекция 11. Стандартизация  Модель Показатели качества обслуживания  ( QoS ) в пакетных сетях</vt:lpstr>
      <vt:lpstr>Организации, стандартизирующие модели обеспечения качества обслуживания</vt:lpstr>
      <vt:lpstr>Качество обслуживания</vt:lpstr>
      <vt:lpstr>Эталонная модель  сквозного QoS </vt:lpstr>
      <vt:lpstr>Архитектура QoS</vt:lpstr>
      <vt:lpstr>Транспортная сеть узла сети</vt:lpstr>
      <vt:lpstr>Первая группа QoS.  Показатели качества передачи пакетов в сети </vt:lpstr>
      <vt:lpstr>Вторая группа QoS.  Характеристики сетевой инфраструктуры.</vt:lpstr>
      <vt:lpstr>Затор и пропускная способность</vt:lpstr>
      <vt:lpstr> Задержка и джиттер</vt:lpstr>
      <vt:lpstr>Инструменты качества обслуживания</vt:lpstr>
      <vt:lpstr>Инструменты качества обслуживания</vt:lpstr>
      <vt:lpstr>Задержка и джиттер</vt:lpstr>
      <vt:lpstr>Параметры  QoS трафика  в пакетных сетях</vt:lpstr>
      <vt:lpstr>Показатели качества обслуживания, учитываемые при передаче мультимедийного трафика,и механизмы их формирования</vt:lpstr>
      <vt:lpstr>Транспортная сеть узла сети</vt:lpstr>
      <vt:lpstr>Требования для передача данных в реальном времени по IP-сетям</vt:lpstr>
      <vt:lpstr>Отличие между уровнем приоритета и классом обслуживания:</vt:lpstr>
      <vt:lpstr>Службы QoS</vt:lpstr>
      <vt:lpstr>Меры по обеспечению QoS</vt:lpstr>
      <vt:lpstr>Меры по обеспечению QoS</vt:lpstr>
      <vt:lpstr>Меры по обеспечению QoS.   1.МЕХАНИЗМЫ ФОРМИРОВАНИЯ ТРАФИКА</vt:lpstr>
      <vt:lpstr> МЕХАНИЗМЫ ФОРМИРОВАНИЯ ТРАФИКА</vt:lpstr>
      <vt:lpstr>Алгоритм «дырявого ведра</vt:lpstr>
      <vt:lpstr>Алгоритм «дырявого ведра»</vt:lpstr>
      <vt:lpstr>Алгоритм «leaky bucket»- алгоритм дырявого ведра </vt:lpstr>
      <vt:lpstr>Алгоритм «ведра токенов»</vt:lpstr>
      <vt:lpstr>Алгоритм «ведра токенов»</vt:lpstr>
      <vt:lpstr>Алгоритм «token bucket»- алгоритм ведра токенов</vt:lpstr>
      <vt:lpstr> Меры по обеспечению QoS  2. Организация и обслуживание очереди Алгоритм «Первым пришел — первым ушел» (FIFO)   </vt:lpstr>
      <vt:lpstr>Слайд 31</vt:lpstr>
      <vt:lpstr> Порядок обслуживания очереди</vt:lpstr>
      <vt:lpstr> Организация и обслуживание очереди</vt:lpstr>
      <vt:lpstr>Механизмы обслуживания очередей</vt:lpstr>
      <vt:lpstr>Алгоритм «Первым пришел — первым ушел» (FIFO)</vt:lpstr>
      <vt:lpstr>Организация очередей FIFO</vt:lpstr>
      <vt:lpstr>Недостатки очереди FIFO</vt:lpstr>
      <vt:lpstr>Меры по обеспечению QoS  2. Организация и обслуживание очереди. PQ (Priority Queuing) –  приоритетные очереди  </vt:lpstr>
      <vt:lpstr>Виды приоритетов</vt:lpstr>
      <vt:lpstr>Приоритеты</vt:lpstr>
      <vt:lpstr>Организация очереди PQ/CQ</vt:lpstr>
      <vt:lpstr>   Организация очередей PQ/CQ</vt:lpstr>
      <vt:lpstr>Меры по обеспечению QoS  2. Организация и обслуживание очереди. Взвешенная организация равноправных очередей (WFQ)</vt:lpstr>
      <vt:lpstr>2в.Взвешенная организация равноправных очередей (WFQ)</vt:lpstr>
      <vt:lpstr>Организация очередей WFQ</vt:lpstr>
      <vt:lpstr>Модификации WFQ</vt:lpstr>
      <vt:lpstr>Взвешенная организация равноправных очередей (WFQ) на основе потока </vt:lpstr>
      <vt:lpstr>Меры по обеспечению QoS  2. Организация и обслуживание очереди. Взвешенная организация очередей на основе классов (CBWFQ)</vt:lpstr>
      <vt:lpstr>Взвешенная организация очередей на основе классов (CBWFQ)</vt:lpstr>
      <vt:lpstr>Взвешенная организация очередей на основе классов (CBWFQ)</vt:lpstr>
      <vt:lpstr>Взвешенная организация очередей на основе классов (CBWFQ)</vt:lpstr>
      <vt:lpstr>Организация очереди с малой задержкой (LLQ)</vt:lpstr>
      <vt:lpstr>Организация очереди с малой задержкой (LLQ)</vt:lpstr>
      <vt:lpstr>Меры по обеспечению QoS  3.Предотвращение перегрузок 4.Увеличение полосы пропускания</vt:lpstr>
      <vt:lpstr>Предотвращение перегрузок</vt:lpstr>
      <vt:lpstr>Предотвращение потери пакетов</vt:lpstr>
      <vt:lpstr>Меры предотвращения потерь</vt:lpstr>
      <vt:lpstr>Обеспечение требуемое  качество обслуживания</vt:lpstr>
      <vt:lpstr> Модели обеспечения качества обслуживания в сетях IP    Интегрированные услуги IntServ</vt:lpstr>
      <vt:lpstr> Модели обеспечения качества обслуживания в сетях IP </vt:lpstr>
      <vt:lpstr>         Интегрированные услуги IntServ</vt:lpstr>
      <vt:lpstr>Модель IntServ</vt:lpstr>
      <vt:lpstr>Протокол резервирования ресурсов - RSVP</vt:lpstr>
      <vt:lpstr>Протокол резервирования ресурсов – RSVP.  Процесс резервирования пути. </vt:lpstr>
      <vt:lpstr>Организация RSVP-пути</vt:lpstr>
      <vt:lpstr>Модель IntServ</vt:lpstr>
      <vt:lpstr>Недостатки IntServ</vt:lpstr>
      <vt:lpstr>    Модели обеспечения качества обслуживания в сетях IP.   Дифференцированные услуги DiffServ</vt:lpstr>
      <vt:lpstr>4б. Дифференцированные услуги DiffServ</vt:lpstr>
      <vt:lpstr>Классификация и маркировка пакетов по приоритетам</vt:lpstr>
      <vt:lpstr>Политики поведения сетевого узла </vt:lpstr>
      <vt:lpstr>Политики поведения сетевого узла(2) </vt:lpstr>
      <vt:lpstr>Организация очереди с малой задержкой (LLQ)</vt:lpstr>
      <vt:lpstr>Дифференцированные услуги</vt:lpstr>
      <vt:lpstr>Сеть DiffServ</vt:lpstr>
      <vt:lpstr>Модели обеспечения качества обслуживания в сетях IP.   MPLS (Multi-Protocol Label Switching)  технология многопротокольной коммутации меток</vt:lpstr>
      <vt:lpstr>4в. MPLS (Multi-Protocol Label Switching)  технология многопротокольной коммутации меток</vt:lpstr>
      <vt:lpstr>Слайд 78</vt:lpstr>
      <vt:lpstr>LSR и LSP</vt:lpstr>
      <vt:lpstr>Теория MPLS</vt:lpstr>
      <vt:lpstr>SLA –  Service Level Agreement (соглашение о качестве предоставляемых услуг)</vt:lpstr>
      <vt:lpstr> SLA –  Service Level Agreement (соглашение о качестве предоставляемых услуг)</vt:lpstr>
      <vt:lpstr>Соглашение об уровне качества услуги  SLA</vt:lpstr>
      <vt:lpstr>Соглашение об уровне качества услуги  SL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Качество обслуживания мультисервисных сетей</dc:title>
  <dc:creator>Анастасия</dc:creator>
  <cp:lastModifiedBy>Анастасия</cp:lastModifiedBy>
  <cp:revision>270</cp:revision>
  <dcterms:created xsi:type="dcterms:W3CDTF">2022-02-22T08:47:38Z</dcterms:created>
  <dcterms:modified xsi:type="dcterms:W3CDTF">2025-09-30T22:34:01Z</dcterms:modified>
</cp:coreProperties>
</file>